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38"/>
  </p:handoutMasterIdLst>
  <p:sldIdLst>
    <p:sldId id="256" r:id="rId3"/>
    <p:sldId id="269" r:id="rId4"/>
    <p:sldId id="352" r:id="rId5"/>
    <p:sldId id="11089437" r:id="rId7"/>
    <p:sldId id="11089426" r:id="rId8"/>
    <p:sldId id="11089433" r:id="rId9"/>
    <p:sldId id="11089438" r:id="rId10"/>
    <p:sldId id="11089427" r:id="rId11"/>
    <p:sldId id="11089439" r:id="rId12"/>
    <p:sldId id="518" r:id="rId13"/>
    <p:sldId id="11089472" r:id="rId14"/>
    <p:sldId id="11089474" r:id="rId15"/>
    <p:sldId id="11089475" r:id="rId16"/>
    <p:sldId id="11089476" r:id="rId17"/>
    <p:sldId id="11089477" r:id="rId18"/>
    <p:sldId id="11089478" r:id="rId19"/>
    <p:sldId id="11089479" r:id="rId20"/>
    <p:sldId id="11089480" r:id="rId21"/>
    <p:sldId id="11089468" r:id="rId22"/>
    <p:sldId id="11089481" r:id="rId23"/>
    <p:sldId id="11089482" r:id="rId24"/>
    <p:sldId id="11089445" r:id="rId25"/>
    <p:sldId id="11089428" r:id="rId26"/>
    <p:sldId id="11089447" r:id="rId27"/>
    <p:sldId id="11089461" r:id="rId28"/>
    <p:sldId id="11089449" r:id="rId29"/>
    <p:sldId id="11089436" r:id="rId30"/>
    <p:sldId id="11089450" r:id="rId31"/>
    <p:sldId id="11089454" r:id="rId32"/>
    <p:sldId id="11089453" r:id="rId33"/>
    <p:sldId id="11089452" r:id="rId34"/>
    <p:sldId id="11089456" r:id="rId35"/>
    <p:sldId id="11089434" r:id="rId36"/>
    <p:sldId id="11089429" r:id="rId37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4B1"/>
    <a:srgbClr val="0F3D99"/>
    <a:srgbClr val="E0ECFE"/>
    <a:srgbClr val="0E6BC9"/>
    <a:srgbClr val="E9F2FE"/>
    <a:srgbClr val="1F2B97"/>
    <a:srgbClr val="F9F9F9"/>
    <a:srgbClr val="F9D5AE"/>
    <a:srgbClr val="FFF2DA"/>
    <a:srgbClr val="0D6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252"/>
    <p:restoredTop sz="96029"/>
  </p:normalViewPr>
  <p:slideViewPr>
    <p:cSldViewPr snapToGrid="0">
      <p:cViewPr>
        <p:scale>
          <a:sx n="85" d="100"/>
          <a:sy n="85" d="100"/>
        </p:scale>
        <p:origin x="20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2" Type="http://schemas.openxmlformats.org/officeDocument/2006/relationships/tags" Target="tags/tag75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image" Target="../media/image9.png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11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image" Target="../media/image9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6" Type="http://schemas.openxmlformats.org/officeDocument/2006/relationships/image" Target="../media/image1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3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0.xml"/><Relationship Id="rId4" Type="http://schemas.openxmlformats.org/officeDocument/2006/relationships/image" Target="../media/image9.png"/><Relationship Id="rId3" Type="http://schemas.openxmlformats.org/officeDocument/2006/relationships/image" Target="../media/image44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image" Target="../media/image9.png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6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45.png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46.png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47.png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3039533" y="5221463"/>
            <a:ext cx="61129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r>
              <a:rPr lang="en-US" altLang="zh-CN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31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日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600" b="1" kern="10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STAEformer</a:t>
            </a: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研究与优化</a:t>
            </a:r>
            <a:endParaRPr kumimoji="0" lang="zh-CN" altLang="zh-CN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39533" y="4202176"/>
            <a:ext cx="6112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汇报人：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程泽凯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56467" y="480435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1344918" y="650970"/>
            <a:ext cx="5401731" cy="600650"/>
            <a:chOff x="1326910" y="1179226"/>
            <a:chExt cx="5401731" cy="600650"/>
          </a:xfrm>
        </p:grpSpPr>
        <p:sp>
          <p:nvSpPr>
            <p:cNvPr id="12" name="TextBox 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84572" y="1218252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研究背景与研究问题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" name="矩形: 圆角 35"/>
            <p:cNvSpPr/>
            <p:nvPr>
              <p:custDataLst>
                <p:tags r:id="rId7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1355270" y="1459527"/>
            <a:ext cx="5387551" cy="600650"/>
            <a:chOff x="1341090" y="2175341"/>
            <a:chExt cx="5387551" cy="600650"/>
          </a:xfrm>
        </p:grpSpPr>
        <p:sp>
          <p:nvSpPr>
            <p:cNvPr id="8" name="矩形: 圆角 39"/>
            <p:cNvSpPr/>
            <p:nvPr>
              <p:custDataLst>
                <p:tags r:id="rId9"/>
              </p:custDataLst>
            </p:nvPr>
          </p:nvSpPr>
          <p:spPr>
            <a:xfrm>
              <a:off x="1341090" y="2175341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84572" y="2218376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方法调研与模型选型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1"/>
            </p:custDataLst>
          </p:nvPr>
        </p:nvGrpSpPr>
        <p:grpSpPr>
          <a:xfrm>
            <a:off x="1341090" y="2312697"/>
            <a:ext cx="5387551" cy="600650"/>
            <a:chOff x="1341090" y="3171456"/>
            <a:chExt cx="5387551" cy="600650"/>
          </a:xfrm>
        </p:grpSpPr>
        <p:sp>
          <p:nvSpPr>
            <p:cNvPr id="17" name="矩形: 圆角 43"/>
            <p:cNvSpPr/>
            <p:nvPr>
              <p:custDataLst>
                <p:tags r:id="rId12"/>
              </p:custDataLst>
            </p:nvPr>
          </p:nvSpPr>
          <p:spPr>
            <a:xfrm>
              <a:off x="1341090" y="317145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284572" y="3218659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模型结构与机制介绍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4"/>
            </p:custDataLst>
          </p:nvPr>
        </p:nvGrpSpPr>
        <p:grpSpPr>
          <a:xfrm>
            <a:off x="1355270" y="3166385"/>
            <a:ext cx="5387551" cy="600650"/>
            <a:chOff x="1341090" y="4167570"/>
            <a:chExt cx="5387551" cy="600650"/>
          </a:xfrm>
        </p:grpSpPr>
        <p:sp>
          <p:nvSpPr>
            <p:cNvPr id="19" name="矩形: 圆角 47"/>
            <p:cNvSpPr/>
            <p:nvPr>
              <p:custDataLst>
                <p:tags r:id="rId15"/>
              </p:custDataLst>
            </p:nvPr>
          </p:nvSpPr>
          <p:spPr>
            <a:xfrm>
              <a:off x="1341090" y="4167570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6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84572" y="4218624"/>
              <a:ext cx="4444069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实验设置与结果分析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7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14" name="组合 13"/>
          <p:cNvGrpSpPr/>
          <p:nvPr>
            <p:custDataLst>
              <p:tags r:id="rId18"/>
            </p:custDataLst>
          </p:nvPr>
        </p:nvGrpSpPr>
        <p:grpSpPr>
          <a:xfrm>
            <a:off x="1341090" y="4019555"/>
            <a:ext cx="5401731" cy="600650"/>
            <a:chOff x="1326910" y="1179226"/>
            <a:chExt cx="5401731" cy="600650"/>
          </a:xfrm>
        </p:grpSpPr>
        <p:sp>
          <p:nvSpPr>
            <p:cNvPr id="15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存在问题与模型改进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研究背景与研究问题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7" y="4375869"/>
            <a:ext cx="12191683" cy="2481684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48564" y="460851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研究问题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71575" y="5292021"/>
            <a:ext cx="92044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用轻量化嵌入替代复杂图结构，降低路网先验依赖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设计时空自适应表征，提升 </a:t>
            </a:r>
            <a:r>
              <a:rPr kumimoji="0" lang="en-GB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Transformer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预测精度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分析模型短板，提出实用改进思路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60081" y="1671023"/>
            <a:ext cx="6372704" cy="257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应用需求迫切：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城市交通拥堵频发，出行效率低，需要精准预测以支撑信号控制、动态路径规划、拥堵预警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任务难度高：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交通流具有</a:t>
            </a:r>
            <a:r>
              <a:rPr lang="zh-CN" alt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时空强耦合、非线性、多周期波动特性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，预测难度大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5538121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研究背景与研究问题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研究背景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aphicFrame>
        <p:nvGraphicFramePr>
          <p:cNvPr id="2" name="表格 3"/>
          <p:cNvGraphicFramePr>
            <a:graphicFrameLocks noGrp="1"/>
          </p:cNvGraphicFramePr>
          <p:nvPr/>
        </p:nvGraphicFramePr>
        <p:xfrm>
          <a:off x="7621717" y="1738556"/>
          <a:ext cx="4082603" cy="1981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73677"/>
                <a:gridCol w="889669"/>
                <a:gridCol w="2119257"/>
              </a:tblGrid>
              <a:tr h="4200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方法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优点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缺点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420007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传统模型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简单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拟合差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420007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STGNN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精度高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依赖路网图、复杂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420007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Transformer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长依赖强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忽视嵌入优化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方法调研与模型选型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方法调研与模型选型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graphicFrame>
        <p:nvGraphicFramePr>
          <p:cNvPr id="22" name="表格 28"/>
          <p:cNvGraphicFramePr>
            <a:graphicFrameLocks noGrp="1"/>
          </p:cNvGraphicFramePr>
          <p:nvPr/>
        </p:nvGraphicFramePr>
        <p:xfrm>
          <a:off x="974263" y="2185714"/>
          <a:ext cx="10128395" cy="3383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68816"/>
                <a:gridCol w="2182542"/>
                <a:gridCol w="1355137"/>
                <a:gridCol w="1603948"/>
                <a:gridCol w="3117952"/>
              </a:tblGrid>
              <a:tr h="416962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方法类别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代表模型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时间建模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空间建模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主要局限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685009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传统统计方法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ARIMA、</a:t>
                      </a:r>
                      <a:r>
                        <a:rPr lang="zh-CN" altLang="en-US">
                          <a:effectLst/>
                        </a:rPr>
                        <a:t>历史均值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弱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无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无法拟合非线性、时空耦合特征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416962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CNN/TCN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STGCN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局部卷积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预定义图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感受野有限，长依赖建模弱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416962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RNN/LSTM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DCRNN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递归时序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图卷积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串行计算慢，长序列效果差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685009"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时空图神经网络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GWNet、MTGNN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较强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显式图建模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依赖路网先验，结构复杂、计算量大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685009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Transformer </a:t>
                      </a:r>
                      <a:r>
                        <a:rPr lang="zh-CN" altLang="en-US">
                          <a:effectLst/>
                        </a:rPr>
                        <a:t>类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GMAN、PDFormer、STAEformer</a:t>
                      </a:r>
                      <a:endParaRPr lang="en-GB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全局注意力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可学习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分离建模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部分模型结构冗余，忽视嵌入优化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  <p:sp>
        <p:nvSpPr>
          <p:cNvPr id="29" name="图形"/>
          <p:cNvSpPr txBox="1"/>
          <p:nvPr/>
        </p:nvSpPr>
        <p:spPr>
          <a:xfrm>
            <a:off x="924971" y="1357574"/>
            <a:ext cx="4981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一、主流交通流预测方法对比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方法调研与模型选型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1094094" y="1924911"/>
            <a:ext cx="9991383" cy="447626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45720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时效性符合要求：</a:t>
            </a:r>
            <a:r>
              <a:rPr lang="en-US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 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CIKM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发表，近 </a:t>
            </a:r>
            <a:r>
              <a:rPr lang="en-US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年最新、基于 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改进的 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SOTA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交通流预测模型。</a:t>
            </a:r>
            <a:endParaRPr lang="zh-CN" altLang="en-US" sz="1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创新点清晰且核心：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提出时空自适应嵌入，不依赖预定义路网图，用极简主干达到最优性能。</a:t>
            </a:r>
            <a:endParaRPr lang="zh-CN" altLang="en-US" sz="1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结构简洁、易复现、易讲解：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采用时空分离注意力，代码开源、训练稳定，非常适合课程作业复现与汇报。</a:t>
            </a:r>
            <a:endParaRPr lang="zh-CN" altLang="en-US" sz="1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性能全面领先：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 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METR-LA</a:t>
            </a:r>
            <a:r>
              <a:rPr lang="zh-CN" altLang="en-GB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PEMS-BAY</a:t>
            </a:r>
            <a:r>
              <a:rPr lang="zh-CN" altLang="en-GB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PEMS03/04/07/08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 </a:t>
            </a:r>
            <a:r>
              <a:rPr lang="en-US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个数据集上，</a:t>
            </a:r>
            <a:r>
              <a:rPr lang="en-GB" altLang="zh-CN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MAE/RMSE/MAPE 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指标均优于主流模型。</a:t>
            </a:r>
            <a:endParaRPr lang="zh-CN" altLang="en-US" sz="1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工程价值高：</a:t>
            </a:r>
            <a:r>
              <a:rPr lang="zh-CN" alt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在预测精度与模型复杂度之间取得最佳平衡，适合实际部署与后续优化改进。</a:t>
            </a:r>
            <a:endParaRPr lang="zh-CN" altLang="en-US" sz="19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9" name="图形"/>
          <p:cNvSpPr txBox="1"/>
          <p:nvPr/>
        </p:nvSpPr>
        <p:spPr>
          <a:xfrm>
            <a:off x="924971" y="1342584"/>
            <a:ext cx="498115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二、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STAEformer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模型选型理由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模型结构与机制介绍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766331" y="1867162"/>
            <a:ext cx="6182009" cy="953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STAEformer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采用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时空自适应嵌入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时空分离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Transformer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的轻量化架构，不依赖人工预定义路网图，把模型复杂度集中在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输入表征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注意力解耦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上，用极简结构实现交通流时空依赖高效建模。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6332" y="3138750"/>
            <a:ext cx="6302267" cy="953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输入：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历史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个时间步交通数据（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B, Tin, N, C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输出：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未来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步交通流量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速度预测（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B, Tout, N, 1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）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设计思想：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高质量嵌入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简洁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Transformer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骨干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 </a:t>
            </a:r>
            <a:r>
              <a:rPr kumimoji="0" lang="en-GB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SOTA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性能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25" name="直线连接符 24"/>
          <p:cNvCxnSpPr/>
          <p:nvPr/>
        </p:nvCxnSpPr>
        <p:spPr>
          <a:xfrm>
            <a:off x="794908" y="1724282"/>
            <a:ext cx="10798378" cy="30093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/>
          <p:cNvCxnSpPr/>
          <p:nvPr/>
        </p:nvCxnSpPr>
        <p:spPr>
          <a:xfrm>
            <a:off x="794908" y="2996574"/>
            <a:ext cx="5416293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/>
        </p:nvCxnSpPr>
        <p:spPr>
          <a:xfrm>
            <a:off x="794908" y="4311026"/>
            <a:ext cx="1079837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646721" cy="107251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整体架构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5" name="图片 34" descr="QR 代码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820" y="2108835"/>
            <a:ext cx="4653280" cy="1739900"/>
          </a:xfrm>
          <a:prstGeom prst="rect">
            <a:avLst/>
          </a:prstGeom>
        </p:spPr>
      </p:pic>
      <p:pic>
        <p:nvPicPr>
          <p:cNvPr id="3" name="图片 2" descr="图示, 示意图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513" y="4343419"/>
            <a:ext cx="8556998" cy="2305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7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层归一化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6360795" y="346075"/>
              <a:ext cx="795655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 descr="ca625295ba22c1b888326108d412d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01" y="1633044"/>
            <a:ext cx="1505942" cy="2376431"/>
          </a:xfrm>
          <a:prstGeom prst="rect">
            <a:avLst/>
          </a:prstGeom>
        </p:spPr>
      </p:pic>
      <p:pic>
        <p:nvPicPr>
          <p:cNvPr id="48" name="图片 47" descr="f0d43715220d06b983b0d43a1440a5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146" y="2590724"/>
            <a:ext cx="3568922" cy="1350925"/>
          </a:xfrm>
          <a:prstGeom prst="rect">
            <a:avLst/>
          </a:prstGeom>
        </p:spPr>
      </p:pic>
      <p:pic>
        <p:nvPicPr>
          <p:cNvPr id="50" name="图片 49" descr="9040ae0f747feee60aafdf1fdefacea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427" y="1603013"/>
            <a:ext cx="3201095" cy="2302022"/>
          </a:xfrm>
          <a:prstGeom prst="rect">
            <a:avLst/>
          </a:prstGeom>
        </p:spPr>
      </p:pic>
      <p:pic>
        <p:nvPicPr>
          <p:cNvPr id="51" name="图片 50" descr="55f0d29448300ebaf216096fe39cf2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146" y="1715749"/>
            <a:ext cx="3578225" cy="777240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pic>
        <p:nvPicPr>
          <p:cNvPr id="56" name="图片 55" descr="86c03f06e1eef71ed35975e9e672b361"/>
          <p:cNvPicPr>
            <a:picLocks noChangeAspect="1"/>
          </p:cNvPicPr>
          <p:nvPr/>
        </p:nvPicPr>
        <p:blipFill>
          <a:blip r:embed="rId6"/>
          <a:srcRect l="18848" t="37648" r="50754" b="9009"/>
          <a:stretch>
            <a:fillRect/>
          </a:stretch>
        </p:blipFill>
        <p:spPr>
          <a:xfrm>
            <a:off x="2787044" y="2812025"/>
            <a:ext cx="304165" cy="297815"/>
          </a:xfrm>
          <a:prstGeom prst="rect">
            <a:avLst/>
          </a:prstGeom>
        </p:spPr>
      </p:pic>
      <p:pic>
        <p:nvPicPr>
          <p:cNvPr id="58" name="图片 57" descr="22948c257d23ece0a29514d368506673"/>
          <p:cNvPicPr>
            <a:picLocks noChangeAspect="1"/>
          </p:cNvPicPr>
          <p:nvPr/>
        </p:nvPicPr>
        <p:blipFill>
          <a:blip r:embed="rId7"/>
          <a:srcRect l="31325" t="22514" r="11566" b="15628"/>
          <a:stretch>
            <a:fillRect/>
          </a:stretch>
        </p:blipFill>
        <p:spPr>
          <a:xfrm>
            <a:off x="7322005" y="2753763"/>
            <a:ext cx="451485" cy="359410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854669" y="4935781"/>
            <a:ext cx="11425996" cy="1438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GB" altLang="zh-CN" sz="1800" b="1" i="0" u="none" strike="noStrike" kern="1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in​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原始输入序列（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T×1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此处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T=4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含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个时间步的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维流量值）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Norm(X</a:t>
            </a:r>
            <a:r>
              <a:rPr kumimoji="0" lang="en-GB" altLang="zh-CN" sz="1800" b="1" i="0" u="none" strike="noStrike" kern="100" cap="none" spc="0" normalizeH="0" baseline="-25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</a:t>
            </a: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​)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Xin​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标准化，缩放数值至适配训练的范围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kumimoji="0" lang="en-GB" altLang="zh-CN" sz="1800" b="1" i="0" u="none" strike="noStrike" kern="100" cap="none" spc="0" normalizeH="0" baseline="-25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​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可学习投影权重矩阵（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1×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此处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D=4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含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维度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GB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0" lang="en-GB" altLang="zh-CN" sz="1800" b="1" i="0" u="none" strike="noStrike" kern="100" cap="none" spc="0" normalizeH="0" baseline="-25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proj</a:t>
            </a: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​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投影后序列（</a:t>
            </a:r>
            <a:r>
              <a:rPr kumimoji="0" lang="en-GB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T×D</a:t>
            </a:r>
            <a:r>
              <a:rPr kumimoji="0" lang="zh-CN" altLang="en-GB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维流量映射为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维特征）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31201" y="418954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核心公式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359351" y="4935781"/>
            <a:ext cx="3832649" cy="14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升维：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维扩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维，丰富特征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线性变换：</a:t>
            </a:r>
            <a:r>
              <a:rPr kumimoji="0" lang="en-GB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Wp</a:t>
            </a:r>
            <a:r>
              <a:rPr kumimoji="0" lang="en-GB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可学习，适配任务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标准化：防梯度爆炸，稳定训练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8" y="2876260"/>
            <a:ext cx="12191683" cy="3981293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2146" y="1906276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70" y="3849075"/>
            <a:ext cx="7125548" cy="2517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四个输入矩阵（X</a:t>
            </a:r>
            <a:r>
              <a:rPr kumimoji="0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proj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​、E</a:t>
            </a:r>
            <a:r>
              <a:rPr kumimoji="0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time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​、E</a:t>
            </a:r>
            <a:r>
              <a:rPr kumimoji="0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node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​、E</a:t>
            </a:r>
            <a:r>
              <a:rPr kumimoji="0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adp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​）形状完全一致（均为 T×D，T 为时间步数，D 为特征维度）。对应时间步、对应特征维度的数值直接相加，最终得到形状不变的融合特征 X</a:t>
            </a:r>
            <a:r>
              <a:rPr kumimoji="0" lang="zh-CN" altLang="en-US" sz="1800" b="1" i="0" u="none" strike="noStrike" kern="1200" cap="none" spc="0" normalizeH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emb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四个形状完全相同（T×D）的矩阵进行逐元素相加，即对应时间步、对应特征维度的数值直接相加，保持维度不变，实现多信息的互补融合。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95206" y="3118266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核心公式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359351" y="3808435"/>
            <a:ext cx="3710729" cy="2217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信息全面：整合四类特征，统一建模时空动态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特征增强：融合多维度上下文，提升精度鲁棒性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设计高效：逐元素轻量相加，保独立补信息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10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99212" y="2521988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69" y="4796725"/>
            <a:ext cx="11049155" cy="1765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结构：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行（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t0​~t3​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时间步）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×4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列（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d0​~d3​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特征维度），形状为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T×D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GB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含义：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单维流量数据经标准化 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+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线性投影升维后得到的时序特征，是原始流量的高维抽象表示。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设计特点：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数值随时间步变化，直观反映流量的时序波动；由可学习权重矩阵 </a:t>
            </a:r>
            <a:r>
              <a:rPr lang="en-GB" altLang="zh-CN" sz="1800" kern="100" dirty="0" err="1">
                <a:solidFill>
                  <a:schemeClr val="bg1"/>
                </a:solidFill>
                <a:cs typeface="Times New Roman" panose="02020603050405020304" pitchFamily="18" charset="0"/>
              </a:rPr>
              <a:t>Wp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​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生成，可在训练中自适应调整。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作用：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将原始流量数值转化为模型可高效学习的高维时序特征，为后续多特征融合提供核心流量信息。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41653" y="418344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156210" latinLnBrk="1">
              <a:lnSpc>
                <a:spcPts val="2700"/>
              </a:lnSpc>
              <a:defRPr/>
            </a:pP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 </a:t>
            </a:r>
            <a:r>
              <a:rPr lang="en-GB" altLang="zh-CN" sz="2400" b="1" dirty="0" err="1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Xproj</a:t>
            </a: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 </a:t>
            </a:r>
            <a:r>
              <a:rPr lang="zh-CN" altLang="en-US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表格</a:t>
            </a:r>
            <a:endParaRPr lang="zh-CN" altLang="en-US" sz="2400" b="1" dirty="0">
              <a:solidFill>
                <a:srgbClr val="1D54B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 descr="0a8ae10e4f87ca063f09b7c15c006e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770" y="1689392"/>
            <a:ext cx="3196631" cy="2288206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7381702" y="2521988"/>
            <a:ext cx="748145" cy="6230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肘形连接符 6"/>
          <p:cNvCxnSpPr>
            <a:stCxn id="5" idx="4"/>
          </p:cNvCxnSpPr>
          <p:nvPr/>
        </p:nvCxnSpPr>
        <p:spPr>
          <a:xfrm rot="5400000">
            <a:off x="6053227" y="1905175"/>
            <a:ext cx="462723" cy="294237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10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99212" y="2521988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69" y="4796725"/>
            <a:ext cx="11049155" cy="1765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结构：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行（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t0​~t3​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×4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列（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d0​~d3​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形状为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T×D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GB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含义：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时间位置编码，为每个时间步注入专属时间信息（如时段、星期、节假日属性）。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设计特点：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不同时间步的编码存在差异，体现时间序列的顺序性与周期性；可采用固定正弦余弦编码或可学习嵌入实现。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作用：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让模型感知时间顺序、时段差异与周期性规律，精准捕捉流量的时间依赖模式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41653" y="418344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156210" latinLnBrk="1">
              <a:lnSpc>
                <a:spcPts val="2700"/>
              </a:lnSpc>
              <a:defRPr/>
            </a:pP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 </a:t>
            </a:r>
            <a:r>
              <a:rPr lang="en-GB" altLang="zh-CN" sz="2400" b="1" dirty="0" err="1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Etime</a:t>
            </a: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 </a:t>
            </a:r>
            <a:r>
              <a:rPr lang="zh-CN" altLang="en-US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表格</a:t>
            </a:r>
            <a:endParaRPr lang="zh-CN" altLang="en-US" sz="2400" b="1" dirty="0">
              <a:solidFill>
                <a:srgbClr val="1D54B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6770" y="1769376"/>
            <a:ext cx="3196631" cy="2128238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8345980" y="2521988"/>
            <a:ext cx="748145" cy="6230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肘形连接符 6"/>
          <p:cNvCxnSpPr>
            <a:stCxn id="5" idx="4"/>
          </p:cNvCxnSpPr>
          <p:nvPr/>
        </p:nvCxnSpPr>
        <p:spPr>
          <a:xfrm rot="5400000">
            <a:off x="6543677" y="1414725"/>
            <a:ext cx="446100" cy="390665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10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99212" y="2521988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69" y="4796725"/>
            <a:ext cx="11049155" cy="1765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结构：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行（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t0​~t3​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×4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列（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d0​~d3​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形状为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T×D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GB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含义：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节点空间编码，代表当前传感器节点 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/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路段的静态空间特征。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设计特点：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所有时间步的数值完全一致，体现空间属性的静态性；可由节点位置、路网结构等先验信息生成，</a:t>
            </a: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或通过学习得到。</a:t>
            </a:r>
            <a:endParaRPr lang="zh-CN" altLang="en-US" sz="18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作用：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注入节点专属空间属性，让模型区分不同节点的流量特性，建模路网的空间关联。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41653" y="418344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156210" latinLnBrk="1">
              <a:lnSpc>
                <a:spcPts val="2700"/>
              </a:lnSpc>
              <a:defRPr/>
            </a:pP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3. </a:t>
            </a:r>
            <a:r>
              <a:rPr lang="en-GB" altLang="zh-CN" sz="2400" b="1" dirty="0" err="1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Enode</a:t>
            </a: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 </a:t>
            </a:r>
            <a:r>
              <a:rPr lang="zh-CN" altLang="en-US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表格</a:t>
            </a:r>
            <a:endParaRPr lang="zh-CN" altLang="en-US" sz="2400" b="1" dirty="0">
              <a:solidFill>
                <a:srgbClr val="1D54B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8907" y="1769376"/>
            <a:ext cx="3192357" cy="2128238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9310254" y="2521988"/>
            <a:ext cx="748145" cy="6230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肘形连接符 6"/>
          <p:cNvCxnSpPr>
            <a:stCxn id="5" idx="4"/>
          </p:cNvCxnSpPr>
          <p:nvPr/>
        </p:nvCxnSpPr>
        <p:spPr>
          <a:xfrm rot="5400000">
            <a:off x="7024748" y="931518"/>
            <a:ext cx="446097" cy="4873063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10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99212" y="2521988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69" y="4796725"/>
            <a:ext cx="11049155" cy="1765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结构：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行（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t0​~t3​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×4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列（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d0​~d3​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形状为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T×D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GB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含义：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自适应上下文编码，是模型可学习的动态上下文特征。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设计特点：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随时间步动态变化，无固定先验规则，完全由数据驱动学习得到。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作用：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捕捉数据中未显式编码的隐藏模式（如突发事故、临时管控、局部异常），增强模型对动态交通场景的适应与泛化能力。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41653" y="418344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156210" latinLnBrk="1">
              <a:lnSpc>
                <a:spcPts val="2700"/>
              </a:lnSpc>
              <a:defRPr/>
            </a:pP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4. </a:t>
            </a:r>
            <a:r>
              <a:rPr lang="en-GB" altLang="zh-CN" sz="2400" b="1" dirty="0" err="1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Eadp</a:t>
            </a: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 </a:t>
            </a:r>
            <a:r>
              <a:rPr lang="zh-CN" altLang="en-US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表格</a:t>
            </a:r>
            <a:endParaRPr lang="zh-CN" altLang="en-US" sz="2400" b="1" dirty="0">
              <a:solidFill>
                <a:srgbClr val="1D54B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8907" y="1775112"/>
            <a:ext cx="3192357" cy="211676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191400" y="2521988"/>
            <a:ext cx="748145" cy="6230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肘形连接符 6"/>
          <p:cNvCxnSpPr>
            <a:stCxn id="5" idx="4"/>
          </p:cNvCxnSpPr>
          <p:nvPr/>
        </p:nvCxnSpPr>
        <p:spPr>
          <a:xfrm rot="5400000">
            <a:off x="7465321" y="490945"/>
            <a:ext cx="446097" cy="575420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10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嵌入层（时空自适应嵌入）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7081488" y="346075"/>
              <a:ext cx="1293924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99212" y="2521988"/>
            <a:ext cx="5626897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69" y="4796725"/>
            <a:ext cx="11049155" cy="1765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结构：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行（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t0​~t3​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×4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列（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d0​~d3​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），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形状为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T×D</a:t>
            </a:r>
            <a:r>
              <a:rPr lang="zh-CN" altLang="en-GB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GB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含义：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多特征融合嵌入，由前四个矩阵逐元素相加得到的综合特征表示。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设计特点：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通过逐元素加法融合四类信息，保持维度一致；是输入后续 </a:t>
            </a:r>
            <a:r>
              <a:rPr lang="en-GB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Transformer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层的最终特征。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作用：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将流量时序、时间位置、节点空间、自适应动态四类信息高效融合，为模型提供全面的时空上下文，显著提升交通流预测等下游任务的精度与鲁棒性。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41653" y="4183447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156210" latinLnBrk="1">
              <a:lnSpc>
                <a:spcPts val="2700"/>
              </a:lnSpc>
              <a:defRPr/>
            </a:pP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5. </a:t>
            </a:r>
            <a:r>
              <a:rPr lang="en-GB" altLang="zh-CN" sz="2400" b="1" dirty="0" err="1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Xemb</a:t>
            </a:r>
            <a:r>
              <a:rPr lang="en-GB" altLang="zh-CN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​ </a:t>
            </a:r>
            <a:r>
              <a:rPr lang="zh-CN" altLang="en-US" sz="2400" b="1" dirty="0">
                <a:solidFill>
                  <a:srgbClr val="1D54B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表格</a:t>
            </a:r>
            <a:endParaRPr lang="zh-CN" altLang="en-US" sz="2400" b="1" dirty="0">
              <a:solidFill>
                <a:srgbClr val="1D54B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92870" y="1775112"/>
            <a:ext cx="3044430" cy="211676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400797" y="2521988"/>
            <a:ext cx="748145" cy="6230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肘形连接符 6"/>
          <p:cNvCxnSpPr>
            <a:stCxn id="5" idx="4"/>
          </p:cNvCxnSpPr>
          <p:nvPr/>
        </p:nvCxnSpPr>
        <p:spPr>
          <a:xfrm rot="5400000">
            <a:off x="5533037" y="2349264"/>
            <a:ext cx="446097" cy="2037570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8" y="2876260"/>
            <a:ext cx="12191683" cy="3981293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时空分离注意力机制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8375413" y="346075"/>
              <a:ext cx="2026899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11277" y="1906276"/>
            <a:ext cx="4648635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70" y="3849075"/>
            <a:ext cx="7125548" cy="2485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“注意力函数可描述为将一个查询和一组键值对映射到输出，其中查询、键、值和输出均为向量。输出计算为值的加权和，每个值的权重通过查询与对应键的兼容性函数计算得出”</a:t>
            </a:r>
            <a:endParaRPr kumimoji="0" lang="en-US" altLang="zh-CN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altLang="zh-CN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Q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Query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）查询：我现在想找什么，是我当前的问题、需求。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Key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）键：每条信息自带的标签 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/ 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关键词，和我的问题做匹配。</a:t>
            </a:r>
            <a:endParaRPr lang="en-US" altLang="zh-CN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V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Value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）值：每条信息真正的内容，最后要用到的有用信息。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95206" y="3118266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注意力核心公式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8359351" y="3849075"/>
                <a:ext cx="3710729" cy="2631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点积 </a:t>
                </a:r>
                <a:r>
                  <a:rPr kumimoji="0" lang="en-GB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QK</a:t>
                </a:r>
                <a:r>
                  <a:rPr kumimoji="0" lang="en-GB" altLang="zh-CN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⊤</a:t>
                </a:r>
                <a:r>
                  <a:rPr kumimoji="0" lang="zh-CN" alt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：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测相似度，自动分主次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E0EC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  <a:p>
                <a:pPr marL="285750" lvl="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US" altLang="zh-CN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0ECF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GB" altLang="zh-CN" b="1" dirty="0">
                            <a:solidFill>
                              <a:srgbClr val="E0ECFE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宋体" panose="02010600030101010101" pitchFamily="2" charset="-122"/>
                          </a:rPr>
                          <m:t>dk</m:t>
                        </m:r>
                      </m:e>
                    </m:rad>
                  </m:oMath>
                </a14:m>
                <a:r>
                  <a:rPr kumimoji="0" lang="zh-CN" alt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：</a:t>
                </a:r>
                <a:r>
                  <a:rPr lang="zh-CN" altLang="en-US" b="1" dirty="0">
                    <a:solidFill>
                      <a:srgbClr val="E0ECF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控数值，防梯度消失</a:t>
                </a:r>
                <a:endParaRPr lang="zh-CN" altLang="en-US" b="1" dirty="0">
                  <a:solidFill>
                    <a:srgbClr val="E0ECF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GB" altLang="zh-CN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Softmax</a:t>
                </a:r>
                <a:r>
                  <a:rPr kumimoji="0" lang="zh-CN" alt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：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归一权重，显信息占比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E0EC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加权 </a:t>
                </a:r>
                <a:r>
                  <a:rPr kumimoji="0" lang="en-GB" altLang="zh-CN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V</a:t>
                </a:r>
                <a:r>
                  <a:rPr kumimoji="0" lang="zh-CN" alt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：</a:t>
                </a: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ECF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聚关键信息，建模长依赖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E0ECF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51" y="3849075"/>
                <a:ext cx="3710729" cy="2631746"/>
              </a:xfrm>
              <a:prstGeom prst="rect">
                <a:avLst/>
              </a:prstGeom>
              <a:blipFill rotWithShape="1">
                <a:blip r:embed="rId3"/>
                <a:stretch>
                  <a:fillRect l="-6" t="-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8" y="2876260"/>
            <a:ext cx="12191683" cy="3981293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时空分离注意力机制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8375413" y="346075"/>
              <a:ext cx="2026899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11277" y="1906276"/>
            <a:ext cx="4648635" cy="623013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  <p:sp>
        <p:nvSpPr>
          <p:cNvPr id="60" name="文本框 59"/>
          <p:cNvSpPr txBox="1"/>
          <p:nvPr/>
        </p:nvSpPr>
        <p:spPr>
          <a:xfrm>
            <a:off x="854670" y="3549820"/>
            <a:ext cx="7125548" cy="10452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Q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：当前路段想了解哪些周边路段与之相关，挖掘空间关联；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：每个节点的专属空间标签，区分不同路段的空间属性；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V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：各个节点的真实路况信息，助力捕捉路网空间依赖关系。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95206" y="2968639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空间注意力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95206" y="4782309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时间注意力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1653" y="5402669"/>
            <a:ext cx="9798638" cy="10452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Q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：当前时间步想查询哪些历史时刻的流量相关信息，明确时序关联需求；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：各个时间步的专属时间标签，用于匹配对应时刻的流量特征；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V</a:t>
            </a:r>
            <a:r>
              <a:rPr lang="zh-CN" altLang="en-US" sz="1800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：各个时间步的真实流量数据，为时序规律分析提供支撑。</a:t>
            </a:r>
            <a:endParaRPr lang="zh-CN" altLang="en-US" sz="1800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-635" y="1618615"/>
            <a:ext cx="12632690" cy="5515610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646721" cy="107251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时间注意力建模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577c6a276735541fae8631f6e9fb5c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" y="3288030"/>
            <a:ext cx="2185035" cy="1694180"/>
          </a:xfrm>
          <a:prstGeom prst="rect">
            <a:avLst/>
          </a:prstGeom>
        </p:spPr>
      </p:pic>
      <p:pic>
        <p:nvPicPr>
          <p:cNvPr id="3" name="图片 2" descr="2e12e8c748420bd7aedcf95f1ac096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565" y="1617980"/>
            <a:ext cx="2285365" cy="5168900"/>
          </a:xfrm>
          <a:prstGeom prst="rect">
            <a:avLst/>
          </a:prstGeom>
        </p:spPr>
      </p:pic>
      <p:pic>
        <p:nvPicPr>
          <p:cNvPr id="4" name="图片 3" descr="75aeaf6460cf3c8c18b25a0e11f45a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90" y="1617980"/>
            <a:ext cx="2317750" cy="1631950"/>
          </a:xfrm>
          <a:prstGeom prst="rect">
            <a:avLst/>
          </a:prstGeom>
        </p:spPr>
      </p:pic>
      <p:pic>
        <p:nvPicPr>
          <p:cNvPr id="5" name="图片 4" descr="cee614a7d1498b7aac77a007b104406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63950"/>
            <a:ext cx="2251075" cy="1318260"/>
          </a:xfrm>
          <a:prstGeom prst="rect">
            <a:avLst/>
          </a:prstGeom>
        </p:spPr>
      </p:pic>
      <p:pic>
        <p:nvPicPr>
          <p:cNvPr id="6" name="图片 5" descr="8a97a235356735fbaa609fe82bc8df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41595"/>
            <a:ext cx="2279650" cy="16452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03695" y="3436620"/>
            <a:ext cx="1600835" cy="2273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900" i="1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Atemp </a:t>
            </a:r>
            <a:r>
              <a:rPr lang="en-US" altLang="zh-CN" sz="900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= Softmax(</a:t>
            </a:r>
            <a:r>
              <a:rPr lang="en-US" altLang="zh-CN" sz="900" i="1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S</a:t>
            </a:r>
            <a:r>
              <a:rPr lang="en-US" altLang="zh-CN" sz="900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/ </a:t>
            </a:r>
            <a:r>
              <a:rPr lang="en-US" altLang="zh-CN" sz="900" i="1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√ d</a:t>
            </a:r>
            <a:r>
              <a:rPr lang="en-US" altLang="zh-CN" sz="900">
                <a:solidFill>
                  <a:srgbClr val="2D2D2D"/>
                </a:solidFill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</a:rPr>
              <a:t>)</a:t>
            </a:r>
            <a:endParaRPr lang="en-US" altLang="zh-CN" sz="900">
              <a:solidFill>
                <a:srgbClr val="2D2D2D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11" name="右大括号 10"/>
          <p:cNvSpPr/>
          <p:nvPr/>
        </p:nvSpPr>
        <p:spPr>
          <a:xfrm>
            <a:off x="5244465" y="2422525"/>
            <a:ext cx="76200" cy="3997325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肘形连接符 13"/>
          <p:cNvCxnSpPr>
            <a:stCxn id="2" idx="3"/>
          </p:cNvCxnSpPr>
          <p:nvPr/>
        </p:nvCxnSpPr>
        <p:spPr>
          <a:xfrm flipV="1">
            <a:off x="2312670" y="2616200"/>
            <a:ext cx="260985" cy="1518920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573655" y="2611755"/>
            <a:ext cx="31369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2582545" y="4131310"/>
            <a:ext cx="317500" cy="44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/>
          <p:nvPr/>
        </p:nvCxnSpPr>
        <p:spPr>
          <a:xfrm rot="5400000" flipV="1">
            <a:off x="1614805" y="5104765"/>
            <a:ext cx="1930400" cy="3175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570480" y="6081395"/>
            <a:ext cx="365125" cy="31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/>
          <p:nvPr/>
        </p:nvCxnSpPr>
        <p:spPr>
          <a:prstGeom prst="bent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1" idx="1"/>
            <a:endCxn id="4" idx="1"/>
          </p:cNvCxnSpPr>
          <p:nvPr/>
        </p:nvCxnSpPr>
        <p:spPr>
          <a:xfrm rot="10800000" flipH="1">
            <a:off x="5320030" y="2433955"/>
            <a:ext cx="708025" cy="1987550"/>
          </a:xfrm>
          <a:prstGeom prst="bentConnector5">
            <a:avLst>
              <a:gd name="adj1" fmla="val 49775"/>
              <a:gd name="adj2" fmla="val 95814"/>
              <a:gd name="adj3" fmla="val 50045"/>
            </a:avLst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2"/>
          </p:cNvCxnSpPr>
          <p:nvPr/>
        </p:nvCxnSpPr>
        <p:spPr>
          <a:xfrm flipH="1">
            <a:off x="7183120" y="3249930"/>
            <a:ext cx="4445" cy="1828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5" idx="2"/>
          </p:cNvCxnSpPr>
          <p:nvPr/>
        </p:nvCxnSpPr>
        <p:spPr>
          <a:xfrm flipH="1">
            <a:off x="7217410" y="4982210"/>
            <a:ext cx="4445" cy="2444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8" name="图片 37" descr="图示, 示意图&#10;&#10;描述已自动生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795" y="241935"/>
            <a:ext cx="5323840" cy="1409065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8352790" y="298450"/>
            <a:ext cx="1064895" cy="134048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8460740" y="2710815"/>
                <a:ext cx="3296920" cy="407543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输入：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融合嵌入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X</a:t>
                </a:r>
                <a:r>
                  <a:rPr lang="en-US" altLang="zh-CN" kern="10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emb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，包含流量、时间、空间等上下文。</a:t>
                </a:r>
                <a:endParaRPr lang="zh-CN" altLang="en-US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Q/K/V</a:t>
                </a:r>
                <a:r>
                  <a:rPr lang="zh-CN" altLang="en-US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线性变换得到时序查询、时间标签、流量特征。</a:t>
                </a:r>
                <a:endParaRPr lang="zh-CN" altLang="en-US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相似度：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QK</a:t>
                </a:r>
                <a:r>
                  <a:rPr lang="en-US" altLang="zh-CN" kern="100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⊤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衡量时间步间的时序关联。</a:t>
                </a:r>
                <a:endParaRPr lang="zh-CN" altLang="en-US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权重：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(S/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kern="10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 kern="1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rad>
                  </m:oMath>
                </a14:m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 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归一化为注意力权重。</a:t>
                </a:r>
                <a:endParaRPr lang="zh-CN" altLang="en-US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b="1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输出：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加权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V 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得到时序增强特征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H</a:t>
                </a:r>
                <a:r>
                  <a:rPr lang="en-US" altLang="zh-CN" kern="100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temp</a:t>
                </a:r>
                <a:r>
                  <a:rPr lang="en-US" altLang="zh-CN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</a:t>
                </a:r>
                <a:r>
                  <a:rPr lang="zh-CN" altLang="en-US" kern="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，建模流量时序规律。</a:t>
                </a:r>
                <a:endParaRPr lang="zh-CN" altLang="en-US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740" y="2710815"/>
                <a:ext cx="3296920" cy="4075430"/>
              </a:xfrm>
              <a:prstGeom prst="rect">
                <a:avLst/>
              </a:prstGeom>
              <a:blipFill rotWithShape="1">
                <a:blip r:embed="rId7"/>
                <a:stretch>
                  <a:fillRect r="-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766999" y="2094942"/>
            <a:ext cx="1722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核心公式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7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空间注意力建模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9437588" y="346075"/>
              <a:ext cx="983301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854669" y="4832263"/>
            <a:ext cx="11425996" cy="1764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时间注意力输出 </a:t>
            </a:r>
            <a:r>
              <a:rPr kumimoji="0" lang="en-GB" altLang="zh-CN" sz="1800" i="0" u="none" strike="noStrike" kern="1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GB" altLang="zh-CN" sz="1800" i="0" u="none" strike="noStrike" kern="100" cap="none" spc="0" normalizeH="0" baseline="-25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temp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​</a:t>
            </a:r>
            <a:r>
              <a:rPr kumimoji="0" lang="zh-CN" altLang="en-GB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承载时序优化后的节点特征。</a:t>
            </a:r>
            <a:endParaRPr kumimoji="0" lang="zh-CN" altLang="en-US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 </a:t>
            </a:r>
            <a:r>
              <a:rPr kumimoji="0" lang="en-GB" altLang="zh-CN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QKV</a:t>
            </a:r>
            <a:r>
              <a:rPr kumimoji="0" lang="zh-CN" altLang="en-GB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线性变换生成空间查询 </a:t>
            </a:r>
            <a:r>
              <a:rPr kumimoji="0" lang="en-US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键 </a:t>
            </a:r>
            <a:r>
              <a:rPr kumimoji="0" lang="en-US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值，聚焦节点间关联。</a:t>
            </a:r>
            <a:endParaRPr kumimoji="0" lang="zh-CN" altLang="en-US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相似度：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QK</a:t>
            </a:r>
            <a:r>
              <a:rPr kumimoji="0" lang="en-GB" altLang="zh-CN" sz="1800" i="0" u="none" strike="noStrike" kern="1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⊤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衡量节点间空间相关性，生成关联矩阵。</a:t>
            </a:r>
            <a:endParaRPr kumimoji="0" lang="zh-CN" altLang="en-US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权重：</a:t>
            </a:r>
            <a:r>
              <a:rPr kumimoji="0" lang="en-GB" altLang="zh-CN" sz="1800" i="0" u="none" strike="noStrike" kern="1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Softmax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归一化空间关联，得到注意力权重。</a:t>
            </a:r>
            <a:endParaRPr kumimoji="0" lang="zh-CN" altLang="en-US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输出：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加权聚合 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0" lang="zh-CN" altLang="en-GB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生成空间增强特征 </a:t>
            </a:r>
            <a:r>
              <a:rPr kumimoji="0" lang="en-GB" altLang="zh-CN" sz="1800" i="0" u="none" strike="noStrike" kern="1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GB" altLang="zh-CN" sz="1800" i="0" u="none" strike="noStrike" kern="100" cap="none" spc="0" normalizeH="0" baseline="-25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spat</a:t>
            </a:r>
            <a:r>
              <a:rPr kumimoji="0" lang="en-GB" altLang="zh-CN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​</a:t>
            </a:r>
            <a:r>
              <a:rPr kumimoji="0" lang="zh-CN" altLang="en-GB" sz="1800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zh-CN" altLang="en-GB" sz="1800" i="0" u="none" strike="noStrike" kern="1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831201" y="418954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核心公式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8da343b62d3f0416bb517795a4cb60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927860"/>
            <a:ext cx="8479155" cy="183642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26997" y="1618014"/>
            <a:ext cx="3578225" cy="479555"/>
          </a:xfrm>
          <a:prstGeom prst="rect">
            <a:avLst/>
          </a:prstGeom>
          <a:ln w="28575">
            <a:solidFill>
              <a:srgbClr val="1D54B1"/>
            </a:solidFill>
            <a:prstDash val="dash"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 flipH="1">
            <a:off x="-7" y="4024505"/>
            <a:ext cx="12191683" cy="2833048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15" name="椭圆 1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54" name="平行四边形 53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4669" y="410108"/>
            <a:ext cx="5486762" cy="1073433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前馈网络与输出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6360795" y="241936"/>
            <a:ext cx="4279496" cy="1241606"/>
            <a:chOff x="6360795" y="241935"/>
            <a:chExt cx="5323840" cy="1444625"/>
          </a:xfrm>
        </p:grpSpPr>
        <p:pic>
          <p:nvPicPr>
            <p:cNvPr id="28" name="图片 27" descr="图示, 示意图&#10;&#10;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60795" y="241935"/>
              <a:ext cx="5323840" cy="140906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10420890" y="346075"/>
              <a:ext cx="1263745" cy="13404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/>
              <p:cNvSpPr txBox="1"/>
              <p:nvPr/>
            </p:nvSpPr>
            <p:spPr>
              <a:xfrm>
                <a:off x="854669" y="4832263"/>
                <a:ext cx="7504682" cy="177202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 marR="0" lvl="0" indent="0" algn="ctr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600" i="0" u="none" strike="noStrike" kern="0" cap="none" spc="0" normalizeH="0" baseline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输入特征：</a:t>
                </a:r>
                <a:r>
                  <a:rPr kumimoji="0" lang="en-GB" altLang="zh-CN" sz="1800" i="0" u="none" strike="noStrike" kern="1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</a:t>
                </a:r>
                <a:r>
                  <a:rPr kumimoji="0" lang="en-GB" altLang="zh-CN" sz="1800" i="0" u="none" strike="noStrike" kern="100" cap="none" spc="0" normalizeH="0" baseline="-2500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spat</a:t>
                </a:r>
                <a:r>
                  <a:rPr kumimoji="0" lang="en-GB" altLang="zh-CN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 </a:t>
                </a:r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为时空注意力输出的空间增强特征，承载节点间空间关联信息。</a:t>
                </a:r>
                <a:endParaRPr kumimoji="0" lang="zh-CN" altLang="en-US" sz="1800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前馈变换：</a:t>
                </a:r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通过两层线性变换 </a:t>
                </a:r>
                <a:r>
                  <a:rPr kumimoji="0" lang="en-US" altLang="zh-CN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+ </a:t>
                </a:r>
                <a:r>
                  <a:rPr kumimoji="0" lang="en-GB" altLang="zh-CN" sz="1800" i="0" u="none" strike="noStrike" kern="1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kumimoji="0" lang="en-GB" altLang="zh-CN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激活，对空间特征进行非线性映射与维度变换，提取高阶特征。</a:t>
                </a:r>
                <a:endParaRPr kumimoji="0" lang="zh-CN" altLang="en-US" sz="1800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输出映射：</a:t>
                </a:r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经输出层 </a:t>
                </a:r>
                <a:r>
                  <a:rPr kumimoji="0" lang="en-GB" altLang="zh-CN" sz="1800" i="0" u="none" strike="noStrike" kern="100" cap="none" spc="0" normalizeH="0" baseline="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</a:t>
                </a:r>
                <a:r>
                  <a:rPr kumimoji="0" lang="en-GB" altLang="zh-CN" sz="1800" i="0" u="none" strike="noStrike" kern="100" cap="none" spc="0" normalizeH="0" baseline="-25000" noProof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out</a:t>
                </a:r>
                <a:r>
                  <a:rPr kumimoji="0" lang="en-GB" altLang="zh-CN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​ </a:t>
                </a:r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压缩为目标维度，生成最终预测结果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kumimoji="0" lang="en-GB" altLang="zh-CN" sz="1800" i="1" u="none" strike="noStrike" kern="1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altLang="zh-CN" sz="1800" i="1" kern="1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kumimoji="0" lang="zh-CN" altLang="en-US" sz="180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kumimoji="0" lang="zh-CN" altLang="en-US" sz="1800" i="0" u="none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69" y="4832263"/>
                <a:ext cx="7504682" cy="1772024"/>
              </a:xfrm>
              <a:prstGeom prst="rect">
                <a:avLst/>
              </a:prstGeom>
              <a:blipFill rotWithShape="1">
                <a:blip r:embed="rId2"/>
                <a:stretch>
                  <a:fillRect l="-8" t="-31" r="3" b="-5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/>
          <p:nvPr/>
        </p:nvSpPr>
        <p:spPr>
          <a:xfrm>
            <a:off x="831201" y="4189540"/>
            <a:ext cx="4957559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计算流程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3627" y="1710010"/>
            <a:ext cx="26349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FFN: </a:t>
            </a:r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CMMI10"/>
                <a:cs typeface="Times New Roman" panose="02020603050405020304" pitchFamily="18" charset="0"/>
              </a:rPr>
              <a:t>H</a:t>
            </a:r>
            <a:r>
              <a:rPr lang="en-US" altLang="zh-CN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ea typeface="CMMI8"/>
                <a:cs typeface="Times New Roman" panose="02020603050405020304" pitchFamily="18" charset="0"/>
              </a:rPr>
              <a:t>f f</a:t>
            </a:r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CMMI8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1A1A1A"/>
                </a:solidFill>
                <a:latin typeface="Times New Roman" panose="02020603050405020304" pitchFamily="18" charset="0"/>
                <a:ea typeface="CMR10"/>
                <a:cs typeface="Times New Roman" panose="02020603050405020304" pitchFamily="18" charset="0"/>
              </a:rPr>
              <a:t>= </a:t>
            </a:r>
            <a:r>
              <a:rPr lang="en-US" altLang="zh-CN" sz="1400" dirty="0" err="1">
                <a:solidFill>
                  <a:srgbClr val="1A1A1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ReLU</a:t>
            </a:r>
            <a:r>
              <a:rPr lang="en-US" altLang="zh-CN" sz="1400" dirty="0">
                <a:solidFill>
                  <a:srgbClr val="1A1A1A"/>
                </a:solidFill>
                <a:latin typeface="Times New Roman" panose="02020603050405020304" pitchFamily="18" charset="0"/>
                <a:ea typeface="CMR10"/>
                <a:cs typeface="Times New Roman" panose="02020603050405020304" pitchFamily="18" charset="0"/>
              </a:rPr>
              <a:t>(</a:t>
            </a:r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CMMI10"/>
                <a:cs typeface="Times New Roman" panose="02020603050405020304" pitchFamily="18" charset="0"/>
              </a:rPr>
              <a:t>H</a:t>
            </a:r>
            <a:r>
              <a:rPr lang="en-US" altLang="zh-CN" sz="1400" i="1" baseline="-25000" dirty="0">
                <a:solidFill>
                  <a:srgbClr val="1A1A1A"/>
                </a:solidFill>
                <a:latin typeface="Times New Roman" panose="02020603050405020304" pitchFamily="18" charset="0"/>
                <a:ea typeface="CMMI8"/>
                <a:cs typeface="Times New Roman" panose="02020603050405020304" pitchFamily="18" charset="0"/>
              </a:rPr>
              <a:t>spat</a:t>
            </a:r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CMMI10"/>
                <a:cs typeface="Times New Roman" panose="02020603050405020304" pitchFamily="18" charset="0"/>
              </a:rPr>
              <a:t>W</a:t>
            </a:r>
            <a:r>
              <a:rPr lang="en-US" altLang="zh-CN" sz="1400" baseline="-25000" dirty="0">
                <a:solidFill>
                  <a:srgbClr val="1A1A1A"/>
                </a:solidFill>
                <a:latin typeface="Times New Roman" panose="02020603050405020304" pitchFamily="18" charset="0"/>
                <a:ea typeface="CMR8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1A1A1A"/>
                </a:solidFill>
                <a:latin typeface="Times New Roman" panose="02020603050405020304" pitchFamily="18" charset="0"/>
                <a:ea typeface="CMR10"/>
                <a:cs typeface="Times New Roman" panose="02020603050405020304" pitchFamily="18" charset="0"/>
              </a:rPr>
              <a:t>)</a:t>
            </a:r>
            <a:r>
              <a:rPr lang="en-US" altLang="zh-CN" sz="1400" i="1" dirty="0">
                <a:solidFill>
                  <a:srgbClr val="1A1A1A"/>
                </a:solidFill>
                <a:latin typeface="Times New Roman" panose="02020603050405020304" pitchFamily="18" charset="0"/>
                <a:ea typeface="CMMI10"/>
                <a:cs typeface="Times New Roman" panose="02020603050405020304" pitchFamily="18" charset="0"/>
              </a:rPr>
              <a:t>W</a:t>
            </a:r>
            <a:r>
              <a:rPr lang="en-US" altLang="zh-CN" sz="1400" baseline="-25000" dirty="0">
                <a:solidFill>
                  <a:srgbClr val="1A1A1A"/>
                </a:solidFill>
                <a:latin typeface="Times New Roman" panose="02020603050405020304" pitchFamily="18" charset="0"/>
                <a:ea typeface="CMR8"/>
                <a:cs typeface="Times New Roman" panose="02020603050405020304" pitchFamily="18" charset="0"/>
              </a:rPr>
              <a:t>2</a:t>
            </a:r>
            <a:endParaRPr lang="en-US" altLang="zh-CN" sz="1400" baseline="-25000" dirty="0">
              <a:solidFill>
                <a:srgbClr val="1A1A1A"/>
              </a:solidFill>
              <a:latin typeface="Times New Roman" panose="02020603050405020304" pitchFamily="18" charset="0"/>
              <a:ea typeface="CMR8"/>
              <a:cs typeface="Times New Roman" panose="02020603050405020304" pitchFamily="18" charset="0"/>
            </a:endParaRPr>
          </a:p>
        </p:txBody>
      </p:sp>
      <p:pic>
        <p:nvPicPr>
          <p:cNvPr id="4" name="图片 3" descr="e4eb51fd0969ac5493cfca6d79b059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613" y="1982323"/>
            <a:ext cx="1548130" cy="2032000"/>
          </a:xfrm>
          <a:prstGeom prst="rect">
            <a:avLst/>
          </a:prstGeom>
        </p:spPr>
      </p:pic>
      <p:pic>
        <p:nvPicPr>
          <p:cNvPr id="5" name="图片 4" descr="def3f542e950d156ff8f8c091ee009f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221" y="1982323"/>
            <a:ext cx="3373755" cy="1988185"/>
          </a:xfrm>
          <a:prstGeom prst="rect">
            <a:avLst/>
          </a:prstGeom>
        </p:spPr>
      </p:pic>
      <p:pic>
        <p:nvPicPr>
          <p:cNvPr id="6" name="图片 5" descr="0045483a34886d1c5d1c035fab7242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69" y="1688330"/>
            <a:ext cx="3200915" cy="2282178"/>
          </a:xfrm>
          <a:prstGeom prst="rect">
            <a:avLst/>
          </a:prstGeom>
        </p:spPr>
      </p:pic>
      <p:cxnSp>
        <p:nvCxnSpPr>
          <p:cNvPr id="7" name="直接箭头连接符 15"/>
          <p:cNvCxnSpPr/>
          <p:nvPr/>
        </p:nvCxnSpPr>
        <p:spPr>
          <a:xfrm>
            <a:off x="3985448" y="3095242"/>
            <a:ext cx="708773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5"/>
          <p:cNvCxnSpPr/>
          <p:nvPr/>
        </p:nvCxnSpPr>
        <p:spPr>
          <a:xfrm>
            <a:off x="8025698" y="3095242"/>
            <a:ext cx="825004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 descr="bc2b51498aa690e692feb2cfc044bb6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613" y="1618014"/>
            <a:ext cx="1485265" cy="47688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58716" y="4745916"/>
            <a:ext cx="3832649" cy="185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特征提纯：非线性变换，强化表达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维度适配：高维映射，匹配输出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E0ECF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最终预测：输出节点结果，落地任务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E0ECF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65ab413751c00ea1491ea2d58ea3d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194435"/>
            <a:ext cx="4794250" cy="471741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886492" y="2889167"/>
            <a:ext cx="7427023" cy="7899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时空分离注意力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解耦时间与空间建模，大幅降低计算复杂度，训练更快、更轻量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26" name="直线连接符 25"/>
          <p:cNvCxnSpPr/>
          <p:nvPr>
            <p:custDataLst>
              <p:tags r:id="rId3"/>
            </p:custDataLst>
          </p:nvPr>
        </p:nvCxnSpPr>
        <p:spPr>
          <a:xfrm>
            <a:off x="917605" y="2815598"/>
            <a:ext cx="608321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/>
          <p:cNvCxnSpPr/>
          <p:nvPr>
            <p:custDataLst>
              <p:tags r:id="rId4"/>
            </p:custDataLst>
          </p:nvPr>
        </p:nvCxnSpPr>
        <p:spPr>
          <a:xfrm>
            <a:off x="917605" y="3695310"/>
            <a:ext cx="608321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9" name="椭圆 8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54668" y="410108"/>
            <a:ext cx="4646721" cy="107251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核心创新与技术亮点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86460" y="2023745"/>
            <a:ext cx="6640195" cy="789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时空自适应嵌入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无需预定义路网图，数据驱动学习节点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–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时间联合依赖，替代传统图卷积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55951" y="3742234"/>
            <a:ext cx="7079272" cy="7899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3.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极简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Transformer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架构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无复杂模块，结构清晰、易复现、易部署，用基础结构达到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SOTA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5" name="直线连接符 4"/>
          <p:cNvCxnSpPr/>
          <p:nvPr>
            <p:custDataLst>
              <p:tags r:id="rId7"/>
            </p:custDataLst>
          </p:nvPr>
        </p:nvCxnSpPr>
        <p:spPr>
          <a:xfrm>
            <a:off x="964725" y="4509080"/>
            <a:ext cx="608321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841375" y="4592524"/>
            <a:ext cx="7079272" cy="7899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4.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多周期嵌入融合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atinLnBrk="1">
              <a:lnSpc>
                <a:spcPct val="120000"/>
              </a:lnSpc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同时编码时间、星期、特征与自适应信息，精准捕捉交通多尺度规律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12" name="直线连接符 11"/>
          <p:cNvCxnSpPr/>
          <p:nvPr>
            <p:custDataLst>
              <p:tags r:id="rId9"/>
            </p:custDataLst>
          </p:nvPr>
        </p:nvCxnSpPr>
        <p:spPr>
          <a:xfrm>
            <a:off x="917605" y="1965582"/>
            <a:ext cx="608321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>
            <p:custDataLst>
              <p:tags r:id="rId10"/>
            </p:custDataLst>
          </p:nvPr>
        </p:nvCxnSpPr>
        <p:spPr>
          <a:xfrm>
            <a:off x="964725" y="5375137"/>
            <a:ext cx="6083218" cy="0"/>
          </a:xfrm>
          <a:prstGeom prst="line">
            <a:avLst/>
          </a:prstGeom>
          <a:ln w="12700">
            <a:solidFill>
              <a:srgbClr val="1D54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841375" y="5462943"/>
            <a:ext cx="7079272" cy="7899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5.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端到端多步预测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直接输出未来多步结果，避免滚动预测误差累积，预测更稳定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417141" cy="2346785"/>
            <a:chOff x="497375" y="1211712"/>
            <a:chExt cx="6417141" cy="234678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4171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实验设置与结果分析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>
            <p:custDataLst>
              <p:tags r:id="rId1"/>
            </p:custDataLst>
          </p:nvPr>
        </p:nvSpPr>
        <p:spPr>
          <a:xfrm flipH="1">
            <a:off x="-4" y="3571367"/>
            <a:ext cx="12191683" cy="3286186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5" name="椭圆 4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2" name="平行四边形 41"/>
          <p:cNvSpPr/>
          <p:nvPr/>
        </p:nvSpPr>
        <p:spPr>
          <a:xfrm flipV="1">
            <a:off x="25598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4668" y="410108"/>
            <a:ext cx="5036265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实验设置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28" name="组合 27"/>
          <p:cNvGrpSpPr/>
          <p:nvPr>
            <p:custDataLst>
              <p:tags r:id="rId3"/>
            </p:custDataLst>
          </p:nvPr>
        </p:nvGrpSpPr>
        <p:grpSpPr>
          <a:xfrm>
            <a:off x="844884" y="1898796"/>
            <a:ext cx="5172458" cy="2155747"/>
            <a:chOff x="844884" y="1898796"/>
            <a:chExt cx="5172458" cy="2155747"/>
          </a:xfrm>
        </p:grpSpPr>
        <p:sp>
          <p:nvSpPr>
            <p:cNvPr id="12" name="对角圆角矩形 11"/>
            <p:cNvSpPr/>
            <p:nvPr>
              <p:custDataLst>
                <p:tags r:id="rId4"/>
              </p:custDataLst>
            </p:nvPr>
          </p:nvSpPr>
          <p:spPr>
            <a:xfrm>
              <a:off x="844884" y="1911845"/>
              <a:ext cx="5172458" cy="2142698"/>
            </a:xfrm>
            <a:prstGeom prst="round2DiagRect">
              <a:avLst/>
            </a:prstGeom>
            <a:gradFill flip="none" rotWithShape="1">
              <a:gsLst>
                <a:gs pos="81000">
                  <a:srgbClr val="E0ECFE"/>
                </a:gs>
                <a:gs pos="33000">
                  <a:schemeClr val="bg1"/>
                </a:gs>
              </a:gsLst>
              <a:lin ang="0" scaled="1"/>
              <a:tileRect/>
            </a:gradFill>
            <a:ln w="19050">
              <a:solidFill>
                <a:srgbClr val="1F2B97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5"/>
              </p:custDataLst>
            </p:nvPr>
          </p:nvSpPr>
          <p:spPr>
            <a:xfrm>
              <a:off x="1001719" y="1898796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数据集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6"/>
              </p:custDataLst>
            </p:nvPr>
          </p:nvSpPr>
          <p:spPr>
            <a:xfrm>
              <a:off x="1098883" y="2309961"/>
              <a:ext cx="657419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图形"/>
            <p:cNvSpPr txBox="1"/>
            <p:nvPr>
              <p:custDataLst>
                <p:tags r:id="rId7"/>
              </p:custDataLst>
            </p:nvPr>
          </p:nvSpPr>
          <p:spPr>
            <a:xfrm>
              <a:off x="912352" y="2398122"/>
              <a:ext cx="4978582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采用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6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个主流交通预测公开数据集：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METR-LA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PEMS-BAY</a:t>
              </a:r>
              <a:endPara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PEMS03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PEMS04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PEMS07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PEMS08</a:t>
              </a:r>
              <a:endPara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时间间隔：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5 min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，输入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/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预测长度均为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12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步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8"/>
            </p:custDataLst>
          </p:nvPr>
        </p:nvGrpSpPr>
        <p:grpSpPr>
          <a:xfrm>
            <a:off x="6174658" y="1898796"/>
            <a:ext cx="5172458" cy="2155747"/>
            <a:chOff x="844884" y="1898796"/>
            <a:chExt cx="5172458" cy="2155747"/>
          </a:xfrm>
        </p:grpSpPr>
        <p:sp>
          <p:nvSpPr>
            <p:cNvPr id="44" name="对角圆角矩形 43"/>
            <p:cNvSpPr/>
            <p:nvPr>
              <p:custDataLst>
                <p:tags r:id="rId9"/>
              </p:custDataLst>
            </p:nvPr>
          </p:nvSpPr>
          <p:spPr>
            <a:xfrm>
              <a:off x="844884" y="1911845"/>
              <a:ext cx="5172458" cy="2142698"/>
            </a:xfrm>
            <a:prstGeom prst="round2DiagRect">
              <a:avLst/>
            </a:prstGeom>
            <a:gradFill flip="none" rotWithShape="1">
              <a:gsLst>
                <a:gs pos="81000">
                  <a:srgbClr val="E0ECFE"/>
                </a:gs>
                <a:gs pos="33000">
                  <a:schemeClr val="bg1"/>
                </a:gs>
              </a:gsLst>
              <a:lin ang="0" scaled="1"/>
              <a:tileRect/>
            </a:gradFill>
            <a:ln w="19050">
              <a:solidFill>
                <a:srgbClr val="1F2B97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0"/>
              </p:custDataLst>
            </p:nvPr>
          </p:nvSpPr>
          <p:spPr>
            <a:xfrm>
              <a:off x="1001719" y="189879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评价指标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1"/>
              </p:custDataLst>
            </p:nvPr>
          </p:nvSpPr>
          <p:spPr>
            <a:xfrm>
              <a:off x="1098883" y="2309961"/>
              <a:ext cx="657419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图形"/>
            <p:cNvSpPr txBox="1"/>
            <p:nvPr>
              <p:custDataLst>
                <p:tags r:id="rId12"/>
              </p:custDataLst>
            </p:nvPr>
          </p:nvSpPr>
          <p:spPr>
            <a:xfrm>
              <a:off x="912352" y="2398122"/>
              <a:ext cx="4978582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MAE</a:t>
              </a:r>
              <a:r>
                <a:rPr lang="zh-CN" altLang="en-GB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：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平均绝对误差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RMSE</a:t>
              </a:r>
              <a:r>
                <a:rPr lang="zh-CN" altLang="en-GB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：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均方根误差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MAPE</a:t>
              </a:r>
              <a:r>
                <a:rPr lang="zh-CN" altLang="en-GB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：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平均绝对百分比误差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数值越小，预测精度越高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3"/>
            </p:custDataLst>
          </p:nvPr>
        </p:nvGrpSpPr>
        <p:grpSpPr>
          <a:xfrm>
            <a:off x="841653" y="4226383"/>
            <a:ext cx="5172458" cy="2155747"/>
            <a:chOff x="844884" y="1898796"/>
            <a:chExt cx="5172458" cy="2155747"/>
          </a:xfrm>
        </p:grpSpPr>
        <p:sp>
          <p:nvSpPr>
            <p:cNvPr id="50" name="对角圆角矩形 49"/>
            <p:cNvSpPr/>
            <p:nvPr>
              <p:custDataLst>
                <p:tags r:id="rId14"/>
              </p:custDataLst>
            </p:nvPr>
          </p:nvSpPr>
          <p:spPr>
            <a:xfrm>
              <a:off x="844884" y="1911845"/>
              <a:ext cx="5172458" cy="2142698"/>
            </a:xfrm>
            <a:prstGeom prst="round2DiagRect">
              <a:avLst/>
            </a:prstGeom>
            <a:gradFill flip="none" rotWithShape="1">
              <a:gsLst>
                <a:gs pos="81000">
                  <a:srgbClr val="E0ECFE"/>
                </a:gs>
                <a:gs pos="33000">
                  <a:schemeClr val="bg1"/>
                </a:gs>
              </a:gsLst>
              <a:lin ang="0" scaled="1"/>
              <a:tileRect/>
            </a:gradFill>
            <a:ln w="19050">
              <a:solidFill>
                <a:srgbClr val="1F2B97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5"/>
              </p:custDataLst>
            </p:nvPr>
          </p:nvSpPr>
          <p:spPr>
            <a:xfrm>
              <a:off x="1001719" y="189879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对比模型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16"/>
              </p:custDataLst>
            </p:nvPr>
          </p:nvSpPr>
          <p:spPr>
            <a:xfrm>
              <a:off x="1098883" y="2309961"/>
              <a:ext cx="657419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图形"/>
            <p:cNvSpPr txBox="1"/>
            <p:nvPr>
              <p:custDataLst>
                <p:tags r:id="rId17"/>
              </p:custDataLst>
            </p:nvPr>
          </p:nvSpPr>
          <p:spPr>
            <a:xfrm>
              <a:off x="912352" y="2398122"/>
              <a:ext cx="4978582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传统 </a:t>
              </a:r>
              <a:r>
                <a:rPr lang="en-GB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STGNN</a:t>
              </a:r>
              <a:r>
                <a:rPr lang="zh-CN" altLang="en-GB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：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DCRNN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GWNet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STGCN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MTGNN</a:t>
              </a:r>
              <a:endPara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GB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Transformer 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类：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GMAN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PDFormer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STID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</p:grpSp>
      <p:grpSp>
        <p:nvGrpSpPr>
          <p:cNvPr id="54" name="组合 53"/>
          <p:cNvGrpSpPr/>
          <p:nvPr>
            <p:custDataLst>
              <p:tags r:id="rId18"/>
            </p:custDataLst>
          </p:nvPr>
        </p:nvGrpSpPr>
        <p:grpSpPr>
          <a:xfrm>
            <a:off x="6177891" y="4161357"/>
            <a:ext cx="5172458" cy="2155747"/>
            <a:chOff x="844884" y="1898796"/>
            <a:chExt cx="5172458" cy="2155747"/>
          </a:xfrm>
        </p:grpSpPr>
        <p:sp>
          <p:nvSpPr>
            <p:cNvPr id="55" name="对角圆角矩形 54"/>
            <p:cNvSpPr/>
            <p:nvPr>
              <p:custDataLst>
                <p:tags r:id="rId19"/>
              </p:custDataLst>
            </p:nvPr>
          </p:nvSpPr>
          <p:spPr>
            <a:xfrm>
              <a:off x="844884" y="1911845"/>
              <a:ext cx="5172458" cy="2142698"/>
            </a:xfrm>
            <a:prstGeom prst="round2DiagRect">
              <a:avLst/>
            </a:prstGeom>
            <a:gradFill flip="none" rotWithShape="1">
              <a:gsLst>
                <a:gs pos="81000">
                  <a:srgbClr val="E0ECFE"/>
                </a:gs>
                <a:gs pos="33000">
                  <a:schemeClr val="bg1"/>
                </a:gs>
              </a:gsLst>
              <a:lin ang="0" scaled="1"/>
              <a:tileRect/>
            </a:gradFill>
            <a:ln w="19050">
              <a:solidFill>
                <a:srgbClr val="1F2B97"/>
              </a:solidFill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0"/>
              </p:custDataLst>
            </p:nvPr>
          </p:nvSpPr>
          <p:spPr>
            <a:xfrm>
              <a:off x="1001719" y="1898796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0F3D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实现环境</a:t>
              </a:r>
              <a:endPara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21"/>
              </p:custDataLst>
            </p:nvPr>
          </p:nvSpPr>
          <p:spPr>
            <a:xfrm>
              <a:off x="1098883" y="2309961"/>
              <a:ext cx="657419" cy="45719"/>
            </a:xfrm>
            <a:prstGeom prst="rect">
              <a:avLst/>
            </a:prstGeom>
            <a:solidFill>
              <a:srgbClr val="0F3D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图形"/>
            <p:cNvSpPr txBox="1"/>
            <p:nvPr>
              <p:custDataLst>
                <p:tags r:id="rId22"/>
              </p:custDataLst>
            </p:nvPr>
          </p:nvSpPr>
          <p:spPr>
            <a:xfrm>
              <a:off x="912352" y="2398122"/>
              <a:ext cx="4978582" cy="1309516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框架：</a:t>
              </a:r>
              <a:r>
                <a:rPr lang="en-GB" altLang="zh-CN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PyTorch</a:t>
              </a:r>
              <a:endPara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硬件：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RTX 30</a:t>
              </a:r>
              <a:r>
                <a:rPr lang="en-US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80Ti x1</a:t>
              </a:r>
              <a:endPara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优化器：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Adam</a:t>
              </a:r>
              <a:r>
                <a:rPr lang="zh-CN" alt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，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学习率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0.001</a:t>
              </a: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  <a:p>
              <a:pPr marL="285750" indent="-28575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批次大小：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16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8" y="410108"/>
            <a:ext cx="4401003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874714" y="2261548"/>
            <a:ext cx="11006547" cy="46166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STAEformer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6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个数据集、所有预测步长下，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MAE/RMSE/MAPE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指标全面优于对比模型，达到 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SOTA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755676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整体性能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>
            <p:custDataLst>
              <p:tags r:id="rId2"/>
            </p:custDataLst>
          </p:nvPr>
        </p:nvSpPr>
        <p:spPr>
          <a:xfrm>
            <a:off x="994306" y="3250839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不依赖图结构，性能超过所有 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STGNN</a:t>
            </a:r>
            <a:endParaRPr lang="en-GB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结构比 </a:t>
            </a:r>
            <a:r>
              <a:rPr lang="en-GB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PDFormer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、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GMAN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更简洁，精度更高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短时（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15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min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）、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中时（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30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min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）、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长时（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60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min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）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预测均保持稳定优势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6" name="图形"/>
          <p:cNvSpPr txBox="1"/>
          <p:nvPr>
            <p:custDataLst>
              <p:tags r:id="rId3"/>
            </p:custDataLst>
          </p:nvPr>
        </p:nvSpPr>
        <p:spPr>
          <a:xfrm>
            <a:off x="924972" y="2801965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关键结果亮点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7" name="图形"/>
          <p:cNvSpPr txBox="1"/>
          <p:nvPr>
            <p:custDataLst>
              <p:tags r:id="rId4"/>
            </p:custDataLst>
          </p:nvPr>
        </p:nvSpPr>
        <p:spPr>
          <a:xfrm>
            <a:off x="994306" y="5092635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移除时空自适应嵌入 </a:t>
            </a:r>
            <a:r>
              <a:rPr lang="en-GB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Ea</a:t>
            </a:r>
            <a:r>
              <a:rPr lang="zh-CN" alt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，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性能下降最明显，证明其核心作用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移除时间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/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空间 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Transformer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任一模块，精度显著降低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周期性嵌入对捕捉交通规律至关重要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8" name="图形"/>
          <p:cNvSpPr txBox="1"/>
          <p:nvPr>
            <p:custDataLst>
              <p:tags r:id="rId5"/>
            </p:custDataLst>
          </p:nvPr>
        </p:nvSpPr>
        <p:spPr>
          <a:xfrm>
            <a:off x="924972" y="4560096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消融实验结论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实验结果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8" y="410108"/>
            <a:ext cx="4401003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1" name="图形"/>
          <p:cNvSpPr txBox="1"/>
          <p:nvPr/>
        </p:nvSpPr>
        <p:spPr>
          <a:xfrm>
            <a:off x="994306" y="2312977"/>
            <a:ext cx="11006547" cy="128036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时空自适应嵌入有效捕获复杂时空依赖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分离式注意力兼顾精度与效率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多周期嵌入提升对交通波动的拟合能力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4" name="图形"/>
          <p:cNvSpPr txBox="1"/>
          <p:nvPr/>
        </p:nvSpPr>
        <p:spPr>
          <a:xfrm>
            <a:off x="924972" y="1755676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 性能优势来源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5" name="图形"/>
          <p:cNvSpPr txBox="1"/>
          <p:nvPr/>
        </p:nvSpPr>
        <p:spPr>
          <a:xfrm>
            <a:off x="994306" y="4259156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轻量化结构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+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强表示嵌入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=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高效 </a:t>
            </a:r>
            <a:r>
              <a:rPr lang="en-GB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SOTA</a:t>
            </a:r>
            <a:endParaRPr lang="en-GB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不依赖路网先验，泛化性更强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训练稳定、收敛快，工程实用性突出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26" name="图形"/>
          <p:cNvSpPr txBox="1"/>
          <p:nvPr/>
        </p:nvSpPr>
        <p:spPr>
          <a:xfrm>
            <a:off x="924972" y="3656025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Pct val="70000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2.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 模型优势验证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结果分析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存在问题与模型改进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grpSp>
        <p:nvGrpSpPr>
          <p:cNvPr id="29" name="组合 28"/>
          <p:cNvGrpSpPr/>
          <p:nvPr>
            <p:custDataLst>
              <p:tags r:id="rId2"/>
            </p:custDataLst>
          </p:nvPr>
        </p:nvGrpSpPr>
        <p:grpSpPr>
          <a:xfrm>
            <a:off x="930811" y="1768038"/>
            <a:ext cx="10330049" cy="918742"/>
            <a:chOff x="924972" y="1597414"/>
            <a:chExt cx="10330049" cy="918742"/>
          </a:xfrm>
        </p:grpSpPr>
        <p:sp>
          <p:nvSpPr>
            <p:cNvPr id="21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263638" y="2054491"/>
              <a:ext cx="9991383" cy="461665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仅依赖流量、时间、星期三特征，无法感知天气、节假日、路况等外部干扰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24" name="图形"/>
            <p:cNvSpPr txBox="1"/>
            <p:nvPr>
              <p:custDataLst>
                <p:tags r:id="rId4"/>
              </p:custDataLst>
            </p:nvPr>
          </p:nvSpPr>
          <p:spPr>
            <a:xfrm>
              <a:off x="924972" y="1597414"/>
              <a:ext cx="43307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1.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外部因素感知能力缺失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  <p:sp>
        <p:nvSpPr>
          <p:cNvPr id="22" name="圆角矩形 2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模型存在问题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30" name="组合 29"/>
          <p:cNvGrpSpPr/>
          <p:nvPr>
            <p:custDataLst>
              <p:tags r:id="rId5"/>
            </p:custDataLst>
          </p:nvPr>
        </p:nvGrpSpPr>
        <p:grpSpPr>
          <a:xfrm>
            <a:off x="930811" y="2709402"/>
            <a:ext cx="10330049" cy="918742"/>
            <a:chOff x="924972" y="1597414"/>
            <a:chExt cx="10330049" cy="918742"/>
          </a:xfrm>
        </p:grpSpPr>
        <p:sp>
          <p:nvSpPr>
            <p:cNvPr id="31" name="图形"/>
            <p:cNvSpPr txBox="1"/>
            <p:nvPr>
              <p:custDataLst>
                <p:tags r:id="rId6"/>
              </p:custDataLst>
            </p:nvPr>
          </p:nvSpPr>
          <p:spPr>
            <a:xfrm>
              <a:off x="1263638" y="2054491"/>
              <a:ext cx="9991383" cy="461665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异常天气、节假日等特殊场景下，预测误差显著增大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32" name="图形"/>
            <p:cNvSpPr txBox="1"/>
            <p:nvPr>
              <p:custDataLst>
                <p:tags r:id="rId7"/>
              </p:custDataLst>
            </p:nvPr>
          </p:nvSpPr>
          <p:spPr>
            <a:xfrm>
              <a:off x="924972" y="1597414"/>
              <a:ext cx="43307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2.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异常场景精度下降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8"/>
            </p:custDataLst>
          </p:nvPr>
        </p:nvGrpSpPr>
        <p:grpSpPr>
          <a:xfrm>
            <a:off x="930811" y="3650766"/>
            <a:ext cx="10330049" cy="918742"/>
            <a:chOff x="924972" y="1597414"/>
            <a:chExt cx="10330049" cy="918742"/>
          </a:xfrm>
        </p:grpSpPr>
        <p:sp>
          <p:nvSpPr>
            <p:cNvPr id="34" name="图形"/>
            <p:cNvSpPr txBox="1"/>
            <p:nvPr>
              <p:custDataLst>
                <p:tags r:id="rId9"/>
              </p:custDataLst>
            </p:nvPr>
          </p:nvSpPr>
          <p:spPr>
            <a:xfrm>
              <a:off x="1263638" y="2054491"/>
              <a:ext cx="9991383" cy="461665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预定义邻接矩阵难以捕捉动态空间依赖，隐式关联建模能力不足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35" name="图形"/>
            <p:cNvSpPr txBox="1"/>
            <p:nvPr>
              <p:custDataLst>
                <p:tags r:id="rId10"/>
              </p:custDataLst>
            </p:nvPr>
          </p:nvSpPr>
          <p:spPr>
            <a:xfrm>
              <a:off x="924972" y="1597414"/>
              <a:ext cx="43307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3.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路网拓扑结构固化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1"/>
            </p:custDataLst>
          </p:nvPr>
        </p:nvGrpSpPr>
        <p:grpSpPr>
          <a:xfrm>
            <a:off x="930811" y="4604943"/>
            <a:ext cx="10330049" cy="918742"/>
            <a:chOff x="924972" y="1597414"/>
            <a:chExt cx="10330049" cy="918742"/>
          </a:xfrm>
        </p:grpSpPr>
        <p:sp>
          <p:nvSpPr>
            <p:cNvPr id="37" name="图形"/>
            <p:cNvSpPr txBox="1"/>
            <p:nvPr>
              <p:custDataLst>
                <p:tags r:id="rId12"/>
              </p:custDataLst>
            </p:nvPr>
          </p:nvSpPr>
          <p:spPr>
            <a:xfrm>
              <a:off x="1263638" y="2054491"/>
              <a:ext cx="9991383" cy="461665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O(N</a:t>
              </a:r>
              <a:r>
                <a:rPr lang="en-US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²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)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复杂度限制大规模路网实时应用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38" name="图形"/>
            <p:cNvSpPr txBox="1"/>
            <p:nvPr>
              <p:custDataLst>
                <p:tags r:id="rId13"/>
              </p:custDataLst>
            </p:nvPr>
          </p:nvSpPr>
          <p:spPr>
            <a:xfrm>
              <a:off x="924972" y="1597414"/>
              <a:ext cx="4330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4.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计算复杂度仍可降低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14"/>
            </p:custDataLst>
          </p:nvPr>
        </p:nvGrpSpPr>
        <p:grpSpPr>
          <a:xfrm>
            <a:off x="930811" y="5501883"/>
            <a:ext cx="10330049" cy="918742"/>
            <a:chOff x="924972" y="1597414"/>
            <a:chExt cx="10330049" cy="918742"/>
          </a:xfrm>
        </p:grpSpPr>
        <p:sp>
          <p:nvSpPr>
            <p:cNvPr id="40" name="图形"/>
            <p:cNvSpPr txBox="1"/>
            <p:nvPr>
              <p:custDataLst>
                <p:tags r:id="rId15"/>
              </p:custDataLst>
            </p:nvPr>
          </p:nvSpPr>
          <p:spPr>
            <a:xfrm>
              <a:off x="1263638" y="2054491"/>
              <a:ext cx="9991383" cy="461665"/>
            </a:xfrm>
            <a:prstGeom prst="rect">
              <a:avLst/>
            </a:prstGeom>
            <a:noFill/>
          </p:spPr>
          <p:txBody>
            <a:bodyPr wrap="square" lIns="90000" rtlCol="0">
              <a:noAutofit/>
            </a:bodyPr>
            <a:lstStyle/>
            <a:p>
              <a:pPr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  <a:sym typeface="+mn-ea"/>
                </a:rPr>
                <a:t>缺乏多尺度周期特征分层表达，制约中长期预测精度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endParaRPr>
            </a:p>
          </p:txBody>
        </p:sp>
        <p:sp>
          <p:nvSpPr>
            <p:cNvPr id="41" name="图形"/>
            <p:cNvSpPr txBox="1"/>
            <p:nvPr>
              <p:custDataLst>
                <p:tags r:id="rId16"/>
              </p:custDataLst>
            </p:nvPr>
          </p:nvSpPr>
          <p:spPr>
            <a:xfrm>
              <a:off x="924972" y="1597414"/>
              <a:ext cx="43307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SzPct val="70000"/>
              </a:pPr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5.</a:t>
              </a:r>
              <a:r>
                <a:rPr lang="zh-CN" alt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58号-创中黑" panose="00000500000000000000" charset="-122"/>
                </a:rPr>
                <a:t> 时序建模粒度单一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11671" y="1252404"/>
            <a:ext cx="2301833" cy="497046"/>
          </a:xfrm>
          <a:prstGeom prst="rect">
            <a:avLst/>
          </a:prstGeom>
          <a:solidFill>
            <a:srgbClr val="1D54B1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现有问题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32"/>
          <p:cNvSpPr/>
          <p:nvPr/>
        </p:nvSpPr>
        <p:spPr>
          <a:xfrm>
            <a:off x="211672" y="1895999"/>
            <a:ext cx="2301833" cy="1334530"/>
          </a:xfrm>
          <a:prstGeom prst="roundRect">
            <a:avLst/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路网结构复杂节点间关系动态变化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33"/>
          <p:cNvSpPr/>
          <p:nvPr/>
        </p:nvSpPr>
        <p:spPr>
          <a:xfrm>
            <a:off x="211672" y="3480438"/>
            <a:ext cx="2301833" cy="1185021"/>
          </a:xfrm>
          <a:prstGeom prst="roundRect">
            <a:avLst/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大规模路网上推理速度成为瓶颈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: 圆角 34"/>
          <p:cNvSpPr/>
          <p:nvPr/>
        </p:nvSpPr>
        <p:spPr>
          <a:xfrm>
            <a:off x="211670" y="4992948"/>
            <a:ext cx="2301833" cy="1501974"/>
          </a:xfrm>
          <a:prstGeom prst="roundRect">
            <a:avLst/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单一时间尺度不足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箭头: 右 35"/>
          <p:cNvSpPr/>
          <p:nvPr/>
        </p:nvSpPr>
        <p:spPr>
          <a:xfrm>
            <a:off x="2574092" y="2416636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974197" y="1252404"/>
            <a:ext cx="6045543" cy="497046"/>
          </a:xfrm>
          <a:prstGeom prst="rect">
            <a:avLst/>
          </a:prstGeom>
          <a:solidFill>
            <a:srgbClr val="1D54B1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解决措施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986342" y="1931964"/>
            <a:ext cx="6045543" cy="1334530"/>
          </a:xfrm>
          <a:prstGeom prst="rect">
            <a:avLst/>
          </a:prstGeom>
          <a:solidFill>
            <a:srgbClr val="FAE8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005910" y="3429000"/>
            <a:ext cx="6025976" cy="1372267"/>
          </a:xfrm>
          <a:prstGeom prst="rect">
            <a:avLst/>
          </a:prstGeom>
          <a:solidFill>
            <a:srgbClr val="FAE8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2986340" y="5003888"/>
            <a:ext cx="6045543" cy="1501974"/>
          </a:xfrm>
          <a:prstGeom prst="rect">
            <a:avLst/>
          </a:prstGeom>
          <a:solidFill>
            <a:srgbClr val="FAE8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036801" y="2005232"/>
            <a:ext cx="1147741" cy="12244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动态图学习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(DGL)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053278" y="3609430"/>
            <a:ext cx="1131264" cy="10560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轻量化注意力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(LA)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033709" y="5073969"/>
            <a:ext cx="1150833" cy="138434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多尺度时间建模</a:t>
            </a: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(MST)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46"/>
          <p:cNvSpPr/>
          <p:nvPr/>
        </p:nvSpPr>
        <p:spPr>
          <a:xfrm>
            <a:off x="4254055" y="3609430"/>
            <a:ext cx="1336222" cy="43187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线性注意力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: 圆角 47"/>
          <p:cNvSpPr/>
          <p:nvPr/>
        </p:nvSpPr>
        <p:spPr>
          <a:xfrm>
            <a:off x="4254055" y="4165177"/>
            <a:ext cx="1336222" cy="43187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稀疏注意力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48"/>
          <p:cNvSpPr/>
          <p:nvPr/>
        </p:nvSpPr>
        <p:spPr>
          <a:xfrm>
            <a:off x="6323308" y="4158225"/>
            <a:ext cx="2601487" cy="5539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每个位置只保留最相关的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Top-k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个连接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: 圆角 49"/>
          <p:cNvSpPr/>
          <p:nvPr/>
        </p:nvSpPr>
        <p:spPr>
          <a:xfrm>
            <a:off x="6323308" y="3504531"/>
            <a:ext cx="2601487" cy="53677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将计算顺序从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(Q</a:t>
            </a:r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K^T)</a:t>
            </a:r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改为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</a:t>
            </a:r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(K^T</a:t>
            </a:r>
            <a:r>
              <a:rPr lang="en-US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V)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5590277" y="3793769"/>
            <a:ext cx="733031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5590277" y="4384834"/>
            <a:ext cx="733031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5"/>
          <p:cNvSpPr/>
          <p:nvPr/>
        </p:nvSpPr>
        <p:spPr>
          <a:xfrm>
            <a:off x="4254055" y="2118360"/>
            <a:ext cx="2742375" cy="983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让模型自动学习路口之间的连接关系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: 圆角 59"/>
          <p:cNvSpPr/>
          <p:nvPr/>
        </p:nvSpPr>
        <p:spPr>
          <a:xfrm>
            <a:off x="7472680" y="2101850"/>
            <a:ext cx="1475740" cy="1038225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根据输入数据实时预测</a:t>
            </a:r>
            <a:r>
              <a:rPr lang="en-US" altLang="zh-CN" sz="15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5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哪些节点应该更重要</a:t>
            </a:r>
            <a:r>
              <a:rPr lang="en-US" altLang="zh-CN" sz="15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en-US" altLang="zh-CN" sz="15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502737" y="1252404"/>
            <a:ext cx="2570312" cy="497046"/>
          </a:xfrm>
          <a:prstGeom prst="rect">
            <a:avLst/>
          </a:prstGeom>
          <a:solidFill>
            <a:srgbClr val="1D54B1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预期效果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63"/>
          <p:cNvSpPr/>
          <p:nvPr/>
        </p:nvSpPr>
        <p:spPr>
          <a:xfrm>
            <a:off x="9512894" y="1868531"/>
            <a:ext cx="2560155" cy="1361104"/>
          </a:xfrm>
          <a:prstGeom prst="roundRect">
            <a:avLst>
              <a:gd name="adj" fmla="val 0"/>
            </a:avLst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有效捕获路网拓扑的动态时空相关性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7"/>
          <p:cNvSpPr/>
          <p:nvPr/>
        </p:nvSpPr>
        <p:spPr>
          <a:xfrm>
            <a:off x="9502738" y="3518387"/>
            <a:ext cx="2560155" cy="1202538"/>
          </a:xfrm>
          <a:prstGeom prst="roundRect">
            <a:avLst>
              <a:gd name="adj" fmla="val 0"/>
            </a:avLst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大幅降低计算复杂度，维持相近精度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: 圆角 68"/>
          <p:cNvSpPr/>
          <p:nvPr/>
        </p:nvSpPr>
        <p:spPr>
          <a:xfrm>
            <a:off x="9512894" y="5003888"/>
            <a:ext cx="2560155" cy="1501974"/>
          </a:xfrm>
          <a:prstGeom prst="roundRect">
            <a:avLst>
              <a:gd name="adj" fmla="val 0"/>
            </a:avLst>
          </a:prstGeom>
          <a:solidFill>
            <a:srgbClr val="E0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9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增强多粒度时序依赖建模能力</a:t>
            </a:r>
            <a:endParaRPr lang="zh-CN" altLang="en-US" sz="19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: 圆角 46"/>
          <p:cNvSpPr/>
          <p:nvPr/>
        </p:nvSpPr>
        <p:spPr>
          <a:xfrm>
            <a:off x="4254055" y="5219700"/>
            <a:ext cx="2351427" cy="4318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交通数据的多尺度特性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: 圆角 46"/>
          <p:cNvSpPr/>
          <p:nvPr/>
        </p:nvSpPr>
        <p:spPr>
          <a:xfrm>
            <a:off x="4254056" y="5801360"/>
            <a:ext cx="2351426" cy="4318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注意力机制自动判断尺度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: 圆角 46"/>
          <p:cNvSpPr/>
          <p:nvPr/>
        </p:nvSpPr>
        <p:spPr>
          <a:xfrm>
            <a:off x="7031079" y="5218402"/>
            <a:ext cx="1920516" cy="10147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同时捕捉不同时间周期的交通模式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连接符: 肘形 57"/>
          <p:cNvCxnSpPr/>
          <p:nvPr/>
        </p:nvCxnSpPr>
        <p:spPr>
          <a:xfrm>
            <a:off x="6561521" y="5426502"/>
            <a:ext cx="469558" cy="28045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58"/>
          <p:cNvCxnSpPr/>
          <p:nvPr/>
        </p:nvCxnSpPr>
        <p:spPr>
          <a:xfrm flipV="1">
            <a:off x="6561521" y="5706956"/>
            <a:ext cx="469558" cy="291699"/>
          </a:xfrm>
          <a:prstGeom prst="bentConnector3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7" idx="3"/>
            <a:endCxn id="61" idx="1"/>
          </p:cNvCxnSpPr>
          <p:nvPr/>
        </p:nvCxnSpPr>
        <p:spPr>
          <a:xfrm>
            <a:off x="6996430" y="2610168"/>
            <a:ext cx="476250" cy="10795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箭头: 右 35"/>
          <p:cNvSpPr/>
          <p:nvPr/>
        </p:nvSpPr>
        <p:spPr>
          <a:xfrm>
            <a:off x="2581737" y="3958930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5"/>
          <p:cNvSpPr/>
          <p:nvPr/>
        </p:nvSpPr>
        <p:spPr>
          <a:xfrm>
            <a:off x="2571047" y="5596946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5"/>
          <p:cNvSpPr/>
          <p:nvPr/>
        </p:nvSpPr>
        <p:spPr>
          <a:xfrm>
            <a:off x="9096136" y="2433825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5"/>
          <p:cNvSpPr/>
          <p:nvPr/>
        </p:nvSpPr>
        <p:spPr>
          <a:xfrm>
            <a:off x="9096136" y="3988916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5"/>
          <p:cNvSpPr/>
          <p:nvPr/>
        </p:nvSpPr>
        <p:spPr>
          <a:xfrm>
            <a:off x="9096136" y="5578614"/>
            <a:ext cx="377494" cy="35252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模型结构改进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25" name="图片 24" descr="fig1_model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679575"/>
            <a:ext cx="11833225" cy="3828415"/>
          </a:xfrm>
          <a:prstGeom prst="rect">
            <a:avLst/>
          </a:prstGeom>
        </p:spPr>
      </p:pic>
      <p:sp>
        <p:nvSpPr>
          <p:cNvPr id="4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54405" y="5753100"/>
            <a:ext cx="9350375" cy="349250"/>
          </a:xfrm>
          <a:prstGeom prst="rect">
            <a:avLst/>
          </a:prstGeom>
          <a:noFill/>
        </p:spPr>
        <p:txBody>
          <a:bodyPr wrap="square" lIns="0" tIns="0" rIns="360000" bIns="0" anchor="ctr" anchorCtr="0">
            <a:no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DGL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精度领先，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效率优先，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MST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长期稳定，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Baseline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中规中矩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42" name="图片 41" descr="fig5_inference_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962025"/>
            <a:ext cx="10196195" cy="5048250"/>
          </a:xfrm>
          <a:prstGeom prst="rect">
            <a:avLst/>
          </a:prstGeom>
        </p:spPr>
      </p:pic>
      <p:sp>
        <p:nvSpPr>
          <p:cNvPr id="4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5960" y="6054725"/>
            <a:ext cx="10726420" cy="349250"/>
          </a:xfrm>
          <a:prstGeom prst="rect">
            <a:avLst/>
          </a:prstGeom>
          <a:noFill/>
        </p:spPr>
        <p:txBody>
          <a:bodyPr wrap="square" lIns="0" tIns="0" rIns="360000" bIns="0" anchor="ctr" anchorCtr="0">
            <a:no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的推理时间柱状图在所有数据集上均最低，显著快于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Baseline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DGL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最慢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45" name="图片 44" descr="fig7_step_wi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163955"/>
            <a:ext cx="7812405" cy="5155565"/>
          </a:xfrm>
          <a:prstGeom prst="rect">
            <a:avLst/>
          </a:prstGeom>
        </p:spPr>
      </p:pic>
      <p:sp>
        <p:nvSpPr>
          <p:cNvPr id="47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733155" y="1504315"/>
            <a:ext cx="3204845" cy="4915535"/>
          </a:xfrm>
          <a:prstGeom prst="rect">
            <a:avLst/>
          </a:prstGeom>
          <a:noFill/>
        </p:spPr>
        <p:txBody>
          <a:bodyPr wrap="square" lIns="0" tIns="0" rIns="360000" bIns="0" anchor="ctr" anchorCtr="0">
            <a:noAutofit/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DGL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在长期预测步长上的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RMSE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增长最缓慢，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MST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中期表现稳定，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Baseline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1D54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接近。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1D54B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80991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存在问题与模型改进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841653" y="1110607"/>
            <a:ext cx="5254347" cy="507407"/>
          </a:xfrm>
          <a:prstGeom prst="roundRect">
            <a:avLst>
              <a:gd name="adj" fmla="val 13851"/>
            </a:avLst>
          </a:prstGeom>
          <a:gradFill>
            <a:gsLst>
              <a:gs pos="100000">
                <a:srgbClr val="1D54B1">
                  <a:alpha val="0"/>
                </a:srgbClr>
              </a:gs>
              <a:gs pos="0">
                <a:srgbClr val="1D54B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156210" algn="l" defTabSz="914400" rtl="0" eaLnBrk="1" fontAlgn="auto" latinLnBrk="1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针对性改进思路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aphicFrame>
        <p:nvGraphicFramePr>
          <p:cNvPr id="29" name="表格 29"/>
          <p:cNvGraphicFramePr>
            <a:graphicFrameLocks noGrp="1"/>
          </p:cNvGraphicFramePr>
          <p:nvPr/>
        </p:nvGraphicFramePr>
        <p:xfrm>
          <a:off x="841653" y="2911979"/>
          <a:ext cx="10445104" cy="3352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91488"/>
                <a:gridCol w="1754077"/>
                <a:gridCol w="2575633"/>
                <a:gridCol w="2112598"/>
                <a:gridCol w="20113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改进方案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核心改进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优势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不足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适用场景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DGL</a:t>
                      </a:r>
                      <a:endParaRPr lang="en-GB" dirty="0">
                        <a:effectLst/>
                      </a:endParaRPr>
                    </a:p>
                    <a:p>
                      <a:pPr algn="ctr"/>
                      <a:r>
                        <a:rPr lang="en-GB" dirty="0">
                          <a:effectLst/>
                        </a:rPr>
                        <a:t>（</a:t>
                      </a:r>
                      <a:r>
                        <a:rPr lang="zh-CN" altLang="en-US" dirty="0">
                          <a:effectLst/>
                        </a:rPr>
                        <a:t>动态图学习）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优化图结构建模逻辑，自动学习节点动态关联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大幅提升复杂路网预测精度，强化长时跨区域时空依赖建模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推理时间增加约 </a:t>
                      </a:r>
                      <a:r>
                        <a:rPr lang="en-US" altLang="zh-CN" dirty="0">
                          <a:effectLst/>
                        </a:rPr>
                        <a:t>190%</a:t>
                      </a:r>
                      <a:r>
                        <a:rPr lang="zh-CN" altLang="en-US" dirty="0">
                          <a:effectLst/>
                        </a:rPr>
                        <a:t>，资源消耗高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离线深度分析、低时效性高精度需求场景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LA</a:t>
                      </a:r>
                      <a:endParaRPr lang="en-GB" dirty="0">
                        <a:effectLst/>
                      </a:endParaRPr>
                    </a:p>
                    <a:p>
                      <a:pPr algn="ctr"/>
                      <a:r>
                        <a:rPr lang="en-GB" dirty="0">
                          <a:effectLst/>
                        </a:rPr>
                        <a:t>（</a:t>
                      </a:r>
                      <a:r>
                        <a:rPr lang="zh-CN" altLang="en-US" dirty="0">
                          <a:effectLst/>
                        </a:rPr>
                        <a:t>轻量化注意力）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用线性注意力替换标准自注意力，优化计算顺序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精度损失＜</a:t>
                      </a:r>
                      <a:r>
                        <a:rPr lang="en-US" altLang="zh-CN" dirty="0">
                          <a:effectLst/>
                        </a:rPr>
                        <a:t>3%</a:t>
                      </a:r>
                      <a:r>
                        <a:rPr lang="zh-CN" altLang="en-US" dirty="0">
                          <a:effectLst/>
                        </a:rPr>
                        <a:t>，推理速度提升 </a:t>
                      </a:r>
                      <a:r>
                        <a:rPr lang="en-US" altLang="zh-CN" dirty="0">
                          <a:effectLst/>
                        </a:rPr>
                        <a:t>2.2 </a:t>
                      </a:r>
                      <a:r>
                        <a:rPr lang="zh-CN" altLang="en-US" dirty="0">
                          <a:effectLst/>
                        </a:rPr>
                        <a:t>倍，参数量稳定、收敛更快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复杂场景精度略低于 </a:t>
                      </a:r>
                      <a:r>
                        <a:rPr lang="en-GB" dirty="0">
                          <a:effectLst/>
                        </a:rPr>
                        <a:t>DGL</a:t>
                      </a:r>
                      <a:endParaRPr lang="en-GB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大规模路网实时预测、边缘设备部署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MST</a:t>
                      </a:r>
                      <a:endParaRPr lang="en-GB" dirty="0">
                        <a:effectLst/>
                      </a:endParaRPr>
                    </a:p>
                    <a:p>
                      <a:pPr algn="ctr"/>
                      <a:r>
                        <a:rPr lang="en-GB" dirty="0">
                          <a:effectLst/>
                        </a:rPr>
                        <a:t>（</a:t>
                      </a:r>
                      <a:r>
                        <a:rPr lang="zh-CN" altLang="en-US" dirty="0">
                          <a:effectLst/>
                        </a:rPr>
                        <a:t>多尺度时间建模）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</a:rPr>
                        <a:t>同步建模分钟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时段 </a:t>
                      </a:r>
                      <a:r>
                        <a:rPr lang="en-US" altLang="zh-CN">
                          <a:effectLst/>
                        </a:rPr>
                        <a:t>/ </a:t>
                      </a:r>
                      <a:r>
                        <a:rPr lang="zh-CN" altLang="en-US">
                          <a:effectLst/>
                        </a:rPr>
                        <a:t>小时三级时间尺度特征</a:t>
                      </a:r>
                      <a:endParaRPr lang="zh-CN" altLang="en-US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显著提升 </a:t>
                      </a:r>
                      <a:r>
                        <a:rPr lang="en-US" altLang="zh-CN" dirty="0">
                          <a:effectLst/>
                        </a:rPr>
                        <a:t>72 </a:t>
                      </a:r>
                      <a:r>
                        <a:rPr lang="zh-CN" altLang="en-US" dirty="0">
                          <a:effectLst/>
                        </a:rPr>
                        <a:t>小时以上长期预测稳定性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参数量增加约 </a:t>
                      </a:r>
                      <a:r>
                        <a:rPr lang="en-US" altLang="zh-CN" dirty="0">
                          <a:effectLst/>
                        </a:rPr>
                        <a:t>30%</a:t>
                      </a:r>
                      <a:r>
                        <a:rPr lang="zh-CN" altLang="en-US" dirty="0">
                          <a:effectLst/>
                        </a:rPr>
                        <a:t>，参数效率偏低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</a:rPr>
                        <a:t>城市交通管控、应急调度等长时稳定预测场景</a:t>
                      </a:r>
                      <a:endParaRPr lang="zh-CN" altLang="en-US" dirty="0">
                        <a:effectLst/>
                      </a:endParaRPr>
                    </a:p>
                  </a:txBody>
                  <a:tcPr marL="76200" marR="76200" marT="76200" marB="76200" anchor="ctr"/>
                </a:tc>
              </a:tr>
            </a:tbl>
          </a:graphicData>
        </a:graphic>
      </p:graphicFrame>
      <p:sp>
        <p:nvSpPr>
          <p:cNvPr id="30" name="图形"/>
          <p:cNvSpPr txBox="1"/>
          <p:nvPr/>
        </p:nvSpPr>
        <p:spPr>
          <a:xfrm>
            <a:off x="841653" y="1737522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针对</a:t>
            </a:r>
            <a:r>
              <a:rPr lang="en-GB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STAEformer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模型在不同路网场景下存在的建模能力适配性不足、效率与精度难以兼顾等局限性，研究人员针对性设计了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EFF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、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DGL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、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LA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和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MST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四类差异化改进方案，并基于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METR-LA</a:t>
            </a:r>
            <a:r>
              <a:rPr lang="zh-CN" alt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、</a:t>
            </a:r>
            <a:r>
              <a:rPr lang="en-GB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PEMS-BAY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等五个主流标准路网数据集开展多维度对比实验，综合精度、速度、参数量等指标得出结论：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6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7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8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9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0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0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1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2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3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4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5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6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7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8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29.xml><?xml version="1.0" encoding="utf-8"?>
<p:tagLst xmlns:p="http://schemas.openxmlformats.org/presentationml/2006/main">
  <p:tag name="KSO_WM_DIAGRAM_VIRTUALLY_FRAME" val="{&quot;height&quot;:337.5797637795275,&quot;left&quot;:66.25,&quot;top&quot;:154.77023622047244,&quot;width&quot;:616.35}"/>
</p:tagLst>
</file>

<file path=ppt/tags/tag30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31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2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3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4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5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6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7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8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39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0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1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2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3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4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5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6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7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8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49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50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51.xml><?xml version="1.0" encoding="utf-8"?>
<p:tagLst xmlns:p="http://schemas.openxmlformats.org/presentationml/2006/main">
  <p:tag name="KSO_WM_DIAGRAM_VIRTUALLY_FRAME" val="{&quot;height&quot;:390.45330708661413,&quot;left&quot;:-0.00031496063002123265,&quot;top&quot;:149.5114960629921,&quot;width&quot;:959.9750393700788}"/>
</p:tagLst>
</file>

<file path=ppt/tags/tag52.xml><?xml version="1.0" encoding="utf-8"?>
<p:tagLst xmlns:p="http://schemas.openxmlformats.org/presentationml/2006/main">
  <p:tag name="KSO_WM_DIAGRAM_VIRTUALLY_FRAME" val="{&quot;height&quot;:283.4792125984252,&quot;left&quot;:72.83244094488188,&quot;top&quot;:220.62716535433069,&quot;width&quot;:792.1824409448819}"/>
</p:tagLst>
</file>

<file path=ppt/tags/tag53.xml><?xml version="1.0" encoding="utf-8"?>
<p:tagLst xmlns:p="http://schemas.openxmlformats.org/presentationml/2006/main">
  <p:tag name="KSO_WM_DIAGRAM_VIRTUALLY_FRAME" val="{&quot;height&quot;:283.4792125984252,&quot;left&quot;:72.83244094488188,&quot;top&quot;:220.62716535433069,&quot;width&quot;:792.1824409448819}"/>
</p:tagLst>
</file>

<file path=ppt/tags/tag54.xml><?xml version="1.0" encoding="utf-8"?>
<p:tagLst xmlns:p="http://schemas.openxmlformats.org/presentationml/2006/main">
  <p:tag name="KSO_WM_DIAGRAM_VIRTUALLY_FRAME" val="{&quot;height&quot;:283.4792125984252,&quot;left&quot;:72.83244094488188,&quot;top&quot;:220.62716535433069,&quot;width&quot;:792.1824409448819}"/>
</p:tagLst>
</file>

<file path=ppt/tags/tag55.xml><?xml version="1.0" encoding="utf-8"?>
<p:tagLst xmlns:p="http://schemas.openxmlformats.org/presentationml/2006/main">
  <p:tag name="KSO_WM_DIAGRAM_VIRTUALLY_FRAME" val="{&quot;height&quot;:283.4792125984252,&quot;left&quot;:72.83244094488188,&quot;top&quot;:220.62716535433069,&quot;width&quot;:792.1824409448819}"/>
</p:tagLst>
</file>

<file path=ppt/tags/tag56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57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58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59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0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1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2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3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4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5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6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7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8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69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70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71.xml><?xml version="1.0" encoding="utf-8"?>
<p:tagLst xmlns:p="http://schemas.openxmlformats.org/presentationml/2006/main">
  <p:tag name="KSO_WM_DIAGRAM_VIRTUALLY_FRAME" val="{&quot;height&quot;:366.3454330708662,&quot;left&quot;:73.29220472440946,&quot;top&quot;:139.2155905511811,&quot;width&quot;:813.3896850393701}"/>
</p:tagLst>
</file>

<file path=ppt/tags/tag72.xml><?xml version="1.0" encoding="utf-8"?>
<p:tagLst xmlns:p="http://schemas.openxmlformats.org/presentationml/2006/main">
  <p:tag name="KSO_WM_DIAGRAM_VIRTUALLY_FRAME" val="{&quot;height&quot;:374.42622047244083,&quot;left&quot;:-28.36007874015748,&quot;top&quot;:125.70968503937009,&quot;width&quot;:976.964251968504}"/>
</p:tagLst>
</file>

<file path=ppt/tags/tag73.xml><?xml version="1.0" encoding="utf-8"?>
<p:tagLst xmlns:p="http://schemas.openxmlformats.org/presentationml/2006/main">
  <p:tag name="KSO_WM_DIAGRAM_VIRTUALLY_FRAME" val="{&quot;height&quot;:374.42622047244083,&quot;left&quot;:-28.36007874015748,&quot;top&quot;:125.70968503937009,&quot;width&quot;:976.964251968504}"/>
</p:tagLst>
</file>

<file path=ppt/tags/tag74.xml><?xml version="1.0" encoding="utf-8"?>
<p:tagLst xmlns:p="http://schemas.openxmlformats.org/presentationml/2006/main">
  <p:tag name="KSO_WM_DIAGRAM_VIRTUALLY_FRAME" val="{&quot;height&quot;:374.42622047244083,&quot;left&quot;:-28.36007874015748,&quot;top&quot;:125.70968503937009,&quot;width&quot;:976.964251968504}"/>
</p:tagLst>
</file>

<file path=ppt/tags/tag75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5787</Words>
  <Application>WPS 演示</Application>
  <PresentationFormat>宽屏</PresentationFormat>
  <Paragraphs>591</Paragraphs>
  <Slides>34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Times New Roman</vt:lpstr>
      <vt:lpstr>Arial</vt:lpstr>
      <vt:lpstr>OPPOSans R</vt:lpstr>
      <vt:lpstr>OPPOSans B</vt:lpstr>
      <vt:lpstr>思源宋体 CN Heavy</vt:lpstr>
      <vt:lpstr>OPPOSans H</vt:lpstr>
      <vt:lpstr>OPPOSans B</vt:lpstr>
      <vt:lpstr>Segoe Print</vt:lpstr>
      <vt:lpstr>Calibri</vt:lpstr>
      <vt:lpstr>字魂58号-创中黑</vt:lpstr>
      <vt:lpstr>Arial Unicode MS</vt:lpstr>
      <vt:lpstr>Cambria Math</vt:lpstr>
      <vt:lpstr>华文中宋</vt:lpstr>
      <vt:lpstr>TimesNewRomanPS-ItalicMT</vt:lpstr>
      <vt:lpstr>CMMI10</vt:lpstr>
      <vt:lpstr>CMMI8</vt:lpstr>
      <vt:lpstr>CMR10</vt:lpstr>
      <vt:lpstr>Times New Roman</vt:lpstr>
      <vt:lpstr>CMR8</vt:lpstr>
      <vt:lpstr>Tahoma</vt:lpstr>
      <vt:lpstr>等线</vt:lpstr>
      <vt:lpstr>黑体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WPS_1665891310</cp:lastModifiedBy>
  <cp:revision>92</cp:revision>
  <dcterms:created xsi:type="dcterms:W3CDTF">2023-05-24T16:02:00Z</dcterms:created>
  <dcterms:modified xsi:type="dcterms:W3CDTF">2026-03-30T06:58:38Z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2052-12.1.0.25225</vt:lpwstr>
  </property>
</Properties>
</file>