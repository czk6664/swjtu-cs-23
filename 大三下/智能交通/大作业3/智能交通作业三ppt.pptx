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sldIdLst>
    <p:sldId id="256" r:id="rId3"/>
    <p:sldId id="11089436" r:id="rId4"/>
    <p:sldId id="352" r:id="rId5"/>
    <p:sldId id="11089433" r:id="rId7"/>
    <p:sldId id="11089437" r:id="rId8"/>
    <p:sldId id="11089426" r:id="rId9"/>
    <p:sldId id="11089438" r:id="rId10"/>
    <p:sldId id="11089439" r:id="rId11"/>
    <p:sldId id="11089427" r:id="rId12"/>
    <p:sldId id="11089440" r:id="rId13"/>
    <p:sldId id="11089434" r:id="rId14"/>
    <p:sldId id="11089441" r:id="rId15"/>
    <p:sldId id="11089442" r:id="rId16"/>
    <p:sldId id="11089428" r:id="rId17"/>
    <p:sldId id="11089435" r:id="rId18"/>
    <p:sldId id="11089443" r:id="rId19"/>
    <p:sldId id="11089444" r:id="rId20"/>
    <p:sldId id="11089430" r:id="rId21"/>
    <p:sldId id="11089445" r:id="rId22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54B1"/>
    <a:srgbClr val="0E6BC9"/>
    <a:srgbClr val="1F2B97"/>
    <a:srgbClr val="E9F2FE"/>
    <a:srgbClr val="E0ECFE"/>
    <a:srgbClr val="F9D5AE"/>
    <a:srgbClr val="FFF2DA"/>
    <a:srgbClr val="0D66DA"/>
    <a:srgbClr val="0F3D99"/>
    <a:srgbClr val="463D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9"/>
    <p:restoredTop sz="96029"/>
  </p:normalViewPr>
  <p:slideViewPr>
    <p:cSldViewPr snapToGrid="0">
      <p:cViewPr varScale="1">
        <p:scale>
          <a:sx n="110" d="100"/>
          <a:sy n="110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gs" Target="tags/tag78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01C6032-BE26-DE4E-9BAA-F653CCBBDD01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DCC958E-0824-3148-94FA-0EF06A1E88E5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公众号：陈西设计之家。微信搜索即可。更多免费</a:t>
            </a:r>
            <a:r>
              <a:rPr lang="en-US" altLang="zh-CN" dirty="0"/>
              <a:t>PPT</a:t>
            </a:r>
            <a:r>
              <a:rPr lang="zh-CN" altLang="en-US" dirty="0"/>
              <a:t>模版教程等都可以在公众号内获取。</a:t>
            </a:r>
            <a:r>
              <a:rPr lang="en-US" altLang="zh-CN" dirty="0"/>
              <a:t>PPT</a:t>
            </a:r>
            <a:r>
              <a:rPr lang="zh-CN" altLang="en-US" dirty="0"/>
              <a:t>高端定制</a:t>
            </a:r>
            <a:r>
              <a:rPr lang="en-US" altLang="zh-CN" dirty="0"/>
              <a:t>/</a:t>
            </a:r>
            <a:r>
              <a:rPr lang="zh-CN" altLang="en-US" dirty="0"/>
              <a:t>发布会</a:t>
            </a:r>
            <a:r>
              <a:rPr lang="en-US" altLang="zh-CN" dirty="0"/>
              <a:t>PPT</a:t>
            </a:r>
            <a:r>
              <a:rPr lang="zh-CN" altLang="en-US" dirty="0"/>
              <a:t>设计微信：</a:t>
            </a:r>
            <a:r>
              <a:rPr lang="en-US" altLang="zh-CN" dirty="0"/>
              <a:t>2090298045【</a:t>
            </a:r>
            <a:r>
              <a:rPr lang="zh-CN" altLang="en-US" dirty="0"/>
              <a:t>陈西</a:t>
            </a:r>
            <a:r>
              <a:rPr lang="en-US" altLang="zh-CN" dirty="0"/>
              <a:t>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DC73D-7D82-4CC4-9352-9FD0125D9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公众号：陈西设计之家。微信搜索即可。更多免费</a:t>
            </a:r>
            <a:r>
              <a:rPr lang="en-US" altLang="zh-CN" dirty="0"/>
              <a:t>PPT</a:t>
            </a:r>
            <a:r>
              <a:rPr lang="zh-CN" altLang="en-US" dirty="0"/>
              <a:t>模版教程等都可以在公众号内获取。</a:t>
            </a:r>
            <a:r>
              <a:rPr lang="en-US" altLang="zh-CN" dirty="0"/>
              <a:t>PPT</a:t>
            </a:r>
            <a:r>
              <a:rPr lang="zh-CN" altLang="en-US" dirty="0"/>
              <a:t>高端定制</a:t>
            </a:r>
            <a:r>
              <a:rPr lang="en-US" altLang="zh-CN" dirty="0"/>
              <a:t>/</a:t>
            </a:r>
            <a:r>
              <a:rPr lang="zh-CN" altLang="en-US" dirty="0"/>
              <a:t>发布会</a:t>
            </a:r>
            <a:r>
              <a:rPr lang="en-US" altLang="zh-CN" dirty="0"/>
              <a:t>PPT</a:t>
            </a:r>
            <a:r>
              <a:rPr lang="zh-CN" altLang="en-US" dirty="0"/>
              <a:t>设计微信：</a:t>
            </a:r>
            <a:r>
              <a:rPr lang="en-US" altLang="zh-CN" dirty="0"/>
              <a:t>2090298045【</a:t>
            </a:r>
            <a:r>
              <a:rPr lang="zh-CN" altLang="en-US" dirty="0"/>
              <a:t>陈西</a:t>
            </a:r>
            <a:r>
              <a:rPr lang="en-US" altLang="zh-CN" dirty="0"/>
              <a:t>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DC73D-7D82-4CC4-9352-9FD0125D9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公众号：陈西设计之家。微信搜索即可。更多免费</a:t>
            </a:r>
            <a:r>
              <a:rPr lang="en-US" altLang="zh-CN" dirty="0"/>
              <a:t>PPT</a:t>
            </a:r>
            <a:r>
              <a:rPr lang="zh-CN" altLang="en-US" dirty="0"/>
              <a:t>模版教程等都可以在公众号内获取。</a:t>
            </a:r>
            <a:r>
              <a:rPr lang="en-US" altLang="zh-CN" dirty="0"/>
              <a:t>PPT</a:t>
            </a:r>
            <a:r>
              <a:rPr lang="zh-CN" altLang="en-US" dirty="0"/>
              <a:t>高端定制</a:t>
            </a:r>
            <a:r>
              <a:rPr lang="en-US" altLang="zh-CN" dirty="0"/>
              <a:t>/</a:t>
            </a:r>
            <a:r>
              <a:rPr lang="zh-CN" altLang="en-US" dirty="0"/>
              <a:t>发布会</a:t>
            </a:r>
            <a:r>
              <a:rPr lang="en-US" altLang="zh-CN" dirty="0"/>
              <a:t>PPT</a:t>
            </a:r>
            <a:r>
              <a:rPr lang="zh-CN" altLang="en-US" dirty="0"/>
              <a:t>设计微信：</a:t>
            </a:r>
            <a:r>
              <a:rPr lang="en-US" altLang="zh-CN" dirty="0"/>
              <a:t>2090298045【</a:t>
            </a:r>
            <a:r>
              <a:rPr lang="zh-CN" altLang="en-US" dirty="0"/>
              <a:t>陈西</a:t>
            </a:r>
            <a:r>
              <a:rPr lang="en-US" altLang="zh-CN" dirty="0"/>
              <a:t>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DC73D-7D82-4CC4-9352-9FD0125D9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公众号：陈西设计之家。微信搜索即可。更多免费</a:t>
            </a:r>
            <a:r>
              <a:rPr lang="en-US" altLang="zh-CN" dirty="0"/>
              <a:t>PPT</a:t>
            </a:r>
            <a:r>
              <a:rPr lang="zh-CN" altLang="en-US" dirty="0"/>
              <a:t>模版教程等都可以在公众号内获取。</a:t>
            </a:r>
            <a:r>
              <a:rPr lang="en-US" altLang="zh-CN" dirty="0"/>
              <a:t>PPT</a:t>
            </a:r>
            <a:r>
              <a:rPr lang="zh-CN" altLang="en-US" dirty="0"/>
              <a:t>高端定制</a:t>
            </a:r>
            <a:r>
              <a:rPr lang="en-US" altLang="zh-CN" dirty="0"/>
              <a:t>/</a:t>
            </a:r>
            <a:r>
              <a:rPr lang="zh-CN" altLang="en-US" dirty="0"/>
              <a:t>发布会</a:t>
            </a:r>
            <a:r>
              <a:rPr lang="en-US" altLang="zh-CN" dirty="0"/>
              <a:t>PPT</a:t>
            </a:r>
            <a:r>
              <a:rPr lang="zh-CN" altLang="en-US" dirty="0"/>
              <a:t>设计微信：</a:t>
            </a:r>
            <a:r>
              <a:rPr lang="en-US" altLang="zh-CN" dirty="0"/>
              <a:t>2090298045【</a:t>
            </a:r>
            <a:r>
              <a:rPr lang="zh-CN" altLang="en-US" dirty="0"/>
              <a:t>陈西</a:t>
            </a:r>
            <a:r>
              <a:rPr lang="en-US" altLang="zh-CN" dirty="0"/>
              <a:t>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DC73D-7D82-4CC4-9352-9FD0125D9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公众号：陈西设计之家。微信搜索即可。更多免费</a:t>
            </a:r>
            <a:r>
              <a:rPr lang="en-US" altLang="zh-CN" dirty="0"/>
              <a:t>PPT</a:t>
            </a:r>
            <a:r>
              <a:rPr lang="zh-CN" altLang="en-US" dirty="0"/>
              <a:t>模版教程等都可以在公众号内获取。</a:t>
            </a:r>
            <a:r>
              <a:rPr lang="en-US" altLang="zh-CN" dirty="0"/>
              <a:t>PPT</a:t>
            </a:r>
            <a:r>
              <a:rPr lang="zh-CN" altLang="en-US" dirty="0"/>
              <a:t>高端定制</a:t>
            </a:r>
            <a:r>
              <a:rPr lang="en-US" altLang="zh-CN" dirty="0"/>
              <a:t>/</a:t>
            </a:r>
            <a:r>
              <a:rPr lang="zh-CN" altLang="en-US" dirty="0"/>
              <a:t>发布会</a:t>
            </a:r>
            <a:r>
              <a:rPr lang="en-US" altLang="zh-CN" dirty="0"/>
              <a:t>PPT</a:t>
            </a:r>
            <a:r>
              <a:rPr lang="zh-CN" altLang="en-US" dirty="0"/>
              <a:t>设计微信：</a:t>
            </a:r>
            <a:r>
              <a:rPr lang="en-US" altLang="zh-CN" dirty="0"/>
              <a:t>2090298045【</a:t>
            </a:r>
            <a:r>
              <a:rPr lang="zh-CN" altLang="en-US" dirty="0"/>
              <a:t>陈西</a:t>
            </a:r>
            <a:r>
              <a:rPr lang="en-US" altLang="zh-CN" dirty="0"/>
              <a:t>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DC73D-7D82-4CC4-9352-9FD0125D9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雪地里走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1219"/>
            <a:ext cx="12192000" cy="6856781"/>
          </a:xfrm>
          <a:prstGeom prst="rect">
            <a:avLst/>
          </a:prstGeom>
          <a:gradFill>
            <a:gsLst>
              <a:gs pos="0">
                <a:srgbClr val="00A3FE"/>
              </a:gs>
              <a:gs pos="100000">
                <a:srgbClr val="0086CE"/>
              </a:gs>
            </a:gsLst>
            <a:lin ang="2700000" scaled="1"/>
          </a:gradFill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938D1CA-CFD4-4441-9941-76CB3DA5BB93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9C0DFCF-B22A-CE43-8FEE-53091E4C0514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tags" Target="../tags/tag4.xml"/><Relationship Id="rId7" Type="http://schemas.openxmlformats.org/officeDocument/2006/relationships/tags" Target="../tags/tag3.xml"/><Relationship Id="rId6" Type="http://schemas.openxmlformats.org/officeDocument/2006/relationships/tags" Target="../tags/tag2.xml"/><Relationship Id="rId5" Type="http://schemas.openxmlformats.org/officeDocument/2006/relationships/tags" Target="../tags/tag1.xml"/><Relationship Id="rId4" Type="http://schemas.microsoft.com/office/2007/relationships/hdphoto" Target="../media/image8.wdp"/><Relationship Id="rId3" Type="http://schemas.openxmlformats.org/officeDocument/2006/relationships/image" Target="../media/image7.png"/><Relationship Id="rId22" Type="http://schemas.openxmlformats.org/officeDocument/2006/relationships/slideLayout" Target="../slideLayouts/slideLayout7.xml"/><Relationship Id="rId21" Type="http://schemas.openxmlformats.org/officeDocument/2006/relationships/tags" Target="../tags/tag16.xml"/><Relationship Id="rId20" Type="http://schemas.openxmlformats.org/officeDocument/2006/relationships/tags" Target="../tags/tag15.xml"/><Relationship Id="rId2" Type="http://schemas.microsoft.com/office/2007/relationships/hdphoto" Target="../media/image6.wdp"/><Relationship Id="rId19" Type="http://schemas.openxmlformats.org/officeDocument/2006/relationships/tags" Target="../tags/tag14.xml"/><Relationship Id="rId18" Type="http://schemas.openxmlformats.org/officeDocument/2006/relationships/tags" Target="../tags/tag13.xml"/><Relationship Id="rId17" Type="http://schemas.openxmlformats.org/officeDocument/2006/relationships/image" Target="../media/image9.png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17.xml"/><Relationship Id="rId4" Type="http://schemas.openxmlformats.org/officeDocument/2006/relationships/image" Target="../media/image9.png"/><Relationship Id="rId3" Type="http://schemas.openxmlformats.org/officeDocument/2006/relationships/image" Target="../media/image10.jpeg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5" Type="http://schemas.openxmlformats.org/officeDocument/2006/relationships/notesSlide" Target="../notesSlides/notesSlide3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38.xml"/><Relationship Id="rId4" Type="http://schemas.openxmlformats.org/officeDocument/2006/relationships/image" Target="../media/image9.png"/><Relationship Id="rId3" Type="http://schemas.openxmlformats.org/officeDocument/2006/relationships/image" Target="../media/image12.jpeg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7.xml"/><Relationship Id="rId6" Type="http://schemas.openxmlformats.org/officeDocument/2006/relationships/tags" Target="../tags/tag39.xml"/><Relationship Id="rId5" Type="http://schemas.openxmlformats.org/officeDocument/2006/relationships/image" Target="../media/image9.png"/><Relationship Id="rId4" Type="http://schemas.microsoft.com/office/2007/relationships/hdphoto" Target="../media/image14.wdp"/><Relationship Id="rId3" Type="http://schemas.openxmlformats.org/officeDocument/2006/relationships/image" Target="../media/image13.png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5" Type="http://schemas.openxmlformats.org/officeDocument/2006/relationships/notesSlide" Target="../notesSlides/notesSlide8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51.xml"/><Relationship Id="rId12" Type="http://schemas.openxmlformats.org/officeDocument/2006/relationships/tags" Target="../tags/tag50.xml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52.xml"/><Relationship Id="rId2" Type="http://schemas.openxmlformats.org/officeDocument/2006/relationships/image" Target="../media/image15.png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65.xml"/><Relationship Id="rId13" Type="http://schemas.openxmlformats.org/officeDocument/2006/relationships/tags" Target="../tags/tag64.xml"/><Relationship Id="rId12" Type="http://schemas.openxmlformats.org/officeDocument/2006/relationships/tags" Target="../tags/tag63.xml"/><Relationship Id="rId11" Type="http://schemas.openxmlformats.org/officeDocument/2006/relationships/tags" Target="../tags/tag62.xml"/><Relationship Id="rId10" Type="http://schemas.openxmlformats.org/officeDocument/2006/relationships/tags" Target="../tags/tag61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67.xml"/><Relationship Id="rId4" Type="http://schemas.openxmlformats.org/officeDocument/2006/relationships/image" Target="../media/image9.png"/><Relationship Id="rId3" Type="http://schemas.openxmlformats.org/officeDocument/2006/relationships/image" Target="../media/image16.jpeg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image" Target="../media/image17.png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69.xml"/><Relationship Id="rId4" Type="http://schemas.openxmlformats.org/officeDocument/2006/relationships/image" Target="../media/image9.png"/><Relationship Id="rId3" Type="http://schemas.openxmlformats.org/officeDocument/2006/relationships/image" Target="../media/image16.jpeg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743200" y="6451005"/>
            <a:ext cx="6705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spc="300" dirty="0">
                <a:solidFill>
                  <a:srgbClr val="1D54B1">
                    <a:alpha val="50670"/>
                  </a:srgb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竢实扬华 自强不息 </a:t>
            </a:r>
            <a:endParaRPr lang="zh-CN" altLang="en-US" sz="1400" spc="300" dirty="0">
              <a:solidFill>
                <a:srgbClr val="1D54B1">
                  <a:alpha val="50670"/>
                </a:srgb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4447805" y="725880"/>
            <a:ext cx="3296388" cy="946061"/>
            <a:chOff x="4227156" y="597288"/>
            <a:chExt cx="3296388" cy="946061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2" cstate="screen">
              <a:biLevel thresh="25000"/>
            </a:blip>
            <a:srcRect/>
            <a:stretch>
              <a:fillRect/>
            </a:stretch>
          </p:blipFill>
          <p:spPr>
            <a:xfrm>
              <a:off x="5107515" y="597288"/>
              <a:ext cx="2416029" cy="946061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 cstate="screen"/>
            <a:stretch>
              <a:fillRect/>
            </a:stretch>
          </p:blipFill>
          <p:spPr>
            <a:xfrm>
              <a:off x="4227156" y="681280"/>
              <a:ext cx="733098" cy="818626"/>
            </a:xfrm>
            <a:prstGeom prst="rect">
              <a:avLst/>
            </a:prstGeom>
          </p:spPr>
        </p:pic>
      </p:grpSp>
      <p:sp>
        <p:nvSpPr>
          <p:cNvPr id="10" name="文本框 9"/>
          <p:cNvSpPr txBox="1"/>
          <p:nvPr/>
        </p:nvSpPr>
        <p:spPr>
          <a:xfrm>
            <a:off x="694267" y="2756057"/>
            <a:ext cx="10803464" cy="48322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600" b="1" i="0" u="none" strike="noStrike" kern="10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BCE0F9"/>
                    </a:gs>
                    <a:gs pos="9000">
                      <a:schemeClr val="bg1"/>
                    </a:gs>
                  </a:gsLst>
                  <a:lin ang="0" scaled="0"/>
                </a:gradFill>
                <a:effectLst>
                  <a:outerShdw blurRad="127000" dist="38100" dir="2700000" sx="101000" sy="101000" algn="tl" rotWithShape="0">
                    <a:prstClr val="black">
                      <a:alpha val="45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大小模型协同的智能交通出行问答系统</a:t>
            </a:r>
            <a:endParaRPr kumimoji="0" lang="zh-CN" altLang="zh-CN" sz="5600" b="1" i="0" u="none" strike="noStrike" kern="100" cap="none" spc="0" normalizeH="0" baseline="0" noProof="0" dirty="0">
              <a:ln>
                <a:noFill/>
              </a:ln>
              <a:gradFill>
                <a:gsLst>
                  <a:gs pos="100000">
                    <a:srgbClr val="BCE0F9"/>
                  </a:gs>
                  <a:gs pos="9000">
                    <a:schemeClr val="bg1"/>
                  </a:gs>
                </a:gsLst>
                <a:lin ang="0" scaled="0"/>
              </a:gradFill>
              <a:effectLst>
                <a:outerShdw blurRad="127000" dist="38100" dir="2700000" sx="101000" sy="101000" algn="tl" rotWithShape="0">
                  <a:prstClr val="black">
                    <a:alpha val="45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039533" y="4254246"/>
            <a:ext cx="6112932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汇报人：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程泽凯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039745" y="4847590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spc="3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组员：程泽凯、王晨羽、金井直</a:t>
            </a:r>
            <a:endParaRPr lang="zh-CN" altLang="en-US" sz="1600" spc="30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56255" y="525589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pc="3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2026</a:t>
            </a:r>
            <a:r>
              <a:rPr lang="zh-CN" altLang="zh-CN" spc="3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年</a:t>
            </a:r>
            <a:r>
              <a:rPr lang="en-US" altLang="zh-CN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3</a:t>
            </a:r>
            <a:r>
              <a:rPr lang="zh-CN" altLang="zh-CN" spc="3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月</a:t>
            </a:r>
            <a:r>
              <a:rPr lang="en-US" altLang="zh-CN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31</a:t>
            </a:r>
            <a:r>
              <a:rPr lang="zh-CN" altLang="zh-CN" spc="3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日</a:t>
            </a:r>
            <a:r>
              <a:rPr lang="zh-CN" altLang="zh-CN" spc="3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endParaRPr lang="zh-CN" altLang="zh-CN" spc="30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矩形 67"/>
          <p:cNvSpPr/>
          <p:nvPr/>
        </p:nvSpPr>
        <p:spPr>
          <a:xfrm>
            <a:off x="0" y="893"/>
            <a:ext cx="12191207" cy="6857107"/>
          </a:xfrm>
          <a:prstGeom prst="rect">
            <a:avLst/>
          </a:prstGeom>
          <a:gradFill flip="none" rotWithShape="1">
            <a:gsLst>
              <a:gs pos="51000">
                <a:srgbClr val="308FF0">
                  <a:lumMod val="10000"/>
                  <a:lumOff val="90000"/>
                  <a:alpha val="95091"/>
                </a:srgbClr>
              </a:gs>
              <a:gs pos="0">
                <a:srgbClr val="308FF0">
                  <a:lumMod val="20000"/>
                  <a:lumOff val="80000"/>
                  <a:alpha val="74000"/>
                </a:srgbClr>
              </a:gs>
              <a:gs pos="100000">
                <a:srgbClr val="E9ECFC"/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OPPOSans R" pitchFamily="18" charset="-122"/>
              <a:cs typeface="+mn-cs"/>
              <a:sym typeface="+mn-lt"/>
            </a:endParaRPr>
          </a:p>
        </p:txBody>
      </p:sp>
      <p:sp>
        <p:nvSpPr>
          <p:cNvPr id="24" name="矩形 23"/>
          <p:cNvSpPr/>
          <p:nvPr/>
        </p:nvSpPr>
        <p:spPr>
          <a:xfrm flipH="1">
            <a:off x="-2" y="5177971"/>
            <a:ext cx="12191683" cy="1679581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9000">
                <a:srgbClr val="3354B5">
                  <a:alpha val="90000"/>
                </a:srgbClr>
              </a:gs>
              <a:gs pos="0">
                <a:srgbClr val="361F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OPPOSans R" pitchFamily="18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alphaModFix amt="95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r="44004" b="49240"/>
          <a:stretch>
            <a:fillRect/>
          </a:stretch>
        </p:blipFill>
        <p:spPr>
          <a:xfrm flipV="1">
            <a:off x="1" y="-7"/>
            <a:ext cx="12191998" cy="3747395"/>
          </a:xfrm>
          <a:custGeom>
            <a:avLst/>
            <a:gdLst>
              <a:gd name="connsiteX0" fmla="*/ 0 w 12192000"/>
              <a:gd name="connsiteY0" fmla="*/ 2558508 h 2558508"/>
              <a:gd name="connsiteX1" fmla="*/ 12192000 w 12192000"/>
              <a:gd name="connsiteY1" fmla="*/ 2558508 h 2558508"/>
              <a:gd name="connsiteX2" fmla="*/ 12192000 w 12192000"/>
              <a:gd name="connsiteY2" fmla="*/ 0 h 2558508"/>
              <a:gd name="connsiteX3" fmla="*/ 0 w 12192000"/>
              <a:gd name="connsiteY3" fmla="*/ 0 h 2558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558508">
                <a:moveTo>
                  <a:pt x="0" y="2558508"/>
                </a:moveTo>
                <a:lnTo>
                  <a:pt x="12192000" y="2558508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grpSp>
        <p:nvGrpSpPr>
          <p:cNvPr id="7" name="组合 6"/>
          <p:cNvGrpSpPr/>
          <p:nvPr/>
        </p:nvGrpSpPr>
        <p:grpSpPr>
          <a:xfrm>
            <a:off x="7173685" y="2287365"/>
            <a:ext cx="5017521" cy="4560428"/>
            <a:chOff x="7173685" y="2287365"/>
            <a:chExt cx="5017521" cy="4560428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5900"/>
                      </a14:imgEffect>
                      <a14:imgEffect>
                        <a14:sharpenSoften amount="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17"/>
            <a:stretch>
              <a:fillRect/>
            </a:stretch>
          </p:blipFill>
          <p:spPr>
            <a:xfrm>
              <a:off x="7173685" y="2287365"/>
              <a:ext cx="5017521" cy="4560428"/>
            </a:xfrm>
            <a:prstGeom prst="rect">
              <a:avLst/>
            </a:prstGeom>
          </p:spPr>
        </p:pic>
        <p:sp>
          <p:nvSpPr>
            <p:cNvPr id="13" name="椭圆 12"/>
            <p:cNvSpPr/>
            <p:nvPr/>
          </p:nvSpPr>
          <p:spPr>
            <a:xfrm>
              <a:off x="9458326" y="2543175"/>
              <a:ext cx="1343025" cy="13430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70" name="组合 69"/>
          <p:cNvGrpSpPr/>
          <p:nvPr/>
        </p:nvGrpSpPr>
        <p:grpSpPr>
          <a:xfrm flipH="1">
            <a:off x="1439335" y="5603542"/>
            <a:ext cx="1443439" cy="671186"/>
            <a:chOff x="7979568" y="6473576"/>
            <a:chExt cx="1443627" cy="671273"/>
          </a:xfrm>
          <a:gradFill>
            <a:gsLst>
              <a:gs pos="0">
                <a:srgbClr val="308FF0"/>
              </a:gs>
              <a:gs pos="78000">
                <a:srgbClr val="308FF0">
                  <a:lumMod val="20000"/>
                  <a:lumOff val="80000"/>
                </a:srgbClr>
              </a:gs>
            </a:gsLst>
            <a:lin ang="0" scaled="0"/>
          </a:gradFill>
        </p:grpSpPr>
        <p:grpSp>
          <p:nvGrpSpPr>
            <p:cNvPr id="71" name="组合 70"/>
            <p:cNvGrpSpPr/>
            <p:nvPr/>
          </p:nvGrpSpPr>
          <p:grpSpPr>
            <a:xfrm>
              <a:off x="7979568" y="6473576"/>
              <a:ext cx="1443627" cy="66923"/>
              <a:chOff x="7979568" y="6473576"/>
              <a:chExt cx="1443627" cy="66923"/>
            </a:xfrm>
            <a:grpFill/>
          </p:grpSpPr>
          <p:sp>
            <p:nvSpPr>
              <p:cNvPr id="99" name="椭圆 98"/>
              <p:cNvSpPr/>
              <p:nvPr/>
            </p:nvSpPr>
            <p:spPr>
              <a:xfrm>
                <a:off x="7979568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100" name="椭圆 99"/>
              <p:cNvSpPr/>
              <p:nvPr/>
            </p:nvSpPr>
            <p:spPr>
              <a:xfrm>
                <a:off x="8176240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101" name="椭圆 100"/>
              <p:cNvSpPr/>
              <p:nvPr/>
            </p:nvSpPr>
            <p:spPr>
              <a:xfrm>
                <a:off x="8372912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102" name="椭圆 101"/>
              <p:cNvSpPr/>
              <p:nvPr/>
            </p:nvSpPr>
            <p:spPr>
              <a:xfrm>
                <a:off x="8569584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103" name="椭圆 102"/>
              <p:cNvSpPr/>
              <p:nvPr/>
            </p:nvSpPr>
            <p:spPr>
              <a:xfrm>
                <a:off x="8766256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104" name="椭圆 103"/>
              <p:cNvSpPr/>
              <p:nvPr/>
            </p:nvSpPr>
            <p:spPr>
              <a:xfrm>
                <a:off x="8962928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105" name="椭圆 104"/>
              <p:cNvSpPr/>
              <p:nvPr/>
            </p:nvSpPr>
            <p:spPr>
              <a:xfrm>
                <a:off x="9159600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106" name="椭圆 105"/>
              <p:cNvSpPr/>
              <p:nvPr/>
            </p:nvSpPr>
            <p:spPr>
              <a:xfrm>
                <a:off x="9356272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</p:grpSp>
        <p:grpSp>
          <p:nvGrpSpPr>
            <p:cNvPr id="72" name="组合 71"/>
            <p:cNvGrpSpPr/>
            <p:nvPr/>
          </p:nvGrpSpPr>
          <p:grpSpPr>
            <a:xfrm>
              <a:off x="7979568" y="6675026"/>
              <a:ext cx="1443627" cy="66923"/>
              <a:chOff x="7979568" y="6473576"/>
              <a:chExt cx="1443627" cy="66923"/>
            </a:xfrm>
            <a:grpFill/>
          </p:grpSpPr>
          <p:sp>
            <p:nvSpPr>
              <p:cNvPr id="91" name="椭圆 90"/>
              <p:cNvSpPr/>
              <p:nvPr/>
            </p:nvSpPr>
            <p:spPr>
              <a:xfrm>
                <a:off x="7979568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92" name="椭圆 91"/>
              <p:cNvSpPr/>
              <p:nvPr/>
            </p:nvSpPr>
            <p:spPr>
              <a:xfrm>
                <a:off x="8176240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93" name="椭圆 92"/>
              <p:cNvSpPr/>
              <p:nvPr/>
            </p:nvSpPr>
            <p:spPr>
              <a:xfrm>
                <a:off x="8372912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94" name="椭圆 93"/>
              <p:cNvSpPr/>
              <p:nvPr/>
            </p:nvSpPr>
            <p:spPr>
              <a:xfrm>
                <a:off x="8569584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95" name="椭圆 94"/>
              <p:cNvSpPr/>
              <p:nvPr/>
            </p:nvSpPr>
            <p:spPr>
              <a:xfrm>
                <a:off x="8766256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96" name="椭圆 95"/>
              <p:cNvSpPr/>
              <p:nvPr/>
            </p:nvSpPr>
            <p:spPr>
              <a:xfrm>
                <a:off x="8962928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97" name="椭圆 96"/>
              <p:cNvSpPr/>
              <p:nvPr/>
            </p:nvSpPr>
            <p:spPr>
              <a:xfrm>
                <a:off x="9159600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9356272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</p:grpSp>
        <p:grpSp>
          <p:nvGrpSpPr>
            <p:cNvPr id="73" name="组合 72"/>
            <p:cNvGrpSpPr/>
            <p:nvPr/>
          </p:nvGrpSpPr>
          <p:grpSpPr>
            <a:xfrm>
              <a:off x="7979568" y="6876476"/>
              <a:ext cx="1443627" cy="66923"/>
              <a:chOff x="7979568" y="6473576"/>
              <a:chExt cx="1443627" cy="66923"/>
            </a:xfrm>
            <a:grpFill/>
          </p:grpSpPr>
          <p:sp>
            <p:nvSpPr>
              <p:cNvPr id="83" name="椭圆 82"/>
              <p:cNvSpPr/>
              <p:nvPr/>
            </p:nvSpPr>
            <p:spPr>
              <a:xfrm>
                <a:off x="7979568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4" name="椭圆 83"/>
              <p:cNvSpPr/>
              <p:nvPr/>
            </p:nvSpPr>
            <p:spPr>
              <a:xfrm>
                <a:off x="8176240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5" name="椭圆 84"/>
              <p:cNvSpPr/>
              <p:nvPr/>
            </p:nvSpPr>
            <p:spPr>
              <a:xfrm>
                <a:off x="8372912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6" name="椭圆 85"/>
              <p:cNvSpPr/>
              <p:nvPr/>
            </p:nvSpPr>
            <p:spPr>
              <a:xfrm>
                <a:off x="8569584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7" name="椭圆 86"/>
              <p:cNvSpPr/>
              <p:nvPr/>
            </p:nvSpPr>
            <p:spPr>
              <a:xfrm>
                <a:off x="8766256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8962928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9" name="椭圆 88"/>
              <p:cNvSpPr/>
              <p:nvPr/>
            </p:nvSpPr>
            <p:spPr>
              <a:xfrm>
                <a:off x="9159600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90" name="椭圆 89"/>
              <p:cNvSpPr/>
              <p:nvPr/>
            </p:nvSpPr>
            <p:spPr>
              <a:xfrm>
                <a:off x="9356272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</p:grpSp>
        <p:grpSp>
          <p:nvGrpSpPr>
            <p:cNvPr id="74" name="组合 73"/>
            <p:cNvGrpSpPr/>
            <p:nvPr/>
          </p:nvGrpSpPr>
          <p:grpSpPr>
            <a:xfrm>
              <a:off x="7979568" y="7077926"/>
              <a:ext cx="1443627" cy="66923"/>
              <a:chOff x="7979568" y="6473576"/>
              <a:chExt cx="1443627" cy="66923"/>
            </a:xfrm>
            <a:grpFill/>
          </p:grpSpPr>
          <p:sp>
            <p:nvSpPr>
              <p:cNvPr id="75" name="椭圆 74"/>
              <p:cNvSpPr/>
              <p:nvPr/>
            </p:nvSpPr>
            <p:spPr>
              <a:xfrm>
                <a:off x="7979568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76" name="椭圆 75"/>
              <p:cNvSpPr/>
              <p:nvPr/>
            </p:nvSpPr>
            <p:spPr>
              <a:xfrm>
                <a:off x="8176240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77" name="椭圆 76"/>
              <p:cNvSpPr/>
              <p:nvPr/>
            </p:nvSpPr>
            <p:spPr>
              <a:xfrm>
                <a:off x="8372912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78" name="椭圆 77"/>
              <p:cNvSpPr/>
              <p:nvPr/>
            </p:nvSpPr>
            <p:spPr>
              <a:xfrm>
                <a:off x="8569584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79" name="椭圆 78"/>
              <p:cNvSpPr/>
              <p:nvPr/>
            </p:nvSpPr>
            <p:spPr>
              <a:xfrm>
                <a:off x="8766256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0" name="椭圆 79"/>
              <p:cNvSpPr/>
              <p:nvPr/>
            </p:nvSpPr>
            <p:spPr>
              <a:xfrm>
                <a:off x="8962928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1" name="椭圆 80"/>
              <p:cNvSpPr/>
              <p:nvPr/>
            </p:nvSpPr>
            <p:spPr>
              <a:xfrm>
                <a:off x="9159600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2" name="椭圆 81"/>
              <p:cNvSpPr/>
              <p:nvPr/>
            </p:nvSpPr>
            <p:spPr>
              <a:xfrm>
                <a:off x="9356272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</p:grpSp>
      </p:grpSp>
      <p:sp>
        <p:nvSpPr>
          <p:cNvPr id="9" name="išľïḋé"/>
          <p:cNvSpPr txBox="1"/>
          <p:nvPr/>
        </p:nvSpPr>
        <p:spPr>
          <a:xfrm>
            <a:off x="8185273" y="701727"/>
            <a:ext cx="2099270" cy="1824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Arial" panose="020B0604020202020204"/>
                <a:ea typeface="OPPOSans B" panose="00020600040101010101" pitchFamily="18" charset="-122"/>
                <a:cs typeface="+mn-ea"/>
                <a:sym typeface="+mn-lt"/>
              </a:rPr>
              <a:t>目录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0032A1"/>
              </a:solidFill>
              <a:effectLst/>
              <a:uLnTx/>
              <a:uFillTx/>
              <a:latin typeface="Arial" panose="020B0604020202020204"/>
              <a:ea typeface="OPPOSans B" panose="00020600040101010101" pitchFamily="18" charset="-122"/>
              <a:cs typeface="+mn-ea"/>
              <a:sym typeface="+mn-lt"/>
            </a:endParaRPr>
          </a:p>
          <a:p>
            <a:pPr marL="0" marR="0" lvl="0" indent="0" algn="di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tr-TR" sz="2400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Arial" panose="020B0604020202020204"/>
                <a:ea typeface="OPPOSans B" panose="00020600040101010101" pitchFamily="18" charset="-122"/>
                <a:cs typeface="+mn-ea"/>
                <a:sym typeface="+mn-lt"/>
              </a:rPr>
              <a:t>CONT</a:t>
            </a:r>
            <a:r>
              <a:rPr kumimoji="0" lang="tr-TR" sz="200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Arial" panose="020B0604020202020204"/>
                <a:ea typeface="OPPOSans B" panose="00020600040101010101" pitchFamily="18" charset="-122"/>
                <a:cs typeface="+mn-ea"/>
                <a:sym typeface="+mn-lt"/>
              </a:rPr>
              <a:t> </a:t>
            </a:r>
            <a:r>
              <a:rPr kumimoji="0" lang="tr-TR" sz="2400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Arial" panose="020B0604020202020204"/>
                <a:ea typeface="OPPOSans B" panose="00020600040101010101" pitchFamily="18" charset="-122"/>
                <a:cs typeface="+mn-ea"/>
                <a:sym typeface="+mn-lt"/>
              </a:rPr>
              <a:t>ENTS</a:t>
            </a:r>
            <a:endParaRPr kumimoji="0" lang="tr-TR" sz="2400" i="0" u="none" strike="noStrike" kern="1200" cap="none" spc="0" normalizeH="0" baseline="0" noProof="0" dirty="0">
              <a:ln>
                <a:noFill/>
              </a:ln>
              <a:solidFill>
                <a:srgbClr val="0032A1"/>
              </a:solidFill>
              <a:effectLst/>
              <a:uLnTx/>
              <a:uFillTx/>
              <a:latin typeface="Arial" panose="020B0604020202020204"/>
              <a:ea typeface="OPPOSans B" panose="00020600040101010101" pitchFamily="18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>
            <p:custDataLst>
              <p:tags r:id="rId5"/>
            </p:custDataLst>
          </p:nvPr>
        </p:nvGrpSpPr>
        <p:grpSpPr>
          <a:xfrm>
            <a:off x="1344918" y="650970"/>
            <a:ext cx="5401731" cy="600650"/>
            <a:chOff x="1326910" y="1179226"/>
            <a:chExt cx="5401731" cy="600650"/>
          </a:xfrm>
        </p:grpSpPr>
        <p:sp>
          <p:nvSpPr>
            <p:cNvPr id="12" name="TextBox 6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284572" y="1218411"/>
              <a:ext cx="4444069" cy="492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32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任务要求与项目定位</a:t>
              </a:r>
              <a:endPara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" name="矩形: 圆角 35"/>
            <p:cNvSpPr/>
            <p:nvPr>
              <p:custDataLst>
                <p:tags r:id="rId7"/>
              </p:custDataLst>
            </p:nvPr>
          </p:nvSpPr>
          <p:spPr>
            <a:xfrm>
              <a:off x="1326910" y="1179226"/>
              <a:ext cx="600650" cy="600650"/>
            </a:xfrm>
            <a:prstGeom prst="roundRect">
              <a:avLst>
                <a:gd name="adj" fmla="val 50000"/>
              </a:avLst>
            </a:prstGeom>
            <a:solidFill>
              <a:srgbClr val="0064D8">
                <a:alpha val="98000"/>
              </a:srgbClr>
            </a:solidFill>
            <a:ln>
              <a:noFill/>
            </a:ln>
            <a:effectLst>
              <a:outerShdw blurRad="342900" dist="254000" dir="2700000" algn="tl" rotWithShape="0">
                <a:srgbClr val="0064D8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思源宋体 CN Heavy" panose="02020900000000000000" pitchFamily="18" charset="-122"/>
                  <a:cs typeface="Times New Roman" panose="02020603050405020304" pitchFamily="18" charset="0"/>
                </a:rPr>
                <a:t>01</a:t>
              </a:r>
              <a:endPara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8"/>
            </p:custDataLst>
          </p:nvPr>
        </p:nvGrpSpPr>
        <p:grpSpPr>
          <a:xfrm>
            <a:off x="1355270" y="1459527"/>
            <a:ext cx="5387551" cy="600650"/>
            <a:chOff x="1341090" y="2175341"/>
            <a:chExt cx="5387551" cy="600650"/>
          </a:xfrm>
        </p:grpSpPr>
        <p:sp>
          <p:nvSpPr>
            <p:cNvPr id="8" name="矩形: 圆角 39"/>
            <p:cNvSpPr/>
            <p:nvPr>
              <p:custDataLst>
                <p:tags r:id="rId9"/>
              </p:custDataLst>
            </p:nvPr>
          </p:nvSpPr>
          <p:spPr>
            <a:xfrm>
              <a:off x="1341090" y="2175341"/>
              <a:ext cx="600650" cy="600650"/>
            </a:xfrm>
            <a:prstGeom prst="roundRect">
              <a:avLst>
                <a:gd name="adj" fmla="val 50000"/>
              </a:avLst>
            </a:prstGeom>
            <a:solidFill>
              <a:srgbClr val="0064D8">
                <a:alpha val="98000"/>
              </a:srgbClr>
            </a:solidFill>
            <a:ln>
              <a:noFill/>
            </a:ln>
            <a:effectLst>
              <a:outerShdw blurRad="342900" dist="254000" dir="2700000" algn="tl" rotWithShape="0">
                <a:srgbClr val="0064D8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02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6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284572" y="2218535"/>
              <a:ext cx="4444069" cy="492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32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总体框架与工作流</a:t>
              </a:r>
              <a:endPara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grpSp>
        <p:nvGrpSpPr>
          <p:cNvPr id="20" name="组合 19"/>
          <p:cNvGrpSpPr/>
          <p:nvPr>
            <p:custDataLst>
              <p:tags r:id="rId11"/>
            </p:custDataLst>
          </p:nvPr>
        </p:nvGrpSpPr>
        <p:grpSpPr>
          <a:xfrm>
            <a:off x="1341090" y="2312697"/>
            <a:ext cx="5387551" cy="600650"/>
            <a:chOff x="1341090" y="3171456"/>
            <a:chExt cx="5387551" cy="600650"/>
          </a:xfrm>
        </p:grpSpPr>
        <p:sp>
          <p:nvSpPr>
            <p:cNvPr id="17" name="矩形: 圆角 43"/>
            <p:cNvSpPr/>
            <p:nvPr>
              <p:custDataLst>
                <p:tags r:id="rId12"/>
              </p:custDataLst>
            </p:nvPr>
          </p:nvSpPr>
          <p:spPr>
            <a:xfrm>
              <a:off x="1341090" y="3171456"/>
              <a:ext cx="600650" cy="600650"/>
            </a:xfrm>
            <a:prstGeom prst="roundRect">
              <a:avLst>
                <a:gd name="adj" fmla="val 50000"/>
              </a:avLst>
            </a:prstGeom>
            <a:solidFill>
              <a:srgbClr val="0064D8">
                <a:alpha val="98000"/>
              </a:srgbClr>
            </a:solidFill>
            <a:ln>
              <a:noFill/>
            </a:ln>
            <a:effectLst>
              <a:outerShdw blurRad="342900" dist="254000" dir="2700000" algn="tl" rotWithShape="0">
                <a:srgbClr val="0064D8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03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6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2284572" y="3218659"/>
              <a:ext cx="4444069" cy="492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32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核心功能与关键实现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grpSp>
        <p:nvGrpSpPr>
          <p:cNvPr id="25" name="组合 24"/>
          <p:cNvGrpSpPr/>
          <p:nvPr>
            <p:custDataLst>
              <p:tags r:id="rId14"/>
            </p:custDataLst>
          </p:nvPr>
        </p:nvGrpSpPr>
        <p:grpSpPr>
          <a:xfrm>
            <a:off x="1355270" y="3166385"/>
            <a:ext cx="5387551" cy="600650"/>
            <a:chOff x="1341090" y="4167570"/>
            <a:chExt cx="5387551" cy="600650"/>
          </a:xfrm>
        </p:grpSpPr>
        <p:sp>
          <p:nvSpPr>
            <p:cNvPr id="19" name="矩形: 圆角 47"/>
            <p:cNvSpPr/>
            <p:nvPr>
              <p:custDataLst>
                <p:tags r:id="rId15"/>
              </p:custDataLst>
            </p:nvPr>
          </p:nvSpPr>
          <p:spPr>
            <a:xfrm>
              <a:off x="1341090" y="4167570"/>
              <a:ext cx="600650" cy="600650"/>
            </a:xfrm>
            <a:prstGeom prst="roundRect">
              <a:avLst>
                <a:gd name="adj" fmla="val 50000"/>
              </a:avLst>
            </a:prstGeom>
            <a:solidFill>
              <a:srgbClr val="0064D8">
                <a:alpha val="98000"/>
              </a:srgbClr>
            </a:solidFill>
            <a:ln>
              <a:noFill/>
            </a:ln>
            <a:effectLst>
              <a:outerShdw blurRad="342900" dist="254000" dir="2700000" algn="tl" rotWithShape="0">
                <a:srgbClr val="0064D8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04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6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284572" y="4218783"/>
              <a:ext cx="4444069" cy="492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32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演示效果与系统验证</a:t>
              </a:r>
              <a:endPara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17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grpSp>
        <p:nvGrpSpPr>
          <p:cNvPr id="14" name="组合 13"/>
          <p:cNvGrpSpPr/>
          <p:nvPr>
            <p:custDataLst>
              <p:tags r:id="rId18"/>
            </p:custDataLst>
          </p:nvPr>
        </p:nvGrpSpPr>
        <p:grpSpPr>
          <a:xfrm>
            <a:off x="1341090" y="4019555"/>
            <a:ext cx="5401731" cy="600650"/>
            <a:chOff x="1326910" y="1179226"/>
            <a:chExt cx="5401731" cy="600650"/>
          </a:xfrm>
        </p:grpSpPr>
        <p:sp>
          <p:nvSpPr>
            <p:cNvPr id="15" name="TextBox 6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2284572" y="1218411"/>
              <a:ext cx="4444069" cy="492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32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总结与后续改进</a:t>
              </a:r>
              <a:endPara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矩形: 圆角 35"/>
            <p:cNvSpPr/>
            <p:nvPr>
              <p:custDataLst>
                <p:tags r:id="rId20"/>
              </p:custDataLst>
            </p:nvPr>
          </p:nvSpPr>
          <p:spPr>
            <a:xfrm>
              <a:off x="1326910" y="1179226"/>
              <a:ext cx="600650" cy="600650"/>
            </a:xfrm>
            <a:prstGeom prst="roundRect">
              <a:avLst>
                <a:gd name="adj" fmla="val 50000"/>
              </a:avLst>
            </a:prstGeom>
            <a:solidFill>
              <a:srgbClr val="0064D8">
                <a:alpha val="98000"/>
              </a:srgbClr>
            </a:solidFill>
            <a:ln>
              <a:noFill/>
            </a:ln>
            <a:effectLst>
              <a:outerShdw blurRad="342900" dist="254000" dir="2700000" algn="tl" rotWithShape="0">
                <a:srgbClr val="0064D8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思源宋体 CN Heavy" panose="02020900000000000000" pitchFamily="18" charset="-122"/>
                  <a:cs typeface="Times New Roman" panose="02020603050405020304" pitchFamily="18" charset="0"/>
                </a:rPr>
                <a:t>05</a:t>
              </a:r>
              <a:endPara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endParaRPr>
            </a:p>
          </p:txBody>
        </p:sp>
      </p:grpSp>
    </p:spTree>
    <p:custDataLst>
      <p:tags r:id="rId21"/>
    </p:custData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alphaModFix amt="95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r="44004" b="49240"/>
          <a:stretch>
            <a:fillRect/>
          </a:stretch>
        </p:blipFill>
        <p:spPr>
          <a:xfrm flipV="1">
            <a:off x="1" y="-7"/>
            <a:ext cx="12191998" cy="3747395"/>
          </a:xfrm>
          <a:custGeom>
            <a:avLst/>
            <a:gdLst>
              <a:gd name="connsiteX0" fmla="*/ 0 w 12192000"/>
              <a:gd name="connsiteY0" fmla="*/ 2558508 h 2558508"/>
              <a:gd name="connsiteX1" fmla="*/ 12192000 w 12192000"/>
              <a:gd name="connsiteY1" fmla="*/ 2558508 h 2558508"/>
              <a:gd name="connsiteX2" fmla="*/ 12192000 w 12192000"/>
              <a:gd name="connsiteY2" fmla="*/ 0 h 2558508"/>
              <a:gd name="connsiteX3" fmla="*/ 0 w 12192000"/>
              <a:gd name="connsiteY3" fmla="*/ 0 h 2558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558508">
                <a:moveTo>
                  <a:pt x="0" y="2558508"/>
                </a:moveTo>
                <a:lnTo>
                  <a:pt x="12192000" y="2558508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1" y="0"/>
            <a:ext cx="4763194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7434" y="0"/>
            <a:ext cx="4763194" cy="6858000"/>
          </a:xfrm>
          <a:prstGeom prst="rect">
            <a:avLst/>
          </a:prstGeom>
          <a:gradFill>
            <a:gsLst>
              <a:gs pos="0">
                <a:srgbClr val="0070C0">
                  <a:alpha val="72135"/>
                </a:srgbClr>
              </a:gs>
              <a:gs pos="100000">
                <a:srgbClr val="3354B5">
                  <a:alpha val="80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2712949" y="1396538"/>
            <a:ext cx="8117345" cy="4064924"/>
          </a:xfrm>
          <a:custGeom>
            <a:avLst/>
            <a:gdLst>
              <a:gd name="connsiteX0" fmla="*/ 6890674 w 7586519"/>
              <a:gd name="connsiteY0" fmla="*/ 0 h 4064924"/>
              <a:gd name="connsiteX1" fmla="*/ 7446523 w 7586519"/>
              <a:gd name="connsiteY1" fmla="*/ 0 h 4064924"/>
              <a:gd name="connsiteX2" fmla="*/ 7586519 w 7586519"/>
              <a:gd name="connsiteY2" fmla="*/ 139996 h 4064924"/>
              <a:gd name="connsiteX3" fmla="*/ 7586519 w 7586519"/>
              <a:gd name="connsiteY3" fmla="*/ 705494 h 4064924"/>
              <a:gd name="connsiteX4" fmla="*/ 7484758 w 7586519"/>
              <a:gd name="connsiteY4" fmla="*/ 715752 h 4064924"/>
              <a:gd name="connsiteX5" fmla="*/ 6879532 w 7586519"/>
              <a:gd name="connsiteY5" fmla="*/ 110526 h 4064924"/>
              <a:gd name="connsiteX6" fmla="*/ 139996 w 7586519"/>
              <a:gd name="connsiteY6" fmla="*/ 0 h 4064924"/>
              <a:gd name="connsiteX7" fmla="*/ 6651650 w 7586519"/>
              <a:gd name="connsiteY7" fmla="*/ 0 h 4064924"/>
              <a:gd name="connsiteX8" fmla="*/ 6640508 w 7586519"/>
              <a:gd name="connsiteY8" fmla="*/ 110526 h 4064924"/>
              <a:gd name="connsiteX9" fmla="*/ 7484758 w 7586519"/>
              <a:gd name="connsiteY9" fmla="*/ 954776 h 4064924"/>
              <a:gd name="connsiteX10" fmla="*/ 7571078 w 7586519"/>
              <a:gd name="connsiteY10" fmla="*/ 950417 h 4064924"/>
              <a:gd name="connsiteX11" fmla="*/ 7586519 w 7586519"/>
              <a:gd name="connsiteY11" fmla="*/ 948061 h 4064924"/>
              <a:gd name="connsiteX12" fmla="*/ 7586519 w 7586519"/>
              <a:gd name="connsiteY12" fmla="*/ 3924928 h 4064924"/>
              <a:gd name="connsiteX13" fmla="*/ 7446523 w 7586519"/>
              <a:gd name="connsiteY13" fmla="*/ 4064924 h 4064924"/>
              <a:gd name="connsiteX14" fmla="*/ 139996 w 7586519"/>
              <a:gd name="connsiteY14" fmla="*/ 4064924 h 4064924"/>
              <a:gd name="connsiteX15" fmla="*/ 0 w 7586519"/>
              <a:gd name="connsiteY15" fmla="*/ 3924928 h 4064924"/>
              <a:gd name="connsiteX16" fmla="*/ 0 w 7586519"/>
              <a:gd name="connsiteY16" fmla="*/ 139996 h 4064924"/>
              <a:gd name="connsiteX17" fmla="*/ 139996 w 7586519"/>
              <a:gd name="connsiteY17" fmla="*/ 0 h 4064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586519" h="4064924">
                <a:moveTo>
                  <a:pt x="6890674" y="0"/>
                </a:moveTo>
                <a:lnTo>
                  <a:pt x="7446523" y="0"/>
                </a:lnTo>
                <a:cubicBezTo>
                  <a:pt x="7523841" y="0"/>
                  <a:pt x="7586519" y="62678"/>
                  <a:pt x="7586519" y="139996"/>
                </a:cubicBezTo>
                <a:lnTo>
                  <a:pt x="7586519" y="705494"/>
                </a:lnTo>
                <a:lnTo>
                  <a:pt x="7484758" y="715752"/>
                </a:lnTo>
                <a:cubicBezTo>
                  <a:pt x="7150501" y="715752"/>
                  <a:pt x="6879532" y="444783"/>
                  <a:pt x="6879532" y="110526"/>
                </a:cubicBezTo>
                <a:close/>
                <a:moveTo>
                  <a:pt x="139996" y="0"/>
                </a:moveTo>
                <a:lnTo>
                  <a:pt x="6651650" y="0"/>
                </a:lnTo>
                <a:lnTo>
                  <a:pt x="6640508" y="110526"/>
                </a:lnTo>
                <a:cubicBezTo>
                  <a:pt x="6640508" y="576792"/>
                  <a:pt x="7018492" y="954776"/>
                  <a:pt x="7484758" y="954776"/>
                </a:cubicBezTo>
                <a:cubicBezTo>
                  <a:pt x="7513900" y="954776"/>
                  <a:pt x="7542696" y="953300"/>
                  <a:pt x="7571078" y="950417"/>
                </a:cubicBezTo>
                <a:lnTo>
                  <a:pt x="7586519" y="948061"/>
                </a:lnTo>
                <a:lnTo>
                  <a:pt x="7586519" y="3924928"/>
                </a:lnTo>
                <a:cubicBezTo>
                  <a:pt x="7586519" y="4002246"/>
                  <a:pt x="7523841" y="4064924"/>
                  <a:pt x="7446523" y="4064924"/>
                </a:cubicBezTo>
                <a:lnTo>
                  <a:pt x="139996" y="4064924"/>
                </a:lnTo>
                <a:cubicBezTo>
                  <a:pt x="62678" y="4064924"/>
                  <a:pt x="0" y="4002246"/>
                  <a:pt x="0" y="3924928"/>
                </a:cubicBezTo>
                <a:lnTo>
                  <a:pt x="0" y="139996"/>
                </a:lnTo>
                <a:cubicBezTo>
                  <a:pt x="0" y="62678"/>
                  <a:pt x="62678" y="0"/>
                  <a:pt x="1399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17500" dist="127000" dir="2700000" algn="tl" rotWithShape="0">
              <a:srgbClr val="0064D8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1204493" y="1396538"/>
            <a:ext cx="677108" cy="4064924"/>
            <a:chOff x="26301" y="1138131"/>
            <a:chExt cx="677108" cy="4064924"/>
          </a:xfrm>
        </p:grpSpPr>
        <p:sp>
          <p:nvSpPr>
            <p:cNvPr id="10" name="文本框 9"/>
            <p:cNvSpPr txBox="1"/>
            <p:nvPr/>
          </p:nvSpPr>
          <p:spPr>
            <a:xfrm>
              <a:off x="26301" y="1138131"/>
              <a:ext cx="677108" cy="287805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>
                  <a:solidFill>
                    <a:srgbClr val="0E6BC9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SOUTHWEST JIAOTONG UNIVERSITY</a:t>
              </a:r>
              <a:endParaRPr lang="zh-CN" altLang="en-US" sz="1600" dirty="0">
                <a:solidFill>
                  <a:srgbClr val="0E6BC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482600" y="3845518"/>
              <a:ext cx="0" cy="1357537"/>
            </a:xfrm>
            <a:prstGeom prst="line">
              <a:avLst/>
            </a:prstGeom>
            <a:ln w="12700">
              <a:solidFill>
                <a:srgbClr val="316AE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>
            <a:off x="3397184" y="1550560"/>
            <a:ext cx="6355080" cy="2345475"/>
            <a:chOff x="497375" y="1211712"/>
            <a:chExt cx="6355080" cy="2345475"/>
          </a:xfrm>
        </p:grpSpPr>
        <p:sp>
          <p:nvSpPr>
            <p:cNvPr id="6" name="文本框 5"/>
            <p:cNvSpPr txBox="1"/>
            <p:nvPr/>
          </p:nvSpPr>
          <p:spPr>
            <a:xfrm>
              <a:off x="497375" y="2635167"/>
              <a:ext cx="6355080" cy="922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800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308FF0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任务要求与项目定位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308FF0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22775" y="1211712"/>
              <a:ext cx="1441420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2000">
                        <a:srgbClr val="0655D3"/>
                      </a:gs>
                      <a:gs pos="86000">
                        <a:srgbClr val="0655D3">
                          <a:alpha val="0"/>
                        </a:srgb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" panose="020B0604020202020204" pitchFamily="34" charset="0"/>
                  <a:ea typeface="OPPOSans B"/>
                  <a:cs typeface="Arial" panose="020B0604020202020204" pitchFamily="34" charset="0"/>
                </a:rPr>
                <a:t>01</a:t>
              </a:r>
              <a:endPara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2000">
                      <a:srgbClr val="0655D3"/>
                    </a:gs>
                    <a:gs pos="86000">
                      <a:srgbClr val="0655D3">
                        <a:alpha val="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Arial" panose="020B0604020202020204" pitchFamily="34" charset="0"/>
                <a:ea typeface="OPPOSans B"/>
                <a:cs typeface="Arial" panose="020B0604020202020204" pitchFamily="34" charset="0"/>
              </a:endParaRPr>
            </a:p>
          </p:txBody>
        </p:sp>
      </p:grpSp>
      <p:cxnSp>
        <p:nvCxnSpPr>
          <p:cNvPr id="22" name="直线连接符 21"/>
          <p:cNvCxnSpPr/>
          <p:nvPr/>
        </p:nvCxnSpPr>
        <p:spPr>
          <a:xfrm>
            <a:off x="3508081" y="4676038"/>
            <a:ext cx="1251950" cy="6730"/>
          </a:xfrm>
          <a:prstGeom prst="line">
            <a:avLst/>
          </a:prstGeom>
          <a:ln w="28575">
            <a:solidFill>
              <a:srgbClr val="0E6B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10509108" y="6325674"/>
            <a:ext cx="132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447096A-5CB9-A449-9521-AD82728A312D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422650" y="3961130"/>
            <a:ext cx="660463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>
                <a:solidFill>
                  <a:srgbClr val="746D63"/>
                </a:solidFill>
                <a:sym typeface="+mn-ea"/>
              </a:rPr>
              <a:t>把课程要求转化为“可问、可查、可算、可看”的出行问答原型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1200" cap="none" spc="0" normalizeH="0" baseline="0" noProof="0" dirty="0">
              <a:ln>
                <a:noFill/>
              </a:ln>
              <a:solidFill>
                <a:srgbClr val="7E7E7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3" name="椭圆 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18" name="平行四边形 17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669" y="410108"/>
            <a:ext cx="3982026" cy="579755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课程任务与系统定位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-5" y="6617367"/>
            <a:ext cx="12191683" cy="240185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OPPOSans R" pitchFamily="18" charset="-122"/>
              <a:cs typeface="+mn-cs"/>
            </a:endParaRPr>
          </a:p>
        </p:txBody>
      </p:sp>
      <p:sp>
        <p:nvSpPr>
          <p:cNvPr id="21" name="图形"/>
          <p:cNvSpPr txBox="1"/>
          <p:nvPr>
            <p:custDataLst>
              <p:tags r:id="rId2"/>
            </p:custDataLst>
          </p:nvPr>
        </p:nvSpPr>
        <p:spPr>
          <a:xfrm>
            <a:off x="5840095" y="2138045"/>
            <a:ext cx="3573780" cy="1309370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自然语言交通问题 / 交通标志图片</a:t>
            </a:r>
            <a:endParaRPr lang="en-US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4" name="图形"/>
          <p:cNvSpPr txBox="1"/>
          <p:nvPr>
            <p:custDataLst>
              <p:tags r:id="rId3"/>
            </p:custDataLst>
          </p:nvPr>
        </p:nvSpPr>
        <p:spPr>
          <a:xfrm>
            <a:off x="5839872" y="1597414"/>
            <a:ext cx="43307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SzPct val="7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rPr>
              <a:t>输入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</a:endParaRPr>
          </a:p>
        </p:txBody>
      </p:sp>
      <p:sp>
        <p:nvSpPr>
          <p:cNvPr id="25" name="图形"/>
          <p:cNvSpPr txBox="1"/>
          <p:nvPr>
            <p:custDataLst>
              <p:tags r:id="rId4"/>
            </p:custDataLst>
          </p:nvPr>
        </p:nvSpPr>
        <p:spPr>
          <a:xfrm>
            <a:off x="5840095" y="3171190"/>
            <a:ext cx="4331335" cy="1309370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大模型进行意图识别、工具选择与解释生成</a:t>
            </a:r>
            <a:endParaRPr lang="en-US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</p:txBody>
      </p:sp>
      <p:sp>
        <p:nvSpPr>
          <p:cNvPr id="26" name="图形"/>
          <p:cNvSpPr txBox="1"/>
          <p:nvPr>
            <p:custDataLst>
              <p:tags r:id="rId5"/>
            </p:custDataLst>
          </p:nvPr>
        </p:nvSpPr>
        <p:spPr>
          <a:xfrm>
            <a:off x="5839872" y="2667860"/>
            <a:ext cx="43307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SzPct val="7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rPr>
              <a:t>理解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</a:endParaRPr>
          </a:p>
        </p:txBody>
      </p:sp>
      <p:sp>
        <p:nvSpPr>
          <p:cNvPr id="27" name="图形"/>
          <p:cNvSpPr txBox="1"/>
          <p:nvPr>
            <p:custDataLst>
              <p:tags r:id="rId6"/>
            </p:custDataLst>
          </p:nvPr>
        </p:nvSpPr>
        <p:spPr>
          <a:xfrm>
            <a:off x="5840095" y="5320665"/>
            <a:ext cx="4590415" cy="513080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回答文本 + 右侧可视化证据面板</a:t>
            </a:r>
            <a:endParaRPr lang="en-US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8" name="图形"/>
          <p:cNvSpPr txBox="1"/>
          <p:nvPr>
            <p:custDataLst>
              <p:tags r:id="rId7"/>
            </p:custDataLst>
          </p:nvPr>
        </p:nvSpPr>
        <p:spPr>
          <a:xfrm>
            <a:off x="5839872" y="4780484"/>
            <a:ext cx="43307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SzPct val="7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rPr>
              <a:t>输出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</a:endParaRPr>
          </a:p>
        </p:txBody>
      </p:sp>
      <p:sp>
        <p:nvSpPr>
          <p:cNvPr id="32" name="Shape 8"/>
          <p:cNvSpPr/>
          <p:nvPr/>
        </p:nvSpPr>
        <p:spPr>
          <a:xfrm>
            <a:off x="685800" y="1783080"/>
            <a:ext cx="4754880" cy="4069080"/>
          </a:xfrm>
          <a:prstGeom prst="rect">
            <a:avLst/>
          </a:prstGeom>
          <a:solidFill>
            <a:srgbClr val="E4F0DC"/>
          </a:solidFill>
          <a:ln w="12700">
            <a:solidFill>
              <a:srgbClr val="E4652D"/>
            </a:solidFill>
            <a:prstDash val="solid"/>
          </a:ln>
        </p:spPr>
      </p:sp>
      <p:sp>
        <p:nvSpPr>
          <p:cNvPr id="33" name="Text 9"/>
          <p:cNvSpPr/>
          <p:nvPr/>
        </p:nvSpPr>
        <p:spPr>
          <a:xfrm>
            <a:off x="960120" y="2331720"/>
            <a:ext cx="4206240" cy="256667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基础要求：基于 Dify 开发框架，采用 DeepSeek 开源 1–7B 模型作为基座，网络采集成都市交管局网站信息发布栏，构建本地 RAG 出行知识库，并对基座模型进行微调，开发出行知识问答原型系统。</a:t>
            </a:r>
            <a:endParaRPr 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三选一要求：集成前两个大作业成果，展示交通流预测问答与交通目标识别理解问答。</a:t>
            </a:r>
            <a:endParaRPr lang="en-US" dirty="0">
              <a:solidFill>
                <a:srgbClr val="1B1916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" name="Shape 10"/>
          <p:cNvSpPr/>
          <p:nvPr/>
        </p:nvSpPr>
        <p:spPr>
          <a:xfrm>
            <a:off x="960120" y="1901825"/>
            <a:ext cx="1626235" cy="332740"/>
          </a:xfrm>
          <a:prstGeom prst="roundRect">
            <a:avLst>
              <a:gd name="adj" fmla="val 19231"/>
            </a:avLst>
          </a:prstGeom>
          <a:solidFill>
            <a:srgbClr val="E03B35"/>
          </a:solidFill>
          <a:ln w="12700">
            <a:solidFill>
              <a:srgbClr val="E03B35"/>
            </a:solidFill>
            <a:prstDash val="solid"/>
          </a:ln>
        </p:spPr>
      </p:sp>
      <p:sp>
        <p:nvSpPr>
          <p:cNvPr id="35" name="Text 11"/>
          <p:cNvSpPr/>
          <p:nvPr/>
        </p:nvSpPr>
        <p:spPr>
          <a:xfrm>
            <a:off x="1094105" y="1982470"/>
            <a:ext cx="1386840" cy="1555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大作业3核心要求</a:t>
            </a:r>
            <a:endParaRPr lang="en-US" sz="1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图形"/>
          <p:cNvSpPr txBox="1"/>
          <p:nvPr>
            <p:custDataLst>
              <p:tags r:id="rId8"/>
            </p:custDataLst>
          </p:nvPr>
        </p:nvSpPr>
        <p:spPr>
          <a:xfrm>
            <a:off x="5839872" y="3739105"/>
            <a:ext cx="43307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SzPct val="7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rPr>
              <a:t>证据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</a:endParaRPr>
          </a:p>
        </p:txBody>
      </p:sp>
      <p:sp>
        <p:nvSpPr>
          <p:cNvPr id="37" name="图形"/>
          <p:cNvSpPr txBox="1"/>
          <p:nvPr>
            <p:custDataLst>
              <p:tags r:id="rId9"/>
            </p:custDataLst>
          </p:nvPr>
        </p:nvSpPr>
        <p:spPr>
          <a:xfrm>
            <a:off x="5967095" y="4200525"/>
            <a:ext cx="4725035" cy="501015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本地 RAG、知乎补充、高德地图、预测/识别结果</a:t>
            </a:r>
            <a:endParaRPr lang="en-US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3" name="椭圆 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18" name="平行四边形 17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710" y="410210"/>
            <a:ext cx="7615555" cy="579755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项目概述：大小模型协同的交通问答系统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-5" y="6617367"/>
            <a:ext cx="12191683" cy="240185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OPPOSans R" pitchFamily="18" charset="-122"/>
              <a:cs typeface="+mn-cs"/>
            </a:endParaRPr>
          </a:p>
        </p:txBody>
      </p:sp>
      <p:sp>
        <p:nvSpPr>
          <p:cNvPr id="22" name="图形"/>
          <p:cNvSpPr txBox="1"/>
          <p:nvPr>
            <p:custDataLst>
              <p:tags r:id="rId2"/>
            </p:custDataLst>
          </p:nvPr>
        </p:nvSpPr>
        <p:spPr>
          <a:xfrm>
            <a:off x="1263650" y="2138045"/>
            <a:ext cx="3992245" cy="516255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自然语言理解、问答生成、工具结果解释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endParaRPr lang="en-US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</p:txBody>
      </p:sp>
      <p:sp>
        <p:nvSpPr>
          <p:cNvPr id="29" name="图形"/>
          <p:cNvSpPr txBox="1"/>
          <p:nvPr>
            <p:custDataLst>
              <p:tags r:id="rId3"/>
            </p:custDataLst>
          </p:nvPr>
        </p:nvSpPr>
        <p:spPr>
          <a:xfrm>
            <a:off x="924972" y="1597414"/>
            <a:ext cx="43307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SzPct val="7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rPr>
              <a:t>大模型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</a:endParaRPr>
          </a:p>
        </p:txBody>
      </p:sp>
      <p:sp>
        <p:nvSpPr>
          <p:cNvPr id="30" name="图形"/>
          <p:cNvSpPr txBox="1"/>
          <p:nvPr>
            <p:custDataLst>
              <p:tags r:id="rId4"/>
            </p:custDataLst>
          </p:nvPr>
        </p:nvSpPr>
        <p:spPr>
          <a:xfrm>
            <a:off x="1263650" y="3738880"/>
            <a:ext cx="4059555" cy="576580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交通法规、限行政策、出行建议可溯源检索</a:t>
            </a:r>
            <a:endParaRPr lang="en-US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</p:txBody>
      </p:sp>
      <p:sp>
        <p:nvSpPr>
          <p:cNvPr id="31" name="图形"/>
          <p:cNvSpPr txBox="1"/>
          <p:nvPr>
            <p:custDataLst>
              <p:tags r:id="rId5"/>
            </p:custDataLst>
          </p:nvPr>
        </p:nvSpPr>
        <p:spPr>
          <a:xfrm>
            <a:off x="924972" y="3186655"/>
            <a:ext cx="43307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SzPct val="7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rPr>
              <a:t>本地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rPr>
              <a:t>RAG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</a:endParaRPr>
          </a:p>
        </p:txBody>
      </p:sp>
      <p:sp>
        <p:nvSpPr>
          <p:cNvPr id="38" name="图形"/>
          <p:cNvSpPr txBox="1"/>
          <p:nvPr>
            <p:custDataLst>
              <p:tags r:id="rId6"/>
            </p:custDataLst>
          </p:nvPr>
        </p:nvSpPr>
        <p:spPr>
          <a:xfrm>
            <a:off x="1263650" y="5320665"/>
            <a:ext cx="3992245" cy="563245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天气、地理编码、路线规划与地图展示</a:t>
            </a:r>
            <a:endParaRPr lang="en-US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</p:txBody>
      </p:sp>
      <p:sp>
        <p:nvSpPr>
          <p:cNvPr id="39" name="图形"/>
          <p:cNvSpPr txBox="1"/>
          <p:nvPr>
            <p:custDataLst>
              <p:tags r:id="rId7"/>
            </p:custDataLst>
          </p:nvPr>
        </p:nvSpPr>
        <p:spPr>
          <a:xfrm>
            <a:off x="924972" y="4780484"/>
            <a:ext cx="43307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SzPct val="7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rPr>
              <a:t>高德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rPr>
              <a:t>API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</a:endParaRPr>
          </a:p>
        </p:txBody>
      </p:sp>
      <p:sp>
        <p:nvSpPr>
          <p:cNvPr id="40" name="图形"/>
          <p:cNvSpPr txBox="1"/>
          <p:nvPr>
            <p:custDataLst>
              <p:tags r:id="rId8"/>
            </p:custDataLst>
          </p:nvPr>
        </p:nvSpPr>
        <p:spPr>
          <a:xfrm>
            <a:off x="6729095" y="2138045"/>
            <a:ext cx="4093210" cy="516255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STAEformer 交通流预测 + YOLO 标志识别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endParaRPr lang="en-US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1" name="图形"/>
          <p:cNvSpPr txBox="1"/>
          <p:nvPr>
            <p:custDataLst>
              <p:tags r:id="rId9"/>
            </p:custDataLst>
          </p:nvPr>
        </p:nvSpPr>
        <p:spPr>
          <a:xfrm>
            <a:off x="6390417" y="1597414"/>
            <a:ext cx="43307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SzPct val="7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rPr>
              <a:t>小模型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</a:endParaRPr>
          </a:p>
        </p:txBody>
      </p:sp>
      <p:sp>
        <p:nvSpPr>
          <p:cNvPr id="42" name="图形"/>
          <p:cNvSpPr txBox="1"/>
          <p:nvPr>
            <p:custDataLst>
              <p:tags r:id="rId10"/>
            </p:custDataLst>
          </p:nvPr>
        </p:nvSpPr>
        <p:spPr>
          <a:xfrm>
            <a:off x="6729095" y="3738880"/>
            <a:ext cx="3471545" cy="576580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可视化编排不同问答分支与工具接口</a:t>
            </a:r>
            <a:endParaRPr lang="en-US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</p:txBody>
      </p:sp>
      <p:sp>
        <p:nvSpPr>
          <p:cNvPr id="43" name="图形"/>
          <p:cNvSpPr txBox="1"/>
          <p:nvPr>
            <p:custDataLst>
              <p:tags r:id="rId11"/>
            </p:custDataLst>
          </p:nvPr>
        </p:nvSpPr>
        <p:spPr>
          <a:xfrm>
            <a:off x="6390417" y="3186655"/>
            <a:ext cx="43307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SzPct val="70000"/>
              <a:buFont typeface="Wingdings" panose="05000000000000000000" pitchFamily="2" charset="2"/>
              <a:buChar char="l"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rPr>
              <a:t>Dify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</a:endParaRPr>
          </a:p>
        </p:txBody>
      </p:sp>
      <p:sp>
        <p:nvSpPr>
          <p:cNvPr id="44" name="图形"/>
          <p:cNvSpPr txBox="1"/>
          <p:nvPr>
            <p:custDataLst>
              <p:tags r:id="rId12"/>
            </p:custDataLst>
          </p:nvPr>
        </p:nvSpPr>
        <p:spPr>
          <a:xfrm>
            <a:off x="6729095" y="5320665"/>
            <a:ext cx="4092575" cy="1153160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形成覆盖“问答、检索、工具调用、预测、识别、可视化、工作流编排”的综合智能交通应用原型。</a:t>
            </a:r>
            <a:endParaRPr lang="en-US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5" name="图形"/>
          <p:cNvSpPr txBox="1"/>
          <p:nvPr>
            <p:custDataLst>
              <p:tags r:id="rId13"/>
            </p:custDataLst>
          </p:nvPr>
        </p:nvSpPr>
        <p:spPr>
          <a:xfrm>
            <a:off x="6390417" y="4780484"/>
            <a:ext cx="43307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SzPct val="7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rPr>
              <a:t>目标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alphaModFix amt="95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r="44004" b="49240"/>
          <a:stretch>
            <a:fillRect/>
          </a:stretch>
        </p:blipFill>
        <p:spPr>
          <a:xfrm flipV="1">
            <a:off x="1" y="-7"/>
            <a:ext cx="12191998" cy="3747395"/>
          </a:xfrm>
          <a:custGeom>
            <a:avLst/>
            <a:gdLst>
              <a:gd name="connsiteX0" fmla="*/ 0 w 12192000"/>
              <a:gd name="connsiteY0" fmla="*/ 2558508 h 2558508"/>
              <a:gd name="connsiteX1" fmla="*/ 12192000 w 12192000"/>
              <a:gd name="connsiteY1" fmla="*/ 2558508 h 2558508"/>
              <a:gd name="connsiteX2" fmla="*/ 12192000 w 12192000"/>
              <a:gd name="connsiteY2" fmla="*/ 0 h 2558508"/>
              <a:gd name="connsiteX3" fmla="*/ 0 w 12192000"/>
              <a:gd name="connsiteY3" fmla="*/ 0 h 2558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558508">
                <a:moveTo>
                  <a:pt x="0" y="2558508"/>
                </a:moveTo>
                <a:lnTo>
                  <a:pt x="12192000" y="2558508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6221" y="0"/>
            <a:ext cx="4763194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221" y="0"/>
            <a:ext cx="4763194" cy="6858000"/>
          </a:xfrm>
          <a:prstGeom prst="rect">
            <a:avLst/>
          </a:prstGeom>
          <a:gradFill>
            <a:gsLst>
              <a:gs pos="0">
                <a:srgbClr val="0070C0">
                  <a:alpha val="72135"/>
                </a:srgbClr>
              </a:gs>
              <a:gs pos="100000">
                <a:srgbClr val="3354B5">
                  <a:alpha val="80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2712949" y="1396538"/>
            <a:ext cx="8117345" cy="4064924"/>
          </a:xfrm>
          <a:custGeom>
            <a:avLst/>
            <a:gdLst>
              <a:gd name="connsiteX0" fmla="*/ 6890674 w 7586519"/>
              <a:gd name="connsiteY0" fmla="*/ 0 h 4064924"/>
              <a:gd name="connsiteX1" fmla="*/ 7446523 w 7586519"/>
              <a:gd name="connsiteY1" fmla="*/ 0 h 4064924"/>
              <a:gd name="connsiteX2" fmla="*/ 7586519 w 7586519"/>
              <a:gd name="connsiteY2" fmla="*/ 139996 h 4064924"/>
              <a:gd name="connsiteX3" fmla="*/ 7586519 w 7586519"/>
              <a:gd name="connsiteY3" fmla="*/ 705494 h 4064924"/>
              <a:gd name="connsiteX4" fmla="*/ 7484758 w 7586519"/>
              <a:gd name="connsiteY4" fmla="*/ 715752 h 4064924"/>
              <a:gd name="connsiteX5" fmla="*/ 6879532 w 7586519"/>
              <a:gd name="connsiteY5" fmla="*/ 110526 h 4064924"/>
              <a:gd name="connsiteX6" fmla="*/ 139996 w 7586519"/>
              <a:gd name="connsiteY6" fmla="*/ 0 h 4064924"/>
              <a:gd name="connsiteX7" fmla="*/ 6651650 w 7586519"/>
              <a:gd name="connsiteY7" fmla="*/ 0 h 4064924"/>
              <a:gd name="connsiteX8" fmla="*/ 6640508 w 7586519"/>
              <a:gd name="connsiteY8" fmla="*/ 110526 h 4064924"/>
              <a:gd name="connsiteX9" fmla="*/ 7484758 w 7586519"/>
              <a:gd name="connsiteY9" fmla="*/ 954776 h 4064924"/>
              <a:gd name="connsiteX10" fmla="*/ 7571078 w 7586519"/>
              <a:gd name="connsiteY10" fmla="*/ 950417 h 4064924"/>
              <a:gd name="connsiteX11" fmla="*/ 7586519 w 7586519"/>
              <a:gd name="connsiteY11" fmla="*/ 948061 h 4064924"/>
              <a:gd name="connsiteX12" fmla="*/ 7586519 w 7586519"/>
              <a:gd name="connsiteY12" fmla="*/ 3924928 h 4064924"/>
              <a:gd name="connsiteX13" fmla="*/ 7446523 w 7586519"/>
              <a:gd name="connsiteY13" fmla="*/ 4064924 h 4064924"/>
              <a:gd name="connsiteX14" fmla="*/ 139996 w 7586519"/>
              <a:gd name="connsiteY14" fmla="*/ 4064924 h 4064924"/>
              <a:gd name="connsiteX15" fmla="*/ 0 w 7586519"/>
              <a:gd name="connsiteY15" fmla="*/ 3924928 h 4064924"/>
              <a:gd name="connsiteX16" fmla="*/ 0 w 7586519"/>
              <a:gd name="connsiteY16" fmla="*/ 139996 h 4064924"/>
              <a:gd name="connsiteX17" fmla="*/ 139996 w 7586519"/>
              <a:gd name="connsiteY17" fmla="*/ 0 h 4064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586519" h="4064924">
                <a:moveTo>
                  <a:pt x="6890674" y="0"/>
                </a:moveTo>
                <a:lnTo>
                  <a:pt x="7446523" y="0"/>
                </a:lnTo>
                <a:cubicBezTo>
                  <a:pt x="7523841" y="0"/>
                  <a:pt x="7586519" y="62678"/>
                  <a:pt x="7586519" y="139996"/>
                </a:cubicBezTo>
                <a:lnTo>
                  <a:pt x="7586519" y="705494"/>
                </a:lnTo>
                <a:lnTo>
                  <a:pt x="7484758" y="715752"/>
                </a:lnTo>
                <a:cubicBezTo>
                  <a:pt x="7150501" y="715752"/>
                  <a:pt x="6879532" y="444783"/>
                  <a:pt x="6879532" y="110526"/>
                </a:cubicBezTo>
                <a:close/>
                <a:moveTo>
                  <a:pt x="139996" y="0"/>
                </a:moveTo>
                <a:lnTo>
                  <a:pt x="6651650" y="0"/>
                </a:lnTo>
                <a:lnTo>
                  <a:pt x="6640508" y="110526"/>
                </a:lnTo>
                <a:cubicBezTo>
                  <a:pt x="6640508" y="576792"/>
                  <a:pt x="7018492" y="954776"/>
                  <a:pt x="7484758" y="954776"/>
                </a:cubicBezTo>
                <a:cubicBezTo>
                  <a:pt x="7513900" y="954776"/>
                  <a:pt x="7542696" y="953300"/>
                  <a:pt x="7571078" y="950417"/>
                </a:cubicBezTo>
                <a:lnTo>
                  <a:pt x="7586519" y="948061"/>
                </a:lnTo>
                <a:lnTo>
                  <a:pt x="7586519" y="3924928"/>
                </a:lnTo>
                <a:cubicBezTo>
                  <a:pt x="7586519" y="4002246"/>
                  <a:pt x="7523841" y="4064924"/>
                  <a:pt x="7446523" y="4064924"/>
                </a:cubicBezTo>
                <a:lnTo>
                  <a:pt x="139996" y="4064924"/>
                </a:lnTo>
                <a:cubicBezTo>
                  <a:pt x="62678" y="4064924"/>
                  <a:pt x="0" y="4002246"/>
                  <a:pt x="0" y="3924928"/>
                </a:cubicBezTo>
                <a:lnTo>
                  <a:pt x="0" y="139996"/>
                </a:lnTo>
                <a:cubicBezTo>
                  <a:pt x="0" y="62678"/>
                  <a:pt x="62678" y="0"/>
                  <a:pt x="1399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17500" dist="127000" dir="2700000" algn="tl" rotWithShape="0">
              <a:srgbClr val="0064D8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1204493" y="1396538"/>
            <a:ext cx="677108" cy="4064924"/>
            <a:chOff x="26301" y="1138131"/>
            <a:chExt cx="677108" cy="4064924"/>
          </a:xfrm>
        </p:grpSpPr>
        <p:sp>
          <p:nvSpPr>
            <p:cNvPr id="10" name="文本框 9"/>
            <p:cNvSpPr txBox="1"/>
            <p:nvPr/>
          </p:nvSpPr>
          <p:spPr>
            <a:xfrm>
              <a:off x="26301" y="1138131"/>
              <a:ext cx="677108" cy="287805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>
                  <a:solidFill>
                    <a:srgbClr val="0E6BC9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SOUTHWEST JIAOTONG UNIVERSITY</a:t>
              </a:r>
              <a:endParaRPr lang="zh-CN" altLang="en-US" sz="1600" dirty="0">
                <a:solidFill>
                  <a:srgbClr val="0E6BC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482600" y="3845518"/>
              <a:ext cx="0" cy="1357537"/>
            </a:xfrm>
            <a:prstGeom prst="line">
              <a:avLst/>
            </a:prstGeom>
            <a:ln w="12700">
              <a:solidFill>
                <a:srgbClr val="316AE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>
            <a:off x="3397184" y="1550560"/>
            <a:ext cx="5669280" cy="2345475"/>
            <a:chOff x="497375" y="1211712"/>
            <a:chExt cx="5669280" cy="2345475"/>
          </a:xfrm>
        </p:grpSpPr>
        <p:sp>
          <p:nvSpPr>
            <p:cNvPr id="6" name="文本框 5"/>
            <p:cNvSpPr txBox="1"/>
            <p:nvPr/>
          </p:nvSpPr>
          <p:spPr>
            <a:xfrm>
              <a:off x="497375" y="2635167"/>
              <a:ext cx="5669280" cy="922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800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308FF0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总体架构与工作流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308FF0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22775" y="1211712"/>
              <a:ext cx="1441420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2000">
                        <a:srgbClr val="0655D3"/>
                      </a:gs>
                      <a:gs pos="86000">
                        <a:srgbClr val="0655D3">
                          <a:alpha val="0"/>
                        </a:srgb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" panose="020B0604020202020204" pitchFamily="34" charset="0"/>
                  <a:ea typeface="OPPOSans B"/>
                  <a:cs typeface="Arial" panose="020B0604020202020204" pitchFamily="34" charset="0"/>
                </a:rPr>
                <a:t>02</a:t>
              </a:r>
              <a:endPara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2000">
                      <a:srgbClr val="0655D3"/>
                    </a:gs>
                    <a:gs pos="86000">
                      <a:srgbClr val="0655D3">
                        <a:alpha val="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Arial" panose="020B0604020202020204" pitchFamily="34" charset="0"/>
                <a:ea typeface="OPPOSans B"/>
                <a:cs typeface="Arial" panose="020B0604020202020204" pitchFamily="34" charset="0"/>
              </a:endParaRPr>
            </a:p>
          </p:txBody>
        </p:sp>
      </p:grpSp>
      <p:cxnSp>
        <p:nvCxnSpPr>
          <p:cNvPr id="22" name="直线连接符 21"/>
          <p:cNvCxnSpPr/>
          <p:nvPr/>
        </p:nvCxnSpPr>
        <p:spPr>
          <a:xfrm>
            <a:off x="3508081" y="4676038"/>
            <a:ext cx="1251950" cy="6730"/>
          </a:xfrm>
          <a:prstGeom prst="line">
            <a:avLst/>
          </a:prstGeom>
          <a:ln w="28575">
            <a:solidFill>
              <a:srgbClr val="0E6B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10509108" y="6325674"/>
            <a:ext cx="132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447096A-5CB9-A449-9521-AD82728A312D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422650" y="3961130"/>
            <a:ext cx="672528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三栏 Web 界面连接 FastAPI 后端、Dify 工作流和多类交通工具</a:t>
            </a:r>
            <a:endParaRPr kumimoji="0" lang="en-US" altLang="en-US" sz="180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3" name="椭圆 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18" name="平行四边形 17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669" y="410108"/>
            <a:ext cx="3982026" cy="579755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系统总体架构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-5" y="6617367"/>
            <a:ext cx="12191683" cy="240185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OPPOSans R" pitchFamily="18" charset="-122"/>
              <a:cs typeface="+mn-cs"/>
            </a:endParaRPr>
          </a:p>
        </p:txBody>
      </p:sp>
      <p:sp>
        <p:nvSpPr>
          <p:cNvPr id="30" name="Shape 8"/>
          <p:cNvSpPr/>
          <p:nvPr/>
        </p:nvSpPr>
        <p:spPr>
          <a:xfrm>
            <a:off x="685800" y="260604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F0E6DA"/>
          </a:solidFill>
          <a:ln w="12700">
            <a:solidFill>
              <a:srgbClr val="D9CAB8"/>
            </a:solidFill>
            <a:prstDash val="solid"/>
          </a:ln>
        </p:spPr>
      </p:sp>
      <p:sp>
        <p:nvSpPr>
          <p:cNvPr id="31" name="Text 9"/>
          <p:cNvSpPr/>
          <p:nvPr/>
        </p:nvSpPr>
        <p:spPr>
          <a:xfrm>
            <a:off x="749808" y="2679192"/>
            <a:ext cx="1152144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91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用户</a:t>
            </a:r>
            <a:endParaRPr lang="en-US" sz="1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1B191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交通问题/图片</a:t>
            </a:r>
            <a:endParaRPr lang="en-US" sz="1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Shape 10"/>
          <p:cNvSpPr/>
          <p:nvPr/>
        </p:nvSpPr>
        <p:spPr>
          <a:xfrm>
            <a:off x="3154680" y="260604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4E9D8"/>
          </a:solidFill>
          <a:ln w="12700">
            <a:solidFill>
              <a:srgbClr val="D9CAB8"/>
            </a:solidFill>
            <a:prstDash val="solid"/>
          </a:ln>
        </p:spPr>
      </p:sp>
      <p:sp>
        <p:nvSpPr>
          <p:cNvPr id="39" name="Text 11"/>
          <p:cNvSpPr/>
          <p:nvPr/>
        </p:nvSpPr>
        <p:spPr>
          <a:xfrm>
            <a:off x="3218688" y="2679192"/>
            <a:ext cx="1335024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三栏 Web 界面</a:t>
            </a:r>
            <a:endParaRPr lang="en-US" sz="1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对话 + 证据面板</a:t>
            </a:r>
            <a:endParaRPr lang="en-US" sz="1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" name="Shape 12"/>
          <p:cNvSpPr/>
          <p:nvPr/>
        </p:nvSpPr>
        <p:spPr>
          <a:xfrm>
            <a:off x="5806440" y="260604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E4F0DC"/>
          </a:solidFill>
          <a:ln w="12700">
            <a:solidFill>
              <a:srgbClr val="D9CAB8"/>
            </a:solidFill>
            <a:prstDash val="solid"/>
          </a:ln>
        </p:spPr>
      </p:sp>
      <p:sp>
        <p:nvSpPr>
          <p:cNvPr id="41" name="Text 13"/>
          <p:cNvSpPr/>
          <p:nvPr/>
        </p:nvSpPr>
        <p:spPr>
          <a:xfrm>
            <a:off x="5870448" y="2679192"/>
            <a:ext cx="1426464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FastAPI 后端</a:t>
            </a:r>
            <a:endParaRPr lang="en-US" sz="1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TravelQAApp</a:t>
            </a:r>
            <a:endParaRPr lang="en-US" sz="1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2" name="Shape 14"/>
          <p:cNvSpPr/>
          <p:nvPr/>
        </p:nvSpPr>
        <p:spPr>
          <a:xfrm>
            <a:off x="5806440" y="187452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EDE6F9"/>
          </a:solidFill>
          <a:ln w="12700">
            <a:solidFill>
              <a:srgbClr val="4B3B8F"/>
            </a:solidFill>
            <a:prstDash val="solid"/>
          </a:ln>
        </p:spPr>
      </p:sp>
      <p:sp>
        <p:nvSpPr>
          <p:cNvPr id="43" name="Text 15"/>
          <p:cNvSpPr/>
          <p:nvPr/>
        </p:nvSpPr>
        <p:spPr>
          <a:xfrm>
            <a:off x="5870448" y="1947672"/>
            <a:ext cx="1426464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Dify Workflow</a:t>
            </a:r>
            <a:endParaRPr lang="en-US" sz="1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意图分流</a:t>
            </a:r>
            <a:endParaRPr lang="en-US" sz="1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4" name="Shape 16"/>
          <p:cNvSpPr/>
          <p:nvPr/>
        </p:nvSpPr>
        <p:spPr>
          <a:xfrm>
            <a:off x="5806440" y="361188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F9E8E7"/>
          </a:solidFill>
          <a:ln w="12700">
            <a:solidFill>
              <a:srgbClr val="C9332C"/>
            </a:solidFill>
            <a:prstDash val="solid"/>
          </a:ln>
        </p:spPr>
      </p:sp>
      <p:sp>
        <p:nvSpPr>
          <p:cNvPr id="45" name="Text 17"/>
          <p:cNvSpPr/>
          <p:nvPr/>
        </p:nvSpPr>
        <p:spPr>
          <a:xfrm>
            <a:off x="5870448" y="3685032"/>
            <a:ext cx="1426464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本地 Router</a:t>
            </a:r>
            <a:endParaRPr lang="en-US" sz="1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降级/直连模式</a:t>
            </a:r>
            <a:endParaRPr lang="en-US" sz="1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6" name="Shape 18"/>
          <p:cNvSpPr/>
          <p:nvPr/>
        </p:nvSpPr>
        <p:spPr>
          <a:xfrm>
            <a:off x="9144000" y="1261872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E4F0DC"/>
          </a:solidFill>
          <a:ln w="12700">
            <a:solidFill>
              <a:srgbClr val="1C9A62"/>
            </a:solidFill>
            <a:prstDash val="solid"/>
          </a:ln>
        </p:spPr>
      </p:sp>
      <p:sp>
        <p:nvSpPr>
          <p:cNvPr id="47" name="Text 19"/>
          <p:cNvSpPr/>
          <p:nvPr/>
        </p:nvSpPr>
        <p:spPr>
          <a:xfrm>
            <a:off x="9208008" y="1335024"/>
            <a:ext cx="1289304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本地 RAG</a:t>
            </a:r>
            <a:endParaRPr lang="en-US" sz="1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知识库检索</a:t>
            </a:r>
            <a:endParaRPr lang="en-US" sz="1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8" name="Shape 20"/>
          <p:cNvSpPr/>
          <p:nvPr/>
        </p:nvSpPr>
        <p:spPr>
          <a:xfrm>
            <a:off x="9144000" y="1901952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F2E0D8"/>
          </a:solidFill>
          <a:ln w="12700">
            <a:solidFill>
              <a:srgbClr val="C9332C"/>
            </a:solidFill>
            <a:prstDash val="solid"/>
          </a:ln>
        </p:spPr>
      </p:sp>
      <p:sp>
        <p:nvSpPr>
          <p:cNvPr id="49" name="Text 21"/>
          <p:cNvSpPr/>
          <p:nvPr/>
        </p:nvSpPr>
        <p:spPr>
          <a:xfrm>
            <a:off x="9208008" y="1975104"/>
            <a:ext cx="1289304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高德 API</a:t>
            </a:r>
            <a:endParaRPr lang="en-US" sz="1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天气/路线</a:t>
            </a:r>
            <a:endParaRPr lang="en-US" sz="1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0" name="Shape 22"/>
          <p:cNvSpPr/>
          <p:nvPr/>
        </p:nvSpPr>
        <p:spPr>
          <a:xfrm>
            <a:off x="9144000" y="274320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E4EAF5"/>
          </a:solidFill>
          <a:ln w="12700">
            <a:solidFill>
              <a:srgbClr val="3466B8"/>
            </a:solidFill>
            <a:prstDash val="solid"/>
          </a:ln>
        </p:spPr>
      </p:sp>
      <p:sp>
        <p:nvSpPr>
          <p:cNvPr id="51" name="Text 23"/>
          <p:cNvSpPr/>
          <p:nvPr/>
        </p:nvSpPr>
        <p:spPr>
          <a:xfrm>
            <a:off x="9208008" y="2816352"/>
            <a:ext cx="1289304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STAEformer</a:t>
            </a:r>
            <a:endParaRPr lang="en-US" sz="1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交通流预测</a:t>
            </a:r>
            <a:endParaRPr lang="en-US" sz="1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2" name="Shape 24"/>
          <p:cNvSpPr/>
          <p:nvPr/>
        </p:nvSpPr>
        <p:spPr>
          <a:xfrm>
            <a:off x="9144000" y="3529584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FFF0CA"/>
          </a:solidFill>
          <a:ln w="12700">
            <a:solidFill>
              <a:srgbClr val="E5A931"/>
            </a:solidFill>
            <a:prstDash val="solid"/>
          </a:ln>
        </p:spPr>
      </p:sp>
      <p:sp>
        <p:nvSpPr>
          <p:cNvPr id="53" name="Text 25"/>
          <p:cNvSpPr/>
          <p:nvPr/>
        </p:nvSpPr>
        <p:spPr>
          <a:xfrm>
            <a:off x="9208008" y="3602736"/>
            <a:ext cx="1289304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YOLO</a:t>
            </a:r>
            <a:endParaRPr lang="en-US" sz="1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交通标志识别</a:t>
            </a:r>
            <a:endParaRPr lang="en-US" sz="1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4" name="Shape 26"/>
          <p:cNvSpPr/>
          <p:nvPr/>
        </p:nvSpPr>
        <p:spPr>
          <a:xfrm>
            <a:off x="9144000" y="4279392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EDE6F9"/>
          </a:solidFill>
          <a:ln w="12700">
            <a:solidFill>
              <a:srgbClr val="4B3B8F"/>
            </a:solidFill>
            <a:prstDash val="solid"/>
          </a:ln>
        </p:spPr>
      </p:sp>
      <p:sp>
        <p:nvSpPr>
          <p:cNvPr id="55" name="Text 27"/>
          <p:cNvSpPr/>
          <p:nvPr/>
        </p:nvSpPr>
        <p:spPr>
          <a:xfrm>
            <a:off x="9208008" y="4352544"/>
            <a:ext cx="1289304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LLM</a:t>
            </a:r>
            <a:endParaRPr lang="en-US" sz="1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DeepSeek/Ollama</a:t>
            </a:r>
            <a:endParaRPr lang="en-US" sz="1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" name="Shape 28"/>
          <p:cNvSpPr/>
          <p:nvPr/>
        </p:nvSpPr>
        <p:spPr>
          <a:xfrm>
            <a:off x="777240" y="5230495"/>
            <a:ext cx="10652760" cy="820420"/>
          </a:xfrm>
          <a:prstGeom prst="rect">
            <a:avLst/>
          </a:prstGeom>
          <a:solidFill>
            <a:srgbClr val="FFF9EF"/>
          </a:solidFill>
          <a:ln w="12700">
            <a:solidFill>
              <a:srgbClr val="D9CAB8"/>
            </a:solidFill>
            <a:prstDash val="solid"/>
          </a:ln>
        </p:spPr>
      </p:sp>
      <p:sp>
        <p:nvSpPr>
          <p:cNvPr id="57" name="Text 29"/>
          <p:cNvSpPr/>
          <p:nvPr/>
        </p:nvSpPr>
        <p:spPr>
          <a:xfrm>
            <a:off x="960120" y="5349240"/>
            <a:ext cx="10195560" cy="575945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核心思想：把“是否需要实时工具、是否需要本地证据、是否需要小模型推理”交给工作流调度，输出统一的文字回答与可视化面板。</a:t>
            </a:r>
            <a:endParaRPr lang="en-US" dirty="0">
              <a:solidFill>
                <a:srgbClr val="1B191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3" name="椭圆 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18" name="平行四边形 17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710" y="410210"/>
            <a:ext cx="6484620" cy="579755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Dify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工作流：按意图分支调用工具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-5" y="6617367"/>
            <a:ext cx="12191683" cy="240185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OPPOSans R" pitchFamily="18" charset="-122"/>
              <a:cs typeface="+mn-cs"/>
            </a:endParaRPr>
          </a:p>
        </p:txBody>
      </p:sp>
      <p:sp>
        <p:nvSpPr>
          <p:cNvPr id="22" name="Shape 8"/>
          <p:cNvSpPr/>
          <p:nvPr/>
        </p:nvSpPr>
        <p:spPr>
          <a:xfrm>
            <a:off x="1270000" y="154559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4E9D8"/>
          </a:solidFill>
          <a:ln w="12700">
            <a:solidFill>
              <a:srgbClr val="D9CAB8"/>
            </a:solidFill>
            <a:prstDash val="solid"/>
          </a:ln>
        </p:spPr>
      </p:sp>
      <p:sp>
        <p:nvSpPr>
          <p:cNvPr id="29" name="Text 9"/>
          <p:cNvSpPr/>
          <p:nvPr/>
        </p:nvSpPr>
        <p:spPr>
          <a:xfrm>
            <a:off x="1334008" y="1618742"/>
            <a:ext cx="1792224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B191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开始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0" name="Shape 10"/>
          <p:cNvSpPr/>
          <p:nvPr/>
        </p:nvSpPr>
        <p:spPr>
          <a:xfrm>
            <a:off x="4927600" y="154559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4E9D8"/>
          </a:solidFill>
          <a:ln w="12700">
            <a:solidFill>
              <a:srgbClr val="D9CAB8"/>
            </a:solidFill>
            <a:prstDash val="solid"/>
          </a:ln>
        </p:spPr>
      </p:sp>
      <p:sp>
        <p:nvSpPr>
          <p:cNvPr id="31" name="Text 11"/>
          <p:cNvSpPr/>
          <p:nvPr/>
        </p:nvSpPr>
        <p:spPr>
          <a:xfrm>
            <a:off x="4991608" y="1618742"/>
            <a:ext cx="1792224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B191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意图识别</a:t>
            </a:r>
            <a:endParaRPr lang="en-US" b="1" dirty="0">
              <a:solidFill>
                <a:srgbClr val="1B191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8" name="Shape 12"/>
          <p:cNvSpPr/>
          <p:nvPr/>
        </p:nvSpPr>
        <p:spPr>
          <a:xfrm>
            <a:off x="8585200" y="154559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4E9D8"/>
          </a:solidFill>
          <a:ln w="12700">
            <a:solidFill>
              <a:srgbClr val="D9CAB8"/>
            </a:solidFill>
            <a:prstDash val="solid"/>
          </a:ln>
        </p:spPr>
      </p:sp>
      <p:sp>
        <p:nvSpPr>
          <p:cNvPr id="39" name="Text 13"/>
          <p:cNvSpPr/>
          <p:nvPr/>
        </p:nvSpPr>
        <p:spPr>
          <a:xfrm>
            <a:off x="8649208" y="1618742"/>
            <a:ext cx="1792224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B191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按意图分流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0" name="Shape 14"/>
          <p:cNvSpPr/>
          <p:nvPr/>
        </p:nvSpPr>
        <p:spPr>
          <a:xfrm>
            <a:off x="1270000" y="259715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EDE6F9"/>
          </a:solidFill>
          <a:ln w="12700">
            <a:solidFill>
              <a:srgbClr val="D9CAB8"/>
            </a:solidFill>
            <a:prstDash val="solid"/>
          </a:ln>
        </p:spPr>
      </p:sp>
      <p:sp>
        <p:nvSpPr>
          <p:cNvPr id="41" name="Text 15"/>
          <p:cNvSpPr/>
          <p:nvPr/>
        </p:nvSpPr>
        <p:spPr>
          <a:xfrm>
            <a:off x="1334008" y="2670302"/>
            <a:ext cx="1792224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B191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路线规划接口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2" name="Shape 16"/>
          <p:cNvSpPr/>
          <p:nvPr/>
        </p:nvSpPr>
        <p:spPr>
          <a:xfrm>
            <a:off x="4927600" y="259715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EDE6F9"/>
          </a:solidFill>
          <a:ln w="12700">
            <a:solidFill>
              <a:srgbClr val="D9CAB8"/>
            </a:solidFill>
            <a:prstDash val="solid"/>
          </a:ln>
        </p:spPr>
      </p:sp>
      <p:sp>
        <p:nvSpPr>
          <p:cNvPr id="43" name="Text 17"/>
          <p:cNvSpPr/>
          <p:nvPr/>
        </p:nvSpPr>
        <p:spPr>
          <a:xfrm>
            <a:off x="4991608" y="2670302"/>
            <a:ext cx="1792224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B191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交通流预测接口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4" name="Shape 18"/>
          <p:cNvSpPr/>
          <p:nvPr/>
        </p:nvSpPr>
        <p:spPr>
          <a:xfrm>
            <a:off x="8585200" y="259715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EDE6F9"/>
          </a:solidFill>
          <a:ln w="12700">
            <a:solidFill>
              <a:srgbClr val="D9CAB8"/>
            </a:solidFill>
            <a:prstDash val="solid"/>
          </a:ln>
        </p:spPr>
      </p:sp>
      <p:sp>
        <p:nvSpPr>
          <p:cNvPr id="45" name="Text 19"/>
          <p:cNvSpPr/>
          <p:nvPr/>
        </p:nvSpPr>
        <p:spPr>
          <a:xfrm>
            <a:off x="8649208" y="2670302"/>
            <a:ext cx="1792224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B191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天气接口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6" name="Shape 20"/>
          <p:cNvSpPr/>
          <p:nvPr/>
        </p:nvSpPr>
        <p:spPr>
          <a:xfrm>
            <a:off x="1270000" y="364871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2E0D8"/>
          </a:solidFill>
          <a:ln w="12700">
            <a:solidFill>
              <a:srgbClr val="D9CAB8"/>
            </a:solidFill>
            <a:prstDash val="solid"/>
          </a:ln>
        </p:spPr>
      </p:sp>
      <p:sp>
        <p:nvSpPr>
          <p:cNvPr id="47" name="Text 21"/>
          <p:cNvSpPr/>
          <p:nvPr/>
        </p:nvSpPr>
        <p:spPr>
          <a:xfrm>
            <a:off x="1334008" y="3721862"/>
            <a:ext cx="1792224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91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标志识别能力接口</a:t>
            </a:r>
            <a:endParaRPr lang="en-US" sz="1600" b="1" dirty="0">
              <a:solidFill>
                <a:srgbClr val="1B191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8" name="Shape 22"/>
          <p:cNvSpPr/>
          <p:nvPr/>
        </p:nvSpPr>
        <p:spPr>
          <a:xfrm>
            <a:off x="4927600" y="364871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2E0D8"/>
          </a:solidFill>
          <a:ln w="12700">
            <a:solidFill>
              <a:srgbClr val="D9CAB8"/>
            </a:solidFill>
            <a:prstDash val="solid"/>
          </a:ln>
        </p:spPr>
      </p:sp>
      <p:sp>
        <p:nvSpPr>
          <p:cNvPr id="49" name="Text 23"/>
          <p:cNvSpPr/>
          <p:nvPr/>
        </p:nvSpPr>
        <p:spPr>
          <a:xfrm>
            <a:off x="4991608" y="3721862"/>
            <a:ext cx="1792224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本地RAG与知乎补充</a:t>
            </a:r>
            <a:endParaRPr lang="en-US" sz="1400" b="1" dirty="0">
              <a:solidFill>
                <a:srgbClr val="1B1916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0" name="Shape 24"/>
          <p:cNvSpPr/>
          <p:nvPr/>
        </p:nvSpPr>
        <p:spPr>
          <a:xfrm>
            <a:off x="8585200" y="364871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2E0D8"/>
          </a:solidFill>
          <a:ln w="12700">
            <a:solidFill>
              <a:srgbClr val="D9CAB8"/>
            </a:solidFill>
            <a:prstDash val="solid"/>
          </a:ln>
        </p:spPr>
      </p:sp>
      <p:sp>
        <p:nvSpPr>
          <p:cNvPr id="51" name="Text 25"/>
          <p:cNvSpPr/>
          <p:nvPr/>
        </p:nvSpPr>
        <p:spPr>
          <a:xfrm>
            <a:off x="8649208" y="3721862"/>
            <a:ext cx="1792224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B191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合并分支回答</a:t>
            </a:r>
            <a:endParaRPr lang="en-US" b="1" dirty="0">
              <a:solidFill>
                <a:srgbClr val="1B191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2" name="Shape 26"/>
          <p:cNvSpPr/>
          <p:nvPr/>
        </p:nvSpPr>
        <p:spPr>
          <a:xfrm>
            <a:off x="1270000" y="470027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E4F0DC"/>
          </a:solidFill>
          <a:ln w="12700">
            <a:solidFill>
              <a:srgbClr val="D9CAB8"/>
            </a:solidFill>
            <a:prstDash val="solid"/>
          </a:ln>
        </p:spPr>
      </p:sp>
      <p:sp>
        <p:nvSpPr>
          <p:cNvPr id="53" name="Text 27"/>
          <p:cNvSpPr/>
          <p:nvPr/>
        </p:nvSpPr>
        <p:spPr>
          <a:xfrm>
            <a:off x="1334008" y="4773422"/>
            <a:ext cx="1792224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B191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最终回复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4" name="Shape 28"/>
          <p:cNvSpPr/>
          <p:nvPr/>
        </p:nvSpPr>
        <p:spPr>
          <a:xfrm>
            <a:off x="4927600" y="470027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E4F0DC"/>
          </a:solidFill>
          <a:ln w="12700">
            <a:solidFill>
              <a:srgbClr val="D9CAB8"/>
            </a:solidFill>
            <a:prstDash val="solid"/>
          </a:ln>
        </p:spPr>
      </p:sp>
      <p:sp>
        <p:nvSpPr>
          <p:cNvPr id="55" name="Text 29"/>
          <p:cNvSpPr/>
          <p:nvPr/>
        </p:nvSpPr>
        <p:spPr>
          <a:xfrm>
            <a:off x="4991608" y="4773422"/>
            <a:ext cx="1792224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B191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右侧面板展示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6" name="Shape 30"/>
          <p:cNvSpPr/>
          <p:nvPr/>
        </p:nvSpPr>
        <p:spPr>
          <a:xfrm>
            <a:off x="8585200" y="470027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E4F0DC"/>
          </a:solidFill>
          <a:ln w="12700">
            <a:solidFill>
              <a:srgbClr val="D9CAB8"/>
            </a:solidFill>
            <a:prstDash val="solid"/>
          </a:ln>
        </p:spPr>
      </p:sp>
      <p:sp>
        <p:nvSpPr>
          <p:cNvPr id="57" name="Text 31"/>
          <p:cNvSpPr/>
          <p:nvPr/>
        </p:nvSpPr>
        <p:spPr>
          <a:xfrm>
            <a:off x="8649208" y="4773422"/>
            <a:ext cx="1792224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B191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用户核验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alphaModFix amt="95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r="44004" b="49240"/>
          <a:stretch>
            <a:fillRect/>
          </a:stretch>
        </p:blipFill>
        <p:spPr>
          <a:xfrm flipV="1">
            <a:off x="1" y="-7"/>
            <a:ext cx="12191998" cy="3747395"/>
          </a:xfrm>
          <a:custGeom>
            <a:avLst/>
            <a:gdLst>
              <a:gd name="connsiteX0" fmla="*/ 0 w 12192000"/>
              <a:gd name="connsiteY0" fmla="*/ 2558508 h 2558508"/>
              <a:gd name="connsiteX1" fmla="*/ 12192000 w 12192000"/>
              <a:gd name="connsiteY1" fmla="*/ 2558508 h 2558508"/>
              <a:gd name="connsiteX2" fmla="*/ 12192000 w 12192000"/>
              <a:gd name="connsiteY2" fmla="*/ 0 h 2558508"/>
              <a:gd name="connsiteX3" fmla="*/ 0 w 12192000"/>
              <a:gd name="connsiteY3" fmla="*/ 0 h 2558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558508">
                <a:moveTo>
                  <a:pt x="0" y="2558508"/>
                </a:moveTo>
                <a:lnTo>
                  <a:pt x="12192000" y="2558508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1" y="0"/>
            <a:ext cx="4760029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3163" y="0"/>
            <a:ext cx="4763194" cy="6858000"/>
          </a:xfrm>
          <a:prstGeom prst="rect">
            <a:avLst/>
          </a:prstGeom>
          <a:gradFill>
            <a:gsLst>
              <a:gs pos="0">
                <a:srgbClr val="0070C0">
                  <a:alpha val="72135"/>
                </a:srgbClr>
              </a:gs>
              <a:gs pos="100000">
                <a:srgbClr val="3354B5">
                  <a:alpha val="80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2712949" y="1396538"/>
            <a:ext cx="8117345" cy="4064924"/>
          </a:xfrm>
          <a:custGeom>
            <a:avLst/>
            <a:gdLst>
              <a:gd name="connsiteX0" fmla="*/ 6890674 w 7586519"/>
              <a:gd name="connsiteY0" fmla="*/ 0 h 4064924"/>
              <a:gd name="connsiteX1" fmla="*/ 7446523 w 7586519"/>
              <a:gd name="connsiteY1" fmla="*/ 0 h 4064924"/>
              <a:gd name="connsiteX2" fmla="*/ 7586519 w 7586519"/>
              <a:gd name="connsiteY2" fmla="*/ 139996 h 4064924"/>
              <a:gd name="connsiteX3" fmla="*/ 7586519 w 7586519"/>
              <a:gd name="connsiteY3" fmla="*/ 705494 h 4064924"/>
              <a:gd name="connsiteX4" fmla="*/ 7484758 w 7586519"/>
              <a:gd name="connsiteY4" fmla="*/ 715752 h 4064924"/>
              <a:gd name="connsiteX5" fmla="*/ 6879532 w 7586519"/>
              <a:gd name="connsiteY5" fmla="*/ 110526 h 4064924"/>
              <a:gd name="connsiteX6" fmla="*/ 139996 w 7586519"/>
              <a:gd name="connsiteY6" fmla="*/ 0 h 4064924"/>
              <a:gd name="connsiteX7" fmla="*/ 6651650 w 7586519"/>
              <a:gd name="connsiteY7" fmla="*/ 0 h 4064924"/>
              <a:gd name="connsiteX8" fmla="*/ 6640508 w 7586519"/>
              <a:gd name="connsiteY8" fmla="*/ 110526 h 4064924"/>
              <a:gd name="connsiteX9" fmla="*/ 7484758 w 7586519"/>
              <a:gd name="connsiteY9" fmla="*/ 954776 h 4064924"/>
              <a:gd name="connsiteX10" fmla="*/ 7571078 w 7586519"/>
              <a:gd name="connsiteY10" fmla="*/ 950417 h 4064924"/>
              <a:gd name="connsiteX11" fmla="*/ 7586519 w 7586519"/>
              <a:gd name="connsiteY11" fmla="*/ 948061 h 4064924"/>
              <a:gd name="connsiteX12" fmla="*/ 7586519 w 7586519"/>
              <a:gd name="connsiteY12" fmla="*/ 3924928 h 4064924"/>
              <a:gd name="connsiteX13" fmla="*/ 7446523 w 7586519"/>
              <a:gd name="connsiteY13" fmla="*/ 4064924 h 4064924"/>
              <a:gd name="connsiteX14" fmla="*/ 139996 w 7586519"/>
              <a:gd name="connsiteY14" fmla="*/ 4064924 h 4064924"/>
              <a:gd name="connsiteX15" fmla="*/ 0 w 7586519"/>
              <a:gd name="connsiteY15" fmla="*/ 3924928 h 4064924"/>
              <a:gd name="connsiteX16" fmla="*/ 0 w 7586519"/>
              <a:gd name="connsiteY16" fmla="*/ 139996 h 4064924"/>
              <a:gd name="connsiteX17" fmla="*/ 139996 w 7586519"/>
              <a:gd name="connsiteY17" fmla="*/ 0 h 4064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586519" h="4064924">
                <a:moveTo>
                  <a:pt x="6890674" y="0"/>
                </a:moveTo>
                <a:lnTo>
                  <a:pt x="7446523" y="0"/>
                </a:lnTo>
                <a:cubicBezTo>
                  <a:pt x="7523841" y="0"/>
                  <a:pt x="7586519" y="62678"/>
                  <a:pt x="7586519" y="139996"/>
                </a:cubicBezTo>
                <a:lnTo>
                  <a:pt x="7586519" y="705494"/>
                </a:lnTo>
                <a:lnTo>
                  <a:pt x="7484758" y="715752"/>
                </a:lnTo>
                <a:cubicBezTo>
                  <a:pt x="7150501" y="715752"/>
                  <a:pt x="6879532" y="444783"/>
                  <a:pt x="6879532" y="110526"/>
                </a:cubicBezTo>
                <a:close/>
                <a:moveTo>
                  <a:pt x="139996" y="0"/>
                </a:moveTo>
                <a:lnTo>
                  <a:pt x="6651650" y="0"/>
                </a:lnTo>
                <a:lnTo>
                  <a:pt x="6640508" y="110526"/>
                </a:lnTo>
                <a:cubicBezTo>
                  <a:pt x="6640508" y="576792"/>
                  <a:pt x="7018492" y="954776"/>
                  <a:pt x="7484758" y="954776"/>
                </a:cubicBezTo>
                <a:cubicBezTo>
                  <a:pt x="7513900" y="954776"/>
                  <a:pt x="7542696" y="953300"/>
                  <a:pt x="7571078" y="950417"/>
                </a:cubicBezTo>
                <a:lnTo>
                  <a:pt x="7586519" y="948061"/>
                </a:lnTo>
                <a:lnTo>
                  <a:pt x="7586519" y="3924928"/>
                </a:lnTo>
                <a:cubicBezTo>
                  <a:pt x="7586519" y="4002246"/>
                  <a:pt x="7523841" y="4064924"/>
                  <a:pt x="7446523" y="4064924"/>
                </a:cubicBezTo>
                <a:lnTo>
                  <a:pt x="139996" y="4064924"/>
                </a:lnTo>
                <a:cubicBezTo>
                  <a:pt x="62678" y="4064924"/>
                  <a:pt x="0" y="4002246"/>
                  <a:pt x="0" y="3924928"/>
                </a:cubicBezTo>
                <a:lnTo>
                  <a:pt x="0" y="139996"/>
                </a:lnTo>
                <a:cubicBezTo>
                  <a:pt x="0" y="62678"/>
                  <a:pt x="62678" y="0"/>
                  <a:pt x="1399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17500" dist="127000" dir="2700000" algn="tl" rotWithShape="0">
              <a:srgbClr val="0064D8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1204493" y="1396538"/>
            <a:ext cx="677108" cy="4064924"/>
            <a:chOff x="26301" y="1138131"/>
            <a:chExt cx="677108" cy="4064924"/>
          </a:xfrm>
        </p:grpSpPr>
        <p:sp>
          <p:nvSpPr>
            <p:cNvPr id="10" name="文本框 9"/>
            <p:cNvSpPr txBox="1"/>
            <p:nvPr/>
          </p:nvSpPr>
          <p:spPr>
            <a:xfrm>
              <a:off x="26301" y="1138131"/>
              <a:ext cx="677108" cy="287805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>
                  <a:solidFill>
                    <a:srgbClr val="0E6BC9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SOUTHWEST JIAOTONG UNIVERSITY</a:t>
              </a:r>
              <a:endParaRPr lang="zh-CN" altLang="en-US" sz="1600" dirty="0">
                <a:solidFill>
                  <a:srgbClr val="0E6BC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482600" y="3845518"/>
              <a:ext cx="0" cy="1357537"/>
            </a:xfrm>
            <a:prstGeom prst="line">
              <a:avLst/>
            </a:prstGeom>
            <a:ln w="12700">
              <a:solidFill>
                <a:srgbClr val="316AE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>
            <a:off x="3397184" y="1550560"/>
            <a:ext cx="6355080" cy="2345475"/>
            <a:chOff x="497375" y="1211712"/>
            <a:chExt cx="6355080" cy="2345475"/>
          </a:xfrm>
        </p:grpSpPr>
        <p:sp>
          <p:nvSpPr>
            <p:cNvPr id="6" name="文本框 5"/>
            <p:cNvSpPr txBox="1"/>
            <p:nvPr/>
          </p:nvSpPr>
          <p:spPr>
            <a:xfrm>
              <a:off x="497375" y="2635167"/>
              <a:ext cx="6355080" cy="922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800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308FF0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核心功能与关键实现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308FF0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22775" y="1211712"/>
              <a:ext cx="1441420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2000">
                        <a:srgbClr val="0655D3"/>
                      </a:gs>
                      <a:gs pos="86000">
                        <a:srgbClr val="0655D3">
                          <a:alpha val="0"/>
                        </a:srgb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" panose="020B0604020202020204" pitchFamily="34" charset="0"/>
                  <a:ea typeface="OPPOSans B"/>
                  <a:cs typeface="Arial" panose="020B0604020202020204" pitchFamily="34" charset="0"/>
                </a:rPr>
                <a:t>03</a:t>
              </a:r>
              <a:endPara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2000">
                      <a:srgbClr val="0655D3"/>
                    </a:gs>
                    <a:gs pos="86000">
                      <a:srgbClr val="0655D3">
                        <a:alpha val="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Arial" panose="020B0604020202020204" pitchFamily="34" charset="0"/>
                <a:ea typeface="OPPOSans B"/>
                <a:cs typeface="Arial" panose="020B0604020202020204" pitchFamily="34" charset="0"/>
              </a:endParaRPr>
            </a:p>
          </p:txBody>
        </p:sp>
      </p:grpSp>
      <p:cxnSp>
        <p:nvCxnSpPr>
          <p:cNvPr id="22" name="直线连接符 21"/>
          <p:cNvCxnSpPr/>
          <p:nvPr/>
        </p:nvCxnSpPr>
        <p:spPr>
          <a:xfrm>
            <a:off x="3508081" y="4676038"/>
            <a:ext cx="1251950" cy="6730"/>
          </a:xfrm>
          <a:prstGeom prst="line">
            <a:avLst/>
          </a:prstGeom>
          <a:ln w="28575">
            <a:solidFill>
              <a:srgbClr val="0E6B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10509108" y="6325674"/>
            <a:ext cx="132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447096A-5CB9-A449-9521-AD82728A312D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422650" y="3961130"/>
            <a:ext cx="678116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746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从 RAG 问答、地图路线、流量预测到图片识别，形成可演示闭环</a:t>
            </a:r>
            <a:endParaRPr kumimoji="0" lang="zh-CN" altLang="en-US" sz="1800" u="none" strike="noStrike" kern="1200" cap="none" spc="0" normalizeH="0" baseline="0" noProof="0" dirty="0">
              <a:ln>
                <a:noFill/>
              </a:ln>
              <a:solidFill>
                <a:srgbClr val="7E7E7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3" name="椭圆 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18" name="平行四边形 17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710" y="410210"/>
            <a:ext cx="5475605" cy="579755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功能一：交通政策与出行问答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-5" y="6617367"/>
            <a:ext cx="12191683" cy="240185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OPPOSans R" pitchFamily="18" charset="-122"/>
              <a:cs typeface="+mn-cs"/>
            </a:endParaRPr>
          </a:p>
        </p:txBody>
      </p:sp>
      <p:sp>
        <p:nvSpPr>
          <p:cNvPr id="42" name="Shape 8"/>
          <p:cNvSpPr/>
          <p:nvPr>
            <p:custDataLst>
              <p:tags r:id="rId2"/>
            </p:custDataLst>
          </p:nvPr>
        </p:nvSpPr>
        <p:spPr>
          <a:xfrm>
            <a:off x="685800" y="1600200"/>
            <a:ext cx="3383280" cy="3474720"/>
          </a:xfrm>
          <a:prstGeom prst="rect">
            <a:avLst/>
          </a:prstGeom>
          <a:solidFill>
            <a:srgbClr val="FFF9EF"/>
          </a:solidFill>
          <a:ln w="12700">
            <a:solidFill>
              <a:srgbClr val="D9CAB8"/>
            </a:solidFill>
            <a:prstDash val="solid"/>
          </a:ln>
        </p:spPr>
      </p:sp>
      <p:sp>
        <p:nvSpPr>
          <p:cNvPr id="43" name="Shape 9"/>
          <p:cNvSpPr/>
          <p:nvPr>
            <p:custDataLst>
              <p:tags r:id="rId3"/>
            </p:custDataLst>
          </p:nvPr>
        </p:nvSpPr>
        <p:spPr>
          <a:xfrm>
            <a:off x="914400" y="1874520"/>
            <a:ext cx="1097280" cy="316865"/>
          </a:xfrm>
          <a:prstGeom prst="roundRect">
            <a:avLst>
              <a:gd name="adj" fmla="val 19231"/>
            </a:avLst>
          </a:prstGeom>
          <a:solidFill>
            <a:srgbClr val="4B3B8F"/>
          </a:solidFill>
          <a:ln w="12700">
            <a:solidFill>
              <a:srgbClr val="4B3B8F"/>
            </a:solidFill>
            <a:prstDash val="solid"/>
          </a:ln>
        </p:spPr>
      </p:sp>
      <p:sp>
        <p:nvSpPr>
          <p:cNvPr id="44" name="Text 10"/>
          <p:cNvSpPr/>
          <p:nvPr>
            <p:custDataLst>
              <p:tags r:id="rId4"/>
            </p:custDataLst>
          </p:nvPr>
        </p:nvSpPr>
        <p:spPr>
          <a:xfrm>
            <a:off x="1045210" y="1948180"/>
            <a:ext cx="835025" cy="1638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用户问题</a:t>
            </a:r>
            <a:endParaRPr 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5" name="Text 11"/>
          <p:cNvSpPr/>
          <p:nvPr>
            <p:custDataLst>
              <p:tags r:id="rId5"/>
            </p:custDataLst>
          </p:nvPr>
        </p:nvSpPr>
        <p:spPr>
          <a:xfrm>
            <a:off x="960120" y="2396490"/>
            <a:ext cx="2743200" cy="12344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成都尾号限行怎么规定？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下雨天开车要注意什么？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遇到交通管制怎么办？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6" name="Shape 12"/>
          <p:cNvSpPr/>
          <p:nvPr>
            <p:custDataLst>
              <p:tags r:id="rId6"/>
            </p:custDataLst>
          </p:nvPr>
        </p:nvSpPr>
        <p:spPr>
          <a:xfrm>
            <a:off x="4343400" y="1600200"/>
            <a:ext cx="3383280" cy="3474720"/>
          </a:xfrm>
          <a:prstGeom prst="rect">
            <a:avLst/>
          </a:prstGeom>
          <a:solidFill>
            <a:srgbClr val="E4F0DC"/>
          </a:solidFill>
          <a:ln w="12700">
            <a:solidFill>
              <a:srgbClr val="D9CAB8"/>
            </a:solidFill>
            <a:prstDash val="solid"/>
          </a:ln>
        </p:spPr>
      </p:sp>
      <p:sp>
        <p:nvSpPr>
          <p:cNvPr id="47" name="Shape 13"/>
          <p:cNvSpPr/>
          <p:nvPr>
            <p:custDataLst>
              <p:tags r:id="rId7"/>
            </p:custDataLst>
          </p:nvPr>
        </p:nvSpPr>
        <p:spPr>
          <a:xfrm>
            <a:off x="4572000" y="1874520"/>
            <a:ext cx="1158875" cy="316865"/>
          </a:xfrm>
          <a:prstGeom prst="roundRect">
            <a:avLst>
              <a:gd name="adj" fmla="val 19231"/>
            </a:avLst>
          </a:prstGeom>
          <a:solidFill>
            <a:srgbClr val="1C9A62"/>
          </a:solidFill>
          <a:ln w="12700">
            <a:solidFill>
              <a:srgbClr val="1C9A62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48" name="Text 14"/>
          <p:cNvSpPr/>
          <p:nvPr>
            <p:custDataLst>
              <p:tags r:id="rId8"/>
            </p:custDataLst>
          </p:nvPr>
        </p:nvSpPr>
        <p:spPr>
          <a:xfrm>
            <a:off x="4662805" y="1925320"/>
            <a:ext cx="977265" cy="1866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检索策略</a:t>
            </a:r>
            <a:endParaRPr 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9" name="Text 15"/>
          <p:cNvSpPr/>
          <p:nvPr>
            <p:custDataLst>
              <p:tags r:id="rId9"/>
            </p:custDataLst>
          </p:nvPr>
        </p:nvSpPr>
        <p:spPr>
          <a:xfrm>
            <a:off x="4572000" y="2396490"/>
            <a:ext cx="2788920" cy="132588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Hybrid Search：向量检索 + BM25</a:t>
            </a:r>
            <a:endParaRPr 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RRF 融合排序</a:t>
            </a:r>
            <a:endParaRPr 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reranker/关键词重排</a:t>
            </a:r>
            <a:endParaRPr 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本地知识库优先级最高</a:t>
            </a:r>
            <a:endParaRPr lang="en-US" dirty="0">
              <a:solidFill>
                <a:srgbClr val="1B1916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0" name="Shape 16"/>
          <p:cNvSpPr/>
          <p:nvPr>
            <p:custDataLst>
              <p:tags r:id="rId10"/>
            </p:custDataLst>
          </p:nvPr>
        </p:nvSpPr>
        <p:spPr>
          <a:xfrm>
            <a:off x="8001000" y="1600200"/>
            <a:ext cx="3383280" cy="3474720"/>
          </a:xfrm>
          <a:prstGeom prst="rect">
            <a:avLst/>
          </a:prstGeom>
          <a:solidFill>
            <a:srgbClr val="F2E0D8"/>
          </a:solidFill>
          <a:ln w="12700">
            <a:solidFill>
              <a:srgbClr val="D9CAB8"/>
            </a:solidFill>
            <a:prstDash val="solid"/>
          </a:ln>
        </p:spPr>
      </p:sp>
      <p:sp>
        <p:nvSpPr>
          <p:cNvPr id="51" name="Shape 17"/>
          <p:cNvSpPr/>
          <p:nvPr>
            <p:custDataLst>
              <p:tags r:id="rId11"/>
            </p:custDataLst>
          </p:nvPr>
        </p:nvSpPr>
        <p:spPr>
          <a:xfrm>
            <a:off x="8229600" y="1874520"/>
            <a:ext cx="1158875" cy="316865"/>
          </a:xfrm>
          <a:prstGeom prst="roundRect">
            <a:avLst>
              <a:gd name="adj" fmla="val 19231"/>
            </a:avLst>
          </a:prstGeom>
          <a:solidFill>
            <a:srgbClr val="C9332C"/>
          </a:solidFill>
          <a:ln w="12700">
            <a:solidFill>
              <a:srgbClr val="C9332C"/>
            </a:solidFill>
            <a:prstDash val="solid"/>
          </a:ln>
        </p:spPr>
      </p:sp>
      <p:sp>
        <p:nvSpPr>
          <p:cNvPr id="52" name="Text 18"/>
          <p:cNvSpPr/>
          <p:nvPr>
            <p:custDataLst>
              <p:tags r:id="rId12"/>
            </p:custDataLst>
          </p:nvPr>
        </p:nvSpPr>
        <p:spPr>
          <a:xfrm>
            <a:off x="8284210" y="1924685"/>
            <a:ext cx="1043940" cy="187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回答规则</a:t>
            </a:r>
            <a:endParaRPr lang="en-US" sz="120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3" name="Text 19"/>
          <p:cNvSpPr/>
          <p:nvPr>
            <p:custDataLst>
              <p:tags r:id="rId13"/>
            </p:custDataLst>
          </p:nvPr>
        </p:nvSpPr>
        <p:spPr>
          <a:xfrm>
            <a:off x="8229600" y="2396490"/>
            <a:ext cx="2788920" cy="12344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明确来源与证据片段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知乎结果仅供参考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尾号限行、处罚、临时管制等：提示以官方发布为准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3" name="椭圆 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18" name="平行四边形 17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710" y="410210"/>
            <a:ext cx="5563870" cy="579755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kern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功能二：路线规划与地图展示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-5" y="6617367"/>
            <a:ext cx="12191683" cy="240185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OPPOSans R" pitchFamily="18" charset="-122"/>
              <a:cs typeface="+mn-cs"/>
            </a:endParaRPr>
          </a:p>
        </p:txBody>
      </p:sp>
      <p:sp>
        <p:nvSpPr>
          <p:cNvPr id="22" name="Shape 8"/>
          <p:cNvSpPr/>
          <p:nvPr/>
        </p:nvSpPr>
        <p:spPr>
          <a:xfrm>
            <a:off x="7178040" y="1691640"/>
            <a:ext cx="4343400" cy="3337560"/>
          </a:xfrm>
          <a:prstGeom prst="rect">
            <a:avLst/>
          </a:prstGeom>
          <a:solidFill>
            <a:srgbClr val="FFF9EF"/>
          </a:solidFill>
          <a:ln w="12700">
            <a:solidFill>
              <a:srgbClr val="D9CAB8"/>
            </a:solidFill>
            <a:prstDash val="solid"/>
          </a:ln>
        </p:spPr>
      </p:sp>
      <p:sp>
        <p:nvSpPr>
          <p:cNvPr id="31" name="Text 11"/>
          <p:cNvSpPr/>
          <p:nvPr/>
        </p:nvSpPr>
        <p:spPr>
          <a:xfrm>
            <a:off x="7406640" y="2331720"/>
            <a:ext cx="3749040" cy="18288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 解析起点与终点</a:t>
            </a:r>
            <a:endParaRPr 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 POI 搜索 / 地理编码得到经纬度</a:t>
            </a:r>
            <a:endParaRPr 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 调用高德驾车路径规划接口</a:t>
            </a:r>
            <a:endParaRPr 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4. 右侧展示地图、起终点、距离、耗时和导航步骤</a:t>
            </a:r>
            <a:endParaRPr 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5. Key 缺失时返回降级路线简图</a:t>
            </a:r>
            <a:endParaRPr 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2" name="图片 31" descr="C0BD102DEB013825E59B9EE2F84FDFE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015" y="2016125"/>
            <a:ext cx="6045835" cy="2929890"/>
          </a:xfrm>
          <a:prstGeom prst="rect">
            <a:avLst/>
          </a:prstGeom>
        </p:spPr>
      </p:pic>
      <p:sp>
        <p:nvSpPr>
          <p:cNvPr id="51" name="Shape 17"/>
          <p:cNvSpPr/>
          <p:nvPr>
            <p:custDataLst>
              <p:tags r:id="rId3"/>
            </p:custDataLst>
          </p:nvPr>
        </p:nvSpPr>
        <p:spPr>
          <a:xfrm>
            <a:off x="7381875" y="1874520"/>
            <a:ext cx="1158875" cy="316865"/>
          </a:xfrm>
          <a:prstGeom prst="roundRect">
            <a:avLst>
              <a:gd name="adj" fmla="val 19231"/>
            </a:avLst>
          </a:prstGeom>
          <a:solidFill>
            <a:srgbClr val="C9332C"/>
          </a:solidFill>
          <a:ln w="12700">
            <a:solidFill>
              <a:srgbClr val="C9332C"/>
            </a:solidFill>
            <a:prstDash val="solid"/>
          </a:ln>
        </p:spPr>
      </p:sp>
      <p:sp>
        <p:nvSpPr>
          <p:cNvPr id="21" name="Text 10"/>
          <p:cNvSpPr/>
          <p:nvPr/>
        </p:nvSpPr>
        <p:spPr>
          <a:xfrm>
            <a:off x="7482205" y="1948180"/>
            <a:ext cx="958215" cy="168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实现链路</a:t>
            </a:r>
            <a:endParaRPr lang="en-US" sz="120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3" name="椭圆 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18" name="平行四边形 17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710" y="410210"/>
            <a:ext cx="5563870" cy="579755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kern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功能三：交通流预测问答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-5" y="6617367"/>
            <a:ext cx="12191683" cy="240185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OPPOSans R" pitchFamily="18" charset="-122"/>
              <a:cs typeface="+mn-cs"/>
            </a:endParaRPr>
          </a:p>
        </p:txBody>
      </p:sp>
      <p:sp>
        <p:nvSpPr>
          <p:cNvPr id="21" name="Shape 8"/>
          <p:cNvSpPr/>
          <p:nvPr>
            <p:custDataLst>
              <p:tags r:id="rId2"/>
            </p:custDataLst>
          </p:nvPr>
        </p:nvSpPr>
        <p:spPr>
          <a:xfrm>
            <a:off x="685800" y="1737360"/>
            <a:ext cx="3657600" cy="3931920"/>
          </a:xfrm>
          <a:prstGeom prst="rect">
            <a:avLst/>
          </a:prstGeom>
          <a:solidFill>
            <a:srgbClr val="E4EAF5"/>
          </a:solidFill>
          <a:ln w="12700">
            <a:solidFill>
              <a:srgbClr val="D9CAB8"/>
            </a:solidFill>
            <a:prstDash val="solid"/>
          </a:ln>
        </p:spPr>
      </p:sp>
      <p:sp>
        <p:nvSpPr>
          <p:cNvPr id="24" name="Shape 9"/>
          <p:cNvSpPr/>
          <p:nvPr>
            <p:custDataLst>
              <p:tags r:id="rId3"/>
            </p:custDataLst>
          </p:nvPr>
        </p:nvSpPr>
        <p:spPr>
          <a:xfrm>
            <a:off x="914400" y="2030095"/>
            <a:ext cx="1134110" cy="294640"/>
          </a:xfrm>
          <a:prstGeom prst="roundRect">
            <a:avLst>
              <a:gd name="adj" fmla="val 19231"/>
            </a:avLst>
          </a:prstGeom>
          <a:solidFill>
            <a:srgbClr val="3466B8"/>
          </a:solidFill>
          <a:ln w="12700">
            <a:solidFill>
              <a:srgbClr val="3466B8"/>
            </a:solidFill>
            <a:prstDash val="solid"/>
          </a:ln>
        </p:spPr>
      </p:sp>
      <p:sp>
        <p:nvSpPr>
          <p:cNvPr id="25" name="Text 10"/>
          <p:cNvSpPr/>
          <p:nvPr>
            <p:custDataLst>
              <p:tags r:id="rId4"/>
            </p:custDataLst>
          </p:nvPr>
        </p:nvSpPr>
        <p:spPr>
          <a:xfrm>
            <a:off x="969010" y="2080260"/>
            <a:ext cx="1022985" cy="1866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输入问题</a:t>
            </a:r>
            <a:endParaRPr 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" name="Text 11"/>
          <p:cNvSpPr/>
          <p:nvPr>
            <p:custDataLst>
              <p:tags r:id="rId5"/>
            </p:custDataLst>
          </p:nvPr>
        </p:nvSpPr>
        <p:spPr>
          <a:xfrm>
            <a:off x="932815" y="2432050"/>
            <a:ext cx="3063240" cy="132588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我想知道春熙路未来一小时交通流</a:t>
            </a:r>
            <a:endParaRPr 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天府广场未来 60 分钟车流趋势怎么样？</a:t>
            </a:r>
            <a:endParaRPr lang="en-US" dirty="0">
              <a:solidFill>
                <a:srgbClr val="1B1916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" name="Shape 12"/>
          <p:cNvSpPr/>
          <p:nvPr>
            <p:custDataLst>
              <p:tags r:id="rId6"/>
            </p:custDataLst>
          </p:nvPr>
        </p:nvSpPr>
        <p:spPr>
          <a:xfrm>
            <a:off x="4526280" y="1737360"/>
            <a:ext cx="3108960" cy="3931920"/>
          </a:xfrm>
          <a:prstGeom prst="rect">
            <a:avLst/>
          </a:prstGeom>
          <a:solidFill>
            <a:srgbClr val="FFF9EF"/>
          </a:solidFill>
          <a:ln w="12700">
            <a:solidFill>
              <a:srgbClr val="D9CAB8"/>
            </a:solidFill>
            <a:prstDash val="solid"/>
          </a:ln>
        </p:spPr>
      </p:sp>
      <p:sp>
        <p:nvSpPr>
          <p:cNvPr id="28" name="Shape 13"/>
          <p:cNvSpPr/>
          <p:nvPr>
            <p:custDataLst>
              <p:tags r:id="rId7"/>
            </p:custDataLst>
          </p:nvPr>
        </p:nvSpPr>
        <p:spPr>
          <a:xfrm>
            <a:off x="4754880" y="2030095"/>
            <a:ext cx="993140" cy="294640"/>
          </a:xfrm>
          <a:prstGeom prst="roundRect">
            <a:avLst>
              <a:gd name="adj" fmla="val 19231"/>
            </a:avLst>
          </a:prstGeom>
          <a:solidFill>
            <a:srgbClr val="4B3B8F"/>
          </a:solidFill>
          <a:ln w="12700">
            <a:solidFill>
              <a:srgbClr val="4B3B8F"/>
            </a:solidFill>
            <a:prstDash val="solid"/>
          </a:ln>
        </p:spPr>
      </p:sp>
      <p:sp>
        <p:nvSpPr>
          <p:cNvPr id="33" name="Text 14"/>
          <p:cNvSpPr/>
          <p:nvPr>
            <p:custDataLst>
              <p:tags r:id="rId8"/>
            </p:custDataLst>
          </p:nvPr>
        </p:nvSpPr>
        <p:spPr>
          <a:xfrm>
            <a:off x="4824095" y="2080895"/>
            <a:ext cx="854710" cy="1866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演示映射</a:t>
            </a:r>
            <a:endParaRPr 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4" name="Text 15"/>
          <p:cNvSpPr/>
          <p:nvPr>
            <p:custDataLst>
              <p:tags r:id="rId9"/>
            </p:custDataLst>
          </p:nvPr>
        </p:nvSpPr>
        <p:spPr>
          <a:xfrm>
            <a:off x="4754880" y="2432050"/>
            <a:ext cx="2377440" cy="1896745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成都地点名 → PEMS08 node_id</a:t>
            </a:r>
            <a:endParaRPr 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春熙路 → 12</a:t>
            </a:r>
            <a:endParaRPr 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天府广场 → 0</a:t>
            </a:r>
            <a:endParaRPr 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成都东站 → 24</a:t>
            </a:r>
            <a:endParaRPr 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双流机场 → 48</a:t>
            </a:r>
            <a:endParaRPr lang="en-US" dirty="0">
              <a:solidFill>
                <a:srgbClr val="1B1916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5" name="Shape 16"/>
          <p:cNvSpPr/>
          <p:nvPr>
            <p:custDataLst>
              <p:tags r:id="rId10"/>
            </p:custDataLst>
          </p:nvPr>
        </p:nvSpPr>
        <p:spPr>
          <a:xfrm>
            <a:off x="7818120" y="1737360"/>
            <a:ext cx="3566160" cy="3931920"/>
          </a:xfrm>
          <a:prstGeom prst="rect">
            <a:avLst/>
          </a:prstGeom>
          <a:solidFill>
            <a:srgbClr val="E4F0DC"/>
          </a:solidFill>
          <a:ln w="12700">
            <a:solidFill>
              <a:srgbClr val="D9CAB8"/>
            </a:solidFill>
            <a:prstDash val="solid"/>
          </a:ln>
        </p:spPr>
      </p:sp>
      <p:sp>
        <p:nvSpPr>
          <p:cNvPr id="36" name="Shape 17"/>
          <p:cNvSpPr/>
          <p:nvPr>
            <p:custDataLst>
              <p:tags r:id="rId11"/>
            </p:custDataLst>
          </p:nvPr>
        </p:nvSpPr>
        <p:spPr>
          <a:xfrm>
            <a:off x="8046720" y="2030095"/>
            <a:ext cx="1134110" cy="294640"/>
          </a:xfrm>
          <a:prstGeom prst="roundRect">
            <a:avLst>
              <a:gd name="adj" fmla="val 19231"/>
            </a:avLst>
          </a:prstGeom>
          <a:solidFill>
            <a:srgbClr val="1C9A62"/>
          </a:solidFill>
          <a:ln w="12700">
            <a:solidFill>
              <a:srgbClr val="1C9A62"/>
            </a:solidFill>
            <a:prstDash val="solid"/>
          </a:ln>
        </p:spPr>
      </p:sp>
      <p:sp>
        <p:nvSpPr>
          <p:cNvPr id="37" name="Text 18"/>
          <p:cNvSpPr/>
          <p:nvPr>
            <p:custDataLst>
              <p:tags r:id="rId12"/>
            </p:custDataLst>
          </p:nvPr>
        </p:nvSpPr>
        <p:spPr>
          <a:xfrm>
            <a:off x="8101330" y="2080260"/>
            <a:ext cx="1010285" cy="1860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输出内容</a:t>
            </a:r>
            <a:endParaRPr 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8" name="Text 19"/>
          <p:cNvSpPr/>
          <p:nvPr>
            <p:custDataLst>
              <p:tags r:id="rId13"/>
            </p:custDataLst>
          </p:nvPr>
        </p:nvSpPr>
        <p:spPr>
          <a:xfrm>
            <a:off x="8046720" y="2432050"/>
            <a:ext cx="2743200" cy="1795145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未来 60 分钟预测值</a:t>
            </a:r>
            <a:endParaRPr 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趋势折线图</a:t>
            </a:r>
            <a:endParaRPr 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节点与地点说明</a:t>
            </a:r>
            <a:endParaRPr 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“模拟映射，不是真实成都传感器数据”提示</a:t>
            </a:r>
            <a:endParaRPr lang="en-US" dirty="0">
              <a:solidFill>
                <a:srgbClr val="1B1916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9" name="Shape 20"/>
          <p:cNvSpPr/>
          <p:nvPr>
            <p:custDataLst>
              <p:tags r:id="rId14"/>
            </p:custDataLst>
          </p:nvPr>
        </p:nvSpPr>
        <p:spPr>
          <a:xfrm>
            <a:off x="8183880" y="4754880"/>
            <a:ext cx="2560320" cy="0"/>
          </a:xfrm>
          <a:prstGeom prst="line">
            <a:avLst/>
          </a:prstGeom>
          <a:noFill/>
          <a:ln w="12700">
            <a:solidFill>
              <a:srgbClr val="D9CAB8"/>
            </a:solidFill>
            <a:prstDash val="solid"/>
          </a:ln>
        </p:spPr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3" name="椭圆 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18" name="平行四边形 17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710" y="410210"/>
            <a:ext cx="5563870" cy="579755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kern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功能四：交通标志图片识别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-5" y="6617367"/>
            <a:ext cx="12191683" cy="240185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OPPOSans R" pitchFamily="18" charset="-122"/>
              <a:cs typeface="+mn-cs"/>
            </a:endParaRPr>
          </a:p>
        </p:txBody>
      </p:sp>
      <p:sp>
        <p:nvSpPr>
          <p:cNvPr id="22" name="Shape 8"/>
          <p:cNvSpPr/>
          <p:nvPr/>
        </p:nvSpPr>
        <p:spPr>
          <a:xfrm>
            <a:off x="685800" y="1600200"/>
            <a:ext cx="2926080" cy="3566160"/>
          </a:xfrm>
          <a:prstGeom prst="rect">
            <a:avLst/>
          </a:prstGeom>
          <a:solidFill>
            <a:srgbClr val="FFF0CA"/>
          </a:solidFill>
          <a:ln w="12700">
            <a:solidFill>
              <a:srgbClr val="D9CAB8"/>
            </a:solidFill>
            <a:prstDash val="solid"/>
          </a:ln>
        </p:spPr>
      </p:sp>
      <p:sp>
        <p:nvSpPr>
          <p:cNvPr id="29" name="Shape 9"/>
          <p:cNvSpPr/>
          <p:nvPr/>
        </p:nvSpPr>
        <p:spPr>
          <a:xfrm>
            <a:off x="914400" y="1883410"/>
            <a:ext cx="1203960" cy="316865"/>
          </a:xfrm>
          <a:prstGeom prst="roundRect">
            <a:avLst>
              <a:gd name="adj" fmla="val 19231"/>
            </a:avLst>
          </a:prstGeom>
          <a:solidFill>
            <a:srgbClr val="E5A931"/>
          </a:solidFill>
          <a:ln w="12700">
            <a:solidFill>
              <a:srgbClr val="E5A931"/>
            </a:solidFill>
            <a:prstDash val="solid"/>
          </a:ln>
        </p:spPr>
      </p:sp>
      <p:sp>
        <p:nvSpPr>
          <p:cNvPr id="30" name="Text 10"/>
          <p:cNvSpPr/>
          <p:nvPr/>
        </p:nvSpPr>
        <p:spPr>
          <a:xfrm>
            <a:off x="1068705" y="1955165"/>
            <a:ext cx="895985" cy="1866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上传图片</a:t>
            </a:r>
            <a:endParaRPr 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1" name="Text 11"/>
          <p:cNvSpPr/>
          <p:nvPr/>
        </p:nvSpPr>
        <p:spPr>
          <a:xfrm>
            <a:off x="914400" y="2286000"/>
            <a:ext cx="2331720" cy="2127885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前端上传图片到 /api/ask/image</a:t>
            </a:r>
            <a:endParaRPr 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无需再输入问题，自动使用：</a:t>
            </a:r>
            <a:endParaRPr 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“我的图片中的是什么交通标志？”</a:t>
            </a:r>
            <a:endParaRPr lang="en-US" dirty="0">
              <a:solidFill>
                <a:srgbClr val="1B1916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" name="Shape 12"/>
          <p:cNvSpPr/>
          <p:nvPr/>
        </p:nvSpPr>
        <p:spPr>
          <a:xfrm>
            <a:off x="3886200" y="1600200"/>
            <a:ext cx="3291840" cy="3566160"/>
          </a:xfrm>
          <a:prstGeom prst="rect">
            <a:avLst/>
          </a:prstGeom>
          <a:solidFill>
            <a:srgbClr val="F2E0D8"/>
          </a:solidFill>
          <a:ln w="12700">
            <a:solidFill>
              <a:srgbClr val="D9CAB8"/>
            </a:solidFill>
            <a:prstDash val="solid"/>
          </a:ln>
        </p:spPr>
      </p:sp>
      <p:sp>
        <p:nvSpPr>
          <p:cNvPr id="42" name="Text 15"/>
          <p:cNvSpPr/>
          <p:nvPr/>
        </p:nvSpPr>
        <p:spPr>
          <a:xfrm>
            <a:off x="4114800" y="2286000"/>
            <a:ext cx="2697480" cy="2127885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后端保存到 artifacts</a:t>
            </a:r>
            <a:endParaRPr 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调用大作业2模型权重</a:t>
            </a:r>
            <a:endParaRPr 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输出类别、置信度、边界框</a:t>
            </a:r>
            <a:endParaRPr 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生成标注图</a:t>
            </a:r>
            <a:endParaRPr lang="en-US" dirty="0">
              <a:solidFill>
                <a:srgbClr val="1B1916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3" name="Shape 16"/>
          <p:cNvSpPr/>
          <p:nvPr/>
        </p:nvSpPr>
        <p:spPr>
          <a:xfrm>
            <a:off x="7452360" y="1600200"/>
            <a:ext cx="3886200" cy="3566160"/>
          </a:xfrm>
          <a:prstGeom prst="rect">
            <a:avLst/>
          </a:prstGeom>
          <a:solidFill>
            <a:srgbClr val="FFF9EF"/>
          </a:solidFill>
          <a:ln w="12700">
            <a:solidFill>
              <a:srgbClr val="D9CAB8"/>
            </a:solidFill>
            <a:prstDash val="solid"/>
          </a:ln>
        </p:spPr>
      </p:sp>
      <p:sp>
        <p:nvSpPr>
          <p:cNvPr id="44" name="Shape 17"/>
          <p:cNvSpPr/>
          <p:nvPr/>
        </p:nvSpPr>
        <p:spPr>
          <a:xfrm>
            <a:off x="7680960" y="1883410"/>
            <a:ext cx="1169670" cy="316865"/>
          </a:xfrm>
          <a:prstGeom prst="roundRect">
            <a:avLst>
              <a:gd name="adj" fmla="val 19231"/>
            </a:avLst>
          </a:prstGeom>
          <a:solidFill>
            <a:srgbClr val="4B3B8F"/>
          </a:solidFill>
          <a:ln w="12700">
            <a:solidFill>
              <a:srgbClr val="4B3B8F"/>
            </a:solidFill>
            <a:prstDash val="solid"/>
          </a:ln>
        </p:spPr>
      </p:sp>
      <p:sp>
        <p:nvSpPr>
          <p:cNvPr id="45" name="Text 18"/>
          <p:cNvSpPr/>
          <p:nvPr/>
        </p:nvSpPr>
        <p:spPr>
          <a:xfrm>
            <a:off x="7794625" y="1934210"/>
            <a:ext cx="94234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大模型解释</a:t>
            </a:r>
            <a:endParaRPr 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6" name="Text 19"/>
          <p:cNvSpPr/>
          <p:nvPr/>
        </p:nvSpPr>
        <p:spPr>
          <a:xfrm>
            <a:off x="7680960" y="2286000"/>
            <a:ext cx="3063240" cy="2127885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检测结果作为证据输入大模型</a:t>
            </a:r>
            <a:endParaRPr 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回答标志含义、驾驶注意事项与场景解释</a:t>
            </a:r>
            <a:endParaRPr 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右侧同步展示标注图和识别结果</a:t>
            </a:r>
            <a:endParaRPr lang="en-US" dirty="0">
              <a:solidFill>
                <a:srgbClr val="1B191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" name="Shape 17"/>
          <p:cNvSpPr/>
          <p:nvPr>
            <p:custDataLst>
              <p:tags r:id="rId2"/>
            </p:custDataLst>
          </p:nvPr>
        </p:nvSpPr>
        <p:spPr>
          <a:xfrm>
            <a:off x="4121150" y="1883410"/>
            <a:ext cx="1158875" cy="316865"/>
          </a:xfrm>
          <a:prstGeom prst="roundRect">
            <a:avLst>
              <a:gd name="adj" fmla="val 19231"/>
            </a:avLst>
          </a:prstGeom>
          <a:solidFill>
            <a:srgbClr val="C9332C"/>
          </a:solidFill>
          <a:ln w="12700">
            <a:solidFill>
              <a:srgbClr val="C9332C"/>
            </a:solidFill>
            <a:prstDash val="solid"/>
          </a:ln>
        </p:spPr>
      </p:sp>
      <p:sp>
        <p:nvSpPr>
          <p:cNvPr id="41" name="Text 14"/>
          <p:cNvSpPr/>
          <p:nvPr/>
        </p:nvSpPr>
        <p:spPr>
          <a:xfrm>
            <a:off x="4299585" y="1955165"/>
            <a:ext cx="802005" cy="1593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YOLO 推理</a:t>
            </a:r>
            <a:endParaRPr lang="en-US" sz="1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alphaModFix amt="95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r="44004" b="49240"/>
          <a:stretch>
            <a:fillRect/>
          </a:stretch>
        </p:blipFill>
        <p:spPr>
          <a:xfrm flipV="1">
            <a:off x="1" y="-7"/>
            <a:ext cx="12191998" cy="3747395"/>
          </a:xfrm>
          <a:custGeom>
            <a:avLst/>
            <a:gdLst>
              <a:gd name="connsiteX0" fmla="*/ 0 w 12192000"/>
              <a:gd name="connsiteY0" fmla="*/ 2558508 h 2558508"/>
              <a:gd name="connsiteX1" fmla="*/ 12192000 w 12192000"/>
              <a:gd name="connsiteY1" fmla="*/ 2558508 h 2558508"/>
              <a:gd name="connsiteX2" fmla="*/ 12192000 w 12192000"/>
              <a:gd name="connsiteY2" fmla="*/ 0 h 2558508"/>
              <a:gd name="connsiteX3" fmla="*/ 0 w 12192000"/>
              <a:gd name="connsiteY3" fmla="*/ 0 h 2558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558508">
                <a:moveTo>
                  <a:pt x="0" y="2558508"/>
                </a:moveTo>
                <a:lnTo>
                  <a:pt x="12192000" y="2558508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0" y="0"/>
            <a:ext cx="4732986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3163" y="0"/>
            <a:ext cx="4763194" cy="6858000"/>
          </a:xfrm>
          <a:prstGeom prst="rect">
            <a:avLst/>
          </a:prstGeom>
          <a:gradFill>
            <a:gsLst>
              <a:gs pos="0">
                <a:srgbClr val="0070C0">
                  <a:alpha val="72135"/>
                </a:srgbClr>
              </a:gs>
              <a:gs pos="100000">
                <a:srgbClr val="3354B5">
                  <a:alpha val="80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2712949" y="1396538"/>
            <a:ext cx="8117345" cy="4064924"/>
          </a:xfrm>
          <a:custGeom>
            <a:avLst/>
            <a:gdLst>
              <a:gd name="connsiteX0" fmla="*/ 6890674 w 7586519"/>
              <a:gd name="connsiteY0" fmla="*/ 0 h 4064924"/>
              <a:gd name="connsiteX1" fmla="*/ 7446523 w 7586519"/>
              <a:gd name="connsiteY1" fmla="*/ 0 h 4064924"/>
              <a:gd name="connsiteX2" fmla="*/ 7586519 w 7586519"/>
              <a:gd name="connsiteY2" fmla="*/ 139996 h 4064924"/>
              <a:gd name="connsiteX3" fmla="*/ 7586519 w 7586519"/>
              <a:gd name="connsiteY3" fmla="*/ 705494 h 4064924"/>
              <a:gd name="connsiteX4" fmla="*/ 7484758 w 7586519"/>
              <a:gd name="connsiteY4" fmla="*/ 715752 h 4064924"/>
              <a:gd name="connsiteX5" fmla="*/ 6879532 w 7586519"/>
              <a:gd name="connsiteY5" fmla="*/ 110526 h 4064924"/>
              <a:gd name="connsiteX6" fmla="*/ 139996 w 7586519"/>
              <a:gd name="connsiteY6" fmla="*/ 0 h 4064924"/>
              <a:gd name="connsiteX7" fmla="*/ 6651650 w 7586519"/>
              <a:gd name="connsiteY7" fmla="*/ 0 h 4064924"/>
              <a:gd name="connsiteX8" fmla="*/ 6640508 w 7586519"/>
              <a:gd name="connsiteY8" fmla="*/ 110526 h 4064924"/>
              <a:gd name="connsiteX9" fmla="*/ 7484758 w 7586519"/>
              <a:gd name="connsiteY9" fmla="*/ 954776 h 4064924"/>
              <a:gd name="connsiteX10" fmla="*/ 7571078 w 7586519"/>
              <a:gd name="connsiteY10" fmla="*/ 950417 h 4064924"/>
              <a:gd name="connsiteX11" fmla="*/ 7586519 w 7586519"/>
              <a:gd name="connsiteY11" fmla="*/ 948061 h 4064924"/>
              <a:gd name="connsiteX12" fmla="*/ 7586519 w 7586519"/>
              <a:gd name="connsiteY12" fmla="*/ 3924928 h 4064924"/>
              <a:gd name="connsiteX13" fmla="*/ 7446523 w 7586519"/>
              <a:gd name="connsiteY13" fmla="*/ 4064924 h 4064924"/>
              <a:gd name="connsiteX14" fmla="*/ 139996 w 7586519"/>
              <a:gd name="connsiteY14" fmla="*/ 4064924 h 4064924"/>
              <a:gd name="connsiteX15" fmla="*/ 0 w 7586519"/>
              <a:gd name="connsiteY15" fmla="*/ 3924928 h 4064924"/>
              <a:gd name="connsiteX16" fmla="*/ 0 w 7586519"/>
              <a:gd name="connsiteY16" fmla="*/ 139996 h 4064924"/>
              <a:gd name="connsiteX17" fmla="*/ 139996 w 7586519"/>
              <a:gd name="connsiteY17" fmla="*/ 0 h 4064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586519" h="4064924">
                <a:moveTo>
                  <a:pt x="6890674" y="0"/>
                </a:moveTo>
                <a:lnTo>
                  <a:pt x="7446523" y="0"/>
                </a:lnTo>
                <a:cubicBezTo>
                  <a:pt x="7523841" y="0"/>
                  <a:pt x="7586519" y="62678"/>
                  <a:pt x="7586519" y="139996"/>
                </a:cubicBezTo>
                <a:lnTo>
                  <a:pt x="7586519" y="705494"/>
                </a:lnTo>
                <a:lnTo>
                  <a:pt x="7484758" y="715752"/>
                </a:lnTo>
                <a:cubicBezTo>
                  <a:pt x="7150501" y="715752"/>
                  <a:pt x="6879532" y="444783"/>
                  <a:pt x="6879532" y="110526"/>
                </a:cubicBezTo>
                <a:close/>
                <a:moveTo>
                  <a:pt x="139996" y="0"/>
                </a:moveTo>
                <a:lnTo>
                  <a:pt x="6651650" y="0"/>
                </a:lnTo>
                <a:lnTo>
                  <a:pt x="6640508" y="110526"/>
                </a:lnTo>
                <a:cubicBezTo>
                  <a:pt x="6640508" y="576792"/>
                  <a:pt x="7018492" y="954776"/>
                  <a:pt x="7484758" y="954776"/>
                </a:cubicBezTo>
                <a:cubicBezTo>
                  <a:pt x="7513900" y="954776"/>
                  <a:pt x="7542696" y="953300"/>
                  <a:pt x="7571078" y="950417"/>
                </a:cubicBezTo>
                <a:lnTo>
                  <a:pt x="7586519" y="948061"/>
                </a:lnTo>
                <a:lnTo>
                  <a:pt x="7586519" y="3924928"/>
                </a:lnTo>
                <a:cubicBezTo>
                  <a:pt x="7586519" y="4002246"/>
                  <a:pt x="7523841" y="4064924"/>
                  <a:pt x="7446523" y="4064924"/>
                </a:cubicBezTo>
                <a:lnTo>
                  <a:pt x="139996" y="4064924"/>
                </a:lnTo>
                <a:cubicBezTo>
                  <a:pt x="62678" y="4064924"/>
                  <a:pt x="0" y="4002246"/>
                  <a:pt x="0" y="3924928"/>
                </a:cubicBezTo>
                <a:lnTo>
                  <a:pt x="0" y="139996"/>
                </a:lnTo>
                <a:cubicBezTo>
                  <a:pt x="0" y="62678"/>
                  <a:pt x="62678" y="0"/>
                  <a:pt x="1399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17500" dist="127000" dir="2700000" algn="tl" rotWithShape="0">
              <a:srgbClr val="0064D8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1204493" y="1396538"/>
            <a:ext cx="677108" cy="4064924"/>
            <a:chOff x="26301" y="1138131"/>
            <a:chExt cx="677108" cy="4064924"/>
          </a:xfrm>
        </p:grpSpPr>
        <p:sp>
          <p:nvSpPr>
            <p:cNvPr id="10" name="文本框 9"/>
            <p:cNvSpPr txBox="1"/>
            <p:nvPr/>
          </p:nvSpPr>
          <p:spPr>
            <a:xfrm>
              <a:off x="26301" y="1138131"/>
              <a:ext cx="677108" cy="287805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>
                  <a:solidFill>
                    <a:srgbClr val="0E6BC9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SOUTHWEST JIAOTONG UNIVERSITY</a:t>
              </a:r>
              <a:endParaRPr lang="zh-CN" altLang="en-US" sz="1600" dirty="0">
                <a:solidFill>
                  <a:srgbClr val="0E6BC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482600" y="3845518"/>
              <a:ext cx="0" cy="1357537"/>
            </a:xfrm>
            <a:prstGeom prst="line">
              <a:avLst/>
            </a:prstGeom>
            <a:ln w="12700">
              <a:solidFill>
                <a:srgbClr val="316AE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>
            <a:off x="3397184" y="1550560"/>
            <a:ext cx="6355080" cy="2345475"/>
            <a:chOff x="497375" y="1211712"/>
            <a:chExt cx="6355080" cy="2345475"/>
          </a:xfrm>
        </p:grpSpPr>
        <p:sp>
          <p:nvSpPr>
            <p:cNvPr id="6" name="文本框 5"/>
            <p:cNvSpPr txBox="1"/>
            <p:nvPr/>
          </p:nvSpPr>
          <p:spPr>
            <a:xfrm>
              <a:off x="497375" y="2635167"/>
              <a:ext cx="6355080" cy="922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800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308FF0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演示效果与系统验证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308FF0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22775" y="1211712"/>
              <a:ext cx="1441420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2000">
                        <a:srgbClr val="0655D3"/>
                      </a:gs>
                      <a:gs pos="86000">
                        <a:srgbClr val="0655D3">
                          <a:alpha val="0"/>
                        </a:srgb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" panose="020B0604020202020204" pitchFamily="34" charset="0"/>
                  <a:ea typeface="OPPOSans B"/>
                  <a:cs typeface="Arial" panose="020B0604020202020204" pitchFamily="34" charset="0"/>
                </a:rPr>
                <a:t>04</a:t>
              </a:r>
              <a:endPara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2000">
                      <a:srgbClr val="0655D3"/>
                    </a:gs>
                    <a:gs pos="86000">
                      <a:srgbClr val="0655D3">
                        <a:alpha val="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Arial" panose="020B0604020202020204" pitchFamily="34" charset="0"/>
                <a:ea typeface="OPPOSans B"/>
                <a:cs typeface="Arial" panose="020B0604020202020204" pitchFamily="34" charset="0"/>
              </a:endParaRPr>
            </a:p>
          </p:txBody>
        </p:sp>
      </p:grpSp>
      <p:cxnSp>
        <p:nvCxnSpPr>
          <p:cNvPr id="22" name="直线连接符 21"/>
          <p:cNvCxnSpPr/>
          <p:nvPr/>
        </p:nvCxnSpPr>
        <p:spPr>
          <a:xfrm>
            <a:off x="3508081" y="4676038"/>
            <a:ext cx="1251950" cy="6730"/>
          </a:xfrm>
          <a:prstGeom prst="line">
            <a:avLst/>
          </a:prstGeom>
          <a:ln w="28575">
            <a:solidFill>
              <a:srgbClr val="0E6B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10509108" y="6325674"/>
            <a:ext cx="132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447096A-5CB9-A449-9521-AD82728A312D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422650" y="3961130"/>
            <a:ext cx="63296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746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围绕路线、RAG、预测、识别四类典型用例验证系统可用性</a:t>
            </a:r>
            <a:endParaRPr kumimoji="0" lang="zh-CN" altLang="en-US" sz="1800" u="none" strike="noStrike" kern="1200" cap="none" spc="0" normalizeH="0" baseline="0" noProof="0" dirty="0">
              <a:ln>
                <a:noFill/>
              </a:ln>
              <a:solidFill>
                <a:srgbClr val="7E7E7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3" name="椭圆 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18" name="平行四边形 17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710" y="410210"/>
            <a:ext cx="4612005" cy="579755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系统界面与路线规划演示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-5" y="6617367"/>
            <a:ext cx="12191683" cy="240185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OPPOSans R" pitchFamily="18" charset="-122"/>
              <a:cs typeface="+mn-cs"/>
            </a:endParaRPr>
          </a:p>
        </p:txBody>
      </p:sp>
      <p:sp>
        <p:nvSpPr>
          <p:cNvPr id="22" name="Shape 8"/>
          <p:cNvSpPr/>
          <p:nvPr/>
        </p:nvSpPr>
        <p:spPr>
          <a:xfrm>
            <a:off x="7726680" y="1810512"/>
            <a:ext cx="3703320" cy="3977640"/>
          </a:xfrm>
          <a:prstGeom prst="rect">
            <a:avLst/>
          </a:prstGeom>
          <a:solidFill>
            <a:srgbClr val="FFF9EF"/>
          </a:solidFill>
          <a:ln w="12700">
            <a:solidFill>
              <a:srgbClr val="D9CAB8"/>
            </a:solidFill>
            <a:prstDash val="solid"/>
          </a:ln>
        </p:spPr>
      </p:sp>
      <p:sp>
        <p:nvSpPr>
          <p:cNvPr id="31" name="Text 11"/>
          <p:cNvSpPr/>
          <p:nvPr/>
        </p:nvSpPr>
        <p:spPr>
          <a:xfrm>
            <a:off x="7955280" y="2606040"/>
            <a:ext cx="3108960" cy="16459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• 支持多轮路线规划问题</a:t>
            </a:r>
            <a:endParaRPr 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• 地图与文本回答同步更新</a:t>
            </a:r>
            <a:endParaRPr 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• 右侧显示距离、预计耗时、路线摘要和主要导航步骤</a:t>
            </a:r>
            <a:endParaRPr 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• 页面保持本地模式与 Dify 模式一致体验</a:t>
            </a:r>
            <a:endParaRPr 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2" name="图片 31" descr="06F0D286715F7912F572860FE0C8E98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2084705"/>
            <a:ext cx="7015480" cy="3378835"/>
          </a:xfrm>
          <a:prstGeom prst="rect">
            <a:avLst/>
          </a:prstGeom>
        </p:spPr>
      </p:pic>
      <p:sp>
        <p:nvSpPr>
          <p:cNvPr id="51" name="Shape 17"/>
          <p:cNvSpPr/>
          <p:nvPr>
            <p:custDataLst>
              <p:tags r:id="rId3"/>
            </p:custDataLst>
          </p:nvPr>
        </p:nvSpPr>
        <p:spPr>
          <a:xfrm>
            <a:off x="7955280" y="2062480"/>
            <a:ext cx="1158875" cy="316865"/>
          </a:xfrm>
          <a:prstGeom prst="roundRect">
            <a:avLst>
              <a:gd name="adj" fmla="val 19231"/>
            </a:avLst>
          </a:prstGeom>
          <a:solidFill>
            <a:srgbClr val="C9332C"/>
          </a:solidFill>
          <a:ln w="12700">
            <a:solidFill>
              <a:srgbClr val="C9332C"/>
            </a:solidFill>
            <a:prstDash val="solid"/>
          </a:ln>
        </p:spPr>
      </p:sp>
      <p:sp>
        <p:nvSpPr>
          <p:cNvPr id="30" name="Text 10"/>
          <p:cNvSpPr/>
          <p:nvPr/>
        </p:nvSpPr>
        <p:spPr>
          <a:xfrm>
            <a:off x="8083550" y="2145665"/>
            <a:ext cx="901700" cy="1498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演示亮点</a:t>
            </a:r>
            <a:endParaRPr 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3" name="椭圆 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18" name="平行四边形 17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710" y="410210"/>
            <a:ext cx="4612005" cy="579755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典型演示用例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-5" y="6617367"/>
            <a:ext cx="12191683" cy="240185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OPPOSans R" pitchFamily="18" charset="-122"/>
              <a:cs typeface="+mn-cs"/>
            </a:endParaRPr>
          </a:p>
        </p:txBody>
      </p:sp>
      <p:sp>
        <p:nvSpPr>
          <p:cNvPr id="21" name="Shape 8"/>
          <p:cNvSpPr/>
          <p:nvPr/>
        </p:nvSpPr>
        <p:spPr>
          <a:xfrm>
            <a:off x="868680" y="1691640"/>
            <a:ext cx="1143000" cy="282575"/>
          </a:xfrm>
          <a:prstGeom prst="roundRect">
            <a:avLst>
              <a:gd name="adj" fmla="val 19231"/>
            </a:avLst>
          </a:prstGeom>
          <a:solidFill>
            <a:srgbClr val="C9332C"/>
          </a:solidFill>
          <a:ln w="12700">
            <a:solidFill>
              <a:srgbClr val="C9332C"/>
            </a:solidFill>
            <a:prstDash val="solid"/>
          </a:ln>
        </p:spPr>
      </p:sp>
      <p:sp>
        <p:nvSpPr>
          <p:cNvPr id="24" name="Text 9"/>
          <p:cNvSpPr/>
          <p:nvPr/>
        </p:nvSpPr>
        <p:spPr>
          <a:xfrm>
            <a:off x="923925" y="1725930"/>
            <a:ext cx="1033145" cy="1911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路线规划</a:t>
            </a:r>
            <a:endParaRPr 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Text 10"/>
          <p:cNvSpPr/>
          <p:nvPr/>
        </p:nvSpPr>
        <p:spPr>
          <a:xfrm>
            <a:off x="2286000" y="1691640"/>
            <a:ext cx="384048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我从天府广场到春熙路怎么走？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" name="Text 11"/>
          <p:cNvSpPr/>
          <p:nvPr/>
        </p:nvSpPr>
        <p:spPr>
          <a:xfrm>
            <a:off x="6629400" y="1654175"/>
            <a:ext cx="411480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746D6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地图路线、距离、耗时、步骤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" name="Shape 12"/>
          <p:cNvSpPr/>
          <p:nvPr/>
        </p:nvSpPr>
        <p:spPr>
          <a:xfrm>
            <a:off x="868680" y="2514600"/>
            <a:ext cx="1143000" cy="275590"/>
          </a:xfrm>
          <a:prstGeom prst="roundRect">
            <a:avLst>
              <a:gd name="adj" fmla="val 19231"/>
            </a:avLst>
          </a:prstGeom>
          <a:solidFill>
            <a:srgbClr val="1C9A62"/>
          </a:solidFill>
          <a:ln w="12700">
            <a:solidFill>
              <a:srgbClr val="1C9A62"/>
            </a:solidFill>
            <a:prstDash val="solid"/>
          </a:ln>
        </p:spPr>
      </p:sp>
      <p:sp>
        <p:nvSpPr>
          <p:cNvPr id="28" name="Text 13"/>
          <p:cNvSpPr/>
          <p:nvPr/>
        </p:nvSpPr>
        <p:spPr>
          <a:xfrm>
            <a:off x="923290" y="2564765"/>
            <a:ext cx="1033145" cy="1866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RAG 问答</a:t>
            </a:r>
            <a:endParaRPr lang="en-US" sz="1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" name="Text 14"/>
          <p:cNvSpPr/>
          <p:nvPr/>
        </p:nvSpPr>
        <p:spPr>
          <a:xfrm>
            <a:off x="2286000" y="2514600"/>
            <a:ext cx="384048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下雨天开车要注意什么？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4" name="Text 15"/>
          <p:cNvSpPr/>
          <p:nvPr/>
        </p:nvSpPr>
        <p:spPr>
          <a:xfrm>
            <a:off x="6629400" y="2477135"/>
            <a:ext cx="411480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746D6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知识库片段 + 知乎补充</a:t>
            </a:r>
            <a:endParaRPr 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5" name="Shape 16"/>
          <p:cNvSpPr/>
          <p:nvPr/>
        </p:nvSpPr>
        <p:spPr>
          <a:xfrm>
            <a:off x="868680" y="3337560"/>
            <a:ext cx="1143000" cy="274320"/>
          </a:xfrm>
          <a:prstGeom prst="roundRect">
            <a:avLst>
              <a:gd name="adj" fmla="val 19231"/>
            </a:avLst>
          </a:prstGeom>
          <a:solidFill>
            <a:srgbClr val="4B3B8F"/>
          </a:solidFill>
          <a:ln w="12700">
            <a:solidFill>
              <a:srgbClr val="4B3B8F"/>
            </a:solidFill>
            <a:prstDash val="solid"/>
          </a:ln>
        </p:spPr>
      </p:sp>
      <p:sp>
        <p:nvSpPr>
          <p:cNvPr id="36" name="Text 17"/>
          <p:cNvSpPr/>
          <p:nvPr/>
        </p:nvSpPr>
        <p:spPr>
          <a:xfrm>
            <a:off x="923290" y="3387725"/>
            <a:ext cx="1033145" cy="1746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时效性政策</a:t>
            </a:r>
            <a:endParaRPr lang="en-US" sz="120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7" name="Text 18"/>
          <p:cNvSpPr/>
          <p:nvPr/>
        </p:nvSpPr>
        <p:spPr>
          <a:xfrm>
            <a:off x="2286000" y="3337560"/>
            <a:ext cx="384048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成都尾号限行怎么规定？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8" name="Text 19"/>
          <p:cNvSpPr/>
          <p:nvPr/>
        </p:nvSpPr>
        <p:spPr>
          <a:xfrm>
            <a:off x="6629400" y="3300095"/>
            <a:ext cx="411480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746D6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提示官方发布优先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9" name="Shape 20"/>
          <p:cNvSpPr/>
          <p:nvPr/>
        </p:nvSpPr>
        <p:spPr>
          <a:xfrm>
            <a:off x="868680" y="4160520"/>
            <a:ext cx="1143000" cy="275590"/>
          </a:xfrm>
          <a:prstGeom prst="roundRect">
            <a:avLst>
              <a:gd name="adj" fmla="val 19231"/>
            </a:avLst>
          </a:prstGeom>
          <a:solidFill>
            <a:srgbClr val="3466B8"/>
          </a:solidFill>
          <a:ln w="12700">
            <a:solidFill>
              <a:srgbClr val="3466B8"/>
            </a:solidFill>
            <a:prstDash val="solid"/>
          </a:ln>
        </p:spPr>
      </p:sp>
      <p:sp>
        <p:nvSpPr>
          <p:cNvPr id="40" name="Text 21"/>
          <p:cNvSpPr/>
          <p:nvPr/>
        </p:nvSpPr>
        <p:spPr>
          <a:xfrm>
            <a:off x="923290" y="4210685"/>
            <a:ext cx="1033145" cy="168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交通流预测</a:t>
            </a:r>
            <a:endParaRPr lang="en-US" sz="120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1" name="Text 22"/>
          <p:cNvSpPr/>
          <p:nvPr/>
        </p:nvSpPr>
        <p:spPr>
          <a:xfrm>
            <a:off x="2286000" y="4160520"/>
            <a:ext cx="384048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我想知道春熙路未来一小时交通流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2" name="Text 23"/>
          <p:cNvSpPr/>
          <p:nvPr/>
        </p:nvSpPr>
        <p:spPr>
          <a:xfrm>
            <a:off x="6629400" y="4123055"/>
            <a:ext cx="411480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746D6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node_id + 折线趋势</a:t>
            </a:r>
            <a:endParaRPr 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3" name="Shape 24"/>
          <p:cNvSpPr/>
          <p:nvPr/>
        </p:nvSpPr>
        <p:spPr>
          <a:xfrm>
            <a:off x="868680" y="4983480"/>
            <a:ext cx="1143000" cy="278130"/>
          </a:xfrm>
          <a:prstGeom prst="roundRect">
            <a:avLst>
              <a:gd name="adj" fmla="val 19231"/>
            </a:avLst>
          </a:prstGeom>
          <a:solidFill>
            <a:srgbClr val="E5A931"/>
          </a:solidFill>
          <a:ln w="12700">
            <a:solidFill>
              <a:srgbClr val="E5A931"/>
            </a:solidFill>
            <a:prstDash val="solid"/>
          </a:ln>
        </p:spPr>
      </p:sp>
      <p:sp>
        <p:nvSpPr>
          <p:cNvPr id="44" name="Text 25"/>
          <p:cNvSpPr/>
          <p:nvPr/>
        </p:nvSpPr>
        <p:spPr>
          <a:xfrm>
            <a:off x="923290" y="5033645"/>
            <a:ext cx="1033145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图片识别</a:t>
            </a:r>
            <a:endParaRPr lang="en-US" sz="120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5" name="Text 26"/>
          <p:cNvSpPr/>
          <p:nvPr/>
        </p:nvSpPr>
        <p:spPr>
          <a:xfrm>
            <a:off x="2286000" y="4983480"/>
            <a:ext cx="384048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上传交通标志图片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6" name="Text 27"/>
          <p:cNvSpPr/>
          <p:nvPr/>
        </p:nvSpPr>
        <p:spPr>
          <a:xfrm>
            <a:off x="6629400" y="4946015"/>
            <a:ext cx="4114800" cy="320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746D6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YOLO 标注图 + 类别解释</a:t>
            </a:r>
            <a:endParaRPr 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alphaModFix amt="95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r="44004" b="49240"/>
          <a:stretch>
            <a:fillRect/>
          </a:stretch>
        </p:blipFill>
        <p:spPr>
          <a:xfrm flipV="1">
            <a:off x="1" y="-7"/>
            <a:ext cx="12191998" cy="3747395"/>
          </a:xfrm>
          <a:custGeom>
            <a:avLst/>
            <a:gdLst>
              <a:gd name="connsiteX0" fmla="*/ 0 w 12192000"/>
              <a:gd name="connsiteY0" fmla="*/ 2558508 h 2558508"/>
              <a:gd name="connsiteX1" fmla="*/ 12192000 w 12192000"/>
              <a:gd name="connsiteY1" fmla="*/ 2558508 h 2558508"/>
              <a:gd name="connsiteX2" fmla="*/ 12192000 w 12192000"/>
              <a:gd name="connsiteY2" fmla="*/ 0 h 2558508"/>
              <a:gd name="connsiteX3" fmla="*/ 0 w 12192000"/>
              <a:gd name="connsiteY3" fmla="*/ 0 h 2558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558508">
                <a:moveTo>
                  <a:pt x="0" y="2558508"/>
                </a:moveTo>
                <a:lnTo>
                  <a:pt x="12192000" y="2558508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0" y="0"/>
            <a:ext cx="4732986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3163" y="0"/>
            <a:ext cx="4763194" cy="6858000"/>
          </a:xfrm>
          <a:prstGeom prst="rect">
            <a:avLst/>
          </a:prstGeom>
          <a:gradFill>
            <a:gsLst>
              <a:gs pos="0">
                <a:srgbClr val="0070C0">
                  <a:alpha val="72135"/>
                </a:srgbClr>
              </a:gs>
              <a:gs pos="100000">
                <a:srgbClr val="3354B5">
                  <a:alpha val="80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2712949" y="1396538"/>
            <a:ext cx="8117345" cy="4064924"/>
          </a:xfrm>
          <a:custGeom>
            <a:avLst/>
            <a:gdLst>
              <a:gd name="connsiteX0" fmla="*/ 6890674 w 7586519"/>
              <a:gd name="connsiteY0" fmla="*/ 0 h 4064924"/>
              <a:gd name="connsiteX1" fmla="*/ 7446523 w 7586519"/>
              <a:gd name="connsiteY1" fmla="*/ 0 h 4064924"/>
              <a:gd name="connsiteX2" fmla="*/ 7586519 w 7586519"/>
              <a:gd name="connsiteY2" fmla="*/ 139996 h 4064924"/>
              <a:gd name="connsiteX3" fmla="*/ 7586519 w 7586519"/>
              <a:gd name="connsiteY3" fmla="*/ 705494 h 4064924"/>
              <a:gd name="connsiteX4" fmla="*/ 7484758 w 7586519"/>
              <a:gd name="connsiteY4" fmla="*/ 715752 h 4064924"/>
              <a:gd name="connsiteX5" fmla="*/ 6879532 w 7586519"/>
              <a:gd name="connsiteY5" fmla="*/ 110526 h 4064924"/>
              <a:gd name="connsiteX6" fmla="*/ 139996 w 7586519"/>
              <a:gd name="connsiteY6" fmla="*/ 0 h 4064924"/>
              <a:gd name="connsiteX7" fmla="*/ 6651650 w 7586519"/>
              <a:gd name="connsiteY7" fmla="*/ 0 h 4064924"/>
              <a:gd name="connsiteX8" fmla="*/ 6640508 w 7586519"/>
              <a:gd name="connsiteY8" fmla="*/ 110526 h 4064924"/>
              <a:gd name="connsiteX9" fmla="*/ 7484758 w 7586519"/>
              <a:gd name="connsiteY9" fmla="*/ 954776 h 4064924"/>
              <a:gd name="connsiteX10" fmla="*/ 7571078 w 7586519"/>
              <a:gd name="connsiteY10" fmla="*/ 950417 h 4064924"/>
              <a:gd name="connsiteX11" fmla="*/ 7586519 w 7586519"/>
              <a:gd name="connsiteY11" fmla="*/ 948061 h 4064924"/>
              <a:gd name="connsiteX12" fmla="*/ 7586519 w 7586519"/>
              <a:gd name="connsiteY12" fmla="*/ 3924928 h 4064924"/>
              <a:gd name="connsiteX13" fmla="*/ 7446523 w 7586519"/>
              <a:gd name="connsiteY13" fmla="*/ 4064924 h 4064924"/>
              <a:gd name="connsiteX14" fmla="*/ 139996 w 7586519"/>
              <a:gd name="connsiteY14" fmla="*/ 4064924 h 4064924"/>
              <a:gd name="connsiteX15" fmla="*/ 0 w 7586519"/>
              <a:gd name="connsiteY15" fmla="*/ 3924928 h 4064924"/>
              <a:gd name="connsiteX16" fmla="*/ 0 w 7586519"/>
              <a:gd name="connsiteY16" fmla="*/ 139996 h 4064924"/>
              <a:gd name="connsiteX17" fmla="*/ 139996 w 7586519"/>
              <a:gd name="connsiteY17" fmla="*/ 0 h 4064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586519" h="4064924">
                <a:moveTo>
                  <a:pt x="6890674" y="0"/>
                </a:moveTo>
                <a:lnTo>
                  <a:pt x="7446523" y="0"/>
                </a:lnTo>
                <a:cubicBezTo>
                  <a:pt x="7523841" y="0"/>
                  <a:pt x="7586519" y="62678"/>
                  <a:pt x="7586519" y="139996"/>
                </a:cubicBezTo>
                <a:lnTo>
                  <a:pt x="7586519" y="705494"/>
                </a:lnTo>
                <a:lnTo>
                  <a:pt x="7484758" y="715752"/>
                </a:lnTo>
                <a:cubicBezTo>
                  <a:pt x="7150501" y="715752"/>
                  <a:pt x="6879532" y="444783"/>
                  <a:pt x="6879532" y="110526"/>
                </a:cubicBezTo>
                <a:close/>
                <a:moveTo>
                  <a:pt x="139996" y="0"/>
                </a:moveTo>
                <a:lnTo>
                  <a:pt x="6651650" y="0"/>
                </a:lnTo>
                <a:lnTo>
                  <a:pt x="6640508" y="110526"/>
                </a:lnTo>
                <a:cubicBezTo>
                  <a:pt x="6640508" y="576792"/>
                  <a:pt x="7018492" y="954776"/>
                  <a:pt x="7484758" y="954776"/>
                </a:cubicBezTo>
                <a:cubicBezTo>
                  <a:pt x="7513900" y="954776"/>
                  <a:pt x="7542696" y="953300"/>
                  <a:pt x="7571078" y="950417"/>
                </a:cubicBezTo>
                <a:lnTo>
                  <a:pt x="7586519" y="948061"/>
                </a:lnTo>
                <a:lnTo>
                  <a:pt x="7586519" y="3924928"/>
                </a:lnTo>
                <a:cubicBezTo>
                  <a:pt x="7586519" y="4002246"/>
                  <a:pt x="7523841" y="4064924"/>
                  <a:pt x="7446523" y="4064924"/>
                </a:cubicBezTo>
                <a:lnTo>
                  <a:pt x="139996" y="4064924"/>
                </a:lnTo>
                <a:cubicBezTo>
                  <a:pt x="62678" y="4064924"/>
                  <a:pt x="0" y="4002246"/>
                  <a:pt x="0" y="3924928"/>
                </a:cubicBezTo>
                <a:lnTo>
                  <a:pt x="0" y="139996"/>
                </a:lnTo>
                <a:cubicBezTo>
                  <a:pt x="0" y="62678"/>
                  <a:pt x="62678" y="0"/>
                  <a:pt x="1399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17500" dist="127000" dir="2700000" algn="tl" rotWithShape="0">
              <a:srgbClr val="0064D8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1204493" y="1396538"/>
            <a:ext cx="677108" cy="4064924"/>
            <a:chOff x="26301" y="1138131"/>
            <a:chExt cx="677108" cy="4064924"/>
          </a:xfrm>
        </p:grpSpPr>
        <p:sp>
          <p:nvSpPr>
            <p:cNvPr id="10" name="文本框 9"/>
            <p:cNvSpPr txBox="1"/>
            <p:nvPr/>
          </p:nvSpPr>
          <p:spPr>
            <a:xfrm>
              <a:off x="26301" y="1138131"/>
              <a:ext cx="677108" cy="287805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>
                  <a:solidFill>
                    <a:srgbClr val="0E6BC9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SOUTHWEST JIAOTONG UNIVERSITY</a:t>
              </a:r>
              <a:endParaRPr lang="zh-CN" altLang="en-US" sz="1600" dirty="0">
                <a:solidFill>
                  <a:srgbClr val="0E6BC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482600" y="3845518"/>
              <a:ext cx="0" cy="1357537"/>
            </a:xfrm>
            <a:prstGeom prst="line">
              <a:avLst/>
            </a:prstGeom>
            <a:ln w="12700">
              <a:solidFill>
                <a:srgbClr val="316AE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>
            <a:off x="3397184" y="1550560"/>
            <a:ext cx="4983480" cy="2345475"/>
            <a:chOff x="497375" y="1211712"/>
            <a:chExt cx="4983480" cy="2345475"/>
          </a:xfrm>
        </p:grpSpPr>
        <p:sp>
          <p:nvSpPr>
            <p:cNvPr id="6" name="文本框 5"/>
            <p:cNvSpPr txBox="1"/>
            <p:nvPr/>
          </p:nvSpPr>
          <p:spPr>
            <a:xfrm>
              <a:off x="497375" y="2635167"/>
              <a:ext cx="4983480" cy="922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800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308FF0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总结与后续改进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308FF0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22775" y="1211712"/>
              <a:ext cx="1426210" cy="14452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2000">
                        <a:srgbClr val="0655D3"/>
                      </a:gs>
                      <a:gs pos="86000">
                        <a:srgbClr val="0655D3">
                          <a:alpha val="0"/>
                        </a:srgb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" panose="020B0604020202020204" pitchFamily="34" charset="0"/>
                  <a:ea typeface="OPPOSans B"/>
                  <a:cs typeface="Arial" panose="020B0604020202020204" pitchFamily="34" charset="0"/>
                </a:rPr>
                <a:t>05</a:t>
              </a:r>
              <a:endPara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2000">
                      <a:srgbClr val="0655D3"/>
                    </a:gs>
                    <a:gs pos="86000">
                      <a:srgbClr val="0655D3">
                        <a:alpha val="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Arial" panose="020B0604020202020204" pitchFamily="34" charset="0"/>
                <a:ea typeface="OPPOSans B"/>
                <a:cs typeface="Arial" panose="020B0604020202020204" pitchFamily="34" charset="0"/>
              </a:endParaRPr>
            </a:p>
          </p:txBody>
        </p:sp>
      </p:grpSp>
      <p:cxnSp>
        <p:nvCxnSpPr>
          <p:cNvPr id="22" name="直线连接符 21"/>
          <p:cNvCxnSpPr/>
          <p:nvPr/>
        </p:nvCxnSpPr>
        <p:spPr>
          <a:xfrm>
            <a:off x="3508081" y="4676038"/>
            <a:ext cx="1251950" cy="6730"/>
          </a:xfrm>
          <a:prstGeom prst="line">
            <a:avLst/>
          </a:prstGeom>
          <a:ln w="28575">
            <a:solidFill>
              <a:srgbClr val="0E6B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10509108" y="6325674"/>
            <a:ext cx="132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447096A-5CB9-A449-9521-AD82728A312D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422650" y="3961130"/>
            <a:ext cx="632968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746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项目从“功能拼接”升级为“证据驱动、可视化验证”的交通智能体原型</a:t>
            </a:r>
            <a:endParaRPr kumimoji="0" lang="zh-CN" altLang="en-US" sz="1800" u="none" strike="noStrike" kern="1200" cap="none" spc="0" normalizeH="0" baseline="0" noProof="0" dirty="0">
              <a:ln>
                <a:noFill/>
              </a:ln>
              <a:solidFill>
                <a:srgbClr val="7E7E7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3" name="椭圆 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18" name="平行四边形 17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669" y="410108"/>
            <a:ext cx="3982026" cy="579755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项目价值与后续改进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-5" y="6617367"/>
            <a:ext cx="12191683" cy="240185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OPPOSans R" pitchFamily="18" charset="-122"/>
              <a:cs typeface="+mn-cs"/>
            </a:endParaRPr>
          </a:p>
        </p:txBody>
      </p:sp>
      <p:sp>
        <p:nvSpPr>
          <p:cNvPr id="22" name="Shape 8"/>
          <p:cNvSpPr/>
          <p:nvPr>
            <p:custDataLst>
              <p:tags r:id="rId2"/>
            </p:custDataLst>
          </p:nvPr>
        </p:nvSpPr>
        <p:spPr>
          <a:xfrm>
            <a:off x="685800" y="1600200"/>
            <a:ext cx="5166360" cy="3977640"/>
          </a:xfrm>
          <a:prstGeom prst="rect">
            <a:avLst/>
          </a:prstGeom>
          <a:solidFill>
            <a:srgbClr val="E4F0DC"/>
          </a:solidFill>
          <a:ln w="12700">
            <a:solidFill>
              <a:srgbClr val="D9CAB8"/>
            </a:solidFill>
            <a:prstDash val="solid"/>
          </a:ln>
        </p:spPr>
      </p:sp>
      <p:sp>
        <p:nvSpPr>
          <p:cNvPr id="29" name="Shape 9"/>
          <p:cNvSpPr/>
          <p:nvPr>
            <p:custDataLst>
              <p:tags r:id="rId3"/>
            </p:custDataLst>
          </p:nvPr>
        </p:nvSpPr>
        <p:spPr>
          <a:xfrm>
            <a:off x="960120" y="1874520"/>
            <a:ext cx="1158875" cy="316865"/>
          </a:xfrm>
          <a:prstGeom prst="roundRect">
            <a:avLst>
              <a:gd name="adj" fmla="val 19231"/>
            </a:avLst>
          </a:prstGeom>
          <a:solidFill>
            <a:srgbClr val="1C9A62"/>
          </a:solidFill>
          <a:ln w="12700">
            <a:solidFill>
              <a:srgbClr val="1C9A62"/>
            </a:solidFill>
            <a:prstDash val="solid"/>
          </a:ln>
        </p:spPr>
      </p:sp>
      <p:sp>
        <p:nvSpPr>
          <p:cNvPr id="30" name="Text 10"/>
          <p:cNvSpPr/>
          <p:nvPr>
            <p:custDataLst>
              <p:tags r:id="rId4"/>
            </p:custDataLst>
          </p:nvPr>
        </p:nvSpPr>
        <p:spPr>
          <a:xfrm>
            <a:off x="1014730" y="1924685"/>
            <a:ext cx="989965" cy="1866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项目价值</a:t>
            </a:r>
            <a:endParaRPr 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1" name="Text 11"/>
          <p:cNvSpPr/>
          <p:nvPr>
            <p:custDataLst>
              <p:tags r:id="rId5"/>
            </p:custDataLst>
          </p:nvPr>
        </p:nvSpPr>
        <p:spPr>
          <a:xfrm>
            <a:off x="960120" y="2286000"/>
            <a:ext cx="4480560" cy="17373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有本地知识库和可溯源回答</a:t>
            </a:r>
            <a:endParaRPr 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有地图、路线、天气等真实工具调用</a:t>
            </a:r>
            <a:endParaRPr 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集成交通流预测与目标识别两个小模型</a:t>
            </a:r>
            <a:endParaRPr 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大模型对工具结果进行自然语言解释</a:t>
            </a:r>
            <a:endParaRPr 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Dify 工作流展示可视化编排过程</a:t>
            </a:r>
            <a:endParaRPr 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" name="Shape 12"/>
          <p:cNvSpPr/>
          <p:nvPr>
            <p:custDataLst>
              <p:tags r:id="rId6"/>
            </p:custDataLst>
          </p:nvPr>
        </p:nvSpPr>
        <p:spPr>
          <a:xfrm>
            <a:off x="6126480" y="1600200"/>
            <a:ext cx="5257800" cy="3977640"/>
          </a:xfrm>
          <a:prstGeom prst="rect">
            <a:avLst/>
          </a:prstGeom>
          <a:solidFill>
            <a:srgbClr val="F2E0D8"/>
          </a:solidFill>
          <a:ln w="12700">
            <a:solidFill>
              <a:srgbClr val="D9CAB8"/>
            </a:solidFill>
            <a:prstDash val="solid"/>
          </a:ln>
        </p:spPr>
      </p:sp>
      <p:sp>
        <p:nvSpPr>
          <p:cNvPr id="35" name="Text 15"/>
          <p:cNvSpPr/>
          <p:nvPr>
            <p:custDataLst>
              <p:tags r:id="rId7"/>
            </p:custDataLst>
          </p:nvPr>
        </p:nvSpPr>
        <p:spPr>
          <a:xfrm>
            <a:off x="6400800" y="2286000"/>
            <a:ext cx="4480560" cy="17373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接入真实成都交通传感器数据</a:t>
            </a:r>
            <a:endParaRPr 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更新限行、施工、管制等时效性政策源</a:t>
            </a:r>
            <a:endParaRPr 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提升图片识别模型覆盖类别与鲁棒性</a:t>
            </a:r>
            <a:endParaRPr 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完善多轮对话记忆与异常处理</a:t>
            </a:r>
            <a:endParaRPr 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B191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 Dify 工作流部署到稳定云端环境</a:t>
            </a:r>
            <a:endParaRPr 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1" name="Shape 17"/>
          <p:cNvSpPr/>
          <p:nvPr>
            <p:custDataLst>
              <p:tags r:id="rId8"/>
            </p:custDataLst>
          </p:nvPr>
        </p:nvSpPr>
        <p:spPr>
          <a:xfrm>
            <a:off x="6400800" y="1874520"/>
            <a:ext cx="1158875" cy="316865"/>
          </a:xfrm>
          <a:prstGeom prst="roundRect">
            <a:avLst>
              <a:gd name="adj" fmla="val 19231"/>
            </a:avLst>
          </a:prstGeom>
          <a:solidFill>
            <a:srgbClr val="C9332C"/>
          </a:solidFill>
          <a:ln w="12700">
            <a:solidFill>
              <a:srgbClr val="C9332C"/>
            </a:solidFill>
            <a:prstDash val="solid"/>
          </a:ln>
        </p:spPr>
      </p:sp>
      <p:sp>
        <p:nvSpPr>
          <p:cNvPr id="34" name="Text 14"/>
          <p:cNvSpPr/>
          <p:nvPr>
            <p:custDataLst>
              <p:tags r:id="rId9"/>
            </p:custDataLst>
          </p:nvPr>
        </p:nvSpPr>
        <p:spPr>
          <a:xfrm>
            <a:off x="6522085" y="1948815"/>
            <a:ext cx="916305" cy="163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后续改进</a:t>
            </a:r>
            <a:endParaRPr 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4447805" y="725880"/>
            <a:ext cx="3296388" cy="946061"/>
            <a:chOff x="4227156" y="597288"/>
            <a:chExt cx="3296388" cy="946061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2" cstate="screen">
              <a:biLevel thresh="25000"/>
            </a:blip>
            <a:srcRect/>
            <a:stretch>
              <a:fillRect/>
            </a:stretch>
          </p:blipFill>
          <p:spPr>
            <a:xfrm>
              <a:off x="5107515" y="597288"/>
              <a:ext cx="2416029" cy="946061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screen"/>
            <a:stretch>
              <a:fillRect/>
            </a:stretch>
          </p:blipFill>
          <p:spPr>
            <a:xfrm>
              <a:off x="4227156" y="681280"/>
              <a:ext cx="733098" cy="818626"/>
            </a:xfrm>
            <a:prstGeom prst="rect">
              <a:avLst/>
            </a:prstGeom>
          </p:spPr>
        </p:pic>
      </p:grpSp>
      <p:sp>
        <p:nvSpPr>
          <p:cNvPr id="5" name="文本框 4"/>
          <p:cNvSpPr txBox="1"/>
          <p:nvPr/>
        </p:nvSpPr>
        <p:spPr>
          <a:xfrm>
            <a:off x="3056467" y="4856425"/>
            <a:ext cx="61129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srgbClr val="FFC000">
                    <a:lumMod val="20000"/>
                    <a:lumOff val="8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组员：程泽凯、王晨羽、金井直</a:t>
            </a:r>
            <a:endParaRPr kumimoji="0" lang="zh-CN" altLang="en-US" sz="1600" b="0" i="0" u="none" strike="noStrike" kern="1200" cap="none" spc="300" normalizeH="0" baseline="0" noProof="0" dirty="0">
              <a:ln>
                <a:noFill/>
              </a:ln>
              <a:solidFill>
                <a:srgbClr val="FFC000">
                  <a:lumMod val="20000"/>
                  <a:lumOff val="8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1201" y="3354826"/>
            <a:ext cx="10803464" cy="48322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600" b="1" i="0" u="none" strike="noStrike" kern="100" cap="none" spc="600" normalizeH="0" baseline="0" noProof="0" dirty="0">
                <a:ln>
                  <a:noFill/>
                </a:ln>
                <a:gradFill>
                  <a:gsLst>
                    <a:gs pos="100000">
                      <a:schemeClr val="accent5">
                        <a:lumMod val="60000"/>
                        <a:lumOff val="40000"/>
                      </a:schemeClr>
                    </a:gs>
                    <a:gs pos="0">
                      <a:schemeClr val="bg1"/>
                    </a:gs>
                  </a:gsLst>
                  <a:lin ang="5400000" scaled="0"/>
                </a:gradFill>
                <a:effectLst>
                  <a:outerShdw blurRad="190500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感谢聆听</a:t>
            </a:r>
            <a:endParaRPr kumimoji="0" lang="zh-CN" altLang="zh-CN" sz="9600" b="1" i="0" u="none" strike="noStrike" kern="100" cap="none" spc="600" normalizeH="0" baseline="0" noProof="0" dirty="0">
              <a:ln>
                <a:noFill/>
              </a:ln>
              <a:gradFill>
                <a:gsLst>
                  <a:gs pos="100000">
                    <a:schemeClr val="accent5">
                      <a:lumMod val="60000"/>
                      <a:lumOff val="40000"/>
                    </a:schemeClr>
                  </a:gs>
                  <a:gs pos="0">
                    <a:schemeClr val="bg1"/>
                  </a:gs>
                </a:gsLst>
                <a:lin ang="5400000" scaled="0"/>
              </a:gradFill>
              <a:effectLst>
                <a:outerShdw blurRad="190500" dist="38100" dir="2700000" sx="101000" sy="101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743200" y="6462294"/>
            <a:ext cx="6705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spc="300" dirty="0">
                <a:solidFill>
                  <a:srgbClr val="1D54B1">
                    <a:alpha val="50670"/>
                  </a:srgb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竢实扬华 自强不息 </a:t>
            </a:r>
            <a:endParaRPr lang="zh-CN" altLang="en-US" sz="1400" spc="300" dirty="0">
              <a:solidFill>
                <a:srgbClr val="1D54B1">
                  <a:alpha val="50670"/>
                </a:srgb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2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3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4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5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6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7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8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9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10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11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12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13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14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15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16.xml><?xml version="1.0" encoding="utf-8"?>
<p:tagLst xmlns:p="http://schemas.openxmlformats.org/presentationml/2006/main">
  <p:tag name="ISLIDE.THEME" val="https://www.islide.cc;"/>
</p:tagLst>
</file>

<file path=ppt/tags/tag17.xml><?xml version="1.0" encoding="utf-8"?>
<p:tagLst xmlns:p="http://schemas.openxmlformats.org/presentationml/2006/main">
  <p:tag name="ISLIDE.ICON" val="#405306;#405306;#176655;#144938;#379819;#381359;#103426;#151908;#151912;#136267;#136272;#401141;#111092;#55630;#94932;#404551;#173460;#173335;#137850;#172936;#157394;#379667;#379671;#379602;#379598;#379609;#68757;#160662;#145078;"/>
</p:tagLst>
</file>

<file path=ppt/tags/tag18.xml><?xml version="1.0" encoding="utf-8"?>
<p:tagLst xmlns:p="http://schemas.openxmlformats.org/presentationml/2006/main">
  <p:tag name="KSO_WM_DIAGRAM_VIRTUALLY_FRAME" val="{&quot;height&quot;:396.29944881889764,&quot;left&quot;:72.83244094488188,&quot;top&quot;:125.78062992125983,&quot;width&quot;:813.3897637795276}"/>
</p:tagLst>
</file>

<file path=ppt/tags/tag19.xml><?xml version="1.0" encoding="utf-8"?>
<p:tagLst xmlns:p="http://schemas.openxmlformats.org/presentationml/2006/main">
  <p:tag name="KSO_WM_DIAGRAM_VIRTUALLY_FRAME" val="{&quot;height&quot;:396.29944881889764,&quot;left&quot;:72.83244094488188,&quot;top&quot;:125.78062992125983,&quot;width&quot;:813.3897637795276}"/>
</p:tagLst>
</file>

<file path=ppt/tags/tag20.xml><?xml version="1.0" encoding="utf-8"?>
<p:tagLst xmlns:p="http://schemas.openxmlformats.org/presentationml/2006/main">
  <p:tag name="KSO_WM_DIAGRAM_VIRTUALLY_FRAME" val="{&quot;height&quot;:396.29944881889764,&quot;left&quot;:72.83244094488188,&quot;top&quot;:125.78062992125983,&quot;width&quot;:813.3897637795276}"/>
</p:tagLst>
</file>

<file path=ppt/tags/tag21.xml><?xml version="1.0" encoding="utf-8"?>
<p:tagLst xmlns:p="http://schemas.openxmlformats.org/presentationml/2006/main">
  <p:tag name="KSO_WM_DIAGRAM_VIRTUALLY_FRAME" val="{&quot;height&quot;:396.29944881889764,&quot;left&quot;:72.83244094488188,&quot;top&quot;:125.78062992125983,&quot;width&quot;:813.3897637795276}"/>
</p:tagLst>
</file>

<file path=ppt/tags/tag22.xml><?xml version="1.0" encoding="utf-8"?>
<p:tagLst xmlns:p="http://schemas.openxmlformats.org/presentationml/2006/main">
  <p:tag name="KSO_WM_DIAGRAM_VIRTUALLY_FRAME" val="{&quot;height&quot;:396.29944881889764,&quot;left&quot;:72.83244094488188,&quot;top&quot;:125.78062992125983,&quot;width&quot;:813.3897637795276}"/>
</p:tagLst>
</file>

<file path=ppt/tags/tag23.xml><?xml version="1.0" encoding="utf-8"?>
<p:tagLst xmlns:p="http://schemas.openxmlformats.org/presentationml/2006/main">
  <p:tag name="KSO_WM_DIAGRAM_VIRTUALLY_FRAME" val="{&quot;height&quot;:396.29944881889764,&quot;left&quot;:72.83244094488188,&quot;top&quot;:125.78062992125983,&quot;width&quot;:813.3897637795276}"/>
</p:tagLst>
</file>

<file path=ppt/tags/tag24.xml><?xml version="1.0" encoding="utf-8"?>
<p:tagLst xmlns:p="http://schemas.openxmlformats.org/presentationml/2006/main">
  <p:tag name="KSO_WM_DIAGRAM_VIRTUALLY_FRAME" val="{&quot;height&quot;:396.29944881889764,&quot;left&quot;:72.83244094488188,&quot;top&quot;:125.78062992125983,&quot;width&quot;:813.3897637795276}"/>
</p:tagLst>
</file>

<file path=ppt/tags/tag25.xml><?xml version="1.0" encoding="utf-8"?>
<p:tagLst xmlns:p="http://schemas.openxmlformats.org/presentationml/2006/main">
  <p:tag name="KSO_WM_DIAGRAM_VIRTUALLY_FRAME" val="{&quot;height&quot;:396.29944881889764,&quot;left&quot;:72.83244094488188,&quot;top&quot;:125.78062992125983,&quot;width&quot;:813.3897637795276}"/>
</p:tagLst>
</file>

<file path=ppt/tags/tag26.xml><?xml version="1.0" encoding="utf-8"?>
<p:tagLst xmlns:p="http://schemas.openxmlformats.org/presentationml/2006/main">
  <p:tag name="KSO_WM_DIAGRAM_VIRTUALLY_FRAME" val="{&quot;height&quot;:396.29944881889764,&quot;left&quot;:72.83244094488188,&quot;top&quot;:125.78062992125983,&quot;width&quot;:813.3897637795276}"/>
</p:tagLst>
</file>

<file path=ppt/tags/tag27.xml><?xml version="1.0" encoding="utf-8"?>
<p:tagLst xmlns:p="http://schemas.openxmlformats.org/presentationml/2006/main">
  <p:tag name="KSO_WM_DIAGRAM_VIRTUALLY_FRAME" val="{&quot;height&quot;:396.29944881889764,&quot;left&quot;:72.83244094488188,&quot;top&quot;:125.78062992125983,&quot;width&quot;:813.3897637795276}"/>
</p:tagLst>
</file>

<file path=ppt/tags/tag28.xml><?xml version="1.0" encoding="utf-8"?>
<p:tagLst xmlns:p="http://schemas.openxmlformats.org/presentationml/2006/main">
  <p:tag name="KSO_WM_DIAGRAM_VIRTUALLY_FRAME" val="{&quot;height&quot;:396.29944881889764,&quot;left&quot;:72.83244094488188,&quot;top&quot;:125.78062992125983,&quot;width&quot;:813.3897637795276}"/>
</p:tagLst>
</file>

<file path=ppt/tags/tag29.xml><?xml version="1.0" encoding="utf-8"?>
<p:tagLst xmlns:p="http://schemas.openxmlformats.org/presentationml/2006/main">
  <p:tag name="KSO_WM_DIAGRAM_VIRTUALLY_FRAME" val="{&quot;height&quot;:396.29944881889764,&quot;left&quot;:72.83244094488188,&quot;top&quot;:125.78062992125983,&quot;width&quot;:813.3897637795276}"/>
</p:tagLst>
</file>

<file path=ppt/tags/tag30.xml><?xml version="1.0" encoding="utf-8"?>
<p:tagLst xmlns:p="http://schemas.openxmlformats.org/presentationml/2006/main">
  <p:tag name="KSO_WM_DIAGRAM_VIRTUALLY_FRAME" val="{&quot;height&quot;:396.29944881889764,&quot;left&quot;:72.83244094488188,&quot;top&quot;:125.78062992125983,&quot;width&quot;:813.3897637795276}"/>
</p:tagLst>
</file>

<file path=ppt/tags/tag31.xml><?xml version="1.0" encoding="utf-8"?>
<p:tagLst xmlns:p="http://schemas.openxmlformats.org/presentationml/2006/main">
  <p:tag name="KSO_WM_DIAGRAM_VIRTUALLY_FRAME" val="{&quot;height&quot;:396.29944881889764,&quot;left&quot;:72.83244094488188,&quot;top&quot;:125.78062992125983,&quot;width&quot;:813.3897637795276}"/>
</p:tagLst>
</file>

<file path=ppt/tags/tag32.xml><?xml version="1.0" encoding="utf-8"?>
<p:tagLst xmlns:p="http://schemas.openxmlformats.org/presentationml/2006/main">
  <p:tag name="KSO_WM_DIAGRAM_VIRTUALLY_FRAME" val="{&quot;height&quot;:396.29944881889764,&quot;left&quot;:72.83244094488188,&quot;top&quot;:125.78062992125983,&quot;width&quot;:813.3897637795276}"/>
</p:tagLst>
</file>

<file path=ppt/tags/tag33.xml><?xml version="1.0" encoding="utf-8"?>
<p:tagLst xmlns:p="http://schemas.openxmlformats.org/presentationml/2006/main">
  <p:tag name="KSO_WM_DIAGRAM_VIRTUALLY_FRAME" val="{&quot;height&quot;:396.29944881889764,&quot;left&quot;:72.83244094488188,&quot;top&quot;:125.78062992125983,&quot;width&quot;:813.3897637795276}"/>
</p:tagLst>
</file>

<file path=ppt/tags/tag34.xml><?xml version="1.0" encoding="utf-8"?>
<p:tagLst xmlns:p="http://schemas.openxmlformats.org/presentationml/2006/main">
  <p:tag name="KSO_WM_DIAGRAM_VIRTUALLY_FRAME" val="{&quot;height&quot;:396.29944881889764,&quot;left&quot;:72.83244094488188,&quot;top&quot;:125.78062992125983,&quot;width&quot;:813.3897637795276}"/>
</p:tagLst>
</file>

<file path=ppt/tags/tag35.xml><?xml version="1.0" encoding="utf-8"?>
<p:tagLst xmlns:p="http://schemas.openxmlformats.org/presentationml/2006/main">
  <p:tag name="KSO_WM_DIAGRAM_VIRTUALLY_FRAME" val="{&quot;height&quot;:396.29944881889764,&quot;left&quot;:72.83244094488188,&quot;top&quot;:125.78062992125983,&quot;width&quot;:813.3897637795276}"/>
</p:tagLst>
</file>

<file path=ppt/tags/tag36.xml><?xml version="1.0" encoding="utf-8"?>
<p:tagLst xmlns:p="http://schemas.openxmlformats.org/presentationml/2006/main">
  <p:tag name="KSO_WM_DIAGRAM_VIRTUALLY_FRAME" val="{&quot;height&quot;:396.29944881889764,&quot;left&quot;:72.83244094488188,&quot;top&quot;:125.78062992125983,&quot;width&quot;:813.3897637795276}"/>
</p:tagLst>
</file>

<file path=ppt/tags/tag37.xml><?xml version="1.0" encoding="utf-8"?>
<p:tagLst xmlns:p="http://schemas.openxmlformats.org/presentationml/2006/main">
  <p:tag name="KSO_WM_DIAGRAM_VIRTUALLY_FRAME" val="{&quot;height&quot;:396.29944881889764,&quot;left&quot;:72.83244094488188,&quot;top&quot;:125.78062992125983,&quot;width&quot;:813.3897637795276}"/>
</p:tagLst>
</file>

<file path=ppt/tags/tag38.xml><?xml version="1.0" encoding="utf-8"?>
<p:tagLst xmlns:p="http://schemas.openxmlformats.org/presentationml/2006/main">
  <p:tag name="ISLIDE.ICON" val="#405306;#405306;#176655;#144938;#379819;#381359;#103426;#151908;#151912;#136267;#136272;#401141;#111092;#55630;#94932;#404551;#173460;#173335;#137850;#172936;#157394;#379667;#379671;#379602;#379598;#379609;#68757;#160662;#145078;"/>
</p:tagLst>
</file>

<file path=ppt/tags/tag39.xml><?xml version="1.0" encoding="utf-8"?>
<p:tagLst xmlns:p="http://schemas.openxmlformats.org/presentationml/2006/main">
  <p:tag name="ISLIDE.ICON" val="#405306;#405306;#176655;#144938;#379819;#381359;#103426;#151908;#151912;#136267;#136272;#401141;#111092;#55630;#94932;#404551;#173460;#173335;#137850;#172936;#157394;#379667;#379671;#379602;#379598;#379609;#68757;#160662;#145078;"/>
</p:tagLst>
</file>

<file path=ppt/tags/tag40.xml><?xml version="1.0" encoding="utf-8"?>
<p:tagLst xmlns:p="http://schemas.openxmlformats.org/presentationml/2006/main">
  <p:tag name="KSO_WM_DIAGRAM_VIRTUALLY_FRAME" val="{&quot;height&quot;:273.6,&quot;left&quot;:54,&quot;top&quot;:126,&quot;width&quot;:842.4}"/>
</p:tagLst>
</file>

<file path=ppt/tags/tag41.xml><?xml version="1.0" encoding="utf-8"?>
<p:tagLst xmlns:p="http://schemas.openxmlformats.org/presentationml/2006/main">
  <p:tag name="KSO_WM_DIAGRAM_VIRTUALLY_FRAME" val="{&quot;height&quot;:273.6,&quot;left&quot;:54,&quot;top&quot;:126,&quot;width&quot;:842.4}"/>
</p:tagLst>
</file>

<file path=ppt/tags/tag42.xml><?xml version="1.0" encoding="utf-8"?>
<p:tagLst xmlns:p="http://schemas.openxmlformats.org/presentationml/2006/main">
  <p:tag name="KSO_WM_DIAGRAM_VIRTUALLY_FRAME" val="{&quot;height&quot;:273.6,&quot;left&quot;:54,&quot;top&quot;:126,&quot;width&quot;:842.4}"/>
</p:tagLst>
</file>

<file path=ppt/tags/tag43.xml><?xml version="1.0" encoding="utf-8"?>
<p:tagLst xmlns:p="http://schemas.openxmlformats.org/presentationml/2006/main">
  <p:tag name="KSO_WM_DIAGRAM_VIRTUALLY_FRAME" val="{&quot;height&quot;:273.6,&quot;left&quot;:54,&quot;top&quot;:126,&quot;width&quot;:842.4}"/>
</p:tagLst>
</file>

<file path=ppt/tags/tag44.xml><?xml version="1.0" encoding="utf-8"?>
<p:tagLst xmlns:p="http://schemas.openxmlformats.org/presentationml/2006/main">
  <p:tag name="KSO_WM_DIAGRAM_VIRTUALLY_FRAME" val="{&quot;height&quot;:273.6,&quot;left&quot;:54,&quot;top&quot;:126,&quot;width&quot;:842.4}"/>
</p:tagLst>
</file>

<file path=ppt/tags/tag45.xml><?xml version="1.0" encoding="utf-8"?>
<p:tagLst xmlns:p="http://schemas.openxmlformats.org/presentationml/2006/main">
  <p:tag name="KSO_WM_DIAGRAM_VIRTUALLY_FRAME" val="{&quot;height&quot;:273.6,&quot;left&quot;:54,&quot;top&quot;:126,&quot;width&quot;:842.4}"/>
</p:tagLst>
</file>

<file path=ppt/tags/tag46.xml><?xml version="1.0" encoding="utf-8"?>
<p:tagLst xmlns:p="http://schemas.openxmlformats.org/presentationml/2006/main">
  <p:tag name="KSO_WM_DIAGRAM_VIRTUALLY_FRAME" val="{&quot;height&quot;:273.6,&quot;left&quot;:54,&quot;top&quot;:126,&quot;width&quot;:842.4}"/>
</p:tagLst>
</file>

<file path=ppt/tags/tag47.xml><?xml version="1.0" encoding="utf-8"?>
<p:tagLst xmlns:p="http://schemas.openxmlformats.org/presentationml/2006/main">
  <p:tag name="KSO_WM_DIAGRAM_VIRTUALLY_FRAME" val="{&quot;height&quot;:273.6,&quot;left&quot;:54,&quot;top&quot;:126,&quot;width&quot;:842.4}"/>
</p:tagLst>
</file>

<file path=ppt/tags/tag48.xml><?xml version="1.0" encoding="utf-8"?>
<p:tagLst xmlns:p="http://schemas.openxmlformats.org/presentationml/2006/main">
  <p:tag name="KSO_WM_DIAGRAM_VIRTUALLY_FRAME" val="{&quot;height&quot;:273.6,&quot;left&quot;:54,&quot;top&quot;:126,&quot;width&quot;:842.4}"/>
</p:tagLst>
</file>

<file path=ppt/tags/tag49.xml><?xml version="1.0" encoding="utf-8"?>
<p:tagLst xmlns:p="http://schemas.openxmlformats.org/presentationml/2006/main">
  <p:tag name="KSO_WM_DIAGRAM_VIRTUALLY_FRAME" val="{&quot;height&quot;:273.6,&quot;left&quot;:54,&quot;top&quot;:126,&quot;width&quot;:842.4}"/>
</p:tagLst>
</file>

<file path=ppt/tags/tag50.xml><?xml version="1.0" encoding="utf-8"?>
<p:tagLst xmlns:p="http://schemas.openxmlformats.org/presentationml/2006/main">
  <p:tag name="KSO_WM_DIAGRAM_VIRTUALLY_FRAME" val="{&quot;height&quot;:273.6,&quot;left&quot;:54,&quot;top&quot;:126,&quot;width&quot;:842.4}"/>
</p:tagLst>
</file>

<file path=ppt/tags/tag51.xml><?xml version="1.0" encoding="utf-8"?>
<p:tagLst xmlns:p="http://schemas.openxmlformats.org/presentationml/2006/main">
  <p:tag name="KSO_WM_DIAGRAM_VIRTUALLY_FRAME" val="{&quot;height&quot;:273.6,&quot;left&quot;:54,&quot;top&quot;:126,&quot;width&quot;:842.4}"/>
</p:tagLst>
</file>

<file path=ppt/tags/tag52.xml><?xml version="1.0" encoding="utf-8"?>
<p:tagLst xmlns:p="http://schemas.openxmlformats.org/presentationml/2006/main">
  <p:tag name="KSO_WM_DIAGRAM_VIRTUALLY_FRAME" val="{&quot;height&quot;:273.6,&quot;left&quot;:54,&quot;top&quot;:126,&quot;width&quot;:842.4}"/>
</p:tagLst>
</file>

<file path=ppt/tags/tag53.xml><?xml version="1.0" encoding="utf-8"?>
<p:tagLst xmlns:p="http://schemas.openxmlformats.org/presentationml/2006/main">
  <p:tag name="KSO_WM_DIAGRAM_VIRTUALLY_FRAME" val="{&quot;height&quot;:309.6,&quot;left&quot;:54,&quot;top&quot;:136.8,&quot;width&quot;:842.4}"/>
</p:tagLst>
</file>

<file path=ppt/tags/tag54.xml><?xml version="1.0" encoding="utf-8"?>
<p:tagLst xmlns:p="http://schemas.openxmlformats.org/presentationml/2006/main">
  <p:tag name="KSO_WM_DIAGRAM_VIRTUALLY_FRAME" val="{&quot;height&quot;:309.6,&quot;left&quot;:54,&quot;top&quot;:136.8,&quot;width&quot;:842.4}"/>
</p:tagLst>
</file>

<file path=ppt/tags/tag55.xml><?xml version="1.0" encoding="utf-8"?>
<p:tagLst xmlns:p="http://schemas.openxmlformats.org/presentationml/2006/main">
  <p:tag name="KSO_WM_DIAGRAM_VIRTUALLY_FRAME" val="{&quot;height&quot;:309.6,&quot;left&quot;:54,&quot;top&quot;:136.8,&quot;width&quot;:842.4}"/>
</p:tagLst>
</file>

<file path=ppt/tags/tag56.xml><?xml version="1.0" encoding="utf-8"?>
<p:tagLst xmlns:p="http://schemas.openxmlformats.org/presentationml/2006/main">
  <p:tag name="KSO_WM_DIAGRAM_VIRTUALLY_FRAME" val="{&quot;height&quot;:309.6,&quot;left&quot;:54,&quot;top&quot;:136.8,&quot;width&quot;:842.4}"/>
</p:tagLst>
</file>

<file path=ppt/tags/tag57.xml><?xml version="1.0" encoding="utf-8"?>
<p:tagLst xmlns:p="http://schemas.openxmlformats.org/presentationml/2006/main">
  <p:tag name="KSO_WM_DIAGRAM_VIRTUALLY_FRAME" val="{&quot;height&quot;:309.6,&quot;left&quot;:54,&quot;top&quot;:136.8,&quot;width&quot;:842.4}"/>
</p:tagLst>
</file>

<file path=ppt/tags/tag58.xml><?xml version="1.0" encoding="utf-8"?>
<p:tagLst xmlns:p="http://schemas.openxmlformats.org/presentationml/2006/main">
  <p:tag name="KSO_WM_DIAGRAM_VIRTUALLY_FRAME" val="{&quot;height&quot;:309.6,&quot;left&quot;:54,&quot;top&quot;:136.8,&quot;width&quot;:842.4}"/>
</p:tagLst>
</file>

<file path=ppt/tags/tag59.xml><?xml version="1.0" encoding="utf-8"?>
<p:tagLst xmlns:p="http://schemas.openxmlformats.org/presentationml/2006/main">
  <p:tag name="KSO_WM_DIAGRAM_VIRTUALLY_FRAME" val="{&quot;height&quot;:309.6,&quot;left&quot;:54,&quot;top&quot;:136.8,&quot;width&quot;:842.4}"/>
</p:tagLst>
</file>

<file path=ppt/tags/tag60.xml><?xml version="1.0" encoding="utf-8"?>
<p:tagLst xmlns:p="http://schemas.openxmlformats.org/presentationml/2006/main">
  <p:tag name="KSO_WM_DIAGRAM_VIRTUALLY_FRAME" val="{&quot;height&quot;:309.6,&quot;left&quot;:54,&quot;top&quot;:136.8,&quot;width&quot;:842.4}"/>
</p:tagLst>
</file>

<file path=ppt/tags/tag61.xml><?xml version="1.0" encoding="utf-8"?>
<p:tagLst xmlns:p="http://schemas.openxmlformats.org/presentationml/2006/main">
  <p:tag name="KSO_WM_DIAGRAM_VIRTUALLY_FRAME" val="{&quot;height&quot;:309.6,&quot;left&quot;:54,&quot;top&quot;:136.8,&quot;width&quot;:842.4}"/>
</p:tagLst>
</file>

<file path=ppt/tags/tag62.xml><?xml version="1.0" encoding="utf-8"?>
<p:tagLst xmlns:p="http://schemas.openxmlformats.org/presentationml/2006/main">
  <p:tag name="KSO_WM_DIAGRAM_VIRTUALLY_FRAME" val="{&quot;height&quot;:309.6,&quot;left&quot;:54,&quot;top&quot;:136.8,&quot;width&quot;:842.4}"/>
</p:tagLst>
</file>

<file path=ppt/tags/tag63.xml><?xml version="1.0" encoding="utf-8"?>
<p:tagLst xmlns:p="http://schemas.openxmlformats.org/presentationml/2006/main">
  <p:tag name="KSO_WM_DIAGRAM_VIRTUALLY_FRAME" val="{&quot;height&quot;:309.6,&quot;left&quot;:54,&quot;top&quot;:136.8,&quot;width&quot;:842.4}"/>
</p:tagLst>
</file>

<file path=ppt/tags/tag64.xml><?xml version="1.0" encoding="utf-8"?>
<p:tagLst xmlns:p="http://schemas.openxmlformats.org/presentationml/2006/main">
  <p:tag name="KSO_WM_DIAGRAM_VIRTUALLY_FRAME" val="{&quot;height&quot;:309.6,&quot;left&quot;:54,&quot;top&quot;:136.8,&quot;width&quot;:842.4}"/>
</p:tagLst>
</file>

<file path=ppt/tags/tag65.xml><?xml version="1.0" encoding="utf-8"?>
<p:tagLst xmlns:p="http://schemas.openxmlformats.org/presentationml/2006/main">
  <p:tag name="KSO_WM_DIAGRAM_VIRTUALLY_FRAME" val="{&quot;height&quot;:309.6,&quot;left&quot;:54,&quot;top&quot;:136.8,&quot;width&quot;:842.4}"/>
</p:tagLst>
</file>

<file path=ppt/tags/tag66.xml><?xml version="1.0" encoding="utf-8"?>
<p:tagLst xmlns:p="http://schemas.openxmlformats.org/presentationml/2006/main">
  <p:tag name="KSO_WM_DIAGRAM_VIRTUALLY_FRAME" val="{&quot;height&quot;:273.6,&quot;left&quot;:54,&quot;top&quot;:126,&quot;width&quot;:842.4}"/>
</p:tagLst>
</file>

<file path=ppt/tags/tag67.xml><?xml version="1.0" encoding="utf-8"?>
<p:tagLst xmlns:p="http://schemas.openxmlformats.org/presentationml/2006/main">
  <p:tag name="ISLIDE.ICON" val="#405306;#405306;#176655;#144938;#379819;#381359;#103426;#151908;#151912;#136267;#136272;#401141;#111092;#55630;#94932;#404551;#173460;#173335;#137850;#172936;#157394;#379667;#379671;#379602;#379598;#379609;#68757;#160662;#145078;"/>
</p:tagLst>
</file>

<file path=ppt/tags/tag68.xml><?xml version="1.0" encoding="utf-8"?>
<p:tagLst xmlns:p="http://schemas.openxmlformats.org/presentationml/2006/main">
  <p:tag name="KSO_WM_DIAGRAM_VIRTUALLY_FRAME" val="{&quot;height&quot;:273.6,&quot;left&quot;:54,&quot;top&quot;:126,&quot;width&quot;:842.4}"/>
</p:tagLst>
</file>

<file path=ppt/tags/tag69.xml><?xml version="1.0" encoding="utf-8"?>
<p:tagLst xmlns:p="http://schemas.openxmlformats.org/presentationml/2006/main">
  <p:tag name="ISLIDE.ICON" val="#405306;#405306;#176655;#144938;#379819;#381359;#103426;#151908;#151912;#136267;#136272;#401141;#111092;#55630;#94932;#404551;#173460;#173335;#137850;#172936;#157394;#379667;#379671;#379602;#379598;#379609;#68757;#160662;#145078;"/>
</p:tagLst>
</file>

<file path=ppt/tags/tag70.xml><?xml version="1.0" encoding="utf-8"?>
<p:tagLst xmlns:p="http://schemas.openxmlformats.org/presentationml/2006/main">
  <p:tag name="KSO_WM_DIAGRAM_VIRTUALLY_FRAME" val="{&quot;height&quot;:313.2,&quot;left&quot;:54,&quot;top&quot;:126,&quot;width&quot;:842.4}"/>
</p:tagLst>
</file>

<file path=ppt/tags/tag71.xml><?xml version="1.0" encoding="utf-8"?>
<p:tagLst xmlns:p="http://schemas.openxmlformats.org/presentationml/2006/main">
  <p:tag name="KSO_WM_DIAGRAM_VIRTUALLY_FRAME" val="{&quot;height&quot;:313.2,&quot;left&quot;:54,&quot;top&quot;:126,&quot;width&quot;:842.4}"/>
</p:tagLst>
</file>

<file path=ppt/tags/tag72.xml><?xml version="1.0" encoding="utf-8"?>
<p:tagLst xmlns:p="http://schemas.openxmlformats.org/presentationml/2006/main">
  <p:tag name="KSO_WM_DIAGRAM_VIRTUALLY_FRAME" val="{&quot;height&quot;:313.2,&quot;left&quot;:54,&quot;top&quot;:126,&quot;width&quot;:842.4}"/>
</p:tagLst>
</file>

<file path=ppt/tags/tag73.xml><?xml version="1.0" encoding="utf-8"?>
<p:tagLst xmlns:p="http://schemas.openxmlformats.org/presentationml/2006/main">
  <p:tag name="KSO_WM_DIAGRAM_VIRTUALLY_FRAME" val="{&quot;height&quot;:313.2,&quot;left&quot;:54,&quot;top&quot;:126,&quot;width&quot;:842.4}"/>
</p:tagLst>
</file>

<file path=ppt/tags/tag74.xml><?xml version="1.0" encoding="utf-8"?>
<p:tagLst xmlns:p="http://schemas.openxmlformats.org/presentationml/2006/main">
  <p:tag name="KSO_WM_DIAGRAM_VIRTUALLY_FRAME" val="{&quot;height&quot;:313.2,&quot;left&quot;:54,&quot;top&quot;:126,&quot;width&quot;:842.4}"/>
</p:tagLst>
</file>

<file path=ppt/tags/tag75.xml><?xml version="1.0" encoding="utf-8"?>
<p:tagLst xmlns:p="http://schemas.openxmlformats.org/presentationml/2006/main">
  <p:tag name="KSO_WM_DIAGRAM_VIRTUALLY_FRAME" val="{&quot;height&quot;:313.2,&quot;left&quot;:54,&quot;top&quot;:126,&quot;width&quot;:842.4}"/>
</p:tagLst>
</file>

<file path=ppt/tags/tag76.xml><?xml version="1.0" encoding="utf-8"?>
<p:tagLst xmlns:p="http://schemas.openxmlformats.org/presentationml/2006/main">
  <p:tag name="KSO_WM_DIAGRAM_VIRTUALLY_FRAME" val="{&quot;height&quot;:313.2,&quot;left&quot;:54,&quot;top&quot;:126,&quot;width&quot;:842.4}"/>
</p:tagLst>
</file>

<file path=ppt/tags/tag77.xml><?xml version="1.0" encoding="utf-8"?>
<p:tagLst xmlns:p="http://schemas.openxmlformats.org/presentationml/2006/main">
  <p:tag name="KSO_WM_DIAGRAM_VIRTUALLY_FRAME" val="{&quot;height&quot;:313.2,&quot;left&quot;:54,&quot;top&quot;:126,&quot;width&quot;:842.4}"/>
</p:tagLst>
</file>

<file path=ppt/tags/tag78.xml><?xml version="1.0" encoding="utf-8"?>
<p:tagLst xmlns:p="http://schemas.openxmlformats.org/presentationml/2006/main">
  <p:tag name="commondata" val="eyJoZGlkIjoiN2M1ZDMzMzY5NDRlMDhlNTM3MDI1ODFiY2I1OWNiNzQifQ=="/>
</p:tagLst>
</file>

<file path=ppt/theme/theme1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2220</Words>
  <Application>WPS 演示</Application>
  <PresentationFormat>宽屏</PresentationFormat>
  <Paragraphs>335</Paragraphs>
  <Slides>19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44" baseType="lpstr">
      <vt:lpstr>Arial</vt:lpstr>
      <vt:lpstr>宋体</vt:lpstr>
      <vt:lpstr>Wingdings</vt:lpstr>
      <vt:lpstr>微软雅黑</vt:lpstr>
      <vt:lpstr>Times New Roman</vt:lpstr>
      <vt:lpstr>Arial</vt:lpstr>
      <vt:lpstr>OPPOSans R</vt:lpstr>
      <vt:lpstr>OPPOSans B</vt:lpstr>
      <vt:lpstr>思源宋体 CN Heavy</vt:lpstr>
      <vt:lpstr>OPPOSans H</vt:lpstr>
      <vt:lpstr>OPPOSans B</vt:lpstr>
      <vt:lpstr>Segoe Print</vt:lpstr>
      <vt:lpstr>Calibri</vt:lpstr>
      <vt:lpstr>字魂58号-创中黑</vt:lpstr>
      <vt:lpstr>Arial Unicode MS</vt:lpstr>
      <vt:lpstr>等线</vt:lpstr>
      <vt:lpstr>黑体</vt:lpstr>
      <vt:lpstr>Calibri</vt:lpstr>
      <vt:lpstr>OPPOSans B</vt:lpstr>
      <vt:lpstr>OPPOSans H</vt:lpstr>
      <vt:lpstr>OPPOSans R</vt:lpstr>
      <vt:lpstr>Wingdings</vt:lpstr>
      <vt:lpstr>字魂58号-创中黑</vt:lpstr>
      <vt:lpstr>思源宋体 CN Heavy</vt:lpstr>
      <vt:lpstr>3_Office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海</cp:lastModifiedBy>
  <cp:revision>90</cp:revision>
  <dcterms:created xsi:type="dcterms:W3CDTF">2023-05-24T16:02:00Z</dcterms:created>
  <dcterms:modified xsi:type="dcterms:W3CDTF">2026-06-05T12:56:28Z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2F8A77E7A92F4BF6BB73D66ED58E5C18_12</vt:lpwstr>
  </property>
  <property fmtid="{D5CDD505-2E9C-101B-9397-08002B2CF9AE}" pid="3" name="KSOProductBuildVer">
    <vt:lpwstr>2052-12.1.0.26375</vt:lpwstr>
  </property>
</Properties>
</file>