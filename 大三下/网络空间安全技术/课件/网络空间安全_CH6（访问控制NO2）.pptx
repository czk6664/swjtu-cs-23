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8"/>
  </p:notesMasterIdLst>
  <p:handoutMasterIdLst>
    <p:handoutMasterId r:id="rId129"/>
  </p:handoutMasterIdLst>
  <p:sldIdLst>
    <p:sldId id="697" r:id="rId2"/>
    <p:sldId id="352" r:id="rId3"/>
    <p:sldId id="353" r:id="rId4"/>
    <p:sldId id="354" r:id="rId5"/>
    <p:sldId id="355" r:id="rId6"/>
    <p:sldId id="356" r:id="rId7"/>
    <p:sldId id="357" r:id="rId8"/>
    <p:sldId id="358" r:id="rId9"/>
    <p:sldId id="624" r:id="rId10"/>
    <p:sldId id="528" r:id="rId11"/>
    <p:sldId id="359" r:id="rId12"/>
    <p:sldId id="523" r:id="rId13"/>
    <p:sldId id="524" r:id="rId14"/>
    <p:sldId id="529" r:id="rId15"/>
    <p:sldId id="363" r:id="rId16"/>
    <p:sldId id="803" r:id="rId17"/>
    <p:sldId id="625" r:id="rId18"/>
    <p:sldId id="663" r:id="rId19"/>
    <p:sldId id="664" r:id="rId20"/>
    <p:sldId id="804" r:id="rId21"/>
    <p:sldId id="665" r:id="rId22"/>
    <p:sldId id="667" r:id="rId23"/>
    <p:sldId id="669" r:id="rId24"/>
    <p:sldId id="668" r:id="rId25"/>
    <p:sldId id="805" r:id="rId26"/>
    <p:sldId id="626" r:id="rId27"/>
    <p:sldId id="809" r:id="rId28"/>
    <p:sldId id="627" r:id="rId29"/>
    <p:sldId id="670" r:id="rId30"/>
    <p:sldId id="671" r:id="rId31"/>
    <p:sldId id="672" r:id="rId32"/>
    <p:sldId id="673" r:id="rId33"/>
    <p:sldId id="631" r:id="rId34"/>
    <p:sldId id="632" r:id="rId35"/>
    <p:sldId id="635" r:id="rId36"/>
    <p:sldId id="364" r:id="rId37"/>
    <p:sldId id="362" r:id="rId38"/>
    <p:sldId id="365" r:id="rId39"/>
    <p:sldId id="633" r:id="rId40"/>
    <p:sldId id="634" r:id="rId41"/>
    <p:sldId id="366" r:id="rId42"/>
    <p:sldId id="367" r:id="rId43"/>
    <p:sldId id="368" r:id="rId44"/>
    <p:sldId id="369" r:id="rId45"/>
    <p:sldId id="370" r:id="rId46"/>
    <p:sldId id="371" r:id="rId47"/>
    <p:sldId id="642" r:id="rId48"/>
    <p:sldId id="643" r:id="rId49"/>
    <p:sldId id="644" r:id="rId50"/>
    <p:sldId id="645" r:id="rId51"/>
    <p:sldId id="372" r:id="rId52"/>
    <p:sldId id="646" r:id="rId53"/>
    <p:sldId id="373" r:id="rId54"/>
    <p:sldId id="806" r:id="rId55"/>
    <p:sldId id="807" r:id="rId56"/>
    <p:sldId id="810" r:id="rId57"/>
    <p:sldId id="812" r:id="rId58"/>
    <p:sldId id="808" r:id="rId59"/>
    <p:sldId id="374" r:id="rId60"/>
    <p:sldId id="375" r:id="rId61"/>
    <p:sldId id="376" r:id="rId62"/>
    <p:sldId id="636" r:id="rId63"/>
    <p:sldId id="640" r:id="rId64"/>
    <p:sldId id="675" r:id="rId65"/>
    <p:sldId id="676" r:id="rId66"/>
    <p:sldId id="674" r:id="rId67"/>
    <p:sldId id="811" r:id="rId68"/>
    <p:sldId id="377" r:id="rId69"/>
    <p:sldId id="681" r:id="rId70"/>
    <p:sldId id="677" r:id="rId71"/>
    <p:sldId id="678" r:id="rId72"/>
    <p:sldId id="821" r:id="rId73"/>
    <p:sldId id="679" r:id="rId74"/>
    <p:sldId id="680" r:id="rId75"/>
    <p:sldId id="822" r:id="rId76"/>
    <p:sldId id="391" r:id="rId77"/>
    <p:sldId id="820" r:id="rId78"/>
    <p:sldId id="802" r:id="rId79"/>
    <p:sldId id="813" r:id="rId80"/>
    <p:sldId id="392" r:id="rId81"/>
    <p:sldId id="394" r:id="rId82"/>
    <p:sldId id="683" r:id="rId83"/>
    <p:sldId id="682" r:id="rId84"/>
    <p:sldId id="395" r:id="rId85"/>
    <p:sldId id="396" r:id="rId86"/>
    <p:sldId id="397" r:id="rId87"/>
    <p:sldId id="684" r:id="rId88"/>
    <p:sldId id="598" r:id="rId89"/>
    <p:sldId id="814" r:id="rId90"/>
    <p:sldId id="685" r:id="rId91"/>
    <p:sldId id="686" r:id="rId92"/>
    <p:sldId id="687" r:id="rId93"/>
    <p:sldId id="688" r:id="rId94"/>
    <p:sldId id="689" r:id="rId95"/>
    <p:sldId id="690" r:id="rId96"/>
    <p:sldId id="691" r:id="rId97"/>
    <p:sldId id="692" r:id="rId98"/>
    <p:sldId id="815" r:id="rId99"/>
    <p:sldId id="693" r:id="rId100"/>
    <p:sldId id="656" r:id="rId101"/>
    <p:sldId id="657" r:id="rId102"/>
    <p:sldId id="658" r:id="rId103"/>
    <p:sldId id="659" r:id="rId104"/>
    <p:sldId id="816" r:id="rId105"/>
    <p:sldId id="818" r:id="rId106"/>
    <p:sldId id="819" r:id="rId107"/>
    <p:sldId id="660" r:id="rId108"/>
    <p:sldId id="694" r:id="rId109"/>
    <p:sldId id="398" r:id="rId110"/>
    <p:sldId id="429" r:id="rId111"/>
    <p:sldId id="648" r:id="rId112"/>
    <p:sldId id="649" r:id="rId113"/>
    <p:sldId id="650" r:id="rId114"/>
    <p:sldId id="651" r:id="rId115"/>
    <p:sldId id="817" r:id="rId116"/>
    <p:sldId id="652" r:id="rId117"/>
    <p:sldId id="655" r:id="rId118"/>
    <p:sldId id="653" r:id="rId119"/>
    <p:sldId id="654" r:id="rId120"/>
    <p:sldId id="606" r:id="rId121"/>
    <p:sldId id="617" r:id="rId122"/>
    <p:sldId id="798" r:id="rId123"/>
    <p:sldId id="799" r:id="rId124"/>
    <p:sldId id="800" r:id="rId125"/>
    <p:sldId id="801" r:id="rId126"/>
    <p:sldId id="695" r:id="rId127"/>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0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5" autoAdjust="0"/>
    <p:restoredTop sz="90447" autoAdjust="0"/>
  </p:normalViewPr>
  <p:slideViewPr>
    <p:cSldViewPr>
      <p:cViewPr varScale="1">
        <p:scale>
          <a:sx n="178" d="100"/>
          <a:sy n="178" d="100"/>
        </p:scale>
        <p:origin x="1168" y="108"/>
      </p:cViewPr>
      <p:guideLst>
        <p:guide orient="horz" pos="2160"/>
        <p:guide pos="2904"/>
      </p:guideLst>
    </p:cSldViewPr>
  </p:slideViewPr>
  <p:outlineViewPr>
    <p:cViewPr>
      <p:scale>
        <a:sx n="33" d="100"/>
        <a:sy n="33" d="100"/>
      </p:scale>
      <p:origin x="18" y="66168"/>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81" d="100"/>
          <a:sy n="81" d="100"/>
        </p:scale>
        <p:origin x="3849" y="51"/>
      </p:cViewPr>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4D66014-1414-FB1F-4075-7597771F0E46}"/>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B33DA23-F508-8A01-8BAD-21EDD6527463}"/>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68E048B8-43C2-4A33-91CC-DD11A19BD00D}" type="datetimeFigureOut">
              <a:rPr lang="zh-CN" altLang="en-US" smtClean="0"/>
              <a:t>2026/5/17</a:t>
            </a:fld>
            <a:endParaRPr lang="zh-CN" altLang="en-US"/>
          </a:p>
        </p:txBody>
      </p:sp>
      <p:sp>
        <p:nvSpPr>
          <p:cNvPr id="4" name="页脚占位符 3">
            <a:extLst>
              <a:ext uri="{FF2B5EF4-FFF2-40B4-BE49-F238E27FC236}">
                <a16:creationId xmlns:a16="http://schemas.microsoft.com/office/drawing/2014/main" id="{43A7E5DD-D5F4-FFC3-AF7C-ADFE31D8E12D}"/>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6B53BC9-E724-CD8C-A81C-6139694D0F02}"/>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36F0656F-F613-410A-BBA9-29ABE481736E}" type="slidenum">
              <a:rPr lang="zh-CN" altLang="en-US" smtClean="0"/>
              <a:t>‹#›</a:t>
            </a:fld>
            <a:endParaRPr lang="zh-CN" altLang="en-US"/>
          </a:p>
        </p:txBody>
      </p:sp>
    </p:spTree>
    <p:extLst>
      <p:ext uri="{BB962C8B-B14F-4D97-AF65-F5344CB8AC3E}">
        <p14:creationId xmlns:p14="http://schemas.microsoft.com/office/powerpoint/2010/main" val="25627855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7ED30B0B-D603-E84E-9E65-6A3A289847A2}"/>
              </a:ext>
            </a:extLst>
          </p:cNvPr>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mn-ea"/>
              </a:defRPr>
            </a:lvl1pPr>
          </a:lstStyle>
          <a:p>
            <a:pPr>
              <a:defRPr/>
            </a:pPr>
            <a:endParaRPr lang="zh-CN" altLang="en-US"/>
          </a:p>
        </p:txBody>
      </p:sp>
      <p:sp>
        <p:nvSpPr>
          <p:cNvPr id="159747" name="Rectangle 3">
            <a:extLst>
              <a:ext uri="{FF2B5EF4-FFF2-40B4-BE49-F238E27FC236}">
                <a16:creationId xmlns:a16="http://schemas.microsoft.com/office/drawing/2014/main" id="{DCF71AC3-22A0-094D-8419-A1F8ACDB8897}"/>
              </a:ext>
            </a:extLst>
          </p:cNvPr>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mn-ea"/>
              </a:defRPr>
            </a:lvl1pPr>
          </a:lstStyle>
          <a:p>
            <a:pPr>
              <a:defRPr/>
            </a:pPr>
            <a:endParaRPr lang="en-US" altLang="zh-CN"/>
          </a:p>
        </p:txBody>
      </p:sp>
      <p:sp>
        <p:nvSpPr>
          <p:cNvPr id="6148" name="Rectangle 4">
            <a:extLst>
              <a:ext uri="{FF2B5EF4-FFF2-40B4-BE49-F238E27FC236}">
                <a16:creationId xmlns:a16="http://schemas.microsoft.com/office/drawing/2014/main" id="{A039007F-0064-7B4F-B143-1D96D417D485}"/>
              </a:ext>
            </a:extLst>
          </p:cNvPr>
          <p:cNvSpPr>
            <a:spLocks noGrp="1" noRot="1" noChangeAspect="1" noChangeArrowheads="1" noTextEdit="1"/>
          </p:cNvSpPr>
          <p:nvPr>
            <p:ph type="sldImg" idx="4294967295"/>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327215AE-61A0-0A4E-A527-424C86D4748A}"/>
              </a:ext>
            </a:extLst>
          </p:cNvPr>
          <p:cNvSpPr>
            <a:spLocks noGrp="1" noChangeArrowheads="1"/>
          </p:cNvSpPr>
          <p:nvPr>
            <p:ph type="body" sz="quarter" idx="4294967295"/>
          </p:nvPr>
        </p:nvSpPr>
        <p:spPr bwMode="auto">
          <a:xfrm>
            <a:off x="731838" y="4560888"/>
            <a:ext cx="5851525" cy="4319587"/>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9750" name="Rectangle 6">
            <a:extLst>
              <a:ext uri="{FF2B5EF4-FFF2-40B4-BE49-F238E27FC236}">
                <a16:creationId xmlns:a16="http://schemas.microsoft.com/office/drawing/2014/main" id="{6911E962-5700-7048-962B-AE008F5D2414}"/>
              </a:ext>
            </a:extLst>
          </p:cNvPr>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mn-ea"/>
              </a:defRPr>
            </a:lvl1pPr>
          </a:lstStyle>
          <a:p>
            <a:pPr>
              <a:defRPr/>
            </a:pPr>
            <a:endParaRPr lang="en-US" altLang="zh-CN"/>
          </a:p>
        </p:txBody>
      </p:sp>
      <p:sp>
        <p:nvSpPr>
          <p:cNvPr id="159751" name="Rectangle 7">
            <a:extLst>
              <a:ext uri="{FF2B5EF4-FFF2-40B4-BE49-F238E27FC236}">
                <a16:creationId xmlns:a16="http://schemas.microsoft.com/office/drawing/2014/main" id="{6981AB42-AC74-5F4B-9884-885F4DC37E81}"/>
              </a:ext>
            </a:extLst>
          </p:cNvPr>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6C3EF79-20B5-5E41-948D-672B95136DD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幻灯片图像占位符 1">
            <a:extLst>
              <a:ext uri="{FF2B5EF4-FFF2-40B4-BE49-F238E27FC236}">
                <a16:creationId xmlns:a16="http://schemas.microsoft.com/office/drawing/2014/main" id="{B0B4E89C-7B2E-2E43-A1DB-C6ADF67FCA70}"/>
              </a:ext>
            </a:extLst>
          </p:cNvPr>
          <p:cNvSpPr>
            <a:spLocks noGrp="1" noRot="1" noChangeAspect="1" noChangeArrowheads="1" noTextEdit="1"/>
          </p:cNvSpPr>
          <p:nvPr>
            <p:ph type="sldImg" idx="4294967295"/>
          </p:nvPr>
        </p:nvSpPr>
        <p:spPr>
          <a:ln/>
        </p:spPr>
      </p:sp>
      <p:sp>
        <p:nvSpPr>
          <p:cNvPr id="12290" name="备注占位符 2">
            <a:extLst>
              <a:ext uri="{FF2B5EF4-FFF2-40B4-BE49-F238E27FC236}">
                <a16:creationId xmlns:a16="http://schemas.microsoft.com/office/drawing/2014/main" id="{F014E8D6-651F-FA4E-AB42-ED88F99EA9B9}"/>
              </a:ext>
            </a:extLst>
          </p:cNvPr>
          <p:cNvSpPr>
            <a:spLocks noGrp="1" noChangeArrowheads="1"/>
          </p:cNvSpPr>
          <p:nvPr>
            <p:ph type="body" idx="4294967295"/>
          </p:nvPr>
        </p:nvSpPr>
        <p:spPr/>
        <p:txBody>
          <a:bodyPr/>
          <a:lstStyle/>
          <a:p>
            <a:endParaRPr lang="zh-CN" altLang="en-US"/>
          </a:p>
        </p:txBody>
      </p:sp>
      <p:sp>
        <p:nvSpPr>
          <p:cNvPr id="12291" name="灯片编号占位符 3">
            <a:extLst>
              <a:ext uri="{FF2B5EF4-FFF2-40B4-BE49-F238E27FC236}">
                <a16:creationId xmlns:a16="http://schemas.microsoft.com/office/drawing/2014/main" id="{6696A29E-7AF4-BA44-8331-63118DCE13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76881A0-1952-6D41-8D1C-EC42B484DF70}" type="slidenum">
              <a:rPr lang="en-US" altLang="zh-CN" smtClean="0"/>
              <a:pPr/>
              <a:t>5</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a:extLst>
              <a:ext uri="{FF2B5EF4-FFF2-40B4-BE49-F238E27FC236}">
                <a16:creationId xmlns:a16="http://schemas.microsoft.com/office/drawing/2014/main" id="{C4E708AF-5D46-214E-A398-12742A70FE30}"/>
              </a:ext>
            </a:extLst>
          </p:cNvPr>
          <p:cNvSpPr>
            <a:spLocks noGrp="1" noRot="1" noChangeAspect="1" noChangeArrowheads="1" noTextEdit="1"/>
          </p:cNvSpPr>
          <p:nvPr>
            <p:ph type="sldImg" idx="4294967295"/>
          </p:nvPr>
        </p:nvSpPr>
        <p:spPr>
          <a:ln/>
        </p:spPr>
      </p:sp>
      <p:sp>
        <p:nvSpPr>
          <p:cNvPr id="14338" name="备注占位符 2">
            <a:extLst>
              <a:ext uri="{FF2B5EF4-FFF2-40B4-BE49-F238E27FC236}">
                <a16:creationId xmlns:a16="http://schemas.microsoft.com/office/drawing/2014/main" id="{5982F2E1-FBEE-9E45-BAE6-91874488BA17}"/>
              </a:ext>
            </a:extLst>
          </p:cNvPr>
          <p:cNvSpPr>
            <a:spLocks noGrp="1" noChangeArrowheads="1"/>
          </p:cNvSpPr>
          <p:nvPr>
            <p:ph type="body" idx="4294967295"/>
          </p:nvPr>
        </p:nvSpPr>
        <p:spPr/>
        <p:txBody>
          <a:bodyPr/>
          <a:lstStyle/>
          <a:p>
            <a:endParaRPr lang="zh-CN" altLang="en-US"/>
          </a:p>
        </p:txBody>
      </p:sp>
      <p:sp>
        <p:nvSpPr>
          <p:cNvPr id="14339" name="灯片编号占位符 3">
            <a:extLst>
              <a:ext uri="{FF2B5EF4-FFF2-40B4-BE49-F238E27FC236}">
                <a16:creationId xmlns:a16="http://schemas.microsoft.com/office/drawing/2014/main" id="{42FBD477-CFDE-A541-AAFE-09D967400F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8347517-B4C2-B847-B23A-7CEDE73726B3}" type="slidenum">
              <a:rPr lang="en-US" altLang="zh-CN" smtClean="0"/>
              <a:pPr/>
              <a:t>6</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a:extLst>
              <a:ext uri="{FF2B5EF4-FFF2-40B4-BE49-F238E27FC236}">
                <a16:creationId xmlns:a16="http://schemas.microsoft.com/office/drawing/2014/main" id="{CC82F138-3CA8-C24A-A51C-3F26D6ED63EC}"/>
              </a:ext>
            </a:extLst>
          </p:cNvPr>
          <p:cNvSpPr>
            <a:spLocks noGrp="1" noRot="1" noChangeAspect="1" noChangeArrowheads="1" noTextEdit="1"/>
          </p:cNvSpPr>
          <p:nvPr>
            <p:ph type="sldImg" idx="4294967295"/>
          </p:nvPr>
        </p:nvSpPr>
        <p:spPr>
          <a:ln/>
        </p:spPr>
      </p:sp>
      <p:sp>
        <p:nvSpPr>
          <p:cNvPr id="16386" name="备注占位符 2">
            <a:extLst>
              <a:ext uri="{FF2B5EF4-FFF2-40B4-BE49-F238E27FC236}">
                <a16:creationId xmlns:a16="http://schemas.microsoft.com/office/drawing/2014/main" id="{B011AE6F-5608-F54E-B2EB-F865F135FC93}"/>
              </a:ext>
            </a:extLst>
          </p:cNvPr>
          <p:cNvSpPr>
            <a:spLocks noGrp="1" noChangeArrowheads="1"/>
          </p:cNvSpPr>
          <p:nvPr>
            <p:ph type="body" idx="4294967295"/>
          </p:nvPr>
        </p:nvSpPr>
        <p:spPr/>
        <p:txBody>
          <a:bodyPr/>
          <a:lstStyle/>
          <a:p>
            <a:endParaRPr lang="zh-CN" altLang="en-US"/>
          </a:p>
        </p:txBody>
      </p:sp>
      <p:sp>
        <p:nvSpPr>
          <p:cNvPr id="16387" name="灯片编号占位符 3">
            <a:extLst>
              <a:ext uri="{FF2B5EF4-FFF2-40B4-BE49-F238E27FC236}">
                <a16:creationId xmlns:a16="http://schemas.microsoft.com/office/drawing/2014/main" id="{D3ACA1C4-6BF0-2B45-9758-758F74AFE5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15E0A8-1058-4A4A-B882-6FBEDD684BB2}" type="slidenum">
              <a:rPr lang="en-US" altLang="zh-CN" smtClean="0"/>
              <a:pPr/>
              <a:t>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45DF19C3-C48A-5F4B-9A11-3CBB9411E54F}"/>
              </a:ext>
            </a:extLst>
          </p:cNvPr>
          <p:cNvSpPr>
            <a:spLocks noGrp="1" noRot="1" noChangeAspect="1" noChangeArrowheads="1" noTextEdit="1"/>
          </p:cNvSpPr>
          <p:nvPr>
            <p:ph type="sldImg" idx="4294967295"/>
          </p:nvPr>
        </p:nvSpPr>
        <p:spPr>
          <a:ln/>
        </p:spPr>
      </p:sp>
      <p:sp>
        <p:nvSpPr>
          <p:cNvPr id="18434" name="备注占位符 2">
            <a:extLst>
              <a:ext uri="{FF2B5EF4-FFF2-40B4-BE49-F238E27FC236}">
                <a16:creationId xmlns:a16="http://schemas.microsoft.com/office/drawing/2014/main" id="{9DFC15AA-A035-5246-B3FE-C822B4604765}"/>
              </a:ext>
            </a:extLst>
          </p:cNvPr>
          <p:cNvSpPr>
            <a:spLocks noGrp="1" noChangeArrowheads="1"/>
          </p:cNvSpPr>
          <p:nvPr>
            <p:ph type="body" idx="4294967295"/>
          </p:nvPr>
        </p:nvSpPr>
        <p:spPr/>
        <p:txBody>
          <a:bodyPr/>
          <a:lstStyle/>
          <a:p>
            <a:endParaRPr lang="zh-CN" altLang="en-US"/>
          </a:p>
        </p:txBody>
      </p:sp>
      <p:sp>
        <p:nvSpPr>
          <p:cNvPr id="18435" name="灯片编号占位符 3">
            <a:extLst>
              <a:ext uri="{FF2B5EF4-FFF2-40B4-BE49-F238E27FC236}">
                <a16:creationId xmlns:a16="http://schemas.microsoft.com/office/drawing/2014/main" id="{4E25FEA0-8E9E-6B4D-B5D6-8D2588A4A4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A6372E5-7747-4D4B-B671-5DF1D7F88E83}" type="slidenum">
              <a:rPr lang="en-US" altLang="zh-CN" smtClean="0"/>
              <a:pPr/>
              <a:t>8</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a:extLst>
              <a:ext uri="{FF2B5EF4-FFF2-40B4-BE49-F238E27FC236}">
                <a16:creationId xmlns:a16="http://schemas.microsoft.com/office/drawing/2014/main" id="{86E787C4-9E56-0D49-9680-B75A09388391}"/>
              </a:ext>
            </a:extLst>
          </p:cNvPr>
          <p:cNvSpPr>
            <a:spLocks noGrp="1" noRot="1" noChangeAspect="1" noChangeArrowheads="1" noTextEdit="1"/>
          </p:cNvSpPr>
          <p:nvPr>
            <p:ph type="sldImg" idx="4294967295"/>
          </p:nvPr>
        </p:nvSpPr>
        <p:spPr>
          <a:ln/>
        </p:spPr>
      </p:sp>
      <p:sp>
        <p:nvSpPr>
          <p:cNvPr id="21506" name="备注占位符 2">
            <a:extLst>
              <a:ext uri="{FF2B5EF4-FFF2-40B4-BE49-F238E27FC236}">
                <a16:creationId xmlns:a16="http://schemas.microsoft.com/office/drawing/2014/main" id="{AA82CAD4-579E-AF4F-B223-E36FA90F48DF}"/>
              </a:ext>
            </a:extLst>
          </p:cNvPr>
          <p:cNvSpPr>
            <a:spLocks noGrp="1" noChangeArrowheads="1"/>
          </p:cNvSpPr>
          <p:nvPr>
            <p:ph type="body" idx="4294967295"/>
          </p:nvPr>
        </p:nvSpPr>
        <p:spPr/>
        <p:txBody>
          <a:bodyPr/>
          <a:lstStyle/>
          <a:p>
            <a:endParaRPr lang="zh-CN" altLang="en-US"/>
          </a:p>
        </p:txBody>
      </p:sp>
      <p:sp>
        <p:nvSpPr>
          <p:cNvPr id="21507" name="灯片编号占位符 3">
            <a:extLst>
              <a:ext uri="{FF2B5EF4-FFF2-40B4-BE49-F238E27FC236}">
                <a16:creationId xmlns:a16="http://schemas.microsoft.com/office/drawing/2014/main" id="{3338438E-AC4F-8A42-A666-9C5E3AE6C4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02BB775-2790-C044-B19F-ABDEA338AED8}" type="slidenum">
              <a:rPr lang="en-US" altLang="zh-CN" smtClean="0"/>
              <a:pPr/>
              <a:t>10</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a:extLst>
              <a:ext uri="{FF2B5EF4-FFF2-40B4-BE49-F238E27FC236}">
                <a16:creationId xmlns:a16="http://schemas.microsoft.com/office/drawing/2014/main" id="{E2891540-B07E-674F-8754-8E049404C62A}"/>
              </a:ext>
            </a:extLst>
          </p:cNvPr>
          <p:cNvSpPr>
            <a:spLocks noGrp="1" noRot="1" noChangeAspect="1" noChangeArrowheads="1" noTextEdit="1"/>
          </p:cNvSpPr>
          <p:nvPr>
            <p:ph type="sldImg" idx="4294967295"/>
          </p:nvPr>
        </p:nvSpPr>
        <p:spPr>
          <a:ln/>
        </p:spPr>
      </p:sp>
      <p:sp>
        <p:nvSpPr>
          <p:cNvPr id="23554" name="备注占位符 2">
            <a:extLst>
              <a:ext uri="{FF2B5EF4-FFF2-40B4-BE49-F238E27FC236}">
                <a16:creationId xmlns:a16="http://schemas.microsoft.com/office/drawing/2014/main" id="{C33598FA-2E96-594D-923D-72F345A577CA}"/>
              </a:ext>
            </a:extLst>
          </p:cNvPr>
          <p:cNvSpPr>
            <a:spLocks noGrp="1" noChangeArrowheads="1"/>
          </p:cNvSpPr>
          <p:nvPr>
            <p:ph type="body" idx="4294967295"/>
          </p:nvPr>
        </p:nvSpPr>
        <p:spPr/>
        <p:txBody>
          <a:bodyPr/>
          <a:lstStyle/>
          <a:p>
            <a:endParaRPr lang="zh-CN" altLang="en-US"/>
          </a:p>
        </p:txBody>
      </p:sp>
      <p:sp>
        <p:nvSpPr>
          <p:cNvPr id="23555" name="灯片编号占位符 3">
            <a:extLst>
              <a:ext uri="{FF2B5EF4-FFF2-40B4-BE49-F238E27FC236}">
                <a16:creationId xmlns:a16="http://schemas.microsoft.com/office/drawing/2014/main" id="{D4C96874-A7DD-0548-884A-A57F70A2FA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70F8AEE-E9DD-2145-A8FB-C43CFBE301CB}" type="slidenum">
              <a:rPr lang="en-US" altLang="zh-CN" smtClean="0"/>
              <a:pPr/>
              <a:t>11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78B4771A-6A49-F14B-A15F-0079D9F6E562}"/>
              </a:ext>
            </a:extLst>
          </p:cNvPr>
          <p:cNvSpPr>
            <a:spLocks noGrp="1" noRot="1" noChangeAspect="1" noChangeArrowheads="1" noTextEdit="1"/>
          </p:cNvSpPr>
          <p:nvPr>
            <p:ph type="sldImg" idx="4294967295"/>
          </p:nvPr>
        </p:nvSpPr>
        <p:spPr>
          <a:ln/>
        </p:spPr>
      </p:sp>
      <p:sp>
        <p:nvSpPr>
          <p:cNvPr id="25602" name="备注占位符 2">
            <a:extLst>
              <a:ext uri="{FF2B5EF4-FFF2-40B4-BE49-F238E27FC236}">
                <a16:creationId xmlns:a16="http://schemas.microsoft.com/office/drawing/2014/main" id="{67125903-CED0-F046-BC0B-CF8A270AC6E2}"/>
              </a:ext>
            </a:extLst>
          </p:cNvPr>
          <p:cNvSpPr>
            <a:spLocks noGrp="1" noChangeArrowheads="1"/>
          </p:cNvSpPr>
          <p:nvPr>
            <p:ph type="body" idx="4294967295"/>
          </p:nvPr>
        </p:nvSpPr>
        <p:spPr/>
        <p:txBody>
          <a:bodyPr/>
          <a:lstStyle/>
          <a:p>
            <a:endParaRPr lang="zh-CN" altLang="en-US"/>
          </a:p>
        </p:txBody>
      </p:sp>
      <p:sp>
        <p:nvSpPr>
          <p:cNvPr id="25603" name="灯片编号占位符 3">
            <a:extLst>
              <a:ext uri="{FF2B5EF4-FFF2-40B4-BE49-F238E27FC236}">
                <a16:creationId xmlns:a16="http://schemas.microsoft.com/office/drawing/2014/main" id="{A2074FE7-B055-7544-B3F3-D282359539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603068-7E91-404A-92A4-8F009B8D83D4}" type="slidenum">
              <a:rPr lang="en-US" altLang="zh-CN" smtClean="0"/>
              <a:pPr/>
              <a:t>12</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6CF5A4C4-98D1-B444-A72C-68CB020316A3}"/>
              </a:ext>
            </a:extLst>
          </p:cNvPr>
          <p:cNvSpPr>
            <a:spLocks noGrp="1" noRot="1" noChangeAspect="1" noChangeArrowheads="1" noTextEdit="1"/>
          </p:cNvSpPr>
          <p:nvPr>
            <p:ph type="sldImg" idx="4294967295"/>
          </p:nvPr>
        </p:nvSpPr>
        <p:spPr>
          <a:ln/>
        </p:spPr>
      </p:sp>
      <p:sp>
        <p:nvSpPr>
          <p:cNvPr id="27650" name="备注占位符 2">
            <a:extLst>
              <a:ext uri="{FF2B5EF4-FFF2-40B4-BE49-F238E27FC236}">
                <a16:creationId xmlns:a16="http://schemas.microsoft.com/office/drawing/2014/main" id="{30CC69E4-1F9D-F044-92ED-2C46C04ACD19}"/>
              </a:ext>
            </a:extLst>
          </p:cNvPr>
          <p:cNvSpPr>
            <a:spLocks noGrp="1" noChangeArrowheads="1"/>
          </p:cNvSpPr>
          <p:nvPr>
            <p:ph type="body" idx="4294967295"/>
          </p:nvPr>
        </p:nvSpPr>
        <p:spPr/>
        <p:txBody>
          <a:bodyPr/>
          <a:lstStyle/>
          <a:p>
            <a:endParaRPr lang="en-US" altLang="zh-CN"/>
          </a:p>
          <a:p>
            <a:endParaRPr lang="zh-CN" altLang="en-US"/>
          </a:p>
        </p:txBody>
      </p:sp>
      <p:sp>
        <p:nvSpPr>
          <p:cNvPr id="27651" name="灯片编号占位符 3">
            <a:extLst>
              <a:ext uri="{FF2B5EF4-FFF2-40B4-BE49-F238E27FC236}">
                <a16:creationId xmlns:a16="http://schemas.microsoft.com/office/drawing/2014/main" id="{A7E485D8-5A5F-4443-B6FD-3742AD62E2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657665B-E28C-6742-B337-322831D608D4}" type="slidenum">
              <a:rPr lang="en-US" altLang="zh-CN" smtClean="0"/>
              <a:pPr/>
              <a:t>13</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a:extLst>
              <a:ext uri="{FF2B5EF4-FFF2-40B4-BE49-F238E27FC236}">
                <a16:creationId xmlns:a16="http://schemas.microsoft.com/office/drawing/2014/main" id="{48E0B4A0-33A5-3241-822C-D6D2A94D05A5}"/>
              </a:ext>
            </a:extLst>
          </p:cNvPr>
          <p:cNvSpPr>
            <a:spLocks noGrp="1" noRot="1" noChangeAspect="1" noChangeArrowheads="1" noTextEdit="1"/>
          </p:cNvSpPr>
          <p:nvPr>
            <p:ph type="sldImg" idx="4294967295"/>
          </p:nvPr>
        </p:nvSpPr>
        <p:spPr>
          <a:ln/>
        </p:spPr>
      </p:sp>
      <p:sp>
        <p:nvSpPr>
          <p:cNvPr id="29698" name="备注占位符 2">
            <a:extLst>
              <a:ext uri="{FF2B5EF4-FFF2-40B4-BE49-F238E27FC236}">
                <a16:creationId xmlns:a16="http://schemas.microsoft.com/office/drawing/2014/main" id="{79D282FD-E12D-FC49-96BC-B262B5ADB109}"/>
              </a:ext>
            </a:extLst>
          </p:cNvPr>
          <p:cNvSpPr>
            <a:spLocks noGrp="1" noChangeArrowheads="1"/>
          </p:cNvSpPr>
          <p:nvPr>
            <p:ph type="body" idx="4294967295"/>
          </p:nvPr>
        </p:nvSpPr>
        <p:spPr/>
        <p:txBody>
          <a:bodyPr/>
          <a:lstStyle/>
          <a:p>
            <a:endParaRPr lang="zh-CN" altLang="en-US"/>
          </a:p>
        </p:txBody>
      </p:sp>
      <p:sp>
        <p:nvSpPr>
          <p:cNvPr id="29699" name="灯片编号占位符 3">
            <a:extLst>
              <a:ext uri="{FF2B5EF4-FFF2-40B4-BE49-F238E27FC236}">
                <a16:creationId xmlns:a16="http://schemas.microsoft.com/office/drawing/2014/main" id="{755D7E7F-25CB-F54A-A36D-DDCB355131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F845F55-65D7-BD45-AECB-2FAB1056279F}" type="slidenum">
              <a:rPr lang="en-US" altLang="zh-CN" smtClean="0"/>
              <a:pPr/>
              <a:t>14</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2FEE5402-DFEF-8041-9C22-05927755DC42}"/>
              </a:ext>
            </a:extLst>
          </p:cNvPr>
          <p:cNvSpPr>
            <a:spLocks noGrp="1" noRot="1" noChangeAspect="1" noChangeArrowheads="1" noTextEdit="1"/>
          </p:cNvSpPr>
          <p:nvPr>
            <p:ph type="sldImg" idx="4294967295"/>
          </p:nvPr>
        </p:nvSpPr>
        <p:spPr>
          <a:ln/>
        </p:spPr>
      </p:sp>
      <p:sp>
        <p:nvSpPr>
          <p:cNvPr id="31746" name="备注占位符 2">
            <a:extLst>
              <a:ext uri="{FF2B5EF4-FFF2-40B4-BE49-F238E27FC236}">
                <a16:creationId xmlns:a16="http://schemas.microsoft.com/office/drawing/2014/main" id="{A00E48AF-9E30-6B47-8CD1-6C746AD163B3}"/>
              </a:ext>
            </a:extLst>
          </p:cNvPr>
          <p:cNvSpPr>
            <a:spLocks noGrp="1" noChangeArrowheads="1"/>
          </p:cNvSpPr>
          <p:nvPr>
            <p:ph type="body" idx="4294967295"/>
          </p:nvPr>
        </p:nvSpPr>
        <p:spPr/>
        <p:txBody>
          <a:bodyPr/>
          <a:lstStyle/>
          <a:p>
            <a:endParaRPr lang="zh-CN" altLang="en-US"/>
          </a:p>
        </p:txBody>
      </p:sp>
      <p:sp>
        <p:nvSpPr>
          <p:cNvPr id="31747" name="灯片编号占位符 3">
            <a:extLst>
              <a:ext uri="{FF2B5EF4-FFF2-40B4-BE49-F238E27FC236}">
                <a16:creationId xmlns:a16="http://schemas.microsoft.com/office/drawing/2014/main" id="{2FFC7419-39B0-0E4B-B856-322674CA65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C32F2CF-3D69-914B-91B5-72AB6F9F6743}" type="slidenum">
              <a:rPr lang="en-US" altLang="zh-CN" smtClean="0"/>
              <a:pPr/>
              <a:t>15</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a:extLst>
              <a:ext uri="{FF2B5EF4-FFF2-40B4-BE49-F238E27FC236}">
                <a16:creationId xmlns:a16="http://schemas.microsoft.com/office/drawing/2014/main" id="{9F602B87-94F1-1D47-BC77-556662490DF2}"/>
              </a:ext>
            </a:extLst>
          </p:cNvPr>
          <p:cNvSpPr>
            <a:spLocks noGrp="1" noRot="1" noChangeAspect="1" noChangeArrowheads="1" noTextEdit="1"/>
          </p:cNvSpPr>
          <p:nvPr>
            <p:ph type="sldImg" idx="4294967295"/>
          </p:nvPr>
        </p:nvSpPr>
        <p:spPr>
          <a:ln/>
        </p:spPr>
      </p:sp>
      <p:sp>
        <p:nvSpPr>
          <p:cNvPr id="35842" name="备注占位符 2">
            <a:extLst>
              <a:ext uri="{FF2B5EF4-FFF2-40B4-BE49-F238E27FC236}">
                <a16:creationId xmlns:a16="http://schemas.microsoft.com/office/drawing/2014/main" id="{06981A0D-07C7-9644-B6D7-4D45458EC090}"/>
              </a:ext>
            </a:extLst>
          </p:cNvPr>
          <p:cNvSpPr>
            <a:spLocks noGrp="1" noChangeArrowheads="1"/>
          </p:cNvSpPr>
          <p:nvPr>
            <p:ph type="body" idx="4294967295"/>
          </p:nvPr>
        </p:nvSpPr>
        <p:spPr/>
        <p:txBody>
          <a:bodyPr/>
          <a:lstStyle/>
          <a:p>
            <a:endParaRPr lang="zh-CN" altLang="en-US"/>
          </a:p>
        </p:txBody>
      </p:sp>
      <p:sp>
        <p:nvSpPr>
          <p:cNvPr id="35843" name="灯片编号占位符 3">
            <a:extLst>
              <a:ext uri="{FF2B5EF4-FFF2-40B4-BE49-F238E27FC236}">
                <a16:creationId xmlns:a16="http://schemas.microsoft.com/office/drawing/2014/main" id="{281E80F5-B73D-9549-A8C0-A751E342CB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AD1452-0A0A-754D-8CB9-011D110203FE}" type="slidenum">
              <a:rPr lang="zh-CN" altLang="en-US" smtClean="0"/>
              <a:pPr/>
              <a:t>19</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39EBC01E-32ED-9845-B19C-11FA73175D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2D6A4B5-442B-AE48-B527-9893AFEB8FEA}" type="slidenum">
              <a:rPr lang="en-US" altLang="zh-CN" smtClean="0"/>
              <a:pPr/>
              <a:t>22</a:t>
            </a:fld>
            <a:endParaRPr lang="en-US" altLang="zh-CN"/>
          </a:p>
        </p:txBody>
      </p:sp>
      <p:sp>
        <p:nvSpPr>
          <p:cNvPr id="38914" name="Rectangle 2">
            <a:extLst>
              <a:ext uri="{FF2B5EF4-FFF2-40B4-BE49-F238E27FC236}">
                <a16:creationId xmlns:a16="http://schemas.microsoft.com/office/drawing/2014/main" id="{3C898610-E08A-AF4F-A3D4-5D6E2E87ACDA}"/>
              </a:ext>
            </a:extLst>
          </p:cNvPr>
          <p:cNvSpPr>
            <a:spLocks noGrp="1" noRot="1" noChangeAspect="1" noChangeArrowheads="1" noTextEdit="1"/>
          </p:cNvSpPr>
          <p:nvPr>
            <p:ph type="sldImg" idx="4294967295"/>
          </p:nvPr>
        </p:nvSpPr>
        <p:spPr>
          <a:ln/>
        </p:spPr>
      </p:sp>
      <p:sp>
        <p:nvSpPr>
          <p:cNvPr id="38915" name="Rectangle 3">
            <a:extLst>
              <a:ext uri="{FF2B5EF4-FFF2-40B4-BE49-F238E27FC236}">
                <a16:creationId xmlns:a16="http://schemas.microsoft.com/office/drawing/2014/main" id="{B2634C9F-97A7-0846-8EEC-7A5E9166D7E7}"/>
              </a:ext>
            </a:extLst>
          </p:cNvPr>
          <p:cNvSpPr>
            <a:spLocks noGrp="1" noChangeArrowheads="1"/>
          </p:cNvSpPr>
          <p:nvPr>
            <p:ph type="body" idx="4294967295"/>
          </p:nvPr>
        </p:nvSpPr>
        <p:spPr/>
        <p:txBody>
          <a:bodyPr/>
          <a:lstStyle/>
          <a:p>
            <a:pPr lvl="1"/>
            <a:r>
              <a:rPr lang="zh-CN" altLang="en-US"/>
              <a:t>在不同的环境下，缺省策略不尽相同，例如，</a:t>
            </a:r>
          </a:p>
          <a:p>
            <a:pPr lvl="1"/>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a:extLst>
              <a:ext uri="{FF2B5EF4-FFF2-40B4-BE49-F238E27FC236}">
                <a16:creationId xmlns:a16="http://schemas.microsoft.com/office/drawing/2014/main" id="{C15B1A90-4CFA-D141-8906-B4DCFA8415C0}"/>
              </a:ext>
            </a:extLst>
          </p:cNvPr>
          <p:cNvSpPr>
            <a:spLocks noGrp="1" noRot="1" noChangeAspect="1" noChangeArrowheads="1" noTextEdit="1"/>
          </p:cNvSpPr>
          <p:nvPr>
            <p:ph type="sldImg" idx="4294967295"/>
          </p:nvPr>
        </p:nvSpPr>
        <p:spPr>
          <a:ln/>
        </p:spPr>
      </p:sp>
      <p:sp>
        <p:nvSpPr>
          <p:cNvPr id="47106" name="备注占位符 2">
            <a:extLst>
              <a:ext uri="{FF2B5EF4-FFF2-40B4-BE49-F238E27FC236}">
                <a16:creationId xmlns:a16="http://schemas.microsoft.com/office/drawing/2014/main" id="{C30BE4EF-09F2-4A4A-9C8A-4BF19926627D}"/>
              </a:ext>
            </a:extLst>
          </p:cNvPr>
          <p:cNvSpPr>
            <a:spLocks noGrp="1" noChangeArrowheads="1"/>
          </p:cNvSpPr>
          <p:nvPr>
            <p:ph type="body" idx="4294967295"/>
          </p:nvPr>
        </p:nvSpPr>
        <p:spPr/>
        <p:txBody>
          <a:bodyPr/>
          <a:lstStyle/>
          <a:p>
            <a:endParaRPr lang="zh-CN" altLang="en-US"/>
          </a:p>
        </p:txBody>
      </p:sp>
      <p:sp>
        <p:nvSpPr>
          <p:cNvPr id="47107" name="灯片编号占位符 3">
            <a:extLst>
              <a:ext uri="{FF2B5EF4-FFF2-40B4-BE49-F238E27FC236}">
                <a16:creationId xmlns:a16="http://schemas.microsoft.com/office/drawing/2014/main" id="{1404C296-A108-284A-9BFE-FB0D033689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3747D6F-2490-BE46-AA38-D28873565303}" type="slidenum">
              <a:rPr lang="zh-CN" altLang="en-US" smtClean="0"/>
              <a:pPr/>
              <a:t>31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D622C4A5-8B9F-964E-B255-44270D4109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E5D6C6-31DD-4740-BB63-C09EDAFB83DD}" type="slidenum">
              <a:rPr lang="en-US" altLang="zh-CN" smtClean="0"/>
              <a:pPr/>
              <a:t>32</a:t>
            </a:fld>
            <a:endParaRPr lang="en-US" altLang="zh-CN"/>
          </a:p>
        </p:txBody>
      </p:sp>
      <p:sp>
        <p:nvSpPr>
          <p:cNvPr id="49154" name="Rectangle 2">
            <a:extLst>
              <a:ext uri="{FF2B5EF4-FFF2-40B4-BE49-F238E27FC236}">
                <a16:creationId xmlns:a16="http://schemas.microsoft.com/office/drawing/2014/main" id="{A87DD633-0BAD-4949-89EB-B3FDC2E78DDC}"/>
              </a:ext>
            </a:extLst>
          </p:cNvPr>
          <p:cNvSpPr>
            <a:spLocks noGrp="1" noRot="1" noChangeAspect="1" noChangeArrowheads="1" noTextEdit="1"/>
          </p:cNvSpPr>
          <p:nvPr>
            <p:ph type="sldImg" idx="4294967295"/>
          </p:nvPr>
        </p:nvSpPr>
        <p:spPr>
          <a:ln/>
        </p:spPr>
      </p:sp>
      <p:sp>
        <p:nvSpPr>
          <p:cNvPr id="49155" name="Rectangle 3">
            <a:extLst>
              <a:ext uri="{FF2B5EF4-FFF2-40B4-BE49-F238E27FC236}">
                <a16:creationId xmlns:a16="http://schemas.microsoft.com/office/drawing/2014/main" id="{CC654996-EF88-F043-B0C8-E9E74448434C}"/>
              </a:ext>
            </a:extLst>
          </p:cNvPr>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a:extLst>
              <a:ext uri="{FF2B5EF4-FFF2-40B4-BE49-F238E27FC236}">
                <a16:creationId xmlns:a16="http://schemas.microsoft.com/office/drawing/2014/main" id="{57AE57F7-BD46-DF40-9705-56F1069E3659}"/>
              </a:ext>
            </a:extLst>
          </p:cNvPr>
          <p:cNvSpPr>
            <a:spLocks noGrp="1" noRot="1" noChangeAspect="1" noChangeArrowheads="1" noTextEdit="1"/>
          </p:cNvSpPr>
          <p:nvPr>
            <p:ph type="sldImg" idx="4294967295"/>
          </p:nvPr>
        </p:nvSpPr>
        <p:spPr>
          <a:ln/>
        </p:spPr>
      </p:sp>
      <p:sp>
        <p:nvSpPr>
          <p:cNvPr id="54274" name="备注占位符 2">
            <a:extLst>
              <a:ext uri="{FF2B5EF4-FFF2-40B4-BE49-F238E27FC236}">
                <a16:creationId xmlns:a16="http://schemas.microsoft.com/office/drawing/2014/main" id="{7BAF0029-B820-B749-9107-54B27DC6B2AB}"/>
              </a:ext>
            </a:extLst>
          </p:cNvPr>
          <p:cNvSpPr>
            <a:spLocks noGrp="1" noChangeArrowheads="1"/>
          </p:cNvSpPr>
          <p:nvPr>
            <p:ph type="body" idx="4294967295"/>
          </p:nvPr>
        </p:nvSpPr>
        <p:spPr/>
        <p:txBody>
          <a:bodyPr/>
          <a:lstStyle/>
          <a:p>
            <a:endParaRPr lang="zh-CN" altLang="en-US"/>
          </a:p>
        </p:txBody>
      </p:sp>
      <p:sp>
        <p:nvSpPr>
          <p:cNvPr id="54275" name="灯片编号占位符 3">
            <a:extLst>
              <a:ext uri="{FF2B5EF4-FFF2-40B4-BE49-F238E27FC236}">
                <a16:creationId xmlns:a16="http://schemas.microsoft.com/office/drawing/2014/main" id="{C9DE0D63-5B6D-8744-8E35-C37F85E574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CEDF571-B241-AD4A-AAAA-AD9DF51FC473}" type="slidenum">
              <a:rPr lang="en-US" altLang="zh-CN" smtClean="0"/>
              <a:pPr/>
              <a:t>36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a:extLst>
              <a:ext uri="{FF2B5EF4-FFF2-40B4-BE49-F238E27FC236}">
                <a16:creationId xmlns:a16="http://schemas.microsoft.com/office/drawing/2014/main" id="{A008C41A-9316-D247-9678-946BFBF217A8}"/>
              </a:ext>
            </a:extLst>
          </p:cNvPr>
          <p:cNvSpPr>
            <a:spLocks noGrp="1" noRot="1" noChangeAspect="1" noChangeArrowheads="1" noTextEdit="1"/>
          </p:cNvSpPr>
          <p:nvPr>
            <p:ph type="sldImg" idx="4294967295"/>
          </p:nvPr>
        </p:nvSpPr>
        <p:spPr>
          <a:ln/>
        </p:spPr>
      </p:sp>
      <p:sp>
        <p:nvSpPr>
          <p:cNvPr id="60418" name="备注占位符 2">
            <a:extLst>
              <a:ext uri="{FF2B5EF4-FFF2-40B4-BE49-F238E27FC236}">
                <a16:creationId xmlns:a16="http://schemas.microsoft.com/office/drawing/2014/main" id="{ECB8A357-B94C-9145-98F9-C2E72E281045}"/>
              </a:ext>
            </a:extLst>
          </p:cNvPr>
          <p:cNvSpPr>
            <a:spLocks noGrp="1" noChangeArrowheads="1"/>
          </p:cNvSpPr>
          <p:nvPr>
            <p:ph type="body" idx="4294967295"/>
          </p:nvPr>
        </p:nvSpPr>
        <p:spPr/>
        <p:txBody>
          <a:bodyPr/>
          <a:lstStyle/>
          <a:p>
            <a:endParaRPr lang="zh-CN" altLang="en-US"/>
          </a:p>
        </p:txBody>
      </p:sp>
      <p:sp>
        <p:nvSpPr>
          <p:cNvPr id="60419" name="灯片编号占位符 3">
            <a:extLst>
              <a:ext uri="{FF2B5EF4-FFF2-40B4-BE49-F238E27FC236}">
                <a16:creationId xmlns:a16="http://schemas.microsoft.com/office/drawing/2014/main" id="{982B4CFB-F862-C746-A0FB-CDA2CEC0EE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FD28D5C-777C-0243-B9F2-E1158E9A12CA}" type="slidenum">
              <a:rPr lang="en-US" altLang="zh-CN" smtClean="0"/>
              <a:pPr/>
              <a:t>41</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a:extLst>
              <a:ext uri="{FF2B5EF4-FFF2-40B4-BE49-F238E27FC236}">
                <a16:creationId xmlns:a16="http://schemas.microsoft.com/office/drawing/2014/main" id="{16AB0DC9-4191-EC4C-BE07-20F7203911ED}"/>
              </a:ext>
            </a:extLst>
          </p:cNvPr>
          <p:cNvSpPr>
            <a:spLocks noGrp="1" noRot="1" noChangeAspect="1" noChangeArrowheads="1" noTextEdit="1"/>
          </p:cNvSpPr>
          <p:nvPr>
            <p:ph type="sldImg" idx="4294967295"/>
          </p:nvPr>
        </p:nvSpPr>
        <p:spPr>
          <a:ln/>
        </p:spPr>
      </p:sp>
      <p:sp>
        <p:nvSpPr>
          <p:cNvPr id="62466" name="备注占位符 2">
            <a:extLst>
              <a:ext uri="{FF2B5EF4-FFF2-40B4-BE49-F238E27FC236}">
                <a16:creationId xmlns:a16="http://schemas.microsoft.com/office/drawing/2014/main" id="{BFA3D856-0C8C-1B41-94DE-B4CD5DF1C527}"/>
              </a:ext>
            </a:extLst>
          </p:cNvPr>
          <p:cNvSpPr>
            <a:spLocks noGrp="1" noChangeArrowheads="1"/>
          </p:cNvSpPr>
          <p:nvPr>
            <p:ph type="body" idx="4294967295"/>
          </p:nvPr>
        </p:nvSpPr>
        <p:spPr/>
        <p:txBody>
          <a:bodyPr/>
          <a:lstStyle/>
          <a:p>
            <a:endParaRPr lang="zh-CN" altLang="en-US"/>
          </a:p>
        </p:txBody>
      </p:sp>
      <p:sp>
        <p:nvSpPr>
          <p:cNvPr id="62467" name="灯片编号占位符 3">
            <a:extLst>
              <a:ext uri="{FF2B5EF4-FFF2-40B4-BE49-F238E27FC236}">
                <a16:creationId xmlns:a16="http://schemas.microsoft.com/office/drawing/2014/main" id="{ACC5D3D0-5CF4-3649-9906-5764DA323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E7D48CE-10A1-DA45-B563-5D188613E8D1}" type="slidenum">
              <a:rPr lang="en-US" altLang="zh-CN" smtClean="0"/>
              <a:pPr/>
              <a:t>42</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a:extLst>
              <a:ext uri="{FF2B5EF4-FFF2-40B4-BE49-F238E27FC236}">
                <a16:creationId xmlns:a16="http://schemas.microsoft.com/office/drawing/2014/main" id="{90CD940D-F392-304F-B132-BCC12357FDCC}"/>
              </a:ext>
            </a:extLst>
          </p:cNvPr>
          <p:cNvSpPr>
            <a:spLocks noGrp="1" noRot="1" noChangeAspect="1" noChangeArrowheads="1" noTextEdit="1"/>
          </p:cNvSpPr>
          <p:nvPr>
            <p:ph type="sldImg" idx="4294967295"/>
          </p:nvPr>
        </p:nvSpPr>
        <p:spPr>
          <a:ln/>
        </p:spPr>
      </p:sp>
      <p:sp>
        <p:nvSpPr>
          <p:cNvPr id="64514" name="备注占位符 2">
            <a:extLst>
              <a:ext uri="{FF2B5EF4-FFF2-40B4-BE49-F238E27FC236}">
                <a16:creationId xmlns:a16="http://schemas.microsoft.com/office/drawing/2014/main" id="{279782DC-85DA-0648-A273-39FEB023F289}"/>
              </a:ext>
            </a:extLst>
          </p:cNvPr>
          <p:cNvSpPr>
            <a:spLocks noGrp="1" noChangeArrowheads="1"/>
          </p:cNvSpPr>
          <p:nvPr>
            <p:ph type="body" idx="4294967295"/>
          </p:nvPr>
        </p:nvSpPr>
        <p:spPr/>
        <p:txBody>
          <a:bodyPr/>
          <a:lstStyle/>
          <a:p>
            <a:endParaRPr lang="zh-CN" altLang="en-US"/>
          </a:p>
        </p:txBody>
      </p:sp>
      <p:sp>
        <p:nvSpPr>
          <p:cNvPr id="64515" name="灯片编号占位符 3">
            <a:extLst>
              <a:ext uri="{FF2B5EF4-FFF2-40B4-BE49-F238E27FC236}">
                <a16:creationId xmlns:a16="http://schemas.microsoft.com/office/drawing/2014/main" id="{3E2F6F5A-D486-1846-9D44-FE3680621C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B8149A-D04B-5048-9419-B18E538163A6}" type="slidenum">
              <a:rPr lang="en-US" altLang="zh-CN" smtClean="0"/>
              <a:pPr/>
              <a:t>43</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a:extLst>
              <a:ext uri="{FF2B5EF4-FFF2-40B4-BE49-F238E27FC236}">
                <a16:creationId xmlns:a16="http://schemas.microsoft.com/office/drawing/2014/main" id="{3327DF42-FE17-B04A-A7B3-DBFE62823630}"/>
              </a:ext>
            </a:extLst>
          </p:cNvPr>
          <p:cNvSpPr>
            <a:spLocks noGrp="1" noRot="1" noChangeAspect="1" noChangeArrowheads="1" noTextEdit="1"/>
          </p:cNvSpPr>
          <p:nvPr>
            <p:ph type="sldImg" idx="4294967295"/>
          </p:nvPr>
        </p:nvSpPr>
        <p:spPr>
          <a:ln/>
        </p:spPr>
      </p:sp>
      <p:sp>
        <p:nvSpPr>
          <p:cNvPr id="66562" name="备注占位符 2">
            <a:extLst>
              <a:ext uri="{FF2B5EF4-FFF2-40B4-BE49-F238E27FC236}">
                <a16:creationId xmlns:a16="http://schemas.microsoft.com/office/drawing/2014/main" id="{E12C1ACB-730C-8A4F-9787-0D0DF759F0C0}"/>
              </a:ext>
            </a:extLst>
          </p:cNvPr>
          <p:cNvSpPr>
            <a:spLocks noGrp="1" noChangeArrowheads="1"/>
          </p:cNvSpPr>
          <p:nvPr>
            <p:ph type="body" idx="4294967295"/>
          </p:nvPr>
        </p:nvSpPr>
        <p:spPr/>
        <p:txBody>
          <a:bodyPr/>
          <a:lstStyle/>
          <a:p>
            <a:endParaRPr lang="zh-CN" altLang="en-US"/>
          </a:p>
        </p:txBody>
      </p:sp>
      <p:sp>
        <p:nvSpPr>
          <p:cNvPr id="66563" name="灯片编号占位符 3">
            <a:extLst>
              <a:ext uri="{FF2B5EF4-FFF2-40B4-BE49-F238E27FC236}">
                <a16:creationId xmlns:a16="http://schemas.microsoft.com/office/drawing/2014/main" id="{AE5AB8D1-6729-9048-915E-70A75AA960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1F2A992-C1A7-CB4F-B6DE-CE1A8981FC08}" type="slidenum">
              <a:rPr lang="en-US" altLang="zh-CN" smtClean="0"/>
              <a:pPr/>
              <a:t>44</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a:extLst>
              <a:ext uri="{FF2B5EF4-FFF2-40B4-BE49-F238E27FC236}">
                <a16:creationId xmlns:a16="http://schemas.microsoft.com/office/drawing/2014/main" id="{E0CFE69E-8982-564E-9E23-FAC86945CF6A}"/>
              </a:ext>
            </a:extLst>
          </p:cNvPr>
          <p:cNvSpPr>
            <a:spLocks noGrp="1" noRot="1" noChangeAspect="1" noChangeArrowheads="1" noTextEdit="1"/>
          </p:cNvSpPr>
          <p:nvPr>
            <p:ph type="sldImg" idx="4294967295"/>
          </p:nvPr>
        </p:nvSpPr>
        <p:spPr>
          <a:ln/>
        </p:spPr>
      </p:sp>
      <p:sp>
        <p:nvSpPr>
          <p:cNvPr id="68610" name="备注占位符 2">
            <a:extLst>
              <a:ext uri="{FF2B5EF4-FFF2-40B4-BE49-F238E27FC236}">
                <a16:creationId xmlns:a16="http://schemas.microsoft.com/office/drawing/2014/main" id="{E1CC47D0-D5E2-7C40-93B9-23E4802B27FA}"/>
              </a:ext>
            </a:extLst>
          </p:cNvPr>
          <p:cNvSpPr>
            <a:spLocks noGrp="1" noChangeArrowheads="1"/>
          </p:cNvSpPr>
          <p:nvPr>
            <p:ph type="body" idx="4294967295"/>
          </p:nvPr>
        </p:nvSpPr>
        <p:spPr/>
        <p:txBody>
          <a:bodyPr/>
          <a:lstStyle/>
          <a:p>
            <a:endParaRPr lang="zh-CN" altLang="en-US"/>
          </a:p>
        </p:txBody>
      </p:sp>
      <p:sp>
        <p:nvSpPr>
          <p:cNvPr id="68611" name="灯片编号占位符 3">
            <a:extLst>
              <a:ext uri="{FF2B5EF4-FFF2-40B4-BE49-F238E27FC236}">
                <a16:creationId xmlns:a16="http://schemas.microsoft.com/office/drawing/2014/main" id="{422F86DD-D75D-344E-A9CB-F2E33F4AC5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71462E7-42CD-9749-9067-7336713EFA43}" type="slidenum">
              <a:rPr lang="en-US" altLang="zh-CN" smtClean="0"/>
              <a:pPr/>
              <a:t>45</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a:extLst>
              <a:ext uri="{FF2B5EF4-FFF2-40B4-BE49-F238E27FC236}">
                <a16:creationId xmlns:a16="http://schemas.microsoft.com/office/drawing/2014/main" id="{9F760968-7595-2643-9C53-28A9046EDE86}"/>
              </a:ext>
            </a:extLst>
          </p:cNvPr>
          <p:cNvSpPr>
            <a:spLocks noGrp="1" noRot="1" noChangeAspect="1" noChangeArrowheads="1" noTextEdit="1"/>
          </p:cNvSpPr>
          <p:nvPr>
            <p:ph type="sldImg" idx="4294967295"/>
          </p:nvPr>
        </p:nvSpPr>
        <p:spPr>
          <a:ln/>
        </p:spPr>
      </p:sp>
      <p:sp>
        <p:nvSpPr>
          <p:cNvPr id="70658" name="备注占位符 2">
            <a:extLst>
              <a:ext uri="{FF2B5EF4-FFF2-40B4-BE49-F238E27FC236}">
                <a16:creationId xmlns:a16="http://schemas.microsoft.com/office/drawing/2014/main" id="{3BB93E05-658C-684B-B2C5-1B7032FE600A}"/>
              </a:ext>
            </a:extLst>
          </p:cNvPr>
          <p:cNvSpPr>
            <a:spLocks noGrp="1" noChangeArrowheads="1"/>
          </p:cNvSpPr>
          <p:nvPr>
            <p:ph type="body" idx="4294967295"/>
          </p:nvPr>
        </p:nvSpPr>
        <p:spPr/>
        <p:txBody>
          <a:bodyPr/>
          <a:lstStyle/>
          <a:p>
            <a:endParaRPr lang="zh-CN" altLang="en-US"/>
          </a:p>
        </p:txBody>
      </p:sp>
      <p:sp>
        <p:nvSpPr>
          <p:cNvPr id="70659" name="灯片编号占位符 3">
            <a:extLst>
              <a:ext uri="{FF2B5EF4-FFF2-40B4-BE49-F238E27FC236}">
                <a16:creationId xmlns:a16="http://schemas.microsoft.com/office/drawing/2014/main" id="{57BE7903-4A2F-D244-B60B-06712719B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39484AF-41C6-2E41-8580-35D160EBDD3A}" type="slidenum">
              <a:rPr lang="en-US" altLang="zh-CN" smtClean="0"/>
              <a:pPr/>
              <a:t>46</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a:extLst>
              <a:ext uri="{FF2B5EF4-FFF2-40B4-BE49-F238E27FC236}">
                <a16:creationId xmlns:a16="http://schemas.microsoft.com/office/drawing/2014/main" id="{2111B4DF-7788-FF4E-830D-C333E11F011C}"/>
              </a:ext>
            </a:extLst>
          </p:cNvPr>
          <p:cNvSpPr>
            <a:spLocks noGrp="1" noRot="1" noChangeAspect="1" noChangeArrowheads="1" noTextEdit="1"/>
          </p:cNvSpPr>
          <p:nvPr>
            <p:ph type="sldImg" idx="4294967295"/>
          </p:nvPr>
        </p:nvSpPr>
        <p:spPr>
          <a:ln/>
        </p:spPr>
      </p:sp>
      <p:sp>
        <p:nvSpPr>
          <p:cNvPr id="74754" name="备注占位符 2">
            <a:extLst>
              <a:ext uri="{FF2B5EF4-FFF2-40B4-BE49-F238E27FC236}">
                <a16:creationId xmlns:a16="http://schemas.microsoft.com/office/drawing/2014/main" id="{27BCCDC5-C65A-8043-A16D-3955884C7D90}"/>
              </a:ext>
            </a:extLst>
          </p:cNvPr>
          <p:cNvSpPr>
            <a:spLocks noGrp="1" noChangeArrowheads="1"/>
          </p:cNvSpPr>
          <p:nvPr>
            <p:ph type="body" idx="4294967295"/>
          </p:nvPr>
        </p:nvSpPr>
        <p:spPr/>
        <p:txBody>
          <a:bodyPr/>
          <a:lstStyle/>
          <a:p>
            <a:endParaRPr lang="zh-CN" altLang="en-US"/>
          </a:p>
        </p:txBody>
      </p:sp>
      <p:sp>
        <p:nvSpPr>
          <p:cNvPr id="74755" name="灯片编号占位符 3">
            <a:extLst>
              <a:ext uri="{FF2B5EF4-FFF2-40B4-BE49-F238E27FC236}">
                <a16:creationId xmlns:a16="http://schemas.microsoft.com/office/drawing/2014/main" id="{D78ABB01-BA10-854D-9AE4-79FB38BB6D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5BE4D41-3586-CD46-AE90-971530D76A06}" type="slidenum">
              <a:rPr lang="zh-CN" altLang="en-US" smtClean="0"/>
              <a:pPr/>
              <a:t>49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a:extLst>
              <a:ext uri="{FF2B5EF4-FFF2-40B4-BE49-F238E27FC236}">
                <a16:creationId xmlns:a16="http://schemas.microsoft.com/office/drawing/2014/main" id="{ACEAC968-1035-F743-B1F4-27CA702E353C}"/>
              </a:ext>
            </a:extLst>
          </p:cNvPr>
          <p:cNvSpPr>
            <a:spLocks noGrp="1" noRot="1" noChangeAspect="1" noChangeArrowheads="1" noTextEdit="1"/>
          </p:cNvSpPr>
          <p:nvPr>
            <p:ph type="sldImg" idx="4294967295"/>
          </p:nvPr>
        </p:nvSpPr>
        <p:spPr>
          <a:ln/>
        </p:spPr>
      </p:sp>
      <p:sp>
        <p:nvSpPr>
          <p:cNvPr id="77826" name="备注占位符 2">
            <a:extLst>
              <a:ext uri="{FF2B5EF4-FFF2-40B4-BE49-F238E27FC236}">
                <a16:creationId xmlns:a16="http://schemas.microsoft.com/office/drawing/2014/main" id="{12906996-4AC3-724C-963F-C8C5B9A73AFF}"/>
              </a:ext>
            </a:extLst>
          </p:cNvPr>
          <p:cNvSpPr>
            <a:spLocks noGrp="1" noChangeArrowheads="1"/>
          </p:cNvSpPr>
          <p:nvPr>
            <p:ph type="body" idx="4294967295"/>
          </p:nvPr>
        </p:nvSpPr>
        <p:spPr/>
        <p:txBody>
          <a:bodyPr/>
          <a:lstStyle/>
          <a:p>
            <a:endParaRPr lang="zh-CN" altLang="en-US"/>
          </a:p>
        </p:txBody>
      </p:sp>
      <p:sp>
        <p:nvSpPr>
          <p:cNvPr id="77827" name="灯片编号占位符 3">
            <a:extLst>
              <a:ext uri="{FF2B5EF4-FFF2-40B4-BE49-F238E27FC236}">
                <a16:creationId xmlns:a16="http://schemas.microsoft.com/office/drawing/2014/main" id="{4EFE1A3D-B2B3-8C4C-A77F-BC61A6C330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4156B1A-0BE5-A441-B04C-4B1E8939C211}" type="slidenum">
              <a:rPr lang="en-US" altLang="zh-CN" smtClean="0"/>
              <a:pPr/>
              <a:t>51</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a:extLst>
              <a:ext uri="{FF2B5EF4-FFF2-40B4-BE49-F238E27FC236}">
                <a16:creationId xmlns:a16="http://schemas.microsoft.com/office/drawing/2014/main" id="{47AB97EC-A295-EB48-B99B-6D6C69EAD7C4}"/>
              </a:ext>
            </a:extLst>
          </p:cNvPr>
          <p:cNvSpPr>
            <a:spLocks noGrp="1" noRot="1" noChangeAspect="1" noChangeArrowheads="1" noTextEdit="1"/>
          </p:cNvSpPr>
          <p:nvPr>
            <p:ph type="sldImg" idx="4294967295"/>
          </p:nvPr>
        </p:nvSpPr>
        <p:spPr>
          <a:ln/>
        </p:spPr>
      </p:sp>
      <p:sp>
        <p:nvSpPr>
          <p:cNvPr id="80898" name="备注占位符 2">
            <a:extLst>
              <a:ext uri="{FF2B5EF4-FFF2-40B4-BE49-F238E27FC236}">
                <a16:creationId xmlns:a16="http://schemas.microsoft.com/office/drawing/2014/main" id="{31A1012C-B38B-434E-AE19-2A599097AB06}"/>
              </a:ext>
            </a:extLst>
          </p:cNvPr>
          <p:cNvSpPr>
            <a:spLocks noGrp="1" noChangeArrowheads="1"/>
          </p:cNvSpPr>
          <p:nvPr>
            <p:ph type="body" idx="4294967295"/>
          </p:nvPr>
        </p:nvSpPr>
        <p:spPr/>
        <p:txBody>
          <a:bodyPr/>
          <a:lstStyle/>
          <a:p>
            <a:endParaRPr lang="zh-CN" altLang="en-US"/>
          </a:p>
        </p:txBody>
      </p:sp>
      <p:sp>
        <p:nvSpPr>
          <p:cNvPr id="80899" name="灯片编号占位符 3">
            <a:extLst>
              <a:ext uri="{FF2B5EF4-FFF2-40B4-BE49-F238E27FC236}">
                <a16:creationId xmlns:a16="http://schemas.microsoft.com/office/drawing/2014/main" id="{2A566CA0-E733-014A-8C53-A6CF13C86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D6DC661-BD7F-E441-8F67-E815ABD28EC4}" type="slidenum">
              <a:rPr lang="en-US" altLang="zh-CN" smtClean="0"/>
              <a:pPr/>
              <a:t>53</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a:extLst>
              <a:ext uri="{FF2B5EF4-FFF2-40B4-BE49-F238E27FC236}">
                <a16:creationId xmlns:a16="http://schemas.microsoft.com/office/drawing/2014/main" id="{B257FA44-D4C4-8546-A596-108CE3367FE1}"/>
              </a:ext>
            </a:extLst>
          </p:cNvPr>
          <p:cNvSpPr>
            <a:spLocks noGrp="1" noRot="1" noChangeAspect="1" noChangeArrowheads="1" noTextEdit="1"/>
          </p:cNvSpPr>
          <p:nvPr>
            <p:ph type="sldImg" idx="4294967295"/>
          </p:nvPr>
        </p:nvSpPr>
        <p:spPr>
          <a:ln/>
        </p:spPr>
      </p:sp>
      <p:sp>
        <p:nvSpPr>
          <p:cNvPr id="82946" name="备注占位符 2">
            <a:extLst>
              <a:ext uri="{FF2B5EF4-FFF2-40B4-BE49-F238E27FC236}">
                <a16:creationId xmlns:a16="http://schemas.microsoft.com/office/drawing/2014/main" id="{B16FE9EC-3A16-2A4A-AF5A-7899509B26F1}"/>
              </a:ext>
            </a:extLst>
          </p:cNvPr>
          <p:cNvSpPr>
            <a:spLocks noGrp="1" noChangeArrowheads="1"/>
          </p:cNvSpPr>
          <p:nvPr>
            <p:ph type="body" idx="4294967295"/>
          </p:nvPr>
        </p:nvSpPr>
        <p:spPr/>
        <p:txBody>
          <a:bodyPr/>
          <a:lstStyle/>
          <a:p>
            <a:endParaRPr lang="zh-CN" altLang="en-US"/>
          </a:p>
        </p:txBody>
      </p:sp>
      <p:sp>
        <p:nvSpPr>
          <p:cNvPr id="82947" name="灯片编号占位符 3">
            <a:extLst>
              <a:ext uri="{FF2B5EF4-FFF2-40B4-BE49-F238E27FC236}">
                <a16:creationId xmlns:a16="http://schemas.microsoft.com/office/drawing/2014/main" id="{6F2E796B-B07A-AE4F-8A85-B386FA6E0A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13DB707-5CB7-D945-B0E8-A506A995F080}" type="slidenum">
              <a:rPr lang="en-US" altLang="zh-CN" smtClean="0"/>
              <a:pPr/>
              <a:t>59</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a:extLst>
              <a:ext uri="{FF2B5EF4-FFF2-40B4-BE49-F238E27FC236}">
                <a16:creationId xmlns:a16="http://schemas.microsoft.com/office/drawing/2014/main" id="{71702C95-CD39-434B-BCD0-8BF6163327C4}"/>
              </a:ext>
            </a:extLst>
          </p:cNvPr>
          <p:cNvSpPr>
            <a:spLocks noGrp="1" noRot="1" noChangeAspect="1" noChangeArrowheads="1" noTextEdit="1"/>
          </p:cNvSpPr>
          <p:nvPr>
            <p:ph type="sldImg" idx="4294967295"/>
          </p:nvPr>
        </p:nvSpPr>
        <p:spPr>
          <a:ln/>
        </p:spPr>
      </p:sp>
      <p:sp>
        <p:nvSpPr>
          <p:cNvPr id="86018" name="备注占位符 2">
            <a:extLst>
              <a:ext uri="{FF2B5EF4-FFF2-40B4-BE49-F238E27FC236}">
                <a16:creationId xmlns:a16="http://schemas.microsoft.com/office/drawing/2014/main" id="{B9DEE7E4-5DC7-3C4C-A853-7CA53C6F59C5}"/>
              </a:ext>
            </a:extLst>
          </p:cNvPr>
          <p:cNvSpPr>
            <a:spLocks noGrp="1" noChangeArrowheads="1"/>
          </p:cNvSpPr>
          <p:nvPr>
            <p:ph type="body" idx="4294967295"/>
          </p:nvPr>
        </p:nvSpPr>
        <p:spPr/>
        <p:txBody>
          <a:bodyPr/>
          <a:lstStyle/>
          <a:p>
            <a:endParaRPr lang="zh-CN" altLang="en-US"/>
          </a:p>
        </p:txBody>
      </p:sp>
      <p:sp>
        <p:nvSpPr>
          <p:cNvPr id="86019" name="灯片编号占位符 3">
            <a:extLst>
              <a:ext uri="{FF2B5EF4-FFF2-40B4-BE49-F238E27FC236}">
                <a16:creationId xmlns:a16="http://schemas.microsoft.com/office/drawing/2014/main" id="{E80E844C-1F31-9044-8EC2-F94B700752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4048C8-B54B-454E-AAD5-8B097A08DD37}" type="slidenum">
              <a:rPr lang="en-US" altLang="zh-CN" smtClean="0"/>
              <a:pPr/>
              <a:t>61</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幻灯片图像占位符 1">
            <a:extLst>
              <a:ext uri="{FF2B5EF4-FFF2-40B4-BE49-F238E27FC236}">
                <a16:creationId xmlns:a16="http://schemas.microsoft.com/office/drawing/2014/main" id="{0DA6EBF3-A5B0-654B-B4E8-C826D430C8F5}"/>
              </a:ext>
            </a:extLst>
          </p:cNvPr>
          <p:cNvSpPr>
            <a:spLocks noGrp="1" noRot="1" noChangeAspect="1" noChangeArrowheads="1" noTextEdit="1"/>
          </p:cNvSpPr>
          <p:nvPr>
            <p:ph type="sldImg" idx="4294967295"/>
          </p:nvPr>
        </p:nvSpPr>
        <p:spPr>
          <a:ln/>
        </p:spPr>
      </p:sp>
      <p:sp>
        <p:nvSpPr>
          <p:cNvPr id="92162" name="备注占位符 2">
            <a:extLst>
              <a:ext uri="{FF2B5EF4-FFF2-40B4-BE49-F238E27FC236}">
                <a16:creationId xmlns:a16="http://schemas.microsoft.com/office/drawing/2014/main" id="{9B713BE8-19C1-1E4E-8657-3A5005879FE8}"/>
              </a:ext>
            </a:extLst>
          </p:cNvPr>
          <p:cNvSpPr>
            <a:spLocks noGrp="1" noChangeArrowheads="1"/>
          </p:cNvSpPr>
          <p:nvPr>
            <p:ph type="body" idx="4294967295"/>
          </p:nvPr>
        </p:nvSpPr>
        <p:spPr/>
        <p:txBody>
          <a:bodyPr/>
          <a:lstStyle/>
          <a:p>
            <a:r>
              <a:rPr lang="zh-CN" altLang="en-US"/>
              <a:t>写代表了信息流动方向，写推送信息，读取信息（读的方向与信息流动方向相反）</a:t>
            </a:r>
          </a:p>
        </p:txBody>
      </p:sp>
      <p:sp>
        <p:nvSpPr>
          <p:cNvPr id="92163" name="灯片编号占位符 3">
            <a:extLst>
              <a:ext uri="{FF2B5EF4-FFF2-40B4-BE49-F238E27FC236}">
                <a16:creationId xmlns:a16="http://schemas.microsoft.com/office/drawing/2014/main" id="{D579BE3B-C036-9445-A7F4-F70297FD0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C7D987D-57A6-094C-852C-D1C8627B85F6}" type="slidenum">
              <a:rPr lang="zh-CN" altLang="en-US" smtClean="0"/>
              <a:pPr/>
              <a:t>66</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6C3EF79-20B5-5E41-948D-672B95136DDD}" type="slidenum">
              <a:rPr lang="zh-CN" altLang="en-US" smtClean="0"/>
              <a:pPr>
                <a:defRPr/>
              </a:pPr>
              <a:t>67</a:t>
            </a:fld>
            <a:endParaRPr lang="en-US" altLang="zh-CN"/>
          </a:p>
        </p:txBody>
      </p:sp>
    </p:spTree>
    <p:extLst>
      <p:ext uri="{BB962C8B-B14F-4D97-AF65-F5344CB8AC3E}">
        <p14:creationId xmlns:p14="http://schemas.microsoft.com/office/powerpoint/2010/main" val="3264814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幻灯片图像占位符 1">
            <a:extLst>
              <a:ext uri="{FF2B5EF4-FFF2-40B4-BE49-F238E27FC236}">
                <a16:creationId xmlns:a16="http://schemas.microsoft.com/office/drawing/2014/main" id="{FAF037C3-F8AB-764B-A5AA-254C15A94687}"/>
              </a:ext>
            </a:extLst>
          </p:cNvPr>
          <p:cNvSpPr>
            <a:spLocks noGrp="1" noRot="1" noChangeAspect="1" noChangeArrowheads="1" noTextEdit="1"/>
          </p:cNvSpPr>
          <p:nvPr>
            <p:ph type="sldImg" idx="4294967295"/>
          </p:nvPr>
        </p:nvSpPr>
        <p:spPr>
          <a:ln/>
        </p:spPr>
      </p:sp>
      <p:sp>
        <p:nvSpPr>
          <p:cNvPr id="94210" name="备注占位符 2">
            <a:extLst>
              <a:ext uri="{FF2B5EF4-FFF2-40B4-BE49-F238E27FC236}">
                <a16:creationId xmlns:a16="http://schemas.microsoft.com/office/drawing/2014/main" id="{CEBE08A8-EEE7-8742-B6BE-1060F9C9952E}"/>
              </a:ext>
            </a:extLst>
          </p:cNvPr>
          <p:cNvSpPr>
            <a:spLocks noGrp="1" noChangeArrowheads="1"/>
          </p:cNvSpPr>
          <p:nvPr>
            <p:ph type="body" idx="4294967295"/>
          </p:nvPr>
        </p:nvSpPr>
        <p:spPr/>
        <p:txBody>
          <a:bodyPr/>
          <a:lstStyle/>
          <a:p>
            <a:endParaRPr lang="zh-CN" altLang="en-US"/>
          </a:p>
        </p:txBody>
      </p:sp>
      <p:sp>
        <p:nvSpPr>
          <p:cNvPr id="94211" name="灯片编号占位符 3">
            <a:extLst>
              <a:ext uri="{FF2B5EF4-FFF2-40B4-BE49-F238E27FC236}">
                <a16:creationId xmlns:a16="http://schemas.microsoft.com/office/drawing/2014/main" id="{3ED81EDB-5FDE-9C4D-93FE-FD178E819E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E91DEE-DCA8-A542-80B8-97D47AC2DE96}" type="slidenum">
              <a:rPr lang="en-US" altLang="zh-CN" smtClean="0"/>
              <a:pPr/>
              <a:t>68</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42CC0EE6-3CD2-1545-BE8E-CE400DEF48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BC8F934-CFAF-5D42-85CE-4E2BE2E23996}" type="slidenum">
              <a:rPr lang="en-US" altLang="zh-CN" smtClean="0"/>
              <a:pPr/>
              <a:t>71</a:t>
            </a:fld>
            <a:endParaRPr lang="en-US" altLang="zh-CN"/>
          </a:p>
        </p:txBody>
      </p:sp>
      <p:sp>
        <p:nvSpPr>
          <p:cNvPr id="98306" name="Rectangle 2">
            <a:extLst>
              <a:ext uri="{FF2B5EF4-FFF2-40B4-BE49-F238E27FC236}">
                <a16:creationId xmlns:a16="http://schemas.microsoft.com/office/drawing/2014/main" id="{298DE97A-D7A0-2149-97C0-B266522AA1AD}"/>
              </a:ext>
            </a:extLst>
          </p:cNvPr>
          <p:cNvSpPr>
            <a:spLocks noGrp="1" noRot="1" noChangeAspect="1" noChangeArrowheads="1" noTextEdit="1"/>
          </p:cNvSpPr>
          <p:nvPr>
            <p:ph type="sldImg" idx="4294967295"/>
          </p:nvPr>
        </p:nvSpPr>
        <p:spPr>
          <a:ln/>
        </p:spPr>
      </p:sp>
      <p:sp>
        <p:nvSpPr>
          <p:cNvPr id="98307" name="Rectangle 3">
            <a:extLst>
              <a:ext uri="{FF2B5EF4-FFF2-40B4-BE49-F238E27FC236}">
                <a16:creationId xmlns:a16="http://schemas.microsoft.com/office/drawing/2014/main" id="{6A770750-DEBA-3B41-BFA7-C78A5C3FCDE5}"/>
              </a:ext>
            </a:extLst>
          </p:cNvPr>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06739148-42C1-3D46-BAFD-B48E3B4E6C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3394DB-BCEA-C647-88E6-1059ADD69BB7}" type="slidenum">
              <a:rPr lang="en-US" altLang="zh-CN" smtClean="0"/>
              <a:pPr/>
              <a:t>74</a:t>
            </a:fld>
            <a:endParaRPr lang="en-US" altLang="zh-CN"/>
          </a:p>
        </p:txBody>
      </p:sp>
      <p:sp>
        <p:nvSpPr>
          <p:cNvPr id="101378" name="Rectangle 2">
            <a:extLst>
              <a:ext uri="{FF2B5EF4-FFF2-40B4-BE49-F238E27FC236}">
                <a16:creationId xmlns:a16="http://schemas.microsoft.com/office/drawing/2014/main" id="{1B657329-A2F4-D245-84D2-4577DBC678CF}"/>
              </a:ext>
            </a:extLst>
          </p:cNvPr>
          <p:cNvSpPr>
            <a:spLocks noGrp="1" noRot="1" noChangeAspect="1" noChangeArrowheads="1" noTextEdit="1"/>
          </p:cNvSpPr>
          <p:nvPr>
            <p:ph type="sldImg" idx="4294967295"/>
          </p:nvPr>
        </p:nvSpPr>
        <p:spPr>
          <a:ln/>
        </p:spPr>
      </p:sp>
      <p:sp>
        <p:nvSpPr>
          <p:cNvPr id="101379" name="Rectangle 3">
            <a:extLst>
              <a:ext uri="{FF2B5EF4-FFF2-40B4-BE49-F238E27FC236}">
                <a16:creationId xmlns:a16="http://schemas.microsoft.com/office/drawing/2014/main" id="{19D47A17-70D8-554C-A39D-1E7BDBD521C9}"/>
              </a:ext>
            </a:extLst>
          </p:cNvPr>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a:extLst>
              <a:ext uri="{FF2B5EF4-FFF2-40B4-BE49-F238E27FC236}">
                <a16:creationId xmlns:a16="http://schemas.microsoft.com/office/drawing/2014/main" id="{B7E2D7A2-9224-6A4B-AB9E-4ADBB7462D94}"/>
              </a:ext>
            </a:extLst>
          </p:cNvPr>
          <p:cNvSpPr>
            <a:spLocks noGrp="1" noRot="1" noChangeAspect="1" noChangeArrowheads="1" noTextEdit="1"/>
          </p:cNvSpPr>
          <p:nvPr>
            <p:ph type="sldImg" idx="4294967295"/>
          </p:nvPr>
        </p:nvSpPr>
        <p:spPr>
          <a:ln/>
        </p:spPr>
      </p:sp>
      <p:sp>
        <p:nvSpPr>
          <p:cNvPr id="103426" name="备注占位符 2">
            <a:extLst>
              <a:ext uri="{FF2B5EF4-FFF2-40B4-BE49-F238E27FC236}">
                <a16:creationId xmlns:a16="http://schemas.microsoft.com/office/drawing/2014/main" id="{D8500A74-8647-744C-9068-3851694E3D32}"/>
              </a:ext>
            </a:extLst>
          </p:cNvPr>
          <p:cNvSpPr>
            <a:spLocks noGrp="1" noChangeArrowheads="1"/>
          </p:cNvSpPr>
          <p:nvPr>
            <p:ph type="body" idx="4294967295"/>
          </p:nvPr>
        </p:nvSpPr>
        <p:spPr/>
        <p:txBody>
          <a:bodyPr/>
          <a:lstStyle/>
          <a:p>
            <a:endParaRPr lang="zh-CN" altLang="en-US"/>
          </a:p>
        </p:txBody>
      </p:sp>
      <p:sp>
        <p:nvSpPr>
          <p:cNvPr id="103427" name="灯片编号占位符 3">
            <a:extLst>
              <a:ext uri="{FF2B5EF4-FFF2-40B4-BE49-F238E27FC236}">
                <a16:creationId xmlns:a16="http://schemas.microsoft.com/office/drawing/2014/main" id="{192309F4-D9B7-1E4B-BA74-D4F8D11194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D8491-C4B6-D743-B606-691A1F48058C}" type="slidenum">
              <a:rPr lang="en-US" altLang="zh-CN" smtClean="0"/>
              <a:pPr/>
              <a:t>76</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a:extLst>
              <a:ext uri="{FF2B5EF4-FFF2-40B4-BE49-F238E27FC236}">
                <a16:creationId xmlns:a16="http://schemas.microsoft.com/office/drawing/2014/main" id="{B7E2D7A2-9224-6A4B-AB9E-4ADBB7462D94}"/>
              </a:ext>
            </a:extLst>
          </p:cNvPr>
          <p:cNvSpPr>
            <a:spLocks noGrp="1" noRot="1" noChangeAspect="1" noChangeArrowheads="1" noTextEdit="1"/>
          </p:cNvSpPr>
          <p:nvPr>
            <p:ph type="sldImg" idx="4294967295"/>
          </p:nvPr>
        </p:nvSpPr>
        <p:spPr>
          <a:ln/>
        </p:spPr>
      </p:sp>
      <p:sp>
        <p:nvSpPr>
          <p:cNvPr id="103426" name="备注占位符 2">
            <a:extLst>
              <a:ext uri="{FF2B5EF4-FFF2-40B4-BE49-F238E27FC236}">
                <a16:creationId xmlns:a16="http://schemas.microsoft.com/office/drawing/2014/main" id="{D8500A74-8647-744C-9068-3851694E3D32}"/>
              </a:ext>
            </a:extLst>
          </p:cNvPr>
          <p:cNvSpPr>
            <a:spLocks noGrp="1" noChangeArrowheads="1"/>
          </p:cNvSpPr>
          <p:nvPr>
            <p:ph type="body" idx="4294967295"/>
          </p:nvPr>
        </p:nvSpPr>
        <p:spPr/>
        <p:txBody>
          <a:bodyPr/>
          <a:lstStyle/>
          <a:p>
            <a:endParaRPr lang="zh-CN" altLang="en-US" dirty="0"/>
          </a:p>
        </p:txBody>
      </p:sp>
      <p:sp>
        <p:nvSpPr>
          <p:cNvPr id="103427" name="灯片编号占位符 3">
            <a:extLst>
              <a:ext uri="{FF2B5EF4-FFF2-40B4-BE49-F238E27FC236}">
                <a16:creationId xmlns:a16="http://schemas.microsoft.com/office/drawing/2014/main" id="{192309F4-D9B7-1E4B-BA74-D4F8D11194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6D8491-C4B6-D743-B606-691A1F48058C}" type="slidenum">
              <a:rPr lang="en-US" altLang="zh-CN" smtClean="0"/>
              <a:pPr/>
              <a:t>78</a:t>
            </a:fld>
            <a:endParaRPr lang="en-US" altLang="zh-CN"/>
          </a:p>
        </p:txBody>
      </p:sp>
    </p:spTree>
    <p:extLst>
      <p:ext uri="{BB962C8B-B14F-4D97-AF65-F5344CB8AC3E}">
        <p14:creationId xmlns:p14="http://schemas.microsoft.com/office/powerpoint/2010/main" val="1187828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a:extLst>
              <a:ext uri="{FF2B5EF4-FFF2-40B4-BE49-F238E27FC236}">
                <a16:creationId xmlns:a16="http://schemas.microsoft.com/office/drawing/2014/main" id="{F71B7C8B-3934-5640-905E-134ED60927ED}"/>
              </a:ext>
            </a:extLst>
          </p:cNvPr>
          <p:cNvSpPr>
            <a:spLocks noGrp="1" noRot="1" noChangeAspect="1" noChangeArrowheads="1" noTextEdit="1"/>
          </p:cNvSpPr>
          <p:nvPr>
            <p:ph type="sldImg" idx="4294967295"/>
          </p:nvPr>
        </p:nvSpPr>
        <p:spPr>
          <a:ln/>
        </p:spPr>
      </p:sp>
      <p:sp>
        <p:nvSpPr>
          <p:cNvPr id="105474" name="备注占位符 2">
            <a:extLst>
              <a:ext uri="{FF2B5EF4-FFF2-40B4-BE49-F238E27FC236}">
                <a16:creationId xmlns:a16="http://schemas.microsoft.com/office/drawing/2014/main" id="{21C94810-6DE8-B948-8B72-45AC8C350733}"/>
              </a:ext>
            </a:extLst>
          </p:cNvPr>
          <p:cNvSpPr>
            <a:spLocks noGrp="1" noChangeArrowheads="1"/>
          </p:cNvSpPr>
          <p:nvPr>
            <p:ph type="body" idx="4294967295"/>
          </p:nvPr>
        </p:nvSpPr>
        <p:spPr/>
        <p:txBody>
          <a:bodyPr/>
          <a:lstStyle/>
          <a:p>
            <a:endParaRPr lang="zh-CN" altLang="en-US"/>
          </a:p>
        </p:txBody>
      </p:sp>
      <p:sp>
        <p:nvSpPr>
          <p:cNvPr id="105475" name="灯片编号占位符 3">
            <a:extLst>
              <a:ext uri="{FF2B5EF4-FFF2-40B4-BE49-F238E27FC236}">
                <a16:creationId xmlns:a16="http://schemas.microsoft.com/office/drawing/2014/main" id="{716AEDA2-7B25-C44C-B313-19947A2206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5ABD9A5-B819-4240-A412-293A1B3BCE2C}" type="slidenum">
              <a:rPr lang="en-US" altLang="zh-CN" smtClean="0"/>
              <a:pPr/>
              <a:t>80</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a:extLst>
              <a:ext uri="{FF2B5EF4-FFF2-40B4-BE49-F238E27FC236}">
                <a16:creationId xmlns:a16="http://schemas.microsoft.com/office/drawing/2014/main" id="{13C35CAB-8AC1-AB4E-9DAC-B3E0962F8DE7}"/>
              </a:ext>
            </a:extLst>
          </p:cNvPr>
          <p:cNvSpPr>
            <a:spLocks noGrp="1" noRot="1" noChangeAspect="1" noChangeArrowheads="1" noTextEdit="1"/>
          </p:cNvSpPr>
          <p:nvPr>
            <p:ph type="sldImg" idx="4294967295"/>
          </p:nvPr>
        </p:nvSpPr>
        <p:spPr>
          <a:ln/>
        </p:spPr>
      </p:sp>
      <p:sp>
        <p:nvSpPr>
          <p:cNvPr id="107522" name="备注占位符 2">
            <a:extLst>
              <a:ext uri="{FF2B5EF4-FFF2-40B4-BE49-F238E27FC236}">
                <a16:creationId xmlns:a16="http://schemas.microsoft.com/office/drawing/2014/main" id="{73816F9C-CC89-9242-AEF6-ACEE21789EAE}"/>
              </a:ext>
            </a:extLst>
          </p:cNvPr>
          <p:cNvSpPr>
            <a:spLocks noGrp="1" noChangeArrowheads="1"/>
          </p:cNvSpPr>
          <p:nvPr>
            <p:ph type="body" idx="4294967295"/>
          </p:nvPr>
        </p:nvSpPr>
        <p:spPr/>
        <p:txBody>
          <a:bodyPr/>
          <a:lstStyle/>
          <a:p>
            <a:endParaRPr lang="zh-CN" altLang="en-US"/>
          </a:p>
        </p:txBody>
      </p:sp>
      <p:sp>
        <p:nvSpPr>
          <p:cNvPr id="107523" name="灯片编号占位符 3">
            <a:extLst>
              <a:ext uri="{FF2B5EF4-FFF2-40B4-BE49-F238E27FC236}">
                <a16:creationId xmlns:a16="http://schemas.microsoft.com/office/drawing/2014/main" id="{E87EA473-E8FE-6B46-B39D-28F572368E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FA362F-DC55-F44C-819F-A93612ECE9C6}" type="slidenum">
              <a:rPr lang="en-US" altLang="zh-CN" smtClean="0"/>
              <a:pPr/>
              <a:t>81</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9548EC8C-FD74-DF4D-892D-2A8E2D7381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8A520BA-4982-C740-AFA0-0681F59685C1}" type="slidenum">
              <a:rPr lang="en-US" altLang="zh-CN" smtClean="0"/>
              <a:pPr/>
              <a:t>82</a:t>
            </a:fld>
            <a:endParaRPr lang="en-US" altLang="zh-CN"/>
          </a:p>
        </p:txBody>
      </p:sp>
      <p:sp>
        <p:nvSpPr>
          <p:cNvPr id="109570" name="Rectangle 2">
            <a:extLst>
              <a:ext uri="{FF2B5EF4-FFF2-40B4-BE49-F238E27FC236}">
                <a16:creationId xmlns:a16="http://schemas.microsoft.com/office/drawing/2014/main" id="{FD17EA54-004F-DE46-A840-440671CB9F2A}"/>
              </a:ext>
            </a:extLst>
          </p:cNvPr>
          <p:cNvSpPr>
            <a:spLocks noGrp="1" noRot="1" noChangeAspect="1" noChangeArrowheads="1" noTextEdit="1"/>
          </p:cNvSpPr>
          <p:nvPr>
            <p:ph type="sldImg" idx="4294967295"/>
          </p:nvPr>
        </p:nvSpPr>
        <p:spPr>
          <a:ln/>
        </p:spPr>
      </p:sp>
      <p:sp>
        <p:nvSpPr>
          <p:cNvPr id="109571" name="Rectangle 3">
            <a:extLst>
              <a:ext uri="{FF2B5EF4-FFF2-40B4-BE49-F238E27FC236}">
                <a16:creationId xmlns:a16="http://schemas.microsoft.com/office/drawing/2014/main" id="{82B17386-CF8B-3B47-8575-55E9D5381627}"/>
              </a:ext>
            </a:extLst>
          </p:cNvPr>
          <p:cNvSpPr>
            <a:spLocks noGrp="1" noChangeArrowheads="1"/>
          </p:cNvSpPr>
          <p:nvPr>
            <p:ph type="body" idx="4294967295"/>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FE5B0055-BF49-6442-A574-A764B060C8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8A67513-2118-6F4E-97E0-269932E67165}" type="slidenum">
              <a:rPr lang="en-US" altLang="zh-CN" smtClean="0"/>
              <a:pPr/>
              <a:t>83</a:t>
            </a:fld>
            <a:endParaRPr lang="en-US" altLang="zh-CN"/>
          </a:p>
        </p:txBody>
      </p:sp>
      <p:sp>
        <p:nvSpPr>
          <p:cNvPr id="111618" name="Rectangle 2">
            <a:extLst>
              <a:ext uri="{FF2B5EF4-FFF2-40B4-BE49-F238E27FC236}">
                <a16:creationId xmlns:a16="http://schemas.microsoft.com/office/drawing/2014/main" id="{BFBE8E5B-5899-5D4E-B1E0-125F21E346C4}"/>
              </a:ext>
            </a:extLst>
          </p:cNvPr>
          <p:cNvSpPr>
            <a:spLocks noGrp="1" noRot="1" noChangeAspect="1" noChangeArrowheads="1" noTextEdit="1"/>
          </p:cNvSpPr>
          <p:nvPr>
            <p:ph type="sldImg" idx="4294967295"/>
          </p:nvPr>
        </p:nvSpPr>
        <p:spPr>
          <a:ln/>
        </p:spPr>
      </p:sp>
      <p:sp>
        <p:nvSpPr>
          <p:cNvPr id="111619" name="Rectangle 3">
            <a:extLst>
              <a:ext uri="{FF2B5EF4-FFF2-40B4-BE49-F238E27FC236}">
                <a16:creationId xmlns:a16="http://schemas.microsoft.com/office/drawing/2014/main" id="{75F8672E-AAF3-BD4E-9E9E-AD053A6C46FC}"/>
              </a:ext>
            </a:extLst>
          </p:cNvPr>
          <p:cNvSpPr>
            <a:spLocks noGrp="1" noChangeArrowheads="1"/>
          </p:cNvSpPr>
          <p:nvPr>
            <p:ph type="body" idx="4294967295"/>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a:extLst>
              <a:ext uri="{FF2B5EF4-FFF2-40B4-BE49-F238E27FC236}">
                <a16:creationId xmlns:a16="http://schemas.microsoft.com/office/drawing/2014/main" id="{F2E5E0D8-6425-1349-B605-A82221EB47E3}"/>
              </a:ext>
            </a:extLst>
          </p:cNvPr>
          <p:cNvSpPr>
            <a:spLocks noGrp="1" noRot="1" noChangeAspect="1" noChangeArrowheads="1" noTextEdit="1"/>
          </p:cNvSpPr>
          <p:nvPr>
            <p:ph type="sldImg" idx="4294967295"/>
          </p:nvPr>
        </p:nvSpPr>
        <p:spPr>
          <a:ln/>
        </p:spPr>
      </p:sp>
      <p:sp>
        <p:nvSpPr>
          <p:cNvPr id="113666" name="备注占位符 2">
            <a:extLst>
              <a:ext uri="{FF2B5EF4-FFF2-40B4-BE49-F238E27FC236}">
                <a16:creationId xmlns:a16="http://schemas.microsoft.com/office/drawing/2014/main" id="{821D8F10-D7D7-FF42-B9D2-C44535B869E3}"/>
              </a:ext>
            </a:extLst>
          </p:cNvPr>
          <p:cNvSpPr>
            <a:spLocks noGrp="1" noChangeArrowheads="1"/>
          </p:cNvSpPr>
          <p:nvPr>
            <p:ph type="body" idx="4294967295"/>
          </p:nvPr>
        </p:nvSpPr>
        <p:spPr/>
        <p:txBody>
          <a:bodyPr/>
          <a:lstStyle/>
          <a:p>
            <a:endParaRPr lang="zh-CN" altLang="en-US"/>
          </a:p>
        </p:txBody>
      </p:sp>
      <p:sp>
        <p:nvSpPr>
          <p:cNvPr id="113667" name="灯片编号占位符 3">
            <a:extLst>
              <a:ext uri="{FF2B5EF4-FFF2-40B4-BE49-F238E27FC236}">
                <a16:creationId xmlns:a16="http://schemas.microsoft.com/office/drawing/2014/main" id="{DC62BDB8-6EE9-8747-8F68-CC3EB6A213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D687909-28C0-8C4E-9D88-709110AEA18A}" type="slidenum">
              <a:rPr lang="en-US" altLang="zh-CN" smtClean="0"/>
              <a:pPr/>
              <a:t>84</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a:extLst>
              <a:ext uri="{FF2B5EF4-FFF2-40B4-BE49-F238E27FC236}">
                <a16:creationId xmlns:a16="http://schemas.microsoft.com/office/drawing/2014/main" id="{01B6E971-9B20-FB49-BDC3-C265F596BF7E}"/>
              </a:ext>
            </a:extLst>
          </p:cNvPr>
          <p:cNvSpPr>
            <a:spLocks noGrp="1" noRot="1" noChangeAspect="1" noChangeArrowheads="1" noTextEdit="1"/>
          </p:cNvSpPr>
          <p:nvPr>
            <p:ph type="sldImg" idx="4294967295"/>
          </p:nvPr>
        </p:nvSpPr>
        <p:spPr>
          <a:ln/>
        </p:spPr>
      </p:sp>
      <p:sp>
        <p:nvSpPr>
          <p:cNvPr id="115714" name="备注占位符 2">
            <a:extLst>
              <a:ext uri="{FF2B5EF4-FFF2-40B4-BE49-F238E27FC236}">
                <a16:creationId xmlns:a16="http://schemas.microsoft.com/office/drawing/2014/main" id="{9999B409-5610-274E-AD5F-6D4836EEEED4}"/>
              </a:ext>
            </a:extLst>
          </p:cNvPr>
          <p:cNvSpPr>
            <a:spLocks noGrp="1" noChangeArrowheads="1"/>
          </p:cNvSpPr>
          <p:nvPr>
            <p:ph type="body" idx="4294967295"/>
          </p:nvPr>
        </p:nvSpPr>
        <p:spPr/>
        <p:txBody>
          <a:bodyPr/>
          <a:lstStyle/>
          <a:p>
            <a:endParaRPr lang="zh-CN" altLang="en-US"/>
          </a:p>
        </p:txBody>
      </p:sp>
      <p:sp>
        <p:nvSpPr>
          <p:cNvPr id="115715" name="灯片编号占位符 3">
            <a:extLst>
              <a:ext uri="{FF2B5EF4-FFF2-40B4-BE49-F238E27FC236}">
                <a16:creationId xmlns:a16="http://schemas.microsoft.com/office/drawing/2014/main" id="{1931051B-B3ED-B049-9FFF-FDD2B5183C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797F877-3E66-C043-B1E9-DA82CFB428D3}" type="slidenum">
              <a:rPr lang="en-US" altLang="zh-CN" smtClean="0"/>
              <a:pPr/>
              <a:t>85</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a:extLst>
              <a:ext uri="{FF2B5EF4-FFF2-40B4-BE49-F238E27FC236}">
                <a16:creationId xmlns:a16="http://schemas.microsoft.com/office/drawing/2014/main" id="{0239873E-7D43-B342-B884-DFA9D2A55BA3}"/>
              </a:ext>
            </a:extLst>
          </p:cNvPr>
          <p:cNvSpPr>
            <a:spLocks noGrp="1" noRot="1" noChangeAspect="1" noChangeArrowheads="1" noTextEdit="1"/>
          </p:cNvSpPr>
          <p:nvPr>
            <p:ph type="sldImg" idx="4294967295"/>
          </p:nvPr>
        </p:nvSpPr>
        <p:spPr>
          <a:ln/>
        </p:spPr>
      </p:sp>
      <p:sp>
        <p:nvSpPr>
          <p:cNvPr id="117762" name="备注占位符 2">
            <a:extLst>
              <a:ext uri="{FF2B5EF4-FFF2-40B4-BE49-F238E27FC236}">
                <a16:creationId xmlns:a16="http://schemas.microsoft.com/office/drawing/2014/main" id="{B3CF8547-1270-2E45-B55D-0CA56B01483C}"/>
              </a:ext>
            </a:extLst>
          </p:cNvPr>
          <p:cNvSpPr>
            <a:spLocks noGrp="1" noChangeArrowheads="1"/>
          </p:cNvSpPr>
          <p:nvPr>
            <p:ph type="body" idx="4294967295"/>
          </p:nvPr>
        </p:nvSpPr>
        <p:spPr/>
        <p:txBody>
          <a:bodyPr/>
          <a:lstStyle/>
          <a:p>
            <a:endParaRPr lang="zh-CN" altLang="en-US"/>
          </a:p>
        </p:txBody>
      </p:sp>
      <p:sp>
        <p:nvSpPr>
          <p:cNvPr id="117763" name="灯片编号占位符 3">
            <a:extLst>
              <a:ext uri="{FF2B5EF4-FFF2-40B4-BE49-F238E27FC236}">
                <a16:creationId xmlns:a16="http://schemas.microsoft.com/office/drawing/2014/main" id="{236BBB03-2960-0C43-A678-EF297DE8DA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16D6CC1-B1E8-B042-8CCF-AADD96E38252}" type="slidenum">
              <a:rPr lang="en-US" altLang="zh-CN" smtClean="0"/>
              <a:pPr/>
              <a:t>86</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FF8DC118-2DD0-3F4E-A8EF-0F8977D7DE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1A0FD04-7D43-6641-9BD0-D52E294720B2}" type="slidenum">
              <a:rPr lang="zh-CN" altLang="en-AU" smtClean="0"/>
              <a:pPr/>
              <a:t>87</a:t>
            </a:fld>
            <a:endParaRPr lang="zh-CN" altLang="en-AU"/>
          </a:p>
        </p:txBody>
      </p:sp>
      <p:sp>
        <p:nvSpPr>
          <p:cNvPr id="119810" name="Rectangle 2">
            <a:extLst>
              <a:ext uri="{FF2B5EF4-FFF2-40B4-BE49-F238E27FC236}">
                <a16:creationId xmlns:a16="http://schemas.microsoft.com/office/drawing/2014/main" id="{126BB0E6-0D55-1541-9873-3FE35C7CCCB8}"/>
              </a:ext>
            </a:extLst>
          </p:cNvPr>
          <p:cNvSpPr>
            <a:spLocks noGrp="1" noRot="1" noChangeAspect="1" noChangeArrowheads="1" noTextEdit="1"/>
          </p:cNvSpPr>
          <p:nvPr>
            <p:ph type="sldImg" idx="4294967295"/>
          </p:nvPr>
        </p:nvSpPr>
        <p:spPr>
          <a:ln/>
        </p:spPr>
      </p:sp>
      <p:sp>
        <p:nvSpPr>
          <p:cNvPr id="119811" name="Rectangle 3">
            <a:extLst>
              <a:ext uri="{FF2B5EF4-FFF2-40B4-BE49-F238E27FC236}">
                <a16:creationId xmlns:a16="http://schemas.microsoft.com/office/drawing/2014/main" id="{A66ECF65-CE5F-BA4A-B08A-FE27643795F4}"/>
              </a:ext>
            </a:extLst>
          </p:cNvPr>
          <p:cNvSpPr>
            <a:spLocks noGrp="1" noChangeArrowheads="1"/>
          </p:cNvSpPr>
          <p:nvPr>
            <p:ph type="body" idx="4294967295"/>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19352DCB-B984-DA47-863A-AE53549EB5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9F65826-03F6-BD4E-A829-1CE15139A294}" type="slidenum">
              <a:rPr lang="en-US" altLang="zh-CN" smtClean="0"/>
              <a:pPr/>
              <a:t>91</a:t>
            </a:fld>
            <a:endParaRPr lang="en-US" altLang="zh-CN"/>
          </a:p>
        </p:txBody>
      </p:sp>
      <p:sp>
        <p:nvSpPr>
          <p:cNvPr id="123906" name="Rectangle 2">
            <a:extLst>
              <a:ext uri="{FF2B5EF4-FFF2-40B4-BE49-F238E27FC236}">
                <a16:creationId xmlns:a16="http://schemas.microsoft.com/office/drawing/2014/main" id="{0AE4A7F1-2A24-4041-8DAA-45814FA5F100}"/>
              </a:ext>
            </a:extLst>
          </p:cNvPr>
          <p:cNvSpPr>
            <a:spLocks noGrp="1" noRot="1" noChangeAspect="1" noChangeArrowheads="1" noTextEdit="1"/>
          </p:cNvSpPr>
          <p:nvPr>
            <p:ph type="sldImg" idx="4294967295"/>
          </p:nvPr>
        </p:nvSpPr>
        <p:spPr>
          <a:ln/>
        </p:spPr>
      </p:sp>
      <p:sp>
        <p:nvSpPr>
          <p:cNvPr id="123907" name="Rectangle 3">
            <a:extLst>
              <a:ext uri="{FF2B5EF4-FFF2-40B4-BE49-F238E27FC236}">
                <a16:creationId xmlns:a16="http://schemas.microsoft.com/office/drawing/2014/main" id="{FA613E8C-DA5E-4944-B8C7-0CB66AB52F72}"/>
              </a:ext>
            </a:extLst>
          </p:cNvPr>
          <p:cNvSpPr>
            <a:spLocks noGrp="1" noChangeArrowheads="1"/>
          </p:cNvSpPr>
          <p:nvPr>
            <p:ph type="body" idx="4294967295"/>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1818CC4D-15A6-BD40-BC5F-E3BA4F02F0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454606E-AA6B-DF4D-BE22-9DC098613FA0}" type="slidenum">
              <a:rPr lang="en-US" altLang="zh-CN" smtClean="0"/>
              <a:pPr/>
              <a:t>92</a:t>
            </a:fld>
            <a:endParaRPr lang="en-US" altLang="zh-CN"/>
          </a:p>
        </p:txBody>
      </p:sp>
      <p:sp>
        <p:nvSpPr>
          <p:cNvPr id="125954" name="Rectangle 2">
            <a:extLst>
              <a:ext uri="{FF2B5EF4-FFF2-40B4-BE49-F238E27FC236}">
                <a16:creationId xmlns:a16="http://schemas.microsoft.com/office/drawing/2014/main" id="{0393922C-6E4C-D947-B6C6-0C5CF9AE3415}"/>
              </a:ext>
            </a:extLst>
          </p:cNvPr>
          <p:cNvSpPr>
            <a:spLocks noGrp="1" noRot="1" noChangeAspect="1" noChangeArrowheads="1" noTextEdit="1"/>
          </p:cNvSpPr>
          <p:nvPr>
            <p:ph type="sldImg" idx="4294967295"/>
          </p:nvPr>
        </p:nvSpPr>
        <p:spPr>
          <a:ln/>
        </p:spPr>
      </p:sp>
      <p:sp>
        <p:nvSpPr>
          <p:cNvPr id="125955" name="Rectangle 3">
            <a:extLst>
              <a:ext uri="{FF2B5EF4-FFF2-40B4-BE49-F238E27FC236}">
                <a16:creationId xmlns:a16="http://schemas.microsoft.com/office/drawing/2014/main" id="{79DF6835-EF88-E04E-BA9C-95752BECDFA4}"/>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17103D50-F795-654B-B06A-96AED2FA3F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BDCF964-C368-984B-B00D-C1E135411F9E}" type="slidenum">
              <a:rPr lang="en-US" altLang="zh-CN" smtClean="0"/>
              <a:pPr/>
              <a:t>93</a:t>
            </a:fld>
            <a:endParaRPr lang="en-US" altLang="zh-CN"/>
          </a:p>
        </p:txBody>
      </p:sp>
      <p:sp>
        <p:nvSpPr>
          <p:cNvPr id="128002" name="Rectangle 2">
            <a:extLst>
              <a:ext uri="{FF2B5EF4-FFF2-40B4-BE49-F238E27FC236}">
                <a16:creationId xmlns:a16="http://schemas.microsoft.com/office/drawing/2014/main" id="{30AB6E3F-B33C-EF4F-8020-5837A32C2237}"/>
              </a:ext>
            </a:extLst>
          </p:cNvPr>
          <p:cNvSpPr>
            <a:spLocks noGrp="1" noRot="1" noChangeAspect="1" noChangeArrowheads="1" noTextEdit="1"/>
          </p:cNvSpPr>
          <p:nvPr>
            <p:ph type="sldImg" idx="4294967295"/>
          </p:nvPr>
        </p:nvSpPr>
        <p:spPr>
          <a:ln/>
        </p:spPr>
      </p:sp>
      <p:sp>
        <p:nvSpPr>
          <p:cNvPr id="128003" name="Rectangle 3">
            <a:extLst>
              <a:ext uri="{FF2B5EF4-FFF2-40B4-BE49-F238E27FC236}">
                <a16:creationId xmlns:a16="http://schemas.microsoft.com/office/drawing/2014/main" id="{28BBCC79-A769-6C4B-B0EB-93607D748750}"/>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E7E624FD-F0FE-DD4B-BECD-F42B1E89B4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8A88846-53C8-7D43-8507-16789A3F0AC5}" type="slidenum">
              <a:rPr lang="en-US" altLang="zh-CN" smtClean="0"/>
              <a:pPr/>
              <a:t>94</a:t>
            </a:fld>
            <a:endParaRPr lang="en-US" altLang="zh-CN"/>
          </a:p>
        </p:txBody>
      </p:sp>
      <p:sp>
        <p:nvSpPr>
          <p:cNvPr id="130050" name="Rectangle 2">
            <a:extLst>
              <a:ext uri="{FF2B5EF4-FFF2-40B4-BE49-F238E27FC236}">
                <a16:creationId xmlns:a16="http://schemas.microsoft.com/office/drawing/2014/main" id="{EA836B8D-BCBA-2D46-8E88-8C785250953A}"/>
              </a:ext>
            </a:extLst>
          </p:cNvPr>
          <p:cNvSpPr>
            <a:spLocks noGrp="1" noRot="1" noChangeAspect="1" noChangeArrowheads="1" noTextEdit="1"/>
          </p:cNvSpPr>
          <p:nvPr>
            <p:ph type="sldImg" idx="4294967295"/>
          </p:nvPr>
        </p:nvSpPr>
        <p:spPr>
          <a:ln/>
        </p:spPr>
      </p:sp>
      <p:sp>
        <p:nvSpPr>
          <p:cNvPr id="130051" name="Rectangle 3">
            <a:extLst>
              <a:ext uri="{FF2B5EF4-FFF2-40B4-BE49-F238E27FC236}">
                <a16:creationId xmlns:a16="http://schemas.microsoft.com/office/drawing/2014/main" id="{D044E7A1-0522-3946-860F-D9B8C6DED676}"/>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C87F41AC-2F78-FF45-B2C9-3A3692EE1F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FADD7B2-F8F0-5E49-A4B8-EA23DBAF09FB}" type="slidenum">
              <a:rPr lang="en-US" altLang="zh-CN" smtClean="0"/>
              <a:pPr/>
              <a:t>95</a:t>
            </a:fld>
            <a:endParaRPr lang="en-US" altLang="zh-CN"/>
          </a:p>
        </p:txBody>
      </p:sp>
      <p:sp>
        <p:nvSpPr>
          <p:cNvPr id="132098" name="Rectangle 2">
            <a:extLst>
              <a:ext uri="{FF2B5EF4-FFF2-40B4-BE49-F238E27FC236}">
                <a16:creationId xmlns:a16="http://schemas.microsoft.com/office/drawing/2014/main" id="{5E0AC035-FB7E-BC47-A5CC-588F6163D5E4}"/>
              </a:ext>
            </a:extLst>
          </p:cNvPr>
          <p:cNvSpPr>
            <a:spLocks noGrp="1" noRot="1" noChangeAspect="1" noChangeArrowheads="1" noTextEdit="1"/>
          </p:cNvSpPr>
          <p:nvPr>
            <p:ph type="sldImg" idx="4294967295"/>
          </p:nvPr>
        </p:nvSpPr>
        <p:spPr>
          <a:ln/>
        </p:spPr>
      </p:sp>
      <p:sp>
        <p:nvSpPr>
          <p:cNvPr id="132099" name="Rectangle 3">
            <a:extLst>
              <a:ext uri="{FF2B5EF4-FFF2-40B4-BE49-F238E27FC236}">
                <a16:creationId xmlns:a16="http://schemas.microsoft.com/office/drawing/2014/main" id="{45C222DB-A6E3-D64E-B054-66B46AF2489E}"/>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71357D27-F0C4-5B44-851E-752215A8C8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D48137-7852-5B4C-84FC-80EDC8B1E978}" type="slidenum">
              <a:rPr lang="en-US" altLang="zh-CN" smtClean="0"/>
              <a:pPr/>
              <a:t>96</a:t>
            </a:fld>
            <a:endParaRPr lang="en-US" altLang="zh-CN"/>
          </a:p>
        </p:txBody>
      </p:sp>
      <p:sp>
        <p:nvSpPr>
          <p:cNvPr id="134146" name="Rectangle 2">
            <a:extLst>
              <a:ext uri="{FF2B5EF4-FFF2-40B4-BE49-F238E27FC236}">
                <a16:creationId xmlns:a16="http://schemas.microsoft.com/office/drawing/2014/main" id="{2EDE4133-2834-C247-920F-51D1B1A68042}"/>
              </a:ext>
            </a:extLst>
          </p:cNvPr>
          <p:cNvSpPr>
            <a:spLocks noGrp="1" noRot="1" noChangeAspect="1" noChangeArrowheads="1" noTextEdit="1"/>
          </p:cNvSpPr>
          <p:nvPr>
            <p:ph type="sldImg" idx="4294967295"/>
          </p:nvPr>
        </p:nvSpPr>
        <p:spPr>
          <a:ln/>
        </p:spPr>
      </p:sp>
      <p:sp>
        <p:nvSpPr>
          <p:cNvPr id="134147" name="Rectangle 3">
            <a:extLst>
              <a:ext uri="{FF2B5EF4-FFF2-40B4-BE49-F238E27FC236}">
                <a16:creationId xmlns:a16="http://schemas.microsoft.com/office/drawing/2014/main" id="{740FEB17-C900-B640-95AE-38E5465A84AF}"/>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F92833A0-5C26-7C4F-A59C-633EF0D423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97A6D5-7AA4-C04A-BEFF-0C59596289CB}" type="slidenum">
              <a:rPr lang="en-US" altLang="zh-CN" smtClean="0"/>
              <a:pPr/>
              <a:t>97</a:t>
            </a:fld>
            <a:endParaRPr lang="en-US" altLang="zh-CN"/>
          </a:p>
        </p:txBody>
      </p:sp>
      <p:sp>
        <p:nvSpPr>
          <p:cNvPr id="136194" name="Rectangle 2">
            <a:extLst>
              <a:ext uri="{FF2B5EF4-FFF2-40B4-BE49-F238E27FC236}">
                <a16:creationId xmlns:a16="http://schemas.microsoft.com/office/drawing/2014/main" id="{3AA626FD-D6EB-F046-8933-B0DC397412A0}"/>
              </a:ext>
            </a:extLst>
          </p:cNvPr>
          <p:cNvSpPr>
            <a:spLocks noGrp="1" noRot="1" noChangeAspect="1" noChangeArrowheads="1" noTextEdit="1"/>
          </p:cNvSpPr>
          <p:nvPr>
            <p:ph type="sldImg" idx="4294967295"/>
          </p:nvPr>
        </p:nvSpPr>
        <p:spPr>
          <a:ln/>
        </p:spPr>
      </p:sp>
      <p:sp>
        <p:nvSpPr>
          <p:cNvPr id="136195" name="Rectangle 3">
            <a:extLst>
              <a:ext uri="{FF2B5EF4-FFF2-40B4-BE49-F238E27FC236}">
                <a16:creationId xmlns:a16="http://schemas.microsoft.com/office/drawing/2014/main" id="{661B277C-7918-C743-A1DC-AE8935F5D640}"/>
              </a:ext>
            </a:extLst>
          </p:cNvPr>
          <p:cNvSpPr>
            <a:spLocks noGrp="1" noChangeArrowheads="1"/>
          </p:cNvSpPr>
          <p:nvPr>
            <p:ph type="body" idx="4294967295"/>
          </p:nvPr>
        </p:nvSpPr>
        <p:spPr/>
        <p:txBody>
          <a:bodyPr/>
          <a:lstStyle/>
          <a:p>
            <a:pPr eaLnBrk="1" hangingPunct="1"/>
            <a:r>
              <a:rPr lang="zh-CN" altLang="en-US"/>
              <a:t>上级向下级传达命令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幻灯片图像占位符 1">
            <a:extLst>
              <a:ext uri="{FF2B5EF4-FFF2-40B4-BE49-F238E27FC236}">
                <a16:creationId xmlns:a16="http://schemas.microsoft.com/office/drawing/2014/main" id="{4CBB22E9-5EAE-3C4E-A539-201AD5880EF3}"/>
              </a:ext>
            </a:extLst>
          </p:cNvPr>
          <p:cNvSpPr>
            <a:spLocks noGrp="1" noRot="1" noChangeAspect="1" noChangeArrowheads="1" noTextEdit="1"/>
          </p:cNvSpPr>
          <p:nvPr>
            <p:ph type="sldImg" idx="4294967295"/>
          </p:nvPr>
        </p:nvSpPr>
        <p:spPr>
          <a:ln/>
        </p:spPr>
      </p:sp>
      <p:sp>
        <p:nvSpPr>
          <p:cNvPr id="138242" name="备注占位符 2">
            <a:extLst>
              <a:ext uri="{FF2B5EF4-FFF2-40B4-BE49-F238E27FC236}">
                <a16:creationId xmlns:a16="http://schemas.microsoft.com/office/drawing/2014/main" id="{D97AA144-319D-3045-8B96-5EA3C46E74A8}"/>
              </a:ext>
            </a:extLst>
          </p:cNvPr>
          <p:cNvSpPr>
            <a:spLocks noGrp="1" noChangeArrowheads="1"/>
          </p:cNvSpPr>
          <p:nvPr>
            <p:ph type="body" idx="4294967295"/>
          </p:nvPr>
        </p:nvSpPr>
        <p:spPr/>
        <p:txBody>
          <a:bodyPr/>
          <a:lstStyle/>
          <a:p>
            <a:endParaRPr lang="zh-CN" altLang="en-US"/>
          </a:p>
        </p:txBody>
      </p:sp>
      <p:sp>
        <p:nvSpPr>
          <p:cNvPr id="138243" name="灯片编号占位符 3">
            <a:extLst>
              <a:ext uri="{FF2B5EF4-FFF2-40B4-BE49-F238E27FC236}">
                <a16:creationId xmlns:a16="http://schemas.microsoft.com/office/drawing/2014/main" id="{013CC044-46E3-E443-BAA5-7289688D07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0FA4041-9B76-E040-83B4-29E4248A3704}" type="slidenum">
              <a:rPr lang="en-US" altLang="zh-CN" smtClean="0"/>
              <a:pPr/>
              <a:t>99</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幻灯片图像占位符 1">
            <a:extLst>
              <a:ext uri="{FF2B5EF4-FFF2-40B4-BE49-F238E27FC236}">
                <a16:creationId xmlns:a16="http://schemas.microsoft.com/office/drawing/2014/main" id="{EE6B2665-960F-474E-87FF-83FD2ECD5191}"/>
              </a:ext>
            </a:extLst>
          </p:cNvPr>
          <p:cNvSpPr>
            <a:spLocks noGrp="1" noRot="1" noChangeAspect="1" noChangeArrowheads="1" noTextEdit="1"/>
          </p:cNvSpPr>
          <p:nvPr>
            <p:ph type="sldImg" idx="4294967295"/>
          </p:nvPr>
        </p:nvSpPr>
        <p:spPr>
          <a:ln/>
        </p:spPr>
      </p:sp>
      <p:sp>
        <p:nvSpPr>
          <p:cNvPr id="141314" name="备注占位符 2">
            <a:extLst>
              <a:ext uri="{FF2B5EF4-FFF2-40B4-BE49-F238E27FC236}">
                <a16:creationId xmlns:a16="http://schemas.microsoft.com/office/drawing/2014/main" id="{EEBE57C2-87A5-EE49-AE7D-7B629A59B03D}"/>
              </a:ext>
            </a:extLst>
          </p:cNvPr>
          <p:cNvSpPr>
            <a:spLocks noGrp="1" noChangeArrowheads="1"/>
          </p:cNvSpPr>
          <p:nvPr>
            <p:ph type="body" idx="4294967295"/>
          </p:nvPr>
        </p:nvSpPr>
        <p:spPr/>
        <p:txBody>
          <a:bodyPr/>
          <a:lstStyle/>
          <a:p>
            <a:endParaRPr lang="zh-CN" altLang="en-US"/>
          </a:p>
        </p:txBody>
      </p:sp>
      <p:sp>
        <p:nvSpPr>
          <p:cNvPr id="141315" name="灯片编号占位符 3">
            <a:extLst>
              <a:ext uri="{FF2B5EF4-FFF2-40B4-BE49-F238E27FC236}">
                <a16:creationId xmlns:a16="http://schemas.microsoft.com/office/drawing/2014/main" id="{B0D7D6F7-CD86-3F47-B9E5-80F8909CB9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9A0271-E5E1-D44D-8226-06FBF41D487B}" type="slidenum">
              <a:rPr lang="zh-CN" altLang="en-US" smtClean="0"/>
              <a:pPr/>
              <a:t>101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幻灯片图像占位符 1">
            <a:extLst>
              <a:ext uri="{FF2B5EF4-FFF2-40B4-BE49-F238E27FC236}">
                <a16:creationId xmlns:a16="http://schemas.microsoft.com/office/drawing/2014/main" id="{9462D9C8-3F82-374D-8761-9A02A420F58A}"/>
              </a:ext>
            </a:extLst>
          </p:cNvPr>
          <p:cNvSpPr>
            <a:spLocks noGrp="1" noRot="1" noChangeAspect="1" noChangeArrowheads="1" noTextEdit="1"/>
          </p:cNvSpPr>
          <p:nvPr>
            <p:ph type="sldImg" idx="4294967295"/>
          </p:nvPr>
        </p:nvSpPr>
        <p:spPr>
          <a:ln/>
        </p:spPr>
      </p:sp>
      <p:sp>
        <p:nvSpPr>
          <p:cNvPr id="147458" name="备注占位符 2">
            <a:extLst>
              <a:ext uri="{FF2B5EF4-FFF2-40B4-BE49-F238E27FC236}">
                <a16:creationId xmlns:a16="http://schemas.microsoft.com/office/drawing/2014/main" id="{373EF212-55E5-FC45-96D3-693F2D035273}"/>
              </a:ext>
            </a:extLst>
          </p:cNvPr>
          <p:cNvSpPr>
            <a:spLocks noGrp="1" noChangeArrowheads="1"/>
          </p:cNvSpPr>
          <p:nvPr>
            <p:ph type="body" idx="4294967295"/>
          </p:nvPr>
        </p:nvSpPr>
        <p:spPr/>
        <p:txBody>
          <a:bodyPr/>
          <a:lstStyle/>
          <a:p>
            <a:endParaRPr lang="zh-CN" altLang="en-US"/>
          </a:p>
        </p:txBody>
      </p:sp>
      <p:sp>
        <p:nvSpPr>
          <p:cNvPr id="147459" name="灯片编号占位符 3">
            <a:extLst>
              <a:ext uri="{FF2B5EF4-FFF2-40B4-BE49-F238E27FC236}">
                <a16:creationId xmlns:a16="http://schemas.microsoft.com/office/drawing/2014/main" id="{D5A30FF8-98AD-D749-B6A5-86E3858AF5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98151A9-1F1E-DB4E-9C41-04F39251FD3E}" type="slidenum">
              <a:rPr lang="en-US" altLang="zh-CN" smtClean="0"/>
              <a:pPr/>
              <a:t>109</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ACDB</a:t>
            </a:r>
            <a:endParaRPr lang="zh-CN" altLang="en-US" dirty="0"/>
          </a:p>
        </p:txBody>
      </p:sp>
      <p:sp>
        <p:nvSpPr>
          <p:cNvPr id="4" name="灯片编号占位符 3"/>
          <p:cNvSpPr>
            <a:spLocks noGrp="1"/>
          </p:cNvSpPr>
          <p:nvPr>
            <p:ph type="sldNum" sz="quarter" idx="5"/>
          </p:nvPr>
        </p:nvSpPr>
        <p:spPr/>
        <p:txBody>
          <a:bodyPr/>
          <a:lstStyle/>
          <a:p>
            <a:pPr>
              <a:defRPr/>
            </a:pPr>
            <a:fld id="{86C3EF79-20B5-5E41-948D-672B95136DDD}" type="slidenum">
              <a:rPr lang="zh-CN" altLang="en-US" smtClean="0"/>
              <a:pPr>
                <a:defRPr/>
              </a:pPr>
              <a:t>117</a:t>
            </a:fld>
            <a:endParaRPr lang="en-US" altLang="zh-CN"/>
          </a:p>
        </p:txBody>
      </p:sp>
    </p:spTree>
    <p:extLst>
      <p:ext uri="{BB962C8B-B14F-4D97-AF65-F5344CB8AC3E}">
        <p14:creationId xmlns:p14="http://schemas.microsoft.com/office/powerpoint/2010/main" val="26828203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auto">
      <p:bgPr>
        <a:solidFill>
          <a:schemeClr val="accent2"/>
        </a:solidFill>
        <a:effectLst/>
      </p:bgPr>
    </p:bg>
    <p:spTree>
      <p:nvGrpSpPr>
        <p:cNvPr id="1" name=""/>
        <p:cNvGrpSpPr/>
        <p:nvPr/>
      </p:nvGrpSpPr>
      <p:grpSpPr>
        <a:xfrm>
          <a:off x="0" y="0"/>
          <a:ext cx="0" cy="0"/>
          <a:chOff x="0" y="0"/>
          <a:chExt cx="0" cy="0"/>
        </a:xfrm>
      </p:grpSpPr>
      <p:sp>
        <p:nvSpPr>
          <p:cNvPr id="4" name="Rectangle 102">
            <a:extLst>
              <a:ext uri="{FF2B5EF4-FFF2-40B4-BE49-F238E27FC236}">
                <a16:creationId xmlns:a16="http://schemas.microsoft.com/office/drawing/2014/main" id="{3D9D5772-6E77-C141-BB86-B4066512E1D6}"/>
              </a:ext>
            </a:extLst>
          </p:cNvPr>
          <p:cNvSpPr>
            <a:spLocks noChangeArrowheads="1"/>
          </p:cNvSpPr>
          <p:nvPr/>
        </p:nvSpPr>
        <p:spPr bwMode="gray">
          <a:xfrm>
            <a:off x="0" y="0"/>
            <a:ext cx="9144000" cy="3068638"/>
          </a:xfrm>
          <a:prstGeom prst="rect">
            <a:avLst/>
          </a:prstGeom>
          <a:solidFill>
            <a:schemeClr val="accent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p>
        </p:txBody>
      </p:sp>
      <p:sp>
        <p:nvSpPr>
          <p:cNvPr id="5" name="AutoShape 103">
            <a:extLst>
              <a:ext uri="{FF2B5EF4-FFF2-40B4-BE49-F238E27FC236}">
                <a16:creationId xmlns:a16="http://schemas.microsoft.com/office/drawing/2014/main" id="{D770CC99-91C0-AD4C-AF07-68B3B9DA534C}"/>
              </a:ext>
            </a:extLst>
          </p:cNvPr>
          <p:cNvSpPr>
            <a:spLocks noChangeArrowheads="1"/>
          </p:cNvSpPr>
          <p:nvPr/>
        </p:nvSpPr>
        <p:spPr bwMode="gray">
          <a:xfrm>
            <a:off x="2819400" y="3113088"/>
            <a:ext cx="5867400" cy="838200"/>
          </a:xfrm>
          <a:prstGeom prst="roundRect">
            <a:avLst>
              <a:gd name="adj" fmla="val 50000"/>
            </a:avLst>
          </a:prstGeom>
          <a:solidFill>
            <a:schemeClr val="tx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 name="Rectangle 105">
            <a:extLst>
              <a:ext uri="{FF2B5EF4-FFF2-40B4-BE49-F238E27FC236}">
                <a16:creationId xmlns:a16="http://schemas.microsoft.com/office/drawing/2014/main" id="{90C3C1C6-E9FF-9D44-BC11-E40A3827D561}"/>
              </a:ext>
            </a:extLst>
          </p:cNvPr>
          <p:cNvSpPr>
            <a:spLocks noChangeArrowheads="1"/>
          </p:cNvSpPr>
          <p:nvPr/>
        </p:nvSpPr>
        <p:spPr bwMode="gray">
          <a:xfrm>
            <a:off x="7696200" y="1741488"/>
            <a:ext cx="533400" cy="8382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 name="Rectangle 106">
            <a:extLst>
              <a:ext uri="{FF2B5EF4-FFF2-40B4-BE49-F238E27FC236}">
                <a16:creationId xmlns:a16="http://schemas.microsoft.com/office/drawing/2014/main" id="{1C6C4984-476E-124B-B685-7D9F8ACD9DE1}"/>
              </a:ext>
            </a:extLst>
          </p:cNvPr>
          <p:cNvSpPr>
            <a:spLocks noChangeArrowheads="1"/>
          </p:cNvSpPr>
          <p:nvPr/>
        </p:nvSpPr>
        <p:spPr bwMode="gray">
          <a:xfrm>
            <a:off x="6934200" y="1131888"/>
            <a:ext cx="914400" cy="8382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 name="Rectangle 107">
            <a:extLst>
              <a:ext uri="{FF2B5EF4-FFF2-40B4-BE49-F238E27FC236}">
                <a16:creationId xmlns:a16="http://schemas.microsoft.com/office/drawing/2014/main" id="{D405F112-EA46-9145-B329-0AEDD5989E58}"/>
              </a:ext>
            </a:extLst>
          </p:cNvPr>
          <p:cNvSpPr>
            <a:spLocks noChangeArrowheads="1"/>
          </p:cNvSpPr>
          <p:nvPr/>
        </p:nvSpPr>
        <p:spPr bwMode="gray">
          <a:xfrm>
            <a:off x="8077200" y="141288"/>
            <a:ext cx="914400" cy="15240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 name="Rectangle 108">
            <a:extLst>
              <a:ext uri="{FF2B5EF4-FFF2-40B4-BE49-F238E27FC236}">
                <a16:creationId xmlns:a16="http://schemas.microsoft.com/office/drawing/2014/main" id="{7D9A41B1-9AD8-F14D-A2C5-DD191E8D0481}"/>
              </a:ext>
            </a:extLst>
          </p:cNvPr>
          <p:cNvSpPr>
            <a:spLocks noChangeArrowheads="1"/>
          </p:cNvSpPr>
          <p:nvPr/>
        </p:nvSpPr>
        <p:spPr bwMode="gray">
          <a:xfrm>
            <a:off x="6553200" y="750888"/>
            <a:ext cx="533400" cy="5334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 name="Rectangle 110">
            <a:extLst>
              <a:ext uri="{FF2B5EF4-FFF2-40B4-BE49-F238E27FC236}">
                <a16:creationId xmlns:a16="http://schemas.microsoft.com/office/drawing/2014/main" id="{B5F2B33D-83F9-E846-BE6A-85D9E5B7B58A}"/>
              </a:ext>
            </a:extLst>
          </p:cNvPr>
          <p:cNvSpPr>
            <a:spLocks noChangeArrowheads="1"/>
          </p:cNvSpPr>
          <p:nvPr/>
        </p:nvSpPr>
        <p:spPr bwMode="gray">
          <a:xfrm>
            <a:off x="6324600" y="2884488"/>
            <a:ext cx="533400" cy="5334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 name="Rectangle 114">
            <a:extLst>
              <a:ext uri="{FF2B5EF4-FFF2-40B4-BE49-F238E27FC236}">
                <a16:creationId xmlns:a16="http://schemas.microsoft.com/office/drawing/2014/main" id="{2F6C1628-D3D5-3C45-8A6D-CFBD509F6177}"/>
              </a:ext>
            </a:extLst>
          </p:cNvPr>
          <p:cNvSpPr>
            <a:spLocks noChangeArrowheads="1"/>
          </p:cNvSpPr>
          <p:nvPr/>
        </p:nvSpPr>
        <p:spPr bwMode="gray">
          <a:xfrm>
            <a:off x="3810000" y="2655888"/>
            <a:ext cx="152400" cy="152400"/>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2" name="Rectangle 120">
            <a:extLst>
              <a:ext uri="{FF2B5EF4-FFF2-40B4-BE49-F238E27FC236}">
                <a16:creationId xmlns:a16="http://schemas.microsoft.com/office/drawing/2014/main" id="{6836D76D-73D2-7641-ADC5-8196B8CB84A5}"/>
              </a:ext>
            </a:extLst>
          </p:cNvPr>
          <p:cNvSpPr>
            <a:spLocks noChangeArrowheads="1"/>
          </p:cNvSpPr>
          <p:nvPr/>
        </p:nvSpPr>
        <p:spPr bwMode="gray">
          <a:xfrm>
            <a:off x="4267200" y="2655888"/>
            <a:ext cx="152400" cy="152400"/>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3" name="Rectangle 124">
            <a:extLst>
              <a:ext uri="{FF2B5EF4-FFF2-40B4-BE49-F238E27FC236}">
                <a16:creationId xmlns:a16="http://schemas.microsoft.com/office/drawing/2014/main" id="{81CBA8A2-0171-7A4D-8A3F-A478F29BEF10}"/>
              </a:ext>
            </a:extLst>
          </p:cNvPr>
          <p:cNvSpPr>
            <a:spLocks noChangeArrowheads="1"/>
          </p:cNvSpPr>
          <p:nvPr/>
        </p:nvSpPr>
        <p:spPr bwMode="gray">
          <a:xfrm>
            <a:off x="4495800" y="2655888"/>
            <a:ext cx="152400" cy="152400"/>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4" name="Rectangle 126">
            <a:extLst>
              <a:ext uri="{FF2B5EF4-FFF2-40B4-BE49-F238E27FC236}">
                <a16:creationId xmlns:a16="http://schemas.microsoft.com/office/drawing/2014/main" id="{E1A65DAF-9BE9-744C-8F09-7F3B067E17A3}"/>
              </a:ext>
            </a:extLst>
          </p:cNvPr>
          <p:cNvSpPr>
            <a:spLocks noChangeArrowheads="1"/>
          </p:cNvSpPr>
          <p:nvPr/>
        </p:nvSpPr>
        <p:spPr bwMode="gray">
          <a:xfrm>
            <a:off x="4724400" y="2655888"/>
            <a:ext cx="152400" cy="152400"/>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nvGrpSpPr>
          <p:cNvPr id="15" name="Group 211">
            <a:extLst>
              <a:ext uri="{FF2B5EF4-FFF2-40B4-BE49-F238E27FC236}">
                <a16:creationId xmlns:a16="http://schemas.microsoft.com/office/drawing/2014/main" id="{A20A1116-610A-0147-9F26-55F96404805A}"/>
              </a:ext>
            </a:extLst>
          </p:cNvPr>
          <p:cNvGrpSpPr>
            <a:grpSpLocks/>
          </p:cNvGrpSpPr>
          <p:nvPr/>
        </p:nvGrpSpPr>
        <p:grpSpPr bwMode="auto">
          <a:xfrm>
            <a:off x="4724400" y="1741488"/>
            <a:ext cx="1295400" cy="838200"/>
            <a:chOff x="2976" y="1440"/>
            <a:chExt cx="816" cy="528"/>
          </a:xfrm>
        </p:grpSpPr>
        <p:sp>
          <p:nvSpPr>
            <p:cNvPr id="16" name="Rectangle 104">
              <a:extLst>
                <a:ext uri="{FF2B5EF4-FFF2-40B4-BE49-F238E27FC236}">
                  <a16:creationId xmlns:a16="http://schemas.microsoft.com/office/drawing/2014/main" id="{6F50E77C-FB9D-254E-BBD3-95C32D781D77}"/>
                </a:ext>
              </a:extLst>
            </p:cNvPr>
            <p:cNvSpPr>
              <a:spLocks noChangeArrowheads="1"/>
            </p:cNvSpPr>
            <p:nvPr/>
          </p:nvSpPr>
          <p:spPr bwMode="gray">
            <a:xfrm>
              <a:off x="3120" y="144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7" name="Rectangle 125">
              <a:extLst>
                <a:ext uri="{FF2B5EF4-FFF2-40B4-BE49-F238E27FC236}">
                  <a16:creationId xmlns:a16="http://schemas.microsoft.com/office/drawing/2014/main" id="{E97A127E-FA15-9441-899A-B4D8B08C7028}"/>
                </a:ext>
              </a:extLst>
            </p:cNvPr>
            <p:cNvSpPr>
              <a:spLocks noChangeArrowheads="1"/>
            </p:cNvSpPr>
            <p:nvPr/>
          </p:nvSpPr>
          <p:spPr bwMode="gray">
            <a:xfrm>
              <a:off x="2976" y="1728"/>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8" name="Rectangle 127">
              <a:extLst>
                <a:ext uri="{FF2B5EF4-FFF2-40B4-BE49-F238E27FC236}">
                  <a16:creationId xmlns:a16="http://schemas.microsoft.com/office/drawing/2014/main" id="{A9671EFA-A365-6044-9BB3-AD24FA75ECB6}"/>
                </a:ext>
              </a:extLst>
            </p:cNvPr>
            <p:cNvSpPr>
              <a:spLocks noChangeArrowheads="1"/>
            </p:cNvSpPr>
            <p:nvPr/>
          </p:nvSpPr>
          <p:spPr bwMode="gray">
            <a:xfrm>
              <a:off x="3120" y="158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9" name="Rectangle 128">
              <a:extLst>
                <a:ext uri="{FF2B5EF4-FFF2-40B4-BE49-F238E27FC236}">
                  <a16:creationId xmlns:a16="http://schemas.microsoft.com/office/drawing/2014/main" id="{DDEFBFDE-6F27-3846-80E6-068F5C91EF8F}"/>
                </a:ext>
              </a:extLst>
            </p:cNvPr>
            <p:cNvSpPr>
              <a:spLocks noChangeArrowheads="1"/>
            </p:cNvSpPr>
            <p:nvPr/>
          </p:nvSpPr>
          <p:spPr bwMode="gray">
            <a:xfrm>
              <a:off x="3120" y="1728"/>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0" name="Rectangle 129">
              <a:extLst>
                <a:ext uri="{FF2B5EF4-FFF2-40B4-BE49-F238E27FC236}">
                  <a16:creationId xmlns:a16="http://schemas.microsoft.com/office/drawing/2014/main" id="{7A69D8BE-E689-CA4B-B313-3330C1E52C37}"/>
                </a:ext>
              </a:extLst>
            </p:cNvPr>
            <p:cNvSpPr>
              <a:spLocks noChangeArrowheads="1"/>
            </p:cNvSpPr>
            <p:nvPr/>
          </p:nvSpPr>
          <p:spPr bwMode="gray">
            <a:xfrm>
              <a:off x="3120" y="187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1" name="Rectangle 130">
              <a:extLst>
                <a:ext uri="{FF2B5EF4-FFF2-40B4-BE49-F238E27FC236}">
                  <a16:creationId xmlns:a16="http://schemas.microsoft.com/office/drawing/2014/main" id="{FE6B25EE-563A-1E4A-A9E4-69BDD9EF95E0}"/>
                </a:ext>
              </a:extLst>
            </p:cNvPr>
            <p:cNvSpPr>
              <a:spLocks noChangeArrowheads="1"/>
            </p:cNvSpPr>
            <p:nvPr/>
          </p:nvSpPr>
          <p:spPr bwMode="gray">
            <a:xfrm>
              <a:off x="3264" y="158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2" name="Rectangle 131">
              <a:extLst>
                <a:ext uri="{FF2B5EF4-FFF2-40B4-BE49-F238E27FC236}">
                  <a16:creationId xmlns:a16="http://schemas.microsoft.com/office/drawing/2014/main" id="{366B041F-5FEE-534A-83BF-2E80B8AA6480}"/>
                </a:ext>
              </a:extLst>
            </p:cNvPr>
            <p:cNvSpPr>
              <a:spLocks noChangeArrowheads="1"/>
            </p:cNvSpPr>
            <p:nvPr/>
          </p:nvSpPr>
          <p:spPr bwMode="gray">
            <a:xfrm>
              <a:off x="3264" y="187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3" name="Rectangle 132">
              <a:extLst>
                <a:ext uri="{FF2B5EF4-FFF2-40B4-BE49-F238E27FC236}">
                  <a16:creationId xmlns:a16="http://schemas.microsoft.com/office/drawing/2014/main" id="{E563364E-1564-B743-842E-2148662EC5F2}"/>
                </a:ext>
              </a:extLst>
            </p:cNvPr>
            <p:cNvSpPr>
              <a:spLocks noChangeArrowheads="1"/>
            </p:cNvSpPr>
            <p:nvPr/>
          </p:nvSpPr>
          <p:spPr bwMode="gray">
            <a:xfrm>
              <a:off x="3408" y="144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4" name="Rectangle 133">
              <a:extLst>
                <a:ext uri="{FF2B5EF4-FFF2-40B4-BE49-F238E27FC236}">
                  <a16:creationId xmlns:a16="http://schemas.microsoft.com/office/drawing/2014/main" id="{93339E11-E8E4-964B-87A6-9129861A5ADC}"/>
                </a:ext>
              </a:extLst>
            </p:cNvPr>
            <p:cNvSpPr>
              <a:spLocks noChangeArrowheads="1"/>
            </p:cNvSpPr>
            <p:nvPr/>
          </p:nvSpPr>
          <p:spPr bwMode="gray">
            <a:xfrm>
              <a:off x="3408" y="158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5" name="Rectangle 134">
              <a:extLst>
                <a:ext uri="{FF2B5EF4-FFF2-40B4-BE49-F238E27FC236}">
                  <a16:creationId xmlns:a16="http://schemas.microsoft.com/office/drawing/2014/main" id="{11D6580A-71D4-1B4D-8766-4CB9D14E683F}"/>
                </a:ext>
              </a:extLst>
            </p:cNvPr>
            <p:cNvSpPr>
              <a:spLocks noChangeArrowheads="1"/>
            </p:cNvSpPr>
            <p:nvPr/>
          </p:nvSpPr>
          <p:spPr bwMode="gray">
            <a:xfrm>
              <a:off x="3408" y="1728"/>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6" name="Rectangle 135">
              <a:extLst>
                <a:ext uri="{FF2B5EF4-FFF2-40B4-BE49-F238E27FC236}">
                  <a16:creationId xmlns:a16="http://schemas.microsoft.com/office/drawing/2014/main" id="{8EC7C4E6-4FDC-2B40-AEA1-94AC485EC8FA}"/>
                </a:ext>
              </a:extLst>
            </p:cNvPr>
            <p:cNvSpPr>
              <a:spLocks noChangeArrowheads="1"/>
            </p:cNvSpPr>
            <p:nvPr/>
          </p:nvSpPr>
          <p:spPr bwMode="gray">
            <a:xfrm>
              <a:off x="3408" y="187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7" name="Rectangle 136">
              <a:extLst>
                <a:ext uri="{FF2B5EF4-FFF2-40B4-BE49-F238E27FC236}">
                  <a16:creationId xmlns:a16="http://schemas.microsoft.com/office/drawing/2014/main" id="{FF0A4E49-F709-3C4A-893B-5F66A04727CA}"/>
                </a:ext>
              </a:extLst>
            </p:cNvPr>
            <p:cNvSpPr>
              <a:spLocks noChangeArrowheads="1"/>
            </p:cNvSpPr>
            <p:nvPr/>
          </p:nvSpPr>
          <p:spPr bwMode="gray">
            <a:xfrm>
              <a:off x="3552" y="144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8" name="Rectangle 137">
              <a:extLst>
                <a:ext uri="{FF2B5EF4-FFF2-40B4-BE49-F238E27FC236}">
                  <a16:creationId xmlns:a16="http://schemas.microsoft.com/office/drawing/2014/main" id="{D0726013-8A11-F44A-87E8-C60F6760E759}"/>
                </a:ext>
              </a:extLst>
            </p:cNvPr>
            <p:cNvSpPr>
              <a:spLocks noChangeArrowheads="1"/>
            </p:cNvSpPr>
            <p:nvPr/>
          </p:nvSpPr>
          <p:spPr bwMode="gray">
            <a:xfrm>
              <a:off x="3552" y="1728"/>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9" name="Rectangle 138">
              <a:extLst>
                <a:ext uri="{FF2B5EF4-FFF2-40B4-BE49-F238E27FC236}">
                  <a16:creationId xmlns:a16="http://schemas.microsoft.com/office/drawing/2014/main" id="{2B0D1965-085E-874E-95A2-8806AA94A971}"/>
                </a:ext>
              </a:extLst>
            </p:cNvPr>
            <p:cNvSpPr>
              <a:spLocks noChangeArrowheads="1"/>
            </p:cNvSpPr>
            <p:nvPr/>
          </p:nvSpPr>
          <p:spPr bwMode="gray">
            <a:xfrm>
              <a:off x="3696" y="158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0" name="Rectangle 139">
              <a:extLst>
                <a:ext uri="{FF2B5EF4-FFF2-40B4-BE49-F238E27FC236}">
                  <a16:creationId xmlns:a16="http://schemas.microsoft.com/office/drawing/2014/main" id="{92B25239-F30A-964B-AA66-450EB68A8565}"/>
                </a:ext>
              </a:extLst>
            </p:cNvPr>
            <p:cNvSpPr>
              <a:spLocks noChangeArrowheads="1"/>
            </p:cNvSpPr>
            <p:nvPr/>
          </p:nvSpPr>
          <p:spPr bwMode="gray">
            <a:xfrm>
              <a:off x="3696" y="1728"/>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1" name="Rectangle 140">
              <a:extLst>
                <a:ext uri="{FF2B5EF4-FFF2-40B4-BE49-F238E27FC236}">
                  <a16:creationId xmlns:a16="http://schemas.microsoft.com/office/drawing/2014/main" id="{805D8DED-0E03-E749-9A1C-B5D25EE8E38D}"/>
                </a:ext>
              </a:extLst>
            </p:cNvPr>
            <p:cNvSpPr>
              <a:spLocks noChangeArrowheads="1"/>
            </p:cNvSpPr>
            <p:nvPr/>
          </p:nvSpPr>
          <p:spPr bwMode="gray">
            <a:xfrm>
              <a:off x="3696" y="187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32" name="Group 212">
            <a:extLst>
              <a:ext uri="{FF2B5EF4-FFF2-40B4-BE49-F238E27FC236}">
                <a16:creationId xmlns:a16="http://schemas.microsoft.com/office/drawing/2014/main" id="{46B03170-DF59-E04E-A141-BA0A5C40AB15}"/>
              </a:ext>
            </a:extLst>
          </p:cNvPr>
          <p:cNvGrpSpPr>
            <a:grpSpLocks/>
          </p:cNvGrpSpPr>
          <p:nvPr/>
        </p:nvGrpSpPr>
        <p:grpSpPr bwMode="auto">
          <a:xfrm>
            <a:off x="3352800" y="1970088"/>
            <a:ext cx="1295400" cy="609600"/>
            <a:chOff x="2112" y="1584"/>
            <a:chExt cx="816" cy="384"/>
          </a:xfrm>
        </p:grpSpPr>
        <p:sp>
          <p:nvSpPr>
            <p:cNvPr id="33" name="Rectangle 112">
              <a:extLst>
                <a:ext uri="{FF2B5EF4-FFF2-40B4-BE49-F238E27FC236}">
                  <a16:creationId xmlns:a16="http://schemas.microsoft.com/office/drawing/2014/main" id="{0AEFFA79-6CD7-744A-B965-508FEA923BB7}"/>
                </a:ext>
              </a:extLst>
            </p:cNvPr>
            <p:cNvSpPr>
              <a:spLocks noChangeArrowheads="1"/>
            </p:cNvSpPr>
            <p:nvPr/>
          </p:nvSpPr>
          <p:spPr bwMode="gray">
            <a:xfrm>
              <a:off x="2400" y="158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4" name="Rectangle 113">
              <a:extLst>
                <a:ext uri="{FF2B5EF4-FFF2-40B4-BE49-F238E27FC236}">
                  <a16:creationId xmlns:a16="http://schemas.microsoft.com/office/drawing/2014/main" id="{984B5A8D-95E1-2744-8A1E-903F5217A390}"/>
                </a:ext>
              </a:extLst>
            </p:cNvPr>
            <p:cNvSpPr>
              <a:spLocks noChangeArrowheads="1"/>
            </p:cNvSpPr>
            <p:nvPr/>
          </p:nvSpPr>
          <p:spPr bwMode="gray">
            <a:xfrm>
              <a:off x="2400"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5" name="Rectangle 115">
              <a:extLst>
                <a:ext uri="{FF2B5EF4-FFF2-40B4-BE49-F238E27FC236}">
                  <a16:creationId xmlns:a16="http://schemas.microsoft.com/office/drawing/2014/main" id="{B99ADAD3-BC9F-1D4F-BC00-1DA48DB1F6C8}"/>
                </a:ext>
              </a:extLst>
            </p:cNvPr>
            <p:cNvSpPr>
              <a:spLocks noChangeArrowheads="1"/>
            </p:cNvSpPr>
            <p:nvPr/>
          </p:nvSpPr>
          <p:spPr bwMode="gray">
            <a:xfrm>
              <a:off x="2544" y="158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6" name="Rectangle 116">
              <a:extLst>
                <a:ext uri="{FF2B5EF4-FFF2-40B4-BE49-F238E27FC236}">
                  <a16:creationId xmlns:a16="http://schemas.microsoft.com/office/drawing/2014/main" id="{C3D82980-179C-E545-B1E8-98923BDDF5E6}"/>
                </a:ext>
              </a:extLst>
            </p:cNvPr>
            <p:cNvSpPr>
              <a:spLocks noChangeArrowheads="1"/>
            </p:cNvSpPr>
            <p:nvPr/>
          </p:nvSpPr>
          <p:spPr bwMode="gray">
            <a:xfrm>
              <a:off x="2544" y="172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7" name="Rectangle 117">
              <a:extLst>
                <a:ext uri="{FF2B5EF4-FFF2-40B4-BE49-F238E27FC236}">
                  <a16:creationId xmlns:a16="http://schemas.microsoft.com/office/drawing/2014/main" id="{779770F6-153B-B140-95CA-163F9CE5AB50}"/>
                </a:ext>
              </a:extLst>
            </p:cNvPr>
            <p:cNvSpPr>
              <a:spLocks noChangeArrowheads="1"/>
            </p:cNvSpPr>
            <p:nvPr/>
          </p:nvSpPr>
          <p:spPr bwMode="gray">
            <a:xfrm>
              <a:off x="2544"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8" name="Rectangle 118">
              <a:extLst>
                <a:ext uri="{FF2B5EF4-FFF2-40B4-BE49-F238E27FC236}">
                  <a16:creationId xmlns:a16="http://schemas.microsoft.com/office/drawing/2014/main" id="{E459F812-CC9F-C242-85F6-07B0B3283CBA}"/>
                </a:ext>
              </a:extLst>
            </p:cNvPr>
            <p:cNvSpPr>
              <a:spLocks noChangeArrowheads="1"/>
            </p:cNvSpPr>
            <p:nvPr/>
          </p:nvSpPr>
          <p:spPr bwMode="gray">
            <a:xfrm>
              <a:off x="2688" y="158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9" name="Rectangle 119">
              <a:extLst>
                <a:ext uri="{FF2B5EF4-FFF2-40B4-BE49-F238E27FC236}">
                  <a16:creationId xmlns:a16="http://schemas.microsoft.com/office/drawing/2014/main" id="{8180FA59-5B67-DA4A-9AF8-1F78871506AA}"/>
                </a:ext>
              </a:extLst>
            </p:cNvPr>
            <p:cNvSpPr>
              <a:spLocks noChangeArrowheads="1"/>
            </p:cNvSpPr>
            <p:nvPr/>
          </p:nvSpPr>
          <p:spPr bwMode="gray">
            <a:xfrm>
              <a:off x="2688"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0" name="Rectangle 121">
              <a:extLst>
                <a:ext uri="{FF2B5EF4-FFF2-40B4-BE49-F238E27FC236}">
                  <a16:creationId xmlns:a16="http://schemas.microsoft.com/office/drawing/2014/main" id="{CE50D181-E84D-9346-9F67-27CA1FF4C9F0}"/>
                </a:ext>
              </a:extLst>
            </p:cNvPr>
            <p:cNvSpPr>
              <a:spLocks noChangeArrowheads="1"/>
            </p:cNvSpPr>
            <p:nvPr/>
          </p:nvSpPr>
          <p:spPr bwMode="gray">
            <a:xfrm>
              <a:off x="2832" y="158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1" name="Rectangle 122">
              <a:extLst>
                <a:ext uri="{FF2B5EF4-FFF2-40B4-BE49-F238E27FC236}">
                  <a16:creationId xmlns:a16="http://schemas.microsoft.com/office/drawing/2014/main" id="{20845DFB-2654-D240-A377-8827AEA80289}"/>
                </a:ext>
              </a:extLst>
            </p:cNvPr>
            <p:cNvSpPr>
              <a:spLocks noChangeArrowheads="1"/>
            </p:cNvSpPr>
            <p:nvPr/>
          </p:nvSpPr>
          <p:spPr bwMode="gray">
            <a:xfrm>
              <a:off x="2832" y="172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2" name="Rectangle 123">
              <a:extLst>
                <a:ext uri="{FF2B5EF4-FFF2-40B4-BE49-F238E27FC236}">
                  <a16:creationId xmlns:a16="http://schemas.microsoft.com/office/drawing/2014/main" id="{2743166B-0BD9-2B46-B847-DF3F9B70084B}"/>
                </a:ext>
              </a:extLst>
            </p:cNvPr>
            <p:cNvSpPr>
              <a:spLocks noChangeArrowheads="1"/>
            </p:cNvSpPr>
            <p:nvPr/>
          </p:nvSpPr>
          <p:spPr bwMode="gray">
            <a:xfrm>
              <a:off x="2832"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3" name="Rectangle 141">
              <a:extLst>
                <a:ext uri="{FF2B5EF4-FFF2-40B4-BE49-F238E27FC236}">
                  <a16:creationId xmlns:a16="http://schemas.microsoft.com/office/drawing/2014/main" id="{FF272EC0-5833-7E4A-BD2C-E95F9135E8DB}"/>
                </a:ext>
              </a:extLst>
            </p:cNvPr>
            <p:cNvSpPr>
              <a:spLocks noChangeArrowheads="1"/>
            </p:cNvSpPr>
            <p:nvPr/>
          </p:nvSpPr>
          <p:spPr bwMode="gray">
            <a:xfrm>
              <a:off x="2256"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4" name="Rectangle 142">
              <a:extLst>
                <a:ext uri="{FF2B5EF4-FFF2-40B4-BE49-F238E27FC236}">
                  <a16:creationId xmlns:a16="http://schemas.microsoft.com/office/drawing/2014/main" id="{6A09D238-C43C-2944-92F5-5A326D7F4CD0}"/>
                </a:ext>
              </a:extLst>
            </p:cNvPr>
            <p:cNvSpPr>
              <a:spLocks noChangeArrowheads="1"/>
            </p:cNvSpPr>
            <p:nvPr/>
          </p:nvSpPr>
          <p:spPr bwMode="gray">
            <a:xfrm>
              <a:off x="2112" y="1872"/>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45" name="Group 143">
            <a:extLst>
              <a:ext uri="{FF2B5EF4-FFF2-40B4-BE49-F238E27FC236}">
                <a16:creationId xmlns:a16="http://schemas.microsoft.com/office/drawing/2014/main" id="{9B8F78BF-FCA8-AE40-B749-48B9E2047B1B}"/>
              </a:ext>
            </a:extLst>
          </p:cNvPr>
          <p:cNvGrpSpPr>
            <a:grpSpLocks/>
          </p:cNvGrpSpPr>
          <p:nvPr/>
        </p:nvGrpSpPr>
        <p:grpSpPr bwMode="auto">
          <a:xfrm>
            <a:off x="762000" y="3570288"/>
            <a:ext cx="1905000" cy="762000"/>
            <a:chOff x="2112" y="1632"/>
            <a:chExt cx="1680" cy="672"/>
          </a:xfrm>
        </p:grpSpPr>
        <p:sp>
          <p:nvSpPr>
            <p:cNvPr id="46" name="Rectangle 144">
              <a:extLst>
                <a:ext uri="{FF2B5EF4-FFF2-40B4-BE49-F238E27FC236}">
                  <a16:creationId xmlns:a16="http://schemas.microsoft.com/office/drawing/2014/main" id="{1FDCECEE-53AF-FB44-A672-6828EA3724A1}"/>
                </a:ext>
              </a:extLst>
            </p:cNvPr>
            <p:cNvSpPr>
              <a:spLocks noChangeArrowheads="1"/>
            </p:cNvSpPr>
            <p:nvPr/>
          </p:nvSpPr>
          <p:spPr bwMode="gray">
            <a:xfrm>
              <a:off x="2400" y="1776"/>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7" name="Rectangle 145">
              <a:extLst>
                <a:ext uri="{FF2B5EF4-FFF2-40B4-BE49-F238E27FC236}">
                  <a16:creationId xmlns:a16="http://schemas.microsoft.com/office/drawing/2014/main" id="{37A8F40B-0316-7648-B96F-2FB35500704F}"/>
                </a:ext>
              </a:extLst>
            </p:cNvPr>
            <p:cNvSpPr>
              <a:spLocks noChangeArrowheads="1"/>
            </p:cNvSpPr>
            <p:nvPr/>
          </p:nvSpPr>
          <p:spPr bwMode="gray">
            <a:xfrm>
              <a:off x="2400"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8" name="Rectangle 146">
              <a:extLst>
                <a:ext uri="{FF2B5EF4-FFF2-40B4-BE49-F238E27FC236}">
                  <a16:creationId xmlns:a16="http://schemas.microsoft.com/office/drawing/2014/main" id="{2943CA73-64D0-D84B-9558-14E903541F62}"/>
                </a:ext>
              </a:extLst>
            </p:cNvPr>
            <p:cNvSpPr>
              <a:spLocks noChangeArrowheads="1"/>
            </p:cNvSpPr>
            <p:nvPr/>
          </p:nvSpPr>
          <p:spPr bwMode="gray">
            <a:xfrm>
              <a:off x="2400" y="2207"/>
              <a:ext cx="95"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9" name="Rectangle 147">
              <a:extLst>
                <a:ext uri="{FF2B5EF4-FFF2-40B4-BE49-F238E27FC236}">
                  <a16:creationId xmlns:a16="http://schemas.microsoft.com/office/drawing/2014/main" id="{E1245744-AB4D-3946-91BB-98362B48424F}"/>
                </a:ext>
              </a:extLst>
            </p:cNvPr>
            <p:cNvSpPr>
              <a:spLocks noChangeArrowheads="1"/>
            </p:cNvSpPr>
            <p:nvPr/>
          </p:nvSpPr>
          <p:spPr bwMode="gray">
            <a:xfrm>
              <a:off x="2545" y="1776"/>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0" name="Rectangle 148">
              <a:extLst>
                <a:ext uri="{FF2B5EF4-FFF2-40B4-BE49-F238E27FC236}">
                  <a16:creationId xmlns:a16="http://schemas.microsoft.com/office/drawing/2014/main" id="{D41F5F94-0BAF-4944-92B0-304ADDB38239}"/>
                </a:ext>
              </a:extLst>
            </p:cNvPr>
            <p:cNvSpPr>
              <a:spLocks noChangeArrowheads="1"/>
            </p:cNvSpPr>
            <p:nvPr/>
          </p:nvSpPr>
          <p:spPr bwMode="gray">
            <a:xfrm>
              <a:off x="2545" y="1920"/>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1" name="Rectangle 149">
              <a:extLst>
                <a:ext uri="{FF2B5EF4-FFF2-40B4-BE49-F238E27FC236}">
                  <a16:creationId xmlns:a16="http://schemas.microsoft.com/office/drawing/2014/main" id="{D37B787A-0687-5C4B-8D6A-B4E60A1E7DDC}"/>
                </a:ext>
              </a:extLst>
            </p:cNvPr>
            <p:cNvSpPr>
              <a:spLocks noChangeArrowheads="1"/>
            </p:cNvSpPr>
            <p:nvPr/>
          </p:nvSpPr>
          <p:spPr bwMode="gray">
            <a:xfrm>
              <a:off x="2545"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2" name="Rectangle 150">
              <a:extLst>
                <a:ext uri="{FF2B5EF4-FFF2-40B4-BE49-F238E27FC236}">
                  <a16:creationId xmlns:a16="http://schemas.microsoft.com/office/drawing/2014/main" id="{94A5EF8D-EF60-ED4D-9605-6ED1E2FCBB1F}"/>
                </a:ext>
              </a:extLst>
            </p:cNvPr>
            <p:cNvSpPr>
              <a:spLocks noChangeArrowheads="1"/>
            </p:cNvSpPr>
            <p:nvPr/>
          </p:nvSpPr>
          <p:spPr bwMode="gray">
            <a:xfrm>
              <a:off x="2687" y="1776"/>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3" name="Rectangle 151">
              <a:extLst>
                <a:ext uri="{FF2B5EF4-FFF2-40B4-BE49-F238E27FC236}">
                  <a16:creationId xmlns:a16="http://schemas.microsoft.com/office/drawing/2014/main" id="{26DDD8A6-8AEA-6C4A-A977-D91018066440}"/>
                </a:ext>
              </a:extLst>
            </p:cNvPr>
            <p:cNvSpPr>
              <a:spLocks noChangeArrowheads="1"/>
            </p:cNvSpPr>
            <p:nvPr/>
          </p:nvSpPr>
          <p:spPr bwMode="gray">
            <a:xfrm>
              <a:off x="2687" y="2065"/>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4" name="Rectangle 152">
              <a:extLst>
                <a:ext uri="{FF2B5EF4-FFF2-40B4-BE49-F238E27FC236}">
                  <a16:creationId xmlns:a16="http://schemas.microsoft.com/office/drawing/2014/main" id="{6C5A71E4-A339-904B-B49C-451F5948A3ED}"/>
                </a:ext>
              </a:extLst>
            </p:cNvPr>
            <p:cNvSpPr>
              <a:spLocks noChangeArrowheads="1"/>
            </p:cNvSpPr>
            <p:nvPr/>
          </p:nvSpPr>
          <p:spPr bwMode="gray">
            <a:xfrm>
              <a:off x="2687" y="2207"/>
              <a:ext cx="97"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5" name="Rectangle 153">
              <a:extLst>
                <a:ext uri="{FF2B5EF4-FFF2-40B4-BE49-F238E27FC236}">
                  <a16:creationId xmlns:a16="http://schemas.microsoft.com/office/drawing/2014/main" id="{3915F284-BC1C-2F4A-8622-188E66C4F35F}"/>
                </a:ext>
              </a:extLst>
            </p:cNvPr>
            <p:cNvSpPr>
              <a:spLocks noChangeArrowheads="1"/>
            </p:cNvSpPr>
            <p:nvPr/>
          </p:nvSpPr>
          <p:spPr bwMode="gray">
            <a:xfrm>
              <a:off x="2832" y="1776"/>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6" name="Rectangle 154">
              <a:extLst>
                <a:ext uri="{FF2B5EF4-FFF2-40B4-BE49-F238E27FC236}">
                  <a16:creationId xmlns:a16="http://schemas.microsoft.com/office/drawing/2014/main" id="{858D511A-3952-7D4D-8ECB-DE2F26607DC8}"/>
                </a:ext>
              </a:extLst>
            </p:cNvPr>
            <p:cNvSpPr>
              <a:spLocks noChangeArrowheads="1"/>
            </p:cNvSpPr>
            <p:nvPr/>
          </p:nvSpPr>
          <p:spPr bwMode="gray">
            <a:xfrm>
              <a:off x="2832" y="1920"/>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7" name="Rectangle 155">
              <a:extLst>
                <a:ext uri="{FF2B5EF4-FFF2-40B4-BE49-F238E27FC236}">
                  <a16:creationId xmlns:a16="http://schemas.microsoft.com/office/drawing/2014/main" id="{A17416A3-86DE-C243-A288-A357F7CABAAE}"/>
                </a:ext>
              </a:extLst>
            </p:cNvPr>
            <p:cNvSpPr>
              <a:spLocks noChangeArrowheads="1"/>
            </p:cNvSpPr>
            <p:nvPr/>
          </p:nvSpPr>
          <p:spPr bwMode="gray">
            <a:xfrm>
              <a:off x="2832" y="2065"/>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8" name="Rectangle 156">
              <a:extLst>
                <a:ext uri="{FF2B5EF4-FFF2-40B4-BE49-F238E27FC236}">
                  <a16:creationId xmlns:a16="http://schemas.microsoft.com/office/drawing/2014/main" id="{63AA7785-5966-2A4A-8C8A-51C41517AB8B}"/>
                </a:ext>
              </a:extLst>
            </p:cNvPr>
            <p:cNvSpPr>
              <a:spLocks noChangeArrowheads="1"/>
            </p:cNvSpPr>
            <p:nvPr/>
          </p:nvSpPr>
          <p:spPr bwMode="gray">
            <a:xfrm>
              <a:off x="2832" y="2207"/>
              <a:ext cx="98"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9" name="Rectangle 157">
              <a:extLst>
                <a:ext uri="{FF2B5EF4-FFF2-40B4-BE49-F238E27FC236}">
                  <a16:creationId xmlns:a16="http://schemas.microsoft.com/office/drawing/2014/main" id="{8FDE1EE7-45A6-3341-91DF-4116369F6A09}"/>
                </a:ext>
              </a:extLst>
            </p:cNvPr>
            <p:cNvSpPr>
              <a:spLocks noChangeArrowheads="1"/>
            </p:cNvSpPr>
            <p:nvPr/>
          </p:nvSpPr>
          <p:spPr bwMode="gray">
            <a:xfrm>
              <a:off x="2976"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0" name="Rectangle 158">
              <a:extLst>
                <a:ext uri="{FF2B5EF4-FFF2-40B4-BE49-F238E27FC236}">
                  <a16:creationId xmlns:a16="http://schemas.microsoft.com/office/drawing/2014/main" id="{928F55C7-5AC5-864A-9020-BF8BF1F40BA6}"/>
                </a:ext>
              </a:extLst>
            </p:cNvPr>
            <p:cNvSpPr>
              <a:spLocks noChangeArrowheads="1"/>
            </p:cNvSpPr>
            <p:nvPr/>
          </p:nvSpPr>
          <p:spPr bwMode="gray">
            <a:xfrm>
              <a:off x="2976" y="2207"/>
              <a:ext cx="97"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1" name="Rectangle 159">
              <a:extLst>
                <a:ext uri="{FF2B5EF4-FFF2-40B4-BE49-F238E27FC236}">
                  <a16:creationId xmlns:a16="http://schemas.microsoft.com/office/drawing/2014/main" id="{82BD2DB7-3FFC-F54F-BE14-2485CC13EEFB}"/>
                </a:ext>
              </a:extLst>
            </p:cNvPr>
            <p:cNvSpPr>
              <a:spLocks noChangeArrowheads="1"/>
            </p:cNvSpPr>
            <p:nvPr/>
          </p:nvSpPr>
          <p:spPr bwMode="gray">
            <a:xfrm>
              <a:off x="3120" y="1776"/>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2" name="Rectangle 160">
              <a:extLst>
                <a:ext uri="{FF2B5EF4-FFF2-40B4-BE49-F238E27FC236}">
                  <a16:creationId xmlns:a16="http://schemas.microsoft.com/office/drawing/2014/main" id="{AFE3E3D3-E7BF-C741-9D4C-FA3831336072}"/>
                </a:ext>
              </a:extLst>
            </p:cNvPr>
            <p:cNvSpPr>
              <a:spLocks noChangeArrowheads="1"/>
            </p:cNvSpPr>
            <p:nvPr/>
          </p:nvSpPr>
          <p:spPr bwMode="gray">
            <a:xfrm>
              <a:off x="3120"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3" name="Rectangle 161">
              <a:extLst>
                <a:ext uri="{FF2B5EF4-FFF2-40B4-BE49-F238E27FC236}">
                  <a16:creationId xmlns:a16="http://schemas.microsoft.com/office/drawing/2014/main" id="{622014F5-9CC6-E547-AF68-092985C2FECE}"/>
                </a:ext>
              </a:extLst>
            </p:cNvPr>
            <p:cNvSpPr>
              <a:spLocks noChangeArrowheads="1"/>
            </p:cNvSpPr>
            <p:nvPr/>
          </p:nvSpPr>
          <p:spPr bwMode="gray">
            <a:xfrm>
              <a:off x="3120" y="2065"/>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4" name="Rectangle 162">
              <a:extLst>
                <a:ext uri="{FF2B5EF4-FFF2-40B4-BE49-F238E27FC236}">
                  <a16:creationId xmlns:a16="http://schemas.microsoft.com/office/drawing/2014/main" id="{AFC93340-D892-5547-AF44-2CAA53B85141}"/>
                </a:ext>
              </a:extLst>
            </p:cNvPr>
            <p:cNvSpPr>
              <a:spLocks noChangeArrowheads="1"/>
            </p:cNvSpPr>
            <p:nvPr/>
          </p:nvSpPr>
          <p:spPr bwMode="gray">
            <a:xfrm>
              <a:off x="3264" y="1776"/>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5" name="Rectangle 163">
              <a:extLst>
                <a:ext uri="{FF2B5EF4-FFF2-40B4-BE49-F238E27FC236}">
                  <a16:creationId xmlns:a16="http://schemas.microsoft.com/office/drawing/2014/main" id="{E8CD5011-170D-8D4C-BB32-312710CB7503}"/>
                </a:ext>
              </a:extLst>
            </p:cNvPr>
            <p:cNvSpPr>
              <a:spLocks noChangeArrowheads="1"/>
            </p:cNvSpPr>
            <p:nvPr/>
          </p:nvSpPr>
          <p:spPr bwMode="gray">
            <a:xfrm>
              <a:off x="3264" y="2065"/>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6" name="Rectangle 164">
              <a:extLst>
                <a:ext uri="{FF2B5EF4-FFF2-40B4-BE49-F238E27FC236}">
                  <a16:creationId xmlns:a16="http://schemas.microsoft.com/office/drawing/2014/main" id="{2904F09B-E5F0-384A-A88F-FBA350557170}"/>
                </a:ext>
              </a:extLst>
            </p:cNvPr>
            <p:cNvSpPr>
              <a:spLocks noChangeArrowheads="1"/>
            </p:cNvSpPr>
            <p:nvPr/>
          </p:nvSpPr>
          <p:spPr bwMode="gray">
            <a:xfrm>
              <a:off x="3408" y="1632"/>
              <a:ext cx="95" cy="97"/>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7" name="Rectangle 165">
              <a:extLst>
                <a:ext uri="{FF2B5EF4-FFF2-40B4-BE49-F238E27FC236}">
                  <a16:creationId xmlns:a16="http://schemas.microsoft.com/office/drawing/2014/main" id="{B09761B4-29B1-B14D-AE5C-1FE81944B47F}"/>
                </a:ext>
              </a:extLst>
            </p:cNvPr>
            <p:cNvSpPr>
              <a:spLocks noChangeArrowheads="1"/>
            </p:cNvSpPr>
            <p:nvPr/>
          </p:nvSpPr>
          <p:spPr bwMode="gray">
            <a:xfrm>
              <a:off x="3408" y="1776"/>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8" name="Rectangle 166">
              <a:extLst>
                <a:ext uri="{FF2B5EF4-FFF2-40B4-BE49-F238E27FC236}">
                  <a16:creationId xmlns:a16="http://schemas.microsoft.com/office/drawing/2014/main" id="{1ED63DD9-946A-A047-8109-402B9A843890}"/>
                </a:ext>
              </a:extLst>
            </p:cNvPr>
            <p:cNvSpPr>
              <a:spLocks noChangeArrowheads="1"/>
            </p:cNvSpPr>
            <p:nvPr/>
          </p:nvSpPr>
          <p:spPr bwMode="gray">
            <a:xfrm>
              <a:off x="3408" y="1920"/>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9" name="Rectangle 167">
              <a:extLst>
                <a:ext uri="{FF2B5EF4-FFF2-40B4-BE49-F238E27FC236}">
                  <a16:creationId xmlns:a16="http://schemas.microsoft.com/office/drawing/2014/main" id="{E1AF7118-CC26-B845-80E4-2C86C84ECBD5}"/>
                </a:ext>
              </a:extLst>
            </p:cNvPr>
            <p:cNvSpPr>
              <a:spLocks noChangeArrowheads="1"/>
            </p:cNvSpPr>
            <p:nvPr/>
          </p:nvSpPr>
          <p:spPr bwMode="gray">
            <a:xfrm>
              <a:off x="3408" y="2065"/>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0" name="Rectangle 168">
              <a:extLst>
                <a:ext uri="{FF2B5EF4-FFF2-40B4-BE49-F238E27FC236}">
                  <a16:creationId xmlns:a16="http://schemas.microsoft.com/office/drawing/2014/main" id="{B1126321-8621-A54A-A72B-BF27352A46D6}"/>
                </a:ext>
              </a:extLst>
            </p:cNvPr>
            <p:cNvSpPr>
              <a:spLocks noChangeArrowheads="1"/>
            </p:cNvSpPr>
            <p:nvPr/>
          </p:nvSpPr>
          <p:spPr bwMode="gray">
            <a:xfrm>
              <a:off x="3553" y="1632"/>
              <a:ext cx="95" cy="97"/>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1" name="Rectangle 169">
              <a:extLst>
                <a:ext uri="{FF2B5EF4-FFF2-40B4-BE49-F238E27FC236}">
                  <a16:creationId xmlns:a16="http://schemas.microsoft.com/office/drawing/2014/main" id="{FBEB243E-E772-ED41-8184-0B2A2CA932E7}"/>
                </a:ext>
              </a:extLst>
            </p:cNvPr>
            <p:cNvSpPr>
              <a:spLocks noChangeArrowheads="1"/>
            </p:cNvSpPr>
            <p:nvPr/>
          </p:nvSpPr>
          <p:spPr bwMode="gray">
            <a:xfrm>
              <a:off x="3553" y="1920"/>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2" name="Rectangle 170">
              <a:extLst>
                <a:ext uri="{FF2B5EF4-FFF2-40B4-BE49-F238E27FC236}">
                  <a16:creationId xmlns:a16="http://schemas.microsoft.com/office/drawing/2014/main" id="{6E005858-4D3C-9C4B-80A0-3DC6E2D9049D}"/>
                </a:ext>
              </a:extLst>
            </p:cNvPr>
            <p:cNvSpPr>
              <a:spLocks noChangeArrowheads="1"/>
            </p:cNvSpPr>
            <p:nvPr/>
          </p:nvSpPr>
          <p:spPr bwMode="gray">
            <a:xfrm>
              <a:off x="3695" y="1776"/>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3" name="Rectangle 171">
              <a:extLst>
                <a:ext uri="{FF2B5EF4-FFF2-40B4-BE49-F238E27FC236}">
                  <a16:creationId xmlns:a16="http://schemas.microsoft.com/office/drawing/2014/main" id="{C82B2AD8-AE95-7F48-8091-BE9EAB98B508}"/>
                </a:ext>
              </a:extLst>
            </p:cNvPr>
            <p:cNvSpPr>
              <a:spLocks noChangeArrowheads="1"/>
            </p:cNvSpPr>
            <p:nvPr/>
          </p:nvSpPr>
          <p:spPr bwMode="gray">
            <a:xfrm>
              <a:off x="3695"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4" name="Rectangle 172">
              <a:extLst>
                <a:ext uri="{FF2B5EF4-FFF2-40B4-BE49-F238E27FC236}">
                  <a16:creationId xmlns:a16="http://schemas.microsoft.com/office/drawing/2014/main" id="{60B8EBED-3470-9140-B79C-C1596A3D71A9}"/>
                </a:ext>
              </a:extLst>
            </p:cNvPr>
            <p:cNvSpPr>
              <a:spLocks noChangeArrowheads="1"/>
            </p:cNvSpPr>
            <p:nvPr/>
          </p:nvSpPr>
          <p:spPr bwMode="gray">
            <a:xfrm>
              <a:off x="3695" y="2065"/>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5" name="Rectangle 173">
              <a:extLst>
                <a:ext uri="{FF2B5EF4-FFF2-40B4-BE49-F238E27FC236}">
                  <a16:creationId xmlns:a16="http://schemas.microsoft.com/office/drawing/2014/main" id="{45F37B50-8B21-B34A-A915-6791B32C677A}"/>
                </a:ext>
              </a:extLst>
            </p:cNvPr>
            <p:cNvSpPr>
              <a:spLocks noChangeArrowheads="1"/>
            </p:cNvSpPr>
            <p:nvPr/>
          </p:nvSpPr>
          <p:spPr bwMode="gray">
            <a:xfrm>
              <a:off x="2256"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6" name="Rectangle 174">
              <a:extLst>
                <a:ext uri="{FF2B5EF4-FFF2-40B4-BE49-F238E27FC236}">
                  <a16:creationId xmlns:a16="http://schemas.microsoft.com/office/drawing/2014/main" id="{B38A2C9D-3CFC-724C-BA41-356D789B335C}"/>
                </a:ext>
              </a:extLst>
            </p:cNvPr>
            <p:cNvSpPr>
              <a:spLocks noChangeArrowheads="1"/>
            </p:cNvSpPr>
            <p:nvPr/>
          </p:nvSpPr>
          <p:spPr bwMode="gray">
            <a:xfrm>
              <a:off x="2112" y="2065"/>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77" name="Group 175">
            <a:extLst>
              <a:ext uri="{FF2B5EF4-FFF2-40B4-BE49-F238E27FC236}">
                <a16:creationId xmlns:a16="http://schemas.microsoft.com/office/drawing/2014/main" id="{B5E4CDA4-46AC-9E43-96FB-6DB681314939}"/>
              </a:ext>
            </a:extLst>
          </p:cNvPr>
          <p:cNvGrpSpPr>
            <a:grpSpLocks/>
          </p:cNvGrpSpPr>
          <p:nvPr/>
        </p:nvGrpSpPr>
        <p:grpSpPr bwMode="auto">
          <a:xfrm>
            <a:off x="5486400" y="827088"/>
            <a:ext cx="2667000" cy="1066800"/>
            <a:chOff x="2112" y="1632"/>
            <a:chExt cx="1680" cy="672"/>
          </a:xfrm>
        </p:grpSpPr>
        <p:sp>
          <p:nvSpPr>
            <p:cNvPr id="78" name="Rectangle 176">
              <a:extLst>
                <a:ext uri="{FF2B5EF4-FFF2-40B4-BE49-F238E27FC236}">
                  <a16:creationId xmlns:a16="http://schemas.microsoft.com/office/drawing/2014/main" id="{80B2F2A7-3046-774F-97A9-87B656B82838}"/>
                </a:ext>
              </a:extLst>
            </p:cNvPr>
            <p:cNvSpPr>
              <a:spLocks noChangeArrowheads="1"/>
            </p:cNvSpPr>
            <p:nvPr/>
          </p:nvSpPr>
          <p:spPr bwMode="gray">
            <a:xfrm>
              <a:off x="2400" y="1776"/>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9" name="Rectangle 177">
              <a:extLst>
                <a:ext uri="{FF2B5EF4-FFF2-40B4-BE49-F238E27FC236}">
                  <a16:creationId xmlns:a16="http://schemas.microsoft.com/office/drawing/2014/main" id="{C0FCBF54-CA0D-E049-8A99-D97F7DC0484A}"/>
                </a:ext>
              </a:extLst>
            </p:cNvPr>
            <p:cNvSpPr>
              <a:spLocks noChangeArrowheads="1"/>
            </p:cNvSpPr>
            <p:nvPr/>
          </p:nvSpPr>
          <p:spPr bwMode="gray">
            <a:xfrm>
              <a:off x="2400"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0" name="Rectangle 178">
              <a:extLst>
                <a:ext uri="{FF2B5EF4-FFF2-40B4-BE49-F238E27FC236}">
                  <a16:creationId xmlns:a16="http://schemas.microsoft.com/office/drawing/2014/main" id="{B0EEB05A-6835-994C-9621-B57E29D61C34}"/>
                </a:ext>
              </a:extLst>
            </p:cNvPr>
            <p:cNvSpPr>
              <a:spLocks noChangeArrowheads="1"/>
            </p:cNvSpPr>
            <p:nvPr/>
          </p:nvSpPr>
          <p:spPr bwMode="gray">
            <a:xfrm>
              <a:off x="2400" y="220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1" name="Rectangle 179">
              <a:extLst>
                <a:ext uri="{FF2B5EF4-FFF2-40B4-BE49-F238E27FC236}">
                  <a16:creationId xmlns:a16="http://schemas.microsoft.com/office/drawing/2014/main" id="{672CA14C-2C65-B74C-A9AA-86A6067BE42A}"/>
                </a:ext>
              </a:extLst>
            </p:cNvPr>
            <p:cNvSpPr>
              <a:spLocks noChangeArrowheads="1"/>
            </p:cNvSpPr>
            <p:nvPr/>
          </p:nvSpPr>
          <p:spPr bwMode="gray">
            <a:xfrm>
              <a:off x="2544" y="1776"/>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2" name="Rectangle 180">
              <a:extLst>
                <a:ext uri="{FF2B5EF4-FFF2-40B4-BE49-F238E27FC236}">
                  <a16:creationId xmlns:a16="http://schemas.microsoft.com/office/drawing/2014/main" id="{ADB90467-613F-5641-A080-80D64C70E4BE}"/>
                </a:ext>
              </a:extLst>
            </p:cNvPr>
            <p:cNvSpPr>
              <a:spLocks noChangeArrowheads="1"/>
            </p:cNvSpPr>
            <p:nvPr/>
          </p:nvSpPr>
          <p:spPr bwMode="gray">
            <a:xfrm>
              <a:off x="2544" y="1920"/>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3" name="Rectangle 181">
              <a:extLst>
                <a:ext uri="{FF2B5EF4-FFF2-40B4-BE49-F238E27FC236}">
                  <a16:creationId xmlns:a16="http://schemas.microsoft.com/office/drawing/2014/main" id="{D707D0DC-A04E-9F43-A035-3D7C0758C921}"/>
                </a:ext>
              </a:extLst>
            </p:cNvPr>
            <p:cNvSpPr>
              <a:spLocks noChangeArrowheads="1"/>
            </p:cNvSpPr>
            <p:nvPr/>
          </p:nvSpPr>
          <p:spPr bwMode="gray">
            <a:xfrm>
              <a:off x="2544"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4" name="Rectangle 182">
              <a:extLst>
                <a:ext uri="{FF2B5EF4-FFF2-40B4-BE49-F238E27FC236}">
                  <a16:creationId xmlns:a16="http://schemas.microsoft.com/office/drawing/2014/main" id="{643A0F4A-8CD5-3E48-8140-B589409D71A6}"/>
                </a:ext>
              </a:extLst>
            </p:cNvPr>
            <p:cNvSpPr>
              <a:spLocks noChangeArrowheads="1"/>
            </p:cNvSpPr>
            <p:nvPr/>
          </p:nvSpPr>
          <p:spPr bwMode="gray">
            <a:xfrm>
              <a:off x="2688" y="1776"/>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5" name="Rectangle 183">
              <a:extLst>
                <a:ext uri="{FF2B5EF4-FFF2-40B4-BE49-F238E27FC236}">
                  <a16:creationId xmlns:a16="http://schemas.microsoft.com/office/drawing/2014/main" id="{C1880980-703B-E149-968C-BDE0DA202856}"/>
                </a:ext>
              </a:extLst>
            </p:cNvPr>
            <p:cNvSpPr>
              <a:spLocks noChangeArrowheads="1"/>
            </p:cNvSpPr>
            <p:nvPr/>
          </p:nvSpPr>
          <p:spPr bwMode="gray">
            <a:xfrm>
              <a:off x="2688"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6" name="Rectangle 184">
              <a:extLst>
                <a:ext uri="{FF2B5EF4-FFF2-40B4-BE49-F238E27FC236}">
                  <a16:creationId xmlns:a16="http://schemas.microsoft.com/office/drawing/2014/main" id="{86714BC0-B7FC-3447-96FA-E76052F5024E}"/>
                </a:ext>
              </a:extLst>
            </p:cNvPr>
            <p:cNvSpPr>
              <a:spLocks noChangeArrowheads="1"/>
            </p:cNvSpPr>
            <p:nvPr/>
          </p:nvSpPr>
          <p:spPr bwMode="gray">
            <a:xfrm>
              <a:off x="2688" y="220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7" name="Rectangle 185">
              <a:extLst>
                <a:ext uri="{FF2B5EF4-FFF2-40B4-BE49-F238E27FC236}">
                  <a16:creationId xmlns:a16="http://schemas.microsoft.com/office/drawing/2014/main" id="{58DE3817-A4FA-4B4C-9400-C2A2D6F2AD34}"/>
                </a:ext>
              </a:extLst>
            </p:cNvPr>
            <p:cNvSpPr>
              <a:spLocks noChangeArrowheads="1"/>
            </p:cNvSpPr>
            <p:nvPr/>
          </p:nvSpPr>
          <p:spPr bwMode="gray">
            <a:xfrm>
              <a:off x="2832" y="1776"/>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8" name="Rectangle 186">
              <a:extLst>
                <a:ext uri="{FF2B5EF4-FFF2-40B4-BE49-F238E27FC236}">
                  <a16:creationId xmlns:a16="http://schemas.microsoft.com/office/drawing/2014/main" id="{3EA5819C-ABC2-A44D-A7B0-9CBA82F464E9}"/>
                </a:ext>
              </a:extLst>
            </p:cNvPr>
            <p:cNvSpPr>
              <a:spLocks noChangeArrowheads="1"/>
            </p:cNvSpPr>
            <p:nvPr/>
          </p:nvSpPr>
          <p:spPr bwMode="gray">
            <a:xfrm>
              <a:off x="2832" y="1920"/>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9" name="Rectangle 187">
              <a:extLst>
                <a:ext uri="{FF2B5EF4-FFF2-40B4-BE49-F238E27FC236}">
                  <a16:creationId xmlns:a16="http://schemas.microsoft.com/office/drawing/2014/main" id="{EB1822C1-852A-7348-B43A-65042EE00ED7}"/>
                </a:ext>
              </a:extLst>
            </p:cNvPr>
            <p:cNvSpPr>
              <a:spLocks noChangeArrowheads="1"/>
            </p:cNvSpPr>
            <p:nvPr/>
          </p:nvSpPr>
          <p:spPr bwMode="gray">
            <a:xfrm>
              <a:off x="2832"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0" name="Rectangle 188">
              <a:extLst>
                <a:ext uri="{FF2B5EF4-FFF2-40B4-BE49-F238E27FC236}">
                  <a16:creationId xmlns:a16="http://schemas.microsoft.com/office/drawing/2014/main" id="{C13BD8BC-BDAB-7549-BC21-03F561166894}"/>
                </a:ext>
              </a:extLst>
            </p:cNvPr>
            <p:cNvSpPr>
              <a:spLocks noChangeArrowheads="1"/>
            </p:cNvSpPr>
            <p:nvPr/>
          </p:nvSpPr>
          <p:spPr bwMode="gray">
            <a:xfrm>
              <a:off x="2832" y="220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1" name="Rectangle 189">
              <a:extLst>
                <a:ext uri="{FF2B5EF4-FFF2-40B4-BE49-F238E27FC236}">
                  <a16:creationId xmlns:a16="http://schemas.microsoft.com/office/drawing/2014/main" id="{ECBD3C4D-B242-2C42-AE55-703DA227F4A9}"/>
                </a:ext>
              </a:extLst>
            </p:cNvPr>
            <p:cNvSpPr>
              <a:spLocks noChangeArrowheads="1"/>
            </p:cNvSpPr>
            <p:nvPr/>
          </p:nvSpPr>
          <p:spPr bwMode="gray">
            <a:xfrm>
              <a:off x="2976" y="192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2" name="Rectangle 190">
              <a:extLst>
                <a:ext uri="{FF2B5EF4-FFF2-40B4-BE49-F238E27FC236}">
                  <a16:creationId xmlns:a16="http://schemas.microsoft.com/office/drawing/2014/main" id="{E42D0E3E-F890-F745-9DD3-2B42D14A5152}"/>
                </a:ext>
              </a:extLst>
            </p:cNvPr>
            <p:cNvSpPr>
              <a:spLocks noChangeArrowheads="1"/>
            </p:cNvSpPr>
            <p:nvPr/>
          </p:nvSpPr>
          <p:spPr bwMode="gray">
            <a:xfrm>
              <a:off x="2976" y="2208"/>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3" name="Rectangle 191">
              <a:extLst>
                <a:ext uri="{FF2B5EF4-FFF2-40B4-BE49-F238E27FC236}">
                  <a16:creationId xmlns:a16="http://schemas.microsoft.com/office/drawing/2014/main" id="{F55D3723-3556-FA4D-A09B-CD176611A046}"/>
                </a:ext>
              </a:extLst>
            </p:cNvPr>
            <p:cNvSpPr>
              <a:spLocks noChangeArrowheads="1"/>
            </p:cNvSpPr>
            <p:nvPr/>
          </p:nvSpPr>
          <p:spPr bwMode="gray">
            <a:xfrm>
              <a:off x="3120" y="1776"/>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4" name="Rectangle 192">
              <a:extLst>
                <a:ext uri="{FF2B5EF4-FFF2-40B4-BE49-F238E27FC236}">
                  <a16:creationId xmlns:a16="http://schemas.microsoft.com/office/drawing/2014/main" id="{CF7BA0AC-3EC7-BD4E-AB6D-46E3790B2931}"/>
                </a:ext>
              </a:extLst>
            </p:cNvPr>
            <p:cNvSpPr>
              <a:spLocks noChangeArrowheads="1"/>
            </p:cNvSpPr>
            <p:nvPr/>
          </p:nvSpPr>
          <p:spPr bwMode="gray">
            <a:xfrm>
              <a:off x="3120" y="192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5" name="Rectangle 193">
              <a:extLst>
                <a:ext uri="{FF2B5EF4-FFF2-40B4-BE49-F238E27FC236}">
                  <a16:creationId xmlns:a16="http://schemas.microsoft.com/office/drawing/2014/main" id="{C2C1F434-3F81-8349-B2AA-3E6C9BD733FB}"/>
                </a:ext>
              </a:extLst>
            </p:cNvPr>
            <p:cNvSpPr>
              <a:spLocks noChangeArrowheads="1"/>
            </p:cNvSpPr>
            <p:nvPr/>
          </p:nvSpPr>
          <p:spPr bwMode="gray">
            <a:xfrm>
              <a:off x="3120" y="206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6" name="Rectangle 194">
              <a:extLst>
                <a:ext uri="{FF2B5EF4-FFF2-40B4-BE49-F238E27FC236}">
                  <a16:creationId xmlns:a16="http://schemas.microsoft.com/office/drawing/2014/main" id="{C8160DD5-9FE5-0F4D-9221-6393333C04BD}"/>
                </a:ext>
              </a:extLst>
            </p:cNvPr>
            <p:cNvSpPr>
              <a:spLocks noChangeArrowheads="1"/>
            </p:cNvSpPr>
            <p:nvPr/>
          </p:nvSpPr>
          <p:spPr bwMode="gray">
            <a:xfrm>
              <a:off x="3264" y="1776"/>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7" name="Rectangle 195">
              <a:extLst>
                <a:ext uri="{FF2B5EF4-FFF2-40B4-BE49-F238E27FC236}">
                  <a16:creationId xmlns:a16="http://schemas.microsoft.com/office/drawing/2014/main" id="{9B3FF2C9-8E6F-2147-81D9-FBFD4FFA50AA}"/>
                </a:ext>
              </a:extLst>
            </p:cNvPr>
            <p:cNvSpPr>
              <a:spLocks noChangeArrowheads="1"/>
            </p:cNvSpPr>
            <p:nvPr/>
          </p:nvSpPr>
          <p:spPr bwMode="gray">
            <a:xfrm>
              <a:off x="3264" y="206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8" name="Rectangle 196">
              <a:extLst>
                <a:ext uri="{FF2B5EF4-FFF2-40B4-BE49-F238E27FC236}">
                  <a16:creationId xmlns:a16="http://schemas.microsoft.com/office/drawing/2014/main" id="{36D2C3D1-4899-8640-A593-263BEEC337FC}"/>
                </a:ext>
              </a:extLst>
            </p:cNvPr>
            <p:cNvSpPr>
              <a:spLocks noChangeArrowheads="1"/>
            </p:cNvSpPr>
            <p:nvPr/>
          </p:nvSpPr>
          <p:spPr bwMode="gray">
            <a:xfrm>
              <a:off x="3408" y="163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9" name="Rectangle 197">
              <a:extLst>
                <a:ext uri="{FF2B5EF4-FFF2-40B4-BE49-F238E27FC236}">
                  <a16:creationId xmlns:a16="http://schemas.microsoft.com/office/drawing/2014/main" id="{2DC53AFA-CF99-8E4A-8D76-B3AA2DFF04DA}"/>
                </a:ext>
              </a:extLst>
            </p:cNvPr>
            <p:cNvSpPr>
              <a:spLocks noChangeArrowheads="1"/>
            </p:cNvSpPr>
            <p:nvPr/>
          </p:nvSpPr>
          <p:spPr bwMode="gray">
            <a:xfrm>
              <a:off x="3408" y="1776"/>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0" name="Rectangle 198">
              <a:extLst>
                <a:ext uri="{FF2B5EF4-FFF2-40B4-BE49-F238E27FC236}">
                  <a16:creationId xmlns:a16="http://schemas.microsoft.com/office/drawing/2014/main" id="{F924CD29-9DBC-2943-B126-63F94496F5AD}"/>
                </a:ext>
              </a:extLst>
            </p:cNvPr>
            <p:cNvSpPr>
              <a:spLocks noChangeArrowheads="1"/>
            </p:cNvSpPr>
            <p:nvPr/>
          </p:nvSpPr>
          <p:spPr bwMode="gray">
            <a:xfrm>
              <a:off x="3408" y="192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1" name="Rectangle 199">
              <a:extLst>
                <a:ext uri="{FF2B5EF4-FFF2-40B4-BE49-F238E27FC236}">
                  <a16:creationId xmlns:a16="http://schemas.microsoft.com/office/drawing/2014/main" id="{7F2A6322-5D6F-F045-B346-46974AD57307}"/>
                </a:ext>
              </a:extLst>
            </p:cNvPr>
            <p:cNvSpPr>
              <a:spLocks noChangeArrowheads="1"/>
            </p:cNvSpPr>
            <p:nvPr/>
          </p:nvSpPr>
          <p:spPr bwMode="gray">
            <a:xfrm>
              <a:off x="3408" y="206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2" name="Rectangle 200">
              <a:extLst>
                <a:ext uri="{FF2B5EF4-FFF2-40B4-BE49-F238E27FC236}">
                  <a16:creationId xmlns:a16="http://schemas.microsoft.com/office/drawing/2014/main" id="{13D85927-15B1-B44E-BB25-447A284D004A}"/>
                </a:ext>
              </a:extLst>
            </p:cNvPr>
            <p:cNvSpPr>
              <a:spLocks noChangeArrowheads="1"/>
            </p:cNvSpPr>
            <p:nvPr/>
          </p:nvSpPr>
          <p:spPr bwMode="gray">
            <a:xfrm>
              <a:off x="3552" y="1632"/>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 name="Rectangle 201">
              <a:extLst>
                <a:ext uri="{FF2B5EF4-FFF2-40B4-BE49-F238E27FC236}">
                  <a16:creationId xmlns:a16="http://schemas.microsoft.com/office/drawing/2014/main" id="{BE620398-749A-FD43-860F-C1F0F0880F3A}"/>
                </a:ext>
              </a:extLst>
            </p:cNvPr>
            <p:cNvSpPr>
              <a:spLocks noChangeArrowheads="1"/>
            </p:cNvSpPr>
            <p:nvPr/>
          </p:nvSpPr>
          <p:spPr bwMode="gray">
            <a:xfrm>
              <a:off x="3552" y="192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 name="Rectangle 202">
              <a:extLst>
                <a:ext uri="{FF2B5EF4-FFF2-40B4-BE49-F238E27FC236}">
                  <a16:creationId xmlns:a16="http://schemas.microsoft.com/office/drawing/2014/main" id="{680901DE-5871-7049-A863-B6329800F1D0}"/>
                </a:ext>
              </a:extLst>
            </p:cNvPr>
            <p:cNvSpPr>
              <a:spLocks noChangeArrowheads="1"/>
            </p:cNvSpPr>
            <p:nvPr/>
          </p:nvSpPr>
          <p:spPr bwMode="gray">
            <a:xfrm>
              <a:off x="3696" y="1776"/>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 name="Rectangle 203">
              <a:extLst>
                <a:ext uri="{FF2B5EF4-FFF2-40B4-BE49-F238E27FC236}">
                  <a16:creationId xmlns:a16="http://schemas.microsoft.com/office/drawing/2014/main" id="{9F459938-4957-1041-97EF-F041285BF011}"/>
                </a:ext>
              </a:extLst>
            </p:cNvPr>
            <p:cNvSpPr>
              <a:spLocks noChangeArrowheads="1"/>
            </p:cNvSpPr>
            <p:nvPr/>
          </p:nvSpPr>
          <p:spPr bwMode="gray">
            <a:xfrm>
              <a:off x="3696" y="1920"/>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 name="Rectangle 204">
              <a:extLst>
                <a:ext uri="{FF2B5EF4-FFF2-40B4-BE49-F238E27FC236}">
                  <a16:creationId xmlns:a16="http://schemas.microsoft.com/office/drawing/2014/main" id="{9EC883F8-E137-E645-8EC3-BE7237314846}"/>
                </a:ext>
              </a:extLst>
            </p:cNvPr>
            <p:cNvSpPr>
              <a:spLocks noChangeArrowheads="1"/>
            </p:cNvSpPr>
            <p:nvPr/>
          </p:nvSpPr>
          <p:spPr bwMode="gray">
            <a:xfrm>
              <a:off x="3696" y="2064"/>
              <a:ext cx="96" cy="96"/>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7" name="Rectangle 205">
              <a:extLst>
                <a:ext uri="{FF2B5EF4-FFF2-40B4-BE49-F238E27FC236}">
                  <a16:creationId xmlns:a16="http://schemas.microsoft.com/office/drawing/2014/main" id="{5130FC92-F628-264C-9501-4288C6EF27EC}"/>
                </a:ext>
              </a:extLst>
            </p:cNvPr>
            <p:cNvSpPr>
              <a:spLocks noChangeArrowheads="1"/>
            </p:cNvSpPr>
            <p:nvPr/>
          </p:nvSpPr>
          <p:spPr bwMode="gray">
            <a:xfrm>
              <a:off x="2256"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8" name="Rectangle 206">
              <a:extLst>
                <a:ext uri="{FF2B5EF4-FFF2-40B4-BE49-F238E27FC236}">
                  <a16:creationId xmlns:a16="http://schemas.microsoft.com/office/drawing/2014/main" id="{522034A6-ACF1-BC4E-8BB6-A5B21D15A310}"/>
                </a:ext>
              </a:extLst>
            </p:cNvPr>
            <p:cNvSpPr>
              <a:spLocks noChangeArrowheads="1"/>
            </p:cNvSpPr>
            <p:nvPr/>
          </p:nvSpPr>
          <p:spPr bwMode="gray">
            <a:xfrm>
              <a:off x="2112" y="2064"/>
              <a:ext cx="96" cy="96"/>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sp>
        <p:nvSpPr>
          <p:cNvPr id="109" name="AutoShape 207">
            <a:extLst>
              <a:ext uri="{FF2B5EF4-FFF2-40B4-BE49-F238E27FC236}">
                <a16:creationId xmlns:a16="http://schemas.microsoft.com/office/drawing/2014/main" id="{FCFE6728-A94B-B346-9A4C-23A5F6B08E92}"/>
              </a:ext>
            </a:extLst>
          </p:cNvPr>
          <p:cNvSpPr>
            <a:spLocks noChangeArrowheads="1"/>
          </p:cNvSpPr>
          <p:nvPr/>
        </p:nvSpPr>
        <p:spPr bwMode="gray">
          <a:xfrm>
            <a:off x="533400" y="2655888"/>
            <a:ext cx="7696200" cy="838200"/>
          </a:xfrm>
          <a:prstGeom prst="roundRect">
            <a:avLst>
              <a:gd name="adj" fmla="val 50000"/>
            </a:avLst>
          </a:prstGeom>
          <a:solidFill>
            <a:srgbClr val="FFFFFF"/>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0" name="Rectangle 208">
            <a:extLst>
              <a:ext uri="{FF2B5EF4-FFF2-40B4-BE49-F238E27FC236}">
                <a16:creationId xmlns:a16="http://schemas.microsoft.com/office/drawing/2014/main" id="{E3CB0D1D-00DC-3841-A1C1-3C63E5AC7E7F}"/>
              </a:ext>
            </a:extLst>
          </p:cNvPr>
          <p:cNvSpPr>
            <a:spLocks noChangeArrowheads="1"/>
          </p:cNvSpPr>
          <p:nvPr/>
        </p:nvSpPr>
        <p:spPr bwMode="gray">
          <a:xfrm>
            <a:off x="2057400" y="4256088"/>
            <a:ext cx="533400" cy="5334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1" name="Rectangle 209">
            <a:extLst>
              <a:ext uri="{FF2B5EF4-FFF2-40B4-BE49-F238E27FC236}">
                <a16:creationId xmlns:a16="http://schemas.microsoft.com/office/drawing/2014/main" id="{9AE50E64-2FBF-4B4D-878E-D9E8FD9EA299}"/>
              </a:ext>
            </a:extLst>
          </p:cNvPr>
          <p:cNvSpPr>
            <a:spLocks noChangeArrowheads="1"/>
          </p:cNvSpPr>
          <p:nvPr/>
        </p:nvSpPr>
        <p:spPr bwMode="gray">
          <a:xfrm>
            <a:off x="1752600" y="4789488"/>
            <a:ext cx="228600" cy="2286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2" name="Rectangle 210">
            <a:extLst>
              <a:ext uri="{FF2B5EF4-FFF2-40B4-BE49-F238E27FC236}">
                <a16:creationId xmlns:a16="http://schemas.microsoft.com/office/drawing/2014/main" id="{6B8142F5-0F16-3C46-889A-111AB24562A6}"/>
              </a:ext>
            </a:extLst>
          </p:cNvPr>
          <p:cNvSpPr>
            <a:spLocks noChangeArrowheads="1"/>
          </p:cNvSpPr>
          <p:nvPr/>
        </p:nvSpPr>
        <p:spPr bwMode="gray">
          <a:xfrm>
            <a:off x="1524000" y="4941888"/>
            <a:ext cx="304800" cy="3048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074" name="Rectangle 2"/>
          <p:cNvSpPr>
            <a:spLocks noGrp="1" noChangeArrowheads="1"/>
          </p:cNvSpPr>
          <p:nvPr>
            <p:ph type="ctrTitle"/>
          </p:nvPr>
        </p:nvSpPr>
        <p:spPr>
          <a:xfrm>
            <a:off x="1066800" y="2732088"/>
            <a:ext cx="6629400" cy="685800"/>
          </a:xfrm>
        </p:spPr>
        <p:txBody>
          <a:bodyPr/>
          <a:lstStyle>
            <a:lvl1pPr>
              <a:defRPr sz="3600">
                <a:solidFill>
                  <a:schemeClr val="tx2"/>
                </a:solidFill>
              </a:defRPr>
            </a:lvl1pPr>
          </a:lstStyle>
          <a:p>
            <a:r>
              <a:rPr lang="zh-CN" altLang="en-US" noProof="1"/>
              <a:t>单击此处编辑母版标题样式</a:t>
            </a:r>
          </a:p>
        </p:txBody>
      </p:sp>
      <p:sp>
        <p:nvSpPr>
          <p:cNvPr id="3075" name="Rectangle 3"/>
          <p:cNvSpPr>
            <a:spLocks noGrp="1" noChangeArrowheads="1"/>
          </p:cNvSpPr>
          <p:nvPr>
            <p:ph type="subTitle" idx="1"/>
          </p:nvPr>
        </p:nvSpPr>
        <p:spPr>
          <a:xfrm>
            <a:off x="2819400" y="3494088"/>
            <a:ext cx="5638800" cy="381000"/>
          </a:xfrm>
        </p:spPr>
        <p:txBody>
          <a:bodyPr/>
          <a:lstStyle>
            <a:lvl1pPr marL="0" indent="0" algn="ctr">
              <a:buFont typeface="Wingdings" panose="05000000000000000000" pitchFamily="2" charset="2"/>
              <a:buNone/>
              <a:defRPr sz="2400">
                <a:solidFill>
                  <a:schemeClr val="bg1"/>
                </a:solidFill>
              </a:defRPr>
            </a:lvl1pPr>
          </a:lstStyle>
          <a:p>
            <a:r>
              <a:rPr lang="zh-CN" altLang="en-US" noProof="1"/>
              <a:t>单击此处编辑母版副标题样式</a:t>
            </a:r>
          </a:p>
        </p:txBody>
      </p:sp>
      <p:sp>
        <p:nvSpPr>
          <p:cNvPr id="114" name="Rectangle 4">
            <a:extLst>
              <a:ext uri="{FF2B5EF4-FFF2-40B4-BE49-F238E27FC236}">
                <a16:creationId xmlns:a16="http://schemas.microsoft.com/office/drawing/2014/main" id="{0632B8F1-0BB7-4347-B9C4-951A0E74AA63}"/>
              </a:ext>
            </a:extLst>
          </p:cNvPr>
          <p:cNvSpPr>
            <a:spLocks noGrp="1" noChangeArrowheads="1"/>
          </p:cNvSpPr>
          <p:nvPr>
            <p:ph type="dt" sz="half" idx="10"/>
          </p:nvPr>
        </p:nvSpPr>
        <p:spPr>
          <a:xfrm>
            <a:off x="1066800" y="6461125"/>
            <a:ext cx="1981200" cy="244475"/>
          </a:xfrm>
        </p:spPr>
        <p:txBody>
          <a:bodyPr/>
          <a:lstStyle>
            <a:lvl1pPr>
              <a:defRPr sz="1200">
                <a:solidFill>
                  <a:schemeClr val="bg1"/>
                </a:solidFill>
              </a:defRPr>
            </a:lvl1pPr>
          </a:lstStyle>
          <a:p>
            <a:pPr>
              <a:defRPr/>
            </a:pPr>
            <a:endParaRPr lang="en-US" altLang="zh-CN"/>
          </a:p>
        </p:txBody>
      </p:sp>
      <p:sp>
        <p:nvSpPr>
          <p:cNvPr id="115" name="Rectangle 6">
            <a:extLst>
              <a:ext uri="{FF2B5EF4-FFF2-40B4-BE49-F238E27FC236}">
                <a16:creationId xmlns:a16="http://schemas.microsoft.com/office/drawing/2014/main" id="{9509B8B6-A1CC-4341-9682-166D324B9EA0}"/>
              </a:ext>
            </a:extLst>
          </p:cNvPr>
          <p:cNvSpPr>
            <a:spLocks noGrp="1" noChangeArrowheads="1"/>
          </p:cNvSpPr>
          <p:nvPr>
            <p:ph type="sldNum" sz="quarter" idx="11"/>
          </p:nvPr>
        </p:nvSpPr>
        <p:spPr>
          <a:xfrm>
            <a:off x="609600" y="6461125"/>
            <a:ext cx="381000" cy="244475"/>
          </a:xfrm>
        </p:spPr>
        <p:txBody>
          <a:bodyPr/>
          <a:lstStyle>
            <a:lvl1pPr>
              <a:defRPr sz="1200">
                <a:solidFill>
                  <a:schemeClr val="bg1"/>
                </a:solidFill>
              </a:defRPr>
            </a:lvl1pPr>
          </a:lstStyle>
          <a:p>
            <a:pPr>
              <a:defRPr/>
            </a:pPr>
            <a:fld id="{555A5E10-0F9D-9042-B733-CFEE9F84CD41}" type="slidenum">
              <a:rPr lang="zh-CN" altLang="en-US"/>
              <a:pPr>
                <a:defRPr/>
              </a:pPr>
              <a:t>‹#›</a:t>
            </a:fld>
            <a:endParaRPr lang="en-US" altLang="zh-CN"/>
          </a:p>
        </p:txBody>
      </p:sp>
      <p:pic>
        <p:nvPicPr>
          <p:cNvPr id="116" name="图片 115">
            <a:extLst>
              <a:ext uri="{FF2B5EF4-FFF2-40B4-BE49-F238E27FC236}">
                <a16:creationId xmlns:a16="http://schemas.microsoft.com/office/drawing/2014/main" id="{65F0509C-C5A3-5663-3FDC-E3AEA46477AA}"/>
              </a:ext>
            </a:extLst>
          </p:cNvPr>
          <p:cNvPicPr>
            <a:picLocks noChangeAspect="1"/>
          </p:cNvPicPr>
          <p:nvPr userDrawn="1"/>
        </p:nvPicPr>
        <p:blipFill>
          <a:blip r:embed="rId2"/>
          <a:stretch>
            <a:fillRect/>
          </a:stretch>
        </p:blipFill>
        <p:spPr>
          <a:xfrm>
            <a:off x="0" y="-7352"/>
            <a:ext cx="9144000" cy="6865351"/>
          </a:xfrm>
          <a:prstGeom prst="rect">
            <a:avLst/>
          </a:prstGeom>
        </p:spPr>
      </p:pic>
    </p:spTree>
    <p:extLst>
      <p:ext uri="{BB962C8B-B14F-4D97-AF65-F5344CB8AC3E}">
        <p14:creationId xmlns:p14="http://schemas.microsoft.com/office/powerpoint/2010/main" val="328585626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7D2CF39F-22F6-8E47-862C-A64C64ED1261}"/>
              </a:ext>
            </a:extLst>
          </p:cNvPr>
          <p:cNvSpPr>
            <a:spLocks noGrp="1" noChangeArrowheads="1"/>
          </p:cNvSpPr>
          <p:nvPr>
            <p:ph type="sldNum" sz="quarter" idx="10"/>
          </p:nvPr>
        </p:nvSpPr>
        <p:spPr>
          <a:ln/>
        </p:spPr>
        <p:txBody>
          <a:bodyPr/>
          <a:lstStyle>
            <a:lvl1pPr>
              <a:defRPr/>
            </a:lvl1pPr>
          </a:lstStyle>
          <a:p>
            <a:pPr>
              <a:defRPr/>
            </a:pPr>
            <a:fld id="{BB4A1AB0-B8C2-2643-9A1B-FBD6C00B3094}" type="slidenum">
              <a:rPr lang="zh-CN" altLang="en-US"/>
              <a:pPr>
                <a:defRPr/>
              </a:pPr>
              <a:t>‹#›</a:t>
            </a:fld>
            <a:endParaRPr lang="en-US" altLang="zh-CN"/>
          </a:p>
        </p:txBody>
      </p:sp>
      <p:sp>
        <p:nvSpPr>
          <p:cNvPr id="5" name="Rectangle 4">
            <a:extLst>
              <a:ext uri="{FF2B5EF4-FFF2-40B4-BE49-F238E27FC236}">
                <a16:creationId xmlns:a16="http://schemas.microsoft.com/office/drawing/2014/main" id="{7320B91F-C692-A74D-BA85-6E4EDBA6DF81}"/>
              </a:ext>
            </a:extLst>
          </p:cNvPr>
          <p:cNvSpPr>
            <a:spLocks noGrp="1" noChangeArrowheads="1"/>
          </p:cNvSpPr>
          <p:nvPr>
            <p:ph type="dt" sz="half"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2351921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0E2E02B-E462-5846-AE0D-84ED7FE0E530}"/>
              </a:ext>
            </a:extLst>
          </p:cNvPr>
          <p:cNvSpPr>
            <a:spLocks noGrp="1" noChangeArrowheads="1"/>
          </p:cNvSpPr>
          <p:nvPr>
            <p:ph type="sldNum" sz="quarter" idx="10"/>
          </p:nvPr>
        </p:nvSpPr>
        <p:spPr>
          <a:ln/>
        </p:spPr>
        <p:txBody>
          <a:bodyPr/>
          <a:lstStyle>
            <a:lvl1pPr>
              <a:defRPr/>
            </a:lvl1pPr>
          </a:lstStyle>
          <a:p>
            <a:pPr>
              <a:defRPr/>
            </a:pPr>
            <a:fld id="{61B446E9-E6B8-C941-8BED-F1905CA26B27}" type="slidenum">
              <a:rPr lang="zh-CN" altLang="en-US"/>
              <a:pPr>
                <a:defRPr/>
              </a:pPr>
              <a:t>‹#›</a:t>
            </a:fld>
            <a:endParaRPr lang="en-US" altLang="zh-CN"/>
          </a:p>
        </p:txBody>
      </p:sp>
      <p:sp>
        <p:nvSpPr>
          <p:cNvPr id="3" name="Rectangle 4">
            <a:extLst>
              <a:ext uri="{FF2B5EF4-FFF2-40B4-BE49-F238E27FC236}">
                <a16:creationId xmlns:a16="http://schemas.microsoft.com/office/drawing/2014/main" id="{4C17DEFD-5EAC-AB4B-80A1-9469C11A0F3A}"/>
              </a:ext>
            </a:extLst>
          </p:cNvPr>
          <p:cNvSpPr>
            <a:spLocks noGrp="1" noChangeArrowheads="1"/>
          </p:cNvSpPr>
          <p:nvPr>
            <p:ph type="dt" sz="half"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9467111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5" name="标题 5"/>
          <p:cNvSpPr>
            <a:spLocks noGrp="1"/>
          </p:cNvSpPr>
          <p:nvPr>
            <p:ph type="title"/>
          </p:nvPr>
        </p:nvSpPr>
        <p:spPr>
          <a:xfrm>
            <a:off x="457200" y="274638"/>
            <a:ext cx="8229600" cy="1143000"/>
          </a:xfrm>
        </p:spPr>
        <p:txBody>
          <a:bodyPr rtlCol="0"/>
          <a:lstStyle/>
          <a:p>
            <a:r>
              <a:rPr lang="zh-CN" altLang="en-US" noProof="1"/>
              <a:t>单击此处编辑母版标题样式</a:t>
            </a:r>
            <a:endParaRPr lang="en-US" noProof="1"/>
          </a:p>
        </p:txBody>
      </p:sp>
      <p:sp>
        <p:nvSpPr>
          <p:cNvPr id="3" name="日期占位符 1">
            <a:extLst>
              <a:ext uri="{FF2B5EF4-FFF2-40B4-BE49-F238E27FC236}">
                <a16:creationId xmlns:a16="http://schemas.microsoft.com/office/drawing/2014/main" id="{7AC90054-4716-0547-8376-4E10E4BF5859}"/>
              </a:ext>
            </a:extLst>
          </p:cNvPr>
          <p:cNvSpPr>
            <a:spLocks noGrp="1"/>
          </p:cNvSpPr>
          <p:nvPr>
            <p:ph type="dt" sz="half" idx="10"/>
          </p:nvPr>
        </p:nvSpPr>
        <p:spPr/>
        <p:txBody>
          <a:bodyPr/>
          <a:lstStyle>
            <a:lvl1pPr>
              <a:defRPr/>
            </a:lvl1pPr>
          </a:lstStyle>
          <a:p>
            <a:pPr>
              <a:defRPr/>
            </a:pPr>
            <a:endParaRPr lang="en-US" altLang="zh-CN"/>
          </a:p>
        </p:txBody>
      </p:sp>
      <p:sp>
        <p:nvSpPr>
          <p:cNvPr id="4" name="页脚占位符 2">
            <a:extLst>
              <a:ext uri="{FF2B5EF4-FFF2-40B4-BE49-F238E27FC236}">
                <a16:creationId xmlns:a16="http://schemas.microsoft.com/office/drawing/2014/main" id="{8DF7FA01-E927-D443-88C4-33ABB44F6EB6}"/>
              </a:ext>
            </a:extLst>
          </p:cNvPr>
          <p:cNvSpPr>
            <a:spLocks noGrp="1"/>
          </p:cNvSpPr>
          <p:nvPr>
            <p:ph type="ftr" sz="quarter" idx="11"/>
          </p:nvPr>
        </p:nvSpPr>
        <p:spPr>
          <a:xfrm>
            <a:off x="1789113" y="6408738"/>
            <a:ext cx="2351087" cy="449262"/>
          </a:xfrm>
          <a:prstGeom prst="rect">
            <a:avLst/>
          </a:prstGeom>
        </p:spPr>
        <p:txBody>
          <a:bodyPr/>
          <a:lstStyle>
            <a:lvl1pPr eaLnBrk="0" hangingPunct="0">
              <a:defRPr/>
            </a:lvl1pPr>
          </a:lstStyle>
          <a:p>
            <a:pPr>
              <a:defRPr/>
            </a:pPr>
            <a:endParaRPr lang="en-US" altLang="zh-CN"/>
          </a:p>
        </p:txBody>
      </p:sp>
      <p:sp>
        <p:nvSpPr>
          <p:cNvPr id="6" name="灯片编号占位符 3">
            <a:extLst>
              <a:ext uri="{FF2B5EF4-FFF2-40B4-BE49-F238E27FC236}">
                <a16:creationId xmlns:a16="http://schemas.microsoft.com/office/drawing/2014/main" id="{39D61417-A3EA-C242-9E20-1FE4EAB5132E}"/>
              </a:ext>
            </a:extLst>
          </p:cNvPr>
          <p:cNvSpPr>
            <a:spLocks noGrp="1"/>
          </p:cNvSpPr>
          <p:nvPr>
            <p:ph type="sldNum" sz="quarter" idx="12"/>
          </p:nvPr>
        </p:nvSpPr>
        <p:spPr/>
        <p:txBody>
          <a:bodyPr/>
          <a:lstStyle>
            <a:lvl1pPr>
              <a:defRPr/>
            </a:lvl1pPr>
          </a:lstStyle>
          <a:p>
            <a:pPr>
              <a:defRPr/>
            </a:pPr>
            <a:fld id="{E6281758-F866-044C-A3EB-5AE2099F4648}" type="slidenum">
              <a:rPr lang="en-US" altLang="zh-CN"/>
              <a:pPr>
                <a:defRPr/>
              </a:pPr>
              <a:t>‹#›</a:t>
            </a:fld>
            <a:endParaRPr lang="en-US" altLang="zh-CN"/>
          </a:p>
        </p:txBody>
      </p:sp>
    </p:spTree>
    <p:extLst>
      <p:ext uri="{BB962C8B-B14F-4D97-AF65-F5344CB8AC3E}">
        <p14:creationId xmlns:p14="http://schemas.microsoft.com/office/powerpoint/2010/main" val="1983553735"/>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118">
            <a:extLst>
              <a:ext uri="{FF2B5EF4-FFF2-40B4-BE49-F238E27FC236}">
                <a16:creationId xmlns:a16="http://schemas.microsoft.com/office/drawing/2014/main" id="{EF80B0EC-5C6C-3A46-99A7-A9740893C9E0}"/>
              </a:ext>
            </a:extLst>
          </p:cNvPr>
          <p:cNvSpPr>
            <a:spLocks noChangeArrowheads="1"/>
          </p:cNvSpPr>
          <p:nvPr/>
        </p:nvSpPr>
        <p:spPr bwMode="gray">
          <a:xfrm>
            <a:off x="8010525" y="0"/>
            <a:ext cx="1133475" cy="1044575"/>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nvGrpSpPr>
          <p:cNvPr id="1028" name="Group 120">
            <a:extLst>
              <a:ext uri="{FF2B5EF4-FFF2-40B4-BE49-F238E27FC236}">
                <a16:creationId xmlns:a16="http://schemas.microsoft.com/office/drawing/2014/main" id="{1D1726B5-1B23-9642-AA90-9FC2F073B602}"/>
              </a:ext>
            </a:extLst>
          </p:cNvPr>
          <p:cNvGrpSpPr>
            <a:grpSpLocks/>
          </p:cNvGrpSpPr>
          <p:nvPr/>
        </p:nvGrpSpPr>
        <p:grpSpPr bwMode="auto">
          <a:xfrm>
            <a:off x="6877050" y="152400"/>
            <a:ext cx="1905000" cy="762000"/>
            <a:chOff x="2112" y="1632"/>
            <a:chExt cx="1680" cy="672"/>
          </a:xfrm>
        </p:grpSpPr>
        <p:sp>
          <p:nvSpPr>
            <p:cNvPr id="4" name="Rectangle 121">
              <a:extLst>
                <a:ext uri="{FF2B5EF4-FFF2-40B4-BE49-F238E27FC236}">
                  <a16:creationId xmlns:a16="http://schemas.microsoft.com/office/drawing/2014/main" id="{6CF87F3D-E4B5-D441-AD81-F1858D599BF5}"/>
                </a:ext>
              </a:extLst>
            </p:cNvPr>
            <p:cNvSpPr>
              <a:spLocks noChangeArrowheads="1"/>
            </p:cNvSpPr>
            <p:nvPr/>
          </p:nvSpPr>
          <p:spPr bwMode="gray">
            <a:xfrm>
              <a:off x="2400" y="1776"/>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8" name="Rectangle 122">
              <a:extLst>
                <a:ext uri="{FF2B5EF4-FFF2-40B4-BE49-F238E27FC236}">
                  <a16:creationId xmlns:a16="http://schemas.microsoft.com/office/drawing/2014/main" id="{FCD7A1AE-8520-1F43-A553-AE5DAD029D62}"/>
                </a:ext>
              </a:extLst>
            </p:cNvPr>
            <p:cNvSpPr>
              <a:spLocks noChangeArrowheads="1"/>
            </p:cNvSpPr>
            <p:nvPr/>
          </p:nvSpPr>
          <p:spPr bwMode="gray">
            <a:xfrm>
              <a:off x="2400"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9" name="Rectangle 123">
              <a:extLst>
                <a:ext uri="{FF2B5EF4-FFF2-40B4-BE49-F238E27FC236}">
                  <a16:creationId xmlns:a16="http://schemas.microsoft.com/office/drawing/2014/main" id="{08BDFA7A-1049-5E4C-8EE8-15B02F0C8911}"/>
                </a:ext>
              </a:extLst>
            </p:cNvPr>
            <p:cNvSpPr>
              <a:spLocks noChangeArrowheads="1"/>
            </p:cNvSpPr>
            <p:nvPr/>
          </p:nvSpPr>
          <p:spPr bwMode="gray">
            <a:xfrm>
              <a:off x="2400" y="2207"/>
              <a:ext cx="95"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0" name="Rectangle 124">
              <a:extLst>
                <a:ext uri="{FF2B5EF4-FFF2-40B4-BE49-F238E27FC236}">
                  <a16:creationId xmlns:a16="http://schemas.microsoft.com/office/drawing/2014/main" id="{8CFCD8AE-598E-AB41-ACBE-C49DCAAB9E59}"/>
                </a:ext>
              </a:extLst>
            </p:cNvPr>
            <p:cNvSpPr>
              <a:spLocks noChangeArrowheads="1"/>
            </p:cNvSpPr>
            <p:nvPr/>
          </p:nvSpPr>
          <p:spPr bwMode="gray">
            <a:xfrm>
              <a:off x="2545" y="1776"/>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1" name="Rectangle 125">
              <a:extLst>
                <a:ext uri="{FF2B5EF4-FFF2-40B4-BE49-F238E27FC236}">
                  <a16:creationId xmlns:a16="http://schemas.microsoft.com/office/drawing/2014/main" id="{544E5146-77BA-BC48-A9D8-C93F00A41448}"/>
                </a:ext>
              </a:extLst>
            </p:cNvPr>
            <p:cNvSpPr>
              <a:spLocks noChangeArrowheads="1"/>
            </p:cNvSpPr>
            <p:nvPr/>
          </p:nvSpPr>
          <p:spPr bwMode="gray">
            <a:xfrm>
              <a:off x="2545" y="1920"/>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2" name="Rectangle 126">
              <a:extLst>
                <a:ext uri="{FF2B5EF4-FFF2-40B4-BE49-F238E27FC236}">
                  <a16:creationId xmlns:a16="http://schemas.microsoft.com/office/drawing/2014/main" id="{1BA01F09-8EF7-614C-BAE0-5590DEAA6CC2}"/>
                </a:ext>
              </a:extLst>
            </p:cNvPr>
            <p:cNvSpPr>
              <a:spLocks noChangeArrowheads="1"/>
            </p:cNvSpPr>
            <p:nvPr/>
          </p:nvSpPr>
          <p:spPr bwMode="gray">
            <a:xfrm>
              <a:off x="2545"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3" name="Rectangle 127">
              <a:extLst>
                <a:ext uri="{FF2B5EF4-FFF2-40B4-BE49-F238E27FC236}">
                  <a16:creationId xmlns:a16="http://schemas.microsoft.com/office/drawing/2014/main" id="{44280CAF-6B9F-C24D-B3B7-B974826CA6FD}"/>
                </a:ext>
              </a:extLst>
            </p:cNvPr>
            <p:cNvSpPr>
              <a:spLocks noChangeArrowheads="1"/>
            </p:cNvSpPr>
            <p:nvPr/>
          </p:nvSpPr>
          <p:spPr bwMode="gray">
            <a:xfrm>
              <a:off x="2687" y="1776"/>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4" name="Rectangle 128">
              <a:extLst>
                <a:ext uri="{FF2B5EF4-FFF2-40B4-BE49-F238E27FC236}">
                  <a16:creationId xmlns:a16="http://schemas.microsoft.com/office/drawing/2014/main" id="{E63957B8-F624-7248-B369-BBC883384CBC}"/>
                </a:ext>
              </a:extLst>
            </p:cNvPr>
            <p:cNvSpPr>
              <a:spLocks noChangeArrowheads="1"/>
            </p:cNvSpPr>
            <p:nvPr/>
          </p:nvSpPr>
          <p:spPr bwMode="gray">
            <a:xfrm>
              <a:off x="2687" y="2065"/>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5" name="Rectangle 129">
              <a:extLst>
                <a:ext uri="{FF2B5EF4-FFF2-40B4-BE49-F238E27FC236}">
                  <a16:creationId xmlns:a16="http://schemas.microsoft.com/office/drawing/2014/main" id="{A686120B-2F79-7247-BB4E-A7115FC3C766}"/>
                </a:ext>
              </a:extLst>
            </p:cNvPr>
            <p:cNvSpPr>
              <a:spLocks noChangeArrowheads="1"/>
            </p:cNvSpPr>
            <p:nvPr/>
          </p:nvSpPr>
          <p:spPr bwMode="gray">
            <a:xfrm>
              <a:off x="2687" y="2207"/>
              <a:ext cx="97"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6" name="Rectangle 130">
              <a:extLst>
                <a:ext uri="{FF2B5EF4-FFF2-40B4-BE49-F238E27FC236}">
                  <a16:creationId xmlns:a16="http://schemas.microsoft.com/office/drawing/2014/main" id="{DF4FA4C0-9598-114F-BB74-3CCF398C1ABE}"/>
                </a:ext>
              </a:extLst>
            </p:cNvPr>
            <p:cNvSpPr>
              <a:spLocks noChangeArrowheads="1"/>
            </p:cNvSpPr>
            <p:nvPr/>
          </p:nvSpPr>
          <p:spPr bwMode="gray">
            <a:xfrm>
              <a:off x="2832" y="1776"/>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7" name="Rectangle 131">
              <a:extLst>
                <a:ext uri="{FF2B5EF4-FFF2-40B4-BE49-F238E27FC236}">
                  <a16:creationId xmlns:a16="http://schemas.microsoft.com/office/drawing/2014/main" id="{E20AC049-A118-DE45-9094-67E06C70AA70}"/>
                </a:ext>
              </a:extLst>
            </p:cNvPr>
            <p:cNvSpPr>
              <a:spLocks noChangeArrowheads="1"/>
            </p:cNvSpPr>
            <p:nvPr/>
          </p:nvSpPr>
          <p:spPr bwMode="gray">
            <a:xfrm>
              <a:off x="2832" y="1920"/>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8" name="Rectangle 132">
              <a:extLst>
                <a:ext uri="{FF2B5EF4-FFF2-40B4-BE49-F238E27FC236}">
                  <a16:creationId xmlns:a16="http://schemas.microsoft.com/office/drawing/2014/main" id="{3102CFAC-56D7-5B42-A53E-D82B18DBBF29}"/>
                </a:ext>
              </a:extLst>
            </p:cNvPr>
            <p:cNvSpPr>
              <a:spLocks noChangeArrowheads="1"/>
            </p:cNvSpPr>
            <p:nvPr/>
          </p:nvSpPr>
          <p:spPr bwMode="gray">
            <a:xfrm>
              <a:off x="2832" y="2065"/>
              <a:ext cx="98"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9" name="Rectangle 133">
              <a:extLst>
                <a:ext uri="{FF2B5EF4-FFF2-40B4-BE49-F238E27FC236}">
                  <a16:creationId xmlns:a16="http://schemas.microsoft.com/office/drawing/2014/main" id="{60899F13-8700-AC4D-AC03-B11B8B16F8FF}"/>
                </a:ext>
              </a:extLst>
            </p:cNvPr>
            <p:cNvSpPr>
              <a:spLocks noChangeArrowheads="1"/>
            </p:cNvSpPr>
            <p:nvPr/>
          </p:nvSpPr>
          <p:spPr bwMode="gray">
            <a:xfrm>
              <a:off x="2832" y="2207"/>
              <a:ext cx="98"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0" name="Rectangle 134">
              <a:extLst>
                <a:ext uri="{FF2B5EF4-FFF2-40B4-BE49-F238E27FC236}">
                  <a16:creationId xmlns:a16="http://schemas.microsoft.com/office/drawing/2014/main" id="{165ED70A-5DE3-7449-BA61-0F7534AD4CA5}"/>
                </a:ext>
              </a:extLst>
            </p:cNvPr>
            <p:cNvSpPr>
              <a:spLocks noChangeArrowheads="1"/>
            </p:cNvSpPr>
            <p:nvPr/>
          </p:nvSpPr>
          <p:spPr bwMode="gray">
            <a:xfrm>
              <a:off x="2976"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1" name="Rectangle 135">
              <a:extLst>
                <a:ext uri="{FF2B5EF4-FFF2-40B4-BE49-F238E27FC236}">
                  <a16:creationId xmlns:a16="http://schemas.microsoft.com/office/drawing/2014/main" id="{425CEBCF-C9A6-864D-A78C-20D8628BB2DF}"/>
                </a:ext>
              </a:extLst>
            </p:cNvPr>
            <p:cNvSpPr>
              <a:spLocks noChangeArrowheads="1"/>
            </p:cNvSpPr>
            <p:nvPr/>
          </p:nvSpPr>
          <p:spPr bwMode="gray">
            <a:xfrm>
              <a:off x="2976" y="2207"/>
              <a:ext cx="97" cy="97"/>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2" name="Rectangle 136">
              <a:extLst>
                <a:ext uri="{FF2B5EF4-FFF2-40B4-BE49-F238E27FC236}">
                  <a16:creationId xmlns:a16="http://schemas.microsoft.com/office/drawing/2014/main" id="{28A96A00-A67B-054A-81CD-A31CA6A2265E}"/>
                </a:ext>
              </a:extLst>
            </p:cNvPr>
            <p:cNvSpPr>
              <a:spLocks noChangeArrowheads="1"/>
            </p:cNvSpPr>
            <p:nvPr/>
          </p:nvSpPr>
          <p:spPr bwMode="gray">
            <a:xfrm>
              <a:off x="3120" y="1776"/>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3" name="Rectangle 137">
              <a:extLst>
                <a:ext uri="{FF2B5EF4-FFF2-40B4-BE49-F238E27FC236}">
                  <a16:creationId xmlns:a16="http://schemas.microsoft.com/office/drawing/2014/main" id="{74B24981-A34A-CC46-9981-1F7CFB8FBBA4}"/>
                </a:ext>
              </a:extLst>
            </p:cNvPr>
            <p:cNvSpPr>
              <a:spLocks noChangeArrowheads="1"/>
            </p:cNvSpPr>
            <p:nvPr/>
          </p:nvSpPr>
          <p:spPr bwMode="gray">
            <a:xfrm>
              <a:off x="3120"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4" name="Rectangle 138">
              <a:extLst>
                <a:ext uri="{FF2B5EF4-FFF2-40B4-BE49-F238E27FC236}">
                  <a16:creationId xmlns:a16="http://schemas.microsoft.com/office/drawing/2014/main" id="{4A45F059-7859-D04D-A0B4-8C0002B694DE}"/>
                </a:ext>
              </a:extLst>
            </p:cNvPr>
            <p:cNvSpPr>
              <a:spLocks noChangeArrowheads="1"/>
            </p:cNvSpPr>
            <p:nvPr/>
          </p:nvSpPr>
          <p:spPr bwMode="gray">
            <a:xfrm>
              <a:off x="3120" y="2065"/>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5" name="Rectangle 139">
              <a:extLst>
                <a:ext uri="{FF2B5EF4-FFF2-40B4-BE49-F238E27FC236}">
                  <a16:creationId xmlns:a16="http://schemas.microsoft.com/office/drawing/2014/main" id="{805A99C6-3F45-2849-A3F2-DC48AE129E63}"/>
                </a:ext>
              </a:extLst>
            </p:cNvPr>
            <p:cNvSpPr>
              <a:spLocks noChangeArrowheads="1"/>
            </p:cNvSpPr>
            <p:nvPr/>
          </p:nvSpPr>
          <p:spPr bwMode="gray">
            <a:xfrm>
              <a:off x="3264" y="1776"/>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6" name="Rectangle 140">
              <a:extLst>
                <a:ext uri="{FF2B5EF4-FFF2-40B4-BE49-F238E27FC236}">
                  <a16:creationId xmlns:a16="http://schemas.microsoft.com/office/drawing/2014/main" id="{E5410000-A621-DC40-B521-B8CB9F858314}"/>
                </a:ext>
              </a:extLst>
            </p:cNvPr>
            <p:cNvSpPr>
              <a:spLocks noChangeArrowheads="1"/>
            </p:cNvSpPr>
            <p:nvPr/>
          </p:nvSpPr>
          <p:spPr bwMode="gray">
            <a:xfrm>
              <a:off x="3264" y="2065"/>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7" name="Rectangle 141">
              <a:extLst>
                <a:ext uri="{FF2B5EF4-FFF2-40B4-BE49-F238E27FC236}">
                  <a16:creationId xmlns:a16="http://schemas.microsoft.com/office/drawing/2014/main" id="{9823F995-7C4D-8B4C-9A8A-564391F5F6CA}"/>
                </a:ext>
              </a:extLst>
            </p:cNvPr>
            <p:cNvSpPr>
              <a:spLocks noChangeArrowheads="1"/>
            </p:cNvSpPr>
            <p:nvPr/>
          </p:nvSpPr>
          <p:spPr bwMode="gray">
            <a:xfrm>
              <a:off x="3408" y="1632"/>
              <a:ext cx="95" cy="97"/>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8" name="Rectangle 142">
              <a:extLst>
                <a:ext uri="{FF2B5EF4-FFF2-40B4-BE49-F238E27FC236}">
                  <a16:creationId xmlns:a16="http://schemas.microsoft.com/office/drawing/2014/main" id="{DA1AEDFC-2050-F64C-8825-55C0625EC986}"/>
                </a:ext>
              </a:extLst>
            </p:cNvPr>
            <p:cNvSpPr>
              <a:spLocks noChangeArrowheads="1"/>
            </p:cNvSpPr>
            <p:nvPr/>
          </p:nvSpPr>
          <p:spPr bwMode="gray">
            <a:xfrm>
              <a:off x="3408" y="1776"/>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9" name="Rectangle 143">
              <a:extLst>
                <a:ext uri="{FF2B5EF4-FFF2-40B4-BE49-F238E27FC236}">
                  <a16:creationId xmlns:a16="http://schemas.microsoft.com/office/drawing/2014/main" id="{FA8326B4-E135-4D46-9F9B-AF0D774FABC0}"/>
                </a:ext>
              </a:extLst>
            </p:cNvPr>
            <p:cNvSpPr>
              <a:spLocks noChangeArrowheads="1"/>
            </p:cNvSpPr>
            <p:nvPr/>
          </p:nvSpPr>
          <p:spPr bwMode="gray">
            <a:xfrm>
              <a:off x="3408" y="1920"/>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0" name="Rectangle 144">
              <a:extLst>
                <a:ext uri="{FF2B5EF4-FFF2-40B4-BE49-F238E27FC236}">
                  <a16:creationId xmlns:a16="http://schemas.microsoft.com/office/drawing/2014/main" id="{1F496C83-8F0F-FD4A-9EAD-BE639745205C}"/>
                </a:ext>
              </a:extLst>
            </p:cNvPr>
            <p:cNvSpPr>
              <a:spLocks noChangeArrowheads="1"/>
            </p:cNvSpPr>
            <p:nvPr/>
          </p:nvSpPr>
          <p:spPr bwMode="gray">
            <a:xfrm>
              <a:off x="3408" y="2065"/>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1" name="Rectangle 145">
              <a:extLst>
                <a:ext uri="{FF2B5EF4-FFF2-40B4-BE49-F238E27FC236}">
                  <a16:creationId xmlns:a16="http://schemas.microsoft.com/office/drawing/2014/main" id="{4D12E3AD-8284-1E45-BC50-986DC3D2F228}"/>
                </a:ext>
              </a:extLst>
            </p:cNvPr>
            <p:cNvSpPr>
              <a:spLocks noChangeArrowheads="1"/>
            </p:cNvSpPr>
            <p:nvPr/>
          </p:nvSpPr>
          <p:spPr bwMode="gray">
            <a:xfrm>
              <a:off x="3553" y="1632"/>
              <a:ext cx="95" cy="97"/>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2" name="Rectangle 146">
              <a:extLst>
                <a:ext uri="{FF2B5EF4-FFF2-40B4-BE49-F238E27FC236}">
                  <a16:creationId xmlns:a16="http://schemas.microsoft.com/office/drawing/2014/main" id="{2C6BC136-DE6F-3F43-81AA-DCD7C24980B9}"/>
                </a:ext>
              </a:extLst>
            </p:cNvPr>
            <p:cNvSpPr>
              <a:spLocks noChangeArrowheads="1"/>
            </p:cNvSpPr>
            <p:nvPr/>
          </p:nvSpPr>
          <p:spPr bwMode="gray">
            <a:xfrm>
              <a:off x="3553" y="1920"/>
              <a:ext cx="95"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 name="Rectangle 147">
              <a:extLst>
                <a:ext uri="{FF2B5EF4-FFF2-40B4-BE49-F238E27FC236}">
                  <a16:creationId xmlns:a16="http://schemas.microsoft.com/office/drawing/2014/main" id="{9153033D-C605-DB40-990C-EDB6AC61DA28}"/>
                </a:ext>
              </a:extLst>
            </p:cNvPr>
            <p:cNvSpPr>
              <a:spLocks noChangeArrowheads="1"/>
            </p:cNvSpPr>
            <p:nvPr/>
          </p:nvSpPr>
          <p:spPr bwMode="gray">
            <a:xfrm>
              <a:off x="3695" y="1776"/>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4" name="Rectangle 148">
              <a:extLst>
                <a:ext uri="{FF2B5EF4-FFF2-40B4-BE49-F238E27FC236}">
                  <a16:creationId xmlns:a16="http://schemas.microsoft.com/office/drawing/2014/main" id="{7FBDD36F-D18C-0B4C-8D28-7F47A542EF74}"/>
                </a:ext>
              </a:extLst>
            </p:cNvPr>
            <p:cNvSpPr>
              <a:spLocks noChangeArrowheads="1"/>
            </p:cNvSpPr>
            <p:nvPr/>
          </p:nvSpPr>
          <p:spPr bwMode="gray">
            <a:xfrm>
              <a:off x="3695" y="1920"/>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65" name="Rectangle 149">
              <a:extLst>
                <a:ext uri="{FF2B5EF4-FFF2-40B4-BE49-F238E27FC236}">
                  <a16:creationId xmlns:a16="http://schemas.microsoft.com/office/drawing/2014/main" id="{940B089F-C397-974B-8F0D-07710D10D2D6}"/>
                </a:ext>
              </a:extLst>
            </p:cNvPr>
            <p:cNvSpPr>
              <a:spLocks noChangeArrowheads="1"/>
            </p:cNvSpPr>
            <p:nvPr/>
          </p:nvSpPr>
          <p:spPr bwMode="gray">
            <a:xfrm>
              <a:off x="3695" y="2065"/>
              <a:ext cx="97" cy="95"/>
            </a:xfrm>
            <a:prstGeom prst="rect">
              <a:avLst/>
            </a:prstGeom>
            <a:solidFill>
              <a:srgbClr val="FFFFFF">
                <a:alpha val="29019"/>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 name="Rectangle 150">
              <a:extLst>
                <a:ext uri="{FF2B5EF4-FFF2-40B4-BE49-F238E27FC236}">
                  <a16:creationId xmlns:a16="http://schemas.microsoft.com/office/drawing/2014/main" id="{5CE7E3F7-E501-1648-AC77-EB2031A3349B}"/>
                </a:ext>
              </a:extLst>
            </p:cNvPr>
            <p:cNvSpPr>
              <a:spLocks noChangeArrowheads="1"/>
            </p:cNvSpPr>
            <p:nvPr/>
          </p:nvSpPr>
          <p:spPr bwMode="gray">
            <a:xfrm>
              <a:off x="2256" y="2065"/>
              <a:ext cx="95"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 name="Rectangle 151">
              <a:extLst>
                <a:ext uri="{FF2B5EF4-FFF2-40B4-BE49-F238E27FC236}">
                  <a16:creationId xmlns:a16="http://schemas.microsoft.com/office/drawing/2014/main" id="{BB2D4412-C76D-534E-8773-A46615112811}"/>
                </a:ext>
              </a:extLst>
            </p:cNvPr>
            <p:cNvSpPr>
              <a:spLocks noChangeArrowheads="1"/>
            </p:cNvSpPr>
            <p:nvPr/>
          </p:nvSpPr>
          <p:spPr bwMode="gray">
            <a:xfrm>
              <a:off x="2112" y="2065"/>
              <a:ext cx="97" cy="95"/>
            </a:xfrm>
            <a:prstGeom prst="rect">
              <a:avLst/>
            </a:prstGeom>
            <a:solidFill>
              <a:srgbClr val="FFFFFF">
                <a:alpha val="50195"/>
              </a:srgbClr>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sp>
        <p:nvSpPr>
          <p:cNvPr id="1029" name="Rectangle 152">
            <a:extLst>
              <a:ext uri="{FF2B5EF4-FFF2-40B4-BE49-F238E27FC236}">
                <a16:creationId xmlns:a16="http://schemas.microsoft.com/office/drawing/2014/main" id="{946E4DA4-0065-D745-A268-BF8788E48C1C}"/>
              </a:ext>
            </a:extLst>
          </p:cNvPr>
          <p:cNvSpPr>
            <a:spLocks noChangeArrowheads="1"/>
          </p:cNvSpPr>
          <p:nvPr/>
        </p:nvSpPr>
        <p:spPr bwMode="gray">
          <a:xfrm>
            <a:off x="6553200" y="76200"/>
            <a:ext cx="228600" cy="3810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0" name="Rectangle 153">
            <a:extLst>
              <a:ext uri="{FF2B5EF4-FFF2-40B4-BE49-F238E27FC236}">
                <a16:creationId xmlns:a16="http://schemas.microsoft.com/office/drawing/2014/main" id="{F6970C3A-E1BF-D941-8A3A-389F337C8566}"/>
              </a:ext>
            </a:extLst>
          </p:cNvPr>
          <p:cNvSpPr>
            <a:spLocks noChangeArrowheads="1"/>
          </p:cNvSpPr>
          <p:nvPr/>
        </p:nvSpPr>
        <p:spPr bwMode="gray">
          <a:xfrm>
            <a:off x="6705600" y="228600"/>
            <a:ext cx="228600" cy="1524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1" name="Rectangle 154">
            <a:extLst>
              <a:ext uri="{FF2B5EF4-FFF2-40B4-BE49-F238E27FC236}">
                <a16:creationId xmlns:a16="http://schemas.microsoft.com/office/drawing/2014/main" id="{994971FD-5924-0A4F-BB35-C50AE9698B07}"/>
              </a:ext>
            </a:extLst>
          </p:cNvPr>
          <p:cNvSpPr>
            <a:spLocks noChangeArrowheads="1"/>
          </p:cNvSpPr>
          <p:nvPr/>
        </p:nvSpPr>
        <p:spPr bwMode="gray">
          <a:xfrm>
            <a:off x="6858000" y="304800"/>
            <a:ext cx="304800" cy="304800"/>
          </a:xfrm>
          <a:prstGeom prst="rect">
            <a:avLst/>
          </a:prstGeom>
          <a:noFill/>
          <a:ln w="9525">
            <a:solidFill>
              <a:srgbClr val="FFFFFF">
                <a:alpha val="50195"/>
              </a:srgbClr>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2" name="Rectangle 3">
            <a:extLst>
              <a:ext uri="{FF2B5EF4-FFF2-40B4-BE49-F238E27FC236}">
                <a16:creationId xmlns:a16="http://schemas.microsoft.com/office/drawing/2014/main" id="{CE36FBEA-FFDC-A543-8A0A-3010DDB73AEF}"/>
              </a:ext>
            </a:extLst>
          </p:cNvPr>
          <p:cNvSpPr>
            <a:spLocks noGrp="1" noChangeArrowheads="1"/>
          </p:cNvSpPr>
          <p:nvPr>
            <p:ph type="body" idx="4294967295"/>
          </p:nvPr>
        </p:nvSpPr>
        <p:spPr bwMode="auto">
          <a:xfrm>
            <a:off x="533400" y="1295400"/>
            <a:ext cx="81915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6">
            <a:extLst>
              <a:ext uri="{FF2B5EF4-FFF2-40B4-BE49-F238E27FC236}">
                <a16:creationId xmlns:a16="http://schemas.microsoft.com/office/drawing/2014/main" id="{4620FDA8-FE3F-C340-ADCC-5064F9787C41}"/>
              </a:ext>
            </a:extLst>
          </p:cNvPr>
          <p:cNvSpPr>
            <a:spLocks noGrp="1" noChangeArrowheads="1"/>
          </p:cNvSpPr>
          <p:nvPr>
            <p:ph type="sldNum" sz="quarter" idx="4"/>
          </p:nvPr>
        </p:nvSpPr>
        <p:spPr bwMode="gray">
          <a:xfrm>
            <a:off x="4191000" y="6505575"/>
            <a:ext cx="838200" cy="261938"/>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fld id="{0078CA39-73FA-E24D-B0EE-D79459F395E9}" type="slidenum">
              <a:rPr lang="zh-CN" altLang="en-US"/>
              <a:pPr>
                <a:defRPr/>
              </a:pPr>
              <a:t>‹#›</a:t>
            </a:fld>
            <a:endParaRPr lang="en-US" altLang="zh-CN"/>
          </a:p>
        </p:txBody>
      </p:sp>
      <p:sp>
        <p:nvSpPr>
          <p:cNvPr id="5" name="Rectangle 4">
            <a:extLst>
              <a:ext uri="{FF2B5EF4-FFF2-40B4-BE49-F238E27FC236}">
                <a16:creationId xmlns:a16="http://schemas.microsoft.com/office/drawing/2014/main" id="{B6842189-6A18-FB47-B504-432744009A10}"/>
              </a:ext>
            </a:extLst>
          </p:cNvPr>
          <p:cNvSpPr>
            <a:spLocks noGrp="1" noChangeArrowheads="1"/>
          </p:cNvSpPr>
          <p:nvPr>
            <p:ph type="dt" sz="half" idx="2"/>
          </p:nvPr>
        </p:nvSpPr>
        <p:spPr bwMode="gray">
          <a:xfrm>
            <a:off x="381000" y="6505575"/>
            <a:ext cx="1905000" cy="261938"/>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latin typeface="Arial" panose="020B0604020202020204" pitchFamily="34" charset="0"/>
                <a:ea typeface="宋体" panose="02010600030101010101" pitchFamily="2" charset="-122"/>
              </a:defRPr>
            </a:lvl1pPr>
          </a:lstStyle>
          <a:p>
            <a:pPr>
              <a:defRPr/>
            </a:pPr>
            <a:endParaRPr lang="en-US" altLang="zh-CN"/>
          </a:p>
        </p:txBody>
      </p:sp>
      <p:sp>
        <p:nvSpPr>
          <p:cNvPr id="1035" name="Rectangle 2">
            <a:extLst>
              <a:ext uri="{FF2B5EF4-FFF2-40B4-BE49-F238E27FC236}">
                <a16:creationId xmlns:a16="http://schemas.microsoft.com/office/drawing/2014/main" id="{55B98459-C376-1647-968F-E2CB921C3268}"/>
              </a:ext>
            </a:extLst>
          </p:cNvPr>
          <p:cNvSpPr>
            <a:spLocks noGrp="1" noChangeArrowheads="1"/>
          </p:cNvSpPr>
          <p:nvPr>
            <p:ph type="title" idx="4294967295"/>
          </p:nvPr>
        </p:nvSpPr>
        <p:spPr bwMode="auto">
          <a:xfrm>
            <a:off x="1116013" y="260350"/>
            <a:ext cx="651351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45" name="图片 44">
            <a:extLst>
              <a:ext uri="{FF2B5EF4-FFF2-40B4-BE49-F238E27FC236}">
                <a16:creationId xmlns:a16="http://schemas.microsoft.com/office/drawing/2014/main" id="{C9983E1F-1650-8038-3C14-98B9588818D1}"/>
              </a:ext>
            </a:extLst>
          </p:cNvPr>
          <p:cNvPicPr>
            <a:picLocks noChangeAspect="1"/>
          </p:cNvPicPr>
          <p:nvPr userDrawn="1"/>
        </p:nvPicPr>
        <p:blipFill>
          <a:blip r:embed="rId6"/>
          <a:stretch>
            <a:fillRect/>
          </a:stretch>
        </p:blipFill>
        <p:spPr>
          <a:xfrm>
            <a:off x="0" y="-7351"/>
            <a:ext cx="9144000" cy="5372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5" r:id="rId2"/>
    <p:sldLayoutId id="2147483696" r:id="rId3"/>
    <p:sldLayoutId id="2147483698" r:id="rId4"/>
  </p:sldLayoutIdLst>
  <p:transition>
    <p:fade/>
  </p:transition>
  <p:hf sldNum="0" hdr="0" ftr="0"/>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rgbClr val="3399FF"/>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mailto:hacker@some.where.com"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gif"/><Relationship Id="rId7" Type="http://schemas.openxmlformats.org/officeDocument/2006/relationships/image" Target="../media/image32.gi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1.gif"/><Relationship Id="rId5" Type="http://schemas.openxmlformats.org/officeDocument/2006/relationships/image" Target="../media/image30.gif"/><Relationship Id="rId4" Type="http://schemas.openxmlformats.org/officeDocument/2006/relationships/image" Target="../media/image29.gi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74D2B88-48CA-784E-961B-BAEB1EBB86B2}"/>
              </a:ext>
            </a:extLst>
          </p:cNvPr>
          <p:cNvSpPr>
            <a:spLocks noChangeArrowheads="1"/>
          </p:cNvSpPr>
          <p:nvPr/>
        </p:nvSpPr>
        <p:spPr bwMode="auto">
          <a:xfrm>
            <a:off x="973138" y="2611438"/>
            <a:ext cx="7485062" cy="879475"/>
          </a:xfrm>
          <a:prstGeom prst="rect">
            <a:avLst/>
          </a:prstGeom>
          <a:noFill/>
          <a:ln w="9525">
            <a:noFill/>
            <a:miter lim="800000"/>
          </a:ln>
        </p:spPr>
        <p:txBody>
          <a:bodyPr>
            <a:spAutoFit/>
          </a:bodyPr>
          <a:lstStyle/>
          <a:p>
            <a:pPr algn="ctr" eaLnBrk="1" hangingPunct="1">
              <a:lnSpc>
                <a:spcPct val="120000"/>
              </a:lnSpc>
              <a:spcBef>
                <a:spcPct val="20000"/>
              </a:spcBef>
              <a:buClr>
                <a:schemeClr val="folHlink"/>
              </a:buClr>
              <a:buSzPct val="60000"/>
              <a:defRPr/>
            </a:pPr>
            <a:r>
              <a:rPr lang="zh-CN" altLang="en-US" sz="4800" b="1">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rPr>
              <a:t>网络空间安全技术</a:t>
            </a:r>
            <a:endParaRPr lang="en-US" altLang="zh-CN" sz="4800" b="1">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A5AA1CDE-CA90-4344-AEF5-96B9076FE7A4}"/>
              </a:ext>
            </a:extLst>
          </p:cNvPr>
          <p:cNvSpPr txBox="1">
            <a:spLocks noChangeArrowheads="1"/>
          </p:cNvSpPr>
          <p:nvPr/>
        </p:nvSpPr>
        <p:spPr bwMode="gray">
          <a:xfrm>
            <a:off x="1403350" y="2708275"/>
            <a:ext cx="6889750" cy="685800"/>
          </a:xfrm>
          <a:prstGeom prst="rect">
            <a:avLst/>
          </a:prstGeom>
          <a:noFill/>
          <a:ln w="9525">
            <a:noFill/>
            <a:miter lim="800000"/>
          </a:ln>
        </p:spPr>
        <p:txBody>
          <a:bodyPr anchor="ctr"/>
          <a:lstStyle/>
          <a:p>
            <a:pPr algn="ctr" eaLnBrk="1" hangingPunct="1">
              <a:lnSpc>
                <a:spcPct val="120000"/>
              </a:lnSpc>
              <a:spcBef>
                <a:spcPct val="20000"/>
              </a:spcBef>
              <a:buClr>
                <a:schemeClr val="folHlink"/>
              </a:buClr>
              <a:buSzPct val="60000"/>
              <a:defRPr/>
            </a:pPr>
            <a:r>
              <a:rPr lang="zh-CN" altLang="en-US" sz="4400" b="1">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访问控制机制与技术</a:t>
            </a:r>
          </a:p>
        </p:txBody>
      </p:sp>
      <p:sp>
        <p:nvSpPr>
          <p:cNvPr id="2" name="矩形 1">
            <a:extLst>
              <a:ext uri="{FF2B5EF4-FFF2-40B4-BE49-F238E27FC236}">
                <a16:creationId xmlns:a16="http://schemas.microsoft.com/office/drawing/2014/main" id="{FD0806AB-05A7-A240-B9A5-FA98E8812564}"/>
              </a:ext>
            </a:extLst>
          </p:cNvPr>
          <p:cNvSpPr/>
          <p:nvPr/>
        </p:nvSpPr>
        <p:spPr>
          <a:xfrm>
            <a:off x="1419225" y="1497013"/>
            <a:ext cx="1997075" cy="830262"/>
          </a:xfrm>
          <a:prstGeom prst="rect">
            <a:avLst/>
          </a:prstGeom>
        </p:spPr>
        <p:txBody>
          <a:bodyPr wrap="none">
            <a:spAutoFit/>
          </a:bodyPr>
          <a:lstStyle/>
          <a:p>
            <a:pPr>
              <a:defRPr/>
            </a:pPr>
            <a:r>
              <a:rPr kumimoji="1" lang="zh-CN" altLang="en-US" sz="48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第</a:t>
            </a:r>
            <a:r>
              <a:rPr kumimoji="1" lang="en-US" altLang="zh-CN" sz="48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6</a:t>
            </a:r>
            <a:r>
              <a:rPr kumimoji="1" lang="zh-CN" altLang="en-US" sz="4800" b="1"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章 </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1274EBC2-FDB8-0545-B89C-54243C019B68}"/>
              </a:ext>
            </a:extLst>
          </p:cNvPr>
          <p:cNvSpPr>
            <a:spLocks noGrp="1"/>
          </p:cNvSpPr>
          <p:nvPr>
            <p:ph type="title"/>
          </p:nvPr>
        </p:nvSpPr>
        <p:spPr>
          <a:xfrm>
            <a:off x="503238" y="773113"/>
            <a:ext cx="6513512" cy="488950"/>
          </a:xfrm>
        </p:spPr>
        <p:txBody>
          <a:bodyPr/>
          <a:lstStyle/>
          <a:p>
            <a:pPr>
              <a:defRPr/>
            </a:pPr>
            <a:r>
              <a:rPr lang="zh-CN" altLang="en-US" sz="3600">
                <a:solidFill>
                  <a:srgbClr val="0033CC"/>
                </a:solidFill>
                <a:effectLst>
                  <a:outerShdw blurRad="38100" dist="38100" dir="2700000" algn="tl">
                    <a:srgbClr val="C0C0C0"/>
                  </a:outerShdw>
                </a:effectLst>
              </a:rPr>
              <a:t>课程内容</a:t>
            </a:r>
          </a:p>
        </p:txBody>
      </p:sp>
      <p:grpSp>
        <p:nvGrpSpPr>
          <p:cNvPr id="2" name="组合 1">
            <a:extLst>
              <a:ext uri="{FF2B5EF4-FFF2-40B4-BE49-F238E27FC236}">
                <a16:creationId xmlns:a16="http://schemas.microsoft.com/office/drawing/2014/main" id="{0C41EDCA-5F32-EA43-9ADC-A78CDCCB4325}"/>
              </a:ext>
            </a:extLst>
          </p:cNvPr>
          <p:cNvGrpSpPr>
            <a:grpSpLocks/>
          </p:cNvGrpSpPr>
          <p:nvPr/>
        </p:nvGrpSpPr>
        <p:grpSpPr bwMode="auto">
          <a:xfrm>
            <a:off x="1547813" y="1169988"/>
            <a:ext cx="6481762" cy="4824412"/>
            <a:chOff x="1547490" y="1169811"/>
            <a:chExt cx="6481762" cy="4824413"/>
          </a:xfrm>
        </p:grpSpPr>
        <p:sp>
          <p:nvSpPr>
            <p:cNvPr id="9219" name="Line 4">
              <a:extLst>
                <a:ext uri="{FF2B5EF4-FFF2-40B4-BE49-F238E27FC236}">
                  <a16:creationId xmlns:a16="http://schemas.microsoft.com/office/drawing/2014/main" id="{F96774F7-DCF7-8D48-87FF-01BF64B9A87F}"/>
                </a:ext>
              </a:extLst>
            </p:cNvPr>
            <p:cNvSpPr>
              <a:spLocks noChangeShapeType="1"/>
            </p:cNvSpPr>
            <p:nvPr/>
          </p:nvSpPr>
          <p:spPr bwMode="auto">
            <a:xfrm>
              <a:off x="3131815" y="1169811"/>
              <a:ext cx="0" cy="48244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 name="AutoShape 5">
              <a:extLst>
                <a:ext uri="{FF2B5EF4-FFF2-40B4-BE49-F238E27FC236}">
                  <a16:creationId xmlns:a16="http://schemas.microsoft.com/office/drawing/2014/main" id="{EA34342B-6C84-594B-B0AB-FD3D03D9C3AC}"/>
                </a:ext>
              </a:extLst>
            </p:cNvPr>
            <p:cNvSpPr>
              <a:spLocks noChangeArrowheads="1"/>
            </p:cNvSpPr>
            <p:nvPr/>
          </p:nvSpPr>
          <p:spPr bwMode="auto">
            <a:xfrm>
              <a:off x="1547490" y="3328811"/>
              <a:ext cx="1428750" cy="647700"/>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1800" b="1">
                  <a:solidFill>
                    <a:srgbClr val="040404"/>
                  </a:solidFill>
                </a:rPr>
                <a:t>访问控制</a:t>
              </a:r>
            </a:p>
          </p:txBody>
        </p:sp>
        <p:sp>
          <p:nvSpPr>
            <p:cNvPr id="9221" name="Text Box 6">
              <a:extLst>
                <a:ext uri="{FF2B5EF4-FFF2-40B4-BE49-F238E27FC236}">
                  <a16:creationId xmlns:a16="http://schemas.microsoft.com/office/drawing/2014/main" id="{1819AFA7-D386-1E4F-B6D2-04024BE3BE82}"/>
                </a:ext>
              </a:extLst>
            </p:cNvPr>
            <p:cNvSpPr txBox="1">
              <a:spLocks noChangeArrowheads="1"/>
            </p:cNvSpPr>
            <p:nvPr/>
          </p:nvSpPr>
          <p:spPr bwMode="auto">
            <a:xfrm>
              <a:off x="1680840" y="5202061"/>
              <a:ext cx="109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solidFill>
                    <a:srgbClr val="B01302"/>
                  </a:solidFill>
                </a:rPr>
                <a:t>知识体</a:t>
              </a:r>
            </a:p>
          </p:txBody>
        </p:sp>
        <p:sp>
          <p:nvSpPr>
            <p:cNvPr id="9222" name="Text Box 7">
              <a:extLst>
                <a:ext uri="{FF2B5EF4-FFF2-40B4-BE49-F238E27FC236}">
                  <a16:creationId xmlns:a16="http://schemas.microsoft.com/office/drawing/2014/main" id="{842C6821-92E9-7D4B-9563-80D980195040}"/>
                </a:ext>
              </a:extLst>
            </p:cNvPr>
            <p:cNvSpPr txBox="1">
              <a:spLocks noChangeArrowheads="1"/>
            </p:cNvSpPr>
            <p:nvPr/>
          </p:nvSpPr>
          <p:spPr bwMode="auto">
            <a:xfrm>
              <a:off x="3563615" y="5195711"/>
              <a:ext cx="109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solidFill>
                    <a:srgbClr val="B01302"/>
                  </a:solidFill>
                </a:rPr>
                <a:t>知识域</a:t>
              </a:r>
            </a:p>
          </p:txBody>
        </p:sp>
        <p:sp>
          <p:nvSpPr>
            <p:cNvPr id="9223" name="AutoShape 8">
              <a:extLst>
                <a:ext uri="{FF2B5EF4-FFF2-40B4-BE49-F238E27FC236}">
                  <a16:creationId xmlns:a16="http://schemas.microsoft.com/office/drawing/2014/main" id="{9DB558BF-3428-4A49-B8CD-7A331139FDDD}"/>
                </a:ext>
              </a:extLst>
            </p:cNvPr>
            <p:cNvSpPr>
              <a:spLocks/>
            </p:cNvSpPr>
            <p:nvPr/>
          </p:nvSpPr>
          <p:spPr bwMode="auto">
            <a:xfrm>
              <a:off x="3131815" y="2897011"/>
              <a:ext cx="254000" cy="1331913"/>
            </a:xfrm>
            <a:prstGeom prst="leftBrace">
              <a:avLst>
                <a:gd name="adj1" fmla="val 6668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rIns="36000"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24" name="Line 9">
              <a:extLst>
                <a:ext uri="{FF2B5EF4-FFF2-40B4-BE49-F238E27FC236}">
                  <a16:creationId xmlns:a16="http://schemas.microsoft.com/office/drawing/2014/main" id="{6179ED7D-3DB5-F14E-A2F4-61FB2FE846DF}"/>
                </a:ext>
              </a:extLst>
            </p:cNvPr>
            <p:cNvSpPr>
              <a:spLocks noChangeShapeType="1"/>
            </p:cNvSpPr>
            <p:nvPr/>
          </p:nvSpPr>
          <p:spPr bwMode="auto">
            <a:xfrm>
              <a:off x="4932040" y="1169811"/>
              <a:ext cx="0" cy="48244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5" name="AutoShape 10">
              <a:extLst>
                <a:ext uri="{FF2B5EF4-FFF2-40B4-BE49-F238E27FC236}">
                  <a16:creationId xmlns:a16="http://schemas.microsoft.com/office/drawing/2014/main" id="{274498A4-5606-B044-B0F9-39F06424E2D6}"/>
                </a:ext>
              </a:extLst>
            </p:cNvPr>
            <p:cNvSpPr>
              <a:spLocks noChangeArrowheads="1"/>
            </p:cNvSpPr>
            <p:nvPr/>
          </p:nvSpPr>
          <p:spPr bwMode="auto">
            <a:xfrm>
              <a:off x="3420740" y="2681111"/>
              <a:ext cx="1439862" cy="576263"/>
            </a:xfrm>
            <a:prstGeom prst="flowChartAlternateProcess">
              <a:avLst/>
            </a:prstGeom>
            <a:gradFill rotWithShape="1">
              <a:gsLst>
                <a:gs pos="0">
                  <a:srgbClr val="9966FF"/>
                </a:gs>
                <a:gs pos="100000">
                  <a:srgbClr val="6B47B2"/>
                </a:gs>
              </a:gsLst>
              <a:lin ang="5400000" scaled="1"/>
            </a:gradFill>
            <a:ln w="25400">
              <a:solidFill>
                <a:srgbClr val="3366FF"/>
              </a:solidFill>
              <a:miter lim="800000"/>
              <a:headEnd/>
              <a:tailEnd/>
            </a:ln>
          </p:spPr>
          <p:txBody>
            <a:bodyPr wrap="none" lIns="36000" rIns="36000"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solidFill>
                    <a:schemeClr val="bg1"/>
                  </a:solidFill>
                </a:rPr>
                <a:t>访问控制模型</a:t>
              </a:r>
            </a:p>
          </p:txBody>
        </p:sp>
        <p:sp>
          <p:nvSpPr>
            <p:cNvPr id="9226" name="AutoShape 11">
              <a:extLst>
                <a:ext uri="{FF2B5EF4-FFF2-40B4-BE49-F238E27FC236}">
                  <a16:creationId xmlns:a16="http://schemas.microsoft.com/office/drawing/2014/main" id="{295971AE-1AFE-EC42-A350-2083B02A2DCE}"/>
                </a:ext>
              </a:extLst>
            </p:cNvPr>
            <p:cNvSpPr>
              <a:spLocks noChangeArrowheads="1"/>
            </p:cNvSpPr>
            <p:nvPr/>
          </p:nvSpPr>
          <p:spPr bwMode="auto">
            <a:xfrm>
              <a:off x="3420740" y="3832049"/>
              <a:ext cx="1439862" cy="576262"/>
            </a:xfrm>
            <a:prstGeom prst="flowChartAlternateProcess">
              <a:avLst/>
            </a:prstGeom>
            <a:gradFill rotWithShape="1">
              <a:gsLst>
                <a:gs pos="0">
                  <a:srgbClr val="9966FF"/>
                </a:gs>
                <a:gs pos="100000">
                  <a:srgbClr val="6B47B2"/>
                </a:gs>
              </a:gsLst>
              <a:lin ang="5400000" scaled="1"/>
            </a:gradFill>
            <a:ln w="25400">
              <a:solidFill>
                <a:srgbClr val="3366FF"/>
              </a:solidFill>
              <a:miter lim="800000"/>
              <a:headEnd/>
              <a:tailEnd/>
            </a:ln>
          </p:spPr>
          <p:txBody>
            <a:bodyPr wrap="none" lIns="36000" rIns="36000"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solidFill>
                    <a:schemeClr val="bg1"/>
                  </a:solidFill>
                </a:rPr>
                <a:t>访问控制技术</a:t>
              </a:r>
            </a:p>
          </p:txBody>
        </p:sp>
        <p:sp>
          <p:nvSpPr>
            <p:cNvPr id="9227" name="Text Box 13">
              <a:extLst>
                <a:ext uri="{FF2B5EF4-FFF2-40B4-BE49-F238E27FC236}">
                  <a16:creationId xmlns:a16="http://schemas.microsoft.com/office/drawing/2014/main" id="{E35D0199-0324-A44B-AA85-E63FD71F7721}"/>
                </a:ext>
              </a:extLst>
            </p:cNvPr>
            <p:cNvSpPr txBox="1">
              <a:spLocks noChangeArrowheads="1"/>
            </p:cNvSpPr>
            <p:nvPr/>
          </p:nvSpPr>
          <p:spPr bwMode="auto">
            <a:xfrm>
              <a:off x="5652765" y="5235399"/>
              <a:ext cx="1728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solidFill>
                    <a:srgbClr val="B01302"/>
                  </a:solidFill>
                </a:rPr>
                <a:t>知识子域</a:t>
              </a:r>
            </a:p>
          </p:txBody>
        </p:sp>
        <p:grpSp>
          <p:nvGrpSpPr>
            <p:cNvPr id="9228" name="Group 22">
              <a:extLst>
                <a:ext uri="{FF2B5EF4-FFF2-40B4-BE49-F238E27FC236}">
                  <a16:creationId xmlns:a16="http://schemas.microsoft.com/office/drawing/2014/main" id="{459578AE-7325-B24A-8067-1C41C7B087BA}"/>
                </a:ext>
              </a:extLst>
            </p:cNvPr>
            <p:cNvGrpSpPr>
              <a:grpSpLocks/>
            </p:cNvGrpSpPr>
            <p:nvPr/>
          </p:nvGrpSpPr>
          <p:grpSpPr bwMode="auto">
            <a:xfrm>
              <a:off x="5113015" y="3868561"/>
              <a:ext cx="2908576" cy="431800"/>
              <a:chOff x="2272" y="1479"/>
              <a:chExt cx="1363" cy="1800"/>
            </a:xfrm>
          </p:grpSpPr>
          <p:sp>
            <p:nvSpPr>
              <p:cNvPr id="9249" name="AutoShape 23">
                <a:extLst>
                  <a:ext uri="{FF2B5EF4-FFF2-40B4-BE49-F238E27FC236}">
                    <a16:creationId xmlns:a16="http://schemas.microsoft.com/office/drawing/2014/main" id="{F4560793-4CF2-3B40-98DB-2961976F28D7}"/>
                  </a:ext>
                </a:extLst>
              </p:cNvPr>
              <p:cNvSpPr>
                <a:spLocks noChangeArrowheads="1"/>
              </p:cNvSpPr>
              <p:nvPr/>
            </p:nvSpPr>
            <p:spPr bwMode="auto">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50" name="AutoShape 24">
                <a:extLst>
                  <a:ext uri="{FF2B5EF4-FFF2-40B4-BE49-F238E27FC236}">
                    <a16:creationId xmlns:a16="http://schemas.microsoft.com/office/drawing/2014/main" id="{82F31601-7F9E-514C-80D7-5CC17266B576}"/>
                  </a:ext>
                </a:extLst>
              </p:cNvPr>
              <p:cNvSpPr>
                <a:spLocks noChangeArrowheads="1"/>
              </p:cNvSpPr>
              <p:nvPr/>
            </p:nvSpPr>
            <p:spPr bwMode="auto">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51" name="AutoShape 25">
                <a:extLst>
                  <a:ext uri="{FF2B5EF4-FFF2-40B4-BE49-F238E27FC236}">
                    <a16:creationId xmlns:a16="http://schemas.microsoft.com/office/drawing/2014/main" id="{2490D27D-D6A6-594E-B07B-9EF46945ED35}"/>
                  </a:ext>
                </a:extLst>
              </p:cNvPr>
              <p:cNvSpPr>
                <a:spLocks noChangeArrowheads="1"/>
              </p:cNvSpPr>
              <p:nvPr/>
            </p:nvSpPr>
            <p:spPr bwMode="auto">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52" name="AutoShape 26">
                <a:extLst>
                  <a:ext uri="{FF2B5EF4-FFF2-40B4-BE49-F238E27FC236}">
                    <a16:creationId xmlns:a16="http://schemas.microsoft.com/office/drawing/2014/main" id="{B3F10807-E4F4-754F-AAC5-FAD5B9F26612}"/>
                  </a:ext>
                </a:extLst>
              </p:cNvPr>
              <p:cNvSpPr>
                <a:spLocks noChangeArrowheads="1"/>
              </p:cNvSpPr>
              <p:nvPr/>
            </p:nvSpPr>
            <p:spPr bwMode="auto">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grpSp>
        <p:sp>
          <p:nvSpPr>
            <p:cNvPr id="9229" name="Rectangle 27">
              <a:extLst>
                <a:ext uri="{FF2B5EF4-FFF2-40B4-BE49-F238E27FC236}">
                  <a16:creationId xmlns:a16="http://schemas.microsoft.com/office/drawing/2014/main" id="{76E745D1-DFB5-8545-BC96-36411931DACC}"/>
                </a:ext>
              </a:extLst>
            </p:cNvPr>
            <p:cNvSpPr>
              <a:spLocks noChangeArrowheads="1"/>
            </p:cNvSpPr>
            <p:nvPr/>
          </p:nvSpPr>
          <p:spPr bwMode="auto">
            <a:xfrm>
              <a:off x="5243250" y="3868561"/>
              <a:ext cx="278600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solidFill>
                    <a:srgbClr val="040404"/>
                  </a:solidFill>
                </a:rPr>
                <a:t>典型访问控制方法和实现</a:t>
              </a:r>
              <a:endParaRPr lang="zh-CN" altLang="zh-CN" sz="1800" b="1">
                <a:solidFill>
                  <a:srgbClr val="040404"/>
                </a:solidFill>
              </a:endParaRPr>
            </a:p>
          </p:txBody>
        </p:sp>
        <p:grpSp>
          <p:nvGrpSpPr>
            <p:cNvPr id="9230" name="Group 29">
              <a:extLst>
                <a:ext uri="{FF2B5EF4-FFF2-40B4-BE49-F238E27FC236}">
                  <a16:creationId xmlns:a16="http://schemas.microsoft.com/office/drawing/2014/main" id="{F1639CE2-7546-8646-ADFA-1D5D0202B26A}"/>
                </a:ext>
              </a:extLst>
            </p:cNvPr>
            <p:cNvGrpSpPr>
              <a:grpSpLocks/>
            </p:cNvGrpSpPr>
            <p:nvPr/>
          </p:nvGrpSpPr>
          <p:grpSpPr bwMode="auto">
            <a:xfrm>
              <a:off x="5292402" y="3151011"/>
              <a:ext cx="2729660" cy="431800"/>
              <a:chOff x="2272" y="1479"/>
              <a:chExt cx="1363" cy="1800"/>
            </a:xfrm>
          </p:grpSpPr>
          <p:sp>
            <p:nvSpPr>
              <p:cNvPr id="9245" name="AutoShape 30">
                <a:extLst>
                  <a:ext uri="{FF2B5EF4-FFF2-40B4-BE49-F238E27FC236}">
                    <a16:creationId xmlns:a16="http://schemas.microsoft.com/office/drawing/2014/main" id="{5CA25B79-00B6-C742-AE12-4A4A88D82F02}"/>
                  </a:ext>
                </a:extLst>
              </p:cNvPr>
              <p:cNvSpPr>
                <a:spLocks noChangeArrowheads="1"/>
              </p:cNvSpPr>
              <p:nvPr/>
            </p:nvSpPr>
            <p:spPr bwMode="auto">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6" name="AutoShape 31">
                <a:extLst>
                  <a:ext uri="{FF2B5EF4-FFF2-40B4-BE49-F238E27FC236}">
                    <a16:creationId xmlns:a16="http://schemas.microsoft.com/office/drawing/2014/main" id="{EACB8B91-7774-0543-9D1B-4D444E15989F}"/>
                  </a:ext>
                </a:extLst>
              </p:cNvPr>
              <p:cNvSpPr>
                <a:spLocks noChangeArrowheads="1"/>
              </p:cNvSpPr>
              <p:nvPr/>
            </p:nvSpPr>
            <p:spPr bwMode="auto">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7" name="AutoShape 32">
                <a:extLst>
                  <a:ext uri="{FF2B5EF4-FFF2-40B4-BE49-F238E27FC236}">
                    <a16:creationId xmlns:a16="http://schemas.microsoft.com/office/drawing/2014/main" id="{5023E34B-3114-AA42-AFD5-46AC719EA8D3}"/>
                  </a:ext>
                </a:extLst>
              </p:cNvPr>
              <p:cNvSpPr>
                <a:spLocks noChangeArrowheads="1"/>
              </p:cNvSpPr>
              <p:nvPr/>
            </p:nvSpPr>
            <p:spPr bwMode="auto">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8" name="AutoShape 33">
                <a:extLst>
                  <a:ext uri="{FF2B5EF4-FFF2-40B4-BE49-F238E27FC236}">
                    <a16:creationId xmlns:a16="http://schemas.microsoft.com/office/drawing/2014/main" id="{67F98E47-0E7D-1B4B-AC46-FAEA1C63907E}"/>
                  </a:ext>
                </a:extLst>
              </p:cNvPr>
              <p:cNvSpPr>
                <a:spLocks noChangeArrowheads="1"/>
              </p:cNvSpPr>
              <p:nvPr/>
            </p:nvSpPr>
            <p:spPr bwMode="auto">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grpSp>
        <p:sp>
          <p:nvSpPr>
            <p:cNvPr id="9231" name="Rectangle 34">
              <a:extLst>
                <a:ext uri="{FF2B5EF4-FFF2-40B4-BE49-F238E27FC236}">
                  <a16:creationId xmlns:a16="http://schemas.microsoft.com/office/drawing/2014/main" id="{D6D973C1-86B1-C441-AF2E-EE99F234EC31}"/>
                </a:ext>
              </a:extLst>
            </p:cNvPr>
            <p:cNvSpPr>
              <a:spLocks noChangeArrowheads="1"/>
            </p:cNvSpPr>
            <p:nvPr/>
          </p:nvSpPr>
          <p:spPr bwMode="auto">
            <a:xfrm>
              <a:off x="5414626" y="3151011"/>
              <a:ext cx="261462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solidFill>
                    <a:srgbClr val="040404"/>
                  </a:solidFill>
                </a:rPr>
                <a:t>强制访问控制模型</a:t>
              </a:r>
              <a:endParaRPr lang="zh-CN" altLang="zh-CN" sz="1800" b="1">
                <a:solidFill>
                  <a:srgbClr val="040404"/>
                </a:solidFill>
              </a:endParaRPr>
            </a:p>
          </p:txBody>
        </p:sp>
        <p:grpSp>
          <p:nvGrpSpPr>
            <p:cNvPr id="9232" name="Group 37">
              <a:extLst>
                <a:ext uri="{FF2B5EF4-FFF2-40B4-BE49-F238E27FC236}">
                  <a16:creationId xmlns:a16="http://schemas.microsoft.com/office/drawing/2014/main" id="{1F8FB330-26A0-174C-A78C-9C99246CC918}"/>
                </a:ext>
              </a:extLst>
            </p:cNvPr>
            <p:cNvGrpSpPr>
              <a:grpSpLocks/>
            </p:cNvGrpSpPr>
            <p:nvPr/>
          </p:nvGrpSpPr>
          <p:grpSpPr bwMode="auto">
            <a:xfrm>
              <a:off x="5292402" y="2142949"/>
              <a:ext cx="2729660" cy="431800"/>
              <a:chOff x="2272" y="1479"/>
              <a:chExt cx="1363" cy="1800"/>
            </a:xfrm>
          </p:grpSpPr>
          <p:sp>
            <p:nvSpPr>
              <p:cNvPr id="9241" name="AutoShape 38">
                <a:extLst>
                  <a:ext uri="{FF2B5EF4-FFF2-40B4-BE49-F238E27FC236}">
                    <a16:creationId xmlns:a16="http://schemas.microsoft.com/office/drawing/2014/main" id="{26367247-84C0-8B4E-B394-3DCD8C115AB1}"/>
                  </a:ext>
                </a:extLst>
              </p:cNvPr>
              <p:cNvSpPr>
                <a:spLocks noChangeArrowheads="1"/>
              </p:cNvSpPr>
              <p:nvPr/>
            </p:nvSpPr>
            <p:spPr bwMode="auto">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2" name="AutoShape 39">
                <a:extLst>
                  <a:ext uri="{FF2B5EF4-FFF2-40B4-BE49-F238E27FC236}">
                    <a16:creationId xmlns:a16="http://schemas.microsoft.com/office/drawing/2014/main" id="{FEF6A92C-5083-F34E-A1EC-6A9C0088A452}"/>
                  </a:ext>
                </a:extLst>
              </p:cNvPr>
              <p:cNvSpPr>
                <a:spLocks noChangeArrowheads="1"/>
              </p:cNvSpPr>
              <p:nvPr/>
            </p:nvSpPr>
            <p:spPr bwMode="auto">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3" name="AutoShape 40">
                <a:extLst>
                  <a:ext uri="{FF2B5EF4-FFF2-40B4-BE49-F238E27FC236}">
                    <a16:creationId xmlns:a16="http://schemas.microsoft.com/office/drawing/2014/main" id="{08C229A6-3899-9F48-9A20-F580D201061B}"/>
                  </a:ext>
                </a:extLst>
              </p:cNvPr>
              <p:cNvSpPr>
                <a:spLocks noChangeArrowheads="1"/>
              </p:cNvSpPr>
              <p:nvPr/>
            </p:nvSpPr>
            <p:spPr bwMode="auto">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4" name="AutoShape 41">
                <a:extLst>
                  <a:ext uri="{FF2B5EF4-FFF2-40B4-BE49-F238E27FC236}">
                    <a16:creationId xmlns:a16="http://schemas.microsoft.com/office/drawing/2014/main" id="{C9050700-FA07-704C-B651-F8C6917A8D62}"/>
                  </a:ext>
                </a:extLst>
              </p:cNvPr>
              <p:cNvSpPr>
                <a:spLocks noChangeArrowheads="1"/>
              </p:cNvSpPr>
              <p:nvPr/>
            </p:nvSpPr>
            <p:spPr bwMode="auto">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grpSp>
        <p:sp>
          <p:nvSpPr>
            <p:cNvPr id="9233" name="Rectangle 42">
              <a:extLst>
                <a:ext uri="{FF2B5EF4-FFF2-40B4-BE49-F238E27FC236}">
                  <a16:creationId xmlns:a16="http://schemas.microsoft.com/office/drawing/2014/main" id="{B786EE6B-EA44-544B-A8CC-0DE759923483}"/>
                </a:ext>
              </a:extLst>
            </p:cNvPr>
            <p:cNvSpPr>
              <a:spLocks noChangeArrowheads="1"/>
            </p:cNvSpPr>
            <p:nvPr/>
          </p:nvSpPr>
          <p:spPr bwMode="auto">
            <a:xfrm>
              <a:off x="5414626" y="2142949"/>
              <a:ext cx="261462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solidFill>
                    <a:srgbClr val="040404"/>
                  </a:solidFill>
                </a:rPr>
                <a:t>访问控制模型基本概念</a:t>
              </a:r>
              <a:endParaRPr lang="zh-CN" altLang="zh-CN" sz="1800" b="1">
                <a:solidFill>
                  <a:srgbClr val="040404"/>
                </a:solidFill>
              </a:endParaRPr>
            </a:p>
          </p:txBody>
        </p:sp>
        <p:grpSp>
          <p:nvGrpSpPr>
            <p:cNvPr id="9234" name="Group 44">
              <a:extLst>
                <a:ext uri="{FF2B5EF4-FFF2-40B4-BE49-F238E27FC236}">
                  <a16:creationId xmlns:a16="http://schemas.microsoft.com/office/drawing/2014/main" id="{FEEE7F0B-F606-BD4D-B565-0C215E0E2052}"/>
                </a:ext>
              </a:extLst>
            </p:cNvPr>
            <p:cNvGrpSpPr>
              <a:grpSpLocks/>
            </p:cNvGrpSpPr>
            <p:nvPr/>
          </p:nvGrpSpPr>
          <p:grpSpPr bwMode="auto">
            <a:xfrm>
              <a:off x="5292402" y="2646186"/>
              <a:ext cx="2729660" cy="431800"/>
              <a:chOff x="2272" y="1479"/>
              <a:chExt cx="1363" cy="1800"/>
            </a:xfrm>
          </p:grpSpPr>
          <p:sp>
            <p:nvSpPr>
              <p:cNvPr id="9237" name="AutoShape 45">
                <a:extLst>
                  <a:ext uri="{FF2B5EF4-FFF2-40B4-BE49-F238E27FC236}">
                    <a16:creationId xmlns:a16="http://schemas.microsoft.com/office/drawing/2014/main" id="{D73AC5B0-FD3D-A144-93E2-ADD6436CA515}"/>
                  </a:ext>
                </a:extLst>
              </p:cNvPr>
              <p:cNvSpPr>
                <a:spLocks noChangeArrowheads="1"/>
              </p:cNvSpPr>
              <p:nvPr/>
            </p:nvSpPr>
            <p:spPr bwMode="auto">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38" name="AutoShape 46">
                <a:extLst>
                  <a:ext uri="{FF2B5EF4-FFF2-40B4-BE49-F238E27FC236}">
                    <a16:creationId xmlns:a16="http://schemas.microsoft.com/office/drawing/2014/main" id="{7427D639-4C60-8944-802A-3385A359F57F}"/>
                  </a:ext>
                </a:extLst>
              </p:cNvPr>
              <p:cNvSpPr>
                <a:spLocks noChangeArrowheads="1"/>
              </p:cNvSpPr>
              <p:nvPr/>
            </p:nvSpPr>
            <p:spPr bwMode="auto">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39" name="AutoShape 47">
                <a:extLst>
                  <a:ext uri="{FF2B5EF4-FFF2-40B4-BE49-F238E27FC236}">
                    <a16:creationId xmlns:a16="http://schemas.microsoft.com/office/drawing/2014/main" id="{47D16D3A-1E38-2E4E-B704-529DB324A5E8}"/>
                  </a:ext>
                </a:extLst>
              </p:cNvPr>
              <p:cNvSpPr>
                <a:spLocks noChangeArrowheads="1"/>
              </p:cNvSpPr>
              <p:nvPr/>
            </p:nvSpPr>
            <p:spPr bwMode="auto">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sp>
            <p:nvSpPr>
              <p:cNvPr id="9240" name="AutoShape 48">
                <a:extLst>
                  <a:ext uri="{FF2B5EF4-FFF2-40B4-BE49-F238E27FC236}">
                    <a16:creationId xmlns:a16="http://schemas.microsoft.com/office/drawing/2014/main" id="{F850CB86-FB68-3247-9A14-0F63D7FE663C}"/>
                  </a:ext>
                </a:extLst>
              </p:cNvPr>
              <p:cNvSpPr>
                <a:spLocks noChangeArrowheads="1"/>
              </p:cNvSpPr>
              <p:nvPr/>
            </p:nvSpPr>
            <p:spPr bwMode="auto">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grpSp>
        <p:sp>
          <p:nvSpPr>
            <p:cNvPr id="9235" name="Rectangle 49">
              <a:extLst>
                <a:ext uri="{FF2B5EF4-FFF2-40B4-BE49-F238E27FC236}">
                  <a16:creationId xmlns:a16="http://schemas.microsoft.com/office/drawing/2014/main" id="{A3CB504B-55A4-8143-8E66-E3F395601AFA}"/>
                </a:ext>
              </a:extLst>
            </p:cNvPr>
            <p:cNvSpPr>
              <a:spLocks noChangeArrowheads="1"/>
            </p:cNvSpPr>
            <p:nvPr/>
          </p:nvSpPr>
          <p:spPr bwMode="auto">
            <a:xfrm>
              <a:off x="5414626" y="2646186"/>
              <a:ext cx="261462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solidFill>
                    <a:srgbClr val="040404"/>
                  </a:solidFill>
                </a:rPr>
                <a:t>自主访问控制模型</a:t>
              </a:r>
              <a:endParaRPr lang="zh-CN" altLang="zh-CN" sz="1800" b="1">
                <a:solidFill>
                  <a:srgbClr val="040404"/>
                </a:solidFill>
              </a:endParaRPr>
            </a:p>
          </p:txBody>
        </p:sp>
        <p:sp>
          <p:nvSpPr>
            <p:cNvPr id="9236" name="AutoShape 50">
              <a:extLst>
                <a:ext uri="{FF2B5EF4-FFF2-40B4-BE49-F238E27FC236}">
                  <a16:creationId xmlns:a16="http://schemas.microsoft.com/office/drawing/2014/main" id="{2D333F29-33F2-9C49-8083-69A7E7E2EDE0}"/>
                </a:ext>
              </a:extLst>
            </p:cNvPr>
            <p:cNvSpPr>
              <a:spLocks/>
            </p:cNvSpPr>
            <p:nvPr/>
          </p:nvSpPr>
          <p:spPr bwMode="auto">
            <a:xfrm>
              <a:off x="4933627" y="2285824"/>
              <a:ext cx="360363" cy="1225550"/>
            </a:xfrm>
            <a:prstGeom prst="leftBrace">
              <a:avLst>
                <a:gd name="adj1" fmla="val 28309"/>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4FE4EA6D-1790-9D40-9847-5B5FC5DF7B64}"/>
              </a:ext>
            </a:extLst>
          </p:cNvPr>
          <p:cNvSpPr>
            <a:spLocks noGrp="1"/>
          </p:cNvSpPr>
          <p:nvPr>
            <p:ph type="title"/>
          </p:nvPr>
        </p:nvSpPr>
        <p:spPr>
          <a:xfrm>
            <a:off x="647700" y="963613"/>
            <a:ext cx="6513513" cy="487362"/>
          </a:xfrm>
        </p:spPr>
        <p:txBody>
          <a:bodyPr/>
          <a:lstStyle/>
          <a:p>
            <a:pPr>
              <a:defRPr/>
            </a:pPr>
            <a:r>
              <a:rPr lang="zh-CN" altLang="en-US">
                <a:solidFill>
                  <a:srgbClr val="0033CC"/>
                </a:solidFill>
                <a:effectLst>
                  <a:outerShdw blurRad="38100" dist="38100" dir="2700000" algn="tl">
                    <a:srgbClr val="C0C0C0"/>
                  </a:outerShdw>
                </a:effectLst>
              </a:rPr>
              <a:t>知识域：访问控制模型</a:t>
            </a:r>
          </a:p>
        </p:txBody>
      </p:sp>
      <p:sp>
        <p:nvSpPr>
          <p:cNvPr id="7171" name="内容占位符 2">
            <a:extLst>
              <a:ext uri="{FF2B5EF4-FFF2-40B4-BE49-F238E27FC236}">
                <a16:creationId xmlns:a16="http://schemas.microsoft.com/office/drawing/2014/main" id="{E379BF00-6452-444C-ADE6-C18C97AAF620}"/>
              </a:ext>
            </a:extLst>
          </p:cNvPr>
          <p:cNvSpPr>
            <a:spLocks noGrp="1"/>
          </p:cNvSpPr>
          <p:nvPr>
            <p:ph idx="1"/>
          </p:nvPr>
        </p:nvSpPr>
        <p:spPr>
          <a:xfrm>
            <a:off x="646113" y="2097088"/>
            <a:ext cx="7526337" cy="2519362"/>
          </a:xfrm>
        </p:spPr>
        <p:txBody>
          <a:bodyPr/>
          <a:lstStyle/>
          <a:p>
            <a:pPr>
              <a:defRPr/>
            </a:pPr>
            <a:r>
              <a:rPr lang="zh-CN" altLang="zh-CN" b="1">
                <a:effectLst>
                  <a:outerShdw blurRad="38100" dist="38100" dir="2700000" algn="tl">
                    <a:srgbClr val="C0C0C0"/>
                  </a:outerShdw>
                </a:effectLst>
              </a:rPr>
              <a:t>知识子域：访问控制基本概念</a:t>
            </a:r>
          </a:p>
          <a:p>
            <a:pPr lvl="1">
              <a:lnSpc>
                <a:spcPct val="150000"/>
              </a:lnSpc>
              <a:defRPr/>
            </a:pPr>
            <a:r>
              <a:rPr lang="zh-CN" altLang="zh-CN" sz="2400" b="1">
                <a:effectLst>
                  <a:outerShdw blurRad="38100" dist="38100" dir="2700000" algn="tl">
                    <a:srgbClr val="C0C0C0"/>
                  </a:outerShdw>
                </a:effectLst>
              </a:rPr>
              <a:t>理解标识、鉴别和授权等访问控制的基本概念</a:t>
            </a:r>
          </a:p>
          <a:p>
            <a:pPr lvl="1">
              <a:lnSpc>
                <a:spcPct val="150000"/>
              </a:lnSpc>
              <a:defRPr/>
            </a:pPr>
            <a:r>
              <a:rPr lang="zh-CN" altLang="zh-CN" sz="2400" b="1">
                <a:effectLst>
                  <a:outerShdw blurRad="38100" dist="38100" dir="2700000" algn="tl">
                    <a:srgbClr val="C0C0C0"/>
                  </a:outerShdw>
                </a:effectLst>
              </a:rPr>
              <a:t>理解各种安全模型的分类和关系</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191A2464-255A-A14E-A596-635220392353}"/>
              </a:ext>
            </a:extLst>
          </p:cNvPr>
          <p:cNvSpPr>
            <a:spLocks noGrp="1"/>
          </p:cNvSpPr>
          <p:nvPr>
            <p:ph type="title"/>
          </p:nvPr>
        </p:nvSpPr>
        <p:spPr>
          <a:xfrm>
            <a:off x="719138" y="836613"/>
            <a:ext cx="6513512" cy="487362"/>
          </a:xfrm>
        </p:spPr>
        <p:txBody>
          <a:bodyPr/>
          <a:lstStyle/>
          <a:p>
            <a:pPr>
              <a:defRPr/>
            </a:pPr>
            <a:r>
              <a:rPr lang="zh-CN" altLang="en-US">
                <a:solidFill>
                  <a:srgbClr val="0033CC"/>
                </a:solidFill>
                <a:effectLst>
                  <a:outerShdw blurRad="38100" dist="38100" dir="2700000" algn="tl">
                    <a:srgbClr val="C0C0C0"/>
                  </a:outerShdw>
                </a:effectLst>
              </a:rPr>
              <a:t>访问控制的概念和目标</a:t>
            </a:r>
          </a:p>
        </p:txBody>
      </p:sp>
      <p:sp>
        <p:nvSpPr>
          <p:cNvPr id="8195" name="内容占位符 2">
            <a:extLst>
              <a:ext uri="{FF2B5EF4-FFF2-40B4-BE49-F238E27FC236}">
                <a16:creationId xmlns:a16="http://schemas.microsoft.com/office/drawing/2014/main" id="{C0BF2829-5788-DC4C-A1DA-B01A56A2B24D}"/>
              </a:ext>
            </a:extLst>
          </p:cNvPr>
          <p:cNvSpPr>
            <a:spLocks noGrp="1"/>
          </p:cNvSpPr>
          <p:nvPr>
            <p:ph idx="1"/>
          </p:nvPr>
        </p:nvSpPr>
        <p:spPr>
          <a:xfrm>
            <a:off x="744538" y="2636838"/>
            <a:ext cx="8077200" cy="2016125"/>
          </a:xfrm>
        </p:spPr>
        <p:txBody>
          <a:bodyPr/>
          <a:lstStyle/>
          <a:p>
            <a:pPr>
              <a:defRPr/>
            </a:pPr>
            <a:r>
              <a:rPr lang="zh-CN" altLang="en-US">
                <a:solidFill>
                  <a:srgbClr val="FF0000"/>
                </a:solidFill>
                <a:effectLst>
                  <a:outerShdw blurRad="38100" dist="38100" dir="2700000" algn="tl">
                    <a:srgbClr val="C0C0C0"/>
                  </a:outerShdw>
                </a:effectLst>
              </a:rPr>
              <a:t>目标：</a:t>
            </a:r>
            <a:r>
              <a:rPr lang="zh-CN" altLang="en-US"/>
              <a:t>防止对任何资源（如计算资源、通信资源或信息资源）进行未授权的访问，从而使资源在授权范围内使用，决定用户能做什么，也决定代表一定用户利益的程序能做什么。</a:t>
            </a:r>
          </a:p>
        </p:txBody>
      </p:sp>
      <p:sp>
        <p:nvSpPr>
          <p:cNvPr id="2" name="矩形 1">
            <a:extLst>
              <a:ext uri="{FF2B5EF4-FFF2-40B4-BE49-F238E27FC236}">
                <a16:creationId xmlns:a16="http://schemas.microsoft.com/office/drawing/2014/main" id="{FD63EB50-23E7-AF46-B318-013C1E007F04}"/>
              </a:ext>
            </a:extLst>
          </p:cNvPr>
          <p:cNvSpPr/>
          <p:nvPr/>
        </p:nvSpPr>
        <p:spPr>
          <a:xfrm>
            <a:off x="736600" y="1809750"/>
            <a:ext cx="6994525" cy="523875"/>
          </a:xfrm>
          <a:prstGeom prst="rect">
            <a:avLst/>
          </a:prstGeom>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访问控制：</a:t>
            </a:r>
            <a:r>
              <a:rPr lang="zh-CN" altLang="en-US" sz="2800">
                <a:latin typeface="黑体" panose="02010609060101010101" pitchFamily="49" charset="-122"/>
                <a:ea typeface="黑体" panose="02010609060101010101" pitchFamily="49" charset="-122"/>
              </a:rPr>
              <a:t>针对越权使用资源的防御措施</a:t>
            </a:r>
            <a:endParaRPr lang="en-US" altLang="zh-CN" sz="2800">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8195">
                                            <p:txEl>
                                              <p:pRg st="0" end="0"/>
                                            </p:txEl>
                                          </p:spTgt>
                                        </p:tgtEl>
                                        <p:attrNameLst>
                                          <p:attrName>style.visibility</p:attrName>
                                        </p:attrNameLst>
                                      </p:cBhvr>
                                      <p:to>
                                        <p:strVal val="visible"/>
                                      </p:to>
                                    </p:set>
                                    <p:anim calcmode="lin" valueType="num">
                                      <p:cBhvr>
                                        <p:cTn id="12" dur="500" fill="hold"/>
                                        <p:tgtEl>
                                          <p:spTgt spid="819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819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81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DBE2BA07-3960-0543-88BD-4FD515DECD17}"/>
              </a:ext>
            </a:extLst>
          </p:cNvPr>
          <p:cNvSpPr>
            <a:spLocks noGrp="1"/>
          </p:cNvSpPr>
          <p:nvPr>
            <p:ph type="title"/>
          </p:nvPr>
        </p:nvSpPr>
        <p:spPr>
          <a:xfrm>
            <a:off x="647700" y="873125"/>
            <a:ext cx="6513513" cy="487363"/>
          </a:xfrm>
        </p:spPr>
        <p:txBody>
          <a:bodyPr/>
          <a:lstStyle/>
          <a:p>
            <a:pPr>
              <a:defRPr/>
            </a:pPr>
            <a:r>
              <a:rPr lang="zh-CN" altLang="en-US">
                <a:solidFill>
                  <a:srgbClr val="0033CC"/>
                </a:solidFill>
                <a:effectLst>
                  <a:outerShdw blurRad="38100" dist="38100" dir="2700000" algn="tl">
                    <a:srgbClr val="C0C0C0"/>
                  </a:outerShdw>
                </a:effectLst>
              </a:rPr>
              <a:t>访问控制的作用</a:t>
            </a:r>
          </a:p>
        </p:txBody>
      </p:sp>
      <p:sp>
        <p:nvSpPr>
          <p:cNvPr id="3" name="内容占位符 2">
            <a:extLst>
              <a:ext uri="{FF2B5EF4-FFF2-40B4-BE49-F238E27FC236}">
                <a16:creationId xmlns:a16="http://schemas.microsoft.com/office/drawing/2014/main" id="{9C1C6920-8AAC-964E-BB69-308070B97E58}"/>
              </a:ext>
            </a:extLst>
          </p:cNvPr>
          <p:cNvSpPr>
            <a:spLocks noGrp="1"/>
          </p:cNvSpPr>
          <p:nvPr>
            <p:ph idx="1"/>
          </p:nvPr>
        </p:nvSpPr>
        <p:spPr>
          <a:xfrm>
            <a:off x="511175" y="1863725"/>
            <a:ext cx="8431213" cy="1981200"/>
          </a:xfrm>
        </p:spPr>
        <p:txBody>
          <a:bodyPr/>
          <a:lstStyle/>
          <a:p>
            <a:pPr>
              <a:defRPr/>
            </a:pPr>
            <a:r>
              <a:rPr lang="zh-CN" altLang="en-US" b="1">
                <a:solidFill>
                  <a:srgbClr val="FF0000"/>
                </a:solidFill>
                <a:effectLst>
                  <a:outerShdw blurRad="38100" dist="38100" dir="2700000" algn="tl">
                    <a:srgbClr val="C0C0C0"/>
                  </a:outerShdw>
                </a:effectLst>
              </a:rPr>
              <a:t>未授权访问：</a:t>
            </a:r>
            <a:r>
              <a:rPr lang="zh-CN" altLang="en-US" b="1">
                <a:effectLst>
                  <a:outerShdw blurRad="38100" dist="38100" dir="2700000" algn="tl">
                    <a:srgbClr val="C0C0C0"/>
                  </a:outerShdw>
                </a:effectLst>
              </a:rPr>
              <a:t>包括未经授权的使用、泄露、修改、销毁信息以及颁发指令等。</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非法用户对系统资源的使用</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合法用户对系统资源的非法使用</a:t>
            </a:r>
            <a:endParaRPr lang="en-US" altLang="zh-CN" b="1">
              <a:effectLst>
                <a:outerShdw blurRad="38100" dist="38100" dir="2700000" algn="tl">
                  <a:srgbClr val="C0C0C0"/>
                </a:outerShdw>
              </a:effectLst>
            </a:endParaRPr>
          </a:p>
        </p:txBody>
      </p:sp>
      <p:sp>
        <p:nvSpPr>
          <p:cNvPr id="2" name="矩形 1">
            <a:extLst>
              <a:ext uri="{FF2B5EF4-FFF2-40B4-BE49-F238E27FC236}">
                <a16:creationId xmlns:a16="http://schemas.microsoft.com/office/drawing/2014/main" id="{70FAC120-A858-F944-91F1-CE571C486CF9}"/>
              </a:ext>
            </a:extLst>
          </p:cNvPr>
          <p:cNvSpPr/>
          <p:nvPr/>
        </p:nvSpPr>
        <p:spPr>
          <a:xfrm>
            <a:off x="561975" y="4021138"/>
            <a:ext cx="5557838" cy="5238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800" b="1" dirty="0">
                <a:solidFill>
                  <a:srgbClr val="FF0000"/>
                </a:solidFill>
                <a:effectLst>
                  <a:outerShdw blurRad="38100" dist="38100" dir="2700000" algn="tl">
                    <a:srgbClr val="000000">
                      <a:alpha val="43137"/>
                    </a:srgbClr>
                  </a:outerShdw>
                </a:effectLst>
                <a:latin typeface="+mn-lt"/>
                <a:ea typeface="+mn-ea"/>
              </a:rPr>
              <a:t>作用：</a:t>
            </a:r>
            <a:r>
              <a:rPr lang="zh-CN" altLang="en-US" sz="2800" b="1" dirty="0">
                <a:effectLst>
                  <a:outerShdw blurRad="38100" dist="38100" dir="2700000" algn="tl">
                    <a:srgbClr val="000000">
                      <a:alpha val="43137"/>
                    </a:srgbClr>
                  </a:outerShdw>
                </a:effectLst>
                <a:latin typeface="+mn-lt"/>
                <a:ea typeface="+mn-ea"/>
              </a:rPr>
              <a:t>机密性、完整性和可用性</a:t>
            </a:r>
            <a:endParaRPr lang="en-US" altLang="zh-CN" sz="2800" b="1" dirty="0">
              <a:effectLst>
                <a:outerShdw blurRad="38100" dist="38100" dir="2700000" algn="tl">
                  <a:srgbClr val="000000">
                    <a:alpha val="43137"/>
                  </a:srgbClr>
                </a:outerShdw>
              </a:effectLst>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53" presetClass="entr" presetSubtype="16"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281F5D71-ED8D-3E43-8B0C-4DAAF3C02615}"/>
              </a:ext>
            </a:extLst>
          </p:cNvPr>
          <p:cNvSpPr>
            <a:spLocks noGrp="1"/>
          </p:cNvSpPr>
          <p:nvPr>
            <p:ph type="title"/>
          </p:nvPr>
        </p:nvSpPr>
        <p:spPr>
          <a:xfrm>
            <a:off x="457200" y="728663"/>
            <a:ext cx="6513513" cy="487362"/>
          </a:xfrm>
        </p:spPr>
        <p:txBody>
          <a:bodyPr/>
          <a:lstStyle/>
          <a:p>
            <a:pPr>
              <a:defRPr/>
            </a:pPr>
            <a:r>
              <a:rPr lang="zh-CN" altLang="en-US" dirty="0">
                <a:solidFill>
                  <a:srgbClr val="0033CC"/>
                </a:solidFill>
                <a:effectLst>
                  <a:outerShdw blurRad="38100" dist="38100" dir="2700000" algn="tl">
                    <a:srgbClr val="000000">
                      <a:alpha val="43137"/>
                    </a:srgbClr>
                  </a:outerShdw>
                </a:effectLst>
              </a:rPr>
              <a:t>主体与客体</a:t>
            </a:r>
          </a:p>
        </p:txBody>
      </p:sp>
      <p:sp>
        <p:nvSpPr>
          <p:cNvPr id="3" name="内容占位符 2">
            <a:extLst>
              <a:ext uri="{FF2B5EF4-FFF2-40B4-BE49-F238E27FC236}">
                <a16:creationId xmlns:a16="http://schemas.microsoft.com/office/drawing/2014/main" id="{3C181E5E-AE1E-6D4B-B226-6581C95F9D6B}"/>
              </a:ext>
            </a:extLst>
          </p:cNvPr>
          <p:cNvSpPr>
            <a:spLocks noGrp="1"/>
          </p:cNvSpPr>
          <p:nvPr>
            <p:ph idx="1"/>
          </p:nvPr>
        </p:nvSpPr>
        <p:spPr>
          <a:xfrm>
            <a:off x="528638" y="3860800"/>
            <a:ext cx="8470900" cy="2444750"/>
          </a:xfrm>
        </p:spPr>
        <p:txBody>
          <a:bodyPr/>
          <a:lstStyle/>
          <a:p>
            <a:pPr>
              <a:lnSpc>
                <a:spcPct val="90000"/>
              </a:lnSpc>
              <a:defRPr/>
            </a:pPr>
            <a:r>
              <a:rPr lang="zh-CN" altLang="en-US" b="1" dirty="0">
                <a:solidFill>
                  <a:srgbClr val="FF0000"/>
                </a:solidFill>
                <a:effectLst>
                  <a:outerShdw blurRad="38100" dist="38100" dir="2700000" algn="tl">
                    <a:srgbClr val="C0C0C0"/>
                  </a:outerShdw>
                </a:effectLst>
                <a:latin typeface="Times New Roman" panose="02020603050405020304" pitchFamily="18" charset="0"/>
              </a:rPr>
              <a:t>访问（</a:t>
            </a:r>
            <a:r>
              <a:rPr lang="en-US" altLang="zh-CN" b="1" dirty="0">
                <a:solidFill>
                  <a:srgbClr val="FF0000"/>
                </a:solidFill>
                <a:effectLst>
                  <a:outerShdw blurRad="38100" dist="38100" dir="2700000" algn="tl">
                    <a:srgbClr val="C0C0C0"/>
                  </a:outerShdw>
                </a:effectLst>
                <a:latin typeface="Times New Roman" panose="02020603050405020304" pitchFamily="18" charset="0"/>
              </a:rPr>
              <a:t>Access</a:t>
            </a:r>
            <a:r>
              <a:rPr lang="zh-CN" altLang="en-US" b="1" dirty="0">
                <a:solidFill>
                  <a:srgbClr val="FF0000"/>
                </a:solidFill>
                <a:effectLst>
                  <a:outerShdw blurRad="38100" dist="38100" dir="2700000" algn="tl">
                    <a:srgbClr val="C0C0C0"/>
                  </a:outerShdw>
                </a:effectLst>
                <a:latin typeface="Times New Roman" panose="02020603050405020304" pitchFamily="18" charset="0"/>
              </a:rPr>
              <a:t>）</a:t>
            </a:r>
          </a:p>
          <a:p>
            <a:pPr lvl="1">
              <a:lnSpc>
                <a:spcPct val="90000"/>
              </a:lnSpc>
              <a:buClr>
                <a:srgbClr val="3D8DC4"/>
              </a:buClr>
              <a:defRPr/>
            </a:pPr>
            <a:r>
              <a:rPr lang="zh-CN" altLang="en-US" sz="2000" b="1" dirty="0">
                <a:effectLst>
                  <a:outerShdw blurRad="38100" dist="38100" dir="2700000" algn="tl">
                    <a:srgbClr val="C0C0C0"/>
                  </a:outerShdw>
                </a:effectLst>
              </a:rPr>
              <a:t>对资源的使用，读、写、修改、删除等操作。</a:t>
            </a:r>
            <a:endParaRPr lang="en-US" altLang="zh-CN" sz="2000" b="1" dirty="0">
              <a:effectLst>
                <a:outerShdw blurRad="38100" dist="38100" dir="2700000" algn="tl">
                  <a:srgbClr val="C0C0C0"/>
                </a:outerShdw>
              </a:effectLst>
            </a:endParaRPr>
          </a:p>
          <a:p>
            <a:pPr lvl="1">
              <a:lnSpc>
                <a:spcPct val="90000"/>
              </a:lnSpc>
              <a:buClr>
                <a:srgbClr val="3D8DC4"/>
              </a:buClr>
              <a:defRPr/>
            </a:pPr>
            <a:r>
              <a:rPr lang="zh-CN" altLang="en-US" sz="2400" b="1" dirty="0">
                <a:solidFill>
                  <a:srgbClr val="0033CC"/>
                </a:solidFill>
                <a:effectLst>
                  <a:outerShdw blurRad="38100" dist="38100" dir="2700000" algn="tl">
                    <a:srgbClr val="C0C0C0"/>
                  </a:outerShdw>
                </a:effectLst>
              </a:rPr>
              <a:t>例如：</a:t>
            </a:r>
            <a:endParaRPr lang="en-US" altLang="zh-CN" sz="2400" b="1" dirty="0">
              <a:solidFill>
                <a:srgbClr val="0033CC"/>
              </a:solidFill>
              <a:effectLst>
                <a:outerShdw blurRad="38100" dist="38100" dir="2700000" algn="tl">
                  <a:srgbClr val="C0C0C0"/>
                </a:outerShdw>
              </a:effectLst>
            </a:endParaRPr>
          </a:p>
          <a:p>
            <a:pPr lvl="2">
              <a:lnSpc>
                <a:spcPct val="90000"/>
              </a:lnSpc>
              <a:buClr>
                <a:srgbClr val="3D8DC4"/>
              </a:buClr>
              <a:buFont typeface="Wingdings" pitchFamily="2" charset="2"/>
              <a:buChar char="l"/>
              <a:defRPr/>
            </a:pPr>
            <a:r>
              <a:rPr lang="zh-CN" altLang="en-US" sz="1800" b="1" dirty="0"/>
              <a:t>访问存储器；</a:t>
            </a:r>
            <a:endParaRPr lang="en-US" altLang="zh-CN" sz="1800" b="1" dirty="0"/>
          </a:p>
          <a:p>
            <a:pPr lvl="2">
              <a:lnSpc>
                <a:spcPct val="90000"/>
              </a:lnSpc>
              <a:buClr>
                <a:srgbClr val="3D8DC4"/>
              </a:buClr>
              <a:buFont typeface="Wingdings" pitchFamily="2" charset="2"/>
              <a:buChar char="l"/>
              <a:defRPr/>
            </a:pPr>
            <a:r>
              <a:rPr lang="zh-CN" altLang="en-US" sz="1800" b="1" dirty="0"/>
              <a:t>访问文件、目录、外设；</a:t>
            </a:r>
            <a:endParaRPr lang="en-US" altLang="zh-CN" sz="1800" b="1" dirty="0"/>
          </a:p>
          <a:p>
            <a:pPr lvl="2">
              <a:lnSpc>
                <a:spcPct val="90000"/>
              </a:lnSpc>
              <a:buClr>
                <a:srgbClr val="3D8DC4"/>
              </a:buClr>
              <a:buFont typeface="Wingdings" pitchFamily="2" charset="2"/>
              <a:buChar char="l"/>
              <a:defRPr/>
            </a:pPr>
            <a:r>
              <a:rPr lang="zh-CN" altLang="en-US" sz="1800" b="1" dirty="0"/>
              <a:t>访问数据库；</a:t>
            </a:r>
            <a:endParaRPr lang="en-US" altLang="zh-CN" sz="1800" b="1" dirty="0"/>
          </a:p>
          <a:p>
            <a:pPr lvl="2">
              <a:lnSpc>
                <a:spcPct val="90000"/>
              </a:lnSpc>
              <a:buClr>
                <a:srgbClr val="3D8DC4"/>
              </a:buClr>
              <a:buFont typeface="Wingdings" pitchFamily="2" charset="2"/>
              <a:buChar char="l"/>
              <a:defRPr/>
            </a:pPr>
            <a:r>
              <a:rPr lang="zh-CN" altLang="en-US" sz="1800" b="1" dirty="0"/>
              <a:t>访问一个网站。</a:t>
            </a:r>
          </a:p>
          <a:p>
            <a:pPr>
              <a:buFont typeface="Wingdings" pitchFamily="2" charset="2"/>
              <a:buNone/>
              <a:defRPr/>
            </a:pPr>
            <a:endParaRPr lang="zh-CN" altLang="en-US" dirty="0"/>
          </a:p>
        </p:txBody>
      </p:sp>
      <p:sp>
        <p:nvSpPr>
          <p:cNvPr id="2" name="矩形 1">
            <a:extLst>
              <a:ext uri="{FF2B5EF4-FFF2-40B4-BE49-F238E27FC236}">
                <a16:creationId xmlns:a16="http://schemas.microsoft.com/office/drawing/2014/main" id="{64DF8E9E-11F0-B748-AB1D-CB43D3078A11}"/>
              </a:ext>
            </a:extLst>
          </p:cNvPr>
          <p:cNvSpPr/>
          <p:nvPr/>
        </p:nvSpPr>
        <p:spPr>
          <a:xfrm>
            <a:off x="457200" y="1304925"/>
            <a:ext cx="8345488" cy="1262063"/>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主体</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(Subject)</a:t>
            </a:r>
          </a:p>
          <a:p>
            <a:pPr lvl="1">
              <a:spcBef>
                <a:spcPct val="20000"/>
              </a:spcBef>
              <a:buClr>
                <a:srgbClr val="3D8DC4"/>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发起者，是一个主动的实体，可以操作被动实体的相关信息或数据</a:t>
            </a:r>
            <a:endParaRPr lang="en-US" altLang="zh-CN" sz="2000" b="1">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3D8DC4"/>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用户、程序、进程等</a:t>
            </a:r>
            <a:endParaRPr lang="en-US" altLang="zh-CN" sz="20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744B2233-DAAD-4C4F-9E09-9434D832F2A3}"/>
              </a:ext>
            </a:extLst>
          </p:cNvPr>
          <p:cNvSpPr/>
          <p:nvPr/>
        </p:nvSpPr>
        <p:spPr>
          <a:xfrm>
            <a:off x="538163" y="2565400"/>
            <a:ext cx="8143875" cy="1262063"/>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客体</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(Object )</a:t>
            </a:r>
          </a:p>
          <a:p>
            <a:pPr lvl="1">
              <a:spcBef>
                <a:spcPct val="20000"/>
              </a:spcBef>
              <a:buClr>
                <a:srgbClr val="3D8DC4"/>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一种被动实体，被操作的对象，规定需要保护的资源</a:t>
            </a:r>
            <a:endParaRPr lang="en-US" altLang="zh-CN" sz="2000" b="1">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3D8DC4"/>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文件、存储介质、程序、进程等</a:t>
            </a:r>
            <a:endParaRPr lang="en-US" altLang="zh-CN" sz="20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5EF2F824-F0A5-6F4E-888C-EB7D92E5F702}"/>
              </a:ext>
            </a:extLst>
          </p:cNvPr>
          <p:cNvSpPr>
            <a:spLocks noGrp="1"/>
          </p:cNvSpPr>
          <p:nvPr>
            <p:ph type="title"/>
          </p:nvPr>
        </p:nvSpPr>
        <p:spPr>
          <a:xfrm>
            <a:off x="457200" y="800100"/>
            <a:ext cx="6513513" cy="487363"/>
          </a:xfrm>
        </p:spPr>
        <p:txBody>
          <a:bodyPr/>
          <a:lstStyle/>
          <a:p>
            <a:pPr>
              <a:defRPr/>
            </a:pPr>
            <a:r>
              <a:rPr lang="zh-CN" altLang="en-US">
                <a:solidFill>
                  <a:srgbClr val="0033CC"/>
                </a:solidFill>
                <a:effectLst>
                  <a:outerShdw blurRad="38100" dist="38100" dir="2700000" algn="tl">
                    <a:srgbClr val="C0C0C0"/>
                  </a:outerShdw>
                </a:effectLst>
              </a:rPr>
              <a:t>主体与客体之间的关系</a:t>
            </a:r>
          </a:p>
        </p:txBody>
      </p:sp>
      <p:sp>
        <p:nvSpPr>
          <p:cNvPr id="14339" name="内容占位符 2">
            <a:extLst>
              <a:ext uri="{FF2B5EF4-FFF2-40B4-BE49-F238E27FC236}">
                <a16:creationId xmlns:a16="http://schemas.microsoft.com/office/drawing/2014/main" id="{A5211DB3-1AD8-9744-B0CC-BCE71FD8C11F}"/>
              </a:ext>
            </a:extLst>
          </p:cNvPr>
          <p:cNvSpPr>
            <a:spLocks noGrp="1"/>
          </p:cNvSpPr>
          <p:nvPr>
            <p:ph idx="1"/>
          </p:nvPr>
        </p:nvSpPr>
        <p:spPr>
          <a:xfrm>
            <a:off x="447675" y="1700213"/>
            <a:ext cx="8382000" cy="3638550"/>
          </a:xfrm>
        </p:spPr>
        <p:txBody>
          <a:bodyPr/>
          <a:lstStyle/>
          <a:p>
            <a:pPr>
              <a:defRPr/>
            </a:pPr>
            <a:r>
              <a:rPr lang="zh-CN" altLang="en-US" b="1" dirty="0">
                <a:solidFill>
                  <a:srgbClr val="FF0000"/>
                </a:solidFill>
                <a:effectLst>
                  <a:outerShdw blurRad="38100" dist="38100" dir="2700000" algn="tl">
                    <a:srgbClr val="C0C0C0"/>
                  </a:outerShdw>
                </a:effectLst>
              </a:rPr>
              <a:t>主体：</a:t>
            </a:r>
            <a:r>
              <a:rPr lang="zh-CN" altLang="en-US" b="1" dirty="0">
                <a:effectLst>
                  <a:outerShdw blurRad="38100" dist="38100" dir="2700000" algn="tl">
                    <a:srgbClr val="C0C0C0"/>
                  </a:outerShdw>
                </a:effectLst>
              </a:rPr>
              <a:t>接收客体相关信息和数据，也可能改变客体相关信息</a:t>
            </a:r>
            <a:endParaRPr lang="en-US" altLang="zh-CN" b="1" dirty="0">
              <a:effectLst>
                <a:outerShdw blurRad="38100" dist="38100" dir="2700000" algn="tl">
                  <a:srgbClr val="C0C0C0"/>
                </a:outerShdw>
              </a:effectLst>
            </a:endParaRPr>
          </a:p>
          <a:p>
            <a:pPr>
              <a:defRPr/>
            </a:pPr>
            <a:r>
              <a:rPr lang="zh-CN" altLang="en-US" b="1" dirty="0">
                <a:effectLst>
                  <a:outerShdw blurRad="38100" dist="38100" dir="2700000" algn="tl">
                    <a:srgbClr val="C0C0C0"/>
                  </a:outerShdw>
                </a:effectLst>
              </a:rPr>
              <a:t>一个主体为了完成任务，可以创建另外的主体，这些主体可以在网络中不同的计算机上运行，并由父主体控制它们</a:t>
            </a:r>
            <a:endParaRPr lang="en-US" altLang="zh-CN" b="1" dirty="0">
              <a:effectLst>
                <a:outerShdw blurRad="38100" dist="38100" dir="2700000" algn="tl">
                  <a:srgbClr val="C0C0C0"/>
                </a:outerShdw>
              </a:effectLst>
            </a:endParaRPr>
          </a:p>
          <a:p>
            <a:pPr>
              <a:defRPr/>
            </a:pPr>
            <a:r>
              <a:rPr lang="zh-CN" altLang="en-US" b="1" dirty="0">
                <a:solidFill>
                  <a:srgbClr val="FF0000"/>
                </a:solidFill>
                <a:effectLst>
                  <a:outerShdw blurRad="38100" dist="38100" dir="2700000" algn="tl">
                    <a:srgbClr val="C0C0C0"/>
                  </a:outerShdw>
                </a:effectLst>
              </a:rPr>
              <a:t>客体：</a:t>
            </a:r>
            <a:r>
              <a:rPr lang="zh-CN" altLang="en-US" b="1" dirty="0">
                <a:effectLst>
                  <a:outerShdw blurRad="38100" dist="38100" dir="2700000" algn="tl">
                    <a:srgbClr val="C0C0C0"/>
                  </a:outerShdw>
                </a:effectLst>
              </a:rPr>
              <a:t>始终是提供、驻留信息或数据的实体</a:t>
            </a:r>
            <a:endParaRPr lang="en-US" altLang="zh-CN" b="1" dirty="0">
              <a:effectLst>
                <a:outerShdw blurRad="38100" dist="38100" dir="2700000" algn="tl">
                  <a:srgbClr val="C0C0C0"/>
                </a:outerShdw>
              </a:effectLst>
            </a:endParaRPr>
          </a:p>
          <a:p>
            <a:pPr>
              <a:defRPr/>
            </a:pPr>
            <a:r>
              <a:rPr lang="zh-CN" altLang="en-US" b="1" dirty="0">
                <a:effectLst>
                  <a:outerShdw blurRad="38100" dist="38100" dir="2700000" algn="tl">
                    <a:srgbClr val="C0C0C0"/>
                  </a:outerShdw>
                </a:effectLst>
              </a:rPr>
              <a:t>主体和客体的关系是相对的，角色可以互换</a:t>
            </a:r>
            <a:endParaRPr lang="en-US" altLang="zh-CN" b="1" dirty="0">
              <a:effectLst>
                <a:outerShdw blurRad="38100" dist="38100" dir="2700000" algn="tl">
                  <a:srgbClr val="C0C0C0"/>
                </a:outerShdw>
              </a:effectLst>
            </a:endParaRPr>
          </a:p>
          <a:p>
            <a:pPr>
              <a:buFont typeface="Wingdings" pitchFamily="2" charset="2"/>
              <a:buNone/>
              <a:defRPr/>
            </a:pPr>
            <a:endParaRPr lang="zh-CN" altLang="en-US" b="1" dirty="0">
              <a:effectLst>
                <a:outerShdw blurRad="38100" dist="38100" dir="2700000" algn="tl">
                  <a:srgbClr val="C0C0C0"/>
                </a:outerShdw>
              </a:effectLst>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78D212F-B581-864A-95E9-5BC8D2043858}"/>
              </a:ext>
            </a:extLst>
          </p:cNvPr>
          <p:cNvSpPr txBox="1">
            <a:spLocks noChangeArrowheads="1"/>
          </p:cNvSpPr>
          <p:nvPr/>
        </p:nvSpPr>
        <p:spPr bwMode="gray">
          <a:xfrm>
            <a:off x="893763" y="1389063"/>
            <a:ext cx="8001000" cy="2268537"/>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访问可以被描述为一个</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三元组 </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(S, A, O)</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主体，发起者  </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 Subject</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Initiator</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客体，目标</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       Object,    Target</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访问操作</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           Access</a:t>
            </a:r>
          </a:p>
        </p:txBody>
      </p:sp>
      <p:grpSp>
        <p:nvGrpSpPr>
          <p:cNvPr id="9" name="组合 8">
            <a:extLst>
              <a:ext uri="{FF2B5EF4-FFF2-40B4-BE49-F238E27FC236}">
                <a16:creationId xmlns:a16="http://schemas.microsoft.com/office/drawing/2014/main" id="{5EA8F3DA-4D39-BC4D-A535-F9259A1C3131}"/>
              </a:ext>
            </a:extLst>
          </p:cNvPr>
          <p:cNvGrpSpPr>
            <a:grpSpLocks/>
          </p:cNvGrpSpPr>
          <p:nvPr/>
        </p:nvGrpSpPr>
        <p:grpSpPr bwMode="auto">
          <a:xfrm>
            <a:off x="2087563" y="4581525"/>
            <a:ext cx="5237162" cy="1246188"/>
            <a:chOff x="2087724" y="4581056"/>
            <a:chExt cx="5236567" cy="1247256"/>
          </a:xfrm>
        </p:grpSpPr>
        <p:sp>
          <p:nvSpPr>
            <p:cNvPr id="16390" name="Oval 11">
              <a:extLst>
                <a:ext uri="{FF2B5EF4-FFF2-40B4-BE49-F238E27FC236}">
                  <a16:creationId xmlns:a16="http://schemas.microsoft.com/office/drawing/2014/main" id="{0BA12BBA-20EC-304C-A785-F145DCB97B7E}"/>
                </a:ext>
              </a:extLst>
            </p:cNvPr>
            <p:cNvSpPr>
              <a:spLocks noChangeArrowheads="1"/>
            </p:cNvSpPr>
            <p:nvPr/>
          </p:nvSpPr>
          <p:spPr bwMode="auto">
            <a:xfrm>
              <a:off x="6102055" y="4968738"/>
              <a:ext cx="1222236" cy="792842"/>
            </a:xfrm>
            <a:prstGeom prst="ellipse">
              <a:avLst/>
            </a:prstGeom>
            <a:solidFill>
              <a:srgbClr val="F8F8F8"/>
            </a:solidFill>
            <a:ln w="12700">
              <a:solidFill>
                <a:schemeClr val="bg1"/>
              </a:solidFill>
              <a:round/>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en-US" altLang="zh-CN" sz="1800" b="1" dirty="0">
                  <a:effectLst>
                    <a:outerShdw blurRad="38100" dist="38100" dir="2700000" algn="tl">
                      <a:srgbClr val="000000">
                        <a:alpha val="43137"/>
                      </a:srgbClr>
                    </a:outerShdw>
                  </a:effectLst>
                  <a:latin typeface="Arial" panose="020B0604020202020204" pitchFamily="34" charset="0"/>
                  <a:ea typeface="宋体" panose="02010600030101010101" pitchFamily="2" charset="-122"/>
                </a:rPr>
                <a:t>Object</a:t>
              </a:r>
            </a:p>
          </p:txBody>
        </p:sp>
        <p:sp>
          <p:nvSpPr>
            <p:cNvPr id="19462" name="Line 13">
              <a:extLst>
                <a:ext uri="{FF2B5EF4-FFF2-40B4-BE49-F238E27FC236}">
                  <a16:creationId xmlns:a16="http://schemas.microsoft.com/office/drawing/2014/main" id="{B0488126-3C04-7449-AB70-C07F86334982}"/>
                </a:ext>
              </a:extLst>
            </p:cNvPr>
            <p:cNvSpPr>
              <a:spLocks noChangeShapeType="1"/>
            </p:cNvSpPr>
            <p:nvPr/>
          </p:nvSpPr>
          <p:spPr bwMode="auto">
            <a:xfrm>
              <a:off x="3546636" y="4595406"/>
              <a:ext cx="23749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63" name="Text Box 14">
              <a:extLst>
                <a:ext uri="{FF2B5EF4-FFF2-40B4-BE49-F238E27FC236}">
                  <a16:creationId xmlns:a16="http://schemas.microsoft.com/office/drawing/2014/main" id="{FAE2BE9C-CF98-D343-A6DB-D36FD676CEAA}"/>
                </a:ext>
              </a:extLst>
            </p:cNvPr>
            <p:cNvSpPr txBox="1">
              <a:spLocks noChangeArrowheads="1"/>
            </p:cNvSpPr>
            <p:nvPr/>
          </p:nvSpPr>
          <p:spPr bwMode="auto">
            <a:xfrm>
              <a:off x="3653991" y="4581056"/>
              <a:ext cx="2447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b="1">
                  <a:latin typeface="Arial" panose="020B0604020202020204" pitchFamily="34" charset="0"/>
                  <a:ea typeface="宋体" panose="02010600030101010101" pitchFamily="2" charset="-122"/>
                </a:rPr>
                <a:t>Read/Write/Exec</a:t>
              </a:r>
            </a:p>
          </p:txBody>
        </p:sp>
        <p:sp>
          <p:nvSpPr>
            <p:cNvPr id="16" name="矩形 15">
              <a:extLst>
                <a:ext uri="{FF2B5EF4-FFF2-40B4-BE49-F238E27FC236}">
                  <a16:creationId xmlns:a16="http://schemas.microsoft.com/office/drawing/2014/main" id="{F082DA51-0AEA-E142-9657-5F5CE8C05C89}"/>
                </a:ext>
              </a:extLst>
            </p:cNvPr>
            <p:cNvSpPr/>
            <p:nvPr/>
          </p:nvSpPr>
          <p:spPr bwMode="auto">
            <a:xfrm>
              <a:off x="2087724" y="5459696"/>
              <a:ext cx="1017471" cy="368616"/>
            </a:xfrm>
            <a:prstGeom prst="rect">
              <a:avLst/>
            </a:prstGeom>
          </p:spPr>
          <p:txBody>
            <a:bodyPr wrap="none">
              <a:spAutoFit/>
            </a:bodyPr>
            <a:lstStyle/>
            <a:p>
              <a:pPr eaLnBrk="1" hangingPunct="1">
                <a:defRPr/>
              </a:pPr>
              <a:r>
                <a:rPr lang="en-US" altLang="zh-CN" b="1" kern="0" dirty="0">
                  <a:effectLst>
                    <a:outerShdw blurRad="38100" dist="38100" dir="2700000" algn="tl">
                      <a:srgbClr val="000000">
                        <a:alpha val="43137"/>
                      </a:srgbClr>
                    </a:outerShdw>
                  </a:effectLst>
                </a:rPr>
                <a:t>Subject</a:t>
              </a:r>
              <a:endParaRPr lang="zh-CN" altLang="en-US" b="1" dirty="0">
                <a:effectLst>
                  <a:outerShdw blurRad="38100" dist="38100" dir="2700000" algn="tl">
                    <a:srgbClr val="000000">
                      <a:alpha val="43137"/>
                    </a:srgbClr>
                  </a:outerShdw>
                </a:effectLst>
              </a:endParaRPr>
            </a:p>
          </p:txBody>
        </p:sp>
      </p:grpSp>
      <p:pic>
        <p:nvPicPr>
          <p:cNvPr id="3" name="图片 2">
            <a:extLst>
              <a:ext uri="{FF2B5EF4-FFF2-40B4-BE49-F238E27FC236}">
                <a16:creationId xmlns:a16="http://schemas.microsoft.com/office/drawing/2014/main" id="{BA99489B-0670-1042-A435-0AE83F892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0" y="3789363"/>
            <a:ext cx="20859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B5BC5791-89E4-5640-80F2-EF9E5FD610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9788" y="3649663"/>
            <a:ext cx="201612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nodeType="afterGroup">
                            <p:stCondLst>
                              <p:cond delay="500"/>
                            </p:stCondLst>
                            <p:childTnLst>
                              <p:par>
                                <p:cTn id="11" presetID="22" presetClass="entr" presetSubtype="1"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par>
                          <p:cTn id="14" fill="hold" nodeType="afterGroup">
                            <p:stCondLst>
                              <p:cond delay="1000"/>
                            </p:stCondLst>
                            <p:childTnLst>
                              <p:par>
                                <p:cTn id="15" presetID="22" presetClass="entr" presetSubtype="1"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nodeType="afterGroup">
                            <p:stCondLst>
                              <p:cond delay="1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A48E92CE-0959-CC4A-8F85-589DEFA2C0EF}"/>
              </a:ext>
            </a:extLst>
          </p:cNvPr>
          <p:cNvSpPr>
            <a:spLocks noGrp="1"/>
          </p:cNvSpPr>
          <p:nvPr>
            <p:ph type="title"/>
          </p:nvPr>
        </p:nvSpPr>
        <p:spPr>
          <a:xfrm>
            <a:off x="647700" y="960438"/>
            <a:ext cx="6513513" cy="487362"/>
          </a:xfrm>
        </p:spPr>
        <p:txBody>
          <a:bodyPr/>
          <a:lstStyle/>
          <a:p>
            <a:pPr>
              <a:defRPr/>
            </a:pPr>
            <a:r>
              <a:rPr lang="en-US" altLang="zh-CN">
                <a:solidFill>
                  <a:srgbClr val="0033CC"/>
                </a:solidFill>
              </a:rPr>
              <a:t> </a:t>
            </a:r>
            <a:r>
              <a:rPr lang="zh-CN" altLang="en-US">
                <a:solidFill>
                  <a:srgbClr val="0033CC"/>
                </a:solidFill>
                <a:effectLst>
                  <a:outerShdw blurRad="38100" dist="38100" dir="2700000" algn="tl">
                    <a:srgbClr val="C0C0C0"/>
                  </a:outerShdw>
                </a:effectLst>
              </a:rPr>
              <a:t>授权</a:t>
            </a:r>
            <a:r>
              <a:rPr lang="zh-CN" altLang="en-US">
                <a:solidFill>
                  <a:srgbClr val="0033CC"/>
                </a:solidFill>
              </a:rPr>
              <a:t>  </a:t>
            </a:r>
          </a:p>
        </p:txBody>
      </p:sp>
      <p:sp>
        <p:nvSpPr>
          <p:cNvPr id="5" name="内容占位符 2">
            <a:extLst>
              <a:ext uri="{FF2B5EF4-FFF2-40B4-BE49-F238E27FC236}">
                <a16:creationId xmlns:a16="http://schemas.microsoft.com/office/drawing/2014/main" id="{CD99E135-2C4C-D04D-836B-F9458E409731}"/>
              </a:ext>
            </a:extLst>
          </p:cNvPr>
          <p:cNvSpPr>
            <a:spLocks noGrp="1"/>
          </p:cNvSpPr>
          <p:nvPr>
            <p:ph idx="1"/>
          </p:nvPr>
        </p:nvSpPr>
        <p:spPr>
          <a:xfrm>
            <a:off x="812800" y="1700213"/>
            <a:ext cx="6756400" cy="3170237"/>
          </a:xfrm>
        </p:spPr>
        <p:txBody>
          <a:bodyPr/>
          <a:lstStyle/>
          <a:p>
            <a:pPr>
              <a:defRPr/>
            </a:pPr>
            <a:r>
              <a:rPr lang="zh-CN" altLang="en-US" b="1">
                <a:effectLst>
                  <a:outerShdw blurRad="38100" dist="38100" dir="2700000" algn="tl">
                    <a:srgbClr val="C0C0C0"/>
                  </a:outerShdw>
                </a:effectLst>
              </a:rPr>
              <a:t>规定主体可以对客体执行的操作：</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读</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写</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执行</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拒绝访问</a:t>
            </a:r>
            <a:endParaRPr lang="en-US" altLang="zh-CN" b="1">
              <a:effectLst>
                <a:outerShdw blurRad="38100" dist="38100" dir="2700000" algn="tl">
                  <a:srgbClr val="C0C0C0"/>
                </a:outerShdw>
              </a:effectLst>
            </a:endParaRPr>
          </a:p>
          <a:p>
            <a:pPr lvl="1">
              <a:buClr>
                <a:srgbClr val="3D8DC4"/>
              </a:buClr>
              <a:defRPr/>
            </a:pPr>
            <a:r>
              <a:rPr lang="en-US" altLang="zh-CN" b="1">
                <a:effectLst>
                  <a:outerShdw blurRad="38100" dist="38100" dir="2700000" algn="tl">
                    <a:srgbClr val="C0C0C0"/>
                  </a:outerShdw>
                </a:effectLst>
              </a:rPr>
              <a:t>…</a:t>
            </a:r>
          </a:p>
          <a:p>
            <a:pPr lvl="1">
              <a:buClr>
                <a:srgbClr val="3D8DC4"/>
              </a:buClr>
              <a:defRPr/>
            </a:pPr>
            <a:endParaRPr lang="zh-CN" altLang="en-US" b="1">
              <a:effectLst>
                <a:outerShdw blurRad="38100" dist="38100" dir="2700000" algn="tl">
                  <a:srgbClr val="C0C0C0"/>
                </a:outerShdw>
              </a:effectLst>
            </a:endParaRPr>
          </a:p>
          <a:p>
            <a:pPr lvl="1">
              <a:buFont typeface="Wingdings" pitchFamily="2" charset="2"/>
              <a:buNone/>
              <a:defRPr/>
            </a:pPr>
            <a:endParaRPr lang="en-US" altLang="zh-CN" b="1">
              <a:effectLst>
                <a:outerShdw blurRad="38100" dist="38100" dir="2700000" algn="tl">
                  <a:srgbClr val="C0C0C0"/>
                </a:outerShdw>
              </a:effectLst>
            </a:endParaRPr>
          </a:p>
          <a:p>
            <a:pPr>
              <a:buFont typeface="Wingdings" pitchFamily="2" charset="2"/>
              <a:buNone/>
              <a:defRPr/>
            </a:pPr>
            <a:endParaRPr lang="zh-CN" altLang="en-US" b="1">
              <a:solidFill>
                <a:srgbClr val="0033CC"/>
              </a:solidFill>
              <a:effectLst>
                <a:outerShdw blurRad="38100" dist="38100" dir="2700000" algn="tl">
                  <a:srgbClr val="C0C0C0"/>
                </a:outerShdw>
              </a:effectLst>
            </a:endParaRPr>
          </a:p>
        </p:txBody>
      </p:sp>
      <p:pic>
        <p:nvPicPr>
          <p:cNvPr id="20483" name="图片 1">
            <a:extLst>
              <a:ext uri="{FF2B5EF4-FFF2-40B4-BE49-F238E27FC236}">
                <a16:creationId xmlns:a16="http://schemas.microsoft.com/office/drawing/2014/main" id="{83CCD543-9455-954B-8B57-18EBBE2705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3688" y="3082925"/>
            <a:ext cx="5040312"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D047997F-2279-D048-9698-48D8A4046ECD}"/>
              </a:ext>
            </a:extLst>
          </p:cNvPr>
          <p:cNvSpPr>
            <a:spLocks noGrp="1"/>
          </p:cNvSpPr>
          <p:nvPr>
            <p:ph type="title"/>
          </p:nvPr>
        </p:nvSpPr>
        <p:spPr>
          <a:xfrm>
            <a:off x="684213" y="836613"/>
            <a:ext cx="6513512" cy="487362"/>
          </a:xfrm>
        </p:spPr>
        <p:txBody>
          <a:bodyPr/>
          <a:lstStyle/>
          <a:p>
            <a:pPr>
              <a:defRPr/>
            </a:pPr>
            <a:r>
              <a:rPr lang="zh-CN" altLang="en-US" dirty="0">
                <a:solidFill>
                  <a:srgbClr val="0033CC"/>
                </a:solidFill>
                <a:effectLst>
                  <a:outerShdw blurRad="38100" dist="38100" dir="2700000" algn="tl">
                    <a:srgbClr val="000000">
                      <a:alpha val="43137"/>
                    </a:srgbClr>
                  </a:outerShdw>
                </a:effectLst>
              </a:rPr>
              <a:t>标识</a:t>
            </a:r>
          </a:p>
        </p:txBody>
      </p:sp>
      <p:sp>
        <p:nvSpPr>
          <p:cNvPr id="5" name="内容占位符 2">
            <a:extLst>
              <a:ext uri="{FF2B5EF4-FFF2-40B4-BE49-F238E27FC236}">
                <a16:creationId xmlns:a16="http://schemas.microsoft.com/office/drawing/2014/main" id="{BA1FB42B-5029-FD41-9254-9A9D777CEFCC}"/>
              </a:ext>
            </a:extLst>
          </p:cNvPr>
          <p:cNvSpPr>
            <a:spLocks noGrp="1"/>
          </p:cNvSpPr>
          <p:nvPr>
            <p:ph idx="1"/>
          </p:nvPr>
        </p:nvSpPr>
        <p:spPr>
          <a:xfrm>
            <a:off x="719138" y="3073400"/>
            <a:ext cx="8101012" cy="2247900"/>
          </a:xfrm>
        </p:spPr>
        <p:txBody>
          <a:bodyPr/>
          <a:lstStyle/>
          <a:p>
            <a:pPr>
              <a:defRPr/>
            </a:pPr>
            <a:r>
              <a:rPr lang="zh-CN" altLang="en-US" b="1">
                <a:effectLst>
                  <a:outerShdw blurRad="38100" dist="38100" dir="2700000" algn="tl">
                    <a:srgbClr val="C0C0C0"/>
                  </a:outerShdw>
                </a:effectLst>
              </a:rPr>
              <a:t>标识的主要作用：访问控制和审计</a:t>
            </a:r>
            <a:endParaRPr lang="en-US" altLang="zh-CN" b="1">
              <a:effectLst>
                <a:outerShdw blurRad="38100" dist="38100" dir="2700000" algn="tl">
                  <a:srgbClr val="C0C0C0"/>
                </a:outerShdw>
              </a:effectLst>
            </a:endParaRPr>
          </a:p>
          <a:p>
            <a:pPr lvl="1">
              <a:buClr>
                <a:srgbClr val="3D8DC4"/>
              </a:buClr>
              <a:buFont typeface="Wingdings" pitchFamily="2" charset="2"/>
              <a:buChar char="u"/>
              <a:defRPr/>
            </a:pPr>
            <a:r>
              <a:rPr lang="zh-CN" altLang="en-US" b="1">
                <a:effectLst>
                  <a:outerShdw blurRad="38100" dist="38100" dir="2700000" algn="tl">
                    <a:srgbClr val="C0C0C0"/>
                  </a:outerShdw>
                </a:effectLst>
              </a:rPr>
              <a:t>访问控制：标识用于控制是否允许特定的操作</a:t>
            </a:r>
            <a:endParaRPr lang="en-US" altLang="zh-CN" b="1">
              <a:effectLst>
                <a:outerShdw blurRad="38100" dist="38100" dir="2700000" algn="tl">
                  <a:srgbClr val="C0C0C0"/>
                </a:outerShdw>
              </a:effectLst>
            </a:endParaRPr>
          </a:p>
          <a:p>
            <a:pPr lvl="1">
              <a:buClr>
                <a:srgbClr val="3D8DC4"/>
              </a:buClr>
              <a:buFont typeface="Wingdings" pitchFamily="2" charset="2"/>
              <a:buChar char="u"/>
              <a:defRPr/>
            </a:pPr>
            <a:r>
              <a:rPr lang="zh-CN" altLang="en-US" b="1">
                <a:effectLst>
                  <a:outerShdw blurRad="38100" dist="38100" dir="2700000" algn="tl">
                    <a:srgbClr val="C0C0C0"/>
                  </a:outerShdw>
                </a:effectLst>
              </a:rPr>
              <a:t>审计：标识用于跟踪所有操作的参与者，参与者的任何操作都能被明确地标识出来</a:t>
            </a:r>
          </a:p>
        </p:txBody>
      </p:sp>
      <p:sp>
        <p:nvSpPr>
          <p:cNvPr id="2" name="矩形 1">
            <a:extLst>
              <a:ext uri="{FF2B5EF4-FFF2-40B4-BE49-F238E27FC236}">
                <a16:creationId xmlns:a16="http://schemas.microsoft.com/office/drawing/2014/main" id="{01EA314E-2C07-DA44-ADF2-ECB4B2E732B1}"/>
              </a:ext>
            </a:extLst>
          </p:cNvPr>
          <p:cNvSpPr/>
          <p:nvPr/>
        </p:nvSpPr>
        <p:spPr>
          <a:xfrm>
            <a:off x="681038" y="1697038"/>
            <a:ext cx="7815262" cy="95408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标识是实体身份的一种计算机表达，每个实体与计算机内部的一个身份表达绑定</a:t>
            </a:r>
            <a:endPar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10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10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500"/>
                            </p:stCondLst>
                            <p:childTnLst>
                              <p:par>
                                <p:cTn id="20" presetID="2" presetClass="entr" presetSubtype="8" fill="hold" grpId="0" nodeType="after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 calcmode="lin" valueType="num">
                                      <p:cBhvr additive="base">
                                        <p:cTn id="22" dur="10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3" dur="10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8365BE59-A826-BA41-88A1-871CFB54F047}"/>
              </a:ext>
            </a:extLst>
          </p:cNvPr>
          <p:cNvSpPr>
            <a:spLocks noGrp="1"/>
          </p:cNvSpPr>
          <p:nvPr>
            <p:ph type="title"/>
          </p:nvPr>
        </p:nvSpPr>
        <p:spPr>
          <a:xfrm>
            <a:off x="755650" y="836613"/>
            <a:ext cx="6513513" cy="487362"/>
          </a:xfrm>
        </p:spPr>
        <p:txBody>
          <a:bodyPr anchor="t"/>
          <a:lstStyle/>
          <a:p>
            <a:pPr>
              <a:buClr>
                <a:srgbClr val="3399FF"/>
              </a:buClr>
              <a:defRPr/>
            </a:pPr>
            <a:r>
              <a:rPr lang="zh-CN" altLang="en-US">
                <a:solidFill>
                  <a:srgbClr val="0033CC"/>
                </a:solidFill>
                <a:effectLst>
                  <a:outerShdw blurRad="38100" dist="38100" dir="2700000" algn="tl">
                    <a:srgbClr val="C0C0C0"/>
                  </a:outerShdw>
                </a:effectLst>
              </a:rPr>
              <a:t>主体标识的实例</a:t>
            </a:r>
          </a:p>
        </p:txBody>
      </p:sp>
      <p:sp>
        <p:nvSpPr>
          <p:cNvPr id="21507" name="内容占位符 2">
            <a:extLst>
              <a:ext uri="{FF2B5EF4-FFF2-40B4-BE49-F238E27FC236}">
                <a16:creationId xmlns:a16="http://schemas.microsoft.com/office/drawing/2014/main" id="{DBBEA19C-8F04-F34B-A8B6-A8E24166DED9}"/>
              </a:ext>
            </a:extLst>
          </p:cNvPr>
          <p:cNvSpPr>
            <a:spLocks noGrp="1"/>
          </p:cNvSpPr>
          <p:nvPr>
            <p:ph idx="1"/>
          </p:nvPr>
        </p:nvSpPr>
        <p:spPr>
          <a:xfrm>
            <a:off x="503238" y="1700213"/>
            <a:ext cx="8101012" cy="2520950"/>
          </a:xfrm>
        </p:spPr>
        <p:txBody>
          <a:bodyPr/>
          <a:lstStyle/>
          <a:p>
            <a:pPr>
              <a:defRPr/>
            </a:pPr>
            <a:r>
              <a:rPr lang="zh-CN" altLang="en-US" b="1">
                <a:effectLst>
                  <a:outerShdw blurRad="38100" dist="38100" dir="2700000" algn="tl">
                    <a:srgbClr val="C0C0C0"/>
                  </a:outerShdw>
                </a:effectLst>
                <a:latin typeface="Times New Roman" panose="02020603050405020304" pitchFamily="18" charset="0"/>
              </a:rPr>
              <a:t>主体的标识</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在</a:t>
            </a:r>
            <a:r>
              <a:rPr lang="en-US" altLang="zh-CN" b="1">
                <a:effectLst>
                  <a:outerShdw blurRad="38100" dist="38100" dir="2700000" algn="tl">
                    <a:srgbClr val="C0C0C0"/>
                  </a:outerShdw>
                </a:effectLst>
                <a:latin typeface="Times New Roman" panose="02020603050405020304" pitchFamily="18" charset="0"/>
              </a:rPr>
              <a:t>UNIX</a:t>
            </a:r>
            <a:r>
              <a:rPr lang="zh-CN" altLang="en-US" b="1">
                <a:effectLst>
                  <a:outerShdw blurRad="38100" dist="38100" dir="2700000" algn="tl">
                    <a:srgbClr val="C0C0C0"/>
                  </a:outerShdw>
                </a:effectLst>
                <a:latin typeface="Times New Roman" panose="02020603050405020304" pitchFamily="18" charset="0"/>
              </a:rPr>
              <a:t>中，主体（用户）的身份标识为</a:t>
            </a:r>
            <a:r>
              <a:rPr lang="en-US" altLang="zh-CN" b="1">
                <a:effectLst>
                  <a:outerShdw blurRad="38100" dist="38100" dir="2700000" algn="tl">
                    <a:srgbClr val="C0C0C0"/>
                  </a:outerShdw>
                </a:effectLst>
                <a:latin typeface="Times New Roman" panose="02020603050405020304" pitchFamily="18" charset="0"/>
              </a:rPr>
              <a:t>0-65535</a:t>
            </a:r>
            <a:r>
              <a:rPr lang="zh-CN" altLang="en-US" b="1">
                <a:effectLst>
                  <a:outerShdw blurRad="38100" dist="38100" dir="2700000" algn="tl">
                    <a:srgbClr val="C0C0C0"/>
                  </a:outerShdw>
                </a:effectLst>
                <a:latin typeface="Times New Roman" panose="02020603050405020304" pitchFamily="18" charset="0"/>
              </a:rPr>
              <a:t>之间的一个整数，称为用户身份号（</a:t>
            </a:r>
            <a:r>
              <a:rPr lang="en-US" altLang="zh-CN" b="1">
                <a:effectLst>
                  <a:outerShdw blurRad="38100" dist="38100" dir="2700000" algn="tl">
                    <a:srgbClr val="C0C0C0"/>
                  </a:outerShdw>
                </a:effectLst>
                <a:latin typeface="Times New Roman" panose="02020603050405020304" pitchFamily="18" charset="0"/>
              </a:rPr>
              <a:t>UID</a:t>
            </a:r>
            <a:r>
              <a:rPr lang="zh-CN" altLang="en-US" b="1">
                <a:effectLst>
                  <a:outerShdw blurRad="38100" dist="38100" dir="2700000" algn="tl">
                    <a:srgbClr val="C0C0C0"/>
                  </a:outerShdw>
                </a:effectLst>
                <a:latin typeface="Times New Roman" panose="02020603050405020304" pitchFamily="18" charset="0"/>
              </a:rPr>
              <a:t>）</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常见的主体标识还包括用户名、卡、令牌等，也可以是指纹、虹膜等生物特征</a:t>
            </a:r>
            <a:endParaRPr lang="en-US" altLang="zh-CN" b="1">
              <a:effectLst>
                <a:outerShdw blurRad="38100" dist="38100" dir="2700000" algn="tl">
                  <a:srgbClr val="C0C0C0"/>
                </a:outerShdw>
              </a:effectLst>
              <a:latin typeface="Times New Roman" panose="02020603050405020304" pitchFamily="18" charset="0"/>
            </a:endParaRPr>
          </a:p>
          <a:p>
            <a:pPr>
              <a:buFont typeface="Wingdings" pitchFamily="2" charset="2"/>
              <a:buNone/>
              <a:defRPr/>
            </a:pPr>
            <a:endParaRPr lang="zh-CN" altLang="en-US" b="1">
              <a:effectLst>
                <a:outerShdw blurRad="38100" dist="38100" dir="2700000" algn="tl">
                  <a:srgbClr val="C0C0C0"/>
                </a:outerShdw>
              </a:effectLst>
              <a:latin typeface="Times New Roman" panose="02020603050405020304" pitchFamily="18" charset="0"/>
            </a:endParaRPr>
          </a:p>
        </p:txBody>
      </p:sp>
      <p:pic>
        <p:nvPicPr>
          <p:cNvPr id="24579" name="图片 1">
            <a:extLst>
              <a:ext uri="{FF2B5EF4-FFF2-40B4-BE49-F238E27FC236}">
                <a16:creationId xmlns:a16="http://schemas.microsoft.com/office/drawing/2014/main" id="{4A3ECF73-AA15-3247-8B45-B9D148D575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0" y="4005263"/>
            <a:ext cx="1512888"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图片 2">
            <a:extLst>
              <a:ext uri="{FF2B5EF4-FFF2-40B4-BE49-F238E27FC236}">
                <a16:creationId xmlns:a16="http://schemas.microsoft.com/office/drawing/2014/main" id="{C088DE15-F3F3-D142-B87A-F7C04AA0C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9163" y="4005263"/>
            <a:ext cx="1406525"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55CCBC61-A5A8-D44A-B774-97107119A9A3}"/>
              </a:ext>
            </a:extLst>
          </p:cNvPr>
          <p:cNvSpPr>
            <a:spLocks noGrp="1"/>
          </p:cNvSpPr>
          <p:nvPr>
            <p:ph type="title"/>
          </p:nvPr>
        </p:nvSpPr>
        <p:spPr>
          <a:xfrm>
            <a:off x="684213" y="749300"/>
            <a:ext cx="6513512" cy="487363"/>
          </a:xfrm>
        </p:spPr>
        <p:txBody>
          <a:bodyPr anchor="t"/>
          <a:lstStyle/>
          <a:p>
            <a:pPr>
              <a:buClr>
                <a:srgbClr val="3399FF"/>
              </a:buClr>
              <a:defRPr/>
            </a:pPr>
            <a:r>
              <a:rPr lang="zh-CN" altLang="en-US">
                <a:solidFill>
                  <a:srgbClr val="0033CC"/>
                </a:solidFill>
                <a:effectLst>
                  <a:outerShdw blurRad="38100" dist="38100" dir="2700000" algn="tl">
                    <a:srgbClr val="C0C0C0"/>
                  </a:outerShdw>
                </a:effectLst>
              </a:rPr>
              <a:t>客体标识的实例</a:t>
            </a:r>
          </a:p>
        </p:txBody>
      </p:sp>
      <p:sp>
        <p:nvSpPr>
          <p:cNvPr id="23555" name="内容占位符 2">
            <a:extLst>
              <a:ext uri="{FF2B5EF4-FFF2-40B4-BE49-F238E27FC236}">
                <a16:creationId xmlns:a16="http://schemas.microsoft.com/office/drawing/2014/main" id="{8CE43708-3247-654A-AA0B-98554C4D8E90}"/>
              </a:ext>
            </a:extLst>
          </p:cNvPr>
          <p:cNvSpPr>
            <a:spLocks noGrp="1"/>
          </p:cNvSpPr>
          <p:nvPr>
            <p:ph idx="1"/>
          </p:nvPr>
        </p:nvSpPr>
        <p:spPr>
          <a:xfrm>
            <a:off x="431800" y="1449388"/>
            <a:ext cx="8388350" cy="4427537"/>
          </a:xfrm>
        </p:spPr>
        <p:txBody>
          <a:bodyPr/>
          <a:lstStyle/>
          <a:p>
            <a:pPr>
              <a:defRPr/>
            </a:pPr>
            <a:r>
              <a:rPr lang="zh-CN" altLang="en-US" b="1">
                <a:effectLst>
                  <a:outerShdw blurRad="38100" dist="38100" dir="2700000" algn="tl">
                    <a:srgbClr val="C0C0C0"/>
                  </a:outerShdw>
                </a:effectLst>
                <a:latin typeface="Times New Roman" panose="02020603050405020304" pitchFamily="18" charset="0"/>
              </a:rPr>
              <a:t>客体的标识</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文件名</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文件描述符或句柄</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文件分配表的条目</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en-US" altLang="zh-CN" b="1">
                <a:effectLst>
                  <a:outerShdw blurRad="38100" dist="38100" dir="2700000" algn="tl">
                    <a:srgbClr val="C0C0C0"/>
                  </a:outerShdw>
                </a:effectLst>
                <a:latin typeface="Times New Roman" panose="02020603050405020304" pitchFamily="18" charset="0"/>
              </a:rPr>
              <a:t>UNIX</a:t>
            </a:r>
            <a:r>
              <a:rPr lang="zh-CN" altLang="en-US" b="1">
                <a:effectLst>
                  <a:outerShdw blurRad="38100" dist="38100" dir="2700000" algn="tl">
                    <a:srgbClr val="C0C0C0"/>
                  </a:outerShdw>
                </a:effectLst>
                <a:latin typeface="Times New Roman" panose="02020603050405020304" pitchFamily="18" charset="0"/>
              </a:rPr>
              <a:t>中提供了四种不同的文件标识：</a:t>
            </a:r>
            <a:endParaRPr lang="en-US" altLang="zh-CN" b="1">
              <a:effectLst>
                <a:outerShdw blurRad="38100" dist="38100" dir="2700000" algn="tl">
                  <a:srgbClr val="C0C0C0"/>
                </a:outerShdw>
              </a:effectLst>
              <a:latin typeface="Times New Roman" panose="02020603050405020304" pitchFamily="18" charset="0"/>
            </a:endParaRPr>
          </a:p>
          <a:p>
            <a:pPr lvl="2">
              <a:defRPr/>
            </a:pPr>
            <a:r>
              <a:rPr lang="en-US" altLang="zh-CN" b="1">
                <a:effectLst>
                  <a:outerShdw blurRad="38100" dist="38100" dir="2700000" algn="tl">
                    <a:srgbClr val="C0C0C0"/>
                  </a:outerShdw>
                </a:effectLst>
                <a:latin typeface="Times New Roman" panose="02020603050405020304" pitchFamily="18" charset="0"/>
              </a:rPr>
              <a:t>inode</a:t>
            </a:r>
          </a:p>
          <a:p>
            <a:pPr lvl="2">
              <a:defRPr/>
            </a:pPr>
            <a:r>
              <a:rPr lang="zh-CN" altLang="en-US" b="1">
                <a:effectLst>
                  <a:outerShdw blurRad="38100" dist="38100" dir="2700000" algn="tl">
                    <a:srgbClr val="C0C0C0"/>
                  </a:outerShdw>
                </a:effectLst>
                <a:latin typeface="Times New Roman" panose="02020603050405020304" pitchFamily="18" charset="0"/>
              </a:rPr>
              <a:t>文件描述符</a:t>
            </a:r>
            <a:endParaRPr lang="en-US" altLang="zh-CN" b="1">
              <a:effectLst>
                <a:outerShdw blurRad="38100" dist="38100" dir="2700000" algn="tl">
                  <a:srgbClr val="C0C0C0"/>
                </a:outerShdw>
              </a:effectLst>
              <a:latin typeface="Times New Roman" panose="02020603050405020304" pitchFamily="18" charset="0"/>
            </a:endParaRPr>
          </a:p>
          <a:p>
            <a:pPr lvl="2">
              <a:defRPr/>
            </a:pPr>
            <a:r>
              <a:rPr lang="zh-CN" altLang="en-US" b="1">
                <a:effectLst>
                  <a:outerShdw blurRad="38100" dist="38100" dir="2700000" algn="tl">
                    <a:srgbClr val="C0C0C0"/>
                  </a:outerShdw>
                </a:effectLst>
                <a:latin typeface="Times New Roman" panose="02020603050405020304" pitchFamily="18" charset="0"/>
              </a:rPr>
              <a:t>绝对路径文件名</a:t>
            </a:r>
            <a:endParaRPr lang="en-US" altLang="zh-CN" b="1">
              <a:effectLst>
                <a:outerShdw blurRad="38100" dist="38100" dir="2700000" algn="tl">
                  <a:srgbClr val="C0C0C0"/>
                </a:outerShdw>
              </a:effectLst>
              <a:latin typeface="Times New Roman" panose="02020603050405020304" pitchFamily="18" charset="0"/>
            </a:endParaRPr>
          </a:p>
          <a:p>
            <a:pPr lvl="2">
              <a:defRPr/>
            </a:pPr>
            <a:r>
              <a:rPr lang="zh-CN" altLang="en-US" b="1">
                <a:effectLst>
                  <a:outerShdw blurRad="38100" dist="38100" dir="2700000" algn="tl">
                    <a:srgbClr val="C0C0C0"/>
                  </a:outerShdw>
                </a:effectLst>
                <a:latin typeface="Times New Roman" panose="02020603050405020304" pitchFamily="18" charset="0"/>
              </a:rPr>
              <a:t>相对路径文件名</a:t>
            </a:r>
            <a:endParaRPr lang="en-US" altLang="zh-CN" b="1">
              <a:effectLst>
                <a:outerShdw blurRad="38100" dist="38100" dir="2700000" algn="tl">
                  <a:srgbClr val="C0C0C0"/>
                </a:outerShdw>
              </a:effectLst>
              <a:latin typeface="Times New Roman" panose="02020603050405020304" pitchFamily="18" charset="0"/>
            </a:endParaRPr>
          </a:p>
          <a:p>
            <a:pPr>
              <a:buFont typeface="Wingdings" pitchFamily="2" charset="2"/>
              <a:buNone/>
              <a:defRPr/>
            </a:pPr>
            <a:endParaRPr lang="zh-CN" altLang="en-US" b="1">
              <a:effectLst>
                <a:outerShdw blurRad="38100" dist="38100" dir="2700000" algn="tl">
                  <a:srgbClr val="C0C0C0"/>
                </a:outerShdw>
              </a:effectLst>
              <a:latin typeface="Times New Roman" panose="02020603050405020304" pitchFamily="18" charset="0"/>
            </a:endParaRPr>
          </a:p>
        </p:txBody>
      </p:sp>
      <p:pic>
        <p:nvPicPr>
          <p:cNvPr id="26627" name="图片 3">
            <a:extLst>
              <a:ext uri="{FF2B5EF4-FFF2-40B4-BE49-F238E27FC236}">
                <a16:creationId xmlns:a16="http://schemas.microsoft.com/office/drawing/2014/main" id="{C98AAB6A-6D23-BF40-BE80-8E4F20B104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7963" y="4292600"/>
            <a:ext cx="1985962"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图片 4">
            <a:extLst>
              <a:ext uri="{FF2B5EF4-FFF2-40B4-BE49-F238E27FC236}">
                <a16:creationId xmlns:a16="http://schemas.microsoft.com/office/drawing/2014/main" id="{D0C8ACCE-D7E6-F041-90E9-8253171BAF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2913" y="4292600"/>
            <a:ext cx="2033587" cy="203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图片 2">
            <a:extLst>
              <a:ext uri="{FF2B5EF4-FFF2-40B4-BE49-F238E27FC236}">
                <a16:creationId xmlns:a16="http://schemas.microsoft.com/office/drawing/2014/main" id="{5793E294-0E59-BB4A-8457-72B784ED6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7313" y="3178175"/>
            <a:ext cx="3959225"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标题 1">
            <a:extLst>
              <a:ext uri="{FF2B5EF4-FFF2-40B4-BE49-F238E27FC236}">
                <a16:creationId xmlns:a16="http://schemas.microsoft.com/office/drawing/2014/main" id="{F03CF812-90F9-9E43-8F7C-0174A196EE9A}"/>
              </a:ext>
            </a:extLst>
          </p:cNvPr>
          <p:cNvSpPr>
            <a:spLocks noGrp="1"/>
          </p:cNvSpPr>
          <p:nvPr>
            <p:ph type="title"/>
          </p:nvPr>
        </p:nvSpPr>
        <p:spPr>
          <a:xfrm>
            <a:off x="719138" y="836613"/>
            <a:ext cx="6513512" cy="487362"/>
          </a:xfrm>
        </p:spPr>
        <p:txBody>
          <a:bodyPr anchor="t"/>
          <a:lstStyle/>
          <a:p>
            <a:pPr>
              <a:buClr>
                <a:srgbClr val="3399FF"/>
              </a:buClr>
              <a:defRPr/>
            </a:pPr>
            <a:r>
              <a:rPr lang="zh-CN" altLang="en-US">
                <a:solidFill>
                  <a:srgbClr val="0033CC"/>
                </a:solidFill>
                <a:effectLst>
                  <a:outerShdw blurRad="38100" dist="38100" dir="2700000" algn="tl">
                    <a:srgbClr val="C0C0C0"/>
                  </a:outerShdw>
                </a:effectLst>
              </a:rPr>
              <a:t>访问控制的两个重要过程</a:t>
            </a:r>
          </a:p>
        </p:txBody>
      </p:sp>
      <p:sp>
        <p:nvSpPr>
          <p:cNvPr id="27651" name="内容占位符 2">
            <a:extLst>
              <a:ext uri="{FF2B5EF4-FFF2-40B4-BE49-F238E27FC236}">
                <a16:creationId xmlns:a16="http://schemas.microsoft.com/office/drawing/2014/main" id="{0A9DA36C-9D94-7A46-A0EE-0CBDCD7ACF1A}"/>
              </a:ext>
            </a:extLst>
          </p:cNvPr>
          <p:cNvSpPr>
            <a:spLocks noGrp="1"/>
          </p:cNvSpPr>
          <p:nvPr>
            <p:ph idx="1"/>
          </p:nvPr>
        </p:nvSpPr>
        <p:spPr>
          <a:xfrm>
            <a:off x="1116013" y="3105150"/>
            <a:ext cx="5940425" cy="1187450"/>
          </a:xfrm>
        </p:spPr>
        <p:txBody>
          <a:bodyPr/>
          <a:lstStyle/>
          <a:p>
            <a:pPr>
              <a:defRPr/>
            </a:pPr>
            <a:r>
              <a:rPr lang="zh-CN" altLang="en-US" b="1">
                <a:effectLst>
                  <a:outerShdw blurRad="38100" dist="38100" dir="2700000" algn="tl">
                    <a:srgbClr val="C0C0C0"/>
                  </a:outerShdw>
                </a:effectLst>
              </a:rPr>
              <a:t>第二步：</a:t>
            </a:r>
            <a:r>
              <a:rPr lang="zh-CN" altLang="en-US" b="1">
                <a:solidFill>
                  <a:srgbClr val="FF0000"/>
                </a:solidFill>
                <a:effectLst>
                  <a:outerShdw blurRad="38100" dist="38100" dir="2700000" algn="tl">
                    <a:srgbClr val="C0C0C0"/>
                  </a:outerShdw>
                </a:effectLst>
              </a:rPr>
              <a:t>授权</a:t>
            </a:r>
            <a:endParaRPr lang="en-US" altLang="zh-CN" b="1">
              <a:solidFill>
                <a:srgbClr val="FF0000"/>
              </a:solidFill>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限制用户对资源的访问权限</a:t>
            </a:r>
            <a:endParaRPr lang="en-US" altLang="zh-CN" b="1">
              <a:effectLst>
                <a:outerShdw blurRad="38100" dist="38100" dir="2700000" algn="tl">
                  <a:srgbClr val="C0C0C0"/>
                </a:outerShdw>
              </a:effectLst>
            </a:endParaRPr>
          </a:p>
          <a:p>
            <a:pPr>
              <a:defRPr/>
            </a:pPr>
            <a:endParaRPr lang="en-US" altLang="zh-CN" b="1">
              <a:effectLst>
                <a:outerShdw blurRad="38100" dist="38100" dir="2700000" algn="tl">
                  <a:srgbClr val="C0C0C0"/>
                </a:outerShdw>
              </a:effectLst>
            </a:endParaRPr>
          </a:p>
        </p:txBody>
      </p:sp>
      <p:sp>
        <p:nvSpPr>
          <p:cNvPr id="2" name="矩形 1">
            <a:extLst>
              <a:ext uri="{FF2B5EF4-FFF2-40B4-BE49-F238E27FC236}">
                <a16:creationId xmlns:a16="http://schemas.microsoft.com/office/drawing/2014/main" id="{21FA9255-F9CF-284D-AD20-A3DB60465DC4}"/>
              </a:ext>
            </a:extLst>
          </p:cNvPr>
          <p:cNvSpPr/>
          <p:nvPr/>
        </p:nvSpPr>
        <p:spPr>
          <a:xfrm>
            <a:off x="1008063" y="1909763"/>
            <a:ext cx="4572000" cy="100330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第一步：</a:t>
            </a: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鉴别</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检验主体的合法身份</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7651">
                                            <p:txEl>
                                              <p:pRg st="0" end="0"/>
                                            </p:txEl>
                                          </p:spTgt>
                                        </p:tgtEl>
                                        <p:attrNameLst>
                                          <p:attrName>style.visibility</p:attrName>
                                        </p:attrNameLst>
                                      </p:cBhvr>
                                      <p:to>
                                        <p:strVal val="visible"/>
                                      </p:to>
                                    </p:set>
                                    <p:anim calcmode="lin" valueType="num">
                                      <p:cBhvr additive="base">
                                        <p:cTn id="12"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27651">
                                            <p:txEl>
                                              <p:pRg st="1" end="1"/>
                                            </p:txEl>
                                          </p:spTgt>
                                        </p:tgtEl>
                                        <p:attrNameLst>
                                          <p:attrName>style.visibility</p:attrName>
                                        </p:attrNameLst>
                                      </p:cBhvr>
                                      <p:to>
                                        <p:strVal val="visible"/>
                                      </p:to>
                                    </p:set>
                                    <p:anim calcmode="lin" valueType="num">
                                      <p:cBhvr additive="base">
                                        <p:cTn id="17"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3732B2FE-2B2D-C84B-8D09-9BD13ED2A98B}"/>
              </a:ext>
            </a:extLst>
          </p:cNvPr>
          <p:cNvSpPr>
            <a:spLocks noGrp="1"/>
          </p:cNvSpPr>
          <p:nvPr>
            <p:ph type="title"/>
          </p:nvPr>
        </p:nvSpPr>
        <p:spPr>
          <a:xfrm>
            <a:off x="541338" y="663575"/>
            <a:ext cx="6513512" cy="487363"/>
          </a:xfrm>
        </p:spPr>
        <p:txBody>
          <a:bodyPr anchor="t"/>
          <a:lstStyle/>
          <a:p>
            <a:pPr>
              <a:buClr>
                <a:srgbClr val="3399FF"/>
              </a:buClr>
              <a:defRPr/>
            </a:pPr>
            <a:r>
              <a:rPr lang="zh-CN" altLang="en-US">
                <a:solidFill>
                  <a:srgbClr val="0033CC"/>
                </a:solidFill>
                <a:effectLst>
                  <a:outerShdw blurRad="38100" dist="38100" dir="2700000" algn="tl">
                    <a:srgbClr val="C0C0C0"/>
                  </a:outerShdw>
                </a:effectLst>
              </a:rPr>
              <a:t>访问控制模型</a:t>
            </a:r>
          </a:p>
        </p:txBody>
      </p:sp>
      <p:sp>
        <p:nvSpPr>
          <p:cNvPr id="29700" name="内容占位符 2">
            <a:extLst>
              <a:ext uri="{FF2B5EF4-FFF2-40B4-BE49-F238E27FC236}">
                <a16:creationId xmlns:a16="http://schemas.microsoft.com/office/drawing/2014/main" id="{062856F8-C501-B340-B8AB-8FBF56E681F4}"/>
              </a:ext>
            </a:extLst>
          </p:cNvPr>
          <p:cNvSpPr>
            <a:spLocks noGrp="1"/>
          </p:cNvSpPr>
          <p:nvPr>
            <p:ph idx="1"/>
          </p:nvPr>
        </p:nvSpPr>
        <p:spPr>
          <a:xfrm>
            <a:off x="263525" y="1320800"/>
            <a:ext cx="8763000" cy="1244600"/>
          </a:xfrm>
        </p:spPr>
        <p:txBody>
          <a:bodyPr/>
          <a:lstStyle/>
          <a:p>
            <a:pPr>
              <a:defRPr/>
            </a:pPr>
            <a:r>
              <a:rPr lang="zh-CN" altLang="en-US" b="1">
                <a:solidFill>
                  <a:srgbClr val="FF0000"/>
                </a:solidFill>
                <a:effectLst>
                  <a:outerShdw blurRad="38100" dist="38100" dir="2700000" algn="tl">
                    <a:srgbClr val="C0C0C0"/>
                  </a:outerShdw>
                </a:effectLst>
              </a:rPr>
              <a:t>什么是访问控制模型</a:t>
            </a:r>
            <a:endParaRPr lang="en-US" altLang="zh-CN" b="1">
              <a:solidFill>
                <a:srgbClr val="FF0000"/>
              </a:solidFill>
              <a:effectLst>
                <a:outerShdw blurRad="38100" dist="38100" dir="2700000" algn="tl">
                  <a:srgbClr val="C0C0C0"/>
                </a:outerShdw>
              </a:effectLst>
            </a:endParaRPr>
          </a:p>
          <a:p>
            <a:pPr marL="457200" lvl="1" indent="0">
              <a:buFont typeface="Wingdings" pitchFamily="2" charset="2"/>
              <a:buNone/>
              <a:defRPr/>
            </a:pPr>
            <a:r>
              <a:rPr lang="zh-CN" altLang="en-US" sz="2400" b="1">
                <a:effectLst>
                  <a:outerShdw blurRad="38100" dist="38100" dir="2700000" algn="tl">
                    <a:srgbClr val="C0C0C0"/>
                  </a:outerShdw>
                </a:effectLst>
              </a:rPr>
              <a:t>对一系列访问控制规则集合的描述，可以是非形式化的，也可以是形式化的。</a:t>
            </a:r>
            <a:endParaRPr lang="en-US" altLang="zh-CN" b="1">
              <a:effectLst>
                <a:outerShdw blurRad="38100" dist="38100" dir="2700000" algn="tl">
                  <a:srgbClr val="C0C0C0"/>
                </a:outerShdw>
              </a:effectLst>
            </a:endParaRPr>
          </a:p>
        </p:txBody>
      </p:sp>
      <p:grpSp>
        <p:nvGrpSpPr>
          <p:cNvPr id="3" name="组合 2">
            <a:extLst>
              <a:ext uri="{FF2B5EF4-FFF2-40B4-BE49-F238E27FC236}">
                <a16:creationId xmlns:a16="http://schemas.microsoft.com/office/drawing/2014/main" id="{5F69EAB8-AC89-F54D-AA5C-8CB18E4204E9}"/>
              </a:ext>
            </a:extLst>
          </p:cNvPr>
          <p:cNvGrpSpPr>
            <a:grpSpLocks/>
          </p:cNvGrpSpPr>
          <p:nvPr/>
        </p:nvGrpSpPr>
        <p:grpSpPr bwMode="auto">
          <a:xfrm>
            <a:off x="395288" y="3400425"/>
            <a:ext cx="8208962" cy="2754313"/>
            <a:chOff x="395288" y="3400010"/>
            <a:chExt cx="8208962" cy="2754728"/>
          </a:xfrm>
        </p:grpSpPr>
        <p:sp>
          <p:nvSpPr>
            <p:cNvPr id="30725" name="Rectangle 5">
              <a:extLst>
                <a:ext uri="{FF2B5EF4-FFF2-40B4-BE49-F238E27FC236}">
                  <a16:creationId xmlns:a16="http://schemas.microsoft.com/office/drawing/2014/main" id="{1D446E11-0C28-E440-A538-8FC63A035F6F}"/>
                </a:ext>
              </a:extLst>
            </p:cNvPr>
            <p:cNvSpPr>
              <a:spLocks noChangeArrowheads="1"/>
            </p:cNvSpPr>
            <p:nvPr/>
          </p:nvSpPr>
          <p:spPr bwMode="auto">
            <a:xfrm>
              <a:off x="3160478" y="3429000"/>
              <a:ext cx="2333248" cy="708585"/>
            </a:xfrm>
            <a:prstGeom prst="rect">
              <a:avLst/>
            </a:prstGeom>
            <a:solidFill>
              <a:srgbClr val="FFC000"/>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latin typeface="Arial" panose="020B0604020202020204" pitchFamily="34" charset="0"/>
                  <a:ea typeface="宋体" panose="02010600030101010101" pitchFamily="2" charset="-122"/>
                </a:rPr>
                <a:t>访问控制执行功能</a:t>
              </a:r>
              <a:br>
                <a:rPr lang="zh-CN" altLang="en-US" sz="1800" b="1">
                  <a:latin typeface="Arial" panose="020B0604020202020204" pitchFamily="34" charset="0"/>
                  <a:ea typeface="宋体" panose="02010600030101010101" pitchFamily="2" charset="-122"/>
                </a:rPr>
              </a:br>
              <a:r>
                <a:rPr lang="zh-CN" altLang="en-US" sz="1800" b="1">
                  <a:latin typeface="Arial" panose="020B0604020202020204" pitchFamily="34" charset="0"/>
                  <a:ea typeface="宋体" panose="02010600030101010101" pitchFamily="2" charset="-122"/>
                </a:rPr>
                <a:t>（</a:t>
              </a:r>
              <a:r>
                <a:rPr lang="en-US" altLang="zh-CN" sz="1800" b="1">
                  <a:latin typeface="Arial" panose="020B0604020202020204" pitchFamily="34" charset="0"/>
                  <a:ea typeface="宋体" panose="02010600030101010101" pitchFamily="2" charset="-122"/>
                </a:rPr>
                <a:t>AEF</a:t>
              </a:r>
              <a:r>
                <a:rPr lang="zh-CN" altLang="en-US" sz="1800" b="1">
                  <a:latin typeface="Arial" panose="020B0604020202020204" pitchFamily="34" charset="0"/>
                  <a:ea typeface="宋体" panose="02010600030101010101" pitchFamily="2" charset="-122"/>
                </a:rPr>
                <a:t>）</a:t>
              </a:r>
            </a:p>
          </p:txBody>
        </p:sp>
        <p:sp>
          <p:nvSpPr>
            <p:cNvPr id="30726" name="Rectangle 6">
              <a:extLst>
                <a:ext uri="{FF2B5EF4-FFF2-40B4-BE49-F238E27FC236}">
                  <a16:creationId xmlns:a16="http://schemas.microsoft.com/office/drawing/2014/main" id="{09705789-AD82-7F4F-AA02-4DC65896CDCF}"/>
                </a:ext>
              </a:extLst>
            </p:cNvPr>
            <p:cNvSpPr>
              <a:spLocks noChangeArrowheads="1"/>
            </p:cNvSpPr>
            <p:nvPr/>
          </p:nvSpPr>
          <p:spPr bwMode="auto">
            <a:xfrm>
              <a:off x="3160478" y="4596188"/>
              <a:ext cx="2333248" cy="875851"/>
            </a:xfrm>
            <a:prstGeom prst="rect">
              <a:avLst/>
            </a:prstGeom>
            <a:solidFill>
              <a:srgbClr val="FFC000"/>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latin typeface="Arial" panose="020B0604020202020204" pitchFamily="34" charset="0"/>
                  <a:ea typeface="宋体" panose="02010600030101010101" pitchFamily="2" charset="-122"/>
                </a:rPr>
                <a:t>访问控制决策功能</a:t>
              </a:r>
              <a:br>
                <a:rPr lang="zh-CN" altLang="en-US" sz="1800" b="1">
                  <a:latin typeface="Arial" panose="020B0604020202020204" pitchFamily="34" charset="0"/>
                  <a:ea typeface="宋体" panose="02010600030101010101" pitchFamily="2" charset="-122"/>
                </a:rPr>
              </a:br>
              <a:r>
                <a:rPr lang="zh-CN" altLang="en-US" sz="1800" b="1">
                  <a:latin typeface="Arial" panose="020B0604020202020204" pitchFamily="34" charset="0"/>
                  <a:ea typeface="宋体" panose="02010600030101010101" pitchFamily="2" charset="-122"/>
                </a:rPr>
                <a:t>（</a:t>
              </a:r>
              <a:r>
                <a:rPr lang="en-US" altLang="zh-CN" sz="1800" b="1">
                  <a:latin typeface="Arial" panose="020B0604020202020204" pitchFamily="34" charset="0"/>
                  <a:ea typeface="宋体" panose="02010600030101010101" pitchFamily="2" charset="-122"/>
                </a:rPr>
                <a:t>ADF</a:t>
              </a:r>
              <a:r>
                <a:rPr lang="zh-CN" altLang="en-US" sz="1800" b="1">
                  <a:latin typeface="Arial" panose="020B0604020202020204" pitchFamily="34" charset="0"/>
                  <a:ea typeface="宋体" panose="02010600030101010101" pitchFamily="2" charset="-122"/>
                </a:rPr>
                <a:t>）</a:t>
              </a:r>
            </a:p>
          </p:txBody>
        </p:sp>
        <p:grpSp>
          <p:nvGrpSpPr>
            <p:cNvPr id="30727" name="Group 13">
              <a:extLst>
                <a:ext uri="{FF2B5EF4-FFF2-40B4-BE49-F238E27FC236}">
                  <a16:creationId xmlns:a16="http://schemas.microsoft.com/office/drawing/2014/main" id="{F6986DDF-C71C-6542-A817-F566C3AD20CC}"/>
                </a:ext>
              </a:extLst>
            </p:cNvPr>
            <p:cNvGrpSpPr>
              <a:grpSpLocks/>
            </p:cNvGrpSpPr>
            <p:nvPr/>
          </p:nvGrpSpPr>
          <p:grpSpPr bwMode="auto">
            <a:xfrm>
              <a:off x="1021548" y="3587994"/>
              <a:ext cx="388638" cy="424599"/>
              <a:chOff x="521" y="1616"/>
              <a:chExt cx="454" cy="771"/>
            </a:xfrm>
          </p:grpSpPr>
          <p:sp>
            <p:nvSpPr>
              <p:cNvPr id="30746" name="Oval 8">
                <a:extLst>
                  <a:ext uri="{FF2B5EF4-FFF2-40B4-BE49-F238E27FC236}">
                    <a16:creationId xmlns:a16="http://schemas.microsoft.com/office/drawing/2014/main" id="{92FFCC9A-2721-2046-B377-1EA2A1321FBD}"/>
                  </a:ext>
                </a:extLst>
              </p:cNvPr>
              <p:cNvSpPr>
                <a:spLocks noChangeArrowheads="1"/>
              </p:cNvSpPr>
              <p:nvPr/>
            </p:nvSpPr>
            <p:spPr bwMode="auto">
              <a:xfrm>
                <a:off x="612" y="1616"/>
                <a:ext cx="272" cy="226"/>
              </a:xfrm>
              <a:prstGeom prst="ellipse">
                <a:avLst/>
              </a:prstGeom>
              <a:noFill/>
              <a:ln w="57150">
                <a:solidFill>
                  <a:srgbClr val="0033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latin typeface="Arial" panose="020B0604020202020204" pitchFamily="34" charset="0"/>
                  <a:ea typeface="宋体" panose="02010600030101010101" pitchFamily="2" charset="-122"/>
                </a:endParaRPr>
              </a:p>
            </p:txBody>
          </p:sp>
          <p:sp>
            <p:nvSpPr>
              <p:cNvPr id="30747" name="Line 9">
                <a:extLst>
                  <a:ext uri="{FF2B5EF4-FFF2-40B4-BE49-F238E27FC236}">
                    <a16:creationId xmlns:a16="http://schemas.microsoft.com/office/drawing/2014/main" id="{FC0AF593-D320-B14D-BAB3-C328EF4328D2}"/>
                  </a:ext>
                </a:extLst>
              </p:cNvPr>
              <p:cNvSpPr>
                <a:spLocks noChangeShapeType="1"/>
              </p:cNvSpPr>
              <p:nvPr/>
            </p:nvSpPr>
            <p:spPr bwMode="auto">
              <a:xfrm>
                <a:off x="521" y="1979"/>
                <a:ext cx="454" cy="0"/>
              </a:xfrm>
              <a:prstGeom prst="line">
                <a:avLst/>
              </a:prstGeom>
              <a:noFill/>
              <a:ln w="57150">
                <a:solidFill>
                  <a:srgbClr val="0033CC"/>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48" name="Line 10">
                <a:extLst>
                  <a:ext uri="{FF2B5EF4-FFF2-40B4-BE49-F238E27FC236}">
                    <a16:creationId xmlns:a16="http://schemas.microsoft.com/office/drawing/2014/main" id="{44EF6BC3-3B23-CD4E-8C55-28BD02F7A741}"/>
                  </a:ext>
                </a:extLst>
              </p:cNvPr>
              <p:cNvSpPr>
                <a:spLocks noChangeShapeType="1"/>
              </p:cNvSpPr>
              <p:nvPr/>
            </p:nvSpPr>
            <p:spPr bwMode="auto">
              <a:xfrm>
                <a:off x="748" y="1842"/>
                <a:ext cx="0" cy="318"/>
              </a:xfrm>
              <a:prstGeom prst="line">
                <a:avLst/>
              </a:prstGeom>
              <a:noFill/>
              <a:ln w="57150">
                <a:solidFill>
                  <a:srgbClr val="0033CC"/>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49" name="Line 11">
                <a:extLst>
                  <a:ext uri="{FF2B5EF4-FFF2-40B4-BE49-F238E27FC236}">
                    <a16:creationId xmlns:a16="http://schemas.microsoft.com/office/drawing/2014/main" id="{ADCE775B-0720-6440-A17D-215116FB860C}"/>
                  </a:ext>
                </a:extLst>
              </p:cNvPr>
              <p:cNvSpPr>
                <a:spLocks noChangeShapeType="1"/>
              </p:cNvSpPr>
              <p:nvPr/>
            </p:nvSpPr>
            <p:spPr bwMode="auto">
              <a:xfrm flipH="1">
                <a:off x="521" y="2160"/>
                <a:ext cx="227" cy="227"/>
              </a:xfrm>
              <a:prstGeom prst="line">
                <a:avLst/>
              </a:prstGeom>
              <a:noFill/>
              <a:ln w="57150">
                <a:solidFill>
                  <a:srgbClr val="0033CC"/>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0750" name="Line 12">
                <a:extLst>
                  <a:ext uri="{FF2B5EF4-FFF2-40B4-BE49-F238E27FC236}">
                    <a16:creationId xmlns:a16="http://schemas.microsoft.com/office/drawing/2014/main" id="{20276F8A-5977-9A4A-8BFA-C115B439BA8F}"/>
                  </a:ext>
                </a:extLst>
              </p:cNvPr>
              <p:cNvSpPr>
                <a:spLocks noChangeShapeType="1"/>
              </p:cNvSpPr>
              <p:nvPr/>
            </p:nvSpPr>
            <p:spPr bwMode="auto">
              <a:xfrm>
                <a:off x="748" y="2160"/>
                <a:ext cx="227" cy="227"/>
              </a:xfrm>
              <a:prstGeom prst="line">
                <a:avLst/>
              </a:prstGeom>
              <a:noFill/>
              <a:ln w="57150">
                <a:solidFill>
                  <a:srgbClr val="0033CC"/>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30728" name="Line 14">
              <a:extLst>
                <a:ext uri="{FF2B5EF4-FFF2-40B4-BE49-F238E27FC236}">
                  <a16:creationId xmlns:a16="http://schemas.microsoft.com/office/drawing/2014/main" id="{6CAD6CD4-24ED-6346-9DFF-12A07D3F3767}"/>
                </a:ext>
              </a:extLst>
            </p:cNvPr>
            <p:cNvSpPr>
              <a:spLocks noChangeShapeType="1"/>
            </p:cNvSpPr>
            <p:nvPr/>
          </p:nvSpPr>
          <p:spPr bwMode="auto">
            <a:xfrm>
              <a:off x="1670228" y="3804890"/>
              <a:ext cx="1490251" cy="0"/>
            </a:xfrm>
            <a:prstGeom prst="line">
              <a:avLst/>
            </a:prstGeom>
            <a:noFill/>
            <a:ln w="5715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0729" name="Line 15">
              <a:extLst>
                <a:ext uri="{FF2B5EF4-FFF2-40B4-BE49-F238E27FC236}">
                  <a16:creationId xmlns:a16="http://schemas.microsoft.com/office/drawing/2014/main" id="{BD8FED6A-C85D-B842-A528-40567FB3911E}"/>
                </a:ext>
              </a:extLst>
            </p:cNvPr>
            <p:cNvSpPr>
              <a:spLocks noChangeShapeType="1"/>
            </p:cNvSpPr>
            <p:nvPr/>
          </p:nvSpPr>
          <p:spPr bwMode="auto">
            <a:xfrm>
              <a:off x="5493727" y="3803970"/>
              <a:ext cx="1360229" cy="920"/>
            </a:xfrm>
            <a:prstGeom prst="line">
              <a:avLst/>
            </a:prstGeom>
            <a:noFill/>
            <a:ln w="5715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0730" name="Oval 16">
              <a:extLst>
                <a:ext uri="{FF2B5EF4-FFF2-40B4-BE49-F238E27FC236}">
                  <a16:creationId xmlns:a16="http://schemas.microsoft.com/office/drawing/2014/main" id="{F8B06D2A-990D-1749-8614-A4B05C2CA5FD}"/>
                </a:ext>
              </a:extLst>
            </p:cNvPr>
            <p:cNvSpPr>
              <a:spLocks noChangeArrowheads="1"/>
            </p:cNvSpPr>
            <p:nvPr/>
          </p:nvSpPr>
          <p:spPr bwMode="auto">
            <a:xfrm>
              <a:off x="6855385" y="3512634"/>
              <a:ext cx="1684568" cy="583594"/>
            </a:xfrm>
            <a:prstGeom prst="ellipse">
              <a:avLst/>
            </a:prstGeom>
            <a:solidFill>
              <a:srgbClr val="92D050"/>
            </a:solidFill>
            <a:ln w="12700">
              <a:solidFill>
                <a:schemeClr val="tx1"/>
              </a:solidFill>
              <a:round/>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latin typeface="Arial" panose="020B0604020202020204" pitchFamily="34" charset="0"/>
                  <a:ea typeface="宋体" panose="02010600030101010101" pitchFamily="2" charset="-122"/>
                </a:rPr>
                <a:t>客体</a:t>
              </a:r>
            </a:p>
          </p:txBody>
        </p:sp>
        <p:sp>
          <p:nvSpPr>
            <p:cNvPr id="30731" name="Line 17">
              <a:extLst>
                <a:ext uri="{FF2B5EF4-FFF2-40B4-BE49-F238E27FC236}">
                  <a16:creationId xmlns:a16="http://schemas.microsoft.com/office/drawing/2014/main" id="{269358BB-7BFF-DC4B-81E2-4371D7FAB433}"/>
                </a:ext>
              </a:extLst>
            </p:cNvPr>
            <p:cNvSpPr>
              <a:spLocks noChangeShapeType="1"/>
            </p:cNvSpPr>
            <p:nvPr/>
          </p:nvSpPr>
          <p:spPr bwMode="auto">
            <a:xfrm>
              <a:off x="3873454" y="4137585"/>
              <a:ext cx="0" cy="458604"/>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2" name="Line 18">
              <a:extLst>
                <a:ext uri="{FF2B5EF4-FFF2-40B4-BE49-F238E27FC236}">
                  <a16:creationId xmlns:a16="http://schemas.microsoft.com/office/drawing/2014/main" id="{86E595AD-D1F1-F94D-84D8-DC8E2475E2BA}"/>
                </a:ext>
              </a:extLst>
            </p:cNvPr>
            <p:cNvSpPr>
              <a:spLocks noChangeShapeType="1"/>
            </p:cNvSpPr>
            <p:nvPr/>
          </p:nvSpPr>
          <p:spPr bwMode="auto">
            <a:xfrm flipV="1">
              <a:off x="4780751" y="4137585"/>
              <a:ext cx="0" cy="458604"/>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3" name="Line 19">
              <a:extLst>
                <a:ext uri="{FF2B5EF4-FFF2-40B4-BE49-F238E27FC236}">
                  <a16:creationId xmlns:a16="http://schemas.microsoft.com/office/drawing/2014/main" id="{E874400E-8344-2E4D-9253-3E4A8A7132CA}"/>
                </a:ext>
              </a:extLst>
            </p:cNvPr>
            <p:cNvSpPr>
              <a:spLocks noChangeShapeType="1"/>
            </p:cNvSpPr>
            <p:nvPr/>
          </p:nvSpPr>
          <p:spPr bwMode="auto">
            <a:xfrm>
              <a:off x="1474481" y="5138425"/>
              <a:ext cx="1685997" cy="0"/>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4" name="Line 20">
              <a:extLst>
                <a:ext uri="{FF2B5EF4-FFF2-40B4-BE49-F238E27FC236}">
                  <a16:creationId xmlns:a16="http://schemas.microsoft.com/office/drawing/2014/main" id="{805640F7-C1DB-3941-889B-58CCC9C330D8}"/>
                </a:ext>
              </a:extLst>
            </p:cNvPr>
            <p:cNvSpPr>
              <a:spLocks noChangeShapeType="1"/>
            </p:cNvSpPr>
            <p:nvPr/>
          </p:nvSpPr>
          <p:spPr bwMode="auto">
            <a:xfrm flipH="1" flipV="1">
              <a:off x="5493727" y="5096149"/>
              <a:ext cx="907295" cy="0"/>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5" name="Line 21">
              <a:extLst>
                <a:ext uri="{FF2B5EF4-FFF2-40B4-BE49-F238E27FC236}">
                  <a16:creationId xmlns:a16="http://schemas.microsoft.com/office/drawing/2014/main" id="{34ACD59F-6BEE-7A4C-9E3E-5A0A201D9C2F}"/>
                </a:ext>
              </a:extLst>
            </p:cNvPr>
            <p:cNvSpPr>
              <a:spLocks noChangeShapeType="1"/>
            </p:cNvSpPr>
            <p:nvPr/>
          </p:nvSpPr>
          <p:spPr bwMode="auto">
            <a:xfrm flipV="1">
              <a:off x="3679136" y="5472039"/>
              <a:ext cx="0" cy="333614"/>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6" name="Line 22">
              <a:extLst>
                <a:ext uri="{FF2B5EF4-FFF2-40B4-BE49-F238E27FC236}">
                  <a16:creationId xmlns:a16="http://schemas.microsoft.com/office/drawing/2014/main" id="{7FA05BF5-F10C-E247-986D-74760861B4DF}"/>
                </a:ext>
              </a:extLst>
            </p:cNvPr>
            <p:cNvSpPr>
              <a:spLocks noChangeShapeType="1"/>
            </p:cNvSpPr>
            <p:nvPr/>
          </p:nvSpPr>
          <p:spPr bwMode="auto">
            <a:xfrm flipV="1">
              <a:off x="4975069" y="5472039"/>
              <a:ext cx="0" cy="333614"/>
            </a:xfrm>
            <a:prstGeom prst="line">
              <a:avLst/>
            </a:prstGeom>
            <a:noFill/>
            <a:ln w="571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7" name="Text Box 23">
              <a:extLst>
                <a:ext uri="{FF2B5EF4-FFF2-40B4-BE49-F238E27FC236}">
                  <a16:creationId xmlns:a16="http://schemas.microsoft.com/office/drawing/2014/main" id="{E306AB2E-289B-4546-867D-BEAAB306F987}"/>
                </a:ext>
              </a:extLst>
            </p:cNvPr>
            <p:cNvSpPr txBox="1">
              <a:spLocks noChangeArrowheads="1"/>
            </p:cNvSpPr>
            <p:nvPr/>
          </p:nvSpPr>
          <p:spPr bwMode="auto">
            <a:xfrm>
              <a:off x="395288" y="4734268"/>
              <a:ext cx="1542373" cy="6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Arial" panose="020B0604020202020204" pitchFamily="34" charset="0"/>
                  <a:ea typeface="宋体" panose="02010600030101010101" pitchFamily="2" charset="-122"/>
                </a:rPr>
                <a:t>主体的访问控制信息</a:t>
              </a:r>
            </a:p>
          </p:txBody>
        </p:sp>
        <p:sp>
          <p:nvSpPr>
            <p:cNvPr id="30738" name="Text Box 24">
              <a:extLst>
                <a:ext uri="{FF2B5EF4-FFF2-40B4-BE49-F238E27FC236}">
                  <a16:creationId xmlns:a16="http://schemas.microsoft.com/office/drawing/2014/main" id="{C048A23A-E841-694A-8E9A-13A9905F19DF}"/>
                </a:ext>
              </a:extLst>
            </p:cNvPr>
            <p:cNvSpPr txBox="1">
              <a:spLocks noChangeArrowheads="1"/>
            </p:cNvSpPr>
            <p:nvPr/>
          </p:nvSpPr>
          <p:spPr bwMode="auto">
            <a:xfrm>
              <a:off x="827229" y="4053951"/>
              <a:ext cx="907295" cy="36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Arial" panose="020B0604020202020204" pitchFamily="34" charset="0"/>
                  <a:ea typeface="宋体" panose="02010600030101010101" pitchFamily="2" charset="-122"/>
                </a:rPr>
                <a:t>主体</a:t>
              </a:r>
            </a:p>
          </p:txBody>
        </p:sp>
        <p:sp>
          <p:nvSpPr>
            <p:cNvPr id="30739" name="Text Box 25">
              <a:extLst>
                <a:ext uri="{FF2B5EF4-FFF2-40B4-BE49-F238E27FC236}">
                  <a16:creationId xmlns:a16="http://schemas.microsoft.com/office/drawing/2014/main" id="{66573B74-801B-0042-9049-5D9A3FD2E39A}"/>
                </a:ext>
              </a:extLst>
            </p:cNvPr>
            <p:cNvSpPr txBox="1">
              <a:spLocks noChangeArrowheads="1"/>
            </p:cNvSpPr>
            <p:nvPr/>
          </p:nvSpPr>
          <p:spPr bwMode="auto">
            <a:xfrm>
              <a:off x="6396986" y="4759058"/>
              <a:ext cx="1361658" cy="6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Arial" panose="020B0604020202020204" pitchFamily="34" charset="0"/>
                  <a:ea typeface="宋体" panose="02010600030101010101" pitchFamily="2" charset="-122"/>
                </a:rPr>
                <a:t>客体的访问控制信息</a:t>
              </a:r>
            </a:p>
          </p:txBody>
        </p:sp>
        <p:sp>
          <p:nvSpPr>
            <p:cNvPr id="30740" name="Text Box 26">
              <a:extLst>
                <a:ext uri="{FF2B5EF4-FFF2-40B4-BE49-F238E27FC236}">
                  <a16:creationId xmlns:a16="http://schemas.microsoft.com/office/drawing/2014/main" id="{02171318-EEAB-1D4A-90B5-2310011DEB95}"/>
                </a:ext>
              </a:extLst>
            </p:cNvPr>
            <p:cNvSpPr txBox="1">
              <a:spLocks noChangeArrowheads="1"/>
            </p:cNvSpPr>
            <p:nvPr/>
          </p:nvSpPr>
          <p:spPr bwMode="auto">
            <a:xfrm>
              <a:off x="2357689" y="5785500"/>
              <a:ext cx="2398975" cy="36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Arial" panose="020B0604020202020204" pitchFamily="34" charset="0"/>
                  <a:ea typeface="宋体" panose="02010600030101010101" pitchFamily="2" charset="-122"/>
                </a:rPr>
                <a:t>访问控制政策规则</a:t>
              </a:r>
            </a:p>
          </p:txBody>
        </p:sp>
        <p:sp>
          <p:nvSpPr>
            <p:cNvPr id="30741" name="Text Box 27">
              <a:extLst>
                <a:ext uri="{FF2B5EF4-FFF2-40B4-BE49-F238E27FC236}">
                  <a16:creationId xmlns:a16="http://schemas.microsoft.com/office/drawing/2014/main" id="{23A4339E-9841-5B4F-A4BF-BBBED10C9C3D}"/>
                </a:ext>
              </a:extLst>
            </p:cNvPr>
            <p:cNvSpPr txBox="1">
              <a:spLocks noChangeArrowheads="1"/>
            </p:cNvSpPr>
            <p:nvPr/>
          </p:nvSpPr>
          <p:spPr bwMode="auto">
            <a:xfrm>
              <a:off x="4779322" y="5763376"/>
              <a:ext cx="3824928" cy="36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Arial" panose="020B0604020202020204" pitchFamily="34" charset="0"/>
                  <a:ea typeface="宋体" panose="02010600030101010101" pitchFamily="2" charset="-122"/>
                </a:rPr>
                <a:t>上下文信息</a:t>
              </a:r>
              <a:r>
                <a:rPr lang="en-US" altLang="zh-CN" sz="1800" b="1">
                  <a:latin typeface="Arial" panose="020B0604020202020204" pitchFamily="34" charset="0"/>
                  <a:ea typeface="宋体" panose="02010600030101010101" pitchFamily="2" charset="-122"/>
                </a:rPr>
                <a:t>(</a:t>
              </a:r>
              <a:r>
                <a:rPr lang="zh-CN" altLang="en-US" sz="1800" b="1">
                  <a:latin typeface="Arial" panose="020B0604020202020204" pitchFamily="34" charset="0"/>
                  <a:ea typeface="宋体" panose="02010600030101010101" pitchFamily="2" charset="-122"/>
                </a:rPr>
                <a:t>如时间，地址等</a:t>
              </a:r>
              <a:r>
                <a:rPr lang="en-US" altLang="zh-CN" sz="1800" b="1">
                  <a:latin typeface="Arial" panose="020B0604020202020204" pitchFamily="34" charset="0"/>
                  <a:ea typeface="宋体" panose="02010600030101010101" pitchFamily="2" charset="-122"/>
                </a:rPr>
                <a:t>)</a:t>
              </a:r>
            </a:p>
          </p:txBody>
        </p:sp>
        <p:sp>
          <p:nvSpPr>
            <p:cNvPr id="30742" name="Text Box 28">
              <a:extLst>
                <a:ext uri="{FF2B5EF4-FFF2-40B4-BE49-F238E27FC236}">
                  <a16:creationId xmlns:a16="http://schemas.microsoft.com/office/drawing/2014/main" id="{B4B98230-F47F-A841-9028-DC448D0D1853}"/>
                </a:ext>
              </a:extLst>
            </p:cNvPr>
            <p:cNvSpPr txBox="1">
              <a:spLocks noChangeArrowheads="1"/>
            </p:cNvSpPr>
            <p:nvPr/>
          </p:nvSpPr>
          <p:spPr bwMode="auto">
            <a:xfrm>
              <a:off x="2187457" y="4221217"/>
              <a:ext cx="1427383" cy="4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r" eaLnBrk="1" hangingPunct="1">
                <a:spcBef>
                  <a:spcPct val="50000"/>
                </a:spcBef>
                <a:buClrTx/>
                <a:buFontTx/>
                <a:buNone/>
              </a:pPr>
              <a:r>
                <a:rPr lang="zh-CN" altLang="en-US" sz="2000" b="1">
                  <a:latin typeface="Arial" panose="020B0604020202020204" pitchFamily="34" charset="0"/>
                  <a:ea typeface="宋体" panose="02010600030101010101" pitchFamily="2" charset="-122"/>
                </a:rPr>
                <a:t>决策请求</a:t>
              </a:r>
            </a:p>
          </p:txBody>
        </p:sp>
        <p:sp>
          <p:nvSpPr>
            <p:cNvPr id="30743" name="Text Box 29">
              <a:extLst>
                <a:ext uri="{FF2B5EF4-FFF2-40B4-BE49-F238E27FC236}">
                  <a16:creationId xmlns:a16="http://schemas.microsoft.com/office/drawing/2014/main" id="{22170901-366D-E44F-9DDF-27C544F12086}"/>
                </a:ext>
              </a:extLst>
            </p:cNvPr>
            <p:cNvSpPr txBox="1">
              <a:spLocks noChangeArrowheads="1"/>
            </p:cNvSpPr>
            <p:nvPr/>
          </p:nvSpPr>
          <p:spPr bwMode="auto">
            <a:xfrm>
              <a:off x="4845047" y="4221217"/>
              <a:ext cx="1555976" cy="4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决策</a:t>
              </a:r>
            </a:p>
          </p:txBody>
        </p:sp>
        <p:sp>
          <p:nvSpPr>
            <p:cNvPr id="30744" name="Text Box 30">
              <a:extLst>
                <a:ext uri="{FF2B5EF4-FFF2-40B4-BE49-F238E27FC236}">
                  <a16:creationId xmlns:a16="http://schemas.microsoft.com/office/drawing/2014/main" id="{F1C27AD4-E81B-2143-8FB8-DD91DCD1908F}"/>
                </a:ext>
              </a:extLst>
            </p:cNvPr>
            <p:cNvSpPr txBox="1">
              <a:spLocks noChangeArrowheads="1"/>
            </p:cNvSpPr>
            <p:nvPr/>
          </p:nvSpPr>
          <p:spPr bwMode="auto">
            <a:xfrm>
              <a:off x="1689623" y="3422147"/>
              <a:ext cx="1555976" cy="4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访问请求</a:t>
              </a:r>
            </a:p>
          </p:txBody>
        </p:sp>
        <p:sp>
          <p:nvSpPr>
            <p:cNvPr id="30745" name="Text Box 31">
              <a:extLst>
                <a:ext uri="{FF2B5EF4-FFF2-40B4-BE49-F238E27FC236}">
                  <a16:creationId xmlns:a16="http://schemas.microsoft.com/office/drawing/2014/main" id="{5F11DB03-8432-2148-B26D-2E750B326F18}"/>
                </a:ext>
              </a:extLst>
            </p:cNvPr>
            <p:cNvSpPr txBox="1">
              <a:spLocks noChangeArrowheads="1"/>
            </p:cNvSpPr>
            <p:nvPr/>
          </p:nvSpPr>
          <p:spPr bwMode="auto">
            <a:xfrm>
              <a:off x="5521840" y="3400010"/>
              <a:ext cx="1555975" cy="400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提交访问</a:t>
              </a:r>
            </a:p>
          </p:txBody>
        </p:sp>
      </p:grpSp>
      <p:sp>
        <p:nvSpPr>
          <p:cNvPr id="2" name="矩形 1">
            <a:extLst>
              <a:ext uri="{FF2B5EF4-FFF2-40B4-BE49-F238E27FC236}">
                <a16:creationId xmlns:a16="http://schemas.microsoft.com/office/drawing/2014/main" id="{D2CABAFE-048B-D94E-8D74-616E85DD31A3}"/>
              </a:ext>
            </a:extLst>
          </p:cNvPr>
          <p:cNvSpPr/>
          <p:nvPr/>
        </p:nvSpPr>
        <p:spPr>
          <a:xfrm>
            <a:off x="361950" y="2692400"/>
            <a:ext cx="1250950" cy="523875"/>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组成</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 calcmode="lin" valueType="num">
                                      <p:cBhvr additive="base">
                                        <p:cTn id="7" dur="500" fill="hold"/>
                                        <p:tgtEl>
                                          <p:spTgt spid="2970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700">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9700">
                                            <p:txEl>
                                              <p:pRg st="1" end="1"/>
                                            </p:txEl>
                                          </p:spTgt>
                                        </p:tgtEl>
                                        <p:attrNameLst>
                                          <p:attrName>style.visibility</p:attrName>
                                        </p:attrNameLst>
                                      </p:cBhvr>
                                      <p:to>
                                        <p:strVal val="visible"/>
                                      </p:to>
                                    </p:set>
                                    <p:anim calcmode="lin" valueType="num">
                                      <p:cBhvr additive="base">
                                        <p:cTn id="12" dur="500" fill="hold"/>
                                        <p:tgtEl>
                                          <p:spTgt spid="29700">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970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53" presetClass="entr" presetSubtype="1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606AB-2051-2A6C-238C-441772EB8C18}"/>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5143E184-F33E-2FFC-4F69-5888516A2A7D}"/>
              </a:ext>
            </a:extLst>
          </p:cNvPr>
          <p:cNvPicPr>
            <a:picLocks noGrp="1" noChangeAspect="1"/>
          </p:cNvPicPr>
          <p:nvPr>
            <p:ph idx="1"/>
          </p:nvPr>
        </p:nvPicPr>
        <p:blipFill>
          <a:blip r:embed="rId2"/>
          <a:stretch>
            <a:fillRect/>
          </a:stretch>
        </p:blipFill>
        <p:spPr bwMode="auto">
          <a:xfrm>
            <a:off x="476250" y="1321560"/>
            <a:ext cx="8191500" cy="4610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36E9C7D6-19DA-4276-3754-F787D99E6646}"/>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177404824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图片 3">
            <a:extLst>
              <a:ext uri="{FF2B5EF4-FFF2-40B4-BE49-F238E27FC236}">
                <a16:creationId xmlns:a16="http://schemas.microsoft.com/office/drawing/2014/main" id="{FDB69A4E-ACE1-9240-BC3F-7A00BE5F7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488" y="2038350"/>
            <a:ext cx="314642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F27728EA-CF3C-9544-92E7-4351FDB4E685}"/>
              </a:ext>
            </a:extLst>
          </p:cNvPr>
          <p:cNvSpPr>
            <a:spLocks noGrp="1"/>
          </p:cNvSpPr>
          <p:nvPr>
            <p:ph type="title"/>
          </p:nvPr>
        </p:nvSpPr>
        <p:spPr>
          <a:xfrm>
            <a:off x="381000" y="846138"/>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访问控制模型基本概念</a:t>
            </a:r>
          </a:p>
        </p:txBody>
      </p:sp>
      <p:sp>
        <p:nvSpPr>
          <p:cNvPr id="7" name="Rectangle 3">
            <a:extLst>
              <a:ext uri="{FF2B5EF4-FFF2-40B4-BE49-F238E27FC236}">
                <a16:creationId xmlns:a16="http://schemas.microsoft.com/office/drawing/2014/main" id="{7F820FD5-0367-8F46-AC0B-E4EC148305F8}"/>
              </a:ext>
            </a:extLst>
          </p:cNvPr>
          <p:cNvSpPr txBox="1">
            <a:spLocks noChangeArrowheads="1"/>
          </p:cNvSpPr>
          <p:nvPr/>
        </p:nvSpPr>
        <p:spPr bwMode="gray">
          <a:xfrm>
            <a:off x="819150" y="4784725"/>
            <a:ext cx="7281863" cy="1463675"/>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访问控制功能的实施</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控制实施部件如何获得实体的访问控制信息</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怎样执行</a:t>
            </a:r>
          </a:p>
        </p:txBody>
      </p:sp>
      <p:sp>
        <p:nvSpPr>
          <p:cNvPr id="2" name="矩形 1">
            <a:extLst>
              <a:ext uri="{FF2B5EF4-FFF2-40B4-BE49-F238E27FC236}">
                <a16:creationId xmlns:a16="http://schemas.microsoft.com/office/drawing/2014/main" id="{0F4E5877-F451-B140-8828-F346B08B5D3B}"/>
              </a:ext>
            </a:extLst>
          </p:cNvPr>
          <p:cNvSpPr/>
          <p:nvPr/>
        </p:nvSpPr>
        <p:spPr>
          <a:xfrm>
            <a:off x="719138" y="1590675"/>
            <a:ext cx="8101012" cy="1630363"/>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访问控制信息（</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ACI</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）的表示</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主体访问控制属性</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客体访问控制属性</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访问控制政策规则</a:t>
            </a:r>
          </a:p>
        </p:txBody>
      </p:sp>
      <p:sp>
        <p:nvSpPr>
          <p:cNvPr id="3" name="矩形 2">
            <a:extLst>
              <a:ext uri="{FF2B5EF4-FFF2-40B4-BE49-F238E27FC236}">
                <a16:creationId xmlns:a16="http://schemas.microsoft.com/office/drawing/2014/main" id="{05C2902C-3E5E-904D-9491-B5EB0A0F5589}"/>
              </a:ext>
            </a:extLst>
          </p:cNvPr>
          <p:cNvSpPr/>
          <p:nvPr/>
        </p:nvSpPr>
        <p:spPr>
          <a:xfrm>
            <a:off x="719138" y="3344863"/>
            <a:ext cx="6948487" cy="1262062"/>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授权（</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Authorization</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怎样把访问控制属性信息分配给主体或客体</a:t>
            </a:r>
          </a:p>
          <a:p>
            <a:pPr lvl="1" eaLnBrk="1" hangingPunct="1">
              <a:spcBef>
                <a:spcPct val="20000"/>
              </a:spcBef>
              <a:buClr>
                <a:srgbClr val="FF9900"/>
              </a:buClr>
              <a:buFont typeface="Wingdings" pitchFamily="2" charset="2"/>
              <a:buChar char="§"/>
              <a:defRPr/>
            </a:pPr>
            <a:r>
              <a:rPr lang="zh-CN" altLang="en-US" sz="2000" b="1">
                <a:effectLst>
                  <a:outerShdw blurRad="38100" dist="38100" dir="2700000" algn="tl">
                    <a:srgbClr val="C0C0C0"/>
                  </a:outerShdw>
                </a:effectLst>
                <a:latin typeface="黑体" panose="02010609060101010101" pitchFamily="49" charset="-122"/>
                <a:ea typeface="黑体" panose="02010609060101010101" pitchFamily="49" charset="-122"/>
              </a:rPr>
              <a:t>如何浏览、修改、回收访问控制权限</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E580C25E-25B9-724F-9B0F-233404B105CB}"/>
              </a:ext>
            </a:extLst>
          </p:cNvPr>
          <p:cNvSpPr>
            <a:spLocks noGrp="1" noChangeArrowheads="1"/>
          </p:cNvSpPr>
          <p:nvPr>
            <p:ph idx="1"/>
          </p:nvPr>
        </p:nvSpPr>
        <p:spPr>
          <a:xfrm>
            <a:off x="503238" y="3019425"/>
            <a:ext cx="8191500" cy="3168650"/>
          </a:xfrm>
        </p:spPr>
        <p:txBody>
          <a:bodyPr>
            <a:normAutofit/>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常见实现方法</a:t>
            </a:r>
            <a:endParaRPr lang="en-US" altLang="zh-CN" b="1">
              <a:solidFill>
                <a:srgbClr val="FF0000"/>
              </a:solidFill>
              <a:effectLst>
                <a:outerShdw blurRad="38100" dist="38100" dir="2700000" algn="tl">
                  <a:srgbClr val="C0C0C0"/>
                </a:outerShdw>
              </a:effectLst>
              <a:latin typeface="Times New Roman" panose="02020603050405020304" pitchFamily="18" charset="0"/>
            </a:endParaRPr>
          </a:p>
          <a:p>
            <a:pPr lvl="1">
              <a:defRPr/>
            </a:pPr>
            <a:r>
              <a:rPr lang="en-US" altLang="zh-CN" sz="2400" b="1">
                <a:effectLst>
                  <a:outerShdw blurRad="38100" dist="38100" dir="2700000" algn="tl">
                    <a:srgbClr val="C0C0C0"/>
                  </a:outerShdw>
                </a:effectLst>
                <a:latin typeface="Times New Roman" panose="02020603050405020304" pitchFamily="18" charset="0"/>
              </a:rPr>
              <a:t> </a:t>
            </a:r>
            <a:r>
              <a:rPr lang="zh-CN" altLang="en-US" sz="2400" b="1">
                <a:effectLst>
                  <a:outerShdw blurRad="38100" dist="38100" dir="2700000" algn="tl">
                    <a:srgbClr val="C0C0C0"/>
                  </a:outerShdw>
                </a:effectLst>
                <a:latin typeface="Times New Roman" panose="02020603050405020304" pitchFamily="18" charset="0"/>
              </a:rPr>
              <a:t>访问控制表</a:t>
            </a:r>
            <a:r>
              <a:rPr lang="zh-CN" altLang="zh-CN" sz="2400" b="1">
                <a:effectLst>
                  <a:outerShdw blurRad="38100" dist="38100" dir="2700000" algn="tl">
                    <a:srgbClr val="C0C0C0"/>
                  </a:outerShdw>
                </a:effectLst>
                <a:latin typeface="Times New Roman" panose="02020603050405020304" pitchFamily="18" charset="0"/>
              </a:rPr>
              <a:t>ACL</a:t>
            </a:r>
            <a:r>
              <a:rPr lang="zh-CN" altLang="en-US" sz="2400" b="1">
                <a:effectLst>
                  <a:outerShdw blurRad="38100" dist="38100" dir="2700000" algn="tl">
                    <a:srgbClr val="C0C0C0"/>
                  </a:outerShdw>
                </a:effectLst>
                <a:latin typeface="Times New Roman" panose="02020603050405020304" pitchFamily="18" charset="0"/>
              </a:rPr>
              <a:t>（</a:t>
            </a:r>
            <a:r>
              <a:rPr lang="en-US" altLang="zh-CN" sz="2400" b="1">
                <a:effectLst>
                  <a:outerShdw blurRad="38100" dist="38100" dir="2700000" algn="tl">
                    <a:srgbClr val="C0C0C0"/>
                  </a:outerShdw>
                </a:effectLst>
                <a:latin typeface="Times New Roman" panose="02020603050405020304" pitchFamily="18" charset="0"/>
              </a:rPr>
              <a:t>Access Control List)</a:t>
            </a:r>
            <a:endParaRPr lang="zh-CN" altLang="zh-CN" sz="2400" b="1">
              <a:effectLst>
                <a:outerShdw blurRad="38100" dist="38100" dir="2700000" algn="tl">
                  <a:srgbClr val="C0C0C0"/>
                </a:outerShdw>
              </a:effectLst>
              <a:latin typeface="Times New Roman" panose="02020603050405020304" pitchFamily="18" charset="0"/>
            </a:endParaRPr>
          </a:p>
          <a:p>
            <a:pPr lvl="1">
              <a:defRPr/>
            </a:pPr>
            <a:r>
              <a:rPr lang="en-US" altLang="zh-CN" sz="2400" b="1">
                <a:effectLst>
                  <a:outerShdw blurRad="38100" dist="38100" dir="2700000" algn="tl">
                    <a:srgbClr val="C0C0C0"/>
                  </a:outerShdw>
                </a:effectLst>
                <a:latin typeface="Times New Roman" panose="02020603050405020304" pitchFamily="18" charset="0"/>
              </a:rPr>
              <a:t> </a:t>
            </a:r>
            <a:r>
              <a:rPr lang="zh-CN" altLang="zh-CN" sz="2400" b="1">
                <a:effectLst>
                  <a:outerShdw blurRad="38100" dist="38100" dir="2700000" algn="tl">
                    <a:srgbClr val="C0C0C0"/>
                  </a:outerShdw>
                </a:effectLst>
                <a:latin typeface="Times New Roman" panose="02020603050405020304" pitchFamily="18" charset="0"/>
              </a:rPr>
              <a:t>访问能力表（Capabilities</a:t>
            </a:r>
            <a:r>
              <a:rPr lang="en-US" altLang="zh-CN" sz="2400" b="1">
                <a:effectLst>
                  <a:outerShdw blurRad="38100" dist="38100" dir="2700000" algn="tl">
                    <a:srgbClr val="C0C0C0"/>
                  </a:outerShdw>
                </a:effectLst>
                <a:latin typeface="Times New Roman" panose="02020603050405020304" pitchFamily="18" charset="0"/>
              </a:rPr>
              <a:t> List</a:t>
            </a:r>
            <a:r>
              <a:rPr lang="zh-CN" altLang="zh-CN" sz="2400" b="1">
                <a:effectLst>
                  <a:outerShdw blurRad="38100" dist="38100" dir="2700000" algn="tl">
                    <a:srgbClr val="C0C0C0"/>
                  </a:outerShdw>
                </a:effectLst>
                <a:latin typeface="Times New Roman" panose="02020603050405020304" pitchFamily="18" charset="0"/>
              </a:rPr>
              <a:t>)</a:t>
            </a:r>
            <a:endParaRPr lang="en-US" altLang="zh-CN" sz="2400" b="1">
              <a:effectLst>
                <a:outerShdw blurRad="38100" dist="38100" dir="2700000" algn="tl">
                  <a:srgbClr val="C0C0C0"/>
                </a:outerShdw>
              </a:effectLst>
              <a:latin typeface="Times New Roman" panose="02020603050405020304" pitchFamily="18" charset="0"/>
            </a:endParaRPr>
          </a:p>
          <a:p>
            <a:pPr lvl="1">
              <a:defRPr/>
            </a:pPr>
            <a:r>
              <a:rPr lang="en-US" altLang="zh-CN" sz="2400" b="1">
                <a:effectLst>
                  <a:outerShdw blurRad="38100" dist="38100" dir="2700000" algn="tl">
                    <a:srgbClr val="C0C0C0"/>
                  </a:outerShdw>
                </a:effectLst>
                <a:latin typeface="Times New Roman" panose="02020603050405020304" pitchFamily="18" charset="0"/>
              </a:rPr>
              <a:t> </a:t>
            </a:r>
            <a:r>
              <a:rPr lang="zh-CN" altLang="en-US" sz="2400" b="1">
                <a:effectLst>
                  <a:outerShdw blurRad="38100" dist="38100" dir="2700000" algn="tl">
                    <a:srgbClr val="C0C0C0"/>
                  </a:outerShdw>
                </a:effectLst>
                <a:latin typeface="Times New Roman" panose="02020603050405020304" pitchFamily="18" charset="0"/>
              </a:rPr>
              <a:t>访问控制矩阵</a:t>
            </a:r>
          </a:p>
          <a:p>
            <a:pPr lvl="1">
              <a:defRPr/>
            </a:pPr>
            <a:r>
              <a:rPr lang="zh-CN" altLang="en-US" sz="2400" b="1">
                <a:effectLst>
                  <a:outerShdw blurRad="38100" dist="38100" dir="2700000" algn="tl">
                    <a:srgbClr val="C0C0C0"/>
                  </a:outerShdw>
                </a:effectLst>
                <a:latin typeface="Times New Roman" panose="02020603050405020304" pitchFamily="18" charset="0"/>
              </a:rPr>
              <a:t> </a:t>
            </a:r>
            <a:r>
              <a:rPr lang="zh-CN" altLang="zh-CN" sz="2400" b="1">
                <a:effectLst>
                  <a:outerShdw blurRad="38100" dist="38100" dir="2700000" algn="tl">
                    <a:srgbClr val="C0C0C0"/>
                  </a:outerShdw>
                </a:effectLst>
                <a:latin typeface="Times New Roman" panose="02020603050405020304" pitchFamily="18" charset="0"/>
              </a:rPr>
              <a:t>授权关系表</a:t>
            </a:r>
            <a:endParaRPr lang="zh-CN" altLang="en-US" sz="2400" b="1">
              <a:effectLst>
                <a:outerShdw blurRad="38100" dist="38100" dir="2700000" algn="tl">
                  <a:srgbClr val="C0C0C0"/>
                </a:outerShdw>
              </a:effectLst>
              <a:latin typeface="Times New Roman" panose="02020603050405020304" pitchFamily="18" charset="0"/>
            </a:endParaRPr>
          </a:p>
          <a:p>
            <a:pPr lvl="1">
              <a:defRPr/>
            </a:pPr>
            <a:r>
              <a:rPr lang="zh-CN" altLang="en-US" sz="2400" b="1">
                <a:effectLst>
                  <a:outerShdw blurRad="38100" dist="38100" dir="2700000" algn="tl">
                    <a:srgbClr val="C0C0C0"/>
                  </a:outerShdw>
                </a:effectLst>
                <a:latin typeface="Times New Roman" panose="02020603050405020304" pitchFamily="18" charset="0"/>
              </a:rPr>
              <a:t> 访问控制安全标签</a:t>
            </a:r>
            <a:endParaRPr lang="en-US" altLang="zh-CN" sz="2400" b="1">
              <a:effectLst>
                <a:outerShdw blurRad="38100" dist="38100" dir="2700000" algn="tl">
                  <a:srgbClr val="C0C0C0"/>
                </a:outerShdw>
              </a:effectLst>
              <a:latin typeface="Times New Roman" panose="02020603050405020304" pitchFamily="18" charset="0"/>
            </a:endParaRPr>
          </a:p>
          <a:p>
            <a:pPr lvl="1">
              <a:defRPr/>
            </a:pPr>
            <a:r>
              <a:rPr lang="zh-CN" altLang="en-US" sz="2400" b="1">
                <a:effectLst>
                  <a:outerShdw blurRad="38100" dist="38100" dir="2700000" algn="tl">
                    <a:srgbClr val="C0C0C0"/>
                  </a:outerShdw>
                </a:effectLst>
                <a:latin typeface="Times New Roman" panose="02020603050405020304" pitchFamily="18" charset="0"/>
              </a:rPr>
              <a:t> 其它</a:t>
            </a:r>
          </a:p>
        </p:txBody>
      </p:sp>
      <p:sp>
        <p:nvSpPr>
          <p:cNvPr id="128002" name="Rectangle 2">
            <a:extLst>
              <a:ext uri="{FF2B5EF4-FFF2-40B4-BE49-F238E27FC236}">
                <a16:creationId xmlns:a16="http://schemas.microsoft.com/office/drawing/2014/main" id="{F1CA748C-6813-8A4D-958C-E9F4268E14C1}"/>
              </a:ext>
            </a:extLst>
          </p:cNvPr>
          <p:cNvSpPr>
            <a:spLocks noGrp="1" noChangeArrowheads="1"/>
          </p:cNvSpPr>
          <p:nvPr>
            <p:ph type="title"/>
          </p:nvPr>
        </p:nvSpPr>
        <p:spPr>
          <a:xfrm>
            <a:off x="395288" y="72866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访问控制的一般实现机制和方法</a:t>
            </a:r>
          </a:p>
        </p:txBody>
      </p:sp>
      <p:sp>
        <p:nvSpPr>
          <p:cNvPr id="2" name="矩形 1">
            <a:extLst>
              <a:ext uri="{FF2B5EF4-FFF2-40B4-BE49-F238E27FC236}">
                <a16:creationId xmlns:a16="http://schemas.microsoft.com/office/drawing/2014/main" id="{5BB0CFA7-17AA-4149-8EF8-8EA45EBA4C2B}"/>
              </a:ext>
            </a:extLst>
          </p:cNvPr>
          <p:cNvSpPr/>
          <p:nvPr/>
        </p:nvSpPr>
        <p:spPr>
          <a:xfrm>
            <a:off x="503238" y="1592263"/>
            <a:ext cx="8424862" cy="140970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一般实现机制</a:t>
            </a:r>
            <a:endPar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基于访问控制属性：访问控制表</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矩阵</a:t>
            </a:r>
          </a:p>
          <a:p>
            <a:pPr lvl="1">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基于用户和资源分级（“安全标签”）：多级访问控制</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3250">
                                            <p:txEl>
                                              <p:pRg st="0" end="0"/>
                                            </p:txEl>
                                          </p:spTgt>
                                        </p:tgtEl>
                                        <p:attrNameLst>
                                          <p:attrName>style.visibility</p:attrName>
                                        </p:attrNameLst>
                                      </p:cBhvr>
                                      <p:to>
                                        <p:strVal val="visible"/>
                                      </p:to>
                                    </p:set>
                                    <p:animEffect transition="in" filter="wipe(up)">
                                      <p:cBhvr>
                                        <p:cTn id="13" dur="500"/>
                                        <p:tgtEl>
                                          <p:spTgt spid="53250">
                                            <p:txEl>
                                              <p:pRg st="0" end="0"/>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3250">
                                            <p:txEl>
                                              <p:pRg st="1" end="1"/>
                                            </p:txEl>
                                          </p:spTgt>
                                        </p:tgtEl>
                                        <p:attrNameLst>
                                          <p:attrName>style.visibility</p:attrName>
                                        </p:attrNameLst>
                                      </p:cBhvr>
                                      <p:to>
                                        <p:strVal val="visible"/>
                                      </p:to>
                                    </p:set>
                                    <p:animEffect transition="in" filter="wipe(up)">
                                      <p:cBhvr>
                                        <p:cTn id="16" dur="500"/>
                                        <p:tgtEl>
                                          <p:spTgt spid="53250">
                                            <p:txEl>
                                              <p:pRg st="1" end="1"/>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3250">
                                            <p:txEl>
                                              <p:pRg st="2" end="2"/>
                                            </p:txEl>
                                          </p:spTgt>
                                        </p:tgtEl>
                                        <p:attrNameLst>
                                          <p:attrName>style.visibility</p:attrName>
                                        </p:attrNameLst>
                                      </p:cBhvr>
                                      <p:to>
                                        <p:strVal val="visible"/>
                                      </p:to>
                                    </p:set>
                                    <p:animEffect transition="in" filter="wipe(up)">
                                      <p:cBhvr>
                                        <p:cTn id="19" dur="500"/>
                                        <p:tgtEl>
                                          <p:spTgt spid="53250">
                                            <p:txEl>
                                              <p:pRg st="2" end="2"/>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3250">
                                            <p:txEl>
                                              <p:pRg st="3" end="3"/>
                                            </p:txEl>
                                          </p:spTgt>
                                        </p:tgtEl>
                                        <p:attrNameLst>
                                          <p:attrName>style.visibility</p:attrName>
                                        </p:attrNameLst>
                                      </p:cBhvr>
                                      <p:to>
                                        <p:strVal val="visible"/>
                                      </p:to>
                                    </p:set>
                                    <p:animEffect transition="in" filter="wipe(up)">
                                      <p:cBhvr>
                                        <p:cTn id="22" dur="500"/>
                                        <p:tgtEl>
                                          <p:spTgt spid="53250">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3250">
                                            <p:txEl>
                                              <p:pRg st="4" end="4"/>
                                            </p:txEl>
                                          </p:spTgt>
                                        </p:tgtEl>
                                        <p:attrNameLst>
                                          <p:attrName>style.visibility</p:attrName>
                                        </p:attrNameLst>
                                      </p:cBhvr>
                                      <p:to>
                                        <p:strVal val="visible"/>
                                      </p:to>
                                    </p:set>
                                    <p:animEffect transition="in" filter="wipe(up)">
                                      <p:cBhvr>
                                        <p:cTn id="25" dur="500"/>
                                        <p:tgtEl>
                                          <p:spTgt spid="53250">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53250">
                                            <p:txEl>
                                              <p:pRg st="5" end="5"/>
                                            </p:txEl>
                                          </p:spTgt>
                                        </p:tgtEl>
                                        <p:attrNameLst>
                                          <p:attrName>style.visibility</p:attrName>
                                        </p:attrNameLst>
                                      </p:cBhvr>
                                      <p:to>
                                        <p:strVal val="visible"/>
                                      </p:to>
                                    </p:set>
                                    <p:animEffect transition="in" filter="wipe(up)">
                                      <p:cBhvr>
                                        <p:cTn id="28" dur="500"/>
                                        <p:tgtEl>
                                          <p:spTgt spid="53250">
                                            <p:txEl>
                                              <p:pRg st="5" end="5"/>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53250">
                                            <p:txEl>
                                              <p:pRg st="6" end="6"/>
                                            </p:txEl>
                                          </p:spTgt>
                                        </p:tgtEl>
                                        <p:attrNameLst>
                                          <p:attrName>style.visibility</p:attrName>
                                        </p:attrNameLst>
                                      </p:cBhvr>
                                      <p:to>
                                        <p:strVal val="visible"/>
                                      </p:to>
                                    </p:set>
                                    <p:animEffect transition="in" filter="wipe(up)">
                                      <p:cBhvr>
                                        <p:cTn id="31" dur="500"/>
                                        <p:tgtEl>
                                          <p:spTgt spid="5325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DE783A42-72AF-0F43-B794-0C275B2B03A9}"/>
              </a:ext>
            </a:extLst>
          </p:cNvPr>
          <p:cNvSpPr>
            <a:spLocks noGrp="1"/>
          </p:cNvSpPr>
          <p:nvPr>
            <p:ph type="title"/>
          </p:nvPr>
        </p:nvSpPr>
        <p:spPr>
          <a:xfrm>
            <a:off x="573088" y="881063"/>
            <a:ext cx="7235825" cy="4889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r>
              <a:rPr lang="en-US" altLang="zh-CN">
                <a:solidFill>
                  <a:srgbClr val="0033CC"/>
                </a:solidFill>
                <a:effectLst>
                  <a:outerShdw blurRad="38100" dist="38100" dir="2700000" algn="tl">
                    <a:srgbClr val="C0C0C0"/>
                  </a:outerShdw>
                </a:effectLst>
                <a:latin typeface="Times New Roman" panose="02020603050405020304" pitchFamily="18" charset="0"/>
              </a:rPr>
              <a:t>Access Control List</a:t>
            </a:r>
            <a:r>
              <a:rPr lang="zh-CN" altLang="en-US">
                <a:solidFill>
                  <a:srgbClr val="0033CC"/>
                </a:solidFill>
                <a:effectLst>
                  <a:outerShdw blurRad="38100" dist="38100" dir="2700000" algn="tl">
                    <a:srgbClr val="C0C0C0"/>
                  </a:outerShdw>
                </a:effectLst>
                <a:latin typeface="Times New Roman" panose="02020603050405020304" pitchFamily="18" charset="0"/>
              </a:rPr>
              <a:t>）</a:t>
            </a:r>
          </a:p>
        </p:txBody>
      </p:sp>
      <p:sp>
        <p:nvSpPr>
          <p:cNvPr id="7" name="Rectangle 3">
            <a:extLst>
              <a:ext uri="{FF2B5EF4-FFF2-40B4-BE49-F238E27FC236}">
                <a16:creationId xmlns:a16="http://schemas.microsoft.com/office/drawing/2014/main" id="{BBBE3767-F037-0D4B-9979-4625E26061CA}"/>
              </a:ext>
            </a:extLst>
          </p:cNvPr>
          <p:cNvSpPr txBox="1">
            <a:spLocks noChangeArrowheads="1"/>
          </p:cNvSpPr>
          <p:nvPr/>
        </p:nvSpPr>
        <p:spPr bwMode="gray">
          <a:xfrm>
            <a:off x="755650" y="4489450"/>
            <a:ext cx="8001000" cy="187325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buClr>
                <a:srgbClr val="3399FF"/>
              </a:buClr>
              <a:buFont typeface="Wingdings" pitchFamily="2" charset="2"/>
              <a:buChar char="v"/>
              <a:defRPr/>
            </a:pPr>
            <a:r>
              <a:rPr lang="zh-CN" altLang="en-US" sz="24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访问控制表与客体关联</a:t>
            </a:r>
            <a:r>
              <a:rPr lang="zh-CN" altLang="en-US" sz="2400" b="1" dirty="0">
                <a:effectLst>
                  <a:outerShdw blurRad="38100" dist="38100" dir="2700000" algn="tl">
                    <a:srgbClr val="C0C0C0"/>
                  </a:outerShdw>
                </a:effectLst>
                <a:latin typeface="黑体" panose="02010609060101010101" pitchFamily="49" charset="-122"/>
                <a:ea typeface="黑体" panose="02010609060101010101" pitchFamily="49" charset="-122"/>
              </a:rPr>
              <a:t>，规定能够访问它的主体和权限</a:t>
            </a:r>
          </a:p>
          <a:p>
            <a:pPr eaLnBrk="1" hangingPunct="1">
              <a:lnSpc>
                <a:spcPct val="80000"/>
              </a:lnSpc>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黑体" panose="02010609060101010101" pitchFamily="49" charset="-122"/>
                <a:ea typeface="黑体" panose="02010609060101010101" pitchFamily="49" charset="-122"/>
              </a:rPr>
              <a:t>由于主体数量一般比客体少得多而且容易分组，授权管理相对简单</a:t>
            </a:r>
          </a:p>
          <a:p>
            <a:pPr eaLnBrk="1" hangingPunct="1">
              <a:lnSpc>
                <a:spcPct val="80000"/>
              </a:lnSpc>
              <a:spcBef>
                <a:spcPct val="20000"/>
              </a:spcBef>
              <a:buClr>
                <a:srgbClr val="3399FF"/>
              </a:buClr>
              <a:buFont typeface="Wingdings" pitchFamily="2" charset="2"/>
              <a:buChar char="v"/>
              <a:defRPr/>
            </a:pPr>
            <a:r>
              <a:rPr lang="zh-CN" altLang="en-US" sz="24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得到一个客体所有的访问权限</a:t>
            </a:r>
            <a:r>
              <a:rPr lang="zh-CN" altLang="en-US" sz="2400" b="1" dirty="0">
                <a:effectLst>
                  <a:outerShdw blurRad="38100" dist="38100" dir="2700000" algn="tl">
                    <a:srgbClr val="C0C0C0"/>
                  </a:outerShdw>
                </a:effectLst>
                <a:latin typeface="黑体" panose="02010609060101010101" pitchFamily="49" charset="-122"/>
                <a:ea typeface="黑体" panose="02010609060101010101" pitchFamily="49" charset="-122"/>
              </a:rPr>
              <a:t>，很容易</a:t>
            </a:r>
          </a:p>
          <a:p>
            <a:pPr eaLnBrk="1" hangingPunct="1">
              <a:lnSpc>
                <a:spcPct val="80000"/>
              </a:lnSpc>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黑体" panose="02010609060101010101" pitchFamily="49" charset="-122"/>
                <a:ea typeface="黑体" panose="02010609060101010101" pitchFamily="49" charset="-122"/>
              </a:rPr>
              <a:t>浏览一个主体的所有访问权限，很困难</a:t>
            </a:r>
          </a:p>
        </p:txBody>
      </p:sp>
      <p:grpSp>
        <p:nvGrpSpPr>
          <p:cNvPr id="34819" name="组合 1">
            <a:extLst>
              <a:ext uri="{FF2B5EF4-FFF2-40B4-BE49-F238E27FC236}">
                <a16:creationId xmlns:a16="http://schemas.microsoft.com/office/drawing/2014/main" id="{C19CBEC1-BBFC-A84A-B030-DE170E526990}"/>
              </a:ext>
            </a:extLst>
          </p:cNvPr>
          <p:cNvGrpSpPr>
            <a:grpSpLocks/>
          </p:cNvGrpSpPr>
          <p:nvPr/>
        </p:nvGrpSpPr>
        <p:grpSpPr bwMode="auto">
          <a:xfrm>
            <a:off x="935038" y="1652588"/>
            <a:ext cx="6824662" cy="2554287"/>
            <a:chOff x="935596" y="1652491"/>
            <a:chExt cx="6824662" cy="2554545"/>
          </a:xfrm>
        </p:grpSpPr>
        <p:sp>
          <p:nvSpPr>
            <p:cNvPr id="34821" name="Line 4">
              <a:extLst>
                <a:ext uri="{FF2B5EF4-FFF2-40B4-BE49-F238E27FC236}">
                  <a16:creationId xmlns:a16="http://schemas.microsoft.com/office/drawing/2014/main" id="{60F39A85-485F-B343-A990-855E12C5DFAE}"/>
                </a:ext>
              </a:extLst>
            </p:cNvPr>
            <p:cNvSpPr>
              <a:spLocks noChangeShapeType="1"/>
            </p:cNvSpPr>
            <p:nvPr/>
          </p:nvSpPr>
          <p:spPr bwMode="auto">
            <a:xfrm>
              <a:off x="2769158" y="2266949"/>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2" name="Line 5">
              <a:extLst>
                <a:ext uri="{FF2B5EF4-FFF2-40B4-BE49-F238E27FC236}">
                  <a16:creationId xmlns:a16="http://schemas.microsoft.com/office/drawing/2014/main" id="{85FA2451-7315-1441-B6D7-1EF5055D9353}"/>
                </a:ext>
              </a:extLst>
            </p:cNvPr>
            <p:cNvSpPr>
              <a:spLocks noChangeShapeType="1"/>
            </p:cNvSpPr>
            <p:nvPr/>
          </p:nvSpPr>
          <p:spPr bwMode="auto">
            <a:xfrm>
              <a:off x="2769158" y="3790950"/>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3" name="Line 11">
              <a:extLst>
                <a:ext uri="{FF2B5EF4-FFF2-40B4-BE49-F238E27FC236}">
                  <a16:creationId xmlns:a16="http://schemas.microsoft.com/office/drawing/2014/main" id="{5F3C0586-8670-0A47-AF6A-A09E9431CAD3}"/>
                </a:ext>
              </a:extLst>
            </p:cNvPr>
            <p:cNvSpPr>
              <a:spLocks noChangeShapeType="1"/>
            </p:cNvSpPr>
            <p:nvPr/>
          </p:nvSpPr>
          <p:spPr bwMode="auto">
            <a:xfrm>
              <a:off x="5283758" y="4171950"/>
              <a:ext cx="685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4" name="Line 17">
              <a:extLst>
                <a:ext uri="{FF2B5EF4-FFF2-40B4-BE49-F238E27FC236}">
                  <a16:creationId xmlns:a16="http://schemas.microsoft.com/office/drawing/2014/main" id="{45B70CB6-2DF7-F344-B76B-50A9B67A480F}"/>
                </a:ext>
              </a:extLst>
            </p:cNvPr>
            <p:cNvSpPr>
              <a:spLocks noChangeShapeType="1"/>
            </p:cNvSpPr>
            <p:nvPr/>
          </p:nvSpPr>
          <p:spPr bwMode="auto">
            <a:xfrm>
              <a:off x="1854758" y="1962148"/>
              <a:ext cx="914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Text Box 20" descr="白色大理石">
              <a:extLst>
                <a:ext uri="{FF2B5EF4-FFF2-40B4-BE49-F238E27FC236}">
                  <a16:creationId xmlns:a16="http://schemas.microsoft.com/office/drawing/2014/main" id="{F3F0B65F-5CD2-1745-8FE8-2B35646111D2}"/>
                </a:ext>
              </a:extLst>
            </p:cNvPr>
            <p:cNvSpPr txBox="1">
              <a:spLocks noChangeArrowheads="1"/>
            </p:cNvSpPr>
            <p:nvPr/>
          </p:nvSpPr>
          <p:spPr bwMode="auto">
            <a:xfrm>
              <a:off x="2769158" y="1682656"/>
              <a:ext cx="1295400" cy="2494215"/>
            </a:xfrm>
            <a:prstGeom prst="rect">
              <a:avLst/>
            </a:prstGeom>
            <a:ln w="38100"/>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spcBef>
                  <a:spcPct val="50000"/>
                </a:spcBef>
                <a:defRPr/>
              </a:pPr>
              <a:r>
                <a:rPr kumimoji="1" lang="zh-CN" altLang="zh-CN" sz="2400" dirty="0">
                  <a:latin typeface="Times New Roman" panose="02020603050405020304" pitchFamily="18" charset="0"/>
                </a:rPr>
                <a:t>userA</a:t>
              </a:r>
            </a:p>
            <a:p>
              <a:pPr algn="ctr" eaLnBrk="1" hangingPunct="1">
                <a:lnSpc>
                  <a:spcPts val="2400"/>
                </a:lnSpc>
                <a:spcBef>
                  <a:spcPct val="50000"/>
                </a:spcBef>
                <a:defRPr/>
              </a:pPr>
              <a:r>
                <a:rPr kumimoji="1" lang="en-US" altLang="zh-CN" sz="2400" dirty="0">
                  <a:solidFill>
                    <a:srgbClr val="FF3300"/>
                  </a:solidFill>
                  <a:latin typeface="Times New Roman" panose="02020603050405020304" pitchFamily="18" charset="0"/>
                </a:rPr>
                <a:t>Own</a:t>
              </a:r>
            </a:p>
            <a:p>
              <a:pPr algn="ctr" eaLnBrk="1" hangingPunct="1">
                <a:lnSpc>
                  <a:spcPts val="2400"/>
                </a:lnSpc>
                <a:spcBef>
                  <a:spcPct val="50000"/>
                </a:spcBef>
                <a:defRPr/>
              </a:pPr>
              <a:r>
                <a:rPr kumimoji="1" lang="en-US" altLang="zh-CN" sz="2400" dirty="0">
                  <a:solidFill>
                    <a:srgbClr val="FF3300"/>
                  </a:solidFill>
                  <a:latin typeface="Times New Roman" panose="02020603050405020304" pitchFamily="18" charset="0"/>
                </a:rPr>
                <a:t>R</a:t>
              </a:r>
            </a:p>
            <a:p>
              <a:pPr algn="ctr" eaLnBrk="1" hangingPunct="1">
                <a:lnSpc>
                  <a:spcPts val="2400"/>
                </a:lnSpc>
                <a:spcBef>
                  <a:spcPct val="50000"/>
                </a:spcBef>
                <a:defRPr/>
              </a:pPr>
              <a:r>
                <a:rPr kumimoji="1" lang="en-US" altLang="zh-CN" sz="2400" dirty="0">
                  <a:solidFill>
                    <a:srgbClr val="FF3300"/>
                  </a:solidFill>
                  <a:latin typeface="Times New Roman" panose="02020603050405020304" pitchFamily="18" charset="0"/>
                </a:rPr>
                <a:t>W</a:t>
              </a:r>
            </a:p>
            <a:p>
              <a:pPr algn="ctr" eaLnBrk="1" hangingPunct="1">
                <a:spcBef>
                  <a:spcPct val="50000"/>
                </a:spcBef>
                <a:defRPr/>
              </a:pPr>
              <a:r>
                <a:rPr kumimoji="1" lang="en-US" altLang="zh-CN" sz="2400" dirty="0">
                  <a:latin typeface="Times New Roman" panose="02020603050405020304" pitchFamily="18" charset="0"/>
                </a:rPr>
                <a:t>O</a:t>
              </a:r>
            </a:p>
          </p:txBody>
        </p:sp>
        <p:sp>
          <p:nvSpPr>
            <p:cNvPr id="34826" name="Line 21">
              <a:extLst>
                <a:ext uri="{FF2B5EF4-FFF2-40B4-BE49-F238E27FC236}">
                  <a16:creationId xmlns:a16="http://schemas.microsoft.com/office/drawing/2014/main" id="{81CE6569-2F26-764D-8B0F-5742EA4F1C7C}"/>
                </a:ext>
              </a:extLst>
            </p:cNvPr>
            <p:cNvSpPr>
              <a:spLocks noChangeShapeType="1"/>
            </p:cNvSpPr>
            <p:nvPr/>
          </p:nvSpPr>
          <p:spPr bwMode="auto">
            <a:xfrm>
              <a:off x="2769158" y="2266949"/>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22">
              <a:extLst>
                <a:ext uri="{FF2B5EF4-FFF2-40B4-BE49-F238E27FC236}">
                  <a16:creationId xmlns:a16="http://schemas.microsoft.com/office/drawing/2014/main" id="{FE53A917-6788-5345-A897-CE52CD1CFC6B}"/>
                </a:ext>
              </a:extLst>
            </p:cNvPr>
            <p:cNvSpPr>
              <a:spLocks noChangeShapeType="1"/>
            </p:cNvSpPr>
            <p:nvPr/>
          </p:nvSpPr>
          <p:spPr bwMode="auto">
            <a:xfrm>
              <a:off x="2769158" y="3573016"/>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Text Box 29" descr="白色大理石">
              <a:extLst>
                <a:ext uri="{FF2B5EF4-FFF2-40B4-BE49-F238E27FC236}">
                  <a16:creationId xmlns:a16="http://schemas.microsoft.com/office/drawing/2014/main" id="{C12F4BC1-6C49-3841-87CC-5F619991B509}"/>
                </a:ext>
              </a:extLst>
            </p:cNvPr>
            <p:cNvSpPr txBox="1">
              <a:spLocks noChangeArrowheads="1"/>
            </p:cNvSpPr>
            <p:nvPr/>
          </p:nvSpPr>
          <p:spPr bwMode="auto">
            <a:xfrm>
              <a:off x="935596" y="1709647"/>
              <a:ext cx="914400" cy="457246"/>
            </a:xfrm>
            <a:prstGeom prst="rect">
              <a:avLst/>
            </a:prstGeom>
            <a:ln w="38100"/>
          </p:spPr>
          <p:style>
            <a:lnRef idx="2">
              <a:schemeClr val="accent1"/>
            </a:lnRef>
            <a:fillRef idx="1">
              <a:schemeClr val="lt1"/>
            </a:fillRef>
            <a:effectRef idx="0">
              <a:schemeClr val="accent1"/>
            </a:effectRef>
            <a:fontRef idx="minor">
              <a:schemeClr val="dk1"/>
            </a:fontRef>
          </p:style>
          <p:txBody>
            <a:bodyPr>
              <a:spAutoFit/>
            </a:bodyPr>
            <a:lstStyle/>
            <a:p>
              <a:pPr eaLnBrk="1" hangingPunct="1">
                <a:spcBef>
                  <a:spcPct val="50000"/>
                </a:spcBef>
                <a:defRPr/>
              </a:pPr>
              <a:r>
                <a:rPr kumimoji="1" lang="en-US" altLang="zh-CN" sz="2400">
                  <a:latin typeface="Times New Roman" panose="02020603050405020304" pitchFamily="18" charset="0"/>
                </a:rPr>
                <a:t>Obj1</a:t>
              </a:r>
            </a:p>
          </p:txBody>
        </p:sp>
        <p:sp>
          <p:nvSpPr>
            <p:cNvPr id="34829" name="Line 30">
              <a:extLst>
                <a:ext uri="{FF2B5EF4-FFF2-40B4-BE49-F238E27FC236}">
                  <a16:creationId xmlns:a16="http://schemas.microsoft.com/office/drawing/2014/main" id="{7934C723-8051-2B4A-80D5-0C2E56A175D8}"/>
                </a:ext>
              </a:extLst>
            </p:cNvPr>
            <p:cNvSpPr>
              <a:spLocks noChangeShapeType="1"/>
            </p:cNvSpPr>
            <p:nvPr/>
          </p:nvSpPr>
          <p:spPr bwMode="auto">
            <a:xfrm>
              <a:off x="1854758" y="1962150"/>
              <a:ext cx="914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0" name="Line 31">
              <a:extLst>
                <a:ext uri="{FF2B5EF4-FFF2-40B4-BE49-F238E27FC236}">
                  <a16:creationId xmlns:a16="http://schemas.microsoft.com/office/drawing/2014/main" id="{501DAEC5-E2E3-1B4C-B72B-207396D03ED1}"/>
                </a:ext>
              </a:extLst>
            </p:cNvPr>
            <p:cNvSpPr>
              <a:spLocks noChangeShapeType="1"/>
            </p:cNvSpPr>
            <p:nvPr/>
          </p:nvSpPr>
          <p:spPr bwMode="auto">
            <a:xfrm>
              <a:off x="3505200" y="4005064"/>
              <a:ext cx="685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32">
              <a:extLst>
                <a:ext uri="{FF2B5EF4-FFF2-40B4-BE49-F238E27FC236}">
                  <a16:creationId xmlns:a16="http://schemas.microsoft.com/office/drawing/2014/main" id="{1139FCB7-20A6-5740-BB69-73CB2988C8BF}"/>
                </a:ext>
              </a:extLst>
            </p:cNvPr>
            <p:cNvSpPr>
              <a:spLocks noChangeShapeType="1"/>
            </p:cNvSpPr>
            <p:nvPr/>
          </p:nvSpPr>
          <p:spPr bwMode="auto">
            <a:xfrm flipV="1">
              <a:off x="4191000" y="2038350"/>
              <a:ext cx="406958" cy="19907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32" name="Line 34">
              <a:extLst>
                <a:ext uri="{FF2B5EF4-FFF2-40B4-BE49-F238E27FC236}">
                  <a16:creationId xmlns:a16="http://schemas.microsoft.com/office/drawing/2014/main" id="{6EB3D7C6-B4C5-0A43-B845-9A18E06DA377}"/>
                </a:ext>
              </a:extLst>
            </p:cNvPr>
            <p:cNvSpPr>
              <a:spLocks noChangeShapeType="1"/>
            </p:cNvSpPr>
            <p:nvPr/>
          </p:nvSpPr>
          <p:spPr bwMode="auto">
            <a:xfrm flipV="1">
              <a:off x="5969558" y="2038348"/>
              <a:ext cx="457200" cy="196671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Text Box 20" descr="白色大理石">
              <a:extLst>
                <a:ext uri="{FF2B5EF4-FFF2-40B4-BE49-F238E27FC236}">
                  <a16:creationId xmlns:a16="http://schemas.microsoft.com/office/drawing/2014/main" id="{78B841DB-2AAC-1A4F-9B2F-DB620FFBD62F}"/>
                </a:ext>
              </a:extLst>
            </p:cNvPr>
            <p:cNvSpPr txBox="1">
              <a:spLocks noChangeArrowheads="1"/>
            </p:cNvSpPr>
            <p:nvPr/>
          </p:nvSpPr>
          <p:spPr bwMode="auto">
            <a:xfrm>
              <a:off x="4636058" y="1652491"/>
              <a:ext cx="1295400" cy="2554545"/>
            </a:xfrm>
            <a:prstGeom prst="rect">
              <a:avLst/>
            </a:prstGeom>
            <a:ln w="38100"/>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spcBef>
                  <a:spcPct val="50000"/>
                </a:spcBef>
                <a:defRPr/>
              </a:pPr>
              <a:r>
                <a:rPr lang="zh-CN" altLang="zh-CN" sz="2400">
                  <a:solidFill>
                    <a:srgbClr val="000000"/>
                  </a:solidFill>
                  <a:latin typeface="Times New Roman" panose="02020603050405020304" pitchFamily="18" charset="0"/>
                </a:rPr>
                <a:t>user</a:t>
              </a:r>
              <a:r>
                <a:rPr lang="en-US" altLang="zh-CN" sz="2400">
                  <a:solidFill>
                    <a:srgbClr val="000000"/>
                  </a:solidFill>
                  <a:latin typeface="Times New Roman" panose="02020603050405020304" pitchFamily="18" charset="0"/>
                </a:rPr>
                <a:t>B</a:t>
              </a:r>
              <a:endParaRPr lang="zh-CN" altLang="zh-CN" sz="2400">
                <a:solidFill>
                  <a:srgbClr val="000000"/>
                </a:solidFill>
                <a:latin typeface="Times New Roman" panose="02020603050405020304" pitchFamily="18" charset="0"/>
              </a:endParaRPr>
            </a:p>
            <a:p>
              <a:pPr algn="ctr" eaLnBrk="1" hangingPunct="1">
                <a:lnSpc>
                  <a:spcPts val="2400"/>
                </a:lnSpc>
                <a:spcBef>
                  <a:spcPct val="50000"/>
                </a:spcBef>
                <a:defRPr/>
              </a:pPr>
              <a:endParaRPr lang="en-US" altLang="zh-CN" sz="2400">
                <a:solidFill>
                  <a:srgbClr val="FF3300"/>
                </a:solidFill>
                <a:latin typeface="Times New Roman" panose="02020603050405020304" pitchFamily="18" charset="0"/>
              </a:endParaRPr>
            </a:p>
            <a:p>
              <a:pPr algn="ctr" eaLnBrk="1" hangingPunct="1">
                <a:lnSpc>
                  <a:spcPts val="2400"/>
                </a:lnSpc>
                <a:spcBef>
                  <a:spcPct val="50000"/>
                </a:spcBef>
                <a:defRPr/>
              </a:pPr>
              <a:r>
                <a:rPr lang="en-US" altLang="zh-CN" sz="2400">
                  <a:solidFill>
                    <a:srgbClr val="FF3300"/>
                  </a:solidFill>
                  <a:latin typeface="Times New Roman" panose="02020603050405020304" pitchFamily="18" charset="0"/>
                </a:rPr>
                <a:t>R</a:t>
              </a:r>
            </a:p>
            <a:p>
              <a:pPr algn="ctr" eaLnBrk="1" hangingPunct="1">
                <a:spcBef>
                  <a:spcPct val="50000"/>
                </a:spcBef>
                <a:defRPr/>
              </a:pPr>
              <a:endParaRPr lang="en-US" altLang="zh-CN" sz="2400">
                <a:solidFill>
                  <a:srgbClr val="000000"/>
                </a:solidFill>
                <a:latin typeface="Times New Roman" panose="02020603050405020304" pitchFamily="18" charset="0"/>
              </a:endParaRPr>
            </a:p>
            <a:p>
              <a:pPr algn="ctr" eaLnBrk="1" hangingPunct="1">
                <a:spcBef>
                  <a:spcPct val="50000"/>
                </a:spcBef>
                <a:defRPr/>
              </a:pPr>
              <a:r>
                <a:rPr lang="en-US" altLang="zh-CN" sz="2400">
                  <a:solidFill>
                    <a:srgbClr val="000000"/>
                  </a:solidFill>
                  <a:latin typeface="Times New Roman" panose="02020603050405020304" pitchFamily="18" charset="0"/>
                </a:rPr>
                <a:t>O</a:t>
              </a:r>
            </a:p>
          </p:txBody>
        </p:sp>
        <p:sp>
          <p:nvSpPr>
            <p:cNvPr id="48" name="Text Box 20" descr="白色大理石">
              <a:extLst>
                <a:ext uri="{FF2B5EF4-FFF2-40B4-BE49-F238E27FC236}">
                  <a16:creationId xmlns:a16="http://schemas.microsoft.com/office/drawing/2014/main" id="{D7301EF8-5245-264A-A76B-735C6D582266}"/>
                </a:ext>
              </a:extLst>
            </p:cNvPr>
            <p:cNvSpPr txBox="1">
              <a:spLocks noChangeArrowheads="1"/>
            </p:cNvSpPr>
            <p:nvPr/>
          </p:nvSpPr>
          <p:spPr bwMode="auto">
            <a:xfrm>
              <a:off x="6464858" y="1679481"/>
              <a:ext cx="1295400" cy="2492627"/>
            </a:xfrm>
            <a:prstGeom prst="rect">
              <a:avLst/>
            </a:prstGeom>
            <a:ln w="38100"/>
          </p:spPr>
          <p:style>
            <a:lnRef idx="2">
              <a:schemeClr val="accent1"/>
            </a:lnRef>
            <a:fillRef idx="1">
              <a:schemeClr val="lt1"/>
            </a:fillRef>
            <a:effectRef idx="0">
              <a:schemeClr val="accent1"/>
            </a:effectRef>
            <a:fontRef idx="minor">
              <a:schemeClr val="dk1"/>
            </a:fontRef>
          </p:style>
          <p:txBody>
            <a:bodyPr>
              <a:spAutoFit/>
            </a:bodyPr>
            <a:lstStyle/>
            <a:p>
              <a:pPr algn="ctr" eaLnBrk="1" hangingPunct="1">
                <a:spcBef>
                  <a:spcPct val="50000"/>
                </a:spcBef>
                <a:defRPr/>
              </a:pPr>
              <a:r>
                <a:rPr lang="zh-CN" altLang="zh-CN" sz="2400">
                  <a:solidFill>
                    <a:srgbClr val="000000"/>
                  </a:solidFill>
                  <a:latin typeface="Times New Roman" panose="02020603050405020304" pitchFamily="18" charset="0"/>
                </a:rPr>
                <a:t>userA</a:t>
              </a:r>
            </a:p>
            <a:p>
              <a:pPr algn="ctr" eaLnBrk="1" hangingPunct="1">
                <a:lnSpc>
                  <a:spcPts val="2400"/>
                </a:lnSpc>
                <a:spcBef>
                  <a:spcPct val="50000"/>
                </a:spcBef>
                <a:defRPr/>
              </a:pPr>
              <a:endParaRPr lang="en-US" altLang="zh-CN" sz="2400">
                <a:solidFill>
                  <a:srgbClr val="FF3300"/>
                </a:solidFill>
                <a:latin typeface="Times New Roman" panose="02020603050405020304" pitchFamily="18" charset="0"/>
              </a:endParaRPr>
            </a:p>
            <a:p>
              <a:pPr algn="ctr" eaLnBrk="1" hangingPunct="1">
                <a:lnSpc>
                  <a:spcPts val="2400"/>
                </a:lnSpc>
                <a:spcBef>
                  <a:spcPct val="50000"/>
                </a:spcBef>
                <a:defRPr/>
              </a:pPr>
              <a:r>
                <a:rPr lang="en-US" altLang="zh-CN" sz="2400">
                  <a:solidFill>
                    <a:srgbClr val="FF3300"/>
                  </a:solidFill>
                  <a:latin typeface="Times New Roman" panose="02020603050405020304" pitchFamily="18" charset="0"/>
                </a:rPr>
                <a:t>R</a:t>
              </a:r>
            </a:p>
            <a:p>
              <a:pPr algn="ctr" eaLnBrk="1" hangingPunct="1">
                <a:lnSpc>
                  <a:spcPts val="2400"/>
                </a:lnSpc>
                <a:spcBef>
                  <a:spcPct val="50000"/>
                </a:spcBef>
                <a:defRPr/>
              </a:pPr>
              <a:r>
                <a:rPr lang="en-US" altLang="zh-CN" sz="2400">
                  <a:solidFill>
                    <a:srgbClr val="FF3300"/>
                  </a:solidFill>
                  <a:latin typeface="Times New Roman" panose="02020603050405020304" pitchFamily="18" charset="0"/>
                </a:rPr>
                <a:t>W</a:t>
              </a:r>
            </a:p>
            <a:p>
              <a:pPr algn="ctr" eaLnBrk="1" hangingPunct="1">
                <a:spcBef>
                  <a:spcPct val="50000"/>
                </a:spcBef>
                <a:defRPr/>
              </a:pPr>
              <a:r>
                <a:rPr lang="en-US" altLang="zh-CN" sz="2400">
                  <a:solidFill>
                    <a:srgbClr val="000000"/>
                  </a:solidFill>
                  <a:latin typeface="Times New Roman" panose="02020603050405020304" pitchFamily="18" charset="0"/>
                </a:rPr>
                <a:t>O</a:t>
              </a:r>
            </a:p>
          </p:txBody>
        </p:sp>
        <p:sp>
          <p:nvSpPr>
            <p:cNvPr id="34835" name="Line 22">
              <a:extLst>
                <a:ext uri="{FF2B5EF4-FFF2-40B4-BE49-F238E27FC236}">
                  <a16:creationId xmlns:a16="http://schemas.microsoft.com/office/drawing/2014/main" id="{DB43917D-783A-FB4F-B4B8-E55C27B81571}"/>
                </a:ext>
              </a:extLst>
            </p:cNvPr>
            <p:cNvSpPr>
              <a:spLocks noChangeShapeType="1"/>
            </p:cNvSpPr>
            <p:nvPr/>
          </p:nvSpPr>
          <p:spPr bwMode="auto">
            <a:xfrm>
              <a:off x="4636058" y="3645024"/>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6" name="Line 22">
              <a:extLst>
                <a:ext uri="{FF2B5EF4-FFF2-40B4-BE49-F238E27FC236}">
                  <a16:creationId xmlns:a16="http://schemas.microsoft.com/office/drawing/2014/main" id="{DA453D2D-9950-644F-A66C-4620D4665310}"/>
                </a:ext>
              </a:extLst>
            </p:cNvPr>
            <p:cNvSpPr>
              <a:spLocks noChangeShapeType="1"/>
            </p:cNvSpPr>
            <p:nvPr/>
          </p:nvSpPr>
          <p:spPr bwMode="auto">
            <a:xfrm>
              <a:off x="6464858" y="3645024"/>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Line 22">
              <a:extLst>
                <a:ext uri="{FF2B5EF4-FFF2-40B4-BE49-F238E27FC236}">
                  <a16:creationId xmlns:a16="http://schemas.microsoft.com/office/drawing/2014/main" id="{F44E1BA7-286A-304C-A9F4-CBA6A400A055}"/>
                </a:ext>
              </a:extLst>
            </p:cNvPr>
            <p:cNvSpPr>
              <a:spLocks noChangeShapeType="1"/>
            </p:cNvSpPr>
            <p:nvPr/>
          </p:nvSpPr>
          <p:spPr bwMode="auto">
            <a:xfrm>
              <a:off x="4636058" y="2266949"/>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Line 22">
              <a:extLst>
                <a:ext uri="{FF2B5EF4-FFF2-40B4-BE49-F238E27FC236}">
                  <a16:creationId xmlns:a16="http://schemas.microsoft.com/office/drawing/2014/main" id="{972C4DA0-D87F-644B-9CB6-A5D1F71E6D9E}"/>
                </a:ext>
              </a:extLst>
            </p:cNvPr>
            <p:cNvSpPr>
              <a:spLocks noChangeShapeType="1"/>
            </p:cNvSpPr>
            <p:nvPr/>
          </p:nvSpPr>
          <p:spPr bwMode="auto">
            <a:xfrm>
              <a:off x="6464858" y="2278757"/>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31">
              <a:extLst>
                <a:ext uri="{FF2B5EF4-FFF2-40B4-BE49-F238E27FC236}">
                  <a16:creationId xmlns:a16="http://schemas.microsoft.com/office/drawing/2014/main" id="{48527D5A-D24C-3A4D-B360-6BCB7AF5AB1C}"/>
                </a:ext>
              </a:extLst>
            </p:cNvPr>
            <p:cNvSpPr>
              <a:spLocks noChangeShapeType="1"/>
            </p:cNvSpPr>
            <p:nvPr/>
          </p:nvSpPr>
          <p:spPr bwMode="auto">
            <a:xfrm>
              <a:off x="5364088" y="4005063"/>
              <a:ext cx="60547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 name="Text Box 36">
            <a:extLst>
              <a:ext uri="{FF2B5EF4-FFF2-40B4-BE49-F238E27FC236}">
                <a16:creationId xmlns:a16="http://schemas.microsoft.com/office/drawing/2014/main" id="{D6C9EB86-0428-F047-A3BF-8CC3EA8DFCD0}"/>
              </a:ext>
            </a:extLst>
          </p:cNvPr>
          <p:cNvSpPr txBox="1">
            <a:spLocks noChangeArrowheads="1"/>
          </p:cNvSpPr>
          <p:nvPr/>
        </p:nvSpPr>
        <p:spPr bwMode="auto">
          <a:xfrm>
            <a:off x="0" y="112031"/>
            <a:ext cx="7481888" cy="523220"/>
          </a:xfrm>
          <a:prstGeom prst="rect">
            <a:avLst/>
          </a:prstGeom>
          <a:solidFill>
            <a:srgbClr val="FFFF00"/>
          </a:solidFill>
          <a:ln w="9525">
            <a:noFill/>
            <a:miter lim="800000"/>
          </a:ln>
        </p:spPr>
        <p:txBody>
          <a:bodyPr>
            <a:spAutoFit/>
          </a:bodyPr>
          <a:lstStyle/>
          <a:p>
            <a:pPr eaLnBrk="1" hangingPunct="1">
              <a:spcBef>
                <a:spcPct val="50000"/>
              </a:spcBef>
              <a:defRPr/>
            </a:pPr>
            <a:r>
              <a:rPr lang="zh-CN" altLang="en-US" sz="2800" dirty="0">
                <a:solidFill>
                  <a:srgbClr val="000066"/>
                </a:solidFill>
                <a:effectLst>
                  <a:outerShdw blurRad="38100" dist="38100" dir="2700000" algn="tl">
                    <a:srgbClr val="000000"/>
                  </a:outerShdw>
                </a:effectLst>
                <a:latin typeface="黑体" panose="02010609060101010101" pitchFamily="49" charset="-122"/>
                <a:ea typeface="黑体" panose="02010609060101010101" pitchFamily="49" charset="-122"/>
              </a:rPr>
              <a:t>每个客体附加一个可以访问它的主体的明细表</a:t>
            </a:r>
            <a:r>
              <a:rPr lang="zh-CN" altLang="en-US" sz="2800" dirty="0">
                <a:effectLst>
                  <a:outerShdw blurRad="38100" dist="38100" dir="2700000" algn="tl">
                    <a:srgbClr val="FFFFFF"/>
                  </a:outerShdw>
                </a:effectLst>
                <a:latin typeface="黑体" panose="02010609060101010101" pitchFamily="49" charset="-122"/>
                <a:ea typeface="黑体" panose="02010609060101010101" pitchFamily="49"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p:cTn id="13" dur="500" fill="hold"/>
                                        <p:tgtEl>
                                          <p:spTgt spid="55"/>
                                        </p:tgtEl>
                                        <p:attrNameLst>
                                          <p:attrName>ppt_w</p:attrName>
                                        </p:attrNameLst>
                                      </p:cBhvr>
                                      <p:tavLst>
                                        <p:tav tm="0">
                                          <p:val>
                                            <p:fltVal val="0"/>
                                          </p:val>
                                        </p:tav>
                                        <p:tav tm="100000">
                                          <p:val>
                                            <p:strVal val="#ppt_w"/>
                                          </p:val>
                                        </p:tav>
                                      </p:tavLst>
                                    </p:anim>
                                    <p:anim calcmode="lin" valueType="num">
                                      <p:cBhvr>
                                        <p:cTn id="14" dur="500" fill="hold"/>
                                        <p:tgtEl>
                                          <p:spTgt spid="55"/>
                                        </p:tgtEl>
                                        <p:attrNameLst>
                                          <p:attrName>ppt_h</p:attrName>
                                        </p:attrNameLst>
                                      </p:cBhvr>
                                      <p:tavLst>
                                        <p:tav tm="0">
                                          <p:val>
                                            <p:fltVal val="0"/>
                                          </p:val>
                                        </p:tav>
                                        <p:tav tm="100000">
                                          <p:val>
                                            <p:strVal val="#ppt_h"/>
                                          </p:val>
                                        </p:tav>
                                      </p:tavLst>
                                    </p:anim>
                                    <p:animEffect transition="in" filter="fade">
                                      <p:cBhvr>
                                        <p:cTn id="1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E3235-429E-7313-4EF8-676BAFDD0277}"/>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286763B4-FF40-8199-DB72-C942D3E4BE55}"/>
              </a:ext>
            </a:extLst>
          </p:cNvPr>
          <p:cNvPicPr>
            <a:picLocks noGrp="1" noChangeAspect="1"/>
          </p:cNvPicPr>
          <p:nvPr>
            <p:ph idx="1"/>
          </p:nvPr>
        </p:nvPicPr>
        <p:blipFill>
          <a:blip r:embed="rId2"/>
          <a:stretch>
            <a:fillRect/>
          </a:stretch>
        </p:blipFill>
        <p:spPr bwMode="auto">
          <a:xfrm>
            <a:off x="800100" y="1295400"/>
            <a:ext cx="7658099"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6B7DF80E-CE7D-961D-7036-CA49060D08B2}"/>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33868271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5">
            <a:extLst>
              <a:ext uri="{FF2B5EF4-FFF2-40B4-BE49-F238E27FC236}">
                <a16:creationId xmlns:a16="http://schemas.microsoft.com/office/drawing/2014/main" id="{8A907FE9-2C38-3142-84C6-7D02597F447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695325"/>
            <a:ext cx="9144000" cy="5578475"/>
          </a:xfr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9" name="Rectangle 3">
            <a:extLst>
              <a:ext uri="{FF2B5EF4-FFF2-40B4-BE49-F238E27FC236}">
                <a16:creationId xmlns:a16="http://schemas.microsoft.com/office/drawing/2014/main" id="{FFDDDB43-89DD-F740-A194-043442615F69}"/>
              </a:ext>
            </a:extLst>
          </p:cNvPr>
          <p:cNvSpPr>
            <a:spLocks noGrp="1" noChangeArrowheads="1"/>
          </p:cNvSpPr>
          <p:nvPr>
            <p:ph idx="1"/>
          </p:nvPr>
        </p:nvSpPr>
        <p:spPr>
          <a:xfrm>
            <a:off x="349250" y="2708275"/>
            <a:ext cx="8388350" cy="1981200"/>
          </a:xfrm>
        </p:spPr>
        <p:txBody>
          <a:bodyPr>
            <a:normAutofit/>
          </a:bodyPr>
          <a:lstStyle/>
          <a:p>
            <a:pPr>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rPr>
              <a:t>缺省策略</a:t>
            </a:r>
            <a:endParaRPr lang="en-US" altLang="zh-CN" b="1">
              <a:solidFill>
                <a:srgbClr val="FF0000"/>
              </a:solidFill>
              <a:effectLst>
                <a:outerShdw blurRad="38100" dist="38100" dir="2700000" algn="tl">
                  <a:srgbClr val="C0C0C0"/>
                </a:outerShdw>
              </a:effectLst>
              <a:latin typeface="Times New Roman" panose="02020603050405020304" pitchFamily="18" charset="0"/>
            </a:endParaRPr>
          </a:p>
          <a:p>
            <a:pPr lvl="1">
              <a:defRPr/>
            </a:pPr>
            <a:r>
              <a:rPr lang="zh-CN" altLang="en-US" sz="2400" b="1">
                <a:effectLst>
                  <a:outerShdw blurRad="38100" dist="38100" dir="2700000" algn="tl">
                    <a:srgbClr val="C0C0C0"/>
                  </a:outerShdw>
                </a:effectLst>
                <a:latin typeface="Times New Roman" panose="02020603050405020304" pitchFamily="18" charset="0"/>
              </a:rPr>
              <a:t>公开布告板中，所有用户都可以得到所有公开信息</a:t>
            </a:r>
          </a:p>
          <a:p>
            <a:pPr lvl="1">
              <a:defRPr/>
            </a:pPr>
            <a:r>
              <a:rPr lang="zh-CN" altLang="en-US" sz="2400" b="1">
                <a:effectLst>
                  <a:outerShdw blurRad="38100" dist="38100" dir="2700000" algn="tl">
                    <a:srgbClr val="C0C0C0"/>
                  </a:outerShdw>
                </a:effectLst>
                <a:latin typeface="Times New Roman" panose="02020603050405020304" pitchFamily="18" charset="0"/>
              </a:rPr>
              <a:t>对于特定的用户禁止访问：对于违纪员工，禁止访问内部一些信息。</a:t>
            </a:r>
          </a:p>
        </p:txBody>
      </p:sp>
      <p:sp>
        <p:nvSpPr>
          <p:cNvPr id="9" name="标题 1">
            <a:extLst>
              <a:ext uri="{FF2B5EF4-FFF2-40B4-BE49-F238E27FC236}">
                <a16:creationId xmlns:a16="http://schemas.microsoft.com/office/drawing/2014/main" id="{037A33F9-C04C-A942-90D4-896E301A8679}"/>
              </a:ext>
            </a:extLst>
          </p:cNvPr>
          <p:cNvSpPr>
            <a:spLocks noGrp="1"/>
          </p:cNvSpPr>
          <p:nvPr>
            <p:ph type="title"/>
          </p:nvPr>
        </p:nvSpPr>
        <p:spPr>
          <a:xfrm>
            <a:off x="573088" y="881063"/>
            <a:ext cx="7235825" cy="4889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r>
              <a:rPr lang="en-US" altLang="zh-CN">
                <a:solidFill>
                  <a:srgbClr val="0033CC"/>
                </a:solidFill>
                <a:effectLst>
                  <a:outerShdw blurRad="38100" dist="38100" dir="2700000" algn="tl">
                    <a:srgbClr val="C0C0C0"/>
                  </a:outerShdw>
                </a:effectLst>
                <a:latin typeface="Times New Roman" panose="02020603050405020304" pitchFamily="18" charset="0"/>
              </a:rPr>
              <a:t>Access Control List</a:t>
            </a:r>
            <a:r>
              <a:rPr lang="zh-CN" altLang="en-US">
                <a:solidFill>
                  <a:srgbClr val="0033CC"/>
                </a:solidFill>
                <a:effectLst>
                  <a:outerShdw blurRad="38100" dist="38100" dir="2700000" algn="tl">
                    <a:srgbClr val="C0C0C0"/>
                  </a:outerShdw>
                </a:effectLst>
                <a:latin typeface="Times New Roman" panose="02020603050405020304" pitchFamily="18" charset="0"/>
              </a:rPr>
              <a:t>）</a:t>
            </a:r>
          </a:p>
        </p:txBody>
      </p:sp>
      <p:sp>
        <p:nvSpPr>
          <p:cNvPr id="7" name="矩形 6">
            <a:extLst>
              <a:ext uri="{FF2B5EF4-FFF2-40B4-BE49-F238E27FC236}">
                <a16:creationId xmlns:a16="http://schemas.microsoft.com/office/drawing/2014/main" id="{79EF558F-7754-944F-97DC-49B4C3EE07BF}"/>
              </a:ext>
            </a:extLst>
          </p:cNvPr>
          <p:cNvSpPr/>
          <p:nvPr/>
        </p:nvSpPr>
        <p:spPr>
          <a:xfrm>
            <a:off x="358775" y="1628775"/>
            <a:ext cx="8029575" cy="89217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访问控制粒度为用户：当用户数量多、管理资源多时，</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ACL</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会很庞大。</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8" name="矩形 7">
            <a:extLst>
              <a:ext uri="{FF2B5EF4-FFF2-40B4-BE49-F238E27FC236}">
                <a16:creationId xmlns:a16="http://schemas.microsoft.com/office/drawing/2014/main" id="{4BC9486F-5219-6347-99A6-E41BB8F64A80}"/>
              </a:ext>
            </a:extLst>
          </p:cNvPr>
          <p:cNvSpPr/>
          <p:nvPr/>
        </p:nvSpPr>
        <p:spPr>
          <a:xfrm>
            <a:off x="468313" y="4581525"/>
            <a:ext cx="8388350" cy="129222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当组织内人员变化（升迁、换岗、招聘、离职）、工作职能发生变化（新增业务）时，</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ACL</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的修改变得异常困难。</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5379">
                                            <p:txEl>
                                              <p:pRg st="0" end="0"/>
                                            </p:txEl>
                                          </p:spTgt>
                                        </p:tgtEl>
                                        <p:attrNameLst>
                                          <p:attrName>style.visibility</p:attrName>
                                        </p:attrNameLst>
                                      </p:cBhvr>
                                      <p:to>
                                        <p:strVal val="visible"/>
                                      </p:to>
                                    </p:set>
                                    <p:anim calcmode="lin" valueType="num">
                                      <p:cBhvr additive="base">
                                        <p:cTn id="13" dur="500" fill="hold"/>
                                        <p:tgtEl>
                                          <p:spTgt spid="48537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5379">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85379">
                                            <p:txEl>
                                              <p:pRg st="1" end="1"/>
                                            </p:txEl>
                                          </p:spTgt>
                                        </p:tgtEl>
                                        <p:attrNameLst>
                                          <p:attrName>style.visibility</p:attrName>
                                        </p:attrNameLst>
                                      </p:cBhvr>
                                      <p:to>
                                        <p:strVal val="visible"/>
                                      </p:to>
                                    </p:set>
                                    <p:anim calcmode="lin" valueType="num">
                                      <p:cBhvr additive="base">
                                        <p:cTn id="17" dur="500" fill="hold"/>
                                        <p:tgtEl>
                                          <p:spTgt spid="485379">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85379">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85379">
                                            <p:txEl>
                                              <p:pRg st="2" end="2"/>
                                            </p:txEl>
                                          </p:spTgt>
                                        </p:tgtEl>
                                        <p:attrNameLst>
                                          <p:attrName>style.visibility</p:attrName>
                                        </p:attrNameLst>
                                      </p:cBhvr>
                                      <p:to>
                                        <p:strVal val="visible"/>
                                      </p:to>
                                    </p:set>
                                    <p:anim calcmode="lin" valueType="num">
                                      <p:cBhvr additive="base">
                                        <p:cTn id="21" dur="500" fill="hold"/>
                                        <p:tgtEl>
                                          <p:spTgt spid="485379">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85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0-#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build="p"/>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7" name="组合 2">
            <a:extLst>
              <a:ext uri="{FF2B5EF4-FFF2-40B4-BE49-F238E27FC236}">
                <a16:creationId xmlns:a16="http://schemas.microsoft.com/office/drawing/2014/main" id="{1E4E6E98-768C-B847-8955-99B013F3BC4C}"/>
              </a:ext>
            </a:extLst>
          </p:cNvPr>
          <p:cNvGrpSpPr>
            <a:grpSpLocks/>
          </p:cNvGrpSpPr>
          <p:nvPr/>
        </p:nvGrpSpPr>
        <p:grpSpPr bwMode="auto">
          <a:xfrm>
            <a:off x="1054100" y="1773238"/>
            <a:ext cx="6858000" cy="2752725"/>
            <a:chOff x="1143000" y="2209800"/>
            <a:chExt cx="6858000" cy="2752725"/>
          </a:xfrm>
        </p:grpSpPr>
        <p:sp>
          <p:nvSpPr>
            <p:cNvPr id="55302" name="Text Box 5">
              <a:extLst>
                <a:ext uri="{FF2B5EF4-FFF2-40B4-BE49-F238E27FC236}">
                  <a16:creationId xmlns:a16="http://schemas.microsoft.com/office/drawing/2014/main" id="{42D218AD-A39C-AF41-8DD5-E35D703A43FC}"/>
                </a:ext>
              </a:extLst>
            </p:cNvPr>
            <p:cNvSpPr txBox="1">
              <a:spLocks noChangeArrowheads="1"/>
            </p:cNvSpPr>
            <p:nvPr/>
          </p:nvSpPr>
          <p:spPr bwMode="auto">
            <a:xfrm>
              <a:off x="3048000" y="2286000"/>
              <a:ext cx="1295400" cy="267652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spcBef>
                  <a:spcPct val="50000"/>
                </a:spcBef>
                <a:defRPr/>
              </a:pPr>
              <a:r>
                <a:rPr kumimoji="1" lang="zh-CN" altLang="zh-CN" sz="2400" dirty="0">
                  <a:latin typeface="Times New Roman" panose="02020603050405020304" pitchFamily="18" charset="0"/>
                </a:rPr>
                <a:t>Obj1</a:t>
              </a:r>
            </a:p>
            <a:p>
              <a:pPr algn="ctr" eaLnBrk="1" hangingPunct="1">
                <a:spcBef>
                  <a:spcPct val="50000"/>
                </a:spcBef>
                <a:defRPr/>
              </a:pPr>
              <a:r>
                <a:rPr kumimoji="1" lang="en-US" altLang="zh-CN" sz="2400" dirty="0">
                  <a:solidFill>
                    <a:srgbClr val="FF3300"/>
                  </a:solidFill>
                  <a:latin typeface="Times New Roman" panose="02020603050405020304" pitchFamily="18" charset="0"/>
                </a:rPr>
                <a:t>Own</a:t>
              </a:r>
            </a:p>
            <a:p>
              <a:pPr algn="ctr" eaLnBrk="1" hangingPunct="1">
                <a:spcBef>
                  <a:spcPct val="50000"/>
                </a:spcBef>
                <a:defRPr/>
              </a:pPr>
              <a:r>
                <a:rPr kumimoji="1" lang="en-US" altLang="zh-CN" sz="2400" dirty="0">
                  <a:solidFill>
                    <a:srgbClr val="FF3300"/>
                  </a:solidFill>
                  <a:latin typeface="Times New Roman" panose="02020603050405020304" pitchFamily="18" charset="0"/>
                </a:rPr>
                <a:t>R</a:t>
              </a:r>
            </a:p>
            <a:p>
              <a:pPr algn="ctr" eaLnBrk="1" hangingPunct="1">
                <a:spcBef>
                  <a:spcPct val="50000"/>
                </a:spcBef>
                <a:defRPr/>
              </a:pPr>
              <a:r>
                <a:rPr kumimoji="1" lang="en-US" altLang="zh-CN" sz="2400" dirty="0">
                  <a:solidFill>
                    <a:srgbClr val="FF3300"/>
                  </a:solidFill>
                  <a:latin typeface="Times New Roman" panose="02020603050405020304" pitchFamily="18" charset="0"/>
                </a:rPr>
                <a:t>W</a:t>
              </a:r>
            </a:p>
            <a:p>
              <a:pPr algn="ctr" eaLnBrk="1" hangingPunct="1">
                <a:spcBef>
                  <a:spcPct val="50000"/>
                </a:spcBef>
                <a:defRPr/>
              </a:pPr>
              <a:r>
                <a:rPr kumimoji="1" lang="en-US" altLang="zh-CN" sz="2400" dirty="0">
                  <a:latin typeface="Times New Roman" panose="02020603050405020304" pitchFamily="18" charset="0"/>
                </a:rPr>
                <a:t>O</a:t>
              </a:r>
            </a:p>
          </p:txBody>
        </p:sp>
        <p:sp>
          <p:nvSpPr>
            <p:cNvPr id="39941" name="Line 6">
              <a:extLst>
                <a:ext uri="{FF2B5EF4-FFF2-40B4-BE49-F238E27FC236}">
                  <a16:creationId xmlns:a16="http://schemas.microsoft.com/office/drawing/2014/main" id="{0FE32E0F-3650-3D4C-BF81-320CEDB5243D}"/>
                </a:ext>
              </a:extLst>
            </p:cNvPr>
            <p:cNvSpPr>
              <a:spLocks noChangeShapeType="1"/>
            </p:cNvSpPr>
            <p:nvPr/>
          </p:nvSpPr>
          <p:spPr bwMode="auto">
            <a:xfrm>
              <a:off x="3048000" y="2819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2" name="Line 7">
              <a:extLst>
                <a:ext uri="{FF2B5EF4-FFF2-40B4-BE49-F238E27FC236}">
                  <a16:creationId xmlns:a16="http://schemas.microsoft.com/office/drawing/2014/main" id="{BB132EB2-BCCD-9140-86B3-73DD9D4DD9AD}"/>
                </a:ext>
              </a:extLst>
            </p:cNvPr>
            <p:cNvSpPr>
              <a:spLocks noChangeShapeType="1"/>
            </p:cNvSpPr>
            <p:nvPr/>
          </p:nvSpPr>
          <p:spPr bwMode="auto">
            <a:xfrm>
              <a:off x="3048000" y="4343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5" name="Text Box 8">
              <a:extLst>
                <a:ext uri="{FF2B5EF4-FFF2-40B4-BE49-F238E27FC236}">
                  <a16:creationId xmlns:a16="http://schemas.microsoft.com/office/drawing/2014/main" id="{12D57B3D-8E30-0F44-ABA3-8206223364D2}"/>
                </a:ext>
              </a:extLst>
            </p:cNvPr>
            <p:cNvSpPr txBox="1">
              <a:spLocks noChangeArrowheads="1"/>
            </p:cNvSpPr>
            <p:nvPr/>
          </p:nvSpPr>
          <p:spPr bwMode="auto">
            <a:xfrm>
              <a:off x="4876800" y="2286000"/>
              <a:ext cx="1295400" cy="267652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spcBef>
                  <a:spcPct val="50000"/>
                </a:spcBef>
                <a:defRPr/>
              </a:pPr>
              <a:r>
                <a:rPr lang="zh-CN" altLang="zh-CN" sz="2400">
                  <a:solidFill>
                    <a:srgbClr val="000000"/>
                  </a:solidFill>
                  <a:latin typeface="Times New Roman" panose="02020603050405020304" pitchFamily="18" charset="0"/>
                </a:rPr>
                <a:t>Obj2</a:t>
              </a:r>
            </a:p>
            <a:p>
              <a:pPr algn="ctr" eaLnBrk="1" hangingPunct="1">
                <a:spcBef>
                  <a:spcPct val="50000"/>
                </a:spcBef>
                <a:defRPr/>
              </a:pPr>
              <a:r>
                <a:rPr lang="en-US" altLang="zh-CN" sz="2400">
                  <a:solidFill>
                    <a:srgbClr val="000000"/>
                  </a:solidFill>
                  <a:latin typeface="Times New Roman" panose="02020603050405020304" pitchFamily="18" charset="0"/>
                </a:rPr>
                <a:t> </a:t>
              </a:r>
            </a:p>
            <a:p>
              <a:pPr algn="ctr" eaLnBrk="1" hangingPunct="1">
                <a:spcBef>
                  <a:spcPct val="50000"/>
                </a:spcBef>
                <a:defRPr/>
              </a:pPr>
              <a:r>
                <a:rPr lang="en-US" altLang="zh-CN" sz="2400">
                  <a:solidFill>
                    <a:srgbClr val="FF3300"/>
                  </a:solidFill>
                  <a:latin typeface="Times New Roman" panose="02020603050405020304" pitchFamily="18" charset="0"/>
                </a:rPr>
                <a:t>R</a:t>
              </a:r>
              <a:endParaRPr lang="en-US" altLang="zh-CN" sz="2400">
                <a:solidFill>
                  <a:srgbClr val="000000"/>
                </a:solidFill>
                <a:latin typeface="Times New Roman" panose="02020603050405020304" pitchFamily="18" charset="0"/>
              </a:endParaRPr>
            </a:p>
            <a:p>
              <a:pPr algn="ctr" eaLnBrk="1" hangingPunct="1">
                <a:spcBef>
                  <a:spcPct val="50000"/>
                </a:spcBef>
                <a:defRPr/>
              </a:pPr>
              <a:r>
                <a:rPr lang="en-US" altLang="zh-CN" sz="2400">
                  <a:solidFill>
                    <a:srgbClr val="000000"/>
                  </a:solidFill>
                  <a:latin typeface="Times New Roman" panose="02020603050405020304" pitchFamily="18" charset="0"/>
                </a:rPr>
                <a:t> </a:t>
              </a:r>
            </a:p>
            <a:p>
              <a:pPr algn="ctr" eaLnBrk="1" hangingPunct="1">
                <a:spcBef>
                  <a:spcPct val="50000"/>
                </a:spcBef>
                <a:defRPr/>
              </a:pPr>
              <a:r>
                <a:rPr lang="en-US" altLang="zh-CN" sz="2400">
                  <a:solidFill>
                    <a:srgbClr val="000000"/>
                  </a:solidFill>
                  <a:latin typeface="Times New Roman" panose="02020603050405020304" pitchFamily="18" charset="0"/>
                </a:rPr>
                <a:t>O</a:t>
              </a:r>
            </a:p>
          </p:txBody>
        </p:sp>
        <p:sp>
          <p:nvSpPr>
            <p:cNvPr id="39944" name="Line 9">
              <a:extLst>
                <a:ext uri="{FF2B5EF4-FFF2-40B4-BE49-F238E27FC236}">
                  <a16:creationId xmlns:a16="http://schemas.microsoft.com/office/drawing/2014/main" id="{CA5DBD31-FFA6-114C-A7A0-40B3FA8BD47E}"/>
                </a:ext>
              </a:extLst>
            </p:cNvPr>
            <p:cNvSpPr>
              <a:spLocks noChangeShapeType="1"/>
            </p:cNvSpPr>
            <p:nvPr/>
          </p:nvSpPr>
          <p:spPr bwMode="auto">
            <a:xfrm>
              <a:off x="4876800" y="2819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5" name="Line 10">
              <a:extLst>
                <a:ext uri="{FF2B5EF4-FFF2-40B4-BE49-F238E27FC236}">
                  <a16:creationId xmlns:a16="http://schemas.microsoft.com/office/drawing/2014/main" id="{D02E4C27-2DA2-3E46-84B9-BE7419777538}"/>
                </a:ext>
              </a:extLst>
            </p:cNvPr>
            <p:cNvSpPr>
              <a:spLocks noChangeShapeType="1"/>
            </p:cNvSpPr>
            <p:nvPr/>
          </p:nvSpPr>
          <p:spPr bwMode="auto">
            <a:xfrm>
              <a:off x="4876800" y="4343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Text Box 11">
              <a:extLst>
                <a:ext uri="{FF2B5EF4-FFF2-40B4-BE49-F238E27FC236}">
                  <a16:creationId xmlns:a16="http://schemas.microsoft.com/office/drawing/2014/main" id="{4AAF1971-122E-904E-80A6-F1E648806488}"/>
                </a:ext>
              </a:extLst>
            </p:cNvPr>
            <p:cNvSpPr txBox="1">
              <a:spLocks noChangeArrowheads="1"/>
            </p:cNvSpPr>
            <p:nvPr/>
          </p:nvSpPr>
          <p:spPr bwMode="auto">
            <a:xfrm>
              <a:off x="6705600" y="2286000"/>
              <a:ext cx="1295400" cy="267652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spcBef>
                  <a:spcPct val="50000"/>
                </a:spcBef>
                <a:defRPr/>
              </a:pPr>
              <a:r>
                <a:rPr lang="zh-CN" altLang="zh-CN" sz="2400">
                  <a:solidFill>
                    <a:srgbClr val="000000"/>
                  </a:solidFill>
                  <a:latin typeface="Times New Roman" panose="02020603050405020304" pitchFamily="18" charset="0"/>
                </a:rPr>
                <a:t>Obj3</a:t>
              </a:r>
            </a:p>
            <a:p>
              <a:pPr algn="ctr" eaLnBrk="1" hangingPunct="1">
                <a:spcBef>
                  <a:spcPct val="50000"/>
                </a:spcBef>
                <a:defRPr/>
              </a:pPr>
              <a:r>
                <a:rPr lang="en-US" altLang="zh-CN" sz="2400">
                  <a:solidFill>
                    <a:srgbClr val="000000"/>
                  </a:solidFill>
                  <a:latin typeface="Times New Roman" panose="02020603050405020304" pitchFamily="18" charset="0"/>
                </a:rPr>
                <a:t> </a:t>
              </a:r>
            </a:p>
            <a:p>
              <a:pPr algn="ctr" eaLnBrk="1" hangingPunct="1">
                <a:spcBef>
                  <a:spcPct val="50000"/>
                </a:spcBef>
                <a:defRPr/>
              </a:pPr>
              <a:r>
                <a:rPr lang="en-US" altLang="zh-CN" sz="2400">
                  <a:solidFill>
                    <a:srgbClr val="FF3300"/>
                  </a:solidFill>
                  <a:latin typeface="Times New Roman" panose="02020603050405020304" pitchFamily="18" charset="0"/>
                </a:rPr>
                <a:t>R</a:t>
              </a:r>
            </a:p>
            <a:p>
              <a:pPr algn="ctr" eaLnBrk="1" hangingPunct="1">
                <a:spcBef>
                  <a:spcPct val="50000"/>
                </a:spcBef>
                <a:defRPr/>
              </a:pPr>
              <a:r>
                <a:rPr lang="en-US" altLang="zh-CN" sz="2400">
                  <a:solidFill>
                    <a:srgbClr val="FF3300"/>
                  </a:solidFill>
                  <a:latin typeface="Times New Roman" panose="02020603050405020304" pitchFamily="18" charset="0"/>
                </a:rPr>
                <a:t>W</a:t>
              </a:r>
              <a:endParaRPr lang="en-US" altLang="zh-CN" sz="2400">
                <a:solidFill>
                  <a:srgbClr val="000000"/>
                </a:solidFill>
                <a:latin typeface="Times New Roman" panose="02020603050405020304" pitchFamily="18" charset="0"/>
              </a:endParaRPr>
            </a:p>
            <a:p>
              <a:pPr algn="ctr" eaLnBrk="1" hangingPunct="1">
                <a:spcBef>
                  <a:spcPct val="50000"/>
                </a:spcBef>
                <a:defRPr/>
              </a:pPr>
              <a:r>
                <a:rPr lang="en-US" altLang="zh-CN" sz="2400">
                  <a:solidFill>
                    <a:srgbClr val="000000"/>
                  </a:solidFill>
                  <a:latin typeface="Times New Roman" panose="02020603050405020304" pitchFamily="18" charset="0"/>
                </a:rPr>
                <a:t>O</a:t>
              </a:r>
            </a:p>
          </p:txBody>
        </p:sp>
        <p:sp>
          <p:nvSpPr>
            <p:cNvPr id="39947" name="Line 12">
              <a:extLst>
                <a:ext uri="{FF2B5EF4-FFF2-40B4-BE49-F238E27FC236}">
                  <a16:creationId xmlns:a16="http://schemas.microsoft.com/office/drawing/2014/main" id="{0AE968DE-E093-1240-B5E7-3A148324C3C2}"/>
                </a:ext>
              </a:extLst>
            </p:cNvPr>
            <p:cNvSpPr>
              <a:spLocks noChangeShapeType="1"/>
            </p:cNvSpPr>
            <p:nvPr/>
          </p:nvSpPr>
          <p:spPr bwMode="auto">
            <a:xfrm>
              <a:off x="6705600" y="2819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8" name="Line 13">
              <a:extLst>
                <a:ext uri="{FF2B5EF4-FFF2-40B4-BE49-F238E27FC236}">
                  <a16:creationId xmlns:a16="http://schemas.microsoft.com/office/drawing/2014/main" id="{6DAF5BD2-472E-3A4F-98E4-668C0E094AE6}"/>
                </a:ext>
              </a:extLst>
            </p:cNvPr>
            <p:cNvSpPr>
              <a:spLocks noChangeShapeType="1"/>
            </p:cNvSpPr>
            <p:nvPr/>
          </p:nvSpPr>
          <p:spPr bwMode="auto">
            <a:xfrm>
              <a:off x="6705600" y="43434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1" name="Text Box 14">
              <a:extLst>
                <a:ext uri="{FF2B5EF4-FFF2-40B4-BE49-F238E27FC236}">
                  <a16:creationId xmlns:a16="http://schemas.microsoft.com/office/drawing/2014/main" id="{03A9737C-8893-7441-961A-3743DDC90509}"/>
                </a:ext>
              </a:extLst>
            </p:cNvPr>
            <p:cNvSpPr txBox="1">
              <a:spLocks noChangeArrowheads="1"/>
            </p:cNvSpPr>
            <p:nvPr/>
          </p:nvSpPr>
          <p:spPr bwMode="auto">
            <a:xfrm>
              <a:off x="1143000" y="2209800"/>
              <a:ext cx="990600" cy="45720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hangingPunct="1">
                <a:spcBef>
                  <a:spcPct val="50000"/>
                </a:spcBef>
                <a:defRPr/>
              </a:pPr>
              <a:r>
                <a:rPr kumimoji="1" lang="en-US" altLang="zh-CN" sz="2400">
                  <a:latin typeface="Times New Roman" panose="02020603050405020304" pitchFamily="18" charset="0"/>
                </a:rPr>
                <a:t>UserA</a:t>
              </a:r>
            </a:p>
          </p:txBody>
        </p:sp>
        <p:sp>
          <p:nvSpPr>
            <p:cNvPr id="39950" name="Line 15">
              <a:extLst>
                <a:ext uri="{FF2B5EF4-FFF2-40B4-BE49-F238E27FC236}">
                  <a16:creationId xmlns:a16="http://schemas.microsoft.com/office/drawing/2014/main" id="{E8778C1E-C441-5840-BB37-976441ED2224}"/>
                </a:ext>
              </a:extLst>
            </p:cNvPr>
            <p:cNvSpPr>
              <a:spLocks noChangeShapeType="1"/>
            </p:cNvSpPr>
            <p:nvPr/>
          </p:nvSpPr>
          <p:spPr bwMode="auto">
            <a:xfrm>
              <a:off x="2133600" y="2514600"/>
              <a:ext cx="914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1" name="Line 16">
              <a:extLst>
                <a:ext uri="{FF2B5EF4-FFF2-40B4-BE49-F238E27FC236}">
                  <a16:creationId xmlns:a16="http://schemas.microsoft.com/office/drawing/2014/main" id="{C400A280-597B-1540-B358-9D084FD78C3C}"/>
                </a:ext>
              </a:extLst>
            </p:cNvPr>
            <p:cNvSpPr>
              <a:spLocks noChangeShapeType="1"/>
            </p:cNvSpPr>
            <p:nvPr/>
          </p:nvSpPr>
          <p:spPr bwMode="auto">
            <a:xfrm>
              <a:off x="3733800" y="47244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2" name="Line 17">
              <a:extLst>
                <a:ext uri="{FF2B5EF4-FFF2-40B4-BE49-F238E27FC236}">
                  <a16:creationId xmlns:a16="http://schemas.microsoft.com/office/drawing/2014/main" id="{3E57E095-C478-4B48-B035-7CA209C00067}"/>
                </a:ext>
              </a:extLst>
            </p:cNvPr>
            <p:cNvSpPr>
              <a:spLocks noChangeShapeType="1"/>
            </p:cNvSpPr>
            <p:nvPr/>
          </p:nvSpPr>
          <p:spPr bwMode="auto">
            <a:xfrm flipV="1">
              <a:off x="4419600" y="2590800"/>
              <a:ext cx="457200" cy="2133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3" name="Line 18">
              <a:extLst>
                <a:ext uri="{FF2B5EF4-FFF2-40B4-BE49-F238E27FC236}">
                  <a16:creationId xmlns:a16="http://schemas.microsoft.com/office/drawing/2014/main" id="{2CC1CDDB-E04B-F64B-9974-86E73F1686D4}"/>
                </a:ext>
              </a:extLst>
            </p:cNvPr>
            <p:cNvSpPr>
              <a:spLocks noChangeShapeType="1"/>
            </p:cNvSpPr>
            <p:nvPr/>
          </p:nvSpPr>
          <p:spPr bwMode="auto">
            <a:xfrm>
              <a:off x="5562600" y="472440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4" name="Line 19">
              <a:extLst>
                <a:ext uri="{FF2B5EF4-FFF2-40B4-BE49-F238E27FC236}">
                  <a16:creationId xmlns:a16="http://schemas.microsoft.com/office/drawing/2014/main" id="{F89EE999-DE21-5E41-B6A4-26911F4E1648}"/>
                </a:ext>
              </a:extLst>
            </p:cNvPr>
            <p:cNvSpPr>
              <a:spLocks noChangeShapeType="1"/>
            </p:cNvSpPr>
            <p:nvPr/>
          </p:nvSpPr>
          <p:spPr bwMode="auto">
            <a:xfrm flipV="1">
              <a:off x="6248400" y="2590800"/>
              <a:ext cx="457200" cy="2133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301" name="Text Box 20">
            <a:extLst>
              <a:ext uri="{FF2B5EF4-FFF2-40B4-BE49-F238E27FC236}">
                <a16:creationId xmlns:a16="http://schemas.microsoft.com/office/drawing/2014/main" id="{DA4287D1-69CA-DB43-B834-58255C8441A9}"/>
              </a:ext>
            </a:extLst>
          </p:cNvPr>
          <p:cNvSpPr txBox="1">
            <a:spLocks noChangeArrowheads="1"/>
          </p:cNvSpPr>
          <p:nvPr/>
        </p:nvSpPr>
        <p:spPr bwMode="auto">
          <a:xfrm>
            <a:off x="509588" y="4964113"/>
            <a:ext cx="8101012" cy="523875"/>
          </a:xfrm>
          <a:prstGeom prst="rect">
            <a:avLst/>
          </a:prstGeom>
          <a:solidFill>
            <a:srgbClr val="FFFF00"/>
          </a:solidFill>
          <a:ln w="9525">
            <a:noFill/>
            <a:miter lim="800000"/>
          </a:ln>
        </p:spPr>
        <p:txBody>
          <a:bodyPr>
            <a:spAutoFit/>
          </a:bodyPr>
          <a:lstStyle/>
          <a:p>
            <a:pPr eaLnBrk="1" hangingPunct="1">
              <a:spcBef>
                <a:spcPct val="50000"/>
              </a:spcBef>
              <a:defRPr/>
            </a:pPr>
            <a:r>
              <a:rPr lang="zh-CN" altLang="en-US" sz="2800" b="1">
                <a:solidFill>
                  <a:srgbClr val="000066"/>
                </a:solidFill>
                <a:effectLst>
                  <a:outerShdw blurRad="38100" dist="38100" dir="2700000" algn="tl">
                    <a:srgbClr val="000000"/>
                  </a:outerShdw>
                </a:effectLst>
                <a:latin typeface="黑体" panose="02010609060101010101" pitchFamily="49" charset="-122"/>
                <a:ea typeface="黑体" panose="02010609060101010101" pitchFamily="49" charset="-122"/>
              </a:rPr>
              <a:t>每个主体都附加一个该主体可访问的客体的明细表</a:t>
            </a:r>
          </a:p>
        </p:txBody>
      </p:sp>
      <p:sp>
        <p:nvSpPr>
          <p:cNvPr id="20" name="标题 1">
            <a:extLst>
              <a:ext uri="{FF2B5EF4-FFF2-40B4-BE49-F238E27FC236}">
                <a16:creationId xmlns:a16="http://schemas.microsoft.com/office/drawing/2014/main" id="{9E8107C5-B3DF-FA49-BBF2-3D5617144135}"/>
              </a:ext>
            </a:extLst>
          </p:cNvPr>
          <p:cNvSpPr>
            <a:spLocks noGrp="1"/>
          </p:cNvSpPr>
          <p:nvPr>
            <p:ph type="title"/>
          </p:nvPr>
        </p:nvSpPr>
        <p:spPr>
          <a:xfrm>
            <a:off x="658813" y="746125"/>
            <a:ext cx="6513512" cy="487363"/>
          </a:xfrm>
        </p:spPr>
        <p:txBody>
          <a:bodyPr/>
          <a:lstStyle/>
          <a:p>
            <a:pPr>
              <a:buClr>
                <a:srgbClr val="3399FF"/>
              </a:buClr>
              <a:defRPr/>
            </a:pP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能力表（</a:t>
            </a: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Capability List</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1"/>
                                        </p:tgtEl>
                                        <p:attrNameLst>
                                          <p:attrName>style.visibility</p:attrName>
                                        </p:attrNameLst>
                                      </p:cBhvr>
                                      <p:to>
                                        <p:strVal val="visible"/>
                                      </p:to>
                                    </p:set>
                                    <p:anim calcmode="lin" valueType="num">
                                      <p:cBhvr additive="base">
                                        <p:cTn id="7" dur="500" fill="hold"/>
                                        <p:tgtEl>
                                          <p:spTgt spid="55301"/>
                                        </p:tgtEl>
                                        <p:attrNameLst>
                                          <p:attrName>ppt_x</p:attrName>
                                        </p:attrNameLst>
                                      </p:cBhvr>
                                      <p:tavLst>
                                        <p:tav tm="0">
                                          <p:val>
                                            <p:strVal val="#ppt_x"/>
                                          </p:val>
                                        </p:tav>
                                        <p:tav tm="100000">
                                          <p:val>
                                            <p:strVal val="#ppt_x"/>
                                          </p:val>
                                        </p:tav>
                                      </p:tavLst>
                                    </p:anim>
                                    <p:anim calcmode="lin" valueType="num">
                                      <p:cBhvr additive="base">
                                        <p:cTn id="8" dur="500" fill="hold"/>
                                        <p:tgtEl>
                                          <p:spTgt spid="55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91535C56-79FC-DA48-827A-3BCAA762BC7E}"/>
              </a:ext>
            </a:extLst>
          </p:cNvPr>
          <p:cNvSpPr>
            <a:spLocks noGrp="1"/>
          </p:cNvSpPr>
          <p:nvPr>
            <p:ph type="title"/>
          </p:nvPr>
        </p:nvSpPr>
        <p:spPr>
          <a:xfrm>
            <a:off x="576263" y="989013"/>
            <a:ext cx="6513512" cy="487362"/>
          </a:xfrm>
        </p:spPr>
        <p:txBody>
          <a:bodyPr/>
          <a:lstStyle/>
          <a:p>
            <a:pPr>
              <a:buClr>
                <a:srgbClr val="3399FF"/>
              </a:buClr>
              <a:defRPr/>
            </a:pP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能力表（</a:t>
            </a: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Capability List</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7" name="Rectangle 3">
            <a:extLst>
              <a:ext uri="{FF2B5EF4-FFF2-40B4-BE49-F238E27FC236}">
                <a16:creationId xmlns:a16="http://schemas.microsoft.com/office/drawing/2014/main" id="{16456BB1-C1DC-8147-9030-0796683DA2EB}"/>
              </a:ext>
            </a:extLst>
          </p:cNvPr>
          <p:cNvSpPr txBox="1">
            <a:spLocks noChangeArrowheads="1"/>
          </p:cNvSpPr>
          <p:nvPr/>
        </p:nvSpPr>
        <p:spPr bwMode="gray">
          <a:xfrm>
            <a:off x="592138" y="1881188"/>
            <a:ext cx="8569325" cy="2376487"/>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99FF"/>
              </a:buClr>
              <a:buFont typeface="Wingdings" pitchFamily="2" charset="2"/>
              <a:buChar char="v"/>
              <a:defRPr/>
            </a:pP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能力表与主体关联</a:t>
            </a: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，规定主体所能访问的客体和权限。</a:t>
            </a:r>
          </a:p>
          <a:p>
            <a:pPr eaLnBrk="1" hangingPunct="1">
              <a:lnSpc>
                <a:spcPct val="90000"/>
              </a:lnSpc>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表示形式：</a:t>
            </a:r>
          </a:p>
          <a:p>
            <a:pPr lvl="1" eaLnBrk="1" hangingPunct="1">
              <a:lnSpc>
                <a:spcPct val="90000"/>
              </a:lnSpc>
              <a:spcBef>
                <a:spcPct val="20000"/>
              </a:spcBef>
              <a:buClr>
                <a:srgbClr val="FF9900"/>
              </a:buClr>
              <a:buFont typeface="Wingdings" pitchFamily="2" charset="2"/>
              <a:buChar char="§"/>
              <a:defRPr/>
            </a:pP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用户</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Profile</a:t>
            </a: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，由于客体相当多，分类复杂，不便于授权管理</a:t>
            </a:r>
          </a:p>
          <a:p>
            <a:pPr lvl="1" eaLnBrk="1" hangingPunct="1">
              <a:lnSpc>
                <a:spcPct val="90000"/>
              </a:lnSpc>
              <a:spcBef>
                <a:spcPct val="20000"/>
              </a:spcBef>
              <a:buClr>
                <a:srgbClr val="FF9900"/>
              </a:buClr>
              <a:buFont typeface="Wingdings" pitchFamily="2" charset="2"/>
              <a:buChar char="§"/>
              <a:defRPr/>
            </a:pP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授权证书，属性证书</a:t>
            </a:r>
          </a:p>
          <a:p>
            <a:pPr eaLnBrk="1" hangingPunct="1">
              <a:lnSpc>
                <a:spcPct val="90000"/>
              </a:lnSpc>
              <a:spcBef>
                <a:spcPct val="20000"/>
              </a:spcBef>
              <a:buClr>
                <a:srgbClr val="3399FF"/>
              </a:buClr>
              <a:buFont typeface="Wingdings" pitchFamily="2" charset="2"/>
              <a:buChar char="v"/>
              <a:defRPr/>
            </a:pP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从能力表得到一个主体所有的访问权限</a:t>
            </a: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，很容易</a:t>
            </a:r>
          </a:p>
          <a:p>
            <a:pPr eaLnBrk="1" hangingPunct="1">
              <a:lnSpc>
                <a:spcPct val="90000"/>
              </a:lnSpc>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从能力表浏览一个客体所允许的访问控制权限，很困难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B33C9F-C07A-4512-0243-A1595D31C7BD}"/>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C25BD6EF-3B32-7E0B-0A97-37A6B51528E7}"/>
              </a:ext>
            </a:extLst>
          </p:cNvPr>
          <p:cNvPicPr>
            <a:picLocks noGrp="1" noChangeAspect="1"/>
          </p:cNvPicPr>
          <p:nvPr>
            <p:ph idx="1"/>
          </p:nvPr>
        </p:nvPicPr>
        <p:blipFill>
          <a:blip r:embed="rId2"/>
          <a:stretch>
            <a:fillRect/>
          </a:stretch>
        </p:blipFill>
        <p:spPr bwMode="auto">
          <a:xfrm>
            <a:off x="800100" y="1295400"/>
            <a:ext cx="7658099"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D747347A-CE53-33D8-3AFE-93305F1E7157}"/>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232917955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5918AADD-77D4-2446-8267-26D63824FED0}"/>
              </a:ext>
            </a:extLst>
          </p:cNvPr>
          <p:cNvSpPr>
            <a:spLocks noGrp="1"/>
          </p:cNvSpPr>
          <p:nvPr>
            <p:ph type="title"/>
          </p:nvPr>
        </p:nvSpPr>
        <p:spPr>
          <a:xfrm>
            <a:off x="511175" y="70167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访问控制矩阵</a:t>
            </a:r>
          </a:p>
        </p:txBody>
      </p:sp>
      <p:sp>
        <p:nvSpPr>
          <p:cNvPr id="7" name="Rectangle 3">
            <a:extLst>
              <a:ext uri="{FF2B5EF4-FFF2-40B4-BE49-F238E27FC236}">
                <a16:creationId xmlns:a16="http://schemas.microsoft.com/office/drawing/2014/main" id="{7408DC7A-2D03-624E-AD16-C4B405367E8B}"/>
              </a:ext>
            </a:extLst>
          </p:cNvPr>
          <p:cNvSpPr txBox="1">
            <a:spLocks noChangeArrowheads="1"/>
          </p:cNvSpPr>
          <p:nvPr/>
        </p:nvSpPr>
        <p:spPr bwMode="gray">
          <a:xfrm>
            <a:off x="363538" y="1303338"/>
            <a:ext cx="8281987" cy="170815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访问控制机制可以用一个三元组来表示（</a:t>
            </a:r>
            <a:r>
              <a:rPr lang="en-US"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S,O,A</a:t>
            </a: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eaLnBrk="1" hangingPunct="1">
              <a:spcBef>
                <a:spcPct val="20000"/>
              </a:spcBef>
              <a:buClr>
                <a:srgbClr val="FF9900"/>
              </a:buClr>
              <a:buFont typeface="Wingdings" pitchFamily="2" charset="2"/>
              <a:buChar char="§"/>
              <a:defRPr/>
            </a:pP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主体的集合  </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S={s</a:t>
            </a:r>
            <a:r>
              <a:rPr lang="en-US" altLang="zh-CN" sz="2000" b="1" baseline="-25000" dirty="0">
                <a:effectLst>
                  <a:outerShdw blurRad="38100" dist="38100" dir="2700000" algn="tl">
                    <a:srgbClr val="C0C0C0"/>
                  </a:outerShdw>
                </a:effectLst>
                <a:latin typeface="Times New Roman" panose="02020603050405020304" pitchFamily="18" charset="0"/>
                <a:ea typeface="黑体" panose="02010609060101010101" pitchFamily="49" charset="-122"/>
              </a:rPr>
              <a:t>1</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,s</a:t>
            </a:r>
            <a:r>
              <a:rPr lang="en-US" altLang="zh-CN" sz="2000" b="1" baseline="-25000" dirty="0">
                <a:effectLst>
                  <a:outerShdw blurRad="38100" dist="38100" dir="2700000" algn="tl">
                    <a:srgbClr val="C0C0C0"/>
                  </a:outerShdw>
                </a:effectLst>
                <a:latin typeface="Times New Roman" panose="02020603050405020304" pitchFamily="18" charset="0"/>
                <a:ea typeface="黑体" panose="02010609060101010101" pitchFamily="49" charset="-122"/>
              </a:rPr>
              <a:t>2</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000" b="1" dirty="0" err="1">
                <a:effectLst>
                  <a:outerShdw blurRad="38100" dist="38100" dir="2700000" algn="tl">
                    <a:srgbClr val="C0C0C0"/>
                  </a:outerShdw>
                </a:effectLst>
                <a:latin typeface="Times New Roman" panose="02020603050405020304" pitchFamily="18" charset="0"/>
                <a:ea typeface="黑体" panose="02010609060101010101" pitchFamily="49" charset="-122"/>
              </a:rPr>
              <a:t>s</a:t>
            </a:r>
            <a:r>
              <a:rPr lang="en-US" altLang="zh-CN" sz="2000" b="1" baseline="-25000" dirty="0" err="1">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eaLnBrk="1" hangingPunct="1">
              <a:spcBef>
                <a:spcPct val="20000"/>
              </a:spcBef>
              <a:buClr>
                <a:srgbClr val="FF9900"/>
              </a:buClr>
              <a:buFont typeface="Wingdings" pitchFamily="2" charset="2"/>
              <a:buChar char="§"/>
              <a:defRPr/>
            </a:pP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客体的集合  </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O={o</a:t>
            </a:r>
            <a:r>
              <a:rPr lang="en-US" altLang="zh-CN" sz="2000" b="1" baseline="-25000" dirty="0">
                <a:effectLst>
                  <a:outerShdw blurRad="38100" dist="38100" dir="2700000" algn="tl">
                    <a:srgbClr val="C0C0C0"/>
                  </a:outerShdw>
                </a:effectLst>
                <a:latin typeface="Times New Roman" panose="02020603050405020304" pitchFamily="18" charset="0"/>
                <a:ea typeface="黑体" panose="02010609060101010101" pitchFamily="49" charset="-122"/>
              </a:rPr>
              <a:t>1</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,o</a:t>
            </a:r>
            <a:r>
              <a:rPr lang="en-US" altLang="zh-CN" sz="2000" b="1" baseline="-25000" dirty="0">
                <a:effectLst>
                  <a:outerShdw blurRad="38100" dist="38100" dir="2700000" algn="tl">
                    <a:srgbClr val="C0C0C0"/>
                  </a:outerShdw>
                </a:effectLst>
                <a:latin typeface="Times New Roman" panose="02020603050405020304" pitchFamily="18" charset="0"/>
                <a:ea typeface="黑体" panose="02010609060101010101" pitchFamily="49" charset="-122"/>
              </a:rPr>
              <a:t>2</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,…,o</a:t>
            </a:r>
            <a:r>
              <a:rPr lang="en-US" altLang="zh-CN" sz="2000" b="1" baseline="-25000" dirty="0">
                <a:effectLst>
                  <a:outerShdw blurRad="38100" dist="38100" dir="2700000" algn="tl">
                    <a:srgbClr val="C0C0C0"/>
                  </a:outerShdw>
                </a:effectLst>
                <a:latin typeface="Times New Roman" panose="02020603050405020304" pitchFamily="18" charset="0"/>
                <a:ea typeface="黑体" panose="02010609060101010101" pitchFamily="49" charset="-122"/>
              </a:rPr>
              <a:t>n</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eaLnBrk="1" hangingPunct="1">
              <a:spcBef>
                <a:spcPct val="20000"/>
              </a:spcBef>
              <a:buClr>
                <a:srgbClr val="FF9900"/>
              </a:buClr>
              <a:buFont typeface="Wingdings" pitchFamily="2" charset="2"/>
              <a:buChar char="§"/>
              <a:defRPr/>
            </a:pPr>
            <a:r>
              <a:rPr lang="zh-CN" altLang="en-US"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所有操作的集合 </a:t>
            </a:r>
            <a:r>
              <a:rPr lang="en-US" altLang="zh-CN" sz="2000" b="1" dirty="0">
                <a:effectLst>
                  <a:outerShdw blurRad="38100" dist="38100" dir="2700000" algn="tl">
                    <a:srgbClr val="C0C0C0"/>
                  </a:outerShdw>
                </a:effectLst>
                <a:latin typeface="Times New Roman" panose="02020603050405020304" pitchFamily="18" charset="0"/>
                <a:ea typeface="黑体" panose="02010609060101010101" pitchFamily="49" charset="-122"/>
              </a:rPr>
              <a:t>A={R, W, E,…} </a:t>
            </a:r>
          </a:p>
        </p:txBody>
      </p:sp>
      <p:graphicFrame>
        <p:nvGraphicFramePr>
          <p:cNvPr id="30727" name="Object 8">
            <a:extLst>
              <a:ext uri="{FF2B5EF4-FFF2-40B4-BE49-F238E27FC236}">
                <a16:creationId xmlns:a16="http://schemas.microsoft.com/office/drawing/2014/main" id="{41A28580-0395-7E4E-A8B6-86A4647BA554}"/>
              </a:ext>
            </a:extLst>
          </p:cNvPr>
          <p:cNvGraphicFramePr>
            <a:graphicFrameLocks noGrp="1" noChangeAspect="1"/>
          </p:cNvGraphicFramePr>
          <p:nvPr>
            <p:ph idx="1"/>
          </p:nvPr>
        </p:nvGraphicFramePr>
        <p:xfrm>
          <a:off x="1306513" y="5218113"/>
          <a:ext cx="6394450" cy="977900"/>
        </p:xfrm>
        <a:graphic>
          <a:graphicData uri="http://schemas.openxmlformats.org/presentationml/2006/ole">
            <mc:AlternateContent xmlns:mc="http://schemas.openxmlformats.org/markup-compatibility/2006">
              <mc:Choice xmlns:v="urn:schemas-microsoft-com:vml" Requires="v">
                <p:oleObj r:id="rId2" imgW="73723500" imgH="11696700" progId="Equation.3">
                  <p:embed/>
                </p:oleObj>
              </mc:Choice>
              <mc:Fallback>
                <p:oleObj r:id="rId2" imgW="73723500" imgH="11696700" progId="Equation.3">
                  <p:embed/>
                  <p:pic>
                    <p:nvPicPr>
                      <p:cNvPr id="0" name="Object 8"/>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513" y="5218113"/>
                        <a:ext cx="6394450" cy="977900"/>
                      </a:xfrm>
                      <a:prstGeom prst="rect">
                        <a:avLst/>
                      </a:prstGeom>
                      <a:solidFill>
                        <a:srgbClr val="FFFF00"/>
                      </a:solidFill>
                      <a:ln w="38100">
                        <a:solidFill>
                          <a:schemeClr val="tx1"/>
                        </a:solidFill>
                        <a:miter lim="800000"/>
                        <a:headEnd/>
                        <a:tailEnd/>
                      </a:ln>
                    </p:spPr>
                  </p:pic>
                </p:oleObj>
              </mc:Fallback>
            </mc:AlternateContent>
          </a:graphicData>
        </a:graphic>
      </p:graphicFrame>
      <p:graphicFrame>
        <p:nvGraphicFramePr>
          <p:cNvPr id="30728" name="Object 10">
            <a:extLst>
              <a:ext uri="{FF2B5EF4-FFF2-40B4-BE49-F238E27FC236}">
                <a16:creationId xmlns:a16="http://schemas.microsoft.com/office/drawing/2014/main" id="{D619358E-B1B5-2045-AF98-A4953DC26C0B}"/>
              </a:ext>
            </a:extLst>
          </p:cNvPr>
          <p:cNvGraphicFramePr>
            <a:graphicFrameLocks noGrp="1" noChangeAspect="1"/>
          </p:cNvGraphicFramePr>
          <p:nvPr>
            <p:ph idx="1"/>
          </p:nvPr>
        </p:nvGraphicFramePr>
        <p:xfrm>
          <a:off x="5029200" y="2816225"/>
          <a:ext cx="3832225" cy="2217738"/>
        </p:xfrm>
        <a:graphic>
          <a:graphicData uri="http://schemas.openxmlformats.org/presentationml/2006/ole">
            <mc:AlternateContent xmlns:mc="http://schemas.openxmlformats.org/markup-compatibility/2006">
              <mc:Choice xmlns:v="urn:schemas-microsoft-com:vml" Requires="v">
                <p:oleObj r:id="rId4" imgW="37452300" imgH="21653500" progId="Equation.3">
                  <p:embed/>
                </p:oleObj>
              </mc:Choice>
              <mc:Fallback>
                <p:oleObj r:id="rId4" imgW="37452300" imgH="21653500" progId="Equation.3">
                  <p:embed/>
                  <p:pic>
                    <p:nvPicPr>
                      <p:cNvPr id="0" name="Object 10"/>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816225"/>
                        <a:ext cx="3832225"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a:extLst>
              <a:ext uri="{FF2B5EF4-FFF2-40B4-BE49-F238E27FC236}">
                <a16:creationId xmlns:a16="http://schemas.microsoft.com/office/drawing/2014/main" id="{33100974-3C1E-9744-A40E-2E994249BC53}"/>
              </a:ext>
            </a:extLst>
          </p:cNvPr>
          <p:cNvSpPr/>
          <p:nvPr/>
        </p:nvSpPr>
        <p:spPr>
          <a:xfrm>
            <a:off x="511175" y="2933700"/>
            <a:ext cx="7197725" cy="461963"/>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rgbClr val="3399FF"/>
              </a:buClr>
              <a:buFont typeface="Wingdings" pitchFamily="2" charset="2"/>
              <a:buChar char="v"/>
              <a:defRPr/>
            </a:pP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访问控制矩阵  </a:t>
            </a:r>
            <a:r>
              <a:rPr lang="en-US"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M=  S × O </a:t>
            </a:r>
            <a:r>
              <a:rPr lang="en-US"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sym typeface="Wingdings" pitchFamily="2" charset="2"/>
              </a:rPr>
              <a:t> 2 ^ A</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par>
                          <p:cTn id="15" fill="hold" nodeType="afterGroup">
                            <p:stCondLst>
                              <p:cond delay="500"/>
                            </p:stCondLst>
                            <p:childTnLst>
                              <p:par>
                                <p:cTn id="16" presetID="16" presetClass="entr" presetSubtype="26" fill="hold" nodeType="afterEffect">
                                  <p:stCondLst>
                                    <p:cond delay="0"/>
                                  </p:stCondLst>
                                  <p:childTnLst>
                                    <p:set>
                                      <p:cBhvr>
                                        <p:cTn id="17" dur="1" fill="hold">
                                          <p:stCondLst>
                                            <p:cond delay="0"/>
                                          </p:stCondLst>
                                        </p:cTn>
                                        <p:tgtEl>
                                          <p:spTgt spid="30728"/>
                                        </p:tgtEl>
                                        <p:attrNameLst>
                                          <p:attrName>style.visibility</p:attrName>
                                        </p:attrNameLst>
                                      </p:cBhvr>
                                      <p:to>
                                        <p:strVal val="visible"/>
                                      </p:to>
                                    </p:set>
                                    <p:animEffect transition="in" filter="barn(inHorizontal)">
                                      <p:cBhvr>
                                        <p:cTn id="18" dur="1000"/>
                                        <p:tgtEl>
                                          <p:spTgt spid="30728"/>
                                        </p:tgtEl>
                                      </p:cBhvr>
                                    </p:animEffect>
                                  </p:childTnLst>
                                </p:cTn>
                              </p:par>
                            </p:childTnLst>
                          </p:cTn>
                        </p:par>
                        <p:par>
                          <p:cTn id="19" fill="hold" nodeType="afterGroup">
                            <p:stCondLst>
                              <p:cond delay="1500"/>
                            </p:stCondLst>
                            <p:childTnLst>
                              <p:par>
                                <p:cTn id="20" presetID="53" presetClass="entr" presetSubtype="16" fill="hold" nodeType="afterEffect">
                                  <p:stCondLst>
                                    <p:cond delay="0"/>
                                  </p:stCondLst>
                                  <p:childTnLst>
                                    <p:set>
                                      <p:cBhvr>
                                        <p:cTn id="21" dur="1" fill="hold">
                                          <p:stCondLst>
                                            <p:cond delay="0"/>
                                          </p:stCondLst>
                                        </p:cTn>
                                        <p:tgtEl>
                                          <p:spTgt spid="30727"/>
                                        </p:tgtEl>
                                        <p:attrNameLst>
                                          <p:attrName>style.visibility</p:attrName>
                                        </p:attrNameLst>
                                      </p:cBhvr>
                                      <p:to>
                                        <p:strVal val="visible"/>
                                      </p:to>
                                    </p:set>
                                    <p:anim calcmode="lin" valueType="num">
                                      <p:cBhvr>
                                        <p:cTn id="22" dur="500" fill="hold"/>
                                        <p:tgtEl>
                                          <p:spTgt spid="30727"/>
                                        </p:tgtEl>
                                        <p:attrNameLst>
                                          <p:attrName>ppt_w</p:attrName>
                                        </p:attrNameLst>
                                      </p:cBhvr>
                                      <p:tavLst>
                                        <p:tav tm="0">
                                          <p:val>
                                            <p:fltVal val="0"/>
                                          </p:val>
                                        </p:tav>
                                        <p:tav tm="100000">
                                          <p:val>
                                            <p:strVal val="#ppt_w"/>
                                          </p:val>
                                        </p:tav>
                                      </p:tavLst>
                                    </p:anim>
                                    <p:anim calcmode="lin" valueType="num">
                                      <p:cBhvr>
                                        <p:cTn id="23" dur="500" fill="hold"/>
                                        <p:tgtEl>
                                          <p:spTgt spid="30727"/>
                                        </p:tgtEl>
                                        <p:attrNameLst>
                                          <p:attrName>ppt_h</p:attrName>
                                        </p:attrNameLst>
                                      </p:cBhvr>
                                      <p:tavLst>
                                        <p:tav tm="0">
                                          <p:val>
                                            <p:fltVal val="0"/>
                                          </p:val>
                                        </p:tav>
                                        <p:tav tm="100000">
                                          <p:val>
                                            <p:strVal val="#ppt_h"/>
                                          </p:val>
                                        </p:tav>
                                      </p:tavLst>
                                    </p:anim>
                                    <p:animEffect transition="in" filter="fade">
                                      <p:cBhvr>
                                        <p:cTn id="24" dur="500"/>
                                        <p:tgtEl>
                                          <p:spTgt spid="3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654A9-CEAE-1F90-D378-EC8D668545BE}"/>
              </a:ext>
            </a:extLst>
          </p:cNvPr>
          <p:cNvSpPr>
            <a:spLocks noGrp="1"/>
          </p:cNvSpPr>
          <p:nvPr>
            <p:ph type="title"/>
          </p:nvPr>
        </p:nvSpPr>
        <p:spPr/>
        <p:txBody>
          <a:bodyPr/>
          <a:lstStyle/>
          <a:p>
            <a:endParaRPr lang="zh-CN" altLang="en-US"/>
          </a:p>
        </p:txBody>
      </p:sp>
      <p:pic>
        <p:nvPicPr>
          <p:cNvPr id="10" name="内容占位符 9">
            <a:extLst>
              <a:ext uri="{FF2B5EF4-FFF2-40B4-BE49-F238E27FC236}">
                <a16:creationId xmlns:a16="http://schemas.microsoft.com/office/drawing/2014/main" id="{D562E5D4-618A-80DF-03E2-C0B3DB277A5E}"/>
              </a:ext>
            </a:extLst>
          </p:cNvPr>
          <p:cNvPicPr>
            <a:picLocks noGrp="1" noChangeAspect="1"/>
          </p:cNvPicPr>
          <p:nvPr>
            <p:ph idx="1"/>
          </p:nvPr>
        </p:nvPicPr>
        <p:blipFill>
          <a:blip r:embed="rId2"/>
          <a:stretch>
            <a:fillRect/>
          </a:stretch>
        </p:blipFill>
        <p:spPr bwMode="auto">
          <a:xfrm>
            <a:off x="1225550" y="1295400"/>
            <a:ext cx="6807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FBE5B0E5-AAA4-532F-F682-C9755D1D4D50}"/>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B05BC42D-B475-67EF-0CB9-8A41FAE017F6}"/>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76885640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3C7AB0B-AA14-3246-9EA6-E72A22636285}"/>
              </a:ext>
            </a:extLst>
          </p:cNvPr>
          <p:cNvSpPr>
            <a:spLocks noGrp="1"/>
          </p:cNvSpPr>
          <p:nvPr>
            <p:ph type="title"/>
          </p:nvPr>
        </p:nvSpPr>
        <p:spPr>
          <a:xfrm>
            <a:off x="395288" y="80010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访问控制矩阵</a:t>
            </a:r>
          </a:p>
        </p:txBody>
      </p:sp>
      <p:sp>
        <p:nvSpPr>
          <p:cNvPr id="6" name="Rectangle 15">
            <a:extLst>
              <a:ext uri="{FF2B5EF4-FFF2-40B4-BE49-F238E27FC236}">
                <a16:creationId xmlns:a16="http://schemas.microsoft.com/office/drawing/2014/main" id="{CC095F2D-D164-5F4C-984A-4D2B018C7981}"/>
              </a:ext>
            </a:extLst>
          </p:cNvPr>
          <p:cNvSpPr txBox="1">
            <a:spLocks noChangeArrowheads="1"/>
          </p:cNvSpPr>
          <p:nvPr/>
        </p:nvSpPr>
        <p:spPr bwMode="gray">
          <a:xfrm>
            <a:off x="576263" y="4279900"/>
            <a:ext cx="8215312" cy="188595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99FF"/>
              </a:buClr>
              <a:buFont typeface="Wingdings" pitchFamily="2" charset="2"/>
              <a:buChar char="v"/>
              <a:defRPr/>
            </a:pP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矩阵的第</a:t>
            </a:r>
            <a:r>
              <a:rPr lang="en-US" altLang="zh-CN" sz="2800" b="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i</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行</a:t>
            </a:r>
            <a:r>
              <a:rPr lang="en-US" altLang="zh-CN" sz="2800" b="1" i="1" dirty="0">
                <a:effectLst>
                  <a:outerShdw blurRad="38100" dist="38100" dir="2700000" algn="tl">
                    <a:srgbClr val="C0C0C0"/>
                  </a:outerShdw>
                </a:effectLst>
                <a:latin typeface="Times New Roman" panose="02020603050405020304" pitchFamily="18" charset="0"/>
                <a:ea typeface="仿宋_GB2312" panose="02010609030101010101" pitchFamily="49" charset="-122"/>
              </a:rPr>
              <a:t>S</a:t>
            </a:r>
            <a:r>
              <a:rPr lang="en-US" altLang="zh-CN" sz="2800" b="1" i="1" baseline="-25000" dirty="0">
                <a:effectLst>
                  <a:outerShdw blurRad="38100" dist="38100" dir="2700000" algn="tl">
                    <a:srgbClr val="C0C0C0"/>
                  </a:outerShdw>
                </a:effectLst>
                <a:latin typeface="Times New Roman" panose="02020603050405020304" pitchFamily="18" charset="0"/>
                <a:ea typeface="仿宋_GB2312" panose="02010609030101010101" pitchFamily="49" charset="-122"/>
              </a:rPr>
              <a:t>i</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表示了主体</a:t>
            </a:r>
            <a:r>
              <a:rPr lang="en-US" altLang="zh-CN" sz="2800" b="1" i="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s</a:t>
            </a:r>
            <a:r>
              <a:rPr lang="en-US" altLang="zh-CN" sz="2800" b="1" i="1" baseline="-25000"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i</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对所有客体的操作权限，称为主体</a:t>
            </a:r>
            <a:r>
              <a:rPr lang="en-US" altLang="zh-CN" sz="2800" b="1" i="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s</a:t>
            </a:r>
            <a:r>
              <a:rPr lang="en-US" altLang="zh-CN" sz="2800" b="1" i="1" baseline="-25000"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i</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的</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能力表</a:t>
            </a: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(Capability List)</a:t>
            </a:r>
          </a:p>
          <a:p>
            <a:pPr eaLnBrk="1" hangingPunct="1">
              <a:lnSpc>
                <a:spcPct val="90000"/>
              </a:lnSpc>
              <a:spcBef>
                <a:spcPct val="20000"/>
              </a:spcBef>
              <a:buClr>
                <a:srgbClr val="3399FF"/>
              </a:buClr>
              <a:buFont typeface="Wingdings" pitchFamily="2" charset="2"/>
              <a:buChar char="v"/>
              <a:defRPr/>
            </a:pP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矩阵的第</a:t>
            </a:r>
            <a:r>
              <a:rPr lang="en-US" altLang="zh-CN"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j</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列</a:t>
            </a:r>
            <a:r>
              <a:rPr lang="en-US" altLang="zh-CN" sz="2800" b="1" i="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O</a:t>
            </a:r>
            <a:r>
              <a:rPr lang="en-US" altLang="zh-CN" sz="2800" b="1" i="1" baseline="-25000"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j</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表示客体</a:t>
            </a:r>
            <a:r>
              <a:rPr lang="en-US" altLang="zh-CN" sz="2800" b="1" i="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o</a:t>
            </a:r>
            <a:r>
              <a:rPr lang="en-US" altLang="zh-CN" sz="2800" b="1" i="1" baseline="-25000"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j</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允许所有主体的操作，称为</a:t>
            </a:r>
            <a:r>
              <a:rPr lang="en-US" altLang="zh-CN" sz="2800" b="1" i="1"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o</a:t>
            </a:r>
            <a:r>
              <a:rPr lang="en-US" altLang="zh-CN" sz="2800" b="1" i="1" baseline="-25000" dirty="0" err="1">
                <a:effectLst>
                  <a:outerShdw blurRad="38100" dist="38100" dir="2700000" algn="tl">
                    <a:srgbClr val="C0C0C0"/>
                  </a:outerShdw>
                </a:effectLst>
                <a:latin typeface="Times New Roman" panose="02020603050405020304" pitchFamily="18" charset="0"/>
                <a:ea typeface="仿宋_GB2312" panose="02010609030101010101" pitchFamily="49" charset="-122"/>
              </a:rPr>
              <a:t>j</a:t>
            </a:r>
            <a:r>
              <a:rPr lang="zh-CN" altLang="en-US" sz="2800" b="1" dirty="0">
                <a:effectLst>
                  <a:outerShdw blurRad="38100" dist="38100" dir="2700000" algn="tl">
                    <a:srgbClr val="C0C0C0"/>
                  </a:outerShdw>
                </a:effectLst>
                <a:latin typeface="Times New Roman" panose="02020603050405020304" pitchFamily="18" charset="0"/>
                <a:ea typeface="仿宋_GB2312" panose="02010609030101010101" pitchFamily="49" charset="-122"/>
              </a:rPr>
              <a:t>的</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访问控制表（</a:t>
            </a: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Access Control List</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仿宋_GB2312" panose="02010609030101010101" pitchFamily="49" charset="-122"/>
              </a:rPr>
              <a:t>）</a:t>
            </a:r>
          </a:p>
        </p:txBody>
      </p:sp>
      <p:graphicFrame>
        <p:nvGraphicFramePr>
          <p:cNvPr id="43011" name="Object 5">
            <a:extLst>
              <a:ext uri="{FF2B5EF4-FFF2-40B4-BE49-F238E27FC236}">
                <a16:creationId xmlns:a16="http://schemas.microsoft.com/office/drawing/2014/main" id="{E1759887-1BB2-E549-9457-E4CB81201585}"/>
              </a:ext>
            </a:extLst>
          </p:cNvPr>
          <p:cNvGraphicFramePr>
            <a:graphicFrameLocks noGrp="1" noChangeAspect="1"/>
          </p:cNvGraphicFramePr>
          <p:nvPr>
            <p:ph idx="1"/>
          </p:nvPr>
        </p:nvGraphicFramePr>
        <p:xfrm>
          <a:off x="371475" y="1484313"/>
          <a:ext cx="8231188" cy="2343150"/>
        </p:xfrm>
        <a:graphic>
          <a:graphicData uri="http://schemas.openxmlformats.org/presentationml/2006/ole">
            <mc:AlternateContent xmlns:mc="http://schemas.openxmlformats.org/markup-compatibility/2006">
              <mc:Choice xmlns:v="urn:schemas-microsoft-com:vml" Requires="v">
                <p:oleObj r:id="rId2" imgW="76073000" imgH="21653500" progId="Equation.3">
                  <p:embed/>
                </p:oleObj>
              </mc:Choice>
              <mc:Fallback>
                <p:oleObj r:id="rId2" imgW="76073000" imgH="21653500" progId="Equation.3">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1484313"/>
                        <a:ext cx="8231188"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3">
            <a:extLst>
              <a:ext uri="{FF2B5EF4-FFF2-40B4-BE49-F238E27FC236}">
                <a16:creationId xmlns:a16="http://schemas.microsoft.com/office/drawing/2014/main" id="{103C3061-12F0-0A45-BEC4-6115C91B17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1050" y="2370138"/>
            <a:ext cx="5257800" cy="2808287"/>
          </a:xfrm>
        </p:spPr>
      </p:pic>
      <p:grpSp>
        <p:nvGrpSpPr>
          <p:cNvPr id="10" name="组合 9">
            <a:extLst>
              <a:ext uri="{FF2B5EF4-FFF2-40B4-BE49-F238E27FC236}">
                <a16:creationId xmlns:a16="http://schemas.microsoft.com/office/drawing/2014/main" id="{44DFDDAA-5ACC-2F4B-BB95-D1EF5FC8AFDD}"/>
              </a:ext>
            </a:extLst>
          </p:cNvPr>
          <p:cNvGrpSpPr>
            <a:grpSpLocks/>
          </p:cNvGrpSpPr>
          <p:nvPr/>
        </p:nvGrpSpPr>
        <p:grpSpPr bwMode="auto">
          <a:xfrm>
            <a:off x="4932363" y="1665288"/>
            <a:ext cx="1214437" cy="3857625"/>
            <a:chOff x="5364088" y="1844824"/>
            <a:chExt cx="1215008" cy="3857625"/>
          </a:xfrm>
        </p:grpSpPr>
        <p:sp>
          <p:nvSpPr>
            <p:cNvPr id="44039" name="TextBox 26">
              <a:extLst>
                <a:ext uri="{FF2B5EF4-FFF2-40B4-BE49-F238E27FC236}">
                  <a16:creationId xmlns:a16="http://schemas.microsoft.com/office/drawing/2014/main" id="{FF7D35C9-BC35-9D46-B432-AF52ED61AA81}"/>
                </a:ext>
              </a:extLst>
            </p:cNvPr>
            <p:cNvSpPr txBox="1">
              <a:spLocks noChangeArrowheads="1"/>
            </p:cNvSpPr>
            <p:nvPr/>
          </p:nvSpPr>
          <p:spPr bwMode="auto">
            <a:xfrm>
              <a:off x="5598669" y="2106496"/>
              <a:ext cx="817853" cy="46166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2400" b="1">
                  <a:latin typeface="Arial" panose="020B0604020202020204" pitchFamily="34" charset="0"/>
                  <a:ea typeface="宋体" panose="02010600030101010101" pitchFamily="2" charset="-122"/>
                </a:rPr>
                <a:t>ACL</a:t>
              </a:r>
              <a:endParaRPr lang="zh-CN" altLang="en-US" sz="2400" b="1">
                <a:latin typeface="Arial" panose="020B0604020202020204" pitchFamily="34" charset="0"/>
                <a:ea typeface="宋体" panose="02010600030101010101" pitchFamily="2" charset="-122"/>
              </a:endParaRPr>
            </a:p>
          </p:txBody>
        </p:sp>
        <p:sp>
          <p:nvSpPr>
            <p:cNvPr id="6" name="椭圆 5">
              <a:extLst>
                <a:ext uri="{FF2B5EF4-FFF2-40B4-BE49-F238E27FC236}">
                  <a16:creationId xmlns:a16="http://schemas.microsoft.com/office/drawing/2014/main" id="{40BEA46A-8387-4A43-91CF-58AC566925F3}"/>
                </a:ext>
              </a:extLst>
            </p:cNvPr>
            <p:cNvSpPr/>
            <p:nvPr/>
          </p:nvSpPr>
          <p:spPr>
            <a:xfrm>
              <a:off x="5364088" y="1844824"/>
              <a:ext cx="1215008" cy="38576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5" name="组合 4">
            <a:extLst>
              <a:ext uri="{FF2B5EF4-FFF2-40B4-BE49-F238E27FC236}">
                <a16:creationId xmlns:a16="http://schemas.microsoft.com/office/drawing/2014/main" id="{5529C1E5-38BE-544E-83FD-7FE5680B0369}"/>
              </a:ext>
            </a:extLst>
          </p:cNvPr>
          <p:cNvGrpSpPr>
            <a:grpSpLocks/>
          </p:cNvGrpSpPr>
          <p:nvPr/>
        </p:nvGrpSpPr>
        <p:grpSpPr bwMode="auto">
          <a:xfrm>
            <a:off x="684213" y="3744913"/>
            <a:ext cx="7569200" cy="804862"/>
            <a:chOff x="683568" y="3744119"/>
            <a:chExt cx="7569968" cy="806153"/>
          </a:xfrm>
        </p:grpSpPr>
        <p:sp>
          <p:nvSpPr>
            <p:cNvPr id="44037" name="TextBox 28">
              <a:extLst>
                <a:ext uri="{FF2B5EF4-FFF2-40B4-BE49-F238E27FC236}">
                  <a16:creationId xmlns:a16="http://schemas.microsoft.com/office/drawing/2014/main" id="{1CDFFCA7-838E-3B49-B1DE-C99CE1289C44}"/>
                </a:ext>
              </a:extLst>
            </p:cNvPr>
            <p:cNvSpPr txBox="1">
              <a:spLocks noChangeArrowheads="1"/>
            </p:cNvSpPr>
            <p:nvPr/>
          </p:nvSpPr>
          <p:spPr bwMode="auto">
            <a:xfrm>
              <a:off x="1223628" y="3958084"/>
              <a:ext cx="516833" cy="578863"/>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2400" b="1">
                  <a:latin typeface="Arial" panose="020B0604020202020204" pitchFamily="34" charset="0"/>
                  <a:ea typeface="宋体" panose="02010600030101010101" pitchFamily="2" charset="-122"/>
                </a:rPr>
                <a:t>CL</a:t>
              </a:r>
              <a:endParaRPr lang="zh-CN" altLang="en-US" sz="2400" b="1">
                <a:latin typeface="Arial" panose="020B0604020202020204" pitchFamily="34" charset="0"/>
                <a:ea typeface="宋体" panose="02010600030101010101" pitchFamily="2" charset="-122"/>
              </a:endParaRPr>
            </a:p>
          </p:txBody>
        </p:sp>
        <p:sp>
          <p:nvSpPr>
            <p:cNvPr id="8" name="椭圆 7">
              <a:extLst>
                <a:ext uri="{FF2B5EF4-FFF2-40B4-BE49-F238E27FC236}">
                  <a16:creationId xmlns:a16="http://schemas.microsoft.com/office/drawing/2014/main" id="{DADBEF50-0E14-D047-9C91-D9E6C5F3E4AE}"/>
                </a:ext>
              </a:extLst>
            </p:cNvPr>
            <p:cNvSpPr/>
            <p:nvPr/>
          </p:nvSpPr>
          <p:spPr>
            <a:xfrm>
              <a:off x="683568" y="3744119"/>
              <a:ext cx="7569968" cy="80615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1" name="标题 1">
            <a:extLst>
              <a:ext uri="{FF2B5EF4-FFF2-40B4-BE49-F238E27FC236}">
                <a16:creationId xmlns:a16="http://schemas.microsoft.com/office/drawing/2014/main" id="{4B70E483-A60F-FA4F-87E5-D3A6C02CF4D9}"/>
              </a:ext>
            </a:extLst>
          </p:cNvPr>
          <p:cNvSpPr>
            <a:spLocks noGrp="1"/>
          </p:cNvSpPr>
          <p:nvPr>
            <p:ph type="title"/>
          </p:nvPr>
        </p:nvSpPr>
        <p:spPr>
          <a:xfrm>
            <a:off x="431800" y="9588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访问控制矩阵</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ppt_x"/>
                                          </p:val>
                                        </p:tav>
                                        <p:tav tm="100000">
                                          <p:val>
                                            <p:strVal val="#ppt_x"/>
                                          </p:val>
                                        </p:tav>
                                      </p:tavLst>
                                    </p:anim>
                                    <p:anim calcmode="lin" valueType="num">
                                      <p:cBhvr additive="base">
                                        <p:cTn id="8" dur="500" fill="hold"/>
                                        <p:tgtEl>
                                          <p:spTgt spid="563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A0DBA236-D92D-404B-9D17-B61CD09F6D69}"/>
              </a:ext>
            </a:extLst>
          </p:cNvPr>
          <p:cNvSpPr>
            <a:spLocks noGrp="1" noChangeArrowheads="1"/>
          </p:cNvSpPr>
          <p:nvPr>
            <p:ph idx="1"/>
          </p:nvPr>
        </p:nvSpPr>
        <p:spPr>
          <a:xfrm>
            <a:off x="1295400" y="4752975"/>
            <a:ext cx="6507163" cy="1022350"/>
          </a:xfrm>
        </p:spPr>
        <p:txBody>
          <a:bodyPr/>
          <a:lstStyle/>
          <a:p>
            <a:pPr eaLnBrk="1" hangingPunct="1">
              <a:lnSpc>
                <a:spcPct val="90000"/>
              </a:lnSpc>
            </a:pPr>
            <a:r>
              <a:rPr lang="zh-CN" altLang="en-US" b="1">
                <a:solidFill>
                  <a:srgbClr val="CC0000"/>
                </a:solidFill>
              </a:rPr>
              <a:t>按客体排序：访问控制表</a:t>
            </a:r>
          </a:p>
          <a:p>
            <a:pPr eaLnBrk="1" hangingPunct="1">
              <a:lnSpc>
                <a:spcPct val="90000"/>
              </a:lnSpc>
            </a:pPr>
            <a:r>
              <a:rPr lang="zh-CN" altLang="en-US" b="1">
                <a:solidFill>
                  <a:srgbClr val="CC0000"/>
                </a:solidFill>
              </a:rPr>
              <a:t>按主体排序：访问能力表</a:t>
            </a:r>
            <a:endParaRPr lang="en-US" altLang="zh-CN">
              <a:solidFill>
                <a:srgbClr val="CC0000"/>
              </a:solidFill>
            </a:endParaRPr>
          </a:p>
        </p:txBody>
      </p:sp>
      <p:sp>
        <p:nvSpPr>
          <p:cNvPr id="133122" name="Rectangle 2">
            <a:extLst>
              <a:ext uri="{FF2B5EF4-FFF2-40B4-BE49-F238E27FC236}">
                <a16:creationId xmlns:a16="http://schemas.microsoft.com/office/drawing/2014/main" id="{E30F8B4E-D81E-D34A-9AC5-A569885CBE74}"/>
              </a:ext>
            </a:extLst>
          </p:cNvPr>
          <p:cNvSpPr>
            <a:spLocks noGrp="1" noChangeArrowheads="1"/>
          </p:cNvSpPr>
          <p:nvPr>
            <p:ph type="title"/>
          </p:nvPr>
        </p:nvSpPr>
        <p:spPr>
          <a:xfrm>
            <a:off x="611188" y="7985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rPr>
              <a:t>授权关系表</a:t>
            </a:r>
          </a:p>
        </p:txBody>
      </p:sp>
      <p:grpSp>
        <p:nvGrpSpPr>
          <p:cNvPr id="58372" name="Group 4">
            <a:extLst>
              <a:ext uri="{FF2B5EF4-FFF2-40B4-BE49-F238E27FC236}">
                <a16:creationId xmlns:a16="http://schemas.microsoft.com/office/drawing/2014/main" id="{46ADA453-8864-2D4A-A021-B2E637E78FC1}"/>
              </a:ext>
            </a:extLst>
          </p:cNvPr>
          <p:cNvGrpSpPr>
            <a:grpSpLocks/>
          </p:cNvGrpSpPr>
          <p:nvPr/>
        </p:nvGrpSpPr>
        <p:grpSpPr bwMode="auto">
          <a:xfrm>
            <a:off x="1776413" y="1628775"/>
            <a:ext cx="5424487" cy="2727325"/>
            <a:chOff x="1056" y="1536"/>
            <a:chExt cx="3032" cy="1718"/>
          </a:xfrm>
        </p:grpSpPr>
        <p:sp>
          <p:nvSpPr>
            <p:cNvPr id="58373" name="Text Box 5">
              <a:extLst>
                <a:ext uri="{FF2B5EF4-FFF2-40B4-BE49-F238E27FC236}">
                  <a16:creationId xmlns:a16="http://schemas.microsoft.com/office/drawing/2014/main" id="{D8C123D9-5896-3A48-9BEC-7A03AE51D92E}"/>
                </a:ext>
              </a:extLst>
            </p:cNvPr>
            <p:cNvSpPr txBox="1">
              <a:spLocks noChangeArrowheads="1"/>
            </p:cNvSpPr>
            <p:nvPr/>
          </p:nvSpPr>
          <p:spPr bwMode="auto">
            <a:xfrm>
              <a:off x="1064" y="1568"/>
              <a:ext cx="3024" cy="1686"/>
            </a:xfrm>
            <a:prstGeom prst="rect">
              <a:avLst/>
            </a:prstGeom>
            <a:solidFill>
              <a:srgbClr val="FFFF00"/>
            </a:solidFill>
            <a:ln w="381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5"/>
            </a:lnRef>
            <a:fillRef idx="1">
              <a:schemeClr val="lt1"/>
            </a:fillRef>
            <a:effectRef idx="0">
              <a:schemeClr val="accent5"/>
            </a:effectRef>
            <a:fontRef idx="minor">
              <a:schemeClr val="dk1"/>
            </a:fontRef>
          </p:style>
          <p:txBody>
            <a:bodyPr>
              <a:spAutoFit/>
            </a:bodyPr>
            <a:lstStyle/>
            <a:p>
              <a:pPr eaLnBrk="1" hangingPunct="1">
                <a:spcBef>
                  <a:spcPct val="50000"/>
                </a:spcBef>
                <a:defRPr/>
              </a:pPr>
              <a:r>
                <a:rPr kumimoji="1" lang="en-US" altLang="zh-CN" sz="2400" b="1" dirty="0" err="1">
                  <a:solidFill>
                    <a:srgbClr val="000066"/>
                  </a:solidFill>
                  <a:latin typeface="Times New Roman" panose="02020603050405020304" pitchFamily="18" charset="0"/>
                </a:rPr>
                <a:t>UserA</a:t>
              </a:r>
              <a:r>
                <a:rPr kumimoji="1" lang="en-US" altLang="zh-CN" sz="2400" b="1" dirty="0">
                  <a:solidFill>
                    <a:srgbClr val="000066"/>
                  </a:solidFill>
                  <a:latin typeface="Times New Roman" panose="02020603050405020304" pitchFamily="18" charset="0"/>
                </a:rPr>
                <a:t>              Own                  Obj1</a:t>
              </a:r>
            </a:p>
            <a:p>
              <a:pPr eaLnBrk="1" hangingPunct="1">
                <a:spcBef>
                  <a:spcPct val="50000"/>
                </a:spcBef>
                <a:defRPr/>
              </a:pPr>
              <a:r>
                <a:rPr kumimoji="1" lang="en-US" altLang="zh-CN" sz="2400" b="1" dirty="0" err="1">
                  <a:solidFill>
                    <a:srgbClr val="000066"/>
                  </a:solidFill>
                  <a:latin typeface="Times New Roman" panose="02020603050405020304" pitchFamily="18" charset="0"/>
                </a:rPr>
                <a:t>UserA</a:t>
              </a:r>
              <a:r>
                <a:rPr kumimoji="1" lang="en-US" altLang="zh-CN" sz="2400" b="1" dirty="0">
                  <a:solidFill>
                    <a:srgbClr val="000066"/>
                  </a:solidFill>
                  <a:latin typeface="Times New Roman" panose="02020603050405020304" pitchFamily="18" charset="0"/>
                </a:rPr>
                <a:t>                R                     Obj1</a:t>
              </a:r>
            </a:p>
            <a:p>
              <a:pPr eaLnBrk="1" hangingPunct="1">
                <a:spcBef>
                  <a:spcPct val="50000"/>
                </a:spcBef>
                <a:defRPr/>
              </a:pPr>
              <a:r>
                <a:rPr kumimoji="1" lang="en-US" altLang="zh-CN" sz="2400" b="1" dirty="0" err="1">
                  <a:solidFill>
                    <a:srgbClr val="000066"/>
                  </a:solidFill>
                  <a:latin typeface="Times New Roman" panose="02020603050405020304" pitchFamily="18" charset="0"/>
                </a:rPr>
                <a:t>UserA</a:t>
              </a:r>
              <a:r>
                <a:rPr kumimoji="1" lang="en-US" altLang="zh-CN" sz="2400" b="1" dirty="0">
                  <a:solidFill>
                    <a:srgbClr val="000066"/>
                  </a:solidFill>
                  <a:latin typeface="Times New Roman" panose="02020603050405020304" pitchFamily="18" charset="0"/>
                </a:rPr>
                <a:t>                W                     Obj1</a:t>
              </a:r>
            </a:p>
            <a:p>
              <a:pPr eaLnBrk="1" hangingPunct="1">
                <a:spcBef>
                  <a:spcPct val="50000"/>
                </a:spcBef>
                <a:defRPr/>
              </a:pPr>
              <a:r>
                <a:rPr kumimoji="1" lang="en-US" altLang="zh-CN" sz="2400" b="1" dirty="0" err="1">
                  <a:solidFill>
                    <a:srgbClr val="000066"/>
                  </a:solidFill>
                  <a:latin typeface="Times New Roman" panose="02020603050405020304" pitchFamily="18" charset="0"/>
                </a:rPr>
                <a:t>UserB</a:t>
              </a:r>
              <a:r>
                <a:rPr kumimoji="1" lang="en-US" altLang="zh-CN" sz="2400" b="1" dirty="0">
                  <a:solidFill>
                    <a:srgbClr val="000066"/>
                  </a:solidFill>
                  <a:latin typeface="Times New Roman" panose="02020603050405020304" pitchFamily="18" charset="0"/>
                </a:rPr>
                <a:t>                W                     Obj2</a:t>
              </a:r>
            </a:p>
            <a:p>
              <a:pPr eaLnBrk="1" hangingPunct="1">
                <a:spcBef>
                  <a:spcPct val="50000"/>
                </a:spcBef>
                <a:defRPr/>
              </a:pPr>
              <a:r>
                <a:rPr kumimoji="1" lang="en-US" altLang="zh-CN" sz="2400" b="1" dirty="0" err="1">
                  <a:solidFill>
                    <a:srgbClr val="000066"/>
                  </a:solidFill>
                  <a:latin typeface="Times New Roman" panose="02020603050405020304" pitchFamily="18" charset="0"/>
                </a:rPr>
                <a:t>UserB</a:t>
              </a:r>
              <a:r>
                <a:rPr kumimoji="1" lang="en-US" altLang="zh-CN" sz="2400" b="1" dirty="0">
                  <a:solidFill>
                    <a:srgbClr val="000066"/>
                  </a:solidFill>
                  <a:latin typeface="Times New Roman" panose="02020603050405020304" pitchFamily="18" charset="0"/>
                </a:rPr>
                <a:t>                 R                     Obj2</a:t>
              </a:r>
            </a:p>
          </p:txBody>
        </p:sp>
        <p:sp>
          <p:nvSpPr>
            <p:cNvPr id="58374" name="Line 6">
              <a:extLst>
                <a:ext uri="{FF2B5EF4-FFF2-40B4-BE49-F238E27FC236}">
                  <a16:creationId xmlns:a16="http://schemas.microsoft.com/office/drawing/2014/main" id="{C16C8FD5-9861-BF47-A674-80C6769B060E}"/>
                </a:ext>
              </a:extLst>
            </p:cNvPr>
            <p:cNvSpPr>
              <a:spLocks noChangeShapeType="1"/>
            </p:cNvSpPr>
            <p:nvPr/>
          </p:nvSpPr>
          <p:spPr bwMode="auto">
            <a:xfrm>
              <a:off x="1968" y="1536"/>
              <a:ext cx="0" cy="168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sp>
          <p:nvSpPr>
            <p:cNvPr id="58375" name="Line 7">
              <a:extLst>
                <a:ext uri="{FF2B5EF4-FFF2-40B4-BE49-F238E27FC236}">
                  <a16:creationId xmlns:a16="http://schemas.microsoft.com/office/drawing/2014/main" id="{1C61B8DD-718F-D44D-A2F1-5CBB2420BB39}"/>
                </a:ext>
              </a:extLst>
            </p:cNvPr>
            <p:cNvSpPr>
              <a:spLocks noChangeShapeType="1"/>
            </p:cNvSpPr>
            <p:nvPr/>
          </p:nvSpPr>
          <p:spPr bwMode="auto">
            <a:xfrm>
              <a:off x="3120" y="1536"/>
              <a:ext cx="0" cy="168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sp>
          <p:nvSpPr>
            <p:cNvPr id="58376" name="Line 8">
              <a:extLst>
                <a:ext uri="{FF2B5EF4-FFF2-40B4-BE49-F238E27FC236}">
                  <a16:creationId xmlns:a16="http://schemas.microsoft.com/office/drawing/2014/main" id="{18B1DF7D-81EE-F54A-ABB3-5254C503217D}"/>
                </a:ext>
              </a:extLst>
            </p:cNvPr>
            <p:cNvSpPr>
              <a:spLocks noChangeShapeType="1"/>
            </p:cNvSpPr>
            <p:nvPr/>
          </p:nvSpPr>
          <p:spPr bwMode="auto">
            <a:xfrm>
              <a:off x="1056" y="1824"/>
              <a:ext cx="3024" cy="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sp>
          <p:nvSpPr>
            <p:cNvPr id="58377" name="Line 9">
              <a:extLst>
                <a:ext uri="{FF2B5EF4-FFF2-40B4-BE49-F238E27FC236}">
                  <a16:creationId xmlns:a16="http://schemas.microsoft.com/office/drawing/2014/main" id="{BC4680D8-974B-7144-924A-8A4A2CF628FA}"/>
                </a:ext>
              </a:extLst>
            </p:cNvPr>
            <p:cNvSpPr>
              <a:spLocks noChangeShapeType="1"/>
            </p:cNvSpPr>
            <p:nvPr/>
          </p:nvSpPr>
          <p:spPr bwMode="auto">
            <a:xfrm>
              <a:off x="1056" y="2208"/>
              <a:ext cx="3024" cy="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sp>
          <p:nvSpPr>
            <p:cNvPr id="58378" name="Line 10">
              <a:extLst>
                <a:ext uri="{FF2B5EF4-FFF2-40B4-BE49-F238E27FC236}">
                  <a16:creationId xmlns:a16="http://schemas.microsoft.com/office/drawing/2014/main" id="{0E1529FF-782A-B94F-9474-B902BEEFD019}"/>
                </a:ext>
              </a:extLst>
            </p:cNvPr>
            <p:cNvSpPr>
              <a:spLocks noChangeShapeType="1"/>
            </p:cNvSpPr>
            <p:nvPr/>
          </p:nvSpPr>
          <p:spPr bwMode="auto">
            <a:xfrm>
              <a:off x="1056" y="2928"/>
              <a:ext cx="3024" cy="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sp>
          <p:nvSpPr>
            <p:cNvPr id="58379" name="Line 11">
              <a:extLst>
                <a:ext uri="{FF2B5EF4-FFF2-40B4-BE49-F238E27FC236}">
                  <a16:creationId xmlns:a16="http://schemas.microsoft.com/office/drawing/2014/main" id="{5E0C9E56-BE98-824E-952A-55B5429EFEB4}"/>
                </a:ext>
              </a:extLst>
            </p:cNvPr>
            <p:cNvSpPr>
              <a:spLocks noChangeShapeType="1"/>
            </p:cNvSpPr>
            <p:nvPr/>
          </p:nvSpPr>
          <p:spPr bwMode="auto">
            <a:xfrm>
              <a:off x="1056" y="2592"/>
              <a:ext cx="3024" cy="0"/>
            </a:xfrm>
            <a:prstGeom prst="line">
              <a:avLst/>
            </a:prstGeom>
          </p:spPr>
          <p:style>
            <a:lnRef idx="2">
              <a:schemeClr val="accent5"/>
            </a:lnRef>
            <a:fillRef idx="1">
              <a:schemeClr val="lt1"/>
            </a:fillRef>
            <a:effectRef idx="0">
              <a:schemeClr val="accent5"/>
            </a:effectRef>
            <a:fontRef idx="minor">
              <a:schemeClr val="dk1"/>
            </a:fontRef>
          </p:style>
          <p:txBody>
            <a:bodyPr wrap="none" anchor="ctr"/>
            <a:lstStyle/>
            <a:p>
              <a:pPr>
                <a:defRPr/>
              </a:pPr>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wipe(up)">
                                      <p:cBhvr>
                                        <p:cTn id="7" dur="500"/>
                                        <p:tgtEl>
                                          <p:spTgt spid="58372"/>
                                        </p:tgtEl>
                                      </p:cBhvr>
                                    </p:animEffect>
                                  </p:childTnLst>
                                </p:cTn>
                              </p:par>
                            </p:childTnLst>
                          </p:cTn>
                        </p:par>
                        <p:par>
                          <p:cTn id="8" fill="hold" nodeType="afterGroup">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58370">
                                            <p:txEl>
                                              <p:pRg st="0" end="0"/>
                                            </p:txEl>
                                          </p:spTgt>
                                        </p:tgtEl>
                                        <p:attrNameLst>
                                          <p:attrName>style.visibility</p:attrName>
                                        </p:attrNameLst>
                                      </p:cBhvr>
                                      <p:to>
                                        <p:strVal val="visible"/>
                                      </p:to>
                                    </p:set>
                                    <p:anim calcmode="lin" valueType="num">
                                      <p:cBhvr additive="base">
                                        <p:cTn id="11" dur="500" fill="hold"/>
                                        <p:tgtEl>
                                          <p:spTgt spid="5837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8370">
                                            <p:txEl>
                                              <p:pRg st="0" end="0"/>
                                            </p:txEl>
                                          </p:spTgt>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58370">
                                            <p:txEl>
                                              <p:pRg st="1" end="1"/>
                                            </p:txEl>
                                          </p:spTgt>
                                        </p:tgtEl>
                                        <p:attrNameLst>
                                          <p:attrName>style.visibility</p:attrName>
                                        </p:attrNameLst>
                                      </p:cBhvr>
                                      <p:to>
                                        <p:strVal val="visible"/>
                                      </p:to>
                                    </p:set>
                                    <p:anim calcmode="lin" valueType="num">
                                      <p:cBhvr additive="base">
                                        <p:cTn id="16" dur="500" fill="hold"/>
                                        <p:tgtEl>
                                          <p:spTgt spid="58370">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837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486A300A-AA44-D945-AE3C-C711A5E9A242}"/>
              </a:ext>
            </a:extLst>
          </p:cNvPr>
          <p:cNvSpPr>
            <a:spLocks noGrp="1" noChangeArrowheads="1"/>
          </p:cNvSpPr>
          <p:nvPr>
            <p:ph type="title"/>
          </p:nvPr>
        </p:nvSpPr>
        <p:spPr>
          <a:xfrm>
            <a:off x="714375" y="87312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rPr>
              <a:t>访问控制安全标签</a:t>
            </a:r>
          </a:p>
        </p:txBody>
      </p:sp>
      <p:graphicFrame>
        <p:nvGraphicFramePr>
          <p:cNvPr id="134147" name="Group 3">
            <a:extLst>
              <a:ext uri="{FF2B5EF4-FFF2-40B4-BE49-F238E27FC236}">
                <a16:creationId xmlns:a16="http://schemas.microsoft.com/office/drawing/2014/main" id="{447E3CE3-6C6E-0647-8989-DD8D4B08E22A}"/>
              </a:ext>
            </a:extLst>
          </p:cNvPr>
          <p:cNvGraphicFramePr>
            <a:graphicFrameLocks noGrp="1"/>
          </p:cNvGraphicFramePr>
          <p:nvPr/>
        </p:nvGraphicFramePr>
        <p:xfrm>
          <a:off x="714375" y="1643063"/>
          <a:ext cx="3384550" cy="4064000"/>
        </p:xfrm>
        <a:graphic>
          <a:graphicData uri="http://schemas.openxmlformats.org/drawingml/2006/table">
            <a:tbl>
              <a:tblPr/>
              <a:tblGrid>
                <a:gridCol w="1384285">
                  <a:extLst>
                    <a:ext uri="{9D8B030D-6E8A-4147-A177-3AD203B41FA5}">
                      <a16:colId xmlns:a16="http://schemas.microsoft.com/office/drawing/2014/main" val="20000"/>
                    </a:ext>
                  </a:extLst>
                </a:gridCol>
                <a:gridCol w="2000265">
                  <a:extLst>
                    <a:ext uri="{9D8B030D-6E8A-4147-A177-3AD203B41FA5}">
                      <a16:colId xmlns:a16="http://schemas.microsoft.com/office/drawing/2014/main" val="20001"/>
                    </a:ext>
                  </a:extLst>
                </a:gridCol>
              </a:tblGrid>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用户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安全级别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用户</a:t>
                      </a: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绝密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用户</a:t>
                      </a: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机密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用户</a:t>
                      </a: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未分类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graphicFrame>
        <p:nvGraphicFramePr>
          <p:cNvPr id="134167" name="Group 23">
            <a:extLst>
              <a:ext uri="{FF2B5EF4-FFF2-40B4-BE49-F238E27FC236}">
                <a16:creationId xmlns:a16="http://schemas.microsoft.com/office/drawing/2014/main" id="{27985E0A-D980-FD45-AB2C-F33728E79266}"/>
              </a:ext>
            </a:extLst>
          </p:cNvPr>
          <p:cNvGraphicFramePr>
            <a:graphicFrameLocks noGrp="1"/>
          </p:cNvGraphicFramePr>
          <p:nvPr/>
        </p:nvGraphicFramePr>
        <p:xfrm>
          <a:off x="4787900" y="1652588"/>
          <a:ext cx="3384550" cy="4064000"/>
        </p:xfrm>
        <a:graphic>
          <a:graphicData uri="http://schemas.openxmlformats.org/drawingml/2006/table">
            <a:tbl>
              <a:tblPr/>
              <a:tblGrid>
                <a:gridCol w="1325172">
                  <a:extLst>
                    <a:ext uri="{9D8B030D-6E8A-4147-A177-3AD203B41FA5}">
                      <a16:colId xmlns:a16="http://schemas.microsoft.com/office/drawing/2014/main" val="20000"/>
                    </a:ext>
                  </a:extLst>
                </a:gridCol>
                <a:gridCol w="2059378">
                  <a:extLst>
                    <a:ext uri="{9D8B030D-6E8A-4147-A177-3AD203B41FA5}">
                      <a16:colId xmlns:a16="http://schemas.microsoft.com/office/drawing/2014/main" val="20001"/>
                    </a:ext>
                  </a:extLst>
                </a:gridCol>
              </a:tblGrid>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客体</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安全级别</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客体</a:t>
                      </a: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绝密</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客体</a:t>
                      </a:r>
                      <a:r>
                        <a:rPr kumimoji="0" lang="en-US" altLang="zh-CN"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机密</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客体</a:t>
                      </a:r>
                      <a:r>
                        <a:rPr kumimoji="0" lang="en-US" altLang="zh-CN" sz="28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n</a:t>
                      </a:r>
                    </a:p>
                  </a:txBody>
                  <a:tcPr marL="91445" marR="914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未分类</a:t>
                      </a:r>
                    </a:p>
                  </a:txBody>
                  <a:tcPr marL="91445" marR="914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134147"/>
                                        </p:tgtEl>
                                        <p:attrNameLst>
                                          <p:attrName>style.visibility</p:attrName>
                                        </p:attrNameLst>
                                      </p:cBhvr>
                                      <p:to>
                                        <p:strVal val="visible"/>
                                      </p:to>
                                    </p:set>
                                    <p:anim calcmode="lin" valueType="num">
                                      <p:cBhvr additive="base">
                                        <p:cTn id="7" dur="500" fill="hold"/>
                                        <p:tgtEl>
                                          <p:spTgt spid="134147"/>
                                        </p:tgtEl>
                                        <p:attrNameLst>
                                          <p:attrName>ppt_x</p:attrName>
                                        </p:attrNameLst>
                                      </p:cBhvr>
                                      <p:tavLst>
                                        <p:tav tm="0">
                                          <p:val>
                                            <p:strVal val="#ppt_x"/>
                                          </p:val>
                                        </p:tav>
                                        <p:tav tm="100000">
                                          <p:val>
                                            <p:strVal val="#ppt_x"/>
                                          </p:val>
                                        </p:tav>
                                      </p:tavLst>
                                    </p:anim>
                                    <p:anim calcmode="lin" valueType="num">
                                      <p:cBhvr additive="base">
                                        <p:cTn id="8" dur="500" fill="hold"/>
                                        <p:tgtEl>
                                          <p:spTgt spid="13414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134167"/>
                                        </p:tgtEl>
                                        <p:attrNameLst>
                                          <p:attrName>style.visibility</p:attrName>
                                        </p:attrNameLst>
                                      </p:cBhvr>
                                      <p:to>
                                        <p:strVal val="visible"/>
                                      </p:to>
                                    </p:set>
                                    <p:anim calcmode="lin" valueType="num">
                                      <p:cBhvr additive="base">
                                        <p:cTn id="12" dur="1000" fill="hold"/>
                                        <p:tgtEl>
                                          <p:spTgt spid="134167"/>
                                        </p:tgtEl>
                                        <p:attrNameLst>
                                          <p:attrName>ppt_x</p:attrName>
                                        </p:attrNameLst>
                                      </p:cBhvr>
                                      <p:tavLst>
                                        <p:tav tm="0">
                                          <p:val>
                                            <p:strVal val="#ppt_x"/>
                                          </p:val>
                                        </p:tav>
                                        <p:tav tm="100000">
                                          <p:val>
                                            <p:strVal val="#ppt_x"/>
                                          </p:val>
                                        </p:tav>
                                      </p:tavLst>
                                    </p:anim>
                                    <p:anim calcmode="lin" valueType="num">
                                      <p:cBhvr additive="base">
                                        <p:cTn id="13" dur="1000" fill="hold"/>
                                        <p:tgtEl>
                                          <p:spTgt spid="134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图片 1">
            <a:extLst>
              <a:ext uri="{FF2B5EF4-FFF2-40B4-BE49-F238E27FC236}">
                <a16:creationId xmlns:a16="http://schemas.microsoft.com/office/drawing/2014/main" id="{94146C42-73FD-2E4E-AE8E-2B7DC1F8E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1388" y="3783013"/>
            <a:ext cx="429895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8" name="Rectangle 3">
            <a:extLst>
              <a:ext uri="{FF2B5EF4-FFF2-40B4-BE49-F238E27FC236}">
                <a16:creationId xmlns:a16="http://schemas.microsoft.com/office/drawing/2014/main" id="{FCF340A7-FAFB-8240-A772-D6722E45578A}"/>
              </a:ext>
            </a:extLst>
          </p:cNvPr>
          <p:cNvSpPr>
            <a:spLocks noGrp="1" noChangeArrowheads="1"/>
          </p:cNvSpPr>
          <p:nvPr>
            <p:ph idx="1"/>
          </p:nvPr>
        </p:nvSpPr>
        <p:spPr>
          <a:xfrm>
            <a:off x="625475" y="1952625"/>
            <a:ext cx="8137525" cy="2314575"/>
          </a:xfrm>
        </p:spPr>
        <p:txBody>
          <a:bodyPr/>
          <a:lstStyle/>
          <a:p>
            <a:pPr>
              <a:tabLst>
                <a:tab pos="1825625" algn="l"/>
                <a:tab pos="3659188" algn="l"/>
                <a:tab pos="5483225" algn="l"/>
              </a:tabLst>
              <a:defRPr/>
            </a:pPr>
            <a:r>
              <a:rPr lang="zh-CN" altLang="en-US" b="1">
                <a:effectLst>
                  <a:outerShdw blurRad="38100" dist="38100" dir="2700000" algn="tl">
                    <a:srgbClr val="C0C0C0"/>
                  </a:outerShdw>
                </a:effectLst>
              </a:rPr>
              <a:t>客体由一个密钥加密（锁），主体拥有解密密钥（钥匙）</a:t>
            </a:r>
          </a:p>
          <a:p>
            <a:pPr eaLnBrk="1" hangingPunct="1">
              <a:tabLst>
                <a:tab pos="1825625" algn="l"/>
                <a:tab pos="3659188" algn="l"/>
                <a:tab pos="5483225" algn="l"/>
              </a:tabLst>
              <a:defRPr/>
            </a:pPr>
            <a:r>
              <a:rPr lang="zh-CN" altLang="en-US" b="1">
                <a:effectLst>
                  <a:outerShdw blurRad="38100" dist="38100" dir="2700000" algn="tl">
                    <a:srgbClr val="C0C0C0"/>
                  </a:outerShdw>
                </a:effectLst>
              </a:rPr>
              <a:t>同时具有访问控制表与能力表的特征</a:t>
            </a:r>
          </a:p>
          <a:p>
            <a:pPr eaLnBrk="1" hangingPunct="1">
              <a:tabLst>
                <a:tab pos="1825625" algn="l"/>
                <a:tab pos="3659188" algn="l"/>
                <a:tab pos="5483225" algn="l"/>
              </a:tabLst>
              <a:defRPr/>
            </a:pPr>
            <a:r>
              <a:rPr lang="zh-CN" altLang="en-US" b="1">
                <a:effectLst>
                  <a:outerShdw blurRad="38100" dist="38100" dir="2700000" algn="tl">
                    <a:srgbClr val="C0C0C0"/>
                  </a:outerShdw>
                </a:effectLst>
              </a:rPr>
              <a:t>具有动态性</a:t>
            </a:r>
          </a:p>
        </p:txBody>
      </p:sp>
      <p:sp>
        <p:nvSpPr>
          <p:cNvPr id="1032194" name="Rectangle 2">
            <a:extLst>
              <a:ext uri="{FF2B5EF4-FFF2-40B4-BE49-F238E27FC236}">
                <a16:creationId xmlns:a16="http://schemas.microsoft.com/office/drawing/2014/main" id="{403ABB0F-03C7-8E4C-AC5C-B48D28A154A2}"/>
              </a:ext>
            </a:extLst>
          </p:cNvPr>
          <p:cNvSpPr>
            <a:spLocks noGrp="1" noChangeArrowheads="1"/>
          </p:cNvSpPr>
          <p:nvPr>
            <p:ph type="title"/>
          </p:nvPr>
        </p:nvSpPr>
        <p:spPr>
          <a:xfrm>
            <a:off x="611188" y="1089025"/>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rPr>
              <a:t>锁与钥匙 </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62EF0424-DEBB-5C45-9FC4-B37D44FE563D}"/>
              </a:ext>
            </a:extLst>
          </p:cNvPr>
          <p:cNvSpPr>
            <a:spLocks noGrp="1"/>
          </p:cNvSpPr>
          <p:nvPr>
            <p:ph type="title"/>
          </p:nvPr>
        </p:nvSpPr>
        <p:spPr>
          <a:xfrm>
            <a:off x="682625" y="696913"/>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访问控制与其他安全机制的关系</a:t>
            </a:r>
          </a:p>
        </p:txBody>
      </p:sp>
      <p:sp>
        <p:nvSpPr>
          <p:cNvPr id="10" name="Rectangle 55">
            <a:extLst>
              <a:ext uri="{FF2B5EF4-FFF2-40B4-BE49-F238E27FC236}">
                <a16:creationId xmlns:a16="http://schemas.microsoft.com/office/drawing/2014/main" id="{2C944DB7-494F-9B4D-85AF-3FFACC1A9C76}"/>
              </a:ext>
            </a:extLst>
          </p:cNvPr>
          <p:cNvSpPr txBox="1">
            <a:spLocks noChangeArrowheads="1"/>
          </p:cNvSpPr>
          <p:nvPr/>
        </p:nvSpPr>
        <p:spPr bwMode="auto">
          <a:xfrm>
            <a:off x="576263" y="1398588"/>
            <a:ext cx="533400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r>
              <a:rPr lang="zh-CN" altLang="en-US" b="1">
                <a:solidFill>
                  <a:srgbClr val="FF0000"/>
                </a:solidFill>
                <a:latin typeface="Times New Roman" panose="02020603050405020304" pitchFamily="18" charset="0"/>
              </a:rPr>
              <a:t>鉴别、授权、审计（</a:t>
            </a:r>
            <a:r>
              <a:rPr lang="en-US" altLang="zh-CN" b="1">
                <a:solidFill>
                  <a:srgbClr val="FF0000"/>
                </a:solidFill>
                <a:latin typeface="Times New Roman" panose="02020603050405020304" pitchFamily="18" charset="0"/>
              </a:rPr>
              <a:t>AAA</a:t>
            </a:r>
            <a:r>
              <a:rPr lang="zh-CN" altLang="en-US" b="1">
                <a:solidFill>
                  <a:srgbClr val="FF0000"/>
                </a:solidFill>
                <a:latin typeface="Times New Roman" panose="02020603050405020304" pitchFamily="18" charset="0"/>
              </a:rPr>
              <a:t>）</a:t>
            </a:r>
          </a:p>
        </p:txBody>
      </p:sp>
      <p:grpSp>
        <p:nvGrpSpPr>
          <p:cNvPr id="6" name="组合 5">
            <a:extLst>
              <a:ext uri="{FF2B5EF4-FFF2-40B4-BE49-F238E27FC236}">
                <a16:creationId xmlns:a16="http://schemas.microsoft.com/office/drawing/2014/main" id="{7ADC0FD4-6A6D-F340-AB39-CAD228E44619}"/>
              </a:ext>
            </a:extLst>
          </p:cNvPr>
          <p:cNvGrpSpPr>
            <a:grpSpLocks/>
          </p:cNvGrpSpPr>
          <p:nvPr/>
        </p:nvGrpSpPr>
        <p:grpSpPr bwMode="auto">
          <a:xfrm>
            <a:off x="695325" y="1792288"/>
            <a:ext cx="7850188" cy="4213225"/>
            <a:chOff x="695325" y="1792288"/>
            <a:chExt cx="7850187" cy="4213063"/>
          </a:xfrm>
        </p:grpSpPr>
        <p:grpSp>
          <p:nvGrpSpPr>
            <p:cNvPr id="50180" name="组合 2">
              <a:extLst>
                <a:ext uri="{FF2B5EF4-FFF2-40B4-BE49-F238E27FC236}">
                  <a16:creationId xmlns:a16="http://schemas.microsoft.com/office/drawing/2014/main" id="{FA7756B4-D921-6B40-82D7-F4799BC51E9E}"/>
                </a:ext>
              </a:extLst>
            </p:cNvPr>
            <p:cNvGrpSpPr>
              <a:grpSpLocks/>
            </p:cNvGrpSpPr>
            <p:nvPr/>
          </p:nvGrpSpPr>
          <p:grpSpPr bwMode="auto">
            <a:xfrm>
              <a:off x="695325" y="1792288"/>
              <a:ext cx="7850187" cy="4213063"/>
              <a:chOff x="695325" y="1792288"/>
              <a:chExt cx="7850187" cy="4213063"/>
            </a:xfrm>
          </p:grpSpPr>
          <p:sp>
            <p:nvSpPr>
              <p:cNvPr id="2" name="AutoShape 8">
                <a:extLst>
                  <a:ext uri="{FF2B5EF4-FFF2-40B4-BE49-F238E27FC236}">
                    <a16:creationId xmlns:a16="http://schemas.microsoft.com/office/drawing/2014/main" id="{7D28BC99-0E83-3E46-9478-690B0C8267DC}"/>
                  </a:ext>
                </a:extLst>
              </p:cNvPr>
              <p:cNvSpPr>
                <a:spLocks noChangeArrowheads="1"/>
              </p:cNvSpPr>
              <p:nvPr/>
            </p:nvSpPr>
            <p:spPr bwMode="auto">
              <a:xfrm>
                <a:off x="3994150" y="2673316"/>
                <a:ext cx="1363663" cy="503219"/>
              </a:xfrm>
              <a:prstGeom prst="flowChartMagneticDisk">
                <a:avLst/>
              </a:prstGeom>
              <a:solidFill>
                <a:srgbClr val="DDDDDD"/>
              </a:solidFill>
              <a:ln w="12700">
                <a:solidFill>
                  <a:schemeClr val="tx1"/>
                </a:solidFill>
                <a:round/>
              </a:ln>
            </p:spPr>
            <p:txBody>
              <a:bodyPr wrap="none" anchor="ctr"/>
              <a:lstStyle/>
              <a:p>
                <a:pPr algn="ctr" eaLnBrk="1" hangingPunct="1">
                  <a:defRPr/>
                </a:pPr>
                <a:r>
                  <a:rPr lang="zh-CN" altLang="en-US" sz="2000" b="1">
                    <a:solidFill>
                      <a:srgbClr val="0033CC"/>
                    </a:solidFill>
                    <a:effectLst>
                      <a:outerShdw blurRad="38100" dist="38100" dir="2700000" algn="tl">
                        <a:srgbClr val="000000"/>
                      </a:outerShdw>
                    </a:effectLst>
                  </a:rPr>
                  <a:t>授权信息</a:t>
                </a:r>
              </a:p>
            </p:txBody>
          </p:sp>
          <p:sp>
            <p:nvSpPr>
              <p:cNvPr id="50184" name="Line 11">
                <a:extLst>
                  <a:ext uri="{FF2B5EF4-FFF2-40B4-BE49-F238E27FC236}">
                    <a16:creationId xmlns:a16="http://schemas.microsoft.com/office/drawing/2014/main" id="{8680D03D-DB0E-4A45-8943-8C439792AB9C}"/>
                  </a:ext>
                </a:extLst>
              </p:cNvPr>
              <p:cNvSpPr>
                <a:spLocks noChangeShapeType="1"/>
              </p:cNvSpPr>
              <p:nvPr/>
            </p:nvSpPr>
            <p:spPr bwMode="auto">
              <a:xfrm>
                <a:off x="1541462" y="3930694"/>
                <a:ext cx="5762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5" name="Line 26">
                <a:extLst>
                  <a:ext uri="{FF2B5EF4-FFF2-40B4-BE49-F238E27FC236}">
                    <a16:creationId xmlns:a16="http://schemas.microsoft.com/office/drawing/2014/main" id="{F9F2FD1B-CDE2-2C4E-954B-65AAD3F01A9D}"/>
                  </a:ext>
                </a:extLst>
              </p:cNvPr>
              <p:cNvSpPr>
                <a:spLocks noChangeShapeType="1"/>
              </p:cNvSpPr>
              <p:nvPr/>
            </p:nvSpPr>
            <p:spPr bwMode="auto">
              <a:xfrm>
                <a:off x="3413125" y="3930694"/>
                <a:ext cx="57626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6" name="Line 27">
                <a:extLst>
                  <a:ext uri="{FF2B5EF4-FFF2-40B4-BE49-F238E27FC236}">
                    <a16:creationId xmlns:a16="http://schemas.microsoft.com/office/drawing/2014/main" id="{D4549D87-6559-8844-ACE6-14861E16916F}"/>
                  </a:ext>
                </a:extLst>
              </p:cNvPr>
              <p:cNvSpPr>
                <a:spLocks noChangeShapeType="1"/>
              </p:cNvSpPr>
              <p:nvPr/>
            </p:nvSpPr>
            <p:spPr bwMode="auto">
              <a:xfrm flipH="1">
                <a:off x="4637087" y="3175392"/>
                <a:ext cx="1588" cy="44070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50187" name="Picture 32" descr="EndUserCiscoWks">
                <a:extLst>
                  <a:ext uri="{FF2B5EF4-FFF2-40B4-BE49-F238E27FC236}">
                    <a16:creationId xmlns:a16="http://schemas.microsoft.com/office/drawing/2014/main" id="{9BC4B647-5906-964A-A218-31F7FA166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2712" y="1792288"/>
                <a:ext cx="812800" cy="96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8" name="Picture 34" descr="Androgynous Person">
                <a:extLst>
                  <a:ext uri="{FF2B5EF4-FFF2-40B4-BE49-F238E27FC236}">
                    <a16:creationId xmlns:a16="http://schemas.microsoft.com/office/drawing/2014/main" id="{BDC41F79-1159-1B4A-8903-1520C4354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3301507"/>
                <a:ext cx="846137" cy="85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9" name="Line 36">
                <a:extLst>
                  <a:ext uri="{FF2B5EF4-FFF2-40B4-BE49-F238E27FC236}">
                    <a16:creationId xmlns:a16="http://schemas.microsoft.com/office/drawing/2014/main" id="{B0F8DBAF-0930-0C47-A415-D8D660AC3492}"/>
                  </a:ext>
                </a:extLst>
              </p:cNvPr>
              <p:cNvSpPr>
                <a:spLocks noChangeShapeType="1"/>
              </p:cNvSpPr>
              <p:nvPr/>
            </p:nvSpPr>
            <p:spPr bwMode="auto">
              <a:xfrm>
                <a:off x="5299075" y="3930694"/>
                <a:ext cx="1066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50190" name="Picture 37">
                <a:extLst>
                  <a:ext uri="{FF2B5EF4-FFF2-40B4-BE49-F238E27FC236}">
                    <a16:creationId xmlns:a16="http://schemas.microsoft.com/office/drawing/2014/main" id="{F2E2FF94-B000-2E41-90F6-56377E6EBA4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1037" y="3726971"/>
                <a:ext cx="846138" cy="51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1" name="Picture 40" descr="Class4_5Switch">
                <a:extLst>
                  <a:ext uri="{FF2B5EF4-FFF2-40B4-BE49-F238E27FC236}">
                    <a16:creationId xmlns:a16="http://schemas.microsoft.com/office/drawing/2014/main" id="{47031DA6-C27C-B44A-B77C-A2B3AB27F4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5875" y="3553736"/>
                <a:ext cx="622300" cy="735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2" name="AutoShape 44">
                <a:extLst>
                  <a:ext uri="{FF2B5EF4-FFF2-40B4-BE49-F238E27FC236}">
                    <a16:creationId xmlns:a16="http://schemas.microsoft.com/office/drawing/2014/main" id="{7BC0BD6E-8D89-024F-98AD-BFB76060E06F}"/>
                  </a:ext>
                </a:extLst>
              </p:cNvPr>
              <p:cNvSpPr>
                <a:spLocks noChangeArrowheads="1"/>
              </p:cNvSpPr>
              <p:nvPr/>
            </p:nvSpPr>
            <p:spPr bwMode="auto">
              <a:xfrm>
                <a:off x="4133850" y="5502278"/>
                <a:ext cx="1079500" cy="503073"/>
              </a:xfrm>
              <a:prstGeom prst="can">
                <a:avLst>
                  <a:gd name="adj" fmla="val 25000"/>
                </a:avLst>
              </a:prstGeom>
              <a:solidFill>
                <a:srgbClr val="DDDDDD"/>
              </a:solidFill>
              <a:ln w="12700">
                <a:solidFill>
                  <a:schemeClr val="tx1"/>
                </a:solidFill>
                <a:round/>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2000" b="1">
                    <a:latin typeface="Arial" panose="020B0604020202020204" pitchFamily="34" charset="0"/>
                    <a:ea typeface="宋体" panose="02010600030101010101" pitchFamily="2" charset="-122"/>
                  </a:rPr>
                  <a:t>Log</a:t>
                </a:r>
              </a:p>
            </p:txBody>
          </p:sp>
          <p:sp>
            <p:nvSpPr>
              <p:cNvPr id="50193" name="Rectangle 45">
                <a:extLst>
                  <a:ext uri="{FF2B5EF4-FFF2-40B4-BE49-F238E27FC236}">
                    <a16:creationId xmlns:a16="http://schemas.microsoft.com/office/drawing/2014/main" id="{89A46D6E-89F0-724F-A4BA-6F989084BD20}"/>
                  </a:ext>
                </a:extLst>
              </p:cNvPr>
              <p:cNvSpPr>
                <a:spLocks noChangeArrowheads="1"/>
              </p:cNvSpPr>
              <p:nvPr/>
            </p:nvSpPr>
            <p:spPr bwMode="auto">
              <a:xfrm>
                <a:off x="2117725" y="3616101"/>
                <a:ext cx="1296987" cy="565437"/>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000" b="1">
                    <a:latin typeface="Arial" panose="020B0604020202020204" pitchFamily="34" charset="0"/>
                    <a:ea typeface="宋体" panose="02010600030101010101" pitchFamily="2" charset="-122"/>
                  </a:rPr>
                  <a:t>身份鉴别</a:t>
                </a:r>
              </a:p>
            </p:txBody>
          </p:sp>
          <p:sp>
            <p:nvSpPr>
              <p:cNvPr id="50194" name="Rectangle 46">
                <a:extLst>
                  <a:ext uri="{FF2B5EF4-FFF2-40B4-BE49-F238E27FC236}">
                    <a16:creationId xmlns:a16="http://schemas.microsoft.com/office/drawing/2014/main" id="{9C2BB79D-CFDD-3742-8FCA-7C0AB48CEAE8}"/>
                  </a:ext>
                </a:extLst>
              </p:cNvPr>
              <p:cNvSpPr>
                <a:spLocks noChangeArrowheads="1"/>
              </p:cNvSpPr>
              <p:nvPr/>
            </p:nvSpPr>
            <p:spPr bwMode="auto">
              <a:xfrm>
                <a:off x="4003675" y="3616101"/>
                <a:ext cx="1296987" cy="565437"/>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000" b="1">
                    <a:latin typeface="Arial" panose="020B0604020202020204" pitchFamily="34" charset="0"/>
                    <a:ea typeface="宋体" panose="02010600030101010101" pitchFamily="2" charset="-122"/>
                  </a:rPr>
                  <a:t>访问控制</a:t>
                </a:r>
              </a:p>
            </p:txBody>
          </p:sp>
          <p:sp>
            <p:nvSpPr>
              <p:cNvPr id="50195" name="Rectangle 47">
                <a:extLst>
                  <a:ext uri="{FF2B5EF4-FFF2-40B4-BE49-F238E27FC236}">
                    <a16:creationId xmlns:a16="http://schemas.microsoft.com/office/drawing/2014/main" id="{E00F01BD-50EC-1D45-A498-36FE339F4D74}"/>
                  </a:ext>
                </a:extLst>
              </p:cNvPr>
              <p:cNvSpPr>
                <a:spLocks noChangeArrowheads="1"/>
              </p:cNvSpPr>
              <p:nvPr/>
            </p:nvSpPr>
            <p:spPr bwMode="auto">
              <a:xfrm>
                <a:off x="4062412" y="4684611"/>
                <a:ext cx="1223963" cy="503073"/>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2000" b="1">
                    <a:latin typeface="Arial" panose="020B0604020202020204" pitchFamily="34" charset="0"/>
                    <a:ea typeface="宋体" panose="02010600030101010101" pitchFamily="2" charset="-122"/>
                  </a:rPr>
                  <a:t>审计</a:t>
                </a:r>
              </a:p>
            </p:txBody>
          </p:sp>
          <p:sp>
            <p:nvSpPr>
              <p:cNvPr id="50196" name="Line 49">
                <a:extLst>
                  <a:ext uri="{FF2B5EF4-FFF2-40B4-BE49-F238E27FC236}">
                    <a16:creationId xmlns:a16="http://schemas.microsoft.com/office/drawing/2014/main" id="{AF5FA8D6-7A8C-594B-8CDF-E8DD1EFCA7D6}"/>
                  </a:ext>
                </a:extLst>
              </p:cNvPr>
              <p:cNvSpPr>
                <a:spLocks noChangeShapeType="1"/>
              </p:cNvSpPr>
              <p:nvPr/>
            </p:nvSpPr>
            <p:spPr bwMode="auto">
              <a:xfrm>
                <a:off x="4638675" y="4181538"/>
                <a:ext cx="0" cy="503073"/>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197" name="Line 51">
                <a:extLst>
                  <a:ext uri="{FF2B5EF4-FFF2-40B4-BE49-F238E27FC236}">
                    <a16:creationId xmlns:a16="http://schemas.microsoft.com/office/drawing/2014/main" id="{EEAEEF4B-DF31-EC49-BB64-30A5420AB938}"/>
                  </a:ext>
                </a:extLst>
              </p:cNvPr>
              <p:cNvSpPr>
                <a:spLocks noChangeShapeType="1"/>
              </p:cNvSpPr>
              <p:nvPr/>
            </p:nvSpPr>
            <p:spPr bwMode="auto">
              <a:xfrm>
                <a:off x="4637087" y="2360497"/>
                <a:ext cx="0" cy="31320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8" name="Line 52">
                <a:extLst>
                  <a:ext uri="{FF2B5EF4-FFF2-40B4-BE49-F238E27FC236}">
                    <a16:creationId xmlns:a16="http://schemas.microsoft.com/office/drawing/2014/main" id="{28C388AE-6DFB-3D41-85A3-0AF521B8E47E}"/>
                  </a:ext>
                </a:extLst>
              </p:cNvPr>
              <p:cNvSpPr>
                <a:spLocks noChangeShapeType="1"/>
              </p:cNvSpPr>
              <p:nvPr/>
            </p:nvSpPr>
            <p:spPr bwMode="auto">
              <a:xfrm>
                <a:off x="4638675" y="5187684"/>
                <a:ext cx="0" cy="37695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50199" name="Text Box 53">
                <a:extLst>
                  <a:ext uri="{FF2B5EF4-FFF2-40B4-BE49-F238E27FC236}">
                    <a16:creationId xmlns:a16="http://schemas.microsoft.com/office/drawing/2014/main" id="{6A7B9304-5A24-8F48-BB70-9254BD18F108}"/>
                  </a:ext>
                </a:extLst>
              </p:cNvPr>
              <p:cNvSpPr txBox="1">
                <a:spLocks noChangeArrowheads="1"/>
              </p:cNvSpPr>
              <p:nvPr/>
            </p:nvSpPr>
            <p:spPr bwMode="auto">
              <a:xfrm>
                <a:off x="4852987" y="2012642"/>
                <a:ext cx="2808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授权（</a:t>
                </a:r>
                <a:r>
                  <a:rPr lang="en-US" altLang="zh-CN" sz="2000" b="1">
                    <a:solidFill>
                      <a:srgbClr val="FF0000"/>
                    </a:solidFill>
                    <a:latin typeface="Times New Roman" panose="02020603050405020304" pitchFamily="18" charset="0"/>
                    <a:ea typeface="宋体" panose="02010600030101010101" pitchFamily="2" charset="-122"/>
                  </a:rPr>
                  <a:t>Authorization</a:t>
                </a:r>
                <a:r>
                  <a:rPr lang="zh-CN" altLang="en-US" sz="2000" b="1">
                    <a:latin typeface="Arial" panose="020B0604020202020204" pitchFamily="34" charset="0"/>
                    <a:ea typeface="宋体" panose="02010600030101010101" pitchFamily="2" charset="-122"/>
                  </a:rPr>
                  <a:t>）</a:t>
                </a:r>
              </a:p>
            </p:txBody>
          </p:sp>
          <p:sp>
            <p:nvSpPr>
              <p:cNvPr id="50200" name="Line 56">
                <a:extLst>
                  <a:ext uri="{FF2B5EF4-FFF2-40B4-BE49-F238E27FC236}">
                    <a16:creationId xmlns:a16="http://schemas.microsoft.com/office/drawing/2014/main" id="{B0B0DBEF-E2A2-174E-A1B9-AF7666D179E1}"/>
                  </a:ext>
                </a:extLst>
              </p:cNvPr>
              <p:cNvSpPr>
                <a:spLocks noChangeShapeType="1"/>
              </p:cNvSpPr>
              <p:nvPr/>
            </p:nvSpPr>
            <p:spPr bwMode="auto">
              <a:xfrm>
                <a:off x="4637087" y="2359111"/>
                <a:ext cx="30956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50201" name="Text Box 57">
                <a:extLst>
                  <a:ext uri="{FF2B5EF4-FFF2-40B4-BE49-F238E27FC236}">
                    <a16:creationId xmlns:a16="http://schemas.microsoft.com/office/drawing/2014/main" id="{8300C563-E5E9-6C49-8C20-246C185D9DDE}"/>
                  </a:ext>
                </a:extLst>
              </p:cNvPr>
              <p:cNvSpPr txBox="1">
                <a:spLocks noChangeArrowheads="1"/>
              </p:cNvSpPr>
              <p:nvPr/>
            </p:nvSpPr>
            <p:spPr bwMode="auto">
              <a:xfrm>
                <a:off x="791580" y="4193454"/>
                <a:ext cx="1223962" cy="349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主体</a:t>
                </a:r>
              </a:p>
            </p:txBody>
          </p:sp>
          <p:sp>
            <p:nvSpPr>
              <p:cNvPr id="50202" name="Text Box 58">
                <a:extLst>
                  <a:ext uri="{FF2B5EF4-FFF2-40B4-BE49-F238E27FC236}">
                    <a16:creationId xmlns:a16="http://schemas.microsoft.com/office/drawing/2014/main" id="{54B81F34-DE7E-1E41-8CB8-2D916C6FEBE2}"/>
                  </a:ext>
                </a:extLst>
              </p:cNvPr>
              <p:cNvSpPr txBox="1">
                <a:spLocks noChangeArrowheads="1"/>
              </p:cNvSpPr>
              <p:nvPr/>
            </p:nvSpPr>
            <p:spPr bwMode="auto">
              <a:xfrm>
                <a:off x="6653212" y="4433768"/>
                <a:ext cx="1512888" cy="349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000" b="1">
                    <a:latin typeface="Arial" panose="020B0604020202020204" pitchFamily="34" charset="0"/>
                    <a:ea typeface="宋体" panose="02010600030101010101" pitchFamily="2" charset="-122"/>
                  </a:rPr>
                  <a:t>客体</a:t>
                </a:r>
              </a:p>
            </p:txBody>
          </p:sp>
        </p:grpSp>
        <p:sp>
          <p:nvSpPr>
            <p:cNvPr id="50181" name="矩形 3">
              <a:extLst>
                <a:ext uri="{FF2B5EF4-FFF2-40B4-BE49-F238E27FC236}">
                  <a16:creationId xmlns:a16="http://schemas.microsoft.com/office/drawing/2014/main" id="{72F6AC32-B969-1442-A305-448FF0711867}"/>
                </a:ext>
              </a:extLst>
            </p:cNvPr>
            <p:cNvSpPr>
              <a:spLocks noChangeArrowheads="1"/>
            </p:cNvSpPr>
            <p:nvPr/>
          </p:nvSpPr>
          <p:spPr bwMode="auto">
            <a:xfrm>
              <a:off x="1885207" y="4183408"/>
              <a:ext cx="18213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2000" b="1">
                  <a:solidFill>
                    <a:srgbClr val="FF0000"/>
                  </a:solidFill>
                  <a:latin typeface="Times New Roman" panose="02020603050405020304" pitchFamily="18" charset="0"/>
                  <a:ea typeface="宋体" panose="02010600030101010101" pitchFamily="2" charset="-122"/>
                </a:rPr>
                <a:t>Authentication</a:t>
              </a:r>
              <a:endParaRPr lang="zh-CN" altLang="en-US" sz="2000" b="1">
                <a:solidFill>
                  <a:srgbClr val="FF0000"/>
                </a:solidFill>
                <a:latin typeface="Times New Roman" panose="02020603050405020304" pitchFamily="18" charset="0"/>
                <a:ea typeface="宋体" panose="02010600030101010101" pitchFamily="2" charset="-122"/>
              </a:endParaRPr>
            </a:p>
          </p:txBody>
        </p:sp>
        <p:sp>
          <p:nvSpPr>
            <p:cNvPr id="50182" name="矩形 4">
              <a:extLst>
                <a:ext uri="{FF2B5EF4-FFF2-40B4-BE49-F238E27FC236}">
                  <a16:creationId xmlns:a16="http://schemas.microsoft.com/office/drawing/2014/main" id="{D031AC1E-5A9C-BD44-8442-6DE1DBADF8EE}"/>
                </a:ext>
              </a:extLst>
            </p:cNvPr>
            <p:cNvSpPr>
              <a:spLocks noChangeArrowheads="1"/>
            </p:cNvSpPr>
            <p:nvPr/>
          </p:nvSpPr>
          <p:spPr bwMode="auto">
            <a:xfrm>
              <a:off x="5275403" y="4694720"/>
              <a:ext cx="811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en-US" altLang="zh-CN" sz="2000" b="1">
                  <a:solidFill>
                    <a:srgbClr val="FF0000"/>
                  </a:solidFill>
                  <a:latin typeface="Times New Roman" panose="02020603050405020304" pitchFamily="18" charset="0"/>
                  <a:ea typeface="宋体" panose="02010600030101010101" pitchFamily="2" charset="-122"/>
                </a:rPr>
                <a:t>Audit</a:t>
              </a:r>
              <a:endParaRPr lang="zh-CN" altLang="en-US" sz="2000" b="1">
                <a:solidFill>
                  <a:srgbClr val="FF0000"/>
                </a:solidFill>
                <a:latin typeface="Times New Roman" panose="02020603050405020304" pitchFamily="18" charset="0"/>
                <a:ea typeface="宋体" panose="0201060003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E8CCA0FB-5ABE-6F4C-BDEC-6E67420F2946}"/>
              </a:ext>
            </a:extLst>
          </p:cNvPr>
          <p:cNvSpPr>
            <a:spLocks noGrp="1"/>
          </p:cNvSpPr>
          <p:nvPr>
            <p:ph type="title"/>
          </p:nvPr>
        </p:nvSpPr>
        <p:spPr>
          <a:xfrm>
            <a:off x="533400" y="8318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访问控制与其他安全机制的关系</a:t>
            </a:r>
          </a:p>
        </p:txBody>
      </p:sp>
      <p:sp>
        <p:nvSpPr>
          <p:cNvPr id="6" name="Rectangle 3">
            <a:extLst>
              <a:ext uri="{FF2B5EF4-FFF2-40B4-BE49-F238E27FC236}">
                <a16:creationId xmlns:a16="http://schemas.microsoft.com/office/drawing/2014/main" id="{1DB642E9-F961-A94C-934C-87A203EF062C}"/>
              </a:ext>
            </a:extLst>
          </p:cNvPr>
          <p:cNvSpPr txBox="1">
            <a:spLocks noChangeArrowheads="1"/>
          </p:cNvSpPr>
          <p:nvPr/>
        </p:nvSpPr>
        <p:spPr bwMode="gray">
          <a:xfrm>
            <a:off x="533400" y="1447800"/>
            <a:ext cx="8001000" cy="480060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身份鉴别</a:t>
            </a:r>
          </a:p>
          <a:p>
            <a:pPr lvl="1" eaLnBrk="1" hangingPunct="1">
              <a:lnSpc>
                <a:spcPct val="90000"/>
              </a:lnSpc>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身份鉴别是访问控制的前提</a:t>
            </a:r>
          </a:p>
          <a:p>
            <a:pPr eaLnBrk="1" hangingPunct="1">
              <a:lnSpc>
                <a:spcPct val="90000"/>
              </a:lnSpc>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机密性</a:t>
            </a:r>
          </a:p>
          <a:p>
            <a:pPr lvl="1" eaLnBrk="1" hangingPunct="1">
              <a:lnSpc>
                <a:spcPct val="90000"/>
              </a:lnSpc>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限制用户对数据的访问（读取操作）可以实现数据机密服务</a:t>
            </a:r>
          </a:p>
          <a:p>
            <a:pPr eaLnBrk="1" hangingPunct="1">
              <a:lnSpc>
                <a:spcPct val="90000"/>
              </a:lnSpc>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完整性</a:t>
            </a:r>
          </a:p>
          <a:p>
            <a:pPr lvl="1" eaLnBrk="1" hangingPunct="1">
              <a:lnSpc>
                <a:spcPct val="90000"/>
              </a:lnSpc>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限制用户对数据的修改，实现数据完整性保护</a:t>
            </a:r>
          </a:p>
          <a:p>
            <a:pPr eaLnBrk="1" hangingPunct="1">
              <a:lnSpc>
                <a:spcPct val="90000"/>
              </a:lnSpc>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可用性</a:t>
            </a:r>
          </a:p>
          <a:p>
            <a:pPr lvl="1" eaLnBrk="1" hangingPunct="1">
              <a:lnSpc>
                <a:spcPct val="90000"/>
              </a:lnSpc>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限制用户对资源的使用量，保证系统的可用性</a:t>
            </a:r>
          </a:p>
          <a:p>
            <a:pPr eaLnBrk="1" hangingPunct="1">
              <a:lnSpc>
                <a:spcPct val="90000"/>
              </a:lnSpc>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安全管理相关的活动</a:t>
            </a:r>
          </a:p>
          <a:p>
            <a:pPr lvl="1" eaLnBrk="1" hangingPunct="1">
              <a:lnSpc>
                <a:spcPct val="90000"/>
              </a:lnSpc>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访问控制功能通常和审计、入侵检测联系在一起</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C43BA0F3-50A6-D347-955E-DDB3DBE905EC}"/>
              </a:ext>
            </a:extLst>
          </p:cNvPr>
          <p:cNvSpPr>
            <a:spLocks noGrp="1"/>
          </p:cNvSpPr>
          <p:nvPr>
            <p:ph type="title"/>
          </p:nvPr>
        </p:nvSpPr>
        <p:spPr>
          <a:xfrm>
            <a:off x="755650" y="836613"/>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访问控制的一般策略</a:t>
            </a:r>
          </a:p>
        </p:txBody>
      </p:sp>
      <p:grpSp>
        <p:nvGrpSpPr>
          <p:cNvPr id="2" name="组合 1">
            <a:extLst>
              <a:ext uri="{FF2B5EF4-FFF2-40B4-BE49-F238E27FC236}">
                <a16:creationId xmlns:a16="http://schemas.microsoft.com/office/drawing/2014/main" id="{B1EF95C4-889E-AD4B-AAE1-65E3828DB0C9}"/>
              </a:ext>
            </a:extLst>
          </p:cNvPr>
          <p:cNvGrpSpPr>
            <a:grpSpLocks/>
          </p:cNvGrpSpPr>
          <p:nvPr/>
        </p:nvGrpSpPr>
        <p:grpSpPr bwMode="auto">
          <a:xfrm>
            <a:off x="1116013" y="1597025"/>
            <a:ext cx="7129462" cy="4637088"/>
            <a:chOff x="1115616" y="1596249"/>
            <a:chExt cx="7129462" cy="4637087"/>
          </a:xfrm>
        </p:grpSpPr>
        <p:pic>
          <p:nvPicPr>
            <p:cNvPr id="52227" name="Picture 4">
              <a:extLst>
                <a:ext uri="{FF2B5EF4-FFF2-40B4-BE49-F238E27FC236}">
                  <a16:creationId xmlns:a16="http://schemas.microsoft.com/office/drawing/2014/main" id="{6FD5A734-7137-1548-96D3-565ED0D8C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596249"/>
              <a:ext cx="7129462"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矩形 6">
              <a:extLst>
                <a:ext uri="{FF2B5EF4-FFF2-40B4-BE49-F238E27FC236}">
                  <a16:creationId xmlns:a16="http://schemas.microsoft.com/office/drawing/2014/main" id="{8B090BBE-A12F-7547-B3F9-BE7FD4421D32}"/>
                </a:ext>
              </a:extLst>
            </p:cNvPr>
            <p:cNvSpPr>
              <a:spLocks noChangeArrowheads="1"/>
            </p:cNvSpPr>
            <p:nvPr/>
          </p:nvSpPr>
          <p:spPr bwMode="auto">
            <a:xfrm>
              <a:off x="3203178" y="5771374"/>
              <a:ext cx="2954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00" b="1">
                  <a:latin typeface="Arial" panose="020B0604020202020204" pitchFamily="34" charset="0"/>
                  <a:ea typeface="宋体" panose="02010600030101010101" pitchFamily="2" charset="-122"/>
                </a:rPr>
                <a:t>访问控制的一般策略</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736A5866-2D87-6B44-AF7C-A51E310D0EB5}"/>
              </a:ext>
            </a:extLst>
          </p:cNvPr>
          <p:cNvSpPr>
            <a:spLocks noGrp="1"/>
          </p:cNvSpPr>
          <p:nvPr>
            <p:ph type="title"/>
          </p:nvPr>
        </p:nvSpPr>
        <p:spPr>
          <a:xfrm>
            <a:off x="811213" y="798513"/>
            <a:ext cx="6511925"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访问控制模型的分类</a:t>
            </a:r>
          </a:p>
        </p:txBody>
      </p:sp>
      <p:grpSp>
        <p:nvGrpSpPr>
          <p:cNvPr id="2" name="组合 1">
            <a:extLst>
              <a:ext uri="{FF2B5EF4-FFF2-40B4-BE49-F238E27FC236}">
                <a16:creationId xmlns:a16="http://schemas.microsoft.com/office/drawing/2014/main" id="{785F3C47-7E40-E747-9846-EB63086F3EDA}"/>
              </a:ext>
            </a:extLst>
          </p:cNvPr>
          <p:cNvGrpSpPr>
            <a:grpSpLocks/>
          </p:cNvGrpSpPr>
          <p:nvPr/>
        </p:nvGrpSpPr>
        <p:grpSpPr bwMode="auto">
          <a:xfrm>
            <a:off x="349250" y="1679575"/>
            <a:ext cx="8018463" cy="4117975"/>
            <a:chOff x="349188" y="1679390"/>
            <a:chExt cx="8018463" cy="4117975"/>
          </a:xfrm>
        </p:grpSpPr>
        <p:sp>
          <p:nvSpPr>
            <p:cNvPr id="53251" name="Text Box 4">
              <a:extLst>
                <a:ext uri="{FF2B5EF4-FFF2-40B4-BE49-F238E27FC236}">
                  <a16:creationId xmlns:a16="http://schemas.microsoft.com/office/drawing/2014/main" id="{8B5614DE-0172-454A-A217-83E0E1EA29C1}"/>
                </a:ext>
              </a:extLst>
            </p:cNvPr>
            <p:cNvSpPr txBox="1">
              <a:spLocks noChangeArrowheads="1"/>
            </p:cNvSpPr>
            <p:nvPr/>
          </p:nvSpPr>
          <p:spPr bwMode="auto">
            <a:xfrm>
              <a:off x="349188" y="3608203"/>
              <a:ext cx="1169988" cy="6413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访问控制模型</a:t>
              </a:r>
            </a:p>
          </p:txBody>
        </p:sp>
        <p:sp>
          <p:nvSpPr>
            <p:cNvPr id="53252" name="Text Box 6">
              <a:extLst>
                <a:ext uri="{FF2B5EF4-FFF2-40B4-BE49-F238E27FC236}">
                  <a16:creationId xmlns:a16="http://schemas.microsoft.com/office/drawing/2014/main" id="{7B4C28D3-CC02-C249-BDE8-26F08409B590}"/>
                </a:ext>
              </a:extLst>
            </p:cNvPr>
            <p:cNvSpPr txBox="1">
              <a:spLocks noChangeArrowheads="1"/>
            </p:cNvSpPr>
            <p:nvPr/>
          </p:nvSpPr>
          <p:spPr bwMode="auto">
            <a:xfrm>
              <a:off x="1692213" y="3703453"/>
              <a:ext cx="204470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强制访问控制模型</a:t>
              </a:r>
            </a:p>
            <a:p>
              <a:pPr algn="ctr" eaLnBrk="1" hangingPunct="1">
                <a:spcBef>
                  <a:spcPct val="0"/>
                </a:spcBef>
                <a:buClrTx/>
                <a:buFontTx/>
                <a:buNone/>
              </a:pPr>
              <a:r>
                <a:rPr lang="zh-CN" altLang="en-US" sz="1800">
                  <a:solidFill>
                    <a:srgbClr val="0033CC"/>
                  </a:solidFill>
                </a:rPr>
                <a:t>（</a:t>
              </a:r>
              <a:r>
                <a:rPr lang="en-US" altLang="zh-CN" sz="1800">
                  <a:solidFill>
                    <a:srgbClr val="0033CC"/>
                  </a:solidFill>
                </a:rPr>
                <a:t>MAC</a:t>
              </a:r>
              <a:r>
                <a:rPr lang="zh-CN" altLang="en-US" sz="1800">
                  <a:solidFill>
                    <a:srgbClr val="0033CC"/>
                  </a:solidFill>
                </a:rPr>
                <a:t>）</a:t>
              </a:r>
            </a:p>
          </p:txBody>
        </p:sp>
        <p:sp>
          <p:nvSpPr>
            <p:cNvPr id="53253" name="Text Box 7">
              <a:extLst>
                <a:ext uri="{FF2B5EF4-FFF2-40B4-BE49-F238E27FC236}">
                  <a16:creationId xmlns:a16="http://schemas.microsoft.com/office/drawing/2014/main" id="{3AC3CC94-1900-3D43-A5F7-3460E0CBF562}"/>
                </a:ext>
              </a:extLst>
            </p:cNvPr>
            <p:cNvSpPr txBox="1">
              <a:spLocks noChangeArrowheads="1"/>
            </p:cNvSpPr>
            <p:nvPr/>
          </p:nvSpPr>
          <p:spPr bwMode="auto">
            <a:xfrm>
              <a:off x="1692213" y="2084203"/>
              <a:ext cx="203200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自主访问控制模型</a:t>
              </a:r>
            </a:p>
            <a:p>
              <a:pPr algn="ctr" eaLnBrk="1" hangingPunct="1">
                <a:spcBef>
                  <a:spcPct val="0"/>
                </a:spcBef>
                <a:buClrTx/>
                <a:buFontTx/>
                <a:buNone/>
              </a:pPr>
              <a:r>
                <a:rPr lang="zh-CN" altLang="en-US" sz="1800">
                  <a:solidFill>
                    <a:srgbClr val="0033CC"/>
                  </a:solidFill>
                </a:rPr>
                <a:t>（</a:t>
              </a:r>
              <a:r>
                <a:rPr lang="en-US" altLang="zh-CN" sz="1800">
                  <a:solidFill>
                    <a:srgbClr val="0033CC"/>
                  </a:solidFill>
                </a:rPr>
                <a:t>DAC</a:t>
              </a:r>
              <a:r>
                <a:rPr lang="zh-CN" altLang="en-US" sz="1800">
                  <a:solidFill>
                    <a:srgbClr val="0033CC"/>
                  </a:solidFill>
                </a:rPr>
                <a:t>）</a:t>
              </a:r>
            </a:p>
          </p:txBody>
        </p:sp>
        <p:sp>
          <p:nvSpPr>
            <p:cNvPr id="53254" name="Text Box 8">
              <a:extLst>
                <a:ext uri="{FF2B5EF4-FFF2-40B4-BE49-F238E27FC236}">
                  <a16:creationId xmlns:a16="http://schemas.microsoft.com/office/drawing/2014/main" id="{5B453E3A-9C5B-0E42-A418-EEBDD2F919B6}"/>
                </a:ext>
              </a:extLst>
            </p:cNvPr>
            <p:cNvSpPr txBox="1">
              <a:spLocks noChangeArrowheads="1"/>
            </p:cNvSpPr>
            <p:nvPr/>
          </p:nvSpPr>
          <p:spPr bwMode="auto">
            <a:xfrm>
              <a:off x="4129026" y="2096903"/>
              <a:ext cx="1155700" cy="6413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访问矩阵模型</a:t>
              </a:r>
            </a:p>
          </p:txBody>
        </p:sp>
        <p:sp>
          <p:nvSpPr>
            <p:cNvPr id="53255" name="Text Box 9">
              <a:extLst>
                <a:ext uri="{FF2B5EF4-FFF2-40B4-BE49-F238E27FC236}">
                  <a16:creationId xmlns:a16="http://schemas.microsoft.com/office/drawing/2014/main" id="{C2BD91E4-00F6-CD43-8BA5-33CE6B84DC14}"/>
                </a:ext>
              </a:extLst>
            </p:cNvPr>
            <p:cNvSpPr txBox="1">
              <a:spLocks noChangeArrowheads="1"/>
            </p:cNvSpPr>
            <p:nvPr/>
          </p:nvSpPr>
          <p:spPr bwMode="auto">
            <a:xfrm>
              <a:off x="5938776" y="1679390"/>
              <a:ext cx="1870075" cy="646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访问控制列表</a:t>
              </a:r>
            </a:p>
            <a:p>
              <a:pPr algn="ctr" eaLnBrk="1" hangingPunct="1">
                <a:spcBef>
                  <a:spcPct val="0"/>
                </a:spcBef>
                <a:buClrTx/>
                <a:buFontTx/>
                <a:buNone/>
              </a:pPr>
              <a:r>
                <a:rPr lang="zh-CN" altLang="en-US" sz="1800">
                  <a:solidFill>
                    <a:srgbClr val="0033CC"/>
                  </a:solidFill>
                </a:rPr>
                <a:t>（</a:t>
              </a:r>
              <a:r>
                <a:rPr lang="en-US" altLang="zh-CN" sz="1800">
                  <a:solidFill>
                    <a:srgbClr val="0033CC"/>
                  </a:solidFill>
                </a:rPr>
                <a:t>ACL</a:t>
              </a:r>
              <a:r>
                <a:rPr lang="zh-CN" altLang="en-US" sz="1800">
                  <a:solidFill>
                    <a:srgbClr val="0033CC"/>
                  </a:solidFill>
                </a:rPr>
                <a:t>）</a:t>
              </a:r>
              <a:endParaRPr lang="en-US" altLang="zh-CN" sz="1800">
                <a:solidFill>
                  <a:srgbClr val="0033CC"/>
                </a:solidFill>
              </a:endParaRPr>
            </a:p>
          </p:txBody>
        </p:sp>
        <p:sp>
          <p:nvSpPr>
            <p:cNvPr id="53256" name="Text Box 10">
              <a:extLst>
                <a:ext uri="{FF2B5EF4-FFF2-40B4-BE49-F238E27FC236}">
                  <a16:creationId xmlns:a16="http://schemas.microsoft.com/office/drawing/2014/main" id="{29B4EF04-4382-8C4D-8280-42FE498E0F25}"/>
                </a:ext>
              </a:extLst>
            </p:cNvPr>
            <p:cNvSpPr txBox="1">
              <a:spLocks noChangeArrowheads="1"/>
            </p:cNvSpPr>
            <p:nvPr/>
          </p:nvSpPr>
          <p:spPr bwMode="auto">
            <a:xfrm>
              <a:off x="5940363" y="2522353"/>
              <a:ext cx="218440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权能列表</a:t>
              </a:r>
              <a:endParaRPr lang="en-US" altLang="zh-CN" sz="1800">
                <a:solidFill>
                  <a:srgbClr val="0033CC"/>
                </a:solidFill>
              </a:endParaRPr>
            </a:p>
            <a:p>
              <a:pPr algn="ctr" eaLnBrk="1" hangingPunct="1">
                <a:spcBef>
                  <a:spcPct val="0"/>
                </a:spcBef>
                <a:buClrTx/>
                <a:buFontTx/>
                <a:buNone/>
              </a:pPr>
              <a:r>
                <a:rPr lang="zh-CN" altLang="en-US" sz="1800">
                  <a:solidFill>
                    <a:srgbClr val="0033CC"/>
                  </a:solidFill>
                </a:rPr>
                <a:t>（</a:t>
              </a:r>
              <a:r>
                <a:rPr lang="en-US" altLang="zh-CN" sz="1800">
                  <a:solidFill>
                    <a:srgbClr val="0033CC"/>
                  </a:solidFill>
                </a:rPr>
                <a:t>Capacity List</a:t>
              </a:r>
              <a:r>
                <a:rPr lang="zh-CN" altLang="en-US" sz="1800">
                  <a:solidFill>
                    <a:srgbClr val="0033CC"/>
                  </a:solidFill>
                </a:rPr>
                <a:t>）</a:t>
              </a:r>
              <a:endParaRPr lang="en-US" altLang="zh-CN" sz="1800">
                <a:solidFill>
                  <a:srgbClr val="0033CC"/>
                </a:solidFill>
              </a:endParaRPr>
            </a:p>
          </p:txBody>
        </p:sp>
        <p:sp>
          <p:nvSpPr>
            <p:cNvPr id="53257" name="Line 11">
              <a:extLst>
                <a:ext uri="{FF2B5EF4-FFF2-40B4-BE49-F238E27FC236}">
                  <a16:creationId xmlns:a16="http://schemas.microsoft.com/office/drawing/2014/main" id="{7BE61EF6-5694-1A4D-8B2F-7CBB01C76008}"/>
                </a:ext>
              </a:extLst>
            </p:cNvPr>
            <p:cNvSpPr>
              <a:spLocks noChangeShapeType="1"/>
            </p:cNvSpPr>
            <p:nvPr/>
          </p:nvSpPr>
          <p:spPr bwMode="auto">
            <a:xfrm>
              <a:off x="5292663" y="2436627"/>
              <a:ext cx="4683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8" name="Line 13">
              <a:extLst>
                <a:ext uri="{FF2B5EF4-FFF2-40B4-BE49-F238E27FC236}">
                  <a16:creationId xmlns:a16="http://schemas.microsoft.com/office/drawing/2014/main" id="{E668B313-84B1-7B4A-A270-3E98CD2A5AD5}"/>
                </a:ext>
              </a:extLst>
            </p:cNvPr>
            <p:cNvSpPr>
              <a:spLocks noChangeShapeType="1"/>
            </p:cNvSpPr>
            <p:nvPr/>
          </p:nvSpPr>
          <p:spPr bwMode="auto">
            <a:xfrm flipV="1">
              <a:off x="5770501" y="1990540"/>
              <a:ext cx="0"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14">
              <a:extLst>
                <a:ext uri="{FF2B5EF4-FFF2-40B4-BE49-F238E27FC236}">
                  <a16:creationId xmlns:a16="http://schemas.microsoft.com/office/drawing/2014/main" id="{CF47A635-3426-B34B-95F6-C6C1327CA56F}"/>
                </a:ext>
              </a:extLst>
            </p:cNvPr>
            <p:cNvSpPr>
              <a:spLocks noChangeShapeType="1"/>
            </p:cNvSpPr>
            <p:nvPr/>
          </p:nvSpPr>
          <p:spPr bwMode="auto">
            <a:xfrm flipH="1">
              <a:off x="5770501" y="2855727"/>
              <a:ext cx="1571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15">
              <a:extLst>
                <a:ext uri="{FF2B5EF4-FFF2-40B4-BE49-F238E27FC236}">
                  <a16:creationId xmlns:a16="http://schemas.microsoft.com/office/drawing/2014/main" id="{BC5E0F03-3A19-9549-A8F2-B431A86D5582}"/>
                </a:ext>
              </a:extLst>
            </p:cNvPr>
            <p:cNvSpPr>
              <a:spLocks noChangeShapeType="1"/>
            </p:cNvSpPr>
            <p:nvPr/>
          </p:nvSpPr>
          <p:spPr bwMode="auto">
            <a:xfrm flipH="1">
              <a:off x="5770501" y="1990540"/>
              <a:ext cx="1571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16">
              <a:extLst>
                <a:ext uri="{FF2B5EF4-FFF2-40B4-BE49-F238E27FC236}">
                  <a16:creationId xmlns:a16="http://schemas.microsoft.com/office/drawing/2014/main" id="{8241BF80-1BFE-2F46-90C8-3C7363755260}"/>
                </a:ext>
              </a:extLst>
            </p:cNvPr>
            <p:cNvSpPr>
              <a:spLocks noChangeShapeType="1"/>
            </p:cNvSpPr>
            <p:nvPr/>
          </p:nvSpPr>
          <p:spPr bwMode="auto">
            <a:xfrm flipH="1">
              <a:off x="3730563" y="2408052"/>
              <a:ext cx="3905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19">
              <a:extLst>
                <a:ext uri="{FF2B5EF4-FFF2-40B4-BE49-F238E27FC236}">
                  <a16:creationId xmlns:a16="http://schemas.microsoft.com/office/drawing/2014/main" id="{E04E9231-91A1-1B43-8E23-A67B9F1D1206}"/>
                </a:ext>
              </a:extLst>
            </p:cNvPr>
            <p:cNvSpPr>
              <a:spLocks noChangeShapeType="1"/>
            </p:cNvSpPr>
            <p:nvPr/>
          </p:nvSpPr>
          <p:spPr bwMode="auto">
            <a:xfrm>
              <a:off x="3979801" y="3443102"/>
              <a:ext cx="469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Line 22">
              <a:extLst>
                <a:ext uri="{FF2B5EF4-FFF2-40B4-BE49-F238E27FC236}">
                  <a16:creationId xmlns:a16="http://schemas.microsoft.com/office/drawing/2014/main" id="{00BC3E13-BB51-4848-B3BA-B42417B402D4}"/>
                </a:ext>
              </a:extLst>
            </p:cNvPr>
            <p:cNvSpPr>
              <a:spLocks noChangeShapeType="1"/>
            </p:cNvSpPr>
            <p:nvPr/>
          </p:nvSpPr>
          <p:spPr bwMode="auto">
            <a:xfrm>
              <a:off x="3979801" y="4738502"/>
              <a:ext cx="469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4" name="Line 23">
              <a:extLst>
                <a:ext uri="{FF2B5EF4-FFF2-40B4-BE49-F238E27FC236}">
                  <a16:creationId xmlns:a16="http://schemas.microsoft.com/office/drawing/2014/main" id="{42216D55-EEAD-E64B-B69D-8567183974F9}"/>
                </a:ext>
              </a:extLst>
            </p:cNvPr>
            <p:cNvSpPr>
              <a:spLocks noChangeShapeType="1"/>
            </p:cNvSpPr>
            <p:nvPr/>
          </p:nvSpPr>
          <p:spPr bwMode="auto">
            <a:xfrm>
              <a:off x="3744851" y="4019365"/>
              <a:ext cx="2349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5" name="Line 24">
              <a:extLst>
                <a:ext uri="{FF2B5EF4-FFF2-40B4-BE49-F238E27FC236}">
                  <a16:creationId xmlns:a16="http://schemas.microsoft.com/office/drawing/2014/main" id="{A4324288-C01E-B84B-8575-03DC538422E6}"/>
                </a:ext>
              </a:extLst>
            </p:cNvPr>
            <p:cNvSpPr>
              <a:spLocks noChangeShapeType="1"/>
            </p:cNvSpPr>
            <p:nvPr/>
          </p:nvSpPr>
          <p:spPr bwMode="auto">
            <a:xfrm>
              <a:off x="3979801" y="3443102"/>
              <a:ext cx="0" cy="129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6" name="Text Box 25">
              <a:extLst>
                <a:ext uri="{FF2B5EF4-FFF2-40B4-BE49-F238E27FC236}">
                  <a16:creationId xmlns:a16="http://schemas.microsoft.com/office/drawing/2014/main" id="{C38D1EDB-E7E5-054C-B259-AE2F9DBA595F}"/>
                </a:ext>
              </a:extLst>
            </p:cNvPr>
            <p:cNvSpPr txBox="1">
              <a:spLocks noChangeArrowheads="1"/>
            </p:cNvSpPr>
            <p:nvPr/>
          </p:nvSpPr>
          <p:spPr bwMode="auto">
            <a:xfrm>
              <a:off x="5987988" y="3227203"/>
              <a:ext cx="2379663" cy="36988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rgbClr val="0033CC"/>
                  </a:solidFill>
                </a:rPr>
                <a:t>Bell-Lapudula </a:t>
              </a:r>
              <a:r>
                <a:rPr lang="zh-CN" altLang="en-US" sz="1800">
                  <a:solidFill>
                    <a:srgbClr val="0033CC"/>
                  </a:solidFill>
                </a:rPr>
                <a:t>模型</a:t>
              </a:r>
            </a:p>
          </p:txBody>
        </p:sp>
        <p:sp>
          <p:nvSpPr>
            <p:cNvPr id="53267" name="Text Box 26">
              <a:extLst>
                <a:ext uri="{FF2B5EF4-FFF2-40B4-BE49-F238E27FC236}">
                  <a16:creationId xmlns:a16="http://schemas.microsoft.com/office/drawing/2014/main" id="{82F29D7F-A8BF-F549-AA33-51A1BCC59EE1}"/>
                </a:ext>
              </a:extLst>
            </p:cNvPr>
            <p:cNvSpPr txBox="1">
              <a:spLocks noChangeArrowheads="1"/>
            </p:cNvSpPr>
            <p:nvPr/>
          </p:nvSpPr>
          <p:spPr bwMode="auto">
            <a:xfrm>
              <a:off x="5987988" y="3657415"/>
              <a:ext cx="2379663" cy="381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rgbClr val="0033CC"/>
                  </a:solidFill>
                </a:rPr>
                <a:t>Biba </a:t>
              </a:r>
              <a:r>
                <a:rPr lang="zh-CN" altLang="en-US" sz="1800">
                  <a:solidFill>
                    <a:srgbClr val="0033CC"/>
                  </a:solidFill>
                </a:rPr>
                <a:t>模型</a:t>
              </a:r>
            </a:p>
          </p:txBody>
        </p:sp>
        <p:sp>
          <p:nvSpPr>
            <p:cNvPr id="53268" name="Text Box 27">
              <a:extLst>
                <a:ext uri="{FF2B5EF4-FFF2-40B4-BE49-F238E27FC236}">
                  <a16:creationId xmlns:a16="http://schemas.microsoft.com/office/drawing/2014/main" id="{836459B1-D36D-D040-8040-1CF8E8FFAE8F}"/>
                </a:ext>
              </a:extLst>
            </p:cNvPr>
            <p:cNvSpPr txBox="1">
              <a:spLocks noChangeArrowheads="1"/>
            </p:cNvSpPr>
            <p:nvPr/>
          </p:nvSpPr>
          <p:spPr bwMode="auto">
            <a:xfrm>
              <a:off x="5978463" y="4227328"/>
              <a:ext cx="2379663" cy="36988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rgbClr val="0033CC"/>
                  </a:solidFill>
                </a:rPr>
                <a:t>Clark-Wilson </a:t>
              </a:r>
              <a:r>
                <a:rPr lang="zh-CN" altLang="en-US" sz="1800">
                  <a:solidFill>
                    <a:srgbClr val="0033CC"/>
                  </a:solidFill>
                </a:rPr>
                <a:t>模型</a:t>
              </a:r>
            </a:p>
          </p:txBody>
        </p:sp>
        <p:sp>
          <p:nvSpPr>
            <p:cNvPr id="53269" name="Text Box 29">
              <a:extLst>
                <a:ext uri="{FF2B5EF4-FFF2-40B4-BE49-F238E27FC236}">
                  <a16:creationId xmlns:a16="http://schemas.microsoft.com/office/drawing/2014/main" id="{E5BC6BA9-29E1-EB4F-AFE4-E8EA2D6303F1}"/>
                </a:ext>
              </a:extLst>
            </p:cNvPr>
            <p:cNvSpPr txBox="1">
              <a:spLocks noChangeArrowheads="1"/>
            </p:cNvSpPr>
            <p:nvPr/>
          </p:nvSpPr>
          <p:spPr bwMode="auto">
            <a:xfrm>
              <a:off x="5978463" y="4676590"/>
              <a:ext cx="2378075" cy="3698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800">
                  <a:solidFill>
                    <a:srgbClr val="0033CC"/>
                  </a:solidFill>
                </a:rPr>
                <a:t>Chinese Wall </a:t>
              </a:r>
              <a:r>
                <a:rPr lang="zh-CN" altLang="en-US" sz="1800">
                  <a:solidFill>
                    <a:srgbClr val="0033CC"/>
                  </a:solidFill>
                </a:rPr>
                <a:t>模型</a:t>
              </a:r>
            </a:p>
          </p:txBody>
        </p:sp>
        <p:sp>
          <p:nvSpPr>
            <p:cNvPr id="53270" name="AutoShape 32">
              <a:extLst>
                <a:ext uri="{FF2B5EF4-FFF2-40B4-BE49-F238E27FC236}">
                  <a16:creationId xmlns:a16="http://schemas.microsoft.com/office/drawing/2014/main" id="{CCBDFE53-4F6F-044C-A4A7-667CAD9D3BDC}"/>
                </a:ext>
              </a:extLst>
            </p:cNvPr>
            <p:cNvSpPr>
              <a:spLocks/>
            </p:cNvSpPr>
            <p:nvPr/>
          </p:nvSpPr>
          <p:spPr bwMode="auto">
            <a:xfrm>
              <a:off x="1530288" y="2422340"/>
              <a:ext cx="155575" cy="3025775"/>
            </a:xfrm>
            <a:prstGeom prst="leftBrace">
              <a:avLst>
                <a:gd name="adj1" fmla="val 1618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solidFill>
                  <a:srgbClr val="0033CC"/>
                </a:solidFill>
                <a:latin typeface="Arial" panose="020B0604020202020204" pitchFamily="34" charset="0"/>
                <a:ea typeface="宋体" panose="02010600030101010101" pitchFamily="2" charset="-122"/>
              </a:endParaRPr>
            </a:p>
          </p:txBody>
        </p:sp>
        <p:sp>
          <p:nvSpPr>
            <p:cNvPr id="53271" name="Text Box 36">
              <a:extLst>
                <a:ext uri="{FF2B5EF4-FFF2-40B4-BE49-F238E27FC236}">
                  <a16:creationId xmlns:a16="http://schemas.microsoft.com/office/drawing/2014/main" id="{B122C645-AF8C-114D-A7A4-EADC004C3433}"/>
                </a:ext>
              </a:extLst>
            </p:cNvPr>
            <p:cNvSpPr txBox="1">
              <a:spLocks noChangeArrowheads="1"/>
            </p:cNvSpPr>
            <p:nvPr/>
          </p:nvSpPr>
          <p:spPr bwMode="auto">
            <a:xfrm>
              <a:off x="4463988" y="3066865"/>
              <a:ext cx="882650" cy="6461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a:solidFill>
                    <a:srgbClr val="0033CC"/>
                  </a:solidFill>
                </a:rPr>
                <a:t>保密性</a:t>
              </a:r>
              <a:endParaRPr lang="en-US" altLang="zh-CN" sz="1800">
                <a:solidFill>
                  <a:srgbClr val="0033CC"/>
                </a:solidFill>
              </a:endParaRPr>
            </a:p>
            <a:p>
              <a:pPr eaLnBrk="1" hangingPunct="1">
                <a:spcBef>
                  <a:spcPct val="0"/>
                </a:spcBef>
                <a:buClrTx/>
                <a:buFontTx/>
                <a:buNone/>
              </a:pPr>
              <a:r>
                <a:rPr lang="zh-CN" altLang="en-US" sz="1800">
                  <a:solidFill>
                    <a:srgbClr val="0033CC"/>
                  </a:solidFill>
                </a:rPr>
                <a:t> 模型</a:t>
              </a:r>
            </a:p>
          </p:txBody>
        </p:sp>
        <p:sp>
          <p:nvSpPr>
            <p:cNvPr id="53272" name="Text Box 37">
              <a:extLst>
                <a:ext uri="{FF2B5EF4-FFF2-40B4-BE49-F238E27FC236}">
                  <a16:creationId xmlns:a16="http://schemas.microsoft.com/office/drawing/2014/main" id="{6ACD8EFB-6D22-C843-8811-E37B7C0320AD}"/>
                </a:ext>
              </a:extLst>
            </p:cNvPr>
            <p:cNvSpPr txBox="1">
              <a:spLocks noChangeArrowheads="1"/>
            </p:cNvSpPr>
            <p:nvPr/>
          </p:nvSpPr>
          <p:spPr bwMode="auto">
            <a:xfrm>
              <a:off x="4463988" y="3798703"/>
              <a:ext cx="88265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a:solidFill>
                    <a:srgbClr val="0033CC"/>
                  </a:solidFill>
                </a:rPr>
                <a:t>完整性</a:t>
              </a:r>
              <a:endParaRPr lang="en-US" altLang="zh-CN" sz="1800">
                <a:solidFill>
                  <a:srgbClr val="0033CC"/>
                </a:solidFill>
              </a:endParaRPr>
            </a:p>
            <a:p>
              <a:pPr eaLnBrk="1" hangingPunct="1">
                <a:spcBef>
                  <a:spcPct val="0"/>
                </a:spcBef>
                <a:buClrTx/>
                <a:buFontTx/>
                <a:buNone/>
              </a:pPr>
              <a:r>
                <a:rPr lang="en-US" altLang="zh-CN" sz="1800">
                  <a:solidFill>
                    <a:srgbClr val="0033CC"/>
                  </a:solidFill>
                </a:rPr>
                <a:t> </a:t>
              </a:r>
              <a:r>
                <a:rPr lang="zh-CN" altLang="en-US" sz="1800">
                  <a:solidFill>
                    <a:srgbClr val="0033CC"/>
                  </a:solidFill>
                </a:rPr>
                <a:t>模型</a:t>
              </a:r>
            </a:p>
          </p:txBody>
        </p:sp>
        <p:sp>
          <p:nvSpPr>
            <p:cNvPr id="53273" name="Text Box 38">
              <a:extLst>
                <a:ext uri="{FF2B5EF4-FFF2-40B4-BE49-F238E27FC236}">
                  <a16:creationId xmlns:a16="http://schemas.microsoft.com/office/drawing/2014/main" id="{28EF207D-A208-1C47-9E0B-AE13E0A4F73E}"/>
                </a:ext>
              </a:extLst>
            </p:cNvPr>
            <p:cNvSpPr txBox="1">
              <a:spLocks noChangeArrowheads="1"/>
            </p:cNvSpPr>
            <p:nvPr/>
          </p:nvSpPr>
          <p:spPr bwMode="auto">
            <a:xfrm>
              <a:off x="1692213" y="5151253"/>
              <a:ext cx="250825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a:solidFill>
                    <a:srgbClr val="0033CC"/>
                  </a:solidFill>
                </a:rPr>
                <a:t>基于角色访问控制模型</a:t>
              </a:r>
              <a:endParaRPr lang="en-US" altLang="zh-CN" sz="1800">
                <a:solidFill>
                  <a:srgbClr val="0033CC"/>
                </a:solidFill>
              </a:endParaRPr>
            </a:p>
            <a:p>
              <a:pPr algn="ctr" eaLnBrk="1" hangingPunct="1">
                <a:spcBef>
                  <a:spcPct val="0"/>
                </a:spcBef>
                <a:buClrTx/>
                <a:buFontTx/>
                <a:buNone/>
              </a:pPr>
              <a:r>
                <a:rPr lang="zh-CN" altLang="en-US" sz="1800">
                  <a:solidFill>
                    <a:srgbClr val="0033CC"/>
                  </a:solidFill>
                </a:rPr>
                <a:t>（</a:t>
              </a:r>
              <a:r>
                <a:rPr lang="en-US" altLang="zh-CN" sz="1800">
                  <a:solidFill>
                    <a:srgbClr val="0033CC"/>
                  </a:solidFill>
                </a:rPr>
                <a:t>RBAC</a:t>
              </a:r>
              <a:r>
                <a:rPr lang="zh-CN" altLang="en-US" sz="1800">
                  <a:solidFill>
                    <a:srgbClr val="0033CC"/>
                  </a:solidFill>
                </a:rPr>
                <a:t>）</a:t>
              </a:r>
            </a:p>
          </p:txBody>
        </p:sp>
        <p:sp>
          <p:nvSpPr>
            <p:cNvPr id="53274" name="Line 11">
              <a:extLst>
                <a:ext uri="{FF2B5EF4-FFF2-40B4-BE49-F238E27FC236}">
                  <a16:creationId xmlns:a16="http://schemas.microsoft.com/office/drawing/2014/main" id="{2388B08F-D200-2848-8F20-B841F876264F}"/>
                </a:ext>
              </a:extLst>
            </p:cNvPr>
            <p:cNvSpPr>
              <a:spLocks noChangeShapeType="1"/>
            </p:cNvSpPr>
            <p:nvPr/>
          </p:nvSpPr>
          <p:spPr bwMode="auto">
            <a:xfrm>
              <a:off x="5359338" y="3427227"/>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5" name="Line 11">
              <a:extLst>
                <a:ext uri="{FF2B5EF4-FFF2-40B4-BE49-F238E27FC236}">
                  <a16:creationId xmlns:a16="http://schemas.microsoft.com/office/drawing/2014/main" id="{8900F1F0-9660-0D49-8CAC-FA1705A5D685}"/>
                </a:ext>
              </a:extLst>
            </p:cNvPr>
            <p:cNvSpPr>
              <a:spLocks noChangeShapeType="1"/>
            </p:cNvSpPr>
            <p:nvPr/>
          </p:nvSpPr>
          <p:spPr bwMode="auto">
            <a:xfrm>
              <a:off x="5340288" y="4084452"/>
              <a:ext cx="4683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6" name="Line 13">
              <a:extLst>
                <a:ext uri="{FF2B5EF4-FFF2-40B4-BE49-F238E27FC236}">
                  <a16:creationId xmlns:a16="http://schemas.microsoft.com/office/drawing/2014/main" id="{9A41B614-F5D0-6241-A9CD-A7DB3A0EC4CC}"/>
                </a:ext>
              </a:extLst>
            </p:cNvPr>
            <p:cNvSpPr>
              <a:spLocks noChangeShapeType="1"/>
            </p:cNvSpPr>
            <p:nvPr/>
          </p:nvSpPr>
          <p:spPr bwMode="auto">
            <a:xfrm flipV="1">
              <a:off x="5818126" y="3771715"/>
              <a:ext cx="0"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7" name="Line 14">
              <a:extLst>
                <a:ext uri="{FF2B5EF4-FFF2-40B4-BE49-F238E27FC236}">
                  <a16:creationId xmlns:a16="http://schemas.microsoft.com/office/drawing/2014/main" id="{8F8DCC6A-8E5E-B14E-9326-4ED5E5381626}"/>
                </a:ext>
              </a:extLst>
            </p:cNvPr>
            <p:cNvSpPr>
              <a:spLocks noChangeShapeType="1"/>
            </p:cNvSpPr>
            <p:nvPr/>
          </p:nvSpPr>
          <p:spPr bwMode="auto">
            <a:xfrm flipH="1">
              <a:off x="5816538" y="4417827"/>
              <a:ext cx="1571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8" name="Line 15">
              <a:extLst>
                <a:ext uri="{FF2B5EF4-FFF2-40B4-BE49-F238E27FC236}">
                  <a16:creationId xmlns:a16="http://schemas.microsoft.com/office/drawing/2014/main" id="{0048F7AA-E016-7246-A230-969F1AF4D82F}"/>
                </a:ext>
              </a:extLst>
            </p:cNvPr>
            <p:cNvSpPr>
              <a:spLocks noChangeShapeType="1"/>
            </p:cNvSpPr>
            <p:nvPr/>
          </p:nvSpPr>
          <p:spPr bwMode="auto">
            <a:xfrm flipH="1">
              <a:off x="5818126" y="3771715"/>
              <a:ext cx="1571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9" name="Text Box 36">
              <a:extLst>
                <a:ext uri="{FF2B5EF4-FFF2-40B4-BE49-F238E27FC236}">
                  <a16:creationId xmlns:a16="http://schemas.microsoft.com/office/drawing/2014/main" id="{9BF76145-82B6-334B-87BE-4452444B2A4E}"/>
                </a:ext>
              </a:extLst>
            </p:cNvPr>
            <p:cNvSpPr txBox="1">
              <a:spLocks noChangeArrowheads="1"/>
            </p:cNvSpPr>
            <p:nvPr/>
          </p:nvSpPr>
          <p:spPr bwMode="auto">
            <a:xfrm>
              <a:off x="4463988" y="4544828"/>
              <a:ext cx="88265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a:solidFill>
                    <a:srgbClr val="0033CC"/>
                  </a:solidFill>
                </a:rPr>
                <a:t>混合策</a:t>
              </a:r>
              <a:endParaRPr lang="en-US" altLang="zh-CN" sz="1800">
                <a:solidFill>
                  <a:srgbClr val="0033CC"/>
                </a:solidFill>
              </a:endParaRPr>
            </a:p>
            <a:p>
              <a:pPr eaLnBrk="1" hangingPunct="1">
                <a:spcBef>
                  <a:spcPct val="0"/>
                </a:spcBef>
                <a:buClrTx/>
                <a:buFontTx/>
                <a:buNone/>
              </a:pPr>
              <a:r>
                <a:rPr lang="zh-CN" altLang="en-US" sz="1800">
                  <a:solidFill>
                    <a:srgbClr val="0033CC"/>
                  </a:solidFill>
                </a:rPr>
                <a:t>略模型</a:t>
              </a:r>
            </a:p>
          </p:txBody>
        </p:sp>
        <p:sp>
          <p:nvSpPr>
            <p:cNvPr id="53280" name="Line 11">
              <a:extLst>
                <a:ext uri="{FF2B5EF4-FFF2-40B4-BE49-F238E27FC236}">
                  <a16:creationId xmlns:a16="http://schemas.microsoft.com/office/drawing/2014/main" id="{FCE4D2C9-B2F2-4C4B-BFA0-867FCB6CE05B}"/>
                </a:ext>
              </a:extLst>
            </p:cNvPr>
            <p:cNvSpPr>
              <a:spLocks noChangeShapeType="1"/>
            </p:cNvSpPr>
            <p:nvPr/>
          </p:nvSpPr>
          <p:spPr bwMode="auto">
            <a:xfrm>
              <a:off x="5359338" y="4831197"/>
              <a:ext cx="612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2DCD4E3D-E431-8F4B-B658-F76E72A8B712}"/>
              </a:ext>
            </a:extLst>
          </p:cNvPr>
          <p:cNvSpPr>
            <a:spLocks noGrp="1"/>
          </p:cNvSpPr>
          <p:nvPr>
            <p:ph type="title"/>
          </p:nvPr>
        </p:nvSpPr>
        <p:spPr>
          <a:xfrm>
            <a:off x="684213" y="90805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知识域：访问控制模型</a:t>
            </a:r>
          </a:p>
        </p:txBody>
      </p:sp>
      <p:sp>
        <p:nvSpPr>
          <p:cNvPr id="3" name="内容占位符 2">
            <a:extLst>
              <a:ext uri="{FF2B5EF4-FFF2-40B4-BE49-F238E27FC236}">
                <a16:creationId xmlns:a16="http://schemas.microsoft.com/office/drawing/2014/main" id="{25A8A6B8-9517-FA4B-97C8-6D321AA10761}"/>
              </a:ext>
            </a:extLst>
          </p:cNvPr>
          <p:cNvSpPr>
            <a:spLocks noGrp="1"/>
          </p:cNvSpPr>
          <p:nvPr>
            <p:ph idx="1"/>
          </p:nvPr>
        </p:nvSpPr>
        <p:spPr>
          <a:xfrm>
            <a:off x="468313" y="1700213"/>
            <a:ext cx="8353425" cy="2592387"/>
          </a:xfrm>
        </p:spPr>
        <p:txBody>
          <a:bodyPr/>
          <a:lstStyle/>
          <a:p>
            <a:pPr marL="342900" lvl="1" indent="-342900">
              <a:buClr>
                <a:srgbClr val="3399FF"/>
              </a:buClr>
              <a:buFont typeface="Wingdings" pitchFamily="2" charset="2"/>
              <a:buChar char="v"/>
              <a:defRPr/>
            </a:pPr>
            <a:r>
              <a:rPr lang="zh-CN" altLang="zh-CN" sz="2800" b="1">
                <a:effectLst>
                  <a:outerShdw blurRad="38100" dist="38100" dir="2700000" algn="tl">
                    <a:srgbClr val="C0C0C0"/>
                  </a:outerShdw>
                </a:effectLst>
                <a:latin typeface="Times New Roman" panose="02020603050405020304" pitchFamily="18" charset="0"/>
              </a:rPr>
              <a:t>知识子域：自主访问控制模型</a:t>
            </a:r>
          </a:p>
          <a:p>
            <a:pPr marL="342900" lvl="1" indent="-342900">
              <a:defRPr/>
            </a:pPr>
            <a:r>
              <a:rPr lang="zh-CN" altLang="zh-CN" sz="2400" b="1">
                <a:effectLst>
                  <a:outerShdw blurRad="38100" dist="38100" dir="2700000" algn="tl">
                    <a:srgbClr val="C0C0C0"/>
                  </a:outerShdw>
                </a:effectLst>
                <a:latin typeface="Times New Roman" panose="02020603050405020304" pitchFamily="18" charset="0"/>
              </a:rPr>
              <a:t>理解自主访问控制的含义</a:t>
            </a:r>
          </a:p>
          <a:p>
            <a:pPr marL="342900" lvl="1" indent="-342900">
              <a:defRPr/>
            </a:pPr>
            <a:r>
              <a:rPr lang="zh-CN" altLang="zh-CN" sz="2400" b="1">
                <a:effectLst>
                  <a:outerShdw blurRad="38100" dist="38100" dir="2700000" algn="tl">
                    <a:srgbClr val="C0C0C0"/>
                  </a:outerShdw>
                </a:effectLst>
                <a:latin typeface="Times New Roman" panose="02020603050405020304" pitchFamily="18" charset="0"/>
              </a:rPr>
              <a:t>了解访问矩阵模型，理解和分析应用访问矩阵模型的实现（访问控制列表、权能列表）</a:t>
            </a:r>
          </a:p>
          <a:p>
            <a:pPr marL="342900" lvl="1" indent="-342900">
              <a:defRPr/>
            </a:pPr>
            <a:r>
              <a:rPr lang="zh-CN" altLang="zh-CN" sz="2400" b="1">
                <a:effectLst>
                  <a:outerShdw blurRad="38100" dist="38100" dir="2700000" algn="tl">
                    <a:srgbClr val="C0C0C0"/>
                  </a:outerShdw>
                </a:effectLst>
                <a:latin typeface="Times New Roman" panose="02020603050405020304" pitchFamily="18" charset="0"/>
              </a:rPr>
              <a:t>理解基于角色的访问控制模型（</a:t>
            </a:r>
            <a:r>
              <a:rPr lang="en-US" altLang="zh-CN" sz="2400" b="1">
                <a:effectLst>
                  <a:outerShdw blurRad="38100" dist="38100" dir="2700000" algn="tl">
                    <a:srgbClr val="C0C0C0"/>
                  </a:outerShdw>
                </a:effectLst>
                <a:latin typeface="Times New Roman" panose="02020603050405020304" pitchFamily="18" charset="0"/>
              </a:rPr>
              <a:t>RBAC</a:t>
            </a:r>
            <a:r>
              <a:rPr lang="zh-CN" altLang="zh-CN" sz="2400" b="1">
                <a:effectLst>
                  <a:outerShdw blurRad="38100" dist="38100" dir="2700000" algn="tl">
                    <a:srgbClr val="C0C0C0"/>
                  </a:outerShdw>
                </a:effectLst>
                <a:latin typeface="Times New Roman" panose="02020603050405020304" pitchFamily="18" charset="0"/>
              </a:rPr>
              <a:t>）的特点和优势</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0F9C8D9B-C116-6241-B138-1CF64E931D1C}"/>
              </a:ext>
            </a:extLst>
          </p:cNvPr>
          <p:cNvSpPr>
            <a:spLocks noGrp="1"/>
          </p:cNvSpPr>
          <p:nvPr>
            <p:ph type="title"/>
          </p:nvPr>
        </p:nvSpPr>
        <p:spPr>
          <a:xfrm>
            <a:off x="684213" y="78740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自主访问控制的含义</a:t>
            </a:r>
          </a:p>
        </p:txBody>
      </p:sp>
      <p:sp>
        <p:nvSpPr>
          <p:cNvPr id="21507" name="内容占位符 2">
            <a:extLst>
              <a:ext uri="{FF2B5EF4-FFF2-40B4-BE49-F238E27FC236}">
                <a16:creationId xmlns:a16="http://schemas.microsoft.com/office/drawing/2014/main" id="{1C0AB20D-EA07-214F-92D7-F11A6EE186B2}"/>
              </a:ext>
            </a:extLst>
          </p:cNvPr>
          <p:cNvSpPr>
            <a:spLocks noGrp="1"/>
          </p:cNvSpPr>
          <p:nvPr>
            <p:ph idx="1"/>
          </p:nvPr>
        </p:nvSpPr>
        <p:spPr>
          <a:xfrm>
            <a:off x="576263" y="2312988"/>
            <a:ext cx="8191500" cy="3671887"/>
          </a:xfrm>
        </p:spPr>
        <p:txBody>
          <a:bodyPr/>
          <a:lstStyle/>
          <a:p>
            <a:pPr>
              <a:defRPr/>
            </a:pPr>
            <a:r>
              <a:rPr lang="zh-CN" altLang="en-US" b="1" dirty="0">
                <a:effectLst>
                  <a:outerShdw blurRad="38100" dist="38100" dir="2700000" algn="tl">
                    <a:srgbClr val="C0C0C0"/>
                  </a:outerShdw>
                </a:effectLst>
                <a:latin typeface="Times New Roman" panose="02020603050405020304" pitchFamily="18" charset="0"/>
              </a:rPr>
              <a:t>允许客体的属主（创建者）决定主体对该客体的访问权限</a:t>
            </a:r>
            <a:endParaRPr lang="en-US" altLang="zh-CN" b="1" dirty="0">
              <a:effectLst>
                <a:outerShdw blurRad="38100" dist="38100" dir="2700000" algn="tl">
                  <a:srgbClr val="C0C0C0"/>
                </a:outerShdw>
              </a:effectLst>
              <a:latin typeface="Times New Roman" panose="02020603050405020304" pitchFamily="18" charset="0"/>
            </a:endParaRPr>
          </a:p>
          <a:p>
            <a:pPr lvl="1">
              <a:defRPr/>
            </a:pPr>
            <a:r>
              <a:rPr lang="zh-CN" altLang="en-US" b="1" dirty="0">
                <a:effectLst>
                  <a:outerShdw blurRad="38100" dist="38100" dir="2700000" algn="tl">
                    <a:srgbClr val="C0C0C0"/>
                  </a:outerShdw>
                </a:effectLst>
                <a:latin typeface="Times New Roman" panose="02020603050405020304" pitchFamily="18" charset="0"/>
              </a:rPr>
              <a:t>灵活地调整安全策略</a:t>
            </a:r>
            <a:endParaRPr lang="en-US" altLang="zh-CN" b="1" dirty="0">
              <a:effectLst>
                <a:outerShdw blurRad="38100" dist="38100" dir="2700000" algn="tl">
                  <a:srgbClr val="C0C0C0"/>
                </a:outerShdw>
              </a:effectLst>
              <a:latin typeface="Times New Roman" panose="02020603050405020304" pitchFamily="18" charset="0"/>
            </a:endParaRPr>
          </a:p>
          <a:p>
            <a:pPr lvl="1">
              <a:defRPr/>
            </a:pPr>
            <a:r>
              <a:rPr lang="zh-CN" altLang="en-US" b="1" dirty="0">
                <a:effectLst>
                  <a:outerShdw blurRad="38100" dist="38100" dir="2700000" algn="tl">
                    <a:srgbClr val="C0C0C0"/>
                  </a:outerShdw>
                </a:effectLst>
                <a:latin typeface="Times New Roman" panose="02020603050405020304" pitchFamily="18" charset="0"/>
              </a:rPr>
              <a:t>具有较好的易用性和可扩展性</a:t>
            </a:r>
            <a:endParaRPr lang="en-US" altLang="zh-CN" b="1" dirty="0">
              <a:effectLst>
                <a:outerShdw blurRad="38100" dist="38100" dir="2700000" algn="tl">
                  <a:srgbClr val="C0C0C0"/>
                </a:outerShdw>
              </a:effectLst>
              <a:latin typeface="Times New Roman" panose="02020603050405020304" pitchFamily="18" charset="0"/>
            </a:endParaRPr>
          </a:p>
          <a:p>
            <a:pPr lvl="1">
              <a:defRPr/>
            </a:pPr>
            <a:r>
              <a:rPr lang="zh-CN" altLang="en-US" b="1" dirty="0">
                <a:effectLst>
                  <a:outerShdw blurRad="38100" dist="38100" dir="2700000" algn="tl">
                    <a:srgbClr val="C0C0C0"/>
                  </a:outerShdw>
                </a:effectLst>
                <a:latin typeface="Times New Roman" panose="02020603050405020304" pitchFamily="18" charset="0"/>
              </a:rPr>
              <a:t>常用于商业系统</a:t>
            </a:r>
            <a:endParaRPr lang="en-US" altLang="zh-CN" b="1" dirty="0">
              <a:effectLst>
                <a:outerShdw blurRad="38100" dist="38100" dir="2700000" algn="tl">
                  <a:srgbClr val="C0C0C0"/>
                </a:outerShdw>
              </a:effectLst>
              <a:latin typeface="Times New Roman" panose="02020603050405020304" pitchFamily="18" charset="0"/>
            </a:endParaRPr>
          </a:p>
          <a:p>
            <a:pPr lvl="1">
              <a:defRPr/>
            </a:pPr>
            <a:r>
              <a:rPr lang="zh-CN" altLang="en-US" b="1" dirty="0">
                <a:effectLst>
                  <a:outerShdw blurRad="38100" dist="38100" dir="2700000" algn="tl">
                    <a:srgbClr val="C0C0C0"/>
                  </a:outerShdw>
                </a:effectLst>
                <a:latin typeface="Times New Roman" panose="02020603050405020304" pitchFamily="18" charset="0"/>
              </a:rPr>
              <a:t>安全性不高</a:t>
            </a:r>
            <a:endParaRPr lang="en-US" altLang="zh-CN" b="1" dirty="0">
              <a:effectLst>
                <a:outerShdw blurRad="38100" dist="38100" dir="2700000" algn="tl">
                  <a:srgbClr val="C0C0C0"/>
                </a:outerShdw>
              </a:effectLst>
              <a:latin typeface="Times New Roman" panose="02020603050405020304" pitchFamily="18" charset="0"/>
            </a:endParaRPr>
          </a:p>
          <a:p>
            <a:pPr lvl="1">
              <a:buClr>
                <a:srgbClr val="3399FF"/>
              </a:buClr>
              <a:buFont typeface="Wingdings" pitchFamily="2" charset="2"/>
              <a:buChar char="v"/>
              <a:defRPr/>
            </a:pPr>
            <a:r>
              <a:rPr lang="en-US" altLang="zh-CN" sz="2800" b="1" dirty="0">
                <a:effectLst>
                  <a:outerShdw blurRad="38100" dist="38100" dir="2700000" algn="tl">
                    <a:srgbClr val="C0C0C0"/>
                  </a:outerShdw>
                </a:effectLst>
                <a:latin typeface="Times New Roman" panose="02020603050405020304" pitchFamily="18" charset="0"/>
              </a:rPr>
              <a:t>DAC</a:t>
            </a:r>
            <a:r>
              <a:rPr lang="zh-CN" altLang="en-US" sz="2800" b="1" dirty="0">
                <a:effectLst>
                  <a:outerShdw blurRad="38100" dist="38100" dir="2700000" algn="tl">
                    <a:srgbClr val="C0C0C0"/>
                  </a:outerShdw>
                </a:effectLst>
                <a:latin typeface="Times New Roman" panose="02020603050405020304" pitchFamily="18" charset="0"/>
              </a:rPr>
              <a:t>是一种分布式授权管理的模式</a:t>
            </a:r>
          </a:p>
          <a:p>
            <a:pPr lvl="1">
              <a:buFont typeface="Wingdings" pitchFamily="2" charset="2"/>
              <a:buNone/>
              <a:defRPr/>
            </a:pPr>
            <a:endParaRPr lang="en-US" altLang="zh-CN" b="1" dirty="0">
              <a:effectLst>
                <a:outerShdw blurRad="38100" dist="38100" dir="2700000" algn="tl">
                  <a:srgbClr val="C0C0C0"/>
                </a:outerShdw>
              </a:effectLst>
              <a:latin typeface="Times New Roman" panose="02020603050405020304" pitchFamily="18" charset="0"/>
            </a:endParaRPr>
          </a:p>
        </p:txBody>
      </p:sp>
      <p:sp>
        <p:nvSpPr>
          <p:cNvPr id="43013" name="矩形 4">
            <a:extLst>
              <a:ext uri="{FF2B5EF4-FFF2-40B4-BE49-F238E27FC236}">
                <a16:creationId xmlns:a16="http://schemas.microsoft.com/office/drawing/2014/main" id="{EDB47F5D-CBCB-9C45-BE90-7ED99358345D}"/>
              </a:ext>
            </a:extLst>
          </p:cNvPr>
          <p:cNvSpPr>
            <a:spLocks noChangeArrowheads="1"/>
          </p:cNvSpPr>
          <p:nvPr/>
        </p:nvSpPr>
        <p:spPr bwMode="auto">
          <a:xfrm>
            <a:off x="684213" y="1406525"/>
            <a:ext cx="7259637" cy="646113"/>
          </a:xfrm>
          <a:prstGeom prst="rect">
            <a:avLst/>
          </a:prstGeom>
          <a:noFill/>
          <a:ln>
            <a:noFill/>
          </a:ln>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en-US" altLang="zh-CN" sz="36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Discretionary Access Control , DAC</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1507">
                                            <p:txEl>
                                              <p:pRg st="0" end="0"/>
                                            </p:txEl>
                                          </p:spTgt>
                                        </p:tgtEl>
                                        <p:attrNameLst>
                                          <p:attrName>style.visibility</p:attrName>
                                        </p:attrNameLst>
                                      </p:cBhvr>
                                      <p:to>
                                        <p:strVal val="visible"/>
                                      </p:to>
                                    </p:set>
                                    <p:anim calcmode="lin" valueType="num">
                                      <p:cBhvr additive="base">
                                        <p:cTn id="12" dur="10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21507">
                                            <p:txEl>
                                              <p:pRg st="1" end="1"/>
                                            </p:txEl>
                                          </p:spTgt>
                                        </p:tgtEl>
                                        <p:attrNameLst>
                                          <p:attrName>style.visibility</p:attrName>
                                        </p:attrNameLst>
                                      </p:cBhvr>
                                      <p:to>
                                        <p:strVal val="visible"/>
                                      </p:to>
                                    </p:set>
                                    <p:anim calcmode="lin" valueType="num">
                                      <p:cBhvr additive="base">
                                        <p:cTn id="17" dur="10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2500"/>
                            </p:stCondLst>
                            <p:childTnLst>
                              <p:par>
                                <p:cTn id="20" presetID="2" presetClass="entr" presetSubtype="4" fill="hold" grpId="0" nodeType="afterEffect">
                                  <p:stCondLst>
                                    <p:cond delay="0"/>
                                  </p:stCondLst>
                                  <p:childTnLst>
                                    <p:set>
                                      <p:cBhvr>
                                        <p:cTn id="21" dur="1" fill="hold">
                                          <p:stCondLst>
                                            <p:cond delay="0"/>
                                          </p:stCondLst>
                                        </p:cTn>
                                        <p:tgtEl>
                                          <p:spTgt spid="21507">
                                            <p:txEl>
                                              <p:pRg st="2" end="2"/>
                                            </p:txEl>
                                          </p:spTgt>
                                        </p:tgtEl>
                                        <p:attrNameLst>
                                          <p:attrName>style.visibility</p:attrName>
                                        </p:attrNameLst>
                                      </p:cBhvr>
                                      <p:to>
                                        <p:strVal val="visible"/>
                                      </p:to>
                                    </p:set>
                                    <p:anim calcmode="lin" valueType="num">
                                      <p:cBhvr additive="base">
                                        <p:cTn id="22" dur="10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3500"/>
                            </p:stCondLst>
                            <p:childTnLst>
                              <p:par>
                                <p:cTn id="25" presetID="2" presetClass="entr" presetSubtype="4" fill="hold" grpId="0" nodeType="afterEffect">
                                  <p:stCondLst>
                                    <p:cond delay="0"/>
                                  </p:stCondLst>
                                  <p:childTnLst>
                                    <p:set>
                                      <p:cBhvr>
                                        <p:cTn id="26" dur="1" fill="hold">
                                          <p:stCondLst>
                                            <p:cond delay="0"/>
                                          </p:stCondLst>
                                        </p:cTn>
                                        <p:tgtEl>
                                          <p:spTgt spid="21507">
                                            <p:txEl>
                                              <p:pRg st="3" end="3"/>
                                            </p:txEl>
                                          </p:spTgt>
                                        </p:tgtEl>
                                        <p:attrNameLst>
                                          <p:attrName>style.visibility</p:attrName>
                                        </p:attrNameLst>
                                      </p:cBhvr>
                                      <p:to>
                                        <p:strVal val="visible"/>
                                      </p:to>
                                    </p:set>
                                    <p:anim calcmode="lin" valueType="num">
                                      <p:cBhvr additive="base">
                                        <p:cTn id="27" dur="10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21507">
                                            <p:txEl>
                                              <p:pRg st="3" end="3"/>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4500"/>
                            </p:stCondLst>
                            <p:childTnLst>
                              <p:par>
                                <p:cTn id="30" presetID="2" presetClass="entr" presetSubtype="4" fill="hold" grpId="0" nodeType="afterEffect">
                                  <p:stCondLst>
                                    <p:cond delay="0"/>
                                  </p:stCondLst>
                                  <p:childTnLst>
                                    <p:set>
                                      <p:cBhvr>
                                        <p:cTn id="31" dur="1" fill="hold">
                                          <p:stCondLst>
                                            <p:cond delay="0"/>
                                          </p:stCondLst>
                                        </p:cTn>
                                        <p:tgtEl>
                                          <p:spTgt spid="21507">
                                            <p:txEl>
                                              <p:pRg st="4" end="4"/>
                                            </p:txEl>
                                          </p:spTgt>
                                        </p:tgtEl>
                                        <p:attrNameLst>
                                          <p:attrName>style.visibility</p:attrName>
                                        </p:attrNameLst>
                                      </p:cBhvr>
                                      <p:to>
                                        <p:strVal val="visible"/>
                                      </p:to>
                                    </p:set>
                                    <p:anim calcmode="lin" valueType="num">
                                      <p:cBhvr additive="base">
                                        <p:cTn id="32" dur="10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33" dur="10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5500"/>
                            </p:stCondLst>
                            <p:childTnLst>
                              <p:par>
                                <p:cTn id="35" presetID="2" presetClass="entr" presetSubtype="4" fill="hold" grpId="0" nodeType="afterEffect">
                                  <p:stCondLst>
                                    <p:cond delay="0"/>
                                  </p:stCondLst>
                                  <p:childTnLst>
                                    <p:set>
                                      <p:cBhvr>
                                        <p:cTn id="36" dur="1" fill="hold">
                                          <p:stCondLst>
                                            <p:cond delay="0"/>
                                          </p:stCondLst>
                                        </p:cTn>
                                        <p:tgtEl>
                                          <p:spTgt spid="21507">
                                            <p:txEl>
                                              <p:pRg st="5" end="5"/>
                                            </p:txEl>
                                          </p:spTgt>
                                        </p:tgtEl>
                                        <p:attrNameLst>
                                          <p:attrName>style.visibility</p:attrName>
                                        </p:attrNameLst>
                                      </p:cBhvr>
                                      <p:to>
                                        <p:strVal val="visible"/>
                                      </p:to>
                                    </p:set>
                                    <p:anim calcmode="lin" valueType="num">
                                      <p:cBhvr additive="base">
                                        <p:cTn id="37" dur="1000" fill="hold"/>
                                        <p:tgtEl>
                                          <p:spTgt spid="21507">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215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P spid="430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507ED22D-AE49-5E4B-8588-D8A722021D03}"/>
              </a:ext>
            </a:extLst>
          </p:cNvPr>
          <p:cNvSpPr>
            <a:spLocks noGrp="1"/>
          </p:cNvSpPr>
          <p:nvPr>
            <p:ph type="title"/>
          </p:nvPr>
        </p:nvSpPr>
        <p:spPr>
          <a:xfrm>
            <a:off x="576263" y="8239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自主型访问控制策略</a:t>
            </a:r>
          </a:p>
        </p:txBody>
      </p:sp>
      <p:sp>
        <p:nvSpPr>
          <p:cNvPr id="44037" name="Rectangle 4">
            <a:extLst>
              <a:ext uri="{FF2B5EF4-FFF2-40B4-BE49-F238E27FC236}">
                <a16:creationId xmlns:a16="http://schemas.microsoft.com/office/drawing/2014/main" id="{339140D2-3303-0142-8488-C7829AA5A3E5}"/>
              </a:ext>
            </a:extLst>
          </p:cNvPr>
          <p:cNvSpPr>
            <a:spLocks noChangeArrowheads="1"/>
          </p:cNvSpPr>
          <p:nvPr/>
        </p:nvSpPr>
        <p:spPr bwMode="auto">
          <a:xfrm>
            <a:off x="287338" y="1557338"/>
            <a:ext cx="8640762" cy="4535487"/>
          </a:xfrm>
          <a:prstGeom prst="rect">
            <a:avLst/>
          </a:prstGeom>
          <a:noFill/>
          <a:ln w="12700">
            <a:solidFill>
              <a:schemeClr val="accent1"/>
            </a:solidFill>
            <a:miter lim="800000"/>
            <a:headEnd type="none" w="sm" len="sm"/>
            <a:tailEnd type="none" w="sm" len="sm"/>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/bin/ls</a:t>
            </a: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root@acl</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chown</a:t>
            </a:r>
            <a:r>
              <a:rPr lang="en-US" altLang="zh-CN" sz="22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root ls</a:t>
            </a: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root@acl</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ls -l</a:t>
            </a: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rw</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-r--r--     	1 nobody	nobody    770    Oct 18 15:16 4011.tmp</a:t>
            </a:r>
          </a:p>
          <a:p>
            <a:pPr eaLnBrk="1" hangingPunct="1">
              <a:spcBef>
                <a:spcPct val="0"/>
              </a:spcBef>
              <a:buClrTx/>
              <a:buFontTx/>
              <a:buNone/>
              <a:defRPr/>
            </a:pPr>
            <a:r>
              <a:rPr lang="en-US" altLang="zh-CN" sz="22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rw</a:t>
            </a:r>
            <a:r>
              <a:rPr lang="en-US" altLang="zh-CN" sz="22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1 root     	users         48       Oct 28 11:41 ls</a:t>
            </a:r>
          </a:p>
          <a:p>
            <a:pPr eaLnBrk="1" hangingPunct="1">
              <a:spcBef>
                <a:spcPct val="0"/>
              </a:spcBef>
              <a:buClrTx/>
              <a:buFontTx/>
              <a:buNone/>
              <a:defRPr/>
            </a:pP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srwxrwxrwx</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1 root     	root            0        Aug 29 09:04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mysql.sock</a:t>
            </a:r>
            <a:endPar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0"/>
              </a:spcBef>
              <a:buClrTx/>
              <a:buFontTx/>
              <a:buNone/>
              <a:defRPr/>
            </a:pP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drwxrwxr</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-x    	2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duan</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uan</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4096   Oct 23 23:41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ssl</a:t>
            </a:r>
            <a:endPar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root@acl</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chmod</a:t>
            </a:r>
            <a:r>
              <a:rPr lang="en-US" altLang="zh-CN" sz="22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o+rw</a:t>
            </a:r>
            <a:r>
              <a:rPr lang="en-US" altLang="zh-CN" sz="22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ls</a:t>
            </a: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root@acl</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ls -l</a:t>
            </a: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rw</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-r--r--     	1 nobody   	nobody    770       Oct 18 15:16 4011.tmp</a:t>
            </a:r>
          </a:p>
          <a:p>
            <a:pPr eaLnBrk="1" hangingPunct="1">
              <a:spcBef>
                <a:spcPct val="0"/>
              </a:spcBef>
              <a:buClrTx/>
              <a:buFontTx/>
              <a:buNone/>
              <a:defRPr/>
            </a:pPr>
            <a:r>
              <a:rPr lang="en-US" altLang="zh-CN" sz="22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rw</a:t>
            </a:r>
            <a:r>
              <a:rPr lang="en-US" altLang="zh-CN" sz="22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rw</a:t>
            </a:r>
            <a:r>
              <a:rPr lang="en-US" altLang="zh-CN" sz="2200" b="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1 root     	users         48       Oct 28 11:41 ls</a:t>
            </a:r>
          </a:p>
          <a:p>
            <a:pPr eaLnBrk="1" hangingPunct="1">
              <a:spcBef>
                <a:spcPct val="0"/>
              </a:spcBef>
              <a:buClrTx/>
              <a:buFontTx/>
              <a:buNone/>
              <a:defRPr/>
            </a:pP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srwxrwxrwx</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1 root     	root           0         Aug 29 09:04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mysql.sock</a:t>
            </a:r>
            <a:endPar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0"/>
              </a:spcBef>
              <a:buClrTx/>
              <a:buFontTx/>
              <a:buNone/>
              <a:defRPr/>
            </a:pP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drwxrwxr</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-x    	2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duan</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duan</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4096    Oct 23 23:41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ssl</a:t>
            </a:r>
            <a:endPar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0"/>
              </a:spcBef>
              <a:buClrTx/>
              <a:buFontTx/>
              <a:buNone/>
              <a:defRPr/>
            </a:pP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root@acl</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2200" b="1"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wipe(up)">
                                      <p:cBhvr>
                                        <p:cTn id="7" dur="500"/>
                                        <p:tgtEl>
                                          <p:spTgt spid="44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E537D262-3C01-C84E-9C40-E753689CD5B9}"/>
              </a:ext>
            </a:extLst>
          </p:cNvPr>
          <p:cNvSpPr>
            <a:spLocks noGrp="1"/>
          </p:cNvSpPr>
          <p:nvPr>
            <p:ph type="title"/>
          </p:nvPr>
        </p:nvSpPr>
        <p:spPr>
          <a:xfrm>
            <a:off x="533400" y="763588"/>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自主型访问控制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(DAC) </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
        <p:nvSpPr>
          <p:cNvPr id="7" name="Rectangle 3">
            <a:extLst>
              <a:ext uri="{FF2B5EF4-FFF2-40B4-BE49-F238E27FC236}">
                <a16:creationId xmlns:a16="http://schemas.microsoft.com/office/drawing/2014/main" id="{D5F6CF2D-D495-6149-A223-AB59A79082F4}"/>
              </a:ext>
            </a:extLst>
          </p:cNvPr>
          <p:cNvSpPr txBox="1">
            <a:spLocks noChangeArrowheads="1"/>
          </p:cNvSpPr>
          <p:nvPr/>
        </p:nvSpPr>
        <p:spPr bwMode="gray">
          <a:xfrm>
            <a:off x="533400" y="1341438"/>
            <a:ext cx="80010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80000"/>
              </a:lnSpc>
            </a:pPr>
            <a:r>
              <a:rPr lang="zh-CN" altLang="en-US" sz="2600" b="1"/>
              <a:t>无法控制信息流动</a:t>
            </a:r>
          </a:p>
          <a:p>
            <a:pPr lvl="1" eaLnBrk="1" hangingPunct="1">
              <a:lnSpc>
                <a:spcPct val="80000"/>
              </a:lnSpc>
            </a:pPr>
            <a:r>
              <a:rPr lang="zh-CN" altLang="en-US" sz="2200" b="1">
                <a:latin typeface="Times New Roman" panose="02020603050405020304" pitchFamily="18" charset="0"/>
              </a:rPr>
              <a:t>信息在移动过程中其访问权限关系会被改变。如用户</a:t>
            </a:r>
            <a:r>
              <a:rPr lang="zh-CN" altLang="zh-CN" sz="2200" b="1">
                <a:latin typeface="Times New Roman" panose="02020603050405020304" pitchFamily="18" charset="0"/>
              </a:rPr>
              <a:t>A可将其对目标O的访问权限传递给用户B,</a:t>
            </a:r>
            <a:r>
              <a:rPr lang="en-US" altLang="zh-CN" sz="2200" b="1">
                <a:latin typeface="Times New Roman" panose="02020603050405020304" pitchFamily="18" charset="0"/>
              </a:rPr>
              <a:t>  </a:t>
            </a:r>
            <a:r>
              <a:rPr lang="zh-CN" altLang="zh-CN" sz="2200" b="1">
                <a:latin typeface="Times New Roman" panose="02020603050405020304" pitchFamily="18" charset="0"/>
              </a:rPr>
              <a:t>从而使不具备对O访问权限的B可访问O。</a:t>
            </a:r>
            <a:endParaRPr lang="zh-CN" altLang="en-US" sz="2200" b="1">
              <a:latin typeface="Times New Roman" panose="02020603050405020304" pitchFamily="18" charset="0"/>
            </a:endParaRPr>
          </a:p>
          <a:p>
            <a:pPr eaLnBrk="1" hangingPunct="1">
              <a:lnSpc>
                <a:spcPct val="80000"/>
              </a:lnSpc>
            </a:pPr>
            <a:r>
              <a:rPr lang="zh-CN" altLang="en-US" sz="2600" b="1"/>
              <a:t>特洛伊木马的威胁 </a:t>
            </a:r>
          </a:p>
          <a:p>
            <a:pPr lvl="1" eaLnBrk="1" hangingPunct="1">
              <a:lnSpc>
                <a:spcPct val="80000"/>
              </a:lnSpc>
            </a:pPr>
            <a:r>
              <a:rPr lang="zh-CN" altLang="en-US" sz="2200" b="1">
                <a:latin typeface="Times New Roman" panose="02020603050405020304" pitchFamily="18" charset="0"/>
              </a:rPr>
              <a:t>特洛伊木马（</a:t>
            </a:r>
            <a:r>
              <a:rPr lang="en-US" altLang="zh-CN" sz="2200" b="1">
                <a:latin typeface="Times New Roman" panose="02020603050405020304" pitchFamily="18" charset="0"/>
              </a:rPr>
              <a:t>Trojan</a:t>
            </a:r>
            <a:r>
              <a:rPr lang="zh-CN" altLang="en-US" sz="2200" b="1">
                <a:latin typeface="Times New Roman" panose="02020603050405020304" pitchFamily="18" charset="0"/>
              </a:rPr>
              <a:t>）附在合法程序的中，执行一些非法操作而不被用户发现</a:t>
            </a:r>
          </a:p>
        </p:txBody>
      </p:sp>
      <p:sp>
        <p:nvSpPr>
          <p:cNvPr id="45062" name="Rectangle 4">
            <a:extLst>
              <a:ext uri="{FF2B5EF4-FFF2-40B4-BE49-F238E27FC236}">
                <a16:creationId xmlns:a16="http://schemas.microsoft.com/office/drawing/2014/main" id="{60700051-ED17-0F44-8586-EB839A3AF3B8}"/>
              </a:ext>
            </a:extLst>
          </p:cNvPr>
          <p:cNvSpPr>
            <a:spLocks noChangeArrowheads="1"/>
          </p:cNvSpPr>
          <p:nvPr/>
        </p:nvSpPr>
        <p:spPr bwMode="auto">
          <a:xfrm>
            <a:off x="755650" y="3806825"/>
            <a:ext cx="7921625" cy="2374900"/>
          </a:xfrm>
          <a:prstGeom prst="rect">
            <a:avLst/>
          </a:prstGeom>
          <a:solidFill>
            <a:srgbClr val="DDDDDD"/>
          </a:solidFill>
          <a:ln w="12700">
            <a:solidFill>
              <a:schemeClr val="tx1"/>
            </a:solidFill>
            <a:miter lim="800000"/>
            <a:headEnd type="none" w="sm" len="sm"/>
            <a:tailEnd type="none" w="sm" len="sm"/>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dirty="0">
                <a:latin typeface="Arial" panose="020B0604020202020204" pitchFamily="34" charset="0"/>
                <a:ea typeface="宋体" panose="02010600030101010101" pitchFamily="2" charset="-122"/>
              </a:rPr>
              <a:t>特洛伊木马举例：</a:t>
            </a: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#cat  &gt;</a:t>
            </a:r>
            <a:r>
              <a:rPr lang="en-US" altLang="zh-CN" sz="1800" dirty="0">
                <a:solidFill>
                  <a:srgbClr val="FF3300"/>
                </a:solidFill>
                <a:latin typeface="Arial" panose="020B0604020202020204" pitchFamily="34" charset="0"/>
                <a:ea typeface="宋体" panose="02010600030101010101" pitchFamily="2" charset="-122"/>
              </a:rPr>
              <a:t>   /</a:t>
            </a:r>
            <a:r>
              <a:rPr lang="en-US" altLang="zh-CN" sz="1800" dirty="0" err="1">
                <a:solidFill>
                  <a:srgbClr val="FF3300"/>
                </a:solidFill>
                <a:latin typeface="Arial" panose="020B0604020202020204" pitchFamily="34" charset="0"/>
                <a:ea typeface="宋体" panose="02010600030101010101" pitchFamily="2" charset="-122"/>
              </a:rPr>
              <a:t>tmp</a:t>
            </a:r>
            <a:r>
              <a:rPr lang="en-US" altLang="zh-CN" sz="1800" dirty="0">
                <a:solidFill>
                  <a:srgbClr val="FF3300"/>
                </a:solidFill>
                <a:latin typeface="Arial" panose="020B0604020202020204" pitchFamily="34" charset="0"/>
                <a:ea typeface="宋体" panose="02010600030101010101" pitchFamily="2" charset="-122"/>
              </a:rPr>
              <a:t>/ls</a:t>
            </a:r>
            <a:r>
              <a:rPr lang="en-US" altLang="zh-CN" sz="1800" dirty="0">
                <a:latin typeface="Arial" panose="020B0604020202020204" pitchFamily="34" charset="0"/>
                <a:ea typeface="宋体" panose="02010600030101010101" pitchFamily="2" charset="-122"/>
              </a:rPr>
              <a:t> </a:t>
            </a: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mail    </a:t>
            </a:r>
            <a:r>
              <a:rPr lang="en-US" altLang="zh-CN" sz="1800" dirty="0">
                <a:latin typeface="Arial" panose="020B0604020202020204" pitchFamily="34" charset="0"/>
                <a:ea typeface="宋体" panose="02010600030101010101" pitchFamily="2" charset="-122"/>
                <a:hlinkClick r:id="rId2"/>
              </a:rPr>
              <a:t>hacker@some.where.com</a:t>
            </a:r>
            <a:r>
              <a:rPr lang="en-US" altLang="zh-CN" sz="1800" dirty="0">
                <a:latin typeface="Arial" panose="020B0604020202020204" pitchFamily="34" charset="0"/>
                <a:ea typeface="宋体" panose="02010600030101010101" pitchFamily="2" charset="-122"/>
              </a:rPr>
              <a:t>   &lt; /</a:t>
            </a:r>
            <a:r>
              <a:rPr lang="en-US" altLang="zh-CN" sz="1800" dirty="0" err="1">
                <a:latin typeface="Arial" panose="020B0604020202020204" pitchFamily="34" charset="0"/>
                <a:ea typeface="宋体" panose="02010600030101010101" pitchFamily="2" charset="-122"/>
              </a:rPr>
              <a:t>etc</a:t>
            </a:r>
            <a:r>
              <a:rPr lang="en-US" altLang="zh-CN" sz="1800" dirty="0">
                <a:latin typeface="Arial" panose="020B0604020202020204" pitchFamily="34" charset="0"/>
                <a:ea typeface="宋体" panose="02010600030101010101" pitchFamily="2" charset="-122"/>
              </a:rPr>
              <a:t>/passwd</a:t>
            </a: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/bin/ls</a:t>
            </a:r>
          </a:p>
          <a:p>
            <a:pPr eaLnBrk="1" hangingPunct="1">
              <a:spcBef>
                <a:spcPct val="0"/>
              </a:spcBef>
              <a:buClrTx/>
              <a:buFontTx/>
              <a:buNone/>
            </a:pPr>
            <a:r>
              <a:rPr lang="en-US" altLang="zh-CN" sz="1800" dirty="0" err="1">
                <a:latin typeface="Arial" panose="020B0604020202020204" pitchFamily="34" charset="0"/>
                <a:ea typeface="宋体" panose="02010600030101010101" pitchFamily="2" charset="-122"/>
              </a:rPr>
              <a:t>Ctrl+D</a:t>
            </a:r>
            <a:endParaRPr lang="en-US" altLang="zh-CN" sz="1800" dirty="0">
              <a:latin typeface="Arial" panose="020B0604020202020204" pitchFamily="34" charset="0"/>
              <a:ea typeface="宋体" panose="02010600030101010101" pitchFamily="2" charset="-122"/>
            </a:endParaRP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 </a:t>
            </a:r>
            <a:r>
              <a:rPr lang="en-US" altLang="zh-CN" sz="1800" dirty="0" err="1">
                <a:solidFill>
                  <a:srgbClr val="FF3300"/>
                </a:solidFill>
                <a:latin typeface="Arial" panose="020B0604020202020204" pitchFamily="34" charset="0"/>
                <a:ea typeface="宋体" panose="02010600030101010101" pitchFamily="2" charset="-122"/>
              </a:rPr>
              <a:t>chmod</a:t>
            </a:r>
            <a:r>
              <a:rPr lang="en-US" altLang="zh-CN" sz="1800" dirty="0">
                <a:solidFill>
                  <a:srgbClr val="FF3300"/>
                </a:solidFill>
                <a:latin typeface="Arial" panose="020B0604020202020204" pitchFamily="34" charset="0"/>
                <a:ea typeface="宋体" panose="02010600030101010101" pitchFamily="2" charset="-122"/>
              </a:rPr>
              <a:t>   </a:t>
            </a:r>
            <a:r>
              <a:rPr lang="en-US" altLang="zh-CN" sz="1800" dirty="0" err="1">
                <a:solidFill>
                  <a:srgbClr val="FF3300"/>
                </a:solidFill>
                <a:latin typeface="Arial" panose="020B0604020202020204" pitchFamily="34" charset="0"/>
                <a:ea typeface="宋体" panose="02010600030101010101" pitchFamily="2" charset="-122"/>
              </a:rPr>
              <a:t>a+x</a:t>
            </a:r>
            <a:r>
              <a:rPr lang="en-US" altLang="zh-CN" sz="1800" dirty="0">
                <a:solidFill>
                  <a:srgbClr val="FF3300"/>
                </a:solidFill>
                <a:latin typeface="Arial" panose="020B0604020202020204" pitchFamily="34" charset="0"/>
                <a:ea typeface="宋体" panose="02010600030101010101" pitchFamily="2" charset="-122"/>
              </a:rPr>
              <a:t> /</a:t>
            </a:r>
            <a:r>
              <a:rPr lang="en-US" altLang="zh-CN" sz="1800" dirty="0" err="1">
                <a:solidFill>
                  <a:srgbClr val="FF3300"/>
                </a:solidFill>
                <a:latin typeface="Arial" panose="020B0604020202020204" pitchFamily="34" charset="0"/>
                <a:ea typeface="宋体" panose="02010600030101010101" pitchFamily="2" charset="-122"/>
              </a:rPr>
              <a:t>tmp</a:t>
            </a:r>
            <a:r>
              <a:rPr lang="en-US" altLang="zh-CN" sz="1800" dirty="0">
                <a:solidFill>
                  <a:srgbClr val="FF3300"/>
                </a:solidFill>
                <a:latin typeface="Arial" panose="020B0604020202020204" pitchFamily="34" charset="0"/>
                <a:ea typeface="宋体" panose="02010600030101010101" pitchFamily="2" charset="-122"/>
              </a:rPr>
              <a:t>/ls </a:t>
            </a:r>
          </a:p>
          <a:p>
            <a:pPr eaLnBrk="1" hangingPunct="1">
              <a:spcBef>
                <a:spcPct val="0"/>
              </a:spcBef>
              <a:buClrTx/>
              <a:buFontTx/>
              <a:buNone/>
            </a:pPr>
            <a:r>
              <a:rPr lang="zh-CN" altLang="en-US" sz="1800" dirty="0">
                <a:latin typeface="Arial" panose="020B0604020202020204" pitchFamily="34" charset="0"/>
                <a:ea typeface="宋体" panose="02010600030101010101" pitchFamily="2" charset="-122"/>
              </a:rPr>
              <a:t>如果用户的路径设置不安全，如 </a:t>
            </a:r>
            <a:r>
              <a:rPr lang="en-US" altLang="zh-CN" sz="1800" dirty="0">
                <a:latin typeface="Arial" panose="020B0604020202020204" pitchFamily="34" charset="0"/>
                <a:ea typeface="宋体" panose="02010600030101010101" pitchFamily="2" charset="-122"/>
              </a:rPr>
              <a:t>path= ./:/</a:t>
            </a:r>
            <a:r>
              <a:rPr lang="en-US" altLang="zh-CN" sz="1800" dirty="0" err="1">
                <a:latin typeface="Arial" panose="020B0604020202020204" pitchFamily="34" charset="0"/>
                <a:ea typeface="宋体" panose="02010600030101010101" pitchFamily="2" charset="-122"/>
              </a:rPr>
              <a:t>usr</a:t>
            </a:r>
            <a:r>
              <a:rPr lang="en-US" altLang="zh-CN" sz="1800" dirty="0">
                <a:latin typeface="Arial" panose="020B0604020202020204" pitchFamily="34" charset="0"/>
                <a:ea typeface="宋体" panose="02010600030101010101" pitchFamily="2" charset="-122"/>
              </a:rPr>
              <a:t>/bin:/</a:t>
            </a:r>
            <a:r>
              <a:rPr lang="en-US" altLang="zh-CN" sz="1800" dirty="0" err="1">
                <a:latin typeface="Arial" panose="020B0604020202020204" pitchFamily="34" charset="0"/>
                <a:ea typeface="宋体" panose="02010600030101010101" pitchFamily="2" charset="-122"/>
              </a:rPr>
              <a:t>usr</a:t>
            </a:r>
            <a:r>
              <a:rPr lang="en-US" altLang="zh-CN" sz="1800" dirty="0">
                <a:latin typeface="Arial" panose="020B0604020202020204" pitchFamily="34" charset="0"/>
                <a:ea typeface="宋体" panose="02010600030101010101" pitchFamily="2" charset="-122"/>
              </a:rPr>
              <a:t>/</a:t>
            </a:r>
            <a:r>
              <a:rPr lang="en-US" altLang="zh-CN" sz="1800" dirty="0" err="1">
                <a:latin typeface="Arial" panose="020B0604020202020204" pitchFamily="34" charset="0"/>
                <a:ea typeface="宋体" panose="02010600030101010101" pitchFamily="2" charset="-122"/>
              </a:rPr>
              <a:t>sbin</a:t>
            </a:r>
            <a:r>
              <a:rPr lang="en-US" altLang="zh-CN" sz="1800" dirty="0">
                <a:latin typeface="Arial" panose="020B0604020202020204" pitchFamily="34" charset="0"/>
                <a:ea typeface="宋体" panose="02010600030101010101" pitchFamily="2" charset="-122"/>
              </a:rPr>
              <a:t>:/</a:t>
            </a:r>
            <a:r>
              <a:rPr lang="en-US" altLang="zh-CN" sz="1800" dirty="0" err="1">
                <a:latin typeface="Arial" panose="020B0604020202020204" pitchFamily="34" charset="0"/>
                <a:ea typeface="宋体" panose="02010600030101010101" pitchFamily="2" charset="-122"/>
              </a:rPr>
              <a:t>usr</a:t>
            </a:r>
            <a:r>
              <a:rPr lang="en-US" altLang="zh-CN" sz="1800" dirty="0">
                <a:latin typeface="Arial" panose="020B0604020202020204" pitchFamily="34" charset="0"/>
                <a:ea typeface="宋体" panose="02010600030101010101" pitchFamily="2" charset="-122"/>
              </a:rPr>
              <a:t>/local/bin</a:t>
            </a: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 </a:t>
            </a:r>
            <a:r>
              <a:rPr lang="en-US" altLang="zh-CN" sz="1800" dirty="0">
                <a:solidFill>
                  <a:srgbClr val="FF3300"/>
                </a:solidFill>
                <a:latin typeface="Arial" panose="020B0604020202020204" pitchFamily="34" charset="0"/>
                <a:ea typeface="宋体" panose="02010600030101010101" pitchFamily="2" charset="-122"/>
              </a:rPr>
              <a:t>cd /</a:t>
            </a:r>
            <a:r>
              <a:rPr lang="en-US" altLang="zh-CN" sz="1800" dirty="0" err="1">
                <a:solidFill>
                  <a:srgbClr val="FF3300"/>
                </a:solidFill>
                <a:latin typeface="Arial" panose="020B0604020202020204" pitchFamily="34" charset="0"/>
                <a:ea typeface="宋体" panose="02010600030101010101" pitchFamily="2" charset="-122"/>
              </a:rPr>
              <a:t>tmp</a:t>
            </a:r>
            <a:endParaRPr lang="en-US" altLang="zh-CN" sz="1800" dirty="0">
              <a:solidFill>
                <a:srgbClr val="FF3300"/>
              </a:solidFill>
              <a:latin typeface="Arial" panose="020B0604020202020204" pitchFamily="34" charset="0"/>
              <a:ea typeface="宋体" panose="02010600030101010101" pitchFamily="2" charset="-122"/>
            </a:endParaRPr>
          </a:p>
          <a:p>
            <a:pPr eaLnBrk="1" hangingPunct="1">
              <a:spcBef>
                <a:spcPct val="0"/>
              </a:spcBef>
              <a:buClrTx/>
              <a:buFontTx/>
              <a:buNone/>
            </a:pPr>
            <a:r>
              <a:rPr lang="en-US" altLang="zh-CN" sz="1800" dirty="0">
                <a:latin typeface="Arial" panose="020B0604020202020204" pitchFamily="34" charset="0"/>
                <a:ea typeface="宋体" panose="02010600030101010101" pitchFamily="2" charset="-122"/>
              </a:rPr>
              <a:t># </a:t>
            </a:r>
            <a:r>
              <a:rPr lang="en-US" altLang="zh-CN" sz="1800" dirty="0">
                <a:solidFill>
                  <a:srgbClr val="FF3300"/>
                </a:solidFill>
                <a:latin typeface="Arial" panose="020B0604020202020204" pitchFamily="34" charset="0"/>
                <a:ea typeface="宋体" panose="02010600030101010101" pitchFamily="2" charset="-122"/>
              </a:rPr>
              <a:t>ls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nodeType="afterGroup">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45062"/>
                                        </p:tgtEl>
                                        <p:attrNameLst>
                                          <p:attrName>style.visibility</p:attrName>
                                        </p:attrNameLst>
                                      </p:cBhvr>
                                      <p:to>
                                        <p:strVal val="visible"/>
                                      </p:to>
                                    </p:set>
                                    <p:anim calcmode="lin" valueType="num">
                                      <p:cBhvr additive="base">
                                        <p:cTn id="13" dur="1000" fill="hold"/>
                                        <p:tgtEl>
                                          <p:spTgt spid="45062"/>
                                        </p:tgtEl>
                                        <p:attrNameLst>
                                          <p:attrName>ppt_x</p:attrName>
                                        </p:attrNameLst>
                                      </p:cBhvr>
                                      <p:tavLst>
                                        <p:tav tm="0">
                                          <p:val>
                                            <p:strVal val="0-#ppt_w/2"/>
                                          </p:val>
                                        </p:tav>
                                        <p:tav tm="100000">
                                          <p:val>
                                            <p:strVal val="#ppt_x"/>
                                          </p:val>
                                        </p:tav>
                                      </p:tavLst>
                                    </p:anim>
                                    <p:anim calcmode="lin" valueType="num">
                                      <p:cBhvr additive="base">
                                        <p:cTn id="14" dur="1000" fill="hold"/>
                                        <p:tgtEl>
                                          <p:spTgt spid="450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506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FFFBDAD-CE4A-614D-A3AA-A28DDB134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75" y="3608388"/>
            <a:ext cx="2554288"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a:extLst>
              <a:ext uri="{FF2B5EF4-FFF2-40B4-BE49-F238E27FC236}">
                <a16:creationId xmlns:a16="http://schemas.microsoft.com/office/drawing/2014/main" id="{DE49F06D-4587-3042-B960-E2EC64C36CAA}"/>
              </a:ext>
            </a:extLst>
          </p:cNvPr>
          <p:cNvSpPr>
            <a:spLocks noGrp="1"/>
          </p:cNvSpPr>
          <p:nvPr>
            <p:ph type="title"/>
          </p:nvPr>
        </p:nvSpPr>
        <p:spPr>
          <a:xfrm>
            <a:off x="576263" y="9890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自主访问控制的实现机制和方法</a:t>
            </a:r>
          </a:p>
        </p:txBody>
      </p:sp>
      <p:sp>
        <p:nvSpPr>
          <p:cNvPr id="46083" name="内容占位符 2">
            <a:extLst>
              <a:ext uri="{FF2B5EF4-FFF2-40B4-BE49-F238E27FC236}">
                <a16:creationId xmlns:a16="http://schemas.microsoft.com/office/drawing/2014/main" id="{05FDE144-0760-BB4D-A701-78FCB0CFE4C3}"/>
              </a:ext>
            </a:extLst>
          </p:cNvPr>
          <p:cNvSpPr>
            <a:spLocks noGrp="1"/>
          </p:cNvSpPr>
          <p:nvPr>
            <p:ph idx="1"/>
          </p:nvPr>
        </p:nvSpPr>
        <p:spPr>
          <a:xfrm>
            <a:off x="755650" y="2952750"/>
            <a:ext cx="8035925" cy="1619250"/>
          </a:xfrm>
        </p:spPr>
        <p:txBody>
          <a:bodyPr/>
          <a:lstStyle/>
          <a:p>
            <a:pPr>
              <a:defRPr/>
            </a:pPr>
            <a:r>
              <a:rPr lang="zh-CN" altLang="en-US" b="1">
                <a:effectLst>
                  <a:outerShdw blurRad="38100" dist="38100" dir="2700000" algn="tl">
                    <a:srgbClr val="C0C0C0"/>
                  </a:outerShdw>
                </a:effectLst>
                <a:latin typeface="Times New Roman" panose="02020603050405020304" pitchFamily="18" charset="0"/>
              </a:rPr>
              <a:t>实现方法</a:t>
            </a:r>
            <a:endParaRPr lang="en-US" altLang="zh-CN" b="1">
              <a:effectLst>
                <a:outerShdw blurRad="38100" dist="38100" dir="2700000" algn="tl">
                  <a:srgbClr val="C0C0C0"/>
                </a:outerShdw>
              </a:effectLst>
              <a:latin typeface="Times New Roman" panose="02020603050405020304" pitchFamily="18" charset="0"/>
            </a:endParaRPr>
          </a:p>
          <a:p>
            <a:pPr lvl="1">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rPr>
              <a:t>访问控制表（</a:t>
            </a:r>
            <a:r>
              <a:rPr lang="en-US" altLang="zh-CN" sz="2400" b="1">
                <a:effectLst>
                  <a:outerShdw blurRad="38100" dist="38100" dir="2700000" algn="tl">
                    <a:srgbClr val="C0C0C0"/>
                  </a:outerShdw>
                </a:effectLst>
                <a:latin typeface="Times New Roman" panose="02020603050405020304" pitchFamily="18" charset="0"/>
              </a:rPr>
              <a:t>Access Control Lists</a:t>
            </a:r>
            <a:r>
              <a:rPr lang="zh-CN" altLang="en-US" sz="2400" b="1">
                <a:effectLst>
                  <a:outerShdw blurRad="38100" dist="38100" dir="2700000" algn="tl">
                    <a:srgbClr val="C0C0C0"/>
                  </a:outerShdw>
                </a:effectLst>
                <a:latin typeface="Times New Roman" panose="02020603050405020304" pitchFamily="18" charset="0"/>
              </a:rPr>
              <a:t>）</a:t>
            </a:r>
            <a:endParaRPr lang="en-US" altLang="zh-CN" sz="2400" b="1">
              <a:effectLst>
                <a:outerShdw blurRad="38100" dist="38100" dir="2700000" algn="tl">
                  <a:srgbClr val="C0C0C0"/>
                </a:outerShdw>
              </a:effectLst>
              <a:latin typeface="Times New Roman" panose="02020603050405020304" pitchFamily="18" charset="0"/>
            </a:endParaRPr>
          </a:p>
          <a:p>
            <a:pPr lvl="1">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rPr>
              <a:t>访问能力表（</a:t>
            </a:r>
            <a:r>
              <a:rPr lang="en-US" altLang="zh-CN" sz="2400" b="1">
                <a:effectLst>
                  <a:outerShdw blurRad="38100" dist="38100" dir="2700000" algn="tl">
                    <a:srgbClr val="C0C0C0"/>
                  </a:outerShdw>
                </a:effectLst>
                <a:latin typeface="Times New Roman" panose="02020603050405020304" pitchFamily="18" charset="0"/>
              </a:rPr>
              <a:t>Capacity List</a:t>
            </a:r>
            <a:r>
              <a:rPr lang="zh-CN" altLang="en-US" sz="2400" b="1">
                <a:effectLst>
                  <a:outerShdw blurRad="38100" dist="38100" dir="2700000" algn="tl">
                    <a:srgbClr val="C0C0C0"/>
                  </a:outerShdw>
                </a:effectLst>
                <a:latin typeface="Times New Roman" panose="02020603050405020304" pitchFamily="18" charset="0"/>
              </a:rPr>
              <a:t>）</a:t>
            </a:r>
            <a:endParaRPr lang="zh-CN" altLang="en-US" b="1">
              <a:effectLst>
                <a:outerShdw blurRad="38100" dist="38100" dir="2700000" algn="tl">
                  <a:srgbClr val="C0C0C0"/>
                </a:outerShdw>
              </a:effectLst>
              <a:latin typeface="Times New Roman" panose="02020603050405020304" pitchFamily="18" charset="0"/>
            </a:endParaRPr>
          </a:p>
        </p:txBody>
      </p:sp>
      <p:sp>
        <p:nvSpPr>
          <p:cNvPr id="2" name="矩形 1">
            <a:extLst>
              <a:ext uri="{FF2B5EF4-FFF2-40B4-BE49-F238E27FC236}">
                <a16:creationId xmlns:a16="http://schemas.microsoft.com/office/drawing/2014/main" id="{5B9EB465-7DFC-4C48-8289-AE609CD0FEFA}"/>
              </a:ext>
            </a:extLst>
          </p:cNvPr>
          <p:cNvSpPr/>
          <p:nvPr/>
        </p:nvSpPr>
        <p:spPr>
          <a:xfrm>
            <a:off x="755650" y="1843088"/>
            <a:ext cx="5616575" cy="96678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实现机制</a:t>
            </a:r>
            <a:endPar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FF9900"/>
              </a:buClr>
              <a:buFont typeface="Wingdings" pitchFamily="2" charset="2"/>
              <a:buChar char="n"/>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访问控制表</a:t>
            </a:r>
            <a:r>
              <a:rPr lang="en-US" altLang="zh-CN" sz="24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矩阵</a:t>
            </a:r>
            <a:endParaRPr lang="en-US" altLang="zh-CN" sz="24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46083">
                                            <p:txEl>
                                              <p:pRg st="0" end="0"/>
                                            </p:txEl>
                                          </p:spTgt>
                                        </p:tgtEl>
                                        <p:attrNameLst>
                                          <p:attrName>style.visibility</p:attrName>
                                        </p:attrNameLst>
                                      </p:cBhvr>
                                      <p:to>
                                        <p:strVal val="visible"/>
                                      </p:to>
                                    </p:set>
                                    <p:animEffect transition="in" filter="wipe(up)">
                                      <p:cBhvr>
                                        <p:cTn id="13" dur="500"/>
                                        <p:tgtEl>
                                          <p:spTgt spid="46083">
                                            <p:txEl>
                                              <p:pRg st="0" end="0"/>
                                            </p:txEl>
                                          </p:spTgt>
                                        </p:tgtEl>
                                      </p:cBhvr>
                                    </p:animEffect>
                                  </p:childTnLst>
                                </p:cTn>
                              </p:par>
                            </p:childTnLst>
                          </p:cTn>
                        </p:par>
                        <p:par>
                          <p:cTn id="14" fill="hold" nodeType="afterGroup">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46083">
                                            <p:txEl>
                                              <p:pRg st="1" end="1"/>
                                            </p:txEl>
                                          </p:spTgt>
                                        </p:tgtEl>
                                        <p:attrNameLst>
                                          <p:attrName>style.visibility</p:attrName>
                                        </p:attrNameLst>
                                      </p:cBhvr>
                                      <p:to>
                                        <p:strVal val="visible"/>
                                      </p:to>
                                    </p:set>
                                    <p:animEffect transition="in" filter="wipe(up)">
                                      <p:cBhvr>
                                        <p:cTn id="17" dur="500"/>
                                        <p:tgtEl>
                                          <p:spTgt spid="46083">
                                            <p:txEl>
                                              <p:pRg st="1" end="1"/>
                                            </p:txEl>
                                          </p:spTgt>
                                        </p:tgtEl>
                                      </p:cBhvr>
                                    </p:animEffect>
                                  </p:childTnLst>
                                </p:cTn>
                              </p:par>
                            </p:childTnLst>
                          </p:cTn>
                        </p:par>
                        <p:par>
                          <p:cTn id="18" fill="hold" nodeType="afterGroup">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46083">
                                            <p:txEl>
                                              <p:pRg st="2" end="2"/>
                                            </p:txEl>
                                          </p:spTgt>
                                        </p:tgtEl>
                                        <p:attrNameLst>
                                          <p:attrName>style.visibility</p:attrName>
                                        </p:attrNameLst>
                                      </p:cBhvr>
                                      <p:to>
                                        <p:strVal val="visible"/>
                                      </p:to>
                                    </p:set>
                                    <p:animEffect transition="in" filter="wipe(up)">
                                      <p:cBhvr>
                                        <p:cTn id="21" dur="500"/>
                                        <p:tgtEl>
                                          <p:spTgt spid="46083">
                                            <p:txEl>
                                              <p:pRg st="2" end="2"/>
                                            </p:txEl>
                                          </p:spTgt>
                                        </p:tgtEl>
                                      </p:cBhvr>
                                    </p:animEffect>
                                  </p:childTnLst>
                                </p:cTn>
                              </p:par>
                            </p:childTnLst>
                          </p:cTn>
                        </p:par>
                        <p:par>
                          <p:cTn id="22" fill="hold" nodeType="afterGroup">
                            <p:stCondLst>
                              <p:cond delay="2000"/>
                            </p:stCondLst>
                            <p:childTnLst>
                              <p:par>
                                <p:cTn id="23" presetID="53" presetClass="entr" presetSubtype="16"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3D3F75E0-BFA1-1748-A224-BBC17447044C}"/>
              </a:ext>
            </a:extLst>
          </p:cNvPr>
          <p:cNvSpPr>
            <a:spLocks noGrp="1"/>
          </p:cNvSpPr>
          <p:nvPr>
            <p:ph type="title"/>
          </p:nvPr>
        </p:nvSpPr>
        <p:spPr>
          <a:xfrm>
            <a:off x="539750" y="87312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访问许可与访问模式</a:t>
            </a:r>
          </a:p>
        </p:txBody>
      </p:sp>
      <p:sp>
        <p:nvSpPr>
          <p:cNvPr id="5" name="内容占位符 2">
            <a:extLst>
              <a:ext uri="{FF2B5EF4-FFF2-40B4-BE49-F238E27FC236}">
                <a16:creationId xmlns:a16="http://schemas.microsoft.com/office/drawing/2014/main" id="{1A49ACB9-0977-EF44-8ACD-DFE8DBEAA022}"/>
              </a:ext>
            </a:extLst>
          </p:cNvPr>
          <p:cNvSpPr>
            <a:spLocks noGrp="1"/>
          </p:cNvSpPr>
          <p:nvPr>
            <p:ph idx="1"/>
          </p:nvPr>
        </p:nvSpPr>
        <p:spPr>
          <a:xfrm>
            <a:off x="539750" y="1665288"/>
            <a:ext cx="8231188" cy="1943100"/>
          </a:xfrm>
        </p:spPr>
        <p:txBody>
          <a:bodyPr/>
          <a:lstStyle/>
          <a:p>
            <a:pPr>
              <a:defRPr/>
            </a:pPr>
            <a:r>
              <a:rPr lang="zh-CN" altLang="en-US" b="1">
                <a:solidFill>
                  <a:srgbClr val="FF0000"/>
                </a:solidFill>
                <a:effectLst>
                  <a:outerShdw blurRad="38100" dist="38100" dir="2700000" algn="tl">
                    <a:srgbClr val="C0C0C0"/>
                  </a:outerShdw>
                </a:effectLst>
              </a:rPr>
              <a:t>访问许可</a:t>
            </a:r>
            <a:endParaRPr lang="en-US" altLang="zh-CN" b="1">
              <a:solidFill>
                <a:srgbClr val="FF0000"/>
              </a:solidFill>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描述主体对客体所具有的控制权</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定义了改变访问模式的能力或向其它主体传送这种能力的能力</a:t>
            </a:r>
            <a:endParaRPr lang="en-US" altLang="zh-CN" b="1">
              <a:effectLst>
                <a:outerShdw blurRad="38100" dist="38100" dir="2700000" algn="tl">
                  <a:srgbClr val="C0C0C0"/>
                </a:outerShdw>
              </a:effectLst>
            </a:endParaRPr>
          </a:p>
          <a:p>
            <a:pPr lvl="1">
              <a:buFont typeface="Wingdings" pitchFamily="2" charset="2"/>
              <a:buNone/>
              <a:defRPr/>
            </a:pPr>
            <a:endParaRPr lang="en-US" altLang="zh-CN" b="1">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sp>
        <p:nvSpPr>
          <p:cNvPr id="2" name="矩形 1">
            <a:extLst>
              <a:ext uri="{FF2B5EF4-FFF2-40B4-BE49-F238E27FC236}">
                <a16:creationId xmlns:a16="http://schemas.microsoft.com/office/drawing/2014/main" id="{F1121FF8-E662-D546-B5BD-C281371F2037}"/>
              </a:ext>
            </a:extLst>
          </p:cNvPr>
          <p:cNvSpPr/>
          <p:nvPr/>
        </p:nvSpPr>
        <p:spPr>
          <a:xfrm>
            <a:off x="792163" y="3619500"/>
            <a:ext cx="7488237" cy="188277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访问模式</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3D8DC4"/>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描述主体对客体所具有的访问权</a:t>
            </a:r>
            <a:endPar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3D8DC4"/>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指明主体对客体可进行何种形式的特定访问操作：读</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写</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运行</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03F073E0-319B-9E40-A0D6-8600F4A03643}"/>
              </a:ext>
            </a:extLst>
          </p:cNvPr>
          <p:cNvSpPr>
            <a:spLocks noGrp="1"/>
          </p:cNvSpPr>
          <p:nvPr>
            <p:ph type="title"/>
          </p:nvPr>
        </p:nvSpPr>
        <p:spPr>
          <a:xfrm>
            <a:off x="354013" y="733425"/>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访问许可的类型</a:t>
            </a:r>
          </a:p>
        </p:txBody>
      </p:sp>
      <p:sp>
        <p:nvSpPr>
          <p:cNvPr id="50179" name="内容占位符 2">
            <a:extLst>
              <a:ext uri="{FF2B5EF4-FFF2-40B4-BE49-F238E27FC236}">
                <a16:creationId xmlns:a16="http://schemas.microsoft.com/office/drawing/2014/main" id="{5568DE93-597A-114C-AD21-E301A02EB27D}"/>
              </a:ext>
            </a:extLst>
          </p:cNvPr>
          <p:cNvSpPr>
            <a:spLocks noGrp="1"/>
          </p:cNvSpPr>
          <p:nvPr>
            <p:ph idx="1"/>
          </p:nvPr>
        </p:nvSpPr>
        <p:spPr>
          <a:xfrm>
            <a:off x="354013" y="1341438"/>
            <a:ext cx="5722937" cy="647700"/>
          </a:xfrm>
        </p:spPr>
        <p:txBody>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等级型（</a:t>
            </a:r>
            <a:r>
              <a:rPr lang="en-US" altLang="zh-CN" b="1">
                <a:solidFill>
                  <a:srgbClr val="FF0000"/>
                </a:solidFill>
                <a:effectLst>
                  <a:outerShdw blurRad="38100" dist="38100" dir="2700000" algn="tl">
                    <a:srgbClr val="C0C0C0"/>
                  </a:outerShdw>
                </a:effectLst>
                <a:latin typeface="Times New Roman" panose="02020603050405020304" pitchFamily="18" charset="0"/>
              </a:rPr>
              <a:t>Hierarchical</a:t>
            </a:r>
            <a:r>
              <a:rPr lang="zh-CN" altLang="en-US" b="1">
                <a:solidFill>
                  <a:srgbClr val="FF0000"/>
                </a:solidFill>
                <a:effectLst>
                  <a:outerShdw blurRad="38100" dist="38100" dir="2700000" algn="tl">
                    <a:srgbClr val="C0C0C0"/>
                  </a:outerShdw>
                </a:effectLst>
                <a:latin typeface="Times New Roman" panose="02020603050405020304" pitchFamily="18" charset="0"/>
              </a:rPr>
              <a:t>）</a:t>
            </a:r>
            <a:endParaRPr lang="en-US" altLang="zh-CN" b="1">
              <a:solidFill>
                <a:srgbClr val="FF0000"/>
              </a:solidFill>
              <a:effectLst>
                <a:outerShdw blurRad="38100" dist="38100" dir="2700000" algn="tl">
                  <a:srgbClr val="C0C0C0"/>
                </a:outerShdw>
              </a:effectLst>
              <a:latin typeface="Times New Roman" panose="02020603050405020304" pitchFamily="18" charset="0"/>
            </a:endParaRPr>
          </a:p>
          <a:p>
            <a:pPr>
              <a:buFont typeface="Wingdings" pitchFamily="2" charset="2"/>
              <a:buNone/>
              <a:defRPr/>
            </a:pPr>
            <a:endParaRPr lang="zh-CN" altLang="en-US" b="1">
              <a:effectLst>
                <a:outerShdw blurRad="38100" dist="38100" dir="2700000" algn="tl">
                  <a:srgbClr val="C0C0C0"/>
                </a:outerShdw>
              </a:effectLst>
              <a:latin typeface="Times New Roman" panose="02020603050405020304" pitchFamily="18" charset="0"/>
            </a:endParaRPr>
          </a:p>
        </p:txBody>
      </p:sp>
      <p:pic>
        <p:nvPicPr>
          <p:cNvPr id="50180" name="Picture 2">
            <a:extLst>
              <a:ext uri="{FF2B5EF4-FFF2-40B4-BE49-F238E27FC236}">
                <a16:creationId xmlns:a16="http://schemas.microsoft.com/office/drawing/2014/main" id="{72E2AC89-5211-A04C-B191-3D6C983C8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923" y="1797894"/>
            <a:ext cx="8137525" cy="19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2762F026-2EC4-7541-B1B1-2D42BF028A3B}"/>
              </a:ext>
            </a:extLst>
          </p:cNvPr>
          <p:cNvSpPr/>
          <p:nvPr/>
        </p:nvSpPr>
        <p:spPr>
          <a:xfrm>
            <a:off x="358775" y="3860800"/>
            <a:ext cx="8174038" cy="163195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有主型（</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Owner</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eaLnBrk="1" hangingPunct="1">
              <a:defRPr/>
            </a:pPr>
            <a:r>
              <a:rPr lang="zh-CN" altLang="en-US" sz="2400" b="1">
                <a:latin typeface="黑体" panose="02010609060101010101" pitchFamily="49" charset="-122"/>
                <a:ea typeface="黑体" panose="02010609060101010101" pitchFamily="49" charset="-122"/>
              </a:rPr>
              <a:t>每个客体设置一个拥有者（一般是客体的生成者），拥有者是唯一有权修改客体访问控制表的主体，拥有者对其客体具有全部控制权</a:t>
            </a:r>
            <a:endParaRPr lang="en-US" altLang="zh-CN" sz="2400" b="1">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21F96EAD-2463-A048-92AE-BC7B1ED79D14}"/>
              </a:ext>
            </a:extLst>
          </p:cNvPr>
          <p:cNvSpPr/>
          <p:nvPr/>
        </p:nvSpPr>
        <p:spPr>
          <a:xfrm>
            <a:off x="377825" y="5589588"/>
            <a:ext cx="4278313" cy="522287"/>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自由型（</a:t>
            </a:r>
            <a:r>
              <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Laissez-faire</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endParaRPr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p:cTn id="7" dur="500" fill="hold"/>
                                        <p:tgtEl>
                                          <p:spTgt spid="501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01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0179">
                                            <p:txEl>
                                              <p:pRg st="0" end="0"/>
                                            </p:txEl>
                                          </p:spTgt>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50180"/>
                                        </p:tgtEl>
                                        <p:attrNameLst>
                                          <p:attrName>style.visibility</p:attrName>
                                        </p:attrNameLst>
                                      </p:cBhvr>
                                      <p:to>
                                        <p:strVal val="visible"/>
                                      </p:to>
                                    </p:set>
                                    <p:anim calcmode="lin" valueType="num">
                                      <p:cBhvr>
                                        <p:cTn id="13" dur="500" fill="hold"/>
                                        <p:tgtEl>
                                          <p:spTgt spid="50180"/>
                                        </p:tgtEl>
                                        <p:attrNameLst>
                                          <p:attrName>ppt_w</p:attrName>
                                        </p:attrNameLst>
                                      </p:cBhvr>
                                      <p:tavLst>
                                        <p:tav tm="0">
                                          <p:val>
                                            <p:fltVal val="0"/>
                                          </p:val>
                                        </p:tav>
                                        <p:tav tm="100000">
                                          <p:val>
                                            <p:strVal val="#ppt_w"/>
                                          </p:val>
                                        </p:tav>
                                      </p:tavLst>
                                    </p:anim>
                                    <p:anim calcmode="lin" valueType="num">
                                      <p:cBhvr>
                                        <p:cTn id="14" dur="500" fill="hold"/>
                                        <p:tgtEl>
                                          <p:spTgt spid="50180"/>
                                        </p:tgtEl>
                                        <p:attrNameLst>
                                          <p:attrName>ppt_h</p:attrName>
                                        </p:attrNameLst>
                                      </p:cBhvr>
                                      <p:tavLst>
                                        <p:tav tm="0">
                                          <p:val>
                                            <p:fltVal val="0"/>
                                          </p:val>
                                        </p:tav>
                                        <p:tav tm="100000">
                                          <p:val>
                                            <p:strVal val="#ppt_h"/>
                                          </p:val>
                                        </p:tav>
                                      </p:tavLst>
                                    </p:anim>
                                    <p:animEffect transition="in" filter="fade">
                                      <p:cBhvr>
                                        <p:cTn id="15" dur="500"/>
                                        <p:tgtEl>
                                          <p:spTgt spid="5018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par>
                          <p:cTn id="23" fill="hold" nodeType="afterGroup">
                            <p:stCondLst>
                              <p:cond delay="500"/>
                            </p:stCondLst>
                            <p:childTnLst>
                              <p:par>
                                <p:cTn id="24" presetID="53" presetClass="entr" presetSubtype="16" fill="hold" grpId="0" nodeType="after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6"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FABA55A2-5050-0B4A-9030-3103CEBB5F5F}"/>
              </a:ext>
            </a:extLst>
          </p:cNvPr>
          <p:cNvSpPr>
            <a:spLocks noGrp="1"/>
          </p:cNvSpPr>
          <p:nvPr>
            <p:ph type="title"/>
          </p:nvPr>
        </p:nvSpPr>
        <p:spPr>
          <a:xfrm>
            <a:off x="503238" y="8366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访问模式的类型</a:t>
            </a:r>
          </a:p>
        </p:txBody>
      </p:sp>
      <p:sp>
        <p:nvSpPr>
          <p:cNvPr id="5" name="内容占位符 2">
            <a:extLst>
              <a:ext uri="{FF2B5EF4-FFF2-40B4-BE49-F238E27FC236}">
                <a16:creationId xmlns:a16="http://schemas.microsoft.com/office/drawing/2014/main" id="{8FE1F367-309A-3D4D-B9A7-125299700DEE}"/>
              </a:ext>
            </a:extLst>
          </p:cNvPr>
          <p:cNvSpPr>
            <a:spLocks noGrp="1"/>
          </p:cNvSpPr>
          <p:nvPr>
            <p:ph idx="1"/>
          </p:nvPr>
        </p:nvSpPr>
        <p:spPr>
          <a:xfrm>
            <a:off x="792163" y="1592263"/>
            <a:ext cx="6107112" cy="2630487"/>
          </a:xfrm>
        </p:spPr>
        <p:txBody>
          <a:bodyPr/>
          <a:lstStyle/>
          <a:p>
            <a:pPr>
              <a:defRPr/>
            </a:pPr>
            <a:r>
              <a:rPr lang="zh-CN" altLang="en-US" b="1">
                <a:effectLst>
                  <a:outerShdw blurRad="38100" dist="38100" dir="2700000" algn="tl">
                    <a:srgbClr val="C0C0C0"/>
                  </a:outerShdw>
                </a:effectLst>
              </a:rPr>
              <a:t>对文件的访问模式设置如下：</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读</a:t>
            </a: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拷贝</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写</a:t>
            </a: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删除</a:t>
            </a: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更改</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运行</a:t>
            </a:r>
            <a:endParaRPr lang="en-US" altLang="zh-CN" b="1">
              <a:effectLst>
                <a:outerShdw blurRad="38100" dist="38100" dir="2700000" algn="tl">
                  <a:srgbClr val="C0C0C0"/>
                </a:outerShdw>
              </a:effectLst>
            </a:endParaRPr>
          </a:p>
          <a:p>
            <a:pPr lvl="1">
              <a:buClr>
                <a:srgbClr val="3D8DC4"/>
              </a:buClr>
              <a:defRPr/>
            </a:pPr>
            <a:r>
              <a:rPr lang="zh-CN" altLang="en-US" b="1">
                <a:effectLst>
                  <a:outerShdw blurRad="38100" dist="38100" dir="2700000" algn="tl">
                    <a:srgbClr val="C0C0C0"/>
                  </a:outerShdw>
                </a:effectLst>
              </a:rPr>
              <a:t>无效</a:t>
            </a:r>
            <a:endParaRPr lang="en-US" altLang="zh-CN" b="1">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grpSp>
        <p:nvGrpSpPr>
          <p:cNvPr id="12" name="组合 11">
            <a:extLst>
              <a:ext uri="{FF2B5EF4-FFF2-40B4-BE49-F238E27FC236}">
                <a16:creationId xmlns:a16="http://schemas.microsoft.com/office/drawing/2014/main" id="{8302CC07-D5FE-AE4C-8407-4E43A17F47EA}"/>
              </a:ext>
            </a:extLst>
          </p:cNvPr>
          <p:cNvGrpSpPr>
            <a:grpSpLocks/>
          </p:cNvGrpSpPr>
          <p:nvPr/>
        </p:nvGrpSpPr>
        <p:grpSpPr bwMode="auto">
          <a:xfrm>
            <a:off x="1042988" y="4797425"/>
            <a:ext cx="7194550" cy="1493838"/>
            <a:chOff x="1632392" y="4349104"/>
            <a:chExt cx="7193674" cy="1654300"/>
          </a:xfrm>
        </p:grpSpPr>
        <p:pic>
          <p:nvPicPr>
            <p:cNvPr id="65540" name="图片 6">
              <a:extLst>
                <a:ext uri="{FF2B5EF4-FFF2-40B4-BE49-F238E27FC236}">
                  <a16:creationId xmlns:a16="http://schemas.microsoft.com/office/drawing/2014/main" id="{E3A29783-8640-004F-9EF5-BA8418DA9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0172" y="4365104"/>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图片 7">
              <a:extLst>
                <a:ext uri="{FF2B5EF4-FFF2-40B4-BE49-F238E27FC236}">
                  <a16:creationId xmlns:a16="http://schemas.microsoft.com/office/drawing/2014/main" id="{7F9444E2-C9DA-6E4C-9C63-EF6E2D8507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2566" y="4349104"/>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图片 8">
              <a:extLst>
                <a:ext uri="{FF2B5EF4-FFF2-40B4-BE49-F238E27FC236}">
                  <a16:creationId xmlns:a16="http://schemas.microsoft.com/office/drawing/2014/main" id="{442AAA9A-0155-134A-BC46-8F49EB1177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8004" y="4349104"/>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图片 9">
              <a:extLst>
                <a:ext uri="{FF2B5EF4-FFF2-40B4-BE49-F238E27FC236}">
                  <a16:creationId xmlns:a16="http://schemas.microsoft.com/office/drawing/2014/main" id="{F2085631-9185-A541-8B78-67C4E47777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5170" y="4349104"/>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4" name="图片 10">
              <a:extLst>
                <a:ext uri="{FF2B5EF4-FFF2-40B4-BE49-F238E27FC236}">
                  <a16:creationId xmlns:a16="http://schemas.microsoft.com/office/drawing/2014/main" id="{633C3704-18E2-4649-8198-CAA71AD0BB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2392" y="4365104"/>
              <a:ext cx="13335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 calcmode="lin" valueType="num">
                                      <p:cBhvr additive="base">
                                        <p:cTn id="22"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 calcmode="lin" valueType="num">
                                      <p:cBhvr additive="base">
                                        <p:cTn id="27"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A80D4941-F9C5-F143-A2D5-A9F6B9C253EB}"/>
              </a:ext>
            </a:extLst>
          </p:cNvPr>
          <p:cNvSpPr>
            <a:spLocks noGrp="1"/>
          </p:cNvSpPr>
          <p:nvPr>
            <p:ph type="title"/>
          </p:nvPr>
        </p:nvSpPr>
        <p:spPr>
          <a:xfrm>
            <a:off x="395288" y="86995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访问控制矩阵</a:t>
            </a:r>
          </a:p>
        </p:txBody>
      </p:sp>
      <p:sp>
        <p:nvSpPr>
          <p:cNvPr id="54275" name="内容占位符 2">
            <a:extLst>
              <a:ext uri="{FF2B5EF4-FFF2-40B4-BE49-F238E27FC236}">
                <a16:creationId xmlns:a16="http://schemas.microsoft.com/office/drawing/2014/main" id="{2943B198-49E6-7649-8DEE-A7FB0E7F389A}"/>
              </a:ext>
            </a:extLst>
          </p:cNvPr>
          <p:cNvSpPr>
            <a:spLocks noGrp="1"/>
          </p:cNvSpPr>
          <p:nvPr>
            <p:ph idx="1"/>
          </p:nvPr>
        </p:nvSpPr>
        <p:spPr>
          <a:xfrm>
            <a:off x="792163" y="1612900"/>
            <a:ext cx="7978775" cy="2162175"/>
          </a:xfrm>
        </p:spPr>
        <p:txBody>
          <a:bodyPr/>
          <a:lstStyle/>
          <a:p>
            <a:pPr>
              <a:defRPr/>
            </a:pPr>
            <a:r>
              <a:rPr lang="zh-CN" altLang="en-US" b="1">
                <a:effectLst>
                  <a:outerShdw blurRad="38100" dist="38100" dir="2700000" algn="tl">
                    <a:srgbClr val="C0C0C0"/>
                  </a:outerShdw>
                </a:effectLst>
              </a:rPr>
              <a:t>行：主体（用户）</a:t>
            </a:r>
            <a:endParaRPr lang="en-US" altLang="zh-CN" b="1">
              <a:effectLst>
                <a:outerShdw blurRad="38100" dist="38100" dir="2700000" algn="tl">
                  <a:srgbClr val="C0C0C0"/>
                </a:outerShdw>
              </a:effectLst>
            </a:endParaRPr>
          </a:p>
          <a:p>
            <a:pPr>
              <a:defRPr/>
            </a:pPr>
            <a:r>
              <a:rPr lang="zh-CN" altLang="en-US" b="1">
                <a:effectLst>
                  <a:outerShdw blurRad="38100" dist="38100" dir="2700000" algn="tl">
                    <a:srgbClr val="C0C0C0"/>
                  </a:outerShdw>
                </a:effectLst>
              </a:rPr>
              <a:t>列：客体（文件）</a:t>
            </a:r>
            <a:endParaRPr lang="en-US" altLang="zh-CN" b="1">
              <a:effectLst>
                <a:outerShdw blurRad="38100" dist="38100" dir="2700000" algn="tl">
                  <a:srgbClr val="C0C0C0"/>
                </a:outerShdw>
              </a:effectLst>
            </a:endParaRPr>
          </a:p>
          <a:p>
            <a:pPr>
              <a:defRPr/>
            </a:pPr>
            <a:r>
              <a:rPr lang="zh-CN" altLang="en-US" b="1">
                <a:effectLst>
                  <a:outerShdw blurRad="38100" dist="38100" dir="2700000" algn="tl">
                    <a:srgbClr val="C0C0C0"/>
                  </a:outerShdw>
                </a:effectLst>
              </a:rPr>
              <a:t>矩阵元素：规定了相应用户对应于相应的文件被准予的访问许可、实施行为</a:t>
            </a:r>
            <a:endParaRPr lang="en-US" altLang="zh-CN" b="1">
              <a:effectLst>
                <a:outerShdw blurRad="38100" dist="38100" dir="2700000" algn="tl">
                  <a:srgbClr val="C0C0C0"/>
                </a:outerShdw>
              </a:effectLst>
            </a:endParaRPr>
          </a:p>
          <a:p>
            <a:pPr lvl="1">
              <a:buFont typeface="Wingdings" pitchFamily="2" charset="2"/>
              <a:buNone/>
              <a:defRPr/>
            </a:pPr>
            <a:endParaRPr lang="en-US" altLang="zh-CN"/>
          </a:p>
          <a:p>
            <a:pPr>
              <a:buFont typeface="Wingdings" pitchFamily="2" charset="2"/>
              <a:buNone/>
              <a:defRPr/>
            </a:pPr>
            <a:endParaRPr lang="zh-CN" altLang="en-US"/>
          </a:p>
        </p:txBody>
      </p:sp>
      <p:graphicFrame>
        <p:nvGraphicFramePr>
          <p:cNvPr id="4" name="表格 3">
            <a:extLst>
              <a:ext uri="{FF2B5EF4-FFF2-40B4-BE49-F238E27FC236}">
                <a16:creationId xmlns:a16="http://schemas.microsoft.com/office/drawing/2014/main" id="{07554954-10F3-C445-8231-B60207C08A55}"/>
              </a:ext>
            </a:extLst>
          </p:cNvPr>
          <p:cNvGraphicFramePr>
            <a:graphicFrameLocks noGrp="1"/>
          </p:cNvGraphicFramePr>
          <p:nvPr/>
        </p:nvGraphicFramePr>
        <p:xfrm>
          <a:off x="1042988" y="3790950"/>
          <a:ext cx="6629400" cy="2286000"/>
        </p:xfrm>
        <a:graphic>
          <a:graphicData uri="http://schemas.openxmlformats.org/drawingml/2006/table">
            <a:tbl>
              <a:tblPr firstRow="1" bandRow="1">
                <a:tableStyleId>{5C22544A-7EE6-4342-B048-85BDC9FD1C3A}</a:tableStyleId>
              </a:tblPr>
              <a:tblGrid>
                <a:gridCol w="16573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tblGrid>
              <a:tr h="457200">
                <a:tc>
                  <a:txBody>
                    <a:bodyPr/>
                    <a:lstStyle/>
                    <a:p>
                      <a:pPr algn="ct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zh-CN" altLang="en-US" b="1" dirty="0">
                          <a:latin typeface="Times New Roman" panose="02020603050405020304" pitchFamily="18" charset="0"/>
                          <a:ea typeface="+mn-ea"/>
                          <a:cs typeface="Times New Roman" panose="02020603050405020304" pitchFamily="18" charset="0"/>
                        </a:rPr>
                        <a:t>客体</a:t>
                      </a:r>
                      <a:r>
                        <a:rPr lang="en-US" altLang="zh-CN" b="1" dirty="0">
                          <a:latin typeface="Times New Roman" panose="02020603050405020304" pitchFamily="18" charset="0"/>
                          <a:ea typeface="+mn-ea"/>
                          <a:cs typeface="Times New Roman" panose="02020603050405020304" pitchFamily="18" charset="0"/>
                        </a:rPr>
                        <a:t>x</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zh-CN" altLang="en-US" b="1" dirty="0">
                          <a:latin typeface="Times New Roman" panose="02020603050405020304" pitchFamily="18" charset="0"/>
                          <a:ea typeface="+mn-ea"/>
                          <a:cs typeface="Times New Roman" panose="02020603050405020304" pitchFamily="18" charset="0"/>
                        </a:rPr>
                        <a:t>客体</a:t>
                      </a:r>
                      <a:r>
                        <a:rPr lang="en-US" altLang="zh-CN" b="1" dirty="0">
                          <a:latin typeface="Times New Roman" panose="02020603050405020304" pitchFamily="18" charset="0"/>
                          <a:ea typeface="+mn-ea"/>
                          <a:cs typeface="Times New Roman" panose="02020603050405020304" pitchFamily="18" charset="0"/>
                        </a:rPr>
                        <a:t>y</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zh-CN" altLang="en-US" b="1" dirty="0">
                          <a:latin typeface="Times New Roman" panose="02020603050405020304" pitchFamily="18" charset="0"/>
                          <a:ea typeface="+mn-ea"/>
                          <a:cs typeface="Times New Roman" panose="02020603050405020304" pitchFamily="18" charset="0"/>
                        </a:rPr>
                        <a:t>客体</a:t>
                      </a:r>
                      <a:r>
                        <a:rPr lang="en-US" altLang="zh-CN" b="1" dirty="0">
                          <a:latin typeface="Times New Roman" panose="02020603050405020304" pitchFamily="18" charset="0"/>
                          <a:ea typeface="+mn-ea"/>
                          <a:cs typeface="Times New Roman" panose="02020603050405020304" pitchFamily="18" charset="0"/>
                        </a:rPr>
                        <a:t>z</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extLst>
                  <a:ext uri="{0D108BD9-81ED-4DB2-BD59-A6C34878D82A}">
                    <a16:rowId xmlns:a16="http://schemas.microsoft.com/office/drawing/2014/main" val="10000"/>
                  </a:ext>
                </a:extLst>
              </a:tr>
              <a:tr h="457200">
                <a:tc>
                  <a:txBody>
                    <a:bodyPr/>
                    <a:lstStyle/>
                    <a:p>
                      <a:pPr algn="ctr"/>
                      <a:r>
                        <a:rPr lang="zh-CN" altLang="en-US" b="1" dirty="0">
                          <a:latin typeface="Times New Roman" panose="02020603050405020304" pitchFamily="18" charset="0"/>
                          <a:ea typeface="+mn-ea"/>
                          <a:cs typeface="Times New Roman" panose="02020603050405020304" pitchFamily="18" charset="0"/>
                        </a:rPr>
                        <a:t>主体</a:t>
                      </a:r>
                      <a:r>
                        <a:rPr lang="en-US" altLang="zh-CN" b="1" dirty="0">
                          <a:latin typeface="Times New Roman" panose="02020603050405020304" pitchFamily="18" charset="0"/>
                          <a:ea typeface="+mn-ea"/>
                          <a:cs typeface="Times New Roman" panose="02020603050405020304" pitchFamily="18" charset="0"/>
                        </a:rPr>
                        <a:t>a</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en-US" altLang="zh-CN" b="1" dirty="0">
                          <a:latin typeface="Times New Roman" panose="02020603050405020304" pitchFamily="18" charset="0"/>
                          <a:ea typeface="+mn-ea"/>
                          <a:cs typeface="Times New Roman" panose="02020603050405020304" pitchFamily="18" charset="0"/>
                        </a:rPr>
                        <a:t>R</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W</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Own</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b="1" baseline="0" dirty="0">
                          <a:latin typeface="Times New Roman" panose="02020603050405020304" pitchFamily="18" charset="0"/>
                          <a:ea typeface="+mn-ea"/>
                          <a:cs typeface="Times New Roman" panose="02020603050405020304" pitchFamily="18" charset="0"/>
                        </a:rPr>
                        <a:t>R</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W</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extLst>
                  <a:ext uri="{0D108BD9-81ED-4DB2-BD59-A6C34878D82A}">
                    <a16:rowId xmlns:a16="http://schemas.microsoft.com/office/drawing/2014/main" val="10001"/>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ea typeface="+mn-ea"/>
                          <a:cs typeface="Times New Roman" panose="02020603050405020304" pitchFamily="18" charset="0"/>
                        </a:rPr>
                        <a:t>主体</a:t>
                      </a:r>
                      <a:r>
                        <a:rPr lang="en-US" altLang="zh-CN" b="1" dirty="0">
                          <a:latin typeface="Times New Roman" panose="02020603050405020304" pitchFamily="18" charset="0"/>
                          <a:ea typeface="+mn-ea"/>
                          <a:cs typeface="Times New Roman" panose="02020603050405020304" pitchFamily="18" charset="0"/>
                        </a:rPr>
                        <a:t>b</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en-US" altLang="zh-CN" b="1" dirty="0">
                          <a:latin typeface="Times New Roman" panose="02020603050405020304" pitchFamily="18" charset="0"/>
                          <a:ea typeface="+mn-ea"/>
                          <a:cs typeface="Times New Roman" panose="02020603050405020304" pitchFamily="18" charset="0"/>
                        </a:rPr>
                        <a:t>R</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b="1" dirty="0">
                          <a:latin typeface="Times New Roman" panose="02020603050405020304" pitchFamily="18" charset="0"/>
                          <a:ea typeface="+mn-ea"/>
                          <a:cs typeface="Times New Roman" panose="02020603050405020304" pitchFamily="18" charset="0"/>
                        </a:rPr>
                        <a:t>R</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W</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Own</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extLst>
                  <a:ext uri="{0D108BD9-81ED-4DB2-BD59-A6C34878D82A}">
                    <a16:rowId xmlns:a16="http://schemas.microsoft.com/office/drawing/2014/main" val="10002"/>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ea typeface="+mn-ea"/>
                          <a:cs typeface="Times New Roman" panose="02020603050405020304" pitchFamily="18" charset="0"/>
                        </a:rPr>
                        <a:t>主体</a:t>
                      </a:r>
                      <a:r>
                        <a:rPr lang="en-US" altLang="zh-CN" b="1" dirty="0">
                          <a:latin typeface="Times New Roman" panose="02020603050405020304" pitchFamily="18" charset="0"/>
                          <a:ea typeface="+mn-ea"/>
                          <a:cs typeface="Times New Roman" panose="02020603050405020304" pitchFamily="18" charset="0"/>
                        </a:rPr>
                        <a:t>c</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endParaRPr lang="zh-CN" altLang="en-US" b="1">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b="1" dirty="0">
                          <a:latin typeface="Times New Roman" panose="02020603050405020304" pitchFamily="18" charset="0"/>
                          <a:ea typeface="+mn-ea"/>
                          <a:cs typeface="Times New Roman" panose="02020603050405020304" pitchFamily="18" charset="0"/>
                        </a:rPr>
                        <a:t>R</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extLst>
                  <a:ext uri="{0D108BD9-81ED-4DB2-BD59-A6C34878D82A}">
                    <a16:rowId xmlns:a16="http://schemas.microsoft.com/office/drawing/2014/main" val="10003"/>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ea typeface="+mn-ea"/>
                          <a:cs typeface="Times New Roman" panose="02020603050405020304" pitchFamily="18" charset="0"/>
                        </a:rPr>
                        <a:t>主体</a:t>
                      </a:r>
                      <a:r>
                        <a:rPr lang="en-US" altLang="zh-CN" b="1" dirty="0">
                          <a:latin typeface="Times New Roman" panose="02020603050405020304" pitchFamily="18" charset="0"/>
                          <a:ea typeface="+mn-ea"/>
                          <a:cs typeface="Times New Roman" panose="02020603050405020304" pitchFamily="18" charset="0"/>
                        </a:rPr>
                        <a:t>d</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b="1" dirty="0">
                          <a:latin typeface="Times New Roman" panose="02020603050405020304" pitchFamily="18" charset="0"/>
                          <a:ea typeface="+mn-ea"/>
                          <a:cs typeface="Times New Roman" panose="02020603050405020304" pitchFamily="18" charset="0"/>
                        </a:rPr>
                        <a:t>R</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W</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r>
                        <a:rPr lang="en-US" altLang="zh-CN" b="1" dirty="0">
                          <a:latin typeface="Times New Roman" panose="02020603050405020304" pitchFamily="18" charset="0"/>
                          <a:ea typeface="+mn-ea"/>
                          <a:cs typeface="Times New Roman" panose="02020603050405020304" pitchFamily="18" charset="0"/>
                        </a:rPr>
                        <a:t>R</a:t>
                      </a:r>
                      <a:r>
                        <a:rPr lang="zh-CN" altLang="en-US" b="1" baseline="0" dirty="0">
                          <a:latin typeface="Times New Roman" panose="02020603050405020304" pitchFamily="18" charset="0"/>
                          <a:ea typeface="+mn-ea"/>
                          <a:cs typeface="Times New Roman" panose="02020603050405020304" pitchFamily="18" charset="0"/>
                        </a:rPr>
                        <a:t>、</a:t>
                      </a:r>
                      <a:r>
                        <a:rPr lang="en-US" altLang="zh-CN" b="1" baseline="0" dirty="0">
                          <a:latin typeface="Times New Roman" panose="02020603050405020304" pitchFamily="18" charset="0"/>
                          <a:ea typeface="+mn-ea"/>
                          <a:cs typeface="Times New Roman" panose="02020603050405020304" pitchFamily="18" charset="0"/>
                        </a:rPr>
                        <a:t>W</a:t>
                      </a: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tc>
                  <a:txBody>
                    <a:bodyPr/>
                    <a:lstStyle/>
                    <a:p>
                      <a:pPr algn="ctr"/>
                      <a:endParaRPr lang="zh-CN" altLang="en-US" b="1" dirty="0">
                        <a:latin typeface="Times New Roman" panose="02020603050405020304" pitchFamily="18" charset="0"/>
                        <a:ea typeface="+mn-ea"/>
                        <a:cs typeface="Times New Roman" panose="02020603050405020304" pitchFamily="18" charset="0"/>
                      </a:endParaRPr>
                    </a:p>
                  </a:txBody>
                  <a:tcPr>
                    <a:solidFill>
                      <a:schemeClr val="tx2">
                        <a:lumMod val="40000"/>
                        <a:lumOff val="60000"/>
                      </a:schemeClr>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 calcmode="lin" valueType="num">
                                      <p:cBhvr additive="base">
                                        <p:cTn id="12" dur="500" fill="hold"/>
                                        <p:tgtEl>
                                          <p:spTgt spid="5427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427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 calcmode="lin" valueType="num">
                                      <p:cBhvr additive="base">
                                        <p:cTn id="17" dur="500" fill="hold"/>
                                        <p:tgtEl>
                                          <p:spTgt spid="5427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427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53" presetClass="entr" presetSubtype="16"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522EBE0C-FD13-7942-859F-E574BFF32797}"/>
              </a:ext>
            </a:extLst>
          </p:cNvPr>
          <p:cNvSpPr>
            <a:spLocks noGrp="1"/>
          </p:cNvSpPr>
          <p:nvPr>
            <p:ph type="title"/>
          </p:nvPr>
        </p:nvSpPr>
        <p:spPr>
          <a:xfrm>
            <a:off x="503238" y="88900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p>
        </p:txBody>
      </p:sp>
      <p:sp>
        <p:nvSpPr>
          <p:cNvPr id="56323" name="内容占位符 2">
            <a:extLst>
              <a:ext uri="{FF2B5EF4-FFF2-40B4-BE49-F238E27FC236}">
                <a16:creationId xmlns:a16="http://schemas.microsoft.com/office/drawing/2014/main" id="{4F676F4E-CE4A-7D40-A59A-5A422E230E12}"/>
              </a:ext>
            </a:extLst>
          </p:cNvPr>
          <p:cNvSpPr>
            <a:spLocks noGrp="1"/>
          </p:cNvSpPr>
          <p:nvPr>
            <p:ph idx="1"/>
          </p:nvPr>
        </p:nvSpPr>
        <p:spPr>
          <a:xfrm>
            <a:off x="690563" y="1743075"/>
            <a:ext cx="8220075" cy="1512888"/>
          </a:xfrm>
        </p:spPr>
        <p:txBody>
          <a:bodyPr/>
          <a:lstStyle/>
          <a:p>
            <a:pPr>
              <a:defRPr/>
            </a:pPr>
            <a:r>
              <a:rPr lang="zh-CN" altLang="en-US" b="1">
                <a:effectLst>
                  <a:outerShdw blurRad="38100" dist="38100" dir="2700000" algn="tl">
                    <a:srgbClr val="C0C0C0"/>
                  </a:outerShdw>
                </a:effectLst>
              </a:rPr>
              <a:t>访问控制矩阵按</a:t>
            </a:r>
            <a:r>
              <a:rPr lang="zh-CN" altLang="en-US" sz="3600" b="1">
                <a:solidFill>
                  <a:srgbClr val="FF0000"/>
                </a:solidFill>
                <a:effectLst>
                  <a:outerShdw blurRad="38100" dist="38100" dir="2700000" algn="tl">
                    <a:srgbClr val="C0C0C0"/>
                  </a:outerShdw>
                </a:effectLst>
              </a:rPr>
              <a:t>列</a:t>
            </a:r>
            <a:r>
              <a:rPr lang="zh-CN" altLang="en-US" b="1">
                <a:effectLst>
                  <a:outerShdw blurRad="38100" dist="38100" dir="2700000" algn="tl">
                    <a:srgbClr val="C0C0C0"/>
                  </a:outerShdw>
                </a:effectLst>
              </a:rPr>
              <a:t>：访问控制表</a:t>
            </a:r>
            <a:endParaRPr lang="en-US" altLang="zh-CN" b="1">
              <a:effectLst>
                <a:outerShdw blurRad="38100" dist="38100" dir="2700000" algn="tl">
                  <a:srgbClr val="C0C0C0"/>
                </a:outerShdw>
              </a:effectLst>
            </a:endParaRPr>
          </a:p>
          <a:p>
            <a:pPr>
              <a:defRPr/>
            </a:pPr>
            <a:r>
              <a:rPr lang="zh-CN" altLang="en-US" b="1">
                <a:effectLst>
                  <a:outerShdw blurRad="38100" dist="38100" dir="2700000" algn="tl">
                    <a:srgbClr val="C0C0C0"/>
                  </a:outerShdw>
                </a:effectLst>
              </a:rPr>
              <a:t>访问控制表：每个客体可以被访问的主体及权限</a:t>
            </a:r>
            <a:endParaRPr lang="en-US" altLang="zh-CN" b="1">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grpSp>
        <p:nvGrpSpPr>
          <p:cNvPr id="9" name="组合 8">
            <a:extLst>
              <a:ext uri="{FF2B5EF4-FFF2-40B4-BE49-F238E27FC236}">
                <a16:creationId xmlns:a16="http://schemas.microsoft.com/office/drawing/2014/main" id="{45E3E71E-5968-1B45-ACF8-17BE4DC08F86}"/>
              </a:ext>
            </a:extLst>
          </p:cNvPr>
          <p:cNvGrpSpPr>
            <a:grpSpLocks/>
          </p:cNvGrpSpPr>
          <p:nvPr/>
        </p:nvGrpSpPr>
        <p:grpSpPr bwMode="auto">
          <a:xfrm>
            <a:off x="1555750" y="3536950"/>
            <a:ext cx="5270500" cy="1954213"/>
            <a:chOff x="2182924" y="3707184"/>
            <a:chExt cx="4495800" cy="1787758"/>
          </a:xfrm>
        </p:grpSpPr>
        <p:sp>
          <p:nvSpPr>
            <p:cNvPr id="6" name="TextBox 5">
              <a:extLst>
                <a:ext uri="{FF2B5EF4-FFF2-40B4-BE49-F238E27FC236}">
                  <a16:creationId xmlns:a16="http://schemas.microsoft.com/office/drawing/2014/main" id="{E7036C11-24B6-B642-B015-92CF54252CA8}"/>
                </a:ext>
              </a:extLst>
            </p:cNvPr>
            <p:cNvSpPr txBox="1"/>
            <p:nvPr/>
          </p:nvSpPr>
          <p:spPr>
            <a:xfrm>
              <a:off x="2182924" y="3707184"/>
              <a:ext cx="991243" cy="338382"/>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客体</a:t>
              </a:r>
              <a:r>
                <a:rPr lang="en-US" altLang="zh-CN" b="1" dirty="0">
                  <a:solidFill>
                    <a:schemeClr val="accent6">
                      <a:lumMod val="75000"/>
                    </a:schemeClr>
                  </a:solidFill>
                  <a:effectLst>
                    <a:outerShdw blurRad="38100" dist="38100" dir="2700000" algn="tl">
                      <a:srgbClr val="000000">
                        <a:alpha val="43137"/>
                      </a:srgbClr>
                    </a:outerShdw>
                  </a:effectLst>
                </a:rPr>
                <a:t>y</a:t>
              </a:r>
            </a:p>
          </p:txBody>
        </p:sp>
        <p:sp>
          <p:nvSpPr>
            <p:cNvPr id="7" name="TextBox 6">
              <a:extLst>
                <a:ext uri="{FF2B5EF4-FFF2-40B4-BE49-F238E27FC236}">
                  <a16:creationId xmlns:a16="http://schemas.microsoft.com/office/drawing/2014/main" id="{71955931-022F-004D-A39D-611A840479DD}"/>
                </a:ext>
              </a:extLst>
            </p:cNvPr>
            <p:cNvSpPr txBox="1"/>
            <p:nvPr/>
          </p:nvSpPr>
          <p:spPr>
            <a:xfrm>
              <a:off x="3935203" y="3737682"/>
              <a:ext cx="991243" cy="338381"/>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主体</a:t>
              </a:r>
              <a:r>
                <a:rPr lang="en-US" altLang="zh-CN" b="1" dirty="0">
                  <a:solidFill>
                    <a:schemeClr val="accent6">
                      <a:lumMod val="75000"/>
                    </a:schemeClr>
                  </a:solidFill>
                  <a:effectLst>
                    <a:outerShdw blurRad="38100" dist="38100" dir="2700000" algn="tl">
                      <a:srgbClr val="000000">
                        <a:alpha val="43137"/>
                      </a:srgbClr>
                    </a:outerShdw>
                  </a:effectLst>
                </a:rPr>
                <a:t>b</a:t>
              </a:r>
            </a:p>
          </p:txBody>
        </p:sp>
        <p:sp>
          <p:nvSpPr>
            <p:cNvPr id="8" name="TextBox 7">
              <a:extLst>
                <a:ext uri="{FF2B5EF4-FFF2-40B4-BE49-F238E27FC236}">
                  <a16:creationId xmlns:a16="http://schemas.microsoft.com/office/drawing/2014/main" id="{78CDE427-60F3-DA4D-9909-C24126C00796}"/>
                </a:ext>
              </a:extLst>
            </p:cNvPr>
            <p:cNvSpPr txBox="1"/>
            <p:nvPr/>
          </p:nvSpPr>
          <p:spPr>
            <a:xfrm>
              <a:off x="5687481" y="3737682"/>
              <a:ext cx="991243" cy="338381"/>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主体</a:t>
              </a:r>
              <a:r>
                <a:rPr lang="en-US" altLang="zh-CN" b="1" dirty="0">
                  <a:solidFill>
                    <a:schemeClr val="accent6">
                      <a:lumMod val="75000"/>
                    </a:schemeClr>
                  </a:solidFill>
                  <a:effectLst>
                    <a:outerShdw blurRad="38100" dist="38100" dir="2700000" algn="tl">
                      <a:srgbClr val="000000">
                        <a:alpha val="43137"/>
                      </a:srgbClr>
                    </a:outerShdw>
                  </a:effectLst>
                </a:rPr>
                <a:t>d</a:t>
              </a:r>
            </a:p>
          </p:txBody>
        </p:sp>
        <p:sp>
          <p:nvSpPr>
            <p:cNvPr id="56327" name="TextBox 8">
              <a:extLst>
                <a:ext uri="{FF2B5EF4-FFF2-40B4-BE49-F238E27FC236}">
                  <a16:creationId xmlns:a16="http://schemas.microsoft.com/office/drawing/2014/main" id="{070D7727-8DEE-0943-9F71-BE15D1E976DC}"/>
                </a:ext>
              </a:extLst>
            </p:cNvPr>
            <p:cNvSpPr txBox="1">
              <a:spLocks noChangeArrowheads="1"/>
            </p:cNvSpPr>
            <p:nvPr/>
          </p:nvSpPr>
          <p:spPr bwMode="auto">
            <a:xfrm>
              <a:off x="3935203" y="4138512"/>
              <a:ext cx="991243" cy="843775"/>
            </a:xfrm>
            <a:prstGeom prst="rect">
              <a:avLst/>
            </a:prstGeom>
            <a:noFill/>
            <a:ln w="38100">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R</a:t>
              </a:r>
            </a:p>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W</a:t>
              </a:r>
            </a:p>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Own</a:t>
              </a:r>
            </a:p>
          </p:txBody>
        </p:sp>
        <p:sp>
          <p:nvSpPr>
            <p:cNvPr id="10" name="TextBox 9">
              <a:extLst>
                <a:ext uri="{FF2B5EF4-FFF2-40B4-BE49-F238E27FC236}">
                  <a16:creationId xmlns:a16="http://schemas.microsoft.com/office/drawing/2014/main" id="{C65FD2CD-32FD-9E46-9729-973561E4B030}"/>
                </a:ext>
              </a:extLst>
            </p:cNvPr>
            <p:cNvSpPr txBox="1"/>
            <p:nvPr/>
          </p:nvSpPr>
          <p:spPr>
            <a:xfrm>
              <a:off x="3935203" y="5156560"/>
              <a:ext cx="991243" cy="338382"/>
            </a:xfrm>
            <a:prstGeom prst="rect">
              <a:avLst/>
            </a:prstGeom>
            <a:noFill/>
            <a:ln w="38100">
              <a:solidFill>
                <a:schemeClr val="tx1"/>
              </a:solidFill>
            </a:ln>
          </p:spPr>
          <p:txBody>
            <a:bodyPr>
              <a:spAutoFit/>
            </a:bodyPr>
            <a:lstStyle/>
            <a:p>
              <a:pPr algn="ctr" eaLnBrk="1" hangingPunct="1">
                <a:defRPr/>
              </a:pPr>
              <a:endParaRPr lang="en-US" altLang="zh-CN" b="1" dirty="0">
                <a:solidFill>
                  <a:schemeClr val="accent6">
                    <a:lumMod val="75000"/>
                  </a:schemeClr>
                </a:solidFill>
                <a:effectLst>
                  <a:outerShdw blurRad="38100" dist="38100" dir="2700000" algn="tl">
                    <a:srgbClr val="000000">
                      <a:alpha val="43137"/>
                    </a:srgbClr>
                  </a:outerShdw>
                </a:effectLst>
              </a:endParaRPr>
            </a:p>
          </p:txBody>
        </p:sp>
        <p:sp>
          <p:nvSpPr>
            <p:cNvPr id="56329" name="TextBox 10">
              <a:extLst>
                <a:ext uri="{FF2B5EF4-FFF2-40B4-BE49-F238E27FC236}">
                  <a16:creationId xmlns:a16="http://schemas.microsoft.com/office/drawing/2014/main" id="{2C81033B-B20E-2C43-A221-C86298157959}"/>
                </a:ext>
              </a:extLst>
            </p:cNvPr>
            <p:cNvSpPr txBox="1">
              <a:spLocks noChangeArrowheads="1"/>
            </p:cNvSpPr>
            <p:nvPr/>
          </p:nvSpPr>
          <p:spPr bwMode="auto">
            <a:xfrm>
              <a:off x="5687481" y="4138512"/>
              <a:ext cx="991243" cy="843775"/>
            </a:xfrm>
            <a:prstGeom prst="rect">
              <a:avLst/>
            </a:prstGeom>
            <a:noFill/>
            <a:ln w="38100">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R</a:t>
              </a:r>
            </a:p>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W</a:t>
              </a:r>
            </a:p>
            <a:p>
              <a:pPr algn="ctr" eaLnBrk="1" hangingPunct="1">
                <a:spcBef>
                  <a:spcPct val="0"/>
                </a:spcBef>
                <a:buClrTx/>
                <a:buFontTx/>
                <a:buNone/>
                <a:defRPr/>
              </a:pPr>
              <a:endPar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2" name="TextBox 11">
              <a:extLst>
                <a:ext uri="{FF2B5EF4-FFF2-40B4-BE49-F238E27FC236}">
                  <a16:creationId xmlns:a16="http://schemas.microsoft.com/office/drawing/2014/main" id="{3BBF3C3C-63DB-DA4E-8558-E6860B81C1EF}"/>
                </a:ext>
              </a:extLst>
            </p:cNvPr>
            <p:cNvSpPr txBox="1"/>
            <p:nvPr/>
          </p:nvSpPr>
          <p:spPr>
            <a:xfrm>
              <a:off x="5687481" y="5156560"/>
              <a:ext cx="991243" cy="338382"/>
            </a:xfrm>
            <a:prstGeom prst="rect">
              <a:avLst/>
            </a:prstGeom>
            <a:noFill/>
            <a:ln w="38100">
              <a:solidFill>
                <a:schemeClr val="tx1"/>
              </a:solidFill>
            </a:ln>
          </p:spPr>
          <p:txBody>
            <a:bodyPr>
              <a:spAutoFit/>
            </a:bodyPr>
            <a:lstStyle/>
            <a:p>
              <a:pPr algn="ctr" eaLnBrk="1" hangingPunct="1">
                <a:defRPr/>
              </a:pPr>
              <a:endParaRPr lang="en-US" altLang="zh-CN" b="1" dirty="0">
                <a:solidFill>
                  <a:schemeClr val="accent6">
                    <a:lumMod val="75000"/>
                  </a:schemeClr>
                </a:solidFill>
                <a:effectLst>
                  <a:outerShdw blurRad="38100" dist="38100" dir="2700000" algn="tl">
                    <a:srgbClr val="000000">
                      <a:alpha val="43137"/>
                    </a:srgbClr>
                  </a:outerShdw>
                </a:effectLst>
              </a:endParaRPr>
            </a:p>
          </p:txBody>
        </p:sp>
        <p:cxnSp>
          <p:nvCxnSpPr>
            <p:cNvPr id="69643" name="直接箭头连接符 12">
              <a:extLst>
                <a:ext uri="{FF2B5EF4-FFF2-40B4-BE49-F238E27FC236}">
                  <a16:creationId xmlns:a16="http://schemas.microsoft.com/office/drawing/2014/main" id="{AB28A87F-15EE-D642-9614-558C3C571534}"/>
                </a:ext>
              </a:extLst>
            </p:cNvPr>
            <p:cNvCxnSpPr>
              <a:cxnSpLocks noChangeShapeType="1"/>
            </p:cNvCxnSpPr>
            <p:nvPr/>
          </p:nvCxnSpPr>
          <p:spPr bwMode="auto">
            <a:xfrm>
              <a:off x="3173524" y="3937992"/>
              <a:ext cx="762000" cy="1588"/>
            </a:xfrm>
            <a:prstGeom prst="straightConnector1">
              <a:avLst/>
            </a:prstGeom>
            <a:noFill/>
            <a:ln w="3810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69644" name="直接连接符 16">
              <a:extLst>
                <a:ext uri="{FF2B5EF4-FFF2-40B4-BE49-F238E27FC236}">
                  <a16:creationId xmlns:a16="http://schemas.microsoft.com/office/drawing/2014/main" id="{0B3C4F6B-DA7C-5E4B-A72C-DF33599CD4D6}"/>
                </a:ext>
              </a:extLst>
            </p:cNvPr>
            <p:cNvCxnSpPr>
              <a:cxnSpLocks noChangeShapeType="1"/>
            </p:cNvCxnSpPr>
            <p:nvPr/>
          </p:nvCxnSpPr>
          <p:spPr bwMode="auto">
            <a:xfrm>
              <a:off x="4468924" y="5366742"/>
              <a:ext cx="6096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69645" name="直接箭头连接符 18">
              <a:extLst>
                <a:ext uri="{FF2B5EF4-FFF2-40B4-BE49-F238E27FC236}">
                  <a16:creationId xmlns:a16="http://schemas.microsoft.com/office/drawing/2014/main" id="{4442114D-DA74-6C46-99D4-0B6AEB113279}"/>
                </a:ext>
              </a:extLst>
            </p:cNvPr>
            <p:cNvCxnSpPr>
              <a:cxnSpLocks noChangeShapeType="1"/>
              <a:endCxn id="8" idx="1"/>
            </p:cNvCxnSpPr>
            <p:nvPr/>
          </p:nvCxnSpPr>
          <p:spPr bwMode="auto">
            <a:xfrm flipV="1">
              <a:off x="5078524" y="3906842"/>
              <a:ext cx="609601" cy="1459901"/>
            </a:xfrm>
            <a:prstGeom prst="straightConnector1">
              <a:avLst/>
            </a:prstGeom>
            <a:noFill/>
            <a:ln w="38100">
              <a:solidFill>
                <a:schemeClr val="tx1"/>
              </a:solidFill>
              <a:miter lim="800000"/>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p:cTn id="7" dur="500" fill="hold"/>
                                        <p:tgtEl>
                                          <p:spTgt spid="563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63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6323">
                                            <p:txEl>
                                              <p:pRg st="0" end="0"/>
                                            </p:txEl>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anim calcmode="lin" valueType="num">
                                      <p:cBhvr>
                                        <p:cTn id="13" dur="500" fill="hold"/>
                                        <p:tgtEl>
                                          <p:spTgt spid="5632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6323">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56323">
                                            <p:txEl>
                                              <p:pRg st="1" end="1"/>
                                            </p:txEl>
                                          </p:spTgt>
                                        </p:tgtEl>
                                      </p:cBhvr>
                                    </p:animEffect>
                                  </p:childTnLst>
                                </p:cTn>
                              </p:par>
                            </p:childTnLst>
                          </p:cTn>
                        </p:par>
                        <p:par>
                          <p:cTn id="16" fill="hold" nodeType="afterGroup">
                            <p:stCondLst>
                              <p:cond delay="1000"/>
                            </p:stCondLst>
                            <p:childTnLst>
                              <p:par>
                                <p:cTn id="17" presetID="53" presetClass="entr" presetSubtype="16"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1500" fill="hold"/>
                                        <p:tgtEl>
                                          <p:spTgt spid="9"/>
                                        </p:tgtEl>
                                        <p:attrNameLst>
                                          <p:attrName>ppt_w</p:attrName>
                                        </p:attrNameLst>
                                      </p:cBhvr>
                                      <p:tavLst>
                                        <p:tav tm="0">
                                          <p:val>
                                            <p:fltVal val="0"/>
                                          </p:val>
                                        </p:tav>
                                        <p:tav tm="100000">
                                          <p:val>
                                            <p:strVal val="#ppt_w"/>
                                          </p:val>
                                        </p:tav>
                                      </p:tavLst>
                                    </p:anim>
                                    <p:anim calcmode="lin" valueType="num">
                                      <p:cBhvr>
                                        <p:cTn id="20" dur="1500" fill="hold"/>
                                        <p:tgtEl>
                                          <p:spTgt spid="9"/>
                                        </p:tgtEl>
                                        <p:attrNameLst>
                                          <p:attrName>ppt_h</p:attrName>
                                        </p:attrNameLst>
                                      </p:cBhvr>
                                      <p:tavLst>
                                        <p:tav tm="0">
                                          <p:val>
                                            <p:fltVal val="0"/>
                                          </p:val>
                                        </p:tav>
                                        <p:tav tm="100000">
                                          <p:val>
                                            <p:strVal val="#ppt_h"/>
                                          </p:val>
                                        </p:tav>
                                      </p:tavLst>
                                    </p:anim>
                                    <p:animEffect transition="in" filter="fade">
                                      <p:cBhvr>
                                        <p:cTn id="21"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71558BF8-2108-2946-ABB0-CEBF47DC5D3C}"/>
              </a:ext>
            </a:extLst>
          </p:cNvPr>
          <p:cNvSpPr>
            <a:spLocks noGrp="1"/>
          </p:cNvSpPr>
          <p:nvPr>
            <p:ph type="title"/>
          </p:nvPr>
        </p:nvSpPr>
        <p:spPr>
          <a:xfrm>
            <a:off x="503238" y="858838"/>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访问控制表：举例</a:t>
            </a:r>
          </a:p>
        </p:txBody>
      </p:sp>
      <p:graphicFrame>
        <p:nvGraphicFramePr>
          <p:cNvPr id="6" name="Group 62">
            <a:extLst>
              <a:ext uri="{FF2B5EF4-FFF2-40B4-BE49-F238E27FC236}">
                <a16:creationId xmlns:a16="http://schemas.microsoft.com/office/drawing/2014/main" id="{83DD36BD-2BC8-AA42-9FD3-E0B05F551487}"/>
              </a:ext>
            </a:extLst>
          </p:cNvPr>
          <p:cNvGraphicFramePr>
            <a:graphicFrameLocks noGrp="1"/>
          </p:cNvGraphicFramePr>
          <p:nvPr/>
        </p:nvGraphicFramePr>
        <p:xfrm>
          <a:off x="2324100" y="2830513"/>
          <a:ext cx="1524000" cy="1584336"/>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3960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File1</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File2</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File3</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File4</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zh-CN"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
        <p:nvSpPr>
          <p:cNvPr id="71699" name="Text Box 37">
            <a:extLst>
              <a:ext uri="{FF2B5EF4-FFF2-40B4-BE49-F238E27FC236}">
                <a16:creationId xmlns:a16="http://schemas.microsoft.com/office/drawing/2014/main" id="{47050FCE-6700-3240-8E8C-C276F293E739}"/>
              </a:ext>
            </a:extLst>
          </p:cNvPr>
          <p:cNvSpPr txBox="1">
            <a:spLocks noChangeArrowheads="1"/>
          </p:cNvSpPr>
          <p:nvPr/>
        </p:nvSpPr>
        <p:spPr bwMode="auto">
          <a:xfrm>
            <a:off x="2438400" y="2371725"/>
            <a:ext cx="1295400" cy="3667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1800" b="1">
                <a:latin typeface="Times New Roman" panose="02020603050405020304" pitchFamily="18" charset="0"/>
                <a:ea typeface="宋体" panose="02010600030101010101" pitchFamily="2" charset="-122"/>
              </a:rPr>
              <a:t>客体目录</a:t>
            </a:r>
          </a:p>
        </p:txBody>
      </p:sp>
      <p:graphicFrame>
        <p:nvGraphicFramePr>
          <p:cNvPr id="8" name="Group 95">
            <a:extLst>
              <a:ext uri="{FF2B5EF4-FFF2-40B4-BE49-F238E27FC236}">
                <a16:creationId xmlns:a16="http://schemas.microsoft.com/office/drawing/2014/main" id="{07A796F9-2738-A140-9464-7E21F11C91B1}"/>
              </a:ext>
            </a:extLst>
          </p:cNvPr>
          <p:cNvGraphicFramePr>
            <a:graphicFrameLocks noGrp="1"/>
          </p:cNvGraphicFramePr>
          <p:nvPr/>
        </p:nvGraphicFramePr>
        <p:xfrm>
          <a:off x="5219700" y="1858963"/>
          <a:ext cx="1676400" cy="118903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User1</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o,r,w</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User2</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User3</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err="1">
                          <a:ln>
                            <a:noFill/>
                          </a:ln>
                          <a:solidFill>
                            <a:schemeClr val="tx1"/>
                          </a:solidFill>
                          <a:effectLst/>
                          <a:latin typeface="Tahoma" panose="020B0604030504040204" pitchFamily="34" charset="0"/>
                          <a:ea typeface="宋体" panose="02010600030101010101" pitchFamily="2" charset="-122"/>
                        </a:rPr>
                        <a:t>r,w</a:t>
                      </a:r>
                      <a:endPar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bl>
          </a:graphicData>
        </a:graphic>
      </p:graphicFrame>
      <p:sp>
        <p:nvSpPr>
          <p:cNvPr id="71714" name="Text Box 81">
            <a:extLst>
              <a:ext uri="{FF2B5EF4-FFF2-40B4-BE49-F238E27FC236}">
                <a16:creationId xmlns:a16="http://schemas.microsoft.com/office/drawing/2014/main" id="{54FFED1A-8D88-E443-A251-640CBB548DF2}"/>
              </a:ext>
            </a:extLst>
          </p:cNvPr>
          <p:cNvSpPr txBox="1">
            <a:spLocks noChangeArrowheads="1"/>
          </p:cNvSpPr>
          <p:nvPr/>
        </p:nvSpPr>
        <p:spPr bwMode="auto">
          <a:xfrm>
            <a:off x="5600700" y="1466850"/>
            <a:ext cx="1295400" cy="3667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1800" b="1">
                <a:latin typeface="Times New Roman" panose="02020603050405020304" pitchFamily="18" charset="0"/>
                <a:ea typeface="宋体" panose="02010600030101010101" pitchFamily="2" charset="-122"/>
              </a:rPr>
              <a:t>ACL</a:t>
            </a:r>
            <a:r>
              <a:rPr lang="zh-CN" altLang="en-US" sz="1800" b="1">
                <a:latin typeface="Times New Roman" panose="02020603050405020304" pitchFamily="18" charset="0"/>
                <a:ea typeface="宋体" panose="02010600030101010101" pitchFamily="2" charset="-122"/>
              </a:rPr>
              <a:t>表</a:t>
            </a:r>
          </a:p>
        </p:txBody>
      </p:sp>
      <p:graphicFrame>
        <p:nvGraphicFramePr>
          <p:cNvPr id="10" name="Group 124">
            <a:extLst>
              <a:ext uri="{FF2B5EF4-FFF2-40B4-BE49-F238E27FC236}">
                <a16:creationId xmlns:a16="http://schemas.microsoft.com/office/drawing/2014/main" id="{269E5475-FB67-5441-AE04-5D955A4937D0}"/>
              </a:ext>
            </a:extLst>
          </p:cNvPr>
          <p:cNvGraphicFramePr>
            <a:graphicFrameLocks noGrp="1"/>
          </p:cNvGraphicFramePr>
          <p:nvPr/>
        </p:nvGraphicFramePr>
        <p:xfrm>
          <a:off x="5219700" y="3211513"/>
          <a:ext cx="1676400" cy="396875"/>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875">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User1</a:t>
                      </a:r>
                    </a:p>
                  </a:txBody>
                  <a:tcPr marT="45793" marB="4579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e</a:t>
                      </a:r>
                    </a:p>
                  </a:txBody>
                  <a:tcPr marT="45793" marB="4579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1" name="Group 110">
            <a:extLst>
              <a:ext uri="{FF2B5EF4-FFF2-40B4-BE49-F238E27FC236}">
                <a16:creationId xmlns:a16="http://schemas.microsoft.com/office/drawing/2014/main" id="{A0F083D8-764E-E847-AC5B-DCAE288A9089}"/>
              </a:ext>
            </a:extLst>
          </p:cNvPr>
          <p:cNvGraphicFramePr>
            <a:graphicFrameLocks noGrp="1"/>
          </p:cNvGraphicFramePr>
          <p:nvPr/>
        </p:nvGraphicFramePr>
        <p:xfrm>
          <a:off x="5219700" y="3778250"/>
          <a:ext cx="1676400" cy="118903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User2</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o,e</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User3</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User4</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e</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12" name="Group 139">
            <a:extLst>
              <a:ext uri="{FF2B5EF4-FFF2-40B4-BE49-F238E27FC236}">
                <a16:creationId xmlns:a16="http://schemas.microsoft.com/office/drawing/2014/main" id="{C5F9D415-F678-6644-A3DB-B617DA442796}"/>
              </a:ext>
            </a:extLst>
          </p:cNvPr>
          <p:cNvGraphicFramePr>
            <a:graphicFrameLocks noGrp="1"/>
          </p:cNvGraphicFramePr>
          <p:nvPr/>
        </p:nvGraphicFramePr>
        <p:xfrm>
          <a:off x="5219700" y="5192713"/>
          <a:ext cx="1676400" cy="79216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081">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User2</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kern="1200" cap="none" normalizeH="0" baseline="0" dirty="0">
                          <a:ln>
                            <a:noFill/>
                          </a:ln>
                          <a:solidFill>
                            <a:schemeClr val="tx1"/>
                          </a:solidFill>
                          <a:effectLst/>
                          <a:latin typeface="Tahoma" panose="020B0604030504040204" pitchFamily="34" charset="0"/>
                          <a:ea typeface="宋体" panose="02010600030101010101" pitchFamily="2" charset="-122"/>
                          <a:cs typeface="+mn-cs"/>
                        </a:rPr>
                        <a:t>r</a:t>
                      </a: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396081">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User3</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r</a:t>
                      </a: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1"/>
                  </a:ext>
                </a:extLst>
              </a:tr>
            </a:tbl>
          </a:graphicData>
        </a:graphic>
      </p:graphicFrame>
      <p:sp>
        <p:nvSpPr>
          <p:cNvPr id="71748" name="Line 140">
            <a:extLst>
              <a:ext uri="{FF2B5EF4-FFF2-40B4-BE49-F238E27FC236}">
                <a16:creationId xmlns:a16="http://schemas.microsoft.com/office/drawing/2014/main" id="{349563B3-409A-ED47-A854-191CD15CBE8A}"/>
              </a:ext>
            </a:extLst>
          </p:cNvPr>
          <p:cNvSpPr>
            <a:spLocks noChangeShapeType="1"/>
          </p:cNvSpPr>
          <p:nvPr/>
        </p:nvSpPr>
        <p:spPr bwMode="auto">
          <a:xfrm flipV="1">
            <a:off x="3543300" y="1992313"/>
            <a:ext cx="1676400" cy="106680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49" name="Line 141">
            <a:extLst>
              <a:ext uri="{FF2B5EF4-FFF2-40B4-BE49-F238E27FC236}">
                <a16:creationId xmlns:a16="http://schemas.microsoft.com/office/drawing/2014/main" id="{8932B454-0020-6249-9787-21ED65DEEF54}"/>
              </a:ext>
            </a:extLst>
          </p:cNvPr>
          <p:cNvSpPr>
            <a:spLocks noChangeShapeType="1"/>
          </p:cNvSpPr>
          <p:nvPr/>
        </p:nvSpPr>
        <p:spPr bwMode="auto">
          <a:xfrm flipV="1">
            <a:off x="3543300" y="3363913"/>
            <a:ext cx="1676400" cy="7620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50" name="Line 142">
            <a:extLst>
              <a:ext uri="{FF2B5EF4-FFF2-40B4-BE49-F238E27FC236}">
                <a16:creationId xmlns:a16="http://schemas.microsoft.com/office/drawing/2014/main" id="{0257930D-69DF-A74C-B489-5D551D81D114}"/>
              </a:ext>
            </a:extLst>
          </p:cNvPr>
          <p:cNvSpPr>
            <a:spLocks noChangeShapeType="1"/>
          </p:cNvSpPr>
          <p:nvPr/>
        </p:nvSpPr>
        <p:spPr bwMode="auto">
          <a:xfrm>
            <a:off x="3543300" y="3897313"/>
            <a:ext cx="1676400"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51" name="Line 143">
            <a:extLst>
              <a:ext uri="{FF2B5EF4-FFF2-40B4-BE49-F238E27FC236}">
                <a16:creationId xmlns:a16="http://schemas.microsoft.com/office/drawing/2014/main" id="{2BA23E89-E1F7-3B4B-A31E-AC79F34541BA}"/>
              </a:ext>
            </a:extLst>
          </p:cNvPr>
          <p:cNvSpPr>
            <a:spLocks noChangeShapeType="1"/>
          </p:cNvSpPr>
          <p:nvPr/>
        </p:nvSpPr>
        <p:spPr bwMode="auto">
          <a:xfrm>
            <a:off x="3543300" y="4202113"/>
            <a:ext cx="1676400" cy="106680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52" name="Text Box 153">
            <a:extLst>
              <a:ext uri="{FF2B5EF4-FFF2-40B4-BE49-F238E27FC236}">
                <a16:creationId xmlns:a16="http://schemas.microsoft.com/office/drawing/2014/main" id="{B029752C-F519-E14B-B865-67C64635270B}"/>
              </a:ext>
            </a:extLst>
          </p:cNvPr>
          <p:cNvSpPr txBox="1">
            <a:spLocks noChangeArrowheads="1"/>
          </p:cNvSpPr>
          <p:nvPr/>
        </p:nvSpPr>
        <p:spPr bwMode="auto">
          <a:xfrm>
            <a:off x="2324100" y="4427538"/>
            <a:ext cx="2438400" cy="178593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2000" b="1">
                <a:solidFill>
                  <a:srgbClr val="0033CC"/>
                </a:solidFill>
                <a:latin typeface="Times New Roman" panose="02020603050405020304" pitchFamily="18" charset="0"/>
                <a:ea typeface="宋体" panose="02010600030101010101" pitchFamily="2" charset="-122"/>
              </a:rPr>
              <a:t>o:Owner</a:t>
            </a:r>
          </a:p>
          <a:p>
            <a:pPr eaLnBrk="1" hangingPunct="1">
              <a:spcBef>
                <a:spcPct val="50000"/>
              </a:spcBef>
              <a:buClrTx/>
              <a:buFontTx/>
              <a:buNone/>
            </a:pPr>
            <a:r>
              <a:rPr lang="en-US" altLang="zh-CN" sz="2000" b="1">
                <a:solidFill>
                  <a:srgbClr val="0033CC"/>
                </a:solidFill>
                <a:latin typeface="Times New Roman" panose="02020603050405020304" pitchFamily="18" charset="0"/>
                <a:ea typeface="宋体" panose="02010600030101010101" pitchFamily="2" charset="-122"/>
              </a:rPr>
              <a:t>r:Read</a:t>
            </a:r>
          </a:p>
          <a:p>
            <a:pPr eaLnBrk="1" hangingPunct="1">
              <a:spcBef>
                <a:spcPct val="50000"/>
              </a:spcBef>
              <a:buClrTx/>
              <a:buFontTx/>
              <a:buNone/>
            </a:pPr>
            <a:r>
              <a:rPr lang="en-US" altLang="zh-CN" sz="2000" b="1">
                <a:solidFill>
                  <a:srgbClr val="0033CC"/>
                </a:solidFill>
                <a:latin typeface="Times New Roman" panose="02020603050405020304" pitchFamily="18" charset="0"/>
                <a:ea typeface="宋体" panose="02010600030101010101" pitchFamily="2" charset="-122"/>
              </a:rPr>
              <a:t>w:Write</a:t>
            </a:r>
          </a:p>
          <a:p>
            <a:pPr eaLnBrk="1" hangingPunct="1">
              <a:spcBef>
                <a:spcPct val="50000"/>
              </a:spcBef>
              <a:buClrTx/>
              <a:buFontTx/>
              <a:buNone/>
            </a:pPr>
            <a:r>
              <a:rPr lang="en-US" altLang="zh-CN" sz="2000" b="1">
                <a:solidFill>
                  <a:srgbClr val="0033CC"/>
                </a:solidFill>
                <a:latin typeface="Times New Roman" panose="02020603050405020304" pitchFamily="18" charset="0"/>
                <a:ea typeface="宋体" panose="02010600030101010101" pitchFamily="2" charset="-122"/>
              </a:rPr>
              <a:t>e:Excute</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23815746-E84F-A64D-B58B-FAE38C4BCE14}"/>
              </a:ext>
            </a:extLst>
          </p:cNvPr>
          <p:cNvSpPr>
            <a:spLocks noGrp="1"/>
          </p:cNvSpPr>
          <p:nvPr>
            <p:ph type="title"/>
          </p:nvPr>
        </p:nvSpPr>
        <p:spPr>
          <a:xfrm>
            <a:off x="647700" y="95250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p>
        </p:txBody>
      </p:sp>
      <p:sp>
        <p:nvSpPr>
          <p:cNvPr id="6" name="Rectangle 3">
            <a:extLst>
              <a:ext uri="{FF2B5EF4-FFF2-40B4-BE49-F238E27FC236}">
                <a16:creationId xmlns:a16="http://schemas.microsoft.com/office/drawing/2014/main" id="{96883C16-D4E2-C945-97E2-37D97281B559}"/>
              </a:ext>
            </a:extLst>
          </p:cNvPr>
          <p:cNvSpPr txBox="1">
            <a:spLocks noChangeArrowheads="1"/>
          </p:cNvSpPr>
          <p:nvPr/>
        </p:nvSpPr>
        <p:spPr bwMode="auto">
          <a:xfrm>
            <a:off x="900113" y="1808163"/>
            <a:ext cx="7772400"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r>
              <a:rPr lang="en-US" altLang="zh-CN" b="1">
                <a:latin typeface="Times New Roman" panose="02020603050405020304" pitchFamily="18" charset="0"/>
              </a:rPr>
              <a:t>o</a:t>
            </a:r>
            <a:r>
              <a:rPr lang="en-US" altLang="zh-CN" b="1" baseline="-25000">
                <a:latin typeface="Times New Roman" panose="02020603050405020304" pitchFamily="18" charset="0"/>
              </a:rPr>
              <a:t>j</a:t>
            </a:r>
            <a:r>
              <a:rPr lang="zh-CN" altLang="en-US" b="1">
                <a:latin typeface="Times New Roman" panose="02020603050405020304" pitchFamily="18" charset="0"/>
              </a:rPr>
              <a:t>表示客体</a:t>
            </a:r>
            <a:r>
              <a:rPr lang="en-US" altLang="zh-CN" b="1">
                <a:latin typeface="Times New Roman" panose="02020603050405020304" pitchFamily="18" charset="0"/>
              </a:rPr>
              <a:t>j</a:t>
            </a:r>
            <a:r>
              <a:rPr lang="zh-CN" altLang="en-US" b="1">
                <a:latin typeface="Times New Roman" panose="02020603050405020304" pitchFamily="18" charset="0"/>
              </a:rPr>
              <a:t>，</a:t>
            </a:r>
            <a:r>
              <a:rPr lang="en-US" altLang="zh-CN" b="1">
                <a:latin typeface="Times New Roman" panose="02020603050405020304" pitchFamily="18" charset="0"/>
              </a:rPr>
              <a:t>s</a:t>
            </a:r>
            <a:r>
              <a:rPr lang="en-US" altLang="zh-CN" b="1" baseline="-25000">
                <a:latin typeface="Times New Roman" panose="02020603050405020304" pitchFamily="18" charset="0"/>
              </a:rPr>
              <a:t>i</a:t>
            </a:r>
            <a:r>
              <a:rPr lang="en-US" altLang="zh-CN" b="1">
                <a:latin typeface="Times New Roman" panose="02020603050405020304" pitchFamily="18" charset="0"/>
              </a:rPr>
              <a:t>.rw</a:t>
            </a:r>
            <a:r>
              <a:rPr lang="zh-CN" altLang="en-US" b="1">
                <a:latin typeface="Times New Roman" panose="02020603050405020304" pitchFamily="18" charset="0"/>
              </a:rPr>
              <a:t>表示主体</a:t>
            </a:r>
            <a:r>
              <a:rPr lang="en-US" altLang="zh-CN" b="1">
                <a:latin typeface="Times New Roman" panose="02020603050405020304" pitchFamily="18" charset="0"/>
              </a:rPr>
              <a:t>s</a:t>
            </a:r>
            <a:r>
              <a:rPr lang="en-US" altLang="zh-CN" b="1" baseline="-25000">
                <a:latin typeface="Times New Roman" panose="02020603050405020304" pitchFamily="18" charset="0"/>
              </a:rPr>
              <a:t>i</a:t>
            </a:r>
            <a:r>
              <a:rPr lang="zh-CN" altLang="en-US" b="1">
                <a:latin typeface="Times New Roman" panose="02020603050405020304" pitchFamily="18" charset="0"/>
              </a:rPr>
              <a:t>具有</a:t>
            </a:r>
            <a:r>
              <a:rPr lang="en-US" altLang="zh-CN" b="1">
                <a:latin typeface="Times New Roman" panose="02020603050405020304" pitchFamily="18" charset="0"/>
              </a:rPr>
              <a:t>rw</a:t>
            </a:r>
            <a:r>
              <a:rPr lang="zh-CN" altLang="en-US" b="1">
                <a:latin typeface="Times New Roman" panose="02020603050405020304" pitchFamily="18" charset="0"/>
              </a:rPr>
              <a:t>属性。</a:t>
            </a:r>
          </a:p>
        </p:txBody>
      </p:sp>
      <p:graphicFrame>
        <p:nvGraphicFramePr>
          <p:cNvPr id="7" name="Group 18">
            <a:extLst>
              <a:ext uri="{FF2B5EF4-FFF2-40B4-BE49-F238E27FC236}">
                <a16:creationId xmlns:a16="http://schemas.microsoft.com/office/drawing/2014/main" id="{7B337867-9308-1B4A-90AA-DE6EC7A56811}"/>
              </a:ext>
            </a:extLst>
          </p:cNvPr>
          <p:cNvGraphicFramePr>
            <a:graphicFrameLocks noGrp="1"/>
          </p:cNvGraphicFramePr>
          <p:nvPr/>
        </p:nvGraphicFramePr>
        <p:xfrm>
          <a:off x="2916238" y="2924175"/>
          <a:ext cx="3124200" cy="519113"/>
        </p:xfrm>
        <a:graphic>
          <a:graphicData uri="http://schemas.openxmlformats.org/drawingml/2006/table">
            <a:tbl>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519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8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0</a:t>
                      </a:r>
                      <a:r>
                        <a:rPr kumimoji="0"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marT="45641" marB="4564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8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1</a:t>
                      </a:r>
                      <a:r>
                        <a:rPr kumimoji="0"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rPr>
                        <a:t>.e</a:t>
                      </a:r>
                    </a:p>
                  </a:txBody>
                  <a:tcPr marT="45641" marB="4564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s</a:t>
                      </a:r>
                      <a:r>
                        <a:rPr kumimoji="0" lang="en-US" altLang="zh-CN" sz="28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2</a:t>
                      </a:r>
                      <a:r>
                        <a:rPr kumimoji="0" lang="en-US" altLang="zh-CN" sz="2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.rw</a:t>
                      </a:r>
                    </a:p>
                  </a:txBody>
                  <a:tcPr marT="45641" marB="4564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9408" name="Text Box 19">
            <a:extLst>
              <a:ext uri="{FF2B5EF4-FFF2-40B4-BE49-F238E27FC236}">
                <a16:creationId xmlns:a16="http://schemas.microsoft.com/office/drawing/2014/main" id="{286ABD5B-20EB-5B4D-85C6-A55031BA465F}"/>
              </a:ext>
            </a:extLst>
          </p:cNvPr>
          <p:cNvSpPr txBox="1">
            <a:spLocks noChangeArrowheads="1"/>
          </p:cNvSpPr>
          <p:nvPr/>
        </p:nvSpPr>
        <p:spPr bwMode="auto">
          <a:xfrm>
            <a:off x="2106613" y="2795588"/>
            <a:ext cx="1447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sz="3200">
                <a:latin typeface="Times New Roman" panose="02020603050405020304" pitchFamily="18" charset="0"/>
                <a:ea typeface="宋体" panose="02010600030101010101" pitchFamily="2" charset="-122"/>
              </a:rPr>
              <a:t>o</a:t>
            </a:r>
            <a:r>
              <a:rPr lang="en-US" altLang="zh-CN" sz="3200" baseline="-25000">
                <a:latin typeface="Times New Roman" panose="02020603050405020304" pitchFamily="18" charset="0"/>
                <a:ea typeface="宋体" panose="02010600030101010101" pitchFamily="2" charset="-122"/>
              </a:rPr>
              <a:t>j</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9408"/>
                                        </p:tgtEl>
                                        <p:attrNameLst>
                                          <p:attrName>style.visibility</p:attrName>
                                        </p:attrNameLst>
                                      </p:cBhvr>
                                      <p:to>
                                        <p:strVal val="visible"/>
                                      </p:to>
                                    </p:set>
                                    <p:anim calcmode="lin" valueType="num">
                                      <p:cBhvr additive="base">
                                        <p:cTn id="17" dur="500" fill="hold"/>
                                        <p:tgtEl>
                                          <p:spTgt spid="59408"/>
                                        </p:tgtEl>
                                        <p:attrNameLst>
                                          <p:attrName>ppt_x</p:attrName>
                                        </p:attrNameLst>
                                      </p:cBhvr>
                                      <p:tavLst>
                                        <p:tav tm="0">
                                          <p:val>
                                            <p:strVal val="#ppt_x"/>
                                          </p:val>
                                        </p:tav>
                                        <p:tav tm="100000">
                                          <p:val>
                                            <p:strVal val="#ppt_x"/>
                                          </p:val>
                                        </p:tav>
                                      </p:tavLst>
                                    </p:anim>
                                    <p:anim calcmode="lin" valueType="num">
                                      <p:cBhvr additive="base">
                                        <p:cTn id="18" dur="500" fill="hold"/>
                                        <p:tgtEl>
                                          <p:spTgt spid="594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940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296AEDFD-6401-6E44-9CC7-ED72540ED41C}"/>
              </a:ext>
            </a:extLst>
          </p:cNvPr>
          <p:cNvSpPr>
            <a:spLocks noGrp="1"/>
          </p:cNvSpPr>
          <p:nvPr>
            <p:ph type="title"/>
          </p:nvPr>
        </p:nvSpPr>
        <p:spPr>
          <a:xfrm>
            <a:off x="381000" y="87312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p>
        </p:txBody>
      </p:sp>
      <p:sp>
        <p:nvSpPr>
          <p:cNvPr id="6" name="Rectangle 3">
            <a:extLst>
              <a:ext uri="{FF2B5EF4-FFF2-40B4-BE49-F238E27FC236}">
                <a16:creationId xmlns:a16="http://schemas.microsoft.com/office/drawing/2014/main" id="{7CCD521E-6142-C44A-B154-BF5BEA596BA3}"/>
              </a:ext>
            </a:extLst>
          </p:cNvPr>
          <p:cNvSpPr txBox="1">
            <a:spLocks noChangeArrowheads="1"/>
          </p:cNvSpPr>
          <p:nvPr/>
        </p:nvSpPr>
        <p:spPr bwMode="gray">
          <a:xfrm>
            <a:off x="914400" y="2889250"/>
            <a:ext cx="7772400" cy="3240088"/>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解决</a:t>
            </a:r>
          </a:p>
          <a:p>
            <a:pPr eaLnBrk="1" hangingPunct="1">
              <a:spcBef>
                <a:spcPct val="20000"/>
              </a:spcBef>
              <a:buClr>
                <a:srgbClr val="3399FF"/>
              </a:buClr>
              <a:buFont typeface="Wingdings" pitchFamily="2" charset="2"/>
              <a:buNone/>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     引入用户组，用户可以属于多个组。</a:t>
            </a:r>
          </a:p>
          <a:p>
            <a:pPr eaLnBrk="1" hangingPunct="1">
              <a:spcBef>
                <a:spcPct val="20000"/>
              </a:spcBef>
              <a:buClr>
                <a:srgbClr val="3399FF"/>
              </a:buClr>
              <a:buFont typeface="Wingdings" pitchFamily="2" charset="2"/>
              <a:buNone/>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     </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主体标识</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主体</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组名</a:t>
            </a:r>
          </a:p>
          <a:p>
            <a:pPr eaLnBrk="1" hangingPunct="1">
              <a:spcBef>
                <a:spcPct val="20000"/>
              </a:spcBef>
              <a:buClr>
                <a:srgbClr val="3399FF"/>
              </a:buClr>
              <a:buFont typeface="Wingdings" pitchFamily="2" charset="2"/>
              <a:buNone/>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     如</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Fang.INFO</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表示</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INFO</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组的</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Fang</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用户。</a:t>
            </a:r>
          </a:p>
          <a:p>
            <a:pPr eaLnBrk="1" hangingPunct="1">
              <a:spcBef>
                <a:spcPct val="20000"/>
              </a:spcBef>
              <a:buClr>
                <a:srgbClr val="3399FF"/>
              </a:buClr>
              <a:buFont typeface="Wingdings" pitchFamily="2" charset="2"/>
              <a:buNone/>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     *</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.INFO</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表示所有组中的用户。</a:t>
            </a:r>
          </a:p>
          <a:p>
            <a:pPr eaLnBrk="1" hangingPunct="1">
              <a:spcBef>
                <a:spcPct val="20000"/>
              </a:spcBef>
              <a:buClr>
                <a:srgbClr val="3399FF"/>
              </a:buClr>
              <a:buFont typeface="Wingdings" pitchFamily="2" charset="2"/>
              <a:buNone/>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     *</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表示所有用户。</a:t>
            </a:r>
          </a:p>
        </p:txBody>
      </p:sp>
      <p:sp>
        <p:nvSpPr>
          <p:cNvPr id="2" name="矩形 1">
            <a:extLst>
              <a:ext uri="{FF2B5EF4-FFF2-40B4-BE49-F238E27FC236}">
                <a16:creationId xmlns:a16="http://schemas.microsoft.com/office/drawing/2014/main" id="{AB4D1192-79EE-C64C-91BB-01280E0545C2}"/>
              </a:ext>
            </a:extLst>
          </p:cNvPr>
          <p:cNvSpPr/>
          <p:nvPr/>
        </p:nvSpPr>
        <p:spPr>
          <a:xfrm>
            <a:off x="914400" y="1658938"/>
            <a:ext cx="6553200" cy="1039812"/>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问题</a:t>
            </a:r>
          </a:p>
          <a:p>
            <a:pPr eaLnBrk="1" hangingPunct="1">
              <a:spcBef>
                <a:spcPct val="20000"/>
              </a:spcBef>
              <a:buClr>
                <a:srgbClr val="3399FF"/>
              </a:buClr>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     主体、客体数量大，影响访问效率。</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7AC2A832-93D7-9742-ADBA-889A1C82324F}"/>
              </a:ext>
            </a:extLst>
          </p:cNvPr>
          <p:cNvSpPr>
            <a:spLocks noGrp="1"/>
          </p:cNvSpPr>
          <p:nvPr>
            <p:ph type="title"/>
          </p:nvPr>
        </p:nvSpPr>
        <p:spPr>
          <a:xfrm>
            <a:off x="615950" y="1014413"/>
            <a:ext cx="6513513" cy="4889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a:t>
            </a:r>
          </a:p>
        </p:txBody>
      </p:sp>
      <p:sp>
        <p:nvSpPr>
          <p:cNvPr id="6" name="Rectangle 1027">
            <a:extLst>
              <a:ext uri="{FF2B5EF4-FFF2-40B4-BE49-F238E27FC236}">
                <a16:creationId xmlns:a16="http://schemas.microsoft.com/office/drawing/2014/main" id="{F7E325A3-8054-1941-9247-1A4D16A860EB}"/>
              </a:ext>
            </a:extLst>
          </p:cNvPr>
          <p:cNvSpPr txBox="1">
            <a:spLocks noChangeArrowheads="1"/>
          </p:cNvSpPr>
          <p:nvPr/>
        </p:nvSpPr>
        <p:spPr bwMode="gray">
          <a:xfrm>
            <a:off x="971550" y="1714500"/>
            <a:ext cx="7478713" cy="1800225"/>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None/>
              <a:defRPr/>
            </a:pP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Fang.INFO.rw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表示对</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INFO</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组的用户</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Fang</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具有</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权限</a:t>
            </a:r>
          </a:p>
          <a:p>
            <a:pPr eaLnBrk="1" hangingPunct="1">
              <a:spcBef>
                <a:spcPct val="20000"/>
              </a:spcBef>
              <a:buClr>
                <a:srgbClr val="3399FF"/>
              </a:buClr>
              <a:buFont typeface="Wingdings" pitchFamily="2" charset="2"/>
              <a:buNone/>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.INFO.rw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表示对</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INFO</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组的所有用户具有</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权限</a:t>
            </a:r>
          </a:p>
          <a:p>
            <a:pPr eaLnBrk="1" hangingPunct="1">
              <a:spcBef>
                <a:spcPct val="20000"/>
              </a:spcBef>
              <a:buClr>
                <a:srgbClr val="3399FF"/>
              </a:buClr>
              <a:buFont typeface="Wingdings" pitchFamily="2" charset="2"/>
              <a:buNone/>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表示对所有用户具有</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rw</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权限</a:t>
            </a:r>
            <a:endPar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aphicFrame>
        <p:nvGraphicFramePr>
          <p:cNvPr id="7" name="Group 1044">
            <a:extLst>
              <a:ext uri="{FF2B5EF4-FFF2-40B4-BE49-F238E27FC236}">
                <a16:creationId xmlns:a16="http://schemas.microsoft.com/office/drawing/2014/main" id="{0D813B75-86CD-7D42-97C4-09EAEFF7898B}"/>
              </a:ext>
            </a:extLst>
          </p:cNvPr>
          <p:cNvGraphicFramePr>
            <a:graphicFrameLocks noGrp="1"/>
          </p:cNvGraphicFramePr>
          <p:nvPr>
            <p:extLst>
              <p:ext uri="{D42A27DB-BD31-4B8C-83A1-F6EECF244321}">
                <p14:modId xmlns:p14="http://schemas.microsoft.com/office/powerpoint/2010/main" val="2094434316"/>
              </p:ext>
            </p:extLst>
          </p:nvPr>
        </p:nvGraphicFramePr>
        <p:xfrm>
          <a:off x="1908175" y="3694113"/>
          <a:ext cx="5740400" cy="517544"/>
        </p:xfrm>
        <a:graphic>
          <a:graphicData uri="http://schemas.openxmlformats.org/drawingml/2006/table">
            <a:tbl>
              <a:tblPr/>
              <a:tblGrid>
                <a:gridCol w="2483805">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528403">
                  <a:extLst>
                    <a:ext uri="{9D8B030D-6E8A-4147-A177-3AD203B41FA5}">
                      <a16:colId xmlns:a16="http://schemas.microsoft.com/office/drawing/2014/main" val="20002"/>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err="1">
                          <a:ln>
                            <a:noFill/>
                          </a:ln>
                          <a:solidFill>
                            <a:schemeClr val="tx1"/>
                          </a:solidFill>
                          <a:effectLst/>
                          <a:latin typeface="Tahoma" panose="020B0604030504040204" pitchFamily="34" charset="0"/>
                          <a:ea typeface="宋体" panose="02010600030101010101" pitchFamily="2" charset="-122"/>
                        </a:rPr>
                        <a:t>Fang.INFO.rw</a:t>
                      </a:r>
                      <a:endParaRPr kumimoji="0" lang="en-US" altLang="zh-CN" sz="28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L="91448" marR="91448" marT="45412" marB="4541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rPr>
                        <a:t>*.INFO.e</a:t>
                      </a:r>
                    </a:p>
                  </a:txBody>
                  <a:tcPr marL="91448" marR="91448" marT="45412" marB="4541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*.*.r</a:t>
                      </a:r>
                    </a:p>
                  </a:txBody>
                  <a:tcPr marL="91448" marR="91448" marT="45412" marB="4541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1456" name="Text Box 1038">
            <a:extLst>
              <a:ext uri="{FF2B5EF4-FFF2-40B4-BE49-F238E27FC236}">
                <a16:creationId xmlns:a16="http://schemas.microsoft.com/office/drawing/2014/main" id="{113FF8E0-CBBE-CC4E-AF9E-5816C43B533B}"/>
              </a:ext>
            </a:extLst>
          </p:cNvPr>
          <p:cNvSpPr txBox="1">
            <a:spLocks noChangeArrowheads="1"/>
          </p:cNvSpPr>
          <p:nvPr/>
        </p:nvSpPr>
        <p:spPr bwMode="auto">
          <a:xfrm>
            <a:off x="1116013" y="3616325"/>
            <a:ext cx="1447800" cy="579438"/>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en-US" altLang="zh-CN" sz="3200" b="1"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o</a:t>
            </a:r>
            <a:r>
              <a:rPr kumimoji="1" lang="en-US" altLang="zh-CN" sz="3200" b="1" baseline="-25000" dirty="0" err="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j</a:t>
            </a:r>
            <a:endParaRPr kumimoji="1" lang="en-US" altLang="zh-CN" sz="3200" b="1" baseline="-250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Effect transition="in" filter="fade">
                                      <p:cBhvr>
                                        <p:cTn id="13" dur="1000"/>
                                        <p:tgtEl>
                                          <p:spTgt spid="7"/>
                                        </p:tgtEl>
                                      </p:cBhvr>
                                    </p:animEffect>
                                  </p:childTnLst>
                                </p:cTn>
                              </p:par>
                            </p:childTnLst>
                          </p:cTn>
                        </p:par>
                        <p:par>
                          <p:cTn id="14" fill="hold" nodeType="afterGroup">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61456"/>
                                        </p:tgtEl>
                                        <p:attrNameLst>
                                          <p:attrName>style.visibility</p:attrName>
                                        </p:attrNameLst>
                                      </p:cBhvr>
                                      <p:to>
                                        <p:strVal val="visible"/>
                                      </p:to>
                                    </p:set>
                                    <p:anim calcmode="lin" valueType="num">
                                      <p:cBhvr>
                                        <p:cTn id="17" dur="1000" fill="hold"/>
                                        <p:tgtEl>
                                          <p:spTgt spid="61456"/>
                                        </p:tgtEl>
                                        <p:attrNameLst>
                                          <p:attrName>ppt_w</p:attrName>
                                        </p:attrNameLst>
                                      </p:cBhvr>
                                      <p:tavLst>
                                        <p:tav tm="0">
                                          <p:val>
                                            <p:fltVal val="0"/>
                                          </p:val>
                                        </p:tav>
                                        <p:tav tm="100000">
                                          <p:val>
                                            <p:strVal val="#ppt_w"/>
                                          </p:val>
                                        </p:tav>
                                      </p:tavLst>
                                    </p:anim>
                                    <p:anim calcmode="lin" valueType="num">
                                      <p:cBhvr>
                                        <p:cTn id="18" dur="1000" fill="hold"/>
                                        <p:tgtEl>
                                          <p:spTgt spid="61456"/>
                                        </p:tgtEl>
                                        <p:attrNameLst>
                                          <p:attrName>ppt_h</p:attrName>
                                        </p:attrNameLst>
                                      </p:cBhvr>
                                      <p:tavLst>
                                        <p:tav tm="0">
                                          <p:val>
                                            <p:fltVal val="0"/>
                                          </p:val>
                                        </p:tav>
                                        <p:tav tm="100000">
                                          <p:val>
                                            <p:strVal val="#ppt_h"/>
                                          </p:val>
                                        </p:tav>
                                      </p:tavLst>
                                    </p:anim>
                                    <p:animEffect transition="in" filter="fade">
                                      <p:cBhvr>
                                        <p:cTn id="19" dur="1000"/>
                                        <p:tgtEl>
                                          <p:spTgt spid="6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145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9A659C53-EA48-0644-83BA-AA87C30B6AF5}"/>
              </a:ext>
            </a:extLst>
          </p:cNvPr>
          <p:cNvSpPr>
            <a:spLocks noGrp="1"/>
          </p:cNvSpPr>
          <p:nvPr>
            <p:ph type="title"/>
          </p:nvPr>
        </p:nvSpPr>
        <p:spPr>
          <a:xfrm>
            <a:off x="539750" y="855663"/>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访问能力表</a:t>
            </a:r>
          </a:p>
        </p:txBody>
      </p:sp>
      <p:sp>
        <p:nvSpPr>
          <p:cNvPr id="62467" name="内容占位符 2">
            <a:extLst>
              <a:ext uri="{FF2B5EF4-FFF2-40B4-BE49-F238E27FC236}">
                <a16:creationId xmlns:a16="http://schemas.microsoft.com/office/drawing/2014/main" id="{8F1A96C8-ABD3-9B49-A833-9656E05BB372}"/>
              </a:ext>
            </a:extLst>
          </p:cNvPr>
          <p:cNvSpPr>
            <a:spLocks noGrp="1"/>
          </p:cNvSpPr>
          <p:nvPr>
            <p:ph idx="1"/>
          </p:nvPr>
        </p:nvSpPr>
        <p:spPr>
          <a:xfrm>
            <a:off x="792163" y="1522413"/>
            <a:ext cx="7835900" cy="1296987"/>
          </a:xfrm>
        </p:spPr>
        <p:txBody>
          <a:bodyPr/>
          <a:lstStyle/>
          <a:p>
            <a:pPr>
              <a:defRPr/>
            </a:pPr>
            <a:r>
              <a:rPr lang="zh-CN" altLang="en-US" b="1">
                <a:effectLst>
                  <a:outerShdw blurRad="38100" dist="38100" dir="2700000" algn="tl">
                    <a:srgbClr val="C0C0C0"/>
                  </a:outerShdw>
                </a:effectLst>
              </a:rPr>
              <a:t>访问控制矩阵按</a:t>
            </a:r>
            <a:r>
              <a:rPr lang="zh-CN" altLang="en-US" sz="3600" b="1">
                <a:solidFill>
                  <a:srgbClr val="FF0000"/>
                </a:solidFill>
                <a:effectLst>
                  <a:outerShdw blurRad="38100" dist="38100" dir="2700000" algn="tl">
                    <a:srgbClr val="C0C0C0"/>
                  </a:outerShdw>
                </a:effectLst>
              </a:rPr>
              <a:t>行</a:t>
            </a:r>
            <a:r>
              <a:rPr lang="zh-CN" altLang="en-US" b="1">
                <a:effectLst>
                  <a:outerShdw blurRad="38100" dist="38100" dir="2700000" algn="tl">
                    <a:srgbClr val="C0C0C0"/>
                  </a:outerShdw>
                </a:effectLst>
              </a:rPr>
              <a:t>：访问能力表</a:t>
            </a:r>
            <a:endParaRPr lang="en-US" altLang="zh-CN" b="1">
              <a:effectLst>
                <a:outerShdw blurRad="38100" dist="38100" dir="2700000" algn="tl">
                  <a:srgbClr val="C0C0C0"/>
                </a:outerShdw>
              </a:effectLst>
            </a:endParaRPr>
          </a:p>
          <a:p>
            <a:pPr>
              <a:defRPr/>
            </a:pPr>
            <a:r>
              <a:rPr lang="zh-CN" altLang="en-US" b="1">
                <a:effectLst>
                  <a:outerShdw blurRad="38100" dist="38100" dir="2700000" algn="tl">
                    <a:srgbClr val="C0C0C0"/>
                  </a:outerShdw>
                </a:effectLst>
              </a:rPr>
              <a:t>访问能力表：每个主体可访问的客体及权限</a:t>
            </a:r>
            <a:endParaRPr lang="en-US" altLang="zh-CN" b="1">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grpSp>
        <p:nvGrpSpPr>
          <p:cNvPr id="3" name="组合 2">
            <a:extLst>
              <a:ext uri="{FF2B5EF4-FFF2-40B4-BE49-F238E27FC236}">
                <a16:creationId xmlns:a16="http://schemas.microsoft.com/office/drawing/2014/main" id="{641EA4EF-1E70-1A45-8896-E134ACE7C3B4}"/>
              </a:ext>
            </a:extLst>
          </p:cNvPr>
          <p:cNvGrpSpPr>
            <a:grpSpLocks/>
          </p:cNvGrpSpPr>
          <p:nvPr/>
        </p:nvGrpSpPr>
        <p:grpSpPr bwMode="auto">
          <a:xfrm>
            <a:off x="1671638" y="3105150"/>
            <a:ext cx="5435600" cy="2208213"/>
            <a:chOff x="1905000" y="3356992"/>
            <a:chExt cx="4495800" cy="1814734"/>
          </a:xfrm>
        </p:grpSpPr>
        <p:sp>
          <p:nvSpPr>
            <p:cNvPr id="6" name="TextBox 5">
              <a:extLst>
                <a:ext uri="{FF2B5EF4-FFF2-40B4-BE49-F238E27FC236}">
                  <a16:creationId xmlns:a16="http://schemas.microsoft.com/office/drawing/2014/main" id="{E0688603-370D-2447-88A4-7164B40BDFFD}"/>
                </a:ext>
              </a:extLst>
            </p:cNvPr>
            <p:cNvSpPr txBox="1"/>
            <p:nvPr/>
          </p:nvSpPr>
          <p:spPr>
            <a:xfrm>
              <a:off x="1905000" y="3359601"/>
              <a:ext cx="990021" cy="341812"/>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主体</a:t>
              </a:r>
              <a:r>
                <a:rPr lang="en-US" altLang="zh-CN" b="1" dirty="0">
                  <a:solidFill>
                    <a:schemeClr val="accent6">
                      <a:lumMod val="75000"/>
                    </a:schemeClr>
                  </a:solidFill>
                  <a:effectLst>
                    <a:outerShdw blurRad="38100" dist="38100" dir="2700000" algn="tl">
                      <a:srgbClr val="000000">
                        <a:alpha val="43137"/>
                      </a:srgbClr>
                    </a:outerShdw>
                  </a:effectLst>
                </a:rPr>
                <a:t>b</a:t>
              </a:r>
            </a:p>
          </p:txBody>
        </p:sp>
        <p:sp>
          <p:nvSpPr>
            <p:cNvPr id="7" name="TextBox 6">
              <a:extLst>
                <a:ext uri="{FF2B5EF4-FFF2-40B4-BE49-F238E27FC236}">
                  <a16:creationId xmlns:a16="http://schemas.microsoft.com/office/drawing/2014/main" id="{21AF3147-FE69-A04E-B129-D386FCF7B775}"/>
                </a:ext>
              </a:extLst>
            </p:cNvPr>
            <p:cNvSpPr txBox="1"/>
            <p:nvPr/>
          </p:nvSpPr>
          <p:spPr>
            <a:xfrm>
              <a:off x="3657889" y="3356992"/>
              <a:ext cx="990021" cy="343117"/>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客体</a:t>
              </a:r>
              <a:r>
                <a:rPr lang="en-US" altLang="zh-CN" b="1" dirty="0">
                  <a:solidFill>
                    <a:schemeClr val="accent6">
                      <a:lumMod val="75000"/>
                    </a:schemeClr>
                  </a:solidFill>
                  <a:effectLst>
                    <a:outerShdw blurRad="38100" dist="38100" dir="2700000" algn="tl">
                      <a:srgbClr val="000000">
                        <a:alpha val="43137"/>
                      </a:srgbClr>
                    </a:outerShdw>
                  </a:effectLst>
                </a:rPr>
                <a:t>x</a:t>
              </a:r>
            </a:p>
          </p:txBody>
        </p:sp>
        <p:sp>
          <p:nvSpPr>
            <p:cNvPr id="8" name="TextBox 7">
              <a:extLst>
                <a:ext uri="{FF2B5EF4-FFF2-40B4-BE49-F238E27FC236}">
                  <a16:creationId xmlns:a16="http://schemas.microsoft.com/office/drawing/2014/main" id="{9311038C-8DE3-6349-B67C-84EF5A9D668A}"/>
                </a:ext>
              </a:extLst>
            </p:cNvPr>
            <p:cNvSpPr txBox="1"/>
            <p:nvPr/>
          </p:nvSpPr>
          <p:spPr>
            <a:xfrm>
              <a:off x="5410779" y="3356992"/>
              <a:ext cx="990021" cy="343117"/>
            </a:xfrm>
            <a:prstGeom prst="rect">
              <a:avLst/>
            </a:prstGeom>
            <a:noFill/>
            <a:ln w="38100">
              <a:solidFill>
                <a:schemeClr val="tx1"/>
              </a:solidFill>
            </a:ln>
          </p:spPr>
          <p:txBody>
            <a:bodyPr>
              <a:spAutoFit/>
            </a:bodyPr>
            <a:lstStyle/>
            <a:p>
              <a:pPr algn="ctr" eaLnBrk="1" hangingPunct="1">
                <a:defRPr/>
              </a:pPr>
              <a:r>
                <a:rPr lang="zh-CN" altLang="en-US" b="1" dirty="0">
                  <a:solidFill>
                    <a:schemeClr val="accent6">
                      <a:lumMod val="75000"/>
                    </a:schemeClr>
                  </a:solidFill>
                  <a:effectLst>
                    <a:outerShdw blurRad="38100" dist="38100" dir="2700000" algn="tl">
                      <a:srgbClr val="000000">
                        <a:alpha val="43137"/>
                      </a:srgbClr>
                    </a:outerShdw>
                  </a:effectLst>
                </a:rPr>
                <a:t>客体</a:t>
              </a:r>
              <a:r>
                <a:rPr lang="en-US" altLang="zh-CN" b="1" dirty="0">
                  <a:solidFill>
                    <a:schemeClr val="accent6">
                      <a:lumMod val="75000"/>
                    </a:schemeClr>
                  </a:solidFill>
                  <a:effectLst>
                    <a:outerShdw blurRad="38100" dist="38100" dir="2700000" algn="tl">
                      <a:srgbClr val="000000">
                        <a:alpha val="43137"/>
                      </a:srgbClr>
                    </a:outerShdw>
                  </a:effectLst>
                </a:rPr>
                <a:t>y</a:t>
              </a:r>
            </a:p>
          </p:txBody>
        </p:sp>
        <p:sp>
          <p:nvSpPr>
            <p:cNvPr id="62471" name="TextBox 8">
              <a:extLst>
                <a:ext uri="{FF2B5EF4-FFF2-40B4-BE49-F238E27FC236}">
                  <a16:creationId xmlns:a16="http://schemas.microsoft.com/office/drawing/2014/main" id="{CC250374-7922-2D43-9675-51E9214650CC}"/>
                </a:ext>
              </a:extLst>
            </p:cNvPr>
            <p:cNvSpPr txBox="1">
              <a:spLocks noChangeArrowheads="1"/>
            </p:cNvSpPr>
            <p:nvPr/>
          </p:nvSpPr>
          <p:spPr bwMode="auto">
            <a:xfrm>
              <a:off x="3657889" y="3809697"/>
              <a:ext cx="990021" cy="857138"/>
            </a:xfrm>
            <a:prstGeom prst="rect">
              <a:avLst/>
            </a:prstGeom>
            <a:noFill/>
            <a:ln w="38100">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R</a:t>
              </a:r>
            </a:p>
            <a:p>
              <a:pPr algn="ctr" eaLnBrk="1" hangingPunct="1">
                <a:spcBef>
                  <a:spcPct val="0"/>
                </a:spcBef>
                <a:buClrTx/>
                <a:buFontTx/>
                <a:buNone/>
                <a:defRPr/>
              </a:pPr>
              <a:endPar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a:p>
              <a:pPr algn="ctr" eaLnBrk="1" hangingPunct="1">
                <a:spcBef>
                  <a:spcPct val="0"/>
                </a:spcBef>
                <a:buClrTx/>
                <a:buFontTx/>
                <a:buNone/>
                <a:defRPr/>
              </a:pPr>
              <a:endPar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0" name="TextBox 9">
              <a:extLst>
                <a:ext uri="{FF2B5EF4-FFF2-40B4-BE49-F238E27FC236}">
                  <a16:creationId xmlns:a16="http://schemas.microsoft.com/office/drawing/2014/main" id="{7983A034-1495-BC46-94AE-6CB604FB1FD7}"/>
                </a:ext>
              </a:extLst>
            </p:cNvPr>
            <p:cNvSpPr txBox="1"/>
            <p:nvPr/>
          </p:nvSpPr>
          <p:spPr>
            <a:xfrm>
              <a:off x="3657889" y="4828609"/>
              <a:ext cx="990021" cy="343117"/>
            </a:xfrm>
            <a:prstGeom prst="rect">
              <a:avLst/>
            </a:prstGeom>
            <a:noFill/>
            <a:ln w="38100">
              <a:solidFill>
                <a:schemeClr val="tx1"/>
              </a:solidFill>
            </a:ln>
          </p:spPr>
          <p:txBody>
            <a:bodyPr>
              <a:spAutoFit/>
            </a:bodyPr>
            <a:lstStyle/>
            <a:p>
              <a:pPr algn="ctr" eaLnBrk="1" hangingPunct="1">
                <a:defRPr/>
              </a:pPr>
              <a:endParaRPr lang="en-US" altLang="zh-CN" b="1" dirty="0">
                <a:solidFill>
                  <a:schemeClr val="accent6">
                    <a:lumMod val="75000"/>
                  </a:schemeClr>
                </a:solidFill>
                <a:effectLst>
                  <a:outerShdw blurRad="38100" dist="38100" dir="2700000" algn="tl">
                    <a:srgbClr val="000000">
                      <a:alpha val="43137"/>
                    </a:srgbClr>
                  </a:outerShdw>
                </a:effectLst>
              </a:endParaRPr>
            </a:p>
          </p:txBody>
        </p:sp>
        <p:sp>
          <p:nvSpPr>
            <p:cNvPr id="62473" name="TextBox 10">
              <a:extLst>
                <a:ext uri="{FF2B5EF4-FFF2-40B4-BE49-F238E27FC236}">
                  <a16:creationId xmlns:a16="http://schemas.microsoft.com/office/drawing/2014/main" id="{0C004056-FE1E-9B49-AAD3-E4D5CC048DD0}"/>
                </a:ext>
              </a:extLst>
            </p:cNvPr>
            <p:cNvSpPr txBox="1">
              <a:spLocks noChangeArrowheads="1"/>
            </p:cNvSpPr>
            <p:nvPr/>
          </p:nvSpPr>
          <p:spPr bwMode="auto">
            <a:xfrm>
              <a:off x="5410779" y="3809697"/>
              <a:ext cx="990021" cy="857138"/>
            </a:xfrm>
            <a:prstGeom prst="rect">
              <a:avLst/>
            </a:prstGeom>
            <a:noFill/>
            <a:ln w="38100">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R</a:t>
              </a:r>
            </a:p>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W</a:t>
              </a:r>
            </a:p>
            <a:p>
              <a:pPr algn="ctr" eaLnBrk="1" hangingPunct="1">
                <a:spcBef>
                  <a:spcPct val="0"/>
                </a:spcBef>
                <a:buClrTx/>
                <a:buFontTx/>
                <a:buNone/>
                <a:defRPr/>
              </a:pPr>
              <a:r>
                <a:rPr lang="en-US" altLang="zh-CN" sz="1800" b="1">
                  <a:solidFill>
                    <a:srgbClr val="2D6A94"/>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rPr>
                <a:t>Own</a:t>
              </a:r>
            </a:p>
          </p:txBody>
        </p:sp>
        <p:sp>
          <p:nvSpPr>
            <p:cNvPr id="12" name="TextBox 11">
              <a:extLst>
                <a:ext uri="{FF2B5EF4-FFF2-40B4-BE49-F238E27FC236}">
                  <a16:creationId xmlns:a16="http://schemas.microsoft.com/office/drawing/2014/main" id="{3FDFE709-E513-EB46-B7F1-D6DC2C835456}"/>
                </a:ext>
              </a:extLst>
            </p:cNvPr>
            <p:cNvSpPr txBox="1"/>
            <p:nvPr/>
          </p:nvSpPr>
          <p:spPr>
            <a:xfrm>
              <a:off x="5410779" y="4828609"/>
              <a:ext cx="990021" cy="343117"/>
            </a:xfrm>
            <a:prstGeom prst="rect">
              <a:avLst/>
            </a:prstGeom>
            <a:noFill/>
            <a:ln w="38100">
              <a:solidFill>
                <a:schemeClr val="tx1"/>
              </a:solidFill>
            </a:ln>
          </p:spPr>
          <p:txBody>
            <a:bodyPr>
              <a:spAutoFit/>
            </a:bodyPr>
            <a:lstStyle/>
            <a:p>
              <a:pPr algn="ctr" eaLnBrk="1" hangingPunct="1">
                <a:defRPr/>
              </a:pPr>
              <a:endParaRPr lang="en-US" altLang="zh-CN" b="1" dirty="0">
                <a:solidFill>
                  <a:schemeClr val="accent6">
                    <a:lumMod val="75000"/>
                  </a:schemeClr>
                </a:solidFill>
                <a:effectLst>
                  <a:outerShdw blurRad="38100" dist="38100" dir="2700000" algn="tl">
                    <a:srgbClr val="000000">
                      <a:alpha val="43137"/>
                    </a:srgbClr>
                  </a:outerShdw>
                </a:effectLst>
              </a:endParaRPr>
            </a:p>
          </p:txBody>
        </p:sp>
        <p:cxnSp>
          <p:nvCxnSpPr>
            <p:cNvPr id="76811" name="直接箭头连接符 12">
              <a:extLst>
                <a:ext uri="{FF2B5EF4-FFF2-40B4-BE49-F238E27FC236}">
                  <a16:creationId xmlns:a16="http://schemas.microsoft.com/office/drawing/2014/main" id="{7BE66980-9DF1-B845-95D6-6E878097C7D0}"/>
                </a:ext>
              </a:extLst>
            </p:cNvPr>
            <p:cNvCxnSpPr>
              <a:cxnSpLocks noChangeShapeType="1"/>
            </p:cNvCxnSpPr>
            <p:nvPr/>
          </p:nvCxnSpPr>
          <p:spPr bwMode="auto">
            <a:xfrm>
              <a:off x="2895600" y="3609975"/>
              <a:ext cx="762000" cy="1588"/>
            </a:xfrm>
            <a:prstGeom prst="straightConnector1">
              <a:avLst/>
            </a:prstGeom>
            <a:noFill/>
            <a:ln w="3810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76812" name="直接连接符 16">
              <a:extLst>
                <a:ext uri="{FF2B5EF4-FFF2-40B4-BE49-F238E27FC236}">
                  <a16:creationId xmlns:a16="http://schemas.microsoft.com/office/drawing/2014/main" id="{CA52CC88-16C4-0B4F-B7F4-6FEBF54E20C9}"/>
                </a:ext>
              </a:extLst>
            </p:cNvPr>
            <p:cNvCxnSpPr>
              <a:cxnSpLocks noChangeShapeType="1"/>
            </p:cNvCxnSpPr>
            <p:nvPr/>
          </p:nvCxnSpPr>
          <p:spPr bwMode="auto">
            <a:xfrm>
              <a:off x="4191000" y="5038725"/>
              <a:ext cx="6096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cxnSp>
          <p:nvCxnSpPr>
            <p:cNvPr id="76813" name="直接箭头连接符 18">
              <a:extLst>
                <a:ext uri="{FF2B5EF4-FFF2-40B4-BE49-F238E27FC236}">
                  <a16:creationId xmlns:a16="http://schemas.microsoft.com/office/drawing/2014/main" id="{FA4C4494-F953-DF40-B683-814A11FE0451}"/>
                </a:ext>
              </a:extLst>
            </p:cNvPr>
            <p:cNvCxnSpPr>
              <a:cxnSpLocks noChangeShapeType="1"/>
              <a:endCxn id="8" idx="1"/>
            </p:cNvCxnSpPr>
            <p:nvPr/>
          </p:nvCxnSpPr>
          <p:spPr bwMode="auto">
            <a:xfrm flipV="1">
              <a:off x="4800602" y="3528267"/>
              <a:ext cx="609598" cy="1510457"/>
            </a:xfrm>
            <a:prstGeom prst="straightConnector1">
              <a:avLst/>
            </a:prstGeom>
            <a:noFill/>
            <a:ln w="38100">
              <a:solidFill>
                <a:schemeClr val="tx1"/>
              </a:solidFill>
              <a:miter lim="800000"/>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p:cTn id="7" dur="500" fill="hold"/>
                                        <p:tgtEl>
                                          <p:spTgt spid="624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246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2467">
                                            <p:txEl>
                                              <p:pRg st="0" end="0"/>
                                            </p:txEl>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p:cTn id="13" dur="500" fill="hold"/>
                                        <p:tgtEl>
                                          <p:spTgt spid="62467">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62467">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62467">
                                            <p:txEl>
                                              <p:pRg st="1" end="1"/>
                                            </p:txEl>
                                          </p:spTgt>
                                        </p:tgtEl>
                                      </p:cBhvr>
                                    </p:animEffect>
                                  </p:childTnLst>
                                </p:cTn>
                              </p:par>
                            </p:childTnLst>
                          </p:cTn>
                        </p:par>
                        <p:par>
                          <p:cTn id="16" fill="hold" nodeType="afterGroup">
                            <p:stCondLst>
                              <p:cond delay="1000"/>
                            </p:stCondLst>
                            <p:childTnLst>
                              <p:par>
                                <p:cTn id="17" presetID="31"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fltVal val="0"/>
                                          </p:val>
                                        </p:tav>
                                        <p:tav tm="100000">
                                          <p:val>
                                            <p:strVal val="#ppt_w"/>
                                          </p:val>
                                        </p:tav>
                                      </p:tavLst>
                                    </p:anim>
                                    <p:anim calcmode="lin" valueType="num">
                                      <p:cBhvr>
                                        <p:cTn id="20" dur="1000" fill="hold"/>
                                        <p:tgtEl>
                                          <p:spTgt spid="3"/>
                                        </p:tgtEl>
                                        <p:attrNameLst>
                                          <p:attrName>ppt_h</p:attrName>
                                        </p:attrNameLst>
                                      </p:cBhvr>
                                      <p:tavLst>
                                        <p:tav tm="0">
                                          <p:val>
                                            <p:fltVal val="0"/>
                                          </p:val>
                                        </p:tav>
                                        <p:tav tm="100000">
                                          <p:val>
                                            <p:strVal val="#ppt_h"/>
                                          </p:val>
                                        </p:tav>
                                      </p:tavLst>
                                    </p:anim>
                                    <p:anim calcmode="lin" valueType="num">
                                      <p:cBhvr>
                                        <p:cTn id="21" dur="1000" fill="hold"/>
                                        <p:tgtEl>
                                          <p:spTgt spid="3"/>
                                        </p:tgtEl>
                                        <p:attrNameLst>
                                          <p:attrName>style.rotation</p:attrName>
                                        </p:attrNameLst>
                                      </p:cBhvr>
                                      <p:tavLst>
                                        <p:tav tm="0">
                                          <p:val>
                                            <p:fltVal val="90"/>
                                          </p:val>
                                        </p:tav>
                                        <p:tav tm="100000">
                                          <p:val>
                                            <p:fltVal val="0"/>
                                          </p:val>
                                        </p:tav>
                                      </p:tavLst>
                                    </p:anim>
                                    <p:animEffect transition="in" filter="fade">
                                      <p:cBhvr>
                                        <p:cTn id="2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693DE593-82BF-254D-9C5F-BE092BD3CB0F}"/>
              </a:ext>
            </a:extLst>
          </p:cNvPr>
          <p:cNvSpPr>
            <a:spLocks noGrp="1"/>
          </p:cNvSpPr>
          <p:nvPr>
            <p:ph type="title"/>
          </p:nvPr>
        </p:nvSpPr>
        <p:spPr>
          <a:xfrm>
            <a:off x="820738" y="890588"/>
            <a:ext cx="6511925" cy="4889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访问能力表：举例</a:t>
            </a:r>
          </a:p>
        </p:txBody>
      </p:sp>
      <p:graphicFrame>
        <p:nvGraphicFramePr>
          <p:cNvPr id="6" name="Group 20">
            <a:extLst>
              <a:ext uri="{FF2B5EF4-FFF2-40B4-BE49-F238E27FC236}">
                <a16:creationId xmlns:a16="http://schemas.microsoft.com/office/drawing/2014/main" id="{068FE064-D02E-4C49-ABE0-1DBE981D20E2}"/>
              </a:ext>
            </a:extLst>
          </p:cNvPr>
          <p:cNvGraphicFramePr>
            <a:graphicFrameLocks noGrp="1"/>
          </p:cNvGraphicFramePr>
          <p:nvPr/>
        </p:nvGraphicFramePr>
        <p:xfrm>
          <a:off x="3578225" y="2536825"/>
          <a:ext cx="1676400" cy="118903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File1</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o,r,w</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File2</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File3</a:t>
                      </a:r>
                    </a:p>
                  </a:txBody>
                  <a:tcPr marT="45732" marB="4573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r,w</a:t>
                      </a:r>
                    </a:p>
                  </a:txBody>
                  <a:tcPr marT="45732" marB="4573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4531" name="Text Box 34">
            <a:extLst>
              <a:ext uri="{FF2B5EF4-FFF2-40B4-BE49-F238E27FC236}">
                <a16:creationId xmlns:a16="http://schemas.microsoft.com/office/drawing/2014/main" id="{C3946FA8-2396-2A42-9ECE-40BB947A6112}"/>
              </a:ext>
            </a:extLst>
          </p:cNvPr>
          <p:cNvSpPr txBox="1">
            <a:spLocks noChangeArrowheads="1"/>
          </p:cNvSpPr>
          <p:nvPr/>
        </p:nvSpPr>
        <p:spPr bwMode="auto">
          <a:xfrm>
            <a:off x="3578225" y="2190750"/>
            <a:ext cx="990600" cy="40005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文件名</a:t>
            </a:r>
          </a:p>
        </p:txBody>
      </p:sp>
      <p:graphicFrame>
        <p:nvGraphicFramePr>
          <p:cNvPr id="8" name="Group 84">
            <a:extLst>
              <a:ext uri="{FF2B5EF4-FFF2-40B4-BE49-F238E27FC236}">
                <a16:creationId xmlns:a16="http://schemas.microsoft.com/office/drawing/2014/main" id="{FEB318DF-CAF3-844D-AE2E-A1CB17BCF391}"/>
              </a:ext>
            </a:extLst>
          </p:cNvPr>
          <p:cNvGraphicFramePr>
            <a:graphicFrameLocks noGrp="1"/>
          </p:cNvGraphicFramePr>
          <p:nvPr/>
        </p:nvGraphicFramePr>
        <p:xfrm>
          <a:off x="3578225" y="4456113"/>
          <a:ext cx="1676400" cy="792168"/>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396081">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File2</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o,e</a:t>
                      </a: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File3</a:t>
                      </a:r>
                    </a:p>
                  </a:txBody>
                  <a:tcPr marT="45642" marB="4564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rgbClr val="3399FF"/>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rgbClr val="FF9900"/>
                        </a:buClr>
                        <a:buFont typeface="Wingdings" panose="05000000000000000000" pitchFamily="2" charset="2"/>
                        <a:defRPr sz="22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accent2"/>
                        </a:buClr>
                        <a:defRPr sz="20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a:ln>
                            <a:noFill/>
                          </a:ln>
                          <a:solidFill>
                            <a:schemeClr val="tx1"/>
                          </a:solidFill>
                          <a:effectLst/>
                          <a:latin typeface="Tahoma" panose="020B0604030504040204" pitchFamily="34" charset="0"/>
                          <a:ea typeface="宋体" panose="02010600030101010101" pitchFamily="2" charset="-122"/>
                        </a:rPr>
                        <a:t>r</a:t>
                      </a:r>
                    </a:p>
                  </a:txBody>
                  <a:tcPr marT="45642" marB="4564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4543" name="Text Box 72">
            <a:extLst>
              <a:ext uri="{FF2B5EF4-FFF2-40B4-BE49-F238E27FC236}">
                <a16:creationId xmlns:a16="http://schemas.microsoft.com/office/drawing/2014/main" id="{207AA700-3922-FF45-86A4-9429778D5D0E}"/>
              </a:ext>
            </a:extLst>
          </p:cNvPr>
          <p:cNvSpPr txBox="1">
            <a:spLocks noChangeArrowheads="1"/>
          </p:cNvSpPr>
          <p:nvPr/>
        </p:nvSpPr>
        <p:spPr bwMode="auto">
          <a:xfrm>
            <a:off x="6321425" y="2049463"/>
            <a:ext cx="1295400" cy="400050"/>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zh-CN" altLang="en-US" sz="20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客体</a:t>
            </a:r>
            <a:r>
              <a:rPr kumimoji="1" lang="en-US" altLang="zh-CN" sz="20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文件</a:t>
            </a:r>
            <a:r>
              <a:rPr kumimoji="1" lang="en-US" altLang="zh-CN" sz="20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4544" name="Text Box 73">
            <a:extLst>
              <a:ext uri="{FF2B5EF4-FFF2-40B4-BE49-F238E27FC236}">
                <a16:creationId xmlns:a16="http://schemas.microsoft.com/office/drawing/2014/main" id="{154A273A-CE04-1748-80D2-2D07A0692BA9}"/>
              </a:ext>
            </a:extLst>
          </p:cNvPr>
          <p:cNvSpPr txBox="1">
            <a:spLocks noChangeArrowheads="1"/>
          </p:cNvSpPr>
          <p:nvPr/>
        </p:nvSpPr>
        <p:spPr bwMode="auto">
          <a:xfrm>
            <a:off x="6550025" y="2593975"/>
            <a:ext cx="838200" cy="400050"/>
          </a:xfrm>
          <a:prstGeom prst="rect">
            <a:avLst/>
          </a:prstGeom>
          <a:noFill/>
          <a:ln w="9525">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File1</a:t>
            </a:r>
          </a:p>
        </p:txBody>
      </p:sp>
      <p:sp>
        <p:nvSpPr>
          <p:cNvPr id="64545" name="Text Box 74">
            <a:extLst>
              <a:ext uri="{FF2B5EF4-FFF2-40B4-BE49-F238E27FC236}">
                <a16:creationId xmlns:a16="http://schemas.microsoft.com/office/drawing/2014/main" id="{24BF375E-B881-4448-927D-BF4BC120EE1F}"/>
              </a:ext>
            </a:extLst>
          </p:cNvPr>
          <p:cNvSpPr txBox="1">
            <a:spLocks noChangeArrowheads="1"/>
          </p:cNvSpPr>
          <p:nvPr/>
        </p:nvSpPr>
        <p:spPr bwMode="auto">
          <a:xfrm>
            <a:off x="6550025" y="3817938"/>
            <a:ext cx="838200" cy="400050"/>
          </a:xfrm>
          <a:prstGeom prst="rect">
            <a:avLst/>
          </a:prstGeom>
          <a:noFill/>
          <a:ln w="9525">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File2</a:t>
            </a:r>
          </a:p>
        </p:txBody>
      </p:sp>
      <p:sp>
        <p:nvSpPr>
          <p:cNvPr id="64546" name="Text Box 76">
            <a:extLst>
              <a:ext uri="{FF2B5EF4-FFF2-40B4-BE49-F238E27FC236}">
                <a16:creationId xmlns:a16="http://schemas.microsoft.com/office/drawing/2014/main" id="{66871F3B-51F8-3740-A53B-EF0B6BDA575C}"/>
              </a:ext>
            </a:extLst>
          </p:cNvPr>
          <p:cNvSpPr txBox="1">
            <a:spLocks noChangeArrowheads="1"/>
          </p:cNvSpPr>
          <p:nvPr/>
        </p:nvSpPr>
        <p:spPr bwMode="auto">
          <a:xfrm>
            <a:off x="6550025" y="4879975"/>
            <a:ext cx="838200" cy="400050"/>
          </a:xfrm>
          <a:prstGeom prst="rect">
            <a:avLst/>
          </a:prstGeom>
          <a:noFill/>
          <a:ln w="9525">
            <a:solidFill>
              <a:schemeClr val="tx1"/>
            </a:solidFill>
            <a:miter lim="800000"/>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File3</a:t>
            </a:r>
          </a:p>
        </p:txBody>
      </p:sp>
      <p:sp>
        <p:nvSpPr>
          <p:cNvPr id="64547" name="Line 77">
            <a:extLst>
              <a:ext uri="{FF2B5EF4-FFF2-40B4-BE49-F238E27FC236}">
                <a16:creationId xmlns:a16="http://schemas.microsoft.com/office/drawing/2014/main" id="{4FCF9B99-05FA-0C4F-830C-3E52BD83A05A}"/>
              </a:ext>
            </a:extLst>
          </p:cNvPr>
          <p:cNvSpPr>
            <a:spLocks noChangeShapeType="1"/>
          </p:cNvSpPr>
          <p:nvPr/>
        </p:nvSpPr>
        <p:spPr bwMode="auto">
          <a:xfrm>
            <a:off x="5254625" y="2746375"/>
            <a:ext cx="1295400" cy="0"/>
          </a:xfrm>
          <a:prstGeom prst="line">
            <a:avLst/>
          </a:prstGeom>
          <a:noFill/>
          <a:ln w="9525">
            <a:solidFill>
              <a:schemeClr val="tx1"/>
            </a:solidFill>
            <a:miter lim="800000"/>
            <a:tailEnd type="triangle" w="med" len="med"/>
          </a:ln>
        </p:spPr>
        <p:txBody>
          <a:bodyPr wrap="none"/>
          <a:lstStyle/>
          <a:p>
            <a:pPr>
              <a:defRPr/>
            </a:pPr>
            <a:endParaRPr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4548" name="Line 78">
            <a:extLst>
              <a:ext uri="{FF2B5EF4-FFF2-40B4-BE49-F238E27FC236}">
                <a16:creationId xmlns:a16="http://schemas.microsoft.com/office/drawing/2014/main" id="{76F82C86-7FCE-0546-9176-C4F6499D537A}"/>
              </a:ext>
            </a:extLst>
          </p:cNvPr>
          <p:cNvSpPr>
            <a:spLocks noChangeShapeType="1"/>
          </p:cNvSpPr>
          <p:nvPr/>
        </p:nvSpPr>
        <p:spPr bwMode="auto">
          <a:xfrm>
            <a:off x="5254625" y="3127375"/>
            <a:ext cx="1295400" cy="914400"/>
          </a:xfrm>
          <a:prstGeom prst="line">
            <a:avLst/>
          </a:prstGeom>
          <a:noFill/>
          <a:ln w="9525">
            <a:solidFill>
              <a:schemeClr val="tx1"/>
            </a:solidFill>
            <a:miter lim="800000"/>
            <a:tailEnd type="triangle" w="med" len="med"/>
          </a:ln>
        </p:spPr>
        <p:txBody>
          <a:bodyPr wrap="none"/>
          <a:lstStyle/>
          <a:p>
            <a:pPr>
              <a:defRPr/>
            </a:pPr>
            <a:endParaRPr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4549" name="Line 79">
            <a:extLst>
              <a:ext uri="{FF2B5EF4-FFF2-40B4-BE49-F238E27FC236}">
                <a16:creationId xmlns:a16="http://schemas.microsoft.com/office/drawing/2014/main" id="{0E453ADA-6D99-D749-B9A7-D1EA7EE58466}"/>
              </a:ext>
            </a:extLst>
          </p:cNvPr>
          <p:cNvSpPr>
            <a:spLocks noChangeShapeType="1"/>
          </p:cNvSpPr>
          <p:nvPr/>
        </p:nvSpPr>
        <p:spPr bwMode="auto">
          <a:xfrm flipV="1">
            <a:off x="5254625" y="4068763"/>
            <a:ext cx="1295400" cy="582612"/>
          </a:xfrm>
          <a:prstGeom prst="line">
            <a:avLst/>
          </a:prstGeom>
          <a:noFill/>
          <a:ln w="9525">
            <a:solidFill>
              <a:schemeClr val="tx1"/>
            </a:solidFill>
            <a:miter lim="800000"/>
            <a:tailEnd type="triangle" w="med" len="med"/>
          </a:ln>
        </p:spPr>
        <p:txBody>
          <a:bodyPr wrap="none"/>
          <a:lstStyle/>
          <a:p>
            <a:pPr>
              <a:defRPr/>
            </a:pPr>
            <a:endParaRPr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4550" name="Line 80">
            <a:extLst>
              <a:ext uri="{FF2B5EF4-FFF2-40B4-BE49-F238E27FC236}">
                <a16:creationId xmlns:a16="http://schemas.microsoft.com/office/drawing/2014/main" id="{1F0A9A4B-D379-554F-8E65-EA219542F4FF}"/>
              </a:ext>
            </a:extLst>
          </p:cNvPr>
          <p:cNvSpPr>
            <a:spLocks noChangeShapeType="1"/>
          </p:cNvSpPr>
          <p:nvPr/>
        </p:nvSpPr>
        <p:spPr bwMode="auto">
          <a:xfrm>
            <a:off x="5254625" y="3508375"/>
            <a:ext cx="1295400" cy="1524000"/>
          </a:xfrm>
          <a:prstGeom prst="line">
            <a:avLst/>
          </a:prstGeom>
          <a:noFill/>
          <a:ln w="9525">
            <a:solidFill>
              <a:schemeClr val="tx1"/>
            </a:solidFill>
            <a:miter lim="800000"/>
            <a:tailEnd type="triangle" w="med" len="med"/>
          </a:ln>
        </p:spPr>
        <p:txBody>
          <a:bodyPr wrap="none"/>
          <a:lstStyle/>
          <a:p>
            <a:pPr>
              <a:defRPr/>
            </a:pPr>
            <a:endParaRPr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4551" name="Text Box 81">
            <a:extLst>
              <a:ext uri="{FF2B5EF4-FFF2-40B4-BE49-F238E27FC236}">
                <a16:creationId xmlns:a16="http://schemas.microsoft.com/office/drawing/2014/main" id="{241B0EC0-0D1E-C54D-A57A-818E83A3D095}"/>
              </a:ext>
            </a:extLst>
          </p:cNvPr>
          <p:cNvSpPr txBox="1">
            <a:spLocks noChangeArrowheads="1"/>
          </p:cNvSpPr>
          <p:nvPr/>
        </p:nvSpPr>
        <p:spPr bwMode="auto">
          <a:xfrm>
            <a:off x="1292225" y="3503613"/>
            <a:ext cx="1371600" cy="1785937"/>
          </a:xfrm>
          <a:prstGeom prst="rect">
            <a:avLst/>
          </a:prstGeom>
          <a:noFill/>
          <a:ln>
            <a:noFill/>
          </a:ln>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o:Owner</a:t>
            </a:r>
          </a:p>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r:Read</a:t>
            </a:r>
          </a:p>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w:Write</a:t>
            </a:r>
          </a:p>
          <a:p>
            <a:pPr eaLnBrk="1" hangingPunct="1">
              <a:spcBef>
                <a:spcPct val="50000"/>
              </a:spcBef>
              <a:buClrTx/>
              <a:buFontTx/>
              <a:buNone/>
              <a:defRPr/>
            </a:pPr>
            <a:r>
              <a:rPr kumimoji="1" lang="en-US" altLang="zh-CN" sz="2000" b="1">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e:Excute</a:t>
            </a:r>
          </a:p>
        </p:txBody>
      </p:sp>
      <p:sp>
        <p:nvSpPr>
          <p:cNvPr id="64552" name="Text Box 85">
            <a:extLst>
              <a:ext uri="{FF2B5EF4-FFF2-40B4-BE49-F238E27FC236}">
                <a16:creationId xmlns:a16="http://schemas.microsoft.com/office/drawing/2014/main" id="{B39625EB-D703-B04E-972A-D1A13B0B79EF}"/>
              </a:ext>
            </a:extLst>
          </p:cNvPr>
          <p:cNvSpPr txBox="1">
            <a:spLocks noChangeArrowheads="1"/>
          </p:cNvSpPr>
          <p:nvPr/>
        </p:nvSpPr>
        <p:spPr bwMode="auto">
          <a:xfrm>
            <a:off x="4440238" y="2193925"/>
            <a:ext cx="1295400" cy="400050"/>
          </a:xfrm>
          <a:prstGeom prst="rect">
            <a:avLst/>
          </a:prstGeom>
          <a:noFill/>
          <a:ln>
            <a:noFill/>
          </a:ln>
        </p:spPr>
        <p:txBody>
          <a:bodyPr>
            <a:spAutoFit/>
          </a:bodyPr>
          <a:lstStyle/>
          <a:p>
            <a:pPr eaLnBrk="1" hangingPunct="1">
              <a:spcBef>
                <a:spcPct val="50000"/>
              </a:spcBef>
              <a:defRPr/>
            </a:pPr>
            <a:r>
              <a:rPr lang="zh-CN" altLang="en-US" sz="2000" b="1">
                <a:solidFill>
                  <a:srgbClr val="0033CC"/>
                </a:solidFill>
                <a:effectLst>
                  <a:outerShdw blurRad="38100" dist="38100" dir="2700000" algn="tl">
                    <a:srgbClr val="C0C0C0"/>
                  </a:outerShdw>
                </a:effectLst>
                <a:latin typeface="Times New Roman" panose="02020603050405020304" pitchFamily="18" charset="0"/>
              </a:rPr>
              <a:t>权限</a:t>
            </a:r>
          </a:p>
        </p:txBody>
      </p:sp>
      <p:sp>
        <p:nvSpPr>
          <p:cNvPr id="64553" name="Line 86">
            <a:extLst>
              <a:ext uri="{FF2B5EF4-FFF2-40B4-BE49-F238E27FC236}">
                <a16:creationId xmlns:a16="http://schemas.microsoft.com/office/drawing/2014/main" id="{19A37A90-3FFD-A545-A2C2-86408CC1591E}"/>
              </a:ext>
            </a:extLst>
          </p:cNvPr>
          <p:cNvSpPr>
            <a:spLocks noChangeShapeType="1"/>
          </p:cNvSpPr>
          <p:nvPr/>
        </p:nvSpPr>
        <p:spPr bwMode="auto">
          <a:xfrm>
            <a:off x="5254625" y="5032375"/>
            <a:ext cx="1295400" cy="34925"/>
          </a:xfrm>
          <a:prstGeom prst="line">
            <a:avLst/>
          </a:prstGeom>
          <a:noFill/>
          <a:ln w="9525">
            <a:solidFill>
              <a:schemeClr val="tx1"/>
            </a:solidFill>
            <a:miter lim="800000"/>
            <a:tailEnd type="triangle" w="med" len="med"/>
          </a:ln>
        </p:spPr>
        <p:txBody>
          <a:bodyPr wrap="none"/>
          <a:lstStyle/>
          <a:p>
            <a:pPr>
              <a:defRPr/>
            </a:pPr>
            <a:endParaRPr lang="zh-CN" altLang="en-US" sz="2000" b="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4554" name="Text Box 87">
            <a:extLst>
              <a:ext uri="{FF2B5EF4-FFF2-40B4-BE49-F238E27FC236}">
                <a16:creationId xmlns:a16="http://schemas.microsoft.com/office/drawing/2014/main" id="{D4F77C16-3C57-964F-9F75-9516B879EB20}"/>
              </a:ext>
            </a:extLst>
          </p:cNvPr>
          <p:cNvSpPr txBox="1">
            <a:spLocks noChangeArrowheads="1"/>
          </p:cNvSpPr>
          <p:nvPr/>
        </p:nvSpPr>
        <p:spPr bwMode="auto">
          <a:xfrm>
            <a:off x="3563938" y="3706813"/>
            <a:ext cx="1922462" cy="400050"/>
          </a:xfrm>
          <a:prstGeom prst="rect">
            <a:avLst/>
          </a:prstGeom>
          <a:noFill/>
          <a:ln>
            <a:noFill/>
          </a:ln>
        </p:spPr>
        <p:txBody>
          <a:bodyPr>
            <a:spAutoFit/>
          </a:bodyPr>
          <a:lstStyle/>
          <a:p>
            <a:pPr eaLnBrk="1" hangingPunct="1">
              <a:spcBef>
                <a:spcPct val="50000"/>
              </a:spcBef>
              <a:defRPr/>
            </a:pPr>
            <a:r>
              <a:rPr lang="zh-CN" altLang="en-US" sz="2000" b="1">
                <a:solidFill>
                  <a:srgbClr val="0033CC"/>
                </a:solidFill>
                <a:effectLst>
                  <a:outerShdw blurRad="38100" dist="38100" dir="2700000" algn="tl">
                    <a:srgbClr val="C0C0C0"/>
                  </a:outerShdw>
                </a:effectLst>
                <a:latin typeface="Times New Roman" panose="02020603050405020304" pitchFamily="18" charset="0"/>
              </a:rPr>
              <a:t>用户</a:t>
            </a:r>
            <a:r>
              <a:rPr lang="en-US" altLang="zh-CN" sz="2000" b="1">
                <a:solidFill>
                  <a:srgbClr val="0033CC"/>
                </a:solidFill>
                <a:effectLst>
                  <a:outerShdw blurRad="38100" dist="38100" dir="2700000" algn="tl">
                    <a:srgbClr val="C0C0C0"/>
                  </a:outerShdw>
                </a:effectLst>
                <a:latin typeface="Times New Roman" panose="02020603050405020304" pitchFamily="18" charset="0"/>
              </a:rPr>
              <a:t>A</a:t>
            </a:r>
            <a:r>
              <a:rPr lang="zh-CN" altLang="en-US" sz="2000" b="1">
                <a:solidFill>
                  <a:srgbClr val="0033CC"/>
                </a:solidFill>
                <a:effectLst>
                  <a:outerShdw blurRad="38100" dist="38100" dir="2700000" algn="tl">
                    <a:srgbClr val="C0C0C0"/>
                  </a:outerShdw>
                </a:effectLst>
                <a:latin typeface="Times New Roman" panose="02020603050405020304" pitchFamily="18" charset="0"/>
              </a:rPr>
              <a:t>的目录</a:t>
            </a:r>
          </a:p>
        </p:txBody>
      </p:sp>
      <p:sp>
        <p:nvSpPr>
          <p:cNvPr id="64555" name="Text Box 88">
            <a:extLst>
              <a:ext uri="{FF2B5EF4-FFF2-40B4-BE49-F238E27FC236}">
                <a16:creationId xmlns:a16="http://schemas.microsoft.com/office/drawing/2014/main" id="{A3A97214-8E9A-AE42-B080-7E7334846883}"/>
              </a:ext>
            </a:extLst>
          </p:cNvPr>
          <p:cNvSpPr txBox="1">
            <a:spLocks noChangeArrowheads="1"/>
          </p:cNvSpPr>
          <p:nvPr/>
        </p:nvSpPr>
        <p:spPr bwMode="auto">
          <a:xfrm>
            <a:off x="3563938" y="5289550"/>
            <a:ext cx="1831975" cy="400050"/>
          </a:xfrm>
          <a:prstGeom prst="rect">
            <a:avLst/>
          </a:prstGeom>
          <a:noFill/>
          <a:ln>
            <a:noFill/>
          </a:ln>
        </p:spPr>
        <p:txBody>
          <a:bodyPr>
            <a:spAutoFit/>
          </a:bodyPr>
          <a:lstStyle/>
          <a:p>
            <a:pPr eaLnBrk="1" hangingPunct="1">
              <a:spcBef>
                <a:spcPct val="50000"/>
              </a:spcBef>
              <a:defRPr/>
            </a:pPr>
            <a:r>
              <a:rPr lang="zh-CN" altLang="en-US" sz="2000" b="1">
                <a:solidFill>
                  <a:srgbClr val="0033CC"/>
                </a:solidFill>
                <a:effectLst>
                  <a:outerShdw blurRad="38100" dist="38100" dir="2700000" algn="tl">
                    <a:srgbClr val="C0C0C0"/>
                  </a:outerShdw>
                </a:effectLst>
                <a:latin typeface="Times New Roman" panose="02020603050405020304" pitchFamily="18" charset="0"/>
              </a:rPr>
              <a:t>用户</a:t>
            </a:r>
            <a:r>
              <a:rPr lang="en-US" altLang="zh-CN" sz="2000" b="1">
                <a:solidFill>
                  <a:srgbClr val="0033CC"/>
                </a:solidFill>
                <a:effectLst>
                  <a:outerShdw blurRad="38100" dist="38100" dir="2700000" algn="tl">
                    <a:srgbClr val="C0C0C0"/>
                  </a:outerShdw>
                </a:effectLst>
                <a:latin typeface="Times New Roman" panose="02020603050405020304" pitchFamily="18" charset="0"/>
              </a:rPr>
              <a:t>B</a:t>
            </a:r>
            <a:r>
              <a:rPr lang="zh-CN" altLang="en-US" sz="2000" b="1">
                <a:solidFill>
                  <a:srgbClr val="0033CC"/>
                </a:solidFill>
                <a:effectLst>
                  <a:outerShdw blurRad="38100" dist="38100" dir="2700000" algn="tl">
                    <a:srgbClr val="C0C0C0"/>
                  </a:outerShdw>
                </a:effectLst>
                <a:latin typeface="Times New Roman" panose="02020603050405020304" pitchFamily="18" charset="0"/>
              </a:rPr>
              <a:t>的目录</a:t>
            </a:r>
          </a:p>
        </p:txBody>
      </p:sp>
      <p:sp>
        <p:nvSpPr>
          <p:cNvPr id="64556" name="Text Box 89">
            <a:extLst>
              <a:ext uri="{FF2B5EF4-FFF2-40B4-BE49-F238E27FC236}">
                <a16:creationId xmlns:a16="http://schemas.microsoft.com/office/drawing/2014/main" id="{9CBC2EA3-9D53-FE42-98B3-CD00CD43AA4E}"/>
              </a:ext>
            </a:extLst>
          </p:cNvPr>
          <p:cNvSpPr txBox="1">
            <a:spLocks noChangeArrowheads="1"/>
          </p:cNvSpPr>
          <p:nvPr/>
        </p:nvSpPr>
        <p:spPr bwMode="auto">
          <a:xfrm>
            <a:off x="3578225" y="1674813"/>
            <a:ext cx="1600200" cy="400050"/>
          </a:xfrm>
          <a:prstGeom prst="rect">
            <a:avLst/>
          </a:prstGeom>
          <a:noFill/>
          <a:ln>
            <a:noFill/>
          </a:ln>
        </p:spPr>
        <p:txBody>
          <a:bodyPr>
            <a:spAutoFit/>
          </a:bodyPr>
          <a:lstStyle/>
          <a:p>
            <a:pPr eaLnBrk="1" hangingPunct="1">
              <a:spcBef>
                <a:spcPct val="50000"/>
              </a:spcBef>
              <a:defRPr/>
            </a:pPr>
            <a:r>
              <a:rPr lang="zh-CN" altLang="en-US" sz="2000" b="1">
                <a:solidFill>
                  <a:srgbClr val="0033CC"/>
                </a:solidFill>
                <a:effectLst>
                  <a:outerShdw blurRad="38100" dist="38100" dir="2700000" algn="tl">
                    <a:srgbClr val="C0C0C0"/>
                  </a:outerShdw>
                </a:effectLst>
                <a:latin typeface="Times New Roman" panose="02020603050405020304" pitchFamily="18" charset="0"/>
              </a:rPr>
              <a:t>访问能力表</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69BF8FB4-1BA6-6B4A-AA7B-345CF0383159}"/>
              </a:ext>
            </a:extLst>
          </p:cNvPr>
          <p:cNvSpPr>
            <a:spLocks noGrp="1"/>
          </p:cNvSpPr>
          <p:nvPr>
            <p:ph type="title"/>
          </p:nvPr>
        </p:nvSpPr>
        <p:spPr>
          <a:xfrm>
            <a:off x="684213" y="906463"/>
            <a:ext cx="6513512" cy="4889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访问控制表与访问能力表的比较</a:t>
            </a:r>
          </a:p>
        </p:txBody>
      </p:sp>
      <p:graphicFrame>
        <p:nvGraphicFramePr>
          <p:cNvPr id="4" name="表格 3">
            <a:extLst>
              <a:ext uri="{FF2B5EF4-FFF2-40B4-BE49-F238E27FC236}">
                <a16:creationId xmlns:a16="http://schemas.microsoft.com/office/drawing/2014/main" id="{AF12B27C-E0A9-D648-BF7E-28FEF3B20270}"/>
              </a:ext>
            </a:extLst>
          </p:cNvPr>
          <p:cNvGraphicFramePr>
            <a:graphicFrameLocks noGrp="1"/>
          </p:cNvGraphicFramePr>
          <p:nvPr/>
        </p:nvGraphicFramePr>
        <p:xfrm>
          <a:off x="1258888" y="2024063"/>
          <a:ext cx="6837363" cy="3125790"/>
        </p:xfrm>
        <a:graphic>
          <a:graphicData uri="http://schemas.openxmlformats.org/drawingml/2006/table">
            <a:tbl>
              <a:tblPr firstRow="1" bandRow="1">
                <a:tableStyleId>{5C22544A-7EE6-4342-B048-85BDC9FD1C3A}</a:tableStyleId>
              </a:tblPr>
              <a:tblGrid>
                <a:gridCol w="2279121">
                  <a:extLst>
                    <a:ext uri="{9D8B030D-6E8A-4147-A177-3AD203B41FA5}">
                      <a16:colId xmlns:a16="http://schemas.microsoft.com/office/drawing/2014/main" val="20000"/>
                    </a:ext>
                  </a:extLst>
                </a:gridCol>
                <a:gridCol w="2279121">
                  <a:extLst>
                    <a:ext uri="{9D8B030D-6E8A-4147-A177-3AD203B41FA5}">
                      <a16:colId xmlns:a16="http://schemas.microsoft.com/office/drawing/2014/main" val="20001"/>
                    </a:ext>
                  </a:extLst>
                </a:gridCol>
                <a:gridCol w="2279121">
                  <a:extLst>
                    <a:ext uri="{9D8B030D-6E8A-4147-A177-3AD203B41FA5}">
                      <a16:colId xmlns:a16="http://schemas.microsoft.com/office/drawing/2014/main" val="20002"/>
                    </a:ext>
                  </a:extLst>
                </a:gridCol>
              </a:tblGrid>
              <a:tr h="520965">
                <a:tc>
                  <a:txBody>
                    <a:bodyPr/>
                    <a:lstStyle/>
                    <a:p>
                      <a:pPr algn="ctr"/>
                      <a:endParaRPr lang="zh-CN" altLang="en-US" sz="2400" b="1" dirty="0">
                        <a:latin typeface="Times New Roman" panose="02020603050405020304" pitchFamily="18" charset="0"/>
                        <a:cs typeface="Times New Roman" panose="02020603050405020304" pitchFamily="18" charset="0"/>
                      </a:endParaRPr>
                    </a:p>
                  </a:txBody>
                  <a:tcPr marL="91447" marR="91447" marT="45715" marB="45715">
                    <a:solidFill>
                      <a:srgbClr val="00B0F0"/>
                    </a:solidFill>
                  </a:tcPr>
                </a:tc>
                <a:tc>
                  <a:txBody>
                    <a:bodyPr/>
                    <a:lstStyle/>
                    <a:p>
                      <a:pPr algn="ctr"/>
                      <a:r>
                        <a:rPr lang="en-US" altLang="zh-CN" sz="2400" b="1" dirty="0">
                          <a:latin typeface="Times New Roman" panose="02020603050405020304" pitchFamily="18" charset="0"/>
                          <a:cs typeface="Times New Roman" panose="02020603050405020304" pitchFamily="18" charset="0"/>
                        </a:rPr>
                        <a:t>ACL</a:t>
                      </a:r>
                      <a:endParaRPr lang="zh-CN" altLang="en-US" sz="2400" b="1" dirty="0">
                        <a:latin typeface="Times New Roman" panose="02020603050405020304" pitchFamily="18" charset="0"/>
                        <a:cs typeface="Times New Roman" panose="02020603050405020304" pitchFamily="18" charset="0"/>
                      </a:endParaRPr>
                    </a:p>
                  </a:txBody>
                  <a:tcPr marL="91447" marR="91447" marT="45715" marB="45715">
                    <a:solidFill>
                      <a:srgbClr val="00B0F0"/>
                    </a:solidFill>
                  </a:tcPr>
                </a:tc>
                <a:tc>
                  <a:txBody>
                    <a:bodyPr/>
                    <a:lstStyle/>
                    <a:p>
                      <a:pPr algn="ctr"/>
                      <a:r>
                        <a:rPr lang="en-US" altLang="zh-CN" sz="2400" b="1" dirty="0">
                          <a:latin typeface="Times New Roman" panose="02020603050405020304" pitchFamily="18" charset="0"/>
                          <a:cs typeface="Times New Roman" panose="02020603050405020304" pitchFamily="18" charset="0"/>
                        </a:rPr>
                        <a:t>CL</a:t>
                      </a:r>
                      <a:endParaRPr lang="zh-CN" altLang="en-US" sz="2400" b="1" dirty="0">
                        <a:latin typeface="Times New Roman" panose="02020603050405020304" pitchFamily="18" charset="0"/>
                        <a:cs typeface="Times New Roman" panose="02020603050405020304" pitchFamily="18" charset="0"/>
                      </a:endParaRPr>
                    </a:p>
                  </a:txBody>
                  <a:tcPr marL="91447" marR="91447" marT="45715" marB="45715">
                    <a:solidFill>
                      <a:srgbClr val="00B0F0"/>
                    </a:solidFill>
                  </a:tcPr>
                </a:tc>
                <a:extLst>
                  <a:ext uri="{0D108BD9-81ED-4DB2-BD59-A6C34878D82A}">
                    <a16:rowId xmlns:a16="http://schemas.microsoft.com/office/drawing/2014/main" val="10000"/>
                  </a:ext>
                </a:extLst>
              </a:tr>
              <a:tr h="520965">
                <a:tc>
                  <a:txBody>
                    <a:bodyPr/>
                    <a:lstStyle/>
                    <a:p>
                      <a:pPr algn="ctr"/>
                      <a:r>
                        <a:rPr lang="zh-CN" altLang="en-US" sz="2400" b="1" dirty="0">
                          <a:latin typeface="Times New Roman" panose="02020603050405020304" pitchFamily="18" charset="0"/>
                          <a:cs typeface="Times New Roman" panose="02020603050405020304" pitchFamily="18" charset="0"/>
                        </a:rPr>
                        <a:t>保存位置</a:t>
                      </a:r>
                    </a:p>
                  </a:txBody>
                  <a:tcPr marL="91447" marR="91447" marT="45715" marB="45715">
                    <a:solidFill>
                      <a:srgbClr val="00B0F0"/>
                    </a:solidFill>
                  </a:tcPr>
                </a:tc>
                <a:tc>
                  <a:txBody>
                    <a:bodyPr/>
                    <a:lstStyle/>
                    <a:p>
                      <a:pPr algn="ctr"/>
                      <a:r>
                        <a:rPr lang="zh-CN" altLang="en-US" sz="2400" b="1" dirty="0">
                          <a:solidFill>
                            <a:srgbClr val="0033CC"/>
                          </a:solidFill>
                          <a:latin typeface="Times New Roman" panose="02020603050405020304" pitchFamily="18" charset="0"/>
                          <a:cs typeface="Times New Roman" panose="02020603050405020304" pitchFamily="18" charset="0"/>
                        </a:rPr>
                        <a:t>客体</a:t>
                      </a:r>
                    </a:p>
                  </a:txBody>
                  <a:tcPr marL="91447" marR="91447" marT="45715" marB="45715">
                    <a:solidFill>
                      <a:srgbClr val="00B0F0"/>
                    </a:solidFill>
                  </a:tcPr>
                </a:tc>
                <a:tc>
                  <a:txBody>
                    <a:bodyPr/>
                    <a:lstStyle/>
                    <a:p>
                      <a:pPr algn="ctr"/>
                      <a:r>
                        <a:rPr lang="zh-CN" altLang="en-US" sz="2400" b="1" dirty="0">
                          <a:latin typeface="Times New Roman" panose="02020603050405020304" pitchFamily="18" charset="0"/>
                          <a:cs typeface="Times New Roman" panose="02020603050405020304" pitchFamily="18" charset="0"/>
                        </a:rPr>
                        <a:t>主体</a:t>
                      </a:r>
                    </a:p>
                  </a:txBody>
                  <a:tcPr marL="91447" marR="91447" marT="45715" marB="45715">
                    <a:solidFill>
                      <a:srgbClr val="00B0F0"/>
                    </a:solidFill>
                  </a:tcPr>
                </a:tc>
                <a:extLst>
                  <a:ext uri="{0D108BD9-81ED-4DB2-BD59-A6C34878D82A}">
                    <a16:rowId xmlns:a16="http://schemas.microsoft.com/office/drawing/2014/main" val="10001"/>
                  </a:ext>
                </a:extLst>
              </a:tr>
              <a:tr h="52096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latin typeface="Times New Roman" panose="02020603050405020304" pitchFamily="18" charset="0"/>
                          <a:cs typeface="Times New Roman" panose="02020603050405020304" pitchFamily="18" charset="0"/>
                        </a:rPr>
                        <a:t>浏览访问权限</a:t>
                      </a:r>
                    </a:p>
                  </a:txBody>
                  <a:tcPr marL="91447" marR="91447" marT="45715" marB="45715">
                    <a:solidFill>
                      <a:srgbClr val="00B0F0"/>
                    </a:solidFill>
                  </a:tcPr>
                </a:tc>
                <a:tc>
                  <a:txBody>
                    <a:bodyPr/>
                    <a:lstStyle/>
                    <a:p>
                      <a:pPr algn="ctr"/>
                      <a:r>
                        <a:rPr lang="zh-CN" altLang="en-US" sz="2400" b="1" dirty="0">
                          <a:solidFill>
                            <a:srgbClr val="0033CC"/>
                          </a:solidFill>
                          <a:latin typeface="Times New Roman" panose="02020603050405020304" pitchFamily="18" charset="0"/>
                          <a:cs typeface="Times New Roman" panose="02020603050405020304" pitchFamily="18" charset="0"/>
                        </a:rPr>
                        <a:t>容易</a:t>
                      </a:r>
                    </a:p>
                  </a:txBody>
                  <a:tcPr marL="91447" marR="91447" marT="45715" marB="45715">
                    <a:solidFill>
                      <a:srgbClr val="00B0F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latin typeface="Times New Roman" panose="02020603050405020304" pitchFamily="18" charset="0"/>
                          <a:cs typeface="Times New Roman" panose="02020603050405020304" pitchFamily="18" charset="0"/>
                        </a:rPr>
                        <a:t>困难</a:t>
                      </a:r>
                    </a:p>
                  </a:txBody>
                  <a:tcPr marL="91447" marR="91447" marT="45715" marB="45715">
                    <a:solidFill>
                      <a:srgbClr val="00B0F0"/>
                    </a:solidFill>
                  </a:tcPr>
                </a:tc>
                <a:extLst>
                  <a:ext uri="{0D108BD9-81ED-4DB2-BD59-A6C34878D82A}">
                    <a16:rowId xmlns:a16="http://schemas.microsoft.com/office/drawing/2014/main" val="10002"/>
                  </a:ext>
                </a:extLst>
              </a:tr>
              <a:tr h="52096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latin typeface="Times New Roman" panose="02020603050405020304" pitchFamily="18" charset="0"/>
                          <a:cs typeface="Times New Roman" panose="02020603050405020304" pitchFamily="18" charset="0"/>
                        </a:rPr>
                        <a:t>访问权限传递</a:t>
                      </a:r>
                    </a:p>
                  </a:txBody>
                  <a:tcPr marL="91447" marR="91447" marT="45715" marB="45715">
                    <a:solidFill>
                      <a:srgbClr val="00B0F0"/>
                    </a:solidFill>
                  </a:tcPr>
                </a:tc>
                <a:tc>
                  <a:txBody>
                    <a:bodyPr/>
                    <a:lstStyle/>
                    <a:p>
                      <a:pPr algn="ctr"/>
                      <a:r>
                        <a:rPr lang="zh-CN" altLang="en-US" sz="2400" b="1" dirty="0">
                          <a:solidFill>
                            <a:srgbClr val="0033CC"/>
                          </a:solidFill>
                          <a:latin typeface="Times New Roman" panose="02020603050405020304" pitchFamily="18" charset="0"/>
                          <a:cs typeface="Times New Roman" panose="02020603050405020304" pitchFamily="18" charset="0"/>
                        </a:rPr>
                        <a:t>困难</a:t>
                      </a:r>
                    </a:p>
                  </a:txBody>
                  <a:tcPr marL="91447" marR="91447" marT="45715" marB="45715">
                    <a:solidFill>
                      <a:srgbClr val="00B0F0"/>
                    </a:solidFill>
                  </a:tcPr>
                </a:tc>
                <a:tc>
                  <a:txBody>
                    <a:bodyPr/>
                    <a:lstStyle/>
                    <a:p>
                      <a:pPr algn="ctr"/>
                      <a:r>
                        <a:rPr lang="zh-CN" altLang="en-US" sz="2400" b="1" dirty="0">
                          <a:latin typeface="Times New Roman" panose="02020603050405020304" pitchFamily="18" charset="0"/>
                          <a:cs typeface="Times New Roman" panose="02020603050405020304" pitchFamily="18" charset="0"/>
                        </a:rPr>
                        <a:t>容易</a:t>
                      </a:r>
                    </a:p>
                  </a:txBody>
                  <a:tcPr marL="91447" marR="91447" marT="45715" marB="45715">
                    <a:solidFill>
                      <a:srgbClr val="00B0F0"/>
                    </a:solidFill>
                  </a:tcPr>
                </a:tc>
                <a:extLst>
                  <a:ext uri="{0D108BD9-81ED-4DB2-BD59-A6C34878D82A}">
                    <a16:rowId xmlns:a16="http://schemas.microsoft.com/office/drawing/2014/main" val="10003"/>
                  </a:ext>
                </a:extLst>
              </a:tr>
              <a:tr h="52096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latin typeface="Times New Roman" panose="02020603050405020304" pitchFamily="18" charset="0"/>
                          <a:cs typeface="Times New Roman" panose="02020603050405020304" pitchFamily="18" charset="0"/>
                        </a:rPr>
                        <a:t>访问权限回收</a:t>
                      </a:r>
                    </a:p>
                  </a:txBody>
                  <a:tcPr marL="91447" marR="91447" marT="45715" marB="45715">
                    <a:solidFill>
                      <a:srgbClr val="00B0F0"/>
                    </a:solidFill>
                  </a:tcPr>
                </a:tc>
                <a:tc>
                  <a:txBody>
                    <a:bodyPr/>
                    <a:lstStyle/>
                    <a:p>
                      <a:pPr algn="ctr"/>
                      <a:r>
                        <a:rPr lang="zh-CN" altLang="en-US" sz="2400" b="1" dirty="0">
                          <a:solidFill>
                            <a:srgbClr val="0033CC"/>
                          </a:solidFill>
                          <a:latin typeface="Times New Roman" panose="02020603050405020304" pitchFamily="18" charset="0"/>
                          <a:cs typeface="Times New Roman" panose="02020603050405020304" pitchFamily="18" charset="0"/>
                        </a:rPr>
                        <a:t>容易</a:t>
                      </a:r>
                    </a:p>
                  </a:txBody>
                  <a:tcPr marL="91447" marR="91447" marT="45715" marB="45715">
                    <a:solidFill>
                      <a:srgbClr val="00B0F0"/>
                    </a:solidFill>
                  </a:tcPr>
                </a:tc>
                <a:tc>
                  <a:txBody>
                    <a:bodyPr/>
                    <a:lstStyle/>
                    <a:p>
                      <a:pPr algn="ctr"/>
                      <a:r>
                        <a:rPr lang="zh-CN" altLang="en-US" sz="2400" b="1" dirty="0">
                          <a:latin typeface="Times New Roman" panose="02020603050405020304" pitchFamily="18" charset="0"/>
                          <a:cs typeface="Times New Roman" panose="02020603050405020304" pitchFamily="18" charset="0"/>
                        </a:rPr>
                        <a:t>困难</a:t>
                      </a:r>
                    </a:p>
                  </a:txBody>
                  <a:tcPr marL="91447" marR="91447" marT="45715" marB="45715">
                    <a:solidFill>
                      <a:srgbClr val="00B0F0"/>
                    </a:solidFill>
                  </a:tcPr>
                </a:tc>
                <a:extLst>
                  <a:ext uri="{0D108BD9-81ED-4DB2-BD59-A6C34878D82A}">
                    <a16:rowId xmlns:a16="http://schemas.microsoft.com/office/drawing/2014/main" val="10004"/>
                  </a:ext>
                </a:extLst>
              </a:tr>
              <a:tr h="52096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latin typeface="Times New Roman" panose="02020603050405020304" pitchFamily="18" charset="0"/>
                          <a:cs typeface="Times New Roman" panose="02020603050405020304" pitchFamily="18" charset="0"/>
                        </a:rPr>
                        <a:t>使用</a:t>
                      </a:r>
                    </a:p>
                  </a:txBody>
                  <a:tcPr marL="91447" marR="91447" marT="45715" marB="45715">
                    <a:solidFill>
                      <a:srgbClr val="00B0F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0033CC"/>
                          </a:solidFill>
                          <a:latin typeface="Times New Roman" panose="02020603050405020304" pitchFamily="18" charset="0"/>
                          <a:cs typeface="Times New Roman" panose="02020603050405020304" pitchFamily="18" charset="0"/>
                        </a:rPr>
                        <a:t>集中式系统</a:t>
                      </a:r>
                    </a:p>
                  </a:txBody>
                  <a:tcPr marL="91447" marR="91447" marT="45715" marB="45715">
                    <a:solidFill>
                      <a:srgbClr val="00B0F0"/>
                    </a:solidFill>
                  </a:tcPr>
                </a:tc>
                <a:tc>
                  <a:txBody>
                    <a:bodyPr/>
                    <a:lstStyle/>
                    <a:p>
                      <a:pPr algn="ctr"/>
                      <a:r>
                        <a:rPr lang="zh-CN" altLang="en-US" sz="2400" b="1" dirty="0">
                          <a:latin typeface="Times New Roman" panose="02020603050405020304" pitchFamily="18" charset="0"/>
                          <a:cs typeface="Times New Roman" panose="02020603050405020304" pitchFamily="18" charset="0"/>
                        </a:rPr>
                        <a:t>分布式系统</a:t>
                      </a:r>
                    </a:p>
                  </a:txBody>
                  <a:tcPr marL="91447" marR="91447" marT="45715" marB="45715">
                    <a:solidFill>
                      <a:srgbClr val="00B0F0"/>
                    </a:solidFill>
                  </a:tcPr>
                </a:tc>
                <a:extLst>
                  <a:ext uri="{0D108BD9-81ED-4DB2-BD59-A6C34878D82A}">
                    <a16:rowId xmlns:a16="http://schemas.microsoft.com/office/drawing/2014/main" val="10005"/>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02A0E6-F17D-C67E-D4C4-C3D7FD8841E8}"/>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2EB5A469-9E3C-8137-4652-4232C7462861}"/>
              </a:ext>
            </a:extLst>
          </p:cNvPr>
          <p:cNvPicPr>
            <a:picLocks noGrp="1" noChangeAspect="1"/>
          </p:cNvPicPr>
          <p:nvPr>
            <p:ph idx="1"/>
          </p:nvPr>
        </p:nvPicPr>
        <p:blipFill>
          <a:blip r:embed="rId2"/>
          <a:stretch>
            <a:fillRect/>
          </a:stretch>
        </p:blipFill>
        <p:spPr bwMode="auto">
          <a:xfrm>
            <a:off x="1295636" y="980728"/>
            <a:ext cx="637947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B564E710-3959-FF0B-4B0C-2517F281876B}"/>
              </a:ext>
            </a:extLst>
          </p:cNvPr>
          <p:cNvSpPr>
            <a:spLocks noGrp="1"/>
          </p:cNvSpPr>
          <p:nvPr>
            <p:ph type="dt" sz="half" idx="11"/>
          </p:nvPr>
        </p:nvSpPr>
        <p:spPr/>
        <p:txBody>
          <a:bodyPr/>
          <a:lstStyle/>
          <a:p>
            <a:pPr>
              <a:defRPr/>
            </a:pPr>
            <a:endParaRPr lang="en-US" altLang="zh-CN"/>
          </a:p>
        </p:txBody>
      </p:sp>
      <p:pic>
        <p:nvPicPr>
          <p:cNvPr id="8" name="图片 7">
            <a:extLst>
              <a:ext uri="{FF2B5EF4-FFF2-40B4-BE49-F238E27FC236}">
                <a16:creationId xmlns:a16="http://schemas.microsoft.com/office/drawing/2014/main" id="{5EA23B2F-9F05-F956-A49A-34B2EC27817F}"/>
              </a:ext>
            </a:extLst>
          </p:cNvPr>
          <p:cNvPicPr>
            <a:picLocks noChangeAspect="1"/>
          </p:cNvPicPr>
          <p:nvPr/>
        </p:nvPicPr>
        <p:blipFill>
          <a:blip r:embed="rId3"/>
          <a:stretch>
            <a:fillRect/>
          </a:stretch>
        </p:blipFill>
        <p:spPr>
          <a:xfrm>
            <a:off x="1288058" y="5445224"/>
            <a:ext cx="6341468" cy="771429"/>
          </a:xfrm>
          <a:prstGeom prst="rect">
            <a:avLst/>
          </a:prstGeom>
        </p:spPr>
      </p:pic>
    </p:spTree>
    <p:extLst>
      <p:ext uri="{BB962C8B-B14F-4D97-AF65-F5344CB8AC3E}">
        <p14:creationId xmlns:p14="http://schemas.microsoft.com/office/powerpoint/2010/main" val="3918849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1AD02-74F5-2781-0C66-C72599E05088}"/>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5A1D8CCC-A1BD-7D55-BFBC-84EB7C625D00}"/>
              </a:ext>
            </a:extLst>
          </p:cNvPr>
          <p:cNvPicPr>
            <a:picLocks noGrp="1" noChangeAspect="1"/>
          </p:cNvPicPr>
          <p:nvPr>
            <p:ph idx="1"/>
          </p:nvPr>
        </p:nvPicPr>
        <p:blipFill>
          <a:blip r:embed="rId2"/>
          <a:stretch>
            <a:fillRect/>
          </a:stretch>
        </p:blipFill>
        <p:spPr bwMode="auto">
          <a:xfrm>
            <a:off x="742950" y="1196752"/>
            <a:ext cx="7658099"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CFBBB85C-4594-726A-7273-29CCEA6DA6E8}"/>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525633100"/>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6B0D81-1BF1-F997-EC87-AC33E83E61B2}"/>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81E369D4-54C5-71AF-D6F3-2E8F5FA1174C}"/>
              </a:ext>
            </a:extLst>
          </p:cNvPr>
          <p:cNvPicPr>
            <a:picLocks noGrp="1" noChangeAspect="1"/>
          </p:cNvPicPr>
          <p:nvPr>
            <p:ph idx="1"/>
          </p:nvPr>
        </p:nvPicPr>
        <p:blipFill>
          <a:blip r:embed="rId2"/>
          <a:stretch>
            <a:fillRect/>
          </a:stretch>
        </p:blipFill>
        <p:spPr bwMode="auto">
          <a:xfrm>
            <a:off x="533400" y="1543016"/>
            <a:ext cx="8191500" cy="4610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F70527DA-FD8F-D5FB-5907-C4A807F75321}"/>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07B9C483-20A9-C215-FA53-E218D6C0713A}"/>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1876022193"/>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9EC80-D132-84BE-6D67-225E0F358470}"/>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DA13520B-E0EA-14EE-E3C6-464383508F04}"/>
              </a:ext>
            </a:extLst>
          </p:cNvPr>
          <p:cNvPicPr>
            <a:picLocks noGrp="1" noChangeAspect="1"/>
          </p:cNvPicPr>
          <p:nvPr>
            <p:ph idx="1"/>
          </p:nvPr>
        </p:nvPicPr>
        <p:blipFill>
          <a:blip r:embed="rId2"/>
          <a:stretch>
            <a:fillRect/>
          </a:stretch>
        </p:blipFill>
        <p:spPr bwMode="auto">
          <a:xfrm>
            <a:off x="800100" y="1295400"/>
            <a:ext cx="7658099"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6BB3369C-9FD2-0EC5-3023-BE52CDCF2F7E}"/>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AD25C4D7-114D-7D9B-BAC3-37A69BDE2AE1}"/>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6710649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2D22D-D0ED-3B54-CDB0-9C2978382DDB}"/>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9973991D-8DB7-2504-19C1-165B8620EF61}"/>
              </a:ext>
            </a:extLst>
          </p:cNvPr>
          <p:cNvPicPr>
            <a:picLocks noGrp="1" noChangeAspect="1"/>
          </p:cNvPicPr>
          <p:nvPr>
            <p:ph idx="1"/>
          </p:nvPr>
        </p:nvPicPr>
        <p:blipFill>
          <a:blip r:embed="rId2"/>
          <a:stretch>
            <a:fillRect/>
          </a:stretch>
        </p:blipFill>
        <p:spPr bwMode="auto">
          <a:xfrm>
            <a:off x="533400" y="1543016"/>
            <a:ext cx="8191500" cy="4610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92741614-7A44-8775-FB32-FEC91C36BD10}"/>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738272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CA82D578-B7B5-F743-897B-B46796D2A58C}"/>
              </a:ext>
            </a:extLst>
          </p:cNvPr>
          <p:cNvSpPr>
            <a:spLocks noGrp="1"/>
          </p:cNvSpPr>
          <p:nvPr>
            <p:ph type="title"/>
          </p:nvPr>
        </p:nvSpPr>
        <p:spPr>
          <a:xfrm>
            <a:off x="935038" y="873125"/>
            <a:ext cx="6511925"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自主访问控制的特点  </a:t>
            </a:r>
          </a:p>
        </p:txBody>
      </p:sp>
      <p:sp>
        <p:nvSpPr>
          <p:cNvPr id="5" name="内容占位符 2">
            <a:extLst>
              <a:ext uri="{FF2B5EF4-FFF2-40B4-BE49-F238E27FC236}">
                <a16:creationId xmlns:a16="http://schemas.microsoft.com/office/drawing/2014/main" id="{AE06BFDD-4179-DA4C-9AF4-7FB7E778B779}"/>
              </a:ext>
            </a:extLst>
          </p:cNvPr>
          <p:cNvSpPr>
            <a:spLocks noGrp="1"/>
          </p:cNvSpPr>
          <p:nvPr>
            <p:ph idx="1"/>
          </p:nvPr>
        </p:nvSpPr>
        <p:spPr>
          <a:xfrm>
            <a:off x="422275" y="1592263"/>
            <a:ext cx="8375650" cy="2557462"/>
          </a:xfrm>
        </p:spPr>
        <p:txBody>
          <a:bodyPr/>
          <a:lstStyle/>
          <a:p>
            <a:pPr>
              <a:defRPr/>
            </a:pPr>
            <a:r>
              <a:rPr lang="zh-CN" altLang="en-US" b="1" dirty="0">
                <a:solidFill>
                  <a:srgbClr val="FF0000"/>
                </a:solidFill>
                <a:effectLst>
                  <a:outerShdw blurRad="38100" dist="38100" dir="2700000" algn="tl">
                    <a:srgbClr val="C0C0C0"/>
                  </a:outerShdw>
                </a:effectLst>
              </a:rPr>
              <a:t>优点</a:t>
            </a:r>
            <a:endParaRPr lang="en-US" altLang="zh-CN" b="1" dirty="0">
              <a:solidFill>
                <a:srgbClr val="FF0000"/>
              </a:solidFill>
              <a:effectLst>
                <a:outerShdw blurRad="38100" dist="38100" dir="2700000" algn="tl">
                  <a:srgbClr val="C0C0C0"/>
                </a:outerShdw>
              </a:effectLst>
            </a:endParaRPr>
          </a:p>
          <a:p>
            <a:pPr lvl="1">
              <a:buClr>
                <a:srgbClr val="3D8DC4"/>
              </a:buClr>
              <a:defRPr/>
            </a:pPr>
            <a:r>
              <a:rPr lang="zh-CN" altLang="en-US" b="1" dirty="0">
                <a:effectLst>
                  <a:outerShdw blurRad="38100" dist="38100" dir="2700000" algn="tl">
                    <a:srgbClr val="C0C0C0"/>
                  </a:outerShdw>
                </a:effectLst>
              </a:rPr>
              <a:t>根据主体的身份和访问权限进行决策</a:t>
            </a:r>
            <a:endParaRPr lang="en-US" altLang="zh-CN" b="1" dirty="0">
              <a:effectLst>
                <a:outerShdw blurRad="38100" dist="38100" dir="2700000" algn="tl">
                  <a:srgbClr val="C0C0C0"/>
                </a:outerShdw>
              </a:effectLst>
            </a:endParaRPr>
          </a:p>
          <a:p>
            <a:pPr lvl="1">
              <a:buClr>
                <a:srgbClr val="3D8DC4"/>
              </a:buClr>
              <a:defRPr/>
            </a:pPr>
            <a:r>
              <a:rPr lang="zh-CN" altLang="en-US" b="1" dirty="0">
                <a:effectLst>
                  <a:outerShdw blurRad="38100" dist="38100" dir="2700000" algn="tl">
                    <a:srgbClr val="C0C0C0"/>
                  </a:outerShdw>
                </a:effectLst>
              </a:rPr>
              <a:t>具有某种访问能力的主体能够自主地将访问权的某个子集授予其它主体</a:t>
            </a:r>
            <a:endParaRPr lang="en-US" altLang="zh-CN" b="1" dirty="0">
              <a:effectLst>
                <a:outerShdw blurRad="38100" dist="38100" dir="2700000" algn="tl">
                  <a:srgbClr val="C0C0C0"/>
                </a:outerShdw>
              </a:effectLst>
            </a:endParaRPr>
          </a:p>
          <a:p>
            <a:pPr lvl="1">
              <a:buClr>
                <a:srgbClr val="3D8DC4"/>
              </a:buClr>
              <a:defRPr/>
            </a:pPr>
            <a:r>
              <a:rPr lang="zh-CN" altLang="en-US" b="1" dirty="0">
                <a:effectLst>
                  <a:outerShdw blurRad="38100" dist="38100" dir="2700000" algn="tl">
                    <a:srgbClr val="C0C0C0"/>
                  </a:outerShdw>
                </a:effectLst>
              </a:rPr>
              <a:t>灵活性高，被大量采用</a:t>
            </a:r>
            <a:endParaRPr lang="en-US" altLang="zh-CN" b="1" dirty="0">
              <a:effectLst>
                <a:outerShdw blurRad="38100" dist="38100" dir="2700000" algn="tl">
                  <a:srgbClr val="C0C0C0"/>
                </a:outerShdw>
              </a:effectLst>
            </a:endParaRPr>
          </a:p>
          <a:p>
            <a:pPr>
              <a:buFont typeface="Wingdings" pitchFamily="2" charset="2"/>
              <a:buNone/>
              <a:defRPr/>
            </a:pPr>
            <a:endParaRPr lang="zh-CN" altLang="en-US" b="1" dirty="0">
              <a:effectLst>
                <a:outerShdw blurRad="38100" dist="38100" dir="2700000" algn="tl">
                  <a:srgbClr val="C0C0C0"/>
                </a:outerShdw>
              </a:effectLst>
            </a:endParaRPr>
          </a:p>
        </p:txBody>
      </p:sp>
      <p:sp>
        <p:nvSpPr>
          <p:cNvPr id="2" name="矩形 1">
            <a:extLst>
              <a:ext uri="{FF2B5EF4-FFF2-40B4-BE49-F238E27FC236}">
                <a16:creationId xmlns:a16="http://schemas.microsoft.com/office/drawing/2014/main" id="{ADCA1798-9FFB-2540-824F-70B68AB4BDC1}"/>
              </a:ext>
            </a:extLst>
          </p:cNvPr>
          <p:cNvSpPr/>
          <p:nvPr/>
        </p:nvSpPr>
        <p:spPr>
          <a:xfrm>
            <a:off x="647700" y="4149725"/>
            <a:ext cx="7669213" cy="100330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缺点</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20000"/>
              </a:spcBef>
              <a:buClr>
                <a:srgbClr val="3D8DC4"/>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信息在传递过程中其访问权限关系会被改变</a:t>
            </a:r>
            <a:endPar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p:cTn id="13"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5">
                                            <p:txEl>
                                              <p:pRg st="1" end="1"/>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p:cTn id="19"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5">
                                            <p:txEl>
                                              <p:pRg st="2" end="2"/>
                                            </p:txEl>
                                          </p:spTgt>
                                        </p:tgtEl>
                                      </p:cBhvr>
                                    </p:animEffect>
                                  </p:childTnLst>
                                </p:cTn>
                              </p:par>
                            </p:childTnLst>
                          </p:cTn>
                        </p:par>
                        <p:par>
                          <p:cTn id="22" fill="hold" nodeType="afterGroup">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p:cTn id="25"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5">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12F14BE0-FC5A-F046-B517-E2980A7951D4}"/>
              </a:ext>
            </a:extLst>
          </p:cNvPr>
          <p:cNvSpPr>
            <a:spLocks noGrp="1"/>
          </p:cNvSpPr>
          <p:nvPr>
            <p:ph type="title"/>
          </p:nvPr>
        </p:nvSpPr>
        <p:spPr>
          <a:xfrm>
            <a:off x="719138" y="101600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知识域：访问控制模型</a:t>
            </a:r>
          </a:p>
        </p:txBody>
      </p:sp>
      <p:sp>
        <p:nvSpPr>
          <p:cNvPr id="69635" name="内容占位符 2">
            <a:extLst>
              <a:ext uri="{FF2B5EF4-FFF2-40B4-BE49-F238E27FC236}">
                <a16:creationId xmlns:a16="http://schemas.microsoft.com/office/drawing/2014/main" id="{576820B4-CE01-AB4C-9185-93C682F003F3}"/>
              </a:ext>
            </a:extLst>
          </p:cNvPr>
          <p:cNvSpPr>
            <a:spLocks noGrp="1"/>
          </p:cNvSpPr>
          <p:nvPr>
            <p:ph idx="1"/>
          </p:nvPr>
        </p:nvSpPr>
        <p:spPr>
          <a:xfrm>
            <a:off x="503238" y="1836738"/>
            <a:ext cx="8137525" cy="2016125"/>
          </a:xfrm>
        </p:spPr>
        <p:txBody>
          <a:bodyPr/>
          <a:lstStyle/>
          <a:p>
            <a:pPr>
              <a:defRPr/>
            </a:pPr>
            <a:r>
              <a:rPr lang="zh-CN" altLang="zh-CN" b="1">
                <a:effectLst>
                  <a:outerShdw blurRad="38100" dist="38100" dir="2700000" algn="tl">
                    <a:srgbClr val="C0C0C0"/>
                  </a:outerShdw>
                </a:effectLst>
                <a:latin typeface="Times New Roman" panose="02020603050405020304" pitchFamily="18" charset="0"/>
              </a:rPr>
              <a:t>知识子域：</a:t>
            </a:r>
            <a:r>
              <a:rPr lang="zh-CN" altLang="zh-CN" b="1">
                <a:solidFill>
                  <a:srgbClr val="FF0000"/>
                </a:solidFill>
                <a:effectLst>
                  <a:outerShdw blurRad="38100" dist="38100" dir="2700000" algn="tl">
                    <a:srgbClr val="C0C0C0"/>
                  </a:outerShdw>
                </a:effectLst>
                <a:latin typeface="Times New Roman" panose="02020603050405020304" pitchFamily="18" charset="0"/>
              </a:rPr>
              <a:t>强制访问控制模型</a:t>
            </a:r>
          </a:p>
          <a:p>
            <a:pPr lvl="1">
              <a:defRPr/>
            </a:pPr>
            <a:r>
              <a:rPr lang="zh-CN" altLang="zh-CN" sz="2400" b="1">
                <a:effectLst>
                  <a:outerShdw blurRad="38100" dist="38100" dir="2700000" algn="tl">
                    <a:srgbClr val="C0C0C0"/>
                  </a:outerShdw>
                </a:effectLst>
                <a:latin typeface="Times New Roman" panose="02020603050405020304" pitchFamily="18" charset="0"/>
              </a:rPr>
              <a:t>理解强制访问控制的分类和含义</a:t>
            </a:r>
          </a:p>
          <a:p>
            <a:pPr lvl="1">
              <a:defRPr/>
            </a:pPr>
            <a:r>
              <a:rPr lang="zh-CN" altLang="zh-CN" sz="2400" b="1">
                <a:effectLst>
                  <a:outerShdw blurRad="38100" dist="38100" dir="2700000" algn="tl">
                    <a:srgbClr val="C0C0C0"/>
                  </a:outerShdw>
                </a:effectLst>
                <a:latin typeface="Times New Roman" panose="02020603050405020304" pitchFamily="18" charset="0"/>
              </a:rPr>
              <a:t>掌握典型强制访问控制模型：</a:t>
            </a:r>
            <a:r>
              <a:rPr lang="en-US" altLang="zh-CN" sz="2400" b="1">
                <a:effectLst>
                  <a:outerShdw blurRad="38100" dist="38100" dir="2700000" algn="tl">
                    <a:srgbClr val="C0C0C0"/>
                  </a:outerShdw>
                </a:effectLst>
                <a:latin typeface="Times New Roman" panose="02020603050405020304" pitchFamily="18" charset="0"/>
              </a:rPr>
              <a:t>Bell-Lapudula</a:t>
            </a:r>
            <a:r>
              <a:rPr lang="zh-CN" altLang="zh-CN" sz="2400" b="1">
                <a:effectLst>
                  <a:outerShdw blurRad="38100" dist="38100" dir="2700000" algn="tl">
                    <a:srgbClr val="C0C0C0"/>
                  </a:outerShdw>
                </a:effectLst>
                <a:latin typeface="Times New Roman" panose="02020603050405020304" pitchFamily="18" charset="0"/>
              </a:rPr>
              <a:t>模型、</a:t>
            </a:r>
            <a:r>
              <a:rPr lang="en-US" altLang="zh-CN" sz="2400" b="1">
                <a:effectLst>
                  <a:outerShdw blurRad="38100" dist="38100" dir="2700000" algn="tl">
                    <a:srgbClr val="C0C0C0"/>
                  </a:outerShdw>
                </a:effectLst>
                <a:latin typeface="Times New Roman" panose="02020603050405020304" pitchFamily="18" charset="0"/>
              </a:rPr>
              <a:t>Biba</a:t>
            </a:r>
            <a:r>
              <a:rPr lang="zh-CN" altLang="zh-CN" sz="2400" b="1">
                <a:effectLst>
                  <a:outerShdw blurRad="38100" dist="38100" dir="2700000" algn="tl">
                    <a:srgbClr val="C0C0C0"/>
                  </a:outerShdw>
                </a:effectLst>
                <a:latin typeface="Times New Roman" panose="02020603050405020304" pitchFamily="18" charset="0"/>
              </a:rPr>
              <a:t>模型、</a:t>
            </a:r>
            <a:r>
              <a:rPr lang="en-US" altLang="zh-CN" sz="2400" b="1">
                <a:effectLst>
                  <a:outerShdw blurRad="38100" dist="38100" dir="2700000" algn="tl">
                    <a:srgbClr val="C0C0C0"/>
                  </a:outerShdw>
                </a:effectLst>
                <a:latin typeface="Times New Roman" panose="02020603050405020304" pitchFamily="18" charset="0"/>
              </a:rPr>
              <a:t>Chinese Wall</a:t>
            </a:r>
            <a:r>
              <a:rPr lang="zh-CN" altLang="zh-CN" sz="2400" b="1">
                <a:effectLst>
                  <a:outerShdw blurRad="38100" dist="38100" dir="2700000" algn="tl">
                    <a:srgbClr val="C0C0C0"/>
                  </a:outerShdw>
                </a:effectLst>
                <a:latin typeface="Times New Roman" panose="02020603050405020304" pitchFamily="18" charset="0"/>
              </a:rPr>
              <a:t>模型和</a:t>
            </a:r>
            <a:r>
              <a:rPr lang="en-US" altLang="zh-CN" sz="2400" b="1">
                <a:effectLst>
                  <a:outerShdw blurRad="38100" dist="38100" dir="2700000" algn="tl">
                    <a:srgbClr val="C0C0C0"/>
                  </a:outerShdw>
                </a:effectLst>
                <a:latin typeface="Times New Roman" panose="02020603050405020304" pitchFamily="18" charset="0"/>
              </a:rPr>
              <a:t>Clark-Wilson</a:t>
            </a:r>
            <a:r>
              <a:rPr lang="zh-CN" altLang="zh-CN" sz="2400" b="1">
                <a:effectLst>
                  <a:outerShdw blurRad="38100" dist="38100" dir="2700000" algn="tl">
                    <a:srgbClr val="C0C0C0"/>
                  </a:outerShdw>
                </a:effectLst>
                <a:latin typeface="Times New Roman" panose="02020603050405020304" pitchFamily="18" charset="0"/>
              </a:rPr>
              <a:t>模型</a:t>
            </a:r>
            <a:endParaRPr lang="en-US" altLang="zh-CN" sz="2400" b="1">
              <a:effectLst>
                <a:outerShdw blurRad="38100" dist="38100" dir="2700000" algn="tl">
                  <a:srgbClr val="C0C0C0"/>
                </a:outerShdw>
              </a:effectLst>
              <a:latin typeface="Times New Roman" panose="02020603050405020304" pitchFamily="18" charset="0"/>
            </a:endParaRPr>
          </a:p>
          <a:p>
            <a:pPr>
              <a:defRPr/>
            </a:pPr>
            <a:endParaRPr lang="zh-CN" altLang="en-US" b="1">
              <a:effectLst>
                <a:outerShdw blurRad="38100" dist="38100" dir="2700000" algn="tl">
                  <a:srgbClr val="C0C0C0"/>
                </a:outerShdw>
              </a:effectLst>
              <a:latin typeface="Times New Roman" panose="02020603050405020304" pitchFamily="18" charset="0"/>
            </a:endParaRPr>
          </a:p>
        </p:txBody>
      </p:sp>
      <p:pic>
        <p:nvPicPr>
          <p:cNvPr id="3" name="图片 2">
            <a:extLst>
              <a:ext uri="{FF2B5EF4-FFF2-40B4-BE49-F238E27FC236}">
                <a16:creationId xmlns:a16="http://schemas.microsoft.com/office/drawing/2014/main" id="{B9B51560-CCEA-1242-AC97-394E70546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7650" y="4041775"/>
            <a:ext cx="3656013"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p:cTn id="7" dur="500" fill="hold"/>
                                        <p:tgtEl>
                                          <p:spTgt spid="696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963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9635">
                                            <p:txEl>
                                              <p:pRg st="0" end="0"/>
                                            </p:txEl>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p:cTn id="13" dur="500" fill="hold"/>
                                        <p:tgtEl>
                                          <p:spTgt spid="6963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69635">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69635">
                                            <p:txEl>
                                              <p:pRg st="1" end="1"/>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p:cTn id="19" dur="500" fill="hold"/>
                                        <p:tgtEl>
                                          <p:spTgt spid="6963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6963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69635">
                                            <p:txEl>
                                              <p:pRg st="2" end="2"/>
                                            </p:txEl>
                                          </p:spTgt>
                                        </p:tgtEl>
                                      </p:cBhvr>
                                    </p:animEffect>
                                  </p:childTnLst>
                                </p:cTn>
                              </p:par>
                            </p:childTnLst>
                          </p:cTn>
                        </p:par>
                        <p:par>
                          <p:cTn id="22" fill="hold" nodeType="afterGroup">
                            <p:stCondLst>
                              <p:cond delay="1500"/>
                            </p:stCondLst>
                            <p:childTnLst>
                              <p:par>
                                <p:cTn id="23" presetID="53" presetClass="entr" presetSubtype="16"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5895D700-9314-024D-9EC6-D27A2E4B47BF}"/>
              </a:ext>
            </a:extLst>
          </p:cNvPr>
          <p:cNvSpPr>
            <a:spLocks noGrp="1"/>
          </p:cNvSpPr>
          <p:nvPr>
            <p:ph type="title"/>
          </p:nvPr>
        </p:nvSpPr>
        <p:spPr>
          <a:xfrm>
            <a:off x="628650" y="86042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强制访问控制的含义</a:t>
            </a:r>
          </a:p>
        </p:txBody>
      </p:sp>
      <p:sp>
        <p:nvSpPr>
          <p:cNvPr id="70659" name="内容占位符 2">
            <a:extLst>
              <a:ext uri="{FF2B5EF4-FFF2-40B4-BE49-F238E27FC236}">
                <a16:creationId xmlns:a16="http://schemas.microsoft.com/office/drawing/2014/main" id="{547A5A7A-CBC9-064A-A6B8-F3C6D44B69FB}"/>
              </a:ext>
            </a:extLst>
          </p:cNvPr>
          <p:cNvSpPr>
            <a:spLocks noGrp="1"/>
          </p:cNvSpPr>
          <p:nvPr>
            <p:ph idx="1"/>
          </p:nvPr>
        </p:nvSpPr>
        <p:spPr>
          <a:xfrm>
            <a:off x="468313" y="2420938"/>
            <a:ext cx="8388350" cy="2989262"/>
          </a:xfrm>
        </p:spPr>
        <p:txBody>
          <a:bodyPr/>
          <a:lstStyle/>
          <a:p>
            <a:pPr>
              <a:lnSpc>
                <a:spcPts val="3800"/>
              </a:lnSpc>
              <a:defRPr/>
            </a:pPr>
            <a:r>
              <a:rPr lang="zh-CN" altLang="en-US" b="1">
                <a:effectLst>
                  <a:outerShdw blurRad="38100" dist="38100" dir="2700000" algn="tl">
                    <a:srgbClr val="C0C0C0"/>
                  </a:outerShdw>
                </a:effectLst>
              </a:rPr>
              <a:t>主体对客体的所有访问请求按照</a:t>
            </a:r>
            <a:r>
              <a:rPr lang="zh-CN" altLang="en-US" b="1">
                <a:solidFill>
                  <a:srgbClr val="FF0000"/>
                </a:solidFill>
                <a:effectLst>
                  <a:outerShdw blurRad="38100" dist="38100" dir="2700000" algn="tl">
                    <a:srgbClr val="C0C0C0"/>
                  </a:outerShdw>
                </a:effectLst>
              </a:rPr>
              <a:t>强制访问控制策略</a:t>
            </a:r>
            <a:r>
              <a:rPr lang="zh-CN" altLang="en-US" b="1">
                <a:effectLst>
                  <a:outerShdw blurRad="38100" dist="38100" dir="2700000" algn="tl">
                    <a:srgbClr val="C0C0C0"/>
                  </a:outerShdw>
                </a:effectLst>
              </a:rPr>
              <a:t>进行控制，客体的属主</a:t>
            </a:r>
            <a:r>
              <a:rPr lang="zh-CN" altLang="en-US" b="1">
                <a:solidFill>
                  <a:srgbClr val="FF0000"/>
                </a:solidFill>
                <a:effectLst>
                  <a:outerShdw blurRad="38100" dist="38100" dir="2700000" algn="tl">
                    <a:srgbClr val="C0C0C0"/>
                  </a:outerShdw>
                </a:effectLst>
              </a:rPr>
              <a:t>无权控制客体</a:t>
            </a:r>
            <a:r>
              <a:rPr lang="zh-CN" altLang="en-US" b="1">
                <a:effectLst>
                  <a:outerShdw blurRad="38100" dist="38100" dir="2700000" algn="tl">
                    <a:srgbClr val="C0C0C0"/>
                  </a:outerShdw>
                </a:effectLst>
              </a:rPr>
              <a:t>的访问权限，以防止对信息的非法和越权访问</a:t>
            </a:r>
            <a:endParaRPr lang="en-US" altLang="zh-CN" b="1">
              <a:effectLst>
                <a:outerShdw blurRad="38100" dist="38100" dir="2700000" algn="tl">
                  <a:srgbClr val="C0C0C0"/>
                </a:outerShdw>
              </a:effectLst>
            </a:endParaRPr>
          </a:p>
          <a:p>
            <a:pPr lvl="1">
              <a:defRPr/>
            </a:pPr>
            <a:r>
              <a:rPr lang="zh-CN" altLang="en-US" b="1">
                <a:solidFill>
                  <a:srgbClr val="0033CC"/>
                </a:solidFill>
                <a:effectLst>
                  <a:outerShdw blurRad="38100" dist="38100" dir="2700000" algn="tl">
                    <a:srgbClr val="C0C0C0"/>
                  </a:outerShdw>
                </a:effectLst>
              </a:rPr>
              <a:t>主体和客体分配有一个安全属性</a:t>
            </a:r>
            <a:endParaRPr lang="en-US" altLang="zh-CN" b="1">
              <a:solidFill>
                <a:srgbClr val="0033CC"/>
              </a:solidFill>
              <a:effectLst>
                <a:outerShdw blurRad="38100" dist="38100" dir="2700000" algn="tl">
                  <a:srgbClr val="C0C0C0"/>
                </a:outerShdw>
              </a:effectLst>
            </a:endParaRPr>
          </a:p>
          <a:p>
            <a:pPr lvl="1">
              <a:defRPr/>
            </a:pPr>
            <a:r>
              <a:rPr lang="zh-CN" altLang="en-US" b="1">
                <a:solidFill>
                  <a:srgbClr val="0033CC"/>
                </a:solidFill>
                <a:effectLst>
                  <a:outerShdw blurRad="38100" dist="38100" dir="2700000" algn="tl">
                    <a:srgbClr val="C0C0C0"/>
                  </a:outerShdw>
                </a:effectLst>
              </a:rPr>
              <a:t>应用于军事等安全要求较高的系统</a:t>
            </a:r>
            <a:endParaRPr lang="en-US" altLang="zh-CN" b="1">
              <a:solidFill>
                <a:srgbClr val="0033CC"/>
              </a:solidFill>
              <a:effectLst>
                <a:outerShdw blurRad="38100" dist="38100" dir="2700000" algn="tl">
                  <a:srgbClr val="C0C0C0"/>
                </a:outerShdw>
              </a:effectLst>
            </a:endParaRPr>
          </a:p>
          <a:p>
            <a:pPr lvl="1">
              <a:defRPr/>
            </a:pPr>
            <a:r>
              <a:rPr lang="zh-CN" altLang="en-US" b="1">
                <a:solidFill>
                  <a:srgbClr val="0033CC"/>
                </a:solidFill>
                <a:effectLst>
                  <a:outerShdw blurRad="38100" dist="38100" dir="2700000" algn="tl">
                    <a:srgbClr val="C0C0C0"/>
                  </a:outerShdw>
                </a:effectLst>
              </a:rPr>
              <a:t>可与自主访问控制结合使用</a:t>
            </a:r>
            <a:endParaRPr lang="en-US" altLang="zh-CN" b="1">
              <a:solidFill>
                <a:srgbClr val="0033CC"/>
              </a:solidFill>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sp>
        <p:nvSpPr>
          <p:cNvPr id="2" name="矩形 1">
            <a:extLst>
              <a:ext uri="{FF2B5EF4-FFF2-40B4-BE49-F238E27FC236}">
                <a16:creationId xmlns:a16="http://schemas.microsoft.com/office/drawing/2014/main" id="{1FBC7E4B-7B42-E740-90FD-B33827710F3E}"/>
              </a:ext>
            </a:extLst>
          </p:cNvPr>
          <p:cNvSpPr/>
          <p:nvPr/>
        </p:nvSpPr>
        <p:spPr>
          <a:xfrm>
            <a:off x="628650" y="1558925"/>
            <a:ext cx="7026275" cy="646113"/>
          </a:xfrm>
          <a:prstGeom prst="rect">
            <a:avLst/>
          </a:prstGeom>
          <a:noFill/>
          <a:ln>
            <a:noFill/>
          </a:ln>
        </p:spPr>
        <p:txBody>
          <a:bodyPr wrap="none">
            <a:spAutoFit/>
          </a:bodyPr>
          <a:lstStyle/>
          <a:p>
            <a:pPr eaLnBrk="1" hangingPunct="1">
              <a:defRPr/>
            </a:pPr>
            <a:r>
              <a:rPr lang="en-US" altLang="zh-CN"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Mandatory Access Control</a:t>
            </a:r>
            <a:r>
              <a:rPr lang="zh-CN" alt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MAC</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18B27D87-4625-8844-9BA0-9DD3EE571F91}"/>
              </a:ext>
            </a:extLst>
          </p:cNvPr>
          <p:cNvSpPr>
            <a:spLocks noGrp="1"/>
          </p:cNvSpPr>
          <p:nvPr>
            <p:ph type="title"/>
          </p:nvPr>
        </p:nvSpPr>
        <p:spPr>
          <a:xfrm>
            <a:off x="684213" y="83185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强制型访问控制（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MAC</a:t>
            </a:r>
            <a:r>
              <a:rPr lang="zh-CN" altLang="en-US">
                <a:solidFill>
                  <a:srgbClr val="0033CC"/>
                </a:solidFill>
                <a:effectLst>
                  <a:outerShdw blurRad="38100" dist="38100" dir="2700000" algn="tl">
                    <a:srgbClr val="C0C0C0"/>
                  </a:outerShdw>
                </a:effectLst>
                <a:latin typeface="Times New Roman" panose="02020603050405020304" pitchFamily="18" charset="0"/>
              </a:rPr>
              <a:t>）</a:t>
            </a:r>
          </a:p>
        </p:txBody>
      </p:sp>
      <p:sp>
        <p:nvSpPr>
          <p:cNvPr id="6" name="Rectangle 3">
            <a:extLst>
              <a:ext uri="{FF2B5EF4-FFF2-40B4-BE49-F238E27FC236}">
                <a16:creationId xmlns:a16="http://schemas.microsoft.com/office/drawing/2014/main" id="{576ABFE6-B502-D746-8F3F-B17EE053E1D8}"/>
              </a:ext>
            </a:extLst>
          </p:cNvPr>
          <p:cNvSpPr txBox="1">
            <a:spLocks noChangeArrowheads="1"/>
          </p:cNvSpPr>
          <p:nvPr/>
        </p:nvSpPr>
        <p:spPr bwMode="gray">
          <a:xfrm>
            <a:off x="539750" y="1557338"/>
            <a:ext cx="8001000" cy="2663825"/>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每个主体和客体分配一个固定的安全级别，只有系统管理员才可以修改</a:t>
            </a:r>
          </a:p>
          <a:p>
            <a:pPr lvl="1" eaLnBrk="1" hangingPunct="1">
              <a:spcBef>
                <a:spcPct val="20000"/>
              </a:spcBef>
              <a:buClr>
                <a:srgbClr val="FF9900"/>
              </a:buClr>
              <a:buFont typeface="Wingdings" pitchFamily="2" charset="2"/>
              <a:buChar char="§"/>
              <a:defRPr/>
            </a:pPr>
            <a:r>
              <a:rPr lang="en-US" altLang="zh-CN"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Clearance </a:t>
            </a:r>
            <a:r>
              <a:rPr lang="zh-CN" altLang="en-US"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dirty="0">
                <a:effectLst>
                  <a:outerShdw blurRad="38100" dist="38100" dir="2700000" algn="tl">
                    <a:srgbClr val="C0C0C0"/>
                  </a:outerShdw>
                </a:effectLst>
                <a:latin typeface="Times New Roman" panose="02020603050405020304" pitchFamily="18" charset="0"/>
                <a:ea typeface="黑体" panose="02010609060101010101" pitchFamily="49" charset="-122"/>
              </a:rPr>
              <a:t>classification , sensitivity </a:t>
            </a:r>
          </a:p>
          <a:p>
            <a:pPr lvl="1" eaLnBrk="1" hangingPunct="1">
              <a:spcBef>
                <a:spcPct val="20000"/>
              </a:spcBef>
              <a:buClr>
                <a:srgbClr val="FF9900"/>
              </a:buClr>
              <a:buFont typeface="Wingdings" pitchFamily="2" charset="2"/>
              <a:buChar char="§"/>
              <a:defRPr/>
            </a:pP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Unclassified&lt; confidential&lt; secret&lt; top secret </a:t>
            </a:r>
          </a:p>
          <a:p>
            <a:pPr lvl="1" eaLnBrk="1" hangingPunct="1">
              <a:spcBef>
                <a:spcPct val="20000"/>
              </a:spcBef>
              <a:buClr>
                <a:srgbClr val="FF9900"/>
              </a:buClr>
              <a:buFont typeface="Wingdings" pitchFamily="2" charset="2"/>
              <a:buChar char="§"/>
              <a:defRPr/>
            </a:pP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普密</a:t>
            </a: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&lt;</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秘密</a:t>
            </a: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&lt;</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机密</a:t>
            </a:r>
            <a:r>
              <a:rPr lang="en-US" altLang="zh-CN"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&lt;</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绝密</a:t>
            </a:r>
          </a:p>
        </p:txBody>
      </p:sp>
      <p:sp>
        <p:nvSpPr>
          <p:cNvPr id="2" name="矩形 1">
            <a:extLst>
              <a:ext uri="{FF2B5EF4-FFF2-40B4-BE49-F238E27FC236}">
                <a16:creationId xmlns:a16="http://schemas.microsoft.com/office/drawing/2014/main" id="{9E1EB805-220F-9F4E-9432-2140FCFDE905}"/>
              </a:ext>
            </a:extLst>
          </p:cNvPr>
          <p:cNvSpPr/>
          <p:nvPr/>
        </p:nvSpPr>
        <p:spPr>
          <a:xfrm>
            <a:off x="669925" y="4221163"/>
            <a:ext cx="7740650" cy="95408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只有在主体和客体的安全级别满足一定规则时，才允许访问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nodeType="afterGroup">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fill="hold"/>
                                        <p:tgtEl>
                                          <p:spTgt spid="2"/>
                                        </p:tgtEl>
                                        <p:attrNameLst>
                                          <p:attrName>ppt_x</p:attrName>
                                        </p:attrNameLst>
                                      </p:cBhvr>
                                      <p:tavLst>
                                        <p:tav tm="0">
                                          <p:val>
                                            <p:strVal val="0-#ppt_w/2"/>
                                          </p:val>
                                        </p:tav>
                                        <p:tav tm="100000">
                                          <p:val>
                                            <p:strVal val="#ppt_x"/>
                                          </p:val>
                                        </p:tav>
                                      </p:tavLst>
                                    </p:anim>
                                    <p:anim calcmode="lin" valueType="num">
                                      <p:cBhvr additive="base">
                                        <p:cTn id="14"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E51C772D-E0F5-B14B-BD89-4A19B05A003B}"/>
              </a:ext>
            </a:extLst>
          </p:cNvPr>
          <p:cNvSpPr>
            <a:spLocks noGrp="1"/>
          </p:cNvSpPr>
          <p:nvPr>
            <p:ph type="title"/>
          </p:nvPr>
        </p:nvSpPr>
        <p:spPr>
          <a:xfrm>
            <a:off x="474663" y="765175"/>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强制型访问控制（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MAC</a:t>
            </a:r>
            <a:r>
              <a:rPr lang="zh-CN" altLang="en-US">
                <a:solidFill>
                  <a:srgbClr val="0033CC"/>
                </a:solidFill>
                <a:effectLst>
                  <a:outerShdw blurRad="38100" dist="38100" dir="2700000" algn="tl">
                    <a:srgbClr val="C0C0C0"/>
                  </a:outerShdw>
                </a:effectLst>
                <a:latin typeface="Times New Roman" panose="02020603050405020304" pitchFamily="18" charset="0"/>
              </a:rPr>
              <a:t>）</a:t>
            </a:r>
          </a:p>
        </p:txBody>
      </p:sp>
      <p:sp>
        <p:nvSpPr>
          <p:cNvPr id="73733" name="矩形 9">
            <a:extLst>
              <a:ext uri="{FF2B5EF4-FFF2-40B4-BE49-F238E27FC236}">
                <a16:creationId xmlns:a16="http://schemas.microsoft.com/office/drawing/2014/main" id="{D7024381-B798-BC4D-9760-F3106D70BD61}"/>
              </a:ext>
            </a:extLst>
          </p:cNvPr>
          <p:cNvSpPr>
            <a:spLocks noChangeArrowheads="1"/>
          </p:cNvSpPr>
          <p:nvPr/>
        </p:nvSpPr>
        <p:spPr bwMode="auto">
          <a:xfrm>
            <a:off x="481013" y="3382963"/>
            <a:ext cx="8027987" cy="739775"/>
          </a:xfrm>
          <a:prstGeom prst="rect">
            <a:avLst/>
          </a:prstGeom>
          <a:noFill/>
          <a:ln>
            <a:noFill/>
          </a:ln>
        </p:spPr>
        <p:txBody>
          <a:bodyPr>
            <a:spAutoFit/>
          </a:bodyPr>
          <a:lstStyle/>
          <a:p>
            <a:pPr eaLnBrk="1" hangingPunct="1">
              <a:lnSpc>
                <a:spcPct val="150000"/>
              </a:lnSpc>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四种强制访问控制策略规定：</a:t>
            </a:r>
          </a:p>
        </p:txBody>
      </p:sp>
      <p:sp>
        <p:nvSpPr>
          <p:cNvPr id="73734" name="矩形 5">
            <a:extLst>
              <a:ext uri="{FF2B5EF4-FFF2-40B4-BE49-F238E27FC236}">
                <a16:creationId xmlns:a16="http://schemas.microsoft.com/office/drawing/2014/main" id="{D6F9437B-7FB7-3F41-8548-AA3C13A6A586}"/>
              </a:ext>
            </a:extLst>
          </p:cNvPr>
          <p:cNvSpPr>
            <a:spLocks noChangeArrowheads="1"/>
          </p:cNvSpPr>
          <p:nvPr/>
        </p:nvSpPr>
        <p:spPr bwMode="auto">
          <a:xfrm>
            <a:off x="573088" y="1368425"/>
            <a:ext cx="8099425" cy="2001838"/>
          </a:xfrm>
          <a:prstGeom prst="rect">
            <a:avLst/>
          </a:prstGeom>
          <a:noFill/>
          <a:ln>
            <a:noFill/>
          </a:ln>
        </p:spPr>
        <p:txBody>
          <a:bodyPr>
            <a:spAutoFit/>
          </a:bodyPr>
          <a:lstStyle/>
          <a:p>
            <a:pPr algn="just" eaLnBrk="1" hangingPunct="1">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特点：</a:t>
            </a:r>
          </a:p>
          <a:p>
            <a:pPr algn="just" eaLnBrk="1" hangingPunct="1">
              <a:buFont typeface="Wingdings" pitchFamily="2" charset="2"/>
              <a:buChar char="u"/>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将主体和客体分级，根据主体和客体的级别标记来决定访问模式。</a:t>
            </a:r>
          </a:p>
          <a:p>
            <a:pPr algn="just" eaLnBrk="1" hangingPunct="1">
              <a:buFont typeface="Wingdings" pitchFamily="2" charset="2"/>
              <a:buChar char="u"/>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其访问控制关系分为：</a:t>
            </a:r>
            <a:r>
              <a:rPr lang="zh-CN" altLang="en-US"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上读</a:t>
            </a:r>
            <a:r>
              <a:rPr lang="en-US" altLang="zh-CN"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下写 ，下读</a:t>
            </a:r>
            <a:r>
              <a:rPr lang="en-US" altLang="zh-CN"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上写</a:t>
            </a:r>
          </a:p>
          <a:p>
            <a:pPr algn="just" eaLnBrk="1" hangingPunct="1">
              <a:buFont typeface="Wingdings" pitchFamily="2" charset="2"/>
              <a:buChar char="u"/>
              <a:defRPr/>
            </a:pPr>
            <a:r>
              <a:rPr lang="zh-CN" altLang="en-US" sz="2400" b="1">
                <a:effectLst>
                  <a:outerShdw blurRad="38100" dist="38100" dir="2700000" algn="tl">
                    <a:srgbClr val="C0C0C0"/>
                  </a:outerShdw>
                </a:effectLst>
                <a:latin typeface="黑体" panose="02010609060101010101" pitchFamily="49" charset="-122"/>
                <a:ea typeface="黑体" panose="02010609060101010101" pitchFamily="49" charset="-122"/>
              </a:rPr>
              <a:t>通过梯度安全标签实现单向信息流通模式。</a:t>
            </a:r>
          </a:p>
        </p:txBody>
      </p:sp>
      <p:sp>
        <p:nvSpPr>
          <p:cNvPr id="2" name="矩形 1">
            <a:extLst>
              <a:ext uri="{FF2B5EF4-FFF2-40B4-BE49-F238E27FC236}">
                <a16:creationId xmlns:a16="http://schemas.microsoft.com/office/drawing/2014/main" id="{9B511790-A1DD-6543-8A1A-AEBA8EAAAD3F}"/>
              </a:ext>
            </a:extLst>
          </p:cNvPr>
          <p:cNvSpPr/>
          <p:nvPr/>
        </p:nvSpPr>
        <p:spPr>
          <a:xfrm>
            <a:off x="1128713" y="4113213"/>
            <a:ext cx="6480175" cy="193833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600"/>
              </a:lnSpc>
              <a:buFont typeface="Wingdings" pitchFamily="2" charset="2"/>
              <a:buChar char="n"/>
              <a:defRPr/>
            </a:pP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下读</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用户级别大于文件级别的读操作</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 </a:t>
            </a:r>
          </a:p>
          <a:p>
            <a:pPr eaLnBrk="1" hangingPunct="1">
              <a:lnSpc>
                <a:spcPts val="3600"/>
              </a:lnSpc>
              <a:buFont typeface="Wingdings" pitchFamily="2" charset="2"/>
              <a:buChar char="n"/>
              <a:defRPr/>
            </a:pP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上写</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用户级别低于文件级别的写操作</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 </a:t>
            </a:r>
          </a:p>
          <a:p>
            <a:pPr eaLnBrk="1" hangingPunct="1">
              <a:lnSpc>
                <a:spcPts val="3600"/>
              </a:lnSpc>
              <a:buFont typeface="Wingdings" pitchFamily="2" charset="2"/>
              <a:buChar char="n"/>
              <a:defRPr/>
            </a:pP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下写</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用户级别大于文件级别的写操作</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 </a:t>
            </a:r>
          </a:p>
          <a:p>
            <a:pPr eaLnBrk="1" hangingPunct="1">
              <a:lnSpc>
                <a:spcPts val="3600"/>
              </a:lnSpc>
              <a:buFont typeface="Wingdings" pitchFamily="2" charset="2"/>
              <a:buChar char="n"/>
              <a:defRPr/>
            </a:pP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上读</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用户级别低于文件级别的读操作</a:t>
            </a:r>
            <a:r>
              <a:rPr lang="en-US" altLang="zh-CN" sz="24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3734"/>
                                        </p:tgtEl>
                                        <p:attrNameLst>
                                          <p:attrName>style.visibility</p:attrName>
                                        </p:attrNameLst>
                                      </p:cBhvr>
                                      <p:to>
                                        <p:strVal val="visible"/>
                                      </p:to>
                                    </p:set>
                                    <p:anim calcmode="lin" valueType="num">
                                      <p:cBhvr additive="base">
                                        <p:cTn id="7" dur="500" fill="hold"/>
                                        <p:tgtEl>
                                          <p:spTgt spid="73734"/>
                                        </p:tgtEl>
                                        <p:attrNameLst>
                                          <p:attrName>ppt_x</p:attrName>
                                        </p:attrNameLst>
                                      </p:cBhvr>
                                      <p:tavLst>
                                        <p:tav tm="0">
                                          <p:val>
                                            <p:strVal val="0-#ppt_w/2"/>
                                          </p:val>
                                        </p:tav>
                                        <p:tav tm="100000">
                                          <p:val>
                                            <p:strVal val="#ppt_x"/>
                                          </p:val>
                                        </p:tav>
                                      </p:tavLst>
                                    </p:anim>
                                    <p:anim calcmode="lin" valueType="num">
                                      <p:cBhvr additive="base">
                                        <p:cTn id="8" dur="500" fill="hold"/>
                                        <p:tgtEl>
                                          <p:spTgt spid="7373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3733"/>
                                        </p:tgtEl>
                                        <p:attrNameLst>
                                          <p:attrName>style.visibility</p:attrName>
                                        </p:attrNameLst>
                                      </p:cBhvr>
                                      <p:to>
                                        <p:strVal val="visible"/>
                                      </p:to>
                                    </p:set>
                                    <p:anim calcmode="lin" valueType="num">
                                      <p:cBhvr additive="base">
                                        <p:cTn id="12" dur="500" fill="hold"/>
                                        <p:tgtEl>
                                          <p:spTgt spid="73733"/>
                                        </p:tgtEl>
                                        <p:attrNameLst>
                                          <p:attrName>ppt_x</p:attrName>
                                        </p:attrNameLst>
                                      </p:cBhvr>
                                      <p:tavLst>
                                        <p:tav tm="0">
                                          <p:val>
                                            <p:strVal val="0-#ppt_w/2"/>
                                          </p:val>
                                        </p:tav>
                                        <p:tav tm="100000">
                                          <p:val>
                                            <p:strVal val="#ppt_x"/>
                                          </p:val>
                                        </p:tav>
                                      </p:tavLst>
                                    </p:anim>
                                    <p:anim calcmode="lin" valueType="num">
                                      <p:cBhvr additive="base">
                                        <p:cTn id="13" dur="500" fill="hold"/>
                                        <p:tgtEl>
                                          <p:spTgt spid="7373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73734" grpId="0"/>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29B90448-2CE5-F44C-823A-6F2E24C33DCC}"/>
              </a:ext>
            </a:extLst>
          </p:cNvPr>
          <p:cNvSpPr>
            <a:spLocks noGrp="1" noChangeArrowheads="1"/>
          </p:cNvSpPr>
          <p:nvPr>
            <p:ph idx="1"/>
          </p:nvPr>
        </p:nvSpPr>
        <p:spPr>
          <a:xfrm>
            <a:off x="539750" y="1592263"/>
            <a:ext cx="8191500" cy="1584325"/>
          </a:xfrm>
        </p:spPr>
        <p:txBody>
          <a:bodyPr>
            <a:normAutofit/>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向下读</a:t>
            </a:r>
            <a:r>
              <a:rPr lang="zh-CN" altLang="en-US" b="1">
                <a:solidFill>
                  <a:srgbClr val="0033CC"/>
                </a:solidFill>
                <a:effectLst>
                  <a:outerShdw blurRad="38100" dist="38100" dir="2700000" algn="tl">
                    <a:srgbClr val="C0C0C0"/>
                  </a:outerShdw>
                </a:effectLst>
                <a:latin typeface="Times New Roman" panose="02020603050405020304" pitchFamily="18" charset="0"/>
              </a:rPr>
              <a:t>（</a:t>
            </a:r>
            <a:r>
              <a:rPr lang="en-US" altLang="zh-CN" b="1">
                <a:solidFill>
                  <a:srgbClr val="0033CC"/>
                </a:solidFill>
                <a:effectLst>
                  <a:outerShdw blurRad="38100" dist="38100" dir="2700000" algn="tl">
                    <a:srgbClr val="C0C0C0"/>
                  </a:outerShdw>
                </a:effectLst>
                <a:latin typeface="Times New Roman" panose="02020603050405020304" pitchFamily="18" charset="0"/>
              </a:rPr>
              <a:t>Read Down</a:t>
            </a:r>
            <a:r>
              <a:rPr lang="zh-CN" altLang="en-US" b="1">
                <a:solidFill>
                  <a:srgbClr val="0033CC"/>
                </a:solidFill>
                <a:effectLst>
                  <a:outerShdw blurRad="38100" dist="38100" dir="2700000" algn="tl">
                    <a:srgbClr val="C0C0C0"/>
                  </a:outerShdw>
                </a:effectLst>
                <a:latin typeface="Times New Roman" panose="02020603050405020304" pitchFamily="18" charset="0"/>
              </a:rPr>
              <a:t>，</a:t>
            </a:r>
            <a:r>
              <a:rPr lang="en-US" altLang="zh-CN" b="1">
                <a:solidFill>
                  <a:srgbClr val="0033CC"/>
                </a:solidFill>
                <a:effectLst>
                  <a:outerShdw blurRad="38100" dist="38100" dir="2700000" algn="tl">
                    <a:srgbClr val="C0C0C0"/>
                  </a:outerShdw>
                </a:effectLst>
                <a:latin typeface="Times New Roman" panose="02020603050405020304" pitchFamily="18" charset="0"/>
              </a:rPr>
              <a:t>rd</a:t>
            </a:r>
            <a:r>
              <a:rPr lang="zh-CN" altLang="en-US" b="1">
                <a:solidFill>
                  <a:srgbClr val="0033CC"/>
                </a:solidFill>
                <a:effectLst>
                  <a:outerShdw blurRad="38100" dist="38100" dir="2700000" algn="tl">
                    <a:srgbClr val="C0C0C0"/>
                  </a:outerShdw>
                </a:effectLst>
                <a:latin typeface="Times New Roman" panose="02020603050405020304" pitchFamily="18" charset="0"/>
              </a:rPr>
              <a:t>）</a:t>
            </a:r>
          </a:p>
          <a:p>
            <a:pPr lvl="1">
              <a:defRPr/>
            </a:pPr>
            <a:r>
              <a:rPr lang="zh-CN" altLang="en-US" b="1">
                <a:effectLst>
                  <a:outerShdw blurRad="38100" dist="38100" dir="2700000" algn="tl">
                    <a:srgbClr val="C0C0C0"/>
                  </a:outerShdw>
                </a:effectLst>
                <a:latin typeface="Times New Roman" panose="02020603050405020304" pitchFamily="18" charset="0"/>
              </a:rPr>
              <a:t>主体高于客体时允许读，</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低级别用户不能读高敏感度的信息</a:t>
            </a:r>
          </a:p>
        </p:txBody>
      </p:sp>
      <p:sp>
        <p:nvSpPr>
          <p:cNvPr id="83970" name="Rectangle 2">
            <a:extLst>
              <a:ext uri="{FF2B5EF4-FFF2-40B4-BE49-F238E27FC236}">
                <a16:creationId xmlns:a16="http://schemas.microsoft.com/office/drawing/2014/main" id="{8B52BAF2-3EF2-A94B-A485-D52EBFBF4753}"/>
              </a:ext>
            </a:extLst>
          </p:cNvPr>
          <p:cNvSpPr>
            <a:spLocks noGrp="1" noChangeArrowheads="1"/>
          </p:cNvSpPr>
          <p:nvPr>
            <p:ph type="title"/>
          </p:nvPr>
        </p:nvSpPr>
        <p:spPr>
          <a:xfrm>
            <a:off x="431800" y="873125"/>
            <a:ext cx="6513513" cy="487363"/>
          </a:xfrm>
        </p:spPr>
        <p:txBody>
          <a:bodyPr/>
          <a:lstStyle/>
          <a:p>
            <a:pPr>
              <a:buClr>
                <a:srgbClr val="3399FF"/>
              </a:buClr>
              <a:defRPr/>
            </a:pPr>
            <a:r>
              <a:rPr lang="zh-CN" altLang="en-US">
                <a:solidFill>
                  <a:srgbClr val="FF0000"/>
                </a:solidFill>
                <a:effectLst>
                  <a:outerShdw blurRad="38100" dist="38100" dir="2700000" algn="tl">
                    <a:srgbClr val="C0C0C0"/>
                  </a:outerShdw>
                </a:effectLst>
                <a:latin typeface="Times New Roman" panose="02020603050405020304" pitchFamily="18" charset="0"/>
              </a:rPr>
              <a:t>强制访问控制</a:t>
            </a:r>
            <a:r>
              <a:rPr lang="en-US" altLang="zh-CN">
                <a:solidFill>
                  <a:srgbClr val="FF0000"/>
                </a:solidFill>
                <a:effectLst>
                  <a:outerShdw blurRad="38100" dist="38100" dir="2700000" algn="tl">
                    <a:srgbClr val="C0C0C0"/>
                  </a:outerShdw>
                </a:effectLst>
                <a:latin typeface="Times New Roman" panose="02020603050405020304" pitchFamily="18" charset="0"/>
              </a:rPr>
              <a:t>——</a:t>
            </a:r>
            <a:r>
              <a:rPr lang="zh-CN" altLang="en-US">
                <a:solidFill>
                  <a:srgbClr val="FF0000"/>
                </a:solidFill>
                <a:effectLst>
                  <a:outerShdw blurRad="38100" dist="38100" dir="2700000" algn="tl">
                    <a:srgbClr val="C0C0C0"/>
                  </a:outerShdw>
                </a:effectLst>
                <a:latin typeface="Times New Roman" panose="02020603050405020304" pitchFamily="18" charset="0"/>
              </a:rPr>
              <a:t>下读</a:t>
            </a:r>
            <a:r>
              <a:rPr lang="en-US" altLang="zh-CN">
                <a:solidFill>
                  <a:srgbClr val="FF0000"/>
                </a:solidFill>
                <a:effectLst>
                  <a:outerShdw blurRad="38100" dist="38100" dir="2700000" algn="tl">
                    <a:srgbClr val="C0C0C0"/>
                  </a:outerShdw>
                </a:effectLst>
                <a:latin typeface="Times New Roman" panose="02020603050405020304" pitchFamily="18" charset="0"/>
              </a:rPr>
              <a:t>/</a:t>
            </a:r>
            <a:r>
              <a:rPr lang="zh-CN" altLang="en-US">
                <a:solidFill>
                  <a:srgbClr val="FF0000"/>
                </a:solidFill>
                <a:effectLst>
                  <a:outerShdw blurRad="38100" dist="38100" dir="2700000" algn="tl">
                    <a:srgbClr val="C0C0C0"/>
                  </a:outerShdw>
                </a:effectLst>
                <a:latin typeface="Times New Roman" panose="02020603050405020304" pitchFamily="18" charset="0"/>
              </a:rPr>
              <a:t>上写</a:t>
            </a:r>
          </a:p>
        </p:txBody>
      </p:sp>
      <p:sp>
        <p:nvSpPr>
          <p:cNvPr id="2" name="矩形 1">
            <a:extLst>
              <a:ext uri="{FF2B5EF4-FFF2-40B4-BE49-F238E27FC236}">
                <a16:creationId xmlns:a16="http://schemas.microsoft.com/office/drawing/2014/main" id="{1ECD4799-0ACB-FF40-B720-15FA2D9EC9BF}"/>
              </a:ext>
            </a:extLst>
          </p:cNvPr>
          <p:cNvSpPr/>
          <p:nvPr/>
        </p:nvSpPr>
        <p:spPr>
          <a:xfrm>
            <a:off x="539750" y="4868863"/>
            <a:ext cx="7596188" cy="95408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信息流只能从低级别流向高级别，从而保证</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数据机密性</a:t>
            </a:r>
            <a:endPar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3" name="矩形 2">
            <a:extLst>
              <a:ext uri="{FF2B5EF4-FFF2-40B4-BE49-F238E27FC236}">
                <a16:creationId xmlns:a16="http://schemas.microsoft.com/office/drawing/2014/main" id="{F369A740-D4C9-AE4E-888E-A3640A9D1A91}"/>
              </a:ext>
            </a:extLst>
          </p:cNvPr>
          <p:cNvSpPr/>
          <p:nvPr/>
        </p:nvSpPr>
        <p:spPr>
          <a:xfrm>
            <a:off x="539750" y="3176588"/>
            <a:ext cx="6913563" cy="1484312"/>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向上写</a:t>
            </a:r>
            <a:r>
              <a:rPr lang="zh-CN" altLang="en-US"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Write Up</a:t>
            </a:r>
            <a:r>
              <a:rPr lang="zh-CN" altLang="en-US"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wr</a:t>
            </a:r>
            <a:r>
              <a:rPr lang="zh-CN" altLang="en-US"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主体低于客体时允许写，</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不允许高敏感度的信息写入低敏感度区域</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wipe(up)">
                                      <p:cBhvr>
                                        <p:cTn id="7" dur="500"/>
                                        <p:tgtEl>
                                          <p:spTgt spid="83971">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3971">
                                            <p:txEl>
                                              <p:pRg st="1" end="1"/>
                                            </p:txEl>
                                          </p:spTgt>
                                        </p:tgtEl>
                                        <p:attrNameLst>
                                          <p:attrName>style.visibility</p:attrName>
                                        </p:attrNameLst>
                                      </p:cBhvr>
                                      <p:to>
                                        <p:strVal val="visible"/>
                                      </p:to>
                                    </p:set>
                                    <p:animEffect transition="in" filter="wipe(up)">
                                      <p:cBhvr>
                                        <p:cTn id="11" dur="500"/>
                                        <p:tgtEl>
                                          <p:spTgt spid="83971">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animEffect transition="in" filter="wipe(up)">
                                      <p:cBhvr>
                                        <p:cTn id="15" dur="500"/>
                                        <p:tgtEl>
                                          <p:spTgt spid="83971">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P spid="2"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F0E90E98-FE84-A542-B56D-8272A3992130}"/>
              </a:ext>
            </a:extLst>
          </p:cNvPr>
          <p:cNvSpPr>
            <a:spLocks noGrp="1" noChangeArrowheads="1"/>
          </p:cNvSpPr>
          <p:nvPr>
            <p:ph idx="1"/>
          </p:nvPr>
        </p:nvSpPr>
        <p:spPr>
          <a:xfrm>
            <a:off x="622300" y="1628775"/>
            <a:ext cx="8191500" cy="1584325"/>
          </a:xfrm>
        </p:spPr>
        <p:txBody>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向上读</a:t>
            </a:r>
            <a:r>
              <a:rPr lang="zh-CN" altLang="en-US" b="1">
                <a:effectLst>
                  <a:outerShdw blurRad="38100" dist="38100" dir="2700000" algn="tl">
                    <a:srgbClr val="C0C0C0"/>
                  </a:outerShdw>
                </a:effectLst>
                <a:latin typeface="Times New Roman" panose="02020603050405020304" pitchFamily="18" charset="0"/>
              </a:rPr>
              <a:t>（</a:t>
            </a:r>
            <a:r>
              <a:rPr lang="en-US" altLang="zh-CN" b="1">
                <a:solidFill>
                  <a:srgbClr val="0033CC"/>
                </a:solidFill>
                <a:effectLst>
                  <a:outerShdw blurRad="38100" dist="38100" dir="2700000" algn="tl">
                    <a:srgbClr val="C0C0C0"/>
                  </a:outerShdw>
                </a:effectLst>
                <a:latin typeface="Times New Roman" panose="02020603050405020304" pitchFamily="18" charset="0"/>
              </a:rPr>
              <a:t>Read Up</a:t>
            </a:r>
            <a:r>
              <a:rPr lang="zh-CN" altLang="en-US" b="1">
                <a:solidFill>
                  <a:srgbClr val="0033CC"/>
                </a:solidFill>
                <a:effectLst>
                  <a:outerShdw blurRad="38100" dist="38100" dir="2700000" algn="tl">
                    <a:srgbClr val="C0C0C0"/>
                  </a:outerShdw>
                </a:effectLst>
                <a:latin typeface="Times New Roman" panose="02020603050405020304" pitchFamily="18" charset="0"/>
              </a:rPr>
              <a:t>，</a:t>
            </a:r>
            <a:r>
              <a:rPr lang="en-US" altLang="zh-CN" b="1">
                <a:solidFill>
                  <a:srgbClr val="0033CC"/>
                </a:solidFill>
                <a:effectLst>
                  <a:outerShdw blurRad="38100" dist="38100" dir="2700000" algn="tl">
                    <a:srgbClr val="C0C0C0"/>
                  </a:outerShdw>
                </a:effectLst>
                <a:latin typeface="Times New Roman" panose="02020603050405020304" pitchFamily="18" charset="0"/>
              </a:rPr>
              <a:t>ru</a:t>
            </a:r>
            <a:r>
              <a:rPr lang="zh-CN" altLang="en-US" b="1">
                <a:effectLst>
                  <a:outerShdw blurRad="38100" dist="38100" dir="2700000" algn="tl">
                    <a:srgbClr val="C0C0C0"/>
                  </a:outerShdw>
                </a:effectLst>
                <a:latin typeface="Times New Roman" panose="02020603050405020304" pitchFamily="18" charset="0"/>
              </a:rPr>
              <a:t>）</a:t>
            </a:r>
          </a:p>
          <a:p>
            <a:pPr lvl="1">
              <a:defRPr/>
            </a:pPr>
            <a:r>
              <a:rPr lang="zh-CN" altLang="en-US" b="1">
                <a:effectLst>
                  <a:outerShdw blurRad="38100" dist="38100" dir="2700000" algn="tl">
                    <a:srgbClr val="C0C0C0"/>
                  </a:outerShdw>
                </a:effectLst>
                <a:latin typeface="Times New Roman" panose="02020603050405020304" pitchFamily="18" charset="0"/>
              </a:rPr>
              <a:t>主体低于客体时允许读操作</a:t>
            </a:r>
            <a:endParaRPr lang="en-US" altLang="zh-CN" b="1">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低信任级别的用户能够读高敏感度的信息</a:t>
            </a:r>
          </a:p>
        </p:txBody>
      </p:sp>
      <p:sp>
        <p:nvSpPr>
          <p:cNvPr id="83970" name="Rectangle 2">
            <a:extLst>
              <a:ext uri="{FF2B5EF4-FFF2-40B4-BE49-F238E27FC236}">
                <a16:creationId xmlns:a16="http://schemas.microsoft.com/office/drawing/2014/main" id="{D816ED17-B8BB-784F-92C0-E92D632F30AD}"/>
              </a:ext>
            </a:extLst>
          </p:cNvPr>
          <p:cNvSpPr>
            <a:spLocks noGrp="1" noChangeArrowheads="1"/>
          </p:cNvSpPr>
          <p:nvPr>
            <p:ph type="title"/>
          </p:nvPr>
        </p:nvSpPr>
        <p:spPr>
          <a:xfrm>
            <a:off x="611188" y="817563"/>
            <a:ext cx="6513512" cy="487362"/>
          </a:xfrm>
        </p:spPr>
        <p:txBody>
          <a:bodyPr/>
          <a:lstStyle/>
          <a:p>
            <a:pPr>
              <a:buClr>
                <a:srgbClr val="3399FF"/>
              </a:buClr>
              <a:defRPr/>
            </a:pPr>
            <a:r>
              <a:rPr lang="zh-CN" altLang="en-US">
                <a:solidFill>
                  <a:srgbClr val="FF0000"/>
                </a:solidFill>
                <a:effectLst>
                  <a:outerShdw blurRad="38100" dist="38100" dir="2700000" algn="tl">
                    <a:srgbClr val="C0C0C0"/>
                  </a:outerShdw>
                </a:effectLst>
                <a:latin typeface="Times New Roman" panose="02020603050405020304" pitchFamily="18" charset="0"/>
              </a:rPr>
              <a:t>强制访问控制</a:t>
            </a:r>
            <a:r>
              <a:rPr lang="en-US" altLang="zh-CN">
                <a:solidFill>
                  <a:srgbClr val="FF0000"/>
                </a:solidFill>
                <a:effectLst>
                  <a:outerShdw blurRad="38100" dist="38100" dir="2700000" algn="tl">
                    <a:srgbClr val="C0C0C0"/>
                  </a:outerShdw>
                </a:effectLst>
                <a:latin typeface="Times New Roman" panose="02020603050405020304" pitchFamily="18" charset="0"/>
              </a:rPr>
              <a:t>——</a:t>
            </a:r>
            <a:r>
              <a:rPr lang="zh-CN" altLang="en-US">
                <a:solidFill>
                  <a:srgbClr val="FF0000"/>
                </a:solidFill>
                <a:effectLst>
                  <a:outerShdw blurRad="38100" dist="38100" dir="2700000" algn="tl">
                    <a:srgbClr val="C0C0C0"/>
                  </a:outerShdw>
                </a:effectLst>
                <a:latin typeface="Times New Roman" panose="02020603050405020304" pitchFamily="18" charset="0"/>
              </a:rPr>
              <a:t>上读</a:t>
            </a:r>
            <a:r>
              <a:rPr lang="en-US" altLang="zh-CN">
                <a:solidFill>
                  <a:srgbClr val="FF0000"/>
                </a:solidFill>
                <a:effectLst>
                  <a:outerShdw blurRad="38100" dist="38100" dir="2700000" algn="tl">
                    <a:srgbClr val="C0C0C0"/>
                  </a:outerShdw>
                </a:effectLst>
                <a:latin typeface="Times New Roman" panose="02020603050405020304" pitchFamily="18" charset="0"/>
              </a:rPr>
              <a:t>/</a:t>
            </a:r>
            <a:r>
              <a:rPr lang="zh-CN" altLang="en-US">
                <a:solidFill>
                  <a:srgbClr val="FF0000"/>
                </a:solidFill>
                <a:effectLst>
                  <a:outerShdw blurRad="38100" dist="38100" dir="2700000" algn="tl">
                    <a:srgbClr val="C0C0C0"/>
                  </a:outerShdw>
                </a:effectLst>
                <a:latin typeface="Times New Roman" panose="02020603050405020304" pitchFamily="18" charset="0"/>
              </a:rPr>
              <a:t>下写</a:t>
            </a:r>
          </a:p>
        </p:txBody>
      </p:sp>
      <p:sp>
        <p:nvSpPr>
          <p:cNvPr id="2" name="矩形 1">
            <a:extLst>
              <a:ext uri="{FF2B5EF4-FFF2-40B4-BE49-F238E27FC236}">
                <a16:creationId xmlns:a16="http://schemas.microsoft.com/office/drawing/2014/main" id="{1728E002-060F-224D-AFF0-0762F8644460}"/>
              </a:ext>
            </a:extLst>
          </p:cNvPr>
          <p:cNvSpPr/>
          <p:nvPr/>
        </p:nvSpPr>
        <p:spPr>
          <a:xfrm>
            <a:off x="733425" y="4905375"/>
            <a:ext cx="3055938" cy="522288"/>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8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实现</a:t>
            </a:r>
            <a:r>
              <a:rPr lang="zh-CN" altLang="en-US" sz="28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数据完整性</a:t>
            </a:r>
          </a:p>
        </p:txBody>
      </p:sp>
      <p:sp>
        <p:nvSpPr>
          <p:cNvPr id="3" name="矩形 2">
            <a:extLst>
              <a:ext uri="{FF2B5EF4-FFF2-40B4-BE49-F238E27FC236}">
                <a16:creationId xmlns:a16="http://schemas.microsoft.com/office/drawing/2014/main" id="{576FA702-685D-5D46-ABE3-E92C95AE5DED}"/>
              </a:ext>
            </a:extLst>
          </p:cNvPr>
          <p:cNvSpPr/>
          <p:nvPr/>
        </p:nvSpPr>
        <p:spPr>
          <a:xfrm>
            <a:off x="733425" y="3284538"/>
            <a:ext cx="7092950" cy="148272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向下写</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Write Down</a:t>
            </a:r>
            <a:r>
              <a:rPr lang="zh-CN" altLang="en-US"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wd</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主体高于客体时允许写操作</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允许高敏感度的信息写入低敏感度区域</a:t>
            </a:r>
            <a:endPar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 calcmode="lin" valueType="num">
                                      <p:cBhvr additive="base">
                                        <p:cTn id="7" dur="500" fill="hold"/>
                                        <p:tgtEl>
                                          <p:spTgt spid="296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698">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 calcmode="lin" valueType="num">
                                      <p:cBhvr additive="base">
                                        <p:cTn id="12" dur="500" fill="hold"/>
                                        <p:tgtEl>
                                          <p:spTgt spid="29698">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9698">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9698">
                                            <p:txEl>
                                              <p:pRg st="2" end="2"/>
                                            </p:txEl>
                                          </p:spTgt>
                                        </p:tgtEl>
                                        <p:attrNameLst>
                                          <p:attrName>style.visibility</p:attrName>
                                        </p:attrNameLst>
                                      </p:cBhvr>
                                      <p:to>
                                        <p:strVal val="visible"/>
                                      </p:to>
                                    </p:set>
                                    <p:anim calcmode="lin" valueType="num">
                                      <p:cBhvr additive="base">
                                        <p:cTn id="17" dur="500" fill="hold"/>
                                        <p:tgtEl>
                                          <p:spTgt spid="29698">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969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0-#ppt_w/2"/>
                                          </p:val>
                                        </p:tav>
                                        <p:tav tm="100000">
                                          <p:val>
                                            <p:strVal val="#ppt_x"/>
                                          </p:val>
                                        </p:tav>
                                      </p:tavLst>
                                    </p:anim>
                                    <p:anim calcmode="lin" valueType="num">
                                      <p:cBhvr additive="base">
                                        <p:cTn id="3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P spid="2" grpId="0"/>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3">
            <a:extLst>
              <a:ext uri="{FF2B5EF4-FFF2-40B4-BE49-F238E27FC236}">
                <a16:creationId xmlns:a16="http://schemas.microsoft.com/office/drawing/2014/main" id="{D9888E94-81D3-D04D-8070-4B0A0EEFAB7F}"/>
              </a:ext>
            </a:extLst>
          </p:cNvPr>
          <p:cNvSpPr>
            <a:spLocks noGrp="1" noChangeArrowheads="1"/>
          </p:cNvSpPr>
          <p:nvPr>
            <p:ph idx="1"/>
          </p:nvPr>
        </p:nvSpPr>
        <p:spPr>
          <a:xfrm>
            <a:off x="349250" y="838200"/>
            <a:ext cx="8229600" cy="1658938"/>
          </a:xfrm>
        </p:spPr>
        <p:txBody>
          <a:bodyPr/>
          <a:lstStyle/>
          <a:p>
            <a:r>
              <a:rPr lang="en-US" altLang="zh-CN" b="1" dirty="0">
                <a:latin typeface="Times New Roman" panose="02020603050405020304" pitchFamily="18" charset="0"/>
              </a:rPr>
              <a:t>MAC</a:t>
            </a:r>
            <a:r>
              <a:rPr lang="zh-CN" altLang="en-US" b="1" dirty="0">
                <a:latin typeface="Times New Roman" panose="02020603050405020304" pitchFamily="18" charset="0"/>
              </a:rPr>
              <a:t>中主体对客体的访问有四种方式</a:t>
            </a:r>
            <a:endParaRPr lang="en-US" altLang="zh-CN" b="1" dirty="0">
              <a:latin typeface="Times New Roman" panose="02020603050405020304" pitchFamily="18" charset="0"/>
            </a:endParaRPr>
          </a:p>
          <a:p>
            <a:pPr lvl="1"/>
            <a:r>
              <a:rPr lang="zh-CN" altLang="en-US" b="1" dirty="0">
                <a:solidFill>
                  <a:srgbClr val="0033CC"/>
                </a:solidFill>
                <a:latin typeface="Times New Roman" panose="02020603050405020304" pitchFamily="18" charset="0"/>
              </a:rPr>
              <a:t>下读</a:t>
            </a:r>
            <a:r>
              <a:rPr lang="en-US" altLang="zh-CN" b="1" dirty="0">
                <a:solidFill>
                  <a:srgbClr val="0033CC"/>
                </a:solidFill>
                <a:latin typeface="Times New Roman" panose="02020603050405020304" pitchFamily="18" charset="0"/>
              </a:rPr>
              <a:t>/</a:t>
            </a:r>
            <a:r>
              <a:rPr lang="zh-CN" altLang="en-US" b="1" dirty="0">
                <a:solidFill>
                  <a:srgbClr val="0033CC"/>
                </a:solidFill>
                <a:latin typeface="Times New Roman" panose="02020603050405020304" pitchFamily="18" charset="0"/>
              </a:rPr>
              <a:t>上写</a:t>
            </a:r>
          </a:p>
          <a:p>
            <a:pPr lvl="1"/>
            <a:r>
              <a:rPr lang="zh-CN" altLang="en-US" b="1" dirty="0">
                <a:solidFill>
                  <a:srgbClr val="0033CC"/>
                </a:solidFill>
                <a:latin typeface="Times New Roman" panose="02020603050405020304" pitchFamily="18" charset="0"/>
              </a:rPr>
              <a:t>上读</a:t>
            </a:r>
            <a:r>
              <a:rPr lang="en-US" altLang="zh-CN" b="1" dirty="0">
                <a:solidFill>
                  <a:srgbClr val="0033CC"/>
                </a:solidFill>
                <a:latin typeface="Times New Roman" panose="02020603050405020304" pitchFamily="18" charset="0"/>
              </a:rPr>
              <a:t>/</a:t>
            </a:r>
            <a:r>
              <a:rPr lang="zh-CN" altLang="en-US" b="1" dirty="0">
                <a:solidFill>
                  <a:srgbClr val="0033CC"/>
                </a:solidFill>
                <a:latin typeface="Times New Roman" panose="02020603050405020304" pitchFamily="18" charset="0"/>
              </a:rPr>
              <a:t>下写</a:t>
            </a:r>
          </a:p>
        </p:txBody>
      </p:sp>
      <p:grpSp>
        <p:nvGrpSpPr>
          <p:cNvPr id="6" name="Group 9">
            <a:extLst>
              <a:ext uri="{FF2B5EF4-FFF2-40B4-BE49-F238E27FC236}">
                <a16:creationId xmlns:a16="http://schemas.microsoft.com/office/drawing/2014/main" id="{3DF80967-1445-714D-B179-DD996F804186}"/>
              </a:ext>
            </a:extLst>
          </p:cNvPr>
          <p:cNvGrpSpPr>
            <a:grpSpLocks/>
          </p:cNvGrpSpPr>
          <p:nvPr/>
        </p:nvGrpSpPr>
        <p:grpSpPr bwMode="auto">
          <a:xfrm>
            <a:off x="3708400" y="2636838"/>
            <a:ext cx="1511300" cy="3384550"/>
            <a:chOff x="1837" y="1298"/>
            <a:chExt cx="952" cy="2132"/>
          </a:xfrm>
        </p:grpSpPr>
        <p:sp>
          <p:nvSpPr>
            <p:cNvPr id="7" name="Rectangle 4">
              <a:extLst>
                <a:ext uri="{FF2B5EF4-FFF2-40B4-BE49-F238E27FC236}">
                  <a16:creationId xmlns:a16="http://schemas.microsoft.com/office/drawing/2014/main" id="{0B1C88B3-091F-0F45-A9D4-472AFC7134AC}"/>
                </a:ext>
              </a:extLst>
            </p:cNvPr>
            <p:cNvSpPr>
              <a:spLocks noChangeArrowheads="1"/>
            </p:cNvSpPr>
            <p:nvPr/>
          </p:nvSpPr>
          <p:spPr bwMode="auto">
            <a:xfrm>
              <a:off x="1837" y="1298"/>
              <a:ext cx="952" cy="363"/>
            </a:xfrm>
            <a:prstGeom prst="rect">
              <a:avLst/>
            </a:prstGeom>
            <a:noFill/>
            <a:ln w="28575">
              <a:solidFill>
                <a:schemeClr val="tx1"/>
              </a:solidFill>
              <a:miter lim="800000"/>
            </a:ln>
            <a:effectLst/>
          </p:spPr>
          <p:txBody>
            <a:bodyPr wrap="none" anchor="ctr"/>
            <a:lstStyle/>
            <a:p>
              <a:pPr algn="ctr">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绝密级</a:t>
              </a:r>
            </a:p>
          </p:txBody>
        </p:sp>
        <p:sp>
          <p:nvSpPr>
            <p:cNvPr id="8" name="Rectangle 6">
              <a:extLst>
                <a:ext uri="{FF2B5EF4-FFF2-40B4-BE49-F238E27FC236}">
                  <a16:creationId xmlns:a16="http://schemas.microsoft.com/office/drawing/2014/main" id="{B8C3C456-866B-D241-A497-C04D6A01AA76}"/>
                </a:ext>
              </a:extLst>
            </p:cNvPr>
            <p:cNvSpPr>
              <a:spLocks noChangeArrowheads="1"/>
            </p:cNvSpPr>
            <p:nvPr/>
          </p:nvSpPr>
          <p:spPr bwMode="auto">
            <a:xfrm>
              <a:off x="1837" y="1888"/>
              <a:ext cx="952" cy="363"/>
            </a:xfrm>
            <a:prstGeom prst="rect">
              <a:avLst/>
            </a:prstGeom>
            <a:noFill/>
            <a:ln w="28575">
              <a:solidFill>
                <a:schemeClr val="tx1"/>
              </a:solidFill>
              <a:miter lim="800000"/>
            </a:ln>
            <a:effectLst/>
          </p:spPr>
          <p:txBody>
            <a:bodyPr wrap="none" anchor="ctr"/>
            <a:lstStyle/>
            <a:p>
              <a:pPr algn="ctr">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机密级</a:t>
              </a:r>
            </a:p>
          </p:txBody>
        </p:sp>
        <p:sp>
          <p:nvSpPr>
            <p:cNvPr id="9" name="Rectangle 7">
              <a:extLst>
                <a:ext uri="{FF2B5EF4-FFF2-40B4-BE49-F238E27FC236}">
                  <a16:creationId xmlns:a16="http://schemas.microsoft.com/office/drawing/2014/main" id="{F535B335-08E7-764E-9531-3575504E89C2}"/>
                </a:ext>
              </a:extLst>
            </p:cNvPr>
            <p:cNvSpPr>
              <a:spLocks noChangeArrowheads="1"/>
            </p:cNvSpPr>
            <p:nvPr/>
          </p:nvSpPr>
          <p:spPr bwMode="auto">
            <a:xfrm>
              <a:off x="1837" y="2478"/>
              <a:ext cx="952" cy="363"/>
            </a:xfrm>
            <a:prstGeom prst="rect">
              <a:avLst/>
            </a:prstGeom>
            <a:noFill/>
            <a:ln w="28575">
              <a:solidFill>
                <a:schemeClr val="tx1"/>
              </a:solidFill>
              <a:miter lim="800000"/>
            </a:ln>
            <a:effectLst/>
          </p:spPr>
          <p:txBody>
            <a:bodyPr wrap="none" anchor="ctr"/>
            <a:lstStyle/>
            <a:p>
              <a:pPr algn="ctr">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秘密级</a:t>
              </a:r>
            </a:p>
          </p:txBody>
        </p:sp>
        <p:sp>
          <p:nvSpPr>
            <p:cNvPr id="10" name="Rectangle 8">
              <a:extLst>
                <a:ext uri="{FF2B5EF4-FFF2-40B4-BE49-F238E27FC236}">
                  <a16:creationId xmlns:a16="http://schemas.microsoft.com/office/drawing/2014/main" id="{A5B85490-8C25-E54A-AEE2-99671BEBC318}"/>
                </a:ext>
              </a:extLst>
            </p:cNvPr>
            <p:cNvSpPr>
              <a:spLocks noChangeArrowheads="1"/>
            </p:cNvSpPr>
            <p:nvPr/>
          </p:nvSpPr>
          <p:spPr bwMode="auto">
            <a:xfrm>
              <a:off x="1837" y="3067"/>
              <a:ext cx="952" cy="363"/>
            </a:xfrm>
            <a:prstGeom prst="rect">
              <a:avLst/>
            </a:prstGeom>
            <a:noFill/>
            <a:ln w="28575">
              <a:solidFill>
                <a:schemeClr val="tx1"/>
              </a:solidFill>
              <a:miter lim="800000"/>
            </a:ln>
            <a:effectLst/>
          </p:spPr>
          <p:txBody>
            <a:bodyPr wrap="none" anchor="ctr"/>
            <a:lstStyle/>
            <a:p>
              <a:pPr algn="ctr">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无密级</a:t>
              </a:r>
            </a:p>
          </p:txBody>
        </p:sp>
      </p:grpSp>
      <p:grpSp>
        <p:nvGrpSpPr>
          <p:cNvPr id="11" name="Group 20">
            <a:extLst>
              <a:ext uri="{FF2B5EF4-FFF2-40B4-BE49-F238E27FC236}">
                <a16:creationId xmlns:a16="http://schemas.microsoft.com/office/drawing/2014/main" id="{6425029C-83B5-3F47-A4A3-A54372931694}"/>
              </a:ext>
            </a:extLst>
          </p:cNvPr>
          <p:cNvGrpSpPr/>
          <p:nvPr/>
        </p:nvGrpSpPr>
        <p:grpSpPr bwMode="auto">
          <a:xfrm>
            <a:off x="1692275" y="2636912"/>
            <a:ext cx="1841501" cy="3529013"/>
            <a:chOff x="1066" y="1298"/>
            <a:chExt cx="1160" cy="2223"/>
          </a:xfrm>
          <a:solidFill>
            <a:schemeClr val="bg1"/>
          </a:solidFill>
        </p:grpSpPr>
        <p:sp>
          <p:nvSpPr>
            <p:cNvPr id="12" name="Line 10">
              <a:extLst>
                <a:ext uri="{FF2B5EF4-FFF2-40B4-BE49-F238E27FC236}">
                  <a16:creationId xmlns:a16="http://schemas.microsoft.com/office/drawing/2014/main" id="{310FCB97-AD03-6448-8936-C22A09D7A5CC}"/>
                </a:ext>
              </a:extLst>
            </p:cNvPr>
            <p:cNvSpPr>
              <a:spLocks noChangeShapeType="1"/>
            </p:cNvSpPr>
            <p:nvPr/>
          </p:nvSpPr>
          <p:spPr bwMode="auto">
            <a:xfrm flipV="1">
              <a:off x="1474" y="1344"/>
              <a:ext cx="0" cy="2177"/>
            </a:xfrm>
            <a:prstGeom prst="line">
              <a:avLst/>
            </a:prstGeom>
            <a:grpFill/>
            <a:ln w="57150">
              <a:solidFill>
                <a:schemeClr val="tx1"/>
              </a:solidFill>
              <a:prstDash val="dash"/>
              <a:round/>
              <a:tailEnd type="triangle" w="med" len="lg"/>
            </a:ln>
            <a:effectLst/>
          </p:spPr>
          <p:txBody>
            <a:bodyPr/>
            <a:lstStyle/>
            <a:p>
              <a:pPr>
                <a:defRPr/>
              </a:pPr>
              <a:endParaRPr lang="zh-CN" altLang="en-US"/>
            </a:p>
          </p:txBody>
        </p:sp>
        <p:sp>
          <p:nvSpPr>
            <p:cNvPr id="13" name="Line 11">
              <a:extLst>
                <a:ext uri="{FF2B5EF4-FFF2-40B4-BE49-F238E27FC236}">
                  <a16:creationId xmlns:a16="http://schemas.microsoft.com/office/drawing/2014/main" id="{D843649F-FACF-D54A-8ADE-F56A5AE5FC5A}"/>
                </a:ext>
              </a:extLst>
            </p:cNvPr>
            <p:cNvSpPr>
              <a:spLocks noChangeShapeType="1"/>
            </p:cNvSpPr>
            <p:nvPr/>
          </p:nvSpPr>
          <p:spPr bwMode="auto">
            <a:xfrm>
              <a:off x="1882" y="1344"/>
              <a:ext cx="0" cy="2177"/>
            </a:xfrm>
            <a:prstGeom prst="line">
              <a:avLst/>
            </a:prstGeom>
            <a:grpFill/>
            <a:ln w="57150">
              <a:solidFill>
                <a:srgbClr val="FF0000"/>
              </a:solidFill>
              <a:round/>
              <a:tailEnd type="triangle" w="med" len="lg"/>
            </a:ln>
            <a:effectLst/>
          </p:spPr>
          <p:txBody>
            <a:bodyPr/>
            <a:lstStyle/>
            <a:p>
              <a:pPr>
                <a:defRPr/>
              </a:pPr>
              <a:endParaRPr lang="zh-CN" altLang="en-US"/>
            </a:p>
          </p:txBody>
        </p:sp>
        <p:sp>
          <p:nvSpPr>
            <p:cNvPr id="14" name="Text Box 12">
              <a:extLst>
                <a:ext uri="{FF2B5EF4-FFF2-40B4-BE49-F238E27FC236}">
                  <a16:creationId xmlns:a16="http://schemas.microsoft.com/office/drawing/2014/main" id="{9FB6B43B-64F2-CA4F-93DD-04FE3729D7DE}"/>
                </a:ext>
              </a:extLst>
            </p:cNvPr>
            <p:cNvSpPr txBox="1">
              <a:spLocks noChangeArrowheads="1"/>
            </p:cNvSpPr>
            <p:nvPr/>
          </p:nvSpPr>
          <p:spPr bwMode="auto">
            <a:xfrm>
              <a:off x="1915" y="1298"/>
              <a:ext cx="311" cy="291"/>
            </a:xfrm>
            <a:prstGeom prst="rect">
              <a:avLst/>
            </a:prstGeom>
            <a:grpFill/>
            <a:ln>
              <a:noFill/>
            </a:ln>
            <a:effectLst/>
          </p:spPr>
          <p:txBody>
            <a:bodyPr wrap="none">
              <a:spAutoFit/>
            </a:bodyPr>
            <a:lstStyle/>
            <a:p>
              <a:pPr>
                <a:defRPr/>
              </a:pPr>
              <a:r>
                <a:rPr lang="zh-CN" altLang="en-US" sz="2400" b="1" dirty="0">
                  <a:solidFill>
                    <a:srgbClr val="FF3300"/>
                  </a:solidFill>
                  <a:effectLst>
                    <a:outerShdw blurRad="38100" dist="38100" dir="2700000" algn="tl">
                      <a:srgbClr val="000000">
                        <a:alpha val="43137"/>
                      </a:srgbClr>
                    </a:outerShdw>
                  </a:effectLst>
                  <a:latin typeface="+mn-ea"/>
                  <a:ea typeface="+mn-ea"/>
                </a:rPr>
                <a:t>写</a:t>
              </a:r>
            </a:p>
          </p:txBody>
        </p:sp>
        <p:sp>
          <p:nvSpPr>
            <p:cNvPr id="15" name="Text Box 13">
              <a:extLst>
                <a:ext uri="{FF2B5EF4-FFF2-40B4-BE49-F238E27FC236}">
                  <a16:creationId xmlns:a16="http://schemas.microsoft.com/office/drawing/2014/main" id="{A2BBB96A-F9C9-544A-BD53-E9E176F7FF63}"/>
                </a:ext>
              </a:extLst>
            </p:cNvPr>
            <p:cNvSpPr txBox="1">
              <a:spLocks noChangeArrowheads="1"/>
            </p:cNvSpPr>
            <p:nvPr/>
          </p:nvSpPr>
          <p:spPr bwMode="auto">
            <a:xfrm>
              <a:off x="1066" y="3010"/>
              <a:ext cx="311" cy="291"/>
            </a:xfrm>
            <a:prstGeom prst="rect">
              <a:avLst/>
            </a:prstGeom>
            <a:grpFill/>
            <a:ln>
              <a:noFill/>
            </a:ln>
            <a:effectLst/>
          </p:spPr>
          <p:txBody>
            <a:bodyPr wrap="none">
              <a:spAutoFit/>
            </a:bodyPr>
            <a:lstStyle/>
            <a:p>
              <a:pPr>
                <a:defRPr/>
              </a:pPr>
              <a:r>
                <a:rPr lang="zh-CN" altLang="en-US" sz="2400" b="1" dirty="0">
                  <a:effectLst>
                    <a:outerShdw blurRad="38100" dist="38100" dir="2700000" algn="tl">
                      <a:srgbClr val="000000">
                        <a:alpha val="43137"/>
                      </a:srgbClr>
                    </a:outerShdw>
                  </a:effectLst>
                  <a:latin typeface="+mn-ea"/>
                  <a:ea typeface="+mn-ea"/>
                </a:rPr>
                <a:t>读</a:t>
              </a:r>
            </a:p>
          </p:txBody>
        </p:sp>
      </p:grpSp>
      <p:grpSp>
        <p:nvGrpSpPr>
          <p:cNvPr id="17" name="Group 21">
            <a:extLst>
              <a:ext uri="{FF2B5EF4-FFF2-40B4-BE49-F238E27FC236}">
                <a16:creationId xmlns:a16="http://schemas.microsoft.com/office/drawing/2014/main" id="{00DE753B-C429-044D-BDBE-2302E5BCD690}"/>
              </a:ext>
            </a:extLst>
          </p:cNvPr>
          <p:cNvGrpSpPr>
            <a:grpSpLocks/>
          </p:cNvGrpSpPr>
          <p:nvPr/>
        </p:nvGrpSpPr>
        <p:grpSpPr bwMode="auto">
          <a:xfrm>
            <a:off x="5508625" y="2636838"/>
            <a:ext cx="1862138" cy="3455987"/>
            <a:chOff x="3470" y="1298"/>
            <a:chExt cx="1173" cy="2177"/>
          </a:xfrm>
        </p:grpSpPr>
        <p:sp>
          <p:nvSpPr>
            <p:cNvPr id="91144" name="Line 15">
              <a:extLst>
                <a:ext uri="{FF2B5EF4-FFF2-40B4-BE49-F238E27FC236}">
                  <a16:creationId xmlns:a16="http://schemas.microsoft.com/office/drawing/2014/main" id="{FBF3F2DD-4F6E-CA4B-B290-DBF16D942F7A}"/>
                </a:ext>
              </a:extLst>
            </p:cNvPr>
            <p:cNvSpPr>
              <a:spLocks noChangeShapeType="1"/>
            </p:cNvSpPr>
            <p:nvPr/>
          </p:nvSpPr>
          <p:spPr bwMode="auto">
            <a:xfrm flipV="1">
              <a:off x="3809" y="1298"/>
              <a:ext cx="0" cy="2177"/>
            </a:xfrm>
            <a:prstGeom prst="line">
              <a:avLst/>
            </a:prstGeom>
            <a:noFill/>
            <a:ln w="57150">
              <a:solidFill>
                <a:srgbClr val="FF33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1145" name="Line 16">
              <a:extLst>
                <a:ext uri="{FF2B5EF4-FFF2-40B4-BE49-F238E27FC236}">
                  <a16:creationId xmlns:a16="http://schemas.microsoft.com/office/drawing/2014/main" id="{A454B71C-93B6-8E47-B893-40703F3B541D}"/>
                </a:ext>
              </a:extLst>
            </p:cNvPr>
            <p:cNvSpPr>
              <a:spLocks noChangeShapeType="1"/>
            </p:cNvSpPr>
            <p:nvPr/>
          </p:nvSpPr>
          <p:spPr bwMode="auto">
            <a:xfrm>
              <a:off x="4217" y="1298"/>
              <a:ext cx="0" cy="2177"/>
            </a:xfrm>
            <a:prstGeom prst="line">
              <a:avLst/>
            </a:prstGeom>
            <a:noFill/>
            <a:ln w="57150">
              <a:solidFill>
                <a:schemeClr val="tx1"/>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Text Box 17">
              <a:extLst>
                <a:ext uri="{FF2B5EF4-FFF2-40B4-BE49-F238E27FC236}">
                  <a16:creationId xmlns:a16="http://schemas.microsoft.com/office/drawing/2014/main" id="{F8A954E1-9D48-5945-B2E5-091206814081}"/>
                </a:ext>
              </a:extLst>
            </p:cNvPr>
            <p:cNvSpPr txBox="1">
              <a:spLocks noChangeArrowheads="1"/>
            </p:cNvSpPr>
            <p:nvPr/>
          </p:nvSpPr>
          <p:spPr bwMode="auto">
            <a:xfrm>
              <a:off x="3470" y="3113"/>
              <a:ext cx="311" cy="291"/>
            </a:xfrm>
            <a:prstGeom prst="rect">
              <a:avLst/>
            </a:prstGeom>
            <a:noFill/>
            <a:ln>
              <a:noFill/>
            </a:ln>
            <a:effectLst/>
          </p:spPr>
          <p:txBody>
            <a:bodyPr wrap="none">
              <a:spAutoFit/>
            </a:bodyPr>
            <a:lstStyle/>
            <a:p>
              <a:pPr>
                <a:defRPr/>
              </a:pPr>
              <a:r>
                <a:rPr lang="zh-CN" altLang="en-US" sz="2400" b="1" dirty="0">
                  <a:effectLst>
                    <a:outerShdw blurRad="38100" dist="38100" dir="2700000" algn="tl">
                      <a:srgbClr val="000000">
                        <a:alpha val="43137"/>
                      </a:srgbClr>
                    </a:outerShdw>
                  </a:effectLst>
                  <a:latin typeface="+mn-ea"/>
                  <a:ea typeface="+mn-ea"/>
                </a:rPr>
                <a:t>写</a:t>
              </a:r>
            </a:p>
          </p:txBody>
        </p:sp>
        <p:sp>
          <p:nvSpPr>
            <p:cNvPr id="21" name="Text Box 18">
              <a:extLst>
                <a:ext uri="{FF2B5EF4-FFF2-40B4-BE49-F238E27FC236}">
                  <a16:creationId xmlns:a16="http://schemas.microsoft.com/office/drawing/2014/main" id="{60795B9B-9412-0341-9942-637EAA3C12DC}"/>
                </a:ext>
              </a:extLst>
            </p:cNvPr>
            <p:cNvSpPr txBox="1">
              <a:spLocks noChangeArrowheads="1"/>
            </p:cNvSpPr>
            <p:nvPr/>
          </p:nvSpPr>
          <p:spPr bwMode="auto">
            <a:xfrm>
              <a:off x="4332" y="1344"/>
              <a:ext cx="311" cy="291"/>
            </a:xfrm>
            <a:prstGeom prst="rect">
              <a:avLst/>
            </a:prstGeom>
            <a:noFill/>
            <a:ln>
              <a:noFill/>
            </a:ln>
            <a:effectLst/>
          </p:spPr>
          <p:txBody>
            <a:bodyPr wrap="none">
              <a:spAutoFit/>
            </a:bodyPr>
            <a:lstStyle/>
            <a:p>
              <a:pPr>
                <a:defRPr/>
              </a:pPr>
              <a:r>
                <a:rPr lang="zh-CN" altLang="en-US" sz="2400" b="1" dirty="0">
                  <a:solidFill>
                    <a:srgbClr val="FF3300"/>
                  </a:solidFill>
                  <a:effectLst>
                    <a:outerShdw blurRad="38100" dist="38100" dir="2700000" algn="tl">
                      <a:srgbClr val="000000">
                        <a:alpha val="43137"/>
                      </a:srgbClr>
                    </a:outerShdw>
                  </a:effectLst>
                  <a:latin typeface="+mn-ea"/>
                  <a:ea typeface="+mn-ea"/>
                </a:rPr>
                <a:t>读</a:t>
              </a:r>
            </a:p>
          </p:txBody>
        </p:sp>
      </p:grpSp>
      <p:sp>
        <p:nvSpPr>
          <p:cNvPr id="23" name="Text Box 20">
            <a:extLst>
              <a:ext uri="{FF2B5EF4-FFF2-40B4-BE49-F238E27FC236}">
                <a16:creationId xmlns:a16="http://schemas.microsoft.com/office/drawing/2014/main" id="{A2D1A19E-DD72-254A-9332-6BBE51E064B1}"/>
              </a:ext>
            </a:extLst>
          </p:cNvPr>
          <p:cNvSpPr txBox="1">
            <a:spLocks noChangeArrowheads="1"/>
          </p:cNvSpPr>
          <p:nvPr/>
        </p:nvSpPr>
        <p:spPr bwMode="auto">
          <a:xfrm>
            <a:off x="2843213" y="1579563"/>
            <a:ext cx="4586287" cy="523875"/>
          </a:xfrm>
          <a:prstGeom prst="rect">
            <a:avLst/>
          </a:prstGeom>
          <a:solidFill>
            <a:srgbClr val="FFFF00"/>
          </a:solidFill>
          <a:ln w="9525">
            <a:noFill/>
            <a:miter lim="800000"/>
          </a:ln>
        </p:spPr>
        <p:txBody>
          <a:bodyPr>
            <a:spAutoFit/>
          </a:bodyPr>
          <a:lstStyle/>
          <a:p>
            <a:pPr eaLnBrk="1" hangingPunct="1">
              <a:spcBef>
                <a:spcPct val="50000"/>
              </a:spcBef>
              <a:defRPr/>
            </a:pPr>
            <a:r>
              <a:rPr lang="zh-CN" altLang="en-US" sz="2800" b="1" dirty="0">
                <a:solidFill>
                  <a:srgbClr val="000066"/>
                </a:solidFill>
                <a:effectLst>
                  <a:outerShdw blurRad="38100" dist="38100" dir="2700000" algn="tl">
                    <a:srgbClr val="000000"/>
                  </a:outerShdw>
                </a:effectLst>
                <a:latin typeface="黑体" panose="02010609060101010101" pitchFamily="49" charset="-122"/>
                <a:ea typeface="黑体" panose="02010609060101010101" pitchFamily="49" charset="-122"/>
              </a:rPr>
              <a:t>“写”代表了信息流动方向</a:t>
            </a:r>
          </a:p>
        </p:txBody>
      </p:sp>
      <p:sp>
        <p:nvSpPr>
          <p:cNvPr id="24" name="Text Box 20">
            <a:extLst>
              <a:ext uri="{FF2B5EF4-FFF2-40B4-BE49-F238E27FC236}">
                <a16:creationId xmlns:a16="http://schemas.microsoft.com/office/drawing/2014/main" id="{2BBEF276-1E17-8A4C-8B7E-37CFF5391466}"/>
              </a:ext>
            </a:extLst>
          </p:cNvPr>
          <p:cNvSpPr txBox="1">
            <a:spLocks noChangeArrowheads="1"/>
          </p:cNvSpPr>
          <p:nvPr/>
        </p:nvSpPr>
        <p:spPr bwMode="auto">
          <a:xfrm>
            <a:off x="7040563" y="3902075"/>
            <a:ext cx="1370012"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zh-CN" altLang="en-US" b="1">
                <a:solidFill>
                  <a:srgbClr val="0033CC"/>
                </a:solidFill>
              </a:rPr>
              <a:t>机密性</a:t>
            </a:r>
          </a:p>
        </p:txBody>
      </p:sp>
      <p:sp>
        <p:nvSpPr>
          <p:cNvPr id="25" name="Text Box 20">
            <a:extLst>
              <a:ext uri="{FF2B5EF4-FFF2-40B4-BE49-F238E27FC236}">
                <a16:creationId xmlns:a16="http://schemas.microsoft.com/office/drawing/2014/main" id="{0AE1B30E-A946-7446-B9FB-1E9AB2C32FDA}"/>
              </a:ext>
            </a:extLst>
          </p:cNvPr>
          <p:cNvSpPr txBox="1">
            <a:spLocks noChangeArrowheads="1"/>
          </p:cNvSpPr>
          <p:nvPr/>
        </p:nvSpPr>
        <p:spPr bwMode="auto">
          <a:xfrm>
            <a:off x="593725" y="3902075"/>
            <a:ext cx="1370013"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zh-CN" altLang="en-US" b="1">
                <a:solidFill>
                  <a:srgbClr val="0033CC"/>
                </a:solidFill>
              </a:rPr>
              <a:t>完整性</a:t>
            </a:r>
          </a:p>
        </p:txBody>
      </p:sp>
      <p:sp>
        <p:nvSpPr>
          <p:cNvPr id="22" name="文本框 21">
            <a:extLst>
              <a:ext uri="{FF2B5EF4-FFF2-40B4-BE49-F238E27FC236}">
                <a16:creationId xmlns:a16="http://schemas.microsoft.com/office/drawing/2014/main" id="{6E62DDED-5865-F44E-AB8C-D2FC8734A5C0}"/>
              </a:ext>
            </a:extLst>
          </p:cNvPr>
          <p:cNvSpPr txBox="1"/>
          <p:nvPr/>
        </p:nvSpPr>
        <p:spPr>
          <a:xfrm>
            <a:off x="7200292" y="4717019"/>
            <a:ext cx="4606834" cy="369332"/>
          </a:xfrm>
          <a:prstGeom prst="rect">
            <a:avLst/>
          </a:prstGeom>
          <a:noFill/>
        </p:spPr>
        <p:txBody>
          <a:bodyPr wrap="square">
            <a:spAutoFit/>
          </a:bodyPr>
          <a:lstStyle/>
          <a:p>
            <a:pPr lvl="1"/>
            <a:r>
              <a:rPr lang="zh-CN" altLang="en-US" b="1" dirty="0">
                <a:solidFill>
                  <a:srgbClr val="0033CC"/>
                </a:solidFill>
                <a:latin typeface="Times New Roman" panose="02020603050405020304" pitchFamily="18" charset="0"/>
              </a:rPr>
              <a:t>下读</a:t>
            </a:r>
            <a:r>
              <a:rPr lang="en-US" altLang="zh-CN" b="1" dirty="0">
                <a:solidFill>
                  <a:srgbClr val="0033CC"/>
                </a:solidFill>
                <a:latin typeface="Times New Roman" panose="02020603050405020304" pitchFamily="18" charset="0"/>
              </a:rPr>
              <a:t>/</a:t>
            </a:r>
            <a:r>
              <a:rPr lang="zh-CN" altLang="en-US" b="1" dirty="0">
                <a:solidFill>
                  <a:srgbClr val="0033CC"/>
                </a:solidFill>
                <a:latin typeface="Times New Roman" panose="02020603050405020304" pitchFamily="18" charset="0"/>
              </a:rPr>
              <a:t>上写</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down)">
                                      <p:cBhvr>
                                        <p:cTn id="4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3F294-6F2F-E3A2-0BE4-58D78406A48D}"/>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11B04952-840B-6EE5-9F3D-9F10F890DCA1}"/>
              </a:ext>
            </a:extLst>
          </p:cNvPr>
          <p:cNvPicPr>
            <a:picLocks noGrp="1" noChangeAspect="1"/>
          </p:cNvPicPr>
          <p:nvPr>
            <p:ph idx="1"/>
          </p:nvPr>
        </p:nvPicPr>
        <p:blipFill>
          <a:blip r:embed="rId3"/>
          <a:stretch>
            <a:fillRect/>
          </a:stretch>
        </p:blipFill>
        <p:spPr bwMode="auto">
          <a:xfrm>
            <a:off x="220966" y="90487"/>
            <a:ext cx="8702068" cy="66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4D9DA127-8A70-5715-F3EE-5056DDAB7192}"/>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2055798712"/>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D44E6D99-C565-6046-A5A4-9CD7975F60FA}"/>
              </a:ext>
            </a:extLst>
          </p:cNvPr>
          <p:cNvSpPr>
            <a:spLocks noGrp="1"/>
          </p:cNvSpPr>
          <p:nvPr>
            <p:ph type="title"/>
          </p:nvPr>
        </p:nvSpPr>
        <p:spPr>
          <a:xfrm>
            <a:off x="503238" y="746125"/>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常见强制访问控制模型</a:t>
            </a:r>
          </a:p>
        </p:txBody>
      </p:sp>
      <p:sp>
        <p:nvSpPr>
          <p:cNvPr id="5" name="内容占位符 2">
            <a:extLst>
              <a:ext uri="{FF2B5EF4-FFF2-40B4-BE49-F238E27FC236}">
                <a16:creationId xmlns:a16="http://schemas.microsoft.com/office/drawing/2014/main" id="{FFBA3A9B-B704-3645-8388-6BE2D3103000}"/>
              </a:ext>
            </a:extLst>
          </p:cNvPr>
          <p:cNvSpPr>
            <a:spLocks noGrp="1"/>
          </p:cNvSpPr>
          <p:nvPr>
            <p:ph idx="1"/>
          </p:nvPr>
        </p:nvSpPr>
        <p:spPr>
          <a:xfrm>
            <a:off x="509588" y="1520825"/>
            <a:ext cx="8123237" cy="4679950"/>
          </a:xfrm>
        </p:spPr>
        <p:txBody>
          <a:bodyPr>
            <a:normAutofit/>
          </a:bodyPr>
          <a:lstStyle/>
          <a:p>
            <a:pPr>
              <a:lnSpc>
                <a:spcPct val="90000"/>
              </a:lnSpc>
              <a:defRPr/>
            </a:pPr>
            <a:r>
              <a:rPr lang="en-US" altLang="zh-CN" sz="2400" b="1">
                <a:solidFill>
                  <a:srgbClr val="FF0000"/>
                </a:solidFill>
                <a:effectLst>
                  <a:outerShdw blurRad="38100" dist="38100" dir="2700000" algn="tl">
                    <a:srgbClr val="C0C0C0"/>
                  </a:outerShdw>
                </a:effectLst>
                <a:latin typeface="Times New Roman" panose="02020603050405020304" pitchFamily="18" charset="0"/>
              </a:rPr>
              <a:t>BLP</a:t>
            </a:r>
            <a:r>
              <a:rPr lang="zh-CN" altLang="en-US" sz="2400" b="1">
                <a:solidFill>
                  <a:srgbClr val="FF0000"/>
                </a:solidFill>
                <a:effectLst>
                  <a:outerShdw blurRad="38100" dist="38100" dir="2700000" algn="tl">
                    <a:srgbClr val="C0C0C0"/>
                  </a:outerShdw>
                </a:effectLst>
                <a:latin typeface="Times New Roman" panose="02020603050405020304" pitchFamily="18" charset="0"/>
              </a:rPr>
              <a:t>模型</a:t>
            </a:r>
            <a:endParaRPr lang="en-US" altLang="zh-CN" sz="2400" b="1">
              <a:solidFill>
                <a:srgbClr val="FF0000"/>
              </a:solidFill>
              <a:effectLst>
                <a:outerShdw blurRad="38100" dist="38100" dir="2700000" algn="tl">
                  <a:srgbClr val="C0C0C0"/>
                </a:outerShdw>
              </a:effectLst>
              <a:latin typeface="Times New Roman" panose="02020603050405020304" pitchFamily="18" charset="0"/>
            </a:endParaRPr>
          </a:p>
          <a:p>
            <a:pPr lvl="1">
              <a:lnSpc>
                <a:spcPct val="90000"/>
              </a:lnSpc>
              <a:buClr>
                <a:srgbClr val="3D8DC4"/>
              </a:buClr>
              <a:defRPr/>
            </a:pPr>
            <a:r>
              <a:rPr lang="en-US" altLang="zh-CN" sz="2200" b="1">
                <a:effectLst>
                  <a:outerShdw blurRad="38100" dist="38100" dir="2700000" algn="tl">
                    <a:srgbClr val="C0C0C0"/>
                  </a:outerShdw>
                </a:effectLst>
                <a:latin typeface="Times New Roman" panose="02020603050405020304" pitchFamily="18" charset="0"/>
              </a:rPr>
              <a:t>1973</a:t>
            </a:r>
            <a:r>
              <a:rPr lang="zh-CN" altLang="en-US" sz="2200" b="1">
                <a:effectLst>
                  <a:outerShdw blurRad="38100" dist="38100" dir="2700000" algn="tl">
                    <a:srgbClr val="C0C0C0"/>
                  </a:outerShdw>
                </a:effectLst>
                <a:latin typeface="Times New Roman" panose="02020603050405020304" pitchFamily="18" charset="0"/>
              </a:rPr>
              <a:t>年提出的多级安全模型，影响了许多其他模型的发展，甚至很大程度上影响了计算机安全技术的发展</a:t>
            </a:r>
            <a:endParaRPr lang="en-US" altLang="zh-CN" sz="2200" b="1">
              <a:effectLst>
                <a:outerShdw blurRad="38100" dist="38100" dir="2700000" algn="tl">
                  <a:srgbClr val="C0C0C0"/>
                </a:outerShdw>
              </a:effectLst>
              <a:latin typeface="Times New Roman" panose="02020603050405020304" pitchFamily="18" charset="0"/>
            </a:endParaRPr>
          </a:p>
          <a:p>
            <a:pPr>
              <a:lnSpc>
                <a:spcPct val="90000"/>
              </a:lnSpc>
              <a:defRPr/>
            </a:pPr>
            <a:r>
              <a:rPr lang="en-US" altLang="zh-CN" sz="2400" b="1">
                <a:solidFill>
                  <a:srgbClr val="FF0000"/>
                </a:solidFill>
                <a:effectLst>
                  <a:outerShdw blurRad="38100" dist="38100" dir="2700000" algn="tl">
                    <a:srgbClr val="C0C0C0"/>
                  </a:outerShdw>
                </a:effectLst>
                <a:latin typeface="Times New Roman" panose="02020603050405020304" pitchFamily="18" charset="0"/>
              </a:rPr>
              <a:t>Biba</a:t>
            </a:r>
            <a:r>
              <a:rPr lang="zh-CN" altLang="en-US" sz="2400" b="1">
                <a:solidFill>
                  <a:srgbClr val="FF0000"/>
                </a:solidFill>
                <a:effectLst>
                  <a:outerShdw blurRad="38100" dist="38100" dir="2700000" algn="tl">
                    <a:srgbClr val="C0C0C0"/>
                  </a:outerShdw>
                </a:effectLst>
                <a:latin typeface="Times New Roman" panose="02020603050405020304" pitchFamily="18" charset="0"/>
              </a:rPr>
              <a:t>模型</a:t>
            </a:r>
            <a:endParaRPr lang="en-US" altLang="zh-CN" sz="2400" b="1">
              <a:solidFill>
                <a:srgbClr val="FF0000"/>
              </a:solidFill>
              <a:effectLst>
                <a:outerShdw blurRad="38100" dist="38100" dir="2700000" algn="tl">
                  <a:srgbClr val="C0C0C0"/>
                </a:outerShdw>
              </a:effectLst>
              <a:latin typeface="Times New Roman" panose="02020603050405020304" pitchFamily="18" charset="0"/>
            </a:endParaRPr>
          </a:p>
          <a:p>
            <a:pPr lvl="1">
              <a:lnSpc>
                <a:spcPct val="90000"/>
              </a:lnSpc>
              <a:buClr>
                <a:srgbClr val="3D8DC4"/>
              </a:buClr>
              <a:defRPr/>
            </a:pPr>
            <a:r>
              <a:rPr lang="en-US" altLang="zh-CN" sz="2200" b="1">
                <a:effectLst>
                  <a:outerShdw blurRad="38100" dist="38100" dir="2700000" algn="tl">
                    <a:srgbClr val="C0C0C0"/>
                  </a:outerShdw>
                </a:effectLst>
                <a:latin typeface="Times New Roman" panose="02020603050405020304" pitchFamily="18" charset="0"/>
              </a:rPr>
              <a:t>1977</a:t>
            </a:r>
            <a:r>
              <a:rPr lang="zh-CN" altLang="en-US" sz="2200" b="1">
                <a:effectLst>
                  <a:outerShdw blurRad="38100" dist="38100" dir="2700000" algn="tl">
                    <a:srgbClr val="C0C0C0"/>
                  </a:outerShdw>
                </a:effectLst>
                <a:latin typeface="Times New Roman" panose="02020603050405020304" pitchFamily="18" charset="0"/>
              </a:rPr>
              <a:t>年，</a:t>
            </a:r>
            <a:r>
              <a:rPr lang="en-US" altLang="zh-CN" sz="2200" b="1">
                <a:effectLst>
                  <a:outerShdw blurRad="38100" dist="38100" dir="2700000" algn="tl">
                    <a:srgbClr val="C0C0C0"/>
                  </a:outerShdw>
                </a:effectLst>
                <a:latin typeface="Times New Roman" panose="02020603050405020304" pitchFamily="18" charset="0"/>
              </a:rPr>
              <a:t>Biba</a:t>
            </a:r>
            <a:r>
              <a:rPr lang="zh-CN" altLang="en-US" sz="2200" b="1">
                <a:effectLst>
                  <a:outerShdw blurRad="38100" dist="38100" dir="2700000" algn="tl">
                    <a:srgbClr val="C0C0C0"/>
                  </a:outerShdw>
                </a:effectLst>
                <a:latin typeface="Times New Roman" panose="02020603050405020304" pitchFamily="18" charset="0"/>
              </a:rPr>
              <a:t>提出的一种在数学上与</a:t>
            </a:r>
            <a:r>
              <a:rPr lang="en-US" altLang="zh-CN" sz="2200" b="1">
                <a:effectLst>
                  <a:outerShdw blurRad="38100" dist="38100" dir="2700000" algn="tl">
                    <a:srgbClr val="C0C0C0"/>
                  </a:outerShdw>
                </a:effectLst>
                <a:latin typeface="Times New Roman" panose="02020603050405020304" pitchFamily="18" charset="0"/>
              </a:rPr>
              <a:t>BLP</a:t>
            </a:r>
            <a:r>
              <a:rPr lang="zh-CN" altLang="en-US" sz="2200" b="1">
                <a:effectLst>
                  <a:outerShdw blurRad="38100" dist="38100" dir="2700000" algn="tl">
                    <a:srgbClr val="C0C0C0"/>
                  </a:outerShdw>
                </a:effectLst>
                <a:latin typeface="Times New Roman" panose="02020603050405020304" pitchFamily="18" charset="0"/>
              </a:rPr>
              <a:t>模型对偶的完整性保护模型</a:t>
            </a:r>
            <a:endParaRPr lang="en-US" altLang="zh-CN" sz="2200" b="1">
              <a:effectLst>
                <a:outerShdw blurRad="38100" dist="38100" dir="2700000" algn="tl">
                  <a:srgbClr val="C0C0C0"/>
                </a:outerShdw>
              </a:effectLst>
              <a:latin typeface="Times New Roman" panose="02020603050405020304" pitchFamily="18" charset="0"/>
            </a:endParaRPr>
          </a:p>
          <a:p>
            <a:pPr>
              <a:lnSpc>
                <a:spcPct val="90000"/>
              </a:lnSpc>
              <a:defRPr/>
            </a:pPr>
            <a:r>
              <a:rPr lang="en-US" altLang="zh-CN" sz="2400" b="1">
                <a:solidFill>
                  <a:srgbClr val="FF0000"/>
                </a:solidFill>
                <a:effectLst>
                  <a:outerShdw blurRad="38100" dist="38100" dir="2700000" algn="tl">
                    <a:srgbClr val="C0C0C0"/>
                  </a:outerShdw>
                </a:effectLst>
                <a:latin typeface="Times New Roman" panose="02020603050405020304" pitchFamily="18" charset="0"/>
              </a:rPr>
              <a:t>Clark-Wilson</a:t>
            </a:r>
            <a:r>
              <a:rPr lang="zh-CN" altLang="en-US" sz="2400" b="1">
                <a:solidFill>
                  <a:srgbClr val="FF0000"/>
                </a:solidFill>
                <a:effectLst>
                  <a:outerShdw blurRad="38100" dist="38100" dir="2700000" algn="tl">
                    <a:srgbClr val="C0C0C0"/>
                  </a:outerShdw>
                </a:effectLst>
                <a:latin typeface="Times New Roman" panose="02020603050405020304" pitchFamily="18" charset="0"/>
              </a:rPr>
              <a:t>模型</a:t>
            </a:r>
            <a:endParaRPr lang="en-US" altLang="zh-CN" sz="2400" b="1">
              <a:solidFill>
                <a:srgbClr val="FF0000"/>
              </a:solidFill>
              <a:effectLst>
                <a:outerShdw blurRad="38100" dist="38100" dir="2700000" algn="tl">
                  <a:srgbClr val="C0C0C0"/>
                </a:outerShdw>
              </a:effectLst>
              <a:latin typeface="Times New Roman" panose="02020603050405020304" pitchFamily="18" charset="0"/>
            </a:endParaRPr>
          </a:p>
          <a:p>
            <a:pPr lvl="1">
              <a:lnSpc>
                <a:spcPct val="90000"/>
              </a:lnSpc>
              <a:buClr>
                <a:srgbClr val="3D8DC4"/>
              </a:buClr>
              <a:defRPr/>
            </a:pPr>
            <a:r>
              <a:rPr lang="en-US" altLang="zh-CN" sz="2200" b="1">
                <a:effectLst>
                  <a:outerShdw blurRad="38100" dist="38100" dir="2700000" algn="tl">
                    <a:srgbClr val="C0C0C0"/>
                  </a:outerShdw>
                </a:effectLst>
                <a:latin typeface="Times New Roman" panose="02020603050405020304" pitchFamily="18" charset="0"/>
              </a:rPr>
              <a:t>1987</a:t>
            </a:r>
            <a:r>
              <a:rPr lang="zh-CN" altLang="en-US" sz="2200" b="1">
                <a:effectLst>
                  <a:outerShdw blurRad="38100" dist="38100" dir="2700000" algn="tl">
                    <a:srgbClr val="C0C0C0"/>
                  </a:outerShdw>
                </a:effectLst>
                <a:latin typeface="Times New Roman" panose="02020603050405020304" pitchFamily="18" charset="0"/>
              </a:rPr>
              <a:t>年，</a:t>
            </a:r>
            <a:r>
              <a:rPr lang="en-US" altLang="zh-CN" sz="2200" b="1">
                <a:effectLst>
                  <a:outerShdw blurRad="38100" dist="38100" dir="2700000" algn="tl">
                    <a:srgbClr val="C0C0C0"/>
                  </a:outerShdw>
                </a:effectLst>
                <a:latin typeface="Times New Roman" panose="02020603050405020304" pitchFamily="18" charset="0"/>
              </a:rPr>
              <a:t>David Clark</a:t>
            </a:r>
            <a:r>
              <a:rPr lang="zh-CN" altLang="en-US" sz="2200" b="1">
                <a:effectLst>
                  <a:outerShdw blurRad="38100" dist="38100" dir="2700000" algn="tl">
                    <a:srgbClr val="C0C0C0"/>
                  </a:outerShdw>
                </a:effectLst>
                <a:latin typeface="Times New Roman" panose="02020603050405020304" pitchFamily="18" charset="0"/>
              </a:rPr>
              <a:t>和</a:t>
            </a:r>
            <a:r>
              <a:rPr lang="en-US" altLang="zh-CN" sz="2200" b="1">
                <a:effectLst>
                  <a:outerShdw blurRad="38100" dist="38100" dir="2700000" algn="tl">
                    <a:srgbClr val="C0C0C0"/>
                  </a:outerShdw>
                </a:effectLst>
                <a:latin typeface="Times New Roman" panose="02020603050405020304" pitchFamily="18" charset="0"/>
              </a:rPr>
              <a:t>David Wilson</a:t>
            </a:r>
            <a:r>
              <a:rPr lang="zh-CN" altLang="en-US" sz="2200" b="1">
                <a:effectLst>
                  <a:outerShdw blurRad="38100" dist="38100" dir="2700000" algn="tl">
                    <a:srgbClr val="C0C0C0"/>
                  </a:outerShdw>
                </a:effectLst>
                <a:latin typeface="Times New Roman" panose="02020603050405020304" pitchFamily="18" charset="0"/>
              </a:rPr>
              <a:t>开发的以事物处理为基本操作的完整性模型，该模型应用于多种商业系统</a:t>
            </a:r>
            <a:endParaRPr lang="en-US" altLang="zh-CN" sz="2200" b="1">
              <a:effectLst>
                <a:outerShdw blurRad="38100" dist="38100" dir="2700000" algn="tl">
                  <a:srgbClr val="C0C0C0"/>
                </a:outerShdw>
              </a:effectLst>
              <a:latin typeface="Times New Roman" panose="02020603050405020304" pitchFamily="18" charset="0"/>
            </a:endParaRPr>
          </a:p>
          <a:p>
            <a:pPr>
              <a:lnSpc>
                <a:spcPct val="90000"/>
              </a:lnSpc>
              <a:defRPr/>
            </a:pPr>
            <a:r>
              <a:rPr lang="en-US" altLang="zh-CN" sz="2400" b="1">
                <a:solidFill>
                  <a:srgbClr val="FF0000"/>
                </a:solidFill>
                <a:effectLst>
                  <a:outerShdw blurRad="38100" dist="38100" dir="2700000" algn="tl">
                    <a:srgbClr val="C0C0C0"/>
                  </a:outerShdw>
                </a:effectLst>
                <a:latin typeface="Times New Roman" panose="02020603050405020304" pitchFamily="18" charset="0"/>
              </a:rPr>
              <a:t>Chinese Wall</a:t>
            </a:r>
            <a:r>
              <a:rPr lang="zh-CN" altLang="en-US" sz="2400" b="1">
                <a:solidFill>
                  <a:srgbClr val="FF0000"/>
                </a:solidFill>
                <a:effectLst>
                  <a:outerShdw blurRad="38100" dist="38100" dir="2700000" algn="tl">
                    <a:srgbClr val="C0C0C0"/>
                  </a:outerShdw>
                </a:effectLst>
                <a:latin typeface="Times New Roman" panose="02020603050405020304" pitchFamily="18" charset="0"/>
              </a:rPr>
              <a:t>模型</a:t>
            </a:r>
            <a:endParaRPr lang="en-US" altLang="zh-CN" sz="2400" b="1">
              <a:solidFill>
                <a:srgbClr val="FF0000"/>
              </a:solidFill>
              <a:effectLst>
                <a:outerShdw blurRad="38100" dist="38100" dir="2700000" algn="tl">
                  <a:srgbClr val="C0C0C0"/>
                </a:outerShdw>
              </a:effectLst>
              <a:latin typeface="Times New Roman" panose="02020603050405020304" pitchFamily="18" charset="0"/>
            </a:endParaRPr>
          </a:p>
          <a:p>
            <a:pPr lvl="1">
              <a:lnSpc>
                <a:spcPct val="90000"/>
              </a:lnSpc>
              <a:buClr>
                <a:srgbClr val="3D8DC4"/>
              </a:buClr>
              <a:defRPr/>
            </a:pPr>
            <a:r>
              <a:rPr lang="en-US" altLang="zh-CN" sz="2200" b="1">
                <a:effectLst>
                  <a:outerShdw blurRad="38100" dist="38100" dir="2700000" algn="tl">
                    <a:srgbClr val="C0C0C0"/>
                  </a:outerShdw>
                </a:effectLst>
                <a:latin typeface="Times New Roman" panose="02020603050405020304" pitchFamily="18" charset="0"/>
              </a:rPr>
              <a:t>1989</a:t>
            </a:r>
            <a:r>
              <a:rPr lang="zh-CN" altLang="en-US" sz="2200" b="1">
                <a:effectLst>
                  <a:outerShdw blurRad="38100" dist="38100" dir="2700000" algn="tl">
                    <a:srgbClr val="C0C0C0"/>
                  </a:outerShdw>
                </a:effectLst>
                <a:latin typeface="Times New Roman" panose="02020603050405020304" pitchFamily="18" charset="0"/>
              </a:rPr>
              <a:t>年，</a:t>
            </a:r>
            <a:r>
              <a:rPr lang="en-US" altLang="zh-CN" sz="2200" b="1">
                <a:effectLst>
                  <a:outerShdw blurRad="38100" dist="38100" dir="2700000" algn="tl">
                    <a:srgbClr val="C0C0C0"/>
                  </a:outerShdw>
                </a:effectLst>
                <a:latin typeface="Times New Roman" panose="02020603050405020304" pitchFamily="18" charset="0"/>
              </a:rPr>
              <a:t>D. Brewer</a:t>
            </a:r>
            <a:r>
              <a:rPr lang="zh-CN" altLang="en-US" sz="2200" b="1">
                <a:effectLst>
                  <a:outerShdw blurRad="38100" dist="38100" dir="2700000" algn="tl">
                    <a:srgbClr val="C0C0C0"/>
                  </a:outerShdw>
                </a:effectLst>
                <a:latin typeface="Times New Roman" panose="02020603050405020304" pitchFamily="18" charset="0"/>
              </a:rPr>
              <a:t>和</a:t>
            </a:r>
            <a:r>
              <a:rPr lang="en-US" altLang="zh-CN" sz="2200" b="1">
                <a:effectLst>
                  <a:outerShdw blurRad="38100" dist="38100" dir="2700000" algn="tl">
                    <a:srgbClr val="C0C0C0"/>
                  </a:outerShdw>
                </a:effectLst>
                <a:latin typeface="Times New Roman" panose="02020603050405020304" pitchFamily="18" charset="0"/>
              </a:rPr>
              <a:t>M. Nash</a:t>
            </a:r>
            <a:r>
              <a:rPr lang="zh-CN" altLang="en-US" sz="2200" b="1">
                <a:effectLst>
                  <a:outerShdw blurRad="38100" dist="38100" dir="2700000" algn="tl">
                    <a:srgbClr val="C0C0C0"/>
                  </a:outerShdw>
                </a:effectLst>
                <a:latin typeface="Times New Roman" panose="02020603050405020304" pitchFamily="18" charset="0"/>
              </a:rPr>
              <a:t>提出的同等考虑保密性与完整性的安全策略模型，主要用于解决商业中的利益冲突</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384DD0B6-E2C6-AD4B-BA65-CD86CF9E8568}"/>
              </a:ext>
            </a:extLst>
          </p:cNvPr>
          <p:cNvSpPr>
            <a:spLocks noGrp="1" noChangeArrowheads="1"/>
          </p:cNvSpPr>
          <p:nvPr>
            <p:ph idx="1"/>
          </p:nvPr>
        </p:nvSpPr>
        <p:spPr>
          <a:xfrm>
            <a:off x="595313" y="1441450"/>
            <a:ext cx="8191500" cy="1233488"/>
          </a:xfrm>
        </p:spPr>
        <p:txBody>
          <a:bodyPr/>
          <a:lstStyle/>
          <a:p>
            <a:pPr>
              <a:defRPr/>
            </a:pPr>
            <a:r>
              <a:rPr lang="zh-CN" altLang="en-US" b="1">
                <a:solidFill>
                  <a:srgbClr val="FF0000"/>
                </a:solidFill>
                <a:effectLst>
                  <a:outerShdw blurRad="38100" dist="38100" dir="2700000" algn="tl">
                    <a:srgbClr val="C0C0C0"/>
                  </a:outerShdw>
                </a:effectLst>
              </a:rPr>
              <a:t>主体的安全级别高于客体的安全级别</a:t>
            </a:r>
            <a:r>
              <a:rPr lang="zh-CN" altLang="en-US" b="1">
                <a:effectLst>
                  <a:outerShdw blurRad="38100" dist="38100" dir="2700000" algn="tl">
                    <a:srgbClr val="C0C0C0"/>
                  </a:outerShdw>
                </a:effectLst>
              </a:rPr>
              <a:t>才能访问</a:t>
            </a:r>
            <a:endParaRPr lang="en-US" altLang="zh-CN" b="1">
              <a:effectLst>
                <a:outerShdw blurRad="38100" dist="38100" dir="2700000" algn="tl">
                  <a:srgbClr val="C0C0C0"/>
                </a:outerShdw>
              </a:effectLst>
            </a:endParaRPr>
          </a:p>
          <a:p>
            <a:pPr>
              <a:defRPr/>
            </a:pPr>
            <a:r>
              <a:rPr lang="zh-CN" altLang="en-US" b="1">
                <a:effectLst>
                  <a:outerShdw blurRad="38100" dist="38100" dir="2700000" algn="tl">
                    <a:srgbClr val="C0C0C0"/>
                  </a:outerShdw>
                </a:effectLst>
              </a:rPr>
              <a:t>下读、下写</a:t>
            </a:r>
          </a:p>
        </p:txBody>
      </p:sp>
      <p:sp>
        <p:nvSpPr>
          <p:cNvPr id="86018" name="Rectangle 2">
            <a:extLst>
              <a:ext uri="{FF2B5EF4-FFF2-40B4-BE49-F238E27FC236}">
                <a16:creationId xmlns:a16="http://schemas.microsoft.com/office/drawing/2014/main" id="{0224EFA3-170B-8B49-8C8B-F72E75207A6C}"/>
              </a:ext>
            </a:extLst>
          </p:cNvPr>
          <p:cNvSpPr>
            <a:spLocks noGrp="1" noChangeArrowheads="1"/>
          </p:cNvSpPr>
          <p:nvPr>
            <p:ph type="title"/>
          </p:nvPr>
        </p:nvSpPr>
        <p:spPr>
          <a:xfrm>
            <a:off x="566738" y="817563"/>
            <a:ext cx="6513512" cy="487362"/>
          </a:xfrm>
        </p:spPr>
        <p:txBody>
          <a:bodyPr/>
          <a:lstStyle/>
          <a:p>
            <a:pPr>
              <a:buClr>
                <a:srgbClr val="3399FF"/>
              </a:buClr>
              <a:defRPr/>
            </a:pP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Lattice</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a:t>
            </a:r>
          </a:p>
        </p:txBody>
      </p:sp>
      <p:grpSp>
        <p:nvGrpSpPr>
          <p:cNvPr id="2" name="组合 1">
            <a:extLst>
              <a:ext uri="{FF2B5EF4-FFF2-40B4-BE49-F238E27FC236}">
                <a16:creationId xmlns:a16="http://schemas.microsoft.com/office/drawing/2014/main" id="{33288874-BAA8-5A4E-BB86-7ECE6C802B03}"/>
              </a:ext>
            </a:extLst>
          </p:cNvPr>
          <p:cNvGrpSpPr>
            <a:grpSpLocks/>
          </p:cNvGrpSpPr>
          <p:nvPr/>
        </p:nvGrpSpPr>
        <p:grpSpPr bwMode="auto">
          <a:xfrm>
            <a:off x="322263" y="2820988"/>
            <a:ext cx="4251325" cy="2808287"/>
            <a:chOff x="320775" y="3213100"/>
            <a:chExt cx="4251225" cy="2808288"/>
          </a:xfrm>
        </p:grpSpPr>
        <p:sp>
          <p:nvSpPr>
            <p:cNvPr id="31748" name="Rectangle 4">
              <a:extLst>
                <a:ext uri="{FF2B5EF4-FFF2-40B4-BE49-F238E27FC236}">
                  <a16:creationId xmlns:a16="http://schemas.microsoft.com/office/drawing/2014/main" id="{8D251363-9D44-4648-9792-9F544D93824C}"/>
                </a:ext>
              </a:extLst>
            </p:cNvPr>
            <p:cNvSpPr>
              <a:spLocks noChangeArrowheads="1"/>
            </p:cNvSpPr>
            <p:nvPr/>
          </p:nvSpPr>
          <p:spPr bwMode="auto">
            <a:xfrm>
              <a:off x="320775" y="3933825"/>
              <a:ext cx="1477927"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绝密</a:t>
              </a:r>
            </a:p>
          </p:txBody>
        </p:sp>
        <p:sp>
          <p:nvSpPr>
            <p:cNvPr id="31749" name="Rectangle 5">
              <a:extLst>
                <a:ext uri="{FF2B5EF4-FFF2-40B4-BE49-F238E27FC236}">
                  <a16:creationId xmlns:a16="http://schemas.microsoft.com/office/drawing/2014/main" id="{37D4862A-72CB-C542-A2F9-435B36868D6E}"/>
                </a:ext>
              </a:extLst>
            </p:cNvPr>
            <p:cNvSpPr>
              <a:spLocks noChangeArrowheads="1"/>
            </p:cNvSpPr>
            <p:nvPr/>
          </p:nvSpPr>
          <p:spPr bwMode="auto">
            <a:xfrm>
              <a:off x="322362" y="4724401"/>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mn-ea"/>
                </a:rPr>
                <a:t>机密</a:t>
              </a:r>
            </a:p>
          </p:txBody>
        </p:sp>
        <p:sp>
          <p:nvSpPr>
            <p:cNvPr id="31750" name="Rectangle 6">
              <a:extLst>
                <a:ext uri="{FF2B5EF4-FFF2-40B4-BE49-F238E27FC236}">
                  <a16:creationId xmlns:a16="http://schemas.microsoft.com/office/drawing/2014/main" id="{FC5F58AB-91DC-9749-9BCA-CD30F44A091A}"/>
                </a:ext>
              </a:extLst>
            </p:cNvPr>
            <p:cNvSpPr>
              <a:spLocks noChangeArrowheads="1"/>
            </p:cNvSpPr>
            <p:nvPr/>
          </p:nvSpPr>
          <p:spPr bwMode="auto">
            <a:xfrm>
              <a:off x="322362" y="5516563"/>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未分类</a:t>
              </a:r>
            </a:p>
          </p:txBody>
        </p:sp>
        <p:sp>
          <p:nvSpPr>
            <p:cNvPr id="31751" name="Text Box 7">
              <a:extLst>
                <a:ext uri="{FF2B5EF4-FFF2-40B4-BE49-F238E27FC236}">
                  <a16:creationId xmlns:a16="http://schemas.microsoft.com/office/drawing/2014/main" id="{4CBDD1EC-AE06-5B48-8FDE-DB1F21E33C5E}"/>
                </a:ext>
              </a:extLst>
            </p:cNvPr>
            <p:cNvSpPr txBox="1">
              <a:spLocks noChangeArrowheads="1"/>
            </p:cNvSpPr>
            <p:nvPr/>
          </p:nvSpPr>
          <p:spPr bwMode="auto">
            <a:xfrm>
              <a:off x="611280"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mn-ea"/>
                  <a:ea typeface="+mn-ea"/>
                </a:rPr>
                <a:t>主体</a:t>
              </a:r>
            </a:p>
          </p:txBody>
        </p:sp>
        <p:sp>
          <p:nvSpPr>
            <p:cNvPr id="31752" name="Rectangle 8">
              <a:extLst>
                <a:ext uri="{FF2B5EF4-FFF2-40B4-BE49-F238E27FC236}">
                  <a16:creationId xmlns:a16="http://schemas.microsoft.com/office/drawing/2014/main" id="{8B9F1E60-8428-4A4B-8843-7ABE7C966F82}"/>
                </a:ext>
              </a:extLst>
            </p:cNvPr>
            <p:cNvSpPr>
              <a:spLocks noChangeArrowheads="1"/>
            </p:cNvSpPr>
            <p:nvPr/>
          </p:nvSpPr>
          <p:spPr bwMode="auto">
            <a:xfrm>
              <a:off x="2913101" y="3933825"/>
              <a:ext cx="1477928"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绝密</a:t>
              </a:r>
            </a:p>
          </p:txBody>
        </p:sp>
        <p:sp>
          <p:nvSpPr>
            <p:cNvPr id="31753" name="Rectangle 9">
              <a:extLst>
                <a:ext uri="{FF2B5EF4-FFF2-40B4-BE49-F238E27FC236}">
                  <a16:creationId xmlns:a16="http://schemas.microsoft.com/office/drawing/2014/main" id="{E2D2292E-ED1D-3B4D-986E-41BE3BBE3E3F}"/>
                </a:ext>
              </a:extLst>
            </p:cNvPr>
            <p:cNvSpPr>
              <a:spLocks noChangeArrowheads="1"/>
            </p:cNvSpPr>
            <p:nvPr/>
          </p:nvSpPr>
          <p:spPr bwMode="auto">
            <a:xfrm>
              <a:off x="2914689" y="4724401"/>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mn-ea"/>
                </a:rPr>
                <a:t>机密</a:t>
              </a:r>
            </a:p>
          </p:txBody>
        </p:sp>
        <p:sp>
          <p:nvSpPr>
            <p:cNvPr id="31754" name="Rectangle 10">
              <a:extLst>
                <a:ext uri="{FF2B5EF4-FFF2-40B4-BE49-F238E27FC236}">
                  <a16:creationId xmlns:a16="http://schemas.microsoft.com/office/drawing/2014/main" id="{28C24FE0-58F8-954B-9AB0-5479F824F74D}"/>
                </a:ext>
              </a:extLst>
            </p:cNvPr>
            <p:cNvSpPr>
              <a:spLocks noChangeArrowheads="1"/>
            </p:cNvSpPr>
            <p:nvPr/>
          </p:nvSpPr>
          <p:spPr bwMode="auto">
            <a:xfrm>
              <a:off x="2914689" y="5516563"/>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未分类</a:t>
              </a:r>
            </a:p>
          </p:txBody>
        </p:sp>
        <p:sp>
          <p:nvSpPr>
            <p:cNvPr id="31755" name="Text Box 11">
              <a:extLst>
                <a:ext uri="{FF2B5EF4-FFF2-40B4-BE49-F238E27FC236}">
                  <a16:creationId xmlns:a16="http://schemas.microsoft.com/office/drawing/2014/main" id="{E5641D35-BBD7-6B4B-AACE-DE39261E80A3}"/>
                </a:ext>
              </a:extLst>
            </p:cNvPr>
            <p:cNvSpPr txBox="1">
              <a:spLocks noChangeArrowheads="1"/>
            </p:cNvSpPr>
            <p:nvPr/>
          </p:nvSpPr>
          <p:spPr bwMode="auto">
            <a:xfrm>
              <a:off x="3203607"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mn-ea"/>
                  <a:ea typeface="+mn-ea"/>
                </a:rPr>
                <a:t>客体</a:t>
              </a:r>
            </a:p>
          </p:txBody>
        </p:sp>
        <p:sp>
          <p:nvSpPr>
            <p:cNvPr id="31756" name="Line 12">
              <a:extLst>
                <a:ext uri="{FF2B5EF4-FFF2-40B4-BE49-F238E27FC236}">
                  <a16:creationId xmlns:a16="http://schemas.microsoft.com/office/drawing/2014/main" id="{9AA43223-83C8-304B-97B0-ED77B33AB8BB}"/>
                </a:ext>
              </a:extLst>
            </p:cNvPr>
            <p:cNvSpPr>
              <a:spLocks noChangeShapeType="1"/>
            </p:cNvSpPr>
            <p:nvPr/>
          </p:nvSpPr>
          <p:spPr bwMode="auto">
            <a:xfrm flipV="1">
              <a:off x="1811402" y="4176712"/>
              <a:ext cx="966765" cy="74295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57" name="Line 13">
              <a:extLst>
                <a:ext uri="{FF2B5EF4-FFF2-40B4-BE49-F238E27FC236}">
                  <a16:creationId xmlns:a16="http://schemas.microsoft.com/office/drawing/2014/main" id="{39A4E71A-526A-3645-891A-AA5F90C04C9A}"/>
                </a:ext>
              </a:extLst>
            </p:cNvPr>
            <p:cNvSpPr>
              <a:spLocks noChangeShapeType="1"/>
            </p:cNvSpPr>
            <p:nvPr/>
          </p:nvSpPr>
          <p:spPr bwMode="auto">
            <a:xfrm flipV="1">
              <a:off x="1811402" y="4951413"/>
              <a:ext cx="966765" cy="9525"/>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58" name="Line 14">
              <a:extLst>
                <a:ext uri="{FF2B5EF4-FFF2-40B4-BE49-F238E27FC236}">
                  <a16:creationId xmlns:a16="http://schemas.microsoft.com/office/drawing/2014/main" id="{228B9C20-399C-9348-8B56-184CB0720899}"/>
                </a:ext>
              </a:extLst>
            </p:cNvPr>
            <p:cNvSpPr>
              <a:spLocks noChangeShapeType="1"/>
            </p:cNvSpPr>
            <p:nvPr/>
          </p:nvSpPr>
          <p:spPr bwMode="auto">
            <a:xfrm>
              <a:off x="1811402" y="4976813"/>
              <a:ext cx="966765"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59" name="Text Box 15">
              <a:extLst>
                <a:ext uri="{FF2B5EF4-FFF2-40B4-BE49-F238E27FC236}">
                  <a16:creationId xmlns:a16="http://schemas.microsoft.com/office/drawing/2014/main" id="{071DD0D4-9571-AA49-A468-07402291F06C}"/>
                </a:ext>
              </a:extLst>
            </p:cNvPr>
            <p:cNvSpPr txBox="1">
              <a:spLocks noChangeArrowheads="1"/>
            </p:cNvSpPr>
            <p:nvPr/>
          </p:nvSpPr>
          <p:spPr bwMode="auto">
            <a:xfrm>
              <a:off x="1811402" y="4176712"/>
              <a:ext cx="881042" cy="338138"/>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黑体" panose="02010609060101010101" pitchFamily="49" charset="-122"/>
                  <a:ea typeface="黑体" panose="02010609060101010101" pitchFamily="49" charset="-122"/>
                </a:rPr>
                <a:t>禁止读</a:t>
              </a:r>
            </a:p>
          </p:txBody>
        </p:sp>
        <p:sp>
          <p:nvSpPr>
            <p:cNvPr id="31760" name="Text Box 16">
              <a:extLst>
                <a:ext uri="{FF2B5EF4-FFF2-40B4-BE49-F238E27FC236}">
                  <a16:creationId xmlns:a16="http://schemas.microsoft.com/office/drawing/2014/main" id="{29CD1590-8CA3-834E-9554-F109F69969E6}"/>
                </a:ext>
              </a:extLst>
            </p:cNvPr>
            <p:cNvSpPr txBox="1">
              <a:spLocks noChangeArrowheads="1"/>
            </p:cNvSpPr>
            <p:nvPr/>
          </p:nvSpPr>
          <p:spPr bwMode="auto">
            <a:xfrm>
              <a:off x="2124133" y="4581525"/>
              <a:ext cx="881041" cy="338137"/>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黑体" panose="02010609060101010101" pitchFamily="49" charset="-122"/>
                  <a:ea typeface="黑体" panose="02010609060101010101" pitchFamily="49" charset="-122"/>
                </a:rPr>
                <a:t>禁止读</a:t>
              </a:r>
            </a:p>
          </p:txBody>
        </p:sp>
        <p:sp>
          <p:nvSpPr>
            <p:cNvPr id="31761" name="Text Box 17">
              <a:extLst>
                <a:ext uri="{FF2B5EF4-FFF2-40B4-BE49-F238E27FC236}">
                  <a16:creationId xmlns:a16="http://schemas.microsoft.com/office/drawing/2014/main" id="{E1223C58-63A2-4142-BBE8-E48AFF4058F8}"/>
                </a:ext>
              </a:extLst>
            </p:cNvPr>
            <p:cNvSpPr txBox="1">
              <a:spLocks noChangeArrowheads="1"/>
            </p:cNvSpPr>
            <p:nvPr/>
          </p:nvSpPr>
          <p:spPr bwMode="auto">
            <a:xfrm>
              <a:off x="1895538" y="5495926"/>
              <a:ext cx="882629" cy="338137"/>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黑体" panose="02010609060101010101" pitchFamily="49" charset="-122"/>
                  <a:ea typeface="黑体" panose="02010609060101010101" pitchFamily="49" charset="-122"/>
                </a:rPr>
                <a:t>允许读</a:t>
              </a:r>
            </a:p>
          </p:txBody>
        </p:sp>
      </p:grpSp>
      <p:grpSp>
        <p:nvGrpSpPr>
          <p:cNvPr id="3" name="组合 2">
            <a:extLst>
              <a:ext uri="{FF2B5EF4-FFF2-40B4-BE49-F238E27FC236}">
                <a16:creationId xmlns:a16="http://schemas.microsoft.com/office/drawing/2014/main" id="{4518A50D-10EF-7A45-8F05-742BB1982623}"/>
              </a:ext>
            </a:extLst>
          </p:cNvPr>
          <p:cNvGrpSpPr>
            <a:grpSpLocks/>
          </p:cNvGrpSpPr>
          <p:nvPr/>
        </p:nvGrpSpPr>
        <p:grpSpPr bwMode="auto">
          <a:xfrm>
            <a:off x="4679950" y="2820988"/>
            <a:ext cx="4249738" cy="2808287"/>
            <a:chOff x="4678363" y="3213100"/>
            <a:chExt cx="4249737" cy="2808288"/>
          </a:xfrm>
        </p:grpSpPr>
        <p:sp>
          <p:nvSpPr>
            <p:cNvPr id="31762" name="Rectangle 18">
              <a:extLst>
                <a:ext uri="{FF2B5EF4-FFF2-40B4-BE49-F238E27FC236}">
                  <a16:creationId xmlns:a16="http://schemas.microsoft.com/office/drawing/2014/main" id="{E899E6C1-DB74-EA45-A53F-0B07DBB79D1F}"/>
                </a:ext>
              </a:extLst>
            </p:cNvPr>
            <p:cNvSpPr>
              <a:spLocks noChangeArrowheads="1"/>
            </p:cNvSpPr>
            <p:nvPr/>
          </p:nvSpPr>
          <p:spPr bwMode="auto">
            <a:xfrm>
              <a:off x="4678363" y="3933825"/>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绝密</a:t>
              </a:r>
            </a:p>
          </p:txBody>
        </p:sp>
        <p:sp>
          <p:nvSpPr>
            <p:cNvPr id="31763" name="Rectangle 19">
              <a:extLst>
                <a:ext uri="{FF2B5EF4-FFF2-40B4-BE49-F238E27FC236}">
                  <a16:creationId xmlns:a16="http://schemas.microsoft.com/office/drawing/2014/main" id="{E05B0FE6-48D9-F64D-89E0-8D74051706F5}"/>
                </a:ext>
              </a:extLst>
            </p:cNvPr>
            <p:cNvSpPr>
              <a:spLocks noChangeArrowheads="1"/>
            </p:cNvSpPr>
            <p:nvPr/>
          </p:nvSpPr>
          <p:spPr bwMode="auto">
            <a:xfrm>
              <a:off x="4678363" y="4724401"/>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mn-ea"/>
                </a:rPr>
                <a:t>机密</a:t>
              </a:r>
            </a:p>
          </p:txBody>
        </p:sp>
        <p:sp>
          <p:nvSpPr>
            <p:cNvPr id="31764" name="Rectangle 20">
              <a:extLst>
                <a:ext uri="{FF2B5EF4-FFF2-40B4-BE49-F238E27FC236}">
                  <a16:creationId xmlns:a16="http://schemas.microsoft.com/office/drawing/2014/main" id="{DB835CDD-EFFE-DE41-A1E9-D772EBB2BB37}"/>
                </a:ext>
              </a:extLst>
            </p:cNvPr>
            <p:cNvSpPr>
              <a:spLocks noChangeArrowheads="1"/>
            </p:cNvSpPr>
            <p:nvPr/>
          </p:nvSpPr>
          <p:spPr bwMode="auto">
            <a:xfrm>
              <a:off x="4678363" y="5516563"/>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未分类</a:t>
              </a:r>
            </a:p>
          </p:txBody>
        </p:sp>
        <p:sp>
          <p:nvSpPr>
            <p:cNvPr id="31765" name="Text Box 21">
              <a:extLst>
                <a:ext uri="{FF2B5EF4-FFF2-40B4-BE49-F238E27FC236}">
                  <a16:creationId xmlns:a16="http://schemas.microsoft.com/office/drawing/2014/main" id="{87BAB970-8D75-1940-982D-7E27F11D6D7D}"/>
                </a:ext>
              </a:extLst>
            </p:cNvPr>
            <p:cNvSpPr txBox="1">
              <a:spLocks noChangeArrowheads="1"/>
            </p:cNvSpPr>
            <p:nvPr/>
          </p:nvSpPr>
          <p:spPr bwMode="auto">
            <a:xfrm>
              <a:off x="4967288"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mn-ea"/>
                  <a:ea typeface="+mn-ea"/>
                </a:rPr>
                <a:t>主体</a:t>
              </a:r>
            </a:p>
          </p:txBody>
        </p:sp>
        <p:sp>
          <p:nvSpPr>
            <p:cNvPr id="31766" name="Rectangle 22">
              <a:extLst>
                <a:ext uri="{FF2B5EF4-FFF2-40B4-BE49-F238E27FC236}">
                  <a16:creationId xmlns:a16="http://schemas.microsoft.com/office/drawing/2014/main" id="{FFE0D32E-8A3C-744C-BFEB-FE9626B82BDB}"/>
                </a:ext>
              </a:extLst>
            </p:cNvPr>
            <p:cNvSpPr>
              <a:spLocks noChangeArrowheads="1"/>
            </p:cNvSpPr>
            <p:nvPr/>
          </p:nvSpPr>
          <p:spPr bwMode="auto">
            <a:xfrm>
              <a:off x="7270750" y="3933825"/>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绝密</a:t>
              </a:r>
            </a:p>
          </p:txBody>
        </p:sp>
        <p:sp>
          <p:nvSpPr>
            <p:cNvPr id="31767" name="Rectangle 23">
              <a:extLst>
                <a:ext uri="{FF2B5EF4-FFF2-40B4-BE49-F238E27FC236}">
                  <a16:creationId xmlns:a16="http://schemas.microsoft.com/office/drawing/2014/main" id="{181F0EC1-499D-F543-AB2E-23B3AD78ADB8}"/>
                </a:ext>
              </a:extLst>
            </p:cNvPr>
            <p:cNvSpPr>
              <a:spLocks noChangeArrowheads="1"/>
            </p:cNvSpPr>
            <p:nvPr/>
          </p:nvSpPr>
          <p:spPr bwMode="auto">
            <a:xfrm>
              <a:off x="7270750" y="4724401"/>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mn-ea"/>
                </a:rPr>
                <a:t>机密</a:t>
              </a:r>
            </a:p>
          </p:txBody>
        </p:sp>
        <p:sp>
          <p:nvSpPr>
            <p:cNvPr id="31768" name="Rectangle 24">
              <a:extLst>
                <a:ext uri="{FF2B5EF4-FFF2-40B4-BE49-F238E27FC236}">
                  <a16:creationId xmlns:a16="http://schemas.microsoft.com/office/drawing/2014/main" id="{9A604B24-DAF1-B644-9DE2-28D882FA08CB}"/>
                </a:ext>
              </a:extLst>
            </p:cNvPr>
            <p:cNvSpPr>
              <a:spLocks noChangeArrowheads="1"/>
            </p:cNvSpPr>
            <p:nvPr/>
          </p:nvSpPr>
          <p:spPr bwMode="auto">
            <a:xfrm>
              <a:off x="7270750" y="5516563"/>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rPr>
                <a:t>未分类</a:t>
              </a:r>
            </a:p>
          </p:txBody>
        </p:sp>
        <p:sp>
          <p:nvSpPr>
            <p:cNvPr id="31769" name="Text Box 25">
              <a:extLst>
                <a:ext uri="{FF2B5EF4-FFF2-40B4-BE49-F238E27FC236}">
                  <a16:creationId xmlns:a16="http://schemas.microsoft.com/office/drawing/2014/main" id="{32D5C3F0-9E3E-EB4A-8BD7-429D5540D1DE}"/>
                </a:ext>
              </a:extLst>
            </p:cNvPr>
            <p:cNvSpPr txBox="1">
              <a:spLocks noChangeArrowheads="1"/>
            </p:cNvSpPr>
            <p:nvPr/>
          </p:nvSpPr>
          <p:spPr bwMode="auto">
            <a:xfrm>
              <a:off x="7559675"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mn-ea"/>
                  <a:ea typeface="+mn-ea"/>
                </a:rPr>
                <a:t>客体</a:t>
              </a:r>
            </a:p>
          </p:txBody>
        </p:sp>
        <p:sp>
          <p:nvSpPr>
            <p:cNvPr id="31770" name="Line 26">
              <a:extLst>
                <a:ext uri="{FF2B5EF4-FFF2-40B4-BE49-F238E27FC236}">
                  <a16:creationId xmlns:a16="http://schemas.microsoft.com/office/drawing/2014/main" id="{633E5940-53DD-6847-A101-17D41AD21FAD}"/>
                </a:ext>
              </a:extLst>
            </p:cNvPr>
            <p:cNvSpPr>
              <a:spLocks noChangeShapeType="1"/>
            </p:cNvSpPr>
            <p:nvPr/>
          </p:nvSpPr>
          <p:spPr bwMode="auto">
            <a:xfrm flipV="1">
              <a:off x="6156326" y="4221162"/>
              <a:ext cx="906462" cy="69850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71" name="Line 27">
              <a:extLst>
                <a:ext uri="{FF2B5EF4-FFF2-40B4-BE49-F238E27FC236}">
                  <a16:creationId xmlns:a16="http://schemas.microsoft.com/office/drawing/2014/main" id="{1C3E440D-B86D-2548-88E6-5703E6529BA6}"/>
                </a:ext>
              </a:extLst>
            </p:cNvPr>
            <p:cNvSpPr>
              <a:spLocks noChangeShapeType="1"/>
            </p:cNvSpPr>
            <p:nvPr/>
          </p:nvSpPr>
          <p:spPr bwMode="auto">
            <a:xfrm>
              <a:off x="6156326" y="4941888"/>
              <a:ext cx="977900" cy="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72" name="Line 28">
              <a:extLst>
                <a:ext uri="{FF2B5EF4-FFF2-40B4-BE49-F238E27FC236}">
                  <a16:creationId xmlns:a16="http://schemas.microsoft.com/office/drawing/2014/main" id="{43BDAA1A-AF25-F648-AD11-F4A638D1074D}"/>
                </a:ext>
              </a:extLst>
            </p:cNvPr>
            <p:cNvSpPr>
              <a:spLocks noChangeShapeType="1"/>
            </p:cNvSpPr>
            <p:nvPr/>
          </p:nvSpPr>
          <p:spPr bwMode="auto">
            <a:xfrm>
              <a:off x="6156326" y="4976813"/>
              <a:ext cx="977900"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31773" name="Text Box 29">
              <a:extLst>
                <a:ext uri="{FF2B5EF4-FFF2-40B4-BE49-F238E27FC236}">
                  <a16:creationId xmlns:a16="http://schemas.microsoft.com/office/drawing/2014/main" id="{E01933E2-5FAD-314B-BDF8-F6BFF7851A9C}"/>
                </a:ext>
              </a:extLst>
            </p:cNvPr>
            <p:cNvSpPr txBox="1">
              <a:spLocks noChangeArrowheads="1"/>
            </p:cNvSpPr>
            <p:nvPr/>
          </p:nvSpPr>
          <p:spPr bwMode="auto">
            <a:xfrm>
              <a:off x="6357938" y="4076700"/>
              <a:ext cx="746125" cy="307975"/>
            </a:xfrm>
            <a:prstGeom prst="rect">
              <a:avLst/>
            </a:prstGeom>
            <a:noFill/>
            <a:ln w="9525">
              <a:noFill/>
              <a:miter lim="800000"/>
            </a:ln>
          </p:spPr>
          <p:txBody>
            <a:bodyPr>
              <a:spAutoFit/>
            </a:bodyPr>
            <a:lstStyle/>
            <a:p>
              <a:pPr algn="ctr" eaLnBrk="1" hangingPunct="1">
                <a:spcBef>
                  <a:spcPct val="50000"/>
                </a:spcBef>
                <a:defRPr/>
              </a:pPr>
              <a:r>
                <a:rPr kumimoji="1" lang="zh-CN" altLang="en-US" sz="1400" b="1">
                  <a:effectLst>
                    <a:outerShdw blurRad="38100" dist="38100" dir="2700000" algn="tl">
                      <a:srgbClr val="000000">
                        <a:alpha val="43137"/>
                      </a:srgbClr>
                    </a:outerShdw>
                  </a:effectLst>
                  <a:latin typeface="+mn-ea"/>
                  <a:ea typeface="+mn-ea"/>
                </a:rPr>
                <a:t>禁止写</a:t>
              </a:r>
            </a:p>
          </p:txBody>
        </p:sp>
        <p:sp>
          <p:nvSpPr>
            <p:cNvPr id="31774" name="Text Box 30">
              <a:extLst>
                <a:ext uri="{FF2B5EF4-FFF2-40B4-BE49-F238E27FC236}">
                  <a16:creationId xmlns:a16="http://schemas.microsoft.com/office/drawing/2014/main" id="{B9E24E0A-BB44-054D-A6DB-2440C9D9CC04}"/>
                </a:ext>
              </a:extLst>
            </p:cNvPr>
            <p:cNvSpPr txBox="1">
              <a:spLocks noChangeArrowheads="1"/>
            </p:cNvSpPr>
            <p:nvPr/>
          </p:nvSpPr>
          <p:spPr bwMode="auto">
            <a:xfrm>
              <a:off x="6502401" y="4652963"/>
              <a:ext cx="746125" cy="307975"/>
            </a:xfrm>
            <a:prstGeom prst="rect">
              <a:avLst/>
            </a:prstGeom>
            <a:noFill/>
            <a:ln w="9525">
              <a:noFill/>
              <a:miter lim="800000"/>
            </a:ln>
          </p:spPr>
          <p:txBody>
            <a:bodyPr>
              <a:spAutoFit/>
            </a:bodyPr>
            <a:lstStyle/>
            <a:p>
              <a:pPr algn="ctr" eaLnBrk="1" hangingPunct="1">
                <a:spcBef>
                  <a:spcPct val="50000"/>
                </a:spcBef>
                <a:defRPr/>
              </a:pPr>
              <a:r>
                <a:rPr kumimoji="1" lang="zh-CN" altLang="en-US" sz="1400" b="1">
                  <a:effectLst>
                    <a:outerShdw blurRad="38100" dist="38100" dir="2700000" algn="tl">
                      <a:srgbClr val="000000">
                        <a:alpha val="43137"/>
                      </a:srgbClr>
                    </a:outerShdw>
                  </a:effectLst>
                  <a:latin typeface="+mn-ea"/>
                  <a:ea typeface="+mn-ea"/>
                </a:rPr>
                <a:t>禁止写</a:t>
              </a:r>
            </a:p>
          </p:txBody>
        </p:sp>
        <p:sp>
          <p:nvSpPr>
            <p:cNvPr id="31775" name="Text Box 31">
              <a:extLst>
                <a:ext uri="{FF2B5EF4-FFF2-40B4-BE49-F238E27FC236}">
                  <a16:creationId xmlns:a16="http://schemas.microsoft.com/office/drawing/2014/main" id="{AAC78D1C-A2DD-1E43-906B-46C4696D21C0}"/>
                </a:ext>
              </a:extLst>
            </p:cNvPr>
            <p:cNvSpPr txBox="1">
              <a:spLocks noChangeArrowheads="1"/>
            </p:cNvSpPr>
            <p:nvPr/>
          </p:nvSpPr>
          <p:spPr bwMode="auto">
            <a:xfrm>
              <a:off x="6430963" y="5516563"/>
              <a:ext cx="746125" cy="307975"/>
            </a:xfrm>
            <a:prstGeom prst="rect">
              <a:avLst/>
            </a:prstGeom>
            <a:noFill/>
            <a:ln w="9525">
              <a:noFill/>
              <a:miter lim="800000"/>
            </a:ln>
          </p:spPr>
          <p:txBody>
            <a:bodyPr>
              <a:spAutoFit/>
            </a:bodyPr>
            <a:lstStyle/>
            <a:p>
              <a:pPr algn="ctr" eaLnBrk="1" hangingPunct="1">
                <a:spcBef>
                  <a:spcPct val="50000"/>
                </a:spcBef>
                <a:defRPr/>
              </a:pPr>
              <a:r>
                <a:rPr lang="zh-CN" altLang="en-US" sz="1400" b="1">
                  <a:effectLst>
                    <a:outerShdw blurRad="38100" dist="38100" dir="2700000" algn="tl">
                      <a:srgbClr val="C0C0C0"/>
                    </a:outerShdw>
                  </a:effectLst>
                  <a:latin typeface="黑体" panose="02010609060101010101" pitchFamily="49" charset="-122"/>
                  <a:ea typeface="黑体" panose="02010609060101010101" pitchFamily="49" charset="-122"/>
                </a:rPr>
                <a:t>允许写</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073D766-296C-1A47-91E7-E4176668ED67}"/>
              </a:ext>
            </a:extLst>
          </p:cNvPr>
          <p:cNvSpPr>
            <a:spLocks noGrp="1" noChangeArrowheads="1"/>
          </p:cNvSpPr>
          <p:nvPr>
            <p:ph idx="1"/>
          </p:nvPr>
        </p:nvSpPr>
        <p:spPr>
          <a:xfrm>
            <a:off x="776288" y="1571625"/>
            <a:ext cx="6838950" cy="1233488"/>
          </a:xfrm>
        </p:spPr>
        <p:txBody>
          <a:bodyPr/>
          <a:lstStyle/>
          <a:p>
            <a:pPr>
              <a:defRPr/>
            </a:pPr>
            <a:r>
              <a:rPr lang="zh-CN" altLang="en-US" b="1" dirty="0">
                <a:effectLst>
                  <a:outerShdw blurRad="38100" dist="38100" dir="2700000" algn="tl">
                    <a:srgbClr val="C0C0C0"/>
                  </a:outerShdw>
                </a:effectLst>
              </a:rPr>
              <a:t>下读</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上写 </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下读</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不下写</a:t>
            </a:r>
            <a:r>
              <a:rPr lang="en-US" altLang="zh-CN" b="1" dirty="0">
                <a:effectLst>
                  <a:outerShdw blurRad="38100" dist="38100" dir="2700000" algn="tl">
                    <a:srgbClr val="C0C0C0"/>
                  </a:outerShdw>
                </a:effectLst>
              </a:rPr>
              <a:t>)</a:t>
            </a:r>
          </a:p>
          <a:p>
            <a:pPr>
              <a:defRPr/>
            </a:pPr>
            <a:r>
              <a:rPr lang="zh-CN" altLang="en-US" b="1" dirty="0">
                <a:solidFill>
                  <a:srgbClr val="FF0000"/>
                </a:solidFill>
                <a:effectLst>
                  <a:outerShdw blurRad="38100" dist="38100" dir="2700000" algn="tl">
                    <a:srgbClr val="C0C0C0"/>
                  </a:outerShdw>
                </a:effectLst>
              </a:rPr>
              <a:t>保证机密性</a:t>
            </a:r>
          </a:p>
        </p:txBody>
      </p:sp>
      <p:sp>
        <p:nvSpPr>
          <p:cNvPr id="88066" name="Rectangle 2">
            <a:extLst>
              <a:ext uri="{FF2B5EF4-FFF2-40B4-BE49-F238E27FC236}">
                <a16:creationId xmlns:a16="http://schemas.microsoft.com/office/drawing/2014/main" id="{9926FF47-B897-9942-BE81-81E6C03CC555}"/>
              </a:ext>
            </a:extLst>
          </p:cNvPr>
          <p:cNvSpPr>
            <a:spLocks noGrp="1" noChangeArrowheads="1"/>
          </p:cNvSpPr>
          <p:nvPr>
            <p:ph type="title"/>
          </p:nvPr>
        </p:nvSpPr>
        <p:spPr>
          <a:xfrm>
            <a:off x="476250" y="846138"/>
            <a:ext cx="6513513" cy="487362"/>
          </a:xfrm>
        </p:spPr>
        <p:txBody>
          <a:bodyPr/>
          <a:lstStyle/>
          <a:p>
            <a:pPr>
              <a:buClr>
                <a:srgbClr val="3399FF"/>
              </a:buClr>
              <a:defRPr/>
            </a:pP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Bell</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dirty="0" err="1">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LaPadula</a:t>
            </a: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(BLP)</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a:t>
            </a:r>
          </a:p>
        </p:txBody>
      </p:sp>
      <p:grpSp>
        <p:nvGrpSpPr>
          <p:cNvPr id="32" name="组合 31">
            <a:extLst>
              <a:ext uri="{FF2B5EF4-FFF2-40B4-BE49-F238E27FC236}">
                <a16:creationId xmlns:a16="http://schemas.microsoft.com/office/drawing/2014/main" id="{80DC924F-1D0B-E64C-8E55-F4E4C50850C3}"/>
              </a:ext>
            </a:extLst>
          </p:cNvPr>
          <p:cNvGrpSpPr>
            <a:grpSpLocks/>
          </p:cNvGrpSpPr>
          <p:nvPr/>
        </p:nvGrpSpPr>
        <p:grpSpPr bwMode="auto">
          <a:xfrm>
            <a:off x="468313" y="2909888"/>
            <a:ext cx="4251325" cy="2808287"/>
            <a:chOff x="320775" y="3213100"/>
            <a:chExt cx="4251225" cy="2808288"/>
          </a:xfrm>
        </p:grpSpPr>
        <p:sp>
          <p:nvSpPr>
            <p:cNvPr id="33" name="Rectangle 4">
              <a:extLst>
                <a:ext uri="{FF2B5EF4-FFF2-40B4-BE49-F238E27FC236}">
                  <a16:creationId xmlns:a16="http://schemas.microsoft.com/office/drawing/2014/main" id="{F6660A8C-4E23-4346-86EE-74FE15D9F42E}"/>
                </a:ext>
              </a:extLst>
            </p:cNvPr>
            <p:cNvSpPr>
              <a:spLocks noChangeArrowheads="1"/>
            </p:cNvSpPr>
            <p:nvPr/>
          </p:nvSpPr>
          <p:spPr bwMode="auto">
            <a:xfrm>
              <a:off x="320775" y="3933825"/>
              <a:ext cx="1477927"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34" name="Rectangle 5">
              <a:extLst>
                <a:ext uri="{FF2B5EF4-FFF2-40B4-BE49-F238E27FC236}">
                  <a16:creationId xmlns:a16="http://schemas.microsoft.com/office/drawing/2014/main" id="{F7B1F065-39DD-794A-8395-A4841F6AB7FB}"/>
                </a:ext>
              </a:extLst>
            </p:cNvPr>
            <p:cNvSpPr>
              <a:spLocks noChangeArrowheads="1"/>
            </p:cNvSpPr>
            <p:nvPr/>
          </p:nvSpPr>
          <p:spPr bwMode="auto">
            <a:xfrm>
              <a:off x="322362" y="4724401"/>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35" name="Rectangle 6">
              <a:extLst>
                <a:ext uri="{FF2B5EF4-FFF2-40B4-BE49-F238E27FC236}">
                  <a16:creationId xmlns:a16="http://schemas.microsoft.com/office/drawing/2014/main" id="{76B80713-A4E2-5C4A-9011-E281566E4E47}"/>
                </a:ext>
              </a:extLst>
            </p:cNvPr>
            <p:cNvSpPr>
              <a:spLocks noChangeArrowheads="1"/>
            </p:cNvSpPr>
            <p:nvPr/>
          </p:nvSpPr>
          <p:spPr bwMode="auto">
            <a:xfrm>
              <a:off x="322362" y="5516563"/>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36" name="Text Box 7">
              <a:extLst>
                <a:ext uri="{FF2B5EF4-FFF2-40B4-BE49-F238E27FC236}">
                  <a16:creationId xmlns:a16="http://schemas.microsoft.com/office/drawing/2014/main" id="{254A031F-2FE5-5847-B700-3DAB582286AA}"/>
                </a:ext>
              </a:extLst>
            </p:cNvPr>
            <p:cNvSpPr txBox="1">
              <a:spLocks noChangeArrowheads="1"/>
            </p:cNvSpPr>
            <p:nvPr/>
          </p:nvSpPr>
          <p:spPr bwMode="auto">
            <a:xfrm>
              <a:off x="611280"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主体</a:t>
              </a:r>
            </a:p>
          </p:txBody>
        </p:sp>
        <p:sp>
          <p:nvSpPr>
            <p:cNvPr id="37" name="Rectangle 8">
              <a:extLst>
                <a:ext uri="{FF2B5EF4-FFF2-40B4-BE49-F238E27FC236}">
                  <a16:creationId xmlns:a16="http://schemas.microsoft.com/office/drawing/2014/main" id="{E600AC44-E762-4144-9ECF-AFC872F39DBE}"/>
                </a:ext>
              </a:extLst>
            </p:cNvPr>
            <p:cNvSpPr>
              <a:spLocks noChangeArrowheads="1"/>
            </p:cNvSpPr>
            <p:nvPr/>
          </p:nvSpPr>
          <p:spPr bwMode="auto">
            <a:xfrm>
              <a:off x="2913101" y="3933825"/>
              <a:ext cx="1477928"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38" name="Rectangle 9">
              <a:extLst>
                <a:ext uri="{FF2B5EF4-FFF2-40B4-BE49-F238E27FC236}">
                  <a16:creationId xmlns:a16="http://schemas.microsoft.com/office/drawing/2014/main" id="{6F9FBC07-F34E-074D-A0E6-0300A056707D}"/>
                </a:ext>
              </a:extLst>
            </p:cNvPr>
            <p:cNvSpPr>
              <a:spLocks noChangeArrowheads="1"/>
            </p:cNvSpPr>
            <p:nvPr/>
          </p:nvSpPr>
          <p:spPr bwMode="auto">
            <a:xfrm>
              <a:off x="2914689" y="4724401"/>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39" name="Rectangle 10">
              <a:extLst>
                <a:ext uri="{FF2B5EF4-FFF2-40B4-BE49-F238E27FC236}">
                  <a16:creationId xmlns:a16="http://schemas.microsoft.com/office/drawing/2014/main" id="{0CC6339E-A96F-2A4E-99EB-72947FB8A11F}"/>
                </a:ext>
              </a:extLst>
            </p:cNvPr>
            <p:cNvSpPr>
              <a:spLocks noChangeArrowheads="1"/>
            </p:cNvSpPr>
            <p:nvPr/>
          </p:nvSpPr>
          <p:spPr bwMode="auto">
            <a:xfrm>
              <a:off x="2914689" y="5516563"/>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40" name="Text Box 11">
              <a:extLst>
                <a:ext uri="{FF2B5EF4-FFF2-40B4-BE49-F238E27FC236}">
                  <a16:creationId xmlns:a16="http://schemas.microsoft.com/office/drawing/2014/main" id="{0006AFE5-E57A-7D40-BAA8-B6355184FC08}"/>
                </a:ext>
              </a:extLst>
            </p:cNvPr>
            <p:cNvSpPr txBox="1">
              <a:spLocks noChangeArrowheads="1"/>
            </p:cNvSpPr>
            <p:nvPr/>
          </p:nvSpPr>
          <p:spPr bwMode="auto">
            <a:xfrm>
              <a:off x="3203607"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客体</a:t>
              </a:r>
            </a:p>
          </p:txBody>
        </p:sp>
        <p:sp>
          <p:nvSpPr>
            <p:cNvPr id="41" name="Line 12">
              <a:extLst>
                <a:ext uri="{FF2B5EF4-FFF2-40B4-BE49-F238E27FC236}">
                  <a16:creationId xmlns:a16="http://schemas.microsoft.com/office/drawing/2014/main" id="{0E5B2294-64B3-1241-B6EA-88BF57482D20}"/>
                </a:ext>
              </a:extLst>
            </p:cNvPr>
            <p:cNvSpPr>
              <a:spLocks noChangeShapeType="1"/>
            </p:cNvSpPr>
            <p:nvPr/>
          </p:nvSpPr>
          <p:spPr bwMode="auto">
            <a:xfrm flipV="1">
              <a:off x="1811402" y="4176712"/>
              <a:ext cx="966765" cy="74295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2" name="Line 13">
              <a:extLst>
                <a:ext uri="{FF2B5EF4-FFF2-40B4-BE49-F238E27FC236}">
                  <a16:creationId xmlns:a16="http://schemas.microsoft.com/office/drawing/2014/main" id="{3D1A4B9B-54E0-5B4E-9836-F971028EE82A}"/>
                </a:ext>
              </a:extLst>
            </p:cNvPr>
            <p:cNvSpPr>
              <a:spLocks noChangeShapeType="1"/>
            </p:cNvSpPr>
            <p:nvPr/>
          </p:nvSpPr>
          <p:spPr bwMode="auto">
            <a:xfrm flipV="1">
              <a:off x="1811402" y="4951413"/>
              <a:ext cx="966765" cy="9525"/>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3" name="Line 14">
              <a:extLst>
                <a:ext uri="{FF2B5EF4-FFF2-40B4-BE49-F238E27FC236}">
                  <a16:creationId xmlns:a16="http://schemas.microsoft.com/office/drawing/2014/main" id="{11C3E0CA-EA26-314B-8A35-BA0DAD4D1FA9}"/>
                </a:ext>
              </a:extLst>
            </p:cNvPr>
            <p:cNvSpPr>
              <a:spLocks noChangeShapeType="1"/>
            </p:cNvSpPr>
            <p:nvPr/>
          </p:nvSpPr>
          <p:spPr bwMode="auto">
            <a:xfrm>
              <a:off x="1811402" y="4976813"/>
              <a:ext cx="966765"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4" name="Text Box 15">
              <a:extLst>
                <a:ext uri="{FF2B5EF4-FFF2-40B4-BE49-F238E27FC236}">
                  <a16:creationId xmlns:a16="http://schemas.microsoft.com/office/drawing/2014/main" id="{D7BB8194-EBCD-9949-A164-68C6373A2465}"/>
                </a:ext>
              </a:extLst>
            </p:cNvPr>
            <p:cNvSpPr txBox="1">
              <a:spLocks noChangeArrowheads="1"/>
            </p:cNvSpPr>
            <p:nvPr/>
          </p:nvSpPr>
          <p:spPr bwMode="auto">
            <a:xfrm>
              <a:off x="1811402" y="4176712"/>
              <a:ext cx="881042" cy="338138"/>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Times New Roman" panose="02020603050405020304" pitchFamily="18" charset="0"/>
                </a:rPr>
                <a:t>禁止读</a:t>
              </a:r>
            </a:p>
          </p:txBody>
        </p:sp>
        <p:sp>
          <p:nvSpPr>
            <p:cNvPr id="45" name="Text Box 16">
              <a:extLst>
                <a:ext uri="{FF2B5EF4-FFF2-40B4-BE49-F238E27FC236}">
                  <a16:creationId xmlns:a16="http://schemas.microsoft.com/office/drawing/2014/main" id="{4DD3F890-E45E-8B43-8D94-F92E16210A77}"/>
                </a:ext>
              </a:extLst>
            </p:cNvPr>
            <p:cNvSpPr txBox="1">
              <a:spLocks noChangeArrowheads="1"/>
            </p:cNvSpPr>
            <p:nvPr/>
          </p:nvSpPr>
          <p:spPr bwMode="auto">
            <a:xfrm>
              <a:off x="2124133" y="4581525"/>
              <a:ext cx="881041" cy="338554"/>
            </a:xfrm>
            <a:prstGeom prst="rect">
              <a:avLst/>
            </a:prstGeom>
            <a:noFill/>
            <a:ln w="9525">
              <a:noFill/>
              <a:miter lim="800000"/>
            </a:ln>
          </p:spPr>
          <p:txBody>
            <a:bodyPr>
              <a:spAutoFit/>
            </a:bodyPr>
            <a:lstStyle/>
            <a:p>
              <a:pPr algn="ctr" eaLnBrk="1" hangingPunct="1">
                <a:spcBef>
                  <a:spcPct val="50000"/>
                </a:spcBef>
                <a:defRPr/>
              </a:pPr>
              <a:r>
                <a:rPr lang="zh-CN" altLang="en-US" sz="1600" b="1" dirty="0">
                  <a:effectLst>
                    <a:outerShdw blurRad="38100" dist="38100" dir="2700000" algn="tl">
                      <a:srgbClr val="C0C0C0"/>
                    </a:outerShdw>
                  </a:effectLst>
                  <a:latin typeface="Times New Roman" panose="02020603050405020304" pitchFamily="18" charset="0"/>
                </a:rPr>
                <a:t>禁止读</a:t>
              </a:r>
            </a:p>
          </p:txBody>
        </p:sp>
        <p:sp>
          <p:nvSpPr>
            <p:cNvPr id="46" name="Text Box 17">
              <a:extLst>
                <a:ext uri="{FF2B5EF4-FFF2-40B4-BE49-F238E27FC236}">
                  <a16:creationId xmlns:a16="http://schemas.microsoft.com/office/drawing/2014/main" id="{24012AF9-3CF9-2E45-9DAC-519BF5C917B9}"/>
                </a:ext>
              </a:extLst>
            </p:cNvPr>
            <p:cNvSpPr txBox="1">
              <a:spLocks noChangeArrowheads="1"/>
            </p:cNvSpPr>
            <p:nvPr/>
          </p:nvSpPr>
          <p:spPr bwMode="auto">
            <a:xfrm>
              <a:off x="1895538" y="5495926"/>
              <a:ext cx="882629" cy="338137"/>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Times New Roman" panose="02020603050405020304" pitchFamily="18" charset="0"/>
                </a:rPr>
                <a:t>允许读</a:t>
              </a:r>
            </a:p>
          </p:txBody>
        </p:sp>
      </p:grpSp>
      <p:grpSp>
        <p:nvGrpSpPr>
          <p:cNvPr id="47" name="组合 46">
            <a:extLst>
              <a:ext uri="{FF2B5EF4-FFF2-40B4-BE49-F238E27FC236}">
                <a16:creationId xmlns:a16="http://schemas.microsoft.com/office/drawing/2014/main" id="{DB9D812D-59AA-1549-AD3A-18CA4660F7FD}"/>
              </a:ext>
            </a:extLst>
          </p:cNvPr>
          <p:cNvGrpSpPr>
            <a:grpSpLocks/>
          </p:cNvGrpSpPr>
          <p:nvPr/>
        </p:nvGrpSpPr>
        <p:grpSpPr bwMode="auto">
          <a:xfrm>
            <a:off x="4826000" y="2909888"/>
            <a:ext cx="4249738" cy="2808287"/>
            <a:chOff x="4678363" y="3213100"/>
            <a:chExt cx="4249737" cy="2808288"/>
          </a:xfrm>
        </p:grpSpPr>
        <p:sp>
          <p:nvSpPr>
            <p:cNvPr id="48" name="Rectangle 18">
              <a:extLst>
                <a:ext uri="{FF2B5EF4-FFF2-40B4-BE49-F238E27FC236}">
                  <a16:creationId xmlns:a16="http://schemas.microsoft.com/office/drawing/2014/main" id="{A7CD5FB5-36CD-E943-8F2F-2A982180053D}"/>
                </a:ext>
              </a:extLst>
            </p:cNvPr>
            <p:cNvSpPr>
              <a:spLocks noChangeArrowheads="1"/>
            </p:cNvSpPr>
            <p:nvPr/>
          </p:nvSpPr>
          <p:spPr bwMode="auto">
            <a:xfrm>
              <a:off x="4678363" y="3933825"/>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49" name="Rectangle 19">
              <a:extLst>
                <a:ext uri="{FF2B5EF4-FFF2-40B4-BE49-F238E27FC236}">
                  <a16:creationId xmlns:a16="http://schemas.microsoft.com/office/drawing/2014/main" id="{4EE0181C-2277-C248-A5E2-716C152971C3}"/>
                </a:ext>
              </a:extLst>
            </p:cNvPr>
            <p:cNvSpPr>
              <a:spLocks noChangeArrowheads="1"/>
            </p:cNvSpPr>
            <p:nvPr/>
          </p:nvSpPr>
          <p:spPr bwMode="auto">
            <a:xfrm>
              <a:off x="4678363" y="4724401"/>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50" name="Rectangle 20">
              <a:extLst>
                <a:ext uri="{FF2B5EF4-FFF2-40B4-BE49-F238E27FC236}">
                  <a16:creationId xmlns:a16="http://schemas.microsoft.com/office/drawing/2014/main" id="{7CEAA811-DD2A-3646-8335-7EE391613399}"/>
                </a:ext>
              </a:extLst>
            </p:cNvPr>
            <p:cNvSpPr>
              <a:spLocks noChangeArrowheads="1"/>
            </p:cNvSpPr>
            <p:nvPr/>
          </p:nvSpPr>
          <p:spPr bwMode="auto">
            <a:xfrm>
              <a:off x="4678363" y="5516563"/>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51" name="Text Box 21">
              <a:extLst>
                <a:ext uri="{FF2B5EF4-FFF2-40B4-BE49-F238E27FC236}">
                  <a16:creationId xmlns:a16="http://schemas.microsoft.com/office/drawing/2014/main" id="{A6A02B37-17E9-8A4A-88B6-ADAE4C5E3940}"/>
                </a:ext>
              </a:extLst>
            </p:cNvPr>
            <p:cNvSpPr txBox="1">
              <a:spLocks noChangeArrowheads="1"/>
            </p:cNvSpPr>
            <p:nvPr/>
          </p:nvSpPr>
          <p:spPr bwMode="auto">
            <a:xfrm>
              <a:off x="4967288"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主体</a:t>
              </a:r>
            </a:p>
          </p:txBody>
        </p:sp>
        <p:sp>
          <p:nvSpPr>
            <p:cNvPr id="52" name="Rectangle 22">
              <a:extLst>
                <a:ext uri="{FF2B5EF4-FFF2-40B4-BE49-F238E27FC236}">
                  <a16:creationId xmlns:a16="http://schemas.microsoft.com/office/drawing/2014/main" id="{0FC28820-6C75-F440-B3B5-D8D0181F63D9}"/>
                </a:ext>
              </a:extLst>
            </p:cNvPr>
            <p:cNvSpPr>
              <a:spLocks noChangeArrowheads="1"/>
            </p:cNvSpPr>
            <p:nvPr/>
          </p:nvSpPr>
          <p:spPr bwMode="auto">
            <a:xfrm>
              <a:off x="7270750" y="3933825"/>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53" name="Rectangle 23">
              <a:extLst>
                <a:ext uri="{FF2B5EF4-FFF2-40B4-BE49-F238E27FC236}">
                  <a16:creationId xmlns:a16="http://schemas.microsoft.com/office/drawing/2014/main" id="{EEC04D05-C335-2C44-9F2A-DF1FF498B593}"/>
                </a:ext>
              </a:extLst>
            </p:cNvPr>
            <p:cNvSpPr>
              <a:spLocks noChangeArrowheads="1"/>
            </p:cNvSpPr>
            <p:nvPr/>
          </p:nvSpPr>
          <p:spPr bwMode="auto">
            <a:xfrm>
              <a:off x="7270750" y="4724401"/>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54" name="Rectangle 24">
              <a:extLst>
                <a:ext uri="{FF2B5EF4-FFF2-40B4-BE49-F238E27FC236}">
                  <a16:creationId xmlns:a16="http://schemas.microsoft.com/office/drawing/2014/main" id="{70BDC9BA-492A-5D40-B685-6706CC7137DC}"/>
                </a:ext>
              </a:extLst>
            </p:cNvPr>
            <p:cNvSpPr>
              <a:spLocks noChangeArrowheads="1"/>
            </p:cNvSpPr>
            <p:nvPr/>
          </p:nvSpPr>
          <p:spPr bwMode="auto">
            <a:xfrm>
              <a:off x="7270750" y="5516563"/>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55" name="Text Box 25">
              <a:extLst>
                <a:ext uri="{FF2B5EF4-FFF2-40B4-BE49-F238E27FC236}">
                  <a16:creationId xmlns:a16="http://schemas.microsoft.com/office/drawing/2014/main" id="{5CEC21CD-03ED-E24A-8D93-7D2F95FCAB62}"/>
                </a:ext>
              </a:extLst>
            </p:cNvPr>
            <p:cNvSpPr txBox="1">
              <a:spLocks noChangeArrowheads="1"/>
            </p:cNvSpPr>
            <p:nvPr/>
          </p:nvSpPr>
          <p:spPr bwMode="auto">
            <a:xfrm>
              <a:off x="7559675"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客体</a:t>
              </a:r>
            </a:p>
          </p:txBody>
        </p:sp>
        <p:sp>
          <p:nvSpPr>
            <p:cNvPr id="56" name="Line 26">
              <a:extLst>
                <a:ext uri="{FF2B5EF4-FFF2-40B4-BE49-F238E27FC236}">
                  <a16:creationId xmlns:a16="http://schemas.microsoft.com/office/drawing/2014/main" id="{68F26832-82D0-F84D-9E17-784EC7DB9F73}"/>
                </a:ext>
              </a:extLst>
            </p:cNvPr>
            <p:cNvSpPr>
              <a:spLocks noChangeShapeType="1"/>
            </p:cNvSpPr>
            <p:nvPr/>
          </p:nvSpPr>
          <p:spPr bwMode="auto">
            <a:xfrm flipV="1">
              <a:off x="6156326" y="4221162"/>
              <a:ext cx="906462" cy="69850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7" name="Line 27">
              <a:extLst>
                <a:ext uri="{FF2B5EF4-FFF2-40B4-BE49-F238E27FC236}">
                  <a16:creationId xmlns:a16="http://schemas.microsoft.com/office/drawing/2014/main" id="{CE1F6C0D-DB17-0643-AB78-E3196D1AB820}"/>
                </a:ext>
              </a:extLst>
            </p:cNvPr>
            <p:cNvSpPr>
              <a:spLocks noChangeShapeType="1"/>
            </p:cNvSpPr>
            <p:nvPr/>
          </p:nvSpPr>
          <p:spPr bwMode="auto">
            <a:xfrm>
              <a:off x="6156326" y="4941888"/>
              <a:ext cx="977900" cy="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8" name="Line 28">
              <a:extLst>
                <a:ext uri="{FF2B5EF4-FFF2-40B4-BE49-F238E27FC236}">
                  <a16:creationId xmlns:a16="http://schemas.microsoft.com/office/drawing/2014/main" id="{B0B7A97E-A9CE-3C40-BE5B-8FBED707A3E6}"/>
                </a:ext>
              </a:extLst>
            </p:cNvPr>
            <p:cNvSpPr>
              <a:spLocks noChangeShapeType="1"/>
            </p:cNvSpPr>
            <p:nvPr/>
          </p:nvSpPr>
          <p:spPr bwMode="auto">
            <a:xfrm>
              <a:off x="6156326" y="4976813"/>
              <a:ext cx="977900"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9" name="Text Box 29">
              <a:extLst>
                <a:ext uri="{FF2B5EF4-FFF2-40B4-BE49-F238E27FC236}">
                  <a16:creationId xmlns:a16="http://schemas.microsoft.com/office/drawing/2014/main" id="{A5314567-03E9-F343-B64F-8047A4DC8C5C}"/>
                </a:ext>
              </a:extLst>
            </p:cNvPr>
            <p:cNvSpPr txBox="1">
              <a:spLocks noChangeArrowheads="1"/>
            </p:cNvSpPr>
            <p:nvPr/>
          </p:nvSpPr>
          <p:spPr bwMode="auto">
            <a:xfrm>
              <a:off x="6357938" y="4076700"/>
              <a:ext cx="746125" cy="307975"/>
            </a:xfrm>
            <a:prstGeom prst="rect">
              <a:avLst/>
            </a:prstGeom>
            <a:noFill/>
            <a:ln w="9525">
              <a:noFill/>
              <a:miter lim="800000"/>
            </a:ln>
          </p:spPr>
          <p:txBody>
            <a:bodyPr>
              <a:spAutoFit/>
            </a:bodyPr>
            <a:lstStyle/>
            <a:p>
              <a:pPr algn="ctr" eaLnBrk="1" hangingPunct="1">
                <a:spcBef>
                  <a:spcPct val="50000"/>
                </a:spcBef>
                <a:defRPr/>
              </a:pPr>
              <a:r>
                <a:rPr lang="zh-CN" altLang="en-US" sz="1400" b="1">
                  <a:effectLst>
                    <a:outerShdw blurRad="38100" dist="38100" dir="2700000" algn="tl">
                      <a:srgbClr val="C0C0C0"/>
                    </a:outerShdw>
                  </a:effectLst>
                  <a:latin typeface="Times New Roman" panose="02020603050405020304" pitchFamily="18" charset="0"/>
                </a:rPr>
                <a:t>允许写</a:t>
              </a:r>
            </a:p>
          </p:txBody>
        </p:sp>
        <p:sp>
          <p:nvSpPr>
            <p:cNvPr id="60" name="Text Box 30">
              <a:extLst>
                <a:ext uri="{FF2B5EF4-FFF2-40B4-BE49-F238E27FC236}">
                  <a16:creationId xmlns:a16="http://schemas.microsoft.com/office/drawing/2014/main" id="{24E3F508-C41E-9748-804C-96C15C1B064B}"/>
                </a:ext>
              </a:extLst>
            </p:cNvPr>
            <p:cNvSpPr txBox="1">
              <a:spLocks noChangeArrowheads="1"/>
            </p:cNvSpPr>
            <p:nvPr/>
          </p:nvSpPr>
          <p:spPr bwMode="auto">
            <a:xfrm>
              <a:off x="6502401" y="4652963"/>
              <a:ext cx="746125" cy="307975"/>
            </a:xfrm>
            <a:prstGeom prst="rect">
              <a:avLst/>
            </a:prstGeom>
            <a:noFill/>
            <a:ln w="9525">
              <a:noFill/>
              <a:miter lim="800000"/>
            </a:ln>
          </p:spPr>
          <p:txBody>
            <a:bodyPr>
              <a:spAutoFit/>
            </a:bodyPr>
            <a:lstStyle/>
            <a:p>
              <a:pPr algn="ctr" eaLnBrk="1" hangingPunct="1">
                <a:spcBef>
                  <a:spcPct val="50000"/>
                </a:spcBef>
                <a:defRPr/>
              </a:pPr>
              <a:r>
                <a:rPr lang="zh-CN" altLang="en-US" sz="1400" b="1">
                  <a:effectLst>
                    <a:outerShdw blurRad="38100" dist="38100" dir="2700000" algn="tl">
                      <a:srgbClr val="C0C0C0"/>
                    </a:outerShdw>
                  </a:effectLst>
                  <a:latin typeface="Times New Roman" panose="02020603050405020304" pitchFamily="18" charset="0"/>
                </a:rPr>
                <a:t>允许写</a:t>
              </a:r>
            </a:p>
          </p:txBody>
        </p:sp>
        <p:sp>
          <p:nvSpPr>
            <p:cNvPr id="61" name="Text Box 31">
              <a:extLst>
                <a:ext uri="{FF2B5EF4-FFF2-40B4-BE49-F238E27FC236}">
                  <a16:creationId xmlns:a16="http://schemas.microsoft.com/office/drawing/2014/main" id="{E8FF0E61-0748-1B41-9855-01652F27C43E}"/>
                </a:ext>
              </a:extLst>
            </p:cNvPr>
            <p:cNvSpPr txBox="1">
              <a:spLocks noChangeArrowheads="1"/>
            </p:cNvSpPr>
            <p:nvPr/>
          </p:nvSpPr>
          <p:spPr bwMode="auto">
            <a:xfrm>
              <a:off x="6430963" y="5516563"/>
              <a:ext cx="746125" cy="307975"/>
            </a:xfrm>
            <a:prstGeom prst="rect">
              <a:avLst/>
            </a:prstGeom>
            <a:noFill/>
            <a:ln w="9525">
              <a:noFill/>
              <a:miter lim="800000"/>
            </a:ln>
          </p:spPr>
          <p:txBody>
            <a:bodyPr>
              <a:spAutoFit/>
            </a:bodyPr>
            <a:lstStyle/>
            <a:p>
              <a:pPr algn="ctr" eaLnBrk="1" hangingPunct="1">
                <a:spcBef>
                  <a:spcPct val="50000"/>
                </a:spcBef>
                <a:defRPr/>
              </a:pPr>
              <a:r>
                <a:rPr kumimoji="1" lang="zh-CN" altLang="en-US" sz="1400" b="1">
                  <a:effectLst>
                    <a:outerShdw blurRad="38100" dist="38100" dir="2700000" algn="tl">
                      <a:srgbClr val="000000">
                        <a:alpha val="43137"/>
                      </a:srgbClr>
                    </a:outerShdw>
                  </a:effectLst>
                  <a:latin typeface="Times New Roman" panose="02020603050405020304" pitchFamily="18" charset="0"/>
                </a:rPr>
                <a:t>禁止写</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33">
            <a:extLst>
              <a:ext uri="{FF2B5EF4-FFF2-40B4-BE49-F238E27FC236}">
                <a16:creationId xmlns:a16="http://schemas.microsoft.com/office/drawing/2014/main" id="{5B927F4C-6A31-BB47-BAA3-D9F3DC960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1341438"/>
            <a:ext cx="585470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4">
            <a:extLst>
              <a:ext uri="{FF2B5EF4-FFF2-40B4-BE49-F238E27FC236}">
                <a16:creationId xmlns:a16="http://schemas.microsoft.com/office/drawing/2014/main" id="{7124317C-AA8E-1B4D-BDB0-CE60365136D2}"/>
              </a:ext>
            </a:extLst>
          </p:cNvPr>
          <p:cNvSpPr>
            <a:spLocks noGrp="1"/>
          </p:cNvSpPr>
          <p:nvPr>
            <p:ph idx="1"/>
          </p:nvPr>
        </p:nvSpPr>
        <p:spPr>
          <a:xfrm>
            <a:off x="620713" y="2852738"/>
            <a:ext cx="8191500" cy="3168650"/>
          </a:xfrm>
        </p:spPr>
        <p:txBody>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安全级别</a:t>
            </a:r>
            <a:endParaRPr lang="en-US" altLang="zh-CN" b="1">
              <a:solidFill>
                <a:srgbClr val="FF0000"/>
              </a:solidFill>
              <a:effectLst>
                <a:outerShdw blurRad="38100" dist="38100" dir="2700000" algn="tl">
                  <a:srgbClr val="C0C0C0"/>
                </a:outerShdw>
              </a:effectLst>
              <a:latin typeface="Times New Roman" panose="02020603050405020304" pitchFamily="18" charset="0"/>
            </a:endParaRPr>
          </a:p>
          <a:p>
            <a:pPr lvl="1">
              <a:defRPr/>
            </a:pPr>
            <a:r>
              <a:rPr lang="zh-CN" altLang="en-US" sz="2400" b="1">
                <a:effectLst>
                  <a:outerShdw blurRad="38100" dist="38100" dir="2700000" algn="tl">
                    <a:srgbClr val="C0C0C0"/>
                  </a:outerShdw>
                </a:effectLst>
                <a:latin typeface="Times New Roman" panose="02020603050405020304" pitchFamily="18" charset="0"/>
              </a:rPr>
              <a:t>内部网络：机密</a:t>
            </a:r>
            <a:endParaRPr lang="en-US" altLang="zh-CN" sz="2400" b="1">
              <a:effectLst>
                <a:outerShdw blurRad="38100" dist="38100" dir="2700000" algn="tl">
                  <a:srgbClr val="C0C0C0"/>
                </a:outerShdw>
              </a:effectLst>
              <a:latin typeface="Times New Roman" panose="02020603050405020304" pitchFamily="18" charset="0"/>
            </a:endParaRPr>
          </a:p>
          <a:p>
            <a:pPr lvl="1">
              <a:defRPr/>
            </a:pPr>
            <a:r>
              <a:rPr lang="zh-CN" altLang="en-US" sz="2400" b="1">
                <a:effectLst>
                  <a:outerShdw blurRad="38100" dist="38100" dir="2700000" algn="tl">
                    <a:srgbClr val="C0C0C0"/>
                  </a:outerShdw>
                </a:effectLst>
                <a:latin typeface="Times New Roman" panose="02020603050405020304" pitchFamily="18" charset="0"/>
              </a:rPr>
              <a:t>外部</a:t>
            </a:r>
            <a:r>
              <a:rPr lang="en-US" altLang="zh-CN" sz="2400" b="1">
                <a:effectLst>
                  <a:outerShdw blurRad="38100" dist="38100" dir="2700000" algn="tl">
                    <a:srgbClr val="C0C0C0"/>
                  </a:outerShdw>
                </a:effectLst>
                <a:latin typeface="Times New Roman" panose="02020603050405020304" pitchFamily="18" charset="0"/>
              </a:rPr>
              <a:t>Internet</a:t>
            </a:r>
            <a:r>
              <a:rPr lang="zh-CN" altLang="en-US" sz="2400" b="1">
                <a:effectLst>
                  <a:outerShdw blurRad="38100" dist="38100" dir="2700000" algn="tl">
                    <a:srgbClr val="C0C0C0"/>
                  </a:outerShdw>
                </a:effectLst>
                <a:latin typeface="Times New Roman" panose="02020603050405020304" pitchFamily="18" charset="0"/>
              </a:rPr>
              <a:t>：公开</a:t>
            </a:r>
            <a:endParaRPr lang="en-US" altLang="zh-CN" sz="2400" b="1">
              <a:effectLst>
                <a:outerShdw blurRad="38100" dist="38100" dir="2700000" algn="tl">
                  <a:srgbClr val="C0C0C0"/>
                </a:outerShdw>
              </a:effectLst>
              <a:latin typeface="Times New Roman" panose="02020603050405020304" pitchFamily="18" charset="0"/>
            </a:endParaRPr>
          </a:p>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隔离内外部网络</a:t>
            </a:r>
            <a:r>
              <a:rPr lang="en-US" altLang="zh-CN" b="1">
                <a:solidFill>
                  <a:srgbClr val="FF0000"/>
                </a:solidFill>
                <a:effectLst>
                  <a:outerShdw blurRad="38100" dist="38100" dir="2700000" algn="tl">
                    <a:srgbClr val="C0C0C0"/>
                  </a:outerShdw>
                </a:effectLst>
                <a:latin typeface="Times New Roman" panose="02020603050405020304" pitchFamily="18" charset="0"/>
              </a:rPr>
              <a:t>——</a:t>
            </a:r>
            <a:r>
              <a:rPr lang="zh-CN" altLang="en-US" b="1">
                <a:solidFill>
                  <a:srgbClr val="FF0000"/>
                </a:solidFill>
                <a:effectLst>
                  <a:outerShdw blurRad="38100" dist="38100" dir="2700000" algn="tl">
                    <a:srgbClr val="C0C0C0"/>
                  </a:outerShdw>
                </a:effectLst>
                <a:latin typeface="Times New Roman" panose="02020603050405020304" pitchFamily="18" charset="0"/>
              </a:rPr>
              <a:t>单向访问机制</a:t>
            </a:r>
          </a:p>
          <a:p>
            <a:pPr lvl="1">
              <a:defRPr/>
            </a:pPr>
            <a:r>
              <a:rPr lang="zh-CN" altLang="en-US" sz="2400" b="1">
                <a:effectLst>
                  <a:outerShdw blurRad="38100" dist="38100" dir="2700000" algn="tl">
                    <a:srgbClr val="C0C0C0"/>
                  </a:outerShdw>
                </a:effectLst>
                <a:latin typeface="Times New Roman" panose="02020603050405020304" pitchFamily="18" charset="0"/>
              </a:rPr>
              <a:t>不上读：阻止</a:t>
            </a:r>
            <a:r>
              <a:rPr lang="en-US" altLang="zh-CN" sz="2400" b="1">
                <a:effectLst>
                  <a:outerShdw blurRad="38100" dist="38100" dir="2700000" algn="tl">
                    <a:srgbClr val="C0C0C0"/>
                  </a:outerShdw>
                </a:effectLst>
                <a:latin typeface="Times New Roman" panose="02020603050405020304" pitchFamily="18" charset="0"/>
              </a:rPr>
              <a:t>Internet</a:t>
            </a:r>
            <a:r>
              <a:rPr lang="zh-CN" altLang="en-US" sz="2400" b="1">
                <a:effectLst>
                  <a:outerShdw blurRad="38100" dist="38100" dir="2700000" algn="tl">
                    <a:srgbClr val="C0C0C0"/>
                  </a:outerShdw>
                </a:effectLst>
                <a:latin typeface="Times New Roman" panose="02020603050405020304" pitchFamily="18" charset="0"/>
              </a:rPr>
              <a:t>访问内部网络，仅允许由内向外发起的数据流通过</a:t>
            </a:r>
          </a:p>
          <a:p>
            <a:pPr lvl="1">
              <a:defRPr/>
            </a:pPr>
            <a:r>
              <a:rPr lang="zh-CN" altLang="en-US" sz="2400" b="1">
                <a:effectLst>
                  <a:outerShdw blurRad="38100" dist="38100" dir="2700000" algn="tl">
                    <a:srgbClr val="C0C0C0"/>
                  </a:outerShdw>
                </a:effectLst>
                <a:latin typeface="Times New Roman" panose="02020603050405020304" pitchFamily="18" charset="0"/>
              </a:rPr>
              <a:t>不下写：不允许敏感数据从内部网络流向</a:t>
            </a:r>
            <a:r>
              <a:rPr lang="en-US" altLang="zh-CN" sz="2400" b="1">
                <a:effectLst>
                  <a:outerShdw blurRad="38100" dist="38100" dir="2700000" algn="tl">
                    <a:srgbClr val="C0C0C0"/>
                  </a:outerShdw>
                </a:effectLst>
                <a:latin typeface="Times New Roman" panose="02020603050405020304" pitchFamily="18" charset="0"/>
              </a:rPr>
              <a:t>Internet</a:t>
            </a:r>
            <a:endParaRPr lang="zh-CN" altLang="en-US" sz="2400" b="1">
              <a:effectLst>
                <a:outerShdw blurRad="38100" dist="38100" dir="2700000" algn="tl">
                  <a:srgbClr val="C0C0C0"/>
                </a:outerShdw>
              </a:effectLst>
              <a:latin typeface="Times New Roman" panose="02020603050405020304" pitchFamily="18" charset="0"/>
            </a:endParaRPr>
          </a:p>
        </p:txBody>
      </p:sp>
      <p:sp>
        <p:nvSpPr>
          <p:cNvPr id="1050626" name="Rectangle 2">
            <a:extLst>
              <a:ext uri="{FF2B5EF4-FFF2-40B4-BE49-F238E27FC236}">
                <a16:creationId xmlns:a16="http://schemas.microsoft.com/office/drawing/2014/main" id="{DFC369FA-1E65-184B-9E89-83E651E52641}"/>
              </a:ext>
            </a:extLst>
          </p:cNvPr>
          <p:cNvSpPr>
            <a:spLocks noGrp="1" noChangeArrowheads="1"/>
          </p:cNvSpPr>
          <p:nvPr>
            <p:ph type="title"/>
          </p:nvPr>
        </p:nvSpPr>
        <p:spPr>
          <a:xfrm>
            <a:off x="606425" y="765175"/>
            <a:ext cx="6513513"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BLP</a:t>
            </a:r>
            <a:r>
              <a:rPr lang="zh-CN" altLang="en-US">
                <a:solidFill>
                  <a:srgbClr val="0033CC"/>
                </a:solidFill>
                <a:effectLst>
                  <a:outerShdw blurRad="38100" dist="38100" dir="2700000" algn="tl">
                    <a:srgbClr val="C0C0C0"/>
                  </a:outerShdw>
                </a:effectLst>
                <a:latin typeface="Times New Roman" panose="02020603050405020304" pitchFamily="18" charset="0"/>
              </a:rPr>
              <a:t>应用：防火墙</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wipe(up)">
                                      <p:cBhvr>
                                        <p:cTn id="11" dur="500"/>
                                        <p:tgtEl>
                                          <p:spTgt spid="5">
                                            <p:txEl>
                                              <p:pRg st="0" end="0"/>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up)">
                                      <p:cBhvr>
                                        <p:cTn id="15" dur="500"/>
                                        <p:tgtEl>
                                          <p:spTgt spid="5">
                                            <p:txEl>
                                              <p:pRg st="1" end="1"/>
                                            </p:txEl>
                                          </p:spTgt>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wipe(up)">
                                      <p:cBhvr>
                                        <p:cTn id="19" dur="500"/>
                                        <p:tgtEl>
                                          <p:spTgt spid="5">
                                            <p:txEl>
                                              <p:pRg st="2" end="2"/>
                                            </p:txEl>
                                          </p:spTgt>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wipe(up)">
                                      <p:cBhvr>
                                        <p:cTn id="23" dur="500"/>
                                        <p:tgtEl>
                                          <p:spTgt spid="5">
                                            <p:txEl>
                                              <p:pRg st="3" end="3"/>
                                            </p:txEl>
                                          </p:spTgt>
                                        </p:tgtEl>
                                      </p:cBhvr>
                                    </p:animEffect>
                                  </p:childTnLst>
                                </p:cTn>
                              </p:par>
                            </p:childTnLst>
                          </p:cTn>
                        </p:par>
                        <p:par>
                          <p:cTn id="24" fill="hold" nodeType="afterGroup">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par>
                          <p:cTn id="28" fill="hold" nodeType="afterGroup">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wipe(up)">
                                      <p:cBhvr>
                                        <p:cTn id="31"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ACE97-C859-B544-39F2-2F391F0846C1}"/>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7B5DBC3D-A57A-5858-FE5E-6B3EBFE0980B}"/>
              </a:ext>
            </a:extLst>
          </p:cNvPr>
          <p:cNvPicPr>
            <a:picLocks noGrp="1" noChangeAspect="1"/>
          </p:cNvPicPr>
          <p:nvPr>
            <p:ph idx="1"/>
          </p:nvPr>
        </p:nvPicPr>
        <p:blipFill>
          <a:blip r:embed="rId2"/>
          <a:stretch>
            <a:fillRect/>
          </a:stretch>
        </p:blipFill>
        <p:spPr bwMode="auto">
          <a:xfrm>
            <a:off x="22251" y="620688"/>
            <a:ext cx="9099497" cy="591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9087FDBC-69FC-3435-093C-EEE55FFCA2A8}"/>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710595139"/>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A7691B7E-9EE8-3041-A16D-926C7B56E3D0}"/>
              </a:ext>
            </a:extLst>
          </p:cNvPr>
          <p:cNvSpPr>
            <a:spLocks noGrp="1" noChangeArrowheads="1"/>
          </p:cNvSpPr>
          <p:nvPr>
            <p:ph idx="1"/>
          </p:nvPr>
        </p:nvSpPr>
        <p:spPr>
          <a:xfrm>
            <a:off x="520700" y="1530350"/>
            <a:ext cx="8191500" cy="1320800"/>
          </a:xfrm>
        </p:spPr>
        <p:txBody>
          <a:bodyPr/>
          <a:lstStyle/>
          <a:p>
            <a:pPr>
              <a:defRPr/>
            </a:pPr>
            <a:r>
              <a:rPr lang="zh-CN" altLang="en-US" b="1" dirty="0">
                <a:effectLst>
                  <a:outerShdw blurRad="38100" dist="38100" dir="2700000" algn="tl">
                    <a:srgbClr val="C0C0C0"/>
                  </a:outerShdw>
                </a:effectLst>
              </a:rPr>
              <a:t>上读</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下写（不下读</a:t>
            </a:r>
            <a:r>
              <a:rPr lang="en-US" altLang="zh-CN" b="1" dirty="0">
                <a:effectLst>
                  <a:outerShdw blurRad="38100" dist="38100" dir="2700000" algn="tl">
                    <a:srgbClr val="C0C0C0"/>
                  </a:outerShdw>
                </a:effectLst>
              </a:rPr>
              <a:t>/</a:t>
            </a:r>
            <a:r>
              <a:rPr lang="zh-CN" altLang="en-US" b="1" dirty="0">
                <a:effectLst>
                  <a:outerShdw blurRad="38100" dist="38100" dir="2700000" algn="tl">
                    <a:srgbClr val="C0C0C0"/>
                  </a:outerShdw>
                </a:effectLst>
              </a:rPr>
              <a:t>下写）</a:t>
            </a:r>
            <a:endParaRPr lang="en-US" altLang="zh-CN" b="1" dirty="0">
              <a:effectLst>
                <a:outerShdw blurRad="38100" dist="38100" dir="2700000" algn="tl">
                  <a:srgbClr val="C0C0C0"/>
                </a:outerShdw>
              </a:effectLst>
            </a:endParaRPr>
          </a:p>
          <a:p>
            <a:pPr>
              <a:defRPr/>
            </a:pPr>
            <a:r>
              <a:rPr lang="zh-CN" altLang="en-US" b="1" dirty="0">
                <a:solidFill>
                  <a:srgbClr val="FF0000"/>
                </a:solidFill>
                <a:effectLst>
                  <a:outerShdw blurRad="38100" dist="38100" dir="2700000" algn="tl">
                    <a:srgbClr val="C0C0C0"/>
                  </a:outerShdw>
                </a:effectLst>
              </a:rPr>
              <a:t>保证完整性</a:t>
            </a:r>
          </a:p>
        </p:txBody>
      </p:sp>
      <p:sp>
        <p:nvSpPr>
          <p:cNvPr id="91138" name="Rectangle 2">
            <a:extLst>
              <a:ext uri="{FF2B5EF4-FFF2-40B4-BE49-F238E27FC236}">
                <a16:creationId xmlns:a16="http://schemas.microsoft.com/office/drawing/2014/main" id="{F0C59679-5DF7-B349-AE10-1E3B25BF3841}"/>
              </a:ext>
            </a:extLst>
          </p:cNvPr>
          <p:cNvSpPr>
            <a:spLocks noGrp="1" noChangeArrowheads="1"/>
          </p:cNvSpPr>
          <p:nvPr>
            <p:ph type="title"/>
          </p:nvPr>
        </p:nvSpPr>
        <p:spPr>
          <a:xfrm>
            <a:off x="547688" y="806450"/>
            <a:ext cx="6513512" cy="487363"/>
          </a:xfrm>
        </p:spPr>
        <p:txBody>
          <a:bodyPr/>
          <a:lstStyle/>
          <a:p>
            <a:pPr>
              <a:buClr>
                <a:srgbClr val="3399FF"/>
              </a:buClr>
              <a:defRPr/>
            </a:pP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Biba</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a:t>
            </a:r>
          </a:p>
        </p:txBody>
      </p:sp>
      <p:grpSp>
        <p:nvGrpSpPr>
          <p:cNvPr id="32" name="组合 31">
            <a:extLst>
              <a:ext uri="{FF2B5EF4-FFF2-40B4-BE49-F238E27FC236}">
                <a16:creationId xmlns:a16="http://schemas.microsoft.com/office/drawing/2014/main" id="{D50EA411-B70F-E94C-B2C0-F0E27423E3F3}"/>
              </a:ext>
            </a:extLst>
          </p:cNvPr>
          <p:cNvGrpSpPr>
            <a:grpSpLocks/>
          </p:cNvGrpSpPr>
          <p:nvPr/>
        </p:nvGrpSpPr>
        <p:grpSpPr bwMode="auto">
          <a:xfrm>
            <a:off x="322263" y="3068638"/>
            <a:ext cx="4251325" cy="2808287"/>
            <a:chOff x="320775" y="3213100"/>
            <a:chExt cx="4251225" cy="2808288"/>
          </a:xfrm>
        </p:grpSpPr>
        <p:sp>
          <p:nvSpPr>
            <p:cNvPr id="33" name="Rectangle 4">
              <a:extLst>
                <a:ext uri="{FF2B5EF4-FFF2-40B4-BE49-F238E27FC236}">
                  <a16:creationId xmlns:a16="http://schemas.microsoft.com/office/drawing/2014/main" id="{9BE75C00-AF08-424D-A7C1-D7ED4D2D01A2}"/>
                </a:ext>
              </a:extLst>
            </p:cNvPr>
            <p:cNvSpPr>
              <a:spLocks noChangeArrowheads="1"/>
            </p:cNvSpPr>
            <p:nvPr/>
          </p:nvSpPr>
          <p:spPr bwMode="auto">
            <a:xfrm>
              <a:off x="320775" y="3933825"/>
              <a:ext cx="1477927"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34" name="Rectangle 5">
              <a:extLst>
                <a:ext uri="{FF2B5EF4-FFF2-40B4-BE49-F238E27FC236}">
                  <a16:creationId xmlns:a16="http://schemas.microsoft.com/office/drawing/2014/main" id="{D49CCCF2-8AD2-D248-B01C-3DB304A560B9}"/>
                </a:ext>
              </a:extLst>
            </p:cNvPr>
            <p:cNvSpPr>
              <a:spLocks noChangeArrowheads="1"/>
            </p:cNvSpPr>
            <p:nvPr/>
          </p:nvSpPr>
          <p:spPr bwMode="auto">
            <a:xfrm>
              <a:off x="322362" y="4724401"/>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35" name="Rectangle 6">
              <a:extLst>
                <a:ext uri="{FF2B5EF4-FFF2-40B4-BE49-F238E27FC236}">
                  <a16:creationId xmlns:a16="http://schemas.microsoft.com/office/drawing/2014/main" id="{9D8B652D-8B0D-5246-9961-A26C3913742A}"/>
                </a:ext>
              </a:extLst>
            </p:cNvPr>
            <p:cNvSpPr>
              <a:spLocks noChangeArrowheads="1"/>
            </p:cNvSpPr>
            <p:nvPr/>
          </p:nvSpPr>
          <p:spPr bwMode="auto">
            <a:xfrm>
              <a:off x="322362" y="5516563"/>
              <a:ext cx="1477928"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36" name="Text Box 7">
              <a:extLst>
                <a:ext uri="{FF2B5EF4-FFF2-40B4-BE49-F238E27FC236}">
                  <a16:creationId xmlns:a16="http://schemas.microsoft.com/office/drawing/2014/main" id="{5B8B77DA-155C-0746-8A03-5DF5227D23D4}"/>
                </a:ext>
              </a:extLst>
            </p:cNvPr>
            <p:cNvSpPr txBox="1">
              <a:spLocks noChangeArrowheads="1"/>
            </p:cNvSpPr>
            <p:nvPr/>
          </p:nvSpPr>
          <p:spPr bwMode="auto">
            <a:xfrm>
              <a:off x="611280"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主体</a:t>
              </a:r>
            </a:p>
          </p:txBody>
        </p:sp>
        <p:sp>
          <p:nvSpPr>
            <p:cNvPr id="37" name="Rectangle 8">
              <a:extLst>
                <a:ext uri="{FF2B5EF4-FFF2-40B4-BE49-F238E27FC236}">
                  <a16:creationId xmlns:a16="http://schemas.microsoft.com/office/drawing/2014/main" id="{AD498451-B02C-8A4D-94A7-73F07C2649A7}"/>
                </a:ext>
              </a:extLst>
            </p:cNvPr>
            <p:cNvSpPr>
              <a:spLocks noChangeArrowheads="1"/>
            </p:cNvSpPr>
            <p:nvPr/>
          </p:nvSpPr>
          <p:spPr bwMode="auto">
            <a:xfrm>
              <a:off x="2913101" y="3933825"/>
              <a:ext cx="1477928"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38" name="Rectangle 9">
              <a:extLst>
                <a:ext uri="{FF2B5EF4-FFF2-40B4-BE49-F238E27FC236}">
                  <a16:creationId xmlns:a16="http://schemas.microsoft.com/office/drawing/2014/main" id="{F5E8886B-4F5B-D544-BD2D-10B002ACA682}"/>
                </a:ext>
              </a:extLst>
            </p:cNvPr>
            <p:cNvSpPr>
              <a:spLocks noChangeArrowheads="1"/>
            </p:cNvSpPr>
            <p:nvPr/>
          </p:nvSpPr>
          <p:spPr bwMode="auto">
            <a:xfrm>
              <a:off x="2914689" y="4724401"/>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39" name="Rectangle 10">
              <a:extLst>
                <a:ext uri="{FF2B5EF4-FFF2-40B4-BE49-F238E27FC236}">
                  <a16:creationId xmlns:a16="http://schemas.microsoft.com/office/drawing/2014/main" id="{257BAFBD-4A66-FF41-BDDD-22D6C08EE848}"/>
                </a:ext>
              </a:extLst>
            </p:cNvPr>
            <p:cNvSpPr>
              <a:spLocks noChangeArrowheads="1"/>
            </p:cNvSpPr>
            <p:nvPr/>
          </p:nvSpPr>
          <p:spPr bwMode="auto">
            <a:xfrm>
              <a:off x="2914689" y="5516563"/>
              <a:ext cx="1477927"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40" name="Text Box 11">
              <a:extLst>
                <a:ext uri="{FF2B5EF4-FFF2-40B4-BE49-F238E27FC236}">
                  <a16:creationId xmlns:a16="http://schemas.microsoft.com/office/drawing/2014/main" id="{C9925DBA-97FB-7B4F-9E82-129D6ABF4431}"/>
                </a:ext>
              </a:extLst>
            </p:cNvPr>
            <p:cNvSpPr txBox="1">
              <a:spLocks noChangeArrowheads="1"/>
            </p:cNvSpPr>
            <p:nvPr/>
          </p:nvSpPr>
          <p:spPr bwMode="auto">
            <a:xfrm>
              <a:off x="3203607" y="3213100"/>
              <a:ext cx="1368393"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客体</a:t>
              </a:r>
            </a:p>
          </p:txBody>
        </p:sp>
        <p:sp>
          <p:nvSpPr>
            <p:cNvPr id="41" name="Line 12">
              <a:extLst>
                <a:ext uri="{FF2B5EF4-FFF2-40B4-BE49-F238E27FC236}">
                  <a16:creationId xmlns:a16="http://schemas.microsoft.com/office/drawing/2014/main" id="{F96A93B2-DF68-9648-9ED9-D24E9955193F}"/>
                </a:ext>
              </a:extLst>
            </p:cNvPr>
            <p:cNvSpPr>
              <a:spLocks noChangeShapeType="1"/>
            </p:cNvSpPr>
            <p:nvPr/>
          </p:nvSpPr>
          <p:spPr bwMode="auto">
            <a:xfrm flipV="1">
              <a:off x="1811402" y="4176712"/>
              <a:ext cx="966765" cy="74295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2" name="Line 13">
              <a:extLst>
                <a:ext uri="{FF2B5EF4-FFF2-40B4-BE49-F238E27FC236}">
                  <a16:creationId xmlns:a16="http://schemas.microsoft.com/office/drawing/2014/main" id="{32B056B6-4364-5345-9547-429751F7C369}"/>
                </a:ext>
              </a:extLst>
            </p:cNvPr>
            <p:cNvSpPr>
              <a:spLocks noChangeShapeType="1"/>
            </p:cNvSpPr>
            <p:nvPr/>
          </p:nvSpPr>
          <p:spPr bwMode="auto">
            <a:xfrm flipV="1">
              <a:off x="1811402" y="4951413"/>
              <a:ext cx="966765" cy="9525"/>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3" name="Line 14">
              <a:extLst>
                <a:ext uri="{FF2B5EF4-FFF2-40B4-BE49-F238E27FC236}">
                  <a16:creationId xmlns:a16="http://schemas.microsoft.com/office/drawing/2014/main" id="{88F5DA1A-B0AD-A845-8D1B-869F396CAE07}"/>
                </a:ext>
              </a:extLst>
            </p:cNvPr>
            <p:cNvSpPr>
              <a:spLocks noChangeShapeType="1"/>
            </p:cNvSpPr>
            <p:nvPr/>
          </p:nvSpPr>
          <p:spPr bwMode="auto">
            <a:xfrm>
              <a:off x="1811402" y="4976813"/>
              <a:ext cx="966765"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44" name="Text Box 15">
              <a:extLst>
                <a:ext uri="{FF2B5EF4-FFF2-40B4-BE49-F238E27FC236}">
                  <a16:creationId xmlns:a16="http://schemas.microsoft.com/office/drawing/2014/main" id="{16E079C4-DC43-AE40-8881-6FD27C8219B1}"/>
                </a:ext>
              </a:extLst>
            </p:cNvPr>
            <p:cNvSpPr txBox="1">
              <a:spLocks noChangeArrowheads="1"/>
            </p:cNvSpPr>
            <p:nvPr/>
          </p:nvSpPr>
          <p:spPr bwMode="auto">
            <a:xfrm>
              <a:off x="1811402" y="4176712"/>
              <a:ext cx="881042" cy="338138"/>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Times New Roman" panose="02020603050405020304" pitchFamily="18" charset="0"/>
                </a:rPr>
                <a:t>允许读</a:t>
              </a:r>
            </a:p>
          </p:txBody>
        </p:sp>
        <p:sp>
          <p:nvSpPr>
            <p:cNvPr id="45" name="Text Box 16">
              <a:extLst>
                <a:ext uri="{FF2B5EF4-FFF2-40B4-BE49-F238E27FC236}">
                  <a16:creationId xmlns:a16="http://schemas.microsoft.com/office/drawing/2014/main" id="{DB6B3E1D-F270-234D-BA3D-9FF3EF070462}"/>
                </a:ext>
              </a:extLst>
            </p:cNvPr>
            <p:cNvSpPr txBox="1">
              <a:spLocks noChangeArrowheads="1"/>
            </p:cNvSpPr>
            <p:nvPr/>
          </p:nvSpPr>
          <p:spPr bwMode="auto">
            <a:xfrm>
              <a:off x="2124133" y="4581525"/>
              <a:ext cx="881041" cy="338137"/>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Times New Roman" panose="02020603050405020304" pitchFamily="18" charset="0"/>
                </a:rPr>
                <a:t>允许读</a:t>
              </a:r>
            </a:p>
          </p:txBody>
        </p:sp>
        <p:sp>
          <p:nvSpPr>
            <p:cNvPr id="46" name="Text Box 17">
              <a:extLst>
                <a:ext uri="{FF2B5EF4-FFF2-40B4-BE49-F238E27FC236}">
                  <a16:creationId xmlns:a16="http://schemas.microsoft.com/office/drawing/2014/main" id="{AEA75ECD-78B4-0446-BD9F-30D162B4EB4A}"/>
                </a:ext>
              </a:extLst>
            </p:cNvPr>
            <p:cNvSpPr txBox="1">
              <a:spLocks noChangeArrowheads="1"/>
            </p:cNvSpPr>
            <p:nvPr/>
          </p:nvSpPr>
          <p:spPr bwMode="auto">
            <a:xfrm>
              <a:off x="1895538" y="5495926"/>
              <a:ext cx="882629" cy="338137"/>
            </a:xfrm>
            <a:prstGeom prst="rect">
              <a:avLst/>
            </a:prstGeom>
            <a:noFill/>
            <a:ln w="9525">
              <a:noFill/>
              <a:miter lim="800000"/>
            </a:ln>
          </p:spPr>
          <p:txBody>
            <a:bodyPr>
              <a:spAutoFit/>
            </a:bodyPr>
            <a:lstStyle/>
            <a:p>
              <a:pPr algn="ctr" eaLnBrk="1" hangingPunct="1">
                <a:spcBef>
                  <a:spcPct val="50000"/>
                </a:spcBef>
                <a:defRPr/>
              </a:pPr>
              <a:r>
                <a:rPr lang="zh-CN" altLang="en-US" sz="1600" b="1">
                  <a:effectLst>
                    <a:outerShdw blurRad="38100" dist="38100" dir="2700000" algn="tl">
                      <a:srgbClr val="C0C0C0"/>
                    </a:outerShdw>
                  </a:effectLst>
                  <a:latin typeface="Times New Roman" panose="02020603050405020304" pitchFamily="18" charset="0"/>
                </a:rPr>
                <a:t>禁止读</a:t>
              </a:r>
            </a:p>
          </p:txBody>
        </p:sp>
      </p:grpSp>
      <p:grpSp>
        <p:nvGrpSpPr>
          <p:cNvPr id="47" name="组合 46">
            <a:extLst>
              <a:ext uri="{FF2B5EF4-FFF2-40B4-BE49-F238E27FC236}">
                <a16:creationId xmlns:a16="http://schemas.microsoft.com/office/drawing/2014/main" id="{BFB485FC-011C-2A44-B5AC-9C64D778174E}"/>
              </a:ext>
            </a:extLst>
          </p:cNvPr>
          <p:cNvGrpSpPr>
            <a:grpSpLocks/>
          </p:cNvGrpSpPr>
          <p:nvPr/>
        </p:nvGrpSpPr>
        <p:grpSpPr bwMode="auto">
          <a:xfrm>
            <a:off x="4679950" y="3068638"/>
            <a:ext cx="4249738" cy="2808287"/>
            <a:chOff x="4678363" y="3213100"/>
            <a:chExt cx="4249737" cy="2808288"/>
          </a:xfrm>
        </p:grpSpPr>
        <p:sp>
          <p:nvSpPr>
            <p:cNvPr id="48" name="Rectangle 18">
              <a:extLst>
                <a:ext uri="{FF2B5EF4-FFF2-40B4-BE49-F238E27FC236}">
                  <a16:creationId xmlns:a16="http://schemas.microsoft.com/office/drawing/2014/main" id="{26D1D900-E541-4F4F-BF18-6C9873764943}"/>
                </a:ext>
              </a:extLst>
            </p:cNvPr>
            <p:cNvSpPr>
              <a:spLocks noChangeArrowheads="1"/>
            </p:cNvSpPr>
            <p:nvPr/>
          </p:nvSpPr>
          <p:spPr bwMode="auto">
            <a:xfrm>
              <a:off x="4678363" y="3933825"/>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49" name="Rectangle 19">
              <a:extLst>
                <a:ext uri="{FF2B5EF4-FFF2-40B4-BE49-F238E27FC236}">
                  <a16:creationId xmlns:a16="http://schemas.microsoft.com/office/drawing/2014/main" id="{CF76ECA0-2BAE-BD49-BD0B-27ECFB7525F8}"/>
                </a:ext>
              </a:extLst>
            </p:cNvPr>
            <p:cNvSpPr>
              <a:spLocks noChangeArrowheads="1"/>
            </p:cNvSpPr>
            <p:nvPr/>
          </p:nvSpPr>
          <p:spPr bwMode="auto">
            <a:xfrm>
              <a:off x="4678363" y="4724401"/>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50" name="Rectangle 20">
              <a:extLst>
                <a:ext uri="{FF2B5EF4-FFF2-40B4-BE49-F238E27FC236}">
                  <a16:creationId xmlns:a16="http://schemas.microsoft.com/office/drawing/2014/main" id="{3BA9CA3D-4E93-5C40-AC92-01AE5F7F14C2}"/>
                </a:ext>
              </a:extLst>
            </p:cNvPr>
            <p:cNvSpPr>
              <a:spLocks noChangeArrowheads="1"/>
            </p:cNvSpPr>
            <p:nvPr/>
          </p:nvSpPr>
          <p:spPr bwMode="auto">
            <a:xfrm>
              <a:off x="4678363" y="5516563"/>
              <a:ext cx="1477963" cy="504825"/>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51" name="Text Box 21">
              <a:extLst>
                <a:ext uri="{FF2B5EF4-FFF2-40B4-BE49-F238E27FC236}">
                  <a16:creationId xmlns:a16="http://schemas.microsoft.com/office/drawing/2014/main" id="{3D051447-9483-044C-932D-BB9BFC763F94}"/>
                </a:ext>
              </a:extLst>
            </p:cNvPr>
            <p:cNvSpPr txBox="1">
              <a:spLocks noChangeArrowheads="1"/>
            </p:cNvSpPr>
            <p:nvPr/>
          </p:nvSpPr>
          <p:spPr bwMode="auto">
            <a:xfrm>
              <a:off x="4967288"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主体</a:t>
              </a:r>
            </a:p>
          </p:txBody>
        </p:sp>
        <p:sp>
          <p:nvSpPr>
            <p:cNvPr id="52" name="Rectangle 22">
              <a:extLst>
                <a:ext uri="{FF2B5EF4-FFF2-40B4-BE49-F238E27FC236}">
                  <a16:creationId xmlns:a16="http://schemas.microsoft.com/office/drawing/2014/main" id="{5A48FDEC-6A17-0B4D-B2DB-967E703122E4}"/>
                </a:ext>
              </a:extLst>
            </p:cNvPr>
            <p:cNvSpPr>
              <a:spLocks noChangeArrowheads="1"/>
            </p:cNvSpPr>
            <p:nvPr/>
          </p:nvSpPr>
          <p:spPr bwMode="auto">
            <a:xfrm>
              <a:off x="7270750" y="3933825"/>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绝密</a:t>
              </a:r>
            </a:p>
          </p:txBody>
        </p:sp>
        <p:sp>
          <p:nvSpPr>
            <p:cNvPr id="53" name="Rectangle 23">
              <a:extLst>
                <a:ext uri="{FF2B5EF4-FFF2-40B4-BE49-F238E27FC236}">
                  <a16:creationId xmlns:a16="http://schemas.microsoft.com/office/drawing/2014/main" id="{B70BDAEF-C576-324F-9CB6-FB4A855C9534}"/>
                </a:ext>
              </a:extLst>
            </p:cNvPr>
            <p:cNvSpPr>
              <a:spLocks noChangeArrowheads="1"/>
            </p:cNvSpPr>
            <p:nvPr/>
          </p:nvSpPr>
          <p:spPr bwMode="auto">
            <a:xfrm>
              <a:off x="7270750" y="4724401"/>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机密</a:t>
              </a:r>
            </a:p>
          </p:txBody>
        </p:sp>
        <p:sp>
          <p:nvSpPr>
            <p:cNvPr id="54" name="Rectangle 24">
              <a:extLst>
                <a:ext uri="{FF2B5EF4-FFF2-40B4-BE49-F238E27FC236}">
                  <a16:creationId xmlns:a16="http://schemas.microsoft.com/office/drawing/2014/main" id="{873F7D2E-1486-6B4F-997F-54420035216D}"/>
                </a:ext>
              </a:extLst>
            </p:cNvPr>
            <p:cNvSpPr>
              <a:spLocks noChangeArrowheads="1"/>
            </p:cNvSpPr>
            <p:nvPr/>
          </p:nvSpPr>
          <p:spPr bwMode="auto">
            <a:xfrm>
              <a:off x="7270750" y="5516563"/>
              <a:ext cx="1477962" cy="504825"/>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400" b="1">
                  <a:solidFill>
                    <a:srgbClr val="000000"/>
                  </a:solidFill>
                  <a:effectLst>
                    <a:outerShdw blurRad="38100" dist="38100" dir="2700000" algn="tl">
                      <a:srgbClr val="C0C0C0"/>
                    </a:outerShdw>
                  </a:effectLst>
                  <a:latin typeface="Times New Roman" panose="02020603050405020304" pitchFamily="18" charset="0"/>
                </a:rPr>
                <a:t>未分类</a:t>
              </a:r>
            </a:p>
          </p:txBody>
        </p:sp>
        <p:sp>
          <p:nvSpPr>
            <p:cNvPr id="55" name="Text Box 25">
              <a:extLst>
                <a:ext uri="{FF2B5EF4-FFF2-40B4-BE49-F238E27FC236}">
                  <a16:creationId xmlns:a16="http://schemas.microsoft.com/office/drawing/2014/main" id="{C23ECAD7-E993-364C-B329-FB6853BDB636}"/>
                </a:ext>
              </a:extLst>
            </p:cNvPr>
            <p:cNvSpPr txBox="1">
              <a:spLocks noChangeArrowheads="1"/>
            </p:cNvSpPr>
            <p:nvPr/>
          </p:nvSpPr>
          <p:spPr bwMode="auto">
            <a:xfrm>
              <a:off x="7559675" y="3213100"/>
              <a:ext cx="1368425" cy="457200"/>
            </a:xfrm>
            <a:prstGeom prst="rect">
              <a:avLst/>
            </a:prstGeom>
            <a:noFill/>
            <a:ln w="9525">
              <a:noFill/>
              <a:miter lim="800000"/>
            </a:ln>
          </p:spPr>
          <p:txBody>
            <a:bodyPr>
              <a:spAutoFit/>
            </a:bodyPr>
            <a:lstStyle/>
            <a:p>
              <a:pPr eaLnBrk="1" hangingPunct="1">
                <a:spcBef>
                  <a:spcPct val="50000"/>
                </a:spcBef>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客体</a:t>
              </a:r>
            </a:p>
          </p:txBody>
        </p:sp>
        <p:sp>
          <p:nvSpPr>
            <p:cNvPr id="56" name="Line 26">
              <a:extLst>
                <a:ext uri="{FF2B5EF4-FFF2-40B4-BE49-F238E27FC236}">
                  <a16:creationId xmlns:a16="http://schemas.microsoft.com/office/drawing/2014/main" id="{2A1E1401-F137-D74E-A7CC-338D789AA9E4}"/>
                </a:ext>
              </a:extLst>
            </p:cNvPr>
            <p:cNvSpPr>
              <a:spLocks noChangeShapeType="1"/>
            </p:cNvSpPr>
            <p:nvPr/>
          </p:nvSpPr>
          <p:spPr bwMode="auto">
            <a:xfrm flipV="1">
              <a:off x="6156326" y="4221162"/>
              <a:ext cx="906462" cy="69850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7" name="Line 27">
              <a:extLst>
                <a:ext uri="{FF2B5EF4-FFF2-40B4-BE49-F238E27FC236}">
                  <a16:creationId xmlns:a16="http://schemas.microsoft.com/office/drawing/2014/main" id="{C02F9A81-49B6-1B4C-A1D5-5C718E45FF00}"/>
                </a:ext>
              </a:extLst>
            </p:cNvPr>
            <p:cNvSpPr>
              <a:spLocks noChangeShapeType="1"/>
            </p:cNvSpPr>
            <p:nvPr/>
          </p:nvSpPr>
          <p:spPr bwMode="auto">
            <a:xfrm>
              <a:off x="6156326" y="4941888"/>
              <a:ext cx="977900" cy="0"/>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8" name="Line 28">
              <a:extLst>
                <a:ext uri="{FF2B5EF4-FFF2-40B4-BE49-F238E27FC236}">
                  <a16:creationId xmlns:a16="http://schemas.microsoft.com/office/drawing/2014/main" id="{401EE2EB-5771-9542-87BF-3D9E0D6BEA74}"/>
                </a:ext>
              </a:extLst>
            </p:cNvPr>
            <p:cNvSpPr>
              <a:spLocks noChangeShapeType="1"/>
            </p:cNvSpPr>
            <p:nvPr/>
          </p:nvSpPr>
          <p:spPr bwMode="auto">
            <a:xfrm>
              <a:off x="6156326" y="4976813"/>
              <a:ext cx="977900" cy="757238"/>
            </a:xfrm>
            <a:prstGeom prst="line">
              <a:avLst/>
            </a:prstGeom>
            <a:noFill/>
            <a:ln w="9525">
              <a:solidFill>
                <a:schemeClr val="tx1"/>
              </a:solidFill>
              <a:round/>
              <a:tailEnd type="triangle" w="med" len="med"/>
            </a:ln>
          </p:spPr>
          <p:txBody>
            <a:bodyPr/>
            <a:lstStyle/>
            <a:p>
              <a:pPr>
                <a:defRPr/>
              </a:pPr>
              <a:endParaRPr lang="zh-CN" altLang="en-US" b="1">
                <a:effectLst>
                  <a:outerShdw blurRad="38100" dist="38100" dir="2700000" algn="tl">
                    <a:srgbClr val="000000">
                      <a:alpha val="43137"/>
                    </a:srgbClr>
                  </a:outerShdw>
                </a:effectLst>
              </a:endParaRPr>
            </a:p>
          </p:txBody>
        </p:sp>
        <p:sp>
          <p:nvSpPr>
            <p:cNvPr id="59" name="Text Box 29">
              <a:extLst>
                <a:ext uri="{FF2B5EF4-FFF2-40B4-BE49-F238E27FC236}">
                  <a16:creationId xmlns:a16="http://schemas.microsoft.com/office/drawing/2014/main" id="{BA79B2A5-BD12-5D41-9EA9-4292FA4C1FDF}"/>
                </a:ext>
              </a:extLst>
            </p:cNvPr>
            <p:cNvSpPr txBox="1">
              <a:spLocks noChangeArrowheads="1"/>
            </p:cNvSpPr>
            <p:nvPr/>
          </p:nvSpPr>
          <p:spPr bwMode="auto">
            <a:xfrm>
              <a:off x="6357938" y="4076700"/>
              <a:ext cx="746125" cy="307975"/>
            </a:xfrm>
            <a:prstGeom prst="rect">
              <a:avLst/>
            </a:prstGeom>
            <a:noFill/>
            <a:ln w="9525">
              <a:noFill/>
              <a:miter lim="800000"/>
            </a:ln>
          </p:spPr>
          <p:txBody>
            <a:bodyPr>
              <a:spAutoFit/>
            </a:bodyPr>
            <a:lstStyle/>
            <a:p>
              <a:pPr algn="ctr" eaLnBrk="1" hangingPunct="1">
                <a:spcBef>
                  <a:spcPct val="50000"/>
                </a:spcBef>
                <a:defRPr/>
              </a:pPr>
              <a:r>
                <a:rPr kumimoji="1" lang="zh-CN" altLang="en-US" sz="1400" b="1">
                  <a:effectLst>
                    <a:outerShdw blurRad="38100" dist="38100" dir="2700000" algn="tl">
                      <a:srgbClr val="000000">
                        <a:alpha val="43137"/>
                      </a:srgbClr>
                    </a:outerShdw>
                  </a:effectLst>
                  <a:latin typeface="Times New Roman" panose="02020603050405020304" pitchFamily="18" charset="0"/>
                </a:rPr>
                <a:t>禁止写</a:t>
              </a:r>
            </a:p>
          </p:txBody>
        </p:sp>
        <p:sp>
          <p:nvSpPr>
            <p:cNvPr id="60" name="Text Box 30">
              <a:extLst>
                <a:ext uri="{FF2B5EF4-FFF2-40B4-BE49-F238E27FC236}">
                  <a16:creationId xmlns:a16="http://schemas.microsoft.com/office/drawing/2014/main" id="{F6958D10-A879-BF4C-AF01-3CFE92F79B58}"/>
                </a:ext>
              </a:extLst>
            </p:cNvPr>
            <p:cNvSpPr txBox="1">
              <a:spLocks noChangeArrowheads="1"/>
            </p:cNvSpPr>
            <p:nvPr/>
          </p:nvSpPr>
          <p:spPr bwMode="auto">
            <a:xfrm>
              <a:off x="6502401" y="4652963"/>
              <a:ext cx="746125" cy="307975"/>
            </a:xfrm>
            <a:prstGeom prst="rect">
              <a:avLst/>
            </a:prstGeom>
            <a:noFill/>
            <a:ln w="9525">
              <a:noFill/>
              <a:miter lim="800000"/>
            </a:ln>
          </p:spPr>
          <p:txBody>
            <a:bodyPr>
              <a:spAutoFit/>
            </a:bodyPr>
            <a:lstStyle/>
            <a:p>
              <a:pPr algn="ctr" eaLnBrk="1" hangingPunct="1">
                <a:spcBef>
                  <a:spcPct val="50000"/>
                </a:spcBef>
                <a:defRPr/>
              </a:pPr>
              <a:r>
                <a:rPr kumimoji="1" lang="zh-CN" altLang="en-US" sz="1400" b="1">
                  <a:effectLst>
                    <a:outerShdw blurRad="38100" dist="38100" dir="2700000" algn="tl">
                      <a:srgbClr val="000000">
                        <a:alpha val="43137"/>
                      </a:srgbClr>
                    </a:outerShdw>
                  </a:effectLst>
                  <a:latin typeface="Times New Roman" panose="02020603050405020304" pitchFamily="18" charset="0"/>
                </a:rPr>
                <a:t>禁止写</a:t>
              </a:r>
            </a:p>
          </p:txBody>
        </p:sp>
        <p:sp>
          <p:nvSpPr>
            <p:cNvPr id="61" name="Text Box 31">
              <a:extLst>
                <a:ext uri="{FF2B5EF4-FFF2-40B4-BE49-F238E27FC236}">
                  <a16:creationId xmlns:a16="http://schemas.microsoft.com/office/drawing/2014/main" id="{D4A52586-3E78-614D-A773-517E84ACCF59}"/>
                </a:ext>
              </a:extLst>
            </p:cNvPr>
            <p:cNvSpPr txBox="1">
              <a:spLocks noChangeArrowheads="1"/>
            </p:cNvSpPr>
            <p:nvPr/>
          </p:nvSpPr>
          <p:spPr bwMode="auto">
            <a:xfrm>
              <a:off x="6430963" y="5516563"/>
              <a:ext cx="746125" cy="307975"/>
            </a:xfrm>
            <a:prstGeom prst="rect">
              <a:avLst/>
            </a:prstGeom>
            <a:noFill/>
            <a:ln w="9525">
              <a:noFill/>
              <a:miter lim="800000"/>
            </a:ln>
          </p:spPr>
          <p:txBody>
            <a:bodyPr>
              <a:spAutoFit/>
            </a:bodyPr>
            <a:lstStyle/>
            <a:p>
              <a:pPr algn="ctr" eaLnBrk="1" hangingPunct="1">
                <a:spcBef>
                  <a:spcPct val="50000"/>
                </a:spcBef>
                <a:defRPr/>
              </a:pPr>
              <a:r>
                <a:rPr lang="zh-CN" altLang="en-US" sz="1400" b="1">
                  <a:effectLst>
                    <a:outerShdw blurRad="38100" dist="38100" dir="2700000" algn="tl">
                      <a:srgbClr val="C0C0C0"/>
                    </a:outerShdw>
                  </a:effectLst>
                  <a:latin typeface="Times New Roman" panose="02020603050405020304" pitchFamily="18" charset="0"/>
                </a:rPr>
                <a:t>允许写</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30">
            <a:extLst>
              <a:ext uri="{FF2B5EF4-FFF2-40B4-BE49-F238E27FC236}">
                <a16:creationId xmlns:a16="http://schemas.microsoft.com/office/drawing/2014/main" id="{3F82B871-C847-3D45-A3B9-D391329F6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063" y="950913"/>
            <a:ext cx="5899150"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9">
            <a:extLst>
              <a:ext uri="{FF2B5EF4-FFF2-40B4-BE49-F238E27FC236}">
                <a16:creationId xmlns:a16="http://schemas.microsoft.com/office/drawing/2014/main" id="{C28185DD-E5AE-7346-9F0A-B0E9CAF20873}"/>
              </a:ext>
            </a:extLst>
          </p:cNvPr>
          <p:cNvSpPr>
            <a:spLocks noGrp="1"/>
          </p:cNvSpPr>
          <p:nvPr>
            <p:ph idx="1"/>
          </p:nvPr>
        </p:nvSpPr>
        <p:spPr>
          <a:xfrm>
            <a:off x="395288" y="3641725"/>
            <a:ext cx="8507412" cy="2584450"/>
          </a:xfrm>
        </p:spPr>
        <p:txBody>
          <a:bodyPr>
            <a:normAutofit/>
          </a:bodyPr>
          <a:lstStyle/>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安全级别</a:t>
            </a:r>
            <a:endParaRPr lang="en-US" altLang="zh-CN" b="1">
              <a:solidFill>
                <a:srgbClr val="FF0000"/>
              </a:solidFill>
              <a:effectLst>
                <a:outerShdw blurRad="38100" dist="38100" dir="2700000" algn="tl">
                  <a:srgbClr val="C0C0C0"/>
                </a:outerShdw>
              </a:effectLst>
              <a:latin typeface="Times New Roman" panose="02020603050405020304" pitchFamily="18" charset="0"/>
            </a:endParaRPr>
          </a:p>
          <a:p>
            <a:pPr lvl="1">
              <a:defRPr/>
            </a:pPr>
            <a:r>
              <a:rPr lang="en-US" altLang="zh-CN" sz="2400" b="1">
                <a:effectLst>
                  <a:outerShdw blurRad="38100" dist="38100" dir="2700000" algn="tl">
                    <a:srgbClr val="C0C0C0"/>
                  </a:outerShdw>
                </a:effectLst>
                <a:latin typeface="Times New Roman" panose="02020603050405020304" pitchFamily="18" charset="0"/>
              </a:rPr>
              <a:t>Web</a:t>
            </a:r>
            <a:r>
              <a:rPr lang="zh-CN" altLang="en-US" sz="2400" b="1">
                <a:effectLst>
                  <a:outerShdw blurRad="38100" dist="38100" dir="2700000" algn="tl">
                    <a:srgbClr val="C0C0C0"/>
                  </a:outerShdw>
                </a:effectLst>
                <a:latin typeface="Times New Roman" panose="02020603050405020304" pitchFamily="18" charset="0"/>
              </a:rPr>
              <a:t>服务器上资源安全级别为“秘密”</a:t>
            </a:r>
            <a:endParaRPr lang="en-US" altLang="zh-CN" sz="2400" b="1">
              <a:effectLst>
                <a:outerShdw blurRad="38100" dist="38100" dir="2700000" algn="tl">
                  <a:srgbClr val="C0C0C0"/>
                </a:outerShdw>
              </a:effectLst>
              <a:latin typeface="Times New Roman" panose="02020603050405020304" pitchFamily="18" charset="0"/>
            </a:endParaRPr>
          </a:p>
          <a:p>
            <a:pPr lvl="1">
              <a:defRPr/>
            </a:pPr>
            <a:r>
              <a:rPr lang="en-US" altLang="zh-CN" sz="2400" b="1">
                <a:effectLst>
                  <a:outerShdw blurRad="38100" dist="38100" dir="2700000" algn="tl">
                    <a:srgbClr val="C0C0C0"/>
                  </a:outerShdw>
                </a:effectLst>
                <a:latin typeface="Times New Roman" panose="02020603050405020304" pitchFamily="18" charset="0"/>
              </a:rPr>
              <a:t>Internet</a:t>
            </a:r>
            <a:r>
              <a:rPr lang="zh-CN" altLang="en-US" sz="2400" b="1">
                <a:effectLst>
                  <a:outerShdw blurRad="38100" dist="38100" dir="2700000" algn="tl">
                    <a:srgbClr val="C0C0C0"/>
                  </a:outerShdw>
                </a:effectLst>
                <a:latin typeface="Times New Roman" panose="02020603050405020304" pitchFamily="18" charset="0"/>
              </a:rPr>
              <a:t>用户级别为“公开”</a:t>
            </a:r>
            <a:endParaRPr lang="en-US" altLang="zh-CN" sz="2400" b="1">
              <a:effectLst>
                <a:outerShdw blurRad="38100" dist="38100" dir="2700000" algn="tl">
                  <a:srgbClr val="C0C0C0"/>
                </a:outerShdw>
              </a:effectLst>
              <a:latin typeface="Times New Roman" panose="02020603050405020304" pitchFamily="18" charset="0"/>
            </a:endParaRPr>
          </a:p>
          <a:p>
            <a:pPr>
              <a:defRPr/>
            </a:pPr>
            <a:r>
              <a:rPr lang="zh-CN" altLang="en-US" b="1">
                <a:solidFill>
                  <a:srgbClr val="FF0000"/>
                </a:solidFill>
                <a:effectLst>
                  <a:outerShdw blurRad="38100" dist="38100" dir="2700000" algn="tl">
                    <a:srgbClr val="C0C0C0"/>
                  </a:outerShdw>
                </a:effectLst>
                <a:latin typeface="Times New Roman" panose="02020603050405020304" pitchFamily="18" charset="0"/>
              </a:rPr>
              <a:t>上读</a:t>
            </a:r>
            <a:r>
              <a:rPr lang="en-US" altLang="zh-CN" b="1">
                <a:solidFill>
                  <a:srgbClr val="FF0000"/>
                </a:solidFill>
                <a:effectLst>
                  <a:outerShdw blurRad="38100" dist="38100" dir="2700000" algn="tl">
                    <a:srgbClr val="C0C0C0"/>
                  </a:outerShdw>
                </a:effectLst>
                <a:latin typeface="Times New Roman" panose="02020603050405020304" pitchFamily="18" charset="0"/>
              </a:rPr>
              <a:t>/</a:t>
            </a:r>
            <a:r>
              <a:rPr lang="zh-CN" altLang="en-US" b="1">
                <a:solidFill>
                  <a:srgbClr val="FF0000"/>
                </a:solidFill>
                <a:effectLst>
                  <a:outerShdw blurRad="38100" dist="38100" dir="2700000" algn="tl">
                    <a:srgbClr val="C0C0C0"/>
                  </a:outerShdw>
                </a:effectLst>
                <a:latin typeface="Times New Roman" panose="02020603050405020304" pitchFamily="18" charset="0"/>
              </a:rPr>
              <a:t>不上写，保障</a:t>
            </a:r>
            <a:r>
              <a:rPr lang="en-US" altLang="zh-CN" b="1">
                <a:solidFill>
                  <a:srgbClr val="FF0000"/>
                </a:solidFill>
                <a:effectLst>
                  <a:outerShdw blurRad="38100" dist="38100" dir="2700000" algn="tl">
                    <a:srgbClr val="C0C0C0"/>
                  </a:outerShdw>
                </a:effectLst>
                <a:latin typeface="Times New Roman" panose="02020603050405020304" pitchFamily="18" charset="0"/>
              </a:rPr>
              <a:t>Web</a:t>
            </a:r>
            <a:r>
              <a:rPr lang="zh-CN" altLang="en-US" b="1">
                <a:solidFill>
                  <a:srgbClr val="FF0000"/>
                </a:solidFill>
                <a:effectLst>
                  <a:outerShdw blurRad="38100" dist="38100" dir="2700000" algn="tl">
                    <a:srgbClr val="C0C0C0"/>
                  </a:outerShdw>
                </a:effectLst>
                <a:latin typeface="Times New Roman" panose="02020603050405020304" pitchFamily="18" charset="0"/>
              </a:rPr>
              <a:t>数据完整性</a:t>
            </a:r>
          </a:p>
          <a:p>
            <a:pPr lvl="1">
              <a:defRPr/>
            </a:pPr>
            <a:r>
              <a:rPr lang="en-US" altLang="zh-CN" sz="2400" b="1">
                <a:effectLst>
                  <a:outerShdw blurRad="38100" dist="38100" dir="2700000" algn="tl">
                    <a:srgbClr val="C0C0C0"/>
                  </a:outerShdw>
                </a:effectLst>
                <a:latin typeface="Times New Roman" panose="02020603050405020304" pitchFamily="18" charset="0"/>
              </a:rPr>
              <a:t>Internet</a:t>
            </a:r>
            <a:r>
              <a:rPr lang="zh-CN" altLang="en-US" sz="2400" b="1">
                <a:effectLst>
                  <a:outerShdw blurRad="38100" dist="38100" dir="2700000" algn="tl">
                    <a:srgbClr val="C0C0C0"/>
                  </a:outerShdw>
                </a:effectLst>
                <a:latin typeface="Times New Roman" panose="02020603050405020304" pitchFamily="18" charset="0"/>
              </a:rPr>
              <a:t>上的用户只能读取服务器上的数据而不能更改它 </a:t>
            </a:r>
          </a:p>
          <a:p>
            <a:pPr>
              <a:defRPr/>
            </a:pPr>
            <a:endParaRPr lang="zh-CN" altLang="en-US" sz="2600"/>
          </a:p>
        </p:txBody>
      </p:sp>
      <p:sp>
        <p:nvSpPr>
          <p:cNvPr id="1052674" name="Rectangle 2">
            <a:extLst>
              <a:ext uri="{FF2B5EF4-FFF2-40B4-BE49-F238E27FC236}">
                <a16:creationId xmlns:a16="http://schemas.microsoft.com/office/drawing/2014/main" id="{DEA4AB50-124F-9E40-B811-5729A787606B}"/>
              </a:ext>
            </a:extLst>
          </p:cNvPr>
          <p:cNvSpPr>
            <a:spLocks noGrp="1" noChangeArrowheads="1"/>
          </p:cNvSpPr>
          <p:nvPr>
            <p:ph type="title"/>
          </p:nvPr>
        </p:nvSpPr>
        <p:spPr>
          <a:xfrm>
            <a:off x="719138" y="887413"/>
            <a:ext cx="6513512"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Biba</a:t>
            </a:r>
            <a:r>
              <a:rPr lang="zh-CN" altLang="en-US">
                <a:solidFill>
                  <a:srgbClr val="0033CC"/>
                </a:solidFill>
                <a:effectLst>
                  <a:outerShdw blurRad="38100" dist="38100" dir="2700000" algn="tl">
                    <a:srgbClr val="C0C0C0"/>
                  </a:outerShdw>
                </a:effectLst>
                <a:latin typeface="Times New Roman" panose="02020603050405020304" pitchFamily="18" charset="0"/>
              </a:rPr>
              <a:t>应用：</a:t>
            </a:r>
            <a:r>
              <a:rPr lang="en-US" altLang="zh-CN">
                <a:solidFill>
                  <a:srgbClr val="0033CC"/>
                </a:solidFill>
                <a:effectLst>
                  <a:outerShdw blurRad="38100" dist="38100" dir="2700000" algn="tl">
                    <a:srgbClr val="C0C0C0"/>
                  </a:outerShdw>
                </a:effectLst>
                <a:latin typeface="Times New Roman" panose="02020603050405020304" pitchFamily="18" charset="0"/>
              </a:rPr>
              <a:t>Web</a:t>
            </a:r>
            <a:r>
              <a:rPr lang="zh-CN" altLang="en-US">
                <a:solidFill>
                  <a:srgbClr val="0033CC"/>
                </a:solidFill>
                <a:effectLst>
                  <a:outerShdw blurRad="38100" dist="38100" dir="2700000" algn="tl">
                    <a:srgbClr val="C0C0C0"/>
                  </a:outerShdw>
                </a:effectLst>
                <a:latin typeface="Times New Roman" panose="02020603050405020304" pitchFamily="18" charset="0"/>
              </a:rPr>
              <a:t>服务器</a:t>
            </a:r>
          </a:p>
        </p:txBody>
      </p:sp>
      <p:sp>
        <p:nvSpPr>
          <p:cNvPr id="100356" name="Rectangle 3">
            <a:extLst>
              <a:ext uri="{FF2B5EF4-FFF2-40B4-BE49-F238E27FC236}">
                <a16:creationId xmlns:a16="http://schemas.microsoft.com/office/drawing/2014/main" id="{224F43D0-1CD6-6249-8B00-2682C0B410CF}"/>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wipe(down)">
                                      <p:cBhvr>
                                        <p:cTn id="12" dur="1000"/>
                                        <p:tgtEl>
                                          <p:spTgt spid="10">
                                            <p:txEl>
                                              <p:pRg st="0" end="0"/>
                                            </p:txEl>
                                          </p:spTgt>
                                        </p:tgtEl>
                                      </p:cBhvr>
                                    </p:animEffect>
                                  </p:childTnLst>
                                </p:cTn>
                              </p:par>
                            </p:childTnLst>
                          </p:cTn>
                        </p:par>
                        <p:par>
                          <p:cTn id="13" fill="hold" nodeType="afterGroup">
                            <p:stCondLst>
                              <p:cond delay="1500"/>
                            </p:stCondLst>
                            <p:childTnLst>
                              <p:par>
                                <p:cTn id="14" presetID="22" presetClass="entr" presetSubtype="4" fill="hold" grpId="0" nodeType="afterEffect">
                                  <p:stCondLst>
                                    <p:cond delay="0"/>
                                  </p:stCondLst>
                                  <p:childTnLst>
                                    <p:set>
                                      <p:cBhvr>
                                        <p:cTn id="15" dur="1" fill="hold">
                                          <p:stCondLst>
                                            <p:cond delay="0"/>
                                          </p:stCondLst>
                                        </p:cTn>
                                        <p:tgtEl>
                                          <p:spTgt spid="10">
                                            <p:txEl>
                                              <p:pRg st="1" end="1"/>
                                            </p:txEl>
                                          </p:spTgt>
                                        </p:tgtEl>
                                        <p:attrNameLst>
                                          <p:attrName>style.visibility</p:attrName>
                                        </p:attrNameLst>
                                      </p:cBhvr>
                                      <p:to>
                                        <p:strVal val="visible"/>
                                      </p:to>
                                    </p:set>
                                    <p:animEffect transition="in" filter="wipe(down)">
                                      <p:cBhvr>
                                        <p:cTn id="16" dur="1000"/>
                                        <p:tgtEl>
                                          <p:spTgt spid="10">
                                            <p:txEl>
                                              <p:pRg st="1" end="1"/>
                                            </p:txEl>
                                          </p:spTgt>
                                        </p:tgtEl>
                                      </p:cBhvr>
                                    </p:animEffect>
                                  </p:childTnLst>
                                </p:cTn>
                              </p:par>
                            </p:childTnLst>
                          </p:cTn>
                        </p:par>
                        <p:par>
                          <p:cTn id="17" fill="hold" nodeType="afterGroup">
                            <p:stCondLst>
                              <p:cond delay="2500"/>
                            </p:stCondLst>
                            <p:childTnLst>
                              <p:par>
                                <p:cTn id="18" presetID="22" presetClass="entr" presetSubtype="4" fill="hold" grpId="0" nodeType="after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wipe(down)">
                                      <p:cBhvr>
                                        <p:cTn id="20" dur="1000"/>
                                        <p:tgtEl>
                                          <p:spTgt spid="10">
                                            <p:txEl>
                                              <p:pRg st="2" end="2"/>
                                            </p:txEl>
                                          </p:spTgt>
                                        </p:tgtEl>
                                      </p:cBhvr>
                                    </p:animEffect>
                                  </p:childTnLst>
                                </p:cTn>
                              </p:par>
                            </p:childTnLst>
                          </p:cTn>
                        </p:par>
                        <p:par>
                          <p:cTn id="21" fill="hold" nodeType="afterGroup">
                            <p:stCondLst>
                              <p:cond delay="3500"/>
                            </p:stCondLst>
                            <p:childTnLst>
                              <p:par>
                                <p:cTn id="22" presetID="22" presetClass="entr" presetSubtype="4" fill="hold" grpId="0" nodeType="afterEffect">
                                  <p:stCondLst>
                                    <p:cond delay="0"/>
                                  </p:stCondLst>
                                  <p:childTnLst>
                                    <p:set>
                                      <p:cBhvr>
                                        <p:cTn id="23" dur="1" fill="hold">
                                          <p:stCondLst>
                                            <p:cond delay="0"/>
                                          </p:stCondLst>
                                        </p:cTn>
                                        <p:tgtEl>
                                          <p:spTgt spid="10">
                                            <p:txEl>
                                              <p:pRg st="3" end="3"/>
                                            </p:txEl>
                                          </p:spTgt>
                                        </p:tgtEl>
                                        <p:attrNameLst>
                                          <p:attrName>style.visibility</p:attrName>
                                        </p:attrNameLst>
                                      </p:cBhvr>
                                      <p:to>
                                        <p:strVal val="visible"/>
                                      </p:to>
                                    </p:set>
                                    <p:animEffect transition="in" filter="wipe(down)">
                                      <p:cBhvr>
                                        <p:cTn id="24" dur="1000"/>
                                        <p:tgtEl>
                                          <p:spTgt spid="10">
                                            <p:txEl>
                                              <p:pRg st="3" end="3"/>
                                            </p:txEl>
                                          </p:spTgt>
                                        </p:tgtEl>
                                      </p:cBhvr>
                                    </p:animEffect>
                                  </p:childTnLst>
                                </p:cTn>
                              </p:par>
                            </p:childTnLst>
                          </p:cTn>
                        </p:par>
                        <p:par>
                          <p:cTn id="25" fill="hold" nodeType="afterGroup">
                            <p:stCondLst>
                              <p:cond delay="4500"/>
                            </p:stCondLst>
                            <p:childTnLst>
                              <p:par>
                                <p:cTn id="26" presetID="22" presetClass="entr" presetSubtype="4" fill="hold" grpId="0" nodeType="after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wipe(down)">
                                      <p:cBhvr>
                                        <p:cTn id="28" dur="10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57DF3E-F6A8-1616-9EC6-3A82921D095C}"/>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A8AA49D2-3E5E-951A-B82D-A6A188B4D871}"/>
              </a:ext>
            </a:extLst>
          </p:cNvPr>
          <p:cNvPicPr>
            <a:picLocks noGrp="1" noChangeAspect="1"/>
          </p:cNvPicPr>
          <p:nvPr>
            <p:ph idx="1"/>
          </p:nvPr>
        </p:nvPicPr>
        <p:blipFill>
          <a:blip r:embed="rId2"/>
          <a:stretch>
            <a:fillRect/>
          </a:stretch>
        </p:blipFill>
        <p:spPr bwMode="auto">
          <a:xfrm>
            <a:off x="89502" y="663569"/>
            <a:ext cx="8964996" cy="5834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2B5CF218-C6AF-7110-D401-395096929D40}"/>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3667893111"/>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806F9FD4-C1A0-E94B-B32D-63B4827086DF}"/>
              </a:ext>
            </a:extLst>
          </p:cNvPr>
          <p:cNvSpPr>
            <a:spLocks noGrp="1"/>
          </p:cNvSpPr>
          <p:nvPr>
            <p:ph type="title"/>
          </p:nvPr>
        </p:nvSpPr>
        <p:spPr>
          <a:xfrm>
            <a:off x="539750" y="800100"/>
            <a:ext cx="6840538"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自主访问控制与强制访问控制的比较</a:t>
            </a:r>
          </a:p>
        </p:txBody>
      </p:sp>
      <p:sp>
        <p:nvSpPr>
          <p:cNvPr id="5" name="内容占位符 2">
            <a:extLst>
              <a:ext uri="{FF2B5EF4-FFF2-40B4-BE49-F238E27FC236}">
                <a16:creationId xmlns:a16="http://schemas.microsoft.com/office/drawing/2014/main" id="{3CE3BBB8-C889-AF42-955D-F208C185AE1F}"/>
              </a:ext>
            </a:extLst>
          </p:cNvPr>
          <p:cNvSpPr>
            <a:spLocks noGrp="1"/>
          </p:cNvSpPr>
          <p:nvPr>
            <p:ph idx="1"/>
          </p:nvPr>
        </p:nvSpPr>
        <p:spPr>
          <a:xfrm>
            <a:off x="935038" y="1412875"/>
            <a:ext cx="5424487" cy="4213225"/>
          </a:xfrm>
        </p:spPr>
        <p:txBody>
          <a:bodyPr/>
          <a:lstStyle/>
          <a:p>
            <a:pPr marL="342900" lvl="1" indent="-342900">
              <a:buClr>
                <a:schemeClr val="accent2"/>
              </a:buClr>
              <a:buFont typeface="Wingdings" pitchFamily="2" charset="2"/>
              <a:buChar char="v"/>
              <a:defRPr/>
            </a:pPr>
            <a:r>
              <a:rPr lang="zh-CN" altLang="en-US" sz="3200" b="1">
                <a:effectLst>
                  <a:outerShdw blurRad="38100" dist="38100" dir="2700000" algn="tl">
                    <a:srgbClr val="C0C0C0"/>
                  </a:outerShdw>
                </a:effectLst>
              </a:rPr>
              <a:t>自主访问控制</a:t>
            </a:r>
            <a:endParaRPr lang="en-US" altLang="zh-CN" sz="3200"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细粒度</a:t>
            </a:r>
            <a:endParaRPr lang="en-US" altLang="zh-CN"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灵活性高</a:t>
            </a:r>
            <a:endParaRPr lang="en-US" altLang="zh-CN"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配置效率低</a:t>
            </a:r>
            <a:endParaRPr lang="en-US" altLang="zh-CN" b="1">
              <a:effectLst>
                <a:outerShdw blurRad="38100" dist="38100" dir="2700000" algn="tl">
                  <a:srgbClr val="C0C0C0"/>
                </a:outerShdw>
              </a:effectLst>
            </a:endParaRPr>
          </a:p>
          <a:p>
            <a:pPr marL="342900" lvl="1" indent="-342900">
              <a:buClr>
                <a:schemeClr val="accent2"/>
              </a:buClr>
              <a:buFont typeface="Wingdings" pitchFamily="2" charset="2"/>
              <a:buChar char="v"/>
              <a:defRPr/>
            </a:pPr>
            <a:r>
              <a:rPr lang="zh-CN" altLang="en-US" sz="3200" b="1">
                <a:effectLst>
                  <a:outerShdw blurRad="38100" dist="38100" dir="2700000" algn="tl">
                    <a:srgbClr val="C0C0C0"/>
                  </a:outerShdw>
                </a:effectLst>
              </a:rPr>
              <a:t>强制访问控制</a:t>
            </a:r>
            <a:endParaRPr lang="en-US" altLang="zh-CN" sz="3200"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控制粒度大</a:t>
            </a:r>
            <a:endParaRPr lang="en-US" altLang="zh-CN"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灵活性不高</a:t>
            </a:r>
            <a:endParaRPr lang="en-US" altLang="zh-CN" b="1">
              <a:effectLst>
                <a:outerShdw blurRad="38100" dist="38100" dir="2700000" algn="tl">
                  <a:srgbClr val="C0C0C0"/>
                </a:outerShdw>
              </a:effectLst>
            </a:endParaRPr>
          </a:p>
          <a:p>
            <a:pPr marL="742950" lvl="2" indent="-342900">
              <a:buSzPct val="65000"/>
              <a:buFont typeface="Wingdings" pitchFamily="2" charset="2"/>
              <a:buChar char="n"/>
              <a:defRPr/>
            </a:pPr>
            <a:r>
              <a:rPr lang="zh-CN" altLang="en-US" b="1">
                <a:effectLst>
                  <a:outerShdw blurRad="38100" dist="38100" dir="2700000" algn="tl">
                    <a:srgbClr val="C0C0C0"/>
                  </a:outerShdw>
                </a:effectLst>
              </a:rPr>
              <a:t>安全性强</a:t>
            </a:r>
            <a:endParaRPr lang="en-US" altLang="zh-CN" b="1">
              <a:effectLst>
                <a:outerShdw blurRad="38100" dist="38100" dir="2700000" algn="tl">
                  <a:srgbClr val="C0C0C0"/>
                </a:outerShdw>
              </a:effectLst>
            </a:endParaRPr>
          </a:p>
          <a:p>
            <a:pPr marL="742950" lvl="2" indent="-342900">
              <a:buFont typeface="Wingdings" pitchFamily="2" charset="2"/>
              <a:buChar char="v"/>
              <a:defRPr/>
            </a:pPr>
            <a:endParaRPr lang="en-US" altLang="zh-CN" b="1">
              <a:effectLst>
                <a:outerShdw blurRad="38100" dist="38100" dir="2700000" algn="tl">
                  <a:srgbClr val="C0C0C0"/>
                </a:outerShdw>
              </a:effectLst>
            </a:endParaRPr>
          </a:p>
          <a:p>
            <a:pPr>
              <a:defRPr/>
            </a:pPr>
            <a:endParaRPr lang="en-US" altLang="zh-CN" b="1">
              <a:effectLst>
                <a:outerShdw blurRad="38100" dist="38100" dir="2700000" algn="tl">
                  <a:srgbClr val="C0C0C0"/>
                </a:outerShdw>
              </a:effectLst>
            </a:endParaRPr>
          </a:p>
          <a:p>
            <a:pPr>
              <a:buFont typeface="Wingdings" pitchFamily="2" charset="2"/>
              <a:buNone/>
              <a:defRPr/>
            </a:pPr>
            <a:endParaRPr lang="en-US" altLang="zh-CN" b="1">
              <a:effectLst>
                <a:outerShdw blurRad="38100" dist="38100" dir="2700000" algn="tl">
                  <a:srgbClr val="C0C0C0"/>
                </a:outerShdw>
              </a:effectLst>
            </a:endParaRPr>
          </a:p>
          <a:p>
            <a:pPr>
              <a:buFont typeface="Wingdings" pitchFamily="2" charset="2"/>
              <a:buNone/>
              <a:defRPr/>
            </a:pPr>
            <a:endParaRPr lang="zh-CN" altLang="en-US" b="1">
              <a:effectLst>
                <a:outerShdw blurRad="38100" dist="38100" dir="2700000" algn="tl">
                  <a:srgbClr val="C0C0C0"/>
                </a:outerShdw>
              </a:effectLst>
            </a:endParaRPr>
          </a:p>
        </p:txBody>
      </p:sp>
      <p:pic>
        <p:nvPicPr>
          <p:cNvPr id="102403" name="图片 1">
            <a:extLst>
              <a:ext uri="{FF2B5EF4-FFF2-40B4-BE49-F238E27FC236}">
                <a16:creationId xmlns:a16="http://schemas.microsoft.com/office/drawing/2014/main" id="{EE5D789A-8F14-6146-AE75-619915821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3388" y="3824288"/>
            <a:ext cx="2036762"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D8AA8E-6FC1-4750-DB40-3A611C536C18}"/>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809AF017-1355-0070-E524-7CF276127C5D}"/>
              </a:ext>
            </a:extLst>
          </p:cNvPr>
          <p:cNvPicPr>
            <a:picLocks noGrp="1" noChangeAspect="1"/>
          </p:cNvPicPr>
          <p:nvPr>
            <p:ph idx="1"/>
          </p:nvPr>
        </p:nvPicPr>
        <p:blipFill>
          <a:blip r:embed="rId2"/>
          <a:stretch>
            <a:fillRect/>
          </a:stretch>
        </p:blipFill>
        <p:spPr bwMode="auto">
          <a:xfrm>
            <a:off x="71500" y="90487"/>
            <a:ext cx="8954243" cy="6607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46A3C71A-9B6B-1141-7D18-D2CCDA7C22D2}"/>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4168175488"/>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806F9FD4-C1A0-E94B-B32D-63B4827086DF}"/>
              </a:ext>
            </a:extLst>
          </p:cNvPr>
          <p:cNvSpPr>
            <a:spLocks noGrp="1"/>
          </p:cNvSpPr>
          <p:nvPr>
            <p:ph type="title"/>
          </p:nvPr>
        </p:nvSpPr>
        <p:spPr>
          <a:xfrm>
            <a:off x="539750" y="800100"/>
            <a:ext cx="6840538" cy="487363"/>
          </a:xfrm>
        </p:spPr>
        <p:txBody>
          <a:bodyPr/>
          <a:lstStyle/>
          <a:p>
            <a:pPr>
              <a:buClr>
                <a:srgbClr val="3399FF"/>
              </a:buClr>
              <a:defRPr/>
            </a:pPr>
            <a:r>
              <a:rPr lang="zh-CN" altLang="en-US" dirty="0">
                <a:solidFill>
                  <a:srgbClr val="0033CC"/>
                </a:solidFill>
                <a:effectLst>
                  <a:outerShdw blurRad="38100" dist="38100" dir="2700000" algn="tl">
                    <a:srgbClr val="C0C0C0"/>
                  </a:outerShdw>
                </a:effectLst>
                <a:latin typeface="Times New Roman" panose="02020603050405020304" pitchFamily="18" charset="0"/>
              </a:rPr>
              <a:t>随堂练习</a:t>
            </a:r>
          </a:p>
        </p:txBody>
      </p:sp>
      <p:sp>
        <p:nvSpPr>
          <p:cNvPr id="5" name="内容占位符 2">
            <a:extLst>
              <a:ext uri="{FF2B5EF4-FFF2-40B4-BE49-F238E27FC236}">
                <a16:creationId xmlns:a16="http://schemas.microsoft.com/office/drawing/2014/main" id="{3CE3BBB8-C889-AF42-955D-F208C185AE1F}"/>
              </a:ext>
            </a:extLst>
          </p:cNvPr>
          <p:cNvSpPr>
            <a:spLocks noGrp="1"/>
          </p:cNvSpPr>
          <p:nvPr>
            <p:ph idx="1"/>
          </p:nvPr>
        </p:nvSpPr>
        <p:spPr>
          <a:xfrm>
            <a:off x="935038" y="1412875"/>
            <a:ext cx="7309370" cy="1548073"/>
          </a:xfrm>
        </p:spPr>
        <p:txBody>
          <a:bodyPr/>
          <a:lstStyle/>
          <a:p>
            <a:pPr marL="342900" lvl="1" indent="-342900">
              <a:buClr>
                <a:schemeClr val="accent2"/>
              </a:buClr>
              <a:buFont typeface="Wingdings" pitchFamily="2" charset="2"/>
              <a:buChar char="v"/>
              <a:defRPr/>
            </a:pPr>
            <a:r>
              <a:rPr lang="zh-CN" altLang="en-US" sz="2800" b="1" dirty="0">
                <a:effectLst>
                  <a:outerShdw blurRad="38100" dist="38100" dir="2700000" algn="tl">
                    <a:srgbClr val="C0C0C0"/>
                  </a:outerShdw>
                </a:effectLst>
              </a:rPr>
              <a:t>说明强制访问控制的含义 ；</a:t>
            </a:r>
            <a:endParaRPr lang="en-US" altLang="zh-CN" sz="2800" b="1" dirty="0">
              <a:effectLst>
                <a:outerShdw blurRad="38100" dist="38100" dir="2700000" algn="tl">
                  <a:srgbClr val="C0C0C0"/>
                </a:outerShdw>
              </a:effectLst>
            </a:endParaRPr>
          </a:p>
          <a:p>
            <a:pPr marL="342900" lvl="1" indent="-342900">
              <a:buClr>
                <a:schemeClr val="accent2"/>
              </a:buClr>
              <a:buFont typeface="Wingdings" pitchFamily="2" charset="2"/>
              <a:buChar char="v"/>
              <a:defRPr/>
            </a:pPr>
            <a:r>
              <a:rPr lang="zh-CN" altLang="en-US" sz="2800" b="1" dirty="0">
                <a:effectLst>
                  <a:outerShdw blurRad="38100" dist="38100" dir="2700000" algn="tl">
                    <a:srgbClr val="C0C0C0"/>
                  </a:outerShdw>
                </a:effectLst>
              </a:rPr>
              <a:t>结合图例说明</a:t>
            </a:r>
            <a:r>
              <a:rPr lang="en" altLang="zh-CN" sz="2800" b="1" dirty="0">
                <a:effectLst>
                  <a:outerShdw blurRad="38100" dist="38100" dir="2700000" algn="tl">
                    <a:srgbClr val="C0C0C0"/>
                  </a:outerShdw>
                </a:effectLst>
              </a:rPr>
              <a:t>Bell</a:t>
            </a:r>
            <a:r>
              <a:rPr lang="zh-CN" altLang="en" sz="2800" b="1" dirty="0">
                <a:effectLst>
                  <a:outerShdw blurRad="38100" dist="38100" dir="2700000" algn="tl">
                    <a:srgbClr val="C0C0C0"/>
                  </a:outerShdw>
                </a:effectLst>
              </a:rPr>
              <a:t>－</a:t>
            </a:r>
            <a:r>
              <a:rPr lang="en" altLang="zh-CN" sz="2800" b="1" dirty="0" err="1">
                <a:effectLst>
                  <a:outerShdw blurRad="38100" dist="38100" dir="2700000" algn="tl">
                    <a:srgbClr val="C0C0C0"/>
                  </a:outerShdw>
                </a:effectLst>
              </a:rPr>
              <a:t>LaPadula</a:t>
            </a:r>
            <a:r>
              <a:rPr lang="en" altLang="zh-CN" sz="2800" b="1" dirty="0">
                <a:effectLst>
                  <a:outerShdw blurRad="38100" dist="38100" dir="2700000" algn="tl">
                    <a:srgbClr val="C0C0C0"/>
                  </a:outerShdw>
                </a:effectLst>
              </a:rPr>
              <a:t>(BLP)</a:t>
            </a:r>
            <a:r>
              <a:rPr lang="zh-CN" altLang="en-US" sz="2800" b="1" dirty="0">
                <a:effectLst>
                  <a:outerShdw blurRad="38100" dist="38100" dir="2700000" algn="tl">
                    <a:srgbClr val="C0C0C0"/>
                  </a:outerShdw>
                </a:effectLst>
              </a:rPr>
              <a:t>模型的访问控制关系 。</a:t>
            </a:r>
            <a:endParaRPr lang="en-US" altLang="zh-CN" b="1" dirty="0">
              <a:effectLst>
                <a:outerShdw blurRad="38100" dist="38100" dir="2700000" algn="tl">
                  <a:srgbClr val="C0C0C0"/>
                </a:outerShdw>
              </a:effectLst>
            </a:endParaRPr>
          </a:p>
          <a:p>
            <a:pPr>
              <a:buFont typeface="Wingdings" pitchFamily="2" charset="2"/>
              <a:buNone/>
              <a:defRPr/>
            </a:pPr>
            <a:endParaRPr lang="en-US" altLang="zh-CN" b="1" dirty="0">
              <a:effectLst>
                <a:outerShdw blurRad="38100" dist="38100" dir="2700000" algn="tl">
                  <a:srgbClr val="C0C0C0"/>
                </a:outerShdw>
              </a:effectLst>
            </a:endParaRPr>
          </a:p>
          <a:p>
            <a:pPr>
              <a:buFont typeface="Wingdings" pitchFamily="2" charset="2"/>
              <a:buNone/>
              <a:defRPr/>
            </a:pPr>
            <a:endParaRPr lang="zh-CN" altLang="en-US" b="1" dirty="0">
              <a:effectLst>
                <a:outerShdw blurRad="38100" dist="38100" dir="2700000" algn="tl">
                  <a:srgbClr val="C0C0C0"/>
                </a:outerShdw>
              </a:effectLst>
            </a:endParaRPr>
          </a:p>
        </p:txBody>
      </p:sp>
      <p:sp>
        <p:nvSpPr>
          <p:cNvPr id="4" name="内容占位符 2">
            <a:extLst>
              <a:ext uri="{FF2B5EF4-FFF2-40B4-BE49-F238E27FC236}">
                <a16:creationId xmlns:a16="http://schemas.microsoft.com/office/drawing/2014/main" id="{040D124E-B9D2-A245-B276-67C8E5CDD89A}"/>
              </a:ext>
            </a:extLst>
          </p:cNvPr>
          <p:cNvSpPr txBox="1">
            <a:spLocks/>
          </p:cNvSpPr>
          <p:nvPr/>
        </p:nvSpPr>
        <p:spPr bwMode="auto">
          <a:xfrm>
            <a:off x="938419" y="3093021"/>
            <a:ext cx="7309370" cy="105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3399FF"/>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marL="342900" lvl="1" indent="-342900">
              <a:buClr>
                <a:schemeClr val="accent2"/>
              </a:buClr>
              <a:buFont typeface="Wingdings" pitchFamily="2" charset="2"/>
              <a:buChar char="v"/>
              <a:defRPr/>
            </a:pPr>
            <a:r>
              <a:rPr lang="zh-CN" altLang="en-US" sz="2800" b="1" kern="0" dirty="0">
                <a:effectLst>
                  <a:outerShdw blurRad="38100" dist="38100" dir="2700000" algn="tl">
                    <a:srgbClr val="C0C0C0"/>
                  </a:outerShdw>
                </a:effectLst>
              </a:rPr>
              <a:t>设计一种保证数据完整性的访问控制方案，并结合图例说明。</a:t>
            </a:r>
            <a:endParaRPr lang="en-US" altLang="zh-CN" b="1" kern="0" dirty="0">
              <a:effectLst>
                <a:outerShdw blurRad="38100" dist="38100" dir="2700000" algn="tl">
                  <a:srgbClr val="C0C0C0"/>
                </a:outerShdw>
              </a:effectLst>
            </a:endParaRPr>
          </a:p>
          <a:p>
            <a:pPr>
              <a:defRPr/>
            </a:pPr>
            <a:endParaRPr lang="en-US" altLang="zh-CN" b="1" kern="0" dirty="0">
              <a:effectLst>
                <a:outerShdw blurRad="38100" dist="38100" dir="2700000" algn="tl">
                  <a:srgbClr val="C0C0C0"/>
                </a:outerShdw>
              </a:effectLst>
            </a:endParaRPr>
          </a:p>
          <a:p>
            <a:pPr>
              <a:buFont typeface="Wingdings" pitchFamily="2" charset="2"/>
              <a:buNone/>
              <a:defRPr/>
            </a:pPr>
            <a:endParaRPr lang="en-US" altLang="zh-CN" b="1" kern="0" dirty="0">
              <a:effectLst>
                <a:outerShdw blurRad="38100" dist="38100" dir="2700000" algn="tl">
                  <a:srgbClr val="C0C0C0"/>
                </a:outerShdw>
              </a:effectLst>
            </a:endParaRPr>
          </a:p>
          <a:p>
            <a:pPr>
              <a:buFont typeface="Wingdings" pitchFamily="2" charset="2"/>
              <a:buNone/>
              <a:defRPr/>
            </a:pPr>
            <a:endParaRPr lang="zh-CN" altLang="en-US" b="1" kern="0" dirty="0">
              <a:effectLst>
                <a:outerShdw blurRad="38100" dist="38100" dir="2700000" algn="tl">
                  <a:srgbClr val="C0C0C0"/>
                </a:outerShdw>
              </a:effectLst>
            </a:endParaRPr>
          </a:p>
        </p:txBody>
      </p:sp>
    </p:spTree>
    <p:extLst>
      <p:ext uri="{BB962C8B-B14F-4D97-AF65-F5344CB8AC3E}">
        <p14:creationId xmlns:p14="http://schemas.microsoft.com/office/powerpoint/2010/main" val="3710873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1DBD1-6F73-EADD-4F84-63D69F60506B}"/>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EBACDF89-7DBC-9F48-23C9-4684865D7E74}"/>
              </a:ext>
            </a:extLst>
          </p:cNvPr>
          <p:cNvPicPr>
            <a:picLocks noGrp="1" noChangeAspect="1"/>
          </p:cNvPicPr>
          <p:nvPr>
            <p:ph idx="1"/>
          </p:nvPr>
        </p:nvPicPr>
        <p:blipFill>
          <a:blip r:embed="rId2"/>
          <a:stretch>
            <a:fillRect/>
          </a:stretch>
        </p:blipFill>
        <p:spPr bwMode="auto">
          <a:xfrm>
            <a:off x="52257" y="52267"/>
            <a:ext cx="9039486" cy="6790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BEDF98BA-59A7-1C32-52FE-399516CA08D2}"/>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9A614F62-252A-4534-9AE4-4FE2098C0EDB}"/>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1839901986"/>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9F56EFC6-22B2-9A40-A927-F0D290E4DCE1}"/>
              </a:ext>
            </a:extLst>
          </p:cNvPr>
          <p:cNvSpPr>
            <a:spLocks noGrp="1"/>
          </p:cNvSpPr>
          <p:nvPr>
            <p:ph type="title"/>
          </p:nvPr>
        </p:nvSpPr>
        <p:spPr>
          <a:xfrm>
            <a:off x="260350" y="828675"/>
            <a:ext cx="8499475"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基于角色的访问控制</a:t>
            </a:r>
            <a:r>
              <a:rPr lang="en-US" altLang="zh-CN">
                <a:solidFill>
                  <a:srgbClr val="FF0000"/>
                </a:solidFill>
                <a:latin typeface="Times New Roman" panose="02020603050405020304" pitchFamily="18" charset="0"/>
              </a:rPr>
              <a:t> </a:t>
            </a:r>
            <a:r>
              <a:rPr lang="en-US" altLang="zh-CN" sz="2800">
                <a:solidFill>
                  <a:srgbClr val="FF0000"/>
                </a:solidFill>
                <a:latin typeface="Times New Roman" panose="02020603050405020304" pitchFamily="18" charset="0"/>
              </a:rPr>
              <a:t>(Role Based Access Control)</a:t>
            </a:r>
            <a:endParaRPr lang="zh-CN" altLang="en-US" sz="2800">
              <a:solidFill>
                <a:srgbClr val="FF0000"/>
              </a:solidFill>
              <a:effectLst>
                <a:outerShdw blurRad="38100" dist="38100" dir="2700000" algn="tl">
                  <a:srgbClr val="C0C0C0"/>
                </a:outerShdw>
              </a:effectLst>
              <a:latin typeface="Times New Roman" panose="02020603050405020304" pitchFamily="18" charset="0"/>
            </a:endParaRPr>
          </a:p>
        </p:txBody>
      </p:sp>
      <p:sp>
        <p:nvSpPr>
          <p:cNvPr id="5" name="内容占位符 2">
            <a:extLst>
              <a:ext uri="{FF2B5EF4-FFF2-40B4-BE49-F238E27FC236}">
                <a16:creationId xmlns:a16="http://schemas.microsoft.com/office/drawing/2014/main" id="{2656EADF-41D5-7141-BAAA-78FE7DEBD184}"/>
              </a:ext>
            </a:extLst>
          </p:cNvPr>
          <p:cNvSpPr>
            <a:spLocks noGrp="1"/>
          </p:cNvSpPr>
          <p:nvPr>
            <p:ph idx="1"/>
          </p:nvPr>
        </p:nvSpPr>
        <p:spPr>
          <a:xfrm>
            <a:off x="228600" y="1447800"/>
            <a:ext cx="8763000" cy="1693863"/>
          </a:xfrm>
        </p:spPr>
        <p:txBody>
          <a:bodyPr/>
          <a:lstStyle/>
          <a:p>
            <a:pPr marL="342900" lvl="1" indent="-342900">
              <a:buClr>
                <a:srgbClr val="FF3300"/>
              </a:buClr>
              <a:buFont typeface="Wingdings" pitchFamily="2" charset="2"/>
              <a:buChar char="v"/>
              <a:defRPr/>
            </a:pPr>
            <a:endParaRPr lang="en-US" altLang="zh-CN" sz="3200" dirty="0">
              <a:cs typeface="+mn-cs"/>
            </a:endParaRPr>
          </a:p>
          <a:p>
            <a:pPr>
              <a:defRPr/>
            </a:pPr>
            <a:endParaRPr lang="en-US" altLang="zh-CN" dirty="0"/>
          </a:p>
          <a:p>
            <a:pPr>
              <a:buFont typeface="Wingdings" pitchFamily="2" charset="2"/>
              <a:buNone/>
              <a:defRPr/>
            </a:pPr>
            <a:endParaRPr lang="en-US" altLang="zh-CN" dirty="0"/>
          </a:p>
          <a:p>
            <a:pPr>
              <a:buFont typeface="Wingdings" pitchFamily="2" charset="2"/>
              <a:buNone/>
              <a:defRPr/>
            </a:pPr>
            <a:endParaRPr lang="zh-CN" altLang="en-US" dirty="0"/>
          </a:p>
        </p:txBody>
      </p:sp>
      <p:sp>
        <p:nvSpPr>
          <p:cNvPr id="6" name="内容占位符 2">
            <a:extLst>
              <a:ext uri="{FF2B5EF4-FFF2-40B4-BE49-F238E27FC236}">
                <a16:creationId xmlns:a16="http://schemas.microsoft.com/office/drawing/2014/main" id="{D1C438F2-9A4E-3647-9406-7CB9174B590E}"/>
              </a:ext>
            </a:extLst>
          </p:cNvPr>
          <p:cNvSpPr txBox="1"/>
          <p:nvPr/>
        </p:nvSpPr>
        <p:spPr bwMode="auto">
          <a:xfrm>
            <a:off x="555625" y="1584325"/>
            <a:ext cx="7908925" cy="1922463"/>
          </a:xfrm>
          <a:prstGeom prst="rect">
            <a:avLst/>
          </a:prstGeom>
          <a:noFill/>
          <a:ln w="9525">
            <a:noFill/>
            <a:miter lim="800000"/>
          </a:ln>
          <a:effec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marL="742950" indent="-3429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accent2"/>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由</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IST</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的</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Ferraiolo</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等人在上世纪</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90</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年代提出</a:t>
            </a:r>
            <a:endPar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NIST</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成立专门机构进行研究</a:t>
            </a:r>
            <a:endPar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1996</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年提出一个较完善的基于角色的访问控制参考模型</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RBAC96</a:t>
            </a:r>
          </a:p>
          <a:p>
            <a:pPr lvl="2">
              <a:spcBef>
                <a:spcPct val="20000"/>
              </a:spcBef>
              <a:buClr>
                <a:srgbClr val="FF3300"/>
              </a:buClr>
              <a:defRPr/>
            </a:pPr>
            <a:endParaRPr lang="en-US" altLang="zh-CN" sz="24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spcBef>
                <a:spcPct val="20000"/>
              </a:spcBef>
              <a:buClr>
                <a:srgbClr val="FF3300"/>
              </a:buClr>
              <a:buFont typeface="Wingdings" pitchFamily="2" charset="2"/>
              <a:buChar char="v"/>
              <a:defRPr/>
            </a:pPr>
            <a:endParaRPr lang="en-US" altLang="zh-CN"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spcBef>
                <a:spcPct val="20000"/>
              </a:spcBef>
              <a:buClr>
                <a:srgbClr val="FF3300"/>
              </a:buClr>
              <a:buFont typeface="Wingdings" pitchFamily="2" charset="2"/>
              <a:buNone/>
              <a:defRPr/>
            </a:pPr>
            <a:endParaRPr lang="en-US" altLang="zh-CN"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spcBef>
                <a:spcPct val="20000"/>
              </a:spcBef>
              <a:buClr>
                <a:srgbClr val="FF3300"/>
              </a:buClr>
              <a:buFont typeface="Wingdings" pitchFamily="2" charset="2"/>
              <a:buNone/>
              <a:defRPr/>
            </a:pPr>
            <a:endParaRPr lang="zh-CN" altLang="en-US"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nvGrpSpPr>
          <p:cNvPr id="2" name="组合 1">
            <a:extLst>
              <a:ext uri="{FF2B5EF4-FFF2-40B4-BE49-F238E27FC236}">
                <a16:creationId xmlns:a16="http://schemas.microsoft.com/office/drawing/2014/main" id="{01C3E79B-0207-4D4F-AA64-CC193AD20B0C}"/>
              </a:ext>
            </a:extLst>
          </p:cNvPr>
          <p:cNvGrpSpPr>
            <a:grpSpLocks/>
          </p:cNvGrpSpPr>
          <p:nvPr/>
        </p:nvGrpSpPr>
        <p:grpSpPr bwMode="auto">
          <a:xfrm>
            <a:off x="1004888" y="3795713"/>
            <a:ext cx="7010400" cy="2362200"/>
            <a:chOff x="1004900" y="3796444"/>
            <a:chExt cx="7010400" cy="2362200"/>
          </a:xfrm>
        </p:grpSpPr>
        <p:sp>
          <p:nvSpPr>
            <p:cNvPr id="104453" name="Rectangle 5">
              <a:extLst>
                <a:ext uri="{FF2B5EF4-FFF2-40B4-BE49-F238E27FC236}">
                  <a16:creationId xmlns:a16="http://schemas.microsoft.com/office/drawing/2014/main" id="{C7AA84C3-A11D-6A44-A131-E3CC82EB4AD6}"/>
                </a:ext>
              </a:extLst>
            </p:cNvPr>
            <p:cNvSpPr>
              <a:spLocks noChangeArrowheads="1"/>
            </p:cNvSpPr>
            <p:nvPr/>
          </p:nvSpPr>
          <p:spPr bwMode="auto">
            <a:xfrm>
              <a:off x="1004900" y="4182207"/>
              <a:ext cx="1371600" cy="52863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zh-CN" altLang="en-US" b="1">
                  <a:latin typeface="Times New Roman" panose="02020603050405020304" pitchFamily="18" charset="0"/>
                  <a:ea typeface="宋体" panose="02010600030101010101" pitchFamily="2" charset="-122"/>
                </a:rPr>
                <a:t>用    户</a:t>
              </a:r>
            </a:p>
          </p:txBody>
        </p:sp>
        <p:sp>
          <p:nvSpPr>
            <p:cNvPr id="104454" name="Rectangle 8">
              <a:extLst>
                <a:ext uri="{FF2B5EF4-FFF2-40B4-BE49-F238E27FC236}">
                  <a16:creationId xmlns:a16="http://schemas.microsoft.com/office/drawing/2014/main" id="{06C89970-47B1-B54E-B95A-20CB19C00E6F}"/>
                </a:ext>
              </a:extLst>
            </p:cNvPr>
            <p:cNvSpPr>
              <a:spLocks noChangeArrowheads="1"/>
            </p:cNvSpPr>
            <p:nvPr/>
          </p:nvSpPr>
          <p:spPr bwMode="auto">
            <a:xfrm>
              <a:off x="3824300" y="4177444"/>
              <a:ext cx="1371600" cy="5286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zh-CN" altLang="en-US" b="1">
                  <a:latin typeface="Times New Roman" panose="02020603050405020304" pitchFamily="18" charset="0"/>
                  <a:ea typeface="宋体" panose="02010600030101010101" pitchFamily="2" charset="-122"/>
                </a:rPr>
                <a:t>角     色</a:t>
              </a:r>
            </a:p>
          </p:txBody>
        </p:sp>
        <p:sp>
          <p:nvSpPr>
            <p:cNvPr id="104455" name="Rectangle 10">
              <a:extLst>
                <a:ext uri="{FF2B5EF4-FFF2-40B4-BE49-F238E27FC236}">
                  <a16:creationId xmlns:a16="http://schemas.microsoft.com/office/drawing/2014/main" id="{600E81B5-3EE4-AC4F-8DD7-6BC9DF077CD8}"/>
                </a:ext>
              </a:extLst>
            </p:cNvPr>
            <p:cNvSpPr>
              <a:spLocks noChangeArrowheads="1"/>
            </p:cNvSpPr>
            <p:nvPr/>
          </p:nvSpPr>
          <p:spPr bwMode="auto">
            <a:xfrm>
              <a:off x="6643700" y="4177444"/>
              <a:ext cx="1371600" cy="5286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zh-CN" altLang="en-US" b="1">
                  <a:latin typeface="Times New Roman" panose="02020603050405020304" pitchFamily="18" charset="0"/>
                  <a:ea typeface="宋体" panose="02010600030101010101" pitchFamily="2" charset="-122"/>
                </a:rPr>
                <a:t>权     限</a:t>
              </a:r>
            </a:p>
          </p:txBody>
        </p:sp>
        <p:sp>
          <p:nvSpPr>
            <p:cNvPr id="104456" name="Rectangle 11">
              <a:extLst>
                <a:ext uri="{FF2B5EF4-FFF2-40B4-BE49-F238E27FC236}">
                  <a16:creationId xmlns:a16="http://schemas.microsoft.com/office/drawing/2014/main" id="{C977F09F-87CF-DD48-B978-68A0204D95F8}"/>
                </a:ext>
              </a:extLst>
            </p:cNvPr>
            <p:cNvSpPr>
              <a:spLocks noChangeArrowheads="1"/>
            </p:cNvSpPr>
            <p:nvPr/>
          </p:nvSpPr>
          <p:spPr bwMode="auto">
            <a:xfrm>
              <a:off x="3671900" y="5625244"/>
              <a:ext cx="1676400" cy="5286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zh-CN" altLang="en-US" b="1">
                  <a:latin typeface="Times New Roman" panose="02020603050405020304" pitchFamily="18" charset="0"/>
                  <a:ea typeface="宋体" panose="02010600030101010101" pitchFamily="2" charset="-122"/>
                </a:rPr>
                <a:t>访问控制</a:t>
              </a:r>
            </a:p>
          </p:txBody>
        </p:sp>
        <p:sp>
          <p:nvSpPr>
            <p:cNvPr id="104457" name="Rectangle 13">
              <a:extLst>
                <a:ext uri="{FF2B5EF4-FFF2-40B4-BE49-F238E27FC236}">
                  <a16:creationId xmlns:a16="http://schemas.microsoft.com/office/drawing/2014/main" id="{B824D5FA-2AC8-9049-8B6F-DC99DEF5DB6E}"/>
                </a:ext>
              </a:extLst>
            </p:cNvPr>
            <p:cNvSpPr>
              <a:spLocks noChangeArrowheads="1"/>
            </p:cNvSpPr>
            <p:nvPr/>
          </p:nvSpPr>
          <p:spPr bwMode="auto">
            <a:xfrm>
              <a:off x="6643700" y="5630007"/>
              <a:ext cx="1371600" cy="52863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zh-CN" altLang="en-US" b="1">
                  <a:latin typeface="Times New Roman" panose="02020603050405020304" pitchFamily="18" charset="0"/>
                  <a:ea typeface="宋体" panose="02010600030101010101" pitchFamily="2" charset="-122"/>
                </a:rPr>
                <a:t>资     源</a:t>
              </a:r>
            </a:p>
          </p:txBody>
        </p:sp>
        <p:sp>
          <p:nvSpPr>
            <p:cNvPr id="104458" name="Line 14">
              <a:extLst>
                <a:ext uri="{FF2B5EF4-FFF2-40B4-BE49-F238E27FC236}">
                  <a16:creationId xmlns:a16="http://schemas.microsoft.com/office/drawing/2014/main" id="{23185BA8-2DDB-5342-B744-91A88D50765B}"/>
                </a:ext>
              </a:extLst>
            </p:cNvPr>
            <p:cNvSpPr>
              <a:spLocks noChangeShapeType="1"/>
            </p:cNvSpPr>
            <p:nvPr/>
          </p:nvSpPr>
          <p:spPr bwMode="auto">
            <a:xfrm>
              <a:off x="2376500" y="4329844"/>
              <a:ext cx="1447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59" name="Line 15">
              <a:extLst>
                <a:ext uri="{FF2B5EF4-FFF2-40B4-BE49-F238E27FC236}">
                  <a16:creationId xmlns:a16="http://schemas.microsoft.com/office/drawing/2014/main" id="{BB7C827D-0D28-114B-AAB1-8C6CE56B5773}"/>
                </a:ext>
              </a:extLst>
            </p:cNvPr>
            <p:cNvSpPr>
              <a:spLocks noChangeShapeType="1"/>
            </p:cNvSpPr>
            <p:nvPr/>
          </p:nvSpPr>
          <p:spPr bwMode="auto">
            <a:xfrm>
              <a:off x="2376500" y="4558444"/>
              <a:ext cx="14478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60" name="Line 16">
              <a:extLst>
                <a:ext uri="{FF2B5EF4-FFF2-40B4-BE49-F238E27FC236}">
                  <a16:creationId xmlns:a16="http://schemas.microsoft.com/office/drawing/2014/main" id="{621D71E3-2688-8545-809D-41B961929D00}"/>
                </a:ext>
              </a:extLst>
            </p:cNvPr>
            <p:cNvSpPr>
              <a:spLocks noChangeShapeType="1"/>
            </p:cNvSpPr>
            <p:nvPr/>
          </p:nvSpPr>
          <p:spPr bwMode="auto">
            <a:xfrm>
              <a:off x="5195900" y="4329844"/>
              <a:ext cx="1447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1" name="Line 17">
              <a:extLst>
                <a:ext uri="{FF2B5EF4-FFF2-40B4-BE49-F238E27FC236}">
                  <a16:creationId xmlns:a16="http://schemas.microsoft.com/office/drawing/2014/main" id="{86C4E334-C12D-DB45-A39E-8B8B04FC0C11}"/>
                </a:ext>
              </a:extLst>
            </p:cNvPr>
            <p:cNvSpPr>
              <a:spLocks noChangeShapeType="1"/>
            </p:cNvSpPr>
            <p:nvPr/>
          </p:nvSpPr>
          <p:spPr bwMode="auto">
            <a:xfrm>
              <a:off x="5195900" y="4558444"/>
              <a:ext cx="14478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4462" name="Line 18">
              <a:extLst>
                <a:ext uri="{FF2B5EF4-FFF2-40B4-BE49-F238E27FC236}">
                  <a16:creationId xmlns:a16="http://schemas.microsoft.com/office/drawing/2014/main" id="{653327E7-24CC-0E48-B0FA-21C60979D79A}"/>
                </a:ext>
              </a:extLst>
            </p:cNvPr>
            <p:cNvSpPr>
              <a:spLocks noChangeShapeType="1"/>
            </p:cNvSpPr>
            <p:nvPr/>
          </p:nvSpPr>
          <p:spPr bwMode="auto">
            <a:xfrm>
              <a:off x="4510100" y="4710844"/>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3" name="Line 19">
              <a:extLst>
                <a:ext uri="{FF2B5EF4-FFF2-40B4-BE49-F238E27FC236}">
                  <a16:creationId xmlns:a16="http://schemas.microsoft.com/office/drawing/2014/main" id="{5C772A16-66D2-6849-88B0-40F042E7EF29}"/>
                </a:ext>
              </a:extLst>
            </p:cNvPr>
            <p:cNvSpPr>
              <a:spLocks noChangeShapeType="1"/>
            </p:cNvSpPr>
            <p:nvPr/>
          </p:nvSpPr>
          <p:spPr bwMode="auto">
            <a:xfrm>
              <a:off x="5348300" y="5912582"/>
              <a:ext cx="1295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64" name="Rectangle 21">
              <a:extLst>
                <a:ext uri="{FF2B5EF4-FFF2-40B4-BE49-F238E27FC236}">
                  <a16:creationId xmlns:a16="http://schemas.microsoft.com/office/drawing/2014/main" id="{B4A900DD-9CBE-864E-A3F4-4580589E0733}"/>
                </a:ext>
              </a:extLst>
            </p:cNvPr>
            <p:cNvSpPr>
              <a:spLocks noChangeArrowheads="1"/>
            </p:cNvSpPr>
            <p:nvPr/>
          </p:nvSpPr>
          <p:spPr bwMode="auto">
            <a:xfrm>
              <a:off x="2452700" y="3796444"/>
              <a:ext cx="1295400" cy="396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、认证</a:t>
              </a:r>
            </a:p>
          </p:txBody>
        </p:sp>
        <p:sp>
          <p:nvSpPr>
            <p:cNvPr id="104465" name="Rectangle 22">
              <a:extLst>
                <a:ext uri="{FF2B5EF4-FFF2-40B4-BE49-F238E27FC236}">
                  <a16:creationId xmlns:a16="http://schemas.microsoft.com/office/drawing/2014/main" id="{81D57DE6-1358-D041-BB43-69A24D86F98D}"/>
                </a:ext>
              </a:extLst>
            </p:cNvPr>
            <p:cNvSpPr>
              <a:spLocks noChangeArrowheads="1"/>
            </p:cNvSpPr>
            <p:nvPr/>
          </p:nvSpPr>
          <p:spPr bwMode="auto">
            <a:xfrm>
              <a:off x="2452700" y="4694969"/>
              <a:ext cx="1295400" cy="396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en-US" altLang="zh-CN" sz="2000" b="1">
                  <a:latin typeface="Times New Roman" panose="02020603050405020304" pitchFamily="18" charset="0"/>
                  <a:ea typeface="宋体" panose="02010600030101010101" pitchFamily="2" charset="-122"/>
                </a:rPr>
                <a:t>2</a:t>
              </a:r>
              <a:r>
                <a:rPr lang="zh-CN" altLang="en-US" sz="2000" b="1">
                  <a:latin typeface="Times New Roman" panose="02020603050405020304" pitchFamily="18" charset="0"/>
                  <a:ea typeface="宋体" panose="02010600030101010101" pitchFamily="2" charset="-122"/>
                </a:rPr>
                <a:t>、分派</a:t>
              </a:r>
            </a:p>
          </p:txBody>
        </p:sp>
        <p:sp>
          <p:nvSpPr>
            <p:cNvPr id="104466" name="Rectangle 23">
              <a:extLst>
                <a:ext uri="{FF2B5EF4-FFF2-40B4-BE49-F238E27FC236}">
                  <a16:creationId xmlns:a16="http://schemas.microsoft.com/office/drawing/2014/main" id="{5B194BE3-7D8D-1246-8B0D-4642A703D55A}"/>
                </a:ext>
              </a:extLst>
            </p:cNvPr>
            <p:cNvSpPr>
              <a:spLocks noChangeArrowheads="1"/>
            </p:cNvSpPr>
            <p:nvPr/>
          </p:nvSpPr>
          <p:spPr bwMode="auto">
            <a:xfrm>
              <a:off x="5195900" y="3796444"/>
              <a:ext cx="1295400" cy="396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、请求</a:t>
              </a:r>
            </a:p>
          </p:txBody>
        </p:sp>
        <p:sp>
          <p:nvSpPr>
            <p:cNvPr id="104467" name="Rectangle 24">
              <a:extLst>
                <a:ext uri="{FF2B5EF4-FFF2-40B4-BE49-F238E27FC236}">
                  <a16:creationId xmlns:a16="http://schemas.microsoft.com/office/drawing/2014/main" id="{D3DC5463-E159-CD48-88F5-0D8E2C1AF7F7}"/>
                </a:ext>
              </a:extLst>
            </p:cNvPr>
            <p:cNvSpPr>
              <a:spLocks noChangeArrowheads="1"/>
            </p:cNvSpPr>
            <p:nvPr/>
          </p:nvSpPr>
          <p:spPr bwMode="auto">
            <a:xfrm>
              <a:off x="5272100" y="4634644"/>
              <a:ext cx="1295400" cy="396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en-US" altLang="zh-CN" sz="2000" b="1">
                  <a:latin typeface="Times New Roman" panose="02020603050405020304" pitchFamily="18" charset="0"/>
                  <a:ea typeface="宋体" panose="02010600030101010101" pitchFamily="2" charset="-122"/>
                </a:rPr>
                <a:t>4</a:t>
              </a:r>
              <a:r>
                <a:rPr lang="zh-CN" altLang="en-US" sz="2000" b="1">
                  <a:latin typeface="Times New Roman" panose="02020603050405020304" pitchFamily="18" charset="0"/>
                  <a:ea typeface="宋体" panose="02010600030101010101" pitchFamily="2" charset="-122"/>
                </a:rPr>
                <a:t>、分派</a:t>
              </a:r>
            </a:p>
          </p:txBody>
        </p:sp>
        <p:sp>
          <p:nvSpPr>
            <p:cNvPr id="104468" name="Rectangle 25">
              <a:extLst>
                <a:ext uri="{FF2B5EF4-FFF2-40B4-BE49-F238E27FC236}">
                  <a16:creationId xmlns:a16="http://schemas.microsoft.com/office/drawing/2014/main" id="{7FA5445F-C580-5F47-8FE0-68FAE2FEEA45}"/>
                </a:ext>
              </a:extLst>
            </p:cNvPr>
            <p:cNvSpPr>
              <a:spLocks noChangeArrowheads="1"/>
            </p:cNvSpPr>
            <p:nvPr/>
          </p:nvSpPr>
          <p:spPr bwMode="auto">
            <a:xfrm>
              <a:off x="5424500" y="5472844"/>
              <a:ext cx="1295400" cy="396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buClr>
                  <a:srgbClr val="A50021"/>
                </a:buClr>
                <a:buSzPct val="75000"/>
                <a:buFontTx/>
                <a:buNone/>
              </a:pPr>
              <a:r>
                <a:rPr lang="en-US" altLang="zh-CN" sz="2000" b="1">
                  <a:latin typeface="Times New Roman" panose="02020603050405020304" pitchFamily="18" charset="0"/>
                  <a:ea typeface="宋体" panose="02010600030101010101" pitchFamily="2" charset="-122"/>
                </a:rPr>
                <a:t>5</a:t>
              </a:r>
              <a:r>
                <a:rPr lang="zh-CN" altLang="en-US" sz="2000" b="1">
                  <a:latin typeface="Times New Roman" panose="02020603050405020304" pitchFamily="18" charset="0"/>
                  <a:ea typeface="宋体" panose="02010600030101010101" pitchFamily="2" charset="-122"/>
                </a:rPr>
                <a:t>、访问</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1503D154-DE78-0349-AEE6-7EC6330D2AD9}"/>
              </a:ext>
            </a:extLst>
          </p:cNvPr>
          <p:cNvSpPr>
            <a:spLocks noGrp="1"/>
          </p:cNvSpPr>
          <p:nvPr>
            <p:ph type="title"/>
          </p:nvPr>
        </p:nvSpPr>
        <p:spPr>
          <a:xfrm>
            <a:off x="661988" y="862013"/>
            <a:ext cx="6513512" cy="487362"/>
          </a:xfrm>
        </p:spPr>
        <p:txBody>
          <a:bodyPr/>
          <a:lstStyle/>
          <a:p>
            <a:pPr>
              <a:buClr>
                <a:srgbClr val="3399FF"/>
              </a:buClr>
              <a:defRPr/>
            </a:pP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RBAC </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模型的基本思想</a:t>
            </a:r>
          </a:p>
        </p:txBody>
      </p:sp>
      <p:sp>
        <p:nvSpPr>
          <p:cNvPr id="5" name="内容占位符 2">
            <a:extLst>
              <a:ext uri="{FF2B5EF4-FFF2-40B4-BE49-F238E27FC236}">
                <a16:creationId xmlns:a16="http://schemas.microsoft.com/office/drawing/2014/main" id="{4B4A3E94-4F9E-AF4D-922F-9FAFF0D0BC5E}"/>
              </a:ext>
            </a:extLst>
          </p:cNvPr>
          <p:cNvSpPr>
            <a:spLocks noGrp="1"/>
          </p:cNvSpPr>
          <p:nvPr>
            <p:ph idx="1"/>
          </p:nvPr>
        </p:nvSpPr>
        <p:spPr>
          <a:xfrm>
            <a:off x="228600" y="1447800"/>
            <a:ext cx="8763000" cy="1905000"/>
          </a:xfrm>
        </p:spPr>
        <p:txBody>
          <a:bodyPr/>
          <a:lstStyle/>
          <a:p>
            <a:pPr marL="342900" lvl="1" indent="-342900">
              <a:buClr>
                <a:srgbClr val="FF3300"/>
              </a:buClr>
              <a:buFont typeface="Wingdings" pitchFamily="2" charset="2"/>
              <a:buChar char="v"/>
              <a:defRPr/>
            </a:pPr>
            <a:endParaRPr lang="en-US" altLang="zh-CN" sz="3200" dirty="0">
              <a:cs typeface="+mn-cs"/>
            </a:endParaRPr>
          </a:p>
          <a:p>
            <a:pPr>
              <a:defRPr/>
            </a:pPr>
            <a:endParaRPr lang="en-US" altLang="zh-CN" dirty="0"/>
          </a:p>
          <a:p>
            <a:pPr>
              <a:buFont typeface="Wingdings" pitchFamily="2" charset="2"/>
              <a:buNone/>
              <a:defRPr/>
            </a:pPr>
            <a:endParaRPr lang="en-US" altLang="zh-CN" dirty="0"/>
          </a:p>
          <a:p>
            <a:pPr>
              <a:buFont typeface="Wingdings" pitchFamily="2" charset="2"/>
              <a:buNone/>
              <a:defRPr/>
            </a:pPr>
            <a:endParaRPr lang="zh-CN" altLang="en-US" dirty="0"/>
          </a:p>
        </p:txBody>
      </p:sp>
      <p:sp>
        <p:nvSpPr>
          <p:cNvPr id="6" name="内容占位符 2">
            <a:extLst>
              <a:ext uri="{FF2B5EF4-FFF2-40B4-BE49-F238E27FC236}">
                <a16:creationId xmlns:a16="http://schemas.microsoft.com/office/drawing/2014/main" id="{C770DA75-2CF7-B242-8391-2F83187C0DE4}"/>
              </a:ext>
            </a:extLst>
          </p:cNvPr>
          <p:cNvSpPr txBox="1"/>
          <p:nvPr/>
        </p:nvSpPr>
        <p:spPr bwMode="auto">
          <a:xfrm>
            <a:off x="404813" y="1550988"/>
            <a:ext cx="8410575" cy="1014412"/>
          </a:xfrm>
          <a:prstGeom prst="rect">
            <a:avLst/>
          </a:prstGeom>
          <a:noFill/>
          <a:ln w="9525">
            <a:noFill/>
            <a:miter lim="800000"/>
          </a:ln>
          <a:effec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的基本思想是根据用户所担任的</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角色</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来决定用户在系统中的访问权限。</a:t>
            </a:r>
            <a:endParaRPr lang="en-US" altLang="zh-CN"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spcBef>
                <a:spcPct val="20000"/>
              </a:spcBef>
              <a:buClr>
                <a:srgbClr val="FF3300"/>
              </a:buClr>
              <a:buFont typeface="Wingdings" pitchFamily="2" charset="2"/>
              <a:buNone/>
              <a:defRPr/>
            </a:pPr>
            <a:endParaRPr lang="zh-CN" altLang="en-US"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nvGrpSpPr>
          <p:cNvPr id="3" name="组合 2">
            <a:extLst>
              <a:ext uri="{FF2B5EF4-FFF2-40B4-BE49-F238E27FC236}">
                <a16:creationId xmlns:a16="http://schemas.microsoft.com/office/drawing/2014/main" id="{B4492F75-21B4-6741-B571-7FBBD4EB6409}"/>
              </a:ext>
            </a:extLst>
          </p:cNvPr>
          <p:cNvGrpSpPr>
            <a:grpSpLocks/>
          </p:cNvGrpSpPr>
          <p:nvPr/>
        </p:nvGrpSpPr>
        <p:grpSpPr bwMode="auto">
          <a:xfrm>
            <a:off x="1150938" y="4113213"/>
            <a:ext cx="6705600" cy="1371600"/>
            <a:chOff x="1282824" y="4179168"/>
            <a:chExt cx="6705600" cy="1371600"/>
          </a:xfrm>
        </p:grpSpPr>
        <p:sp>
          <p:nvSpPr>
            <p:cNvPr id="8" name="Oval 3">
              <a:extLst>
                <a:ext uri="{FF2B5EF4-FFF2-40B4-BE49-F238E27FC236}">
                  <a16:creationId xmlns:a16="http://schemas.microsoft.com/office/drawing/2014/main" id="{80F82DF8-A6B8-DA4A-9D9F-70F3DC5C0EEE}"/>
                </a:ext>
              </a:extLst>
            </p:cNvPr>
            <p:cNvSpPr>
              <a:spLocks noChangeArrowheads="1"/>
            </p:cNvSpPr>
            <p:nvPr/>
          </p:nvSpPr>
          <p:spPr bwMode="auto">
            <a:xfrm>
              <a:off x="1282824" y="4712568"/>
              <a:ext cx="1447800" cy="609600"/>
            </a:xfrm>
            <a:prstGeom prst="ellipse">
              <a:avLst/>
            </a:prstGeom>
            <a:solidFill>
              <a:schemeClr val="bg1"/>
            </a:solidFill>
            <a:ln w="9525">
              <a:solidFill>
                <a:schemeClr val="bg2"/>
              </a:solidFill>
              <a:round/>
            </a:ln>
          </p:spPr>
          <p:txBody>
            <a:bodyPr wrap="none" anchor="ctr"/>
            <a:lstStyle/>
            <a:p>
              <a:pPr algn="ctr" eaLnBrk="1" hangingPunct="1">
                <a:defRPr/>
              </a:pPr>
              <a:r>
                <a:rPr lang="zh-CN" altLang="en-US"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安全管理员</a:t>
              </a:r>
              <a:endParaRPr lang="zh-CN" altLang="en-US"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9" name="Oval 4">
              <a:extLst>
                <a:ext uri="{FF2B5EF4-FFF2-40B4-BE49-F238E27FC236}">
                  <a16:creationId xmlns:a16="http://schemas.microsoft.com/office/drawing/2014/main" id="{CB5D5ABA-70F3-724F-BAC4-04D8C6B14AD2}"/>
                </a:ext>
              </a:extLst>
            </p:cNvPr>
            <p:cNvSpPr>
              <a:spLocks noChangeArrowheads="1"/>
            </p:cNvSpPr>
            <p:nvPr/>
          </p:nvSpPr>
          <p:spPr bwMode="auto">
            <a:xfrm>
              <a:off x="3492624" y="4788768"/>
              <a:ext cx="762000" cy="609600"/>
            </a:xfrm>
            <a:prstGeom prst="ellipse">
              <a:avLst/>
            </a:prstGeom>
            <a:solidFill>
              <a:schemeClr val="bg1"/>
            </a:solidFill>
            <a:ln w="9525">
              <a:solidFill>
                <a:schemeClr val="bg2"/>
              </a:solidFill>
              <a:round/>
            </a:ln>
          </p:spPr>
          <p:txBody>
            <a:bodyPr wrap="none" anchor="ctr"/>
            <a:lstStyle/>
            <a:p>
              <a:pPr algn="ctr" eaLnBrk="1" hangingPunct="1">
                <a:defRPr/>
              </a:pPr>
              <a:r>
                <a:rPr lang="zh-CN" altLang="en-US"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用户</a:t>
              </a:r>
              <a:endParaRPr lang="zh-CN" altLang="en-US"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0" name="Oval 5">
              <a:extLst>
                <a:ext uri="{FF2B5EF4-FFF2-40B4-BE49-F238E27FC236}">
                  <a16:creationId xmlns:a16="http://schemas.microsoft.com/office/drawing/2014/main" id="{FC4D4A18-4CF2-7B45-9256-C79375D699C9}"/>
                </a:ext>
              </a:extLst>
            </p:cNvPr>
            <p:cNvSpPr>
              <a:spLocks noChangeArrowheads="1"/>
            </p:cNvSpPr>
            <p:nvPr/>
          </p:nvSpPr>
          <p:spPr bwMode="auto">
            <a:xfrm>
              <a:off x="4940424" y="4483968"/>
              <a:ext cx="990600" cy="1066800"/>
            </a:xfrm>
            <a:prstGeom prst="ellipse">
              <a:avLst/>
            </a:prstGeom>
            <a:solidFill>
              <a:schemeClr val="bg1"/>
            </a:solidFill>
            <a:ln w="9525">
              <a:solidFill>
                <a:schemeClr val="bg2"/>
              </a:solidFill>
              <a:round/>
            </a:ln>
          </p:spPr>
          <p:txBody>
            <a:bodyPr wrap="none" anchor="ctr"/>
            <a:lstStyle/>
            <a:p>
              <a:pPr algn="ctr" eaLnBrk="1" hangingPunct="1">
                <a:defRPr/>
              </a:pPr>
              <a:r>
                <a:rPr lang="zh-CN" altLang="en-US"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角色</a:t>
              </a:r>
              <a:r>
                <a:rPr lang="en-US" altLang="zh-CN"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a:t>
              </a:r>
            </a:p>
            <a:p>
              <a:pPr algn="ctr" eaLnBrk="1" hangingPunct="1">
                <a:defRPr/>
              </a:pPr>
              <a:r>
                <a:rPr lang="zh-CN" altLang="en-US"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权限</a:t>
              </a:r>
              <a:endParaRPr lang="zh-CN" altLang="en-US"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1" name="AutoShape 6">
              <a:extLst>
                <a:ext uri="{FF2B5EF4-FFF2-40B4-BE49-F238E27FC236}">
                  <a16:creationId xmlns:a16="http://schemas.microsoft.com/office/drawing/2014/main" id="{7AEF6013-B29A-C248-A81E-09A111BB7B69}"/>
                </a:ext>
              </a:extLst>
            </p:cNvPr>
            <p:cNvSpPr>
              <a:spLocks noChangeArrowheads="1"/>
            </p:cNvSpPr>
            <p:nvPr/>
          </p:nvSpPr>
          <p:spPr bwMode="auto">
            <a:xfrm>
              <a:off x="2730624" y="4941168"/>
              <a:ext cx="762000" cy="228600"/>
            </a:xfrm>
            <a:prstGeom prst="rightArrow">
              <a:avLst>
                <a:gd name="adj1" fmla="val 50000"/>
                <a:gd name="adj2" fmla="val 91667"/>
              </a:avLst>
            </a:prstGeom>
            <a:noFill/>
            <a:ln w="9525">
              <a:solidFill>
                <a:schemeClr val="accent6">
                  <a:lumMod val="75000"/>
                </a:schemeClr>
              </a:solidFill>
              <a:miter lim="800000"/>
            </a:ln>
          </p:spPr>
          <p:txBody>
            <a:bodyPr wrap="none" anchor="ctr"/>
            <a:lstStyle/>
            <a:p>
              <a:pPr eaLnBrk="1" hangingPunct="1">
                <a:defRPr/>
              </a:pPr>
              <a:endParaRPr lang="zh-CN" altLang="en-US" b="1">
                <a:effectLst>
                  <a:outerShdw blurRad="38100" dist="38100" dir="2700000" algn="tl">
                    <a:srgbClr val="000000">
                      <a:alpha val="43137"/>
                    </a:srgbClr>
                  </a:outerShdw>
                </a:effectLst>
                <a:latin typeface="+mn-ea"/>
                <a:ea typeface="+mn-ea"/>
              </a:endParaRPr>
            </a:p>
          </p:txBody>
        </p:sp>
        <p:sp>
          <p:nvSpPr>
            <p:cNvPr id="12" name="AutoShape 7">
              <a:extLst>
                <a:ext uri="{FF2B5EF4-FFF2-40B4-BE49-F238E27FC236}">
                  <a16:creationId xmlns:a16="http://schemas.microsoft.com/office/drawing/2014/main" id="{24FBA201-92C1-CA43-9749-67CDC020AE54}"/>
                </a:ext>
              </a:extLst>
            </p:cNvPr>
            <p:cNvSpPr>
              <a:spLocks noChangeArrowheads="1"/>
            </p:cNvSpPr>
            <p:nvPr/>
          </p:nvSpPr>
          <p:spPr bwMode="auto">
            <a:xfrm>
              <a:off x="4254624" y="4941168"/>
              <a:ext cx="685800" cy="228600"/>
            </a:xfrm>
            <a:prstGeom prst="rightArrow">
              <a:avLst>
                <a:gd name="adj1" fmla="val 50000"/>
                <a:gd name="adj2" fmla="val 75000"/>
              </a:avLst>
            </a:prstGeom>
            <a:noFill/>
            <a:ln w="9525">
              <a:solidFill>
                <a:schemeClr val="accent6">
                  <a:lumMod val="75000"/>
                </a:schemeClr>
              </a:solidFill>
              <a:miter lim="800000"/>
            </a:ln>
          </p:spPr>
          <p:txBody>
            <a:bodyPr wrap="none" anchor="ctr"/>
            <a:lstStyle/>
            <a:p>
              <a:pPr eaLnBrk="1" hangingPunct="1">
                <a:defRPr/>
              </a:pPr>
              <a:endParaRPr lang="zh-CN" altLang="en-US" b="1">
                <a:effectLst>
                  <a:outerShdw blurRad="38100" dist="38100" dir="2700000" algn="tl">
                    <a:srgbClr val="000000">
                      <a:alpha val="43137"/>
                    </a:srgbClr>
                  </a:outerShdw>
                </a:effectLst>
                <a:latin typeface="+mn-ea"/>
                <a:ea typeface="+mn-ea"/>
              </a:endParaRPr>
            </a:p>
          </p:txBody>
        </p:sp>
        <p:sp>
          <p:nvSpPr>
            <p:cNvPr id="13" name="Text Box 8">
              <a:extLst>
                <a:ext uri="{FF2B5EF4-FFF2-40B4-BE49-F238E27FC236}">
                  <a16:creationId xmlns:a16="http://schemas.microsoft.com/office/drawing/2014/main" id="{F7B579B9-DBBF-BB44-B1E6-D11B8377698F}"/>
                </a:ext>
              </a:extLst>
            </p:cNvPr>
            <p:cNvSpPr txBox="1">
              <a:spLocks noChangeArrowheads="1"/>
            </p:cNvSpPr>
            <p:nvPr/>
          </p:nvSpPr>
          <p:spPr bwMode="auto">
            <a:xfrm>
              <a:off x="2578224" y="5093568"/>
              <a:ext cx="838200" cy="396875"/>
            </a:xfrm>
            <a:prstGeom prst="rect">
              <a:avLst/>
            </a:prstGeom>
            <a:noFill/>
            <a:ln w="9525">
              <a:noFill/>
              <a:miter lim="800000"/>
            </a:ln>
            <a:effectLst/>
          </p:spPr>
          <p:txBody>
            <a:bodyPr>
              <a:spAutoFit/>
            </a:bodyPr>
            <a:lstStyle/>
            <a:p>
              <a:pPr eaLnBrk="1" hangingPunct="1">
                <a:spcBef>
                  <a:spcPct val="50000"/>
                </a:spcBef>
                <a:defRPr/>
              </a:pPr>
              <a:r>
                <a:rPr lang="zh-CN" altLang="en-US" sz="2000" b="1">
                  <a:solidFill>
                    <a:schemeClr val="accent6">
                      <a:lumMod val="75000"/>
                    </a:schemeClr>
                  </a:solidFill>
                  <a:effectLst>
                    <a:outerShdw blurRad="38100" dist="38100" dir="2700000" algn="tl">
                      <a:srgbClr val="000000">
                        <a:alpha val="43137"/>
                      </a:srgbClr>
                    </a:outerShdw>
                  </a:effectLst>
                  <a:latin typeface="+mn-ea"/>
                  <a:ea typeface="+mn-ea"/>
                </a:rPr>
                <a:t>指定</a:t>
              </a:r>
              <a:endParaRPr lang="zh-CN" altLang="en-US" b="1">
                <a:solidFill>
                  <a:schemeClr val="accent6">
                    <a:lumMod val="75000"/>
                  </a:schemeClr>
                </a:solidFill>
                <a:effectLst>
                  <a:outerShdw blurRad="38100" dist="38100" dir="2700000" algn="tl">
                    <a:srgbClr val="000000">
                      <a:alpha val="43137"/>
                    </a:srgbClr>
                  </a:outerShdw>
                </a:effectLst>
                <a:latin typeface="+mn-ea"/>
                <a:ea typeface="+mn-ea"/>
              </a:endParaRPr>
            </a:p>
          </p:txBody>
        </p:sp>
        <p:sp>
          <p:nvSpPr>
            <p:cNvPr id="14" name="Rectangle 9">
              <a:extLst>
                <a:ext uri="{FF2B5EF4-FFF2-40B4-BE49-F238E27FC236}">
                  <a16:creationId xmlns:a16="http://schemas.microsoft.com/office/drawing/2014/main" id="{6654C3DE-90CB-034C-926C-FA4B648293B6}"/>
                </a:ext>
              </a:extLst>
            </p:cNvPr>
            <p:cNvSpPr>
              <a:spLocks noChangeArrowheads="1"/>
            </p:cNvSpPr>
            <p:nvPr/>
          </p:nvSpPr>
          <p:spPr bwMode="auto">
            <a:xfrm>
              <a:off x="6693024" y="4864968"/>
              <a:ext cx="1295400" cy="457200"/>
            </a:xfrm>
            <a:prstGeom prst="rect">
              <a:avLst/>
            </a:prstGeom>
            <a:solidFill>
              <a:schemeClr val="bg1"/>
            </a:solidFill>
            <a:ln w="9525">
              <a:solidFill>
                <a:schemeClr val="bg2"/>
              </a:solidFill>
              <a:miter lim="800000"/>
            </a:ln>
          </p:spPr>
          <p:txBody>
            <a:bodyPr wrap="none" anchor="ctr"/>
            <a:lstStyle/>
            <a:p>
              <a:pPr algn="ctr" eaLnBrk="1" hangingPunct="1">
                <a:defRPr/>
              </a:pPr>
              <a:r>
                <a:rPr lang="zh-CN" altLang="en-US" sz="2000"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rPr>
                <a:t>访问或操作</a:t>
              </a:r>
              <a:endParaRPr lang="zh-CN" altLang="en-US" b="1">
                <a:solidFill>
                  <a:srgbClr val="2D6A94"/>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15" name="AutoShape 10">
              <a:extLst>
                <a:ext uri="{FF2B5EF4-FFF2-40B4-BE49-F238E27FC236}">
                  <a16:creationId xmlns:a16="http://schemas.microsoft.com/office/drawing/2014/main" id="{DD3AD1F8-761D-BF4A-A27F-D14EAAC2902D}"/>
                </a:ext>
              </a:extLst>
            </p:cNvPr>
            <p:cNvSpPr>
              <a:spLocks noChangeArrowheads="1"/>
            </p:cNvSpPr>
            <p:nvPr/>
          </p:nvSpPr>
          <p:spPr bwMode="auto">
            <a:xfrm>
              <a:off x="5931024" y="4941168"/>
              <a:ext cx="762000" cy="228600"/>
            </a:xfrm>
            <a:prstGeom prst="rightArrow">
              <a:avLst>
                <a:gd name="adj1" fmla="val 50000"/>
                <a:gd name="adj2" fmla="val 83333"/>
              </a:avLst>
            </a:prstGeom>
            <a:noFill/>
            <a:ln w="9525">
              <a:solidFill>
                <a:schemeClr val="accent6">
                  <a:lumMod val="75000"/>
                </a:schemeClr>
              </a:solidFill>
              <a:miter lim="800000"/>
            </a:ln>
          </p:spPr>
          <p:txBody>
            <a:bodyPr wrap="none" anchor="ctr"/>
            <a:lstStyle/>
            <a:p>
              <a:pPr eaLnBrk="1" hangingPunct="1">
                <a:defRPr/>
              </a:pPr>
              <a:endParaRPr lang="zh-CN" altLang="en-US" b="1">
                <a:effectLst>
                  <a:outerShdw blurRad="38100" dist="38100" dir="2700000" algn="tl">
                    <a:srgbClr val="000000">
                      <a:alpha val="43137"/>
                    </a:srgbClr>
                  </a:outerShdw>
                </a:effectLst>
                <a:latin typeface="+mn-ea"/>
                <a:ea typeface="+mn-ea"/>
              </a:endParaRPr>
            </a:p>
          </p:txBody>
        </p:sp>
        <p:sp>
          <p:nvSpPr>
            <p:cNvPr id="85005" name="AutoShape 11">
              <a:extLst>
                <a:ext uri="{FF2B5EF4-FFF2-40B4-BE49-F238E27FC236}">
                  <a16:creationId xmlns:a16="http://schemas.microsoft.com/office/drawing/2014/main" id="{A899A946-3530-1E44-88F5-781B0FD06DEE}"/>
                </a:ext>
              </a:extLst>
            </p:cNvPr>
            <p:cNvSpPr>
              <a:spLocks noChangeArrowheads="1"/>
            </p:cNvSpPr>
            <p:nvPr/>
          </p:nvSpPr>
          <p:spPr bwMode="auto">
            <a:xfrm>
              <a:off x="4559424" y="4179168"/>
              <a:ext cx="685800" cy="5334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noFill/>
            <a:ln w="9525">
              <a:solidFill>
                <a:schemeClr val="tx1"/>
              </a:solidFill>
              <a:miter lim="800000"/>
            </a:ln>
          </p:spPr>
          <p:txBody>
            <a:bodyPr wrap="none" anchor="ct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17" name="Text Box 12">
              <a:extLst>
                <a:ext uri="{FF2B5EF4-FFF2-40B4-BE49-F238E27FC236}">
                  <a16:creationId xmlns:a16="http://schemas.microsoft.com/office/drawing/2014/main" id="{E7964953-10D5-4346-88E2-31DBF2FC2439}"/>
                </a:ext>
              </a:extLst>
            </p:cNvPr>
            <p:cNvSpPr txBox="1">
              <a:spLocks noChangeArrowheads="1"/>
            </p:cNvSpPr>
            <p:nvPr/>
          </p:nvSpPr>
          <p:spPr bwMode="auto">
            <a:xfrm>
              <a:off x="3873624" y="4239493"/>
              <a:ext cx="914400" cy="396875"/>
            </a:xfrm>
            <a:prstGeom prst="rect">
              <a:avLst/>
            </a:prstGeom>
            <a:noFill/>
            <a:ln w="9525">
              <a:noFill/>
              <a:miter lim="800000"/>
            </a:ln>
            <a:effectLst/>
          </p:spPr>
          <p:txBody>
            <a:bodyPr>
              <a:spAutoFit/>
            </a:bodyPr>
            <a:lstStyle/>
            <a:p>
              <a:pPr eaLnBrk="1" hangingPunct="1">
                <a:spcBef>
                  <a:spcPct val="50000"/>
                </a:spcBef>
                <a:defRPr/>
              </a:pPr>
              <a:r>
                <a:rPr lang="zh-CN" altLang="en-US" sz="2000" b="1" dirty="0">
                  <a:solidFill>
                    <a:schemeClr val="accent6">
                      <a:lumMod val="75000"/>
                    </a:schemeClr>
                  </a:solidFill>
                  <a:effectLst>
                    <a:outerShdw blurRad="38100" dist="38100" dir="2700000" algn="tl">
                      <a:srgbClr val="000000">
                        <a:alpha val="43137"/>
                      </a:srgbClr>
                    </a:outerShdw>
                  </a:effectLst>
                  <a:latin typeface="+mn-ea"/>
                  <a:ea typeface="+mn-ea"/>
                </a:rPr>
                <a:t>激活</a:t>
              </a:r>
            </a:p>
          </p:txBody>
        </p:sp>
        <p:sp>
          <p:nvSpPr>
            <p:cNvPr id="18" name="AutoShape 11">
              <a:extLst>
                <a:ext uri="{FF2B5EF4-FFF2-40B4-BE49-F238E27FC236}">
                  <a16:creationId xmlns:a16="http://schemas.microsoft.com/office/drawing/2014/main" id="{3A74B042-FC19-2E49-A056-EAC5403A4A10}"/>
                </a:ext>
              </a:extLst>
            </p:cNvPr>
            <p:cNvSpPr>
              <a:spLocks noChangeArrowheads="1"/>
            </p:cNvSpPr>
            <p:nvPr/>
          </p:nvSpPr>
          <p:spPr bwMode="auto">
            <a:xfrm>
              <a:off x="4559424" y="4179168"/>
              <a:ext cx="685800" cy="533400"/>
            </a:xfrm>
            <a:custGeom>
              <a:avLst/>
              <a:gdLst>
                <a:gd name="T0" fmla="*/ 342868 w 21600"/>
                <a:gd name="T1" fmla="*/ 0 h 21600"/>
                <a:gd name="T2" fmla="*/ 85725 w 21600"/>
                <a:gd name="T3" fmla="*/ 266700 h 21600"/>
                <a:gd name="T4" fmla="*/ 342868 w 21600"/>
                <a:gd name="T5" fmla="*/ 133350 h 21600"/>
                <a:gd name="T6" fmla="*/ 771525 w 21600"/>
                <a:gd name="T7" fmla="*/ 266700 h 21600"/>
                <a:gd name="T8" fmla="*/ 600075 w 21600"/>
                <a:gd name="T9" fmla="*/ 400050 h 21600"/>
                <a:gd name="T10" fmla="*/ 428625 w 21600"/>
                <a:gd name="T11" fmla="*/ 266700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noFill/>
            <a:ln w="9525">
              <a:solidFill>
                <a:schemeClr val="accent6">
                  <a:lumMod val="75000"/>
                </a:schemeClr>
              </a:solidFill>
              <a:miter lim="800000"/>
            </a:ln>
          </p:spPr>
          <p:txBody>
            <a:bodyPr wrap="none" anchor="ctr"/>
            <a:lstStyle/>
            <a:p>
              <a:pPr eaLnBrk="1" hangingPunct="1">
                <a:defRPr/>
              </a:pPr>
              <a:endParaRPr lang="zh-CN" altLang="en-US" b="1">
                <a:effectLst>
                  <a:outerShdw blurRad="38100" dist="38100" dir="2700000" algn="tl">
                    <a:srgbClr val="000000">
                      <a:alpha val="43137"/>
                    </a:srgbClr>
                  </a:outerShdw>
                </a:effectLst>
                <a:latin typeface="+mn-ea"/>
                <a:ea typeface="+mn-ea"/>
              </a:endParaRPr>
            </a:p>
          </p:txBody>
        </p:sp>
      </p:grpSp>
      <p:sp>
        <p:nvSpPr>
          <p:cNvPr id="2" name="矩形 1">
            <a:extLst>
              <a:ext uri="{FF2B5EF4-FFF2-40B4-BE49-F238E27FC236}">
                <a16:creationId xmlns:a16="http://schemas.microsoft.com/office/drawing/2014/main" id="{C5B00952-5444-7144-BE6B-17DF8B690B85}"/>
              </a:ext>
            </a:extLst>
          </p:cNvPr>
          <p:cNvSpPr/>
          <p:nvPr/>
        </p:nvSpPr>
        <p:spPr>
          <a:xfrm>
            <a:off x="363538" y="2565400"/>
            <a:ext cx="8451850" cy="954088"/>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accent2"/>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一个用户必须扮演某种角色，而且还必须激活这一角色，才能对一个对象进行访问或执行某种操作。</a:t>
            </a:r>
            <a:endPar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2" presetClass="entr" presetSubtype="1"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46472" name="Picture 8" descr="j0292020">
            <a:extLst>
              <a:ext uri="{FF2B5EF4-FFF2-40B4-BE49-F238E27FC236}">
                <a16:creationId xmlns:a16="http://schemas.microsoft.com/office/drawing/2014/main" id="{08AAA3AE-41AD-1E4A-90E9-F98B4F261E0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49400" y="4381500"/>
            <a:ext cx="1223963" cy="1162050"/>
          </a:xfrm>
        </p:spPr>
      </p:pic>
      <p:sp>
        <p:nvSpPr>
          <p:cNvPr id="446466" name="Rectangle 2">
            <a:extLst>
              <a:ext uri="{FF2B5EF4-FFF2-40B4-BE49-F238E27FC236}">
                <a16:creationId xmlns:a16="http://schemas.microsoft.com/office/drawing/2014/main" id="{8B62D4F8-5CF9-5347-8984-821026F4638F}"/>
              </a:ext>
            </a:extLst>
          </p:cNvPr>
          <p:cNvSpPr>
            <a:spLocks noGrp="1" noChangeArrowheads="1"/>
          </p:cNvSpPr>
          <p:nvPr>
            <p:ph type="title"/>
          </p:nvPr>
        </p:nvSpPr>
        <p:spPr>
          <a:xfrm>
            <a:off x="666750" y="1055688"/>
            <a:ext cx="6513513"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a:t>
            </a:r>
            <a:r>
              <a:rPr lang="zh-CN" altLang="en-US">
                <a:solidFill>
                  <a:srgbClr val="0033CC"/>
                </a:solidFill>
                <a:effectLst>
                  <a:outerShdw blurRad="38100" dist="38100" dir="2700000" algn="tl">
                    <a:srgbClr val="C0C0C0"/>
                  </a:outerShdw>
                </a:effectLst>
                <a:latin typeface="Times New Roman" panose="02020603050405020304" pitchFamily="18" charset="0"/>
              </a:rPr>
              <a:t>与传统访问控制的差别</a:t>
            </a:r>
          </a:p>
        </p:txBody>
      </p:sp>
      <p:pic>
        <p:nvPicPr>
          <p:cNvPr id="446468" name="Picture 4" descr="j0292020">
            <a:extLst>
              <a:ext uri="{FF2B5EF4-FFF2-40B4-BE49-F238E27FC236}">
                <a16:creationId xmlns:a16="http://schemas.microsoft.com/office/drawing/2014/main" id="{9EA38AAC-B413-EB47-8504-4EB867D10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7650" y="2308225"/>
            <a:ext cx="1223963"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6471" name="mainfrm">
            <a:extLst>
              <a:ext uri="{FF2B5EF4-FFF2-40B4-BE49-F238E27FC236}">
                <a16:creationId xmlns:a16="http://schemas.microsoft.com/office/drawing/2014/main" id="{041941AF-7A63-4A4C-9526-A38ABDCE1032}"/>
              </a:ext>
            </a:extLst>
          </p:cNvPr>
          <p:cNvSpPr>
            <a:spLocks noEditPoints="1" noChangeArrowheads="1"/>
          </p:cNvSpPr>
          <p:nvPr/>
        </p:nvSpPr>
        <p:spPr bwMode="auto">
          <a:xfrm>
            <a:off x="5981700" y="2235200"/>
            <a:ext cx="792163" cy="1296988"/>
          </a:xfrm>
          <a:custGeom>
            <a:avLst/>
            <a:gdLst>
              <a:gd name="T0" fmla="*/ 0 w 21600"/>
              <a:gd name="T1" fmla="*/ 0 h 21600"/>
              <a:gd name="T2" fmla="*/ 10800 w 21600"/>
              <a:gd name="T3" fmla="*/ 0 h 21600"/>
              <a:gd name="T4" fmla="*/ 21600 w 21600"/>
              <a:gd name="T5" fmla="*/ 0 h 21600"/>
              <a:gd name="T6" fmla="*/ 21600 w 21600"/>
              <a:gd name="T7" fmla="*/ 10800 h 21600"/>
              <a:gd name="T8" fmla="*/ 20603 w 21600"/>
              <a:gd name="T9" fmla="*/ 21600 h 21600"/>
              <a:gd name="T10" fmla="*/ 10800 w 21600"/>
              <a:gd name="T11" fmla="*/ 21600 h 21600"/>
              <a:gd name="T12" fmla="*/ 1163 w 21600"/>
              <a:gd name="T13" fmla="*/ 21600 h 21600"/>
              <a:gd name="T14" fmla="*/ 0 w 21600"/>
              <a:gd name="T15" fmla="*/ 10800 h 21600"/>
              <a:gd name="T16" fmla="*/ 332 w 21600"/>
              <a:gd name="T17" fmla="*/ 22174 h 21600"/>
              <a:gd name="T18" fmla="*/ 21579 w 21600"/>
              <a:gd name="T19" fmla="*/ 27914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0C0C0"/>
          </a:solidFill>
          <a:ln w="9525">
            <a:solidFill>
              <a:srgbClr val="000000"/>
            </a:solidFill>
            <a:miter lim="800000"/>
          </a:ln>
        </p:spPr>
        <p:txBody>
          <a:bodyPr/>
          <a:lstStyle/>
          <a:p>
            <a:pPr>
              <a:defRPr/>
            </a:pPr>
            <a:endParaRPr lang="zh-CN" altLang="en-US" sz="2000">
              <a:effectLst>
                <a:outerShdw blurRad="38100" dist="38100" dir="2700000" algn="tl">
                  <a:srgbClr val="000000">
                    <a:alpha val="43137"/>
                  </a:srgbClr>
                </a:outerShdw>
              </a:effectLst>
              <a:latin typeface="+mn-ea"/>
              <a:ea typeface="+mn-ea"/>
            </a:endParaRPr>
          </a:p>
        </p:txBody>
      </p:sp>
      <p:sp>
        <p:nvSpPr>
          <p:cNvPr id="446475" name="mainfrm">
            <a:extLst>
              <a:ext uri="{FF2B5EF4-FFF2-40B4-BE49-F238E27FC236}">
                <a16:creationId xmlns:a16="http://schemas.microsoft.com/office/drawing/2014/main" id="{7B87298F-1CE7-6042-BBA1-0223D8D37AFB}"/>
              </a:ext>
            </a:extLst>
          </p:cNvPr>
          <p:cNvSpPr>
            <a:spLocks noEditPoints="1" noChangeArrowheads="1"/>
          </p:cNvSpPr>
          <p:nvPr/>
        </p:nvSpPr>
        <p:spPr bwMode="auto">
          <a:xfrm>
            <a:off x="6157913" y="4238625"/>
            <a:ext cx="792162" cy="1296988"/>
          </a:xfrm>
          <a:custGeom>
            <a:avLst/>
            <a:gdLst>
              <a:gd name="T0" fmla="*/ 0 w 21600"/>
              <a:gd name="T1" fmla="*/ 0 h 21600"/>
              <a:gd name="T2" fmla="*/ 10800 w 21600"/>
              <a:gd name="T3" fmla="*/ 0 h 21600"/>
              <a:gd name="T4" fmla="*/ 21600 w 21600"/>
              <a:gd name="T5" fmla="*/ 0 h 21600"/>
              <a:gd name="T6" fmla="*/ 21600 w 21600"/>
              <a:gd name="T7" fmla="*/ 10800 h 21600"/>
              <a:gd name="T8" fmla="*/ 20603 w 21600"/>
              <a:gd name="T9" fmla="*/ 21600 h 21600"/>
              <a:gd name="T10" fmla="*/ 10800 w 21600"/>
              <a:gd name="T11" fmla="*/ 21600 h 21600"/>
              <a:gd name="T12" fmla="*/ 1163 w 21600"/>
              <a:gd name="T13" fmla="*/ 21600 h 21600"/>
              <a:gd name="T14" fmla="*/ 0 w 21600"/>
              <a:gd name="T15" fmla="*/ 10800 h 21600"/>
              <a:gd name="T16" fmla="*/ 332 w 21600"/>
              <a:gd name="T17" fmla="*/ 22174 h 21600"/>
              <a:gd name="T18" fmla="*/ 21579 w 21600"/>
              <a:gd name="T19" fmla="*/ 27914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0C0C0"/>
          </a:solidFill>
          <a:ln w="9525">
            <a:solidFill>
              <a:srgbClr val="000000"/>
            </a:solidFill>
            <a:miter lim="800000"/>
          </a:ln>
        </p:spPr>
        <p:txBody>
          <a:bodyPr/>
          <a:lstStyle/>
          <a:p>
            <a:pPr>
              <a:defRPr/>
            </a:pPr>
            <a:endParaRPr lang="zh-CN" altLang="en-US" sz="2000">
              <a:effectLst>
                <a:outerShdw blurRad="38100" dist="38100" dir="2700000" algn="tl">
                  <a:srgbClr val="000000">
                    <a:alpha val="43137"/>
                  </a:srgbClr>
                </a:outerShdw>
              </a:effectLst>
              <a:latin typeface="+mn-ea"/>
              <a:ea typeface="+mn-ea"/>
            </a:endParaRPr>
          </a:p>
        </p:txBody>
      </p:sp>
      <p:grpSp>
        <p:nvGrpSpPr>
          <p:cNvPr id="446480" name="Group 16">
            <a:extLst>
              <a:ext uri="{FF2B5EF4-FFF2-40B4-BE49-F238E27FC236}">
                <a16:creationId xmlns:a16="http://schemas.microsoft.com/office/drawing/2014/main" id="{0117CA92-0412-EB40-BEEB-4333D4FB8D2C}"/>
              </a:ext>
            </a:extLst>
          </p:cNvPr>
          <p:cNvGrpSpPr>
            <a:grpSpLocks/>
          </p:cNvGrpSpPr>
          <p:nvPr/>
        </p:nvGrpSpPr>
        <p:grpSpPr bwMode="auto">
          <a:xfrm>
            <a:off x="2743200" y="2308225"/>
            <a:ext cx="3095625" cy="576263"/>
            <a:chOff x="1520" y="1616"/>
            <a:chExt cx="1950" cy="363"/>
          </a:xfrm>
        </p:grpSpPr>
        <p:sp>
          <p:nvSpPr>
            <p:cNvPr id="446470" name="Line 6">
              <a:extLst>
                <a:ext uri="{FF2B5EF4-FFF2-40B4-BE49-F238E27FC236}">
                  <a16:creationId xmlns:a16="http://schemas.microsoft.com/office/drawing/2014/main" id="{61BEA5E5-29C1-A64D-8219-BA989F79563B}"/>
                </a:ext>
              </a:extLst>
            </p:cNvPr>
            <p:cNvSpPr>
              <a:spLocks noChangeShapeType="1"/>
            </p:cNvSpPr>
            <p:nvPr/>
          </p:nvSpPr>
          <p:spPr bwMode="auto">
            <a:xfrm>
              <a:off x="1520" y="1979"/>
              <a:ext cx="1950" cy="0"/>
            </a:xfrm>
            <a:prstGeom prst="line">
              <a:avLst/>
            </a:prstGeom>
            <a:noFill/>
            <a:ln w="31750">
              <a:solidFill>
                <a:schemeClr val="tx1"/>
              </a:solidFill>
              <a:round/>
              <a:tailEnd type="triangle" w="med" len="lg"/>
            </a:ln>
            <a:effectLst/>
          </p:spPr>
          <p:txBody>
            <a:bodyPr/>
            <a:lstStyle/>
            <a:p>
              <a:pPr>
                <a:defRPr/>
              </a:pPr>
              <a:endParaRPr lang="zh-CN" altLang="en-US" sz="2000">
                <a:effectLst>
                  <a:outerShdw blurRad="38100" dist="38100" dir="2700000" algn="tl">
                    <a:srgbClr val="000000">
                      <a:alpha val="43137"/>
                    </a:srgbClr>
                  </a:outerShdw>
                </a:effectLst>
                <a:latin typeface="+mn-ea"/>
                <a:ea typeface="+mn-ea"/>
              </a:endParaRPr>
            </a:p>
          </p:txBody>
        </p:sp>
        <p:sp>
          <p:nvSpPr>
            <p:cNvPr id="446477" name="Text Box 13">
              <a:extLst>
                <a:ext uri="{FF2B5EF4-FFF2-40B4-BE49-F238E27FC236}">
                  <a16:creationId xmlns:a16="http://schemas.microsoft.com/office/drawing/2014/main" id="{3C878019-2A07-5342-A4DD-8D500215FC73}"/>
                </a:ext>
              </a:extLst>
            </p:cNvPr>
            <p:cNvSpPr txBox="1">
              <a:spLocks noChangeArrowheads="1"/>
            </p:cNvSpPr>
            <p:nvPr/>
          </p:nvSpPr>
          <p:spPr bwMode="auto">
            <a:xfrm>
              <a:off x="2154" y="1616"/>
              <a:ext cx="441" cy="252"/>
            </a:xfrm>
            <a:prstGeom prst="rect">
              <a:avLst/>
            </a:prstGeom>
            <a:noFill/>
            <a:ln>
              <a:noFill/>
            </a:ln>
            <a:effectLst/>
          </p:spPr>
          <p:txBody>
            <a:bodyPr wrap="none">
              <a:spAutoFit/>
            </a:bodyPr>
            <a:lstStyle/>
            <a:p>
              <a:pPr>
                <a:defRPr/>
              </a:pPr>
              <a:r>
                <a:rPr lang="zh-CN" altLang="en-US" sz="2000">
                  <a:effectLst>
                    <a:outerShdw blurRad="38100" dist="38100" dir="2700000" algn="tl">
                      <a:srgbClr val="000000">
                        <a:alpha val="43137"/>
                      </a:srgbClr>
                    </a:outerShdw>
                  </a:effectLst>
                  <a:latin typeface="+mn-ea"/>
                  <a:ea typeface="+mn-ea"/>
                </a:rPr>
                <a:t>访问</a:t>
              </a:r>
            </a:p>
          </p:txBody>
        </p:sp>
      </p:grpSp>
      <p:grpSp>
        <p:nvGrpSpPr>
          <p:cNvPr id="446481" name="Group 17">
            <a:extLst>
              <a:ext uri="{FF2B5EF4-FFF2-40B4-BE49-F238E27FC236}">
                <a16:creationId xmlns:a16="http://schemas.microsoft.com/office/drawing/2014/main" id="{65970BB1-B6BC-474F-B116-59B44AEFAC44}"/>
              </a:ext>
            </a:extLst>
          </p:cNvPr>
          <p:cNvGrpSpPr>
            <a:grpSpLocks/>
          </p:cNvGrpSpPr>
          <p:nvPr/>
        </p:nvGrpSpPr>
        <p:grpSpPr bwMode="auto">
          <a:xfrm>
            <a:off x="2752725" y="4645025"/>
            <a:ext cx="957263" cy="457200"/>
            <a:chOff x="1461" y="3006"/>
            <a:chExt cx="603" cy="288"/>
          </a:xfrm>
        </p:grpSpPr>
        <p:sp>
          <p:nvSpPr>
            <p:cNvPr id="446474" name="Line 10">
              <a:extLst>
                <a:ext uri="{FF2B5EF4-FFF2-40B4-BE49-F238E27FC236}">
                  <a16:creationId xmlns:a16="http://schemas.microsoft.com/office/drawing/2014/main" id="{1E721691-F626-224C-B671-93A02FD3A2F2}"/>
                </a:ext>
              </a:extLst>
            </p:cNvPr>
            <p:cNvSpPr>
              <a:spLocks noChangeShapeType="1"/>
            </p:cNvSpPr>
            <p:nvPr/>
          </p:nvSpPr>
          <p:spPr bwMode="auto">
            <a:xfrm>
              <a:off x="1474" y="3294"/>
              <a:ext cx="590" cy="0"/>
            </a:xfrm>
            <a:prstGeom prst="line">
              <a:avLst/>
            </a:prstGeom>
            <a:noFill/>
            <a:ln w="31750">
              <a:solidFill>
                <a:schemeClr val="tx1"/>
              </a:solidFill>
              <a:round/>
              <a:tailEnd type="triangle" w="med" len="med"/>
            </a:ln>
            <a:effectLst/>
          </p:spPr>
          <p:txBody>
            <a:bodyPr/>
            <a:lstStyle/>
            <a:p>
              <a:pPr>
                <a:defRPr/>
              </a:pPr>
              <a:endParaRPr lang="zh-CN" altLang="en-US" sz="2000">
                <a:effectLst>
                  <a:outerShdw blurRad="38100" dist="38100" dir="2700000" algn="tl">
                    <a:srgbClr val="000000">
                      <a:alpha val="43137"/>
                    </a:srgbClr>
                  </a:outerShdw>
                </a:effectLst>
                <a:latin typeface="+mn-ea"/>
                <a:ea typeface="+mn-ea"/>
              </a:endParaRPr>
            </a:p>
          </p:txBody>
        </p:sp>
        <p:sp>
          <p:nvSpPr>
            <p:cNvPr id="446478" name="Text Box 14">
              <a:extLst>
                <a:ext uri="{FF2B5EF4-FFF2-40B4-BE49-F238E27FC236}">
                  <a16:creationId xmlns:a16="http://schemas.microsoft.com/office/drawing/2014/main" id="{F2F1A5F3-7D9F-344A-8374-FBC30EADDBDC}"/>
                </a:ext>
              </a:extLst>
            </p:cNvPr>
            <p:cNvSpPr txBox="1">
              <a:spLocks noChangeArrowheads="1"/>
            </p:cNvSpPr>
            <p:nvPr/>
          </p:nvSpPr>
          <p:spPr bwMode="auto">
            <a:xfrm>
              <a:off x="1461" y="3006"/>
              <a:ext cx="441" cy="252"/>
            </a:xfrm>
            <a:prstGeom prst="rect">
              <a:avLst/>
            </a:prstGeom>
            <a:noFill/>
            <a:ln>
              <a:noFill/>
            </a:ln>
            <a:effectLst/>
          </p:spPr>
          <p:txBody>
            <a:bodyPr wrap="none">
              <a:spAutoFit/>
            </a:bodyPr>
            <a:lstStyle/>
            <a:p>
              <a:pPr>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获取</a:t>
              </a:r>
            </a:p>
          </p:txBody>
        </p:sp>
      </p:grpSp>
      <p:grpSp>
        <p:nvGrpSpPr>
          <p:cNvPr id="446482" name="Group 18">
            <a:extLst>
              <a:ext uri="{FF2B5EF4-FFF2-40B4-BE49-F238E27FC236}">
                <a16:creationId xmlns:a16="http://schemas.microsoft.com/office/drawing/2014/main" id="{F3BF83B7-0980-CE41-B794-77ABAE923599}"/>
              </a:ext>
            </a:extLst>
          </p:cNvPr>
          <p:cNvGrpSpPr>
            <a:grpSpLocks/>
          </p:cNvGrpSpPr>
          <p:nvPr/>
        </p:nvGrpSpPr>
        <p:grpSpPr bwMode="auto">
          <a:xfrm>
            <a:off x="5005388" y="4573588"/>
            <a:ext cx="1152525" cy="457200"/>
            <a:chOff x="2880" y="2961"/>
            <a:chExt cx="726" cy="288"/>
          </a:xfrm>
        </p:grpSpPr>
        <p:sp>
          <p:nvSpPr>
            <p:cNvPr id="446476" name="Line 12">
              <a:extLst>
                <a:ext uri="{FF2B5EF4-FFF2-40B4-BE49-F238E27FC236}">
                  <a16:creationId xmlns:a16="http://schemas.microsoft.com/office/drawing/2014/main" id="{B3F259E6-65E1-494F-ACEE-08663C101140}"/>
                </a:ext>
              </a:extLst>
            </p:cNvPr>
            <p:cNvSpPr>
              <a:spLocks noChangeShapeType="1"/>
            </p:cNvSpPr>
            <p:nvPr/>
          </p:nvSpPr>
          <p:spPr bwMode="auto">
            <a:xfrm>
              <a:off x="2880" y="3249"/>
              <a:ext cx="726" cy="0"/>
            </a:xfrm>
            <a:prstGeom prst="line">
              <a:avLst/>
            </a:prstGeom>
            <a:noFill/>
            <a:ln w="31750">
              <a:solidFill>
                <a:schemeClr val="tx1"/>
              </a:solidFill>
              <a:round/>
              <a:tailEnd type="triangle" w="med" len="lg"/>
            </a:ln>
            <a:effectLst/>
          </p:spPr>
          <p:txBody>
            <a:bodyPr/>
            <a:lstStyle/>
            <a:p>
              <a:pPr>
                <a:defRPr/>
              </a:pPr>
              <a:endParaRPr lang="zh-CN" altLang="en-US" sz="2000">
                <a:effectLst>
                  <a:outerShdw blurRad="38100" dist="38100" dir="2700000" algn="tl">
                    <a:srgbClr val="000000">
                      <a:alpha val="43137"/>
                    </a:srgbClr>
                  </a:outerShdw>
                </a:effectLst>
                <a:latin typeface="+mn-ea"/>
                <a:ea typeface="+mn-ea"/>
              </a:endParaRPr>
            </a:p>
          </p:txBody>
        </p:sp>
        <p:sp>
          <p:nvSpPr>
            <p:cNvPr id="446479" name="Text Box 15">
              <a:extLst>
                <a:ext uri="{FF2B5EF4-FFF2-40B4-BE49-F238E27FC236}">
                  <a16:creationId xmlns:a16="http://schemas.microsoft.com/office/drawing/2014/main" id="{9AAE4BE7-0291-A94A-B859-1276D58A1024}"/>
                </a:ext>
              </a:extLst>
            </p:cNvPr>
            <p:cNvSpPr txBox="1">
              <a:spLocks noChangeArrowheads="1"/>
            </p:cNvSpPr>
            <p:nvPr/>
          </p:nvSpPr>
          <p:spPr bwMode="auto">
            <a:xfrm>
              <a:off x="2971" y="2961"/>
              <a:ext cx="441" cy="252"/>
            </a:xfrm>
            <a:prstGeom prst="rect">
              <a:avLst/>
            </a:prstGeom>
            <a:noFill/>
            <a:ln>
              <a:noFill/>
            </a:ln>
            <a:effectLst/>
          </p:spPr>
          <p:txBody>
            <a:bodyPr wrap="none">
              <a:spAutoFit/>
            </a:bodyPr>
            <a:lstStyle/>
            <a:p>
              <a:pPr>
                <a:defRPr/>
              </a:pPr>
              <a:r>
                <a:rPr lang="zh-CN" altLang="en-US" sz="2000">
                  <a:effectLst>
                    <a:outerShdw blurRad="38100" dist="38100" dir="2700000" algn="tl">
                      <a:srgbClr val="000000">
                        <a:alpha val="43137"/>
                      </a:srgbClr>
                    </a:outerShdw>
                  </a:effectLst>
                  <a:latin typeface="+mn-ea"/>
                  <a:ea typeface="+mn-ea"/>
                </a:rPr>
                <a:t>访问</a:t>
              </a:r>
            </a:p>
          </p:txBody>
        </p:sp>
      </p:grpSp>
      <p:sp>
        <p:nvSpPr>
          <p:cNvPr id="446473" name="Oval 9">
            <a:extLst>
              <a:ext uri="{FF2B5EF4-FFF2-40B4-BE49-F238E27FC236}">
                <a16:creationId xmlns:a16="http://schemas.microsoft.com/office/drawing/2014/main" id="{E6018338-A9A6-A040-AFBA-E5BB38B34E4E}"/>
              </a:ext>
            </a:extLst>
          </p:cNvPr>
          <p:cNvSpPr>
            <a:spLocks noChangeArrowheads="1"/>
          </p:cNvSpPr>
          <p:nvPr/>
        </p:nvSpPr>
        <p:spPr bwMode="auto">
          <a:xfrm>
            <a:off x="3636963" y="4525963"/>
            <a:ext cx="1439862" cy="936625"/>
          </a:xfrm>
          <a:prstGeom prst="ellipse">
            <a:avLst/>
          </a:prstGeom>
          <a:solidFill>
            <a:srgbClr val="FFC000"/>
          </a:solidFill>
          <a:ln w="9525">
            <a:solidFill>
              <a:schemeClr val="tx1"/>
            </a:solidFill>
            <a:round/>
          </a:ln>
          <a:effectLst/>
        </p:spPr>
        <p:txBody>
          <a:bodyPr wrap="none" anchor="ctr"/>
          <a:lstStyle/>
          <a:p>
            <a:pPr algn="ctr">
              <a:defRPr/>
            </a:pPr>
            <a:r>
              <a:rPr lang="zh-CN" altLang="en-US" sz="2000">
                <a:effectLst>
                  <a:outerShdw blurRad="38100" dist="38100" dir="2700000" algn="tl">
                    <a:srgbClr val="000000">
                      <a:alpha val="43137"/>
                    </a:srgbClr>
                  </a:outerShdw>
                </a:effectLst>
                <a:latin typeface="+mn-ea"/>
                <a:ea typeface="+mn-ea"/>
              </a:rPr>
              <a:t>角色</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6468"/>
                                        </p:tgtEl>
                                        <p:attrNameLst>
                                          <p:attrName>style.visibility</p:attrName>
                                        </p:attrNameLst>
                                      </p:cBhvr>
                                      <p:to>
                                        <p:strVal val="visible"/>
                                      </p:to>
                                    </p:set>
                                    <p:anim calcmode="lin" valueType="num">
                                      <p:cBhvr additive="base">
                                        <p:cTn id="7" dur="500" fill="hold"/>
                                        <p:tgtEl>
                                          <p:spTgt spid="446468"/>
                                        </p:tgtEl>
                                        <p:attrNameLst>
                                          <p:attrName>ppt_x</p:attrName>
                                        </p:attrNameLst>
                                      </p:cBhvr>
                                      <p:tavLst>
                                        <p:tav tm="0">
                                          <p:val>
                                            <p:strVal val="#ppt_x"/>
                                          </p:val>
                                        </p:tav>
                                        <p:tav tm="100000">
                                          <p:val>
                                            <p:strVal val="#ppt_x"/>
                                          </p:val>
                                        </p:tav>
                                      </p:tavLst>
                                    </p:anim>
                                    <p:anim calcmode="lin" valueType="num">
                                      <p:cBhvr additive="base">
                                        <p:cTn id="8" dur="500" fill="hold"/>
                                        <p:tgtEl>
                                          <p:spTgt spid="44646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6471"/>
                                        </p:tgtEl>
                                        <p:attrNameLst>
                                          <p:attrName>style.visibility</p:attrName>
                                        </p:attrNameLst>
                                      </p:cBhvr>
                                      <p:to>
                                        <p:strVal val="visible"/>
                                      </p:to>
                                    </p:set>
                                    <p:anim calcmode="lin" valueType="num">
                                      <p:cBhvr additive="base">
                                        <p:cTn id="11" dur="500" fill="hold"/>
                                        <p:tgtEl>
                                          <p:spTgt spid="446471"/>
                                        </p:tgtEl>
                                        <p:attrNameLst>
                                          <p:attrName>ppt_x</p:attrName>
                                        </p:attrNameLst>
                                      </p:cBhvr>
                                      <p:tavLst>
                                        <p:tav tm="0">
                                          <p:val>
                                            <p:strVal val="#ppt_x"/>
                                          </p:val>
                                        </p:tav>
                                        <p:tav tm="100000">
                                          <p:val>
                                            <p:strVal val="#ppt_x"/>
                                          </p:val>
                                        </p:tav>
                                      </p:tavLst>
                                    </p:anim>
                                    <p:anim calcmode="lin" valueType="num">
                                      <p:cBhvr additive="base">
                                        <p:cTn id="12" dur="500" fill="hold"/>
                                        <p:tgtEl>
                                          <p:spTgt spid="44647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446480"/>
                                        </p:tgtEl>
                                        <p:attrNameLst>
                                          <p:attrName>style.visibility</p:attrName>
                                        </p:attrNameLst>
                                      </p:cBhvr>
                                      <p:to>
                                        <p:strVal val="visible"/>
                                      </p:to>
                                    </p:set>
                                    <p:anim calcmode="lin" valueType="num">
                                      <p:cBhvr>
                                        <p:cTn id="17" dur="500" fill="hold"/>
                                        <p:tgtEl>
                                          <p:spTgt spid="446480"/>
                                        </p:tgtEl>
                                        <p:attrNameLst>
                                          <p:attrName>ppt_x</p:attrName>
                                        </p:attrNameLst>
                                      </p:cBhvr>
                                      <p:tavLst>
                                        <p:tav tm="0">
                                          <p:val>
                                            <p:strVal val="#ppt_x-#ppt_w/2"/>
                                          </p:val>
                                        </p:tav>
                                        <p:tav tm="100000">
                                          <p:val>
                                            <p:strVal val="#ppt_x"/>
                                          </p:val>
                                        </p:tav>
                                      </p:tavLst>
                                    </p:anim>
                                    <p:anim calcmode="lin" valueType="num">
                                      <p:cBhvr>
                                        <p:cTn id="18" dur="500" fill="hold"/>
                                        <p:tgtEl>
                                          <p:spTgt spid="446480"/>
                                        </p:tgtEl>
                                        <p:attrNameLst>
                                          <p:attrName>ppt_y</p:attrName>
                                        </p:attrNameLst>
                                      </p:cBhvr>
                                      <p:tavLst>
                                        <p:tav tm="0">
                                          <p:val>
                                            <p:strVal val="#ppt_y"/>
                                          </p:val>
                                        </p:tav>
                                        <p:tav tm="100000">
                                          <p:val>
                                            <p:strVal val="#ppt_y"/>
                                          </p:val>
                                        </p:tav>
                                      </p:tavLst>
                                    </p:anim>
                                    <p:anim calcmode="lin" valueType="num">
                                      <p:cBhvr>
                                        <p:cTn id="19" dur="500" fill="hold"/>
                                        <p:tgtEl>
                                          <p:spTgt spid="446480"/>
                                        </p:tgtEl>
                                        <p:attrNameLst>
                                          <p:attrName>ppt_w</p:attrName>
                                        </p:attrNameLst>
                                      </p:cBhvr>
                                      <p:tavLst>
                                        <p:tav tm="0">
                                          <p:val>
                                            <p:fltVal val="0"/>
                                          </p:val>
                                        </p:tav>
                                        <p:tav tm="100000">
                                          <p:val>
                                            <p:strVal val="#ppt_w"/>
                                          </p:val>
                                        </p:tav>
                                      </p:tavLst>
                                    </p:anim>
                                    <p:anim calcmode="lin" valueType="num">
                                      <p:cBhvr>
                                        <p:cTn id="20" dur="500" fill="hold"/>
                                        <p:tgtEl>
                                          <p:spTgt spid="446480"/>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46472"/>
                                        </p:tgtEl>
                                        <p:attrNameLst>
                                          <p:attrName>style.visibility</p:attrName>
                                        </p:attrNameLst>
                                      </p:cBhvr>
                                      <p:to>
                                        <p:strVal val="visible"/>
                                      </p:to>
                                    </p:set>
                                    <p:anim calcmode="lin" valueType="num">
                                      <p:cBhvr additive="base">
                                        <p:cTn id="25" dur="500" fill="hold"/>
                                        <p:tgtEl>
                                          <p:spTgt spid="446472"/>
                                        </p:tgtEl>
                                        <p:attrNameLst>
                                          <p:attrName>ppt_x</p:attrName>
                                        </p:attrNameLst>
                                      </p:cBhvr>
                                      <p:tavLst>
                                        <p:tav tm="0">
                                          <p:val>
                                            <p:strVal val="#ppt_x"/>
                                          </p:val>
                                        </p:tav>
                                        <p:tav tm="100000">
                                          <p:val>
                                            <p:strVal val="#ppt_x"/>
                                          </p:val>
                                        </p:tav>
                                      </p:tavLst>
                                    </p:anim>
                                    <p:anim calcmode="lin" valueType="num">
                                      <p:cBhvr additive="base">
                                        <p:cTn id="26" dur="500" fill="hold"/>
                                        <p:tgtEl>
                                          <p:spTgt spid="44647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46475"/>
                                        </p:tgtEl>
                                        <p:attrNameLst>
                                          <p:attrName>style.visibility</p:attrName>
                                        </p:attrNameLst>
                                      </p:cBhvr>
                                      <p:to>
                                        <p:strVal val="visible"/>
                                      </p:to>
                                    </p:set>
                                    <p:anim calcmode="lin" valueType="num">
                                      <p:cBhvr additive="base">
                                        <p:cTn id="29" dur="500" fill="hold"/>
                                        <p:tgtEl>
                                          <p:spTgt spid="446475"/>
                                        </p:tgtEl>
                                        <p:attrNameLst>
                                          <p:attrName>ppt_x</p:attrName>
                                        </p:attrNameLst>
                                      </p:cBhvr>
                                      <p:tavLst>
                                        <p:tav tm="0">
                                          <p:val>
                                            <p:strVal val="#ppt_x"/>
                                          </p:val>
                                        </p:tav>
                                        <p:tav tm="100000">
                                          <p:val>
                                            <p:strVal val="#ppt_x"/>
                                          </p:val>
                                        </p:tav>
                                      </p:tavLst>
                                    </p:anim>
                                    <p:anim calcmode="lin" valueType="num">
                                      <p:cBhvr additive="base">
                                        <p:cTn id="30" dur="500" fill="hold"/>
                                        <p:tgtEl>
                                          <p:spTgt spid="446475"/>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nodeType="clickEffect">
                                  <p:stCondLst>
                                    <p:cond delay="0"/>
                                  </p:stCondLst>
                                  <p:childTnLst>
                                    <p:set>
                                      <p:cBhvr>
                                        <p:cTn id="34" dur="1" fill="hold">
                                          <p:stCondLst>
                                            <p:cond delay="0"/>
                                          </p:stCondLst>
                                        </p:cTn>
                                        <p:tgtEl>
                                          <p:spTgt spid="446481"/>
                                        </p:tgtEl>
                                        <p:attrNameLst>
                                          <p:attrName>style.visibility</p:attrName>
                                        </p:attrNameLst>
                                      </p:cBhvr>
                                      <p:to>
                                        <p:strVal val="visible"/>
                                      </p:to>
                                    </p:set>
                                    <p:anim calcmode="lin" valueType="num">
                                      <p:cBhvr>
                                        <p:cTn id="35" dur="1000" fill="hold"/>
                                        <p:tgtEl>
                                          <p:spTgt spid="446481"/>
                                        </p:tgtEl>
                                        <p:attrNameLst>
                                          <p:attrName>ppt_x</p:attrName>
                                        </p:attrNameLst>
                                      </p:cBhvr>
                                      <p:tavLst>
                                        <p:tav tm="0">
                                          <p:val>
                                            <p:strVal val="#ppt_x-#ppt_w/2"/>
                                          </p:val>
                                        </p:tav>
                                        <p:tav tm="100000">
                                          <p:val>
                                            <p:strVal val="#ppt_x"/>
                                          </p:val>
                                        </p:tav>
                                      </p:tavLst>
                                    </p:anim>
                                    <p:anim calcmode="lin" valueType="num">
                                      <p:cBhvr>
                                        <p:cTn id="36" dur="1000" fill="hold"/>
                                        <p:tgtEl>
                                          <p:spTgt spid="446481"/>
                                        </p:tgtEl>
                                        <p:attrNameLst>
                                          <p:attrName>ppt_y</p:attrName>
                                        </p:attrNameLst>
                                      </p:cBhvr>
                                      <p:tavLst>
                                        <p:tav tm="0">
                                          <p:val>
                                            <p:strVal val="#ppt_y"/>
                                          </p:val>
                                        </p:tav>
                                        <p:tav tm="100000">
                                          <p:val>
                                            <p:strVal val="#ppt_y"/>
                                          </p:val>
                                        </p:tav>
                                      </p:tavLst>
                                    </p:anim>
                                    <p:anim calcmode="lin" valueType="num">
                                      <p:cBhvr>
                                        <p:cTn id="37" dur="1000" fill="hold"/>
                                        <p:tgtEl>
                                          <p:spTgt spid="446481"/>
                                        </p:tgtEl>
                                        <p:attrNameLst>
                                          <p:attrName>ppt_w</p:attrName>
                                        </p:attrNameLst>
                                      </p:cBhvr>
                                      <p:tavLst>
                                        <p:tav tm="0">
                                          <p:val>
                                            <p:fltVal val="0"/>
                                          </p:val>
                                        </p:tav>
                                        <p:tav tm="100000">
                                          <p:val>
                                            <p:strVal val="#ppt_w"/>
                                          </p:val>
                                        </p:tav>
                                      </p:tavLst>
                                    </p:anim>
                                    <p:anim calcmode="lin" valueType="num">
                                      <p:cBhvr>
                                        <p:cTn id="38" dur="1000" fill="hold"/>
                                        <p:tgtEl>
                                          <p:spTgt spid="446481"/>
                                        </p:tgtEl>
                                        <p:attrNameLst>
                                          <p:attrName>ppt_h</p:attrName>
                                        </p:attrNameLst>
                                      </p:cBhvr>
                                      <p:tavLst>
                                        <p:tav tm="0">
                                          <p:val>
                                            <p:strVal val="#ppt_h"/>
                                          </p:val>
                                        </p:tav>
                                        <p:tav tm="100000">
                                          <p:val>
                                            <p:strVal val="#ppt_h"/>
                                          </p:val>
                                        </p:tav>
                                      </p:tavLst>
                                    </p:anim>
                                  </p:childTnLst>
                                </p:cTn>
                              </p:par>
                            </p:childTnLst>
                          </p:cTn>
                        </p:par>
                        <p:par>
                          <p:cTn id="39" fill="hold" nodeType="afterGroup">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44647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8" fill="hold" nodeType="clickEffect">
                                  <p:stCondLst>
                                    <p:cond delay="0"/>
                                  </p:stCondLst>
                                  <p:childTnLst>
                                    <p:set>
                                      <p:cBhvr>
                                        <p:cTn id="45" dur="1" fill="hold">
                                          <p:stCondLst>
                                            <p:cond delay="0"/>
                                          </p:stCondLst>
                                        </p:cTn>
                                        <p:tgtEl>
                                          <p:spTgt spid="446482"/>
                                        </p:tgtEl>
                                        <p:attrNameLst>
                                          <p:attrName>style.visibility</p:attrName>
                                        </p:attrNameLst>
                                      </p:cBhvr>
                                      <p:to>
                                        <p:strVal val="visible"/>
                                      </p:to>
                                    </p:set>
                                    <p:anim calcmode="lin" valueType="num">
                                      <p:cBhvr>
                                        <p:cTn id="46" dur="1000" fill="hold"/>
                                        <p:tgtEl>
                                          <p:spTgt spid="446482"/>
                                        </p:tgtEl>
                                        <p:attrNameLst>
                                          <p:attrName>ppt_x</p:attrName>
                                        </p:attrNameLst>
                                      </p:cBhvr>
                                      <p:tavLst>
                                        <p:tav tm="0">
                                          <p:val>
                                            <p:strVal val="#ppt_x-#ppt_w/2"/>
                                          </p:val>
                                        </p:tav>
                                        <p:tav tm="100000">
                                          <p:val>
                                            <p:strVal val="#ppt_x"/>
                                          </p:val>
                                        </p:tav>
                                      </p:tavLst>
                                    </p:anim>
                                    <p:anim calcmode="lin" valueType="num">
                                      <p:cBhvr>
                                        <p:cTn id="47" dur="1000" fill="hold"/>
                                        <p:tgtEl>
                                          <p:spTgt spid="446482"/>
                                        </p:tgtEl>
                                        <p:attrNameLst>
                                          <p:attrName>ppt_y</p:attrName>
                                        </p:attrNameLst>
                                      </p:cBhvr>
                                      <p:tavLst>
                                        <p:tav tm="0">
                                          <p:val>
                                            <p:strVal val="#ppt_y"/>
                                          </p:val>
                                        </p:tav>
                                        <p:tav tm="100000">
                                          <p:val>
                                            <p:strVal val="#ppt_y"/>
                                          </p:val>
                                        </p:tav>
                                      </p:tavLst>
                                    </p:anim>
                                    <p:anim calcmode="lin" valueType="num">
                                      <p:cBhvr>
                                        <p:cTn id="48" dur="1000" fill="hold"/>
                                        <p:tgtEl>
                                          <p:spTgt spid="446482"/>
                                        </p:tgtEl>
                                        <p:attrNameLst>
                                          <p:attrName>ppt_w</p:attrName>
                                        </p:attrNameLst>
                                      </p:cBhvr>
                                      <p:tavLst>
                                        <p:tav tm="0">
                                          <p:val>
                                            <p:fltVal val="0"/>
                                          </p:val>
                                        </p:tav>
                                        <p:tav tm="100000">
                                          <p:val>
                                            <p:strVal val="#ppt_w"/>
                                          </p:val>
                                        </p:tav>
                                      </p:tavLst>
                                    </p:anim>
                                    <p:anim calcmode="lin" valueType="num">
                                      <p:cBhvr>
                                        <p:cTn id="49" dur="1000" fill="hold"/>
                                        <p:tgtEl>
                                          <p:spTgt spid="4464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7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36E9CC1-F073-944D-8541-142C750982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3789363"/>
            <a:ext cx="345440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4531" name="Rectangle 3">
            <a:extLst>
              <a:ext uri="{FF2B5EF4-FFF2-40B4-BE49-F238E27FC236}">
                <a16:creationId xmlns:a16="http://schemas.microsoft.com/office/drawing/2014/main" id="{F95F463C-E691-9E45-BFB7-33A8A331CEFA}"/>
              </a:ext>
            </a:extLst>
          </p:cNvPr>
          <p:cNvSpPr>
            <a:spLocks noGrp="1" noChangeArrowheads="1"/>
          </p:cNvSpPr>
          <p:nvPr>
            <p:ph idx="1"/>
          </p:nvPr>
        </p:nvSpPr>
        <p:spPr>
          <a:xfrm>
            <a:off x="698500" y="2420938"/>
            <a:ext cx="8191500" cy="2952750"/>
          </a:xfrm>
        </p:spPr>
        <p:txBody>
          <a:bodyPr>
            <a:normAutofit/>
          </a:bodyPr>
          <a:lstStyle/>
          <a:p>
            <a:pPr>
              <a:defRPr/>
            </a:pPr>
            <a:r>
              <a:rPr lang="zh-CN" altLang="en-US" b="1">
                <a:effectLst>
                  <a:outerShdw blurRad="38100" dist="38100" dir="2700000" algn="tl">
                    <a:srgbClr val="C0C0C0"/>
                  </a:outerShdw>
                </a:effectLst>
                <a:latin typeface="Times New Roman" panose="02020603050405020304" pitchFamily="18" charset="0"/>
              </a:rPr>
              <a:t>实际使用时</a:t>
            </a:r>
          </a:p>
          <a:p>
            <a:pPr lvl="1">
              <a:defRPr/>
            </a:pPr>
            <a:r>
              <a:rPr lang="zh-CN" altLang="en-US" b="1">
                <a:effectLst>
                  <a:outerShdw blurRad="38100" dist="38100" dir="2700000" algn="tl">
                    <a:srgbClr val="C0C0C0"/>
                  </a:outerShdw>
                </a:effectLst>
                <a:latin typeface="Times New Roman" panose="02020603050405020304" pitchFamily="18" charset="0"/>
              </a:rPr>
              <a:t>先定义组的成员；</a:t>
            </a:r>
            <a:endParaRPr lang="en-US" altLang="zh-CN" b="1">
              <a:effectLst>
                <a:outerShdw blurRad="38100" dist="38100" dir="2700000" algn="tl">
                  <a:srgbClr val="C0C0C0"/>
                </a:outerShdw>
              </a:effectLst>
              <a:latin typeface="Times New Roman" panose="02020603050405020304" pitchFamily="18" charset="0"/>
            </a:endParaRPr>
          </a:p>
          <a:p>
            <a:pPr lvl="2">
              <a:defRPr/>
            </a:pPr>
            <a:r>
              <a:rPr lang="zh-CN" altLang="en-US" b="1">
                <a:effectLst>
                  <a:outerShdw blurRad="38100" dist="38100" dir="2700000" algn="tl">
                    <a:srgbClr val="C0C0C0"/>
                  </a:outerShdw>
                </a:effectLst>
                <a:latin typeface="Times New Roman" panose="02020603050405020304" pitchFamily="18" charset="0"/>
              </a:rPr>
              <a:t>用户的集合    </a:t>
            </a:r>
            <a:r>
              <a:rPr lang="en-US" altLang="zh-CN" sz="2800" b="1" i="1">
                <a:solidFill>
                  <a:srgbClr val="0033CC"/>
                </a:solidFill>
                <a:effectLst>
                  <a:outerShdw blurRad="38100" dist="38100" dir="2700000" algn="tl">
                    <a:srgbClr val="C0C0C0"/>
                  </a:outerShdw>
                </a:effectLst>
                <a:latin typeface="Times New Roman" panose="02020603050405020304" pitchFamily="18" charset="0"/>
              </a:rPr>
              <a:t>G</a:t>
            </a:r>
            <a:r>
              <a:rPr lang="en-US" altLang="zh-CN" sz="2800" b="1">
                <a:solidFill>
                  <a:srgbClr val="0033CC"/>
                </a:solidFill>
                <a:effectLst>
                  <a:outerShdw blurRad="38100" dist="38100" dir="2700000" algn="tl">
                    <a:srgbClr val="C0C0C0"/>
                  </a:outerShdw>
                </a:effectLst>
                <a:latin typeface="Times New Roman" panose="02020603050405020304" pitchFamily="18" charset="0"/>
              </a:rPr>
              <a:t>={</a:t>
            </a:r>
            <a:r>
              <a:rPr lang="en-US" altLang="zh-CN" sz="2800" b="1" i="1">
                <a:solidFill>
                  <a:srgbClr val="0033CC"/>
                </a:solidFill>
                <a:effectLst>
                  <a:outerShdw blurRad="38100" dist="38100" dir="2700000" algn="tl">
                    <a:srgbClr val="C0C0C0"/>
                  </a:outerShdw>
                </a:effectLst>
                <a:latin typeface="Times New Roman" panose="02020603050405020304" pitchFamily="18" charset="0"/>
              </a:rPr>
              <a:t>s</a:t>
            </a:r>
            <a:r>
              <a:rPr lang="en-US" altLang="zh-CN" sz="2800" b="1" i="1" baseline="-25000">
                <a:solidFill>
                  <a:srgbClr val="0033CC"/>
                </a:solidFill>
                <a:effectLst>
                  <a:outerShdw blurRad="38100" dist="38100" dir="2700000" algn="tl">
                    <a:srgbClr val="C0C0C0"/>
                  </a:outerShdw>
                </a:effectLst>
                <a:latin typeface="Times New Roman" panose="02020603050405020304" pitchFamily="18" charset="0"/>
              </a:rPr>
              <a:t>1</a:t>
            </a:r>
            <a:r>
              <a:rPr lang="en-US" altLang="zh-CN" sz="2800" b="1" i="1">
                <a:solidFill>
                  <a:srgbClr val="0033CC"/>
                </a:solidFill>
                <a:effectLst>
                  <a:outerShdw blurRad="38100" dist="38100" dir="2700000" algn="tl">
                    <a:srgbClr val="C0C0C0"/>
                  </a:outerShdw>
                </a:effectLst>
                <a:latin typeface="Times New Roman" panose="02020603050405020304" pitchFamily="18" charset="0"/>
              </a:rPr>
              <a:t>, s</a:t>
            </a:r>
            <a:r>
              <a:rPr lang="en-US" altLang="zh-CN" sz="2800" b="1" i="1" baseline="-25000">
                <a:solidFill>
                  <a:srgbClr val="0033CC"/>
                </a:solidFill>
                <a:effectLst>
                  <a:outerShdw blurRad="38100" dist="38100" dir="2700000" algn="tl">
                    <a:srgbClr val="C0C0C0"/>
                  </a:outerShdw>
                </a:effectLst>
                <a:latin typeface="Times New Roman" panose="02020603050405020304" pitchFamily="18" charset="0"/>
              </a:rPr>
              <a:t>2</a:t>
            </a:r>
            <a:r>
              <a:rPr lang="en-US" altLang="zh-CN" sz="2800" b="1" i="1">
                <a:solidFill>
                  <a:srgbClr val="0033CC"/>
                </a:solidFill>
                <a:effectLst>
                  <a:outerShdw blurRad="38100" dist="38100" dir="2700000" algn="tl">
                    <a:srgbClr val="C0C0C0"/>
                  </a:outerShdw>
                </a:effectLst>
                <a:latin typeface="Times New Roman" panose="02020603050405020304" pitchFamily="18" charset="0"/>
              </a:rPr>
              <a:t>, s</a:t>
            </a:r>
            <a:r>
              <a:rPr lang="en-US" altLang="zh-CN" sz="2800" b="1" i="1" baseline="-25000">
                <a:solidFill>
                  <a:srgbClr val="0033CC"/>
                </a:solidFill>
                <a:effectLst>
                  <a:outerShdw blurRad="38100" dist="38100" dir="2700000" algn="tl">
                    <a:srgbClr val="C0C0C0"/>
                  </a:outerShdw>
                </a:effectLst>
                <a:latin typeface="Times New Roman" panose="02020603050405020304" pitchFamily="18" charset="0"/>
              </a:rPr>
              <a:t>3</a:t>
            </a:r>
            <a:r>
              <a:rPr lang="en-US" altLang="zh-CN" sz="2800" b="1">
                <a:solidFill>
                  <a:srgbClr val="0033CC"/>
                </a:solidFill>
                <a:effectLst>
                  <a:outerShdw blurRad="38100" dist="38100" dir="2700000" algn="tl">
                    <a:srgbClr val="C0C0C0"/>
                  </a:outerShdw>
                </a:effectLst>
                <a:latin typeface="Times New Roman" panose="02020603050405020304" pitchFamily="18" charset="0"/>
              </a:rPr>
              <a:t> …}</a:t>
            </a:r>
            <a:endParaRPr lang="zh-CN" altLang="en-US" sz="2800" b="1">
              <a:solidFill>
                <a:srgbClr val="0033CC"/>
              </a:solidFill>
              <a:effectLst>
                <a:outerShdw blurRad="38100" dist="38100" dir="2700000" algn="tl">
                  <a:srgbClr val="C0C0C0"/>
                </a:outerShdw>
              </a:effectLst>
              <a:latin typeface="Times New Roman" panose="02020603050405020304" pitchFamily="18" charset="0"/>
            </a:endParaRPr>
          </a:p>
          <a:p>
            <a:pPr lvl="1">
              <a:defRPr/>
            </a:pPr>
            <a:r>
              <a:rPr lang="zh-CN" altLang="en-US" b="1">
                <a:effectLst>
                  <a:outerShdw blurRad="38100" dist="38100" dir="2700000" algn="tl">
                    <a:srgbClr val="C0C0C0"/>
                  </a:outerShdw>
                </a:effectLst>
                <a:latin typeface="Times New Roman" panose="02020603050405020304" pitchFamily="18" charset="0"/>
              </a:rPr>
              <a:t>对用户组授权；</a:t>
            </a:r>
            <a:endParaRPr lang="en-US" altLang="zh-CN" b="1">
              <a:effectLst>
                <a:outerShdw blurRad="38100" dist="38100" dir="2700000" algn="tl">
                  <a:srgbClr val="C0C0C0"/>
                </a:outerShdw>
              </a:effectLst>
              <a:latin typeface="Times New Roman" panose="02020603050405020304" pitchFamily="18" charset="0"/>
            </a:endParaRPr>
          </a:p>
          <a:p>
            <a:pPr lvl="2">
              <a:defRPr/>
            </a:pPr>
            <a:r>
              <a:rPr lang="zh-CN" altLang="en-US" b="1">
                <a:effectLst>
                  <a:outerShdw blurRad="38100" dist="38100" dir="2700000" algn="tl">
                    <a:srgbClr val="C0C0C0"/>
                  </a:outerShdw>
                </a:effectLst>
                <a:latin typeface="Times New Roman" panose="02020603050405020304" pitchFamily="18" charset="0"/>
              </a:rPr>
              <a:t>把访问权限分配给一个用户组；</a:t>
            </a:r>
          </a:p>
          <a:p>
            <a:pPr lvl="1">
              <a:defRPr/>
            </a:pPr>
            <a:r>
              <a:rPr lang="zh-CN" altLang="en-US" b="1">
                <a:effectLst>
                  <a:outerShdw blurRad="38100" dist="38100" dir="2700000" algn="tl">
                    <a:srgbClr val="C0C0C0"/>
                  </a:outerShdw>
                </a:effectLst>
                <a:latin typeface="Times New Roman" panose="02020603050405020304" pitchFamily="18" charset="0"/>
              </a:rPr>
              <a:t>组的成员可以改变</a:t>
            </a:r>
            <a:r>
              <a:rPr lang="zh-CN" altLang="en-US"/>
              <a:t>。</a:t>
            </a:r>
            <a:endParaRPr lang="en-US" altLang="zh-CN"/>
          </a:p>
        </p:txBody>
      </p:sp>
      <p:sp>
        <p:nvSpPr>
          <p:cNvPr id="534530" name="Rectangle 2">
            <a:extLst>
              <a:ext uri="{FF2B5EF4-FFF2-40B4-BE49-F238E27FC236}">
                <a16:creationId xmlns:a16="http://schemas.microsoft.com/office/drawing/2014/main" id="{5ECA74A3-3223-A845-B49A-EE2CAE27F832}"/>
              </a:ext>
            </a:extLst>
          </p:cNvPr>
          <p:cNvSpPr>
            <a:spLocks noGrp="1" noChangeArrowheads="1"/>
          </p:cNvSpPr>
          <p:nvPr>
            <p:ph type="title"/>
          </p:nvPr>
        </p:nvSpPr>
        <p:spPr>
          <a:xfrm>
            <a:off x="523875" y="9080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基于组的策略</a:t>
            </a:r>
          </a:p>
        </p:txBody>
      </p:sp>
      <p:sp>
        <p:nvSpPr>
          <p:cNvPr id="2" name="矩形 1">
            <a:extLst>
              <a:ext uri="{FF2B5EF4-FFF2-40B4-BE49-F238E27FC236}">
                <a16:creationId xmlns:a16="http://schemas.microsoft.com/office/drawing/2014/main" id="{DBB6CE5C-84D8-034E-9BBE-ABFEFB270030}"/>
              </a:ext>
            </a:extLst>
          </p:cNvPr>
          <p:cNvSpPr/>
          <p:nvPr/>
        </p:nvSpPr>
        <p:spPr>
          <a:xfrm>
            <a:off x="619125" y="1773238"/>
            <a:ext cx="7777163" cy="522287"/>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一组用户对于一个目标具有同样的访问许可。</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534531">
                                            <p:txEl>
                                              <p:pRg st="0" end="0"/>
                                            </p:txEl>
                                          </p:spTgt>
                                        </p:tgtEl>
                                        <p:attrNameLst>
                                          <p:attrName>style.visibility</p:attrName>
                                        </p:attrNameLst>
                                      </p:cBhvr>
                                      <p:to>
                                        <p:strVal val="visible"/>
                                      </p:to>
                                    </p:set>
                                    <p:anim calcmode="lin" valueType="num">
                                      <p:cBhvr additive="base">
                                        <p:cTn id="13" dur="500" fill="hold"/>
                                        <p:tgtEl>
                                          <p:spTgt spid="53453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34531">
                                            <p:txEl>
                                              <p:pRg st="0" end="0"/>
                                            </p:txEl>
                                          </p:spTgt>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534531">
                                            <p:txEl>
                                              <p:pRg st="1" end="1"/>
                                            </p:txEl>
                                          </p:spTgt>
                                        </p:tgtEl>
                                        <p:attrNameLst>
                                          <p:attrName>style.visibility</p:attrName>
                                        </p:attrNameLst>
                                      </p:cBhvr>
                                      <p:to>
                                        <p:strVal val="visible"/>
                                      </p:to>
                                    </p:set>
                                    <p:anim calcmode="lin" valueType="num">
                                      <p:cBhvr additive="base">
                                        <p:cTn id="18" dur="500" fill="hold"/>
                                        <p:tgtEl>
                                          <p:spTgt spid="534531">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34531">
                                            <p:txEl>
                                              <p:pRg st="1" end="1"/>
                                            </p:txEl>
                                          </p:spTgt>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534531">
                                            <p:txEl>
                                              <p:pRg st="2" end="2"/>
                                            </p:txEl>
                                          </p:spTgt>
                                        </p:tgtEl>
                                        <p:attrNameLst>
                                          <p:attrName>style.visibility</p:attrName>
                                        </p:attrNameLst>
                                      </p:cBhvr>
                                      <p:to>
                                        <p:strVal val="visible"/>
                                      </p:to>
                                    </p:set>
                                    <p:anim calcmode="lin" valueType="num">
                                      <p:cBhvr additive="base">
                                        <p:cTn id="23" dur="500" fill="hold"/>
                                        <p:tgtEl>
                                          <p:spTgt spid="534531">
                                            <p:txEl>
                                              <p:pRg st="2" end="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34531">
                                            <p:txEl>
                                              <p:pRg st="2" end="2"/>
                                            </p:txEl>
                                          </p:spTgt>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34531">
                                            <p:txEl>
                                              <p:pRg st="3" end="3"/>
                                            </p:txEl>
                                          </p:spTgt>
                                        </p:tgtEl>
                                        <p:attrNameLst>
                                          <p:attrName>style.visibility</p:attrName>
                                        </p:attrNameLst>
                                      </p:cBhvr>
                                      <p:to>
                                        <p:strVal val="visible"/>
                                      </p:to>
                                    </p:set>
                                    <p:anim calcmode="lin" valueType="num">
                                      <p:cBhvr additive="base">
                                        <p:cTn id="28" dur="500" fill="hold"/>
                                        <p:tgtEl>
                                          <p:spTgt spid="534531">
                                            <p:txEl>
                                              <p:pRg st="3" end="3"/>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34531">
                                            <p:txEl>
                                              <p:pRg st="3" end="3"/>
                                            </p:txEl>
                                          </p:spTgt>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534531">
                                            <p:txEl>
                                              <p:pRg st="4" end="4"/>
                                            </p:txEl>
                                          </p:spTgt>
                                        </p:tgtEl>
                                        <p:attrNameLst>
                                          <p:attrName>style.visibility</p:attrName>
                                        </p:attrNameLst>
                                      </p:cBhvr>
                                      <p:to>
                                        <p:strVal val="visible"/>
                                      </p:to>
                                    </p:set>
                                    <p:anim calcmode="lin" valueType="num">
                                      <p:cBhvr additive="base">
                                        <p:cTn id="33" dur="500" fill="hold"/>
                                        <p:tgtEl>
                                          <p:spTgt spid="534531">
                                            <p:txEl>
                                              <p:pRg st="4" end="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34531">
                                            <p:txEl>
                                              <p:pRg st="4" end="4"/>
                                            </p:txEl>
                                          </p:spTgt>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3000"/>
                            </p:stCondLst>
                            <p:childTnLst>
                              <p:par>
                                <p:cTn id="36" presetID="2" presetClass="entr" presetSubtype="8" fill="hold" grpId="0" nodeType="afterEffect">
                                  <p:stCondLst>
                                    <p:cond delay="0"/>
                                  </p:stCondLst>
                                  <p:childTnLst>
                                    <p:set>
                                      <p:cBhvr>
                                        <p:cTn id="37" dur="1" fill="hold">
                                          <p:stCondLst>
                                            <p:cond delay="0"/>
                                          </p:stCondLst>
                                        </p:cTn>
                                        <p:tgtEl>
                                          <p:spTgt spid="534531">
                                            <p:txEl>
                                              <p:pRg st="5" end="5"/>
                                            </p:txEl>
                                          </p:spTgt>
                                        </p:tgtEl>
                                        <p:attrNameLst>
                                          <p:attrName>style.visibility</p:attrName>
                                        </p:attrNameLst>
                                      </p:cBhvr>
                                      <p:to>
                                        <p:strVal val="visible"/>
                                      </p:to>
                                    </p:set>
                                    <p:anim calcmode="lin" valueType="num">
                                      <p:cBhvr additive="base">
                                        <p:cTn id="38" dur="500" fill="hold"/>
                                        <p:tgtEl>
                                          <p:spTgt spid="534531">
                                            <p:txEl>
                                              <p:pRg st="5" end="5"/>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534531">
                                            <p:txEl>
                                              <p:pRg st="5" end="5"/>
                                            </p:txEl>
                                          </p:spTgt>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3500"/>
                            </p:stCondLst>
                            <p:childTnLst>
                              <p:par>
                                <p:cTn id="41" presetID="53" presetClass="entr" presetSubtype="16"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p:cTn id="43" dur="500" fill="hold"/>
                                        <p:tgtEl>
                                          <p:spTgt spid="4"/>
                                        </p:tgtEl>
                                        <p:attrNameLst>
                                          <p:attrName>ppt_w</p:attrName>
                                        </p:attrNameLst>
                                      </p:cBhvr>
                                      <p:tavLst>
                                        <p:tav tm="0">
                                          <p:val>
                                            <p:fltVal val="0"/>
                                          </p:val>
                                        </p:tav>
                                        <p:tav tm="100000">
                                          <p:val>
                                            <p:strVal val="#ppt_w"/>
                                          </p:val>
                                        </p:tav>
                                      </p:tavLst>
                                    </p:anim>
                                    <p:anim calcmode="lin" valueType="num">
                                      <p:cBhvr>
                                        <p:cTn id="44" dur="500" fill="hold"/>
                                        <p:tgtEl>
                                          <p:spTgt spid="4"/>
                                        </p:tgtEl>
                                        <p:attrNameLst>
                                          <p:attrName>ppt_h</p:attrName>
                                        </p:attrNameLst>
                                      </p:cBhvr>
                                      <p:tavLst>
                                        <p:tav tm="0">
                                          <p:val>
                                            <p:fltVal val="0"/>
                                          </p:val>
                                        </p:tav>
                                        <p:tav tm="100000">
                                          <p:val>
                                            <p:strVal val="#ppt_h"/>
                                          </p:val>
                                        </p:tav>
                                      </p:tavLst>
                                    </p:anim>
                                    <p:animEffect transition="in" filter="fad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build="p"/>
      <p:bldP spid="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a:extLst>
              <a:ext uri="{FF2B5EF4-FFF2-40B4-BE49-F238E27FC236}">
                <a16:creationId xmlns:a16="http://schemas.microsoft.com/office/drawing/2014/main" id="{CFE8DA00-527B-4E49-9513-890184C52B03}"/>
              </a:ext>
            </a:extLst>
          </p:cNvPr>
          <p:cNvSpPr>
            <a:spLocks noGrp="1"/>
          </p:cNvSpPr>
          <p:nvPr>
            <p:ph type="title"/>
          </p:nvPr>
        </p:nvSpPr>
        <p:spPr>
          <a:xfrm>
            <a:off x="539750" y="836613"/>
            <a:ext cx="6513513"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 </a:t>
            </a:r>
            <a:r>
              <a:rPr lang="zh-CN" altLang="en-US">
                <a:solidFill>
                  <a:srgbClr val="0033CC"/>
                </a:solidFill>
                <a:effectLst>
                  <a:outerShdw blurRad="38100" dist="38100" dir="2700000" algn="tl">
                    <a:srgbClr val="C0C0C0"/>
                  </a:outerShdw>
                </a:effectLst>
                <a:latin typeface="Times New Roman" panose="02020603050405020304" pitchFamily="18" charset="0"/>
              </a:rPr>
              <a:t>模型的组成（一）</a:t>
            </a:r>
          </a:p>
        </p:txBody>
      </p:sp>
      <p:sp>
        <p:nvSpPr>
          <p:cNvPr id="6" name="内容占位符 2">
            <a:extLst>
              <a:ext uri="{FF2B5EF4-FFF2-40B4-BE49-F238E27FC236}">
                <a16:creationId xmlns:a16="http://schemas.microsoft.com/office/drawing/2014/main" id="{75805933-598D-ED42-BF2E-02858B34A1E6}"/>
              </a:ext>
            </a:extLst>
          </p:cNvPr>
          <p:cNvSpPr txBox="1"/>
          <p:nvPr/>
        </p:nvSpPr>
        <p:spPr bwMode="auto">
          <a:xfrm>
            <a:off x="230188" y="1592263"/>
            <a:ext cx="8763000" cy="3470275"/>
          </a:xfrm>
          <a:prstGeom prst="rect">
            <a:avLst/>
          </a:prstGeom>
          <a:noFill/>
          <a:ln w="9525">
            <a:no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marL="800100" indent="-3429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用户（</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User</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：访问计算机资源的主体，用户集合为 </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U</a:t>
            </a:r>
          </a:p>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角色（</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role</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：一种岗位，代表一种资格、权利和责任，角色集合为 </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R</a:t>
            </a:r>
          </a:p>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权限（</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permission</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600" b="1">
                <a:effectLst>
                  <a:outerShdw blurRad="38100" dist="38100" dir="2700000" algn="tl">
                    <a:srgbClr val="C0C0C0"/>
                  </a:outerShdw>
                </a:effectLst>
                <a:latin typeface="Times New Roman" panose="02020603050405020304" pitchFamily="18" charset="0"/>
                <a:ea typeface="黑体" panose="02010609060101010101" pitchFamily="49" charset="-122"/>
              </a:rPr>
              <a:t>：对客体的操作权力，权限集合为 </a:t>
            </a:r>
            <a:r>
              <a:rPr lang="en-US" altLang="zh-CN" sz="2600" b="1">
                <a:effectLst>
                  <a:outerShdw blurRad="38100" dist="38100" dir="2700000" algn="tl">
                    <a:srgbClr val="C0C0C0"/>
                  </a:outerShdw>
                </a:effectLst>
                <a:latin typeface="Times New Roman" panose="02020603050405020304" pitchFamily="18" charset="0"/>
                <a:ea typeface="黑体" panose="02010609060101010101" pitchFamily="49" charset="-122"/>
              </a:rPr>
              <a:t>P</a:t>
            </a:r>
          </a:p>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用户分配（</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User Assignment</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将用户与角色关联。</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用户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u</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与角色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关联后，将拥有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的权限</a:t>
            </a:r>
          </a:p>
        </p:txBody>
      </p:sp>
      <p:pic>
        <p:nvPicPr>
          <p:cNvPr id="112643" name="图片 2">
            <a:extLst>
              <a:ext uri="{FF2B5EF4-FFF2-40B4-BE49-F238E27FC236}">
                <a16:creationId xmlns:a16="http://schemas.microsoft.com/office/drawing/2014/main" id="{606D6B3B-0466-A04E-923F-9D54D6C0F7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638" y="4859338"/>
            <a:ext cx="4905375"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B66B0F4F-A037-ED49-8317-6B8C9351972C}"/>
              </a:ext>
            </a:extLst>
          </p:cNvPr>
          <p:cNvSpPr>
            <a:spLocks noGrp="1"/>
          </p:cNvSpPr>
          <p:nvPr>
            <p:ph type="title"/>
          </p:nvPr>
        </p:nvSpPr>
        <p:spPr>
          <a:xfrm>
            <a:off x="358775" y="836613"/>
            <a:ext cx="6513513"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 </a:t>
            </a:r>
            <a:r>
              <a:rPr lang="zh-CN" altLang="en-US">
                <a:solidFill>
                  <a:srgbClr val="0033CC"/>
                </a:solidFill>
                <a:effectLst>
                  <a:outerShdw blurRad="38100" dist="38100" dir="2700000" algn="tl">
                    <a:srgbClr val="C0C0C0"/>
                  </a:outerShdw>
                </a:effectLst>
                <a:latin typeface="Times New Roman" panose="02020603050405020304" pitchFamily="18" charset="0"/>
              </a:rPr>
              <a:t>模型的组成（二）</a:t>
            </a:r>
          </a:p>
        </p:txBody>
      </p:sp>
      <p:sp>
        <p:nvSpPr>
          <p:cNvPr id="6" name="内容占位符 2">
            <a:extLst>
              <a:ext uri="{FF2B5EF4-FFF2-40B4-BE49-F238E27FC236}">
                <a16:creationId xmlns:a16="http://schemas.microsoft.com/office/drawing/2014/main" id="{30D61462-D6D2-2943-9FD9-EF1A495B56C7}"/>
              </a:ext>
            </a:extLst>
          </p:cNvPr>
          <p:cNvSpPr txBox="1"/>
          <p:nvPr/>
        </p:nvSpPr>
        <p:spPr bwMode="auto">
          <a:xfrm>
            <a:off x="358775" y="1520825"/>
            <a:ext cx="8367713" cy="4103688"/>
          </a:xfrm>
          <a:prstGeom prst="rect">
            <a:avLst/>
          </a:prstGeom>
          <a:noFill/>
          <a:ln w="9525">
            <a:no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marL="800100" indent="-3429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权限分配（</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Permission Assignment</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将角色与权限关联</a:t>
            </a:r>
            <a:endPar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权限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p</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与角色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关联后，角色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将拥有权限 </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p</a:t>
            </a:r>
            <a:endPar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激活角色（</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Active Role</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角色只有激活才能起作用，否则不起作用</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通过会话激活角色</a:t>
            </a:r>
          </a:p>
          <a:p>
            <a:pPr lvl="1" eaLnBrk="1" hangingPunct="1">
              <a:spcBef>
                <a:spcPct val="20000"/>
              </a:spcBef>
              <a:buClr>
                <a:schemeClr val="accent2"/>
              </a:buClr>
              <a:buFont typeface="Wingdings" pitchFamily="2" charset="2"/>
              <a:buChar char="v"/>
              <a:defRPr/>
            </a:pP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会话（</a:t>
            </a:r>
            <a:r>
              <a:rPr lang="en-US" altLang="zh-CN"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Session</a:t>
            </a:r>
            <a:r>
              <a:rPr lang="zh-CN" altLang="en-US" sz="26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用户要访问系统资源时，必须先建立一个会话</a:t>
            </a:r>
          </a:p>
          <a:p>
            <a:pPr lvl="2" eaLnBrk="1" hangingPunct="1">
              <a:spcBef>
                <a:spcPct val="20000"/>
              </a:spcBef>
              <a:buClr>
                <a:schemeClr val="accent2"/>
              </a:buClr>
              <a:buSzPct val="65000"/>
              <a:buFont typeface="Wingdings" pitchFamily="2" charset="2"/>
              <a:buChar char="n"/>
              <a:defRPr/>
            </a:pP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一次会话仅对应一个用户，一次会话可激活几个角色</a:t>
            </a:r>
            <a:endPar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03AACE3C-609C-3C4E-B928-734D86217733}"/>
              </a:ext>
            </a:extLst>
          </p:cNvPr>
          <p:cNvSpPr>
            <a:spLocks noGrp="1"/>
          </p:cNvSpPr>
          <p:nvPr>
            <p:ph type="title"/>
          </p:nvPr>
        </p:nvSpPr>
        <p:spPr>
          <a:xfrm>
            <a:off x="755650" y="884238"/>
            <a:ext cx="6513513" cy="487362"/>
          </a:xfrm>
        </p:spPr>
        <p:txBody>
          <a:bodyPr/>
          <a:lstStyle/>
          <a:p>
            <a:pPr>
              <a:buClr>
                <a:srgbClr val="3399FF"/>
              </a:buClr>
              <a:defRPr/>
            </a:pPr>
            <a:r>
              <a:rPr lang="en-US" altLang="zh-CN"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RBAC </a:t>
            </a: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模型的基本机制</a:t>
            </a:r>
          </a:p>
        </p:txBody>
      </p:sp>
      <p:graphicFrame>
        <p:nvGraphicFramePr>
          <p:cNvPr id="116738" name="Object 4">
            <a:extLst>
              <a:ext uri="{FF2B5EF4-FFF2-40B4-BE49-F238E27FC236}">
                <a16:creationId xmlns:a16="http://schemas.microsoft.com/office/drawing/2014/main" id="{30C3C5D2-EC15-9B46-B8A9-F7714883140B}"/>
              </a:ext>
            </a:extLst>
          </p:cNvPr>
          <p:cNvGraphicFramePr>
            <a:graphicFrameLocks noChangeAspect="1"/>
          </p:cNvGraphicFramePr>
          <p:nvPr/>
        </p:nvGraphicFramePr>
        <p:xfrm>
          <a:off x="1081088" y="1773238"/>
          <a:ext cx="7058025" cy="4122737"/>
        </p:xfrm>
        <a:graphic>
          <a:graphicData uri="http://schemas.openxmlformats.org/presentationml/2006/ole">
            <mc:AlternateContent xmlns:mc="http://schemas.openxmlformats.org/markup-compatibility/2006">
              <mc:Choice xmlns:v="urn:schemas-microsoft-com:vml" Requires="v">
                <p:oleObj r:id="rId3" imgW="6070600" imgH="3987800" progId="">
                  <p:embed/>
                </p:oleObj>
              </mc:Choice>
              <mc:Fallback>
                <p:oleObj r:id="rId3" imgW="6070600" imgH="39878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88" y="1773238"/>
                        <a:ext cx="7058025" cy="412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Rectangle 2">
            <a:extLst>
              <a:ext uri="{FF2B5EF4-FFF2-40B4-BE49-F238E27FC236}">
                <a16:creationId xmlns:a16="http://schemas.microsoft.com/office/drawing/2014/main" id="{08F9D314-89FD-404F-BC40-5E8CBDDCA938}"/>
              </a:ext>
            </a:extLst>
          </p:cNvPr>
          <p:cNvSpPr>
            <a:spLocks noGrp="1" noChangeArrowheads="1"/>
          </p:cNvSpPr>
          <p:nvPr>
            <p:ph type="title"/>
          </p:nvPr>
        </p:nvSpPr>
        <p:spPr>
          <a:xfrm>
            <a:off x="403225" y="676275"/>
            <a:ext cx="8229600" cy="654050"/>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基于角色的访问控制模型</a:t>
            </a:r>
          </a:p>
        </p:txBody>
      </p:sp>
      <p:sp>
        <p:nvSpPr>
          <p:cNvPr id="118786" name="Rectangle 6">
            <a:extLst>
              <a:ext uri="{FF2B5EF4-FFF2-40B4-BE49-F238E27FC236}">
                <a16:creationId xmlns:a16="http://schemas.microsoft.com/office/drawing/2014/main" id="{87ECFE71-BFDB-4E49-A39F-660BBD9BAAAB}"/>
              </a:ext>
            </a:extLst>
          </p:cNvPr>
          <p:cNvSpPr>
            <a:spLocks noChangeArrowheads="1"/>
          </p:cNvSpPr>
          <p:nvPr/>
        </p:nvSpPr>
        <p:spPr bwMode="auto">
          <a:xfrm>
            <a:off x="2987675" y="1522413"/>
            <a:ext cx="561975" cy="1295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000" b="1">
                <a:solidFill>
                  <a:srgbClr val="000000"/>
                </a:solidFill>
                <a:latin typeface="Times New Roman" panose="02020603050405020304" pitchFamily="18" charset="0"/>
                <a:ea typeface="宋体" panose="02010600030101010101" pitchFamily="2" charset="-122"/>
              </a:rPr>
              <a:t>角色</a:t>
            </a:r>
          </a:p>
        </p:txBody>
      </p:sp>
      <p:sp>
        <p:nvSpPr>
          <p:cNvPr id="118787" name="Line 10">
            <a:extLst>
              <a:ext uri="{FF2B5EF4-FFF2-40B4-BE49-F238E27FC236}">
                <a16:creationId xmlns:a16="http://schemas.microsoft.com/office/drawing/2014/main" id="{F563F653-C823-BA46-900D-494B92FD169D}"/>
              </a:ext>
            </a:extLst>
          </p:cNvPr>
          <p:cNvSpPr>
            <a:spLocks noChangeShapeType="1"/>
          </p:cNvSpPr>
          <p:nvPr/>
        </p:nvSpPr>
        <p:spPr bwMode="auto">
          <a:xfrm>
            <a:off x="2195513" y="2168525"/>
            <a:ext cx="777875" cy="1588"/>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788" name="Line 11">
            <a:extLst>
              <a:ext uri="{FF2B5EF4-FFF2-40B4-BE49-F238E27FC236}">
                <a16:creationId xmlns:a16="http://schemas.microsoft.com/office/drawing/2014/main" id="{00B6C7A5-C17F-C84D-AE3C-B6AE7FC6DDDA}"/>
              </a:ext>
            </a:extLst>
          </p:cNvPr>
          <p:cNvSpPr>
            <a:spLocks noChangeShapeType="1"/>
          </p:cNvSpPr>
          <p:nvPr/>
        </p:nvSpPr>
        <p:spPr bwMode="auto">
          <a:xfrm>
            <a:off x="3563938" y="2168525"/>
            <a:ext cx="612775" cy="1588"/>
          </a:xfrm>
          <a:prstGeom prst="line">
            <a:avLst/>
          </a:prstGeom>
          <a:noFill/>
          <a:ln w="28575">
            <a:solidFill>
              <a:srgbClr val="8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8789" name="Group 13">
            <a:extLst>
              <a:ext uri="{FF2B5EF4-FFF2-40B4-BE49-F238E27FC236}">
                <a16:creationId xmlns:a16="http://schemas.microsoft.com/office/drawing/2014/main" id="{95DA3409-620A-6A4E-83E9-0393502C84A7}"/>
              </a:ext>
            </a:extLst>
          </p:cNvPr>
          <p:cNvGrpSpPr>
            <a:grpSpLocks/>
          </p:cNvGrpSpPr>
          <p:nvPr/>
        </p:nvGrpSpPr>
        <p:grpSpPr bwMode="auto">
          <a:xfrm>
            <a:off x="1619250" y="1304925"/>
            <a:ext cx="576263" cy="1585913"/>
            <a:chOff x="1383" y="1298"/>
            <a:chExt cx="363" cy="999"/>
          </a:xfrm>
        </p:grpSpPr>
        <p:sp>
          <p:nvSpPr>
            <p:cNvPr id="118820" name="Oval 14">
              <a:extLst>
                <a:ext uri="{FF2B5EF4-FFF2-40B4-BE49-F238E27FC236}">
                  <a16:creationId xmlns:a16="http://schemas.microsoft.com/office/drawing/2014/main" id="{F0CFFB09-754B-F040-B508-FF1A012104BE}"/>
                </a:ext>
              </a:extLst>
            </p:cNvPr>
            <p:cNvSpPr>
              <a:spLocks noChangeArrowheads="1"/>
            </p:cNvSpPr>
            <p:nvPr/>
          </p:nvSpPr>
          <p:spPr bwMode="auto">
            <a:xfrm>
              <a:off x="1429" y="1434"/>
              <a:ext cx="272" cy="318"/>
            </a:xfrm>
            <a:prstGeom prst="ellipse">
              <a:avLst/>
            </a:prstGeom>
            <a:solidFill>
              <a:schemeClr val="accent1"/>
            </a:solidFill>
            <a:ln w="9525">
              <a:solidFill>
                <a:srgbClr val="000000"/>
              </a:solidFill>
              <a:round/>
              <a:headEnd/>
              <a:tailEnd/>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endParaRPr lang="zh-CN" altLang="en-US" sz="2000" b="1">
                <a:solidFill>
                  <a:srgbClr val="000000"/>
                </a:solidFill>
                <a:latin typeface="Times New Roman" panose="02020603050405020304" pitchFamily="18" charset="0"/>
                <a:ea typeface="宋体" panose="02010600030101010101" pitchFamily="2" charset="-122"/>
              </a:endParaRPr>
            </a:p>
          </p:txBody>
        </p:sp>
        <p:sp>
          <p:nvSpPr>
            <p:cNvPr id="118821" name="Text Box 15">
              <a:extLst>
                <a:ext uri="{FF2B5EF4-FFF2-40B4-BE49-F238E27FC236}">
                  <a16:creationId xmlns:a16="http://schemas.microsoft.com/office/drawing/2014/main" id="{1F8A688D-F00C-0449-8537-ADEC1C17E591}"/>
                </a:ext>
              </a:extLst>
            </p:cNvPr>
            <p:cNvSpPr txBox="1">
              <a:spLocks noChangeArrowheads="1"/>
            </p:cNvSpPr>
            <p:nvPr/>
          </p:nvSpPr>
          <p:spPr bwMode="auto">
            <a:xfrm>
              <a:off x="1429" y="1298"/>
              <a:ext cx="2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50000"/>
                </a:spcBef>
                <a:buClrTx/>
                <a:buFontTx/>
                <a:buNone/>
              </a:pPr>
              <a:r>
                <a:rPr lang="en-US" altLang="zh-CN" b="1">
                  <a:solidFill>
                    <a:srgbClr val="000000"/>
                  </a:solidFill>
                  <a:latin typeface="Times New Roman" panose="02020603050405020304" pitchFamily="18" charset="0"/>
                  <a:ea typeface="宋体" panose="02010600030101010101" pitchFamily="2" charset="-122"/>
                </a:rPr>
                <a:t>..</a:t>
              </a:r>
            </a:p>
          </p:txBody>
        </p:sp>
        <p:sp>
          <p:nvSpPr>
            <p:cNvPr id="118822" name="Text Box 16">
              <a:extLst>
                <a:ext uri="{FF2B5EF4-FFF2-40B4-BE49-F238E27FC236}">
                  <a16:creationId xmlns:a16="http://schemas.microsoft.com/office/drawing/2014/main" id="{DBBD589C-8280-1148-BC32-3AF85B8D4209}"/>
                </a:ext>
              </a:extLst>
            </p:cNvPr>
            <p:cNvSpPr txBox="1">
              <a:spLocks noChangeArrowheads="1"/>
            </p:cNvSpPr>
            <p:nvPr/>
          </p:nvSpPr>
          <p:spPr bwMode="auto">
            <a:xfrm>
              <a:off x="1429" y="1434"/>
              <a:ext cx="2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50000"/>
                </a:spcBef>
                <a:buClrTx/>
                <a:buFontTx/>
                <a:buNone/>
              </a:pPr>
              <a:r>
                <a:rPr lang="zh-CN" altLang="en-US" b="1">
                  <a:solidFill>
                    <a:srgbClr val="000000"/>
                  </a:solidFill>
                  <a:latin typeface="Times New Roman" panose="02020603050405020304" pitchFamily="18" charset="0"/>
                  <a:ea typeface="宋体" panose="02010600030101010101" pitchFamily="2" charset="-122"/>
                </a:rPr>
                <a:t>。</a:t>
              </a:r>
            </a:p>
          </p:txBody>
        </p:sp>
        <p:sp>
          <p:nvSpPr>
            <p:cNvPr id="118823" name="Line 17">
              <a:extLst>
                <a:ext uri="{FF2B5EF4-FFF2-40B4-BE49-F238E27FC236}">
                  <a16:creationId xmlns:a16="http://schemas.microsoft.com/office/drawing/2014/main" id="{D2DD854C-902A-CD43-8D7A-69325DF998B1}"/>
                </a:ext>
              </a:extLst>
            </p:cNvPr>
            <p:cNvSpPr>
              <a:spLocks noChangeShapeType="1"/>
            </p:cNvSpPr>
            <p:nvPr/>
          </p:nvSpPr>
          <p:spPr bwMode="auto">
            <a:xfrm>
              <a:off x="1564" y="1752"/>
              <a:ext cx="1" cy="2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824" name="Line 18">
              <a:extLst>
                <a:ext uri="{FF2B5EF4-FFF2-40B4-BE49-F238E27FC236}">
                  <a16:creationId xmlns:a16="http://schemas.microsoft.com/office/drawing/2014/main" id="{62D3407B-B7F2-3941-8A4B-E9EFD01A6DA3}"/>
                </a:ext>
              </a:extLst>
            </p:cNvPr>
            <p:cNvSpPr>
              <a:spLocks noChangeShapeType="1"/>
            </p:cNvSpPr>
            <p:nvPr/>
          </p:nvSpPr>
          <p:spPr bwMode="auto">
            <a:xfrm>
              <a:off x="1383" y="1888"/>
              <a:ext cx="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825" name="Line 19">
              <a:extLst>
                <a:ext uri="{FF2B5EF4-FFF2-40B4-BE49-F238E27FC236}">
                  <a16:creationId xmlns:a16="http://schemas.microsoft.com/office/drawing/2014/main" id="{0057D9BD-DF56-9340-A823-3FA550A40DEE}"/>
                </a:ext>
              </a:extLst>
            </p:cNvPr>
            <p:cNvSpPr>
              <a:spLocks noChangeShapeType="1"/>
            </p:cNvSpPr>
            <p:nvPr/>
          </p:nvSpPr>
          <p:spPr bwMode="auto">
            <a:xfrm flipH="1">
              <a:off x="1383" y="1979"/>
              <a:ext cx="182"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826" name="Line 20">
              <a:extLst>
                <a:ext uri="{FF2B5EF4-FFF2-40B4-BE49-F238E27FC236}">
                  <a16:creationId xmlns:a16="http://schemas.microsoft.com/office/drawing/2014/main" id="{BB615B38-B182-464D-A844-118F49C15A1B}"/>
                </a:ext>
              </a:extLst>
            </p:cNvPr>
            <p:cNvSpPr>
              <a:spLocks noChangeShapeType="1"/>
            </p:cNvSpPr>
            <p:nvPr/>
          </p:nvSpPr>
          <p:spPr bwMode="auto">
            <a:xfrm>
              <a:off x="1565" y="1979"/>
              <a:ext cx="181"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1829" name="Rectangle 21">
            <a:extLst>
              <a:ext uri="{FF2B5EF4-FFF2-40B4-BE49-F238E27FC236}">
                <a16:creationId xmlns:a16="http://schemas.microsoft.com/office/drawing/2014/main" id="{0B4EA63D-FBE3-4442-BD45-7174AB5CF9BE}"/>
              </a:ext>
            </a:extLst>
          </p:cNvPr>
          <p:cNvSpPr>
            <a:spLocks noChangeArrowheads="1"/>
          </p:cNvSpPr>
          <p:nvPr/>
        </p:nvSpPr>
        <p:spPr bwMode="auto">
          <a:xfrm>
            <a:off x="1042988" y="3609975"/>
            <a:ext cx="1225550" cy="576263"/>
          </a:xfrm>
          <a:prstGeom prst="rect">
            <a:avLst/>
          </a:prstGeom>
          <a:gradFill rotWithShape="1">
            <a:gsLst>
              <a:gs pos="0">
                <a:schemeClr val="hlink"/>
              </a:gs>
              <a:gs pos="50000">
                <a:schemeClr val="bg1"/>
              </a:gs>
              <a:gs pos="100000">
                <a:schemeClr val="hlink"/>
              </a:gs>
            </a:gsLst>
            <a:lin ang="5400000" scaled="1"/>
          </a:gradFill>
          <a:ln>
            <a:noFill/>
          </a:ln>
          <a:effectLst/>
        </p:spPr>
        <p:txBody>
          <a:bodyPr wrap="none" anchor="ctr"/>
          <a:lstStyle/>
          <a:p>
            <a:pPr algn="ctr">
              <a:defRPr/>
            </a:pPr>
            <a:r>
              <a:rPr lang="zh-CN" altLang="en-US" sz="2400" b="1">
                <a:solidFill>
                  <a:srgbClr val="000000"/>
                </a:solidFill>
                <a:latin typeface="Times New Roman" panose="02020603050405020304" pitchFamily="18" charset="0"/>
              </a:rPr>
              <a:t>用户</a:t>
            </a:r>
            <a:r>
              <a:rPr lang="en-US" altLang="zh-CN" sz="2400" b="1">
                <a:solidFill>
                  <a:srgbClr val="000000"/>
                </a:solidFill>
                <a:latin typeface="Times New Roman" panose="02020603050405020304" pitchFamily="18" charset="0"/>
              </a:rPr>
              <a:t>1</a:t>
            </a:r>
          </a:p>
        </p:txBody>
      </p:sp>
      <p:sp>
        <p:nvSpPr>
          <p:cNvPr id="631830" name="Rectangle 22">
            <a:extLst>
              <a:ext uri="{FF2B5EF4-FFF2-40B4-BE49-F238E27FC236}">
                <a16:creationId xmlns:a16="http://schemas.microsoft.com/office/drawing/2014/main" id="{5B36CD0C-E4EA-F741-A7D9-971709B5A880}"/>
              </a:ext>
            </a:extLst>
          </p:cNvPr>
          <p:cNvSpPr>
            <a:spLocks noChangeArrowheads="1"/>
          </p:cNvSpPr>
          <p:nvPr/>
        </p:nvSpPr>
        <p:spPr bwMode="auto">
          <a:xfrm>
            <a:off x="1042988" y="4371975"/>
            <a:ext cx="1225550" cy="576263"/>
          </a:xfrm>
          <a:prstGeom prst="rect">
            <a:avLst/>
          </a:prstGeom>
          <a:gradFill rotWithShape="1">
            <a:gsLst>
              <a:gs pos="0">
                <a:schemeClr val="hlink"/>
              </a:gs>
              <a:gs pos="50000">
                <a:schemeClr val="bg1"/>
              </a:gs>
              <a:gs pos="100000">
                <a:schemeClr val="hlink"/>
              </a:gs>
            </a:gsLst>
            <a:lin ang="5400000" scaled="1"/>
          </a:gradFill>
          <a:ln>
            <a:noFill/>
          </a:ln>
          <a:effectLst/>
        </p:spPr>
        <p:txBody>
          <a:bodyPr wrap="none" anchor="ctr"/>
          <a:lstStyle/>
          <a:p>
            <a:pPr algn="ctr">
              <a:defRPr/>
            </a:pPr>
            <a:r>
              <a:rPr lang="zh-CN" altLang="en-US" sz="2400" b="1">
                <a:solidFill>
                  <a:srgbClr val="000000"/>
                </a:solidFill>
                <a:latin typeface="Times New Roman" panose="02020603050405020304" pitchFamily="18" charset="0"/>
              </a:rPr>
              <a:t>用户</a:t>
            </a:r>
            <a:r>
              <a:rPr lang="en-US" altLang="zh-CN" sz="2400" b="1">
                <a:solidFill>
                  <a:srgbClr val="000000"/>
                </a:solidFill>
                <a:latin typeface="Times New Roman" panose="02020603050405020304" pitchFamily="18" charset="0"/>
              </a:rPr>
              <a:t>2</a:t>
            </a:r>
          </a:p>
        </p:txBody>
      </p:sp>
      <p:sp>
        <p:nvSpPr>
          <p:cNvPr id="631831" name="Rectangle 23">
            <a:extLst>
              <a:ext uri="{FF2B5EF4-FFF2-40B4-BE49-F238E27FC236}">
                <a16:creationId xmlns:a16="http://schemas.microsoft.com/office/drawing/2014/main" id="{86718432-10B9-AD4D-856B-F7FF9C913846}"/>
              </a:ext>
            </a:extLst>
          </p:cNvPr>
          <p:cNvSpPr>
            <a:spLocks noChangeArrowheads="1"/>
          </p:cNvSpPr>
          <p:nvPr/>
        </p:nvSpPr>
        <p:spPr bwMode="auto">
          <a:xfrm>
            <a:off x="1042988" y="5626100"/>
            <a:ext cx="1223962" cy="576263"/>
          </a:xfrm>
          <a:prstGeom prst="rect">
            <a:avLst/>
          </a:prstGeom>
          <a:gradFill rotWithShape="1">
            <a:gsLst>
              <a:gs pos="0">
                <a:schemeClr val="hlink"/>
              </a:gs>
              <a:gs pos="50000">
                <a:schemeClr val="bg1"/>
              </a:gs>
              <a:gs pos="100000">
                <a:schemeClr val="hlink"/>
              </a:gs>
            </a:gsLst>
            <a:lin ang="5400000" scaled="1"/>
          </a:gradFill>
          <a:ln>
            <a:noFill/>
          </a:ln>
          <a:effectLst/>
        </p:spPr>
        <p:txBody>
          <a:bodyPr wrap="none" anchor="ctr"/>
          <a:lstStyle/>
          <a:p>
            <a:pPr algn="ctr">
              <a:defRPr/>
            </a:pPr>
            <a:r>
              <a:rPr lang="zh-CN" altLang="en-US" sz="2400" b="1">
                <a:solidFill>
                  <a:srgbClr val="000000"/>
                </a:solidFill>
                <a:latin typeface="Times New Roman" panose="02020603050405020304" pitchFamily="18" charset="0"/>
              </a:rPr>
              <a:t>用户</a:t>
            </a:r>
            <a:r>
              <a:rPr lang="en-US" altLang="zh-CN" sz="2400" b="1">
                <a:solidFill>
                  <a:srgbClr val="000000"/>
                </a:solidFill>
                <a:latin typeface="Times New Roman" panose="02020603050405020304" pitchFamily="18" charset="0"/>
              </a:rPr>
              <a:t>3</a:t>
            </a:r>
          </a:p>
        </p:txBody>
      </p:sp>
      <p:sp>
        <p:nvSpPr>
          <p:cNvPr id="118793" name="Oval 24">
            <a:extLst>
              <a:ext uri="{FF2B5EF4-FFF2-40B4-BE49-F238E27FC236}">
                <a16:creationId xmlns:a16="http://schemas.microsoft.com/office/drawing/2014/main" id="{4E9F2DAA-011C-BE47-84E6-2589619CFCF0}"/>
              </a:ext>
            </a:extLst>
          </p:cNvPr>
          <p:cNvSpPr>
            <a:spLocks noChangeArrowheads="1"/>
          </p:cNvSpPr>
          <p:nvPr/>
        </p:nvSpPr>
        <p:spPr bwMode="auto">
          <a:xfrm>
            <a:off x="3779838" y="3651250"/>
            <a:ext cx="1943100" cy="647700"/>
          </a:xfrm>
          <a:prstGeom prst="ellipse">
            <a:avLst/>
          </a:prstGeom>
          <a:gradFill rotWithShape="1">
            <a:gsLst>
              <a:gs pos="0">
                <a:srgbClr val="2F2F47"/>
              </a:gs>
              <a:gs pos="100000">
                <a:srgbClr val="666699"/>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400" b="1">
                <a:solidFill>
                  <a:srgbClr val="FF0000"/>
                </a:solidFill>
                <a:latin typeface="Times New Roman" panose="02020603050405020304" pitchFamily="18" charset="0"/>
                <a:ea typeface="宋体" panose="02010600030101010101" pitchFamily="2" charset="-122"/>
              </a:rPr>
              <a:t>角色</a:t>
            </a:r>
            <a:r>
              <a:rPr lang="en-US" altLang="zh-CN" sz="2400" b="1">
                <a:solidFill>
                  <a:srgbClr val="FF0000"/>
                </a:solidFill>
                <a:latin typeface="Times New Roman" panose="02020603050405020304" pitchFamily="18" charset="0"/>
                <a:ea typeface="宋体" panose="02010600030101010101" pitchFamily="2" charset="-122"/>
              </a:rPr>
              <a:t>1</a:t>
            </a:r>
          </a:p>
        </p:txBody>
      </p:sp>
      <p:sp>
        <p:nvSpPr>
          <p:cNvPr id="118794" name="Oval 25">
            <a:extLst>
              <a:ext uri="{FF2B5EF4-FFF2-40B4-BE49-F238E27FC236}">
                <a16:creationId xmlns:a16="http://schemas.microsoft.com/office/drawing/2014/main" id="{5656EB9C-7242-F744-98D9-3CF292D7D267}"/>
              </a:ext>
            </a:extLst>
          </p:cNvPr>
          <p:cNvSpPr>
            <a:spLocks noChangeArrowheads="1"/>
          </p:cNvSpPr>
          <p:nvPr/>
        </p:nvSpPr>
        <p:spPr bwMode="auto">
          <a:xfrm>
            <a:off x="3779838" y="5019675"/>
            <a:ext cx="1943100" cy="647700"/>
          </a:xfrm>
          <a:prstGeom prst="ellipse">
            <a:avLst/>
          </a:prstGeom>
          <a:gradFill rotWithShape="1">
            <a:gsLst>
              <a:gs pos="0">
                <a:srgbClr val="765968"/>
              </a:gs>
              <a:gs pos="50000">
                <a:srgbClr val="FFC1E0"/>
              </a:gs>
              <a:gs pos="100000">
                <a:srgbClr val="76596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400" b="1">
                <a:solidFill>
                  <a:srgbClr val="FF0000"/>
                </a:solidFill>
                <a:latin typeface="Times New Roman" panose="02020603050405020304" pitchFamily="18" charset="0"/>
                <a:ea typeface="宋体" panose="02010600030101010101" pitchFamily="2" charset="-122"/>
              </a:rPr>
              <a:t>角色</a:t>
            </a:r>
            <a:r>
              <a:rPr lang="en-US" altLang="zh-CN" sz="2400" b="1">
                <a:solidFill>
                  <a:srgbClr val="FF0000"/>
                </a:solidFill>
                <a:latin typeface="Times New Roman" panose="02020603050405020304" pitchFamily="18" charset="0"/>
                <a:ea typeface="宋体" panose="02010600030101010101" pitchFamily="2" charset="-122"/>
              </a:rPr>
              <a:t>2</a:t>
            </a:r>
          </a:p>
        </p:txBody>
      </p:sp>
      <p:sp>
        <p:nvSpPr>
          <p:cNvPr id="631834" name="Rectangle 26">
            <a:extLst>
              <a:ext uri="{FF2B5EF4-FFF2-40B4-BE49-F238E27FC236}">
                <a16:creationId xmlns:a16="http://schemas.microsoft.com/office/drawing/2014/main" id="{DDFDAEEE-4CAB-3D45-8222-0B8C0BC34065}"/>
              </a:ext>
            </a:extLst>
          </p:cNvPr>
          <p:cNvSpPr>
            <a:spLocks noChangeArrowheads="1"/>
          </p:cNvSpPr>
          <p:nvPr/>
        </p:nvSpPr>
        <p:spPr bwMode="auto">
          <a:xfrm>
            <a:off x="7019925" y="3536950"/>
            <a:ext cx="1152525" cy="576263"/>
          </a:xfrm>
          <a:prstGeom prst="rect">
            <a:avLst/>
          </a:prstGeom>
          <a:gradFill rotWithShape="1">
            <a:gsLst>
              <a:gs pos="0">
                <a:schemeClr val="accent2"/>
              </a:gs>
              <a:gs pos="50000">
                <a:schemeClr val="bg1"/>
              </a:gs>
              <a:gs pos="100000">
                <a:schemeClr val="accent2"/>
              </a:gs>
            </a:gsLst>
            <a:lin ang="5400000" scaled="1"/>
          </a:gradFill>
          <a:ln>
            <a:noFill/>
          </a:ln>
          <a:effectLst/>
        </p:spPr>
        <p:txBody>
          <a:bodyPr wrap="none" anchor="ctr"/>
          <a:lstStyle/>
          <a:p>
            <a:pPr algn="ctr">
              <a:defRPr/>
            </a:pPr>
            <a:r>
              <a:rPr kumimoji="1" lang="zh-CN" altLang="en-US" sz="2400" b="1">
                <a:solidFill>
                  <a:srgbClr val="C22A8F"/>
                </a:solidFill>
                <a:latin typeface="Times New Roman" panose="02020603050405020304" pitchFamily="18" charset="0"/>
              </a:rPr>
              <a:t>客体</a:t>
            </a:r>
            <a:r>
              <a:rPr kumimoji="1" lang="en-US" altLang="zh-CN" sz="2400" b="1">
                <a:solidFill>
                  <a:srgbClr val="C22A8F"/>
                </a:solidFill>
                <a:latin typeface="Times New Roman" panose="02020603050405020304" pitchFamily="18" charset="0"/>
              </a:rPr>
              <a:t>1</a:t>
            </a:r>
          </a:p>
        </p:txBody>
      </p:sp>
      <p:sp>
        <p:nvSpPr>
          <p:cNvPr id="631835" name="Rectangle 27">
            <a:extLst>
              <a:ext uri="{FF2B5EF4-FFF2-40B4-BE49-F238E27FC236}">
                <a16:creationId xmlns:a16="http://schemas.microsoft.com/office/drawing/2014/main" id="{319ED16B-5050-F245-8B03-EFA298EB3604}"/>
              </a:ext>
            </a:extLst>
          </p:cNvPr>
          <p:cNvSpPr>
            <a:spLocks noChangeArrowheads="1"/>
          </p:cNvSpPr>
          <p:nvPr/>
        </p:nvSpPr>
        <p:spPr bwMode="auto">
          <a:xfrm>
            <a:off x="7019925" y="4445000"/>
            <a:ext cx="1152525" cy="576263"/>
          </a:xfrm>
          <a:prstGeom prst="rect">
            <a:avLst/>
          </a:prstGeom>
          <a:gradFill rotWithShape="1">
            <a:gsLst>
              <a:gs pos="0">
                <a:schemeClr val="accent2"/>
              </a:gs>
              <a:gs pos="50000">
                <a:schemeClr val="bg1"/>
              </a:gs>
              <a:gs pos="100000">
                <a:schemeClr val="accent2"/>
              </a:gs>
            </a:gsLst>
            <a:lin ang="5400000" scaled="1"/>
          </a:gradFill>
          <a:ln>
            <a:noFill/>
          </a:ln>
          <a:effectLst/>
        </p:spPr>
        <p:txBody>
          <a:bodyPr wrap="none" anchor="ctr"/>
          <a:lstStyle/>
          <a:p>
            <a:pPr algn="ctr">
              <a:defRPr/>
            </a:pPr>
            <a:r>
              <a:rPr kumimoji="1" lang="zh-CN" altLang="en-US" sz="2400" b="1">
                <a:solidFill>
                  <a:srgbClr val="C22A8F"/>
                </a:solidFill>
                <a:latin typeface="Times New Roman" panose="02020603050405020304" pitchFamily="18" charset="0"/>
              </a:rPr>
              <a:t>客体</a:t>
            </a:r>
            <a:r>
              <a:rPr kumimoji="1" lang="en-US" altLang="zh-CN" sz="2400" b="1">
                <a:solidFill>
                  <a:srgbClr val="C22A8F"/>
                </a:solidFill>
                <a:latin typeface="Times New Roman" panose="02020603050405020304" pitchFamily="18" charset="0"/>
              </a:rPr>
              <a:t>2</a:t>
            </a:r>
          </a:p>
        </p:txBody>
      </p:sp>
      <p:sp>
        <p:nvSpPr>
          <p:cNvPr id="631836" name="Rectangle 28">
            <a:extLst>
              <a:ext uri="{FF2B5EF4-FFF2-40B4-BE49-F238E27FC236}">
                <a16:creationId xmlns:a16="http://schemas.microsoft.com/office/drawing/2014/main" id="{5C4BFC8C-019A-C146-9CE9-8B1036BA680B}"/>
              </a:ext>
            </a:extLst>
          </p:cNvPr>
          <p:cNvSpPr>
            <a:spLocks noChangeArrowheads="1"/>
          </p:cNvSpPr>
          <p:nvPr/>
        </p:nvSpPr>
        <p:spPr bwMode="auto">
          <a:xfrm>
            <a:off x="7092950" y="5697538"/>
            <a:ext cx="1150938" cy="576262"/>
          </a:xfrm>
          <a:prstGeom prst="rect">
            <a:avLst/>
          </a:prstGeom>
          <a:gradFill rotWithShape="1">
            <a:gsLst>
              <a:gs pos="0">
                <a:schemeClr val="accent2"/>
              </a:gs>
              <a:gs pos="50000">
                <a:schemeClr val="bg1"/>
              </a:gs>
              <a:gs pos="100000">
                <a:schemeClr val="accent2"/>
              </a:gs>
            </a:gsLst>
            <a:lin ang="5400000" scaled="1"/>
          </a:gradFill>
          <a:ln>
            <a:noFill/>
          </a:ln>
          <a:effectLst/>
        </p:spPr>
        <p:txBody>
          <a:bodyPr wrap="none" anchor="ctr"/>
          <a:lstStyle/>
          <a:p>
            <a:pPr algn="ctr">
              <a:defRPr/>
            </a:pPr>
            <a:r>
              <a:rPr kumimoji="1" lang="zh-CN" altLang="en-US" sz="2400" b="1">
                <a:solidFill>
                  <a:srgbClr val="C22A8F"/>
                </a:solidFill>
                <a:latin typeface="Times New Roman" panose="02020603050405020304" pitchFamily="18" charset="0"/>
              </a:rPr>
              <a:t>客体</a:t>
            </a:r>
            <a:r>
              <a:rPr kumimoji="1" lang="en-US" altLang="zh-CN" sz="2400" b="1">
                <a:solidFill>
                  <a:srgbClr val="C22A8F"/>
                </a:solidFill>
                <a:latin typeface="Times New Roman" panose="02020603050405020304" pitchFamily="18" charset="0"/>
              </a:rPr>
              <a:t>3</a:t>
            </a:r>
          </a:p>
        </p:txBody>
      </p:sp>
      <p:sp>
        <p:nvSpPr>
          <p:cNvPr id="118798" name="Line 29">
            <a:extLst>
              <a:ext uri="{FF2B5EF4-FFF2-40B4-BE49-F238E27FC236}">
                <a16:creationId xmlns:a16="http://schemas.microsoft.com/office/drawing/2014/main" id="{1B2BEE33-99BC-F74E-86F3-4D2F213A9E94}"/>
              </a:ext>
            </a:extLst>
          </p:cNvPr>
          <p:cNvSpPr>
            <a:spLocks noChangeShapeType="1"/>
          </p:cNvSpPr>
          <p:nvPr/>
        </p:nvSpPr>
        <p:spPr bwMode="auto">
          <a:xfrm flipV="1">
            <a:off x="2268538" y="3940175"/>
            <a:ext cx="1511300" cy="28575"/>
          </a:xfrm>
          <a:prstGeom prst="line">
            <a:avLst/>
          </a:prstGeom>
          <a:noFill/>
          <a:ln w="9525">
            <a:solidFill>
              <a:srgbClr val="99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799" name="Line 30">
            <a:extLst>
              <a:ext uri="{FF2B5EF4-FFF2-40B4-BE49-F238E27FC236}">
                <a16:creationId xmlns:a16="http://schemas.microsoft.com/office/drawing/2014/main" id="{817E0C45-7FFC-4B43-83D1-BDCD3801C9D1}"/>
              </a:ext>
            </a:extLst>
          </p:cNvPr>
          <p:cNvSpPr>
            <a:spLocks noChangeShapeType="1"/>
          </p:cNvSpPr>
          <p:nvPr/>
        </p:nvSpPr>
        <p:spPr bwMode="auto">
          <a:xfrm>
            <a:off x="5651500" y="3897313"/>
            <a:ext cx="1368425" cy="0"/>
          </a:xfrm>
          <a:prstGeom prst="line">
            <a:avLst/>
          </a:prstGeom>
          <a:noFill/>
          <a:ln w="9525">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0" name="Line 31">
            <a:extLst>
              <a:ext uri="{FF2B5EF4-FFF2-40B4-BE49-F238E27FC236}">
                <a16:creationId xmlns:a16="http://schemas.microsoft.com/office/drawing/2014/main" id="{A01EC7B9-0DD2-1745-9659-12E65AC524F2}"/>
              </a:ext>
            </a:extLst>
          </p:cNvPr>
          <p:cNvSpPr>
            <a:spLocks noChangeShapeType="1"/>
          </p:cNvSpPr>
          <p:nvPr/>
        </p:nvSpPr>
        <p:spPr bwMode="auto">
          <a:xfrm>
            <a:off x="5724525" y="4084638"/>
            <a:ext cx="1295400" cy="503237"/>
          </a:xfrm>
          <a:prstGeom prst="line">
            <a:avLst/>
          </a:prstGeom>
          <a:noFill/>
          <a:ln w="9525">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1" name="Line 32">
            <a:extLst>
              <a:ext uri="{FF2B5EF4-FFF2-40B4-BE49-F238E27FC236}">
                <a16:creationId xmlns:a16="http://schemas.microsoft.com/office/drawing/2014/main" id="{E525B774-632C-8C43-8781-9BD62E09B82E}"/>
              </a:ext>
            </a:extLst>
          </p:cNvPr>
          <p:cNvSpPr>
            <a:spLocks noChangeShapeType="1"/>
          </p:cNvSpPr>
          <p:nvPr/>
        </p:nvSpPr>
        <p:spPr bwMode="auto">
          <a:xfrm>
            <a:off x="2339975" y="4689475"/>
            <a:ext cx="1512888" cy="474663"/>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2" name="Line 33">
            <a:extLst>
              <a:ext uri="{FF2B5EF4-FFF2-40B4-BE49-F238E27FC236}">
                <a16:creationId xmlns:a16="http://schemas.microsoft.com/office/drawing/2014/main" id="{E2537C9A-0C66-4546-95D7-1DEF0BA991D0}"/>
              </a:ext>
            </a:extLst>
          </p:cNvPr>
          <p:cNvSpPr>
            <a:spLocks noChangeShapeType="1"/>
          </p:cNvSpPr>
          <p:nvPr/>
        </p:nvSpPr>
        <p:spPr bwMode="auto">
          <a:xfrm flipV="1">
            <a:off x="2339975" y="5451475"/>
            <a:ext cx="1512888" cy="533400"/>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3" name="Line 34">
            <a:extLst>
              <a:ext uri="{FF2B5EF4-FFF2-40B4-BE49-F238E27FC236}">
                <a16:creationId xmlns:a16="http://schemas.microsoft.com/office/drawing/2014/main" id="{EE215549-3322-7E4C-86B5-5C970A2CA902}"/>
              </a:ext>
            </a:extLst>
          </p:cNvPr>
          <p:cNvSpPr>
            <a:spLocks noChangeShapeType="1"/>
          </p:cNvSpPr>
          <p:nvPr/>
        </p:nvSpPr>
        <p:spPr bwMode="auto">
          <a:xfrm flipV="1">
            <a:off x="5724525" y="4905375"/>
            <a:ext cx="1223963" cy="403225"/>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4" name="Line 35">
            <a:extLst>
              <a:ext uri="{FF2B5EF4-FFF2-40B4-BE49-F238E27FC236}">
                <a16:creationId xmlns:a16="http://schemas.microsoft.com/office/drawing/2014/main" id="{1C8C175D-E936-714F-A449-FA89AF66BC01}"/>
              </a:ext>
            </a:extLst>
          </p:cNvPr>
          <p:cNvSpPr>
            <a:spLocks noChangeShapeType="1"/>
          </p:cNvSpPr>
          <p:nvPr/>
        </p:nvSpPr>
        <p:spPr bwMode="auto">
          <a:xfrm>
            <a:off x="5724525" y="5451475"/>
            <a:ext cx="1295400" cy="461963"/>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05" name="Text Box 36">
            <a:extLst>
              <a:ext uri="{FF2B5EF4-FFF2-40B4-BE49-F238E27FC236}">
                <a16:creationId xmlns:a16="http://schemas.microsoft.com/office/drawing/2014/main" id="{457FD3D9-B13F-9648-8447-5A416AEF1196}"/>
              </a:ext>
            </a:extLst>
          </p:cNvPr>
          <p:cNvSpPr txBox="1">
            <a:spLocks noChangeArrowheads="1"/>
          </p:cNvSpPr>
          <p:nvPr/>
        </p:nvSpPr>
        <p:spPr bwMode="auto">
          <a:xfrm>
            <a:off x="5868988" y="3465513"/>
            <a:ext cx="649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chemeClr val="accent2"/>
                </a:solidFill>
                <a:latin typeface="Times New Roman" panose="02020603050405020304" pitchFamily="18" charset="0"/>
                <a:ea typeface="宋体" panose="02010600030101010101" pitchFamily="2" charset="-122"/>
              </a:rPr>
              <a:t>权限</a:t>
            </a:r>
            <a:r>
              <a:rPr lang="en-US" altLang="zh-CN" sz="1400" b="1">
                <a:solidFill>
                  <a:schemeClr val="accent2"/>
                </a:solidFill>
                <a:latin typeface="Times New Roman" panose="02020603050405020304" pitchFamily="18" charset="0"/>
                <a:ea typeface="宋体" panose="02010600030101010101" pitchFamily="2" charset="-122"/>
              </a:rPr>
              <a:t>1</a:t>
            </a:r>
          </a:p>
        </p:txBody>
      </p:sp>
      <p:sp>
        <p:nvSpPr>
          <p:cNvPr id="118806" name="Text Box 37">
            <a:extLst>
              <a:ext uri="{FF2B5EF4-FFF2-40B4-BE49-F238E27FC236}">
                <a16:creationId xmlns:a16="http://schemas.microsoft.com/office/drawing/2014/main" id="{EC7F79B2-7F39-1D4B-99EE-9FDA307B463F}"/>
              </a:ext>
            </a:extLst>
          </p:cNvPr>
          <p:cNvSpPr txBox="1">
            <a:spLocks noChangeArrowheads="1"/>
          </p:cNvSpPr>
          <p:nvPr/>
        </p:nvSpPr>
        <p:spPr bwMode="auto">
          <a:xfrm>
            <a:off x="6084888" y="3968750"/>
            <a:ext cx="719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chemeClr val="hlink"/>
                </a:solidFill>
                <a:latin typeface="Times New Roman" panose="02020603050405020304" pitchFamily="18" charset="0"/>
                <a:ea typeface="宋体" panose="02010600030101010101" pitchFamily="2" charset="-122"/>
              </a:rPr>
              <a:t>权限</a:t>
            </a:r>
            <a:r>
              <a:rPr lang="en-US" altLang="zh-CN" sz="1400" b="1">
                <a:solidFill>
                  <a:schemeClr val="hlink"/>
                </a:solidFill>
                <a:latin typeface="Times New Roman" panose="02020603050405020304" pitchFamily="18" charset="0"/>
                <a:ea typeface="宋体" panose="02010600030101010101" pitchFamily="2" charset="-122"/>
              </a:rPr>
              <a:t>2</a:t>
            </a:r>
          </a:p>
        </p:txBody>
      </p:sp>
      <p:sp>
        <p:nvSpPr>
          <p:cNvPr id="118807" name="Text Box 38">
            <a:extLst>
              <a:ext uri="{FF2B5EF4-FFF2-40B4-BE49-F238E27FC236}">
                <a16:creationId xmlns:a16="http://schemas.microsoft.com/office/drawing/2014/main" id="{EEAF3DC2-2F4C-F540-846B-7266070C796B}"/>
              </a:ext>
            </a:extLst>
          </p:cNvPr>
          <p:cNvSpPr txBox="1">
            <a:spLocks noChangeArrowheads="1"/>
          </p:cNvSpPr>
          <p:nvPr/>
        </p:nvSpPr>
        <p:spPr bwMode="auto">
          <a:xfrm>
            <a:off x="5724525" y="4689475"/>
            <a:ext cx="792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rgbClr val="0000CC"/>
                </a:solidFill>
                <a:latin typeface="Times New Roman" panose="02020603050405020304" pitchFamily="18" charset="0"/>
                <a:ea typeface="宋体" panose="02010600030101010101" pitchFamily="2" charset="-122"/>
              </a:rPr>
              <a:t>权限</a:t>
            </a:r>
            <a:r>
              <a:rPr lang="en-US" altLang="zh-CN" sz="1400" b="1">
                <a:solidFill>
                  <a:srgbClr val="0000CC"/>
                </a:solidFill>
                <a:latin typeface="Times New Roman" panose="02020603050405020304" pitchFamily="18" charset="0"/>
                <a:ea typeface="宋体" panose="02010600030101010101" pitchFamily="2" charset="-122"/>
              </a:rPr>
              <a:t>2</a:t>
            </a:r>
          </a:p>
        </p:txBody>
      </p:sp>
      <p:sp>
        <p:nvSpPr>
          <p:cNvPr id="118808" name="Text Box 39">
            <a:extLst>
              <a:ext uri="{FF2B5EF4-FFF2-40B4-BE49-F238E27FC236}">
                <a16:creationId xmlns:a16="http://schemas.microsoft.com/office/drawing/2014/main" id="{72911C6A-CB3E-CB41-92A0-A9F8FFEDBD38}"/>
              </a:ext>
            </a:extLst>
          </p:cNvPr>
          <p:cNvSpPr txBox="1">
            <a:spLocks noChangeArrowheads="1"/>
          </p:cNvSpPr>
          <p:nvPr/>
        </p:nvSpPr>
        <p:spPr bwMode="auto">
          <a:xfrm>
            <a:off x="5651500" y="5697538"/>
            <a:ext cx="86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latin typeface="Times New Roman" panose="02020603050405020304" pitchFamily="18" charset="0"/>
                <a:ea typeface="宋体" panose="02010600030101010101" pitchFamily="2" charset="-122"/>
              </a:rPr>
              <a:t>权限</a:t>
            </a:r>
            <a:r>
              <a:rPr lang="en-US" altLang="zh-CN" sz="1400" b="1">
                <a:latin typeface="Times New Roman" panose="02020603050405020304" pitchFamily="18" charset="0"/>
                <a:ea typeface="宋体" panose="02010600030101010101" pitchFamily="2" charset="-122"/>
              </a:rPr>
              <a:t>3</a:t>
            </a:r>
          </a:p>
        </p:txBody>
      </p:sp>
      <p:sp>
        <p:nvSpPr>
          <p:cNvPr id="118809" name="Text Box 40">
            <a:extLst>
              <a:ext uri="{FF2B5EF4-FFF2-40B4-BE49-F238E27FC236}">
                <a16:creationId xmlns:a16="http://schemas.microsoft.com/office/drawing/2014/main" id="{571FBDBF-8D05-754A-B4ED-A94B3F76868D}"/>
              </a:ext>
            </a:extLst>
          </p:cNvPr>
          <p:cNvSpPr txBox="1">
            <a:spLocks noChangeArrowheads="1"/>
          </p:cNvSpPr>
          <p:nvPr/>
        </p:nvSpPr>
        <p:spPr bwMode="auto">
          <a:xfrm>
            <a:off x="2700338" y="3609975"/>
            <a:ext cx="649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rgbClr val="C22A8F"/>
                </a:solidFill>
                <a:latin typeface="Times New Roman" panose="02020603050405020304" pitchFamily="18" charset="0"/>
                <a:ea typeface="宋体" panose="02010600030101010101" pitchFamily="2" charset="-122"/>
              </a:rPr>
              <a:t>属于</a:t>
            </a:r>
          </a:p>
        </p:txBody>
      </p:sp>
      <p:sp>
        <p:nvSpPr>
          <p:cNvPr id="118810" name="Text Box 41">
            <a:extLst>
              <a:ext uri="{FF2B5EF4-FFF2-40B4-BE49-F238E27FC236}">
                <a16:creationId xmlns:a16="http://schemas.microsoft.com/office/drawing/2014/main" id="{DE6C85B7-0A5F-8145-A72E-14AE0678C3BA}"/>
              </a:ext>
            </a:extLst>
          </p:cNvPr>
          <p:cNvSpPr txBox="1">
            <a:spLocks noChangeArrowheads="1"/>
          </p:cNvSpPr>
          <p:nvPr/>
        </p:nvSpPr>
        <p:spPr bwMode="auto">
          <a:xfrm>
            <a:off x="2771775" y="4545013"/>
            <a:ext cx="649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rgbClr val="C22A8F"/>
                </a:solidFill>
                <a:latin typeface="Times New Roman" panose="02020603050405020304" pitchFamily="18" charset="0"/>
                <a:ea typeface="宋体" panose="02010600030101010101" pitchFamily="2" charset="-122"/>
              </a:rPr>
              <a:t>属于</a:t>
            </a:r>
          </a:p>
        </p:txBody>
      </p:sp>
      <p:sp>
        <p:nvSpPr>
          <p:cNvPr id="118811" name="Text Box 42">
            <a:extLst>
              <a:ext uri="{FF2B5EF4-FFF2-40B4-BE49-F238E27FC236}">
                <a16:creationId xmlns:a16="http://schemas.microsoft.com/office/drawing/2014/main" id="{E385C672-A48E-8341-A424-59467750AA12}"/>
              </a:ext>
            </a:extLst>
          </p:cNvPr>
          <p:cNvSpPr txBox="1">
            <a:spLocks noChangeArrowheads="1"/>
          </p:cNvSpPr>
          <p:nvPr/>
        </p:nvSpPr>
        <p:spPr bwMode="auto">
          <a:xfrm>
            <a:off x="2771775" y="5337175"/>
            <a:ext cx="649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1400" b="1">
                <a:solidFill>
                  <a:srgbClr val="C22A8F"/>
                </a:solidFill>
                <a:latin typeface="Times New Roman" panose="02020603050405020304" pitchFamily="18" charset="0"/>
                <a:ea typeface="宋体" panose="02010600030101010101" pitchFamily="2" charset="-122"/>
              </a:rPr>
              <a:t>属于</a:t>
            </a:r>
          </a:p>
        </p:txBody>
      </p:sp>
      <p:grpSp>
        <p:nvGrpSpPr>
          <p:cNvPr id="118812" name="组合 6">
            <a:extLst>
              <a:ext uri="{FF2B5EF4-FFF2-40B4-BE49-F238E27FC236}">
                <a16:creationId xmlns:a16="http://schemas.microsoft.com/office/drawing/2014/main" id="{F598BE69-A7CD-BD46-A050-2030EC812DA5}"/>
              </a:ext>
            </a:extLst>
          </p:cNvPr>
          <p:cNvGrpSpPr>
            <a:grpSpLocks/>
          </p:cNvGrpSpPr>
          <p:nvPr/>
        </p:nvGrpSpPr>
        <p:grpSpPr bwMode="auto">
          <a:xfrm>
            <a:off x="4211638" y="1233488"/>
            <a:ext cx="3024187" cy="1655762"/>
            <a:chOff x="4427537" y="1556792"/>
            <a:chExt cx="3024187" cy="1655762"/>
          </a:xfrm>
        </p:grpSpPr>
        <p:sp>
          <p:nvSpPr>
            <p:cNvPr id="118815" name="Oval 7">
              <a:extLst>
                <a:ext uri="{FF2B5EF4-FFF2-40B4-BE49-F238E27FC236}">
                  <a16:creationId xmlns:a16="http://schemas.microsoft.com/office/drawing/2014/main" id="{CE27D482-4A41-334A-8B27-8331FD0E243B}"/>
                </a:ext>
              </a:extLst>
            </p:cNvPr>
            <p:cNvSpPr>
              <a:spLocks noChangeArrowheads="1"/>
            </p:cNvSpPr>
            <p:nvPr/>
          </p:nvSpPr>
          <p:spPr bwMode="auto">
            <a:xfrm>
              <a:off x="4427537" y="1556792"/>
              <a:ext cx="3024187" cy="1655762"/>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18816" name="Oval 8">
              <a:extLst>
                <a:ext uri="{FF2B5EF4-FFF2-40B4-BE49-F238E27FC236}">
                  <a16:creationId xmlns:a16="http://schemas.microsoft.com/office/drawing/2014/main" id="{E46F9D18-83A2-E445-96DD-0AB326522BF7}"/>
                </a:ext>
              </a:extLst>
            </p:cNvPr>
            <p:cNvSpPr>
              <a:spLocks noChangeArrowheads="1"/>
            </p:cNvSpPr>
            <p:nvPr/>
          </p:nvSpPr>
          <p:spPr bwMode="auto">
            <a:xfrm>
              <a:off x="4572000" y="2133054"/>
              <a:ext cx="1071562" cy="647700"/>
            </a:xfrm>
            <a:prstGeom prst="ellipse">
              <a:avLst/>
            </a:prstGeom>
            <a:solidFill>
              <a:srgbClr val="FFFFFF"/>
            </a:solidFill>
            <a:ln w="9525">
              <a:solidFill>
                <a:schemeClr val="tx1"/>
              </a:solidFill>
              <a:round/>
              <a:headEnd/>
              <a:tailEnd/>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000" b="1">
                  <a:solidFill>
                    <a:srgbClr val="000000"/>
                  </a:solidFill>
                  <a:latin typeface="Times New Roman" panose="02020603050405020304" pitchFamily="18" charset="0"/>
                  <a:ea typeface="宋体" panose="02010600030101010101" pitchFamily="2" charset="-122"/>
                </a:rPr>
                <a:t>操作</a:t>
              </a:r>
            </a:p>
          </p:txBody>
        </p:sp>
        <p:sp>
          <p:nvSpPr>
            <p:cNvPr id="118817" name="Oval 9">
              <a:extLst>
                <a:ext uri="{FF2B5EF4-FFF2-40B4-BE49-F238E27FC236}">
                  <a16:creationId xmlns:a16="http://schemas.microsoft.com/office/drawing/2014/main" id="{BA3BE565-C67F-1D4A-A80F-4F78C1351712}"/>
                </a:ext>
              </a:extLst>
            </p:cNvPr>
            <p:cNvSpPr>
              <a:spLocks noChangeArrowheads="1"/>
            </p:cNvSpPr>
            <p:nvPr/>
          </p:nvSpPr>
          <p:spPr bwMode="auto">
            <a:xfrm>
              <a:off x="6156324" y="2133054"/>
              <a:ext cx="1071562" cy="647700"/>
            </a:xfrm>
            <a:prstGeom prst="ellipse">
              <a:avLst/>
            </a:prstGeom>
            <a:solidFill>
              <a:srgbClr val="FFFFFF"/>
            </a:solidFill>
            <a:ln w="9525">
              <a:solidFill>
                <a:schemeClr val="tx1"/>
              </a:solidFill>
              <a:round/>
              <a:headEnd/>
              <a:tailEnd/>
            </a:ln>
          </p:spPr>
          <p:txBody>
            <a:bodyPr wrap="none"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000" b="1">
                  <a:solidFill>
                    <a:srgbClr val="000000"/>
                  </a:solidFill>
                  <a:latin typeface="Times New Roman" panose="02020603050405020304" pitchFamily="18" charset="0"/>
                  <a:ea typeface="宋体" panose="02010600030101010101" pitchFamily="2" charset="-122"/>
                </a:rPr>
                <a:t>客体</a:t>
              </a:r>
            </a:p>
          </p:txBody>
        </p:sp>
        <p:sp>
          <p:nvSpPr>
            <p:cNvPr id="118818" name="Line 12">
              <a:extLst>
                <a:ext uri="{FF2B5EF4-FFF2-40B4-BE49-F238E27FC236}">
                  <a16:creationId xmlns:a16="http://schemas.microsoft.com/office/drawing/2014/main" id="{5AD26D98-618D-3B43-AA3B-8B8A74FF2FC0}"/>
                </a:ext>
              </a:extLst>
            </p:cNvPr>
            <p:cNvSpPr>
              <a:spLocks noChangeShapeType="1"/>
            </p:cNvSpPr>
            <p:nvPr/>
          </p:nvSpPr>
          <p:spPr bwMode="auto">
            <a:xfrm>
              <a:off x="5651499" y="2492103"/>
              <a:ext cx="504825" cy="793"/>
            </a:xfrm>
            <a:prstGeom prst="line">
              <a:avLst/>
            </a:prstGeom>
            <a:noFill/>
            <a:ln w="28575">
              <a:solidFill>
                <a:srgbClr val="FF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19" name="Text Box 11">
              <a:extLst>
                <a:ext uri="{FF2B5EF4-FFF2-40B4-BE49-F238E27FC236}">
                  <a16:creationId xmlns:a16="http://schemas.microsoft.com/office/drawing/2014/main" id="{2909AB9F-01C3-5E40-BC0F-472B9DC07D7C}"/>
                </a:ext>
              </a:extLst>
            </p:cNvPr>
            <p:cNvSpPr txBox="1">
              <a:spLocks noChangeArrowheads="1"/>
            </p:cNvSpPr>
            <p:nvPr/>
          </p:nvSpPr>
          <p:spPr bwMode="auto">
            <a:xfrm>
              <a:off x="5508104" y="1556792"/>
              <a:ext cx="914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a:spcBef>
                  <a:spcPct val="0"/>
                </a:spcBef>
                <a:buClrTx/>
                <a:buFontTx/>
                <a:buNone/>
              </a:pPr>
              <a:r>
                <a:rPr lang="zh-CN" altLang="en-US" sz="2000" b="1">
                  <a:latin typeface="宋体" panose="02010600030101010101" pitchFamily="2" charset="-122"/>
                  <a:ea typeface="宋体" panose="02010600030101010101" pitchFamily="2" charset="-122"/>
                </a:rPr>
                <a:t>许可</a:t>
              </a:r>
              <a:endParaRPr lang="en-US" altLang="zh-CN" sz="2000" b="1">
                <a:latin typeface="宋体" panose="02010600030101010101" pitchFamily="2" charset="-122"/>
                <a:ea typeface="宋体" panose="02010600030101010101" pitchFamily="2" charset="-122"/>
              </a:endParaRPr>
            </a:p>
            <a:p>
              <a:pPr algn="ctr">
                <a:spcBef>
                  <a:spcPct val="0"/>
                </a:spcBef>
                <a:buClrTx/>
                <a:buFontTx/>
                <a:buNone/>
              </a:pP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权限</a:t>
              </a:r>
              <a:r>
                <a:rPr lang="en-US" altLang="zh-CN" sz="2000" b="1">
                  <a:latin typeface="宋体" panose="02010600030101010101" pitchFamily="2" charset="-122"/>
                  <a:ea typeface="宋体" panose="02010600030101010101" pitchFamily="2" charset="-122"/>
                </a:rPr>
                <a:t>)</a:t>
              </a:r>
              <a:endParaRPr lang="zh-CN" altLang="en-US" sz="2000" b="1">
                <a:latin typeface="宋体" panose="02010600030101010101" pitchFamily="2" charset="-122"/>
                <a:ea typeface="宋体" panose="02010600030101010101" pitchFamily="2" charset="-122"/>
              </a:endParaRPr>
            </a:p>
          </p:txBody>
        </p:sp>
      </p:grpSp>
      <p:sp>
        <p:nvSpPr>
          <p:cNvPr id="118813" name="Line 29">
            <a:extLst>
              <a:ext uri="{FF2B5EF4-FFF2-40B4-BE49-F238E27FC236}">
                <a16:creationId xmlns:a16="http://schemas.microsoft.com/office/drawing/2014/main" id="{385E60E7-9287-E348-B9FE-D650B4FDE0EC}"/>
              </a:ext>
            </a:extLst>
          </p:cNvPr>
          <p:cNvSpPr>
            <a:spLocks noChangeShapeType="1"/>
          </p:cNvSpPr>
          <p:nvPr/>
        </p:nvSpPr>
        <p:spPr bwMode="auto">
          <a:xfrm>
            <a:off x="2268538" y="3975100"/>
            <a:ext cx="1601787" cy="1046163"/>
          </a:xfrm>
          <a:prstGeom prst="line">
            <a:avLst/>
          </a:prstGeom>
          <a:noFill/>
          <a:ln w="9525">
            <a:solidFill>
              <a:srgbClr val="99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814" name="Text Box 36">
            <a:extLst>
              <a:ext uri="{FF2B5EF4-FFF2-40B4-BE49-F238E27FC236}">
                <a16:creationId xmlns:a16="http://schemas.microsoft.com/office/drawing/2014/main" id="{A0CCB011-4C22-C844-9C72-878EF7340DBE}"/>
              </a:ext>
            </a:extLst>
          </p:cNvPr>
          <p:cNvSpPr txBox="1">
            <a:spLocks noChangeArrowheads="1"/>
          </p:cNvSpPr>
          <p:nvPr/>
        </p:nvSpPr>
        <p:spPr bwMode="auto">
          <a:xfrm>
            <a:off x="1760538" y="2890838"/>
            <a:ext cx="5980112"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3200" b="1"/>
              <a:t>有时用户先分组后再分配角色</a:t>
            </a:r>
          </a:p>
        </p:txBody>
      </p:sp>
    </p:spTree>
  </p:cSld>
  <p:clrMapOvr>
    <a:masterClrMapping/>
  </p:clrMapOvr>
  <p:transition spd="slow">
    <p:pull/>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2F866A50-3CC6-3740-975D-6EE6D952C969}"/>
              </a:ext>
            </a:extLst>
          </p:cNvPr>
          <p:cNvSpPr>
            <a:spLocks noGrp="1"/>
          </p:cNvSpPr>
          <p:nvPr>
            <p:ph type="title"/>
          </p:nvPr>
        </p:nvSpPr>
        <p:spPr>
          <a:xfrm>
            <a:off x="863600" y="800100"/>
            <a:ext cx="6513513"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a:t>
            </a:r>
            <a:r>
              <a:rPr lang="zh-CN" altLang="en-US">
                <a:solidFill>
                  <a:srgbClr val="0033CC"/>
                </a:solidFill>
                <a:effectLst>
                  <a:outerShdw blurRad="38100" dist="38100" dir="2700000" algn="tl">
                    <a:srgbClr val="C0C0C0"/>
                  </a:outerShdw>
                </a:effectLst>
                <a:latin typeface="Times New Roman" panose="02020603050405020304" pitchFamily="18" charset="0"/>
              </a:rPr>
              <a:t>模型实例</a:t>
            </a:r>
          </a:p>
        </p:txBody>
      </p:sp>
      <p:pic>
        <p:nvPicPr>
          <p:cNvPr id="93189" name="Picture 1">
            <a:extLst>
              <a:ext uri="{FF2B5EF4-FFF2-40B4-BE49-F238E27FC236}">
                <a16:creationId xmlns:a16="http://schemas.microsoft.com/office/drawing/2014/main" id="{D1CAF333-CC0E-CA44-ACB6-D157175B8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225" y="1628775"/>
            <a:ext cx="528955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p:cTn id="7" dur="500" fill="hold"/>
                                        <p:tgtEl>
                                          <p:spTgt spid="93189"/>
                                        </p:tgtEl>
                                        <p:attrNameLst>
                                          <p:attrName>ppt_w</p:attrName>
                                        </p:attrNameLst>
                                      </p:cBhvr>
                                      <p:tavLst>
                                        <p:tav tm="0">
                                          <p:val>
                                            <p:fltVal val="0"/>
                                          </p:val>
                                        </p:tav>
                                        <p:tav tm="100000">
                                          <p:val>
                                            <p:strVal val="#ppt_w"/>
                                          </p:val>
                                        </p:tav>
                                      </p:tavLst>
                                    </p:anim>
                                    <p:anim calcmode="lin" valueType="num">
                                      <p:cBhvr>
                                        <p:cTn id="8" dur="500" fill="hold"/>
                                        <p:tgtEl>
                                          <p:spTgt spid="93189"/>
                                        </p:tgtEl>
                                        <p:attrNameLst>
                                          <p:attrName>ppt_h</p:attrName>
                                        </p:attrNameLst>
                                      </p:cBhvr>
                                      <p:tavLst>
                                        <p:tav tm="0">
                                          <p:val>
                                            <p:fltVal val="0"/>
                                          </p:val>
                                        </p:tav>
                                        <p:tav tm="100000">
                                          <p:val>
                                            <p:strVal val="#ppt_h"/>
                                          </p:val>
                                        </p:tav>
                                      </p:tavLst>
                                    </p:anim>
                                    <p:animEffect transition="in" filter="fade">
                                      <p:cBhvr>
                                        <p:cTn id="9" dur="500"/>
                                        <p:tgtEl>
                                          <p:spTgt spid="93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D0825-08B6-5058-AB70-B8E784DD9077}"/>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6AB51332-5058-33A4-BFF4-D2F7E5001ECB}"/>
              </a:ext>
            </a:extLst>
          </p:cNvPr>
          <p:cNvPicPr>
            <a:picLocks noGrp="1" noChangeAspect="1"/>
          </p:cNvPicPr>
          <p:nvPr>
            <p:ph idx="1"/>
          </p:nvPr>
        </p:nvPicPr>
        <p:blipFill>
          <a:blip r:embed="rId2"/>
          <a:stretch>
            <a:fillRect/>
          </a:stretch>
        </p:blipFill>
        <p:spPr bwMode="auto">
          <a:xfrm>
            <a:off x="35496" y="656692"/>
            <a:ext cx="9084181" cy="550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AD3E1BF9-5155-A402-14C5-E832255A1C8E}"/>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2E6B8334-AF0F-5A91-D7AE-1D76AC25B822}"/>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133491102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E176D790-5AFB-474B-9549-8BDFAB1E1F90}"/>
              </a:ext>
            </a:extLst>
          </p:cNvPr>
          <p:cNvSpPr>
            <a:spLocks noGrp="1" noChangeArrowheads="1"/>
          </p:cNvSpPr>
          <p:nvPr>
            <p:ph idx="1"/>
          </p:nvPr>
        </p:nvSpPr>
        <p:spPr>
          <a:xfrm>
            <a:off x="695325" y="4533900"/>
            <a:ext cx="7669213" cy="1517650"/>
          </a:xfrm>
        </p:spPr>
        <p:txBody>
          <a:bodyPr>
            <a:normAutofit/>
          </a:bodyPr>
          <a:lstStyle/>
          <a:p>
            <a:pPr algn="just">
              <a:defRPr/>
            </a:pPr>
            <a:r>
              <a:rPr lang="zh-CN" altLang="en-US" b="1">
                <a:solidFill>
                  <a:srgbClr val="FF0000"/>
                </a:solidFill>
                <a:effectLst>
                  <a:outerShdw blurRad="38100" dist="38100" dir="2700000" algn="tl">
                    <a:srgbClr val="C0C0C0"/>
                  </a:outerShdw>
                </a:effectLst>
              </a:rPr>
              <a:t>许可</a:t>
            </a:r>
            <a:r>
              <a:rPr lang="en-US" altLang="zh-CN" b="1">
                <a:solidFill>
                  <a:srgbClr val="FF0000"/>
                </a:solidFill>
                <a:effectLst>
                  <a:outerShdw blurRad="38100" dist="38100" dir="2700000" algn="tl">
                    <a:srgbClr val="C0C0C0"/>
                  </a:outerShdw>
                </a:effectLst>
              </a:rPr>
              <a:t>=</a:t>
            </a:r>
            <a:r>
              <a:rPr lang="zh-CN" altLang="en-US" b="1">
                <a:solidFill>
                  <a:srgbClr val="FF0000"/>
                </a:solidFill>
                <a:effectLst>
                  <a:outerShdw blurRad="38100" dist="38100" dir="2700000" algn="tl">
                    <a:srgbClr val="C0C0C0"/>
                  </a:outerShdw>
                </a:effectLst>
              </a:rPr>
              <a:t>操作</a:t>
            </a:r>
            <a:r>
              <a:rPr lang="en-US" altLang="zh-CN" b="1">
                <a:solidFill>
                  <a:srgbClr val="FF0000"/>
                </a:solidFill>
                <a:effectLst>
                  <a:outerShdw blurRad="38100" dist="38100" dir="2700000" algn="tl">
                    <a:srgbClr val="C0C0C0"/>
                  </a:outerShdw>
                </a:effectLst>
              </a:rPr>
              <a:t>+</a:t>
            </a:r>
            <a:r>
              <a:rPr lang="zh-CN" altLang="en-US" b="1">
                <a:solidFill>
                  <a:srgbClr val="FF0000"/>
                </a:solidFill>
                <a:effectLst>
                  <a:outerShdw blurRad="38100" dist="38100" dir="2700000" algn="tl">
                    <a:srgbClr val="C0C0C0"/>
                  </a:outerShdw>
                </a:effectLst>
              </a:rPr>
              <a:t>客体，操作、客体多对多</a:t>
            </a:r>
            <a:endParaRPr lang="en-US" altLang="zh-CN" b="1">
              <a:solidFill>
                <a:srgbClr val="FF0000"/>
              </a:solidFill>
              <a:effectLst>
                <a:outerShdw blurRad="38100" dist="38100" dir="2700000" algn="tl">
                  <a:srgbClr val="C0C0C0"/>
                </a:outerShdw>
              </a:effectLst>
            </a:endParaRPr>
          </a:p>
          <a:p>
            <a:pPr lvl="1" algn="just">
              <a:defRPr/>
            </a:pPr>
            <a:r>
              <a:rPr lang="zh-CN" altLang="en-US" b="1">
                <a:effectLst>
                  <a:outerShdw blurRad="38100" dist="38100" dir="2700000" algn="tl">
                    <a:srgbClr val="C0C0C0"/>
                  </a:outerShdw>
                </a:effectLst>
              </a:rPr>
              <a:t>每个操作可施加于多个客体（受控对象）</a:t>
            </a:r>
          </a:p>
          <a:p>
            <a:pPr lvl="1" algn="just">
              <a:defRPr/>
            </a:pPr>
            <a:r>
              <a:rPr lang="zh-CN" altLang="en-US" b="1">
                <a:effectLst>
                  <a:outerShdw blurRad="38100" dist="38100" dir="2700000" algn="tl">
                    <a:srgbClr val="C0C0C0"/>
                  </a:outerShdw>
                </a:effectLst>
              </a:rPr>
              <a:t>每个客体也可以接受多个操作。</a:t>
            </a:r>
            <a:endParaRPr lang="zh-CN" altLang="zh-CN" b="1">
              <a:effectLst>
                <a:outerShdw blurRad="38100" dist="38100" dir="2700000" algn="tl">
                  <a:srgbClr val="C0C0C0"/>
                </a:outerShdw>
              </a:effectLst>
            </a:endParaRPr>
          </a:p>
        </p:txBody>
      </p:sp>
      <p:sp>
        <p:nvSpPr>
          <p:cNvPr id="96258" name="Rectangle 2">
            <a:extLst>
              <a:ext uri="{FF2B5EF4-FFF2-40B4-BE49-F238E27FC236}">
                <a16:creationId xmlns:a16="http://schemas.microsoft.com/office/drawing/2014/main" id="{EB552051-C8AC-FB48-B723-2920FBBF00B0}"/>
              </a:ext>
            </a:extLst>
          </p:cNvPr>
          <p:cNvSpPr>
            <a:spLocks noGrp="1" noChangeArrowheads="1"/>
          </p:cNvSpPr>
          <p:nvPr>
            <p:ph type="title"/>
          </p:nvPr>
        </p:nvSpPr>
        <p:spPr>
          <a:xfrm>
            <a:off x="503238" y="815975"/>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用户、角色、许可的关系</a:t>
            </a:r>
          </a:p>
        </p:txBody>
      </p:sp>
      <p:sp>
        <p:nvSpPr>
          <p:cNvPr id="2" name="矩形 1">
            <a:extLst>
              <a:ext uri="{FF2B5EF4-FFF2-40B4-BE49-F238E27FC236}">
                <a16:creationId xmlns:a16="http://schemas.microsoft.com/office/drawing/2014/main" id="{87020796-9FA9-9A4E-B66B-4A86765AD1D2}"/>
              </a:ext>
            </a:extLst>
          </p:cNvPr>
          <p:cNvSpPr/>
          <p:nvPr/>
        </p:nvSpPr>
        <p:spPr>
          <a:xfrm>
            <a:off x="684213" y="1525588"/>
            <a:ext cx="8172450" cy="148272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用户、角色多对多</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gn="just">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一个用户可经授权而拥有多个角色</a:t>
            </a:r>
          </a:p>
          <a:p>
            <a:pPr lvl="1" algn="just">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一个角色可授予多个用户</a:t>
            </a:r>
          </a:p>
        </p:txBody>
      </p:sp>
      <p:sp>
        <p:nvSpPr>
          <p:cNvPr id="3" name="矩形 2">
            <a:extLst>
              <a:ext uri="{FF2B5EF4-FFF2-40B4-BE49-F238E27FC236}">
                <a16:creationId xmlns:a16="http://schemas.microsoft.com/office/drawing/2014/main" id="{800AA8FD-CE8F-0D48-A249-1170D0CC41D2}"/>
              </a:ext>
            </a:extLst>
          </p:cNvPr>
          <p:cNvSpPr/>
          <p:nvPr/>
        </p:nvSpPr>
        <p:spPr>
          <a:xfrm>
            <a:off x="684213" y="3030538"/>
            <a:ext cx="7666037" cy="148272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角色、许可多对多</a:t>
            </a:r>
            <a:endParaRPr lang="en-US" altLang="zh-CN"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gn="just">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每个角色可拥有多种许可（权限）</a:t>
            </a:r>
          </a:p>
          <a:p>
            <a:pPr lvl="1" algn="just">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每个许可也可授权给多个不同的角色</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914">
                                            <p:txEl>
                                              <p:pRg st="0" end="0"/>
                                            </p:txEl>
                                          </p:spTgt>
                                        </p:tgtEl>
                                        <p:attrNameLst>
                                          <p:attrName>style.visibility</p:attrName>
                                        </p:attrNameLst>
                                      </p:cBhvr>
                                      <p:to>
                                        <p:strVal val="visible"/>
                                      </p:to>
                                    </p:set>
                                    <p:animEffect transition="in" filter="wipe(up)">
                                      <p:cBhvr>
                                        <p:cTn id="17" dur="500"/>
                                        <p:tgtEl>
                                          <p:spTgt spid="38914">
                                            <p:txEl>
                                              <p:pRg st="0" end="0"/>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8914">
                                            <p:txEl>
                                              <p:pRg st="1" end="1"/>
                                            </p:txEl>
                                          </p:spTgt>
                                        </p:tgtEl>
                                        <p:attrNameLst>
                                          <p:attrName>style.visibility</p:attrName>
                                        </p:attrNameLst>
                                      </p:cBhvr>
                                      <p:to>
                                        <p:strVal val="visible"/>
                                      </p:to>
                                    </p:set>
                                    <p:animEffect transition="in" filter="wipe(up)">
                                      <p:cBhvr>
                                        <p:cTn id="20" dur="500"/>
                                        <p:tgtEl>
                                          <p:spTgt spid="38914">
                                            <p:txEl>
                                              <p:pRg st="1" end="1"/>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8914">
                                            <p:txEl>
                                              <p:pRg st="2" end="2"/>
                                            </p:txEl>
                                          </p:spTgt>
                                        </p:tgtEl>
                                        <p:attrNameLst>
                                          <p:attrName>style.visibility</p:attrName>
                                        </p:attrNameLst>
                                      </p:cBhvr>
                                      <p:to>
                                        <p:strVal val="visible"/>
                                      </p:to>
                                    </p:set>
                                    <p:animEffect transition="in" filter="wipe(up)">
                                      <p:cBhvr>
                                        <p:cTn id="23" dur="500"/>
                                        <p:tgtEl>
                                          <p:spTgt spid="389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P spid="2" grpId="0"/>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a:extLst>
              <a:ext uri="{FF2B5EF4-FFF2-40B4-BE49-F238E27FC236}">
                <a16:creationId xmlns:a16="http://schemas.microsoft.com/office/drawing/2014/main" id="{9B2C8798-1AE5-D241-B398-C3698CD71378}"/>
              </a:ext>
            </a:extLst>
          </p:cNvPr>
          <p:cNvSpPr>
            <a:spLocks noGrp="1" noChangeArrowheads="1"/>
          </p:cNvSpPr>
          <p:nvPr>
            <p:ph idx="1"/>
          </p:nvPr>
        </p:nvSpPr>
        <p:spPr>
          <a:xfrm>
            <a:off x="322263" y="2427288"/>
            <a:ext cx="8610600" cy="2482850"/>
          </a:xfrm>
        </p:spPr>
        <p:txBody>
          <a:bodyPr>
            <a:normAutofit/>
          </a:bodyPr>
          <a:lstStyle/>
          <a:p>
            <a:pPr>
              <a:defRPr/>
            </a:pPr>
            <a:r>
              <a:rPr lang="zh-CN" altLang="en-US" sz="2400" b="1">
                <a:solidFill>
                  <a:srgbClr val="FF0000"/>
                </a:solidFill>
                <a:effectLst>
                  <a:outerShdw blurRad="38100" dist="38100" dir="2700000" algn="tl">
                    <a:srgbClr val="C0C0C0"/>
                  </a:outerShdw>
                </a:effectLst>
              </a:rPr>
              <a:t>授权管理：</a:t>
            </a:r>
          </a:p>
          <a:p>
            <a:pPr lvl="1">
              <a:defRPr/>
            </a:pPr>
            <a:r>
              <a:rPr lang="zh-CN" altLang="en-US" sz="2000" b="1">
                <a:solidFill>
                  <a:srgbClr val="0033CC"/>
                </a:solidFill>
                <a:effectLst>
                  <a:outerShdw blurRad="38100" dist="38100" dir="2700000" algn="tl">
                    <a:srgbClr val="C0C0C0"/>
                  </a:outerShdw>
                </a:effectLst>
              </a:rPr>
              <a:t>出纳员：</a:t>
            </a:r>
            <a:r>
              <a:rPr lang="zh-CN" altLang="en-US" sz="2000" b="1">
                <a:effectLst>
                  <a:outerShdw blurRad="38100" dist="38100" dir="2700000" algn="tl">
                    <a:srgbClr val="C0C0C0"/>
                  </a:outerShdw>
                </a:effectLst>
              </a:rPr>
              <a:t>允许修改顾客帐号记录；</a:t>
            </a:r>
          </a:p>
          <a:p>
            <a:pPr lvl="1">
              <a:defRPr/>
            </a:pPr>
            <a:r>
              <a:rPr lang="zh-CN" altLang="en-US" sz="2000" b="1">
                <a:solidFill>
                  <a:srgbClr val="0033CC"/>
                </a:solidFill>
                <a:effectLst>
                  <a:outerShdw blurRad="38100" dist="38100" dir="2700000" algn="tl">
                    <a:srgbClr val="C0C0C0"/>
                  </a:outerShdw>
                </a:effectLst>
              </a:rPr>
              <a:t>分行管理者：</a:t>
            </a:r>
            <a:r>
              <a:rPr lang="zh-CN" altLang="en-US" sz="2000" b="1">
                <a:effectLst>
                  <a:outerShdw blurRad="38100" dist="38100" dir="2700000" algn="tl">
                    <a:srgbClr val="C0C0C0"/>
                  </a:outerShdw>
                </a:effectLst>
              </a:rPr>
              <a:t>允许修改顾客的帐号记录，也允许创建和终止帐号；</a:t>
            </a:r>
          </a:p>
          <a:p>
            <a:pPr lvl="1">
              <a:defRPr/>
            </a:pPr>
            <a:r>
              <a:rPr lang="zh-CN" altLang="en-US" sz="2000" b="1">
                <a:solidFill>
                  <a:srgbClr val="0033CC"/>
                </a:solidFill>
                <a:effectLst>
                  <a:outerShdw blurRad="38100" dist="38100" dir="2700000" algn="tl">
                    <a:srgbClr val="C0C0C0"/>
                  </a:outerShdw>
                </a:effectLst>
              </a:rPr>
              <a:t>顾客：</a:t>
            </a:r>
            <a:r>
              <a:rPr lang="zh-CN" altLang="en-US" sz="2000" b="1">
                <a:effectLst>
                  <a:outerShdw blurRad="38100" dist="38100" dir="2700000" algn="tl">
                    <a:srgbClr val="C0C0C0"/>
                  </a:outerShdw>
                </a:effectLst>
              </a:rPr>
              <a:t>允许查询自己的帐号；</a:t>
            </a:r>
          </a:p>
          <a:p>
            <a:pPr lvl="1">
              <a:defRPr/>
            </a:pPr>
            <a:r>
              <a:rPr lang="zh-CN" altLang="en-US" sz="2000" b="1">
                <a:solidFill>
                  <a:srgbClr val="0033CC"/>
                </a:solidFill>
                <a:effectLst>
                  <a:outerShdw blurRad="38100" dist="38100" dir="2700000" algn="tl">
                    <a:srgbClr val="C0C0C0"/>
                  </a:outerShdw>
                </a:effectLst>
              </a:rPr>
              <a:t>系统管理者：</a:t>
            </a:r>
            <a:r>
              <a:rPr lang="zh-CN" altLang="en-US" sz="2000" b="1">
                <a:effectLst>
                  <a:outerShdw blurRad="38100" dist="38100" dir="2700000" algn="tl">
                    <a:srgbClr val="C0C0C0"/>
                  </a:outerShdw>
                </a:effectLst>
              </a:rPr>
              <a:t>允许开关系统，但不允许读或修改用户的帐号信息；</a:t>
            </a:r>
          </a:p>
          <a:p>
            <a:pPr lvl="1">
              <a:defRPr/>
            </a:pPr>
            <a:r>
              <a:rPr lang="zh-CN" altLang="en-US" sz="2000" b="1">
                <a:solidFill>
                  <a:srgbClr val="0033CC"/>
                </a:solidFill>
                <a:effectLst>
                  <a:outerShdw blurRad="38100" dist="38100" dir="2700000" algn="tl">
                    <a:srgbClr val="C0C0C0"/>
                  </a:outerShdw>
                </a:effectLst>
              </a:rPr>
              <a:t>审计员：</a:t>
            </a:r>
            <a:r>
              <a:rPr lang="zh-CN" altLang="en-US" sz="2000" b="1">
                <a:effectLst>
                  <a:outerShdw blurRad="38100" dist="38100" dir="2700000" algn="tl">
                    <a:srgbClr val="C0C0C0"/>
                  </a:outerShdw>
                </a:effectLst>
              </a:rPr>
              <a:t>允许读系统中任何数据，但不允许修改任何事情。</a:t>
            </a:r>
          </a:p>
        </p:txBody>
      </p:sp>
      <p:sp>
        <p:nvSpPr>
          <p:cNvPr id="444418" name="Rectangle 2">
            <a:extLst>
              <a:ext uri="{FF2B5EF4-FFF2-40B4-BE49-F238E27FC236}">
                <a16:creationId xmlns:a16="http://schemas.microsoft.com/office/drawing/2014/main" id="{5D367F7A-B915-C04A-B88E-32C1F507F47A}"/>
              </a:ext>
            </a:extLst>
          </p:cNvPr>
          <p:cNvSpPr>
            <a:spLocks noGrp="1" noChangeArrowheads="1"/>
          </p:cNvSpPr>
          <p:nvPr>
            <p:ph type="title"/>
          </p:nvPr>
        </p:nvSpPr>
        <p:spPr>
          <a:xfrm>
            <a:off x="647700" y="796925"/>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基于角色的访问控制实例</a:t>
            </a:r>
            <a:r>
              <a:rPr lang="en-US" altLang="zh-CN">
                <a:solidFill>
                  <a:srgbClr val="0033CC"/>
                </a:solidFill>
                <a:effectLst>
                  <a:outerShdw blurRad="38100" dist="38100" dir="2700000" algn="tl">
                    <a:srgbClr val="C0C0C0"/>
                  </a:outerShdw>
                </a:effectLst>
                <a:latin typeface="Times New Roman" panose="02020603050405020304" pitchFamily="18" charset="0"/>
              </a:rPr>
              <a:t>——</a:t>
            </a:r>
            <a:r>
              <a:rPr lang="zh-CN" altLang="en-US">
                <a:solidFill>
                  <a:srgbClr val="0033CC"/>
                </a:solidFill>
                <a:effectLst>
                  <a:outerShdw blurRad="38100" dist="38100" dir="2700000" algn="tl">
                    <a:srgbClr val="C0C0C0"/>
                  </a:outerShdw>
                </a:effectLst>
                <a:latin typeface="Times New Roman" panose="02020603050405020304" pitchFamily="18" charset="0"/>
              </a:rPr>
              <a:t>银行</a:t>
            </a:r>
          </a:p>
        </p:txBody>
      </p:sp>
      <p:sp>
        <p:nvSpPr>
          <p:cNvPr id="2" name="矩形 1">
            <a:extLst>
              <a:ext uri="{FF2B5EF4-FFF2-40B4-BE49-F238E27FC236}">
                <a16:creationId xmlns:a16="http://schemas.microsoft.com/office/drawing/2014/main" id="{48F933CD-455D-1247-8E54-0C972D194BEC}"/>
              </a:ext>
            </a:extLst>
          </p:cNvPr>
          <p:cNvSpPr/>
          <p:nvPr/>
        </p:nvSpPr>
        <p:spPr>
          <a:xfrm>
            <a:off x="322263" y="1501775"/>
            <a:ext cx="7845425" cy="769938"/>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rgbClr val="3399FF"/>
              </a:buClr>
              <a:buFont typeface="Wingdings" pitchFamily="2" charset="2"/>
              <a:buChar char="v"/>
              <a:defRPr/>
            </a:pPr>
            <a:r>
              <a:rPr lang="zh-CN" altLang="en-US"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角色：</a:t>
            </a:r>
            <a:endParaRPr lang="en-US" altLang="zh-CN" sz="24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defRPr/>
            </a:pPr>
            <a:r>
              <a:rPr lang="zh-CN" altLang="en-US" sz="2000" b="1">
                <a:effectLst>
                  <a:outerShdw blurRad="38100" dist="38100" dir="2700000" algn="tl">
                    <a:srgbClr val="C0C0C0"/>
                  </a:outerShdw>
                </a:effectLst>
              </a:rPr>
              <a:t>出纳员、分行管理者、顾客、系统管理者和审计员。</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444419">
                                            <p:txEl>
                                              <p:pRg st="0" end="0"/>
                                            </p:txEl>
                                          </p:spTgt>
                                        </p:tgtEl>
                                        <p:attrNameLst>
                                          <p:attrName>style.visibility</p:attrName>
                                        </p:attrNameLst>
                                      </p:cBhvr>
                                      <p:to>
                                        <p:strVal val="visible"/>
                                      </p:to>
                                    </p:set>
                                    <p:animEffect transition="in" filter="wipe(up)">
                                      <p:cBhvr>
                                        <p:cTn id="14" dur="500"/>
                                        <p:tgtEl>
                                          <p:spTgt spid="444419">
                                            <p:txEl>
                                              <p:pRg st="0" end="0"/>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444419">
                                            <p:txEl>
                                              <p:pRg st="1" end="1"/>
                                            </p:txEl>
                                          </p:spTgt>
                                        </p:tgtEl>
                                        <p:attrNameLst>
                                          <p:attrName>style.visibility</p:attrName>
                                        </p:attrNameLst>
                                      </p:cBhvr>
                                      <p:to>
                                        <p:strVal val="visible"/>
                                      </p:to>
                                    </p:set>
                                    <p:animEffect transition="in" filter="wipe(up)">
                                      <p:cBhvr>
                                        <p:cTn id="17" dur="500"/>
                                        <p:tgtEl>
                                          <p:spTgt spid="444419">
                                            <p:txEl>
                                              <p:pRg st="1" end="1"/>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444419">
                                            <p:txEl>
                                              <p:pRg st="2" end="2"/>
                                            </p:txEl>
                                          </p:spTgt>
                                        </p:tgtEl>
                                        <p:attrNameLst>
                                          <p:attrName>style.visibility</p:attrName>
                                        </p:attrNameLst>
                                      </p:cBhvr>
                                      <p:to>
                                        <p:strVal val="visible"/>
                                      </p:to>
                                    </p:set>
                                    <p:animEffect transition="in" filter="wipe(up)">
                                      <p:cBhvr>
                                        <p:cTn id="20" dur="500"/>
                                        <p:tgtEl>
                                          <p:spTgt spid="444419">
                                            <p:txEl>
                                              <p:pRg st="2" end="2"/>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44419">
                                            <p:txEl>
                                              <p:pRg st="3" end="3"/>
                                            </p:txEl>
                                          </p:spTgt>
                                        </p:tgtEl>
                                        <p:attrNameLst>
                                          <p:attrName>style.visibility</p:attrName>
                                        </p:attrNameLst>
                                      </p:cBhvr>
                                      <p:to>
                                        <p:strVal val="visible"/>
                                      </p:to>
                                    </p:set>
                                    <p:animEffect transition="in" filter="wipe(up)">
                                      <p:cBhvr>
                                        <p:cTn id="23" dur="500"/>
                                        <p:tgtEl>
                                          <p:spTgt spid="444419">
                                            <p:txEl>
                                              <p:pRg st="3" end="3"/>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444419">
                                            <p:txEl>
                                              <p:pRg st="4" end="4"/>
                                            </p:txEl>
                                          </p:spTgt>
                                        </p:tgtEl>
                                        <p:attrNameLst>
                                          <p:attrName>style.visibility</p:attrName>
                                        </p:attrNameLst>
                                      </p:cBhvr>
                                      <p:to>
                                        <p:strVal val="visible"/>
                                      </p:to>
                                    </p:set>
                                    <p:animEffect transition="in" filter="wipe(up)">
                                      <p:cBhvr>
                                        <p:cTn id="26" dur="500"/>
                                        <p:tgtEl>
                                          <p:spTgt spid="444419">
                                            <p:txEl>
                                              <p:pRg st="4" end="4"/>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44419">
                                            <p:txEl>
                                              <p:pRg st="5" end="5"/>
                                            </p:txEl>
                                          </p:spTgt>
                                        </p:tgtEl>
                                        <p:attrNameLst>
                                          <p:attrName>style.visibility</p:attrName>
                                        </p:attrNameLst>
                                      </p:cBhvr>
                                      <p:to>
                                        <p:strVal val="visible"/>
                                      </p:to>
                                    </p:set>
                                    <p:animEffect transition="in" filter="wipe(up)">
                                      <p:cBhvr>
                                        <p:cTn id="29" dur="500"/>
                                        <p:tgtEl>
                                          <p:spTgt spid="444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64B710F9-E23E-A64B-BDD7-D930B4DDA4CF}"/>
              </a:ext>
            </a:extLst>
          </p:cNvPr>
          <p:cNvSpPr>
            <a:spLocks noGrp="1" noChangeArrowheads="1"/>
          </p:cNvSpPr>
          <p:nvPr>
            <p:ph idx="1"/>
          </p:nvPr>
        </p:nvSpPr>
        <p:spPr>
          <a:xfrm>
            <a:off x="417513" y="1190625"/>
            <a:ext cx="8229600" cy="1957388"/>
          </a:xfrm>
        </p:spPr>
        <p:txBody>
          <a:bodyPr>
            <a:normAutofit/>
          </a:bodyPr>
          <a:lstStyle/>
          <a:p>
            <a:pPr>
              <a:defRPr/>
            </a:pPr>
            <a:r>
              <a:rPr lang="zh-CN" altLang="en-US" sz="2600" b="1">
                <a:effectLst>
                  <a:outerShdw blurRad="38100" dist="38100" dir="2700000" algn="tl">
                    <a:srgbClr val="C0C0C0"/>
                  </a:outerShdw>
                </a:effectLst>
              </a:rPr>
              <a:t>避免角色权限重复设置</a:t>
            </a:r>
            <a:endParaRPr lang="en-US" altLang="zh-CN" sz="2600" b="1">
              <a:effectLst>
                <a:outerShdw blurRad="38100" dist="38100" dir="2700000" algn="tl">
                  <a:srgbClr val="C0C0C0"/>
                </a:outerShdw>
              </a:effectLst>
            </a:endParaRPr>
          </a:p>
          <a:p>
            <a:pPr lvl="1">
              <a:defRPr/>
            </a:pPr>
            <a:r>
              <a:rPr lang="zh-CN" altLang="en-US" sz="2400" b="1">
                <a:effectLst>
                  <a:outerShdw blurRad="38100" dist="38100" dir="2700000" algn="tl">
                    <a:srgbClr val="C0C0C0"/>
                  </a:outerShdw>
                </a:effectLst>
              </a:rPr>
              <a:t>角色有自己许可，还能继承其他角色的许可。</a:t>
            </a:r>
            <a:endParaRPr lang="en-US" altLang="zh-CN" sz="2400" b="1">
              <a:effectLst>
                <a:outerShdw blurRad="38100" dist="38100" dir="2700000" algn="tl">
                  <a:srgbClr val="C0C0C0"/>
                </a:outerShdw>
              </a:effectLst>
            </a:endParaRPr>
          </a:p>
          <a:p>
            <a:pPr>
              <a:defRPr/>
            </a:pPr>
            <a:r>
              <a:rPr lang="zh-CN" altLang="en-US" sz="2600" b="1">
                <a:effectLst>
                  <a:outerShdw blurRad="38100" dist="38100" dir="2700000" algn="tl">
                    <a:srgbClr val="C0C0C0"/>
                  </a:outerShdw>
                </a:effectLst>
              </a:rPr>
              <a:t>可用祖先关系来表示继承。</a:t>
            </a:r>
            <a:endParaRPr lang="en-US" altLang="zh-CN" sz="2600" b="1">
              <a:effectLst>
                <a:outerShdw blurRad="38100" dist="38100" dir="2700000" algn="tl">
                  <a:srgbClr val="C0C0C0"/>
                </a:outerShdw>
              </a:effectLst>
            </a:endParaRPr>
          </a:p>
          <a:p>
            <a:pPr lvl="1">
              <a:defRPr/>
            </a:pPr>
            <a:r>
              <a:rPr lang="zh-CN" altLang="en-US" sz="2400" b="1">
                <a:effectLst>
                  <a:outerShdw blurRad="38100" dist="38100" dir="2700000" algn="tl">
                    <a:srgbClr val="C0C0C0"/>
                  </a:outerShdw>
                </a:effectLst>
              </a:rPr>
              <a:t>角色</a:t>
            </a:r>
            <a:r>
              <a:rPr lang="en-US" altLang="zh-CN" sz="2400" b="1">
                <a:effectLst>
                  <a:outerShdw blurRad="38100" dist="38100" dir="2700000" algn="tl">
                    <a:srgbClr val="C0C0C0"/>
                  </a:outerShdw>
                </a:effectLst>
              </a:rPr>
              <a:t>2</a:t>
            </a:r>
            <a:r>
              <a:rPr lang="zh-CN" altLang="en-US" sz="2400" b="1">
                <a:effectLst>
                  <a:outerShdw blurRad="38100" dist="38100" dir="2700000" algn="tl">
                    <a:srgbClr val="C0C0C0"/>
                  </a:outerShdw>
                </a:effectLst>
              </a:rPr>
              <a:t>是角色</a:t>
            </a:r>
            <a:r>
              <a:rPr lang="en-US" altLang="zh-CN" sz="2400" b="1">
                <a:effectLst>
                  <a:outerShdw blurRad="38100" dist="38100" dir="2700000" algn="tl">
                    <a:srgbClr val="C0C0C0"/>
                  </a:outerShdw>
                </a:effectLst>
              </a:rPr>
              <a:t>1</a:t>
            </a:r>
            <a:r>
              <a:rPr lang="zh-CN" altLang="en-US" sz="2400" b="1">
                <a:effectLst>
                  <a:outerShdw blurRad="38100" dist="38100" dir="2700000" algn="tl">
                    <a:srgbClr val="C0C0C0"/>
                  </a:outerShdw>
                </a:effectLst>
              </a:rPr>
              <a:t>的“子角色”，继承了角色</a:t>
            </a:r>
            <a:r>
              <a:rPr lang="en-US" altLang="zh-CN" sz="2400" b="1">
                <a:effectLst>
                  <a:outerShdw blurRad="38100" dist="38100" dir="2700000" algn="tl">
                    <a:srgbClr val="C0C0C0"/>
                  </a:outerShdw>
                </a:effectLst>
              </a:rPr>
              <a:t>1</a:t>
            </a:r>
            <a:r>
              <a:rPr lang="zh-CN" altLang="en-US" sz="2400" b="1">
                <a:effectLst>
                  <a:outerShdw blurRad="38100" dist="38100" dir="2700000" algn="tl">
                    <a:srgbClr val="C0C0C0"/>
                  </a:outerShdw>
                </a:effectLst>
              </a:rPr>
              <a:t>的部分许可</a:t>
            </a:r>
            <a:endParaRPr lang="en-US" altLang="zh-CN" sz="2400" b="1">
              <a:effectLst>
                <a:outerShdw blurRad="38100" dist="38100" dir="2700000" algn="tl">
                  <a:srgbClr val="C0C0C0"/>
                </a:outerShdw>
              </a:effectLst>
            </a:endParaRPr>
          </a:p>
        </p:txBody>
      </p:sp>
      <p:sp>
        <p:nvSpPr>
          <p:cNvPr id="971778" name="Rectangle 2">
            <a:extLst>
              <a:ext uri="{FF2B5EF4-FFF2-40B4-BE49-F238E27FC236}">
                <a16:creationId xmlns:a16="http://schemas.microsoft.com/office/drawing/2014/main" id="{203C013D-2B60-2540-8985-B86DD8ECEB5A}"/>
              </a:ext>
            </a:extLst>
          </p:cNvPr>
          <p:cNvSpPr>
            <a:spLocks noGrp="1" noChangeArrowheads="1"/>
          </p:cNvSpPr>
          <p:nvPr>
            <p:ph type="title"/>
          </p:nvPr>
        </p:nvSpPr>
        <p:spPr>
          <a:xfrm>
            <a:off x="587375" y="693738"/>
            <a:ext cx="6513513"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角色继承</a:t>
            </a:r>
          </a:p>
        </p:txBody>
      </p:sp>
      <p:sp>
        <p:nvSpPr>
          <p:cNvPr id="124931" name="灯片编号占位符 6">
            <a:extLst>
              <a:ext uri="{FF2B5EF4-FFF2-40B4-BE49-F238E27FC236}">
                <a16:creationId xmlns:a16="http://schemas.microsoft.com/office/drawing/2014/main" id="{242C6891-2B98-1A4F-A586-8496B9D3CCBB}"/>
              </a:ext>
            </a:extLst>
          </p:cNvPr>
          <p:cNvSpPr>
            <a:spLocks noGrp="1" noChangeArrowheads="1"/>
          </p:cNvSpPr>
          <p:nvPr>
            <p:ph type="sldNum" sz="quarter" idx="10"/>
          </p:nvPr>
        </p:nvSpPr>
        <p:spPr bwMode="auto">
          <a:xfrm>
            <a:off x="4276725" y="6408738"/>
            <a:ext cx="511175" cy="4492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59F47A9-558A-C649-96FC-D3883BD717D7}" type="slidenum">
              <a:rPr lang="en-US" altLang="zh-CN" sz="1000" smtClean="0">
                <a:latin typeface="Arial" panose="020B0604020202020204" pitchFamily="34" charset="0"/>
                <a:ea typeface="宋体" panose="02010600030101010101" pitchFamily="2" charset="-122"/>
              </a:rPr>
              <a:pPr>
                <a:spcBef>
                  <a:spcPct val="0"/>
                </a:spcBef>
                <a:buClrTx/>
                <a:buFontTx/>
                <a:buNone/>
              </a:pPr>
              <a:t>92</a:t>
            </a:fld>
            <a:endParaRPr lang="en-US" altLang="zh-CN" sz="1000">
              <a:latin typeface="Arial" panose="020B0604020202020204" pitchFamily="34" charset="0"/>
              <a:ea typeface="宋体" panose="02010600030101010101" pitchFamily="2" charset="-122"/>
            </a:endParaRPr>
          </a:p>
        </p:txBody>
      </p:sp>
      <p:sp>
        <p:nvSpPr>
          <p:cNvPr id="124932" name="Rectangle 4">
            <a:extLst>
              <a:ext uri="{FF2B5EF4-FFF2-40B4-BE49-F238E27FC236}">
                <a16:creationId xmlns:a16="http://schemas.microsoft.com/office/drawing/2014/main" id="{BBC2435C-6EA4-9C4C-AB85-57BF96BC2F99}"/>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grpSp>
        <p:nvGrpSpPr>
          <p:cNvPr id="31" name="组合 30">
            <a:extLst>
              <a:ext uri="{FF2B5EF4-FFF2-40B4-BE49-F238E27FC236}">
                <a16:creationId xmlns:a16="http://schemas.microsoft.com/office/drawing/2014/main" id="{EE31D72B-020A-2E46-8DD6-2F886738F7BD}"/>
              </a:ext>
            </a:extLst>
          </p:cNvPr>
          <p:cNvGrpSpPr>
            <a:grpSpLocks/>
          </p:cNvGrpSpPr>
          <p:nvPr/>
        </p:nvGrpSpPr>
        <p:grpSpPr bwMode="auto">
          <a:xfrm>
            <a:off x="587375" y="3398838"/>
            <a:ext cx="8215313" cy="2922587"/>
            <a:chOff x="571472" y="3284984"/>
            <a:chExt cx="8215370" cy="2922548"/>
          </a:xfrm>
        </p:grpSpPr>
        <p:grpSp>
          <p:nvGrpSpPr>
            <p:cNvPr id="124935" name="Group 29">
              <a:extLst>
                <a:ext uri="{FF2B5EF4-FFF2-40B4-BE49-F238E27FC236}">
                  <a16:creationId xmlns:a16="http://schemas.microsoft.com/office/drawing/2014/main" id="{C6313FBC-82FF-C94D-9C72-62F91D0A2480}"/>
                </a:ext>
              </a:extLst>
            </p:cNvPr>
            <p:cNvGrpSpPr>
              <a:grpSpLocks/>
            </p:cNvGrpSpPr>
            <p:nvPr/>
          </p:nvGrpSpPr>
          <p:grpSpPr bwMode="auto">
            <a:xfrm>
              <a:off x="1763688" y="3284984"/>
              <a:ext cx="5638800" cy="2922548"/>
              <a:chOff x="1462" y="1065"/>
              <a:chExt cx="1296" cy="1193"/>
            </a:xfrm>
          </p:grpSpPr>
          <p:sp>
            <p:nvSpPr>
              <p:cNvPr id="40967" name="Oval 15">
                <a:extLst>
                  <a:ext uri="{FF2B5EF4-FFF2-40B4-BE49-F238E27FC236}">
                    <a16:creationId xmlns:a16="http://schemas.microsoft.com/office/drawing/2014/main" id="{1B5DDE57-BE6F-E54C-BCD2-266CAB461386}"/>
                  </a:ext>
                </a:extLst>
              </p:cNvPr>
              <p:cNvSpPr>
                <a:spLocks noChangeArrowheads="1"/>
              </p:cNvSpPr>
              <p:nvPr/>
            </p:nvSpPr>
            <p:spPr bwMode="auto">
              <a:xfrm>
                <a:off x="1534" y="1200"/>
                <a:ext cx="216" cy="188"/>
              </a:xfrm>
              <a:prstGeom prst="ellipse">
                <a:avLst/>
              </a:prstGeom>
              <a:solidFill>
                <a:srgbClr val="FFFFFF"/>
              </a:solidFill>
              <a:ln w="9525">
                <a:solidFill>
                  <a:srgbClr val="000000"/>
                </a:solidFill>
                <a:roun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68" name="Text Box 16">
                <a:extLst>
                  <a:ext uri="{FF2B5EF4-FFF2-40B4-BE49-F238E27FC236}">
                    <a16:creationId xmlns:a16="http://schemas.microsoft.com/office/drawing/2014/main" id="{47010798-20DD-D54A-BEFC-C722176238E8}"/>
                  </a:ext>
                </a:extLst>
              </p:cNvPr>
              <p:cNvSpPr txBox="1">
                <a:spLocks noChangeArrowheads="1"/>
              </p:cNvSpPr>
              <p:nvPr/>
            </p:nvSpPr>
            <p:spPr bwMode="auto">
              <a:xfrm>
                <a:off x="1462" y="1065"/>
                <a:ext cx="504" cy="125"/>
              </a:xfrm>
              <a:prstGeom prst="rect">
                <a:avLst/>
              </a:prstGeom>
              <a:solidFill>
                <a:srgbClr val="FFFFFF"/>
              </a:solidFill>
              <a:ln w="9525">
                <a:noFill/>
                <a:miter lim="800000"/>
              </a:ln>
            </p:spPr>
            <p:txBody>
              <a:bodyPr lIns="18000" tIns="10800" rIns="18000" bIns="10800"/>
              <a:lstStyle/>
              <a:p>
                <a:pPr algn="just">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心脏病专家</a:t>
                </a:r>
              </a:p>
            </p:txBody>
          </p:sp>
          <p:sp>
            <p:nvSpPr>
              <p:cNvPr id="40969" name="Text Box 17">
                <a:extLst>
                  <a:ext uri="{FF2B5EF4-FFF2-40B4-BE49-F238E27FC236}">
                    <a16:creationId xmlns:a16="http://schemas.microsoft.com/office/drawing/2014/main" id="{C555B698-CD94-9D4E-A626-F736B9DBB616}"/>
                  </a:ext>
                </a:extLst>
              </p:cNvPr>
              <p:cNvSpPr txBox="1">
                <a:spLocks noChangeArrowheads="1"/>
              </p:cNvSpPr>
              <p:nvPr/>
            </p:nvSpPr>
            <p:spPr bwMode="auto">
              <a:xfrm>
                <a:off x="2254" y="1076"/>
                <a:ext cx="504" cy="125"/>
              </a:xfrm>
              <a:prstGeom prst="rect">
                <a:avLst/>
              </a:prstGeom>
              <a:solidFill>
                <a:srgbClr val="FFFFFF"/>
              </a:solidFill>
              <a:ln w="9525">
                <a:noFill/>
                <a:miter lim="800000"/>
              </a:ln>
            </p:spPr>
            <p:txBody>
              <a:bodyPr lIns="18000" tIns="10800" rIns="18000" bIns="10800"/>
              <a:lstStyle/>
              <a:p>
                <a:pPr algn="just">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风湿病专家</a:t>
                </a:r>
              </a:p>
            </p:txBody>
          </p:sp>
          <p:sp>
            <p:nvSpPr>
              <p:cNvPr id="40970" name="Oval 18">
                <a:extLst>
                  <a:ext uri="{FF2B5EF4-FFF2-40B4-BE49-F238E27FC236}">
                    <a16:creationId xmlns:a16="http://schemas.microsoft.com/office/drawing/2014/main" id="{86D1E062-8881-DF45-B35F-40A4857C0249}"/>
                  </a:ext>
                </a:extLst>
              </p:cNvPr>
              <p:cNvSpPr>
                <a:spLocks noChangeArrowheads="1"/>
              </p:cNvSpPr>
              <p:nvPr/>
            </p:nvSpPr>
            <p:spPr bwMode="auto">
              <a:xfrm>
                <a:off x="2326" y="1200"/>
                <a:ext cx="216" cy="188"/>
              </a:xfrm>
              <a:prstGeom prst="ellipse">
                <a:avLst/>
              </a:prstGeom>
              <a:solidFill>
                <a:srgbClr val="FFFFFF"/>
              </a:solidFill>
              <a:ln w="9525">
                <a:solidFill>
                  <a:srgbClr val="000000"/>
                </a:solidFill>
                <a:roun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71" name="Oval 19">
                <a:extLst>
                  <a:ext uri="{FF2B5EF4-FFF2-40B4-BE49-F238E27FC236}">
                    <a16:creationId xmlns:a16="http://schemas.microsoft.com/office/drawing/2014/main" id="{825AA41B-B732-AA45-B109-D1FE0C2DED4E}"/>
                  </a:ext>
                </a:extLst>
              </p:cNvPr>
              <p:cNvSpPr>
                <a:spLocks noChangeArrowheads="1"/>
              </p:cNvSpPr>
              <p:nvPr/>
            </p:nvSpPr>
            <p:spPr bwMode="auto">
              <a:xfrm>
                <a:off x="1966" y="1449"/>
                <a:ext cx="216" cy="187"/>
              </a:xfrm>
              <a:prstGeom prst="ellipse">
                <a:avLst/>
              </a:prstGeom>
              <a:solidFill>
                <a:srgbClr val="FFFFFF"/>
              </a:solidFill>
              <a:ln w="9525">
                <a:solidFill>
                  <a:srgbClr val="000000"/>
                </a:solidFill>
                <a:round/>
              </a:ln>
            </p:spPr>
            <p:txBody>
              <a:bodyPr/>
              <a:lstStyle/>
              <a:p>
                <a:pPr algn="ctr">
                  <a:defRPr/>
                </a:pPr>
                <a:r>
                  <a:rPr lang="en-US" altLang="zh-CN" sz="2000" b="1">
                    <a:effectLst>
                      <a:outerShdw blurRad="38100" dist="38100" dir="2700000" algn="tl">
                        <a:srgbClr val="000000">
                          <a:alpha val="43137"/>
                        </a:srgbClr>
                      </a:outerShdw>
                    </a:effectLst>
                    <a:latin typeface="+mn-ea"/>
                    <a:ea typeface="+mn-ea"/>
                  </a:rPr>
                  <a:t>1</a:t>
                </a:r>
              </a:p>
            </p:txBody>
          </p:sp>
          <p:sp>
            <p:nvSpPr>
              <p:cNvPr id="40972" name="Oval 20">
                <a:extLst>
                  <a:ext uri="{FF2B5EF4-FFF2-40B4-BE49-F238E27FC236}">
                    <a16:creationId xmlns:a16="http://schemas.microsoft.com/office/drawing/2014/main" id="{7DF23D03-8E69-704F-A18B-9584A210DB61}"/>
                  </a:ext>
                </a:extLst>
              </p:cNvPr>
              <p:cNvSpPr>
                <a:spLocks noChangeArrowheads="1"/>
              </p:cNvSpPr>
              <p:nvPr/>
            </p:nvSpPr>
            <p:spPr bwMode="auto">
              <a:xfrm>
                <a:off x="1966" y="1760"/>
                <a:ext cx="216" cy="187"/>
              </a:xfrm>
              <a:prstGeom prst="ellipse">
                <a:avLst/>
              </a:prstGeom>
              <a:solidFill>
                <a:srgbClr val="FFFFFF"/>
              </a:solidFill>
              <a:ln w="9525">
                <a:solidFill>
                  <a:srgbClr val="000000"/>
                </a:solidFill>
                <a:round/>
              </a:ln>
            </p:spPr>
            <p:txBody>
              <a:bodyPr/>
              <a:lstStyle/>
              <a:p>
                <a:pPr algn="ctr">
                  <a:defRPr/>
                </a:pPr>
                <a:r>
                  <a:rPr lang="en-US" altLang="zh-CN" sz="2000" b="1">
                    <a:effectLst>
                      <a:outerShdw blurRad="38100" dist="38100" dir="2700000" algn="tl">
                        <a:srgbClr val="000000">
                          <a:alpha val="43137"/>
                        </a:srgbClr>
                      </a:outerShdw>
                    </a:effectLst>
                    <a:latin typeface="+mn-ea"/>
                    <a:ea typeface="+mn-ea"/>
                  </a:rPr>
                  <a:t>2</a:t>
                </a:r>
              </a:p>
            </p:txBody>
          </p:sp>
          <p:sp>
            <p:nvSpPr>
              <p:cNvPr id="40973" name="Oval 21">
                <a:extLst>
                  <a:ext uri="{FF2B5EF4-FFF2-40B4-BE49-F238E27FC236}">
                    <a16:creationId xmlns:a16="http://schemas.microsoft.com/office/drawing/2014/main" id="{882428DC-0797-2C43-9E76-7DE94AA4AF52}"/>
                  </a:ext>
                </a:extLst>
              </p:cNvPr>
              <p:cNvSpPr>
                <a:spLocks noChangeArrowheads="1"/>
              </p:cNvSpPr>
              <p:nvPr/>
            </p:nvSpPr>
            <p:spPr bwMode="auto">
              <a:xfrm>
                <a:off x="1966" y="2071"/>
                <a:ext cx="216" cy="187"/>
              </a:xfrm>
              <a:prstGeom prst="ellipse">
                <a:avLst/>
              </a:prstGeom>
              <a:solidFill>
                <a:srgbClr val="FFFFFF"/>
              </a:solidFill>
              <a:ln w="9525">
                <a:solidFill>
                  <a:srgbClr val="000000"/>
                </a:solidFill>
                <a:round/>
              </a:ln>
            </p:spPr>
            <p:txBody>
              <a:bodyPr/>
              <a:lstStyle/>
              <a:p>
                <a:pPr algn="ctr">
                  <a:defRPr/>
                </a:pPr>
                <a:r>
                  <a:rPr lang="en-US" altLang="zh-CN" b="1">
                    <a:effectLst>
                      <a:outerShdw blurRad="38100" dist="38100" dir="2700000" algn="tl">
                        <a:srgbClr val="000000">
                          <a:alpha val="43137"/>
                        </a:srgbClr>
                      </a:outerShdw>
                    </a:effectLst>
                    <a:latin typeface="+mn-ea"/>
                    <a:ea typeface="+mn-ea"/>
                  </a:rPr>
                  <a:t>3</a:t>
                </a:r>
                <a:endParaRPr lang="zh-CN" altLang="en-US" b="1">
                  <a:effectLst>
                    <a:outerShdw blurRad="38100" dist="38100" dir="2700000" algn="tl">
                      <a:srgbClr val="000000">
                        <a:alpha val="43137"/>
                      </a:srgbClr>
                    </a:outerShdw>
                  </a:effectLst>
                  <a:latin typeface="+mn-ea"/>
                  <a:ea typeface="+mn-ea"/>
                </a:endParaRPr>
              </a:p>
            </p:txBody>
          </p:sp>
          <p:sp>
            <p:nvSpPr>
              <p:cNvPr id="40974" name="Line 22">
                <a:extLst>
                  <a:ext uri="{FF2B5EF4-FFF2-40B4-BE49-F238E27FC236}">
                    <a16:creationId xmlns:a16="http://schemas.microsoft.com/office/drawing/2014/main" id="{7786D9EB-0848-CE4F-97DE-D44843DC2E04}"/>
                  </a:ext>
                </a:extLst>
              </p:cNvPr>
              <p:cNvSpPr>
                <a:spLocks noChangeShapeType="1"/>
              </p:cNvSpPr>
              <p:nvPr/>
            </p:nvSpPr>
            <p:spPr bwMode="auto">
              <a:xfrm>
                <a:off x="1750" y="1325"/>
                <a:ext cx="216" cy="187"/>
              </a:xfrm>
              <a:prstGeom prst="line">
                <a:avLst/>
              </a:prstGeom>
              <a:noFill/>
              <a:ln w="9525">
                <a:solidFill>
                  <a:srgbClr val="000000"/>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75" name="Line 23">
                <a:extLst>
                  <a:ext uri="{FF2B5EF4-FFF2-40B4-BE49-F238E27FC236}">
                    <a16:creationId xmlns:a16="http://schemas.microsoft.com/office/drawing/2014/main" id="{C3E511F9-BF46-4240-8C48-DDA606E62F85}"/>
                  </a:ext>
                </a:extLst>
              </p:cNvPr>
              <p:cNvSpPr>
                <a:spLocks noChangeShapeType="1"/>
              </p:cNvSpPr>
              <p:nvPr/>
            </p:nvSpPr>
            <p:spPr bwMode="auto">
              <a:xfrm flipH="1">
                <a:off x="2182" y="1325"/>
                <a:ext cx="144" cy="187"/>
              </a:xfrm>
              <a:prstGeom prst="line">
                <a:avLst/>
              </a:prstGeom>
              <a:noFill/>
              <a:ln w="9525">
                <a:solidFill>
                  <a:srgbClr val="000000"/>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76" name="Line 24">
                <a:extLst>
                  <a:ext uri="{FF2B5EF4-FFF2-40B4-BE49-F238E27FC236}">
                    <a16:creationId xmlns:a16="http://schemas.microsoft.com/office/drawing/2014/main" id="{24C83418-971C-A743-BB42-F80A4384B105}"/>
                  </a:ext>
                </a:extLst>
              </p:cNvPr>
              <p:cNvSpPr>
                <a:spLocks noChangeShapeType="1"/>
              </p:cNvSpPr>
              <p:nvPr/>
            </p:nvSpPr>
            <p:spPr bwMode="auto">
              <a:xfrm>
                <a:off x="2074" y="1636"/>
                <a:ext cx="0" cy="124"/>
              </a:xfrm>
              <a:prstGeom prst="line">
                <a:avLst/>
              </a:prstGeom>
              <a:noFill/>
              <a:ln w="9525">
                <a:solidFill>
                  <a:srgbClr val="000000"/>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77" name="Line 25">
                <a:extLst>
                  <a:ext uri="{FF2B5EF4-FFF2-40B4-BE49-F238E27FC236}">
                    <a16:creationId xmlns:a16="http://schemas.microsoft.com/office/drawing/2014/main" id="{FD6B37B1-06E5-A44D-971D-1F59038E98B9}"/>
                  </a:ext>
                </a:extLst>
              </p:cNvPr>
              <p:cNvSpPr>
                <a:spLocks noChangeShapeType="1"/>
              </p:cNvSpPr>
              <p:nvPr/>
            </p:nvSpPr>
            <p:spPr bwMode="auto">
              <a:xfrm>
                <a:off x="2074" y="1947"/>
                <a:ext cx="0" cy="125"/>
              </a:xfrm>
              <a:prstGeom prst="line">
                <a:avLst/>
              </a:prstGeom>
              <a:noFill/>
              <a:ln w="9525">
                <a:solidFill>
                  <a:srgbClr val="000000"/>
                </a:solidFill>
                <a:round/>
                <a:tailEnd type="triangle" w="med" len="med"/>
              </a:ln>
            </p:spPr>
            <p:txBody>
              <a:bodyPr/>
              <a:lstStyle/>
              <a:p>
                <a:pPr>
                  <a:defRPr/>
                </a:pPr>
                <a:endParaRPr lang="zh-CN" altLang="en-US" b="1">
                  <a:effectLst>
                    <a:outerShdw blurRad="38100" dist="38100" dir="2700000" algn="tl">
                      <a:srgbClr val="000000">
                        <a:alpha val="43137"/>
                      </a:srgbClr>
                    </a:outerShdw>
                  </a:effectLst>
                  <a:latin typeface="+mn-ea"/>
                  <a:ea typeface="+mn-ea"/>
                </a:endParaRPr>
              </a:p>
            </p:txBody>
          </p:sp>
          <p:sp>
            <p:nvSpPr>
              <p:cNvPr id="40978" name="Text Box 26">
                <a:extLst>
                  <a:ext uri="{FF2B5EF4-FFF2-40B4-BE49-F238E27FC236}">
                    <a16:creationId xmlns:a16="http://schemas.microsoft.com/office/drawing/2014/main" id="{178C0787-0761-B942-BC6B-3F9F5DD033BA}"/>
                  </a:ext>
                </a:extLst>
              </p:cNvPr>
              <p:cNvSpPr txBox="1">
                <a:spLocks noChangeArrowheads="1"/>
              </p:cNvSpPr>
              <p:nvPr/>
            </p:nvSpPr>
            <p:spPr bwMode="auto">
              <a:xfrm>
                <a:off x="2254" y="1511"/>
                <a:ext cx="504" cy="125"/>
              </a:xfrm>
              <a:prstGeom prst="rect">
                <a:avLst/>
              </a:prstGeom>
              <a:solidFill>
                <a:srgbClr val="FFFFFF"/>
              </a:solidFill>
              <a:ln w="9525">
                <a:noFill/>
                <a:miter lim="800000"/>
              </a:ln>
            </p:spPr>
            <p:txBody>
              <a:bodyPr lIns="18000" tIns="10800" rIns="18000" bIns="10800"/>
              <a:lstStyle/>
              <a:p>
                <a:pPr algn="just">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专家</a:t>
                </a:r>
              </a:p>
            </p:txBody>
          </p:sp>
          <p:sp>
            <p:nvSpPr>
              <p:cNvPr id="40979" name="Text Box 27">
                <a:extLst>
                  <a:ext uri="{FF2B5EF4-FFF2-40B4-BE49-F238E27FC236}">
                    <a16:creationId xmlns:a16="http://schemas.microsoft.com/office/drawing/2014/main" id="{8DEA6D2A-291D-924D-8ECE-C5EE53CE302F}"/>
                  </a:ext>
                </a:extLst>
              </p:cNvPr>
              <p:cNvSpPr txBox="1">
                <a:spLocks noChangeArrowheads="1"/>
              </p:cNvSpPr>
              <p:nvPr/>
            </p:nvSpPr>
            <p:spPr bwMode="auto">
              <a:xfrm>
                <a:off x="2254" y="1760"/>
                <a:ext cx="504" cy="124"/>
              </a:xfrm>
              <a:prstGeom prst="rect">
                <a:avLst/>
              </a:prstGeom>
              <a:solidFill>
                <a:srgbClr val="FFFFFF"/>
              </a:solidFill>
              <a:ln w="9525">
                <a:noFill/>
                <a:miter lim="800000"/>
              </a:ln>
            </p:spPr>
            <p:txBody>
              <a:bodyPr lIns="18000" tIns="10800" rIns="18000" bIns="10800"/>
              <a:lstStyle/>
              <a:p>
                <a:pPr algn="just">
                  <a:defRPr/>
                </a:pPr>
                <a:r>
                  <a:rPr lang="zh-CN" altLang="en-US" sz="2000" b="1" dirty="0">
                    <a:solidFill>
                      <a:srgbClr val="0033CC"/>
                    </a:solidFill>
                    <a:effectLst>
                      <a:outerShdw blurRad="38100" dist="38100" dir="2700000" algn="tl">
                        <a:srgbClr val="000000">
                          <a:alpha val="43137"/>
                        </a:srgbClr>
                      </a:outerShdw>
                    </a:effectLst>
                    <a:latin typeface="+mn-ea"/>
                    <a:ea typeface="+mn-ea"/>
                  </a:rPr>
                  <a:t>医生</a:t>
                </a:r>
              </a:p>
            </p:txBody>
          </p:sp>
          <p:sp>
            <p:nvSpPr>
              <p:cNvPr id="40980" name="Text Box 28">
                <a:extLst>
                  <a:ext uri="{FF2B5EF4-FFF2-40B4-BE49-F238E27FC236}">
                    <a16:creationId xmlns:a16="http://schemas.microsoft.com/office/drawing/2014/main" id="{ABDCFE57-5180-0843-A072-5BD211D86407}"/>
                  </a:ext>
                </a:extLst>
              </p:cNvPr>
              <p:cNvSpPr txBox="1">
                <a:spLocks noChangeArrowheads="1"/>
              </p:cNvSpPr>
              <p:nvPr/>
            </p:nvSpPr>
            <p:spPr bwMode="auto">
              <a:xfrm>
                <a:off x="2254" y="2072"/>
                <a:ext cx="252" cy="124"/>
              </a:xfrm>
              <a:prstGeom prst="rect">
                <a:avLst/>
              </a:prstGeom>
              <a:solidFill>
                <a:srgbClr val="FFFFFF"/>
              </a:solidFill>
              <a:ln w="9525">
                <a:noFill/>
                <a:miter lim="800000"/>
              </a:ln>
            </p:spPr>
            <p:txBody>
              <a:bodyPr lIns="18000" tIns="10800" rIns="18000" bIns="10800"/>
              <a:lstStyle/>
              <a:p>
                <a:pPr algn="just">
                  <a:defRPr/>
                </a:pPr>
                <a:r>
                  <a:rPr lang="zh-CN" altLang="en-US" sz="2000" b="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rPr>
                  <a:t>实习医生</a:t>
                </a:r>
              </a:p>
            </p:txBody>
          </p:sp>
        </p:grpSp>
        <p:grpSp>
          <p:nvGrpSpPr>
            <p:cNvPr id="124936" name="组合 29">
              <a:extLst>
                <a:ext uri="{FF2B5EF4-FFF2-40B4-BE49-F238E27FC236}">
                  <a16:creationId xmlns:a16="http://schemas.microsoft.com/office/drawing/2014/main" id="{2D47410B-C411-654D-83B3-F6B3ED7376CD}"/>
                </a:ext>
              </a:extLst>
            </p:cNvPr>
            <p:cNvGrpSpPr>
              <a:grpSpLocks/>
            </p:cNvGrpSpPr>
            <p:nvPr/>
          </p:nvGrpSpPr>
          <p:grpSpPr bwMode="auto">
            <a:xfrm>
              <a:off x="571472" y="3643314"/>
              <a:ext cx="8215370" cy="2500330"/>
              <a:chOff x="571472" y="3643314"/>
              <a:chExt cx="8215370" cy="2500330"/>
            </a:xfrm>
          </p:grpSpPr>
          <p:sp>
            <p:nvSpPr>
              <p:cNvPr id="26" name="上箭头 25">
                <a:extLst>
                  <a:ext uri="{FF2B5EF4-FFF2-40B4-BE49-F238E27FC236}">
                    <a16:creationId xmlns:a16="http://schemas.microsoft.com/office/drawing/2014/main" id="{4734A43A-211D-2D41-8C34-346D02C53296}"/>
                  </a:ext>
                </a:extLst>
              </p:cNvPr>
              <p:cNvSpPr/>
              <p:nvPr/>
            </p:nvSpPr>
            <p:spPr>
              <a:xfrm>
                <a:off x="1357290" y="3715190"/>
                <a:ext cx="285752" cy="2428843"/>
              </a:xfrm>
              <a:prstGeom prs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effectLst>
                    <a:outerShdw blurRad="38100" dist="38100" dir="2700000" algn="tl">
                      <a:srgbClr val="000000">
                        <a:alpha val="43137"/>
                      </a:srgbClr>
                    </a:outerShdw>
                  </a:effectLst>
                  <a:latin typeface="+mn-ea"/>
                </a:endParaRPr>
              </a:p>
            </p:txBody>
          </p:sp>
          <p:sp>
            <p:nvSpPr>
              <p:cNvPr id="27" name="上箭头 26">
                <a:extLst>
                  <a:ext uri="{FF2B5EF4-FFF2-40B4-BE49-F238E27FC236}">
                    <a16:creationId xmlns:a16="http://schemas.microsoft.com/office/drawing/2014/main" id="{0064DA07-5855-7C46-AA94-7FB94C0F0326}"/>
                  </a:ext>
                </a:extLst>
              </p:cNvPr>
              <p:cNvSpPr/>
              <p:nvPr/>
            </p:nvSpPr>
            <p:spPr>
              <a:xfrm rot="10800000">
                <a:off x="7286644" y="3643754"/>
                <a:ext cx="285752" cy="2428843"/>
              </a:xfrm>
              <a:prstGeom prs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effectLst>
                    <a:outerShdw blurRad="38100" dist="38100" dir="2700000" algn="tl">
                      <a:srgbClr val="000000">
                        <a:alpha val="43137"/>
                      </a:srgbClr>
                    </a:outerShdw>
                  </a:effectLst>
                  <a:latin typeface="+mn-ea"/>
                </a:endParaRPr>
              </a:p>
            </p:txBody>
          </p:sp>
          <p:sp>
            <p:nvSpPr>
              <p:cNvPr id="28" name="TextBox 27">
                <a:extLst>
                  <a:ext uri="{FF2B5EF4-FFF2-40B4-BE49-F238E27FC236}">
                    <a16:creationId xmlns:a16="http://schemas.microsoft.com/office/drawing/2014/main" id="{E36A34F3-16B1-FB40-B316-E401BBC7CA98}"/>
                  </a:ext>
                </a:extLst>
              </p:cNvPr>
              <p:cNvSpPr txBox="1"/>
              <p:nvPr/>
            </p:nvSpPr>
            <p:spPr>
              <a:xfrm>
                <a:off x="571472" y="5215358"/>
                <a:ext cx="1285884" cy="523868"/>
              </a:xfrm>
              <a:prstGeom prst="rect">
                <a:avLst/>
              </a:prstGeom>
              <a:noFill/>
            </p:spPr>
            <p:txBody>
              <a:bodyPr>
                <a:spAutoFit/>
              </a:bodyPr>
              <a:lstStyle/>
              <a:p>
                <a:pPr>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继承</a:t>
                </a:r>
              </a:p>
            </p:txBody>
          </p:sp>
          <p:sp>
            <p:nvSpPr>
              <p:cNvPr id="29" name="TextBox 28">
                <a:extLst>
                  <a:ext uri="{FF2B5EF4-FFF2-40B4-BE49-F238E27FC236}">
                    <a16:creationId xmlns:a16="http://schemas.microsoft.com/office/drawing/2014/main" id="{2402EB3F-DC40-C443-8472-040C9D20BF81}"/>
                  </a:ext>
                </a:extLst>
              </p:cNvPr>
              <p:cNvSpPr txBox="1"/>
              <p:nvPr/>
            </p:nvSpPr>
            <p:spPr>
              <a:xfrm>
                <a:off x="7500958" y="5215358"/>
                <a:ext cx="1285884" cy="523868"/>
              </a:xfrm>
              <a:prstGeom prst="rect">
                <a:avLst/>
              </a:prstGeom>
              <a:noFill/>
            </p:spPr>
            <p:txBody>
              <a:bodyPr>
                <a:spAutoFit/>
              </a:bodyPr>
              <a:lstStyle/>
              <a:p>
                <a:pPr>
                  <a:defRPr/>
                </a:pPr>
                <a:r>
                  <a:rPr lang="zh-CN" altLang="en-US" sz="2800" b="1">
                    <a:effectLst>
                      <a:outerShdw blurRad="38100" dist="38100" dir="2700000" algn="tl">
                        <a:srgbClr val="000000">
                          <a:alpha val="43137"/>
                        </a:srgbClr>
                      </a:outerShdw>
                    </a:effectLst>
                    <a:latin typeface="+mn-ea"/>
                    <a:ea typeface="+mn-ea"/>
                  </a:rPr>
                  <a:t>嵌套</a:t>
                </a:r>
              </a:p>
            </p:txBody>
          </p:sp>
        </p:grpSp>
      </p:grpSp>
      <p:sp>
        <p:nvSpPr>
          <p:cNvPr id="32" name="Text Box 36">
            <a:extLst>
              <a:ext uri="{FF2B5EF4-FFF2-40B4-BE49-F238E27FC236}">
                <a16:creationId xmlns:a16="http://schemas.microsoft.com/office/drawing/2014/main" id="{CDB8C183-D436-B849-8377-B8032A0C57E2}"/>
              </a:ext>
            </a:extLst>
          </p:cNvPr>
          <p:cNvSpPr txBox="1">
            <a:spLocks noChangeArrowheads="1"/>
          </p:cNvSpPr>
          <p:nvPr/>
        </p:nvSpPr>
        <p:spPr bwMode="auto">
          <a:xfrm>
            <a:off x="701675" y="4483100"/>
            <a:ext cx="7481888"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buClrTx/>
              <a:buFontTx/>
              <a:buNone/>
            </a:pPr>
            <a:r>
              <a:rPr lang="zh-CN" altLang="en-US" sz="3200" b="1">
                <a:solidFill>
                  <a:srgbClr val="C00000"/>
                </a:solidFill>
                <a:latin typeface="方正大黑简体" pitchFamily="65" charset="-122"/>
                <a:ea typeface="方正大黑简体" pitchFamily="65" charset="-122"/>
              </a:rPr>
              <a:t>角色：面向对象的类</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up)">
                                      <p:cBhvr>
                                        <p:cTn id="7" dur="500"/>
                                        <p:tgtEl>
                                          <p:spTgt spid="30723">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animEffect transition="in" filter="wipe(up)">
                                      <p:cBhvr>
                                        <p:cTn id="11" dur="500"/>
                                        <p:tgtEl>
                                          <p:spTgt spid="30723">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animEffect transition="in" filter="wipe(up)">
                                      <p:cBhvr>
                                        <p:cTn id="15" dur="500"/>
                                        <p:tgtEl>
                                          <p:spTgt spid="30723">
                                            <p:txEl>
                                              <p:pRg st="2" end="2"/>
                                            </p:txEl>
                                          </p:spTgt>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animEffect transition="in" filter="wipe(up)">
                                      <p:cBhvr>
                                        <p:cTn id="19" dur="500"/>
                                        <p:tgtEl>
                                          <p:spTgt spid="30723">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ppt_x"/>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additive="base">
                                        <p:cTn id="30" dur="500" fill="hold"/>
                                        <p:tgtEl>
                                          <p:spTgt spid="32"/>
                                        </p:tgtEl>
                                        <p:attrNameLst>
                                          <p:attrName>ppt_x</p:attrName>
                                        </p:attrNameLst>
                                      </p:cBhvr>
                                      <p:tavLst>
                                        <p:tav tm="0">
                                          <p:val>
                                            <p:strVal val="#ppt_x"/>
                                          </p:val>
                                        </p:tav>
                                        <p:tav tm="100000">
                                          <p:val>
                                            <p:strVal val="#ppt_x"/>
                                          </p:val>
                                        </p:tav>
                                      </p:tavLst>
                                    </p:anim>
                                    <p:anim calcmode="lin" valueType="num">
                                      <p:cBhvr additive="base">
                                        <p:cTn id="31"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3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8ED37B69-BE03-2846-A92F-702AA52E6EA8}"/>
              </a:ext>
            </a:extLst>
          </p:cNvPr>
          <p:cNvSpPr>
            <a:spLocks noGrp="1" noChangeArrowheads="1"/>
          </p:cNvSpPr>
          <p:nvPr>
            <p:ph idx="1"/>
          </p:nvPr>
        </p:nvSpPr>
        <p:spPr>
          <a:xfrm>
            <a:off x="858838" y="1754188"/>
            <a:ext cx="6837362" cy="2601912"/>
          </a:xfrm>
        </p:spPr>
        <p:txBody>
          <a:bodyPr/>
          <a:lstStyle/>
          <a:p>
            <a:pPr>
              <a:defRPr/>
            </a:pPr>
            <a:r>
              <a:rPr lang="zh-CN" altLang="en-US" b="1">
                <a:effectLst>
                  <a:outerShdw blurRad="38100" dist="38100" dir="2700000" algn="tl">
                    <a:srgbClr val="C0C0C0"/>
                  </a:outerShdw>
                </a:effectLst>
              </a:rPr>
              <a:t>系统管理员</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设定角色</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设定权限</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为用户分配角色、取消角色等</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为角色分配权限、撤销权限等</a:t>
            </a:r>
          </a:p>
        </p:txBody>
      </p:sp>
      <p:sp>
        <p:nvSpPr>
          <p:cNvPr id="973826" name="Rectangle 2">
            <a:extLst>
              <a:ext uri="{FF2B5EF4-FFF2-40B4-BE49-F238E27FC236}">
                <a16:creationId xmlns:a16="http://schemas.microsoft.com/office/drawing/2014/main" id="{0E9CA48D-C32E-B34D-A724-6A1CA29718E3}"/>
              </a:ext>
            </a:extLst>
          </p:cNvPr>
          <p:cNvSpPr>
            <a:spLocks noGrp="1" noChangeArrowheads="1"/>
          </p:cNvSpPr>
          <p:nvPr>
            <p:ph type="title"/>
          </p:nvPr>
        </p:nvSpPr>
        <p:spPr>
          <a:xfrm>
            <a:off x="858838" y="8366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角色管理</a:t>
            </a:r>
            <a:r>
              <a:rPr lang="en-US" altLang="zh-CN">
                <a:solidFill>
                  <a:srgbClr val="0033CC"/>
                </a:solidFill>
                <a:effectLst>
                  <a:outerShdw blurRad="38100" dist="38100" dir="2700000" algn="tl">
                    <a:srgbClr val="C0C0C0"/>
                  </a:outerShdw>
                </a:effectLst>
                <a:latin typeface="Times New Roman" panose="02020603050405020304" pitchFamily="18" charset="0"/>
              </a:rPr>
              <a:t>——</a:t>
            </a:r>
            <a:r>
              <a:rPr lang="zh-CN" altLang="en-US">
                <a:solidFill>
                  <a:srgbClr val="0033CC"/>
                </a:solidFill>
                <a:effectLst>
                  <a:outerShdw blurRad="38100" dist="38100" dir="2700000" algn="tl">
                    <a:srgbClr val="C0C0C0"/>
                  </a:outerShdw>
                </a:effectLst>
                <a:latin typeface="Times New Roman" panose="02020603050405020304" pitchFamily="18" charset="0"/>
              </a:rPr>
              <a:t>分配与授权</a:t>
            </a:r>
          </a:p>
        </p:txBody>
      </p:sp>
      <p:sp>
        <p:nvSpPr>
          <p:cNvPr id="126979" name="Rectangle 4">
            <a:extLst>
              <a:ext uri="{FF2B5EF4-FFF2-40B4-BE49-F238E27FC236}">
                <a16:creationId xmlns:a16="http://schemas.microsoft.com/office/drawing/2014/main" id="{9E701D16-CDE9-374D-90F2-D7432671B503}"/>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p:cTn id="7" dur="1000" fill="hold"/>
                                        <p:tgtEl>
                                          <p:spTgt spid="41987">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1987">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1987">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1987">
                                            <p:txEl>
                                              <p:pRg st="0" end="0"/>
                                            </p:txEl>
                                          </p:spTgt>
                                        </p:tgtEl>
                                      </p:cBhvr>
                                    </p:animEffect>
                                  </p:childTnLst>
                                </p:cTn>
                              </p:par>
                            </p:childTnLst>
                          </p:cTn>
                        </p:par>
                        <p:par>
                          <p:cTn id="11" fill="hold" nodeType="afterGroup">
                            <p:stCondLst>
                              <p:cond delay="1000"/>
                            </p:stCondLst>
                            <p:childTnLst>
                              <p:par>
                                <p:cTn id="12" presetID="31" presetClass="entr" presetSubtype="0" fill="hold" grpId="0" nodeType="afterEffect">
                                  <p:stCondLst>
                                    <p:cond delay="0"/>
                                  </p:stCondLst>
                                  <p:childTnLst>
                                    <p:set>
                                      <p:cBhvr>
                                        <p:cTn id="13" dur="1" fill="hold">
                                          <p:stCondLst>
                                            <p:cond delay="0"/>
                                          </p:stCondLst>
                                        </p:cTn>
                                        <p:tgtEl>
                                          <p:spTgt spid="41987">
                                            <p:txEl>
                                              <p:pRg st="1" end="1"/>
                                            </p:txEl>
                                          </p:spTgt>
                                        </p:tgtEl>
                                        <p:attrNameLst>
                                          <p:attrName>style.visibility</p:attrName>
                                        </p:attrNameLst>
                                      </p:cBhvr>
                                      <p:to>
                                        <p:strVal val="visible"/>
                                      </p:to>
                                    </p:set>
                                    <p:anim calcmode="lin" valueType="num">
                                      <p:cBhvr>
                                        <p:cTn id="14" dur="1000" fill="hold"/>
                                        <p:tgtEl>
                                          <p:spTgt spid="41987">
                                            <p:txEl>
                                              <p:pRg st="1" end="1"/>
                                            </p:txEl>
                                          </p:spTgt>
                                        </p:tgtEl>
                                        <p:attrNameLst>
                                          <p:attrName>ppt_w</p:attrName>
                                        </p:attrNameLst>
                                      </p:cBhvr>
                                      <p:tavLst>
                                        <p:tav tm="0">
                                          <p:val>
                                            <p:fltVal val="0"/>
                                          </p:val>
                                        </p:tav>
                                        <p:tav tm="100000">
                                          <p:val>
                                            <p:strVal val="#ppt_w"/>
                                          </p:val>
                                        </p:tav>
                                      </p:tavLst>
                                    </p:anim>
                                    <p:anim calcmode="lin" valueType="num">
                                      <p:cBhvr>
                                        <p:cTn id="15" dur="1000" fill="hold"/>
                                        <p:tgtEl>
                                          <p:spTgt spid="41987">
                                            <p:txEl>
                                              <p:pRg st="1" end="1"/>
                                            </p:txEl>
                                          </p:spTgt>
                                        </p:tgtEl>
                                        <p:attrNameLst>
                                          <p:attrName>ppt_h</p:attrName>
                                        </p:attrNameLst>
                                      </p:cBhvr>
                                      <p:tavLst>
                                        <p:tav tm="0">
                                          <p:val>
                                            <p:fltVal val="0"/>
                                          </p:val>
                                        </p:tav>
                                        <p:tav tm="100000">
                                          <p:val>
                                            <p:strVal val="#ppt_h"/>
                                          </p:val>
                                        </p:tav>
                                      </p:tavLst>
                                    </p:anim>
                                    <p:anim calcmode="lin" valueType="num">
                                      <p:cBhvr>
                                        <p:cTn id="16" dur="1000" fill="hold"/>
                                        <p:tgtEl>
                                          <p:spTgt spid="41987">
                                            <p:txEl>
                                              <p:pRg st="1" end="1"/>
                                            </p:txEl>
                                          </p:spTgt>
                                        </p:tgtEl>
                                        <p:attrNameLst>
                                          <p:attrName>style.rotation</p:attrName>
                                        </p:attrNameLst>
                                      </p:cBhvr>
                                      <p:tavLst>
                                        <p:tav tm="0">
                                          <p:val>
                                            <p:fltVal val="90"/>
                                          </p:val>
                                        </p:tav>
                                        <p:tav tm="100000">
                                          <p:val>
                                            <p:fltVal val="0"/>
                                          </p:val>
                                        </p:tav>
                                      </p:tavLst>
                                    </p:anim>
                                    <p:animEffect transition="in" filter="fade">
                                      <p:cBhvr>
                                        <p:cTn id="17" dur="1000"/>
                                        <p:tgtEl>
                                          <p:spTgt spid="41987">
                                            <p:txEl>
                                              <p:pRg st="1" end="1"/>
                                            </p:txEl>
                                          </p:spTgt>
                                        </p:tgtEl>
                                      </p:cBhvr>
                                    </p:animEffect>
                                  </p:childTnLst>
                                </p:cTn>
                              </p:par>
                            </p:childTnLst>
                          </p:cTn>
                        </p:par>
                        <p:par>
                          <p:cTn id="18" fill="hold" nodeType="afterGroup">
                            <p:stCondLst>
                              <p:cond delay="2000"/>
                            </p:stCondLst>
                            <p:childTnLst>
                              <p:par>
                                <p:cTn id="19" presetID="31" presetClass="entr" presetSubtype="0" fill="hold" grpId="0" nodeType="afterEffect">
                                  <p:stCondLst>
                                    <p:cond delay="0"/>
                                  </p:stCondLst>
                                  <p:childTnLst>
                                    <p:set>
                                      <p:cBhvr>
                                        <p:cTn id="20" dur="1" fill="hold">
                                          <p:stCondLst>
                                            <p:cond delay="0"/>
                                          </p:stCondLst>
                                        </p:cTn>
                                        <p:tgtEl>
                                          <p:spTgt spid="41987">
                                            <p:txEl>
                                              <p:pRg st="2" end="2"/>
                                            </p:txEl>
                                          </p:spTgt>
                                        </p:tgtEl>
                                        <p:attrNameLst>
                                          <p:attrName>style.visibility</p:attrName>
                                        </p:attrNameLst>
                                      </p:cBhvr>
                                      <p:to>
                                        <p:strVal val="visible"/>
                                      </p:to>
                                    </p:set>
                                    <p:anim calcmode="lin" valueType="num">
                                      <p:cBhvr>
                                        <p:cTn id="21" dur="1000" fill="hold"/>
                                        <p:tgtEl>
                                          <p:spTgt spid="41987">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41987">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41987">
                                            <p:txEl>
                                              <p:pRg st="2" end="2"/>
                                            </p:txEl>
                                          </p:spTgt>
                                        </p:tgtEl>
                                        <p:attrNameLst>
                                          <p:attrName>style.rotation</p:attrName>
                                        </p:attrNameLst>
                                      </p:cBhvr>
                                      <p:tavLst>
                                        <p:tav tm="0">
                                          <p:val>
                                            <p:fltVal val="90"/>
                                          </p:val>
                                        </p:tav>
                                        <p:tav tm="100000">
                                          <p:val>
                                            <p:fltVal val="0"/>
                                          </p:val>
                                        </p:tav>
                                      </p:tavLst>
                                    </p:anim>
                                    <p:animEffect transition="in" filter="fade">
                                      <p:cBhvr>
                                        <p:cTn id="24" dur="1000"/>
                                        <p:tgtEl>
                                          <p:spTgt spid="41987">
                                            <p:txEl>
                                              <p:pRg st="2" end="2"/>
                                            </p:txEl>
                                          </p:spTgt>
                                        </p:tgtEl>
                                      </p:cBhvr>
                                    </p:animEffect>
                                  </p:childTnLst>
                                </p:cTn>
                              </p:par>
                            </p:childTnLst>
                          </p:cTn>
                        </p:par>
                        <p:par>
                          <p:cTn id="25" fill="hold" nodeType="afterGroup">
                            <p:stCondLst>
                              <p:cond delay="3000"/>
                            </p:stCondLst>
                            <p:childTnLst>
                              <p:par>
                                <p:cTn id="26" presetID="31" presetClass="entr" presetSubtype="0" fill="hold" grpId="0" nodeType="afterEffect">
                                  <p:stCondLst>
                                    <p:cond delay="0"/>
                                  </p:stCondLst>
                                  <p:childTnLst>
                                    <p:set>
                                      <p:cBhvr>
                                        <p:cTn id="27" dur="1" fill="hold">
                                          <p:stCondLst>
                                            <p:cond delay="0"/>
                                          </p:stCondLst>
                                        </p:cTn>
                                        <p:tgtEl>
                                          <p:spTgt spid="41987">
                                            <p:txEl>
                                              <p:pRg st="3" end="3"/>
                                            </p:txEl>
                                          </p:spTgt>
                                        </p:tgtEl>
                                        <p:attrNameLst>
                                          <p:attrName>style.visibility</p:attrName>
                                        </p:attrNameLst>
                                      </p:cBhvr>
                                      <p:to>
                                        <p:strVal val="visible"/>
                                      </p:to>
                                    </p:set>
                                    <p:anim calcmode="lin" valueType="num">
                                      <p:cBhvr>
                                        <p:cTn id="28" dur="1000" fill="hold"/>
                                        <p:tgtEl>
                                          <p:spTgt spid="41987">
                                            <p:txEl>
                                              <p:pRg st="3" end="3"/>
                                            </p:txEl>
                                          </p:spTgt>
                                        </p:tgtEl>
                                        <p:attrNameLst>
                                          <p:attrName>ppt_w</p:attrName>
                                        </p:attrNameLst>
                                      </p:cBhvr>
                                      <p:tavLst>
                                        <p:tav tm="0">
                                          <p:val>
                                            <p:fltVal val="0"/>
                                          </p:val>
                                        </p:tav>
                                        <p:tav tm="100000">
                                          <p:val>
                                            <p:strVal val="#ppt_w"/>
                                          </p:val>
                                        </p:tav>
                                      </p:tavLst>
                                    </p:anim>
                                    <p:anim calcmode="lin" valueType="num">
                                      <p:cBhvr>
                                        <p:cTn id="29" dur="1000" fill="hold"/>
                                        <p:tgtEl>
                                          <p:spTgt spid="41987">
                                            <p:txEl>
                                              <p:pRg st="3" end="3"/>
                                            </p:txEl>
                                          </p:spTgt>
                                        </p:tgtEl>
                                        <p:attrNameLst>
                                          <p:attrName>ppt_h</p:attrName>
                                        </p:attrNameLst>
                                      </p:cBhvr>
                                      <p:tavLst>
                                        <p:tav tm="0">
                                          <p:val>
                                            <p:fltVal val="0"/>
                                          </p:val>
                                        </p:tav>
                                        <p:tav tm="100000">
                                          <p:val>
                                            <p:strVal val="#ppt_h"/>
                                          </p:val>
                                        </p:tav>
                                      </p:tavLst>
                                    </p:anim>
                                    <p:anim calcmode="lin" valueType="num">
                                      <p:cBhvr>
                                        <p:cTn id="30" dur="1000" fill="hold"/>
                                        <p:tgtEl>
                                          <p:spTgt spid="41987">
                                            <p:txEl>
                                              <p:pRg st="3" end="3"/>
                                            </p:txEl>
                                          </p:spTgt>
                                        </p:tgtEl>
                                        <p:attrNameLst>
                                          <p:attrName>style.rotation</p:attrName>
                                        </p:attrNameLst>
                                      </p:cBhvr>
                                      <p:tavLst>
                                        <p:tav tm="0">
                                          <p:val>
                                            <p:fltVal val="90"/>
                                          </p:val>
                                        </p:tav>
                                        <p:tav tm="100000">
                                          <p:val>
                                            <p:fltVal val="0"/>
                                          </p:val>
                                        </p:tav>
                                      </p:tavLst>
                                    </p:anim>
                                    <p:animEffect transition="in" filter="fade">
                                      <p:cBhvr>
                                        <p:cTn id="31" dur="1000"/>
                                        <p:tgtEl>
                                          <p:spTgt spid="41987">
                                            <p:txEl>
                                              <p:pRg st="3" end="3"/>
                                            </p:txEl>
                                          </p:spTgt>
                                        </p:tgtEl>
                                      </p:cBhvr>
                                    </p:animEffect>
                                  </p:childTnLst>
                                </p:cTn>
                              </p:par>
                            </p:childTnLst>
                          </p:cTn>
                        </p:par>
                        <p:par>
                          <p:cTn id="32" fill="hold" nodeType="afterGroup">
                            <p:stCondLst>
                              <p:cond delay="4000"/>
                            </p:stCondLst>
                            <p:childTnLst>
                              <p:par>
                                <p:cTn id="33" presetID="31" presetClass="entr" presetSubtype="0" fill="hold" grpId="0" nodeType="afterEffect">
                                  <p:stCondLst>
                                    <p:cond delay="0"/>
                                  </p:stCondLst>
                                  <p:childTnLst>
                                    <p:set>
                                      <p:cBhvr>
                                        <p:cTn id="34" dur="1" fill="hold">
                                          <p:stCondLst>
                                            <p:cond delay="0"/>
                                          </p:stCondLst>
                                        </p:cTn>
                                        <p:tgtEl>
                                          <p:spTgt spid="41987">
                                            <p:txEl>
                                              <p:pRg st="4" end="4"/>
                                            </p:txEl>
                                          </p:spTgt>
                                        </p:tgtEl>
                                        <p:attrNameLst>
                                          <p:attrName>style.visibility</p:attrName>
                                        </p:attrNameLst>
                                      </p:cBhvr>
                                      <p:to>
                                        <p:strVal val="visible"/>
                                      </p:to>
                                    </p:set>
                                    <p:anim calcmode="lin" valueType="num">
                                      <p:cBhvr>
                                        <p:cTn id="35" dur="1000" fill="hold"/>
                                        <p:tgtEl>
                                          <p:spTgt spid="41987">
                                            <p:txEl>
                                              <p:pRg st="4" end="4"/>
                                            </p:txEl>
                                          </p:spTgt>
                                        </p:tgtEl>
                                        <p:attrNameLst>
                                          <p:attrName>ppt_w</p:attrName>
                                        </p:attrNameLst>
                                      </p:cBhvr>
                                      <p:tavLst>
                                        <p:tav tm="0">
                                          <p:val>
                                            <p:fltVal val="0"/>
                                          </p:val>
                                        </p:tav>
                                        <p:tav tm="100000">
                                          <p:val>
                                            <p:strVal val="#ppt_w"/>
                                          </p:val>
                                        </p:tav>
                                      </p:tavLst>
                                    </p:anim>
                                    <p:anim calcmode="lin" valueType="num">
                                      <p:cBhvr>
                                        <p:cTn id="36" dur="1000" fill="hold"/>
                                        <p:tgtEl>
                                          <p:spTgt spid="41987">
                                            <p:txEl>
                                              <p:pRg st="4" end="4"/>
                                            </p:txEl>
                                          </p:spTgt>
                                        </p:tgtEl>
                                        <p:attrNameLst>
                                          <p:attrName>ppt_h</p:attrName>
                                        </p:attrNameLst>
                                      </p:cBhvr>
                                      <p:tavLst>
                                        <p:tav tm="0">
                                          <p:val>
                                            <p:fltVal val="0"/>
                                          </p:val>
                                        </p:tav>
                                        <p:tav tm="100000">
                                          <p:val>
                                            <p:strVal val="#ppt_h"/>
                                          </p:val>
                                        </p:tav>
                                      </p:tavLst>
                                    </p:anim>
                                    <p:anim calcmode="lin" valueType="num">
                                      <p:cBhvr>
                                        <p:cTn id="37" dur="1000" fill="hold"/>
                                        <p:tgtEl>
                                          <p:spTgt spid="41987">
                                            <p:txEl>
                                              <p:pRg st="4" end="4"/>
                                            </p:txEl>
                                          </p:spTgt>
                                        </p:tgtEl>
                                        <p:attrNameLst>
                                          <p:attrName>style.rotation</p:attrName>
                                        </p:attrNameLst>
                                      </p:cBhvr>
                                      <p:tavLst>
                                        <p:tav tm="0">
                                          <p:val>
                                            <p:fltVal val="90"/>
                                          </p:val>
                                        </p:tav>
                                        <p:tav tm="100000">
                                          <p:val>
                                            <p:fltVal val="0"/>
                                          </p:val>
                                        </p:tav>
                                      </p:tavLst>
                                    </p:anim>
                                    <p:animEffect transition="in" filter="fade">
                                      <p:cBhvr>
                                        <p:cTn id="38" dur="10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A32338AE-1B28-4D43-8CF4-83EED400193A}"/>
              </a:ext>
            </a:extLst>
          </p:cNvPr>
          <p:cNvSpPr>
            <a:spLocks noGrp="1" noChangeArrowheads="1"/>
          </p:cNvSpPr>
          <p:nvPr>
            <p:ph idx="1"/>
          </p:nvPr>
        </p:nvSpPr>
        <p:spPr>
          <a:xfrm>
            <a:off x="863600" y="1449388"/>
            <a:ext cx="7885113" cy="4535487"/>
          </a:xfrm>
        </p:spPr>
        <p:txBody>
          <a:bodyPr/>
          <a:lstStyle/>
          <a:p>
            <a:pPr>
              <a:defRPr/>
            </a:pPr>
            <a:r>
              <a:rPr lang="zh-CN" altLang="en-US" b="1">
                <a:solidFill>
                  <a:srgbClr val="FF0000"/>
                </a:solidFill>
                <a:effectLst>
                  <a:outerShdw blurRad="38100" dist="38100" dir="2700000" algn="tl">
                    <a:srgbClr val="C0C0C0"/>
                  </a:outerShdw>
                </a:effectLst>
              </a:rPr>
              <a:t>用户：</a:t>
            </a:r>
            <a:endParaRPr lang="en-US" altLang="zh-CN" b="1">
              <a:solidFill>
                <a:srgbClr val="FF0000"/>
              </a:solidFill>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静态概念</a:t>
            </a:r>
            <a:endParaRPr lang="en-US" altLang="zh-CN" b="1">
              <a:effectLst>
                <a:outerShdw blurRad="38100" dist="38100" dir="2700000" algn="tl">
                  <a:srgbClr val="C0C0C0"/>
                </a:outerShdw>
              </a:effectLst>
            </a:endParaRPr>
          </a:p>
          <a:p>
            <a:pPr>
              <a:defRPr/>
            </a:pPr>
            <a:r>
              <a:rPr lang="zh-CN" altLang="en-US" b="1">
                <a:solidFill>
                  <a:srgbClr val="FF0000"/>
                </a:solidFill>
                <a:effectLst>
                  <a:outerShdw blurRad="38100" dist="38100" dir="2700000" algn="tl">
                    <a:srgbClr val="C0C0C0"/>
                  </a:outerShdw>
                </a:effectLst>
              </a:rPr>
              <a:t>会话：</a:t>
            </a:r>
            <a:endParaRPr lang="en-US" altLang="zh-CN" b="1">
              <a:solidFill>
                <a:srgbClr val="FF0000"/>
              </a:solidFill>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动态概念</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用户的一个活跃进程，代表用户与系统交互。</a:t>
            </a:r>
            <a:endParaRPr lang="en-US" altLang="zh-CN" b="1">
              <a:effectLst>
                <a:outerShdw blurRad="38100" dist="38100" dir="2700000" algn="tl">
                  <a:srgbClr val="C0C0C0"/>
                </a:outerShdw>
              </a:effectLst>
            </a:endParaRPr>
          </a:p>
          <a:p>
            <a:pPr>
              <a:defRPr/>
            </a:pPr>
            <a:r>
              <a:rPr lang="zh-CN" altLang="en-US" b="1">
                <a:solidFill>
                  <a:srgbClr val="FF0000"/>
                </a:solidFill>
                <a:effectLst>
                  <a:outerShdw blurRad="38100" dist="38100" dir="2700000" algn="tl">
                    <a:srgbClr val="C0C0C0"/>
                  </a:outerShdw>
                </a:effectLst>
              </a:rPr>
              <a:t>会话构成用户到角色的映射：</a:t>
            </a:r>
            <a:endParaRPr lang="en-US" altLang="zh-CN" b="1">
              <a:solidFill>
                <a:srgbClr val="FF0000"/>
              </a:solidFill>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会话中分配角色</a:t>
            </a:r>
            <a:endParaRPr lang="en-US" altLang="zh-CN" b="1">
              <a:effectLst>
                <a:outerShdw blurRad="38100" dist="38100" dir="2700000" algn="tl">
                  <a:srgbClr val="C0C0C0"/>
                </a:outerShdw>
              </a:effectLst>
            </a:endParaRPr>
          </a:p>
          <a:p>
            <a:pPr lvl="1">
              <a:defRPr/>
            </a:pPr>
            <a:r>
              <a:rPr lang="zh-CN" altLang="en-US" b="1">
                <a:effectLst>
                  <a:outerShdw blurRad="38100" dist="38100" dir="2700000" algn="tl">
                    <a:srgbClr val="C0C0C0"/>
                  </a:outerShdw>
                </a:effectLst>
              </a:rPr>
              <a:t>会话激活用户授权角色集的某个子集</a:t>
            </a: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活跃角色集。</a:t>
            </a:r>
            <a:endParaRPr lang="en-US" altLang="zh-CN" b="1">
              <a:effectLst>
                <a:outerShdw blurRad="38100" dist="38100" dir="2700000" algn="tl">
                  <a:srgbClr val="C0C0C0"/>
                </a:outerShdw>
              </a:effectLst>
            </a:endParaRPr>
          </a:p>
        </p:txBody>
      </p:sp>
      <p:sp>
        <p:nvSpPr>
          <p:cNvPr id="975874" name="Rectangle 2">
            <a:extLst>
              <a:ext uri="{FF2B5EF4-FFF2-40B4-BE49-F238E27FC236}">
                <a16:creationId xmlns:a16="http://schemas.microsoft.com/office/drawing/2014/main" id="{2A56FB67-3B60-B844-879E-01F9AD64499E}"/>
              </a:ext>
            </a:extLst>
          </p:cNvPr>
          <p:cNvSpPr>
            <a:spLocks noGrp="1" noChangeArrowheads="1"/>
          </p:cNvSpPr>
          <p:nvPr>
            <p:ph type="title"/>
          </p:nvPr>
        </p:nvSpPr>
        <p:spPr>
          <a:xfrm>
            <a:off x="647700" y="808038"/>
            <a:ext cx="6513513" cy="487362"/>
          </a:xfrm>
        </p:spPr>
        <p:txBody>
          <a:bodyPr rtlCol="0"/>
          <a:lstStyle/>
          <a:p>
            <a:pPr>
              <a:buClr>
                <a:srgbClr val="3399FF"/>
              </a:buClr>
              <a:defRPr/>
            </a:pP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角色激活</a:t>
            </a:r>
          </a:p>
        </p:txBody>
      </p:sp>
      <p:sp>
        <p:nvSpPr>
          <p:cNvPr id="129027" name="Rectangle 4">
            <a:extLst>
              <a:ext uri="{FF2B5EF4-FFF2-40B4-BE49-F238E27FC236}">
                <a16:creationId xmlns:a16="http://schemas.microsoft.com/office/drawing/2014/main" id="{EECD8AA7-57CB-E34A-AA36-2BB490FE9A7B}"/>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a:extLst>
              <a:ext uri="{FF2B5EF4-FFF2-40B4-BE49-F238E27FC236}">
                <a16:creationId xmlns:a16="http://schemas.microsoft.com/office/drawing/2014/main" id="{D99CA5A1-3D05-DB42-B668-80E4C58593C0}"/>
              </a:ext>
            </a:extLst>
          </p:cNvPr>
          <p:cNvSpPr>
            <a:spLocks noGrp="1" noChangeArrowheads="1"/>
          </p:cNvSpPr>
          <p:nvPr>
            <p:ph idx="1"/>
          </p:nvPr>
        </p:nvSpPr>
        <p:spPr>
          <a:xfrm>
            <a:off x="533400" y="1520825"/>
            <a:ext cx="8191500" cy="3789363"/>
          </a:xfrm>
        </p:spPr>
        <p:txBody>
          <a:bodyPr>
            <a:normAutofit/>
          </a:bodyPr>
          <a:lstStyle/>
          <a:p>
            <a:pPr algn="just">
              <a:lnSpc>
                <a:spcPct val="90000"/>
              </a:lnSpc>
              <a:defRPr/>
            </a:pPr>
            <a:r>
              <a:rPr lang="zh-CN" altLang="en-US" b="1" dirty="0">
                <a:solidFill>
                  <a:srgbClr val="FF0000"/>
                </a:solidFill>
                <a:effectLst>
                  <a:outerShdw blurRad="38100" dist="38100" dir="2700000" algn="tl">
                    <a:srgbClr val="C0C0C0"/>
                  </a:outerShdw>
                </a:effectLst>
              </a:rPr>
              <a:t>角色互斥：</a:t>
            </a:r>
            <a:endParaRPr lang="en-US" altLang="zh-CN" b="1" dirty="0">
              <a:solidFill>
                <a:srgbClr val="FF0000"/>
              </a:solidFill>
              <a:effectLst>
                <a:outerShdw blurRad="38100" dist="38100" dir="2700000" algn="tl">
                  <a:srgbClr val="C0C0C0"/>
                </a:outerShdw>
              </a:effectLst>
            </a:endParaRPr>
          </a:p>
          <a:p>
            <a:pPr lvl="1" algn="just">
              <a:lnSpc>
                <a:spcPct val="90000"/>
              </a:lnSpc>
              <a:defRPr/>
            </a:pPr>
            <a:r>
              <a:rPr lang="zh-CN" altLang="en-US" sz="2400" b="1" dirty="0">
                <a:effectLst>
                  <a:outerShdw blurRad="38100" dist="38100" dir="2700000" algn="tl">
                    <a:srgbClr val="C0C0C0"/>
                  </a:outerShdw>
                </a:effectLst>
              </a:rPr>
              <a:t>对于某些特定的操作集，某一个用户不可能同时独立地完成所有这些操作。</a:t>
            </a:r>
            <a:endParaRPr lang="en-US" altLang="zh-CN" sz="2400" b="1" dirty="0">
              <a:effectLst>
                <a:outerShdw blurRad="38100" dist="38100" dir="2700000" algn="tl">
                  <a:srgbClr val="C0C0C0"/>
                </a:outerShdw>
              </a:effectLst>
            </a:endParaRPr>
          </a:p>
          <a:p>
            <a:pPr algn="just" eaLnBrk="1" hangingPunct="1">
              <a:lnSpc>
                <a:spcPct val="90000"/>
              </a:lnSpc>
              <a:defRPr/>
            </a:pPr>
            <a:r>
              <a:rPr lang="zh-CN" altLang="en-US" b="1" dirty="0">
                <a:solidFill>
                  <a:srgbClr val="FF0000"/>
                </a:solidFill>
                <a:effectLst>
                  <a:outerShdw blurRad="38100" dist="38100" dir="2700000" algn="tl">
                    <a:srgbClr val="C0C0C0"/>
                  </a:outerShdw>
                </a:effectLst>
              </a:rPr>
              <a:t>互斥的类别：</a:t>
            </a:r>
            <a:endParaRPr lang="en-US" altLang="zh-CN" b="1" dirty="0">
              <a:solidFill>
                <a:srgbClr val="FF0000"/>
              </a:solidFill>
              <a:effectLst>
                <a:outerShdw blurRad="38100" dist="38100" dir="2700000" algn="tl">
                  <a:srgbClr val="C0C0C0"/>
                </a:outerShdw>
              </a:effectLst>
            </a:endParaRPr>
          </a:p>
          <a:p>
            <a:pPr lvl="1" algn="just" eaLnBrk="1" hangingPunct="1">
              <a:lnSpc>
                <a:spcPct val="90000"/>
              </a:lnSpc>
              <a:defRPr/>
            </a:pPr>
            <a:r>
              <a:rPr lang="zh-CN" altLang="en-US" sz="2400" b="1" dirty="0">
                <a:effectLst>
                  <a:outerShdw blurRad="38100" dist="38100" dir="2700000" algn="tl">
                    <a:srgbClr val="C0C0C0"/>
                  </a:outerShdw>
                </a:effectLst>
              </a:rPr>
              <a:t>静态角色互斥</a:t>
            </a:r>
            <a:endParaRPr lang="en-US" altLang="zh-CN" sz="2400" b="1" dirty="0">
              <a:effectLst>
                <a:outerShdw blurRad="38100" dist="38100" dir="2700000" algn="tl">
                  <a:srgbClr val="C0C0C0"/>
                </a:outerShdw>
              </a:effectLst>
            </a:endParaRPr>
          </a:p>
          <a:p>
            <a:pPr lvl="1" algn="just" eaLnBrk="1" hangingPunct="1">
              <a:lnSpc>
                <a:spcPct val="90000"/>
              </a:lnSpc>
              <a:defRPr/>
            </a:pPr>
            <a:r>
              <a:rPr lang="zh-CN" altLang="en-US" sz="2400" b="1" dirty="0">
                <a:effectLst>
                  <a:outerShdw blurRad="38100" dist="38100" dir="2700000" algn="tl">
                    <a:srgbClr val="C0C0C0"/>
                  </a:outerShdw>
                </a:effectLst>
              </a:rPr>
              <a:t>动态角色互斥</a:t>
            </a:r>
          </a:p>
          <a:p>
            <a:pPr algn="just" eaLnBrk="1" hangingPunct="1">
              <a:lnSpc>
                <a:spcPct val="90000"/>
              </a:lnSpc>
              <a:defRPr/>
            </a:pPr>
            <a:r>
              <a:rPr lang="zh-CN" altLang="en-US" b="1" dirty="0">
                <a:solidFill>
                  <a:srgbClr val="FF0000"/>
                </a:solidFill>
                <a:effectLst>
                  <a:outerShdw blurRad="38100" dist="38100" dir="2700000" algn="tl">
                    <a:srgbClr val="C0C0C0"/>
                  </a:outerShdw>
                </a:effectLst>
              </a:rPr>
              <a:t>角色基数限制：</a:t>
            </a:r>
            <a:endParaRPr lang="en-US" altLang="zh-CN" b="1" dirty="0">
              <a:solidFill>
                <a:srgbClr val="FF0000"/>
              </a:solidFill>
              <a:effectLst>
                <a:outerShdw blurRad="38100" dist="38100" dir="2700000" algn="tl">
                  <a:srgbClr val="C0C0C0"/>
                </a:outerShdw>
              </a:effectLst>
            </a:endParaRPr>
          </a:p>
          <a:p>
            <a:pPr lvl="1" algn="just">
              <a:lnSpc>
                <a:spcPct val="90000"/>
              </a:lnSpc>
              <a:defRPr/>
            </a:pPr>
            <a:r>
              <a:rPr lang="zh-CN" altLang="en-US" sz="2400" b="1" dirty="0">
                <a:effectLst>
                  <a:outerShdw blurRad="38100" dist="38100" dir="2700000" algn="tl">
                    <a:srgbClr val="C0C0C0"/>
                  </a:outerShdw>
                </a:effectLst>
              </a:rPr>
              <a:t>创建角色时，要指定角色的基数。在一个特定的时间段内，有一些角色只能由一定人数的用户占用。</a:t>
            </a:r>
          </a:p>
        </p:txBody>
      </p:sp>
      <p:sp>
        <p:nvSpPr>
          <p:cNvPr id="977922" name="Rectangle 2">
            <a:extLst>
              <a:ext uri="{FF2B5EF4-FFF2-40B4-BE49-F238E27FC236}">
                <a16:creationId xmlns:a16="http://schemas.microsoft.com/office/drawing/2014/main" id="{D28A59A7-66EA-8640-B130-04535433C836}"/>
              </a:ext>
            </a:extLst>
          </p:cNvPr>
          <p:cNvSpPr>
            <a:spLocks noGrp="1" noChangeArrowheads="1"/>
          </p:cNvSpPr>
          <p:nvPr>
            <p:ph type="title"/>
          </p:nvPr>
        </p:nvSpPr>
        <p:spPr>
          <a:xfrm>
            <a:off x="533400" y="808038"/>
            <a:ext cx="6513513" cy="487362"/>
          </a:xfrm>
        </p:spPr>
        <p:txBody>
          <a:bodyPr rtlCol="0"/>
          <a:lstStyle/>
          <a:p>
            <a:pPr>
              <a:buClr>
                <a:srgbClr val="3399FF"/>
              </a:buClr>
              <a:defRPr/>
            </a:pPr>
            <a:r>
              <a:rPr lang="zh-CN" altLang="en-US" dirty="0">
                <a:solidFill>
                  <a:srgbClr val="0033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角色限制</a:t>
            </a:r>
          </a:p>
        </p:txBody>
      </p:sp>
      <p:sp>
        <p:nvSpPr>
          <p:cNvPr id="131075" name="Rectangle 4">
            <a:extLst>
              <a:ext uri="{FF2B5EF4-FFF2-40B4-BE49-F238E27FC236}">
                <a16:creationId xmlns:a16="http://schemas.microsoft.com/office/drawing/2014/main" id="{D9366078-EFF8-A147-9861-F5FE1E9FA06F}"/>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36">
            <a:extLst>
              <a:ext uri="{FF2B5EF4-FFF2-40B4-BE49-F238E27FC236}">
                <a16:creationId xmlns:a16="http://schemas.microsoft.com/office/drawing/2014/main" id="{9F72F1D7-90AB-954D-A213-641555416D1C}"/>
              </a:ext>
            </a:extLst>
          </p:cNvPr>
          <p:cNvSpPr>
            <a:spLocks noGrp="1"/>
          </p:cNvSpPr>
          <p:nvPr>
            <p:ph type="title"/>
          </p:nvPr>
        </p:nvSpPr>
        <p:spPr>
          <a:xfrm>
            <a:off x="630238" y="849313"/>
            <a:ext cx="6511925" cy="641350"/>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a:t>
            </a:r>
            <a:r>
              <a:rPr lang="zh-CN" altLang="en-US">
                <a:solidFill>
                  <a:srgbClr val="0033CC"/>
                </a:solidFill>
                <a:effectLst>
                  <a:outerShdw blurRad="38100" dist="38100" dir="2700000" algn="tl">
                    <a:srgbClr val="C0C0C0"/>
                  </a:outerShdw>
                </a:effectLst>
                <a:latin typeface="Times New Roman" panose="02020603050405020304" pitchFamily="18" charset="0"/>
              </a:rPr>
              <a:t>系统结构</a:t>
            </a:r>
            <a:br>
              <a:rPr lang="zh-CN" altLang="en-US">
                <a:solidFill>
                  <a:srgbClr val="0033CC"/>
                </a:solidFill>
                <a:effectLst>
                  <a:outerShdw blurRad="38100" dist="38100" dir="2700000" algn="tl">
                    <a:srgbClr val="C0C0C0"/>
                  </a:outerShdw>
                </a:effectLst>
                <a:latin typeface="Times New Roman" panose="02020603050405020304" pitchFamily="18" charset="0"/>
              </a:rPr>
            </a:b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
        <p:nvSpPr>
          <p:cNvPr id="133122" name="Rectangle 2">
            <a:extLst>
              <a:ext uri="{FF2B5EF4-FFF2-40B4-BE49-F238E27FC236}">
                <a16:creationId xmlns:a16="http://schemas.microsoft.com/office/drawing/2014/main" id="{6CB737E8-A2CD-9242-9957-1F4DC3BCA04C}"/>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grpSp>
        <p:nvGrpSpPr>
          <p:cNvPr id="46085" name="Group 3">
            <a:extLst>
              <a:ext uri="{FF2B5EF4-FFF2-40B4-BE49-F238E27FC236}">
                <a16:creationId xmlns:a16="http://schemas.microsoft.com/office/drawing/2014/main" id="{76DD8670-0B41-A544-9FD1-D19DFDD3B752}"/>
              </a:ext>
            </a:extLst>
          </p:cNvPr>
          <p:cNvGrpSpPr>
            <a:grpSpLocks/>
          </p:cNvGrpSpPr>
          <p:nvPr/>
        </p:nvGrpSpPr>
        <p:grpSpPr bwMode="auto">
          <a:xfrm>
            <a:off x="381000" y="1401763"/>
            <a:ext cx="8382000" cy="4772025"/>
            <a:chOff x="240" y="144"/>
            <a:chExt cx="5280" cy="3825"/>
          </a:xfrm>
        </p:grpSpPr>
        <p:sp>
          <p:nvSpPr>
            <p:cNvPr id="46086" name="Oval 4">
              <a:extLst>
                <a:ext uri="{FF2B5EF4-FFF2-40B4-BE49-F238E27FC236}">
                  <a16:creationId xmlns:a16="http://schemas.microsoft.com/office/drawing/2014/main" id="{74D4D35A-049E-A540-AB47-F65805489B67}"/>
                </a:ext>
              </a:extLst>
            </p:cNvPr>
            <p:cNvSpPr>
              <a:spLocks noChangeArrowheads="1"/>
            </p:cNvSpPr>
            <p:nvPr/>
          </p:nvSpPr>
          <p:spPr bwMode="auto">
            <a:xfrm>
              <a:off x="672" y="1536"/>
              <a:ext cx="959" cy="433"/>
            </a:xfrm>
            <a:prstGeom prst="ellipse">
              <a:avLst/>
            </a:prstGeom>
            <a:solidFill>
              <a:srgbClr val="FFC000"/>
            </a:solidFill>
            <a:ln w="9525">
              <a:solidFill>
                <a:schemeClr val="tx1"/>
              </a:solidFill>
              <a:round/>
            </a:ln>
          </p:spPr>
          <p:txBody>
            <a:bodyPr wrap="none" anchor="ctr"/>
            <a:lstStyle/>
            <a:p>
              <a:pPr algn="ctr">
                <a:defRPr/>
              </a:pPr>
              <a:r>
                <a:rPr lang="en-US" altLang="zh-CN" b="1">
                  <a:latin typeface="+mn-ea"/>
                  <a:ea typeface="+mn-ea"/>
                </a:rPr>
                <a:t>USERS</a:t>
              </a:r>
            </a:p>
          </p:txBody>
        </p:sp>
        <p:sp>
          <p:nvSpPr>
            <p:cNvPr id="46087" name="Oval 5">
              <a:extLst>
                <a:ext uri="{FF2B5EF4-FFF2-40B4-BE49-F238E27FC236}">
                  <a16:creationId xmlns:a16="http://schemas.microsoft.com/office/drawing/2014/main" id="{90352C35-B5D4-9841-8F0B-1D804551E0DD}"/>
                </a:ext>
              </a:extLst>
            </p:cNvPr>
            <p:cNvSpPr>
              <a:spLocks noChangeArrowheads="1"/>
            </p:cNvSpPr>
            <p:nvPr/>
          </p:nvSpPr>
          <p:spPr bwMode="auto">
            <a:xfrm>
              <a:off x="2832" y="1536"/>
              <a:ext cx="959" cy="433"/>
            </a:xfrm>
            <a:prstGeom prst="ellipse">
              <a:avLst/>
            </a:prstGeom>
            <a:solidFill>
              <a:srgbClr val="92D050"/>
            </a:solidFill>
            <a:ln w="9525">
              <a:solidFill>
                <a:schemeClr val="tx1"/>
              </a:solidFill>
              <a:round/>
            </a:ln>
          </p:spPr>
          <p:txBody>
            <a:bodyPr wrap="none" anchor="ctr"/>
            <a:lstStyle/>
            <a:p>
              <a:pPr algn="ctr">
                <a:defRPr/>
              </a:pPr>
              <a:r>
                <a:rPr lang="en-US" altLang="zh-CN" b="1">
                  <a:latin typeface="+mn-ea"/>
                  <a:ea typeface="+mn-ea"/>
                </a:rPr>
                <a:t>ROLES</a:t>
              </a:r>
            </a:p>
          </p:txBody>
        </p:sp>
        <p:sp>
          <p:nvSpPr>
            <p:cNvPr id="46088" name="Oval 6">
              <a:extLst>
                <a:ext uri="{FF2B5EF4-FFF2-40B4-BE49-F238E27FC236}">
                  <a16:creationId xmlns:a16="http://schemas.microsoft.com/office/drawing/2014/main" id="{6AA6E645-21FB-B348-9FBA-09CE21BBB31D}"/>
                </a:ext>
              </a:extLst>
            </p:cNvPr>
            <p:cNvSpPr>
              <a:spLocks noChangeArrowheads="1"/>
            </p:cNvSpPr>
            <p:nvPr/>
          </p:nvSpPr>
          <p:spPr bwMode="auto">
            <a:xfrm>
              <a:off x="3696" y="2831"/>
              <a:ext cx="959" cy="433"/>
            </a:xfrm>
            <a:prstGeom prst="ellipse">
              <a:avLst/>
            </a:prstGeom>
            <a:solidFill>
              <a:schemeClr val="tx2">
                <a:lumMod val="20000"/>
                <a:lumOff val="80000"/>
              </a:schemeClr>
            </a:solidFill>
            <a:ln w="9525">
              <a:solidFill>
                <a:schemeClr val="tx1"/>
              </a:solidFill>
              <a:round/>
            </a:ln>
          </p:spPr>
          <p:txBody>
            <a:bodyPr wrap="none" anchor="ctr"/>
            <a:lstStyle/>
            <a:p>
              <a:pPr algn="ctr">
                <a:defRPr/>
              </a:pPr>
              <a:r>
                <a:rPr lang="en-US" altLang="zh-CN" b="1">
                  <a:latin typeface="+mn-ea"/>
                  <a:ea typeface="+mn-ea"/>
                </a:rPr>
                <a:t>OBJECTS</a:t>
              </a:r>
            </a:p>
          </p:txBody>
        </p:sp>
        <p:sp>
          <p:nvSpPr>
            <p:cNvPr id="46089" name="Oval 7">
              <a:extLst>
                <a:ext uri="{FF2B5EF4-FFF2-40B4-BE49-F238E27FC236}">
                  <a16:creationId xmlns:a16="http://schemas.microsoft.com/office/drawing/2014/main" id="{11126113-B476-BD40-BF2E-B0E065140BC8}"/>
                </a:ext>
              </a:extLst>
            </p:cNvPr>
            <p:cNvSpPr>
              <a:spLocks noChangeArrowheads="1"/>
            </p:cNvSpPr>
            <p:nvPr/>
          </p:nvSpPr>
          <p:spPr bwMode="auto">
            <a:xfrm>
              <a:off x="1968" y="2831"/>
              <a:ext cx="960" cy="433"/>
            </a:xfrm>
            <a:prstGeom prst="ellipse">
              <a:avLst/>
            </a:prstGeom>
            <a:solidFill>
              <a:srgbClr val="FFFF00"/>
            </a:solidFill>
            <a:ln w="9525">
              <a:solidFill>
                <a:schemeClr val="tx1"/>
              </a:solidFill>
              <a:round/>
            </a:ln>
          </p:spPr>
          <p:txBody>
            <a:bodyPr wrap="none" anchor="ctr"/>
            <a:lstStyle/>
            <a:p>
              <a:pPr algn="ctr">
                <a:defRPr/>
              </a:pPr>
              <a:r>
                <a:rPr lang="en-US" altLang="zh-CN" b="1">
                  <a:latin typeface="+mn-ea"/>
                  <a:ea typeface="+mn-ea"/>
                </a:rPr>
                <a:t>OPERATIONS</a:t>
              </a:r>
            </a:p>
          </p:txBody>
        </p:sp>
        <p:sp>
          <p:nvSpPr>
            <p:cNvPr id="46090" name="Oval 8">
              <a:extLst>
                <a:ext uri="{FF2B5EF4-FFF2-40B4-BE49-F238E27FC236}">
                  <a16:creationId xmlns:a16="http://schemas.microsoft.com/office/drawing/2014/main" id="{9E81ED24-7973-7A45-A067-01401CF64B51}"/>
                </a:ext>
              </a:extLst>
            </p:cNvPr>
            <p:cNvSpPr>
              <a:spLocks noChangeArrowheads="1"/>
            </p:cNvSpPr>
            <p:nvPr/>
          </p:nvSpPr>
          <p:spPr bwMode="auto">
            <a:xfrm>
              <a:off x="1392" y="2544"/>
              <a:ext cx="3840" cy="1152"/>
            </a:xfrm>
            <a:prstGeom prst="ellipse">
              <a:avLst/>
            </a:prstGeom>
            <a:noFill/>
            <a:ln w="9525">
              <a:solidFill>
                <a:schemeClr val="tx1"/>
              </a:solidFill>
              <a:round/>
            </a:ln>
          </p:spPr>
          <p:txBody>
            <a:bodyPr wrap="none" anchor="ctr"/>
            <a:lstStyle/>
            <a:p>
              <a:pPr>
                <a:defRPr/>
              </a:pPr>
              <a:endParaRPr lang="zh-CN" altLang="en-US" b="1">
                <a:latin typeface="+mn-ea"/>
                <a:ea typeface="+mn-ea"/>
              </a:endParaRPr>
            </a:p>
          </p:txBody>
        </p:sp>
        <p:sp>
          <p:nvSpPr>
            <p:cNvPr id="46091" name="Line 9">
              <a:extLst>
                <a:ext uri="{FF2B5EF4-FFF2-40B4-BE49-F238E27FC236}">
                  <a16:creationId xmlns:a16="http://schemas.microsoft.com/office/drawing/2014/main" id="{952F4A4D-E477-0440-B3C9-FFEA0F171074}"/>
                </a:ext>
              </a:extLst>
            </p:cNvPr>
            <p:cNvSpPr>
              <a:spLocks noChangeShapeType="1"/>
            </p:cNvSpPr>
            <p:nvPr/>
          </p:nvSpPr>
          <p:spPr bwMode="auto">
            <a:xfrm>
              <a:off x="2928" y="3024"/>
              <a:ext cx="768" cy="0"/>
            </a:xfrm>
            <a:prstGeom prst="line">
              <a:avLst/>
            </a:prstGeom>
            <a:noFill/>
            <a:ln w="9525">
              <a:solidFill>
                <a:schemeClr val="tx1"/>
              </a:solidFill>
              <a:round/>
              <a:headEnd type="triangle" w="med" len="med"/>
              <a:tailEnd type="triangle" w="med" len="med"/>
            </a:ln>
          </p:spPr>
          <p:txBody>
            <a:bodyPr/>
            <a:lstStyle/>
            <a:p>
              <a:pPr>
                <a:defRPr/>
              </a:pPr>
              <a:endParaRPr lang="zh-CN" altLang="en-US" b="1">
                <a:latin typeface="+mn-ea"/>
                <a:ea typeface="+mn-ea"/>
              </a:endParaRPr>
            </a:p>
          </p:txBody>
        </p:sp>
        <p:sp>
          <p:nvSpPr>
            <p:cNvPr id="133130" name="Text Box 10">
              <a:extLst>
                <a:ext uri="{FF2B5EF4-FFF2-40B4-BE49-F238E27FC236}">
                  <a16:creationId xmlns:a16="http://schemas.microsoft.com/office/drawing/2014/main" id="{B5333E3C-6E76-A64E-8AA4-16CC5A811CB3}"/>
                </a:ext>
              </a:extLst>
            </p:cNvPr>
            <p:cNvSpPr txBox="1">
              <a:spLocks noChangeArrowheads="1"/>
            </p:cNvSpPr>
            <p:nvPr/>
          </p:nvSpPr>
          <p:spPr bwMode="auto">
            <a:xfrm>
              <a:off x="2784" y="3312"/>
              <a:ext cx="110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en-US" altLang="zh-CN" sz="1800" b="1"/>
                <a:t>PERMISSIONS</a:t>
              </a:r>
            </a:p>
          </p:txBody>
        </p:sp>
        <p:sp>
          <p:nvSpPr>
            <p:cNvPr id="46093" name="Line 11">
              <a:extLst>
                <a:ext uri="{FF2B5EF4-FFF2-40B4-BE49-F238E27FC236}">
                  <a16:creationId xmlns:a16="http://schemas.microsoft.com/office/drawing/2014/main" id="{CA0169BC-756C-E248-AC4A-C2584A95F24D}"/>
                </a:ext>
              </a:extLst>
            </p:cNvPr>
            <p:cNvSpPr>
              <a:spLocks noChangeShapeType="1"/>
            </p:cNvSpPr>
            <p:nvPr/>
          </p:nvSpPr>
          <p:spPr bwMode="auto">
            <a:xfrm>
              <a:off x="3312" y="1967"/>
              <a:ext cx="0" cy="575"/>
            </a:xfrm>
            <a:prstGeom prst="line">
              <a:avLst/>
            </a:prstGeom>
            <a:noFill/>
            <a:ln w="9525">
              <a:solidFill>
                <a:schemeClr val="tx1"/>
              </a:solidFill>
              <a:round/>
              <a:headEnd type="triangle" w="med" len="med"/>
              <a:tailEnd type="triangle" w="med" len="med"/>
            </a:ln>
          </p:spPr>
          <p:txBody>
            <a:bodyPr/>
            <a:lstStyle/>
            <a:p>
              <a:pPr>
                <a:defRPr/>
              </a:pPr>
              <a:endParaRPr lang="zh-CN" altLang="en-US" b="1">
                <a:latin typeface="+mn-ea"/>
                <a:ea typeface="+mn-ea"/>
              </a:endParaRPr>
            </a:p>
          </p:txBody>
        </p:sp>
        <p:sp>
          <p:nvSpPr>
            <p:cNvPr id="133132" name="Text Box 12">
              <a:extLst>
                <a:ext uri="{FF2B5EF4-FFF2-40B4-BE49-F238E27FC236}">
                  <a16:creationId xmlns:a16="http://schemas.microsoft.com/office/drawing/2014/main" id="{826BBE93-D2F2-8F47-871B-F03773A2D8C3}"/>
                </a:ext>
              </a:extLst>
            </p:cNvPr>
            <p:cNvSpPr txBox="1">
              <a:spLocks noChangeArrowheads="1"/>
            </p:cNvSpPr>
            <p:nvPr/>
          </p:nvSpPr>
          <p:spPr bwMode="auto">
            <a:xfrm>
              <a:off x="3360" y="2112"/>
              <a:ext cx="124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角色</a:t>
              </a:r>
              <a:r>
                <a:rPr lang="en-US" altLang="zh-CN" sz="2000" b="1"/>
                <a:t>/</a:t>
              </a:r>
              <a:r>
                <a:rPr lang="zh-CN" altLang="en-US" sz="2000" b="1"/>
                <a:t>许可分配</a:t>
              </a:r>
            </a:p>
          </p:txBody>
        </p:sp>
        <p:sp>
          <p:nvSpPr>
            <p:cNvPr id="46095" name="Line 13">
              <a:extLst>
                <a:ext uri="{FF2B5EF4-FFF2-40B4-BE49-F238E27FC236}">
                  <a16:creationId xmlns:a16="http://schemas.microsoft.com/office/drawing/2014/main" id="{AF0FE505-B474-9146-96EA-EF86653A534C}"/>
                </a:ext>
              </a:extLst>
            </p:cNvPr>
            <p:cNvSpPr>
              <a:spLocks noChangeShapeType="1"/>
            </p:cNvSpPr>
            <p:nvPr/>
          </p:nvSpPr>
          <p:spPr bwMode="auto">
            <a:xfrm flipV="1">
              <a:off x="1632" y="1728"/>
              <a:ext cx="1200" cy="0"/>
            </a:xfrm>
            <a:prstGeom prst="line">
              <a:avLst/>
            </a:prstGeom>
            <a:noFill/>
            <a:ln w="9525">
              <a:solidFill>
                <a:schemeClr val="tx1"/>
              </a:solidFill>
              <a:round/>
              <a:headEnd type="triangle" w="med" len="med"/>
              <a:tailEnd type="triangle" w="med" len="med"/>
            </a:ln>
          </p:spPr>
          <p:txBody>
            <a:bodyPr/>
            <a:lstStyle/>
            <a:p>
              <a:pPr>
                <a:defRPr/>
              </a:pPr>
              <a:endParaRPr lang="zh-CN" altLang="en-US" b="1">
                <a:latin typeface="+mn-ea"/>
                <a:ea typeface="+mn-ea"/>
              </a:endParaRPr>
            </a:p>
          </p:txBody>
        </p:sp>
        <p:sp>
          <p:nvSpPr>
            <p:cNvPr id="133134" name="Text Box 14">
              <a:extLst>
                <a:ext uri="{FF2B5EF4-FFF2-40B4-BE49-F238E27FC236}">
                  <a16:creationId xmlns:a16="http://schemas.microsoft.com/office/drawing/2014/main" id="{11059BBD-72FF-8348-9486-D532A2858046}"/>
                </a:ext>
              </a:extLst>
            </p:cNvPr>
            <p:cNvSpPr txBox="1">
              <a:spLocks noChangeArrowheads="1"/>
            </p:cNvSpPr>
            <p:nvPr/>
          </p:nvSpPr>
          <p:spPr bwMode="auto">
            <a:xfrm>
              <a:off x="1728" y="1775"/>
              <a:ext cx="124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用户</a:t>
              </a:r>
              <a:r>
                <a:rPr lang="en-US" altLang="zh-CN" sz="2000" b="1"/>
                <a:t>/</a:t>
              </a:r>
              <a:r>
                <a:rPr lang="zh-CN" altLang="en-US" sz="2000" b="1"/>
                <a:t>角色分配</a:t>
              </a:r>
            </a:p>
          </p:txBody>
        </p:sp>
        <p:sp>
          <p:nvSpPr>
            <p:cNvPr id="46097" name="Oval 15">
              <a:extLst>
                <a:ext uri="{FF2B5EF4-FFF2-40B4-BE49-F238E27FC236}">
                  <a16:creationId xmlns:a16="http://schemas.microsoft.com/office/drawing/2014/main" id="{755D6794-BCD4-7146-BD37-77FBC7C6D700}"/>
                </a:ext>
              </a:extLst>
            </p:cNvPr>
            <p:cNvSpPr>
              <a:spLocks noChangeArrowheads="1"/>
            </p:cNvSpPr>
            <p:nvPr/>
          </p:nvSpPr>
          <p:spPr bwMode="auto">
            <a:xfrm>
              <a:off x="1968" y="239"/>
              <a:ext cx="576" cy="1009"/>
            </a:xfrm>
            <a:prstGeom prst="ellipse">
              <a:avLst/>
            </a:prstGeom>
            <a:noFill/>
            <a:ln w="9525">
              <a:solidFill>
                <a:schemeClr val="tx1"/>
              </a:solidFill>
              <a:round/>
            </a:ln>
          </p:spPr>
          <p:txBody>
            <a:bodyPr wrap="none" anchor="ctr"/>
            <a:lstStyle/>
            <a:p>
              <a:pPr>
                <a:defRPr/>
              </a:pPr>
              <a:endParaRPr lang="zh-CN" altLang="en-US" b="1">
                <a:latin typeface="+mn-ea"/>
                <a:ea typeface="+mn-ea"/>
              </a:endParaRPr>
            </a:p>
          </p:txBody>
        </p:sp>
        <p:sp>
          <p:nvSpPr>
            <p:cNvPr id="133136" name="Text Box 16">
              <a:extLst>
                <a:ext uri="{FF2B5EF4-FFF2-40B4-BE49-F238E27FC236}">
                  <a16:creationId xmlns:a16="http://schemas.microsoft.com/office/drawing/2014/main" id="{37D9EF81-8DE3-5E4B-BAE4-285413C5C1F8}"/>
                </a:ext>
              </a:extLst>
            </p:cNvPr>
            <p:cNvSpPr txBox="1">
              <a:spLocks noChangeArrowheads="1"/>
            </p:cNvSpPr>
            <p:nvPr/>
          </p:nvSpPr>
          <p:spPr bwMode="auto">
            <a:xfrm>
              <a:off x="2592" y="288"/>
              <a:ext cx="120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会话管理模块</a:t>
              </a:r>
            </a:p>
          </p:txBody>
        </p:sp>
        <p:sp>
          <p:nvSpPr>
            <p:cNvPr id="46099" name="Oval 17">
              <a:extLst>
                <a:ext uri="{FF2B5EF4-FFF2-40B4-BE49-F238E27FC236}">
                  <a16:creationId xmlns:a16="http://schemas.microsoft.com/office/drawing/2014/main" id="{6701F19F-335B-9048-843D-E4D055428360}"/>
                </a:ext>
              </a:extLst>
            </p:cNvPr>
            <p:cNvSpPr>
              <a:spLocks noChangeArrowheads="1"/>
            </p:cNvSpPr>
            <p:nvPr/>
          </p:nvSpPr>
          <p:spPr bwMode="auto">
            <a:xfrm>
              <a:off x="2208" y="1008"/>
              <a:ext cx="96" cy="95"/>
            </a:xfrm>
            <a:prstGeom prst="ellipse">
              <a:avLst/>
            </a:prstGeom>
            <a:solidFill>
              <a:schemeClr val="tx1"/>
            </a:solidFill>
            <a:ln w="9525">
              <a:solidFill>
                <a:schemeClr val="tx1"/>
              </a:solidFill>
              <a:round/>
            </a:ln>
          </p:spPr>
          <p:txBody>
            <a:bodyPr wrap="none" anchor="ctr"/>
            <a:lstStyle/>
            <a:p>
              <a:pPr>
                <a:defRPr/>
              </a:pPr>
              <a:endParaRPr lang="zh-CN" altLang="en-US" b="1">
                <a:latin typeface="+mn-ea"/>
                <a:ea typeface="+mn-ea"/>
              </a:endParaRPr>
            </a:p>
          </p:txBody>
        </p:sp>
        <p:sp>
          <p:nvSpPr>
            <p:cNvPr id="46100" name="Oval 18">
              <a:extLst>
                <a:ext uri="{FF2B5EF4-FFF2-40B4-BE49-F238E27FC236}">
                  <a16:creationId xmlns:a16="http://schemas.microsoft.com/office/drawing/2014/main" id="{DA4A5887-F0FB-734D-AA07-BC3B632BD3AD}"/>
                </a:ext>
              </a:extLst>
            </p:cNvPr>
            <p:cNvSpPr>
              <a:spLocks noChangeArrowheads="1"/>
            </p:cNvSpPr>
            <p:nvPr/>
          </p:nvSpPr>
          <p:spPr bwMode="auto">
            <a:xfrm>
              <a:off x="2208" y="768"/>
              <a:ext cx="96" cy="98"/>
            </a:xfrm>
            <a:prstGeom prst="ellipse">
              <a:avLst/>
            </a:prstGeom>
            <a:solidFill>
              <a:schemeClr val="tx1"/>
            </a:solidFill>
            <a:ln w="9525">
              <a:solidFill>
                <a:schemeClr val="tx1"/>
              </a:solidFill>
              <a:round/>
            </a:ln>
          </p:spPr>
          <p:txBody>
            <a:bodyPr wrap="none" anchor="ctr"/>
            <a:lstStyle/>
            <a:p>
              <a:pPr>
                <a:defRPr/>
              </a:pPr>
              <a:endParaRPr lang="zh-CN" altLang="en-US" b="1">
                <a:latin typeface="+mn-ea"/>
                <a:ea typeface="+mn-ea"/>
              </a:endParaRPr>
            </a:p>
          </p:txBody>
        </p:sp>
        <p:sp>
          <p:nvSpPr>
            <p:cNvPr id="46101" name="Oval 19">
              <a:extLst>
                <a:ext uri="{FF2B5EF4-FFF2-40B4-BE49-F238E27FC236}">
                  <a16:creationId xmlns:a16="http://schemas.microsoft.com/office/drawing/2014/main" id="{6B608F85-1001-CE4A-B295-06BD076D3CB1}"/>
                </a:ext>
              </a:extLst>
            </p:cNvPr>
            <p:cNvSpPr>
              <a:spLocks noChangeArrowheads="1"/>
            </p:cNvSpPr>
            <p:nvPr/>
          </p:nvSpPr>
          <p:spPr bwMode="auto">
            <a:xfrm>
              <a:off x="2208" y="577"/>
              <a:ext cx="96" cy="95"/>
            </a:xfrm>
            <a:prstGeom prst="ellipse">
              <a:avLst/>
            </a:prstGeom>
            <a:solidFill>
              <a:schemeClr val="tx1"/>
            </a:solidFill>
            <a:ln w="9525">
              <a:solidFill>
                <a:schemeClr val="tx1"/>
              </a:solidFill>
              <a:round/>
            </a:ln>
          </p:spPr>
          <p:txBody>
            <a:bodyPr wrap="none" anchor="ctr"/>
            <a:lstStyle/>
            <a:p>
              <a:pPr>
                <a:defRPr/>
              </a:pPr>
              <a:endParaRPr lang="zh-CN" altLang="en-US" b="1">
                <a:latin typeface="+mn-ea"/>
                <a:ea typeface="+mn-ea"/>
              </a:endParaRPr>
            </a:p>
          </p:txBody>
        </p:sp>
        <p:sp>
          <p:nvSpPr>
            <p:cNvPr id="46102" name="Oval 20">
              <a:extLst>
                <a:ext uri="{FF2B5EF4-FFF2-40B4-BE49-F238E27FC236}">
                  <a16:creationId xmlns:a16="http://schemas.microsoft.com/office/drawing/2014/main" id="{17B2B68A-C0E7-4E4A-AD12-026A04655B26}"/>
                </a:ext>
              </a:extLst>
            </p:cNvPr>
            <p:cNvSpPr>
              <a:spLocks noChangeArrowheads="1"/>
            </p:cNvSpPr>
            <p:nvPr/>
          </p:nvSpPr>
          <p:spPr bwMode="auto">
            <a:xfrm>
              <a:off x="2208" y="384"/>
              <a:ext cx="96" cy="93"/>
            </a:xfrm>
            <a:prstGeom prst="ellipse">
              <a:avLst/>
            </a:prstGeom>
            <a:solidFill>
              <a:schemeClr val="tx1"/>
            </a:solidFill>
            <a:ln w="9525">
              <a:solidFill>
                <a:schemeClr val="tx1"/>
              </a:solidFill>
              <a:round/>
            </a:ln>
          </p:spPr>
          <p:txBody>
            <a:bodyPr wrap="none" anchor="ctr"/>
            <a:lstStyle/>
            <a:p>
              <a:pPr>
                <a:defRPr/>
              </a:pPr>
              <a:endParaRPr lang="zh-CN" altLang="en-US" b="1">
                <a:latin typeface="+mn-ea"/>
                <a:ea typeface="+mn-ea"/>
              </a:endParaRPr>
            </a:p>
          </p:txBody>
        </p:sp>
        <p:sp>
          <p:nvSpPr>
            <p:cNvPr id="133141" name="Text Box 21">
              <a:extLst>
                <a:ext uri="{FF2B5EF4-FFF2-40B4-BE49-F238E27FC236}">
                  <a16:creationId xmlns:a16="http://schemas.microsoft.com/office/drawing/2014/main" id="{273B8512-ED37-5241-990D-AAD7B42B5336}"/>
                </a:ext>
              </a:extLst>
            </p:cNvPr>
            <p:cNvSpPr txBox="1">
              <a:spLocks noChangeArrowheads="1"/>
            </p:cNvSpPr>
            <p:nvPr/>
          </p:nvSpPr>
          <p:spPr bwMode="auto">
            <a:xfrm>
              <a:off x="4128" y="1584"/>
              <a:ext cx="124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定义角色关系</a:t>
              </a:r>
            </a:p>
          </p:txBody>
        </p:sp>
        <p:sp>
          <p:nvSpPr>
            <p:cNvPr id="133142" name="Text Box 22">
              <a:extLst>
                <a:ext uri="{FF2B5EF4-FFF2-40B4-BE49-F238E27FC236}">
                  <a16:creationId xmlns:a16="http://schemas.microsoft.com/office/drawing/2014/main" id="{45D5EC2F-8E61-7047-A0BA-FA47B2EE39D6}"/>
                </a:ext>
              </a:extLst>
            </p:cNvPr>
            <p:cNvSpPr txBox="1">
              <a:spLocks noChangeArrowheads="1"/>
            </p:cNvSpPr>
            <p:nvPr/>
          </p:nvSpPr>
          <p:spPr bwMode="auto">
            <a:xfrm>
              <a:off x="4224" y="3648"/>
              <a:ext cx="129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系统管理模块</a:t>
              </a:r>
            </a:p>
          </p:txBody>
        </p:sp>
        <p:sp>
          <p:nvSpPr>
            <p:cNvPr id="133143" name="Text Box 24">
              <a:extLst>
                <a:ext uri="{FF2B5EF4-FFF2-40B4-BE49-F238E27FC236}">
                  <a16:creationId xmlns:a16="http://schemas.microsoft.com/office/drawing/2014/main" id="{D4DE14BC-9844-CD4F-AACD-862AB1D2B345}"/>
                </a:ext>
              </a:extLst>
            </p:cNvPr>
            <p:cNvSpPr txBox="1">
              <a:spLocks noChangeArrowheads="1"/>
            </p:cNvSpPr>
            <p:nvPr/>
          </p:nvSpPr>
          <p:spPr bwMode="auto">
            <a:xfrm>
              <a:off x="1488" y="480"/>
              <a:ext cx="528"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50000"/>
                </a:spcBef>
                <a:buClrTx/>
                <a:buFontTx/>
                <a:buNone/>
              </a:pPr>
              <a:r>
                <a:rPr lang="zh-CN" altLang="en-US" sz="2000" b="1"/>
                <a:t>会话</a:t>
              </a:r>
            </a:p>
          </p:txBody>
        </p:sp>
        <p:cxnSp>
          <p:nvCxnSpPr>
            <p:cNvPr id="133144" name="AutoShape 25">
              <a:extLst>
                <a:ext uri="{FF2B5EF4-FFF2-40B4-BE49-F238E27FC236}">
                  <a16:creationId xmlns:a16="http://schemas.microsoft.com/office/drawing/2014/main" id="{6594779D-180D-1A49-90CC-26D9AC30546A}"/>
                </a:ext>
              </a:extLst>
            </p:cNvPr>
            <p:cNvCxnSpPr>
              <a:cxnSpLocks noChangeShapeType="1"/>
              <a:stCxn id="46087" idx="5"/>
              <a:endCxn id="46087" idx="7"/>
            </p:cNvCxnSpPr>
            <p:nvPr/>
          </p:nvCxnSpPr>
          <p:spPr bwMode="auto">
            <a:xfrm rot="5400000" flipH="1" flipV="1">
              <a:off x="3496" y="1750"/>
              <a:ext cx="307" cy="1"/>
            </a:xfrm>
            <a:prstGeom prst="curvedConnector5">
              <a:avLst>
                <a:gd name="adj1" fmla="val -23454"/>
                <a:gd name="adj2" fmla="val 51799986"/>
                <a:gd name="adj3" fmla="val 122472"/>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46107" name="Line 26">
              <a:extLst>
                <a:ext uri="{FF2B5EF4-FFF2-40B4-BE49-F238E27FC236}">
                  <a16:creationId xmlns:a16="http://schemas.microsoft.com/office/drawing/2014/main" id="{875EFCDC-ADF2-AD41-A57A-4B6CF57C9A38}"/>
                </a:ext>
              </a:extLst>
            </p:cNvPr>
            <p:cNvSpPr>
              <a:spLocks noChangeShapeType="1"/>
            </p:cNvSpPr>
            <p:nvPr/>
          </p:nvSpPr>
          <p:spPr bwMode="auto">
            <a:xfrm flipH="1">
              <a:off x="1584" y="1056"/>
              <a:ext cx="672" cy="575"/>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08" name="Line 27">
              <a:extLst>
                <a:ext uri="{FF2B5EF4-FFF2-40B4-BE49-F238E27FC236}">
                  <a16:creationId xmlns:a16="http://schemas.microsoft.com/office/drawing/2014/main" id="{AD5B5803-5714-1245-B338-3559D36645A5}"/>
                </a:ext>
              </a:extLst>
            </p:cNvPr>
            <p:cNvSpPr>
              <a:spLocks noChangeShapeType="1"/>
            </p:cNvSpPr>
            <p:nvPr/>
          </p:nvSpPr>
          <p:spPr bwMode="auto">
            <a:xfrm>
              <a:off x="2256" y="1056"/>
              <a:ext cx="672" cy="575"/>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09" name="Line 28">
              <a:extLst>
                <a:ext uri="{FF2B5EF4-FFF2-40B4-BE49-F238E27FC236}">
                  <a16:creationId xmlns:a16="http://schemas.microsoft.com/office/drawing/2014/main" id="{4FCACC7D-1EB6-C94A-BE79-C3ACD87CA435}"/>
                </a:ext>
              </a:extLst>
            </p:cNvPr>
            <p:cNvSpPr>
              <a:spLocks noChangeShapeType="1"/>
            </p:cNvSpPr>
            <p:nvPr/>
          </p:nvSpPr>
          <p:spPr bwMode="auto">
            <a:xfrm flipH="1">
              <a:off x="1488" y="816"/>
              <a:ext cx="768" cy="720"/>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0" name="Line 29">
              <a:extLst>
                <a:ext uri="{FF2B5EF4-FFF2-40B4-BE49-F238E27FC236}">
                  <a16:creationId xmlns:a16="http://schemas.microsoft.com/office/drawing/2014/main" id="{06E9E95E-4216-DC4C-A3DD-6A9FBD3E482F}"/>
                </a:ext>
              </a:extLst>
            </p:cNvPr>
            <p:cNvSpPr>
              <a:spLocks noChangeShapeType="1"/>
            </p:cNvSpPr>
            <p:nvPr/>
          </p:nvSpPr>
          <p:spPr bwMode="auto">
            <a:xfrm>
              <a:off x="2256" y="816"/>
              <a:ext cx="768" cy="720"/>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1" name="Line 30">
              <a:extLst>
                <a:ext uri="{FF2B5EF4-FFF2-40B4-BE49-F238E27FC236}">
                  <a16:creationId xmlns:a16="http://schemas.microsoft.com/office/drawing/2014/main" id="{71B4CF05-519C-6A41-96DD-2A711DA5F6E0}"/>
                </a:ext>
              </a:extLst>
            </p:cNvPr>
            <p:cNvSpPr>
              <a:spLocks noChangeShapeType="1"/>
            </p:cNvSpPr>
            <p:nvPr/>
          </p:nvSpPr>
          <p:spPr bwMode="auto">
            <a:xfrm flipH="1">
              <a:off x="1344" y="624"/>
              <a:ext cx="912" cy="912"/>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2" name="Line 31">
              <a:extLst>
                <a:ext uri="{FF2B5EF4-FFF2-40B4-BE49-F238E27FC236}">
                  <a16:creationId xmlns:a16="http://schemas.microsoft.com/office/drawing/2014/main" id="{A67203E1-A3AC-064F-9C0A-EE12716FCED3}"/>
                </a:ext>
              </a:extLst>
            </p:cNvPr>
            <p:cNvSpPr>
              <a:spLocks noChangeShapeType="1"/>
            </p:cNvSpPr>
            <p:nvPr/>
          </p:nvSpPr>
          <p:spPr bwMode="auto">
            <a:xfrm>
              <a:off x="2256" y="624"/>
              <a:ext cx="960" cy="864"/>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3" name="Line 32">
              <a:extLst>
                <a:ext uri="{FF2B5EF4-FFF2-40B4-BE49-F238E27FC236}">
                  <a16:creationId xmlns:a16="http://schemas.microsoft.com/office/drawing/2014/main" id="{FEC0932B-E764-8B4A-A428-2E2E4C68CFB3}"/>
                </a:ext>
              </a:extLst>
            </p:cNvPr>
            <p:cNvSpPr>
              <a:spLocks noChangeShapeType="1"/>
            </p:cNvSpPr>
            <p:nvPr/>
          </p:nvSpPr>
          <p:spPr bwMode="auto">
            <a:xfrm flipH="1">
              <a:off x="1152" y="432"/>
              <a:ext cx="1104" cy="1104"/>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4" name="Line 33">
              <a:extLst>
                <a:ext uri="{FF2B5EF4-FFF2-40B4-BE49-F238E27FC236}">
                  <a16:creationId xmlns:a16="http://schemas.microsoft.com/office/drawing/2014/main" id="{6C225D7E-14BA-624B-B374-62893BF4DFAA}"/>
                </a:ext>
              </a:extLst>
            </p:cNvPr>
            <p:cNvSpPr>
              <a:spLocks noChangeShapeType="1"/>
            </p:cNvSpPr>
            <p:nvPr/>
          </p:nvSpPr>
          <p:spPr bwMode="auto">
            <a:xfrm>
              <a:off x="2256" y="432"/>
              <a:ext cx="1200" cy="1104"/>
            </a:xfrm>
            <a:prstGeom prst="line">
              <a:avLst/>
            </a:prstGeom>
            <a:noFill/>
            <a:ln w="9525">
              <a:solidFill>
                <a:schemeClr val="tx1"/>
              </a:solidFill>
              <a:round/>
              <a:tailEnd type="triangle" w="med" len="med"/>
            </a:ln>
          </p:spPr>
          <p:txBody>
            <a:bodyPr/>
            <a:lstStyle/>
            <a:p>
              <a:pPr>
                <a:defRPr/>
              </a:pPr>
              <a:endParaRPr lang="zh-CN" altLang="en-US" b="1">
                <a:latin typeface="+mn-ea"/>
                <a:ea typeface="+mn-ea"/>
              </a:endParaRPr>
            </a:p>
          </p:txBody>
        </p:sp>
        <p:sp>
          <p:nvSpPr>
            <p:cNvPr id="46115" name="Rectangle 34">
              <a:extLst>
                <a:ext uri="{FF2B5EF4-FFF2-40B4-BE49-F238E27FC236}">
                  <a16:creationId xmlns:a16="http://schemas.microsoft.com/office/drawing/2014/main" id="{A27A925D-9CCF-874D-A45F-F7744E5E4D63}"/>
                </a:ext>
              </a:extLst>
            </p:cNvPr>
            <p:cNvSpPr>
              <a:spLocks noChangeArrowheads="1"/>
            </p:cNvSpPr>
            <p:nvPr/>
          </p:nvSpPr>
          <p:spPr bwMode="auto">
            <a:xfrm>
              <a:off x="240" y="144"/>
              <a:ext cx="3648" cy="1968"/>
            </a:xfrm>
            <a:prstGeom prst="rect">
              <a:avLst/>
            </a:prstGeom>
            <a:noFill/>
            <a:ln w="12700">
              <a:solidFill>
                <a:schemeClr val="tx1"/>
              </a:solidFill>
              <a:prstDash val="dash"/>
              <a:miter lim="800000"/>
            </a:ln>
          </p:spPr>
          <p:txBody>
            <a:bodyPr wrap="none" anchor="ctr"/>
            <a:lstStyle/>
            <a:p>
              <a:pPr>
                <a:defRPr/>
              </a:pPr>
              <a:endParaRPr lang="zh-CN" altLang="en-US" b="1">
                <a:latin typeface="+mn-ea"/>
                <a:ea typeface="+mn-ea"/>
              </a:endParaRPr>
            </a:p>
          </p:txBody>
        </p:sp>
        <p:sp>
          <p:nvSpPr>
            <p:cNvPr id="46116" name="Rectangle 35">
              <a:extLst>
                <a:ext uri="{FF2B5EF4-FFF2-40B4-BE49-F238E27FC236}">
                  <a16:creationId xmlns:a16="http://schemas.microsoft.com/office/drawing/2014/main" id="{949CBDAD-79B5-D94D-8F8F-D0A49037ECAF}"/>
                </a:ext>
              </a:extLst>
            </p:cNvPr>
            <p:cNvSpPr>
              <a:spLocks noChangeArrowheads="1"/>
            </p:cNvSpPr>
            <p:nvPr/>
          </p:nvSpPr>
          <p:spPr bwMode="auto">
            <a:xfrm>
              <a:off x="480" y="1344"/>
              <a:ext cx="4944" cy="2592"/>
            </a:xfrm>
            <a:prstGeom prst="rect">
              <a:avLst/>
            </a:prstGeom>
            <a:noFill/>
            <a:ln w="12700">
              <a:solidFill>
                <a:schemeClr val="tx1"/>
              </a:solidFill>
              <a:prstDash val="dash"/>
              <a:miter lim="800000"/>
            </a:ln>
          </p:spPr>
          <p:txBody>
            <a:bodyPr wrap="none" anchor="ctr"/>
            <a:lstStyle/>
            <a:p>
              <a:pPr>
                <a:defRPr/>
              </a:pPr>
              <a:endParaRPr lang="zh-CN" altLang="en-US" b="1">
                <a:latin typeface="+mn-ea"/>
                <a:ea typeface="+mn-ea"/>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up)">
                                      <p:cBhvr>
                                        <p:cTn id="7" dur="500"/>
                                        <p:tgtEl>
                                          <p:spTgt spid="4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5FD59D80-F4DA-5143-A097-9DED00DCFD58}"/>
              </a:ext>
            </a:extLst>
          </p:cNvPr>
          <p:cNvSpPr>
            <a:spLocks noGrp="1" noChangeArrowheads="1"/>
          </p:cNvSpPr>
          <p:nvPr>
            <p:ph idx="1"/>
          </p:nvPr>
        </p:nvSpPr>
        <p:spPr>
          <a:xfrm>
            <a:off x="360363" y="1376363"/>
            <a:ext cx="8423275" cy="5076825"/>
          </a:xfrm>
        </p:spPr>
        <p:txBody>
          <a:bodyPr>
            <a:normAutofit/>
          </a:bodyPr>
          <a:lstStyle/>
          <a:p>
            <a:pPr>
              <a:lnSpc>
                <a:spcPct val="80000"/>
              </a:lnSpc>
              <a:defRPr/>
            </a:pPr>
            <a:r>
              <a:rPr lang="zh-CN" altLang="en-US" sz="2600" b="1">
                <a:solidFill>
                  <a:srgbClr val="FF0000"/>
                </a:solidFill>
                <a:effectLst>
                  <a:outerShdw blurRad="38100" dist="38100" dir="2700000" algn="tl">
                    <a:srgbClr val="C0C0C0"/>
                  </a:outerShdw>
                </a:effectLst>
              </a:rPr>
              <a:t>①用户登录：</a:t>
            </a:r>
            <a:endParaRPr lang="en-US" altLang="zh-CN" sz="2600" b="1">
              <a:solidFill>
                <a:srgbClr val="FF0000"/>
              </a:solidFill>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身份鉴别</a:t>
            </a:r>
          </a:p>
          <a:p>
            <a:pPr>
              <a:lnSpc>
                <a:spcPct val="80000"/>
              </a:lnSpc>
              <a:defRPr/>
            </a:pPr>
            <a:r>
              <a:rPr lang="zh-CN" altLang="en-US" sz="2600" b="1">
                <a:solidFill>
                  <a:srgbClr val="FF0000"/>
                </a:solidFill>
                <a:effectLst>
                  <a:outerShdw blurRad="38100" dist="38100" dir="2700000" algn="tl">
                    <a:srgbClr val="C0C0C0"/>
                  </a:outerShdw>
                </a:effectLst>
              </a:rPr>
              <a:t>②检索授权角色集</a:t>
            </a:r>
            <a:endParaRPr lang="en-US" altLang="zh-CN" sz="2600" b="1">
              <a:solidFill>
                <a:srgbClr val="FF0000"/>
              </a:solidFill>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会话管理模块从</a:t>
            </a:r>
            <a:r>
              <a:rPr lang="en-US" altLang="zh-CN" sz="2400" b="1">
                <a:effectLst>
                  <a:outerShdw blurRad="38100" dist="38100" dir="2700000" algn="tl">
                    <a:srgbClr val="C0C0C0"/>
                  </a:outerShdw>
                </a:effectLst>
                <a:latin typeface="Times New Roman" panose="02020603050405020304" pitchFamily="18" charset="0"/>
              </a:rPr>
              <a:t>RBAC</a:t>
            </a:r>
            <a:r>
              <a:rPr lang="zh-CN" altLang="en-US" sz="2400" b="1">
                <a:effectLst>
                  <a:outerShdw blurRad="38100" dist="38100" dir="2700000" algn="tl">
                    <a:srgbClr val="C0C0C0"/>
                  </a:outerShdw>
                </a:effectLst>
              </a:rPr>
              <a:t>数据库检索用户授权角色集并送回用户。</a:t>
            </a:r>
          </a:p>
          <a:p>
            <a:pPr>
              <a:lnSpc>
                <a:spcPct val="80000"/>
              </a:lnSpc>
              <a:defRPr/>
            </a:pPr>
            <a:r>
              <a:rPr lang="zh-CN" altLang="en-US" sz="2600" b="1">
                <a:solidFill>
                  <a:srgbClr val="FF0000"/>
                </a:solidFill>
                <a:effectLst>
                  <a:outerShdw blurRad="38100" dist="38100" dir="2700000" algn="tl">
                    <a:srgbClr val="C0C0C0"/>
                  </a:outerShdw>
                </a:effectLst>
              </a:rPr>
              <a:t>③选择活跃角色集</a:t>
            </a:r>
            <a:endParaRPr lang="en-US" altLang="zh-CN" sz="2600" b="1">
              <a:solidFill>
                <a:srgbClr val="FF0000"/>
              </a:solidFill>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选择本次会话活跃角色集，其间会话管理模块维持动态角色互斥。</a:t>
            </a:r>
          </a:p>
          <a:p>
            <a:pPr>
              <a:lnSpc>
                <a:spcPct val="80000"/>
              </a:lnSpc>
              <a:defRPr/>
            </a:pPr>
            <a:r>
              <a:rPr lang="zh-CN" altLang="en-US" sz="2600" b="1">
                <a:solidFill>
                  <a:srgbClr val="FF0000"/>
                </a:solidFill>
                <a:effectLst>
                  <a:outerShdw blurRad="38100" dist="38100" dir="2700000" algn="tl">
                    <a:srgbClr val="C0C0C0"/>
                  </a:outerShdw>
                </a:effectLst>
              </a:rPr>
              <a:t>④创建会话</a:t>
            </a:r>
            <a:endParaRPr lang="en-US" altLang="zh-CN" sz="2600" b="1">
              <a:solidFill>
                <a:srgbClr val="FF0000"/>
              </a:solidFill>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体现授权，菜单、按钮</a:t>
            </a:r>
          </a:p>
          <a:p>
            <a:pPr>
              <a:lnSpc>
                <a:spcPct val="80000"/>
              </a:lnSpc>
              <a:defRPr/>
            </a:pPr>
            <a:r>
              <a:rPr lang="zh-CN" altLang="en-US" sz="2600" b="1">
                <a:solidFill>
                  <a:srgbClr val="FF0000"/>
                </a:solidFill>
                <a:effectLst>
                  <a:outerShdw blurRad="38100" dist="38100" dir="2700000" algn="tl">
                    <a:srgbClr val="C0C0C0"/>
                  </a:outerShdw>
                </a:effectLst>
              </a:rPr>
              <a:t>⑤会话过程中，系统管理员若要更改角色或许可</a:t>
            </a:r>
            <a:endParaRPr lang="en-US" altLang="zh-CN" sz="2600" b="1">
              <a:solidFill>
                <a:srgbClr val="FF0000"/>
              </a:solidFill>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在此会话结束后</a:t>
            </a:r>
            <a:endParaRPr lang="en-US" altLang="zh-CN" sz="2400" b="1">
              <a:effectLst>
                <a:outerShdw blurRad="38100" dist="38100" dir="2700000" algn="tl">
                  <a:srgbClr val="C0C0C0"/>
                </a:outerShdw>
              </a:effectLst>
            </a:endParaRPr>
          </a:p>
          <a:p>
            <a:pPr lvl="1">
              <a:lnSpc>
                <a:spcPct val="80000"/>
              </a:lnSpc>
              <a:defRPr/>
            </a:pPr>
            <a:r>
              <a:rPr lang="zh-CN" altLang="en-US" sz="2400" b="1">
                <a:effectLst>
                  <a:outerShdw blurRad="38100" dist="38100" dir="2700000" algn="tl">
                    <a:srgbClr val="C0C0C0"/>
                  </a:outerShdw>
                </a:effectLst>
              </a:rPr>
              <a:t>或终止此会话立即进行。</a:t>
            </a:r>
          </a:p>
        </p:txBody>
      </p:sp>
      <p:sp>
        <p:nvSpPr>
          <p:cNvPr id="1046530" name="Rectangle 2">
            <a:extLst>
              <a:ext uri="{FF2B5EF4-FFF2-40B4-BE49-F238E27FC236}">
                <a16:creationId xmlns:a16="http://schemas.microsoft.com/office/drawing/2014/main" id="{AB0BD2A1-2603-0A43-B430-7E70A77047EB}"/>
              </a:ext>
            </a:extLst>
          </p:cNvPr>
          <p:cNvSpPr>
            <a:spLocks noGrp="1" noChangeArrowheads="1"/>
          </p:cNvSpPr>
          <p:nvPr>
            <p:ph type="title"/>
          </p:nvPr>
        </p:nvSpPr>
        <p:spPr>
          <a:xfrm>
            <a:off x="515938" y="750888"/>
            <a:ext cx="6513512"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a:t>
            </a:r>
            <a:r>
              <a:rPr lang="zh-CN" altLang="en-US">
                <a:solidFill>
                  <a:srgbClr val="0033CC"/>
                </a:solidFill>
                <a:effectLst>
                  <a:outerShdw blurRad="38100" dist="38100" dir="2700000" algn="tl">
                    <a:srgbClr val="C0C0C0"/>
                  </a:outerShdw>
                </a:effectLst>
                <a:latin typeface="Times New Roman" panose="02020603050405020304" pitchFamily="18" charset="0"/>
              </a:rPr>
              <a:t>系统的运行步骤</a:t>
            </a:r>
          </a:p>
        </p:txBody>
      </p:sp>
      <p:sp>
        <p:nvSpPr>
          <p:cNvPr id="135171" name="Rectangle 4">
            <a:extLst>
              <a:ext uri="{FF2B5EF4-FFF2-40B4-BE49-F238E27FC236}">
                <a16:creationId xmlns:a16="http://schemas.microsoft.com/office/drawing/2014/main" id="{71600A6A-61E3-AA45-913E-F694C0102137}"/>
              </a:ext>
            </a:extLst>
          </p:cNvPr>
          <p:cNvSpPr>
            <a:spLocks noChangeArrowheads="1"/>
          </p:cNvSpPr>
          <p:nvPr/>
        </p:nvSpPr>
        <p:spPr bwMode="auto">
          <a:xfrm>
            <a:off x="0" y="1266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46137-B2AE-7EA3-BC09-449FA52D2EE2}"/>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132A26F8-B366-A525-C492-BBDBD45235B6}"/>
              </a:ext>
            </a:extLst>
          </p:cNvPr>
          <p:cNvPicPr>
            <a:picLocks noGrp="1" noChangeAspect="1"/>
          </p:cNvPicPr>
          <p:nvPr>
            <p:ph idx="1"/>
          </p:nvPr>
        </p:nvPicPr>
        <p:blipFill>
          <a:blip r:embed="rId2"/>
          <a:stretch>
            <a:fillRect/>
          </a:stretch>
        </p:blipFill>
        <p:spPr bwMode="auto">
          <a:xfrm>
            <a:off x="5519" y="380999"/>
            <a:ext cx="9144000" cy="6096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ACFF7693-F5BB-BA92-81BA-A56D313FFB5F}"/>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2195791578"/>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BE6B8F68-FC71-014F-B4B1-82F241D59A2C}"/>
              </a:ext>
            </a:extLst>
          </p:cNvPr>
          <p:cNvSpPr>
            <a:spLocks noGrp="1"/>
          </p:cNvSpPr>
          <p:nvPr>
            <p:ph type="title"/>
          </p:nvPr>
        </p:nvSpPr>
        <p:spPr>
          <a:xfrm>
            <a:off x="576263" y="900113"/>
            <a:ext cx="6513512"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RBAC 96</a:t>
            </a:r>
            <a:r>
              <a:rPr lang="zh-CN" altLang="en-US">
                <a:solidFill>
                  <a:srgbClr val="0033CC"/>
                </a:solidFill>
                <a:effectLst>
                  <a:outerShdw blurRad="38100" dist="38100" dir="2700000" algn="tl">
                    <a:srgbClr val="C0C0C0"/>
                  </a:outerShdw>
                </a:effectLst>
                <a:latin typeface="Times New Roman" panose="02020603050405020304" pitchFamily="18" charset="0"/>
              </a:rPr>
              <a:t>的组成</a:t>
            </a:r>
          </a:p>
        </p:txBody>
      </p:sp>
      <p:sp>
        <p:nvSpPr>
          <p:cNvPr id="5" name="内容占位符 2">
            <a:extLst>
              <a:ext uri="{FF2B5EF4-FFF2-40B4-BE49-F238E27FC236}">
                <a16:creationId xmlns:a16="http://schemas.microsoft.com/office/drawing/2014/main" id="{EE6446C7-BEE0-6F46-967A-CAC5EAAB2EE3}"/>
              </a:ext>
            </a:extLst>
          </p:cNvPr>
          <p:cNvSpPr>
            <a:spLocks noGrp="1"/>
          </p:cNvSpPr>
          <p:nvPr>
            <p:ph idx="1"/>
          </p:nvPr>
        </p:nvSpPr>
        <p:spPr>
          <a:xfrm>
            <a:off x="228600" y="1447800"/>
            <a:ext cx="8763000" cy="2286000"/>
          </a:xfrm>
        </p:spPr>
        <p:txBody>
          <a:bodyPr/>
          <a:lstStyle/>
          <a:p>
            <a:pPr marL="342900" lvl="1" indent="-342900">
              <a:buClr>
                <a:srgbClr val="FF3300"/>
              </a:buClr>
              <a:buFont typeface="Wingdings" pitchFamily="2" charset="2"/>
              <a:buChar char="v"/>
              <a:defRPr/>
            </a:pPr>
            <a:endParaRPr lang="en-US" altLang="zh-CN" sz="3200" dirty="0">
              <a:cs typeface="+mn-cs"/>
            </a:endParaRPr>
          </a:p>
          <a:p>
            <a:pPr>
              <a:defRPr/>
            </a:pPr>
            <a:endParaRPr lang="en-US" altLang="zh-CN" dirty="0"/>
          </a:p>
          <a:p>
            <a:pPr>
              <a:buFont typeface="Wingdings" pitchFamily="2" charset="2"/>
              <a:buNone/>
              <a:defRPr/>
            </a:pPr>
            <a:endParaRPr lang="en-US" altLang="zh-CN" dirty="0"/>
          </a:p>
          <a:p>
            <a:pPr>
              <a:buFont typeface="Wingdings" pitchFamily="2" charset="2"/>
              <a:buNone/>
              <a:defRPr/>
            </a:pPr>
            <a:endParaRPr lang="zh-CN" altLang="en-US" dirty="0"/>
          </a:p>
        </p:txBody>
      </p:sp>
      <p:sp>
        <p:nvSpPr>
          <p:cNvPr id="6" name="内容占位符 2">
            <a:extLst>
              <a:ext uri="{FF2B5EF4-FFF2-40B4-BE49-F238E27FC236}">
                <a16:creationId xmlns:a16="http://schemas.microsoft.com/office/drawing/2014/main" id="{49EE490C-EDEC-DD4D-B602-7611CFC821CA}"/>
              </a:ext>
            </a:extLst>
          </p:cNvPr>
          <p:cNvSpPr txBox="1"/>
          <p:nvPr/>
        </p:nvSpPr>
        <p:spPr bwMode="auto">
          <a:xfrm>
            <a:off x="468313" y="1611313"/>
            <a:ext cx="8207375" cy="2173287"/>
          </a:xfrm>
          <a:prstGeom prst="rect">
            <a:avLst/>
          </a:prstGeom>
          <a:noFill/>
          <a:ln w="9525">
            <a:noFill/>
            <a:miter lim="800000"/>
          </a:ln>
          <a:effec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RBAC0: </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含有</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核心部分</a:t>
            </a:r>
            <a:endPar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RBAC1: </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包含</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RBAC0</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，另含角色继承关系</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(RH)</a:t>
            </a:r>
          </a:p>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RBAC2: </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包含</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RBAC0</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，另含限制</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(Constraints)</a:t>
            </a:r>
          </a:p>
          <a:p>
            <a:pPr lvl="1">
              <a:spcBef>
                <a:spcPct val="20000"/>
              </a:spcBef>
              <a:buClr>
                <a:schemeClr val="accent2"/>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RBAC3: </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包含所有层次内容，是一个完整模型</a:t>
            </a:r>
            <a:endParaRPr lang="en-US" altLang="zh-CN"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spcBef>
                <a:spcPct val="20000"/>
              </a:spcBef>
              <a:buClr>
                <a:srgbClr val="FF3300"/>
              </a:buClr>
              <a:buFont typeface="Wingdings" pitchFamily="2" charset="2"/>
              <a:buNone/>
              <a:defRPr/>
            </a:pPr>
            <a:endParaRPr lang="zh-CN" altLang="en-US" sz="3200" b="1">
              <a:solidFill>
                <a:srgbClr val="000099"/>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pic>
        <p:nvPicPr>
          <p:cNvPr id="82949" name="Picture 4">
            <a:extLst>
              <a:ext uri="{FF2B5EF4-FFF2-40B4-BE49-F238E27FC236}">
                <a16:creationId xmlns:a16="http://schemas.microsoft.com/office/drawing/2014/main" id="{3FFBEAE8-AEC2-7746-8ED5-4D8CA4417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3897313"/>
            <a:ext cx="4795838"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53" presetClass="entr" presetSubtype="16" fill="hold" nodeType="afterEffect">
                                  <p:stCondLst>
                                    <p:cond delay="0"/>
                                  </p:stCondLst>
                                  <p:childTnLst>
                                    <p:set>
                                      <p:cBhvr>
                                        <p:cTn id="11" dur="1" fill="hold">
                                          <p:stCondLst>
                                            <p:cond delay="0"/>
                                          </p:stCondLst>
                                        </p:cTn>
                                        <p:tgtEl>
                                          <p:spTgt spid="82949"/>
                                        </p:tgtEl>
                                        <p:attrNameLst>
                                          <p:attrName>style.visibility</p:attrName>
                                        </p:attrNameLst>
                                      </p:cBhvr>
                                      <p:to>
                                        <p:strVal val="visible"/>
                                      </p:to>
                                    </p:set>
                                    <p:anim calcmode="lin" valueType="num">
                                      <p:cBhvr>
                                        <p:cTn id="12" dur="500" fill="hold"/>
                                        <p:tgtEl>
                                          <p:spTgt spid="82949"/>
                                        </p:tgtEl>
                                        <p:attrNameLst>
                                          <p:attrName>ppt_w</p:attrName>
                                        </p:attrNameLst>
                                      </p:cBhvr>
                                      <p:tavLst>
                                        <p:tav tm="0">
                                          <p:val>
                                            <p:fltVal val="0"/>
                                          </p:val>
                                        </p:tav>
                                        <p:tav tm="100000">
                                          <p:val>
                                            <p:strVal val="#ppt_w"/>
                                          </p:val>
                                        </p:tav>
                                      </p:tavLst>
                                    </p:anim>
                                    <p:anim calcmode="lin" valueType="num">
                                      <p:cBhvr>
                                        <p:cTn id="13" dur="500" fill="hold"/>
                                        <p:tgtEl>
                                          <p:spTgt spid="82949"/>
                                        </p:tgtEl>
                                        <p:attrNameLst>
                                          <p:attrName>ppt_h</p:attrName>
                                        </p:attrNameLst>
                                      </p:cBhvr>
                                      <p:tavLst>
                                        <p:tav tm="0">
                                          <p:val>
                                            <p:fltVal val="0"/>
                                          </p:val>
                                        </p:tav>
                                        <p:tav tm="100000">
                                          <p:val>
                                            <p:strVal val="#ppt_h"/>
                                          </p:val>
                                        </p:tav>
                                      </p:tavLst>
                                    </p:anim>
                                    <p:animEffect transition="in" filter="fade">
                                      <p:cBhvr>
                                        <p:cTn id="14" dur="500"/>
                                        <p:tgtEl>
                                          <p:spTgt spid="8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6FFCC43-154E-4D46-8479-73BE88CDDB01}"/>
              </a:ext>
            </a:extLst>
          </p:cNvPr>
          <p:cNvSpPr/>
          <p:nvPr/>
        </p:nvSpPr>
        <p:spPr>
          <a:xfrm>
            <a:off x="503238" y="1466850"/>
            <a:ext cx="8367712" cy="830263"/>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accent2"/>
              </a:buClr>
              <a:buFont typeface="Wingdings" pitchFamily="2" charset="2"/>
              <a:buChar char="v"/>
              <a:defRPr/>
            </a:pP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RBAC0</a:t>
            </a:r>
            <a:r>
              <a:rPr lang="zh-CN"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与传统访问控制的差别在于</a:t>
            </a:r>
            <a:r>
              <a:rPr lang="zh-CN" altLang="zh-CN" sz="24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增加一层</a:t>
            </a:r>
            <a:r>
              <a:rPr lang="zh-CN"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间接性带来了灵活性。</a:t>
            </a:r>
            <a:endPar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2" name="矩形 1">
            <a:extLst>
              <a:ext uri="{FF2B5EF4-FFF2-40B4-BE49-F238E27FC236}">
                <a16:creationId xmlns:a16="http://schemas.microsoft.com/office/drawing/2014/main" id="{BE9AB62D-B078-A54C-B450-047CAE42E1C7}"/>
              </a:ext>
            </a:extLst>
          </p:cNvPr>
          <p:cNvSpPr/>
          <p:nvPr/>
        </p:nvSpPr>
        <p:spPr>
          <a:xfrm>
            <a:off x="503238" y="769938"/>
            <a:ext cx="1554162" cy="585787"/>
          </a:xfrm>
          <a:prstGeom prst="rect">
            <a:avLst/>
          </a:prstGeom>
          <a:noFill/>
          <a:ln>
            <a:noFill/>
          </a:ln>
        </p:spPr>
        <p:txBody>
          <a:bodyPr anchor="ctr"/>
          <a:lstStyle/>
          <a:p>
            <a:pPr>
              <a:buClr>
                <a:srgbClr val="3399FF"/>
              </a:buClr>
              <a:defRPr/>
            </a:pPr>
            <a:r>
              <a:rPr lang="en-US"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RBAC0</a:t>
            </a:r>
            <a:endParaRPr lang="zh-CN"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grpSp>
        <p:nvGrpSpPr>
          <p:cNvPr id="4" name="组合 3">
            <a:extLst>
              <a:ext uri="{FF2B5EF4-FFF2-40B4-BE49-F238E27FC236}">
                <a16:creationId xmlns:a16="http://schemas.microsoft.com/office/drawing/2014/main" id="{861998E9-9E2E-284F-98CA-F66BA4F2F9A3}"/>
              </a:ext>
            </a:extLst>
          </p:cNvPr>
          <p:cNvGrpSpPr>
            <a:grpSpLocks/>
          </p:cNvGrpSpPr>
          <p:nvPr/>
        </p:nvGrpSpPr>
        <p:grpSpPr bwMode="auto">
          <a:xfrm>
            <a:off x="1079500" y="2633663"/>
            <a:ext cx="6656388" cy="3614737"/>
            <a:chOff x="1079612" y="2633925"/>
            <a:chExt cx="6656533" cy="3614583"/>
          </a:xfrm>
        </p:grpSpPr>
        <p:pic>
          <p:nvPicPr>
            <p:cNvPr id="94214" name="图片 6" descr="http://hi.csdn.net/attachment/201103/7/0_1299481352b6kD.gif">
              <a:extLst>
                <a:ext uri="{FF2B5EF4-FFF2-40B4-BE49-F238E27FC236}">
                  <a16:creationId xmlns:a16="http://schemas.microsoft.com/office/drawing/2014/main" id="{505FDDC0-B27B-4342-B320-3D8B17F295EA}"/>
                </a:ext>
              </a:extLst>
            </p:cNvPr>
            <p:cNvPicPr>
              <a:picLocks noChangeAspect="1" noChangeArrowheads="1"/>
            </p:cNvPicPr>
            <p:nvPr/>
          </p:nvPicPr>
          <p:blipFill>
            <a:blip r:embed="rId2"/>
            <a:srcRect/>
            <a:stretch>
              <a:fillRect/>
            </a:stretch>
          </p:blipFill>
          <p:spPr bwMode="auto">
            <a:xfrm>
              <a:off x="1079612" y="2633925"/>
              <a:ext cx="6656533" cy="3168515"/>
            </a:xfrm>
            <a:prstGeom prst="rect">
              <a:avLst/>
            </a:prstGeom>
            <a:noFill/>
            <a:ln w="28575">
              <a:solidFill>
                <a:srgbClr val="000000"/>
              </a:solidFill>
              <a:miter lim="800000"/>
              <a:headEnd/>
              <a:tailEnd/>
            </a:ln>
            <a:effectLst>
              <a:outerShdw blurRad="50800" dist="38100" dir="5400000" algn="t" rotWithShape="0">
                <a:prstClr val="black">
                  <a:alpha val="40000"/>
                </a:prstClr>
              </a:outerShdw>
            </a:effectLst>
          </p:spPr>
        </p:pic>
        <p:sp>
          <p:nvSpPr>
            <p:cNvPr id="3" name="矩形 2">
              <a:extLst>
                <a:ext uri="{FF2B5EF4-FFF2-40B4-BE49-F238E27FC236}">
                  <a16:creationId xmlns:a16="http://schemas.microsoft.com/office/drawing/2014/main" id="{973DF85E-98FE-EA47-95B4-53CA0BBD61C0}"/>
                </a:ext>
              </a:extLst>
            </p:cNvPr>
            <p:cNvSpPr/>
            <p:nvPr/>
          </p:nvSpPr>
          <p:spPr>
            <a:xfrm>
              <a:off x="3572041" y="5848475"/>
              <a:ext cx="2074908" cy="400033"/>
            </a:xfrm>
            <a:prstGeom prst="rect">
              <a:avLst/>
            </a:prstGeom>
          </p:spPr>
          <p:txBody>
            <a:bodyPr wrap="none">
              <a:spAutoFit/>
            </a:bodyPr>
            <a:lstStyle/>
            <a:p>
              <a:pPr>
                <a:defRPr/>
              </a:pPr>
              <a:r>
                <a:rPr lang="en-US"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RBAC0</a:t>
              </a:r>
              <a:r>
                <a:rPr lang="zh-CN"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的模型图</a:t>
              </a:r>
              <a:endParaRPr lang="zh-CN" altLang="en-US" sz="2000">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987A42C-A35C-5F49-8D87-C58E326D9CB5}"/>
              </a:ext>
            </a:extLst>
          </p:cNvPr>
          <p:cNvSpPr/>
          <p:nvPr/>
        </p:nvSpPr>
        <p:spPr>
          <a:xfrm>
            <a:off x="250825" y="1557338"/>
            <a:ext cx="3168650" cy="4278312"/>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rgbClr val="0033CC"/>
              </a:buClr>
              <a:buFont typeface="Wingdings" pitchFamily="2" charset="2"/>
              <a:buChar char="u"/>
              <a:defRPr/>
            </a:pP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RBAC1</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引入</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角色间的继承关系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，角色间的继承关系可分为一般继承关系和受限继承关系。</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一般继承关系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仅要求角色继承关系是一个绝对偏序关系，允许角色间的多继承。</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受限继承关系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则进一步要求角色继承关系是一个树结构。</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角色继承时继承角色的所有操作权限。</a:t>
            </a:r>
          </a:p>
        </p:txBody>
      </p:sp>
      <p:grpSp>
        <p:nvGrpSpPr>
          <p:cNvPr id="7" name="组合 6">
            <a:extLst>
              <a:ext uri="{FF2B5EF4-FFF2-40B4-BE49-F238E27FC236}">
                <a16:creationId xmlns:a16="http://schemas.microsoft.com/office/drawing/2014/main" id="{814CCAA9-A739-8A47-B735-18EE3F3DC45F}"/>
              </a:ext>
            </a:extLst>
          </p:cNvPr>
          <p:cNvGrpSpPr>
            <a:grpSpLocks/>
          </p:cNvGrpSpPr>
          <p:nvPr/>
        </p:nvGrpSpPr>
        <p:grpSpPr bwMode="auto">
          <a:xfrm>
            <a:off x="3419475" y="1484313"/>
            <a:ext cx="5653088" cy="4551362"/>
            <a:chOff x="3418704" y="1484784"/>
            <a:chExt cx="5653796" cy="4550157"/>
          </a:xfrm>
        </p:grpSpPr>
        <p:pic>
          <p:nvPicPr>
            <p:cNvPr id="95238" name="图片 6" descr="http://hi.csdn.net/attachment/201103/7/0_12994813657XM9.gif">
              <a:extLst>
                <a:ext uri="{FF2B5EF4-FFF2-40B4-BE49-F238E27FC236}">
                  <a16:creationId xmlns:a16="http://schemas.microsoft.com/office/drawing/2014/main" id="{D4284435-E13D-134C-BE49-04C1DAA86A5C}"/>
                </a:ext>
              </a:extLst>
            </p:cNvPr>
            <p:cNvPicPr>
              <a:picLocks noChangeAspect="1" noChangeArrowheads="1"/>
            </p:cNvPicPr>
            <p:nvPr/>
          </p:nvPicPr>
          <p:blipFill>
            <a:blip r:embed="rId3"/>
            <a:srcRect/>
            <a:stretch>
              <a:fillRect/>
            </a:stretch>
          </p:blipFill>
          <p:spPr bwMode="auto">
            <a:xfrm>
              <a:off x="3418704" y="1484784"/>
              <a:ext cx="5653796" cy="4080381"/>
            </a:xfrm>
            <a:prstGeom prst="rect">
              <a:avLst/>
            </a:prstGeom>
          </p:spPr>
          <p:style>
            <a:lnRef idx="0">
              <a:schemeClr val="accent4"/>
            </a:lnRef>
            <a:fillRef idx="3">
              <a:schemeClr val="accent4"/>
            </a:fillRef>
            <a:effectRef idx="3">
              <a:schemeClr val="accent4"/>
            </a:effectRef>
            <a:fontRef idx="minor">
              <a:schemeClr val="lt1"/>
            </a:fontRef>
          </p:style>
        </p:pic>
        <p:sp>
          <p:nvSpPr>
            <p:cNvPr id="2" name="矩形 1">
              <a:extLst>
                <a:ext uri="{FF2B5EF4-FFF2-40B4-BE49-F238E27FC236}">
                  <a16:creationId xmlns:a16="http://schemas.microsoft.com/office/drawing/2014/main" id="{5CB51955-36D0-1C41-AAD3-3F46D6F1FDDC}"/>
                </a:ext>
              </a:extLst>
            </p:cNvPr>
            <p:cNvSpPr/>
            <p:nvPr/>
          </p:nvSpPr>
          <p:spPr>
            <a:xfrm>
              <a:off x="5579563" y="5634997"/>
              <a:ext cx="2175147" cy="399944"/>
            </a:xfrm>
            <a:prstGeom prst="rect">
              <a:avLst/>
            </a:prstGeom>
            <a:ln w="28575">
              <a:solidFill>
                <a:schemeClr val="bg1"/>
              </a:solidFill>
            </a:ln>
          </p:spPr>
          <p:txBody>
            <a:bodyPr>
              <a:spAutoFit/>
            </a:bodyPr>
            <a:lstStyle/>
            <a:p>
              <a:pPr>
                <a:defRPr/>
              </a:pPr>
              <a:r>
                <a:rPr lang="en-US"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RBAC1</a:t>
              </a:r>
              <a:r>
                <a:rPr lang="zh-CN"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模型图</a:t>
              </a:r>
              <a:endParaRPr lang="zh-CN" altLang="en-US"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sp>
        <p:nvSpPr>
          <p:cNvPr id="3" name="矩形 2">
            <a:extLst>
              <a:ext uri="{FF2B5EF4-FFF2-40B4-BE49-F238E27FC236}">
                <a16:creationId xmlns:a16="http://schemas.microsoft.com/office/drawing/2014/main" id="{26885D57-4749-FB4B-9630-73FED0446E3B}"/>
              </a:ext>
            </a:extLst>
          </p:cNvPr>
          <p:cNvSpPr/>
          <p:nvPr/>
        </p:nvSpPr>
        <p:spPr>
          <a:xfrm>
            <a:off x="395288" y="814388"/>
            <a:ext cx="1552575" cy="584200"/>
          </a:xfrm>
          <a:prstGeom prst="rect">
            <a:avLst/>
          </a:prstGeom>
          <a:noFill/>
          <a:ln>
            <a:noFill/>
          </a:ln>
        </p:spPr>
        <p:txBody>
          <a:bodyPr anchor="ctr"/>
          <a:lstStyle/>
          <a:p>
            <a:pPr>
              <a:buClr>
                <a:srgbClr val="3399FF"/>
              </a:buClr>
              <a:defRPr/>
            </a:pPr>
            <a:r>
              <a:rPr lang="en-US"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RBAC1</a:t>
            </a:r>
            <a:endParaRPr lang="zh-CN"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3945CB97-BBEC-194A-A176-562B05C576C8}"/>
              </a:ext>
            </a:extLst>
          </p:cNvPr>
          <p:cNvGrpSpPr>
            <a:grpSpLocks/>
          </p:cNvGrpSpPr>
          <p:nvPr/>
        </p:nvGrpSpPr>
        <p:grpSpPr bwMode="auto">
          <a:xfrm>
            <a:off x="0" y="1423988"/>
            <a:ext cx="5688013" cy="4244975"/>
            <a:chOff x="0" y="1424162"/>
            <a:chExt cx="5688124" cy="4244520"/>
          </a:xfrm>
        </p:grpSpPr>
        <p:pic>
          <p:nvPicPr>
            <p:cNvPr id="96262" name="图片 6" descr="http://hi.csdn.net/attachment/201103/7/0_1299481371E21U.gif">
              <a:extLst>
                <a:ext uri="{FF2B5EF4-FFF2-40B4-BE49-F238E27FC236}">
                  <a16:creationId xmlns:a16="http://schemas.microsoft.com/office/drawing/2014/main" id="{01D15EDA-88BF-D648-9CF2-BA3154458930}"/>
                </a:ext>
              </a:extLst>
            </p:cNvPr>
            <p:cNvPicPr>
              <a:picLocks noChangeAspect="1" noChangeArrowheads="1"/>
            </p:cNvPicPr>
            <p:nvPr/>
          </p:nvPicPr>
          <p:blipFill>
            <a:blip r:embed="rId2"/>
            <a:srcRect/>
            <a:stretch>
              <a:fillRect/>
            </a:stretch>
          </p:blipFill>
          <p:spPr bwMode="auto">
            <a:xfrm>
              <a:off x="0" y="1424162"/>
              <a:ext cx="5688124" cy="3844513"/>
            </a:xfrm>
            <a:prstGeom prst="rect">
              <a:avLst/>
            </a:prstGeom>
          </p:spPr>
          <p:style>
            <a:lnRef idx="0">
              <a:schemeClr val="accent2"/>
            </a:lnRef>
            <a:fillRef idx="3">
              <a:schemeClr val="accent2"/>
            </a:fillRef>
            <a:effectRef idx="3">
              <a:schemeClr val="accent2"/>
            </a:effectRef>
            <a:fontRef idx="minor">
              <a:schemeClr val="lt1"/>
            </a:fontRef>
          </p:style>
        </p:pic>
        <p:sp>
          <p:nvSpPr>
            <p:cNvPr id="2" name="矩形 1">
              <a:extLst>
                <a:ext uri="{FF2B5EF4-FFF2-40B4-BE49-F238E27FC236}">
                  <a16:creationId xmlns:a16="http://schemas.microsoft.com/office/drawing/2014/main" id="{768DA453-9604-6847-8BB8-BC9EC93D2384}"/>
                </a:ext>
              </a:extLst>
            </p:cNvPr>
            <p:cNvSpPr/>
            <p:nvPr/>
          </p:nvSpPr>
          <p:spPr>
            <a:xfrm>
              <a:off x="2016164" y="5268675"/>
              <a:ext cx="1816135" cy="400007"/>
            </a:xfrm>
            <a:prstGeom prst="rect">
              <a:avLst/>
            </a:prstGeom>
          </p:spPr>
          <p:txBody>
            <a:bodyPr>
              <a:spAutoFit/>
            </a:bodyPr>
            <a:lstStyle/>
            <a:p>
              <a:pPr>
                <a:defRPr/>
              </a:pPr>
              <a:r>
                <a:rPr lang="en-US"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RBAC2</a:t>
              </a:r>
              <a:r>
                <a:rPr lang="zh-CN"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模型图</a:t>
              </a:r>
              <a:endParaRPr lang="zh-CN" altLang="en-US"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sp>
        <p:nvSpPr>
          <p:cNvPr id="6" name="矩形 5">
            <a:extLst>
              <a:ext uri="{FF2B5EF4-FFF2-40B4-BE49-F238E27FC236}">
                <a16:creationId xmlns:a16="http://schemas.microsoft.com/office/drawing/2014/main" id="{841A3FE1-8521-B348-86D3-A666E1E64042}"/>
              </a:ext>
            </a:extLst>
          </p:cNvPr>
          <p:cNvSpPr/>
          <p:nvPr/>
        </p:nvSpPr>
        <p:spPr>
          <a:xfrm>
            <a:off x="5688013" y="1665288"/>
            <a:ext cx="3313112" cy="4278312"/>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rgbClr val="0033CC"/>
              </a:buClr>
              <a:buFont typeface="Wingdings" pitchFamily="2" charset="2"/>
              <a:buChar char="u"/>
              <a:defRPr/>
            </a:pP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模型中添加了</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责任分离关系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RBAC2</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的约束规定了权限被赋予角色时</a:t>
            </a:r>
            <a:r>
              <a:rPr lang="zh-CN" altLang="en-US"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或角色被赋予用户时</a:t>
            </a:r>
            <a:r>
              <a:rPr lang="zh-CN" altLang="en-US"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以及当用户在某一时刻激活一个角色时所应遵循的</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强制性规则</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责任分离包括</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静态责任分离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和</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动态责任分离</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20000"/>
              </a:spcBef>
              <a:buClr>
                <a:srgbClr val="0033CC"/>
              </a:buClr>
              <a:buFont typeface="Wingdings" pitchFamily="2" charset="2"/>
              <a:buChar char="u"/>
              <a:defRPr/>
            </a:pP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约束与用户</a:t>
            </a: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角色</a:t>
            </a: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权限关系一起决定了</a:t>
            </a: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RBAC2</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模型中用户的</a:t>
            </a:r>
            <a:r>
              <a:rPr lang="zh-CN" altLang="zh-CN"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访问许可</a:t>
            </a:r>
            <a:r>
              <a:rPr lang="zh-CN"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000" b="1">
                <a:effectLst>
                  <a:outerShdw blurRad="38100" dist="38100" dir="2700000" algn="tl">
                    <a:srgbClr val="C0C0C0"/>
                  </a:outerShdw>
                </a:effectLst>
                <a:latin typeface="Times New Roman" panose="02020603050405020304" pitchFamily="18" charset="0"/>
                <a:ea typeface="黑体" panose="02010609060101010101" pitchFamily="49" charset="-122"/>
              </a:rPr>
              <a:t> </a:t>
            </a:r>
            <a:endParaRPr lang="zh-CN" altLang="en-US" sz="2000" b="1">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3" name="矩形 2">
            <a:extLst>
              <a:ext uri="{FF2B5EF4-FFF2-40B4-BE49-F238E27FC236}">
                <a16:creationId xmlns:a16="http://schemas.microsoft.com/office/drawing/2014/main" id="{52F7B3E2-D211-0E4E-B75F-029DBD0C834E}"/>
              </a:ext>
            </a:extLst>
          </p:cNvPr>
          <p:cNvSpPr/>
          <p:nvPr/>
        </p:nvSpPr>
        <p:spPr>
          <a:xfrm>
            <a:off x="561975" y="765175"/>
            <a:ext cx="1554163" cy="584200"/>
          </a:xfrm>
          <a:prstGeom prst="rect">
            <a:avLst/>
          </a:prstGeom>
          <a:noFill/>
          <a:ln>
            <a:noFill/>
          </a:ln>
        </p:spPr>
        <p:txBody>
          <a:bodyPr anchor="ctr"/>
          <a:lstStyle/>
          <a:p>
            <a:pPr>
              <a:buClr>
                <a:srgbClr val="3399FF"/>
              </a:buClr>
              <a:defRPr/>
            </a:pPr>
            <a:r>
              <a:rPr lang="en-US"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RBAC2</a:t>
            </a:r>
            <a:endParaRPr lang="zh-CN"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00F765B-ED1C-7F4B-A728-24BC2D41BDE1}"/>
              </a:ext>
            </a:extLst>
          </p:cNvPr>
          <p:cNvSpPr/>
          <p:nvPr/>
        </p:nvSpPr>
        <p:spPr>
          <a:xfrm>
            <a:off x="539750" y="1362075"/>
            <a:ext cx="8101013" cy="830263"/>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accent2"/>
              </a:buClr>
              <a:buFont typeface="Wingdings" pitchFamily="2" charset="2"/>
              <a:buChar char="v"/>
              <a:defRPr/>
            </a:pPr>
            <a:r>
              <a:rPr lang="zh-CN"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包含了</a:t>
            </a:r>
            <a:r>
              <a:rPr lang="en-US"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RBAC1</a:t>
            </a:r>
            <a:r>
              <a:rPr lang="zh-CN"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和</a:t>
            </a:r>
            <a:r>
              <a:rPr lang="en-US"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RBAC2</a:t>
            </a:r>
            <a:r>
              <a:rPr lang="zh-CN"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，既提供了角色间的继承关系，</a:t>
            </a:r>
            <a:r>
              <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又</a:t>
            </a:r>
            <a:r>
              <a:rPr lang="zh-CN" altLang="zh-CN" sz="2400" b="1" dirty="0">
                <a:effectLst>
                  <a:outerShdw blurRad="38100" dist="38100" dir="2700000" algn="tl">
                    <a:srgbClr val="C0C0C0"/>
                  </a:outerShdw>
                </a:effectLst>
                <a:latin typeface="Times New Roman" panose="02020603050405020304" pitchFamily="18" charset="0"/>
                <a:ea typeface="黑体" panose="02010609060101010101" pitchFamily="49" charset="-122"/>
              </a:rPr>
              <a:t>提供了责任分离关系。</a:t>
            </a:r>
            <a:endParaRPr lang="zh-CN" altLang="en-US" sz="2400" b="1" dirty="0">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2" name="矩形 1">
            <a:extLst>
              <a:ext uri="{FF2B5EF4-FFF2-40B4-BE49-F238E27FC236}">
                <a16:creationId xmlns:a16="http://schemas.microsoft.com/office/drawing/2014/main" id="{C87285E0-40AA-484A-98E9-A1FC657FCA3B}"/>
              </a:ext>
            </a:extLst>
          </p:cNvPr>
          <p:cNvSpPr/>
          <p:nvPr/>
        </p:nvSpPr>
        <p:spPr>
          <a:xfrm>
            <a:off x="611188" y="722313"/>
            <a:ext cx="1554162" cy="584200"/>
          </a:xfrm>
          <a:prstGeom prst="rect">
            <a:avLst/>
          </a:prstGeom>
          <a:noFill/>
          <a:ln>
            <a:noFill/>
          </a:ln>
        </p:spPr>
        <p:txBody>
          <a:bodyPr anchor="ctr"/>
          <a:lstStyle/>
          <a:p>
            <a:pPr>
              <a:buClr>
                <a:srgbClr val="3399FF"/>
              </a:buClr>
              <a:defRPr/>
            </a:pPr>
            <a:r>
              <a:rPr lang="en-US"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RBAC3</a:t>
            </a:r>
            <a:endParaRPr lang="zh-CN" altLang="zh-CN" sz="3200" b="1" dirty="0">
              <a:solidFill>
                <a:srgbClr val="0033CC"/>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grpSp>
        <p:nvGrpSpPr>
          <p:cNvPr id="3" name="组合 2">
            <a:extLst>
              <a:ext uri="{FF2B5EF4-FFF2-40B4-BE49-F238E27FC236}">
                <a16:creationId xmlns:a16="http://schemas.microsoft.com/office/drawing/2014/main" id="{755D38CD-6A34-BD45-ACB2-C2A466BD1991}"/>
              </a:ext>
            </a:extLst>
          </p:cNvPr>
          <p:cNvGrpSpPr>
            <a:grpSpLocks/>
          </p:cNvGrpSpPr>
          <p:nvPr/>
        </p:nvGrpSpPr>
        <p:grpSpPr bwMode="auto">
          <a:xfrm>
            <a:off x="863600" y="2312988"/>
            <a:ext cx="7669213" cy="4033837"/>
            <a:chOff x="791580" y="2200491"/>
            <a:chExt cx="8087768" cy="4034713"/>
          </a:xfrm>
        </p:grpSpPr>
        <p:pic>
          <p:nvPicPr>
            <p:cNvPr id="97286" name="图片 7" descr="http://hi.csdn.net/attachment/201103/7/0_1299481377s5FX.gif">
              <a:extLst>
                <a:ext uri="{FF2B5EF4-FFF2-40B4-BE49-F238E27FC236}">
                  <a16:creationId xmlns:a16="http://schemas.microsoft.com/office/drawing/2014/main" id="{E3F448BC-ED8A-1F4B-8C39-12696E3D4E38}"/>
                </a:ext>
              </a:extLst>
            </p:cNvPr>
            <p:cNvPicPr>
              <a:picLocks noChangeAspect="1" noChangeArrowheads="1"/>
            </p:cNvPicPr>
            <p:nvPr/>
          </p:nvPicPr>
          <p:blipFill>
            <a:blip r:embed="rId2"/>
            <a:srcRect/>
            <a:stretch>
              <a:fillRect/>
            </a:stretch>
          </p:blipFill>
          <p:spPr bwMode="auto">
            <a:xfrm>
              <a:off x="791580" y="2200491"/>
              <a:ext cx="8087768" cy="3628225"/>
            </a:xfrm>
            <a:prstGeom prst="rect">
              <a:avLst/>
            </a:prstGeom>
          </p:spPr>
          <p:style>
            <a:lnRef idx="0">
              <a:schemeClr val="accent6"/>
            </a:lnRef>
            <a:fillRef idx="3">
              <a:schemeClr val="accent6"/>
            </a:fillRef>
            <a:effectRef idx="3">
              <a:schemeClr val="accent6"/>
            </a:effectRef>
            <a:fontRef idx="minor">
              <a:schemeClr val="lt1"/>
            </a:fontRef>
          </p:style>
        </p:pic>
        <p:sp>
          <p:nvSpPr>
            <p:cNvPr id="8" name="矩形 7">
              <a:extLst>
                <a:ext uri="{FF2B5EF4-FFF2-40B4-BE49-F238E27FC236}">
                  <a16:creationId xmlns:a16="http://schemas.microsoft.com/office/drawing/2014/main" id="{AE0A5977-8A28-1649-B752-2EAA1EFA43DF}"/>
                </a:ext>
              </a:extLst>
            </p:cNvPr>
            <p:cNvSpPr/>
            <p:nvPr/>
          </p:nvSpPr>
          <p:spPr>
            <a:xfrm>
              <a:off x="4067871" y="5835067"/>
              <a:ext cx="2191448" cy="400137"/>
            </a:xfrm>
            <a:prstGeom prst="rect">
              <a:avLst/>
            </a:prstGeom>
          </p:spPr>
          <p:txBody>
            <a:bodyPr>
              <a:spAutoFit/>
            </a:bodyPr>
            <a:lstStyle/>
            <a:p>
              <a:pPr>
                <a:defRPr/>
              </a:pPr>
              <a:r>
                <a:rPr lang="en-US"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RBAC3</a:t>
              </a:r>
              <a:r>
                <a:rPr lang="zh-CN" altLang="zh-CN"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rPr>
                <a:t>模型图</a:t>
              </a:r>
              <a:endParaRPr lang="zh-CN" altLang="en-US" sz="2000" b="1">
                <a:solidFill>
                  <a:srgbClr val="333333"/>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6E80BC-9785-387C-CD16-C01FB7500B91}"/>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DB62B28C-5A62-33F9-7782-9F6865CF48DA}"/>
              </a:ext>
            </a:extLst>
          </p:cNvPr>
          <p:cNvPicPr>
            <a:picLocks noGrp="1" noChangeAspect="1"/>
          </p:cNvPicPr>
          <p:nvPr>
            <p:ph idx="1"/>
          </p:nvPr>
        </p:nvPicPr>
        <p:blipFill>
          <a:blip r:embed="rId2"/>
          <a:stretch>
            <a:fillRect/>
          </a:stretch>
        </p:blipFill>
        <p:spPr bwMode="auto">
          <a:xfrm>
            <a:off x="71500" y="116631"/>
            <a:ext cx="8942940" cy="670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9B0F90BE-70A8-BA65-95E3-999410A12059}"/>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200236352"/>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E1A51E-5B13-872C-264B-75D533F90C9B}"/>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520E3A34-A657-EEBB-1CFE-AD58361C5853}"/>
              </a:ext>
            </a:extLst>
          </p:cNvPr>
          <p:cNvPicPr>
            <a:picLocks noGrp="1" noChangeAspect="1"/>
          </p:cNvPicPr>
          <p:nvPr>
            <p:ph idx="1"/>
          </p:nvPr>
        </p:nvPicPr>
        <p:blipFill>
          <a:blip r:embed="rId2"/>
          <a:stretch>
            <a:fillRect/>
          </a:stretch>
        </p:blipFill>
        <p:spPr bwMode="auto">
          <a:xfrm>
            <a:off x="179512" y="90486"/>
            <a:ext cx="8923919" cy="6722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05EC0236-D794-D75C-154B-2719B1C388FF}"/>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3398527211"/>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E2BC2-2076-AD43-3B2F-29BCB881F4F4}"/>
              </a:ext>
            </a:extLst>
          </p:cNvPr>
          <p:cNvSpPr>
            <a:spLocks noGrp="1"/>
          </p:cNvSpPr>
          <p:nvPr>
            <p:ph type="title"/>
          </p:nvPr>
        </p:nvSpPr>
        <p:spPr/>
        <p:txBody>
          <a:bodyPr/>
          <a:lstStyle/>
          <a:p>
            <a:endParaRPr lang="zh-CN" altLang="en-US"/>
          </a:p>
        </p:txBody>
      </p:sp>
      <p:pic>
        <p:nvPicPr>
          <p:cNvPr id="8" name="内容占位符 7">
            <a:extLst>
              <a:ext uri="{FF2B5EF4-FFF2-40B4-BE49-F238E27FC236}">
                <a16:creationId xmlns:a16="http://schemas.microsoft.com/office/drawing/2014/main" id="{9D03ACFB-3DF8-CAA4-8643-5D5B1C3A36A0}"/>
              </a:ext>
            </a:extLst>
          </p:cNvPr>
          <p:cNvPicPr>
            <a:picLocks noGrp="1" noChangeAspect="1"/>
          </p:cNvPicPr>
          <p:nvPr>
            <p:ph idx="1"/>
          </p:nvPr>
        </p:nvPicPr>
        <p:blipFill>
          <a:blip r:embed="rId2"/>
          <a:stretch>
            <a:fillRect/>
          </a:stretch>
        </p:blipFill>
        <p:spPr bwMode="auto">
          <a:xfrm>
            <a:off x="359532" y="0"/>
            <a:ext cx="8568952" cy="685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3AF5832E-9F07-E482-0B66-014C7D98A396}"/>
              </a:ext>
            </a:extLst>
          </p:cNvPr>
          <p:cNvSpPr>
            <a:spLocks noGrp="1"/>
          </p:cNvSpPr>
          <p:nvPr>
            <p:ph type="dt" sz="half" idx="11"/>
          </p:nvPr>
        </p:nvSpPr>
        <p:spPr/>
        <p:txBody>
          <a:bodyPr/>
          <a:lstStyle/>
          <a:p>
            <a:pPr>
              <a:defRPr/>
            </a:pPr>
            <a:endParaRPr lang="en-US" altLang="zh-CN"/>
          </a:p>
        </p:txBody>
      </p:sp>
      <p:sp>
        <p:nvSpPr>
          <p:cNvPr id="6" name="文本框 5">
            <a:extLst>
              <a:ext uri="{FF2B5EF4-FFF2-40B4-BE49-F238E27FC236}">
                <a16:creationId xmlns:a16="http://schemas.microsoft.com/office/drawing/2014/main" id="{09EAE1DC-E32A-CCBE-3902-412FD68F0F3B}"/>
              </a:ext>
            </a:extLst>
          </p:cNvPr>
          <p:cNvSpPr txBox="1"/>
          <p:nvPr/>
        </p:nvSpPr>
        <p:spPr>
          <a:xfrm>
            <a:off x="2286000" y="3240762"/>
            <a:ext cx="4572000" cy="369332"/>
          </a:xfrm>
          <a:prstGeom prst="rect">
            <a:avLst/>
          </a:prstGeom>
          <a:noFill/>
        </p:spPr>
        <p:txBody>
          <a:bodyPr wrap="square">
            <a:spAutoFit/>
          </a:bodyPr>
          <a:lstStyle/>
          <a:p>
            <a:endParaRPr lang="zh-CN" altLang="en-US" dirty="0"/>
          </a:p>
        </p:txBody>
      </p:sp>
    </p:spTree>
    <p:extLst>
      <p:ext uri="{BB962C8B-B14F-4D97-AF65-F5344CB8AC3E}">
        <p14:creationId xmlns:p14="http://schemas.microsoft.com/office/powerpoint/2010/main" val="2747414156"/>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C3094A2-E865-184D-B3AF-E19A23A1A858}"/>
              </a:ext>
            </a:extLst>
          </p:cNvPr>
          <p:cNvSpPr/>
          <p:nvPr/>
        </p:nvSpPr>
        <p:spPr>
          <a:xfrm>
            <a:off x="381000" y="889000"/>
            <a:ext cx="7116763" cy="584200"/>
          </a:xfrm>
          <a:prstGeom prst="rect">
            <a:avLst/>
          </a:prstGeom>
          <a:noFill/>
          <a:ln>
            <a:noFill/>
          </a:ln>
        </p:spPr>
        <p:txBody>
          <a:bodyPr anchor="ctr"/>
          <a:lstStyle/>
          <a:p>
            <a:pPr>
              <a:buClr>
                <a:srgbClr val="3399FF"/>
              </a:buClr>
              <a:defRPr/>
            </a:pPr>
            <a:r>
              <a:rPr lang="zh-CN"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一种对</a:t>
            </a:r>
            <a:r>
              <a:rPr lang="en-US"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RBAC</a:t>
            </a:r>
            <a:r>
              <a:rPr lang="zh-CN"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改进的访问控制权限模型</a:t>
            </a:r>
            <a:endParaRPr lang="zh-CN" altLang="en-US"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7" name="矩形 6">
            <a:extLst>
              <a:ext uri="{FF2B5EF4-FFF2-40B4-BE49-F238E27FC236}">
                <a16:creationId xmlns:a16="http://schemas.microsoft.com/office/drawing/2014/main" id="{05894C1C-1A39-3544-854E-729A99C4038C}"/>
              </a:ext>
            </a:extLst>
          </p:cNvPr>
          <p:cNvSpPr/>
          <p:nvPr/>
        </p:nvSpPr>
        <p:spPr>
          <a:xfrm>
            <a:off x="466725" y="2459038"/>
            <a:ext cx="8286750" cy="178435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rgbClr val="FF0000"/>
              </a:buClr>
              <a:buFont typeface="Wingdings" pitchFamily="2" charset="2"/>
              <a:buChar char="u"/>
              <a:defRPr/>
            </a:pPr>
            <a:r>
              <a:rPr lang="zh-CN" altLang="zh-CN" sz="2200" b="1">
                <a:solidFill>
                  <a:srgbClr val="333333"/>
                </a:solidFill>
                <a:effectLst>
                  <a:outerShdw blurRad="38100" dist="38100" dir="2700000" algn="tl">
                    <a:srgbClr val="C0C0C0"/>
                  </a:outerShdw>
                </a:effectLst>
                <a:latin typeface="Times New Roman" panose="02020603050405020304" pitchFamily="18" charset="0"/>
              </a:rPr>
              <a:t>然而某些情况下需要对</a:t>
            </a:r>
            <a:r>
              <a:rPr lang="zh-CN" altLang="zh-CN" sz="2200" b="1">
                <a:solidFill>
                  <a:srgbClr val="FF0000"/>
                </a:solidFill>
                <a:effectLst>
                  <a:outerShdw blurRad="38100" dist="38100" dir="2700000" algn="tl">
                    <a:srgbClr val="C0C0C0"/>
                  </a:outerShdw>
                </a:effectLst>
                <a:latin typeface="Times New Roman" panose="02020603050405020304" pitchFamily="18" charset="0"/>
              </a:rPr>
              <a:t>某个用户授予特殊的权限时</a:t>
            </a:r>
            <a:r>
              <a:rPr lang="zh-CN" altLang="zh-CN" sz="2200" b="1">
                <a:solidFill>
                  <a:srgbClr val="333333"/>
                </a:solidFill>
                <a:effectLst>
                  <a:outerShdw blurRad="38100" dist="38100" dir="2700000" algn="tl">
                    <a:srgbClr val="C0C0C0"/>
                  </a:outerShdw>
                </a:effectLst>
                <a:latin typeface="Times New Roman" panose="02020603050405020304" pitchFamily="18" charset="0"/>
              </a:rPr>
              <a:t>，</a:t>
            </a:r>
            <a:r>
              <a:rPr lang="en-US" altLang="zh-CN" sz="2200" b="1">
                <a:solidFill>
                  <a:srgbClr val="333333"/>
                </a:solidFill>
                <a:effectLst>
                  <a:outerShdw blurRad="38100" dist="38100" dir="2700000" algn="tl">
                    <a:srgbClr val="C0C0C0"/>
                  </a:outerShdw>
                </a:effectLst>
                <a:latin typeface="Times New Roman" panose="02020603050405020304" pitchFamily="18" charset="0"/>
              </a:rPr>
              <a:t>RBAC</a:t>
            </a:r>
            <a:r>
              <a:rPr lang="zh-CN" altLang="zh-CN" sz="2200" b="1">
                <a:solidFill>
                  <a:srgbClr val="333333"/>
                </a:solidFill>
                <a:effectLst>
                  <a:outerShdw blurRad="38100" dist="38100" dir="2700000" algn="tl">
                    <a:srgbClr val="C0C0C0"/>
                  </a:outerShdw>
                </a:effectLst>
                <a:latin typeface="Times New Roman" panose="02020603050405020304" pitchFamily="18" charset="0"/>
              </a:rPr>
              <a:t>就显得</a:t>
            </a:r>
            <a:r>
              <a:rPr lang="zh-CN" altLang="en-US" sz="2200" b="1">
                <a:solidFill>
                  <a:srgbClr val="333333"/>
                </a:solidFill>
                <a:effectLst>
                  <a:outerShdw blurRad="38100" dist="38100" dir="2700000" algn="tl">
                    <a:srgbClr val="C0C0C0"/>
                  </a:outerShdw>
                </a:effectLst>
                <a:latin typeface="Times New Roman" panose="02020603050405020304" pitchFamily="18" charset="0"/>
              </a:rPr>
              <a:t>有些</a:t>
            </a:r>
            <a:r>
              <a:rPr lang="zh-CN" altLang="zh-CN" sz="2200" b="1">
                <a:solidFill>
                  <a:srgbClr val="333333"/>
                </a:solidFill>
                <a:effectLst>
                  <a:outerShdw blurRad="38100" dist="38100" dir="2700000" algn="tl">
                    <a:srgbClr val="C0C0C0"/>
                  </a:outerShdw>
                </a:effectLst>
                <a:latin typeface="Times New Roman" panose="02020603050405020304" pitchFamily="18" charset="0"/>
              </a:rPr>
              <a:t>不够灵活，如果授予用户所拥有的某种角色，则拥有该角色的</a:t>
            </a:r>
            <a:r>
              <a:rPr lang="zh-CN" altLang="zh-CN" sz="2200" b="1">
                <a:solidFill>
                  <a:srgbClr val="0033CC"/>
                </a:solidFill>
                <a:effectLst>
                  <a:outerShdw blurRad="38100" dist="38100" dir="2700000" algn="tl">
                    <a:srgbClr val="C0C0C0"/>
                  </a:outerShdw>
                </a:effectLst>
                <a:latin typeface="Times New Roman" panose="02020603050405020304" pitchFamily="18" charset="0"/>
              </a:rPr>
              <a:t>所有用户都会拥有该权限或被授予角色的用户会拥有该角色的所有权限</a:t>
            </a:r>
            <a:r>
              <a:rPr lang="zh-CN" altLang="zh-CN" sz="2200" b="1">
                <a:solidFill>
                  <a:srgbClr val="333333"/>
                </a:solidFill>
                <a:effectLst>
                  <a:outerShdw blurRad="38100" dist="38100" dir="2700000" algn="tl">
                    <a:srgbClr val="C0C0C0"/>
                  </a:outerShdw>
                </a:effectLst>
                <a:latin typeface="Times New Roman" panose="02020603050405020304" pitchFamily="18" charset="0"/>
              </a:rPr>
              <a:t>，显然这不符合需求，如果为了实现这一需求而单独创建一个角色又显得不合常理</a:t>
            </a:r>
            <a:r>
              <a:rPr lang="zh-CN" altLang="en-US" sz="2200" b="1">
                <a:solidFill>
                  <a:srgbClr val="333333"/>
                </a:solidFill>
                <a:effectLst>
                  <a:outerShdw blurRad="38100" dist="38100" dir="2700000" algn="tl">
                    <a:srgbClr val="C0C0C0"/>
                  </a:outerShdw>
                </a:effectLst>
                <a:latin typeface="Times New Roman" panose="02020603050405020304" pitchFamily="18" charset="0"/>
              </a:rPr>
              <a:t>。</a:t>
            </a:r>
            <a:endParaRPr lang="en-US" altLang="zh-CN" sz="2200" b="1">
              <a:solidFill>
                <a:srgbClr val="333333"/>
              </a:solidFill>
              <a:effectLst>
                <a:outerShdw blurRad="38100" dist="38100" dir="2700000" algn="tl">
                  <a:srgbClr val="C0C0C0"/>
                </a:outerShdw>
              </a:effectLst>
              <a:latin typeface="Times New Roman" panose="02020603050405020304" pitchFamily="18" charset="0"/>
            </a:endParaRPr>
          </a:p>
        </p:txBody>
      </p:sp>
      <p:sp>
        <p:nvSpPr>
          <p:cNvPr id="2" name="矩形 1">
            <a:extLst>
              <a:ext uri="{FF2B5EF4-FFF2-40B4-BE49-F238E27FC236}">
                <a16:creationId xmlns:a16="http://schemas.microsoft.com/office/drawing/2014/main" id="{FACDE7C0-F1D5-6347-94FE-C604D7AAE693}"/>
              </a:ext>
            </a:extLst>
          </p:cNvPr>
          <p:cNvSpPr/>
          <p:nvPr/>
        </p:nvSpPr>
        <p:spPr>
          <a:xfrm>
            <a:off x="503238" y="1751013"/>
            <a:ext cx="8389937" cy="430212"/>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rgbClr val="FF0000"/>
              </a:buClr>
              <a:buFont typeface="Wingdings" pitchFamily="2" charset="2"/>
              <a:buChar char="u"/>
              <a:defRPr/>
            </a:pPr>
            <a:r>
              <a:rPr lang="en-US" altLang="zh-CN" sz="2200" b="1">
                <a:solidFill>
                  <a:srgbClr val="333333"/>
                </a:solidFill>
                <a:effectLst>
                  <a:outerShdw blurRad="38100" dist="38100" dir="2700000" algn="tl">
                    <a:srgbClr val="C0C0C0"/>
                  </a:outerShdw>
                </a:effectLst>
                <a:latin typeface="Times New Roman" panose="02020603050405020304" pitchFamily="18" charset="0"/>
              </a:rPr>
              <a:t>RBAC</a:t>
            </a:r>
            <a:r>
              <a:rPr lang="zh-CN" altLang="zh-CN" sz="2200" b="1">
                <a:solidFill>
                  <a:srgbClr val="333333"/>
                </a:solidFill>
                <a:effectLst>
                  <a:outerShdw blurRad="38100" dist="38100" dir="2700000" algn="tl">
                    <a:srgbClr val="C0C0C0"/>
                  </a:outerShdw>
                </a:effectLst>
                <a:latin typeface="Times New Roman" panose="02020603050405020304" pitchFamily="18" charset="0"/>
              </a:rPr>
              <a:t>是公认的解决大型企业的统一资源访问控制的有效方法。</a:t>
            </a:r>
            <a:endParaRPr lang="en-US" altLang="zh-CN" sz="2200" b="1">
              <a:solidFill>
                <a:srgbClr val="333333"/>
              </a:solidFill>
              <a:effectLst>
                <a:outerShdw blurRad="38100" dist="38100" dir="2700000" algn="tl">
                  <a:srgbClr val="C0C0C0"/>
                </a:outerShdw>
              </a:effectLst>
              <a:latin typeface="Times New Roman" panose="02020603050405020304" pitchFamily="18" charset="0"/>
            </a:endParaRPr>
          </a:p>
        </p:txBody>
      </p:sp>
      <p:sp>
        <p:nvSpPr>
          <p:cNvPr id="3" name="矩形 2">
            <a:extLst>
              <a:ext uri="{FF2B5EF4-FFF2-40B4-BE49-F238E27FC236}">
                <a16:creationId xmlns:a16="http://schemas.microsoft.com/office/drawing/2014/main" id="{3412FEF1-D056-704F-981F-4BDD5AB40FDB}"/>
              </a:ext>
            </a:extLst>
          </p:cNvPr>
          <p:cNvSpPr/>
          <p:nvPr/>
        </p:nvSpPr>
        <p:spPr>
          <a:xfrm>
            <a:off x="538163" y="4521200"/>
            <a:ext cx="8208962" cy="110807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rgbClr val="FF0000"/>
              </a:buClr>
              <a:buFont typeface="Wingdings" pitchFamily="2" charset="2"/>
              <a:buChar char="u"/>
              <a:defRPr/>
            </a:pPr>
            <a:r>
              <a:rPr lang="zh-CN" altLang="zh-CN" sz="2200" b="1">
                <a:solidFill>
                  <a:srgbClr val="333333"/>
                </a:solidFill>
                <a:effectLst>
                  <a:outerShdw blurRad="38100" dist="38100" dir="2700000" algn="tl">
                    <a:srgbClr val="C0C0C0"/>
                  </a:outerShdw>
                </a:effectLst>
                <a:latin typeface="Times New Roman" panose="02020603050405020304" pitchFamily="18" charset="0"/>
              </a:rPr>
              <a:t>改进的访问控制模型综合了</a:t>
            </a:r>
            <a:r>
              <a:rPr lang="en-US" altLang="zh-CN" sz="2200" b="1">
                <a:solidFill>
                  <a:srgbClr val="333333"/>
                </a:solidFill>
                <a:effectLst>
                  <a:outerShdw blurRad="38100" dist="38100" dir="2700000" algn="tl">
                    <a:srgbClr val="C0C0C0"/>
                  </a:outerShdw>
                </a:effectLst>
                <a:latin typeface="Times New Roman" panose="02020603050405020304" pitchFamily="18" charset="0"/>
              </a:rPr>
              <a:t>RBAC</a:t>
            </a:r>
            <a:r>
              <a:rPr lang="zh-CN" altLang="zh-CN" sz="2200" b="1">
                <a:solidFill>
                  <a:srgbClr val="333333"/>
                </a:solidFill>
                <a:effectLst>
                  <a:outerShdw blurRad="38100" dist="38100" dir="2700000" algn="tl">
                    <a:srgbClr val="C0C0C0"/>
                  </a:outerShdw>
                </a:effectLst>
                <a:latin typeface="Times New Roman" panose="02020603050405020304" pitchFamily="18" charset="0"/>
              </a:rPr>
              <a:t>的理论，结合企业需要单独对用户授予权限的需要，设计了</a:t>
            </a:r>
            <a:r>
              <a:rPr lang="zh-CN" altLang="zh-CN" sz="2200" b="1">
                <a:solidFill>
                  <a:srgbClr val="FF0000"/>
                </a:solidFill>
                <a:effectLst>
                  <a:outerShdw blurRad="38100" dist="38100" dir="2700000" algn="tl">
                    <a:srgbClr val="C0C0C0"/>
                  </a:outerShdw>
                </a:effectLst>
                <a:latin typeface="Times New Roman" panose="02020603050405020304" pitchFamily="18" charset="0"/>
              </a:rPr>
              <a:t>既可对角色授权又可对用户单独授权的访问控制模型</a:t>
            </a:r>
            <a:r>
              <a:rPr lang="zh-CN" altLang="en-US" sz="2200" b="1">
                <a:solidFill>
                  <a:srgbClr val="333333"/>
                </a:solidFill>
                <a:effectLst>
                  <a:outerShdw blurRad="38100" dist="38100" dir="2700000" algn="tl">
                    <a:srgbClr val="C0C0C0"/>
                  </a:outerShdw>
                </a:effectLst>
                <a:latin typeface="Times New Roman" panose="02020603050405020304" pitchFamily="18" charset="0"/>
              </a:rPr>
              <a:t>。</a:t>
            </a:r>
          </a:p>
        </p:txBody>
      </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7" descr="http://hi.csdn.net/attachment/201103/7/0_1299481383XBBx.gif">
            <a:extLst>
              <a:ext uri="{FF2B5EF4-FFF2-40B4-BE49-F238E27FC236}">
                <a16:creationId xmlns:a16="http://schemas.microsoft.com/office/drawing/2014/main" id="{FCBBF5F7-51B5-FF4B-AB19-71AC797A0EFB}"/>
              </a:ext>
            </a:extLst>
          </p:cNvPr>
          <p:cNvPicPr>
            <a:picLocks noChangeAspect="1" noChangeArrowheads="1"/>
          </p:cNvPicPr>
          <p:nvPr/>
        </p:nvPicPr>
        <p:blipFill>
          <a:blip r:embed="rId2"/>
          <a:srcRect/>
          <a:stretch>
            <a:fillRect/>
          </a:stretch>
        </p:blipFill>
        <p:spPr bwMode="auto">
          <a:xfrm>
            <a:off x="793750" y="1700213"/>
            <a:ext cx="7632700" cy="4321175"/>
          </a:xfrm>
          <a:prstGeom prst="rect">
            <a:avLst/>
          </a:prstGeom>
        </p:spPr>
        <p:style>
          <a:lnRef idx="0">
            <a:schemeClr val="accent2"/>
          </a:lnRef>
          <a:fillRef idx="3">
            <a:schemeClr val="accent2"/>
          </a:fillRef>
          <a:effectRef idx="3">
            <a:schemeClr val="accent2"/>
          </a:effectRef>
          <a:fontRef idx="minor">
            <a:schemeClr val="lt1"/>
          </a:fontRef>
        </p:style>
      </p:pic>
      <p:sp>
        <p:nvSpPr>
          <p:cNvPr id="7" name="矩形 6">
            <a:extLst>
              <a:ext uri="{FF2B5EF4-FFF2-40B4-BE49-F238E27FC236}">
                <a16:creationId xmlns:a16="http://schemas.microsoft.com/office/drawing/2014/main" id="{C1AD127C-615B-8E47-B53C-DFCFBC25A991}"/>
              </a:ext>
            </a:extLst>
          </p:cNvPr>
          <p:cNvSpPr/>
          <p:nvPr/>
        </p:nvSpPr>
        <p:spPr>
          <a:xfrm>
            <a:off x="468313" y="903288"/>
            <a:ext cx="7115175" cy="585787"/>
          </a:xfrm>
          <a:prstGeom prst="rect">
            <a:avLst/>
          </a:prstGeom>
          <a:noFill/>
          <a:ln>
            <a:noFill/>
          </a:ln>
        </p:spPr>
        <p:txBody>
          <a:bodyPr anchor="ctr"/>
          <a:lstStyle/>
          <a:p>
            <a:pPr>
              <a:buClr>
                <a:srgbClr val="3399FF"/>
              </a:buClr>
              <a:defRPr/>
            </a:pPr>
            <a:r>
              <a:rPr lang="zh-CN"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一种对</a:t>
            </a:r>
            <a:r>
              <a:rPr lang="en-US"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RBAC</a:t>
            </a:r>
            <a:r>
              <a:rPr lang="zh-CN" altLang="zh-CN"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改进的访问控制权限模型</a:t>
            </a:r>
            <a:endParaRPr lang="zh-CN" altLang="en-US" sz="3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ED1EEF08-FEA1-204D-89F2-CCBB3F4E1FA9}"/>
              </a:ext>
            </a:extLst>
          </p:cNvPr>
          <p:cNvSpPr>
            <a:spLocks noGrp="1"/>
          </p:cNvSpPr>
          <p:nvPr>
            <p:ph type="title"/>
          </p:nvPr>
        </p:nvSpPr>
        <p:spPr>
          <a:xfrm>
            <a:off x="755650" y="9080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总结：</a:t>
            </a:r>
            <a:r>
              <a:rPr lang="en-US" altLang="zh-CN">
                <a:solidFill>
                  <a:srgbClr val="0033CC"/>
                </a:solidFill>
                <a:effectLst>
                  <a:outerShdw blurRad="38100" dist="38100" dir="2700000" algn="tl">
                    <a:srgbClr val="C0C0C0"/>
                  </a:outerShdw>
                </a:effectLst>
                <a:latin typeface="Times New Roman" panose="02020603050405020304" pitchFamily="18" charset="0"/>
              </a:rPr>
              <a:t>RBAC</a:t>
            </a:r>
            <a:r>
              <a:rPr lang="zh-CN" altLang="en-US">
                <a:solidFill>
                  <a:srgbClr val="0033CC"/>
                </a:solidFill>
                <a:effectLst>
                  <a:outerShdw blurRad="38100" dist="38100" dir="2700000" algn="tl">
                    <a:srgbClr val="C0C0C0"/>
                  </a:outerShdw>
                </a:effectLst>
                <a:latin typeface="Times New Roman" panose="02020603050405020304" pitchFamily="18" charset="0"/>
              </a:rPr>
              <a:t>模型的特点</a:t>
            </a:r>
          </a:p>
        </p:txBody>
      </p:sp>
      <p:sp>
        <p:nvSpPr>
          <p:cNvPr id="6" name="内容占位符 2">
            <a:extLst>
              <a:ext uri="{FF2B5EF4-FFF2-40B4-BE49-F238E27FC236}">
                <a16:creationId xmlns:a16="http://schemas.microsoft.com/office/drawing/2014/main" id="{0D7EC9D6-D143-374C-B7C6-616D5019F5D9}"/>
              </a:ext>
            </a:extLst>
          </p:cNvPr>
          <p:cNvSpPr txBox="1"/>
          <p:nvPr/>
        </p:nvSpPr>
        <p:spPr bwMode="auto">
          <a:xfrm>
            <a:off x="431800" y="1773238"/>
            <a:ext cx="8424863" cy="3613150"/>
          </a:xfrm>
          <a:prstGeom prst="rect">
            <a:avLst/>
          </a:prstGeom>
          <a:noFill/>
          <a:ln w="9525">
            <a:no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342900" indent="-3429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accent2"/>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便于授权管理</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如系统管理员需要修改系统设置等内容时，必须有几个不同角色的用户到场方能操作，增强了安全性</a:t>
            </a:r>
          </a:p>
          <a:p>
            <a:pPr lvl="1" eaLnBrk="1" hangingPunct="1">
              <a:spcBef>
                <a:spcPct val="20000"/>
              </a:spcBef>
              <a:buClr>
                <a:schemeClr val="accent2"/>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便于处理工作分级</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如文件等资源分级管理</a:t>
            </a:r>
          </a:p>
          <a:p>
            <a:pPr lvl="1" eaLnBrk="1" hangingPunct="1">
              <a:spcBef>
                <a:spcPct val="20000"/>
              </a:spcBef>
              <a:buClr>
                <a:schemeClr val="accent2"/>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利用安全约束</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容易实现各种安全策略，如最小特权、职责分离等</a:t>
            </a:r>
          </a:p>
          <a:p>
            <a:pPr lvl="1" eaLnBrk="1" hangingPunct="1">
              <a:spcBef>
                <a:spcPct val="20000"/>
              </a:spcBef>
              <a:buClr>
                <a:schemeClr val="accent2"/>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便于任务分担</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不同角色完成不同的任务</a:t>
            </a:r>
            <a:endParaRPr lang="zh-CN" altLang="en-US" sz="2800" b="1">
              <a:solidFill>
                <a:srgbClr val="000099"/>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A92908DF-A909-8041-8198-87EDAF34CFB7}"/>
              </a:ext>
            </a:extLst>
          </p:cNvPr>
          <p:cNvSpPr>
            <a:spLocks noGrp="1"/>
          </p:cNvSpPr>
          <p:nvPr>
            <p:ph type="title"/>
          </p:nvPr>
        </p:nvSpPr>
        <p:spPr>
          <a:xfrm>
            <a:off x="576263" y="908050"/>
            <a:ext cx="6513512"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知识域：访问控制技术</a:t>
            </a:r>
          </a:p>
        </p:txBody>
      </p:sp>
      <p:sp>
        <p:nvSpPr>
          <p:cNvPr id="101379" name="内容占位符 2">
            <a:extLst>
              <a:ext uri="{FF2B5EF4-FFF2-40B4-BE49-F238E27FC236}">
                <a16:creationId xmlns:a16="http://schemas.microsoft.com/office/drawing/2014/main" id="{DA54C2B5-DE25-A240-8A05-062C931FC76E}"/>
              </a:ext>
            </a:extLst>
          </p:cNvPr>
          <p:cNvSpPr>
            <a:spLocks noGrp="1"/>
          </p:cNvSpPr>
          <p:nvPr>
            <p:ph idx="1"/>
          </p:nvPr>
        </p:nvSpPr>
        <p:spPr>
          <a:xfrm>
            <a:off x="468313" y="1665288"/>
            <a:ext cx="8191500" cy="1989137"/>
          </a:xfrm>
        </p:spPr>
        <p:txBody>
          <a:bodyPr/>
          <a:lstStyle/>
          <a:p>
            <a:pPr>
              <a:defRPr/>
            </a:pPr>
            <a:r>
              <a:rPr lang="zh-CN" altLang="zh-CN" b="1">
                <a:effectLst>
                  <a:outerShdw blurRad="38100" dist="38100" dir="2700000" algn="tl">
                    <a:srgbClr val="C0C0C0"/>
                  </a:outerShdw>
                </a:effectLst>
                <a:latin typeface="Times New Roman" panose="02020603050405020304" pitchFamily="18" charset="0"/>
              </a:rPr>
              <a:t>知识子域：典型访问控制方法和实现</a:t>
            </a:r>
          </a:p>
          <a:p>
            <a:pPr lvl="1">
              <a:defRPr/>
            </a:pPr>
            <a:r>
              <a:rPr lang="zh-CN" altLang="zh-CN" sz="2200" b="1">
                <a:effectLst>
                  <a:outerShdw blurRad="38100" dist="38100" dir="2700000" algn="tl">
                    <a:srgbClr val="C0C0C0"/>
                  </a:outerShdw>
                </a:effectLst>
                <a:latin typeface="Times New Roman" panose="02020603050405020304" pitchFamily="18" charset="0"/>
              </a:rPr>
              <a:t>理解集中访问控制的基本概念及其实现（</a:t>
            </a:r>
            <a:r>
              <a:rPr lang="en-US" altLang="zh-CN" sz="2200" b="1">
                <a:effectLst>
                  <a:outerShdw blurRad="38100" dist="38100" dir="2700000" algn="tl">
                    <a:srgbClr val="C0C0C0"/>
                  </a:outerShdw>
                </a:effectLst>
                <a:latin typeface="Times New Roman" panose="02020603050405020304" pitchFamily="18" charset="0"/>
              </a:rPr>
              <a:t>RADIUS</a:t>
            </a:r>
            <a:r>
              <a:rPr lang="zh-CN" altLang="zh-CN" sz="2200" b="1">
                <a:effectLst>
                  <a:outerShdw blurRad="38100" dist="38100" dir="2700000" algn="tl">
                    <a:srgbClr val="C0C0C0"/>
                  </a:outerShdw>
                </a:effectLst>
                <a:latin typeface="Times New Roman" panose="02020603050405020304" pitchFamily="18" charset="0"/>
              </a:rPr>
              <a:t>、</a:t>
            </a:r>
            <a:r>
              <a:rPr lang="en-US" altLang="zh-CN" sz="2200" b="1">
                <a:effectLst>
                  <a:outerShdw blurRad="38100" dist="38100" dir="2700000" algn="tl">
                    <a:srgbClr val="C0C0C0"/>
                  </a:outerShdw>
                </a:effectLst>
                <a:latin typeface="Times New Roman" panose="02020603050405020304" pitchFamily="18" charset="0"/>
              </a:rPr>
              <a:t>TACACS</a:t>
            </a:r>
            <a:r>
              <a:rPr lang="zh-CN" altLang="zh-CN" sz="2200" b="1">
                <a:effectLst>
                  <a:outerShdw blurRad="38100" dist="38100" dir="2700000" algn="tl">
                    <a:srgbClr val="C0C0C0"/>
                  </a:outerShdw>
                </a:effectLst>
                <a:latin typeface="Times New Roman" panose="02020603050405020304" pitchFamily="18" charset="0"/>
              </a:rPr>
              <a:t>、</a:t>
            </a:r>
            <a:r>
              <a:rPr lang="en-US" altLang="zh-CN" sz="2200" b="1">
                <a:effectLst>
                  <a:outerShdw blurRad="38100" dist="38100" dir="2700000" algn="tl">
                    <a:srgbClr val="C0C0C0"/>
                  </a:outerShdw>
                </a:effectLst>
                <a:latin typeface="Times New Roman" panose="02020603050405020304" pitchFamily="18" charset="0"/>
              </a:rPr>
              <a:t>TACACS+</a:t>
            </a:r>
            <a:r>
              <a:rPr lang="zh-CN" altLang="zh-CN" sz="2200" b="1">
                <a:effectLst>
                  <a:outerShdw blurRad="38100" dist="38100" dir="2700000" algn="tl">
                    <a:srgbClr val="C0C0C0"/>
                  </a:outerShdw>
                </a:effectLst>
                <a:latin typeface="Times New Roman" panose="02020603050405020304" pitchFamily="18" charset="0"/>
              </a:rPr>
              <a:t>和</a:t>
            </a:r>
            <a:r>
              <a:rPr lang="en-US" altLang="zh-CN" sz="2200" b="1">
                <a:effectLst>
                  <a:outerShdw blurRad="38100" dist="38100" dir="2700000" algn="tl">
                    <a:srgbClr val="C0C0C0"/>
                  </a:outerShdw>
                </a:effectLst>
                <a:latin typeface="Times New Roman" panose="02020603050405020304" pitchFamily="18" charset="0"/>
              </a:rPr>
              <a:t>Diameter</a:t>
            </a:r>
            <a:r>
              <a:rPr lang="zh-CN" altLang="zh-CN" sz="2200" b="1">
                <a:effectLst>
                  <a:outerShdw blurRad="38100" dist="38100" dir="2700000" algn="tl">
                    <a:srgbClr val="C0C0C0"/>
                  </a:outerShdw>
                </a:effectLst>
                <a:latin typeface="Times New Roman" panose="02020603050405020304" pitchFamily="18" charset="0"/>
              </a:rPr>
              <a:t>等）</a:t>
            </a:r>
          </a:p>
          <a:p>
            <a:pPr lvl="1">
              <a:defRPr/>
            </a:pPr>
            <a:r>
              <a:rPr lang="zh-CN" altLang="zh-CN" sz="2200" b="1">
                <a:effectLst>
                  <a:outerShdw blurRad="38100" dist="38100" dir="2700000" algn="tl">
                    <a:srgbClr val="C0C0C0"/>
                  </a:outerShdw>
                </a:effectLst>
                <a:latin typeface="Times New Roman" panose="02020603050405020304" pitchFamily="18" charset="0"/>
              </a:rPr>
              <a:t>理解非集中访问控制的基本概念及其实现（域等）</a:t>
            </a:r>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1A741CA0-9A12-0B44-AF1A-352AA4A8555F}"/>
              </a:ext>
            </a:extLst>
          </p:cNvPr>
          <p:cNvSpPr>
            <a:spLocks noGrp="1"/>
          </p:cNvSpPr>
          <p:nvPr>
            <p:ph type="title"/>
          </p:nvPr>
        </p:nvSpPr>
        <p:spPr>
          <a:xfrm>
            <a:off x="539750" y="7810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常用操作系统中的访问控制</a:t>
            </a:r>
          </a:p>
        </p:txBody>
      </p:sp>
      <p:sp>
        <p:nvSpPr>
          <p:cNvPr id="102405" name="矩形 5">
            <a:extLst>
              <a:ext uri="{FF2B5EF4-FFF2-40B4-BE49-F238E27FC236}">
                <a16:creationId xmlns:a16="http://schemas.microsoft.com/office/drawing/2014/main" id="{8E33E470-FF0A-3942-AC39-E2257B2A078D}"/>
              </a:ext>
            </a:extLst>
          </p:cNvPr>
          <p:cNvSpPr>
            <a:spLocks noChangeArrowheads="1"/>
          </p:cNvSpPr>
          <p:nvPr/>
        </p:nvSpPr>
        <p:spPr bwMode="auto">
          <a:xfrm>
            <a:off x="623888" y="1481138"/>
            <a:ext cx="2647950" cy="585787"/>
          </a:xfrm>
          <a:prstGeom prst="rect">
            <a:avLst/>
          </a:prstGeom>
          <a:noFill/>
          <a:ln>
            <a:noFill/>
          </a:ln>
        </p:spPr>
        <p:txBody>
          <a:bodyPr wrap="none">
            <a:spAutoFit/>
          </a:bodyPr>
          <a:lstStyle/>
          <a:p>
            <a:pPr eaLnBrk="1" hangingPunct="1">
              <a:defRPr/>
            </a:pPr>
            <a:r>
              <a:rPr lang="zh-CN" altLang="en-US" sz="32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国际安全标准</a:t>
            </a:r>
          </a:p>
        </p:txBody>
      </p:sp>
      <p:sp>
        <p:nvSpPr>
          <p:cNvPr id="7" name="Rectangle 3">
            <a:extLst>
              <a:ext uri="{FF2B5EF4-FFF2-40B4-BE49-F238E27FC236}">
                <a16:creationId xmlns:a16="http://schemas.microsoft.com/office/drawing/2014/main" id="{718F1B24-18F3-5C48-930F-A21960724AAF}"/>
              </a:ext>
            </a:extLst>
          </p:cNvPr>
          <p:cNvSpPr txBox="1">
            <a:spLocks noChangeArrowheads="1"/>
          </p:cNvSpPr>
          <p:nvPr/>
        </p:nvSpPr>
        <p:spPr bwMode="gray">
          <a:xfrm>
            <a:off x="595313" y="2384425"/>
            <a:ext cx="8064500" cy="3068638"/>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99FF"/>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1984</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年，美国国防部发布了</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可信计算机系统评估标准</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TCSEC</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），即桔皮书。</a:t>
            </a:r>
          </a:p>
          <a:p>
            <a:pPr eaLnBrk="1" hangingPunct="1">
              <a:lnSpc>
                <a:spcPct val="90000"/>
              </a:lnSpc>
              <a:spcBef>
                <a:spcPct val="20000"/>
              </a:spcBef>
              <a:buClr>
                <a:srgbClr val="3399FF"/>
              </a:buClr>
              <a:buFont typeface="Wingdings" pitchFamily="2" charset="2"/>
              <a:buChar char="v"/>
              <a:defRPr/>
            </a:pP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TCSEC</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采用等级评估的方法，将计算机安全分为</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B</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C</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D</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四个等级八个级别，</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D</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等安全级别最低，</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安全级别最高。</a:t>
            </a:r>
          </a:p>
          <a:p>
            <a:pPr eaLnBrk="1" hangingPunct="1">
              <a:lnSpc>
                <a:spcPct val="90000"/>
              </a:lnSpc>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现在大多数通用操作系统（</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Windows</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系列、</a:t>
            </a:r>
            <a:r>
              <a:rPr lang="en-US" altLang="zh-CN" sz="2800" b="1">
                <a:effectLst>
                  <a:outerShdw blurRad="38100" dist="38100" dir="2700000" algn="tl">
                    <a:srgbClr val="C0C0C0"/>
                  </a:outerShdw>
                </a:effectLst>
                <a:latin typeface="Times New Roman" panose="02020603050405020304" pitchFamily="18" charset="0"/>
                <a:ea typeface="黑体" panose="02010609060101010101" pitchFamily="49" charset="-122"/>
              </a:rPr>
              <a:t>Linux</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等）为</a:t>
            </a:r>
            <a:r>
              <a:rPr lang="en-US" altLang="zh-CN"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C2</a:t>
            </a: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级别</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，即控制访问保护级。</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2405"/>
                                        </p:tgtEl>
                                        <p:attrNameLst>
                                          <p:attrName>style.visibility</p:attrName>
                                        </p:attrNameLst>
                                      </p:cBhvr>
                                      <p:to>
                                        <p:strVal val="visible"/>
                                      </p:to>
                                    </p:set>
                                    <p:anim calcmode="lin" valueType="num">
                                      <p:cBhvr>
                                        <p:cTn id="7" dur="500" fill="hold"/>
                                        <p:tgtEl>
                                          <p:spTgt spid="102405"/>
                                        </p:tgtEl>
                                        <p:attrNameLst>
                                          <p:attrName>ppt_w</p:attrName>
                                        </p:attrNameLst>
                                      </p:cBhvr>
                                      <p:tavLst>
                                        <p:tav tm="0">
                                          <p:val>
                                            <p:fltVal val="0"/>
                                          </p:val>
                                        </p:tav>
                                        <p:tav tm="100000">
                                          <p:val>
                                            <p:strVal val="#ppt_w"/>
                                          </p:val>
                                        </p:tav>
                                      </p:tavLst>
                                    </p:anim>
                                    <p:anim calcmode="lin" valueType="num">
                                      <p:cBhvr>
                                        <p:cTn id="8" dur="500" fill="hold"/>
                                        <p:tgtEl>
                                          <p:spTgt spid="102405"/>
                                        </p:tgtEl>
                                        <p:attrNameLst>
                                          <p:attrName>ppt_h</p:attrName>
                                        </p:attrNameLst>
                                      </p:cBhvr>
                                      <p:tavLst>
                                        <p:tav tm="0">
                                          <p:val>
                                            <p:fltVal val="0"/>
                                          </p:val>
                                        </p:tav>
                                        <p:tav tm="100000">
                                          <p:val>
                                            <p:strVal val="#ppt_h"/>
                                          </p:val>
                                        </p:tav>
                                      </p:tavLst>
                                    </p:anim>
                                    <p:animEffect transition="in" filter="fade">
                                      <p:cBhvr>
                                        <p:cTn id="9" dur="500"/>
                                        <p:tgtEl>
                                          <p:spTgt spid="10240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p:bldP spid="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D7ADA271-6523-4B4B-B3AF-248B69654137}"/>
              </a:ext>
            </a:extLst>
          </p:cNvPr>
          <p:cNvSpPr>
            <a:spLocks noGrp="1"/>
          </p:cNvSpPr>
          <p:nvPr>
            <p:ph type="title"/>
          </p:nvPr>
        </p:nvSpPr>
        <p:spPr>
          <a:xfrm>
            <a:off x="558800" y="830263"/>
            <a:ext cx="6513513" cy="487362"/>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Windows (</a:t>
            </a: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
        <p:nvSpPr>
          <p:cNvPr id="6" name="Rectangle 3">
            <a:extLst>
              <a:ext uri="{FF2B5EF4-FFF2-40B4-BE49-F238E27FC236}">
                <a16:creationId xmlns:a16="http://schemas.microsoft.com/office/drawing/2014/main" id="{5D271880-7C53-8D49-8B92-4AEDF9C0BBA3}"/>
              </a:ext>
            </a:extLst>
          </p:cNvPr>
          <p:cNvSpPr txBox="1">
            <a:spLocks noChangeArrowheads="1"/>
          </p:cNvSpPr>
          <p:nvPr/>
        </p:nvSpPr>
        <p:spPr bwMode="gray">
          <a:xfrm>
            <a:off x="668338" y="1517650"/>
            <a:ext cx="7772400" cy="530225"/>
          </a:xfrm>
          <a:prstGeom prst="rect">
            <a:avLst/>
          </a:prstGeom>
          <a:noFill/>
          <a:ln w="9525">
            <a:noFill/>
            <a:miter lim="800000"/>
          </a:ln>
        </p:spPr>
        <p:txBody>
          <a:bodyPr/>
          <a:lstStyle/>
          <a:p>
            <a:pPr marL="342900" indent="-342900" eaLnBrk="1" hangingPunct="1">
              <a:spcBef>
                <a:spcPct val="20000"/>
              </a:spcBef>
              <a:buClr>
                <a:srgbClr val="3399FF"/>
              </a:buClr>
              <a:buFont typeface="Wingdings" panose="05000000000000000000" pitchFamily="2" charset="2"/>
              <a:buChar char="v"/>
              <a:defRPr/>
            </a:pPr>
            <a:r>
              <a:rPr lang="en-US" altLang="zh-CN" sz="2800" b="1" kern="0"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Windows</a:t>
            </a:r>
            <a:r>
              <a:rPr lang="zh-CN" altLang="en-US" sz="2800" b="1" kern="0"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安全模型</a:t>
            </a:r>
          </a:p>
        </p:txBody>
      </p:sp>
      <p:grpSp>
        <p:nvGrpSpPr>
          <p:cNvPr id="2" name="组合 1">
            <a:extLst>
              <a:ext uri="{FF2B5EF4-FFF2-40B4-BE49-F238E27FC236}">
                <a16:creationId xmlns:a16="http://schemas.microsoft.com/office/drawing/2014/main" id="{CEEA6BBA-BDCC-8C4D-A61E-1B0685B0F670}"/>
              </a:ext>
            </a:extLst>
          </p:cNvPr>
          <p:cNvGrpSpPr>
            <a:grpSpLocks/>
          </p:cNvGrpSpPr>
          <p:nvPr/>
        </p:nvGrpSpPr>
        <p:grpSpPr bwMode="auto">
          <a:xfrm>
            <a:off x="295275" y="2305050"/>
            <a:ext cx="8637588" cy="3744913"/>
            <a:chOff x="295697" y="2304894"/>
            <a:chExt cx="8636679" cy="3745590"/>
          </a:xfrm>
        </p:grpSpPr>
        <p:pic>
          <p:nvPicPr>
            <p:cNvPr id="150532" name="Picture 19" descr="003236_04_03">
              <a:extLst>
                <a:ext uri="{FF2B5EF4-FFF2-40B4-BE49-F238E27FC236}">
                  <a16:creationId xmlns:a16="http://schemas.microsoft.com/office/drawing/2014/main" id="{26DDFEA9-06C3-CE48-8688-5AB2F1592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348880"/>
              <a:ext cx="6170314" cy="3701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1" name="Rectangle 20">
              <a:extLst>
                <a:ext uri="{FF2B5EF4-FFF2-40B4-BE49-F238E27FC236}">
                  <a16:creationId xmlns:a16="http://schemas.microsoft.com/office/drawing/2014/main" id="{9036094B-AAA6-FA41-AD29-B4E0675AD88C}"/>
                </a:ext>
              </a:extLst>
            </p:cNvPr>
            <p:cNvSpPr>
              <a:spLocks noChangeArrowheads="1"/>
            </p:cNvSpPr>
            <p:nvPr/>
          </p:nvSpPr>
          <p:spPr bwMode="auto">
            <a:xfrm>
              <a:off x="295697" y="2671673"/>
              <a:ext cx="2827040" cy="369954"/>
            </a:xfrm>
            <a:prstGeom prst="rect">
              <a:avLst/>
            </a:prstGeom>
            <a:noFill/>
            <a:ln>
              <a:noFill/>
            </a:ln>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kumimoji="1" lang="en-US" altLang="zh-CN" sz="18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Security Account Manager</a:t>
              </a:r>
            </a:p>
          </p:txBody>
        </p:sp>
        <p:sp>
          <p:nvSpPr>
            <p:cNvPr id="103432" name="Rectangle 21">
              <a:extLst>
                <a:ext uri="{FF2B5EF4-FFF2-40B4-BE49-F238E27FC236}">
                  <a16:creationId xmlns:a16="http://schemas.microsoft.com/office/drawing/2014/main" id="{8A4A219E-D522-7F44-8FEE-845DD23AB0C3}"/>
                </a:ext>
              </a:extLst>
            </p:cNvPr>
            <p:cNvSpPr>
              <a:spLocks noChangeArrowheads="1"/>
            </p:cNvSpPr>
            <p:nvPr/>
          </p:nvSpPr>
          <p:spPr bwMode="auto">
            <a:xfrm>
              <a:off x="5579929" y="2304894"/>
              <a:ext cx="3352447" cy="369955"/>
            </a:xfrm>
            <a:prstGeom prst="rect">
              <a:avLst/>
            </a:prstGeom>
            <a:noFill/>
            <a:ln>
              <a:noFill/>
            </a:ln>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kumimoji="1" lang="en-US" altLang="zh-CN" sz="18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Local Security Authority (LSA) </a:t>
              </a:r>
            </a:p>
          </p:txBody>
        </p:sp>
        <p:sp>
          <p:nvSpPr>
            <p:cNvPr id="103433" name="Rectangle 23">
              <a:extLst>
                <a:ext uri="{FF2B5EF4-FFF2-40B4-BE49-F238E27FC236}">
                  <a16:creationId xmlns:a16="http://schemas.microsoft.com/office/drawing/2014/main" id="{FE8AFD41-893E-4F41-B37E-E45E831AE66D}"/>
                </a:ext>
              </a:extLst>
            </p:cNvPr>
            <p:cNvSpPr>
              <a:spLocks noChangeArrowheads="1"/>
            </p:cNvSpPr>
            <p:nvPr/>
          </p:nvSpPr>
          <p:spPr bwMode="auto">
            <a:xfrm>
              <a:off x="5471990" y="5228010"/>
              <a:ext cx="2925454" cy="369954"/>
            </a:xfrm>
            <a:prstGeom prst="rect">
              <a:avLst/>
            </a:prstGeom>
            <a:noFill/>
            <a:ln>
              <a:noFill/>
            </a:ln>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defRPr/>
              </a:pPr>
              <a:r>
                <a:rPr kumimoji="1" lang="en-US" altLang="zh-CN" sz="1800" b="1" dirty="0">
                  <a:solidFill>
                    <a:srgbClr val="0033C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Security Reference Monitor</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384306E0-5B1B-AC4F-8626-A6BDE860FDEB}"/>
              </a:ext>
            </a:extLst>
          </p:cNvPr>
          <p:cNvSpPr>
            <a:spLocks noGrp="1"/>
          </p:cNvSpPr>
          <p:nvPr>
            <p:ph type="title"/>
          </p:nvPr>
        </p:nvSpPr>
        <p:spPr>
          <a:xfrm>
            <a:off x="381000" y="800100"/>
            <a:ext cx="6513513"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Windows (</a:t>
            </a: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
        <p:nvSpPr>
          <p:cNvPr id="6" name="Rectangle 3">
            <a:extLst>
              <a:ext uri="{FF2B5EF4-FFF2-40B4-BE49-F238E27FC236}">
                <a16:creationId xmlns:a16="http://schemas.microsoft.com/office/drawing/2014/main" id="{F1548B71-4F31-D746-BE29-AED43F242740}"/>
              </a:ext>
            </a:extLst>
          </p:cNvPr>
          <p:cNvSpPr txBox="1">
            <a:spLocks noChangeArrowheads="1"/>
          </p:cNvSpPr>
          <p:nvPr/>
        </p:nvSpPr>
        <p:spPr bwMode="gray">
          <a:xfrm>
            <a:off x="647700" y="2109788"/>
            <a:ext cx="7772400" cy="358775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组成部件：</a:t>
            </a:r>
          </a:p>
          <a:p>
            <a:pPr lvl="1" eaLnBrk="1" hangingPunct="1">
              <a:lnSpc>
                <a:spcPct val="90000"/>
              </a:lnSpc>
              <a:spcBef>
                <a:spcPct val="20000"/>
              </a:spcBef>
              <a:buClr>
                <a:srgbClr val="FF9900"/>
              </a:buClr>
              <a:buFont typeface="Wingdings" pitchFamily="2" charset="2"/>
              <a:buChar char="§"/>
              <a:defRPr/>
            </a:pPr>
            <a:r>
              <a:rPr lang="zh-CN" altLang="en-US" sz="24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安全标识：</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帐号的唯一对应。</a:t>
            </a:r>
          </a:p>
          <a:p>
            <a:pPr lvl="1" eaLnBrk="1" hangingPunct="1">
              <a:lnSpc>
                <a:spcPct val="90000"/>
              </a:lnSpc>
              <a:spcBef>
                <a:spcPct val="20000"/>
              </a:spcBef>
              <a:buClr>
                <a:srgbClr val="FF9900"/>
              </a:buClr>
              <a:buFont typeface="Wingdings" pitchFamily="2" charset="2"/>
              <a:buChar char="§"/>
              <a:defRPr/>
            </a:pPr>
            <a:r>
              <a:rPr lang="zh-CN" altLang="en-US" sz="24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访问令牌：</a:t>
            </a: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LSA</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为用户构造的，包括用户名、所在组名、安全标识等。</a:t>
            </a:r>
          </a:p>
          <a:p>
            <a:pPr lvl="1" eaLnBrk="1" hangingPunct="1">
              <a:lnSpc>
                <a:spcPct val="90000"/>
              </a:lnSpc>
              <a:spcBef>
                <a:spcPct val="20000"/>
              </a:spcBef>
              <a:buClr>
                <a:srgbClr val="FF9900"/>
              </a:buClr>
              <a:buFont typeface="Wingdings" pitchFamily="2" charset="2"/>
              <a:buChar char="§"/>
              <a:defRPr/>
            </a:pPr>
            <a:r>
              <a:rPr lang="zh-CN" altLang="en-US" sz="24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主体：</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操作和令牌。</a:t>
            </a:r>
          </a:p>
          <a:p>
            <a:pPr lvl="1" eaLnBrk="1" hangingPunct="1">
              <a:lnSpc>
                <a:spcPct val="90000"/>
              </a:lnSpc>
              <a:spcBef>
                <a:spcPct val="20000"/>
              </a:spcBef>
              <a:buClr>
                <a:srgbClr val="FF9900"/>
              </a:buClr>
              <a:buFont typeface="Wingdings" pitchFamily="2" charset="2"/>
              <a:buChar char="§"/>
              <a:defRPr/>
            </a:pPr>
            <a:r>
              <a:rPr lang="zh-CN" altLang="en-US" sz="24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对象、资源、共享资源</a:t>
            </a:r>
          </a:p>
          <a:p>
            <a:pPr lvl="1" eaLnBrk="1" hangingPunct="1">
              <a:lnSpc>
                <a:spcPct val="90000"/>
              </a:lnSpc>
              <a:spcBef>
                <a:spcPct val="20000"/>
              </a:spcBef>
              <a:buClr>
                <a:srgbClr val="FF9900"/>
              </a:buClr>
              <a:buFont typeface="Wingdings" pitchFamily="2" charset="2"/>
              <a:buChar char="§"/>
              <a:defRPr/>
            </a:pPr>
            <a:r>
              <a:rPr lang="zh-CN" altLang="en-US" sz="24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安全描述符：</a:t>
            </a:r>
            <a:r>
              <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rPr>
              <a:t>为共享资源创建的一组安全属性</a:t>
            </a:r>
          </a:p>
          <a:p>
            <a:pPr lvl="2" eaLnBrk="1" hangingPunct="1">
              <a:lnSpc>
                <a:spcPct val="90000"/>
              </a:lnSpc>
              <a:spcBef>
                <a:spcPct val="20000"/>
              </a:spcBef>
              <a:buClr>
                <a:schemeClr val="accent2"/>
              </a:buClr>
              <a:buFontTx/>
              <a:buChar char="•"/>
              <a:defRPr/>
            </a:pPr>
            <a:r>
              <a:rPr lang="zh-CN" altLang="en-US" sz="2000" b="1">
                <a:effectLst>
                  <a:outerShdw blurRad="38100" dist="38100" dir="2700000" algn="tl">
                    <a:srgbClr val="C0C0C0"/>
                  </a:outerShdw>
                </a:effectLst>
                <a:latin typeface="Times New Roman" panose="02020603050405020304" pitchFamily="18" charset="0"/>
                <a:ea typeface="黑体" panose="02010609060101010101" pitchFamily="49" charset="-122"/>
              </a:rPr>
              <a:t>所有者安全标识、组安全标识、</a:t>
            </a:r>
            <a:r>
              <a:rPr lang="zh-CN" altLang="en-US" sz="20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自主访问控制表</a:t>
            </a:r>
            <a:r>
              <a:rPr lang="zh-CN" altLang="en-US" sz="2000" b="1">
                <a:effectLst>
                  <a:outerShdw blurRad="38100" dist="38100" dir="2700000" algn="tl">
                    <a:srgbClr val="C0C0C0"/>
                  </a:outerShdw>
                </a:effectLst>
                <a:latin typeface="Times New Roman" panose="02020603050405020304" pitchFamily="18" charset="0"/>
                <a:ea typeface="黑体" panose="02010609060101010101" pitchFamily="49" charset="-122"/>
              </a:rPr>
              <a:t>、系统访问控制表、访问控制项。</a:t>
            </a:r>
          </a:p>
        </p:txBody>
      </p:sp>
      <p:sp>
        <p:nvSpPr>
          <p:cNvPr id="2" name="矩形 1">
            <a:extLst>
              <a:ext uri="{FF2B5EF4-FFF2-40B4-BE49-F238E27FC236}">
                <a16:creationId xmlns:a16="http://schemas.microsoft.com/office/drawing/2014/main" id="{F8C42528-53BC-8D42-AF63-D3CE8EBF7FA7}"/>
              </a:ext>
            </a:extLst>
          </p:cNvPr>
          <p:cNvSpPr/>
          <p:nvPr/>
        </p:nvSpPr>
        <p:spPr>
          <a:xfrm>
            <a:off x="647700" y="1466850"/>
            <a:ext cx="2347913" cy="479425"/>
          </a:xfrm>
          <a:prstGeom prst="rect">
            <a:avLst/>
          </a:prstGeom>
        </p:spPr>
        <p:txBody>
          <a:bodyPr wrap="none">
            <a:spAutoFit/>
          </a:bodyPr>
          <a:lstStyle/>
          <a:p>
            <a:pPr eaLnBrk="1" hangingPunct="1">
              <a:lnSpc>
                <a:spcPct val="90000"/>
              </a:lnSpc>
              <a:spcBef>
                <a:spcPct val="20000"/>
              </a:spcBef>
              <a:buClr>
                <a:srgbClr val="3399FF"/>
              </a:buClr>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访问控制过程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68B9CDF-BB8B-7643-8002-81200681E8F6}"/>
              </a:ext>
            </a:extLst>
          </p:cNvPr>
          <p:cNvSpPr txBox="1">
            <a:spLocks noChangeArrowheads="1"/>
          </p:cNvSpPr>
          <p:nvPr/>
        </p:nvSpPr>
        <p:spPr bwMode="gray">
          <a:xfrm>
            <a:off x="723900" y="1700213"/>
            <a:ext cx="7772400" cy="411480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登录过程</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服务器为工作站返回安全标识，服务器为本次登录生成访问令牌</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用户创建进程</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时，用户的访问令牌复制为进程的访问令牌。</a:t>
            </a:r>
          </a:p>
          <a:p>
            <a:pPr lvl="1" eaLnBrk="1" hangingPunct="1">
              <a:spcBef>
                <a:spcPct val="20000"/>
              </a:spcBef>
              <a:buClr>
                <a:srgbClr val="FF9900"/>
              </a:buClr>
              <a:buFont typeface="Wingdings" pitchFamily="2" charset="2"/>
              <a:buChar char="§"/>
              <a:defRPr/>
            </a:pP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P</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进程访问对象时，</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SRM</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将进程访问令牌与对象的自主访问控制表进行比较，决定是否有权访问对象。</a:t>
            </a:r>
          </a:p>
        </p:txBody>
      </p:sp>
      <p:sp>
        <p:nvSpPr>
          <p:cNvPr id="7" name="标题 1">
            <a:extLst>
              <a:ext uri="{FF2B5EF4-FFF2-40B4-BE49-F238E27FC236}">
                <a16:creationId xmlns:a16="http://schemas.microsoft.com/office/drawing/2014/main" id="{44B744CE-A194-3F4C-AB5B-73FCAB5750B2}"/>
              </a:ext>
            </a:extLst>
          </p:cNvPr>
          <p:cNvSpPr>
            <a:spLocks noGrp="1"/>
          </p:cNvSpPr>
          <p:nvPr>
            <p:ph type="title"/>
          </p:nvPr>
        </p:nvSpPr>
        <p:spPr>
          <a:xfrm>
            <a:off x="381000" y="800100"/>
            <a:ext cx="6513513"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Windows (</a:t>
            </a: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ED511-F87C-2211-2778-766A620B427E}"/>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13345B12-C271-F40B-C035-114C022F28DF}"/>
              </a:ext>
            </a:extLst>
          </p:cNvPr>
          <p:cNvPicPr>
            <a:picLocks noGrp="1" noChangeAspect="1"/>
          </p:cNvPicPr>
          <p:nvPr>
            <p:ph idx="1"/>
          </p:nvPr>
        </p:nvPicPr>
        <p:blipFill>
          <a:blip r:embed="rId2"/>
          <a:stretch>
            <a:fillRect/>
          </a:stretch>
        </p:blipFill>
        <p:spPr bwMode="auto">
          <a:xfrm>
            <a:off x="112070" y="98152"/>
            <a:ext cx="9031930" cy="6669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a:extLst>
              <a:ext uri="{FF2B5EF4-FFF2-40B4-BE49-F238E27FC236}">
                <a16:creationId xmlns:a16="http://schemas.microsoft.com/office/drawing/2014/main" id="{91CB0370-0502-DD27-506E-AA570E6C28EF}"/>
              </a:ext>
            </a:extLst>
          </p:cNvPr>
          <p:cNvSpPr>
            <a:spLocks noGrp="1"/>
          </p:cNvSpPr>
          <p:nvPr>
            <p:ph type="dt" sz="half" idx="11"/>
          </p:nvPr>
        </p:nvSpPr>
        <p:spPr/>
        <p:txBody>
          <a:bodyPr/>
          <a:lstStyle/>
          <a:p>
            <a:pPr>
              <a:defRPr/>
            </a:pPr>
            <a:endParaRPr lang="en-US" altLang="zh-CN"/>
          </a:p>
        </p:txBody>
      </p:sp>
    </p:spTree>
    <p:extLst>
      <p:ext uri="{BB962C8B-B14F-4D97-AF65-F5344CB8AC3E}">
        <p14:creationId xmlns:p14="http://schemas.microsoft.com/office/powerpoint/2010/main" val="238167993"/>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D071B5A2-6162-F745-8B12-679B90A5D7D7}"/>
              </a:ext>
            </a:extLst>
          </p:cNvPr>
          <p:cNvSpPr txBox="1">
            <a:spLocks noChangeArrowheads="1"/>
          </p:cNvSpPr>
          <p:nvPr/>
        </p:nvSpPr>
        <p:spPr bwMode="gray">
          <a:xfrm>
            <a:off x="576263" y="1628775"/>
            <a:ext cx="8316912" cy="2232025"/>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en-US" altLang="zh-CN" sz="2800" b="1">
                <a:effectLst>
                  <a:outerShdw blurRad="38100" dist="38100" dir="2700000" algn="tl">
                    <a:srgbClr val="C0C0C0"/>
                  </a:outerShdw>
                </a:effectLst>
                <a:latin typeface="黑体" panose="02010609060101010101" pitchFamily="49" charset="-122"/>
                <a:ea typeface="黑体" panose="02010609060101010101" pitchFamily="49" charset="-122"/>
              </a:rPr>
              <a:t>NTFS</a:t>
            </a: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的访问控制</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从文件中得到安全描述符（包含自主访问控制表）；</a:t>
            </a:r>
          </a:p>
          <a:p>
            <a:pPr lvl="1" eaLnBrk="1" hangingPunct="1">
              <a:spcBef>
                <a:spcPct val="20000"/>
              </a:spcBef>
              <a:buClr>
                <a:srgbClr val="FF9900"/>
              </a:buClr>
              <a:buFont typeface="Wingdings" pitchFamily="2" charset="2"/>
              <a:buChar char="§"/>
              <a:defRPr/>
            </a:pP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与访问令牌（包含安全标识）一起由</a:t>
            </a:r>
            <a:r>
              <a:rPr lang="en-US" altLang="zh-CN" sz="2600" b="1">
                <a:effectLst>
                  <a:outerShdw blurRad="38100" dist="38100" dir="2700000" algn="tl">
                    <a:srgbClr val="C0C0C0"/>
                  </a:outerShdw>
                </a:effectLst>
                <a:latin typeface="黑体" panose="02010609060101010101" pitchFamily="49" charset="-122"/>
                <a:ea typeface="黑体" panose="02010609060101010101" pitchFamily="49" charset="-122"/>
              </a:rPr>
              <a:t>SRM</a:t>
            </a:r>
            <a:r>
              <a:rPr lang="zh-CN" altLang="en-US" sz="2600" b="1">
                <a:effectLst>
                  <a:outerShdw blurRad="38100" dist="38100" dir="2700000" algn="tl">
                    <a:srgbClr val="C0C0C0"/>
                  </a:outerShdw>
                </a:effectLst>
                <a:latin typeface="黑体" panose="02010609060101010101" pitchFamily="49" charset="-122"/>
                <a:ea typeface="黑体" panose="02010609060101010101" pitchFamily="49" charset="-122"/>
              </a:rPr>
              <a:t>进行访问检查  </a:t>
            </a:r>
          </a:p>
        </p:txBody>
      </p:sp>
      <p:sp>
        <p:nvSpPr>
          <p:cNvPr id="8" name="标题 1">
            <a:extLst>
              <a:ext uri="{FF2B5EF4-FFF2-40B4-BE49-F238E27FC236}">
                <a16:creationId xmlns:a16="http://schemas.microsoft.com/office/drawing/2014/main" id="{97399F5E-0F98-7142-9C2B-7E44BE588160}"/>
              </a:ext>
            </a:extLst>
          </p:cNvPr>
          <p:cNvSpPr>
            <a:spLocks noGrp="1"/>
          </p:cNvSpPr>
          <p:nvPr>
            <p:ph type="title"/>
          </p:nvPr>
        </p:nvSpPr>
        <p:spPr>
          <a:xfrm>
            <a:off x="366713" y="873125"/>
            <a:ext cx="6513512"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Windows (</a:t>
            </a: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CC19310A-0AC5-C241-9FFE-DD605AEDEA05}"/>
              </a:ext>
            </a:extLst>
          </p:cNvPr>
          <p:cNvSpPr>
            <a:spLocks noGrp="1"/>
          </p:cNvSpPr>
          <p:nvPr>
            <p:ph type="title"/>
          </p:nvPr>
        </p:nvSpPr>
        <p:spPr>
          <a:xfrm>
            <a:off x="684213" y="696913"/>
            <a:ext cx="6513512" cy="487362"/>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思考题</a:t>
            </a:r>
          </a:p>
        </p:txBody>
      </p:sp>
      <p:sp>
        <p:nvSpPr>
          <p:cNvPr id="162818" name="文本框 99">
            <a:extLst>
              <a:ext uri="{FF2B5EF4-FFF2-40B4-BE49-F238E27FC236}">
                <a16:creationId xmlns:a16="http://schemas.microsoft.com/office/drawing/2014/main" id="{994DD51C-207E-8A42-910E-2EDF45F8A495}"/>
              </a:ext>
            </a:extLst>
          </p:cNvPr>
          <p:cNvSpPr txBox="1">
            <a:spLocks noChangeArrowheads="1"/>
          </p:cNvSpPr>
          <p:nvPr/>
        </p:nvSpPr>
        <p:spPr bwMode="auto">
          <a:xfrm>
            <a:off x="831850" y="1357313"/>
            <a:ext cx="7827963"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1600">
                <a:solidFill>
                  <a:srgbClr val="FF0000"/>
                </a:solidFill>
                <a:latin typeface="楷体" panose="02010609060101010101" pitchFamily="49" charset="-122"/>
                <a:ea typeface="楷体" panose="02010609060101010101" pitchFamily="49" charset="-122"/>
              </a:rPr>
              <a:t>1. </a:t>
            </a:r>
            <a:r>
              <a:rPr lang="zh-CN" altLang="zh-CN" sz="1600">
                <a:solidFill>
                  <a:srgbClr val="FF0000"/>
                </a:solidFill>
                <a:latin typeface="楷体" panose="02010609060101010101" pitchFamily="49" charset="-122"/>
                <a:ea typeface="楷体" panose="02010609060101010101" pitchFamily="49" charset="-122"/>
              </a:rPr>
              <a:t>下列哪个安全模型解决数据保密性问题？</a:t>
            </a:r>
            <a:r>
              <a:rPr lang="en-US" altLang="zh-CN" sz="1600">
                <a:solidFill>
                  <a:srgbClr val="FF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A. Bell-LaPadula </a:t>
            </a:r>
            <a:r>
              <a:rPr lang="zh-CN" altLang="zh-CN" sz="1600">
                <a:solidFill>
                  <a:srgbClr val="000000"/>
                </a:solidFill>
                <a:latin typeface="楷体" panose="02010609060101010101" pitchFamily="49" charset="-122"/>
                <a:ea typeface="楷体" panose="02010609060101010101" pitchFamily="49" charset="-122"/>
              </a:rPr>
              <a:t>模型</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B. Biba </a:t>
            </a:r>
            <a:r>
              <a:rPr lang="zh-CN" altLang="zh-CN" sz="1600">
                <a:solidFill>
                  <a:srgbClr val="000000"/>
                </a:solidFill>
                <a:latin typeface="楷体" panose="02010609060101010101" pitchFamily="49" charset="-122"/>
                <a:ea typeface="楷体" panose="02010609060101010101" pitchFamily="49" charset="-122"/>
              </a:rPr>
              <a:t>模型</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C. Clark-Wilson </a:t>
            </a:r>
            <a:r>
              <a:rPr lang="zh-CN" altLang="zh-CN" sz="1600">
                <a:solidFill>
                  <a:srgbClr val="000000"/>
                </a:solidFill>
                <a:latin typeface="楷体" panose="02010609060101010101" pitchFamily="49" charset="-122"/>
                <a:ea typeface="楷体" panose="02010609060101010101" pitchFamily="49" charset="-122"/>
              </a:rPr>
              <a:t>模型</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D. Brewer and Nash </a:t>
            </a:r>
            <a:r>
              <a:rPr lang="zh-CN" altLang="zh-CN" sz="1600">
                <a:solidFill>
                  <a:srgbClr val="000000"/>
                </a:solidFill>
                <a:latin typeface="楷体" panose="02010609060101010101" pitchFamily="49" charset="-122"/>
                <a:ea typeface="楷体" panose="02010609060101010101" pitchFamily="49" charset="-122"/>
              </a:rPr>
              <a:t>模型</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FF0000"/>
                </a:solidFill>
                <a:latin typeface="楷体" panose="02010609060101010101" pitchFamily="49" charset="-122"/>
                <a:ea typeface="楷体" panose="02010609060101010101" pitchFamily="49" charset="-122"/>
              </a:rPr>
              <a:t>2. Bell-LaPadula </a:t>
            </a:r>
            <a:r>
              <a:rPr lang="zh-CN" altLang="zh-CN" sz="1600">
                <a:solidFill>
                  <a:srgbClr val="FF0000"/>
                </a:solidFill>
                <a:latin typeface="楷体" panose="02010609060101010101" pitchFamily="49" charset="-122"/>
                <a:ea typeface="楷体" panose="02010609060101010101" pitchFamily="49" charset="-122"/>
              </a:rPr>
              <a:t>模型中什么属性阻止较低级别的主体访问较高安全级别的客体？</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A. </a:t>
            </a:r>
            <a:r>
              <a:rPr lang="zh-CN" altLang="zh-CN" sz="1600">
                <a:solidFill>
                  <a:srgbClr val="000000"/>
                </a:solidFill>
                <a:latin typeface="楷体" panose="02010609060101010101" pitchFamily="49" charset="-122"/>
                <a:ea typeface="楷体" panose="02010609060101010101" pitchFamily="49" charset="-122"/>
              </a:rPr>
              <a:t>（*)安全属性 </a:t>
            </a:r>
            <a:endParaRPr lang="en-US" altLang="zh-CN" sz="1600">
              <a:solidFill>
                <a:srgbClr val="000000"/>
              </a:solidFill>
              <a:latin typeface="楷体" panose="02010609060101010101" pitchFamily="49" charset="-122"/>
              <a:ea typeface="楷体" panose="02010609060101010101" pitchFamily="49" charset="-122"/>
            </a:endParaRP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B. </a:t>
            </a:r>
            <a:r>
              <a:rPr lang="zh-CN" altLang="zh-CN" sz="1600">
                <a:solidFill>
                  <a:srgbClr val="000000"/>
                </a:solidFill>
                <a:latin typeface="楷体" panose="02010609060101010101" pitchFamily="49" charset="-122"/>
                <a:ea typeface="楷体" panose="02010609060101010101" pitchFamily="49" charset="-122"/>
              </a:rPr>
              <a:t>不准向上写属性</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C. </a:t>
            </a:r>
            <a:r>
              <a:rPr lang="zh-CN" altLang="zh-CN" sz="1600">
                <a:solidFill>
                  <a:srgbClr val="000000"/>
                </a:solidFill>
                <a:latin typeface="楷体" panose="02010609060101010101" pitchFamily="49" charset="-122"/>
                <a:ea typeface="楷体" panose="02010609060101010101" pitchFamily="49" charset="-122"/>
              </a:rPr>
              <a:t>不准向上读属性</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D. </a:t>
            </a:r>
            <a:r>
              <a:rPr lang="zh-CN" altLang="zh-CN" sz="1600">
                <a:solidFill>
                  <a:srgbClr val="000000"/>
                </a:solidFill>
                <a:latin typeface="楷体" panose="02010609060101010101" pitchFamily="49" charset="-122"/>
                <a:ea typeface="楷体" panose="02010609060101010101" pitchFamily="49" charset="-122"/>
              </a:rPr>
              <a:t>不准向下读属性</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FF0000"/>
                </a:solidFill>
                <a:latin typeface="楷体" panose="02010609060101010101" pitchFamily="49" charset="-122"/>
                <a:ea typeface="楷体" panose="02010609060101010101" pitchFamily="49" charset="-122"/>
              </a:rPr>
              <a:t>3. Biba </a:t>
            </a:r>
            <a:r>
              <a:rPr lang="zh-CN" altLang="zh-CN" sz="1600">
                <a:solidFill>
                  <a:srgbClr val="FF0000"/>
                </a:solidFill>
                <a:latin typeface="楷体" panose="02010609060101010101" pitchFamily="49" charset="-122"/>
                <a:ea typeface="楷体" panose="02010609060101010101" pitchFamily="49" charset="-122"/>
              </a:rPr>
              <a:t>模型的简单属性的含义是什么？</a:t>
            </a:r>
            <a:r>
              <a:rPr lang="en-US" altLang="zh-CN" sz="1600">
                <a:solidFill>
                  <a:srgbClr val="FF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A. </a:t>
            </a:r>
            <a:r>
              <a:rPr lang="zh-CN" altLang="zh-CN" sz="1600">
                <a:solidFill>
                  <a:srgbClr val="000000"/>
                </a:solidFill>
                <a:latin typeface="楷体" panose="02010609060101010101" pitchFamily="49" charset="-122"/>
                <a:ea typeface="楷体" panose="02010609060101010101" pitchFamily="49" charset="-122"/>
              </a:rPr>
              <a:t>向下写</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B. </a:t>
            </a:r>
            <a:r>
              <a:rPr lang="zh-CN" altLang="zh-CN" sz="1600">
                <a:solidFill>
                  <a:srgbClr val="000000"/>
                </a:solidFill>
                <a:latin typeface="楷体" panose="02010609060101010101" pitchFamily="49" charset="-122"/>
                <a:ea typeface="楷体" panose="02010609060101010101" pitchFamily="49" charset="-122"/>
              </a:rPr>
              <a:t>向上读</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C. </a:t>
            </a:r>
            <a:r>
              <a:rPr lang="zh-CN" altLang="zh-CN" sz="1600">
                <a:solidFill>
                  <a:srgbClr val="000000"/>
                </a:solidFill>
                <a:latin typeface="楷体" panose="02010609060101010101" pitchFamily="49" charset="-122"/>
                <a:ea typeface="楷体" panose="02010609060101010101" pitchFamily="49" charset="-122"/>
              </a:rPr>
              <a:t>不准向上写</a:t>
            </a:r>
            <a:r>
              <a:rPr lang="en-US" altLang="zh-CN" sz="1600">
                <a:solidFill>
                  <a:srgbClr val="000000"/>
                </a:solidFill>
                <a:latin typeface="楷体" panose="02010609060101010101" pitchFamily="49" charset="-122"/>
                <a:ea typeface="楷体" panose="02010609060101010101" pitchFamily="49" charset="-122"/>
              </a:rPr>
              <a:t> </a:t>
            </a:r>
          </a:p>
          <a:p>
            <a:pPr eaLnBrk="1" hangingPunct="1">
              <a:spcBef>
                <a:spcPct val="0"/>
              </a:spcBef>
              <a:buClrTx/>
              <a:buFontTx/>
              <a:buNone/>
            </a:pPr>
            <a:r>
              <a:rPr lang="en-US" altLang="zh-CN" sz="1600">
                <a:solidFill>
                  <a:srgbClr val="000000"/>
                </a:solidFill>
                <a:latin typeface="楷体" panose="02010609060101010101" pitchFamily="49" charset="-122"/>
                <a:ea typeface="楷体" panose="02010609060101010101" pitchFamily="49" charset="-122"/>
              </a:rPr>
              <a:t>D. </a:t>
            </a:r>
            <a:r>
              <a:rPr lang="zh-CN" altLang="zh-CN" sz="1600">
                <a:solidFill>
                  <a:srgbClr val="000000"/>
                </a:solidFill>
                <a:latin typeface="楷体" panose="02010609060101010101" pitchFamily="49" charset="-122"/>
                <a:ea typeface="楷体" panose="02010609060101010101" pitchFamily="49" charset="-122"/>
              </a:rPr>
              <a:t>不准向下读</a:t>
            </a:r>
          </a:p>
          <a:p>
            <a:pPr eaLnBrk="1" hangingPunct="1">
              <a:spcBef>
                <a:spcPct val="0"/>
              </a:spcBef>
              <a:buClrTx/>
              <a:buFontTx/>
              <a:buNone/>
            </a:pPr>
            <a:r>
              <a:rPr lang="en-US" altLang="zh-CN" sz="1600">
                <a:solidFill>
                  <a:srgbClr val="FF0000"/>
                </a:solidFill>
                <a:latin typeface="楷体" panose="02010609060101010101" pitchFamily="49" charset="-122"/>
                <a:ea typeface="楷体" panose="02010609060101010101" pitchFamily="49" charset="-122"/>
              </a:rPr>
              <a:t>4.</a:t>
            </a:r>
            <a:r>
              <a:rPr lang="zh-CN" altLang="en-US" sz="1600">
                <a:solidFill>
                  <a:srgbClr val="FF0000"/>
                </a:solidFill>
                <a:latin typeface="楷体" panose="02010609060101010101" pitchFamily="49" charset="-122"/>
                <a:ea typeface="楷体" panose="02010609060101010101" pitchFamily="49" charset="-122"/>
              </a:rPr>
              <a:t>什么安全方法、机制或模型显示主体对多个客体的能力列表？</a:t>
            </a:r>
          </a:p>
          <a:p>
            <a:pPr eaLnBrk="1" hangingPunct="1">
              <a:spcBef>
                <a:spcPct val="0"/>
              </a:spcBef>
              <a:buClrTx/>
              <a:buFontTx/>
              <a:buNone/>
            </a:pPr>
            <a:r>
              <a:rPr lang="zh-CN" altLang="en-US" sz="1600">
                <a:latin typeface="楷体" panose="02010609060101010101" pitchFamily="49" charset="-122"/>
                <a:ea typeface="楷体" panose="02010609060101010101" pitchFamily="49" charset="-122"/>
              </a:rPr>
              <a:t>A. 职责分离</a:t>
            </a:r>
          </a:p>
          <a:p>
            <a:pPr eaLnBrk="1" hangingPunct="1">
              <a:spcBef>
                <a:spcPct val="0"/>
              </a:spcBef>
              <a:buClrTx/>
              <a:buFontTx/>
              <a:buNone/>
            </a:pPr>
            <a:r>
              <a:rPr lang="zh-CN" altLang="en-US" sz="1600">
                <a:latin typeface="楷体" panose="02010609060101010101" pitchFamily="49" charset="-122"/>
                <a:ea typeface="楷体" panose="02010609060101010101" pitchFamily="49" charset="-122"/>
              </a:rPr>
              <a:t>B. 访问控制矩阵</a:t>
            </a:r>
          </a:p>
          <a:p>
            <a:pPr eaLnBrk="1" hangingPunct="1">
              <a:spcBef>
                <a:spcPct val="0"/>
              </a:spcBef>
              <a:buClrTx/>
              <a:buFontTx/>
              <a:buNone/>
            </a:pPr>
            <a:r>
              <a:rPr lang="zh-CN" altLang="en-US" sz="1600">
                <a:latin typeface="楷体" panose="02010609060101010101" pitchFamily="49" charset="-122"/>
                <a:ea typeface="楷体" panose="02010609060101010101" pitchFamily="49" charset="-122"/>
              </a:rPr>
              <a:t>C. Biba 模型</a:t>
            </a:r>
          </a:p>
          <a:p>
            <a:pPr eaLnBrk="1" hangingPunct="1">
              <a:spcBef>
                <a:spcPct val="0"/>
              </a:spcBef>
              <a:buClrTx/>
              <a:buFontTx/>
              <a:buNone/>
            </a:pPr>
            <a:r>
              <a:rPr lang="zh-CN" altLang="en-US" sz="1600">
                <a:latin typeface="楷体" panose="02010609060101010101" pitchFamily="49" charset="-122"/>
                <a:ea typeface="楷体" panose="02010609060101010101" pitchFamily="49" charset="-122"/>
              </a:rPr>
              <a:t>D. </a:t>
            </a:r>
            <a:r>
              <a:rPr lang="en-US" altLang="zh-CN" sz="1600">
                <a:latin typeface="楷体" panose="02010609060101010101" pitchFamily="49" charset="-122"/>
                <a:ea typeface="楷体" panose="02010609060101010101" pitchFamily="49" charset="-122"/>
              </a:rPr>
              <a:t>Bell-LaPadula</a:t>
            </a:r>
            <a:r>
              <a:rPr lang="zh-CN" altLang="en-US" sz="1600">
                <a:latin typeface="楷体" panose="02010609060101010101" pitchFamily="49" charset="-122"/>
                <a:ea typeface="楷体" panose="02010609060101010101" pitchFamily="49" charset="-122"/>
              </a:rPr>
              <a:t> 模型。</a:t>
            </a:r>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57EFCA6C-D111-F24E-A32A-58BBF00B84A8}"/>
              </a:ext>
            </a:extLst>
          </p:cNvPr>
          <p:cNvSpPr>
            <a:spLocks noGrp="1"/>
          </p:cNvSpPr>
          <p:nvPr>
            <p:ph type="title"/>
          </p:nvPr>
        </p:nvSpPr>
        <p:spPr>
          <a:xfrm>
            <a:off x="611188" y="793750"/>
            <a:ext cx="6513512" cy="487363"/>
          </a:xfrm>
        </p:spPr>
        <p:txBody>
          <a:bodyPr/>
          <a:lstStyle/>
          <a:p>
            <a:pPr>
              <a:buClr>
                <a:srgbClr val="3399FF"/>
              </a:buClr>
              <a:defRPr/>
            </a:pPr>
            <a:r>
              <a:rPr lang="en-US" altLang="zh-CN">
                <a:solidFill>
                  <a:srgbClr val="0033CC"/>
                </a:solidFill>
                <a:effectLst>
                  <a:outerShdw blurRad="38100" dist="38100" dir="2700000" algn="tl">
                    <a:srgbClr val="C0C0C0"/>
                  </a:outerShdw>
                </a:effectLst>
                <a:latin typeface="Times New Roman" panose="02020603050405020304" pitchFamily="18" charset="0"/>
              </a:rPr>
              <a:t>Linux (</a:t>
            </a:r>
            <a:r>
              <a:rPr lang="zh-CN" altLang="en-US">
                <a:solidFill>
                  <a:srgbClr val="0033CC"/>
                </a:solidFill>
                <a:effectLst>
                  <a:outerShdw blurRad="38100" dist="38100" dir="2700000" algn="tl">
                    <a:srgbClr val="C0C0C0"/>
                  </a:outerShdw>
                </a:effectLst>
                <a:latin typeface="Times New Roman" panose="02020603050405020304" pitchFamily="18" charset="0"/>
              </a:rPr>
              <a:t>自主访问控制</a:t>
            </a:r>
            <a:r>
              <a:rPr lang="en-US" altLang="zh-CN">
                <a:solidFill>
                  <a:srgbClr val="0033CC"/>
                </a:solidFill>
                <a:effectLst>
                  <a:outerShdw blurRad="38100" dist="38100" dir="2700000" algn="tl">
                    <a:srgbClr val="C0C0C0"/>
                  </a:outerShdw>
                </a:effectLst>
                <a:latin typeface="Times New Roman" panose="02020603050405020304" pitchFamily="18" charset="0"/>
              </a:rPr>
              <a:t>)</a:t>
            </a:r>
            <a:endParaRPr lang="zh-CN" altLang="en-US">
              <a:solidFill>
                <a:srgbClr val="0033CC"/>
              </a:solidFill>
              <a:effectLst>
                <a:outerShdw blurRad="38100" dist="38100" dir="2700000" algn="tl">
                  <a:srgbClr val="C0C0C0"/>
                </a:outerShdw>
              </a:effectLst>
              <a:latin typeface="Times New Roman" panose="02020603050405020304" pitchFamily="18" charset="0"/>
            </a:endParaRPr>
          </a:p>
        </p:txBody>
      </p:sp>
      <p:sp>
        <p:nvSpPr>
          <p:cNvPr id="6" name="Rectangle 3">
            <a:extLst>
              <a:ext uri="{FF2B5EF4-FFF2-40B4-BE49-F238E27FC236}">
                <a16:creationId xmlns:a16="http://schemas.microsoft.com/office/drawing/2014/main" id="{78D5AFC5-CE68-DD47-8EF1-99A3179A8924}"/>
              </a:ext>
            </a:extLst>
          </p:cNvPr>
          <p:cNvSpPr txBox="1">
            <a:spLocks noChangeArrowheads="1"/>
          </p:cNvSpPr>
          <p:nvPr/>
        </p:nvSpPr>
        <p:spPr bwMode="gray">
          <a:xfrm>
            <a:off x="723900" y="2282825"/>
            <a:ext cx="5148263" cy="2117725"/>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三种权限</a:t>
            </a:r>
            <a:r>
              <a:rPr lang="zh-CN" altLang="en-US" sz="2800" b="1">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eaLnBrk="1" hangingPunct="1">
              <a:spcBef>
                <a:spcPct val="20000"/>
              </a:spcBef>
              <a:buClr>
                <a:srgbClr val="FF9900"/>
              </a:buClr>
              <a:buFont typeface="Wingdings" pitchFamily="2" charset="2"/>
              <a:buChar char="§"/>
              <a:defRPr/>
            </a:pP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R:read</a:t>
            </a:r>
          </a:p>
          <a:p>
            <a:pPr lvl="1" eaLnBrk="1" hangingPunct="1">
              <a:spcBef>
                <a:spcPct val="20000"/>
              </a:spcBef>
              <a:buClr>
                <a:srgbClr val="FF9900"/>
              </a:buClr>
              <a:buFont typeface="Wingdings" pitchFamily="2" charset="2"/>
              <a:buChar char="§"/>
              <a:defRPr/>
            </a:pP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W:write</a:t>
            </a:r>
          </a:p>
          <a:p>
            <a:pPr lvl="1" eaLnBrk="1" hangingPunct="1">
              <a:spcBef>
                <a:spcPct val="20000"/>
              </a:spcBef>
              <a:buClr>
                <a:srgbClr val="FF9900"/>
              </a:buClr>
              <a:buFont typeface="Wingdings" pitchFamily="2" charset="2"/>
              <a:buChar char="§"/>
              <a:defRPr/>
            </a:pPr>
            <a:r>
              <a:rPr lang="en-US" altLang="zh-CN" sz="2400" b="1">
                <a:effectLst>
                  <a:outerShdw blurRad="38100" dist="38100" dir="2700000" algn="tl">
                    <a:srgbClr val="C0C0C0"/>
                  </a:outerShdw>
                </a:effectLst>
                <a:latin typeface="Times New Roman" panose="02020603050405020304" pitchFamily="18" charset="0"/>
                <a:ea typeface="黑体" panose="02010609060101010101" pitchFamily="49" charset="-122"/>
              </a:rPr>
              <a:t>X:excute</a:t>
            </a:r>
          </a:p>
        </p:txBody>
      </p:sp>
      <p:sp>
        <p:nvSpPr>
          <p:cNvPr id="2" name="矩形 1">
            <a:extLst>
              <a:ext uri="{FF2B5EF4-FFF2-40B4-BE49-F238E27FC236}">
                <a16:creationId xmlns:a16="http://schemas.microsoft.com/office/drawing/2014/main" id="{9512D852-9352-CB4B-A47A-640EED3FB3A0}"/>
              </a:ext>
            </a:extLst>
          </p:cNvPr>
          <p:cNvSpPr/>
          <p:nvPr/>
        </p:nvSpPr>
        <p:spPr>
          <a:xfrm>
            <a:off x="719138" y="1616075"/>
            <a:ext cx="4859337" cy="523875"/>
          </a:xfrm>
          <a:prstGeom prst="rect">
            <a:avLst/>
          </a:prstGeom>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黑体" panose="02010609060101010101" pitchFamily="49" charset="-122"/>
                <a:ea typeface="黑体" panose="02010609060101010101" pitchFamily="49" charset="-122"/>
              </a:rPr>
              <a:t>设备和目录同样看作文件。</a:t>
            </a:r>
          </a:p>
        </p:txBody>
      </p:sp>
      <p:sp>
        <p:nvSpPr>
          <p:cNvPr id="3" name="矩形 2">
            <a:extLst>
              <a:ext uri="{FF2B5EF4-FFF2-40B4-BE49-F238E27FC236}">
                <a16:creationId xmlns:a16="http://schemas.microsoft.com/office/drawing/2014/main" id="{F3CCC47B-75C1-544E-BF2B-00409AE6D1D3}"/>
              </a:ext>
            </a:extLst>
          </p:cNvPr>
          <p:cNvSpPr/>
          <p:nvPr/>
        </p:nvSpPr>
        <p:spPr>
          <a:xfrm>
            <a:off x="719138" y="4184650"/>
            <a:ext cx="7597775" cy="1409700"/>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800" b="1">
                <a:effectLst>
                  <a:outerShdw blurRad="38100" dist="38100" dir="2700000" algn="tl">
                    <a:srgbClr val="C0C0C0"/>
                  </a:outerShdw>
                </a:effectLst>
                <a:latin typeface="Times New Roman" panose="02020603050405020304" pitchFamily="18" charset="0"/>
              </a:rPr>
              <a:t>权限表示：</a:t>
            </a:r>
          </a:p>
          <a:p>
            <a:pPr lvl="1" eaLnBrk="1" hangingPunct="1">
              <a:spcBef>
                <a:spcPct val="20000"/>
              </a:spcBef>
              <a:buClr>
                <a:srgbClr val="FF9900"/>
              </a:buClr>
              <a:buFont typeface="Wingdings" pitchFamily="2" charset="2"/>
              <a:buChar char="§"/>
              <a:defRPr/>
            </a:pPr>
            <a:r>
              <a:rPr lang="zh-CN" altLang="en-US" sz="2400" b="1">
                <a:effectLst>
                  <a:outerShdw blurRad="38100" dist="38100" dir="2700000" algn="tl">
                    <a:srgbClr val="C0C0C0"/>
                  </a:outerShdw>
                </a:effectLst>
                <a:latin typeface="Times New Roman" panose="02020603050405020304" pitchFamily="18" charset="0"/>
              </a:rPr>
              <a:t>字母表示：</a:t>
            </a:r>
            <a:r>
              <a:rPr lang="en-US" altLang="zh-CN" sz="2400" b="1">
                <a:effectLst>
                  <a:outerShdw blurRad="38100" dist="38100" dir="2700000" algn="tl">
                    <a:srgbClr val="C0C0C0"/>
                  </a:outerShdw>
                </a:effectLst>
                <a:latin typeface="Times New Roman" panose="02020603050405020304" pitchFamily="18" charset="0"/>
              </a:rPr>
              <a:t>rwx</a:t>
            </a:r>
            <a:r>
              <a:rPr lang="zh-CN" altLang="en-US" sz="2400" b="1">
                <a:effectLst>
                  <a:outerShdw blurRad="38100" dist="38100" dir="2700000" algn="tl">
                    <a:srgbClr val="C0C0C0"/>
                  </a:outerShdw>
                </a:effectLst>
                <a:latin typeface="Times New Roman" panose="02020603050405020304" pitchFamily="18" charset="0"/>
              </a:rPr>
              <a:t>，不具有相应权限用</a:t>
            </a:r>
            <a:r>
              <a:rPr lang="en-US" altLang="zh-CN" sz="2400" b="1">
                <a:effectLst>
                  <a:outerShdw blurRad="38100" dist="38100" dir="2700000" algn="tl">
                    <a:srgbClr val="C0C0C0"/>
                  </a:outerShdw>
                </a:effectLst>
                <a:latin typeface="Times New Roman" panose="02020603050405020304" pitchFamily="18" charset="0"/>
              </a:rPr>
              <a:t>-</a:t>
            </a:r>
            <a:r>
              <a:rPr lang="zh-CN" altLang="en-US" sz="2400" b="1">
                <a:effectLst>
                  <a:outerShdw blurRad="38100" dist="38100" dir="2700000" algn="tl">
                    <a:srgbClr val="C0C0C0"/>
                  </a:outerShdw>
                </a:effectLst>
                <a:latin typeface="Times New Roman" panose="02020603050405020304" pitchFamily="18" charset="0"/>
              </a:rPr>
              <a:t>占位</a:t>
            </a:r>
          </a:p>
          <a:p>
            <a:pPr lvl="1" eaLnBrk="1" hangingPunct="1">
              <a:spcBef>
                <a:spcPct val="20000"/>
              </a:spcBef>
              <a:buClr>
                <a:srgbClr val="FF9900"/>
              </a:buClr>
              <a:buFont typeface="Wingdings" pitchFamily="2" charset="2"/>
              <a:buChar char="§"/>
              <a:defRPr/>
            </a:pPr>
            <a:r>
              <a:rPr lang="en-US" altLang="zh-CN" sz="2400" b="1">
                <a:effectLst>
                  <a:outerShdw blurRad="38100" dist="38100" dir="2700000" algn="tl">
                    <a:srgbClr val="C0C0C0"/>
                  </a:outerShdw>
                </a:effectLst>
                <a:latin typeface="Times New Roman" panose="02020603050405020304" pitchFamily="18" charset="0"/>
              </a:rPr>
              <a:t>8</a:t>
            </a:r>
            <a:r>
              <a:rPr lang="zh-CN" altLang="en-US" sz="2400" b="1">
                <a:effectLst>
                  <a:outerShdw blurRad="38100" dist="38100" dir="2700000" algn="tl">
                    <a:srgbClr val="C0C0C0"/>
                  </a:outerShdw>
                </a:effectLst>
                <a:latin typeface="Times New Roman" panose="02020603050405020304" pitchFamily="18" charset="0"/>
              </a:rPr>
              <a:t>进制数表示：</a:t>
            </a:r>
            <a:r>
              <a:rPr lang="en-US" altLang="zh-CN" sz="2400" b="1">
                <a:effectLst>
                  <a:outerShdw blurRad="38100" dist="38100" dir="2700000" algn="tl">
                    <a:srgbClr val="C0C0C0"/>
                  </a:outerShdw>
                </a:effectLst>
                <a:latin typeface="Times New Roman" panose="02020603050405020304" pitchFamily="18" charset="0"/>
              </a:rPr>
              <a:t>111</a:t>
            </a:r>
            <a:r>
              <a:rPr lang="zh-CN" altLang="en-US" sz="2400" b="1">
                <a:effectLst>
                  <a:outerShdw blurRad="38100" dist="38100" dir="2700000" algn="tl">
                    <a:srgbClr val="C0C0C0"/>
                  </a:outerShdw>
                </a:effectLst>
                <a:latin typeface="Times New Roman" panose="02020603050405020304" pitchFamily="18" charset="0"/>
              </a:rPr>
              <a:t>，不具有相应权限相应位记</a:t>
            </a:r>
            <a:r>
              <a:rPr lang="en-US" altLang="zh-CN" sz="2400" b="1">
                <a:effectLst>
                  <a:outerShdw blurRad="38100" dist="38100" dir="2700000" algn="tl">
                    <a:srgbClr val="C0C0C0"/>
                  </a:outerShdw>
                </a:effectLst>
                <a:latin typeface="Times New Roman" panose="02020603050405020304" pitchFamily="18" charset="0"/>
              </a:rPr>
              <a:t>0</a:t>
            </a:r>
          </a:p>
        </p:txBody>
      </p:sp>
      <p:pic>
        <p:nvPicPr>
          <p:cNvPr id="154629" name="图片 3">
            <a:extLst>
              <a:ext uri="{FF2B5EF4-FFF2-40B4-BE49-F238E27FC236}">
                <a16:creationId xmlns:a16="http://schemas.microsoft.com/office/drawing/2014/main" id="{580DDBA6-DB96-054C-818C-F6183D3D1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450" y="1873250"/>
            <a:ext cx="3163888"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27">
            <a:extLst>
              <a:ext uri="{FF2B5EF4-FFF2-40B4-BE49-F238E27FC236}">
                <a16:creationId xmlns:a16="http://schemas.microsoft.com/office/drawing/2014/main" id="{4F386E35-BD70-A34B-A01C-70CB6F96624E}"/>
              </a:ext>
            </a:extLst>
          </p:cNvPr>
          <p:cNvSpPr txBox="1">
            <a:spLocks noChangeArrowheads="1"/>
          </p:cNvSpPr>
          <p:nvPr/>
        </p:nvSpPr>
        <p:spPr bwMode="gray">
          <a:xfrm>
            <a:off x="471488" y="638175"/>
            <a:ext cx="7772400" cy="2266950"/>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四类用户：</a:t>
            </a:r>
          </a:p>
          <a:p>
            <a:pPr lvl="1" eaLnBrk="1" hangingPunct="1">
              <a:spcBef>
                <a:spcPct val="20000"/>
              </a:spcBef>
              <a:buClr>
                <a:srgbClr val="FF9900"/>
              </a:buClr>
              <a:buFont typeface="Wingdings" pitchFamily="2" charset="2"/>
              <a:buChar char="§"/>
              <a:defRPr/>
            </a:pPr>
            <a:r>
              <a:rPr lang="en-US" altLang="zh-CN" sz="2200" b="1">
                <a:effectLst>
                  <a:outerShdw blurRad="38100" dist="38100" dir="2700000" algn="tl">
                    <a:srgbClr val="C0C0C0"/>
                  </a:outerShdw>
                </a:effectLst>
                <a:latin typeface="Times New Roman" panose="02020603050405020304" pitchFamily="18" charset="0"/>
                <a:ea typeface="黑体" panose="02010609060101010101" pitchFamily="49" charset="-122"/>
              </a:rPr>
              <a:t>root</a:t>
            </a:r>
            <a:r>
              <a:rPr lang="zh-CN" altLang="en-US" sz="2200" b="1">
                <a:effectLst>
                  <a:outerShdw blurRad="38100" dist="38100" dir="2700000" algn="tl">
                    <a:srgbClr val="C0C0C0"/>
                  </a:outerShdw>
                </a:effectLst>
                <a:latin typeface="Times New Roman" panose="02020603050405020304" pitchFamily="18" charset="0"/>
                <a:ea typeface="黑体" panose="02010609060101010101" pitchFamily="49" charset="-122"/>
              </a:rPr>
              <a:t>：超级用户</a:t>
            </a:r>
          </a:p>
          <a:p>
            <a:pPr lvl="1" eaLnBrk="1" hangingPunct="1">
              <a:spcBef>
                <a:spcPct val="20000"/>
              </a:spcBef>
              <a:buClr>
                <a:srgbClr val="FF9900"/>
              </a:buClr>
              <a:buFont typeface="Wingdings" pitchFamily="2" charset="2"/>
              <a:buChar char="§"/>
              <a:defRPr/>
            </a:pPr>
            <a:r>
              <a:rPr lang="zh-CN" altLang="en-US" sz="2200" b="1">
                <a:effectLst>
                  <a:outerShdw blurRad="38100" dist="38100" dir="2700000" algn="tl">
                    <a:srgbClr val="C0C0C0"/>
                  </a:outerShdw>
                </a:effectLst>
                <a:latin typeface="Times New Roman" panose="02020603050405020304" pitchFamily="18" charset="0"/>
                <a:ea typeface="黑体" panose="02010609060101010101" pitchFamily="49" charset="-122"/>
              </a:rPr>
              <a:t>所有者</a:t>
            </a:r>
          </a:p>
          <a:p>
            <a:pPr lvl="1" eaLnBrk="1" hangingPunct="1">
              <a:spcBef>
                <a:spcPct val="20000"/>
              </a:spcBef>
              <a:buClr>
                <a:srgbClr val="FF9900"/>
              </a:buClr>
              <a:buFont typeface="Wingdings" pitchFamily="2" charset="2"/>
              <a:buChar char="§"/>
              <a:defRPr/>
            </a:pPr>
            <a:r>
              <a:rPr lang="zh-CN" altLang="en-US" sz="2200" b="1">
                <a:effectLst>
                  <a:outerShdw blurRad="38100" dist="38100" dir="2700000" algn="tl">
                    <a:srgbClr val="C0C0C0"/>
                  </a:outerShdw>
                </a:effectLst>
                <a:latin typeface="Times New Roman" panose="02020603050405020304" pitchFamily="18" charset="0"/>
                <a:ea typeface="黑体" panose="02010609060101010101" pitchFamily="49" charset="-122"/>
              </a:rPr>
              <a:t>所属组</a:t>
            </a:r>
          </a:p>
          <a:p>
            <a:pPr lvl="1" eaLnBrk="1" hangingPunct="1">
              <a:spcBef>
                <a:spcPct val="20000"/>
              </a:spcBef>
              <a:buClr>
                <a:srgbClr val="FF9900"/>
              </a:buClr>
              <a:buFont typeface="Wingdings" pitchFamily="2" charset="2"/>
              <a:buChar char="§"/>
              <a:defRPr/>
            </a:pPr>
            <a:r>
              <a:rPr lang="zh-CN" altLang="en-US" sz="2200" b="1">
                <a:effectLst>
                  <a:outerShdw blurRad="38100" dist="38100" dir="2700000" algn="tl">
                    <a:srgbClr val="C0C0C0"/>
                  </a:outerShdw>
                </a:effectLst>
                <a:latin typeface="Times New Roman" panose="02020603050405020304" pitchFamily="18" charset="0"/>
                <a:ea typeface="黑体" panose="02010609060101010101" pitchFamily="49" charset="-122"/>
              </a:rPr>
              <a:t>其他用户</a:t>
            </a:r>
          </a:p>
        </p:txBody>
      </p:sp>
      <p:sp>
        <p:nvSpPr>
          <p:cNvPr id="7" name="Rectangle 1027">
            <a:extLst>
              <a:ext uri="{FF2B5EF4-FFF2-40B4-BE49-F238E27FC236}">
                <a16:creationId xmlns:a16="http://schemas.microsoft.com/office/drawing/2014/main" id="{7A0EB4D9-24F7-3741-83EE-222B873DCC4D}"/>
              </a:ext>
            </a:extLst>
          </p:cNvPr>
          <p:cNvSpPr txBox="1">
            <a:spLocks noChangeArrowheads="1"/>
          </p:cNvSpPr>
          <p:nvPr/>
        </p:nvSpPr>
        <p:spPr bwMode="gray">
          <a:xfrm>
            <a:off x="561975" y="2779713"/>
            <a:ext cx="8205788" cy="1865312"/>
          </a:xfrm>
          <a:prstGeom prst="rect">
            <a:avLst/>
          </a:prstGeom>
          <a:noFill/>
          <a:ln w="9525">
            <a:noFill/>
            <a:miter lim="800000"/>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文件属性：</a:t>
            </a:r>
          </a:p>
          <a:p>
            <a:pPr eaLnBrk="1" hangingPunct="1">
              <a:spcBef>
                <a:spcPct val="20000"/>
              </a:spcBef>
              <a:buClr>
                <a:srgbClr val="3399FF"/>
              </a:buClr>
              <a:buFont typeface="Wingdings" pitchFamily="2" charset="2"/>
              <a:buNone/>
              <a:defRPr/>
            </a:pPr>
            <a:r>
              <a:rPr lang="en-US" altLang="zh-CN" sz="2400">
                <a:latin typeface="黑体" panose="02010609060101010101" pitchFamily="49" charset="-122"/>
                <a:ea typeface="黑体" panose="02010609060101010101" pitchFamily="49" charset="-122"/>
              </a:rPr>
              <a:t>      </a:t>
            </a:r>
            <a:r>
              <a:rPr lang="en-US" altLang="zh-CN" sz="2200" b="1">
                <a:effectLst>
                  <a:outerShdw blurRad="38100" dist="38100" dir="2700000" algn="tl">
                    <a:srgbClr val="C0C0C0"/>
                  </a:outerShdw>
                </a:effectLst>
                <a:latin typeface="Times New Roman" panose="02020603050405020304" pitchFamily="18" charset="0"/>
                <a:ea typeface="黑体" panose="02010609060101010101" pitchFamily="49" charset="-122"/>
              </a:rPr>
              <a:t>drwxr-x--x 2 Fang work 1024 Jun 25 22:53 text</a:t>
            </a:r>
          </a:p>
          <a:p>
            <a:pPr lvl="1" eaLnBrk="1" hangingPunct="1">
              <a:spcBef>
                <a:spcPct val="20000"/>
              </a:spcBef>
              <a:buClr>
                <a:srgbClr val="FF9900"/>
              </a:buClr>
              <a:buFont typeface="Wingdings" pitchFamily="2" charset="2"/>
              <a:buChar char="§"/>
              <a:defRPr/>
            </a:pPr>
            <a:r>
              <a:rPr lang="zh-CN" altLang="en-US" sz="2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安全属性： </a:t>
            </a:r>
            <a:r>
              <a:rPr lang="en-US" altLang="zh-CN" sz="2200" b="1">
                <a:effectLst>
                  <a:outerShdw blurRad="38100" dist="38100" dir="2700000" algn="tl">
                    <a:srgbClr val="C0C0C0"/>
                  </a:outerShdw>
                </a:effectLst>
                <a:latin typeface="Times New Roman" panose="02020603050405020304" pitchFamily="18" charset="0"/>
                <a:ea typeface="黑体" panose="02010609060101010101" pitchFamily="49" charset="-122"/>
              </a:rPr>
              <a:t>drwxr-x--x </a:t>
            </a:r>
          </a:p>
          <a:p>
            <a:pPr lvl="1" eaLnBrk="1" hangingPunct="1">
              <a:spcBef>
                <a:spcPct val="20000"/>
              </a:spcBef>
              <a:buClr>
                <a:srgbClr val="FF9900"/>
              </a:buClr>
              <a:buFont typeface="Wingdings" pitchFamily="2" charset="2"/>
              <a:buChar char="§"/>
              <a:defRPr/>
            </a:pPr>
            <a:r>
              <a:rPr lang="zh-CN" altLang="en-US" sz="22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所有者，</a:t>
            </a:r>
            <a:r>
              <a:rPr lang="zh-CN" altLang="en-US" sz="2200" b="1">
                <a:effectLst>
                  <a:outerShdw blurRad="38100" dist="38100" dir="2700000" algn="tl">
                    <a:srgbClr val="C0C0C0"/>
                  </a:outerShdw>
                </a:effectLst>
                <a:latin typeface="Times New Roman" panose="02020603050405020304" pitchFamily="18" charset="0"/>
                <a:ea typeface="黑体" panose="02010609060101010101" pitchFamily="49" charset="-122"/>
              </a:rPr>
              <a:t>所属组：</a:t>
            </a:r>
            <a:r>
              <a:rPr lang="en-US" altLang="zh-CN" sz="2200" b="1">
                <a:effectLst>
                  <a:outerShdw blurRad="38100" dist="38100" dir="2700000" algn="tl">
                    <a:srgbClr val="C0C0C0"/>
                  </a:outerShdw>
                </a:effectLst>
                <a:latin typeface="Times New Roman" panose="02020603050405020304" pitchFamily="18" charset="0"/>
                <a:ea typeface="黑体" panose="02010609060101010101" pitchFamily="49" charset="-122"/>
              </a:rPr>
              <a:t>Fang.work</a:t>
            </a:r>
          </a:p>
        </p:txBody>
      </p:sp>
      <p:graphicFrame>
        <p:nvGraphicFramePr>
          <p:cNvPr id="8" name="Group 1054">
            <a:extLst>
              <a:ext uri="{FF2B5EF4-FFF2-40B4-BE49-F238E27FC236}">
                <a16:creationId xmlns:a16="http://schemas.microsoft.com/office/drawing/2014/main" id="{AB48F2F8-7381-754B-858D-EBEF7B6C1C1A}"/>
              </a:ext>
            </a:extLst>
          </p:cNvPr>
          <p:cNvGraphicFramePr>
            <a:graphicFrameLocks noGrp="1"/>
          </p:cNvGraphicFramePr>
          <p:nvPr/>
        </p:nvGraphicFramePr>
        <p:xfrm>
          <a:off x="2484438" y="5589588"/>
          <a:ext cx="5549900" cy="517544"/>
        </p:xfrm>
        <a:graphic>
          <a:graphicData uri="http://schemas.openxmlformats.org/drawingml/2006/table">
            <a:tbl>
              <a:tblPr/>
              <a:tblGrid>
                <a:gridCol w="2378529">
                  <a:extLst>
                    <a:ext uri="{9D8B030D-6E8A-4147-A177-3AD203B41FA5}">
                      <a16:colId xmlns:a16="http://schemas.microsoft.com/office/drawing/2014/main" val="20000"/>
                    </a:ext>
                  </a:extLst>
                </a:gridCol>
                <a:gridCol w="1664970">
                  <a:extLst>
                    <a:ext uri="{9D8B030D-6E8A-4147-A177-3AD203B41FA5}">
                      <a16:colId xmlns:a16="http://schemas.microsoft.com/office/drawing/2014/main" val="20001"/>
                    </a:ext>
                  </a:extLst>
                </a:gridCol>
                <a:gridCol w="1506401">
                  <a:extLst>
                    <a:ext uri="{9D8B030D-6E8A-4147-A177-3AD203B41FA5}">
                      <a16:colId xmlns:a16="http://schemas.microsoft.com/office/drawing/2014/main" val="20002"/>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Fang.work.rwx</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4" marR="91434" marT="45412" marB="4541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work.x</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34" marR="91434" marT="45412" marB="4541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p>
                  </a:txBody>
                  <a:tcPr marL="91434" marR="91434" marT="45412" marB="4541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8561" name="Text Box 1049">
            <a:extLst>
              <a:ext uri="{FF2B5EF4-FFF2-40B4-BE49-F238E27FC236}">
                <a16:creationId xmlns:a16="http://schemas.microsoft.com/office/drawing/2014/main" id="{108BFE94-B494-C441-93DD-4FC539D01B71}"/>
              </a:ext>
            </a:extLst>
          </p:cNvPr>
          <p:cNvSpPr txBox="1">
            <a:spLocks noChangeArrowheads="1"/>
          </p:cNvSpPr>
          <p:nvPr/>
        </p:nvSpPr>
        <p:spPr bwMode="auto">
          <a:xfrm>
            <a:off x="1647825" y="5543550"/>
            <a:ext cx="1447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en-US" altLang="zh-CN">
                <a:latin typeface="Times New Roman" panose="02020603050405020304" pitchFamily="18" charset="0"/>
                <a:ea typeface="宋体" panose="02010600030101010101" pitchFamily="2" charset="-122"/>
              </a:rPr>
              <a:t>text</a:t>
            </a:r>
            <a:endParaRPr lang="en-US" altLang="zh-CN" baseline="-2500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98B80DA9-AEB4-8949-9BCE-0E05B381C4DF}"/>
              </a:ext>
            </a:extLst>
          </p:cNvPr>
          <p:cNvSpPr/>
          <p:nvPr/>
        </p:nvSpPr>
        <p:spPr>
          <a:xfrm>
            <a:off x="585788" y="4608513"/>
            <a:ext cx="8158162" cy="892175"/>
          </a:xfrm>
          <a:prstGeom prst="rect">
            <a:avLst/>
          </a:prstGeom>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3399FF"/>
              </a:buClr>
              <a:buFont typeface="Wingdings" pitchFamily="2" charset="2"/>
              <a:buChar char="v"/>
              <a:defRPr/>
            </a:pPr>
            <a:r>
              <a:rPr lang="zh-CN" altLang="en-US"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安全属性后</a:t>
            </a:r>
            <a:r>
              <a:rPr lang="en-US" altLang="zh-CN"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9</a:t>
            </a:r>
            <a:r>
              <a:rPr lang="zh-CN" altLang="en-US"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个字母规定了对所有者、所属组、其他用户的权限（各</a:t>
            </a:r>
            <a:r>
              <a:rPr lang="en-US" altLang="zh-CN"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3</a:t>
            </a:r>
            <a:r>
              <a:rPr lang="zh-CN" altLang="en-US" sz="2600" b="1">
                <a:solidFill>
                  <a:srgbClr val="0033CC"/>
                </a:solidFill>
                <a:effectLst>
                  <a:outerShdw blurRad="38100" dist="38100" dir="2700000" algn="tl">
                    <a:srgbClr val="C0C0C0"/>
                  </a:outerShdw>
                </a:effectLst>
                <a:latin typeface="Times New Roman" panose="02020603050405020304" pitchFamily="18" charset="0"/>
                <a:ea typeface="黑体" panose="02010609060101010101" pitchFamily="49" charset="-122"/>
              </a:rPr>
              <a:t>位）。</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1+#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50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Effect transition="in" filter="fade">
                                      <p:cBhvr>
                                        <p:cTn id="27" dur="1000"/>
                                        <p:tgtEl>
                                          <p:spTgt spid="8"/>
                                        </p:tgtEl>
                                      </p:cBhvr>
                                    </p:animEffect>
                                  </p:childTnLst>
                                </p:cTn>
                              </p:par>
                            </p:childTnLst>
                          </p:cTn>
                        </p:par>
                        <p:par>
                          <p:cTn id="28" fill="hold" nodeType="afterGroup">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108561"/>
                                        </p:tgtEl>
                                        <p:attrNameLst>
                                          <p:attrName>style.visibility</p:attrName>
                                        </p:attrNameLst>
                                      </p:cBhvr>
                                      <p:to>
                                        <p:strVal val="visible"/>
                                      </p:to>
                                    </p:set>
                                    <p:anim calcmode="lin" valueType="num">
                                      <p:cBhvr>
                                        <p:cTn id="31" dur="1000" fill="hold"/>
                                        <p:tgtEl>
                                          <p:spTgt spid="108561"/>
                                        </p:tgtEl>
                                        <p:attrNameLst>
                                          <p:attrName>ppt_w</p:attrName>
                                        </p:attrNameLst>
                                      </p:cBhvr>
                                      <p:tavLst>
                                        <p:tav tm="0">
                                          <p:val>
                                            <p:fltVal val="0"/>
                                          </p:val>
                                        </p:tav>
                                        <p:tav tm="100000">
                                          <p:val>
                                            <p:strVal val="#ppt_w"/>
                                          </p:val>
                                        </p:tav>
                                      </p:tavLst>
                                    </p:anim>
                                    <p:anim calcmode="lin" valueType="num">
                                      <p:cBhvr>
                                        <p:cTn id="32" dur="1000" fill="hold"/>
                                        <p:tgtEl>
                                          <p:spTgt spid="108561"/>
                                        </p:tgtEl>
                                        <p:attrNameLst>
                                          <p:attrName>ppt_h</p:attrName>
                                        </p:attrNameLst>
                                      </p:cBhvr>
                                      <p:tavLst>
                                        <p:tav tm="0">
                                          <p:val>
                                            <p:fltVal val="0"/>
                                          </p:val>
                                        </p:tav>
                                        <p:tav tm="100000">
                                          <p:val>
                                            <p:strVal val="#ppt_h"/>
                                          </p:val>
                                        </p:tav>
                                      </p:tavLst>
                                    </p:anim>
                                    <p:animEffect transition="in" filter="fade">
                                      <p:cBhvr>
                                        <p:cTn id="33" dur="1000"/>
                                        <p:tgtEl>
                                          <p:spTgt spid="108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8561" grpId="0"/>
      <p:bldP spid="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94B09ECD-6B5B-8B4D-B501-F616DC430E43}"/>
              </a:ext>
            </a:extLst>
          </p:cNvPr>
          <p:cNvSpPr>
            <a:spLocks noGrp="1"/>
          </p:cNvSpPr>
          <p:nvPr>
            <p:ph type="title"/>
          </p:nvPr>
        </p:nvSpPr>
        <p:spPr>
          <a:xfrm>
            <a:off x="250825" y="7556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集中访问控制的基本概念及实现</a:t>
            </a:r>
          </a:p>
        </p:txBody>
      </p:sp>
      <p:sp>
        <p:nvSpPr>
          <p:cNvPr id="109571" name="内容占位符 2">
            <a:extLst>
              <a:ext uri="{FF2B5EF4-FFF2-40B4-BE49-F238E27FC236}">
                <a16:creationId xmlns:a16="http://schemas.microsoft.com/office/drawing/2014/main" id="{61A040C6-23B8-624F-81FF-491E357C6229}"/>
              </a:ext>
            </a:extLst>
          </p:cNvPr>
          <p:cNvSpPr>
            <a:spLocks noGrp="1"/>
          </p:cNvSpPr>
          <p:nvPr>
            <p:ph idx="1"/>
          </p:nvPr>
        </p:nvSpPr>
        <p:spPr>
          <a:xfrm>
            <a:off x="533400" y="1295400"/>
            <a:ext cx="8191500" cy="1809750"/>
          </a:xfrm>
        </p:spPr>
        <p:txBody>
          <a:bodyPr/>
          <a:lstStyle/>
          <a:p>
            <a:pPr>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RADIUS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协议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TACACS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协议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TACACS+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协议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Diameter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协议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9573" name="Picture 4">
            <a:extLst>
              <a:ext uri="{FF2B5EF4-FFF2-40B4-BE49-F238E27FC236}">
                <a16:creationId xmlns:a16="http://schemas.microsoft.com/office/drawing/2014/main" id="{FF08B355-F613-9F4D-8611-747B519087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151188"/>
            <a:ext cx="80645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 calcmode="lin" valueType="num">
                                      <p:cBhvr>
                                        <p:cTn id="7" dur="500" fill="hold"/>
                                        <p:tgtEl>
                                          <p:spTgt spid="10957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957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9571">
                                            <p:txEl>
                                              <p:pRg st="0" end="0"/>
                                            </p:txEl>
                                          </p:spTgt>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09571">
                                            <p:txEl>
                                              <p:pRg st="1" end="1"/>
                                            </p:txEl>
                                          </p:spTgt>
                                        </p:tgtEl>
                                        <p:attrNameLst>
                                          <p:attrName>style.visibility</p:attrName>
                                        </p:attrNameLst>
                                      </p:cBhvr>
                                      <p:to>
                                        <p:strVal val="visible"/>
                                      </p:to>
                                    </p:set>
                                    <p:anim calcmode="lin" valueType="num">
                                      <p:cBhvr>
                                        <p:cTn id="13" dur="500" fill="hold"/>
                                        <p:tgtEl>
                                          <p:spTgt spid="10957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09571">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109571">
                                            <p:txEl>
                                              <p:pRg st="1" end="1"/>
                                            </p:txEl>
                                          </p:spTgt>
                                        </p:tgtEl>
                                      </p:cBhvr>
                                    </p:animEffect>
                                  </p:childTnLst>
                                </p:cTn>
                              </p:par>
                            </p:childTnLst>
                          </p:cTn>
                        </p:par>
                        <p:par>
                          <p:cTn id="16" fill="hold" nodeType="afterGroup">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09571">
                                            <p:txEl>
                                              <p:pRg st="2" end="2"/>
                                            </p:txEl>
                                          </p:spTgt>
                                        </p:tgtEl>
                                        <p:attrNameLst>
                                          <p:attrName>style.visibility</p:attrName>
                                        </p:attrNameLst>
                                      </p:cBhvr>
                                      <p:to>
                                        <p:strVal val="visible"/>
                                      </p:to>
                                    </p:set>
                                    <p:anim calcmode="lin" valueType="num">
                                      <p:cBhvr>
                                        <p:cTn id="19" dur="500" fill="hold"/>
                                        <p:tgtEl>
                                          <p:spTgt spid="109571">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09571">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09571">
                                            <p:txEl>
                                              <p:pRg st="2" end="2"/>
                                            </p:txEl>
                                          </p:spTgt>
                                        </p:tgtEl>
                                      </p:cBhvr>
                                    </p:animEffect>
                                  </p:childTnLst>
                                </p:cTn>
                              </p:par>
                            </p:childTnLst>
                          </p:cTn>
                        </p:par>
                        <p:par>
                          <p:cTn id="22" fill="hold" nodeType="afterGroup">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09571">
                                            <p:txEl>
                                              <p:pRg st="3" end="3"/>
                                            </p:txEl>
                                          </p:spTgt>
                                        </p:tgtEl>
                                        <p:attrNameLst>
                                          <p:attrName>style.visibility</p:attrName>
                                        </p:attrNameLst>
                                      </p:cBhvr>
                                      <p:to>
                                        <p:strVal val="visible"/>
                                      </p:to>
                                    </p:set>
                                    <p:anim calcmode="lin" valueType="num">
                                      <p:cBhvr>
                                        <p:cTn id="25" dur="500" fill="hold"/>
                                        <p:tgtEl>
                                          <p:spTgt spid="109571">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9571">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109571">
                                            <p:txEl>
                                              <p:pRg st="3" end="3"/>
                                            </p:txEl>
                                          </p:spTgt>
                                        </p:tgtEl>
                                      </p:cBhvr>
                                    </p:animEffect>
                                  </p:childTnLst>
                                </p:cTn>
                              </p:par>
                            </p:childTnLst>
                          </p:cTn>
                        </p:par>
                        <p:par>
                          <p:cTn id="28" fill="hold" nodeType="afterGroup">
                            <p:stCondLst>
                              <p:cond delay="2000"/>
                            </p:stCondLst>
                            <p:childTnLst>
                              <p:par>
                                <p:cTn id="29" presetID="53" presetClass="entr" presetSubtype="16" fill="hold" nodeType="afterEffect">
                                  <p:stCondLst>
                                    <p:cond delay="0"/>
                                  </p:stCondLst>
                                  <p:childTnLst>
                                    <p:set>
                                      <p:cBhvr>
                                        <p:cTn id="30" dur="1" fill="hold">
                                          <p:stCondLst>
                                            <p:cond delay="0"/>
                                          </p:stCondLst>
                                        </p:cTn>
                                        <p:tgtEl>
                                          <p:spTgt spid="109573"/>
                                        </p:tgtEl>
                                        <p:attrNameLst>
                                          <p:attrName>style.visibility</p:attrName>
                                        </p:attrNameLst>
                                      </p:cBhvr>
                                      <p:to>
                                        <p:strVal val="visible"/>
                                      </p:to>
                                    </p:set>
                                    <p:anim calcmode="lin" valueType="num">
                                      <p:cBhvr>
                                        <p:cTn id="31" dur="500" fill="hold"/>
                                        <p:tgtEl>
                                          <p:spTgt spid="109573"/>
                                        </p:tgtEl>
                                        <p:attrNameLst>
                                          <p:attrName>ppt_w</p:attrName>
                                        </p:attrNameLst>
                                      </p:cBhvr>
                                      <p:tavLst>
                                        <p:tav tm="0">
                                          <p:val>
                                            <p:fltVal val="0"/>
                                          </p:val>
                                        </p:tav>
                                        <p:tav tm="100000">
                                          <p:val>
                                            <p:strVal val="#ppt_w"/>
                                          </p:val>
                                        </p:tav>
                                      </p:tavLst>
                                    </p:anim>
                                    <p:anim calcmode="lin" valueType="num">
                                      <p:cBhvr>
                                        <p:cTn id="32" dur="500" fill="hold"/>
                                        <p:tgtEl>
                                          <p:spTgt spid="109573"/>
                                        </p:tgtEl>
                                        <p:attrNameLst>
                                          <p:attrName>ppt_h</p:attrName>
                                        </p:attrNameLst>
                                      </p:cBhvr>
                                      <p:tavLst>
                                        <p:tav tm="0">
                                          <p:val>
                                            <p:fltVal val="0"/>
                                          </p:val>
                                        </p:tav>
                                        <p:tav tm="100000">
                                          <p:val>
                                            <p:strVal val="#ppt_h"/>
                                          </p:val>
                                        </p:tav>
                                      </p:tavLst>
                                    </p:anim>
                                    <p:animEffect transition="in" filter="fade">
                                      <p:cBhvr>
                                        <p:cTn id="33" dur="500"/>
                                        <p:tgtEl>
                                          <p:spTgt spid="109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210B72E9-9EAB-B544-B840-947C49113B6D}"/>
              </a:ext>
            </a:extLst>
          </p:cNvPr>
          <p:cNvSpPr>
            <a:spLocks noGrp="1"/>
          </p:cNvSpPr>
          <p:nvPr>
            <p:ph type="title"/>
          </p:nvPr>
        </p:nvSpPr>
        <p:spPr>
          <a:xfrm>
            <a:off x="587375" y="908050"/>
            <a:ext cx="6513513" cy="487363"/>
          </a:xfrm>
        </p:spPr>
        <p:txBody>
          <a:bodyPr/>
          <a:lstStyle/>
          <a:p>
            <a:pPr>
              <a:buClr>
                <a:srgbClr val="3399FF"/>
              </a:buClr>
              <a:defRPr/>
            </a:pPr>
            <a:r>
              <a:rPr lang="zh-CN" altLang="en-US">
                <a:solidFill>
                  <a:srgbClr val="0033CC"/>
                </a:solidFill>
                <a:effectLst>
                  <a:outerShdw blurRad="38100" dist="38100" dir="2700000" algn="tl">
                    <a:srgbClr val="C0C0C0"/>
                  </a:outerShdw>
                </a:effectLst>
                <a:latin typeface="Times New Roman" panose="02020603050405020304" pitchFamily="18" charset="0"/>
              </a:rPr>
              <a:t>非集中访问控制</a:t>
            </a:r>
          </a:p>
        </p:txBody>
      </p:sp>
      <p:sp>
        <p:nvSpPr>
          <p:cNvPr id="3" name="内容占位符 2">
            <a:extLst>
              <a:ext uri="{FF2B5EF4-FFF2-40B4-BE49-F238E27FC236}">
                <a16:creationId xmlns:a16="http://schemas.microsoft.com/office/drawing/2014/main" id="{7752D31E-FE74-3746-AE99-590212C8541D}"/>
              </a:ext>
            </a:extLst>
          </p:cNvPr>
          <p:cNvSpPr>
            <a:spLocks noGrp="1"/>
          </p:cNvSpPr>
          <p:nvPr>
            <p:ph idx="1"/>
          </p:nvPr>
        </p:nvSpPr>
        <p:spPr>
          <a:xfrm>
            <a:off x="587375" y="1736725"/>
            <a:ext cx="8191500" cy="2962275"/>
          </a:xfrm>
        </p:spPr>
        <p:txBody>
          <a:bodyPr/>
          <a:lstStyle/>
          <a:p>
            <a:pPr>
              <a:defRPr/>
            </a:pPr>
            <a:r>
              <a:rPr lang="zh-CN" altLang="en-US" b="1">
                <a:solidFill>
                  <a:srgbClr val="FF0000"/>
                </a:solidFill>
                <a:effectLst>
                  <a:outerShdw blurRad="38100" dist="38100" dir="2700000" algn="tl">
                    <a:srgbClr val="C0C0C0"/>
                  </a:outerShdw>
                </a:effectLst>
              </a:rPr>
              <a:t>域的定义：</a:t>
            </a:r>
            <a:r>
              <a:rPr lang="zh-CN" altLang="en-US" b="1">
                <a:effectLst>
                  <a:outerShdw blurRad="38100" dist="38100" dir="2700000" algn="tl">
                    <a:srgbClr val="C0C0C0"/>
                  </a:outerShdw>
                </a:effectLst>
              </a:rPr>
              <a:t>一个信任范围，或者是共享共同安全策略的主体和客体的集合</a:t>
            </a:r>
            <a:endParaRPr lang="en-US" altLang="zh-CN" b="1">
              <a:effectLst>
                <a:outerShdw blurRad="38100" dist="38100" dir="2700000" algn="tl">
                  <a:srgbClr val="C0C0C0"/>
                </a:outerShdw>
              </a:effectLst>
            </a:endParaRPr>
          </a:p>
          <a:p>
            <a:pPr lvl="1">
              <a:buClr>
                <a:srgbClr val="2578B0"/>
              </a:buClr>
              <a:defRPr/>
            </a:pPr>
            <a:r>
              <a:rPr lang="zh-CN" altLang="en-US" b="1">
                <a:effectLst>
                  <a:outerShdw blurRad="38100" dist="38100" dir="2700000" algn="tl">
                    <a:srgbClr val="C0C0C0"/>
                  </a:outerShdw>
                </a:effectLst>
              </a:rPr>
              <a:t>每个域的访问控制与其它域保持独立</a:t>
            </a:r>
            <a:endParaRPr lang="en-US" altLang="zh-CN" b="1">
              <a:effectLst>
                <a:outerShdw blurRad="38100" dist="38100" dir="2700000" algn="tl">
                  <a:srgbClr val="C0C0C0"/>
                </a:outerShdw>
              </a:effectLst>
            </a:endParaRPr>
          </a:p>
          <a:p>
            <a:pPr lvl="1">
              <a:buClr>
                <a:srgbClr val="2578B0"/>
              </a:buClr>
              <a:defRPr/>
            </a:pPr>
            <a:r>
              <a:rPr lang="zh-CN" altLang="en-US" b="1">
                <a:effectLst>
                  <a:outerShdw blurRad="38100" dist="38100" dir="2700000" algn="tl">
                    <a:srgbClr val="C0C0C0"/>
                  </a:outerShdw>
                </a:effectLst>
              </a:rPr>
              <a:t>跨域访问必须建立信任关系，用户可以从一个域访问另一个域中的资源</a:t>
            </a:r>
            <a:endParaRPr lang="en-US" altLang="zh-CN" b="1">
              <a:effectLst>
                <a:outerShdw blurRad="38100" dist="38100" dir="2700000" algn="tl">
                  <a:srgbClr val="C0C0C0"/>
                </a:outerShdw>
              </a:effectLst>
            </a:endParaRPr>
          </a:p>
          <a:p>
            <a:pPr lvl="1">
              <a:buClr>
                <a:srgbClr val="2578B0"/>
              </a:buClr>
              <a:defRPr/>
            </a:pPr>
            <a:r>
              <a:rPr lang="zh-CN" altLang="en-US" b="1">
                <a:effectLst>
                  <a:outerShdw blurRad="38100" dist="38100" dir="2700000" algn="tl">
                    <a:srgbClr val="C0C0C0"/>
                  </a:outerShdw>
                </a:effectLst>
              </a:rPr>
              <a:t>信任可以是单向的，也可以是双向的</a:t>
            </a:r>
            <a:endParaRPr lang="en-US" altLang="zh-CN" b="1">
              <a:effectLst>
                <a:outerShdw blurRad="38100" dist="38100" dir="2700000" algn="tl">
                  <a:srgbClr val="C0C0C0"/>
                </a:outerShdw>
              </a:effectLst>
            </a:endParaRPr>
          </a:p>
          <a:p>
            <a:pPr lvl="1">
              <a:defRPr/>
            </a:pPr>
            <a:endParaRPr lang="en-US" altLang="zh-CN" b="1">
              <a:effectLst>
                <a:outerShdw blurRad="38100" dist="38100" dir="2700000" algn="tl">
                  <a:srgbClr val="C0C0C0"/>
                </a:outerShdw>
              </a:effectLst>
            </a:endParaRPr>
          </a:p>
        </p:txBody>
      </p:sp>
    </p:spTree>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内容占位符 2">
            <a:extLst>
              <a:ext uri="{FF2B5EF4-FFF2-40B4-BE49-F238E27FC236}">
                <a16:creationId xmlns:a16="http://schemas.microsoft.com/office/drawing/2014/main" id="{DB9A1B2F-C710-0947-BA3C-CEA849C2DAE3}"/>
              </a:ext>
            </a:extLst>
          </p:cNvPr>
          <p:cNvSpPr>
            <a:spLocks noGrp="1" noChangeArrowheads="1"/>
          </p:cNvSpPr>
          <p:nvPr>
            <p:ph idx="1"/>
          </p:nvPr>
        </p:nvSpPr>
        <p:spPr/>
        <p:txBody>
          <a:bodyPr/>
          <a:lstStyle/>
          <a:p>
            <a:r>
              <a:rPr lang="zh-CN" altLang="en-US" sz="1600"/>
              <a:t>20 世纪 80 年代以来，政府、机构、团体和各种商业组织都面临着采用和使用信息系统所面临的风险。这导致出现了一系列历史性的信息安全标准，因为美国国防部(DoD)致力于为其购买和使用的系统开发和实施安全标准，第一套这样的标准导致在 20 世纪 80 年代创建了可信计算机系统评估标准(TCSEC) 。1985 年，美国国家计算机安全中心(NCSC)开发了 TCSEC, 因为其封面颜色，通常称之为橘皮书。 TCSEC建立了从安全角度评估独立的计算机时使用的指导原则。这些指导原则涉及基本的安全功能，使评估人员可对系统功能和可信度进行度量和评级。实际上，在 TCSEC 中功能和安全保证是组合在一起的，而不像以后开发的安全标准那样将二者分开。 TCSEC 指导原则旨在用千评估供应商产品，也被供应商用来确保它们为新产品构建了所有必要的功能和安全保障。</a:t>
            </a:r>
          </a:p>
          <a:p>
            <a:r>
              <a:rPr lang="zh-CN" altLang="en-US" sz="1600"/>
              <a:t>紧接着，到 20世纪90 年代中期，完成了整个系列标准的出版。由于这些出版物通常通过其封面的颜色来识别，因此它们统称为</a:t>
            </a:r>
            <a:r>
              <a:rPr lang="zh-CN" altLang="en-US" sz="1600">
                <a:solidFill>
                  <a:srgbClr val="FF0000"/>
                </a:solidFill>
              </a:rPr>
              <a:t>彩虹系列</a:t>
            </a:r>
            <a:r>
              <a:rPr lang="zh-CN" altLang="en-US" sz="1600"/>
              <a:t>。</a:t>
            </a:r>
          </a:p>
          <a:p>
            <a:r>
              <a:rPr lang="zh-CN" altLang="en-US" sz="1600"/>
              <a:t>紧随美国国防部的脚步，其他政府或标准机构也制定了计算机安全标准，这些标准建立在彩虹系列元素基础之上并对其进行了改进。这些标准中的一个重要的欧洲模型称为信息技术安全评估标准(</a:t>
            </a:r>
            <a:r>
              <a:rPr lang="zh-CN" altLang="en-US" sz="1600">
                <a:solidFill>
                  <a:srgbClr val="FF0000"/>
                </a:solidFill>
              </a:rPr>
              <a:t>ITSEC</a:t>
            </a:r>
            <a:r>
              <a:rPr lang="zh-CN" altLang="en-US" sz="1600"/>
              <a:t>) ，该标准于 1990 年开发并一直使用到 1998 年。</a:t>
            </a:r>
          </a:p>
          <a:p>
            <a:r>
              <a:rPr lang="zh-CN" altLang="en-US" sz="1600"/>
              <a:t>最终， TCSEC ITSEC被所谓的通用准则(Common Criteria, CC)所取代， 1998 年美国、加拿大、法国、德国和英国采用了该标准它被更正式地称为 “IT 安全领域通用准则认证认可协议”当政府或其他有安全意识的机构评估信息系统时，他们会使用各种标准评估准则。 在 2005 年， TCSEC 已被通用准则(CC)所取代</a:t>
            </a:r>
          </a:p>
          <a:p>
            <a:endParaRPr lang="zh-CN" altLang="en-US" sz="1600"/>
          </a:p>
        </p:txBody>
      </p:sp>
      <p:sp>
        <p:nvSpPr>
          <p:cNvPr id="158722" name="文本框 4">
            <a:extLst>
              <a:ext uri="{FF2B5EF4-FFF2-40B4-BE49-F238E27FC236}">
                <a16:creationId xmlns:a16="http://schemas.microsoft.com/office/drawing/2014/main" id="{550E9B22-FAD9-8F4A-B42E-BAE766146D2C}"/>
              </a:ext>
            </a:extLst>
          </p:cNvPr>
          <p:cNvSpPr txBox="1">
            <a:spLocks noChangeArrowheads="1"/>
          </p:cNvSpPr>
          <p:nvPr/>
        </p:nvSpPr>
        <p:spPr bwMode="auto">
          <a:xfrm>
            <a:off x="533400" y="852488"/>
            <a:ext cx="1406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00" b="1">
                <a:solidFill>
                  <a:srgbClr val="FF0000"/>
                </a:solidFill>
                <a:latin typeface="Arial" panose="020B0604020202020204" pitchFamily="34" charset="0"/>
                <a:ea typeface="宋体" panose="02010600030101010101" pitchFamily="2" charset="-122"/>
              </a:rPr>
              <a:t>彩虹系列</a:t>
            </a:r>
          </a:p>
        </p:txBody>
      </p:sp>
    </p:spTree>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内容占位符 2">
            <a:extLst>
              <a:ext uri="{FF2B5EF4-FFF2-40B4-BE49-F238E27FC236}">
                <a16:creationId xmlns:a16="http://schemas.microsoft.com/office/drawing/2014/main" id="{93D301A0-5B1B-B54E-A291-D478934BC4A3}"/>
              </a:ext>
            </a:extLst>
          </p:cNvPr>
          <p:cNvSpPr>
            <a:spLocks noGrp="1" noChangeArrowheads="1"/>
          </p:cNvSpPr>
          <p:nvPr>
            <p:ph idx="1"/>
          </p:nvPr>
        </p:nvSpPr>
        <p:spPr/>
        <p:txBody>
          <a:bodyPr/>
          <a:lstStyle/>
          <a:p>
            <a:r>
              <a:rPr lang="en-US" altLang="zh-CN"/>
              <a:t>TCSEC 的级别.TCSEC 融合了功能性和保证，将系统提供的保密性保护等级分为</a:t>
            </a:r>
            <a:r>
              <a:rPr lang="en-US" altLang="zh-CN">
                <a:solidFill>
                  <a:srgbClr val="FF0000"/>
                </a:solidFill>
              </a:rPr>
              <a:t>四大类</a:t>
            </a:r>
            <a:r>
              <a:rPr lang="en-US" altLang="zh-CN"/>
              <a:t>：</a:t>
            </a:r>
          </a:p>
          <a:p>
            <a:pPr lvl="1"/>
            <a:r>
              <a:rPr lang="en-US" altLang="zh-CN"/>
              <a:t>类别</a:t>
            </a:r>
            <a:r>
              <a:rPr lang="en-US" altLang="zh-CN">
                <a:solidFill>
                  <a:srgbClr val="FF0000"/>
                </a:solidFill>
              </a:rPr>
              <a:t>A</a:t>
            </a:r>
            <a:r>
              <a:rPr lang="en-US" altLang="zh-CN"/>
              <a:t> 已验证保护。最高级别的安全性。</a:t>
            </a:r>
          </a:p>
          <a:p>
            <a:pPr lvl="1"/>
            <a:r>
              <a:rPr lang="en-US" altLang="zh-CN"/>
              <a:t>类别</a:t>
            </a:r>
            <a:r>
              <a:rPr lang="en-US" altLang="zh-CN">
                <a:solidFill>
                  <a:srgbClr val="FF0000"/>
                </a:solidFill>
              </a:rPr>
              <a:t>B</a:t>
            </a:r>
            <a:r>
              <a:rPr lang="en-US" altLang="zh-CN"/>
              <a:t> 强制保护。</a:t>
            </a:r>
          </a:p>
          <a:p>
            <a:pPr lvl="1"/>
            <a:r>
              <a:rPr lang="en-US" altLang="zh-CN"/>
              <a:t>类别</a:t>
            </a:r>
            <a:r>
              <a:rPr lang="en-US" altLang="zh-CN">
                <a:solidFill>
                  <a:srgbClr val="0033CC"/>
                </a:solidFill>
              </a:rPr>
              <a:t>C</a:t>
            </a:r>
            <a:r>
              <a:rPr lang="en-US" altLang="zh-CN"/>
              <a:t> 自主保护。</a:t>
            </a:r>
          </a:p>
          <a:p>
            <a:pPr lvl="1"/>
            <a:r>
              <a:rPr lang="en-US" altLang="zh-CN"/>
              <a:t>类别</a:t>
            </a:r>
            <a:r>
              <a:rPr lang="en-US" altLang="zh-CN">
                <a:solidFill>
                  <a:srgbClr val="C34D07"/>
                </a:solidFill>
              </a:rPr>
              <a:t>D</a:t>
            </a:r>
            <a:r>
              <a:rPr lang="en-US" altLang="zh-CN"/>
              <a:t> 最小保护。</a:t>
            </a:r>
          </a:p>
          <a:p>
            <a:endParaRPr lang="en-US" altLang="zh-CN"/>
          </a:p>
        </p:txBody>
      </p:sp>
      <p:pic>
        <p:nvPicPr>
          <p:cNvPr id="159746" name="图片 4">
            <a:extLst>
              <a:ext uri="{FF2B5EF4-FFF2-40B4-BE49-F238E27FC236}">
                <a16:creationId xmlns:a16="http://schemas.microsoft.com/office/drawing/2014/main" id="{46B35865-18F9-454C-AECF-565758CD8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263" y="2851150"/>
            <a:ext cx="4579937" cy="329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内容占位符 2">
            <a:extLst>
              <a:ext uri="{FF2B5EF4-FFF2-40B4-BE49-F238E27FC236}">
                <a16:creationId xmlns:a16="http://schemas.microsoft.com/office/drawing/2014/main" id="{AA663479-A9C1-014B-ABF8-0E1C91B6AFB8}"/>
              </a:ext>
            </a:extLst>
          </p:cNvPr>
          <p:cNvSpPr>
            <a:spLocks noGrp="1" noChangeArrowheads="1"/>
          </p:cNvSpPr>
          <p:nvPr>
            <p:ph idx="1"/>
          </p:nvPr>
        </p:nvSpPr>
        <p:spPr/>
        <p:txBody>
          <a:bodyPr/>
          <a:lstStyle/>
          <a:p>
            <a:r>
              <a:rPr lang="zh-CN" altLang="en-US">
                <a:solidFill>
                  <a:srgbClr val="FF0000"/>
                </a:solidFill>
              </a:rPr>
              <a:t>彩虹系统的一些元素。</a:t>
            </a:r>
            <a:r>
              <a:rPr lang="zh-CN" altLang="en-US" sz="1800"/>
              <a:t>美国国防部文档集合中有近 30 个书目，这些书要么是对橘皮书的补充，要么就是对</a:t>
            </a:r>
          </a:p>
          <a:p>
            <a:r>
              <a:rPr lang="zh-CN" altLang="en-US"/>
              <a:t>其进一步阐述</a:t>
            </a:r>
          </a:p>
          <a:p>
            <a:endParaRPr lang="zh-CN" altLang="en-US"/>
          </a:p>
        </p:txBody>
      </p:sp>
      <p:pic>
        <p:nvPicPr>
          <p:cNvPr id="160770" name="图片 4">
            <a:extLst>
              <a:ext uri="{FF2B5EF4-FFF2-40B4-BE49-F238E27FC236}">
                <a16:creationId xmlns:a16="http://schemas.microsoft.com/office/drawing/2014/main" id="{B019DD7F-AC87-CF48-9EE8-8795C1387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200" y="2135188"/>
            <a:ext cx="7608888"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内容占位符 2">
            <a:extLst>
              <a:ext uri="{FF2B5EF4-FFF2-40B4-BE49-F238E27FC236}">
                <a16:creationId xmlns:a16="http://schemas.microsoft.com/office/drawing/2014/main" id="{E11670C5-72D1-5940-A0B4-2EDAD4E34683}"/>
              </a:ext>
            </a:extLst>
          </p:cNvPr>
          <p:cNvSpPr>
            <a:spLocks noGrp="1" noChangeArrowheads="1"/>
          </p:cNvSpPr>
          <p:nvPr>
            <p:ph idx="1"/>
          </p:nvPr>
        </p:nvSpPr>
        <p:spPr/>
        <p:txBody>
          <a:bodyPr/>
          <a:lstStyle/>
          <a:p>
            <a:r>
              <a:rPr lang="en-US" altLang="zh-CN"/>
              <a:t>安全评估标准比较</a:t>
            </a:r>
          </a:p>
        </p:txBody>
      </p:sp>
      <p:pic>
        <p:nvPicPr>
          <p:cNvPr id="161794" name="图片 4">
            <a:extLst>
              <a:ext uri="{FF2B5EF4-FFF2-40B4-BE49-F238E27FC236}">
                <a16:creationId xmlns:a16="http://schemas.microsoft.com/office/drawing/2014/main" id="{56719AFA-609C-F849-9B81-365A4185B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315"/>
          <a:stretch>
            <a:fillRect/>
          </a:stretch>
        </p:blipFill>
        <p:spPr bwMode="auto">
          <a:xfrm>
            <a:off x="474663" y="2214563"/>
            <a:ext cx="8308975" cy="26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标题 1">
            <a:extLst>
              <a:ext uri="{FF2B5EF4-FFF2-40B4-BE49-F238E27FC236}">
                <a16:creationId xmlns:a16="http://schemas.microsoft.com/office/drawing/2014/main" id="{671A1C52-EFE9-E74E-B754-57CD7A66DE4A}"/>
              </a:ext>
            </a:extLst>
          </p:cNvPr>
          <p:cNvSpPr txBox="1">
            <a:spLocks noChangeArrowheads="1"/>
          </p:cNvSpPr>
          <p:nvPr/>
        </p:nvSpPr>
        <p:spPr bwMode="auto">
          <a:xfrm>
            <a:off x="1008063" y="3429000"/>
            <a:ext cx="71278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kumimoji="1" lang="en-US" altLang="zh-CN" sz="60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Thanks</a:t>
            </a:r>
            <a:r>
              <a:rPr kumimoji="1" lang="zh-CN" altLang="en-US" sz="60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a:t>
            </a:r>
            <a:endParaRPr lang="zh-CN" altLang="en-US" sz="6000" b="1">
              <a:solidFill>
                <a:srgbClr val="C00000"/>
              </a:solidFill>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63842" name="Rectangle 2">
            <a:extLst>
              <a:ext uri="{FF2B5EF4-FFF2-40B4-BE49-F238E27FC236}">
                <a16:creationId xmlns:a16="http://schemas.microsoft.com/office/drawing/2014/main" id="{9F750B64-7F05-7247-AB4F-A2FECCA4152B}"/>
              </a:ext>
            </a:extLst>
          </p:cNvPr>
          <p:cNvSpPr txBox="1">
            <a:spLocks noRot="1" noChangeArrowheads="1"/>
          </p:cNvSpPr>
          <p:nvPr/>
        </p:nvSpPr>
        <p:spPr bwMode="auto">
          <a:xfrm>
            <a:off x="1260475" y="990600"/>
            <a:ext cx="66230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3399FF"/>
              </a:buClr>
              <a:buFont typeface="Wingdings"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kumimoji="1" lang="en-US" altLang="zh-CN" sz="44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Questions</a:t>
            </a:r>
            <a:r>
              <a:rPr kumimoji="1" lang="zh-CN" altLang="en-US" sz="44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 </a:t>
            </a:r>
            <a:r>
              <a:rPr kumimoji="1" lang="en-US" altLang="zh-CN" sz="44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&amp;</a:t>
            </a:r>
            <a:r>
              <a:rPr kumimoji="1" lang="zh-CN" altLang="en-US" sz="44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 </a:t>
            </a:r>
            <a:r>
              <a:rPr kumimoji="1" lang="en-US" altLang="zh-CN" sz="4400" b="1">
                <a:solidFill>
                  <a:srgbClr val="790004"/>
                </a:solidFill>
                <a:latin typeface="Microsoft YaHei" panose="020B0503020204020204" pitchFamily="34" charset="-122"/>
                <a:ea typeface="Microsoft YaHei" panose="020B0503020204020204" pitchFamily="34" charset="-122"/>
                <a:cs typeface="Arial" panose="020B0604020202020204" pitchFamily="34" charset="0"/>
              </a:rPr>
              <a:t>Answers</a:t>
            </a:r>
          </a:p>
        </p:txBody>
      </p:sp>
    </p:spTree>
  </p:cSld>
  <p:clrMapOvr>
    <a:masterClrMapping/>
  </p:clrMapOvr>
  <p:transition>
    <p:fade/>
  </p:transition>
</p:sld>
</file>

<file path=ppt/theme/theme1.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6381</TotalTime>
  <Words>6129</Words>
  <Application>Microsoft Office PowerPoint</Application>
  <PresentationFormat>全屏显示(4:3)</PresentationFormat>
  <Paragraphs>1010</Paragraphs>
  <Slides>126</Slides>
  <Notes>52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126</vt:i4>
      </vt:variant>
    </vt:vector>
  </HeadingPairs>
  <TitlesOfParts>
    <vt:vector size="137" baseType="lpstr">
      <vt:lpstr>方正大黑简体</vt:lpstr>
      <vt:lpstr>黑体</vt:lpstr>
      <vt:lpstr>楷体</vt:lpstr>
      <vt:lpstr>宋体</vt:lpstr>
      <vt:lpstr>微软雅黑</vt:lpstr>
      <vt:lpstr>Arial</vt:lpstr>
      <vt:lpstr>Tahoma</vt:lpstr>
      <vt:lpstr>Times New Roman</vt:lpstr>
      <vt:lpstr>Wingdings</vt:lpstr>
      <vt:lpstr>sx272TGp_report_light</vt:lpstr>
      <vt:lpstr>Equation.3</vt:lpstr>
      <vt:lpstr>PowerPoint 演示文稿</vt:lpstr>
      <vt:lpstr>PowerPoint 演示文稿</vt:lpstr>
      <vt:lpstr>课程内容</vt:lpstr>
      <vt:lpstr>知识域：访问控制模型</vt:lpstr>
      <vt:lpstr>访问控制的概念和目标</vt:lpstr>
      <vt:lpstr>访问控制的作用</vt:lpstr>
      <vt:lpstr>主体与客体</vt:lpstr>
      <vt:lpstr>主体与客体之间的关系</vt:lpstr>
      <vt:lpstr>PowerPoint 演示文稿</vt:lpstr>
      <vt:lpstr> 授权  </vt:lpstr>
      <vt:lpstr>标识</vt:lpstr>
      <vt:lpstr>主体标识的实例</vt:lpstr>
      <vt:lpstr>客体标识的实例</vt:lpstr>
      <vt:lpstr>访问控制的两个重要过程</vt:lpstr>
      <vt:lpstr>访问控制模型</vt:lpstr>
      <vt:lpstr>PowerPoint 演示文稿</vt:lpstr>
      <vt:lpstr>访问控制模型基本概念</vt:lpstr>
      <vt:lpstr>访问控制的一般实现机制和方法</vt:lpstr>
      <vt:lpstr>访问控制表（Access Control List）</vt:lpstr>
      <vt:lpstr>PowerPoint 演示文稿</vt:lpstr>
      <vt:lpstr>PowerPoint 演示文稿</vt:lpstr>
      <vt:lpstr>访问控制表（Access Control List）</vt:lpstr>
      <vt:lpstr>能力表（Capability List）</vt:lpstr>
      <vt:lpstr>能力表（Capability List）</vt:lpstr>
      <vt:lpstr>PowerPoint 演示文稿</vt:lpstr>
      <vt:lpstr>访问控制矩阵</vt:lpstr>
      <vt:lpstr>PowerPoint 演示文稿</vt:lpstr>
      <vt:lpstr>访问控制矩阵</vt:lpstr>
      <vt:lpstr>访问控制矩阵</vt:lpstr>
      <vt:lpstr>授权关系表</vt:lpstr>
      <vt:lpstr>访问控制安全标签</vt:lpstr>
      <vt:lpstr>锁与钥匙 </vt:lpstr>
      <vt:lpstr>访问控制与其他安全机制的关系</vt:lpstr>
      <vt:lpstr>访问控制与其他安全机制的关系</vt:lpstr>
      <vt:lpstr>访问控制的一般策略</vt:lpstr>
      <vt:lpstr>访问控制模型的分类</vt:lpstr>
      <vt:lpstr>知识域：访问控制模型</vt:lpstr>
      <vt:lpstr>自主访问控制的含义</vt:lpstr>
      <vt:lpstr>自主型访问控制策略</vt:lpstr>
      <vt:lpstr>自主型访问控制(DAC) </vt:lpstr>
      <vt:lpstr>自主访问控制的实现机制和方法</vt:lpstr>
      <vt:lpstr>访问许可与访问模式</vt:lpstr>
      <vt:lpstr>访问许可的类型</vt:lpstr>
      <vt:lpstr>访问模式的类型</vt:lpstr>
      <vt:lpstr>访问控制矩阵</vt:lpstr>
      <vt:lpstr>访问控制表</vt:lpstr>
      <vt:lpstr>访问控制表：举例</vt:lpstr>
      <vt:lpstr>访问控制表</vt:lpstr>
      <vt:lpstr>访问控制表</vt:lpstr>
      <vt:lpstr>访问控制表</vt:lpstr>
      <vt:lpstr>访问能力表</vt:lpstr>
      <vt:lpstr>访问能力表：举例</vt:lpstr>
      <vt:lpstr>访问控制表与访问能力表的比较</vt:lpstr>
      <vt:lpstr>PowerPoint 演示文稿</vt:lpstr>
      <vt:lpstr>PowerPoint 演示文稿</vt:lpstr>
      <vt:lpstr>PowerPoint 演示文稿</vt:lpstr>
      <vt:lpstr>PowerPoint 演示文稿</vt:lpstr>
      <vt:lpstr>PowerPoint 演示文稿</vt:lpstr>
      <vt:lpstr>自主访问控制的特点  </vt:lpstr>
      <vt:lpstr>知识域：访问控制模型</vt:lpstr>
      <vt:lpstr>强制访问控制的含义</vt:lpstr>
      <vt:lpstr>强制型访问控制（MAC）</vt:lpstr>
      <vt:lpstr>强制型访问控制（MAC）</vt:lpstr>
      <vt:lpstr>强制访问控制——下读/上写</vt:lpstr>
      <vt:lpstr>强制访问控制——上读/下写</vt:lpstr>
      <vt:lpstr>PowerPoint 演示文稿</vt:lpstr>
      <vt:lpstr>PowerPoint 演示文稿</vt:lpstr>
      <vt:lpstr>常见强制访问控制模型</vt:lpstr>
      <vt:lpstr>Lattice模型</vt:lpstr>
      <vt:lpstr>Bell－LaPadula(BLP)模型</vt:lpstr>
      <vt:lpstr>BLP应用：防火墙</vt:lpstr>
      <vt:lpstr>PowerPoint 演示文稿</vt:lpstr>
      <vt:lpstr>Biba模型</vt:lpstr>
      <vt:lpstr>Biba应用：Web服务器</vt:lpstr>
      <vt:lpstr>PowerPoint 演示文稿</vt:lpstr>
      <vt:lpstr>自主访问控制与强制访问控制的比较</vt:lpstr>
      <vt:lpstr>PowerPoint 演示文稿</vt:lpstr>
      <vt:lpstr>随堂练习</vt:lpstr>
      <vt:lpstr>PowerPoint 演示文稿</vt:lpstr>
      <vt:lpstr>基于角色的访问控制 (Role Based Access Control)</vt:lpstr>
      <vt:lpstr>RBAC 模型的基本思想</vt:lpstr>
      <vt:lpstr>RBAC与传统访问控制的差别</vt:lpstr>
      <vt:lpstr>基于组的策略</vt:lpstr>
      <vt:lpstr>RBAC 模型的组成（一）</vt:lpstr>
      <vt:lpstr>RBAC 模型的组成（二）</vt:lpstr>
      <vt:lpstr>RBAC 模型的基本机制</vt:lpstr>
      <vt:lpstr>基于角色的访问控制模型</vt:lpstr>
      <vt:lpstr>RBAC模型实例</vt:lpstr>
      <vt:lpstr>PowerPoint 演示文稿</vt:lpstr>
      <vt:lpstr>用户、角色、许可的关系</vt:lpstr>
      <vt:lpstr>基于角色的访问控制实例——银行</vt:lpstr>
      <vt:lpstr>角色继承</vt:lpstr>
      <vt:lpstr>角色管理——分配与授权</vt:lpstr>
      <vt:lpstr>角色激活</vt:lpstr>
      <vt:lpstr>角色限制</vt:lpstr>
      <vt:lpstr>RBAC系统结构 </vt:lpstr>
      <vt:lpstr>RBAC系统的运行步骤</vt:lpstr>
      <vt:lpstr>PowerPoint 演示文稿</vt:lpstr>
      <vt:lpstr>RBAC 96的组成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总结：RBAC模型的特点</vt:lpstr>
      <vt:lpstr>知识域：访问控制技术</vt:lpstr>
      <vt:lpstr>常用操作系统中的访问控制</vt:lpstr>
      <vt:lpstr>Windows (自主访问控制)</vt:lpstr>
      <vt:lpstr>Windows (自主访问控制)</vt:lpstr>
      <vt:lpstr>Windows (自主访问控制)</vt:lpstr>
      <vt:lpstr>PowerPoint 演示文稿</vt:lpstr>
      <vt:lpstr>Windows (自主访问控制)</vt:lpstr>
      <vt:lpstr>思考题</vt:lpstr>
      <vt:lpstr>Linux (自主访问控制)</vt:lpstr>
      <vt:lpstr>PowerPoint 演示文稿</vt:lpstr>
      <vt:lpstr>集中访问控制的基本概念及实现</vt:lpstr>
      <vt:lpstr>非集中访问控制</vt:lpstr>
      <vt:lpstr>PowerPoint 演示文稿</vt:lpstr>
      <vt:lpstr>PowerPoint 演示文稿</vt:lpstr>
      <vt:lpstr>PowerPoint 演示文稿</vt:lpstr>
      <vt:lpstr>PowerPoint 演示文稿</vt:lpstr>
      <vt:lpstr>PowerPoint 演示文稿</vt:lpstr>
    </vt:vector>
  </TitlesOfParts>
  <Company>中国信息安全测评中心:cisp运营中心</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沈传宁</dc:creator>
  <cp:lastModifiedBy>丹阳 郑</cp:lastModifiedBy>
  <cp:revision>783</cp:revision>
  <dcterms:created xsi:type="dcterms:W3CDTF">2009-02-11T06:13:22Z</dcterms:created>
  <dcterms:modified xsi:type="dcterms:W3CDTF">2026-05-17T14:28:04Z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