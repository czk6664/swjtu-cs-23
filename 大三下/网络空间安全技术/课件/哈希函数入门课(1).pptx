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本页为原创教学可视化构图；示例摘要数值由 SHA-256 现场计算生成。
- NIST CSRC Glossary, “hash function”: https://csrc.nist.gov/glossary/term/hash_function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NIST CSRC Glossary, “hash function”: https://csrc.nist.gov/glossary/term/hash_function
- NIST CSRC Glossary, “hash”: https://csrc.nist.gov/glossary/term/hash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OWASP Password Storage Cheat Sheet, “Hashing vs Encryption”: https://cheatsheetseries.owasp.org/cheatsheets/Password_Storage_Cheat_Sheet.html
- NIST CSRC Glossary, “hash function”: https://csrc.nist.gov/glossary/term/hash_function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NIST CSRC Glossary, “hash function”: https://csrc.nist.gov/glossary/term/hash_function
- NIST FIPS 180-4, Secure Hash Standard: https://csrc.nist.gov/pubs/fips/180-4/upd1/final
- Asset: “Cryptographic Hash Function.svg” (Wikimedia Commons): https://commons.wikimedia.org/wiki/File:Cryptographic_Hash_Function.svg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NIST FIPS 180-4, Abstract: digests are used to detect whether messages have been changed: https://csrc.nist.gov/pubs/fips/180-4/upd1/final
- Asset: “Checksum.svg” (Wikimedia Commons): https://commons.wikimedia.org/wiki/File:Checksum.svg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OWASP Password Storage Cheat Sheet: modern, adaptive hashing algorithms for passwords; prefer Argon2id and use salts. https://cheatsheetseries.owasp.org/cheatsheets/Password_Storage_Cheat_Sheet.html
- OWASP lines on salts and Argon2id recommendation (current page content).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CMU 15-445/645 Hash Tables notes: average O(1) operation complexity and key→bucket mapping. https://15445.courses.cs.cmu.edu/fall2021/notes/06-hashtables.pdf
- Asset: “Hash table 5 0 1 1 1 1 0 SP.svg” (Wikimedia Commons): https://commons.wikimedia.org/wiki/File:Hash_table_5_0_1_1_1_1_0_SP.svg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NIST Digital Signatures project page: https://csrc.nist.gov/projects/digital-signatures
- Git hash-function-transition documentation: https://git-scm.com/docs/hash-function-transition
- Asset: “Hash Tree.svg” (Wikimedia Commons): https://commons.wikimedia.org/wiki/File:Hash_Tree.svg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NIST Policy on Hash Functions: transition away from SHA-1 for applications requiring collision resistance. https://csrc.nist.gov/projects/hash-functions/nist-policy-on-hash-functions
- OWASP Password Storage Cheat Sheet: prefer modern adaptive password hashing algorithms; older algorithms such as MD5/SHA-1 should be upgraded. https://cheatsheetseries.owasp.org/cheatsheets/Password_Storage_Cheat_Sheet.html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NIST CSRC Glossary, “hash function” and “hash”: https://csrc.nist.gov/glossary/term/hash_function ; https://csrc.nist.gov/glossary/term/hash
- OWASP Password Storage Cheat Sheet: https://cheatsheetseries.owasp.org/cheatsheets/Password_Storage_Cheat_Sheet.html
- NIST FIPS 180-4 Secure Hash Standard: https://csrc.nist.gov/pubs/fips/180-4/upd1/final
- CMU hash table notes: https://15445.courses.cs.cmu.edu/fall2021/notes/06-hashtables.pdf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D8F0F3"/>
          </a:solidFill>
          <a:ln w="12700">
            <a:solidFill>
              <a:srgbClr val="A6DDE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 rot="-720000">
            <a:off x="7818120" y="658368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5E4EA">
                    <a:alpha val="88000"/>
                  </a:srgbClr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d7fa2828 7222217a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D5E4EA">
                    <a:alpha val="88000"/>
                  </a:srgbClr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2b10233e 76f1f365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D5E4EA">
                    <a:alpha val="88000"/>
                  </a:srgbClr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363b8eae c29a1ae0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412480" y="5230368"/>
            <a:ext cx="2468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696A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SHA-256</a:t>
            </a:r>
            <a:endParaRPr lang="en-US" sz="1650" dirty="0"/>
          </a:p>
          <a:p>
            <a:pPr algn="ctr" indent="0" marL="0">
              <a:buNone/>
            </a:pPr>
            <a:r>
              <a:rPr lang="en-US" sz="1650" b="1" dirty="0">
                <a:solidFill>
                  <a:srgbClr val="1696A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固定长度摘要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8183880" y="4343400"/>
            <a:ext cx="2926080" cy="493776"/>
          </a:xfrm>
          <a:prstGeom prst="roundRect">
            <a:avLst>
              <a:gd name="adj" fmla="val 18519"/>
            </a:avLst>
          </a:prstGeom>
          <a:solidFill>
            <a:srgbClr val="FFFFFF">
              <a:alpha val="93000"/>
            </a:srgbClr>
          </a:solidFill>
          <a:ln w="12700">
            <a:solidFill>
              <a:srgbClr val="A8DCE1"/>
            </a:solidFill>
            <a:prstDash val="solid"/>
          </a:ln>
          <a:effectLst>
            <a:outerShdw sx="100000" sy="100000" kx="0" ky="0" algn="bl" rotWithShape="0" blurRad="25400" dist="508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49808" y="1143000"/>
            <a:ext cx="6217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50" b="1" dirty="0">
                <a:solidFill>
                  <a:srgbClr val="16345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哈希函数</a:t>
            </a:r>
            <a:endParaRPr lang="en-US" sz="2950" dirty="0"/>
          </a:p>
          <a:p>
            <a:pPr indent="0" marL="0">
              <a:buNone/>
            </a:pPr>
            <a:r>
              <a:rPr lang="en-US" sz="2950" b="1" dirty="0">
                <a:solidFill>
                  <a:srgbClr val="16345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Hash Function</a:t>
            </a:r>
            <a:endParaRPr lang="en-US" sz="2950" dirty="0"/>
          </a:p>
        </p:txBody>
      </p:sp>
      <p:sp>
        <p:nvSpPr>
          <p:cNvPr id="7" name="Text 5"/>
          <p:cNvSpPr/>
          <p:nvPr/>
        </p:nvSpPr>
        <p:spPr>
          <a:xfrm>
            <a:off x="777240" y="2450592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96A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给本科生的 10 张图入门课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2971800"/>
            <a:ext cx="5852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把“任意长度内容”压成“固定长度摘要”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理解它为什么能用在文件校验、密码存储、哈希表、数字签名与 Git 等系统中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955280" y="1737360"/>
            <a:ext cx="342900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65008" y="1792224"/>
            <a:ext cx="3209544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0E4D64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"OpenAI-2025"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823960" y="2377440"/>
            <a:ext cx="1691640" cy="347472"/>
          </a:xfrm>
          <a:prstGeom prst="rightArrow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22208" y="2852928"/>
            <a:ext cx="2304288" cy="502920"/>
          </a:xfrm>
          <a:prstGeom prst="roundRect">
            <a:avLst>
              <a:gd name="adj" fmla="val 14545"/>
            </a:avLst>
          </a:prstGeom>
          <a:solidFill>
            <a:srgbClr val="1696A3"/>
          </a:solidFill>
          <a:ln w="12700">
            <a:solidFill>
              <a:srgbClr val="1696A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95360" y="2871216"/>
            <a:ext cx="2157984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哈希函数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726680" y="3657600"/>
            <a:ext cx="3858768" cy="530352"/>
          </a:xfrm>
          <a:prstGeom prst="roundRect">
            <a:avLst>
              <a:gd name="adj" fmla="val 8621"/>
            </a:avLst>
          </a:prstGeom>
          <a:solidFill>
            <a:srgbClr val="F3F7FA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36408" y="3712464"/>
            <a:ext cx="3639312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0E4D64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d7fa28287222217a…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777240" y="5074920"/>
            <a:ext cx="2240280" cy="384048"/>
          </a:xfrm>
          <a:prstGeom prst="roundRect">
            <a:avLst>
              <a:gd name="adj" fmla="val 19048"/>
            </a:avLst>
          </a:prstGeom>
          <a:solidFill>
            <a:srgbClr val="E8F4F7"/>
          </a:solidFill>
          <a:ln w="12700">
            <a:solidFill>
              <a:srgbClr val="E8F4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0392" y="5093208"/>
            <a:ext cx="20939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345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关键词：摘要 / 指纹 / 定位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86384" y="562356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7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适合课堂讲解，也适合复习前快速回顾。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109960" y="6355080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8B5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DEFF2"/>
          </a:solidFill>
          <a:ln w="12700">
            <a:solidFill>
              <a:srgbClr val="1696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61320" y="128016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8CA0A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Hash Function</a:t>
            </a:r>
            <a:endParaRPr lang="en-US" sz="820" dirty="0"/>
          </a:p>
        </p:txBody>
      </p:sp>
      <p:sp>
        <p:nvSpPr>
          <p:cNvPr id="4" name="Shape 2"/>
          <p:cNvSpPr/>
          <p:nvPr/>
        </p:nvSpPr>
        <p:spPr>
          <a:xfrm>
            <a:off x="502920" y="256032"/>
            <a:ext cx="164592" cy="475488"/>
          </a:xfrm>
          <a:prstGeom prst="roundRect">
            <a:avLst>
              <a:gd name="adj" fmla="val 22222"/>
            </a:avLst>
          </a:prstGeom>
          <a:solidFill>
            <a:srgbClr val="1696A3"/>
          </a:solidFill>
          <a:ln w="12700">
            <a:solidFill>
              <a:srgbClr val="1696A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256032"/>
            <a:ext cx="9144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50" b="1" dirty="0">
                <a:solidFill>
                  <a:srgbClr val="16345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先用一句话理解：哈希 = 把任意内容压成固定长度摘要</a:t>
            </a:r>
            <a:endParaRPr lang="en-US" sz="2750" dirty="0"/>
          </a:p>
        </p:txBody>
      </p:sp>
      <p:sp>
        <p:nvSpPr>
          <p:cNvPr id="6" name="Text 4"/>
          <p:cNvSpPr/>
          <p:nvPr/>
        </p:nvSpPr>
        <p:spPr>
          <a:xfrm>
            <a:off x="768096" y="658368"/>
            <a:ext cx="9784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5B67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你可以把它看成内容的“短指纹”，但它不是原文本身。</a:t>
            </a:r>
            <a:endParaRPr lang="en-US" sz="1220" dirty="0"/>
          </a:p>
        </p:txBody>
      </p:sp>
      <p:sp>
        <p:nvSpPr>
          <p:cNvPr id="7" name="Text 5"/>
          <p:cNvSpPr/>
          <p:nvPr/>
        </p:nvSpPr>
        <p:spPr>
          <a:xfrm>
            <a:off x="11155680" y="6355080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8B5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13232" y="941832"/>
            <a:ext cx="10561320" cy="0"/>
          </a:xfrm>
          <a:prstGeom prst="line">
            <a:avLst/>
          </a:prstGeom>
          <a:noFill/>
          <a:ln w="12700">
            <a:solidFill>
              <a:srgbClr val="D7E2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1325880"/>
            <a:ext cx="3154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4E2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6112" y="1426464"/>
            <a:ext cx="694944" cy="365760"/>
          </a:xfrm>
          <a:prstGeom prst="roundRect">
            <a:avLst>
              <a:gd name="adj" fmla="val 20000"/>
            </a:avLst>
          </a:prstGeom>
          <a:solidFill>
            <a:srgbClr val="EAF5F8"/>
          </a:solidFill>
          <a:ln w="12700">
            <a:solidFill>
              <a:srgbClr val="EAF5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9264" y="1444752"/>
            <a:ext cx="548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345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文本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755648" y="145389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“你好，哈希函数！”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458200" y="1371600"/>
            <a:ext cx="2788920" cy="475488"/>
          </a:xfrm>
          <a:prstGeom prst="roundRect">
            <a:avLst>
              <a:gd name="adj" fmla="val 9615"/>
            </a:avLst>
          </a:prstGeom>
          <a:solidFill>
            <a:srgbClr val="F2F8FB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67928" y="1426464"/>
            <a:ext cx="2569464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0E4D64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50db5f95c8c1…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777240" y="2240280"/>
            <a:ext cx="3154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4E2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96112" y="2340864"/>
            <a:ext cx="694944" cy="365760"/>
          </a:xfrm>
          <a:prstGeom prst="roundRect">
            <a:avLst>
              <a:gd name="adj" fmla="val 20000"/>
            </a:avLst>
          </a:prstGeom>
          <a:solidFill>
            <a:srgbClr val="EAF5F8"/>
          </a:solidFill>
          <a:ln w="12700">
            <a:solidFill>
              <a:srgbClr val="EAF5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9264" y="2359152"/>
            <a:ext cx="548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345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图片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755648" y="236829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photo.png   4.8 MB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458200" y="2286000"/>
            <a:ext cx="2788920" cy="475488"/>
          </a:xfrm>
          <a:prstGeom prst="roundRect">
            <a:avLst>
              <a:gd name="adj" fmla="val 9615"/>
            </a:avLst>
          </a:prstGeom>
          <a:solidFill>
            <a:srgbClr val="F2F8FB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67928" y="2340864"/>
            <a:ext cx="2569464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0E4D64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b8a9d0470ea2…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777240" y="3154680"/>
            <a:ext cx="3154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4E2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96112" y="3255264"/>
            <a:ext cx="694944" cy="365760"/>
          </a:xfrm>
          <a:prstGeom prst="roundRect">
            <a:avLst>
              <a:gd name="adj" fmla="val 20000"/>
            </a:avLst>
          </a:prstGeom>
          <a:solidFill>
            <a:srgbClr val="EAF5F8"/>
          </a:solidFill>
          <a:ln w="12700">
            <a:solidFill>
              <a:srgbClr val="EAF5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9264" y="3273552"/>
            <a:ext cx="548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345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程序包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755648" y="328269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lab1.zip   128 MB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458200" y="3200400"/>
            <a:ext cx="2788920" cy="475488"/>
          </a:xfrm>
          <a:prstGeom prst="roundRect">
            <a:avLst>
              <a:gd name="adj" fmla="val 9615"/>
            </a:avLst>
          </a:prstGeom>
          <a:solidFill>
            <a:srgbClr val="F2F8FB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67928" y="3255264"/>
            <a:ext cx="2569464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0E4D64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0fd4bb71d8e6…</a:t>
            </a:r>
            <a:endParaRPr lang="en-US" sz="1550" dirty="0"/>
          </a:p>
        </p:txBody>
      </p:sp>
      <p:sp>
        <p:nvSpPr>
          <p:cNvPr id="27" name="Shape 25"/>
          <p:cNvSpPr/>
          <p:nvPr/>
        </p:nvSpPr>
        <p:spPr>
          <a:xfrm>
            <a:off x="777240" y="4069080"/>
            <a:ext cx="3154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4E2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96112" y="4169664"/>
            <a:ext cx="694944" cy="365760"/>
          </a:xfrm>
          <a:prstGeom prst="roundRect">
            <a:avLst>
              <a:gd name="adj" fmla="val 20000"/>
            </a:avLst>
          </a:prstGeom>
          <a:solidFill>
            <a:srgbClr val="EAF5F8"/>
          </a:solidFill>
          <a:ln w="12700">
            <a:solidFill>
              <a:srgbClr val="EAF5F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69264" y="4187952"/>
            <a:ext cx="548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345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学号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755648" y="419709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2025112345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458200" y="4114800"/>
            <a:ext cx="2788920" cy="475488"/>
          </a:xfrm>
          <a:prstGeom prst="roundRect">
            <a:avLst>
              <a:gd name="adj" fmla="val 9615"/>
            </a:avLst>
          </a:prstGeom>
          <a:solidFill>
            <a:srgbClr val="F2F8FB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567928" y="4169664"/>
            <a:ext cx="2569464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0E4D64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17ee8d6ac5ad…</a:t>
            </a:r>
            <a:endParaRPr lang="en-US" sz="1550" dirty="0"/>
          </a:p>
        </p:txBody>
      </p:sp>
      <p:sp>
        <p:nvSpPr>
          <p:cNvPr id="33" name="Shape 31"/>
          <p:cNvSpPr/>
          <p:nvPr/>
        </p:nvSpPr>
        <p:spPr>
          <a:xfrm>
            <a:off x="4526280" y="2331720"/>
            <a:ext cx="914400" cy="1143000"/>
          </a:xfrm>
          <a:prstGeom prst="chevron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440680" y="2011680"/>
            <a:ext cx="2011680" cy="1737360"/>
          </a:xfrm>
          <a:prstGeom prst="roundRect">
            <a:avLst>
              <a:gd name="adj" fmla="val 4211"/>
            </a:avLst>
          </a:prstGeom>
          <a:solidFill>
            <a:srgbClr val="E8F7F8"/>
          </a:solidFill>
          <a:ln w="12700">
            <a:solidFill>
              <a:srgbClr val="1696A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724144" y="2331720"/>
            <a:ext cx="1444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696A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哈希函数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5724144" y="2761488"/>
            <a:ext cx="144475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6345B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hash()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6345B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快速计算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479792" y="2450592"/>
            <a:ext cx="566928" cy="868680"/>
          </a:xfrm>
          <a:prstGeom prst="chevron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339328" y="914400"/>
            <a:ext cx="2834640" cy="320040"/>
          </a:xfrm>
          <a:prstGeom prst="roundRect">
            <a:avLst>
              <a:gd name="adj" fmla="val 22857"/>
            </a:avLst>
          </a:prstGeom>
          <a:solidFill>
            <a:srgbClr val="E8F4F7"/>
          </a:solidFill>
          <a:ln w="12700">
            <a:solidFill>
              <a:srgbClr val="E8F4F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412480" y="932688"/>
            <a:ext cx="2688336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345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不管原始内容多长，摘要长度都固定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841248" y="5138928"/>
            <a:ext cx="2084832" cy="384048"/>
          </a:xfrm>
          <a:prstGeom prst="roundRect">
            <a:avLst>
              <a:gd name="adj" fmla="val 19048"/>
            </a:avLst>
          </a:prstGeom>
          <a:solidFill>
            <a:srgbClr val="EAF6EE"/>
          </a:solidFill>
          <a:ln w="12700">
            <a:solidFill>
              <a:srgbClr val="EAF6E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14400" y="5157216"/>
            <a:ext cx="19385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8B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同样输入 → 同样摘要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3136392" y="5138928"/>
            <a:ext cx="2542032" cy="384048"/>
          </a:xfrm>
          <a:prstGeom prst="roundRect">
            <a:avLst>
              <a:gd name="adj" fmla="val 19048"/>
            </a:avLst>
          </a:prstGeom>
          <a:solidFill>
            <a:srgbClr val="FCE9E6"/>
          </a:solidFill>
          <a:ln w="12700">
            <a:solidFill>
              <a:srgbClr val="FCE9E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09544" y="5157216"/>
            <a:ext cx="23957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63D2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只改一点 → 摘要大变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6035040" y="5001768"/>
            <a:ext cx="219456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144768" y="5056632"/>
            <a:ext cx="1975104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E4D64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OpenAI-2025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8412480" y="5001768"/>
            <a:ext cx="219456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522208" y="5056632"/>
            <a:ext cx="1975104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E4D64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OpenAI-2026</a:t>
            </a:r>
            <a:endParaRPr lang="en-US" sz="1500" dirty="0"/>
          </a:p>
        </p:txBody>
      </p:sp>
      <p:sp>
        <p:nvSpPr>
          <p:cNvPr id="48" name="Shape 46"/>
          <p:cNvSpPr/>
          <p:nvPr/>
        </p:nvSpPr>
        <p:spPr>
          <a:xfrm>
            <a:off x="8229600" y="5239512"/>
            <a:ext cx="146304" cy="0"/>
          </a:xfrm>
          <a:prstGeom prst="line">
            <a:avLst/>
          </a:prstGeom>
          <a:noFill/>
          <a:ln w="12700">
            <a:solidFill>
              <a:srgbClr val="D7E2E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59536" y="5669280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7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日常说“哈希值”“摘要”“digest”，通常指的就是右边这串短结果。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DEFF2"/>
          </a:solidFill>
          <a:ln w="12700">
            <a:solidFill>
              <a:srgbClr val="1696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61320" y="128016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8CA0A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Hash Function</a:t>
            </a:r>
            <a:endParaRPr lang="en-US" sz="820" dirty="0"/>
          </a:p>
        </p:txBody>
      </p:sp>
      <p:sp>
        <p:nvSpPr>
          <p:cNvPr id="4" name="Shape 2"/>
          <p:cNvSpPr/>
          <p:nvPr/>
        </p:nvSpPr>
        <p:spPr>
          <a:xfrm>
            <a:off x="502920" y="256032"/>
            <a:ext cx="164592" cy="475488"/>
          </a:xfrm>
          <a:prstGeom prst="roundRect">
            <a:avLst>
              <a:gd name="adj" fmla="val 22222"/>
            </a:avLst>
          </a:prstGeom>
          <a:solidFill>
            <a:srgbClr val="1696A3"/>
          </a:solidFill>
          <a:ln w="12700">
            <a:solidFill>
              <a:srgbClr val="1696A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256032"/>
            <a:ext cx="9144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50" b="1" dirty="0">
                <a:solidFill>
                  <a:srgbClr val="16345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别和“加密”“编码”混淆：它们解决的问题不一样</a:t>
            </a:r>
            <a:endParaRPr lang="en-US" sz="2750" dirty="0"/>
          </a:p>
        </p:txBody>
      </p:sp>
      <p:sp>
        <p:nvSpPr>
          <p:cNvPr id="6" name="Text 4"/>
          <p:cNvSpPr/>
          <p:nvPr/>
        </p:nvSpPr>
        <p:spPr>
          <a:xfrm>
            <a:off x="768096" y="658368"/>
            <a:ext cx="9784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5B67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一眼区分：哈希偏“摘要与校验”，加密偏“保密”，编码偏“换一种表示”。</a:t>
            </a:r>
            <a:endParaRPr lang="en-US" sz="1220" dirty="0"/>
          </a:p>
        </p:txBody>
      </p:sp>
      <p:sp>
        <p:nvSpPr>
          <p:cNvPr id="7" name="Text 5"/>
          <p:cNvSpPr/>
          <p:nvPr/>
        </p:nvSpPr>
        <p:spPr>
          <a:xfrm>
            <a:off x="11155680" y="6355080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8B5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02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13232" y="941832"/>
            <a:ext cx="10561320" cy="0"/>
          </a:xfrm>
          <a:prstGeom prst="line">
            <a:avLst/>
          </a:prstGeom>
          <a:noFill/>
          <a:ln w="12700">
            <a:solidFill>
              <a:srgbClr val="D7E2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1325880"/>
            <a:ext cx="1056132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87552" y="1472184"/>
            <a:ext cx="914400" cy="420624"/>
          </a:xfrm>
          <a:prstGeom prst="roundRect">
            <a:avLst>
              <a:gd name="adj" fmla="val 17391"/>
            </a:avLst>
          </a:prstGeom>
          <a:solidFill>
            <a:srgbClr val="1696A3"/>
          </a:solidFill>
          <a:ln w="12700">
            <a:solidFill>
              <a:srgbClr val="1696A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60704" y="1490472"/>
            <a:ext cx="7680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哈希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331720" y="1453896"/>
            <a:ext cx="1078992" cy="457200"/>
          </a:xfrm>
          <a:prstGeom prst="roundRect">
            <a:avLst>
              <a:gd name="adj" fmla="val 16000"/>
            </a:avLst>
          </a:prstGeom>
          <a:solidFill>
            <a:srgbClr val="EFF4F7"/>
          </a:solidFill>
          <a:ln w="12700">
            <a:solidFill>
              <a:srgbClr val="EFF4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04872" y="1472184"/>
            <a:ext cx="9326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原文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749040" y="1545336"/>
            <a:ext cx="2011680" cy="274320"/>
          </a:xfrm>
          <a:prstGeom prst="rightArrow">
            <a:avLst/>
          </a:prstGeom>
          <a:solidFill>
            <a:srgbClr val="1696A3"/>
          </a:solidFill>
          <a:ln w="12700">
            <a:solidFill>
              <a:srgbClr val="1696A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0" y="1353312"/>
            <a:ext cx="960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696A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通常不可逆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35040" y="1453896"/>
            <a:ext cx="1920240" cy="457200"/>
          </a:xfrm>
          <a:prstGeom prst="roundRect">
            <a:avLst>
              <a:gd name="adj" fmla="val 16000"/>
            </a:avLst>
          </a:prstGeom>
          <a:solidFill>
            <a:srgbClr val="F7FAFD"/>
          </a:solidFill>
          <a:ln w="12700">
            <a:solidFill>
              <a:srgbClr val="F7FAF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08192" y="1472184"/>
            <a:ext cx="17739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摘要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549640" y="1490472"/>
            <a:ext cx="1965960" cy="384048"/>
          </a:xfrm>
          <a:prstGeom prst="roundRect">
            <a:avLst>
              <a:gd name="adj" fmla="val 19048"/>
            </a:avLst>
          </a:prstGeom>
          <a:solidFill>
            <a:srgbClr val="EEF6F8"/>
          </a:solidFill>
          <a:ln w="12700">
            <a:solidFill>
              <a:srgbClr val="EEF6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22792" y="1508760"/>
            <a:ext cx="18196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345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校验 / 索引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22960" y="2606040"/>
            <a:ext cx="1056132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87552" y="2752344"/>
            <a:ext cx="914400" cy="420624"/>
          </a:xfrm>
          <a:prstGeom prst="roundRect">
            <a:avLst>
              <a:gd name="adj" fmla="val 17391"/>
            </a:avLst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60704" y="2770632"/>
            <a:ext cx="7680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加密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2331720" y="2734056"/>
            <a:ext cx="1078992" cy="457200"/>
          </a:xfrm>
          <a:prstGeom prst="roundRect">
            <a:avLst>
              <a:gd name="adj" fmla="val 16000"/>
            </a:avLst>
          </a:prstGeom>
          <a:solidFill>
            <a:srgbClr val="EFF4F7"/>
          </a:solidFill>
          <a:ln w="12700">
            <a:solidFill>
              <a:srgbClr val="EFF4F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404872" y="2752344"/>
            <a:ext cx="9326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原文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749040" y="2825496"/>
            <a:ext cx="2011680" cy="274320"/>
          </a:xfrm>
          <a:prstGeom prst="leftRightArrow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51960" y="2633472"/>
            <a:ext cx="10515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299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有密钥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035040" y="2734056"/>
            <a:ext cx="1920240" cy="457200"/>
          </a:xfrm>
          <a:prstGeom prst="roundRect">
            <a:avLst>
              <a:gd name="adj" fmla="val 16000"/>
            </a:avLst>
          </a:prstGeom>
          <a:solidFill>
            <a:srgbClr val="F7FAFD"/>
          </a:solidFill>
          <a:ln w="12700">
            <a:solidFill>
              <a:srgbClr val="F7FAF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08192" y="2752344"/>
            <a:ext cx="17739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密文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549640" y="2770632"/>
            <a:ext cx="1965960" cy="384048"/>
          </a:xfrm>
          <a:prstGeom prst="roundRect">
            <a:avLst>
              <a:gd name="adj" fmla="val 19048"/>
            </a:avLst>
          </a:prstGeom>
          <a:solidFill>
            <a:srgbClr val="EEF6F8"/>
          </a:solidFill>
          <a:ln w="12700">
            <a:solidFill>
              <a:srgbClr val="EEF6F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622792" y="2788920"/>
            <a:ext cx="18196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345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保密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822960" y="3886200"/>
            <a:ext cx="1056132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87552" y="4032504"/>
            <a:ext cx="914400" cy="420624"/>
          </a:xfrm>
          <a:prstGeom prst="roundRect">
            <a:avLst>
              <a:gd name="adj" fmla="val 17391"/>
            </a:avLst>
          </a:prstGeom>
          <a:solidFill>
            <a:srgbClr val="16345B"/>
          </a:solidFill>
          <a:ln w="12700">
            <a:solidFill>
              <a:srgbClr val="16345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60704" y="4050792"/>
            <a:ext cx="7680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编码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2331720" y="4014216"/>
            <a:ext cx="1078992" cy="457200"/>
          </a:xfrm>
          <a:prstGeom prst="roundRect">
            <a:avLst>
              <a:gd name="adj" fmla="val 16000"/>
            </a:avLst>
          </a:prstGeom>
          <a:solidFill>
            <a:srgbClr val="EFF4F7"/>
          </a:solidFill>
          <a:ln w="12700">
            <a:solidFill>
              <a:srgbClr val="EFF4F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404872" y="4032504"/>
            <a:ext cx="9326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3749040" y="4105656"/>
            <a:ext cx="2011680" cy="274320"/>
          </a:xfrm>
          <a:prstGeom prst="leftRightArrow">
            <a:avLst/>
          </a:prstGeom>
          <a:solidFill>
            <a:srgbClr val="16345B"/>
          </a:solidFill>
          <a:ln w="12700">
            <a:solidFill>
              <a:srgbClr val="16345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251960" y="3913632"/>
            <a:ext cx="10515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6345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完全可还原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035040" y="4014216"/>
            <a:ext cx="1920240" cy="457200"/>
          </a:xfrm>
          <a:prstGeom prst="roundRect">
            <a:avLst>
              <a:gd name="adj" fmla="val 16000"/>
            </a:avLst>
          </a:prstGeom>
          <a:solidFill>
            <a:srgbClr val="F7FAFD"/>
          </a:solidFill>
          <a:ln w="12700">
            <a:solidFill>
              <a:srgbClr val="F7FAF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08192" y="4032504"/>
            <a:ext cx="17739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Base64 / UTF-8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549640" y="4050792"/>
            <a:ext cx="1965960" cy="384048"/>
          </a:xfrm>
          <a:prstGeom prst="roundRect">
            <a:avLst>
              <a:gd name="adj" fmla="val 19048"/>
            </a:avLst>
          </a:prstGeom>
          <a:solidFill>
            <a:srgbClr val="EEF6F8"/>
          </a:solidFill>
          <a:ln w="12700">
            <a:solidFill>
              <a:srgbClr val="EEF6F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622792" y="4069080"/>
            <a:ext cx="18196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345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表示转换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868680" y="5303520"/>
            <a:ext cx="10469880" cy="713232"/>
          </a:xfrm>
          <a:prstGeom prst="roundRect">
            <a:avLst>
              <a:gd name="adj" fmla="val 7692"/>
            </a:avLst>
          </a:prstGeom>
          <a:solidFill>
            <a:srgbClr val="FFF6EC"/>
          </a:solidFill>
          <a:ln w="12700">
            <a:solidFill>
              <a:srgbClr val="F0C18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51560" y="5468112"/>
            <a:ext cx="9966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最常见的误解：想把内容“藏起来”时去用哈希。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正确做法：需要保密时用加密；需要验证内容时用哈希。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DEFF2"/>
          </a:solidFill>
          <a:ln w="12700">
            <a:solidFill>
              <a:srgbClr val="1696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61320" y="128016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8CA0A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Hash Function</a:t>
            </a:r>
            <a:endParaRPr lang="en-US" sz="820" dirty="0"/>
          </a:p>
        </p:txBody>
      </p:sp>
      <p:sp>
        <p:nvSpPr>
          <p:cNvPr id="4" name="Shape 2"/>
          <p:cNvSpPr/>
          <p:nvPr/>
        </p:nvSpPr>
        <p:spPr>
          <a:xfrm>
            <a:off x="502920" y="256032"/>
            <a:ext cx="164592" cy="475488"/>
          </a:xfrm>
          <a:prstGeom prst="roundRect">
            <a:avLst>
              <a:gd name="adj" fmla="val 22222"/>
            </a:avLst>
          </a:prstGeom>
          <a:solidFill>
            <a:srgbClr val="1696A3"/>
          </a:solidFill>
          <a:ln w="12700">
            <a:solidFill>
              <a:srgbClr val="1696A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256032"/>
            <a:ext cx="9144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50" b="1" dirty="0">
                <a:solidFill>
                  <a:srgbClr val="16345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一个好哈希函数看起来像什么？</a:t>
            </a:r>
            <a:endParaRPr lang="en-US" sz="2750" dirty="0"/>
          </a:p>
        </p:txBody>
      </p:sp>
      <p:sp>
        <p:nvSpPr>
          <p:cNvPr id="6" name="Text 4"/>
          <p:cNvSpPr/>
          <p:nvPr/>
        </p:nvSpPr>
        <p:spPr>
          <a:xfrm>
            <a:off x="768096" y="658368"/>
            <a:ext cx="9784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5B67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本科阶段先记住 5 个关键词：定长、确定、快速、雪崩、难逆推/难碰撞。</a:t>
            </a:r>
            <a:endParaRPr lang="en-US" sz="1220" dirty="0"/>
          </a:p>
        </p:txBody>
      </p:sp>
      <p:sp>
        <p:nvSpPr>
          <p:cNvPr id="7" name="Text 5"/>
          <p:cNvSpPr/>
          <p:nvPr/>
        </p:nvSpPr>
        <p:spPr>
          <a:xfrm>
            <a:off x="11155680" y="6355080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8B5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03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13232" y="941832"/>
            <a:ext cx="10561320" cy="0"/>
          </a:xfrm>
          <a:prstGeom prst="line">
            <a:avLst/>
          </a:prstGeom>
          <a:noFill/>
          <a:ln w="12700">
            <a:solidFill>
              <a:srgbClr val="D7E2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1234440"/>
            <a:ext cx="5120640" cy="4389120"/>
          </a:xfrm>
          <a:prstGeom prst="roundRect">
            <a:avLst>
              <a:gd name="adj" fmla="val 1042"/>
            </a:avLst>
          </a:prstGeom>
          <a:solidFill>
            <a:srgbClr val="FFFFFF"/>
          </a:solidFill>
          <a:ln w="12700">
            <a:solidFill>
              <a:srgbClr val="D7E2EA"/>
            </a:solidFill>
            <a:prstDash val="solid"/>
          </a:ln>
        </p:spPr>
      </p:sp>
      <p:pic>
        <p:nvPicPr>
          <p:cNvPr id="10" name="Image 0" descr="/mnt/data/hash_ppt/assets/cryptographic_hash_func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1659729"/>
            <a:ext cx="4800600" cy="3483679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60120" y="536752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7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小改动会引起输出大变化：这叫雪崩效应。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400800" y="1371600"/>
            <a:ext cx="329184" cy="329184"/>
          </a:xfrm>
          <a:prstGeom prst="ellipse">
            <a:avLst/>
          </a:prstGeom>
          <a:solidFill>
            <a:srgbClr val="1696A3"/>
          </a:solidFill>
          <a:ln w="12700">
            <a:solidFill>
              <a:srgbClr val="1696A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73952" y="1389888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1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903720" y="1353312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任意长度输入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6903720" y="161848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7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一篇论文和一串学号都能哈希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400800" y="2157984"/>
            <a:ext cx="329184" cy="329184"/>
          </a:xfrm>
          <a:prstGeom prst="ellipse">
            <a:avLst/>
          </a:prstGeom>
          <a:solidFill>
            <a:srgbClr val="1696A3"/>
          </a:solidFill>
          <a:ln w="12700">
            <a:solidFill>
              <a:srgbClr val="1696A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73952" y="2176272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903720" y="2139696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固定长度输出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6903720" y="2404872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7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例如 SHA-256 始终输出 256 位摘要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6400800" y="2944368"/>
            <a:ext cx="329184" cy="329184"/>
          </a:xfrm>
          <a:prstGeom prst="ellipse">
            <a:avLst/>
          </a:prstGeom>
          <a:solidFill>
            <a:srgbClr val="1696A3"/>
          </a:solidFill>
          <a:ln w="12700">
            <a:solidFill>
              <a:srgbClr val="1696A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473952" y="2962656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903720" y="2926080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同样输入，同样输出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6903720" y="3191256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7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否则就无法比较或定位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6400800" y="3730752"/>
            <a:ext cx="329184" cy="329184"/>
          </a:xfrm>
          <a:prstGeom prst="ellipse">
            <a:avLst/>
          </a:prstGeom>
          <a:solidFill>
            <a:srgbClr val="1696A3"/>
          </a:solidFill>
          <a:ln w="12700">
            <a:solidFill>
              <a:srgbClr val="1696A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473952" y="3749040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6903720" y="3712464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输入改一点，摘要大变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6903720" y="397764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7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便于发现修改与篡改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6400800" y="4517136"/>
            <a:ext cx="329184" cy="329184"/>
          </a:xfrm>
          <a:prstGeom prst="ellipse">
            <a:avLst/>
          </a:prstGeom>
          <a:solidFill>
            <a:srgbClr val="1696A3"/>
          </a:solidFill>
          <a:ln w="12700">
            <a:solidFill>
              <a:srgbClr val="1696A3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473952" y="4535424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5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6903720" y="4498848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安全哈希还要求难逆推、难找碰撞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6903720" y="4764024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7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这让它适合安全场景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6446520" y="5440680"/>
            <a:ext cx="219456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556248" y="5495544"/>
            <a:ext cx="1975104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0E4D64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OpenAI-2025</a:t>
            </a:r>
            <a:endParaRPr lang="en-US" sz="1350" dirty="0"/>
          </a:p>
        </p:txBody>
      </p:sp>
      <p:sp>
        <p:nvSpPr>
          <p:cNvPr id="34" name="Shape 31"/>
          <p:cNvSpPr/>
          <p:nvPr/>
        </p:nvSpPr>
        <p:spPr>
          <a:xfrm>
            <a:off x="8887968" y="5440680"/>
            <a:ext cx="219456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8997696" y="5495544"/>
            <a:ext cx="1975104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0E4D64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OpenAI-2026</a:t>
            </a:r>
            <a:endParaRPr lang="en-US" sz="1350" dirty="0"/>
          </a:p>
        </p:txBody>
      </p:sp>
      <p:sp>
        <p:nvSpPr>
          <p:cNvPr id="36" name="Shape 33"/>
          <p:cNvSpPr/>
          <p:nvPr/>
        </p:nvSpPr>
        <p:spPr>
          <a:xfrm>
            <a:off x="8677656" y="5641848"/>
            <a:ext cx="109728" cy="0"/>
          </a:xfrm>
          <a:prstGeom prst="line">
            <a:avLst/>
          </a:prstGeom>
          <a:noFill/>
          <a:ln w="12700">
            <a:solidFill>
              <a:srgbClr val="D7E2EA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473952" y="5897880"/>
            <a:ext cx="21488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E4D64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d7fa28287222217a…</a:t>
            </a:r>
            <a:endParaRPr lang="en-US" sz="1120" dirty="0"/>
          </a:p>
        </p:txBody>
      </p:sp>
      <p:sp>
        <p:nvSpPr>
          <p:cNvPr id="38" name="Text 35"/>
          <p:cNvSpPr/>
          <p:nvPr/>
        </p:nvSpPr>
        <p:spPr>
          <a:xfrm>
            <a:off x="8906256" y="5897880"/>
            <a:ext cx="21488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E4D64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2b10233e76f1f365…</a:t>
            </a:r>
            <a:endParaRPr lang="en-US" sz="11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DEFF2"/>
          </a:solidFill>
          <a:ln w="12700">
            <a:solidFill>
              <a:srgbClr val="1696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61320" y="128016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8CA0A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Hash Function</a:t>
            </a:r>
            <a:endParaRPr lang="en-US" sz="820" dirty="0"/>
          </a:p>
        </p:txBody>
      </p:sp>
      <p:sp>
        <p:nvSpPr>
          <p:cNvPr id="4" name="Shape 2"/>
          <p:cNvSpPr/>
          <p:nvPr/>
        </p:nvSpPr>
        <p:spPr>
          <a:xfrm>
            <a:off x="502920" y="256032"/>
            <a:ext cx="164592" cy="475488"/>
          </a:xfrm>
          <a:prstGeom prst="roundRect">
            <a:avLst>
              <a:gd name="adj" fmla="val 22222"/>
            </a:avLst>
          </a:prstGeom>
          <a:solidFill>
            <a:srgbClr val="1696A3"/>
          </a:solidFill>
          <a:ln w="12700">
            <a:solidFill>
              <a:srgbClr val="1696A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256032"/>
            <a:ext cx="9144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50" b="1" dirty="0">
                <a:solidFill>
                  <a:srgbClr val="16345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作用 1：完整性校验——检查“内容有没有变”</a:t>
            </a:r>
            <a:endParaRPr lang="en-US" sz="2750" dirty="0"/>
          </a:p>
        </p:txBody>
      </p:sp>
      <p:sp>
        <p:nvSpPr>
          <p:cNvPr id="6" name="Text 4"/>
          <p:cNvSpPr/>
          <p:nvPr/>
        </p:nvSpPr>
        <p:spPr>
          <a:xfrm>
            <a:off x="768096" y="658368"/>
            <a:ext cx="9784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5B67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哈希最朴素、也最常见的用途：下载、传输、备份、版本发布时做完整性验证。</a:t>
            </a:r>
            <a:endParaRPr lang="en-US" sz="1220" dirty="0"/>
          </a:p>
        </p:txBody>
      </p:sp>
      <p:sp>
        <p:nvSpPr>
          <p:cNvPr id="7" name="Text 5"/>
          <p:cNvSpPr/>
          <p:nvPr/>
        </p:nvSpPr>
        <p:spPr>
          <a:xfrm>
            <a:off x="11155680" y="6355080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8B5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04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13232" y="941832"/>
            <a:ext cx="10561320" cy="0"/>
          </a:xfrm>
          <a:prstGeom prst="line">
            <a:avLst/>
          </a:prstGeom>
          <a:noFill/>
          <a:ln w="12700">
            <a:solidFill>
              <a:srgbClr val="D7E2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" y="1234440"/>
            <a:ext cx="4663440" cy="4526280"/>
          </a:xfrm>
          <a:prstGeom prst="roundRect">
            <a:avLst>
              <a:gd name="adj" fmla="val 1010"/>
            </a:avLst>
          </a:prstGeom>
          <a:solidFill>
            <a:srgbClr val="FFFFFF"/>
          </a:solidFill>
          <a:ln w="12700">
            <a:solidFill>
              <a:srgbClr val="D7E2EA"/>
            </a:solidFill>
            <a:prstDash val="solid"/>
          </a:ln>
        </p:spPr>
      </p:sp>
      <p:pic>
        <p:nvPicPr>
          <p:cNvPr id="10" name="Image 0" descr="/mnt/data/hash_ppt/assets/checksu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3783" y="1508760"/>
            <a:ext cx="3864634" cy="38404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87552" y="5422392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7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文件内容只改一点，校验值就会显著不同。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943600" y="1371600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345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典型流程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5989320" y="1856232"/>
            <a:ext cx="109728" cy="109728"/>
          </a:xfrm>
          <a:prstGeom prst="ellipse">
            <a:avLst/>
          </a:prstGeom>
          <a:solidFill>
            <a:srgbClr val="1696A3"/>
          </a:solidFill>
          <a:ln w="12700">
            <a:solidFill>
              <a:srgbClr val="1696A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172200" y="1783080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发布方先公布：文件 + 摘要（如 SHA-256）</a:t>
            </a:r>
            <a:endParaRPr lang="en-US" sz="1750" dirty="0"/>
          </a:p>
        </p:txBody>
      </p:sp>
      <p:sp>
        <p:nvSpPr>
          <p:cNvPr id="15" name="Shape 12"/>
          <p:cNvSpPr/>
          <p:nvPr/>
        </p:nvSpPr>
        <p:spPr>
          <a:xfrm>
            <a:off x="5989320" y="2514600"/>
            <a:ext cx="109728" cy="109728"/>
          </a:xfrm>
          <a:prstGeom prst="ellipse">
            <a:avLst/>
          </a:prstGeom>
          <a:solidFill>
            <a:srgbClr val="1696A3"/>
          </a:solidFill>
          <a:ln w="12700">
            <a:solidFill>
              <a:srgbClr val="1696A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172200" y="2441448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接收方下载后，对同一文件再算一次哈希</a:t>
            </a:r>
            <a:endParaRPr lang="en-US" sz="1750" dirty="0"/>
          </a:p>
        </p:txBody>
      </p:sp>
      <p:sp>
        <p:nvSpPr>
          <p:cNvPr id="17" name="Shape 14"/>
          <p:cNvSpPr/>
          <p:nvPr/>
        </p:nvSpPr>
        <p:spPr>
          <a:xfrm>
            <a:off x="5989320" y="3172968"/>
            <a:ext cx="109728" cy="109728"/>
          </a:xfrm>
          <a:prstGeom prst="ellipse">
            <a:avLst/>
          </a:prstGeom>
          <a:solidFill>
            <a:srgbClr val="1696A3"/>
          </a:solidFill>
          <a:ln w="12700">
            <a:solidFill>
              <a:srgbClr val="1696A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172200" y="3099816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两边摘要一致：说明内容未变；不一致：可能损坏或被篡改</a:t>
            </a:r>
            <a:endParaRPr lang="en-US" sz="1750" dirty="0"/>
          </a:p>
        </p:txBody>
      </p:sp>
      <p:sp>
        <p:nvSpPr>
          <p:cNvPr id="19" name="Shape 16"/>
          <p:cNvSpPr/>
          <p:nvPr/>
        </p:nvSpPr>
        <p:spPr>
          <a:xfrm>
            <a:off x="6126480" y="4297680"/>
            <a:ext cx="21945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236208" y="4352544"/>
            <a:ext cx="1975104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E4D64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课件_v1.pdf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8458200" y="4416552"/>
            <a:ext cx="640080" cy="201168"/>
          </a:xfrm>
          <a:prstGeom prst="rightArrow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9162288" y="4270248"/>
            <a:ext cx="2011680" cy="493776"/>
          </a:xfrm>
          <a:prstGeom prst="roundRect">
            <a:avLst>
              <a:gd name="adj" fmla="val 9259"/>
            </a:avLst>
          </a:prstGeom>
          <a:solidFill>
            <a:srgbClr val="EAF6EE"/>
          </a:solidFill>
          <a:ln w="12700">
            <a:solidFill>
              <a:srgbClr val="B7DFC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272016" y="4325112"/>
            <a:ext cx="1792224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E8B5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363b8eae…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6126480" y="4983480"/>
            <a:ext cx="21945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236208" y="5038344"/>
            <a:ext cx="1975104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E4D64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课件_v1.pdg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8458200" y="5102352"/>
            <a:ext cx="640080" cy="201168"/>
          </a:xfrm>
          <a:prstGeom prst="rightArrow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9162288" y="4956048"/>
            <a:ext cx="2011680" cy="493776"/>
          </a:xfrm>
          <a:prstGeom prst="roundRect">
            <a:avLst>
              <a:gd name="adj" fmla="val 9259"/>
            </a:avLst>
          </a:prstGeom>
          <a:solidFill>
            <a:srgbClr val="FCE9E6"/>
          </a:solidFill>
          <a:ln w="12700">
            <a:solidFill>
              <a:srgbClr val="F1B8B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272016" y="5010912"/>
            <a:ext cx="1792224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63D2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ada327c9…</a:t>
            </a:r>
            <a:endParaRPr lang="en-US" sz="1500" dirty="0"/>
          </a:p>
        </p:txBody>
      </p:sp>
      <p:sp>
        <p:nvSpPr>
          <p:cNvPr id="29" name="Shape 26"/>
          <p:cNvSpPr/>
          <p:nvPr/>
        </p:nvSpPr>
        <p:spPr>
          <a:xfrm>
            <a:off x="5989320" y="5669280"/>
            <a:ext cx="5212080" cy="384048"/>
          </a:xfrm>
          <a:prstGeom prst="roundRect">
            <a:avLst>
              <a:gd name="adj" fmla="val 11905"/>
            </a:avLst>
          </a:prstGeom>
          <a:solidFill>
            <a:srgbClr val="FFF7E8"/>
          </a:solidFill>
          <a:ln w="12700">
            <a:solidFill>
              <a:srgbClr val="E6D0A7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199632" y="5751576"/>
            <a:ext cx="4800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要点：哈希负责“验有没有变”，不是“把原文隐藏起来”。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DEFF2"/>
          </a:solidFill>
          <a:ln w="12700">
            <a:solidFill>
              <a:srgbClr val="1696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61320" y="128016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8CA0A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Hash Function</a:t>
            </a:r>
            <a:endParaRPr lang="en-US" sz="820" dirty="0"/>
          </a:p>
        </p:txBody>
      </p:sp>
      <p:sp>
        <p:nvSpPr>
          <p:cNvPr id="4" name="Shape 2"/>
          <p:cNvSpPr/>
          <p:nvPr/>
        </p:nvSpPr>
        <p:spPr>
          <a:xfrm>
            <a:off x="502920" y="256032"/>
            <a:ext cx="164592" cy="475488"/>
          </a:xfrm>
          <a:prstGeom prst="roundRect">
            <a:avLst>
              <a:gd name="adj" fmla="val 22222"/>
            </a:avLst>
          </a:prstGeom>
          <a:solidFill>
            <a:srgbClr val="1696A3"/>
          </a:solidFill>
          <a:ln w="12700">
            <a:solidFill>
              <a:srgbClr val="1696A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256032"/>
            <a:ext cx="9144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50" b="1" dirty="0">
                <a:solidFill>
                  <a:srgbClr val="16345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作用 2：密码存储——服务器不该保存明文密码</a:t>
            </a:r>
            <a:endParaRPr lang="en-US" sz="2750" dirty="0"/>
          </a:p>
        </p:txBody>
      </p:sp>
      <p:sp>
        <p:nvSpPr>
          <p:cNvPr id="6" name="Text 4"/>
          <p:cNvSpPr/>
          <p:nvPr/>
        </p:nvSpPr>
        <p:spPr>
          <a:xfrm>
            <a:off x="768096" y="658368"/>
            <a:ext cx="9784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5B67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正确姿势：带盐，并使用专门的“慢哈希/自适应哈希”算法，而不是把密码原样存进数据库。</a:t>
            </a:r>
            <a:endParaRPr lang="en-US" sz="1220" dirty="0"/>
          </a:p>
        </p:txBody>
      </p:sp>
      <p:sp>
        <p:nvSpPr>
          <p:cNvPr id="7" name="Text 5"/>
          <p:cNvSpPr/>
          <p:nvPr/>
        </p:nvSpPr>
        <p:spPr>
          <a:xfrm>
            <a:off x="11155680" y="6355080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8B5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05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13232" y="941832"/>
            <a:ext cx="10561320" cy="0"/>
          </a:xfrm>
          <a:prstGeom prst="line">
            <a:avLst/>
          </a:prstGeom>
          <a:noFill/>
          <a:ln w="12700">
            <a:solidFill>
              <a:srgbClr val="D7E2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1965960"/>
            <a:ext cx="1645920" cy="502920"/>
          </a:xfrm>
          <a:prstGeom prst="roundRect">
            <a:avLst>
              <a:gd name="adj" fmla="val 14545"/>
            </a:avLst>
          </a:prstGeom>
          <a:solidFill>
            <a:srgbClr val="EAF5F8"/>
          </a:solidFill>
          <a:ln w="12700">
            <a:solidFill>
              <a:srgbClr val="EAF5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1832" y="1984248"/>
            <a:ext cx="149961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45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用户输入密码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14400" y="2578608"/>
            <a:ext cx="15544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24128" y="2633472"/>
            <a:ext cx="1335024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E4D64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hunter2?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697480" y="2505456"/>
            <a:ext cx="530352" cy="201168"/>
          </a:xfrm>
          <a:prstGeom prst="rightArrow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03320" y="1554480"/>
            <a:ext cx="1097280" cy="347472"/>
          </a:xfrm>
          <a:prstGeom prst="roundRect">
            <a:avLst>
              <a:gd name="adj" fmla="val 21053"/>
            </a:avLst>
          </a:prstGeom>
          <a:solidFill>
            <a:srgbClr val="FFF2D9"/>
          </a:solidFill>
          <a:ln w="12700">
            <a:solidFill>
              <a:srgbClr val="FFF2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76472" y="1572768"/>
            <a:ext cx="9509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A5A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随机 salt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0" y="2139696"/>
            <a:ext cx="1417320" cy="475488"/>
          </a:xfrm>
          <a:prstGeom prst="roundRect">
            <a:avLst>
              <a:gd name="adj" fmla="val 15385"/>
            </a:avLst>
          </a:prstGeom>
          <a:solidFill>
            <a:srgbClr val="1696A3"/>
          </a:solidFill>
          <a:ln w="12700">
            <a:solidFill>
              <a:srgbClr val="1696A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30752" y="2157984"/>
            <a:ext cx="12710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Argon2id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621024" y="2761488"/>
            <a:ext cx="1600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20" dirty="0">
                <a:solidFill>
                  <a:srgbClr val="5B67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（或 bcrypt / scrypt）</a:t>
            </a:r>
            <a:endParaRPr lang="en-US" sz="1120" dirty="0"/>
          </a:p>
        </p:txBody>
      </p:sp>
      <p:sp>
        <p:nvSpPr>
          <p:cNvPr id="19" name="Shape 17"/>
          <p:cNvSpPr/>
          <p:nvPr/>
        </p:nvSpPr>
        <p:spPr>
          <a:xfrm>
            <a:off x="5074920" y="2496312"/>
            <a:ext cx="822960" cy="237744"/>
          </a:xfrm>
          <a:prstGeom prst="rightArrow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80760" y="1965960"/>
            <a:ext cx="1965960" cy="502920"/>
          </a:xfrm>
          <a:prstGeom prst="roundRect">
            <a:avLst>
              <a:gd name="adj" fmla="val 14545"/>
            </a:avLst>
          </a:prstGeom>
          <a:solidFill>
            <a:srgbClr val="E8F7F8"/>
          </a:solidFill>
          <a:ln w="12700">
            <a:solidFill>
              <a:srgbClr val="E8F7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53912" y="1984248"/>
            <a:ext cx="181965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96A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得到 hash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016752" y="2578608"/>
            <a:ext cx="21488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26480" y="2633472"/>
            <a:ext cx="1929384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0E4D64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$argon2id$…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8366760" y="2496312"/>
            <a:ext cx="731520" cy="237744"/>
          </a:xfrm>
          <a:prstGeom prst="rightArrow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235440" y="1783080"/>
            <a:ext cx="2057400" cy="155448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7E2EA"/>
            </a:solidFill>
            <a:prstDash val="solid"/>
          </a:ln>
          <a:effectLst>
            <a:outerShdw sx="100000" sy="100000" kx="0" ky="0" algn="bl" rotWithShape="0" blurRad="19050" dist="2540" dir="2700000">
              <a:srgbClr val="000000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491472" y="201168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345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数据库只保存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6345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salt + hash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555480" y="2670048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7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不是明文密码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868680" y="3931920"/>
            <a:ext cx="10424160" cy="0"/>
          </a:xfrm>
          <a:prstGeom prst="line">
            <a:avLst/>
          </a:prstGeom>
          <a:noFill/>
          <a:ln w="12700">
            <a:solidFill>
              <a:srgbClr val="D7E2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416052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345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登录时怎么验证？</a:t>
            </a:r>
            <a:endParaRPr lang="en-US" sz="2100" dirty="0"/>
          </a:p>
        </p:txBody>
      </p:sp>
      <p:sp>
        <p:nvSpPr>
          <p:cNvPr id="30" name="Text 28"/>
          <p:cNvSpPr/>
          <p:nvPr/>
        </p:nvSpPr>
        <p:spPr>
          <a:xfrm>
            <a:off x="932688" y="4526280"/>
            <a:ext cx="7406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用户重新输入密码 → 系统取出该用户的 salt → 再算一次同样的算法 → 只比较 hash 是否一致</a:t>
            </a:r>
            <a:endParaRPr lang="en-US" sz="1700" dirty="0"/>
          </a:p>
        </p:txBody>
      </p:sp>
      <p:sp>
        <p:nvSpPr>
          <p:cNvPr id="31" name="Shape 29"/>
          <p:cNvSpPr/>
          <p:nvPr/>
        </p:nvSpPr>
        <p:spPr>
          <a:xfrm>
            <a:off x="8458200" y="4251960"/>
            <a:ext cx="2743200" cy="1115568"/>
          </a:xfrm>
          <a:prstGeom prst="roundRect">
            <a:avLst>
              <a:gd name="adj" fmla="val 4098"/>
            </a:avLst>
          </a:prstGeom>
          <a:solidFill>
            <a:srgbClr val="FFFFFF"/>
          </a:solidFill>
          <a:ln w="12700">
            <a:solidFill>
              <a:srgbClr val="E0E7E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641080" y="4407408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63D2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别这么做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641080" y="4681728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✗ 明文密码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✗ 只用普通快速哈希直接存密码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932688" y="5541264"/>
            <a:ext cx="6949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96A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推荐：Argon2id；没有时再考虑 bcrypt / scrypt。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DEFF2"/>
          </a:solidFill>
          <a:ln w="12700">
            <a:solidFill>
              <a:srgbClr val="1696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61320" y="128016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8CA0A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Hash Function</a:t>
            </a:r>
            <a:endParaRPr lang="en-US" sz="820" dirty="0"/>
          </a:p>
        </p:txBody>
      </p:sp>
      <p:sp>
        <p:nvSpPr>
          <p:cNvPr id="4" name="Shape 2"/>
          <p:cNvSpPr/>
          <p:nvPr/>
        </p:nvSpPr>
        <p:spPr>
          <a:xfrm>
            <a:off x="502920" y="256032"/>
            <a:ext cx="164592" cy="475488"/>
          </a:xfrm>
          <a:prstGeom prst="roundRect">
            <a:avLst>
              <a:gd name="adj" fmla="val 22222"/>
            </a:avLst>
          </a:prstGeom>
          <a:solidFill>
            <a:srgbClr val="1696A3"/>
          </a:solidFill>
          <a:ln w="12700">
            <a:solidFill>
              <a:srgbClr val="1696A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256032"/>
            <a:ext cx="9144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50" b="1" dirty="0">
                <a:solidFill>
                  <a:srgbClr val="16345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作用 3：哈希表——把“找东西”变快</a:t>
            </a:r>
            <a:endParaRPr lang="en-US" sz="2750" dirty="0"/>
          </a:p>
        </p:txBody>
      </p:sp>
      <p:sp>
        <p:nvSpPr>
          <p:cNvPr id="6" name="Text 4"/>
          <p:cNvSpPr/>
          <p:nvPr/>
        </p:nvSpPr>
        <p:spPr>
          <a:xfrm>
            <a:off x="768096" y="658368"/>
            <a:ext cx="9784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5B67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在数据结构里，哈希函数把 key 映射到数组槽位；平均情况下，插入与查找都很快。</a:t>
            </a:r>
            <a:endParaRPr lang="en-US" sz="1220" dirty="0"/>
          </a:p>
        </p:txBody>
      </p:sp>
      <p:sp>
        <p:nvSpPr>
          <p:cNvPr id="7" name="Text 5"/>
          <p:cNvSpPr/>
          <p:nvPr/>
        </p:nvSpPr>
        <p:spPr>
          <a:xfrm>
            <a:off x="11155680" y="6355080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8B5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06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13232" y="941832"/>
            <a:ext cx="10561320" cy="0"/>
          </a:xfrm>
          <a:prstGeom prst="line">
            <a:avLst/>
          </a:prstGeom>
          <a:noFill/>
          <a:ln w="12700">
            <a:solidFill>
              <a:srgbClr val="D7E2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1298448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345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课堂里的一个例子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932688" y="1828800"/>
            <a:ext cx="192024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42416" y="1883664"/>
            <a:ext cx="1700784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0E4D64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学号 2025112345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063240" y="1938528"/>
            <a:ext cx="713232" cy="201168"/>
          </a:xfrm>
          <a:prstGeom prst="rightArrow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931920" y="1719072"/>
            <a:ext cx="1188720" cy="438912"/>
          </a:xfrm>
          <a:prstGeom prst="roundRect">
            <a:avLst>
              <a:gd name="adj" fmla="val 16667"/>
            </a:avLst>
          </a:prstGeom>
          <a:solidFill>
            <a:srgbClr val="1696A3"/>
          </a:solidFill>
          <a:ln w="12700">
            <a:solidFill>
              <a:srgbClr val="1696A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05072" y="1737360"/>
            <a:ext cx="10424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hash(key)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303520" y="1938528"/>
            <a:ext cx="658368" cy="201168"/>
          </a:xfrm>
          <a:prstGeom prst="rightArrow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53328" y="178308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FFF3DE"/>
          </a:solidFill>
          <a:ln w="12700">
            <a:solidFill>
              <a:srgbClr val="FFF3D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1801368"/>
            <a:ext cx="1271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A5A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槽位 3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126480" y="2377440"/>
            <a:ext cx="1600200" cy="420624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6E0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33872" y="2478024"/>
            <a:ext cx="1828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77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0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26480" y="2944368"/>
            <a:ext cx="1600200" cy="420624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6E0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33872" y="3044952"/>
            <a:ext cx="1828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77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1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26480" y="3511296"/>
            <a:ext cx="1600200" cy="420624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6E0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33872" y="3611880"/>
            <a:ext cx="1828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77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26480" y="4078224"/>
            <a:ext cx="1600200" cy="420624"/>
          </a:xfrm>
          <a:prstGeom prst="roundRect">
            <a:avLst>
              <a:gd name="adj" fmla="val 8696"/>
            </a:avLst>
          </a:prstGeom>
          <a:solidFill>
            <a:srgbClr val="EAF7EF"/>
          </a:solidFill>
          <a:ln w="12700">
            <a:solidFill>
              <a:srgbClr val="D6E0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33872" y="4178808"/>
            <a:ext cx="1828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77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272784" y="4169664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B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张三记录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126480" y="4645152"/>
            <a:ext cx="1600200" cy="420624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6E0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33872" y="4745736"/>
            <a:ext cx="1828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77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96112" y="324612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如果两个 key 落到同一槽位，就叫碰撞。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896112" y="3566160"/>
            <a:ext cx="4937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系统需要用拉链法、开放寻址等方法继续处理。</a:t>
            </a:r>
            <a:endParaRPr lang="en-US" sz="1700" dirty="0"/>
          </a:p>
        </p:txBody>
      </p:sp>
      <p:sp>
        <p:nvSpPr>
          <p:cNvPr id="31" name="Shape 29"/>
          <p:cNvSpPr/>
          <p:nvPr/>
        </p:nvSpPr>
        <p:spPr>
          <a:xfrm>
            <a:off x="914400" y="4251960"/>
            <a:ext cx="2057400" cy="384048"/>
          </a:xfrm>
          <a:prstGeom prst="roundRect">
            <a:avLst>
              <a:gd name="adj" fmla="val 19048"/>
            </a:avLst>
          </a:prstGeom>
          <a:solidFill>
            <a:srgbClr val="EAF6EE"/>
          </a:solidFill>
          <a:ln w="12700">
            <a:solidFill>
              <a:srgbClr val="EAF6E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87552" y="4270248"/>
            <a:ext cx="19110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8B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平均情况：查找很快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3154680" y="4251960"/>
            <a:ext cx="2148840" cy="384048"/>
          </a:xfrm>
          <a:prstGeom prst="roundRect">
            <a:avLst>
              <a:gd name="adj" fmla="val 19048"/>
            </a:avLst>
          </a:prstGeom>
          <a:solidFill>
            <a:srgbClr val="FCE9E6"/>
          </a:solidFill>
          <a:ln w="12700">
            <a:solidFill>
              <a:srgbClr val="FCE9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27832" y="4270248"/>
            <a:ext cx="20025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63D2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坏情况：碰撞会拖慢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8183880" y="1389888"/>
            <a:ext cx="2971800" cy="384048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D7E2EA"/>
            </a:solidFill>
            <a:prstDash val="solid"/>
          </a:ln>
        </p:spPr>
      </p:sp>
      <p:pic>
        <p:nvPicPr>
          <p:cNvPr id="36" name="Image 0" descr="/mnt/data/hash_ppt/assets/hash_tab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39328" y="2246777"/>
            <a:ext cx="2670048" cy="2318726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8247888" y="5394960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7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一张碰撞示意图：不同 key 可能被映射到相同位置。</a:t>
            </a:r>
            <a:endParaRPr lang="en-US" sz="1150" dirty="0"/>
          </a:p>
        </p:txBody>
      </p:sp>
      <p:sp>
        <p:nvSpPr>
          <p:cNvPr id="38" name="Text 35"/>
          <p:cNvSpPr/>
          <p:nvPr/>
        </p:nvSpPr>
        <p:spPr>
          <a:xfrm>
            <a:off x="896112" y="5074920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345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一句话总结</a:t>
            </a:r>
            <a:endParaRPr lang="en-US" sz="2000" dirty="0"/>
          </a:p>
        </p:txBody>
      </p:sp>
      <p:sp>
        <p:nvSpPr>
          <p:cNvPr id="39" name="Text 36"/>
          <p:cNvSpPr/>
          <p:nvPr/>
        </p:nvSpPr>
        <p:spPr>
          <a:xfrm>
            <a:off x="914400" y="5413248"/>
            <a:ext cx="6812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哈希函数让“从 key 找到数据”这件事，通常不必从头扫完整个列表。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DEFF2"/>
          </a:solidFill>
          <a:ln w="12700">
            <a:solidFill>
              <a:srgbClr val="1696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61320" y="128016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8CA0A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Hash Function</a:t>
            </a:r>
            <a:endParaRPr lang="en-US" sz="820" dirty="0"/>
          </a:p>
        </p:txBody>
      </p:sp>
      <p:sp>
        <p:nvSpPr>
          <p:cNvPr id="4" name="Shape 2"/>
          <p:cNvSpPr/>
          <p:nvPr/>
        </p:nvSpPr>
        <p:spPr>
          <a:xfrm>
            <a:off x="502920" y="256032"/>
            <a:ext cx="164592" cy="475488"/>
          </a:xfrm>
          <a:prstGeom prst="roundRect">
            <a:avLst>
              <a:gd name="adj" fmla="val 22222"/>
            </a:avLst>
          </a:prstGeom>
          <a:solidFill>
            <a:srgbClr val="1696A3"/>
          </a:solidFill>
          <a:ln w="12700">
            <a:solidFill>
              <a:srgbClr val="1696A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256032"/>
            <a:ext cx="9144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50" b="1" dirty="0">
                <a:solidFill>
                  <a:srgbClr val="16345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作用 4：它还是很多安全系统的底层积木</a:t>
            </a:r>
            <a:endParaRPr lang="en-US" sz="2750" dirty="0"/>
          </a:p>
        </p:txBody>
      </p:sp>
      <p:sp>
        <p:nvSpPr>
          <p:cNvPr id="6" name="Text 4"/>
          <p:cNvSpPr/>
          <p:nvPr/>
        </p:nvSpPr>
        <p:spPr>
          <a:xfrm>
            <a:off x="768096" y="658368"/>
            <a:ext cx="9784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5B67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把大对象先压成短摘要，能让“签名、命名、链接结构”都更高效。</a:t>
            </a:r>
            <a:endParaRPr lang="en-US" sz="1220" dirty="0"/>
          </a:p>
        </p:txBody>
      </p:sp>
      <p:sp>
        <p:nvSpPr>
          <p:cNvPr id="7" name="Text 5"/>
          <p:cNvSpPr/>
          <p:nvPr/>
        </p:nvSpPr>
        <p:spPr>
          <a:xfrm>
            <a:off x="11155680" y="6355080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8B5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07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13232" y="941832"/>
            <a:ext cx="10561320" cy="0"/>
          </a:xfrm>
          <a:prstGeom prst="line">
            <a:avLst/>
          </a:prstGeom>
          <a:noFill/>
          <a:ln w="12700">
            <a:solidFill>
              <a:srgbClr val="D7E2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37960" y="1298448"/>
            <a:ext cx="4572000" cy="4480560"/>
          </a:xfrm>
          <a:prstGeom prst="roundRect">
            <a:avLst>
              <a:gd name="adj" fmla="val 1020"/>
            </a:avLst>
          </a:prstGeom>
          <a:solidFill>
            <a:srgbClr val="FFFFFF"/>
          </a:solidFill>
          <a:ln w="12700">
            <a:solidFill>
              <a:srgbClr val="D7E2EA"/>
            </a:solidFill>
            <a:prstDash val="solid"/>
          </a:ln>
        </p:spPr>
      </p:sp>
      <p:pic>
        <p:nvPicPr>
          <p:cNvPr id="10" name="Image 0" descr="/mnt/data/hash_ppt/assets/hash_tre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8272" y="1779847"/>
            <a:ext cx="4160520" cy="2649081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748272" y="480060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7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Merkle 树：底层内容先分别取哈希，再逐层汇总。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896112" y="1508760"/>
            <a:ext cx="5166360" cy="914400"/>
          </a:xfrm>
          <a:prstGeom prst="roundRect">
            <a:avLst>
              <a:gd name="adj" fmla="val 5000"/>
            </a:avLst>
          </a:prstGeom>
          <a:solidFill>
            <a:srgbClr val="EEF8FB"/>
          </a:solidFill>
          <a:ln w="12700">
            <a:solidFill>
              <a:srgbClr val="D9E3E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051560" y="1673352"/>
            <a:ext cx="1325880" cy="384048"/>
          </a:xfrm>
          <a:prstGeom prst="roundRect">
            <a:avLst>
              <a:gd name="adj" fmla="val 19048"/>
            </a:avLst>
          </a:prstGeom>
          <a:solidFill>
            <a:srgbClr val="1696A3"/>
          </a:solidFill>
          <a:ln w="12700">
            <a:solidFill>
              <a:srgbClr val="1696A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24712" y="1691640"/>
            <a:ext cx="11795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数字签名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2606040" y="1645920"/>
            <a:ext cx="3154680" cy="4937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先对长消息取哈希，再对摘要签名；速度更快，也更适合大文件。</a:t>
            </a:r>
            <a:endParaRPr lang="en-US" sz="1550" dirty="0"/>
          </a:p>
        </p:txBody>
      </p:sp>
      <p:sp>
        <p:nvSpPr>
          <p:cNvPr id="16" name="Shape 13"/>
          <p:cNvSpPr/>
          <p:nvPr/>
        </p:nvSpPr>
        <p:spPr>
          <a:xfrm>
            <a:off x="896112" y="2880360"/>
            <a:ext cx="516636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051560" y="3044952"/>
            <a:ext cx="1325880" cy="384048"/>
          </a:xfrm>
          <a:prstGeom prst="roundRect">
            <a:avLst>
              <a:gd name="adj" fmla="val 19048"/>
            </a:avLst>
          </a:prstGeom>
          <a:solidFill>
            <a:srgbClr val="EAF2F7"/>
          </a:solidFill>
          <a:ln w="12700">
            <a:solidFill>
              <a:srgbClr val="EAF2F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124712" y="3063240"/>
            <a:ext cx="11795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345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Git / 内容寻址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2606040" y="3017520"/>
            <a:ext cx="3154680" cy="4937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对象内容一变，哈希名就变；这让版本系统能精确定位对象。</a:t>
            </a:r>
            <a:endParaRPr lang="en-US" sz="1550" dirty="0"/>
          </a:p>
        </p:txBody>
      </p:sp>
      <p:sp>
        <p:nvSpPr>
          <p:cNvPr id="20" name="Shape 17"/>
          <p:cNvSpPr/>
          <p:nvPr/>
        </p:nvSpPr>
        <p:spPr>
          <a:xfrm>
            <a:off x="896112" y="4251960"/>
            <a:ext cx="516636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B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051560" y="4416552"/>
            <a:ext cx="1325880" cy="384048"/>
          </a:xfrm>
          <a:prstGeom prst="roundRect">
            <a:avLst>
              <a:gd name="adj" fmla="val 19048"/>
            </a:avLst>
          </a:prstGeom>
          <a:solidFill>
            <a:srgbClr val="EAF2F7"/>
          </a:solidFill>
          <a:ln w="12700">
            <a:solidFill>
              <a:srgbClr val="EAF2F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124712" y="4434840"/>
            <a:ext cx="11795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345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Merkle 树 / 区块链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2606040" y="4389120"/>
            <a:ext cx="3154680" cy="4937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底层任一叶子改动，整条向上的哈希都会变化，便于整体校验。</a:t>
            </a:r>
            <a:endParaRPr lang="en-US" sz="1550" dirty="0"/>
          </a:p>
        </p:txBody>
      </p:sp>
      <p:sp>
        <p:nvSpPr>
          <p:cNvPr id="24" name="Shape 21"/>
          <p:cNvSpPr/>
          <p:nvPr/>
        </p:nvSpPr>
        <p:spPr>
          <a:xfrm>
            <a:off x="6263640" y="2148840"/>
            <a:ext cx="201168" cy="0"/>
          </a:xfrm>
          <a:prstGeom prst="line">
            <a:avLst/>
          </a:prstGeom>
          <a:noFill/>
          <a:ln w="12700">
            <a:solidFill>
              <a:srgbClr val="1696A3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263640" y="3493008"/>
            <a:ext cx="201168" cy="0"/>
          </a:xfrm>
          <a:prstGeom prst="line">
            <a:avLst/>
          </a:prstGeom>
          <a:noFill/>
          <a:ln w="12700">
            <a:solidFill>
              <a:srgbClr val="1696A3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263640" y="4837176"/>
            <a:ext cx="201168" cy="0"/>
          </a:xfrm>
          <a:prstGeom prst="line">
            <a:avLst/>
          </a:prstGeom>
          <a:noFill/>
          <a:ln w="12700">
            <a:solidFill>
              <a:srgbClr val="1696A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96112" y="5577840"/>
            <a:ext cx="5577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96A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共同点：先压缩，再验证 / 定位 / 链接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DEFF2"/>
          </a:solidFill>
          <a:ln w="12700">
            <a:solidFill>
              <a:srgbClr val="1696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61320" y="128016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8CA0A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Hash Function</a:t>
            </a:r>
            <a:endParaRPr lang="en-US" sz="820" dirty="0"/>
          </a:p>
        </p:txBody>
      </p:sp>
      <p:sp>
        <p:nvSpPr>
          <p:cNvPr id="4" name="Shape 2"/>
          <p:cNvSpPr/>
          <p:nvPr/>
        </p:nvSpPr>
        <p:spPr>
          <a:xfrm>
            <a:off x="502920" y="256032"/>
            <a:ext cx="164592" cy="475488"/>
          </a:xfrm>
          <a:prstGeom prst="roundRect">
            <a:avLst>
              <a:gd name="adj" fmla="val 22222"/>
            </a:avLst>
          </a:prstGeom>
          <a:solidFill>
            <a:srgbClr val="1696A3"/>
          </a:solidFill>
          <a:ln w="12700">
            <a:solidFill>
              <a:srgbClr val="1696A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256032"/>
            <a:ext cx="9144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50" b="1" dirty="0">
                <a:solidFill>
                  <a:srgbClr val="16345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别把哈希想成“万能胶”：它也有边界和风险</a:t>
            </a:r>
            <a:endParaRPr lang="en-US" sz="2750" dirty="0"/>
          </a:p>
        </p:txBody>
      </p:sp>
      <p:sp>
        <p:nvSpPr>
          <p:cNvPr id="6" name="Text 4"/>
          <p:cNvSpPr/>
          <p:nvPr/>
        </p:nvSpPr>
        <p:spPr>
          <a:xfrm>
            <a:off x="768096" y="658368"/>
            <a:ext cx="9784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5B67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知道这些边界，才知道什么时候该用哈希，什么时候不该用。</a:t>
            </a:r>
            <a:endParaRPr lang="en-US" sz="1220" dirty="0"/>
          </a:p>
        </p:txBody>
      </p:sp>
      <p:sp>
        <p:nvSpPr>
          <p:cNvPr id="7" name="Text 5"/>
          <p:cNvSpPr/>
          <p:nvPr/>
        </p:nvSpPr>
        <p:spPr>
          <a:xfrm>
            <a:off x="11155680" y="6355080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8B5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08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13232" y="941832"/>
            <a:ext cx="10561320" cy="0"/>
          </a:xfrm>
          <a:prstGeom prst="line">
            <a:avLst/>
          </a:prstGeom>
          <a:noFill/>
          <a:ln w="12700">
            <a:solidFill>
              <a:srgbClr val="D7E2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1248" y="1389888"/>
            <a:ext cx="1046988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8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87552" y="1572768"/>
            <a:ext cx="960120" cy="384048"/>
          </a:xfrm>
          <a:prstGeom prst="roundRect">
            <a:avLst>
              <a:gd name="adj" fmla="val 19048"/>
            </a:avLst>
          </a:prstGeom>
          <a:solidFill>
            <a:srgbClr val="C63D2F"/>
          </a:solidFill>
          <a:ln w="12700">
            <a:solidFill>
              <a:srgbClr val="C63D2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60704" y="1591056"/>
            <a:ext cx="8138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误区 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148840" y="1536192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“哈希 = 加密”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5230368" y="1527048"/>
            <a:ext cx="571500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纠正：哈希通常不可逆，主要做摘要与验证；需要保密时应使用加密。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41248" y="2761488"/>
            <a:ext cx="1046988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8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87552" y="2944368"/>
            <a:ext cx="960120" cy="384048"/>
          </a:xfrm>
          <a:prstGeom prst="roundRect">
            <a:avLst>
              <a:gd name="adj" fmla="val 19048"/>
            </a:avLst>
          </a:prstGeom>
          <a:solidFill>
            <a:srgbClr val="C63D2F"/>
          </a:solidFill>
          <a:ln w="12700">
            <a:solidFill>
              <a:srgbClr val="C63D2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60704" y="2962656"/>
            <a:ext cx="8138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误区 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148840" y="2907792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“摘要相同绝不可能发生”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5230368" y="2898648"/>
            <a:ext cx="571500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纠正：输出空间有限，碰撞在理论上必然存在；目标是“极难找到”。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41248" y="4133088"/>
            <a:ext cx="1046988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8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87552" y="4315968"/>
            <a:ext cx="960120" cy="384048"/>
          </a:xfrm>
          <a:prstGeom prst="roundRect">
            <a:avLst>
              <a:gd name="adj" fmla="val 19048"/>
            </a:avLst>
          </a:prstGeom>
          <a:solidFill>
            <a:srgbClr val="C63D2F"/>
          </a:solidFill>
          <a:ln w="12700">
            <a:solidFill>
              <a:srgbClr val="C63D2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60704" y="4334256"/>
            <a:ext cx="8138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误区 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148840" y="4279392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“任何 hash 都适合安全场景”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5230368" y="4270248"/>
            <a:ext cx="571500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纠正：新的抗碰撞安全设计不要继续使用 SHA-1；密码存储也不该直接用普通快速哈希。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143000" y="5440680"/>
            <a:ext cx="20574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52728" y="5495544"/>
            <a:ext cx="1837944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E4D64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输入 A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1143000" y="5870448"/>
            <a:ext cx="20574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252728" y="5925312"/>
            <a:ext cx="1837944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E4D64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输入 B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3456432" y="5559552"/>
            <a:ext cx="566928" cy="164592"/>
          </a:xfrm>
          <a:prstGeom prst="rightArrow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56432" y="5989320"/>
            <a:ext cx="566928" cy="164592"/>
          </a:xfrm>
          <a:prstGeom prst="rightArrow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251960" y="5623560"/>
            <a:ext cx="2651760" cy="493776"/>
          </a:xfrm>
          <a:prstGeom prst="roundRect">
            <a:avLst>
              <a:gd name="adj" fmla="val 9259"/>
            </a:avLst>
          </a:prstGeom>
          <a:solidFill>
            <a:srgbClr val="FCE9E6"/>
          </a:solidFill>
          <a:ln w="12700">
            <a:solidFill>
              <a:srgbClr val="F0C2B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61688" y="5678424"/>
            <a:ext cx="2432304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C63D2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同一摘要（理论碰撞）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7269480" y="5660136"/>
            <a:ext cx="3703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5B67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碰撞不是“绝不可能”，而是“应该在现实中极难构造”。</a:t>
            </a:r>
            <a:endParaRPr lang="en-US" sz="13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DEFF2"/>
          </a:solidFill>
          <a:ln w="12700">
            <a:solidFill>
              <a:srgbClr val="1696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61320" y="128016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8CA0A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Hash Function</a:t>
            </a:r>
            <a:endParaRPr lang="en-US" sz="820" dirty="0"/>
          </a:p>
        </p:txBody>
      </p:sp>
      <p:sp>
        <p:nvSpPr>
          <p:cNvPr id="4" name="Shape 2"/>
          <p:cNvSpPr/>
          <p:nvPr/>
        </p:nvSpPr>
        <p:spPr>
          <a:xfrm>
            <a:off x="502920" y="256032"/>
            <a:ext cx="164592" cy="475488"/>
          </a:xfrm>
          <a:prstGeom prst="roundRect">
            <a:avLst>
              <a:gd name="adj" fmla="val 22222"/>
            </a:avLst>
          </a:prstGeom>
          <a:solidFill>
            <a:srgbClr val="1696A3"/>
          </a:solidFill>
          <a:ln w="12700">
            <a:solidFill>
              <a:srgbClr val="1696A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256032"/>
            <a:ext cx="9144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50" b="1" dirty="0">
                <a:solidFill>
                  <a:srgbClr val="16345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最后带走这 5 句话：什么时候该想到哈希？</a:t>
            </a:r>
            <a:endParaRPr lang="en-US" sz="2750" dirty="0"/>
          </a:p>
        </p:txBody>
      </p:sp>
      <p:sp>
        <p:nvSpPr>
          <p:cNvPr id="6" name="Text 4"/>
          <p:cNvSpPr/>
          <p:nvPr/>
        </p:nvSpPr>
        <p:spPr>
          <a:xfrm>
            <a:off x="768096" y="658368"/>
            <a:ext cx="9784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5B67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如果学生最后只记住一页，应该记住这一页。</a:t>
            </a:r>
            <a:endParaRPr lang="en-US" sz="1220" dirty="0"/>
          </a:p>
        </p:txBody>
      </p:sp>
      <p:sp>
        <p:nvSpPr>
          <p:cNvPr id="7" name="Text 5"/>
          <p:cNvSpPr/>
          <p:nvPr/>
        </p:nvSpPr>
        <p:spPr>
          <a:xfrm>
            <a:off x="11155680" y="6355080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8B5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09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13232" y="941832"/>
            <a:ext cx="10561320" cy="0"/>
          </a:xfrm>
          <a:prstGeom prst="line">
            <a:avLst/>
          </a:prstGeom>
          <a:noFill/>
          <a:ln w="12700">
            <a:solidFill>
              <a:srgbClr val="D7E2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7824" y="1234440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6345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五句话记住哈希</a:t>
            </a:r>
            <a:endParaRPr lang="en-US" sz="2300" dirty="0"/>
          </a:p>
        </p:txBody>
      </p:sp>
      <p:sp>
        <p:nvSpPr>
          <p:cNvPr id="10" name="Shape 8"/>
          <p:cNvSpPr/>
          <p:nvPr/>
        </p:nvSpPr>
        <p:spPr>
          <a:xfrm>
            <a:off x="914400" y="1709928"/>
            <a:ext cx="329184" cy="329184"/>
          </a:xfrm>
          <a:prstGeom prst="ellipse">
            <a:avLst/>
          </a:prstGeom>
          <a:solidFill>
            <a:srgbClr val="1696A3"/>
          </a:solidFill>
          <a:ln w="12700">
            <a:solidFill>
              <a:srgbClr val="1696A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1746504"/>
            <a:ext cx="14630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417320" y="169164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哈希函数把任意长度输入压成固定长度摘要。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14400" y="2423160"/>
            <a:ext cx="329184" cy="329184"/>
          </a:xfrm>
          <a:prstGeom prst="ellipse">
            <a:avLst/>
          </a:prstGeom>
          <a:solidFill>
            <a:srgbClr val="1696A3"/>
          </a:solidFill>
          <a:ln w="12700">
            <a:solidFill>
              <a:srgbClr val="1696A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2459736"/>
            <a:ext cx="14630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417320" y="2404872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同样输入得同样输出；改一点，摘要往往大变。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14400" y="3136392"/>
            <a:ext cx="329184" cy="329184"/>
          </a:xfrm>
          <a:prstGeom prst="ellipse">
            <a:avLst/>
          </a:prstGeom>
          <a:solidFill>
            <a:srgbClr val="1696A3"/>
          </a:solidFill>
          <a:ln w="12700">
            <a:solidFill>
              <a:srgbClr val="1696A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3172968"/>
            <a:ext cx="14630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417320" y="3118104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验文件完整性，优先想到 SHA-256 这类安全哈希。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14400" y="3849624"/>
            <a:ext cx="329184" cy="329184"/>
          </a:xfrm>
          <a:prstGeom prst="ellipse">
            <a:avLst/>
          </a:prstGeom>
          <a:solidFill>
            <a:srgbClr val="1696A3"/>
          </a:solidFill>
          <a:ln w="12700">
            <a:solidFill>
              <a:srgbClr val="1696A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3886200"/>
            <a:ext cx="14630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417320" y="3831336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存密码时，要用带盐的 Argon2id / bcrypt / scrypt，而不是明文或普通快速哈希。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14400" y="4562856"/>
            <a:ext cx="329184" cy="329184"/>
          </a:xfrm>
          <a:prstGeom prst="ellipse">
            <a:avLst/>
          </a:prstGeom>
          <a:solidFill>
            <a:srgbClr val="1696A3"/>
          </a:solidFill>
          <a:ln w="12700">
            <a:solidFill>
              <a:srgbClr val="1696A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5840" y="4599432"/>
            <a:ext cx="14630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417320" y="4544568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想保密内容时用加密；想快速按 key 查找时想到哈希表。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7726680" y="1417320"/>
            <a:ext cx="3246120" cy="4251960"/>
          </a:xfrm>
          <a:prstGeom prst="roundRect">
            <a:avLst>
              <a:gd name="adj" fmla="val 1408"/>
            </a:avLst>
          </a:prstGeom>
          <a:solidFill>
            <a:srgbClr val="FFFFFF"/>
          </a:solidFill>
          <a:ln w="12700">
            <a:solidFill>
              <a:srgbClr val="D7E2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73568" y="1664208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6345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场景 → 首选思路</a:t>
            </a:r>
            <a:endParaRPr lang="en-US" sz="2100" dirty="0"/>
          </a:p>
        </p:txBody>
      </p:sp>
      <p:sp>
        <p:nvSpPr>
          <p:cNvPr id="27" name="Shape 25"/>
          <p:cNvSpPr/>
          <p:nvPr/>
        </p:nvSpPr>
        <p:spPr>
          <a:xfrm>
            <a:off x="8001000" y="2075688"/>
            <a:ext cx="2697480" cy="0"/>
          </a:xfrm>
          <a:prstGeom prst="line">
            <a:avLst/>
          </a:prstGeom>
          <a:noFill/>
          <a:ln w="12700">
            <a:solidFill>
              <a:srgbClr val="E8EEF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028432" y="2148840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文件有没有变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9372600" y="2148840"/>
            <a:ext cx="228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994A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→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9692640" y="214884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696A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SHA-256 等安全哈希</a:t>
            </a:r>
            <a:endParaRPr lang="en-US" sz="1480" dirty="0"/>
          </a:p>
        </p:txBody>
      </p:sp>
      <p:sp>
        <p:nvSpPr>
          <p:cNvPr id="31" name="Shape 29"/>
          <p:cNvSpPr/>
          <p:nvPr/>
        </p:nvSpPr>
        <p:spPr>
          <a:xfrm>
            <a:off x="8001000" y="2880360"/>
            <a:ext cx="2697480" cy="0"/>
          </a:xfrm>
          <a:prstGeom prst="line">
            <a:avLst/>
          </a:prstGeom>
          <a:noFill/>
          <a:ln w="12700">
            <a:solidFill>
              <a:srgbClr val="E8EEF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028432" y="2953512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密码怎么存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9372600" y="2953512"/>
            <a:ext cx="228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994A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→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9692640" y="295351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696A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Argon2id / bcrypt / scrypt</a:t>
            </a:r>
            <a:endParaRPr lang="en-US" sz="1480" dirty="0"/>
          </a:p>
        </p:txBody>
      </p:sp>
      <p:sp>
        <p:nvSpPr>
          <p:cNvPr id="35" name="Shape 33"/>
          <p:cNvSpPr/>
          <p:nvPr/>
        </p:nvSpPr>
        <p:spPr>
          <a:xfrm>
            <a:off x="8001000" y="3685032"/>
            <a:ext cx="2697480" cy="0"/>
          </a:xfrm>
          <a:prstGeom prst="line">
            <a:avLst/>
          </a:prstGeom>
          <a:noFill/>
          <a:ln w="12700">
            <a:solidFill>
              <a:srgbClr val="E8EEF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028432" y="3758184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字典/索引怎么快查</a:t>
            </a:r>
            <a:endParaRPr lang="en-US" sz="1550" dirty="0"/>
          </a:p>
        </p:txBody>
      </p:sp>
      <p:sp>
        <p:nvSpPr>
          <p:cNvPr id="37" name="Text 35"/>
          <p:cNvSpPr/>
          <p:nvPr/>
        </p:nvSpPr>
        <p:spPr>
          <a:xfrm>
            <a:off x="9372600" y="3758184"/>
            <a:ext cx="228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994A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→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9692640" y="375818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696A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哈希表</a:t>
            </a:r>
            <a:endParaRPr lang="en-US" sz="1480" dirty="0"/>
          </a:p>
        </p:txBody>
      </p:sp>
      <p:sp>
        <p:nvSpPr>
          <p:cNvPr id="39" name="Shape 37"/>
          <p:cNvSpPr/>
          <p:nvPr/>
        </p:nvSpPr>
        <p:spPr>
          <a:xfrm>
            <a:off x="8001000" y="4489704"/>
            <a:ext cx="2697480" cy="0"/>
          </a:xfrm>
          <a:prstGeom prst="line">
            <a:avLst/>
          </a:prstGeom>
          <a:noFill/>
          <a:ln w="12700">
            <a:solidFill>
              <a:srgbClr val="E8EEF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028432" y="4562856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内容要保密</a:t>
            </a:r>
            <a:endParaRPr lang="en-US" sz="1550" dirty="0"/>
          </a:p>
        </p:txBody>
      </p:sp>
      <p:sp>
        <p:nvSpPr>
          <p:cNvPr id="41" name="Text 39"/>
          <p:cNvSpPr/>
          <p:nvPr/>
        </p:nvSpPr>
        <p:spPr>
          <a:xfrm>
            <a:off x="9372600" y="4562856"/>
            <a:ext cx="228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994A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→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9692640" y="456285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696A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加密（不是哈希）</a:t>
            </a:r>
            <a:endParaRPr lang="en-US" sz="1480" dirty="0"/>
          </a:p>
        </p:txBody>
      </p:sp>
      <p:sp>
        <p:nvSpPr>
          <p:cNvPr id="43" name="Shape 41"/>
          <p:cNvSpPr/>
          <p:nvPr/>
        </p:nvSpPr>
        <p:spPr>
          <a:xfrm>
            <a:off x="8001000" y="5294376"/>
            <a:ext cx="2697480" cy="0"/>
          </a:xfrm>
          <a:prstGeom prst="line">
            <a:avLst/>
          </a:prstGeom>
          <a:noFill/>
          <a:ln w="12700">
            <a:solidFill>
              <a:srgbClr val="E8EEF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96112" y="5715000"/>
            <a:ext cx="10058400" cy="411480"/>
          </a:xfrm>
          <a:prstGeom prst="roundRect">
            <a:avLst>
              <a:gd name="adj" fmla="val 11111"/>
            </a:avLst>
          </a:prstGeom>
          <a:solidFill>
            <a:srgbClr val="EDF8F5"/>
          </a:solidFill>
          <a:ln w="12700">
            <a:solidFill>
              <a:srgbClr val="D8EAE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78992" y="5806440"/>
            <a:ext cx="9692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E8B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一句话收尾：哈希函数是计算机世界里的“短指纹”——擅长校验、索引和链接结构，但不负责替代加密。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哈希函数（Hash Function）——给本科生的10页入门课</dc:title>
  <dc:subject>哈希函数（Hash Function）本科生入门</dc:subject>
  <dc:creator>OpenAI</dc:creator>
  <cp:lastModifiedBy>OpenAI</cp:lastModifiedBy>
  <cp:revision>1</cp:revision>
  <dcterms:created xsi:type="dcterms:W3CDTF">2026-04-19T14:52:17Z</dcterms:created>
  <dcterms:modified xsi:type="dcterms:W3CDTF">2026-04-19T14:52:17Z</dcterms:modified>
</cp:coreProperties>
</file>