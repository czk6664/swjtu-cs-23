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73"/>
  </p:handoutMasterIdLst>
  <p:sldIdLst>
    <p:sldId id="586" r:id="rId3"/>
    <p:sldId id="587" r:id="rId5"/>
    <p:sldId id="889" r:id="rId6"/>
    <p:sldId id="588" r:id="rId7"/>
    <p:sldId id="589" r:id="rId8"/>
    <p:sldId id="590" r:id="rId9"/>
    <p:sldId id="591" r:id="rId10"/>
    <p:sldId id="593" r:id="rId11"/>
    <p:sldId id="735" r:id="rId12"/>
    <p:sldId id="736" r:id="rId13"/>
    <p:sldId id="594" r:id="rId14"/>
    <p:sldId id="737" r:id="rId15"/>
    <p:sldId id="596" r:id="rId16"/>
    <p:sldId id="597" r:id="rId17"/>
    <p:sldId id="598" r:id="rId18"/>
    <p:sldId id="599" r:id="rId19"/>
    <p:sldId id="600" r:id="rId20"/>
    <p:sldId id="601" r:id="rId21"/>
    <p:sldId id="602" r:id="rId22"/>
    <p:sldId id="603" r:id="rId23"/>
    <p:sldId id="604" r:id="rId24"/>
    <p:sldId id="606" r:id="rId25"/>
    <p:sldId id="703" r:id="rId26"/>
    <p:sldId id="605" r:id="rId27"/>
    <p:sldId id="607" r:id="rId28"/>
    <p:sldId id="608" r:id="rId29"/>
    <p:sldId id="746" r:id="rId30"/>
    <p:sldId id="739" r:id="rId31"/>
    <p:sldId id="740" r:id="rId32"/>
    <p:sldId id="741" r:id="rId33"/>
    <p:sldId id="742" r:id="rId34"/>
    <p:sldId id="609" r:id="rId35"/>
    <p:sldId id="610" r:id="rId36"/>
    <p:sldId id="611" r:id="rId37"/>
    <p:sldId id="612" r:id="rId38"/>
    <p:sldId id="613" r:id="rId39"/>
    <p:sldId id="614" r:id="rId40"/>
    <p:sldId id="615" r:id="rId41"/>
    <p:sldId id="616" r:id="rId42"/>
    <p:sldId id="617" r:id="rId43"/>
    <p:sldId id="618" r:id="rId44"/>
    <p:sldId id="619" r:id="rId45"/>
    <p:sldId id="743" r:id="rId46"/>
    <p:sldId id="620" r:id="rId47"/>
    <p:sldId id="744" r:id="rId48"/>
    <p:sldId id="622" r:id="rId49"/>
    <p:sldId id="745" r:id="rId50"/>
    <p:sldId id="624" r:id="rId51"/>
    <p:sldId id="625" r:id="rId52"/>
    <p:sldId id="779" r:id="rId53"/>
    <p:sldId id="626" r:id="rId54"/>
    <p:sldId id="627" r:id="rId55"/>
    <p:sldId id="628" r:id="rId56"/>
    <p:sldId id="629" r:id="rId57"/>
    <p:sldId id="630" r:id="rId58"/>
    <p:sldId id="631" r:id="rId59"/>
    <p:sldId id="632" r:id="rId60"/>
    <p:sldId id="633" r:id="rId61"/>
    <p:sldId id="634" r:id="rId62"/>
    <p:sldId id="635" r:id="rId63"/>
    <p:sldId id="636" r:id="rId64"/>
    <p:sldId id="901" r:id="rId65"/>
    <p:sldId id="637" r:id="rId66"/>
    <p:sldId id="638" r:id="rId67"/>
    <p:sldId id="639" r:id="rId68"/>
    <p:sldId id="640" r:id="rId69"/>
    <p:sldId id="641" r:id="rId70"/>
    <p:sldId id="642" r:id="rId71"/>
    <p:sldId id="643" r:id="rId72"/>
    <p:sldId id="644" r:id="rId73"/>
    <p:sldId id="645" r:id="rId74"/>
    <p:sldId id="646" r:id="rId75"/>
    <p:sldId id="780" r:id="rId76"/>
    <p:sldId id="648" r:id="rId77"/>
    <p:sldId id="902" r:id="rId78"/>
    <p:sldId id="649" r:id="rId79"/>
    <p:sldId id="650" r:id="rId80"/>
    <p:sldId id="651" r:id="rId81"/>
    <p:sldId id="656" r:id="rId82"/>
    <p:sldId id="657" r:id="rId83"/>
    <p:sldId id="659" r:id="rId84"/>
    <p:sldId id="660" r:id="rId85"/>
    <p:sldId id="661" r:id="rId86"/>
    <p:sldId id="662" r:id="rId87"/>
    <p:sldId id="705" r:id="rId88"/>
    <p:sldId id="747" r:id="rId89"/>
    <p:sldId id="749" r:id="rId90"/>
    <p:sldId id="706" r:id="rId91"/>
    <p:sldId id="707" r:id="rId92"/>
    <p:sldId id="708" r:id="rId93"/>
    <p:sldId id="750" r:id="rId94"/>
    <p:sldId id="709" r:id="rId95"/>
    <p:sldId id="754" r:id="rId96"/>
    <p:sldId id="710" r:id="rId97"/>
    <p:sldId id="711" r:id="rId98"/>
    <p:sldId id="712" r:id="rId99"/>
    <p:sldId id="713" r:id="rId100"/>
    <p:sldId id="714" r:id="rId101"/>
    <p:sldId id="733" r:id="rId102"/>
    <p:sldId id="734" r:id="rId103"/>
    <p:sldId id="752" r:id="rId104"/>
    <p:sldId id="753" r:id="rId105"/>
    <p:sldId id="903" r:id="rId106"/>
    <p:sldId id="715" r:id="rId107"/>
    <p:sldId id="716" r:id="rId108"/>
    <p:sldId id="717" r:id="rId109"/>
    <p:sldId id="718" r:id="rId110"/>
    <p:sldId id="719" r:id="rId111"/>
    <p:sldId id="720" r:id="rId112"/>
    <p:sldId id="721" r:id="rId113"/>
    <p:sldId id="755" r:id="rId114"/>
    <p:sldId id="756" r:id="rId115"/>
    <p:sldId id="757" r:id="rId116"/>
    <p:sldId id="758" r:id="rId117"/>
    <p:sldId id="759" r:id="rId118"/>
    <p:sldId id="760" r:id="rId119"/>
    <p:sldId id="761" r:id="rId120"/>
    <p:sldId id="762" r:id="rId121"/>
    <p:sldId id="763" r:id="rId122"/>
    <p:sldId id="722" r:id="rId123"/>
    <p:sldId id="723" r:id="rId124"/>
    <p:sldId id="764" r:id="rId125"/>
    <p:sldId id="765" r:id="rId126"/>
    <p:sldId id="766" r:id="rId127"/>
    <p:sldId id="767" r:id="rId128"/>
    <p:sldId id="769" r:id="rId129"/>
    <p:sldId id="724" r:id="rId130"/>
    <p:sldId id="725" r:id="rId131"/>
    <p:sldId id="770" r:id="rId132"/>
    <p:sldId id="726" r:id="rId133"/>
    <p:sldId id="771" r:id="rId134"/>
    <p:sldId id="772" r:id="rId135"/>
    <p:sldId id="773" r:id="rId136"/>
    <p:sldId id="774" r:id="rId137"/>
    <p:sldId id="775" r:id="rId138"/>
    <p:sldId id="776" r:id="rId139"/>
    <p:sldId id="777" r:id="rId140"/>
    <p:sldId id="727" r:id="rId141"/>
    <p:sldId id="728" r:id="rId142"/>
    <p:sldId id="729" r:id="rId143"/>
    <p:sldId id="730" r:id="rId144"/>
    <p:sldId id="731" r:id="rId145"/>
    <p:sldId id="732" r:id="rId146"/>
    <p:sldId id="890" r:id="rId147"/>
    <p:sldId id="892" r:id="rId148"/>
    <p:sldId id="891" r:id="rId149"/>
    <p:sldId id="872" r:id="rId150"/>
    <p:sldId id="893" r:id="rId151"/>
    <p:sldId id="894" r:id="rId152"/>
    <p:sldId id="895" r:id="rId153"/>
    <p:sldId id="896" r:id="rId154"/>
    <p:sldId id="876" r:id="rId155"/>
    <p:sldId id="877" r:id="rId156"/>
    <p:sldId id="878" r:id="rId157"/>
    <p:sldId id="879" r:id="rId158"/>
    <p:sldId id="880" r:id="rId159"/>
    <p:sldId id="881" r:id="rId160"/>
    <p:sldId id="897" r:id="rId161"/>
    <p:sldId id="882" r:id="rId162"/>
    <p:sldId id="885" r:id="rId163"/>
    <p:sldId id="899" r:id="rId164"/>
    <p:sldId id="898" r:id="rId165"/>
    <p:sldId id="900" r:id="rId166"/>
    <p:sldId id="883" r:id="rId167"/>
    <p:sldId id="884" r:id="rId168"/>
    <p:sldId id="886" r:id="rId169"/>
    <p:sldId id="887" r:id="rId170"/>
    <p:sldId id="888" r:id="rId171"/>
    <p:sldId id="778" r:id="rId172"/>
  </p:sldIdLst>
  <p:sldSz cx="12192000" cy="6858000"/>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CC00"/>
    <a:srgbClr val="5F5F5F"/>
    <a:srgbClr val="008000"/>
    <a:srgbClr val="FF9900"/>
    <a:srgbClr val="3399FF"/>
    <a:srgbClr val="6666FF"/>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19" autoAdjust="0"/>
    <p:restoredTop sz="84205" autoAdjust="0"/>
  </p:normalViewPr>
  <p:slideViewPr>
    <p:cSldViewPr>
      <p:cViewPr varScale="1">
        <p:scale>
          <a:sx n="95" d="100"/>
          <a:sy n="95" d="100"/>
        </p:scale>
        <p:origin x="2181" y="45"/>
      </p:cViewPr>
      <p:guideLst>
        <p:guide orient="horz" pos="2160"/>
        <p:guide pos="3888"/>
      </p:guideLst>
    </p:cSldViewPr>
  </p:slideViewPr>
  <p:outlineViewPr>
    <p:cViewPr>
      <p:scale>
        <a:sx n="33" d="100"/>
        <a:sy n="33" d="100"/>
      </p:scale>
      <p:origin x="18" y="66168"/>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1" d="100"/>
          <a:sy n="81" d="100"/>
        </p:scale>
        <p:origin x="3849" y="51"/>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6" Type="http://schemas.openxmlformats.org/officeDocument/2006/relationships/tableStyles" Target="tableStyles.xml"/><Relationship Id="rId175" Type="http://schemas.openxmlformats.org/officeDocument/2006/relationships/viewProps" Target="viewProps.xml"/><Relationship Id="rId174" Type="http://schemas.openxmlformats.org/officeDocument/2006/relationships/presProps" Target="presProps.xml"/><Relationship Id="rId173" Type="http://schemas.openxmlformats.org/officeDocument/2006/relationships/handoutMaster" Target="handoutMasters/handoutMaster1.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8.e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73.emf"/><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73.emf"/><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87.emf"/><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image" Target="../media/image8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4FF68654-5272-4525-BB78-6F57B5896FEE}" type="datetimeFigureOut">
              <a:rPr lang="zh-CN" altLang="en-US" smtClean="0"/>
            </a:fld>
            <a:endParaRPr lang="zh-CN" altLang="en-US"/>
          </a:p>
        </p:txBody>
      </p:sp>
      <p:sp>
        <p:nvSpPr>
          <p:cNvPr id="4" name="页脚占位符 3"/>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D8D0C2D6-3097-491E-B5E0-538AE362C7D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mn-ea"/>
              </a:defRPr>
            </a:lvl1pPr>
          </a:lstStyle>
          <a:p>
            <a:pPr>
              <a:defRPr/>
            </a:pPr>
            <a:endParaRPr lang="zh-CN" altLang="en-US"/>
          </a:p>
        </p:txBody>
      </p:sp>
      <p:sp>
        <p:nvSpPr>
          <p:cNvPr id="159747" name="Rectangle 3"/>
          <p:cNvSpPr>
            <a:spLocks noGrp="1" noChangeArrowheads="1"/>
          </p:cNvSpPr>
          <p:nvPr>
            <p:ph type="dt" idx="1"/>
          </p:nvPr>
        </p:nvSpPr>
        <p:spPr bwMode="auto">
          <a:xfrm>
            <a:off x="4143375" y="0"/>
            <a:ext cx="3170238" cy="479425"/>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mn-ea"/>
              </a:defRPr>
            </a:lvl1pPr>
          </a:lstStyle>
          <a:p>
            <a:pPr>
              <a:defRPr/>
            </a:pPr>
            <a:endParaRPr lang="en-US" altLang="zh-CN"/>
          </a:p>
        </p:txBody>
      </p:sp>
      <p:sp>
        <p:nvSpPr>
          <p:cNvPr id="8196"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9749" name="Rectangle 5"/>
          <p:cNvSpPr>
            <a:spLocks noGrp="1" noChangeArrowheads="1"/>
          </p:cNvSpPr>
          <p:nvPr>
            <p:ph type="body" sz="quarter" idx="3"/>
          </p:nvPr>
        </p:nvSpPr>
        <p:spPr bwMode="auto">
          <a:xfrm>
            <a:off x="731838" y="4560888"/>
            <a:ext cx="5851525" cy="4319587"/>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59750" name="Rectangle 6"/>
          <p:cNvSpPr>
            <a:spLocks noGrp="1" noChangeArrowheads="1"/>
          </p:cNvSpPr>
          <p:nvPr>
            <p:ph type="ftr" sz="quarter" idx="4"/>
          </p:nvPr>
        </p:nvSpPr>
        <p:spPr bwMode="auto">
          <a:xfrm>
            <a:off x="0" y="9120188"/>
            <a:ext cx="3170238" cy="479425"/>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mn-ea"/>
              </a:defRPr>
            </a:lvl1pPr>
          </a:lstStyle>
          <a:p>
            <a:pPr>
              <a:defRPr/>
            </a:pPr>
            <a:endParaRPr lang="en-US" altLang="zh-CN"/>
          </a:p>
        </p:txBody>
      </p:sp>
      <p:sp>
        <p:nvSpPr>
          <p:cNvPr id="159751" name="Rectangle 7"/>
          <p:cNvSpPr>
            <a:spLocks noGrp="1" noChangeArrowheads="1"/>
          </p:cNvSpPr>
          <p:nvPr>
            <p:ph type="sldNum" sz="quarter" idx="5"/>
          </p:nvPr>
        </p:nvSpPr>
        <p:spPr bwMode="auto">
          <a:xfrm>
            <a:off x="4143375" y="9120188"/>
            <a:ext cx="3170238" cy="479425"/>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ea typeface="+mn-ea"/>
              </a:defRPr>
            </a:lvl1pPr>
          </a:lstStyle>
          <a:p>
            <a:pPr>
              <a:defRPr/>
            </a:pPr>
            <a:fld id="{3AE728A7-EB83-4F9C-A5F1-183DBEC570FF}"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FF812E70-3D20-4034-87C0-531C5E7CD3C4}"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p:sp>
      <p:sp>
        <p:nvSpPr>
          <p:cNvPr id="133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2FE97370-7DA6-430D-8F48-C13E7FB31846}" type="slidenum">
              <a:rPr lang="zh-CN" altLang="en-US"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p:sp>
      <p:sp>
        <p:nvSpPr>
          <p:cNvPr id="174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90C04F51-1BAB-4D6F-8B1E-F6293E985D4F}" type="slidenum">
              <a:rPr lang="zh-CN" altLang="en-US"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p:sp>
      <p:sp>
        <p:nvSpPr>
          <p:cNvPr id="204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投资</a:t>
            </a:r>
            <a:r>
              <a:rPr lang="en-US" altLang="zh-CN"/>
              <a:t>1000</a:t>
            </a:r>
            <a:r>
              <a:rPr lang="zh-CN" altLang="en-US"/>
              <a:t>万信息安全，为企业带来什么好处？与以前相比安全事件（断网率等）减少了。</a:t>
            </a:r>
            <a:endParaRPr lang="zh-CN" altLang="en-US"/>
          </a:p>
        </p:txBody>
      </p:sp>
      <p:sp>
        <p:nvSpPr>
          <p:cNvPr id="4" name="灯片编号占位符 3"/>
          <p:cNvSpPr>
            <a:spLocks noGrp="1"/>
          </p:cNvSpPr>
          <p:nvPr>
            <p:ph type="sldNum" sz="quarter" idx="5"/>
          </p:nvPr>
        </p:nvSpPr>
        <p:spPr/>
        <p:txBody>
          <a:bodyPr/>
          <a:lstStyle/>
          <a:p>
            <a:pPr>
              <a:defRPr/>
            </a:pPr>
            <a:fld id="{9A59F880-00D9-4340-9DD9-F5854C2C1BAC}"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3254564C-912F-42A8-9ADB-9EDD25DFC93D}"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28C8515-F8E8-44A8-856E-E0E30AC4BAC1}" type="slidenum">
              <a:rPr lang="zh-CN" altLang="en-US"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p:sp>
      <p:sp>
        <p:nvSpPr>
          <p:cNvPr id="471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5EE7D9E6-485A-45AE-9DCE-3EDAB5DBC525}"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p:sp>
      <p:sp>
        <p:nvSpPr>
          <p:cNvPr id="133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2FE97370-7DA6-430D-8F48-C13E7FB31846}"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p:sp>
      <p:sp>
        <p:nvSpPr>
          <p:cNvPr id="839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C245B9FB-703D-4BF5-AB5A-26C162D832AC}"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p:sp>
      <p:sp>
        <p:nvSpPr>
          <p:cNvPr id="133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 name="灯片编号占位符 3"/>
          <p:cNvSpPr>
            <a:spLocks noGrp="1"/>
          </p:cNvSpPr>
          <p:nvPr>
            <p:ph type="sldNum" sz="quarter" idx="5"/>
          </p:nvPr>
        </p:nvSpPr>
        <p:spPr/>
        <p:txBody>
          <a:bodyPr/>
          <a:lstStyle/>
          <a:p>
            <a:pPr>
              <a:defRPr/>
            </a:pPr>
            <a:fld id="{2FE97370-7DA6-430D-8F48-C13E7FB31846}" type="slidenum">
              <a:rPr lang="zh-CN" altLang="en-US"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p:sp>
      <p:sp>
        <p:nvSpPr>
          <p:cNvPr id="102403" name="Rectangle 3"/>
          <p:cNvSpPr>
            <a:spLocks noGrp="1" noChangeArrowheads="1"/>
          </p:cNvSpPr>
          <p:nvPr>
            <p:ph type="body" idx="1"/>
          </p:nvPr>
        </p:nvSpPr>
        <p:spPr>
          <a:xfrm>
            <a:off x="976313" y="4560888"/>
            <a:ext cx="5362575"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在实际测评工作中，我们主要是采用四大步骤。</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2C2596D-8190-4216-A4CE-09AB6A4F7967}" type="slidenum">
              <a:rPr lang="en-US" altLang="zh-CN"/>
            </a:fld>
            <a:endParaRPr lang="en-US" altLang="zh-CN"/>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B7607F4-DF6C-45FA-88AE-484DDC12A86A}" type="slidenum">
              <a:rPr lang="en-US" altLang="zh-CN"/>
            </a:fld>
            <a:endParaRPr lang="en-US" altLang="zh-CN"/>
          </a:p>
        </p:txBody>
      </p:sp>
      <p:sp>
        <p:nvSpPr>
          <p:cNvPr id="120835" name="Rectangle 2"/>
          <p:cNvSpPr>
            <a:spLocks noGrp="1" noRot="1" noChangeAspect="1" noChangeArrowheads="1" noTextEdit="1"/>
          </p:cNvSpPr>
          <p:nvPr>
            <p:ph type="sldImg"/>
          </p:nvPr>
        </p:nvSpPr>
        <p:spPr/>
      </p:sp>
      <p:sp>
        <p:nvSpPr>
          <p:cNvPr id="1208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B7607F4-DF6C-45FA-88AE-484DDC12A86A}" type="slidenum">
              <a:rPr lang="en-US" altLang="zh-CN"/>
            </a:fld>
            <a:endParaRPr lang="en-US" altLang="zh-CN"/>
          </a:p>
        </p:txBody>
      </p:sp>
      <p:sp>
        <p:nvSpPr>
          <p:cNvPr id="120835" name="Rectangle 2"/>
          <p:cNvSpPr>
            <a:spLocks noGrp="1" noRot="1" noChangeAspect="1" noChangeArrowheads="1" noTextEdit="1"/>
          </p:cNvSpPr>
          <p:nvPr>
            <p:ph type="sldImg"/>
          </p:nvPr>
        </p:nvSpPr>
        <p:spPr/>
      </p:sp>
      <p:sp>
        <p:nvSpPr>
          <p:cNvPr id="1208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AE728A7-EB83-4F9C-A5F1-183DBEC570FF}"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很多单位没进行完整性保护</a:t>
            </a:r>
            <a:endParaRPr kumimoji="1" lang="zh-CN" altLang="en-US" dirty="0"/>
          </a:p>
        </p:txBody>
      </p:sp>
      <p:sp>
        <p:nvSpPr>
          <p:cNvPr id="4" name="灯片编号占位符 3"/>
          <p:cNvSpPr>
            <a:spLocks noGrp="1"/>
          </p:cNvSpPr>
          <p:nvPr>
            <p:ph type="sldNum" sz="quarter" idx="5"/>
          </p:nvPr>
        </p:nvSpPr>
        <p:spPr/>
        <p:txBody>
          <a:bodyPr/>
          <a:lstStyle/>
          <a:p>
            <a:pPr>
              <a:defRPr/>
            </a:pPr>
            <a:fld id="{3AE728A7-EB83-4F9C-A5F1-183DBEC570FF}" type="slidenum">
              <a:rPr lang="zh-CN" altLang="en-US"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举例，校园网</a:t>
            </a:r>
            <a:endParaRPr kumimoji="1" lang="zh-CN" altLang="en-US" dirty="0"/>
          </a:p>
        </p:txBody>
      </p:sp>
      <p:sp>
        <p:nvSpPr>
          <p:cNvPr id="4" name="灯片编号占位符 3"/>
          <p:cNvSpPr>
            <a:spLocks noGrp="1"/>
          </p:cNvSpPr>
          <p:nvPr>
            <p:ph type="sldNum" sz="quarter" idx="5"/>
          </p:nvPr>
        </p:nvSpPr>
        <p:spPr/>
        <p:txBody>
          <a:bodyPr/>
          <a:lstStyle/>
          <a:p>
            <a:pPr>
              <a:defRPr/>
            </a:pPr>
            <a:fld id="{3AE728A7-EB83-4F9C-A5F1-183DBEC570FF}" type="slidenum">
              <a:rPr lang="zh-CN" altLang="en-US"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威胁源在哪</a:t>
            </a:r>
            <a:endParaRPr kumimoji="1" lang="zh-CN" altLang="en-US" dirty="0"/>
          </a:p>
        </p:txBody>
      </p:sp>
      <p:sp>
        <p:nvSpPr>
          <p:cNvPr id="4" name="灯片编号占位符 3"/>
          <p:cNvSpPr>
            <a:spLocks noGrp="1"/>
          </p:cNvSpPr>
          <p:nvPr>
            <p:ph type="sldNum" sz="quarter" idx="5"/>
          </p:nvPr>
        </p:nvSpPr>
        <p:spPr/>
        <p:txBody>
          <a:bodyPr/>
          <a:lstStyle/>
          <a:p>
            <a:pPr>
              <a:defRPr/>
            </a:pPr>
            <a:fld id="{3AE728A7-EB83-4F9C-A5F1-183DBEC570FF}"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defRPr/>
            </a:pPr>
            <a:fld id="{8040E9FE-FB38-42D7-9BAE-582B016511D7}" type="slidenum">
              <a:rPr lang="en-US" altLang="zh-CN" smtClean="0"/>
            </a:fld>
            <a:endParaRPr lang="en-US" altLang="zh-CN"/>
          </a:p>
        </p:txBody>
      </p:sp>
      <p:sp>
        <p:nvSpPr>
          <p:cNvPr id="147459" name="Rectangle 2"/>
          <p:cNvSpPr>
            <a:spLocks noGrp="1" noRot="1" noChangeAspect="1" noChangeArrowheads="1" noTextEdit="1"/>
          </p:cNvSpPr>
          <p:nvPr>
            <p:ph type="sldImg"/>
          </p:nvPr>
        </p:nvSpPr>
        <p:spPr>
          <a:xfrm>
            <a:off x="383205" y="688975"/>
            <a:ext cx="6093179" cy="3427413"/>
          </a:xfrm>
        </p:spPr>
      </p:sp>
      <p:sp>
        <p:nvSpPr>
          <p:cNvPr id="147460" name="Rectangle 3"/>
          <p:cNvSpPr>
            <a:spLocks noGrp="1" noChangeArrowheads="1"/>
          </p:cNvSpPr>
          <p:nvPr>
            <p:ph type="body" idx="1"/>
          </p:nvPr>
        </p:nvSpPr>
        <p:spPr>
          <a:xfrm>
            <a:off x="685800" y="4422775"/>
            <a:ext cx="5562600"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575" tIns="44787" rIns="89575" bIns="44787"/>
          <a:lstStyle/>
          <a:p>
            <a:pPr eaLnBrk="1" hangingPunct="1"/>
            <a:endParaRPr lang="zh-CN" altLang="zh-CN"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defRPr/>
            </a:pPr>
            <a:fld id="{B36F05EA-79AD-4ADD-833E-EBDDF0457D00}" type="slidenum">
              <a:rPr lang="en-US" altLang="zh-CN" smtClean="0"/>
            </a:fld>
            <a:endParaRPr lang="en-US" altLang="zh-CN"/>
          </a:p>
        </p:txBody>
      </p:sp>
      <p:sp>
        <p:nvSpPr>
          <p:cNvPr id="154627" name="Rectangle 2"/>
          <p:cNvSpPr>
            <a:spLocks noGrp="1" noRot="1" noChangeAspect="1" noChangeArrowheads="1" noTextEdit="1"/>
          </p:cNvSpPr>
          <p:nvPr>
            <p:ph type="sldImg"/>
          </p:nvPr>
        </p:nvSpPr>
        <p:spPr/>
      </p:sp>
      <p:sp>
        <p:nvSpPr>
          <p:cNvPr id="154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defRPr/>
            </a:pPr>
            <a:fld id="{2ECECDAD-08B3-4F8E-853E-460482F4C0FB}" type="slidenum">
              <a:rPr lang="en-US" altLang="zh-CN" smtClean="0"/>
            </a:fld>
            <a:endParaRPr lang="en-US" altLang="zh-CN"/>
          </a:p>
        </p:txBody>
      </p:sp>
      <p:sp>
        <p:nvSpPr>
          <p:cNvPr id="156675" name="Rectangle 2"/>
          <p:cNvSpPr>
            <a:spLocks noGrp="1" noRot="1" noChangeAspect="1" noChangeArrowheads="1" noTextEdit="1"/>
          </p:cNvSpPr>
          <p:nvPr>
            <p:ph type="sldImg"/>
          </p:nvPr>
        </p:nvSpPr>
        <p:spPr/>
      </p:sp>
      <p:sp>
        <p:nvSpPr>
          <p:cNvPr id="156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defRPr/>
            </a:pPr>
            <a:fld id="{627194D9-2E93-4438-89A0-40DAF4EE6B1D}" type="slidenum">
              <a:rPr lang="en-US" altLang="zh-CN" smtClean="0"/>
            </a:fld>
            <a:endParaRPr lang="en-US" altLang="zh-CN"/>
          </a:p>
        </p:txBody>
      </p:sp>
      <p:sp>
        <p:nvSpPr>
          <p:cNvPr id="158723" name="Rectangle 2"/>
          <p:cNvSpPr>
            <a:spLocks noGrp="1" noRot="1" noChangeAspect="1" noChangeArrowheads="1" noTextEdit="1"/>
          </p:cNvSpPr>
          <p:nvPr>
            <p:ph type="sldImg"/>
          </p:nvPr>
        </p:nvSpPr>
        <p:spPr/>
      </p:sp>
      <p:sp>
        <p:nvSpPr>
          <p:cNvPr id="158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defRPr/>
            </a:pPr>
            <a:fld id="{343FA391-F4E9-4F9F-8EB8-4CBD4BB99674}" type="slidenum">
              <a:rPr lang="en-US" altLang="zh-CN" smtClean="0"/>
            </a:fld>
            <a:endParaRPr lang="en-US" altLang="zh-CN"/>
          </a:p>
        </p:txBody>
      </p:sp>
      <p:sp>
        <p:nvSpPr>
          <p:cNvPr id="160771" name="Rectangle 2"/>
          <p:cNvSpPr>
            <a:spLocks noGrp="1" noRot="1" noChangeAspect="1" noChangeArrowheads="1" noTextEdit="1"/>
          </p:cNvSpPr>
          <p:nvPr>
            <p:ph type="sldImg"/>
          </p:nvPr>
        </p:nvSpPr>
        <p:spPr/>
      </p:sp>
      <p:sp>
        <p:nvSpPr>
          <p:cNvPr id="160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defRPr/>
            </a:pPr>
            <a:fld id="{55070122-78E0-4C50-B897-79DB136E6FB4}" type="slidenum">
              <a:rPr lang="en-US" altLang="zh-CN" smtClean="0"/>
            </a:fld>
            <a:endParaRPr lang="en-US" altLang="zh-CN"/>
          </a:p>
        </p:txBody>
      </p:sp>
      <p:sp>
        <p:nvSpPr>
          <p:cNvPr id="162819" name="Rectangle 2"/>
          <p:cNvSpPr>
            <a:spLocks noGrp="1" noRot="1" noChangeAspect="1" noChangeArrowheads="1" noTextEdit="1"/>
          </p:cNvSpPr>
          <p:nvPr>
            <p:ph type="sldImg"/>
          </p:nvPr>
        </p:nvSpPr>
        <p:spPr/>
      </p:sp>
      <p:sp>
        <p:nvSpPr>
          <p:cNvPr id="1628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defRPr/>
            </a:pPr>
            <a:fld id="{A537B397-04D4-4E71-8E7C-7B232858BA0B}" type="slidenum">
              <a:rPr lang="en-US" altLang="zh-CN" smtClean="0"/>
            </a:fld>
            <a:endParaRPr lang="en-US" altLang="zh-CN"/>
          </a:p>
        </p:txBody>
      </p:sp>
      <p:sp>
        <p:nvSpPr>
          <p:cNvPr id="164867" name="Rectangle 2"/>
          <p:cNvSpPr>
            <a:spLocks noGrp="1" noRot="1" noChangeAspect="1" noChangeArrowheads="1" noTextEdit="1"/>
          </p:cNvSpPr>
          <p:nvPr>
            <p:ph type="sldImg"/>
          </p:nvPr>
        </p:nvSpPr>
        <p:spPr/>
      </p:sp>
      <p:sp>
        <p:nvSpPr>
          <p:cNvPr id="164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美国出入境，检查</a:t>
            </a:r>
            <a:endParaRPr kumimoji="1" lang="zh-CN" altLang="en-US" dirty="0"/>
          </a:p>
        </p:txBody>
      </p:sp>
      <p:sp>
        <p:nvSpPr>
          <p:cNvPr id="4" name="灯片编号占位符 3"/>
          <p:cNvSpPr>
            <a:spLocks noGrp="1"/>
          </p:cNvSpPr>
          <p:nvPr>
            <p:ph type="sldNum" sz="quarter" idx="5"/>
          </p:nvPr>
        </p:nvSpPr>
        <p:spPr/>
        <p:txBody>
          <a:bodyPr/>
          <a:lstStyle/>
          <a:p>
            <a:pPr>
              <a:defRPr/>
            </a:pPr>
            <a:fld id="{3AE728A7-EB83-4F9C-A5F1-183DBEC570FF}" type="slidenum">
              <a:rPr lang="zh-CN" altLang="en-US"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差距非常大</a:t>
            </a:r>
            <a:endParaRPr kumimoji="1" lang="zh-CN" altLang="en-US" dirty="0"/>
          </a:p>
        </p:txBody>
      </p:sp>
      <p:sp>
        <p:nvSpPr>
          <p:cNvPr id="4" name="灯片编号占位符 3"/>
          <p:cNvSpPr>
            <a:spLocks noGrp="1"/>
          </p:cNvSpPr>
          <p:nvPr>
            <p:ph type="sldNum" sz="quarter" idx="5"/>
          </p:nvPr>
        </p:nvSpPr>
        <p:spPr/>
        <p:txBody>
          <a:bodyPr/>
          <a:lstStyle/>
          <a:p>
            <a:pPr>
              <a:defRPr/>
            </a:pPr>
            <a:fld id="{3AE728A7-EB83-4F9C-A5F1-183DBEC570FF}" type="slidenum">
              <a:rPr lang="zh-CN" altLang="en-US"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没列全</a:t>
            </a:r>
            <a:endParaRPr kumimoji="1" lang="zh-CN" altLang="en-US" dirty="0"/>
          </a:p>
        </p:txBody>
      </p:sp>
      <p:sp>
        <p:nvSpPr>
          <p:cNvPr id="4" name="灯片编号占位符 3"/>
          <p:cNvSpPr>
            <a:spLocks noGrp="1"/>
          </p:cNvSpPr>
          <p:nvPr>
            <p:ph type="sldNum" sz="quarter" idx="5"/>
          </p:nvPr>
        </p:nvSpPr>
        <p:spPr/>
        <p:txBody>
          <a:bodyPr/>
          <a:lstStyle/>
          <a:p>
            <a:pPr>
              <a:defRPr/>
            </a:pPr>
            <a:fld id="{3AE728A7-EB83-4F9C-A5F1-183DBEC570FF}" type="slidenum">
              <a:rPr lang="zh-CN" altLang="en-US"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不是严格的安全操作系统</a:t>
            </a:r>
            <a:endParaRPr kumimoji="1" lang="zh-CN" altLang="en-US" dirty="0"/>
          </a:p>
        </p:txBody>
      </p:sp>
      <p:sp>
        <p:nvSpPr>
          <p:cNvPr id="4" name="灯片编号占位符 3"/>
          <p:cNvSpPr>
            <a:spLocks noGrp="1"/>
          </p:cNvSpPr>
          <p:nvPr>
            <p:ph type="sldNum" sz="quarter" idx="5"/>
          </p:nvPr>
        </p:nvSpPr>
        <p:spPr/>
        <p:txBody>
          <a:bodyPr/>
          <a:lstStyle/>
          <a:p>
            <a:pPr>
              <a:defRPr/>
            </a:pPr>
            <a:fld id="{3AE728A7-EB83-4F9C-A5F1-183DBEC570FF}" type="slidenum">
              <a:rPr lang="zh-CN" altLang="en-US"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安全厂家反而不在</a:t>
            </a:r>
            <a:r>
              <a:rPr kumimoji="1" lang="en-US" altLang="zh-CN" dirty="0" err="1"/>
              <a:t>os</a:t>
            </a:r>
            <a:r>
              <a:rPr kumimoji="1" lang="zh-CN" altLang="en-US" dirty="0"/>
              <a:t>这些领域，这些</a:t>
            </a:r>
            <a:r>
              <a:rPr kumimoji="1" lang="en-US" altLang="zh-CN" dirty="0" err="1"/>
              <a:t>os</a:t>
            </a:r>
            <a:r>
              <a:rPr kumimoji="1" lang="zh-CN" altLang="en-US" dirty="0"/>
              <a:t>厂家可能安全方面存在不足</a:t>
            </a:r>
            <a:endParaRPr kumimoji="1" lang="zh-CN" altLang="en-US" dirty="0"/>
          </a:p>
        </p:txBody>
      </p:sp>
      <p:sp>
        <p:nvSpPr>
          <p:cNvPr id="4" name="灯片编号占位符 3"/>
          <p:cNvSpPr>
            <a:spLocks noGrp="1"/>
          </p:cNvSpPr>
          <p:nvPr>
            <p:ph type="sldNum" sz="quarter" idx="5"/>
          </p:nvPr>
        </p:nvSpPr>
        <p:spPr/>
        <p:txBody>
          <a:bodyPr/>
          <a:lstStyle/>
          <a:p>
            <a:pPr>
              <a:defRPr/>
            </a:pPr>
            <a:fld id="{3AE728A7-EB83-4F9C-A5F1-183DBEC570FF}"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PhAnim="0" showMasterSp="0" userDrawn="1">
  <p:cSld name="标题幻灯片">
    <p:bg bwMode="gray">
      <p:bgPr>
        <a:solidFill>
          <a:schemeClr val="accent2"/>
        </a:solidFill>
        <a:effectLst/>
      </p:bgPr>
    </p:bg>
    <p:spTree>
      <p:nvGrpSpPr>
        <p:cNvPr id="1" name=""/>
        <p:cNvGrpSpPr/>
        <p:nvPr/>
      </p:nvGrpSpPr>
      <p:grpSpPr>
        <a:xfrm>
          <a:off x="0" y="0"/>
          <a:ext cx="0" cy="0"/>
          <a:chOff x="0" y="0"/>
          <a:chExt cx="0" cy="0"/>
        </a:xfrm>
      </p:grpSpPr>
      <p:sp>
        <p:nvSpPr>
          <p:cNvPr id="2" name="AutoShape 103"/>
          <p:cNvSpPr>
            <a:spLocks noChangeArrowheads="1"/>
          </p:cNvSpPr>
          <p:nvPr/>
        </p:nvSpPr>
        <p:spPr bwMode="gray">
          <a:xfrm>
            <a:off x="3759200" y="3113088"/>
            <a:ext cx="7823200" cy="838200"/>
          </a:xfrm>
          <a:prstGeom prst="roundRect">
            <a:avLst>
              <a:gd name="adj" fmla="val 50000"/>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 name="Rectangle 105"/>
          <p:cNvSpPr>
            <a:spLocks noChangeArrowheads="1"/>
          </p:cNvSpPr>
          <p:nvPr/>
        </p:nvSpPr>
        <p:spPr bwMode="gray">
          <a:xfrm>
            <a:off x="10261600" y="1741488"/>
            <a:ext cx="711200" cy="838200"/>
          </a:xfrm>
          <a:prstGeom prst="rect">
            <a:avLst/>
          </a:prstGeom>
          <a:noFill/>
          <a:ln w="9525">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 name="Rectangle 106"/>
          <p:cNvSpPr>
            <a:spLocks noChangeArrowheads="1"/>
          </p:cNvSpPr>
          <p:nvPr/>
        </p:nvSpPr>
        <p:spPr bwMode="gray">
          <a:xfrm>
            <a:off x="9245600" y="1131888"/>
            <a:ext cx="1219200" cy="838200"/>
          </a:xfrm>
          <a:prstGeom prst="rect">
            <a:avLst/>
          </a:prstGeom>
          <a:noFill/>
          <a:ln w="9525">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 name="Rectangle 107"/>
          <p:cNvSpPr>
            <a:spLocks noChangeArrowheads="1"/>
          </p:cNvSpPr>
          <p:nvPr/>
        </p:nvSpPr>
        <p:spPr bwMode="gray">
          <a:xfrm>
            <a:off x="10769600" y="141288"/>
            <a:ext cx="1219200" cy="1524000"/>
          </a:xfrm>
          <a:prstGeom prst="rect">
            <a:avLst/>
          </a:prstGeom>
          <a:noFill/>
          <a:ln w="9525">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 name="Rectangle 108"/>
          <p:cNvSpPr>
            <a:spLocks noChangeArrowheads="1"/>
          </p:cNvSpPr>
          <p:nvPr/>
        </p:nvSpPr>
        <p:spPr bwMode="gray">
          <a:xfrm>
            <a:off x="8737600" y="750888"/>
            <a:ext cx="711200" cy="533400"/>
          </a:xfrm>
          <a:prstGeom prst="rect">
            <a:avLst/>
          </a:prstGeom>
          <a:noFill/>
          <a:ln w="9525">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 name="Rectangle 110"/>
          <p:cNvSpPr>
            <a:spLocks noChangeArrowheads="1"/>
          </p:cNvSpPr>
          <p:nvPr/>
        </p:nvSpPr>
        <p:spPr bwMode="gray">
          <a:xfrm>
            <a:off x="8432800" y="2884488"/>
            <a:ext cx="711200" cy="533400"/>
          </a:xfrm>
          <a:prstGeom prst="rect">
            <a:avLst/>
          </a:prstGeom>
          <a:noFill/>
          <a:ln w="9525">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 name="Rectangle 114"/>
          <p:cNvSpPr>
            <a:spLocks noChangeArrowheads="1"/>
          </p:cNvSpPr>
          <p:nvPr/>
        </p:nvSpPr>
        <p:spPr bwMode="gray">
          <a:xfrm>
            <a:off x="5080000" y="2655888"/>
            <a:ext cx="203200" cy="152400"/>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 name="Rectangle 120"/>
          <p:cNvSpPr>
            <a:spLocks noChangeArrowheads="1"/>
          </p:cNvSpPr>
          <p:nvPr/>
        </p:nvSpPr>
        <p:spPr bwMode="gray">
          <a:xfrm>
            <a:off x="5689600" y="2655888"/>
            <a:ext cx="203200" cy="152400"/>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 name="Rectangle 124"/>
          <p:cNvSpPr>
            <a:spLocks noChangeArrowheads="1"/>
          </p:cNvSpPr>
          <p:nvPr/>
        </p:nvSpPr>
        <p:spPr bwMode="gray">
          <a:xfrm>
            <a:off x="5994400" y="2655888"/>
            <a:ext cx="203200" cy="152400"/>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1" name="Rectangle 126"/>
          <p:cNvSpPr>
            <a:spLocks noChangeArrowheads="1"/>
          </p:cNvSpPr>
          <p:nvPr/>
        </p:nvSpPr>
        <p:spPr bwMode="gray">
          <a:xfrm>
            <a:off x="6299200" y="2655888"/>
            <a:ext cx="203200" cy="152400"/>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nvGrpSpPr>
          <p:cNvPr id="12" name="Group 211"/>
          <p:cNvGrpSpPr/>
          <p:nvPr/>
        </p:nvGrpSpPr>
        <p:grpSpPr bwMode="auto">
          <a:xfrm>
            <a:off x="6299200" y="1741488"/>
            <a:ext cx="1727200" cy="838200"/>
            <a:chOff x="2976" y="1440"/>
            <a:chExt cx="816" cy="528"/>
          </a:xfrm>
        </p:grpSpPr>
        <p:sp>
          <p:nvSpPr>
            <p:cNvPr id="13" name="Rectangle 104"/>
            <p:cNvSpPr>
              <a:spLocks noChangeArrowheads="1"/>
            </p:cNvSpPr>
            <p:nvPr/>
          </p:nvSpPr>
          <p:spPr bwMode="gray">
            <a:xfrm>
              <a:off x="3120" y="1440"/>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4" name="Rectangle 125"/>
            <p:cNvSpPr>
              <a:spLocks noChangeArrowheads="1"/>
            </p:cNvSpPr>
            <p:nvPr/>
          </p:nvSpPr>
          <p:spPr bwMode="gray">
            <a:xfrm>
              <a:off x="2976" y="1728"/>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5" name="Rectangle 127"/>
            <p:cNvSpPr>
              <a:spLocks noChangeArrowheads="1"/>
            </p:cNvSpPr>
            <p:nvPr/>
          </p:nvSpPr>
          <p:spPr bwMode="gray">
            <a:xfrm>
              <a:off x="3120" y="1584"/>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6" name="Rectangle 128"/>
            <p:cNvSpPr>
              <a:spLocks noChangeArrowheads="1"/>
            </p:cNvSpPr>
            <p:nvPr/>
          </p:nvSpPr>
          <p:spPr bwMode="gray">
            <a:xfrm>
              <a:off x="3120" y="1728"/>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7" name="Rectangle 129"/>
            <p:cNvSpPr>
              <a:spLocks noChangeArrowheads="1"/>
            </p:cNvSpPr>
            <p:nvPr/>
          </p:nvSpPr>
          <p:spPr bwMode="gray">
            <a:xfrm>
              <a:off x="3120" y="1872"/>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8" name="Rectangle 130"/>
            <p:cNvSpPr>
              <a:spLocks noChangeArrowheads="1"/>
            </p:cNvSpPr>
            <p:nvPr/>
          </p:nvSpPr>
          <p:spPr bwMode="gray">
            <a:xfrm>
              <a:off x="3264" y="1584"/>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9" name="Rectangle 131"/>
            <p:cNvSpPr>
              <a:spLocks noChangeArrowheads="1"/>
            </p:cNvSpPr>
            <p:nvPr/>
          </p:nvSpPr>
          <p:spPr bwMode="gray">
            <a:xfrm>
              <a:off x="3264" y="1872"/>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0" name="Rectangle 132"/>
            <p:cNvSpPr>
              <a:spLocks noChangeArrowheads="1"/>
            </p:cNvSpPr>
            <p:nvPr/>
          </p:nvSpPr>
          <p:spPr bwMode="gray">
            <a:xfrm>
              <a:off x="3408" y="1440"/>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1" name="Rectangle 133"/>
            <p:cNvSpPr>
              <a:spLocks noChangeArrowheads="1"/>
            </p:cNvSpPr>
            <p:nvPr/>
          </p:nvSpPr>
          <p:spPr bwMode="gray">
            <a:xfrm>
              <a:off x="3408" y="1584"/>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2" name="Rectangle 134"/>
            <p:cNvSpPr>
              <a:spLocks noChangeArrowheads="1"/>
            </p:cNvSpPr>
            <p:nvPr/>
          </p:nvSpPr>
          <p:spPr bwMode="gray">
            <a:xfrm>
              <a:off x="3408" y="1728"/>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3" name="Rectangle 135"/>
            <p:cNvSpPr>
              <a:spLocks noChangeArrowheads="1"/>
            </p:cNvSpPr>
            <p:nvPr/>
          </p:nvSpPr>
          <p:spPr bwMode="gray">
            <a:xfrm>
              <a:off x="3408" y="1872"/>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4" name="Rectangle 136"/>
            <p:cNvSpPr>
              <a:spLocks noChangeArrowheads="1"/>
            </p:cNvSpPr>
            <p:nvPr/>
          </p:nvSpPr>
          <p:spPr bwMode="gray">
            <a:xfrm>
              <a:off x="3552" y="1440"/>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5" name="Rectangle 137"/>
            <p:cNvSpPr>
              <a:spLocks noChangeArrowheads="1"/>
            </p:cNvSpPr>
            <p:nvPr/>
          </p:nvSpPr>
          <p:spPr bwMode="gray">
            <a:xfrm>
              <a:off x="3552" y="1728"/>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6" name="Rectangle 138"/>
            <p:cNvSpPr>
              <a:spLocks noChangeArrowheads="1"/>
            </p:cNvSpPr>
            <p:nvPr/>
          </p:nvSpPr>
          <p:spPr bwMode="gray">
            <a:xfrm>
              <a:off x="3696" y="1584"/>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7" name="Rectangle 139"/>
            <p:cNvSpPr>
              <a:spLocks noChangeArrowheads="1"/>
            </p:cNvSpPr>
            <p:nvPr/>
          </p:nvSpPr>
          <p:spPr bwMode="gray">
            <a:xfrm>
              <a:off x="3696" y="1728"/>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28" name="Rectangle 140"/>
            <p:cNvSpPr>
              <a:spLocks noChangeArrowheads="1"/>
            </p:cNvSpPr>
            <p:nvPr/>
          </p:nvSpPr>
          <p:spPr bwMode="gray">
            <a:xfrm>
              <a:off x="3696" y="1872"/>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grpSp>
        <p:nvGrpSpPr>
          <p:cNvPr id="29" name="Group 212"/>
          <p:cNvGrpSpPr/>
          <p:nvPr/>
        </p:nvGrpSpPr>
        <p:grpSpPr bwMode="auto">
          <a:xfrm>
            <a:off x="4470400" y="1970088"/>
            <a:ext cx="1727200" cy="609600"/>
            <a:chOff x="2112" y="1584"/>
            <a:chExt cx="816" cy="384"/>
          </a:xfrm>
        </p:grpSpPr>
        <p:sp>
          <p:nvSpPr>
            <p:cNvPr id="30" name="Rectangle 112"/>
            <p:cNvSpPr>
              <a:spLocks noChangeArrowheads="1"/>
            </p:cNvSpPr>
            <p:nvPr/>
          </p:nvSpPr>
          <p:spPr bwMode="gray">
            <a:xfrm>
              <a:off x="2400" y="1584"/>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1" name="Rectangle 113"/>
            <p:cNvSpPr>
              <a:spLocks noChangeArrowheads="1"/>
            </p:cNvSpPr>
            <p:nvPr/>
          </p:nvSpPr>
          <p:spPr bwMode="gray">
            <a:xfrm>
              <a:off x="2400" y="1872"/>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2" name="Rectangle 115"/>
            <p:cNvSpPr>
              <a:spLocks noChangeArrowheads="1"/>
            </p:cNvSpPr>
            <p:nvPr/>
          </p:nvSpPr>
          <p:spPr bwMode="gray">
            <a:xfrm>
              <a:off x="2544" y="1584"/>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3" name="Rectangle 116"/>
            <p:cNvSpPr>
              <a:spLocks noChangeArrowheads="1"/>
            </p:cNvSpPr>
            <p:nvPr/>
          </p:nvSpPr>
          <p:spPr bwMode="gray">
            <a:xfrm>
              <a:off x="2544" y="1728"/>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4" name="Rectangle 117"/>
            <p:cNvSpPr>
              <a:spLocks noChangeArrowheads="1"/>
            </p:cNvSpPr>
            <p:nvPr/>
          </p:nvSpPr>
          <p:spPr bwMode="gray">
            <a:xfrm>
              <a:off x="2544" y="1872"/>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5" name="Rectangle 118"/>
            <p:cNvSpPr>
              <a:spLocks noChangeArrowheads="1"/>
            </p:cNvSpPr>
            <p:nvPr/>
          </p:nvSpPr>
          <p:spPr bwMode="gray">
            <a:xfrm>
              <a:off x="2688" y="1584"/>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6" name="Rectangle 119"/>
            <p:cNvSpPr>
              <a:spLocks noChangeArrowheads="1"/>
            </p:cNvSpPr>
            <p:nvPr/>
          </p:nvSpPr>
          <p:spPr bwMode="gray">
            <a:xfrm>
              <a:off x="2688" y="1872"/>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7" name="Rectangle 121"/>
            <p:cNvSpPr>
              <a:spLocks noChangeArrowheads="1"/>
            </p:cNvSpPr>
            <p:nvPr/>
          </p:nvSpPr>
          <p:spPr bwMode="gray">
            <a:xfrm>
              <a:off x="2832" y="1584"/>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8" name="Rectangle 122"/>
            <p:cNvSpPr>
              <a:spLocks noChangeArrowheads="1"/>
            </p:cNvSpPr>
            <p:nvPr/>
          </p:nvSpPr>
          <p:spPr bwMode="gray">
            <a:xfrm>
              <a:off x="2832" y="1728"/>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39" name="Rectangle 123"/>
            <p:cNvSpPr>
              <a:spLocks noChangeArrowheads="1"/>
            </p:cNvSpPr>
            <p:nvPr/>
          </p:nvSpPr>
          <p:spPr bwMode="gray">
            <a:xfrm>
              <a:off x="2832" y="1872"/>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0" name="Rectangle 141"/>
            <p:cNvSpPr>
              <a:spLocks noChangeArrowheads="1"/>
            </p:cNvSpPr>
            <p:nvPr/>
          </p:nvSpPr>
          <p:spPr bwMode="gray">
            <a:xfrm>
              <a:off x="2256" y="1872"/>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1" name="Rectangle 142"/>
            <p:cNvSpPr>
              <a:spLocks noChangeArrowheads="1"/>
            </p:cNvSpPr>
            <p:nvPr/>
          </p:nvSpPr>
          <p:spPr bwMode="gray">
            <a:xfrm>
              <a:off x="2112" y="1872"/>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grpSp>
        <p:nvGrpSpPr>
          <p:cNvPr id="42" name="Group 143"/>
          <p:cNvGrpSpPr/>
          <p:nvPr/>
        </p:nvGrpSpPr>
        <p:grpSpPr bwMode="auto">
          <a:xfrm>
            <a:off x="1016000" y="3570288"/>
            <a:ext cx="2540000" cy="762000"/>
            <a:chOff x="2112" y="1632"/>
            <a:chExt cx="1680" cy="672"/>
          </a:xfrm>
        </p:grpSpPr>
        <p:sp>
          <p:nvSpPr>
            <p:cNvPr id="43" name="Rectangle 144"/>
            <p:cNvSpPr>
              <a:spLocks noChangeArrowheads="1"/>
            </p:cNvSpPr>
            <p:nvPr userDrawn="1"/>
          </p:nvSpPr>
          <p:spPr bwMode="gray">
            <a:xfrm>
              <a:off x="2400" y="1776"/>
              <a:ext cx="95"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4" name="Rectangle 145"/>
            <p:cNvSpPr>
              <a:spLocks noChangeArrowheads="1"/>
            </p:cNvSpPr>
            <p:nvPr userDrawn="1"/>
          </p:nvSpPr>
          <p:spPr bwMode="gray">
            <a:xfrm>
              <a:off x="2400" y="2065"/>
              <a:ext cx="95"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5" name="Rectangle 146"/>
            <p:cNvSpPr>
              <a:spLocks noChangeArrowheads="1"/>
            </p:cNvSpPr>
            <p:nvPr userDrawn="1"/>
          </p:nvSpPr>
          <p:spPr bwMode="gray">
            <a:xfrm>
              <a:off x="2400" y="2207"/>
              <a:ext cx="95" cy="97"/>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6" name="Rectangle 147"/>
            <p:cNvSpPr>
              <a:spLocks noChangeArrowheads="1"/>
            </p:cNvSpPr>
            <p:nvPr userDrawn="1"/>
          </p:nvSpPr>
          <p:spPr bwMode="gray">
            <a:xfrm>
              <a:off x="2545" y="1776"/>
              <a:ext cx="95"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7" name="Rectangle 148"/>
            <p:cNvSpPr>
              <a:spLocks noChangeArrowheads="1"/>
            </p:cNvSpPr>
            <p:nvPr userDrawn="1"/>
          </p:nvSpPr>
          <p:spPr bwMode="gray">
            <a:xfrm>
              <a:off x="2545" y="1920"/>
              <a:ext cx="95"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8" name="Rectangle 149"/>
            <p:cNvSpPr>
              <a:spLocks noChangeArrowheads="1"/>
            </p:cNvSpPr>
            <p:nvPr userDrawn="1"/>
          </p:nvSpPr>
          <p:spPr bwMode="gray">
            <a:xfrm>
              <a:off x="2545" y="2065"/>
              <a:ext cx="95"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49" name="Rectangle 150"/>
            <p:cNvSpPr>
              <a:spLocks noChangeArrowheads="1"/>
            </p:cNvSpPr>
            <p:nvPr userDrawn="1"/>
          </p:nvSpPr>
          <p:spPr bwMode="gray">
            <a:xfrm>
              <a:off x="2687" y="1776"/>
              <a:ext cx="97"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0" name="Rectangle 151"/>
            <p:cNvSpPr>
              <a:spLocks noChangeArrowheads="1"/>
            </p:cNvSpPr>
            <p:nvPr userDrawn="1"/>
          </p:nvSpPr>
          <p:spPr bwMode="gray">
            <a:xfrm>
              <a:off x="2687" y="2065"/>
              <a:ext cx="97"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1" name="Rectangle 152"/>
            <p:cNvSpPr>
              <a:spLocks noChangeArrowheads="1"/>
            </p:cNvSpPr>
            <p:nvPr userDrawn="1"/>
          </p:nvSpPr>
          <p:spPr bwMode="gray">
            <a:xfrm>
              <a:off x="2687" y="2207"/>
              <a:ext cx="97" cy="97"/>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2" name="Rectangle 153"/>
            <p:cNvSpPr>
              <a:spLocks noChangeArrowheads="1"/>
            </p:cNvSpPr>
            <p:nvPr userDrawn="1"/>
          </p:nvSpPr>
          <p:spPr bwMode="gray">
            <a:xfrm>
              <a:off x="2832" y="1776"/>
              <a:ext cx="98"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3" name="Rectangle 154"/>
            <p:cNvSpPr>
              <a:spLocks noChangeArrowheads="1"/>
            </p:cNvSpPr>
            <p:nvPr userDrawn="1"/>
          </p:nvSpPr>
          <p:spPr bwMode="gray">
            <a:xfrm>
              <a:off x="2832" y="1920"/>
              <a:ext cx="98"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4" name="Rectangle 155"/>
            <p:cNvSpPr>
              <a:spLocks noChangeArrowheads="1"/>
            </p:cNvSpPr>
            <p:nvPr userDrawn="1"/>
          </p:nvSpPr>
          <p:spPr bwMode="gray">
            <a:xfrm>
              <a:off x="2832" y="2065"/>
              <a:ext cx="98"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5" name="Rectangle 156"/>
            <p:cNvSpPr>
              <a:spLocks noChangeArrowheads="1"/>
            </p:cNvSpPr>
            <p:nvPr userDrawn="1"/>
          </p:nvSpPr>
          <p:spPr bwMode="gray">
            <a:xfrm>
              <a:off x="2832" y="2207"/>
              <a:ext cx="98" cy="97"/>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6" name="Rectangle 157"/>
            <p:cNvSpPr>
              <a:spLocks noChangeArrowheads="1"/>
            </p:cNvSpPr>
            <p:nvPr userDrawn="1"/>
          </p:nvSpPr>
          <p:spPr bwMode="gray">
            <a:xfrm>
              <a:off x="2976" y="1920"/>
              <a:ext cx="97"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7" name="Rectangle 158"/>
            <p:cNvSpPr>
              <a:spLocks noChangeArrowheads="1"/>
            </p:cNvSpPr>
            <p:nvPr userDrawn="1"/>
          </p:nvSpPr>
          <p:spPr bwMode="gray">
            <a:xfrm>
              <a:off x="2976" y="2207"/>
              <a:ext cx="97" cy="97"/>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8" name="Rectangle 159"/>
            <p:cNvSpPr>
              <a:spLocks noChangeArrowheads="1"/>
            </p:cNvSpPr>
            <p:nvPr userDrawn="1"/>
          </p:nvSpPr>
          <p:spPr bwMode="gray">
            <a:xfrm>
              <a:off x="3120" y="1776"/>
              <a:ext cx="97"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59" name="Rectangle 160"/>
            <p:cNvSpPr>
              <a:spLocks noChangeArrowheads="1"/>
            </p:cNvSpPr>
            <p:nvPr userDrawn="1"/>
          </p:nvSpPr>
          <p:spPr bwMode="gray">
            <a:xfrm>
              <a:off x="3120" y="1920"/>
              <a:ext cx="97"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0" name="Rectangle 161"/>
            <p:cNvSpPr>
              <a:spLocks noChangeArrowheads="1"/>
            </p:cNvSpPr>
            <p:nvPr userDrawn="1"/>
          </p:nvSpPr>
          <p:spPr bwMode="gray">
            <a:xfrm>
              <a:off x="3120" y="2065"/>
              <a:ext cx="97"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1" name="Rectangle 162"/>
            <p:cNvSpPr>
              <a:spLocks noChangeArrowheads="1"/>
            </p:cNvSpPr>
            <p:nvPr userDrawn="1"/>
          </p:nvSpPr>
          <p:spPr bwMode="gray">
            <a:xfrm>
              <a:off x="3264" y="1776"/>
              <a:ext cx="95"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2" name="Rectangle 163"/>
            <p:cNvSpPr>
              <a:spLocks noChangeArrowheads="1"/>
            </p:cNvSpPr>
            <p:nvPr userDrawn="1"/>
          </p:nvSpPr>
          <p:spPr bwMode="gray">
            <a:xfrm>
              <a:off x="3264" y="2065"/>
              <a:ext cx="95"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3" name="Rectangle 164"/>
            <p:cNvSpPr>
              <a:spLocks noChangeArrowheads="1"/>
            </p:cNvSpPr>
            <p:nvPr userDrawn="1"/>
          </p:nvSpPr>
          <p:spPr bwMode="gray">
            <a:xfrm>
              <a:off x="3408" y="1632"/>
              <a:ext cx="95" cy="97"/>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4" name="Rectangle 165"/>
            <p:cNvSpPr>
              <a:spLocks noChangeArrowheads="1"/>
            </p:cNvSpPr>
            <p:nvPr userDrawn="1"/>
          </p:nvSpPr>
          <p:spPr bwMode="gray">
            <a:xfrm>
              <a:off x="3408" y="1776"/>
              <a:ext cx="95"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5" name="Rectangle 166"/>
            <p:cNvSpPr>
              <a:spLocks noChangeArrowheads="1"/>
            </p:cNvSpPr>
            <p:nvPr userDrawn="1"/>
          </p:nvSpPr>
          <p:spPr bwMode="gray">
            <a:xfrm>
              <a:off x="3408" y="1920"/>
              <a:ext cx="95"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6" name="Rectangle 167"/>
            <p:cNvSpPr>
              <a:spLocks noChangeArrowheads="1"/>
            </p:cNvSpPr>
            <p:nvPr userDrawn="1"/>
          </p:nvSpPr>
          <p:spPr bwMode="gray">
            <a:xfrm>
              <a:off x="3408" y="2065"/>
              <a:ext cx="95"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7" name="Rectangle 168"/>
            <p:cNvSpPr>
              <a:spLocks noChangeArrowheads="1"/>
            </p:cNvSpPr>
            <p:nvPr userDrawn="1"/>
          </p:nvSpPr>
          <p:spPr bwMode="gray">
            <a:xfrm>
              <a:off x="3553" y="1632"/>
              <a:ext cx="95" cy="97"/>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8" name="Rectangle 169"/>
            <p:cNvSpPr>
              <a:spLocks noChangeArrowheads="1"/>
            </p:cNvSpPr>
            <p:nvPr userDrawn="1"/>
          </p:nvSpPr>
          <p:spPr bwMode="gray">
            <a:xfrm>
              <a:off x="3553" y="1920"/>
              <a:ext cx="95"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69" name="Rectangle 170"/>
            <p:cNvSpPr>
              <a:spLocks noChangeArrowheads="1"/>
            </p:cNvSpPr>
            <p:nvPr userDrawn="1"/>
          </p:nvSpPr>
          <p:spPr bwMode="gray">
            <a:xfrm>
              <a:off x="3695" y="1776"/>
              <a:ext cx="97"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0" name="Rectangle 171"/>
            <p:cNvSpPr>
              <a:spLocks noChangeArrowheads="1"/>
            </p:cNvSpPr>
            <p:nvPr userDrawn="1"/>
          </p:nvSpPr>
          <p:spPr bwMode="gray">
            <a:xfrm>
              <a:off x="3695" y="1920"/>
              <a:ext cx="97"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1" name="Rectangle 172"/>
            <p:cNvSpPr>
              <a:spLocks noChangeArrowheads="1"/>
            </p:cNvSpPr>
            <p:nvPr userDrawn="1"/>
          </p:nvSpPr>
          <p:spPr bwMode="gray">
            <a:xfrm>
              <a:off x="3695" y="2065"/>
              <a:ext cx="97" cy="95"/>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2" name="Rectangle 173"/>
            <p:cNvSpPr>
              <a:spLocks noChangeArrowheads="1"/>
            </p:cNvSpPr>
            <p:nvPr userDrawn="1"/>
          </p:nvSpPr>
          <p:spPr bwMode="gray">
            <a:xfrm>
              <a:off x="2256" y="2065"/>
              <a:ext cx="95"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3" name="Rectangle 174"/>
            <p:cNvSpPr>
              <a:spLocks noChangeArrowheads="1"/>
            </p:cNvSpPr>
            <p:nvPr userDrawn="1"/>
          </p:nvSpPr>
          <p:spPr bwMode="gray">
            <a:xfrm>
              <a:off x="2112" y="2065"/>
              <a:ext cx="97" cy="9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grpSp>
        <p:nvGrpSpPr>
          <p:cNvPr id="74" name="Group 175"/>
          <p:cNvGrpSpPr/>
          <p:nvPr/>
        </p:nvGrpSpPr>
        <p:grpSpPr bwMode="auto">
          <a:xfrm>
            <a:off x="7315200" y="827088"/>
            <a:ext cx="3556000" cy="1066800"/>
            <a:chOff x="2112" y="1632"/>
            <a:chExt cx="1680" cy="672"/>
          </a:xfrm>
        </p:grpSpPr>
        <p:sp>
          <p:nvSpPr>
            <p:cNvPr id="75" name="Rectangle 176"/>
            <p:cNvSpPr>
              <a:spLocks noChangeArrowheads="1"/>
            </p:cNvSpPr>
            <p:nvPr userDrawn="1"/>
          </p:nvSpPr>
          <p:spPr bwMode="gray">
            <a:xfrm>
              <a:off x="2400" y="1776"/>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6" name="Rectangle 177"/>
            <p:cNvSpPr>
              <a:spLocks noChangeArrowheads="1"/>
            </p:cNvSpPr>
            <p:nvPr userDrawn="1"/>
          </p:nvSpPr>
          <p:spPr bwMode="gray">
            <a:xfrm>
              <a:off x="2400" y="2064"/>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7" name="Rectangle 178"/>
            <p:cNvSpPr>
              <a:spLocks noChangeArrowheads="1"/>
            </p:cNvSpPr>
            <p:nvPr userDrawn="1"/>
          </p:nvSpPr>
          <p:spPr bwMode="gray">
            <a:xfrm>
              <a:off x="2400" y="2208"/>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8" name="Rectangle 179"/>
            <p:cNvSpPr>
              <a:spLocks noChangeArrowheads="1"/>
            </p:cNvSpPr>
            <p:nvPr userDrawn="1"/>
          </p:nvSpPr>
          <p:spPr bwMode="gray">
            <a:xfrm>
              <a:off x="2544" y="1776"/>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79" name="Rectangle 180"/>
            <p:cNvSpPr>
              <a:spLocks noChangeArrowheads="1"/>
            </p:cNvSpPr>
            <p:nvPr userDrawn="1"/>
          </p:nvSpPr>
          <p:spPr bwMode="gray">
            <a:xfrm>
              <a:off x="2544" y="1920"/>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0" name="Rectangle 181"/>
            <p:cNvSpPr>
              <a:spLocks noChangeArrowheads="1"/>
            </p:cNvSpPr>
            <p:nvPr userDrawn="1"/>
          </p:nvSpPr>
          <p:spPr bwMode="gray">
            <a:xfrm>
              <a:off x="2544" y="2064"/>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1" name="Rectangle 182"/>
            <p:cNvSpPr>
              <a:spLocks noChangeArrowheads="1"/>
            </p:cNvSpPr>
            <p:nvPr userDrawn="1"/>
          </p:nvSpPr>
          <p:spPr bwMode="gray">
            <a:xfrm>
              <a:off x="2688" y="1776"/>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2" name="Rectangle 183"/>
            <p:cNvSpPr>
              <a:spLocks noChangeArrowheads="1"/>
            </p:cNvSpPr>
            <p:nvPr userDrawn="1"/>
          </p:nvSpPr>
          <p:spPr bwMode="gray">
            <a:xfrm>
              <a:off x="2688" y="2064"/>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3" name="Rectangle 184"/>
            <p:cNvSpPr>
              <a:spLocks noChangeArrowheads="1"/>
            </p:cNvSpPr>
            <p:nvPr userDrawn="1"/>
          </p:nvSpPr>
          <p:spPr bwMode="gray">
            <a:xfrm>
              <a:off x="2688" y="2208"/>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4" name="Rectangle 185"/>
            <p:cNvSpPr>
              <a:spLocks noChangeArrowheads="1"/>
            </p:cNvSpPr>
            <p:nvPr userDrawn="1"/>
          </p:nvSpPr>
          <p:spPr bwMode="gray">
            <a:xfrm>
              <a:off x="2832" y="1776"/>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5" name="Rectangle 186"/>
            <p:cNvSpPr>
              <a:spLocks noChangeArrowheads="1"/>
            </p:cNvSpPr>
            <p:nvPr userDrawn="1"/>
          </p:nvSpPr>
          <p:spPr bwMode="gray">
            <a:xfrm>
              <a:off x="2832" y="1920"/>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6" name="Rectangle 187"/>
            <p:cNvSpPr>
              <a:spLocks noChangeArrowheads="1"/>
            </p:cNvSpPr>
            <p:nvPr userDrawn="1"/>
          </p:nvSpPr>
          <p:spPr bwMode="gray">
            <a:xfrm>
              <a:off x="2832" y="2064"/>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7" name="Rectangle 188"/>
            <p:cNvSpPr>
              <a:spLocks noChangeArrowheads="1"/>
            </p:cNvSpPr>
            <p:nvPr userDrawn="1"/>
          </p:nvSpPr>
          <p:spPr bwMode="gray">
            <a:xfrm>
              <a:off x="2832" y="2208"/>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8" name="Rectangle 189"/>
            <p:cNvSpPr>
              <a:spLocks noChangeArrowheads="1"/>
            </p:cNvSpPr>
            <p:nvPr userDrawn="1"/>
          </p:nvSpPr>
          <p:spPr bwMode="gray">
            <a:xfrm>
              <a:off x="2976" y="1920"/>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89" name="Rectangle 190"/>
            <p:cNvSpPr>
              <a:spLocks noChangeArrowheads="1"/>
            </p:cNvSpPr>
            <p:nvPr userDrawn="1"/>
          </p:nvSpPr>
          <p:spPr bwMode="gray">
            <a:xfrm>
              <a:off x="2976" y="2208"/>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0" name="Rectangle 191"/>
            <p:cNvSpPr>
              <a:spLocks noChangeArrowheads="1"/>
            </p:cNvSpPr>
            <p:nvPr userDrawn="1"/>
          </p:nvSpPr>
          <p:spPr bwMode="gray">
            <a:xfrm>
              <a:off x="3120" y="1776"/>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1" name="Rectangle 192"/>
            <p:cNvSpPr>
              <a:spLocks noChangeArrowheads="1"/>
            </p:cNvSpPr>
            <p:nvPr userDrawn="1"/>
          </p:nvSpPr>
          <p:spPr bwMode="gray">
            <a:xfrm>
              <a:off x="3120" y="1920"/>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2" name="Rectangle 193"/>
            <p:cNvSpPr>
              <a:spLocks noChangeArrowheads="1"/>
            </p:cNvSpPr>
            <p:nvPr userDrawn="1"/>
          </p:nvSpPr>
          <p:spPr bwMode="gray">
            <a:xfrm>
              <a:off x="3120" y="2064"/>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3" name="Rectangle 194"/>
            <p:cNvSpPr>
              <a:spLocks noChangeArrowheads="1"/>
            </p:cNvSpPr>
            <p:nvPr userDrawn="1"/>
          </p:nvSpPr>
          <p:spPr bwMode="gray">
            <a:xfrm>
              <a:off x="3264" y="1776"/>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4" name="Rectangle 195"/>
            <p:cNvSpPr>
              <a:spLocks noChangeArrowheads="1"/>
            </p:cNvSpPr>
            <p:nvPr userDrawn="1"/>
          </p:nvSpPr>
          <p:spPr bwMode="gray">
            <a:xfrm>
              <a:off x="3264" y="2064"/>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5" name="Rectangle 196"/>
            <p:cNvSpPr>
              <a:spLocks noChangeArrowheads="1"/>
            </p:cNvSpPr>
            <p:nvPr userDrawn="1"/>
          </p:nvSpPr>
          <p:spPr bwMode="gray">
            <a:xfrm>
              <a:off x="3408" y="1632"/>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6" name="Rectangle 197"/>
            <p:cNvSpPr>
              <a:spLocks noChangeArrowheads="1"/>
            </p:cNvSpPr>
            <p:nvPr userDrawn="1"/>
          </p:nvSpPr>
          <p:spPr bwMode="gray">
            <a:xfrm>
              <a:off x="3408" y="1776"/>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7" name="Rectangle 198"/>
            <p:cNvSpPr>
              <a:spLocks noChangeArrowheads="1"/>
            </p:cNvSpPr>
            <p:nvPr userDrawn="1"/>
          </p:nvSpPr>
          <p:spPr bwMode="gray">
            <a:xfrm>
              <a:off x="3408" y="1920"/>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8" name="Rectangle 199"/>
            <p:cNvSpPr>
              <a:spLocks noChangeArrowheads="1"/>
            </p:cNvSpPr>
            <p:nvPr userDrawn="1"/>
          </p:nvSpPr>
          <p:spPr bwMode="gray">
            <a:xfrm>
              <a:off x="3408" y="2064"/>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99" name="Rectangle 200"/>
            <p:cNvSpPr>
              <a:spLocks noChangeArrowheads="1"/>
            </p:cNvSpPr>
            <p:nvPr userDrawn="1"/>
          </p:nvSpPr>
          <p:spPr bwMode="gray">
            <a:xfrm>
              <a:off x="3552" y="1632"/>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0" name="Rectangle 201"/>
            <p:cNvSpPr>
              <a:spLocks noChangeArrowheads="1"/>
            </p:cNvSpPr>
            <p:nvPr userDrawn="1"/>
          </p:nvSpPr>
          <p:spPr bwMode="gray">
            <a:xfrm>
              <a:off x="3552" y="1920"/>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1" name="Rectangle 202"/>
            <p:cNvSpPr>
              <a:spLocks noChangeArrowheads="1"/>
            </p:cNvSpPr>
            <p:nvPr userDrawn="1"/>
          </p:nvSpPr>
          <p:spPr bwMode="gray">
            <a:xfrm>
              <a:off x="3696" y="1776"/>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2" name="Rectangle 203"/>
            <p:cNvSpPr>
              <a:spLocks noChangeArrowheads="1"/>
            </p:cNvSpPr>
            <p:nvPr userDrawn="1"/>
          </p:nvSpPr>
          <p:spPr bwMode="gray">
            <a:xfrm>
              <a:off x="3696" y="1920"/>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3" name="Rectangle 204"/>
            <p:cNvSpPr>
              <a:spLocks noChangeArrowheads="1"/>
            </p:cNvSpPr>
            <p:nvPr userDrawn="1"/>
          </p:nvSpPr>
          <p:spPr bwMode="gray">
            <a:xfrm>
              <a:off x="3696" y="2064"/>
              <a:ext cx="96" cy="96"/>
            </a:xfrm>
            <a:prstGeom prst="rect">
              <a:avLst/>
            </a:prstGeom>
            <a:solidFill>
              <a:srgbClr val="FFFFFF">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4" name="Rectangle 205"/>
            <p:cNvSpPr>
              <a:spLocks noChangeArrowheads="1"/>
            </p:cNvSpPr>
            <p:nvPr userDrawn="1"/>
          </p:nvSpPr>
          <p:spPr bwMode="gray">
            <a:xfrm>
              <a:off x="2256" y="2064"/>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5" name="Rectangle 206"/>
            <p:cNvSpPr>
              <a:spLocks noChangeArrowheads="1"/>
            </p:cNvSpPr>
            <p:nvPr userDrawn="1"/>
          </p:nvSpPr>
          <p:spPr bwMode="gray">
            <a:xfrm>
              <a:off x="2112" y="2064"/>
              <a:ext cx="96" cy="96"/>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grpSp>
      <p:sp>
        <p:nvSpPr>
          <p:cNvPr id="106" name="Rectangle 208"/>
          <p:cNvSpPr>
            <a:spLocks noChangeArrowheads="1"/>
          </p:cNvSpPr>
          <p:nvPr/>
        </p:nvSpPr>
        <p:spPr bwMode="gray">
          <a:xfrm>
            <a:off x="2743200" y="4256088"/>
            <a:ext cx="711200" cy="533400"/>
          </a:xfrm>
          <a:prstGeom prst="rect">
            <a:avLst/>
          </a:prstGeom>
          <a:noFill/>
          <a:ln w="9525">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7" name="Rectangle 209"/>
          <p:cNvSpPr>
            <a:spLocks noChangeArrowheads="1"/>
          </p:cNvSpPr>
          <p:nvPr/>
        </p:nvSpPr>
        <p:spPr bwMode="gray">
          <a:xfrm>
            <a:off x="2336800" y="4789488"/>
            <a:ext cx="304800" cy="228600"/>
          </a:xfrm>
          <a:prstGeom prst="rect">
            <a:avLst/>
          </a:prstGeom>
          <a:noFill/>
          <a:ln w="9525">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8" name="Rectangle 210"/>
          <p:cNvSpPr>
            <a:spLocks noChangeArrowheads="1"/>
          </p:cNvSpPr>
          <p:nvPr/>
        </p:nvSpPr>
        <p:spPr bwMode="gray">
          <a:xfrm>
            <a:off x="2032000" y="4941888"/>
            <a:ext cx="406400" cy="304800"/>
          </a:xfrm>
          <a:prstGeom prst="rect">
            <a:avLst/>
          </a:prstGeom>
          <a:noFill/>
          <a:ln w="9525">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10" name="Rectangle 4"/>
          <p:cNvSpPr>
            <a:spLocks noGrp="1" noChangeArrowheads="1"/>
          </p:cNvSpPr>
          <p:nvPr>
            <p:ph type="dt" sz="half" idx="10"/>
          </p:nvPr>
        </p:nvSpPr>
        <p:spPr>
          <a:xfrm>
            <a:off x="1422400" y="6461125"/>
            <a:ext cx="2641600" cy="244475"/>
          </a:xfrm>
        </p:spPr>
        <p:txBody>
          <a:bodyPr/>
          <a:lstStyle>
            <a:lvl1pPr>
              <a:defRPr sz="1200">
                <a:solidFill>
                  <a:schemeClr val="bg1"/>
                </a:solidFill>
              </a:defRPr>
            </a:lvl1pPr>
          </a:lstStyle>
          <a:p>
            <a:pPr>
              <a:defRPr/>
            </a:pPr>
            <a:endParaRPr lang="en-US" altLang="zh-CN"/>
          </a:p>
        </p:txBody>
      </p:sp>
      <p:sp>
        <p:nvSpPr>
          <p:cNvPr id="111" name="Rectangle 6"/>
          <p:cNvSpPr>
            <a:spLocks noGrp="1" noChangeArrowheads="1"/>
          </p:cNvSpPr>
          <p:nvPr>
            <p:ph type="sldNum" sz="quarter" idx="11"/>
          </p:nvPr>
        </p:nvSpPr>
        <p:spPr>
          <a:xfrm>
            <a:off x="812800" y="6461125"/>
            <a:ext cx="508000" cy="244475"/>
          </a:xfrm>
        </p:spPr>
        <p:txBody>
          <a:bodyPr/>
          <a:lstStyle>
            <a:lvl1pPr>
              <a:defRPr sz="1200">
                <a:solidFill>
                  <a:schemeClr val="bg1"/>
                </a:solidFill>
              </a:defRPr>
            </a:lvl1pPr>
          </a:lstStyle>
          <a:p>
            <a:pPr>
              <a:defRPr/>
            </a:pPr>
            <a:fld id="{00CD3D77-B7BB-4B9C-98D8-CF42F355CB79}" type="slidenum">
              <a:rPr lang="zh-CN" altLang="en-US"/>
            </a:fld>
            <a:endParaRPr lang="en-US" altLang="zh-CN"/>
          </a:p>
        </p:txBody>
      </p:sp>
      <p:pic>
        <p:nvPicPr>
          <p:cNvPr id="113" name="图片 112"/>
          <p:cNvPicPr>
            <a:picLocks noChangeAspect="1"/>
          </p:cNvPicPr>
          <p:nvPr userDrawn="1"/>
        </p:nvPicPr>
        <p:blipFill>
          <a:blip r:embed="rId2"/>
          <a:stretch>
            <a:fillRect/>
          </a:stretch>
        </p:blipFill>
        <p:spPr>
          <a:xfrm>
            <a:off x="0" y="-7352"/>
            <a:ext cx="12192000" cy="6865351"/>
          </a:xfrm>
          <a:prstGeom prst="rect">
            <a:avLst/>
          </a:prstGeom>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DDF2170B-9BF3-4DAE-B123-B7503FD5633D}" type="slidenum">
              <a:rPr lang="zh-CN" altLang="en-US"/>
            </a:fld>
            <a:endParaRPr lang="en-US" altLang="zh-CN"/>
          </a:p>
        </p:txBody>
      </p:sp>
      <p:sp>
        <p:nvSpPr>
          <p:cNvPr id="5" name="Rectangle 4"/>
          <p:cNvSpPr>
            <a:spLocks noGrp="1" noChangeArrowheads="1"/>
          </p:cNvSpPr>
          <p:nvPr>
            <p:ph type="dt" sz="half" idx="11"/>
          </p:nvPr>
        </p:nvSpPr>
        <p:spPr/>
        <p:txBody>
          <a:bodyPr/>
          <a:lstStyle>
            <a:lvl1pPr>
              <a:defRPr/>
            </a:lvl1pPr>
          </a:lstStyle>
          <a:p>
            <a:pPr>
              <a:defRPr/>
            </a:pPr>
            <a:endParaRPr lang="en-US" altLang="zh-CN"/>
          </a:p>
        </p:txBody>
      </p:sp>
      <p:pic>
        <p:nvPicPr>
          <p:cNvPr id="8" name="图片 7"/>
          <p:cNvPicPr>
            <a:picLocks noChangeAspect="1"/>
          </p:cNvPicPr>
          <p:nvPr userDrawn="1"/>
        </p:nvPicPr>
        <p:blipFill>
          <a:blip r:embed="rId2"/>
          <a:stretch>
            <a:fillRect/>
          </a:stretch>
        </p:blipFill>
        <p:spPr>
          <a:xfrm>
            <a:off x="0" y="-7351"/>
            <a:ext cx="12336693" cy="5372658"/>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381000"/>
            <a:ext cx="1138766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02167" y="1752600"/>
            <a:ext cx="5592233" cy="42703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752600"/>
            <a:ext cx="5592233" cy="42703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4165600" y="6172200"/>
            <a:ext cx="3860800" cy="476250"/>
          </a:xfrm>
          <a:prstGeom prst="rect">
            <a:avLst/>
          </a:prstGeom>
        </p:spPr>
        <p:txBody>
          <a:bodyPr/>
          <a:lstStyle>
            <a:lvl1pPr eaLnBrk="1" hangingPunct="1">
              <a:defRPr>
                <a:latin typeface="Arial" panose="020B0604020202020204" pitchFamily="34" charset="0"/>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9684F391-BF11-4D90-95AE-939FE60499E6}" type="slidenum">
              <a:rPr lang="en-US" altLang="zh-CN"/>
            </a:fld>
            <a:endParaRPr lang="en-US" altLang="zh-CN"/>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25232" y="188167"/>
            <a:ext cx="10971405" cy="954273"/>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09301" y="1599417"/>
            <a:ext cx="10973397" cy="4526078"/>
          </a:xfrm>
        </p:spPr>
        <p:txBody>
          <a:bodyPr/>
          <a:lstStyle/>
          <a:p>
            <a:pPr lvl="0"/>
            <a:endParaRPr lang="zh-CN" altLang="en-US" noProof="0"/>
          </a:p>
        </p:txBody>
      </p:sp>
      <p:sp>
        <p:nvSpPr>
          <p:cNvPr id="4" name="日期占位符 3"/>
          <p:cNvSpPr>
            <a:spLocks noGrp="1"/>
          </p:cNvSpPr>
          <p:nvPr>
            <p:ph type="dt" sz="half" idx="10"/>
          </p:nvPr>
        </p:nvSpPr>
        <p:spPr>
          <a:xfrm>
            <a:off x="609600" y="6245225"/>
            <a:ext cx="2844800" cy="476250"/>
          </a:xfrm>
        </p:spPr>
        <p:txBody>
          <a:bodyPr/>
          <a:lstStyle>
            <a:lvl1pPr>
              <a:defRPr/>
            </a:lvl1pPr>
          </a:lstStyle>
          <a:p>
            <a:pPr>
              <a:defRPr/>
            </a:pPr>
            <a:endParaRPr lang="en-US"/>
          </a:p>
        </p:txBody>
      </p:sp>
      <p:sp>
        <p:nvSpPr>
          <p:cNvPr id="5" name="灯片编号占位符 4"/>
          <p:cNvSpPr>
            <a:spLocks noGrp="1"/>
          </p:cNvSpPr>
          <p:nvPr>
            <p:ph type="sldNum" sz="quarter" idx="11"/>
          </p:nvPr>
        </p:nvSpPr>
        <p:spPr>
          <a:xfrm>
            <a:off x="8737600" y="6245225"/>
            <a:ext cx="2844800" cy="476250"/>
          </a:xfrm>
        </p:spPr>
        <p:txBody>
          <a:bodyPr/>
          <a:lstStyle>
            <a:lvl1pPr>
              <a:defRPr/>
            </a:lvl1pPr>
          </a:lstStyle>
          <a:p>
            <a:pPr>
              <a:defRPr/>
            </a:pPr>
            <a:fld id="{7A7A2A51-ADF8-4E47-9437-9F944871597D}" type="slidenum">
              <a:rPr lang="zh-CN" altLang="en-US"/>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4" name="Rectangle 6"/>
          <p:cNvSpPr>
            <a:spLocks noGrp="1"/>
          </p:cNvSpPr>
          <p:nvPr>
            <p:ph type="sldNum" sz="quarter" idx="10"/>
          </p:nvPr>
        </p:nvSpPr>
        <p:spPr/>
        <p:txBody>
          <a:bodyPr/>
          <a:lstStyle>
            <a:lvl1pPr>
              <a:defRPr>
                <a:ea typeface="黑体" panose="02010609060101010101" pitchFamily="49" charset="-122"/>
              </a:defRPr>
            </a:lvl1pPr>
          </a:lstStyle>
          <a:p>
            <a:pPr>
              <a:defRPr/>
            </a:pPr>
            <a:fld id="{179D7B92-6DC6-4A8A-8128-2BDA16A611A0}" type="slidenum">
              <a:rPr altLang="en-US"/>
            </a:fld>
            <a:endParaRPr lang="zh-CN" altLang="en-US"/>
          </a:p>
        </p:txBody>
      </p:sp>
      <p:sp>
        <p:nvSpPr>
          <p:cNvPr id="5" name="Rectangle 4"/>
          <p:cNvSpPr>
            <a:spLocks noGrp="1"/>
          </p:cNvSpPr>
          <p:nvPr>
            <p:ph type="dt" sz="half" idx="11"/>
          </p:nvPr>
        </p:nvSpPr>
        <p:spPr/>
        <p:txBody>
          <a:bodyPr/>
          <a:lstStyle>
            <a:lvl1pPr>
              <a:defRPr/>
            </a:lvl1pPr>
          </a:lstStyle>
          <a:p>
            <a:pPr>
              <a:defRPr/>
            </a:p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30251" y="319088"/>
            <a:ext cx="9550400" cy="563562"/>
          </a:xfrm>
        </p:spPr>
        <p:txBody>
          <a:bodyPr/>
          <a:lstStyle/>
          <a:p>
            <a:r>
              <a:rPr lang="zh-CN" altLang="en-US"/>
              <a:t>单击此处编辑母版标题样式</a:t>
            </a:r>
            <a:endParaRPr lang="zh-CN" alt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1.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28" name="Rectangle 152"/>
          <p:cNvSpPr>
            <a:spLocks noChangeArrowheads="1"/>
          </p:cNvSpPr>
          <p:nvPr/>
        </p:nvSpPr>
        <p:spPr bwMode="gray">
          <a:xfrm>
            <a:off x="8737600" y="76200"/>
            <a:ext cx="304800" cy="381000"/>
          </a:xfrm>
          <a:prstGeom prst="rect">
            <a:avLst/>
          </a:prstGeom>
          <a:noFill/>
          <a:ln w="9525">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29" name="Rectangle 153"/>
          <p:cNvSpPr>
            <a:spLocks noChangeArrowheads="1"/>
          </p:cNvSpPr>
          <p:nvPr/>
        </p:nvSpPr>
        <p:spPr bwMode="gray">
          <a:xfrm>
            <a:off x="8940800" y="228600"/>
            <a:ext cx="304800" cy="152400"/>
          </a:xfrm>
          <a:prstGeom prst="rect">
            <a:avLst/>
          </a:prstGeom>
          <a:noFill/>
          <a:ln w="9525">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30" name="Rectangle 154"/>
          <p:cNvSpPr>
            <a:spLocks noChangeArrowheads="1"/>
          </p:cNvSpPr>
          <p:nvPr/>
        </p:nvSpPr>
        <p:spPr bwMode="gray">
          <a:xfrm>
            <a:off x="9144000" y="304800"/>
            <a:ext cx="406400" cy="304800"/>
          </a:xfrm>
          <a:prstGeom prst="rect">
            <a:avLst/>
          </a:prstGeom>
          <a:noFill/>
          <a:ln w="9525">
            <a:solidFill>
              <a:srgbClr val="FFFFFF">
                <a:alpha val="50195"/>
              </a:srgbClr>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黑体" panose="02010609060101010101" pitchFamily="49" charset="-122"/>
            </a:endParaRPr>
          </a:p>
        </p:txBody>
      </p:sp>
      <p:sp>
        <p:nvSpPr>
          <p:cNvPr id="1031" name="Rectangle 3"/>
          <p:cNvSpPr>
            <a:spLocks noGrp="1" noChangeArrowheads="1"/>
          </p:cNvSpPr>
          <p:nvPr>
            <p:ph type="body" idx="1"/>
          </p:nvPr>
        </p:nvSpPr>
        <p:spPr bwMode="gray">
          <a:xfrm>
            <a:off x="711200" y="1295400"/>
            <a:ext cx="10922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6"/>
          <p:cNvSpPr>
            <a:spLocks noGrp="1" noChangeArrowheads="1"/>
          </p:cNvSpPr>
          <p:nvPr>
            <p:ph type="sldNum" sz="quarter" idx="4"/>
          </p:nvPr>
        </p:nvSpPr>
        <p:spPr bwMode="gray">
          <a:xfrm>
            <a:off x="5588000" y="6505575"/>
            <a:ext cx="1117600" cy="261938"/>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000">
                <a:latin typeface="Arial" panose="020B0604020202020204" pitchFamily="34" charset="0"/>
                <a:ea typeface="宋体" panose="02010600030101010101" pitchFamily="2" charset="-122"/>
              </a:defRPr>
            </a:lvl1pPr>
          </a:lstStyle>
          <a:p>
            <a:pPr>
              <a:defRPr/>
            </a:pPr>
            <a:fld id="{3B68E641-1D67-4E5F-8DAB-343FB5DF9889}" type="slidenum">
              <a:rPr lang="zh-CN" altLang="en-US"/>
            </a:fld>
            <a:endParaRPr lang="en-US" altLang="zh-CN"/>
          </a:p>
        </p:txBody>
      </p:sp>
      <p:sp>
        <p:nvSpPr>
          <p:cNvPr id="2" name="Rectangle 4"/>
          <p:cNvSpPr>
            <a:spLocks noGrp="1" noChangeArrowheads="1"/>
          </p:cNvSpPr>
          <p:nvPr>
            <p:ph type="dt" sz="half" idx="2"/>
          </p:nvPr>
        </p:nvSpPr>
        <p:spPr bwMode="gray">
          <a:xfrm>
            <a:off x="508000" y="6505575"/>
            <a:ext cx="2540000" cy="261938"/>
          </a:xfrm>
          <a:prstGeom prst="rect">
            <a:avLst/>
          </a:prstGeom>
          <a:noFill/>
          <a:ln w="9525">
            <a:noFill/>
            <a:miter lim="800000"/>
          </a:ln>
          <a:effectLst/>
        </p:spPr>
        <p:txBody>
          <a:bodyPr vert="horz" wrap="square" lIns="91440" tIns="45720" rIns="91440" bIns="45720" numCol="1" anchor="t" anchorCtr="0" compatLnSpc="1"/>
          <a:lstStyle>
            <a:lvl1pPr eaLnBrk="1" hangingPunct="1">
              <a:defRPr sz="1000">
                <a:latin typeface="Arial" panose="020B0604020202020204" pitchFamily="34" charset="0"/>
                <a:ea typeface="宋体" panose="02010600030101010101" pitchFamily="2" charset="-122"/>
              </a:defRPr>
            </a:lvl1pPr>
          </a:lstStyle>
          <a:p>
            <a:pPr>
              <a:defRPr/>
            </a:pPr>
            <a:endParaRPr lang="en-US" altLang="zh-CN"/>
          </a:p>
        </p:txBody>
      </p:sp>
      <p:sp>
        <p:nvSpPr>
          <p:cNvPr id="1034" name="Rectangle 2"/>
          <p:cNvSpPr>
            <a:spLocks noGrp="1" noChangeArrowheads="1"/>
          </p:cNvSpPr>
          <p:nvPr>
            <p:ph type="title"/>
          </p:nvPr>
        </p:nvSpPr>
        <p:spPr bwMode="gray">
          <a:xfrm>
            <a:off x="1488017" y="260350"/>
            <a:ext cx="868468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pic>
        <p:nvPicPr>
          <p:cNvPr id="14" name="图片 13"/>
          <p:cNvPicPr>
            <a:picLocks noChangeAspect="1"/>
          </p:cNvPicPr>
          <p:nvPr userDrawn="1"/>
        </p:nvPicPr>
        <p:blipFill>
          <a:blip r:embed="rId8"/>
          <a:stretch>
            <a:fillRect/>
          </a:stretch>
        </p:blipFill>
        <p:spPr>
          <a:xfrm>
            <a:off x="0" y="-7351"/>
            <a:ext cx="12144672" cy="537265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p:fade/>
  </p:transition>
  <p:hf hdr="0" ftr="0"/>
  <p:txStyles>
    <p:title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rgbClr val="3399FF"/>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anose="05000000000000000000"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6.png"/></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7.emf"/><Relationship Id="rId1" Type="http://schemas.openxmlformats.org/officeDocument/2006/relationships/oleObject" Target="../embeddings/oleObject2.bin"/></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8.png"/></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9.emf"/><Relationship Id="rId1" Type="http://schemas.openxmlformats.org/officeDocument/2006/relationships/oleObject" Target="../embeddings/oleObject3.bin"/></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41.emf"/><Relationship Id="rId1" Type="http://schemas.openxmlformats.org/officeDocument/2006/relationships/oleObject" Target="../embeddings/oleObject4.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jpeg"/><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8.png"/><Relationship Id="rId1" Type="http://schemas.openxmlformats.org/officeDocument/2006/relationships/image" Target="../media/image47.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jpe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51.emf"/><Relationship Id="rId1" Type="http://schemas.openxmlformats.org/officeDocument/2006/relationships/oleObject" Target="../embeddings/oleObject5.bin"/></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jpeg"/><Relationship Id="rId1" Type="http://schemas.openxmlformats.org/officeDocument/2006/relationships/image" Target="../media/image52.jpeg"/></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54.emf"/><Relationship Id="rId1" Type="http://schemas.openxmlformats.org/officeDocument/2006/relationships/oleObject" Target="../embeddings/oleObject6.bin"/></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55.emf"/><Relationship Id="rId1" Type="http://schemas.openxmlformats.org/officeDocument/2006/relationships/oleObject" Target="../embeddings/oleObject7.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9.GIF"/><Relationship Id="rId2" Type="http://schemas.openxmlformats.org/officeDocument/2006/relationships/image" Target="../media/image58.GIF"/><Relationship Id="rId1" Type="http://schemas.openxmlformats.org/officeDocument/2006/relationships/image" Target="../media/image57.GI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61.emf"/><Relationship Id="rId1" Type="http://schemas.openxmlformats.org/officeDocument/2006/relationships/oleObject" Target="../embeddings/oleObject8.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2.jpeg"/></Relationships>
</file>

<file path=ppt/slides/_rels/slide86.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5.xml"/><Relationship Id="rId2" Type="http://schemas.openxmlformats.org/officeDocument/2006/relationships/image" Target="../media/image63.wmf"/><Relationship Id="rId1" Type="http://schemas.openxmlformats.org/officeDocument/2006/relationships/oleObject" Target="../embeddings/oleObject9.bin"/></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5.emf"/><Relationship Id="rId1" Type="http://schemas.openxmlformats.org/officeDocument/2006/relationships/image" Target="../media/image64.em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6.jpe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7.emf"/></Relationships>
</file>

<file path=ppt/slides/_rels/slide99.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vmlDrawing" Target="../drawings/vmlDrawing10.vml"/><Relationship Id="rId3" Type="http://schemas.openxmlformats.org/officeDocument/2006/relationships/slideLayout" Target="../slideLayouts/slideLayout3.xml"/><Relationship Id="rId2" Type="http://schemas.openxmlformats.org/officeDocument/2006/relationships/image" Target="../media/image68.emf"/><Relationship Id="rId1" Type="http://schemas.openxmlformats.org/officeDocument/2006/relationships/oleObject" Target="../embeddings/oleObject10.bin"/></Relationships>
</file>

<file path=ppt/slides/_rels/slide100.xml.rels><?xml version="1.0" encoding="UTF-8" standalone="yes"?>
<Relationships xmlns="http://schemas.openxmlformats.org/package/2006/relationships"><Relationship Id="rId9" Type="http://schemas.openxmlformats.org/officeDocument/2006/relationships/image" Target="../media/image73.emf"/><Relationship Id="rId8" Type="http://schemas.openxmlformats.org/officeDocument/2006/relationships/oleObject" Target="../embeddings/oleObject14.bin"/><Relationship Id="rId7" Type="http://schemas.openxmlformats.org/officeDocument/2006/relationships/image" Target="../media/image72.wmf"/><Relationship Id="rId6" Type="http://schemas.openxmlformats.org/officeDocument/2006/relationships/oleObject" Target="../embeddings/oleObject13.bin"/><Relationship Id="rId5" Type="http://schemas.openxmlformats.org/officeDocument/2006/relationships/image" Target="../media/image71.wmf"/><Relationship Id="rId4" Type="http://schemas.openxmlformats.org/officeDocument/2006/relationships/oleObject" Target="../embeddings/oleObject12.bin"/><Relationship Id="rId3" Type="http://schemas.openxmlformats.org/officeDocument/2006/relationships/image" Target="../media/image70.wmf"/><Relationship Id="rId2" Type="http://schemas.openxmlformats.org/officeDocument/2006/relationships/oleObject" Target="../embeddings/oleObject11.bin"/><Relationship Id="rId12" Type="http://schemas.openxmlformats.org/officeDocument/2006/relationships/notesSlide" Target="../notesSlides/notesSlide13.xml"/><Relationship Id="rId11" Type="http://schemas.openxmlformats.org/officeDocument/2006/relationships/vmlDrawing" Target="../drawings/vmlDrawing11.vml"/><Relationship Id="rId10" Type="http://schemas.openxmlformats.org/officeDocument/2006/relationships/slideLayout" Target="../slideLayouts/slideLayout3.xml"/><Relationship Id="rId1" Type="http://schemas.openxmlformats.org/officeDocument/2006/relationships/image" Target="../media/image69.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jpeg"/></Relationships>
</file>

<file path=ppt/slides/_rels/slide103.xml.rels><?xml version="1.0" encoding="UTF-8" standalone="yes"?>
<Relationships xmlns="http://schemas.openxmlformats.org/package/2006/relationships"><Relationship Id="rId9" Type="http://schemas.openxmlformats.org/officeDocument/2006/relationships/image" Target="../media/image73.emf"/><Relationship Id="rId8" Type="http://schemas.openxmlformats.org/officeDocument/2006/relationships/oleObject" Target="../embeddings/oleObject18.bin"/><Relationship Id="rId7" Type="http://schemas.openxmlformats.org/officeDocument/2006/relationships/image" Target="../media/image72.wmf"/><Relationship Id="rId6" Type="http://schemas.openxmlformats.org/officeDocument/2006/relationships/oleObject" Target="../embeddings/oleObject17.bin"/><Relationship Id="rId5" Type="http://schemas.openxmlformats.org/officeDocument/2006/relationships/image" Target="../media/image71.wmf"/><Relationship Id="rId4" Type="http://schemas.openxmlformats.org/officeDocument/2006/relationships/oleObject" Target="../embeddings/oleObject16.bin"/><Relationship Id="rId3" Type="http://schemas.openxmlformats.org/officeDocument/2006/relationships/image" Target="../media/image70.wmf"/><Relationship Id="rId2" Type="http://schemas.openxmlformats.org/officeDocument/2006/relationships/oleObject" Target="../embeddings/oleObject15.bin"/><Relationship Id="rId12" Type="http://schemas.openxmlformats.org/officeDocument/2006/relationships/notesSlide" Target="../notesSlides/notesSlide14.xml"/><Relationship Id="rId11" Type="http://schemas.openxmlformats.org/officeDocument/2006/relationships/vmlDrawing" Target="../drawings/vmlDrawing12.vml"/><Relationship Id="rId10" Type="http://schemas.openxmlformats.org/officeDocument/2006/relationships/slideLayout" Target="../slideLayouts/slideLayout3.xml"/><Relationship Id="rId1" Type="http://schemas.openxmlformats.org/officeDocument/2006/relationships/image" Target="../media/image75.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6.jpe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7.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8.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0.jpe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1.em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2.jpe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3.png"/></Relationships>
</file>

<file path=ppt/slides/_rels/slide125.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87.emf"/><Relationship Id="rId7" Type="http://schemas.openxmlformats.org/officeDocument/2006/relationships/oleObject" Target="../embeddings/oleObject22.bin"/><Relationship Id="rId6" Type="http://schemas.openxmlformats.org/officeDocument/2006/relationships/image" Target="../media/image86.emf"/><Relationship Id="rId5" Type="http://schemas.openxmlformats.org/officeDocument/2006/relationships/oleObject" Target="../embeddings/oleObject21.bin"/><Relationship Id="rId4" Type="http://schemas.openxmlformats.org/officeDocument/2006/relationships/image" Target="../media/image85.emf"/><Relationship Id="rId3" Type="http://schemas.openxmlformats.org/officeDocument/2006/relationships/oleObject" Target="../embeddings/oleObject20.bin"/><Relationship Id="rId2" Type="http://schemas.openxmlformats.org/officeDocument/2006/relationships/image" Target="../media/image84.emf"/><Relationship Id="rId10" Type="http://schemas.openxmlformats.org/officeDocument/2006/relationships/vmlDrawing" Target="../drawings/vmlDrawing13.vml"/><Relationship Id="rId1" Type="http://schemas.openxmlformats.org/officeDocument/2006/relationships/oleObject" Target="../embeddings/oleObject19.bin"/></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8.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134.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image" Target="../media/image94.png"/><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image" Target="../media/image91.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95.jpeg"/></Relationships>
</file>

<file path=ppt/slides/_rels/slide136.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97.png"/><Relationship Id="rId1" Type="http://schemas.openxmlformats.org/officeDocument/2006/relationships/image" Target="../media/image96.pn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8.png"/></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9.png"/></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0.png"/></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2.jpeg"/></Relationships>
</file>

<file path=ppt/slides/_rels/slide145.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image" Target="../media/image107.jpeg"/><Relationship Id="rId4" Type="http://schemas.openxmlformats.org/officeDocument/2006/relationships/image" Target="../media/image106.jpeg"/><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image" Target="../media/image103.jpeg"/></Relationships>
</file>

<file path=ppt/slides/_rels/slide14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09.png"/><Relationship Id="rId1" Type="http://schemas.openxmlformats.org/officeDocument/2006/relationships/image" Target="../media/image108.jpeg"/></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jpeg"/></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06.jpeg"/></Relationships>
</file>

<file path=ppt/slides/_rels/slide149.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2.xml"/><Relationship Id="rId5" Type="http://schemas.openxmlformats.org/officeDocument/2006/relationships/image" Target="../media/image114.jpeg"/><Relationship Id="rId4" Type="http://schemas.openxmlformats.org/officeDocument/2006/relationships/image" Target="../media/image113.jpeg"/><Relationship Id="rId3" Type="http://schemas.openxmlformats.org/officeDocument/2006/relationships/image" Target="../media/image112.jpeg"/><Relationship Id="rId2" Type="http://schemas.openxmlformats.org/officeDocument/2006/relationships/image" Target="../media/image111.jpeg"/><Relationship Id="rId1" Type="http://schemas.openxmlformats.org/officeDocument/2006/relationships/image" Target="../media/image110.jpeg"/></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5.jpeg"/></Relationships>
</file>

<file path=ppt/slides/_rels/slide15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8.png"/><Relationship Id="rId4" Type="http://schemas.openxmlformats.org/officeDocument/2006/relationships/image" Target="../media/image117.jpeg"/><Relationship Id="rId3" Type="http://schemas.openxmlformats.org/officeDocument/2006/relationships/image" Target="../media/image114.jpeg"/><Relationship Id="rId2" Type="http://schemas.openxmlformats.org/officeDocument/2006/relationships/image" Target="../media/image116.jpeg"/><Relationship Id="rId1" Type="http://schemas.openxmlformats.org/officeDocument/2006/relationships/image" Target="../media/image110.jpeg"/></Relationships>
</file>

<file path=ppt/slides/_rels/slide1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4.jpeg"/><Relationship Id="rId1" Type="http://schemas.openxmlformats.org/officeDocument/2006/relationships/image" Target="../media/image119.png"/></Relationships>
</file>

<file path=ppt/slides/_rels/slide153.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120.png"/><Relationship Id="rId1" Type="http://schemas.openxmlformats.org/officeDocument/2006/relationships/tags" Target="../tags/tag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2.jpe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3.jpeg"/></Relationships>
</file>

<file path=ppt/slides/_rels/slide1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4.png"/></Relationships>
</file>

<file path=ppt/slides/_rels/slide1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5.png"/></Relationships>
</file>

<file path=ppt/slides/_rels/slide1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6.png"/></Relationships>
</file>

<file path=ppt/slides/_rels/slide1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7.png"/></Relationships>
</file>

<file path=ppt/slides/_rels/slide1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8.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idx="4294967295"/>
          </p:nvPr>
        </p:nvSpPr>
        <p:spPr>
          <a:xfrm>
            <a:off x="2590800" y="2732088"/>
            <a:ext cx="6889750" cy="685800"/>
          </a:xfrm>
        </p:spPr>
        <p:txBody>
          <a:bodyPr/>
          <a:lstStyle/>
          <a:p>
            <a:pPr algn="ctr" eaLnBrk="1" hangingPunct="1"/>
            <a:r>
              <a:rPr lang="zh-CN" altLang="en-US"/>
              <a:t>信息安全风险管理</a:t>
            </a:r>
            <a:endParaRPr lang="zh-CN" altLang="en-US"/>
          </a:p>
        </p:txBody>
      </p:sp>
      <p:sp>
        <p:nvSpPr>
          <p:cNvPr id="10244" name="矩形 7"/>
          <p:cNvSpPr>
            <a:spLocks noChangeArrowheads="1"/>
          </p:cNvSpPr>
          <p:nvPr/>
        </p:nvSpPr>
        <p:spPr bwMode="auto">
          <a:xfrm>
            <a:off x="2135560" y="2720975"/>
            <a:ext cx="828059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4400" b="1" dirty="0"/>
              <a:t>网络空间安全风险管理及国产化</a:t>
            </a:r>
            <a:endParaRPr lang="zh-CN" altLang="en-US" sz="4400" b="1" dirty="0"/>
          </a:p>
        </p:txBody>
      </p:sp>
      <p:sp>
        <p:nvSpPr>
          <p:cNvPr id="10245" name="矩形 7"/>
          <p:cNvSpPr>
            <a:spLocks noChangeArrowheads="1"/>
          </p:cNvSpPr>
          <p:nvPr/>
        </p:nvSpPr>
        <p:spPr bwMode="auto">
          <a:xfrm>
            <a:off x="2566988" y="1412875"/>
            <a:ext cx="15875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4400" b="1"/>
              <a:t>第</a:t>
            </a:r>
            <a:r>
              <a:rPr lang="en-US" altLang="zh-CN" sz="4400" b="1"/>
              <a:t>2</a:t>
            </a:r>
            <a:r>
              <a:rPr lang="zh-CN" altLang="en-US" sz="4400" b="1"/>
              <a:t>章</a:t>
            </a:r>
            <a:endParaRPr lang="zh-CN" altLang="en-US" sz="4400" b="1"/>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2316163" y="725488"/>
            <a:ext cx="6513512" cy="487362"/>
          </a:xfrm>
        </p:spPr>
        <p:txBody>
          <a:bodyPr/>
          <a:lstStyle/>
          <a:p>
            <a:r>
              <a:rPr lang="zh-CN" altLang="en-US">
                <a:solidFill>
                  <a:srgbClr val="FF0000"/>
                </a:solidFill>
              </a:rPr>
              <a:t>课程内容</a:t>
            </a:r>
            <a:endParaRPr lang="zh-CN" altLang="en-US">
              <a:solidFill>
                <a:srgbClr val="FF0000"/>
              </a:solidFill>
            </a:endParaRPr>
          </a:p>
        </p:txBody>
      </p:sp>
      <p:pic>
        <p:nvPicPr>
          <p:cNvPr id="12292" name="Picture 1" descr="信息安全风险管理"/>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6163" y="1736725"/>
            <a:ext cx="7380287"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F8947431-527E-4E04-A66E-4B62E903B8FF}" type="slidenum">
              <a:rPr lang="zh-CN" altLang="en-US" sz="1000" smtClean="0">
                <a:latin typeface="Arial" panose="020B0604020202020204" pitchFamily="34" charset="0"/>
                <a:ea typeface="宋体" panose="02010600030101010101" pitchFamily="2" charset="-122"/>
              </a:rPr>
            </a:fld>
            <a:endParaRPr lang="en-US" altLang="zh-CN" sz="1000">
              <a:latin typeface="Arial" panose="020B0604020202020204" pitchFamily="34" charset="0"/>
              <a:ea typeface="宋体" panose="02010600030101010101" pitchFamily="2" charset="-122"/>
            </a:endParaRPr>
          </a:p>
        </p:txBody>
      </p:sp>
      <p:grpSp>
        <p:nvGrpSpPr>
          <p:cNvPr id="14340" name="组合 7"/>
          <p:cNvGrpSpPr/>
          <p:nvPr/>
        </p:nvGrpSpPr>
        <p:grpSpPr bwMode="auto">
          <a:xfrm>
            <a:off x="3071813" y="1557338"/>
            <a:ext cx="5867859" cy="2574815"/>
            <a:chOff x="1161401" y="1579217"/>
            <a:chExt cx="7174787" cy="3236903"/>
          </a:xfrm>
        </p:grpSpPr>
        <p:sp>
          <p:nvSpPr>
            <p:cNvPr id="4" name="标题 1"/>
            <p:cNvSpPr txBox="1"/>
            <p:nvPr/>
          </p:nvSpPr>
          <p:spPr bwMode="gray">
            <a:xfrm>
              <a:off x="1161401" y="2924944"/>
              <a:ext cx="2088778" cy="522734"/>
            </a:xfrm>
            <a:prstGeom prst="rect">
              <a:avLst/>
            </a:prstGeom>
            <a:solidFill>
              <a:schemeClr val="tx2">
                <a:lumMod val="20000"/>
                <a:lumOff val="80000"/>
              </a:schemeClr>
            </a:solidFill>
            <a:ln w="9525">
              <a:noFill/>
              <a:miter lim="800000"/>
            </a:ln>
            <a:effectLst>
              <a:glow rad="63500">
                <a:schemeClr val="accent2">
                  <a:satMod val="175000"/>
                  <a:alpha val="40000"/>
                </a:schemeClr>
              </a:glow>
              <a:outerShdw blurRad="50800" dist="38100" dir="5400000" algn="t" rotWithShape="0">
                <a:prstClr val="black">
                  <a:alpha val="40000"/>
                </a:prstClr>
              </a:outerShdw>
            </a:effectLst>
          </p:spPr>
          <p:txBody>
            <a:bodyPr anchor="b"/>
            <a:lstStyle>
              <a:lvl1pPr algn="ctr" rtl="0" eaLnBrk="0" fontAlgn="base" hangingPunct="0">
                <a:spcBef>
                  <a:spcPct val="0"/>
                </a:spcBef>
                <a:spcAft>
                  <a:spcPct val="0"/>
                </a:spcAft>
                <a:defRPr sz="45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400" b="0" kern="0" dirty="0">
                  <a:solidFill>
                    <a:srgbClr val="0033CC"/>
                  </a:solidFill>
                  <a:latin typeface="方正大标宋简体" panose="02010601030101010101" pitchFamily="2" charset="-122"/>
                  <a:ea typeface="方正大标宋简体" panose="02010601030101010101" pitchFamily="2" charset="-122"/>
                </a:rPr>
                <a:t>国产化替代</a:t>
              </a:r>
              <a:endParaRPr lang="zh-CN" altLang="en-US" sz="2400" b="0" kern="0" dirty="0">
                <a:solidFill>
                  <a:srgbClr val="0033CC"/>
                </a:solidFill>
                <a:latin typeface="方正大标宋简体" panose="02010601030101010101" pitchFamily="2" charset="-122"/>
                <a:ea typeface="方正大标宋简体" panose="02010601030101010101" pitchFamily="2" charset="-122"/>
              </a:endParaRPr>
            </a:p>
          </p:txBody>
        </p:sp>
        <p:sp>
          <p:nvSpPr>
            <p:cNvPr id="5" name="矩形 4"/>
            <p:cNvSpPr/>
            <p:nvPr/>
          </p:nvSpPr>
          <p:spPr>
            <a:xfrm>
              <a:off x="4043305" y="1579217"/>
              <a:ext cx="3928665" cy="811056"/>
            </a:xfrm>
            <a:prstGeom prst="rect">
              <a:avLst/>
            </a:prstGeom>
            <a:solidFill>
              <a:srgbClr val="FFC000"/>
            </a:solidFill>
            <a:ln>
              <a:noFill/>
            </a:ln>
            <a:effectLst>
              <a:outerShdw blurRad="50800" dist="38100" dir="8100000" algn="tr" rotWithShape="0">
                <a:prstClr val="black">
                  <a:alpha val="40000"/>
                </a:prstClr>
              </a:outerShdw>
              <a:reflection blurRad="6350" stA="52000" endA="300" endPos="35000" dir="5400000" sy="-100000" algn="bl" rotWithShape="0"/>
            </a:effectLst>
            <a:scene3d>
              <a:camera prst="orthographicFront">
                <a:rot lat="0" lon="0" rev="0"/>
              </a:camera>
              <a:lightRig rig="contrasting" dir="t">
                <a:rot lat="0" lon="0" rev="7800000"/>
              </a:lightRig>
            </a:scene3d>
            <a:sp3d>
              <a:bevelT w="139700" h="139700"/>
            </a:sp3d>
          </p:spPr>
          <p:txBody>
            <a:bodyPr>
              <a:spAutoFit/>
            </a:bodyPr>
            <a:lstStyle/>
            <a:p>
              <a:pPr eaLnBrk="1" hangingPunct="1">
                <a:lnSpc>
                  <a:spcPct val="150000"/>
                </a:lnSpc>
                <a:defRPr/>
              </a:pPr>
              <a:r>
                <a:rPr lang="zh-CN" altLang="en-US" sz="2400" b="1" dirty="0">
                  <a:latin typeface="+mn-ea"/>
                  <a:ea typeface="+mn-ea"/>
                </a:rPr>
                <a:t>什么是国产化替代</a:t>
              </a:r>
              <a:endParaRPr lang="en-US" altLang="zh-CN" sz="2400" b="1" dirty="0">
                <a:latin typeface="+mn-ea"/>
                <a:ea typeface="+mn-ea"/>
              </a:endParaRPr>
            </a:p>
          </p:txBody>
        </p:sp>
        <p:sp>
          <p:nvSpPr>
            <p:cNvPr id="3" name="左大括号 2"/>
            <p:cNvSpPr/>
            <p:nvPr/>
          </p:nvSpPr>
          <p:spPr>
            <a:xfrm>
              <a:off x="3250001" y="1898531"/>
              <a:ext cx="791960" cy="2576461"/>
            </a:xfrm>
            <a:prstGeom prst="leftBrace">
              <a:avLst>
                <a:gd name="adj1" fmla="val 8333"/>
                <a:gd name="adj2" fmla="val 51599"/>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schemeClr val="tx1">
                    <a:lumMod val="95000"/>
                    <a:lumOff val="5000"/>
                  </a:schemeClr>
                </a:solidFill>
              </a:endParaRPr>
            </a:p>
          </p:txBody>
        </p:sp>
        <p:sp>
          <p:nvSpPr>
            <p:cNvPr id="6" name="矩形 5"/>
            <p:cNvSpPr/>
            <p:nvPr/>
          </p:nvSpPr>
          <p:spPr>
            <a:xfrm>
              <a:off x="4067944" y="4005064"/>
              <a:ext cx="3966012" cy="811056"/>
            </a:xfrm>
            <a:prstGeom prst="rect">
              <a:avLst/>
            </a:prstGeom>
            <a:solidFill>
              <a:srgbClr val="FFC000"/>
            </a:solidFill>
            <a:ln>
              <a:noFill/>
            </a:ln>
            <a:effectLst>
              <a:outerShdw blurRad="50800" dist="38100" dir="8100000" algn="tr" rotWithShape="0">
                <a:prstClr val="black">
                  <a:alpha val="40000"/>
                </a:prstClr>
              </a:outerShdw>
              <a:reflection blurRad="6350" stA="52000" endA="300" endPos="35000" dir="5400000" sy="-100000" algn="bl" rotWithShape="0"/>
            </a:effectLst>
            <a:scene3d>
              <a:camera prst="orthographicFront">
                <a:rot lat="0" lon="0" rev="0"/>
              </a:camera>
              <a:lightRig rig="contrasting" dir="t">
                <a:rot lat="0" lon="0" rev="7800000"/>
              </a:lightRig>
            </a:scene3d>
            <a:sp3d>
              <a:bevelT w="139700" h="139700"/>
            </a:sp3d>
          </p:spPr>
          <p:txBody>
            <a:bodyPr wrap="none">
              <a:spAutoFit/>
            </a:bodyPr>
            <a:lstStyle/>
            <a:p>
              <a:pPr eaLnBrk="1" hangingPunct="1">
                <a:lnSpc>
                  <a:spcPct val="150000"/>
                </a:lnSpc>
                <a:defRPr/>
              </a:pPr>
              <a:r>
                <a:rPr lang="zh-CN" altLang="en-US" sz="2400" b="1" dirty="0">
                  <a:latin typeface="+mn-ea"/>
                  <a:ea typeface="+mn-ea"/>
                  <a:sym typeface="+mn-ea"/>
                </a:rPr>
                <a:t>国产化替代究竟替什么</a:t>
              </a:r>
              <a:endParaRPr lang="zh-CN" altLang="en-US" sz="2400" b="1" dirty="0">
                <a:latin typeface="+mn-ea"/>
                <a:ea typeface="+mn-ea"/>
              </a:endParaRPr>
            </a:p>
          </p:txBody>
        </p:sp>
        <p:sp>
          <p:nvSpPr>
            <p:cNvPr id="7" name="矩形 6"/>
            <p:cNvSpPr/>
            <p:nvPr/>
          </p:nvSpPr>
          <p:spPr>
            <a:xfrm>
              <a:off x="3995936" y="2742909"/>
              <a:ext cx="4340252" cy="811056"/>
            </a:xfrm>
            <a:prstGeom prst="rect">
              <a:avLst/>
            </a:prstGeom>
            <a:solidFill>
              <a:srgbClr val="FFC000"/>
            </a:solidFill>
            <a:ln>
              <a:noFill/>
            </a:ln>
            <a:effectLst>
              <a:outerShdw blurRad="50800" dist="38100" dir="8100000" algn="tr" rotWithShape="0">
                <a:prstClr val="black">
                  <a:alpha val="40000"/>
                </a:prstClr>
              </a:outerShdw>
              <a:reflection blurRad="6350" stA="52000" endA="300" endPos="35000" dir="5400000" sy="-100000" algn="bl" rotWithShape="0"/>
            </a:effectLst>
            <a:scene3d>
              <a:camera prst="orthographicFront">
                <a:rot lat="0" lon="0" rev="0"/>
              </a:camera>
              <a:lightRig rig="contrasting" dir="t">
                <a:rot lat="0" lon="0" rev="7800000"/>
              </a:lightRig>
            </a:scene3d>
            <a:sp3d>
              <a:bevelT w="139700" h="139700"/>
            </a:sp3d>
          </p:spPr>
          <p:txBody>
            <a:bodyPr wrap="none">
              <a:spAutoFit/>
            </a:bodyPr>
            <a:lstStyle/>
            <a:p>
              <a:pPr eaLnBrk="1" hangingPunct="1">
                <a:lnSpc>
                  <a:spcPct val="150000"/>
                </a:lnSpc>
                <a:defRPr/>
              </a:pPr>
              <a:r>
                <a:rPr lang="zh-CN" altLang="en-US" sz="2400" b="1" dirty="0">
                  <a:latin typeface="+mn-ea"/>
                  <a:ea typeface="+mn-ea"/>
                  <a:sym typeface="+mn-ea"/>
                </a:rPr>
                <a:t>为什么要进行国产化替代</a:t>
              </a:r>
              <a:endParaRPr lang="en-US" altLang="zh-CN" sz="2400" b="1" dirty="0">
                <a:latin typeface="+mn-ea"/>
                <a:ea typeface="+mn-ea"/>
                <a:sym typeface="+mn-ea"/>
              </a:endParaRPr>
            </a:p>
          </p:txBody>
        </p:sp>
      </p:grpSp>
      <p:sp>
        <p:nvSpPr>
          <p:cNvPr id="14341" name="标题 1"/>
          <p:cNvSpPr>
            <a:spLocks noGrp="1"/>
          </p:cNvSpPr>
          <p:nvPr>
            <p:ph type="title"/>
          </p:nvPr>
        </p:nvSpPr>
        <p:spPr>
          <a:xfrm>
            <a:off x="2141538" y="890588"/>
            <a:ext cx="6513512" cy="487362"/>
          </a:xfrm>
        </p:spPr>
        <p:txBody>
          <a:bodyPr/>
          <a:lstStyle/>
          <a:p>
            <a:r>
              <a:rPr lang="zh-CN" altLang="en-US">
                <a:solidFill>
                  <a:srgbClr val="FF0000"/>
                </a:solidFill>
              </a:rPr>
              <a:t>课程内容</a:t>
            </a:r>
            <a:endParaRPr lang="zh-CN" altLang="en-US">
              <a:solidFill>
                <a:srgbClr val="FF0000"/>
              </a:solidFill>
            </a:endParaRPr>
          </a:p>
        </p:txBody>
      </p:sp>
      <p:grpSp>
        <p:nvGrpSpPr>
          <p:cNvPr id="14342" name="组合 8"/>
          <p:cNvGrpSpPr/>
          <p:nvPr/>
        </p:nvGrpSpPr>
        <p:grpSpPr bwMode="auto">
          <a:xfrm>
            <a:off x="3216275" y="4849177"/>
            <a:ext cx="2735262" cy="521970"/>
            <a:chOff x="1577520" y="4962571"/>
            <a:chExt cx="2735353" cy="521317"/>
          </a:xfrm>
        </p:grpSpPr>
        <p:sp>
          <p:nvSpPr>
            <p:cNvPr id="12" name="标题 1"/>
            <p:cNvSpPr txBox="1"/>
            <p:nvPr/>
          </p:nvSpPr>
          <p:spPr bwMode="gray">
            <a:xfrm>
              <a:off x="2699920" y="4962571"/>
              <a:ext cx="1612953" cy="521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800" dirty="0">
                  <a:solidFill>
                    <a:srgbClr val="0033CC"/>
                  </a:solidFill>
                  <a:latin typeface="方正大黑简体" panose="03000509000000000000" pitchFamily="65" charset="-122"/>
                  <a:ea typeface="方正大黑简体" panose="03000509000000000000" pitchFamily="65" charset="-122"/>
                  <a:cs typeface="+mn-cs"/>
                </a:rPr>
                <a:t>信创产业</a:t>
              </a:r>
              <a:endParaRPr lang="zh-CN" altLang="en-US" sz="2800" dirty="0">
                <a:solidFill>
                  <a:srgbClr val="0033CC"/>
                </a:solidFill>
                <a:latin typeface="方正大黑简体" panose="03000509000000000000" pitchFamily="65" charset="-122"/>
                <a:ea typeface="方正大黑简体" panose="03000509000000000000" pitchFamily="65" charset="-122"/>
                <a:cs typeface="+mn-cs"/>
              </a:endParaRPr>
            </a:p>
          </p:txBody>
        </p:sp>
        <p:sp>
          <p:nvSpPr>
            <p:cNvPr id="14344" name="矩形 12"/>
            <p:cNvSpPr>
              <a:spLocks noChangeArrowheads="1"/>
            </p:cNvSpPr>
            <p:nvPr/>
          </p:nvSpPr>
          <p:spPr bwMode="auto">
            <a:xfrm>
              <a:off x="1577520" y="4962571"/>
              <a:ext cx="1077631" cy="521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rgbClr val="FF0000"/>
                  </a:solidFill>
                  <a:latin typeface="方正大黑简体" panose="03000509000000000000" pitchFamily="65" charset="-122"/>
                  <a:ea typeface="方正大黑简体" panose="03000509000000000000" pitchFamily="65" charset="-122"/>
                </a:rPr>
                <a:t>延申</a:t>
              </a:r>
              <a:r>
                <a:rPr lang="en-US" altLang="zh-CN" sz="2800" b="1">
                  <a:solidFill>
                    <a:srgbClr val="FF0000"/>
                  </a:solidFill>
                  <a:latin typeface="方正大黑简体" panose="03000509000000000000" pitchFamily="65" charset="-122"/>
                  <a:ea typeface="方正大黑简体" panose="03000509000000000000" pitchFamily="65" charset="-122"/>
                </a:rPr>
                <a:t>:</a:t>
              </a:r>
              <a:endParaRPr lang="zh-CN" altLang="en-US" sz="2800" b="1">
                <a:solidFill>
                  <a:srgbClr val="FF0000"/>
                </a:solidFill>
                <a:latin typeface="方正大黑简体" panose="03000509000000000000" pitchFamily="65" charset="-122"/>
                <a:ea typeface="方正大黑简体" panose="03000509000000000000" pitchFamily="65" charset="-122"/>
              </a:endParaRPr>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2279650" y="700088"/>
            <a:ext cx="6513513" cy="487362"/>
          </a:xfrm>
        </p:spPr>
        <p:txBody>
          <a:bodyPr/>
          <a:lstStyle/>
          <a:p>
            <a:r>
              <a:rPr lang="zh-CN" altLang="en-US">
                <a:solidFill>
                  <a:srgbClr val="FF0000"/>
                </a:solidFill>
              </a:rPr>
              <a:t>知识域：风险管理工作内容</a:t>
            </a:r>
            <a:endParaRPr lang="zh-CN" altLang="en-US">
              <a:solidFill>
                <a:srgbClr val="FF0000"/>
              </a:solidFill>
            </a:endParaRPr>
          </a:p>
        </p:txBody>
      </p:sp>
      <p:sp>
        <p:nvSpPr>
          <p:cNvPr id="19459" name="内容占位符 2"/>
          <p:cNvSpPr>
            <a:spLocks noGrp="1"/>
          </p:cNvSpPr>
          <p:nvPr>
            <p:ph idx="1"/>
          </p:nvPr>
        </p:nvSpPr>
        <p:spPr>
          <a:xfrm>
            <a:off x="2063750" y="1484313"/>
            <a:ext cx="8191500" cy="2736850"/>
          </a:xfrm>
        </p:spPr>
        <p:txBody>
          <a:bodyPr/>
          <a:lstStyle/>
          <a:p>
            <a:pPr>
              <a:lnSpc>
                <a:spcPct val="150000"/>
              </a:lnSpc>
            </a:pPr>
            <a:r>
              <a:rPr lang="zh-CN" altLang="zh-CN" sz="2400" b="1" dirty="0"/>
              <a:t>知识子域：风险管理工作主要内容</a:t>
            </a:r>
            <a:endParaRPr lang="zh-CN" altLang="zh-CN" sz="2400" b="1" dirty="0"/>
          </a:p>
          <a:p>
            <a:pPr lvl="1">
              <a:lnSpc>
                <a:spcPct val="150000"/>
              </a:lnSpc>
            </a:pPr>
            <a:r>
              <a:rPr lang="zh-CN" altLang="zh-CN" sz="2000" b="1" dirty="0"/>
              <a:t>掌握建立背景的主要工作内容</a:t>
            </a:r>
            <a:endParaRPr lang="zh-CN" altLang="zh-CN" sz="2000" b="1" dirty="0"/>
          </a:p>
          <a:p>
            <a:pPr lvl="1">
              <a:lnSpc>
                <a:spcPct val="150000"/>
              </a:lnSpc>
            </a:pPr>
            <a:r>
              <a:rPr lang="zh-CN" altLang="zh-CN" sz="2000" b="1" dirty="0"/>
              <a:t>掌握风险评估的主要工作内容</a:t>
            </a:r>
            <a:endParaRPr lang="zh-CN" altLang="zh-CN" sz="2000" b="1" dirty="0"/>
          </a:p>
          <a:p>
            <a:pPr lvl="1">
              <a:lnSpc>
                <a:spcPct val="150000"/>
              </a:lnSpc>
            </a:pPr>
            <a:r>
              <a:rPr lang="zh-CN" altLang="zh-CN" sz="2000" b="1" dirty="0"/>
              <a:t>掌握风险处置的主要工作内容</a:t>
            </a:r>
            <a:endParaRPr lang="zh-CN" altLang="zh-CN" sz="2000" b="1" dirty="0"/>
          </a:p>
          <a:p>
            <a:pPr lvl="1">
              <a:lnSpc>
                <a:spcPct val="150000"/>
              </a:lnSpc>
            </a:pPr>
            <a:r>
              <a:rPr lang="zh-CN" altLang="zh-CN" sz="2000" b="1" dirty="0"/>
              <a:t>掌握批准监督的主要工作内容</a:t>
            </a:r>
            <a:endParaRPr lang="zh-CN" altLang="zh-CN" sz="2000" b="1" dirty="0"/>
          </a:p>
          <a:p>
            <a:pPr lvl="1">
              <a:lnSpc>
                <a:spcPct val="150000"/>
              </a:lnSpc>
            </a:pPr>
            <a:r>
              <a:rPr lang="zh-CN" altLang="zh-CN" sz="2000" b="1" dirty="0"/>
              <a:t>掌握监控审查的主要工作内容</a:t>
            </a:r>
            <a:endParaRPr lang="zh-CN" altLang="zh-CN" sz="2000" b="1" dirty="0"/>
          </a:p>
          <a:p>
            <a:pPr lvl="1">
              <a:lnSpc>
                <a:spcPct val="150000"/>
              </a:lnSpc>
            </a:pPr>
            <a:r>
              <a:rPr lang="zh-CN" altLang="zh-CN" sz="2000" b="1" dirty="0"/>
              <a:t>掌握沟通咨询的主要工作内容</a:t>
            </a:r>
            <a:endParaRPr lang="zh-CN" altLang="zh-CN" sz="2000" b="1" dirty="0"/>
          </a:p>
          <a:p>
            <a:pPr>
              <a:lnSpc>
                <a:spcPct val="150000"/>
              </a:lnSpc>
            </a:pPr>
            <a:endParaRPr lang="zh-CN" altLang="en-US" b="1"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804025" y="3148013"/>
            <a:ext cx="3756025"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 calcmode="lin" valueType="num">
                                      <p:cBhvr additive="base">
                                        <p:cTn id="12"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 calcmode="lin" valueType="num">
                                      <p:cBhvr additive="base">
                                        <p:cTn id="17"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9459">
                                            <p:txEl>
                                              <p:pRg st="3" end="3"/>
                                            </p:txEl>
                                          </p:spTgt>
                                        </p:tgtEl>
                                        <p:attrNameLst>
                                          <p:attrName>style.visibility</p:attrName>
                                        </p:attrNameLst>
                                      </p:cBhvr>
                                      <p:to>
                                        <p:strVal val="visible"/>
                                      </p:to>
                                    </p:set>
                                    <p:anim calcmode="lin" valueType="num">
                                      <p:cBhvr additive="base">
                                        <p:cTn id="22"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 calcmode="lin" valueType="num">
                                      <p:cBhvr additive="base">
                                        <p:cTn id="27"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19459">
                                            <p:txEl>
                                              <p:pRg st="5" end="5"/>
                                            </p:txEl>
                                          </p:spTgt>
                                        </p:tgtEl>
                                        <p:attrNameLst>
                                          <p:attrName>style.visibility</p:attrName>
                                        </p:attrNameLst>
                                      </p:cBhvr>
                                      <p:to>
                                        <p:strVal val="visible"/>
                                      </p:to>
                                    </p:set>
                                    <p:anim calcmode="lin" valueType="num">
                                      <p:cBhvr additive="base">
                                        <p:cTn id="32"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9459">
                                            <p:txEl>
                                              <p:pRg st="6" end="6"/>
                                            </p:txEl>
                                          </p:spTgt>
                                        </p:tgtEl>
                                        <p:attrNameLst>
                                          <p:attrName>style.visibility</p:attrName>
                                        </p:attrNameLst>
                                      </p:cBhvr>
                                      <p:to>
                                        <p:strVal val="visible"/>
                                      </p:to>
                                    </p:set>
                                    <p:anim calcmode="lin" valueType="num">
                                      <p:cBhvr additive="base">
                                        <p:cTn id="37"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6" end="6"/>
                                            </p:txEl>
                                          </p:spTgt>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53" presetClass="entr" presetSubtype="16"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p:cTn id="42" dur="500" fill="hold"/>
                                        <p:tgtEl>
                                          <p:spTgt spid="5"/>
                                        </p:tgtEl>
                                        <p:attrNameLst>
                                          <p:attrName>ppt_w</p:attrName>
                                        </p:attrNameLst>
                                      </p:cBhvr>
                                      <p:tavLst>
                                        <p:tav tm="0">
                                          <p:val>
                                            <p:fltVal val="0"/>
                                          </p:val>
                                        </p:tav>
                                        <p:tav tm="100000">
                                          <p:val>
                                            <p:strVal val="#ppt_w"/>
                                          </p:val>
                                        </p:tav>
                                      </p:tavLst>
                                    </p:anim>
                                    <p:anim calcmode="lin" valueType="num">
                                      <p:cBhvr>
                                        <p:cTn id="43" dur="500" fill="hold"/>
                                        <p:tgtEl>
                                          <p:spTgt spid="5"/>
                                        </p:tgtEl>
                                        <p:attrNameLst>
                                          <p:attrName>ppt_h</p:attrName>
                                        </p:attrNameLst>
                                      </p:cBhvr>
                                      <p:tavLst>
                                        <p:tav tm="0">
                                          <p:val>
                                            <p:fltVal val="0"/>
                                          </p:val>
                                        </p:tav>
                                        <p:tav tm="100000">
                                          <p:val>
                                            <p:strVal val="#ppt_h"/>
                                          </p:val>
                                        </p:tav>
                                      </p:tavLst>
                                    </p:anim>
                                    <p:animEffect transition="in" filter="fade">
                                      <p:cBhvr>
                                        <p:cTn id="4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982788" y="711200"/>
            <a:ext cx="7545387" cy="487363"/>
          </a:xfrm>
        </p:spPr>
        <p:txBody>
          <a:bodyPr/>
          <a:lstStyle/>
          <a:p>
            <a:r>
              <a:rPr lang="zh-CN" altLang="en-US" sz="3000">
                <a:solidFill>
                  <a:srgbClr val="FF0000"/>
                </a:solidFill>
              </a:rPr>
              <a:t>风险管理是各行业采取的普遍工作方法</a:t>
            </a:r>
            <a:endParaRPr lang="zh-CN" altLang="en-US" sz="3000">
              <a:solidFill>
                <a:srgbClr val="FF0000"/>
              </a:solidFill>
            </a:endParaRPr>
          </a:p>
        </p:txBody>
      </p:sp>
      <p:pic>
        <p:nvPicPr>
          <p:cNvPr id="2765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55800" y="1268413"/>
            <a:ext cx="3257550"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350" y="1844675"/>
            <a:ext cx="3238500"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6975" y="1900238"/>
            <a:ext cx="3200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7563" y="1225550"/>
            <a:ext cx="4371975" cy="486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7655"/>
                                        </p:tgtEl>
                                        <p:attrNameLst>
                                          <p:attrName>style.visibility</p:attrName>
                                        </p:attrNameLst>
                                      </p:cBhvr>
                                      <p:to>
                                        <p:strVal val="visible"/>
                                      </p:to>
                                    </p:set>
                                    <p:anim calcmode="lin" valueType="num">
                                      <p:cBhvr additive="base">
                                        <p:cTn id="7" dur="500" fill="hold"/>
                                        <p:tgtEl>
                                          <p:spTgt spid="27655"/>
                                        </p:tgtEl>
                                        <p:attrNameLst>
                                          <p:attrName>ppt_x</p:attrName>
                                        </p:attrNameLst>
                                      </p:cBhvr>
                                      <p:tavLst>
                                        <p:tav tm="0">
                                          <p:val>
                                            <p:strVal val="#ppt_x"/>
                                          </p:val>
                                        </p:tav>
                                        <p:tav tm="100000">
                                          <p:val>
                                            <p:strVal val="#ppt_x"/>
                                          </p:val>
                                        </p:tav>
                                      </p:tavLst>
                                    </p:anim>
                                    <p:anim calcmode="lin" valueType="num">
                                      <p:cBhvr additive="base">
                                        <p:cTn id="8" dur="500" fill="hold"/>
                                        <p:tgtEl>
                                          <p:spTgt spid="2765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7654"/>
                                        </p:tgtEl>
                                        <p:attrNameLst>
                                          <p:attrName>style.visibility</p:attrName>
                                        </p:attrNameLst>
                                      </p:cBhvr>
                                      <p:to>
                                        <p:strVal val="visible"/>
                                      </p:to>
                                    </p:set>
                                    <p:anim calcmode="lin" valueType="num">
                                      <p:cBhvr additive="base">
                                        <p:cTn id="12" dur="500" fill="hold"/>
                                        <p:tgtEl>
                                          <p:spTgt spid="27654"/>
                                        </p:tgtEl>
                                        <p:attrNameLst>
                                          <p:attrName>ppt_x</p:attrName>
                                        </p:attrNameLst>
                                      </p:cBhvr>
                                      <p:tavLst>
                                        <p:tav tm="0">
                                          <p:val>
                                            <p:strVal val="#ppt_x"/>
                                          </p:val>
                                        </p:tav>
                                        <p:tav tm="100000">
                                          <p:val>
                                            <p:strVal val="#ppt_x"/>
                                          </p:val>
                                        </p:tav>
                                      </p:tavLst>
                                    </p:anim>
                                    <p:anim calcmode="lin" valueType="num">
                                      <p:cBhvr additive="base">
                                        <p:cTn id="13" dur="500" fill="hold"/>
                                        <p:tgtEl>
                                          <p:spTgt spid="2765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27656"/>
                                        </p:tgtEl>
                                        <p:attrNameLst>
                                          <p:attrName>style.visibility</p:attrName>
                                        </p:attrNameLst>
                                      </p:cBhvr>
                                      <p:to>
                                        <p:strVal val="visible"/>
                                      </p:to>
                                    </p:set>
                                    <p:anim calcmode="lin" valueType="num">
                                      <p:cBhvr additive="base">
                                        <p:cTn id="17" dur="500" fill="hold"/>
                                        <p:tgtEl>
                                          <p:spTgt spid="27656"/>
                                        </p:tgtEl>
                                        <p:attrNameLst>
                                          <p:attrName>ppt_x</p:attrName>
                                        </p:attrNameLst>
                                      </p:cBhvr>
                                      <p:tavLst>
                                        <p:tav tm="0">
                                          <p:val>
                                            <p:strVal val="#ppt_x"/>
                                          </p:val>
                                        </p:tav>
                                        <p:tav tm="100000">
                                          <p:val>
                                            <p:strVal val="#ppt_x"/>
                                          </p:val>
                                        </p:tav>
                                      </p:tavLst>
                                    </p:anim>
                                    <p:anim calcmode="lin" valueType="num">
                                      <p:cBhvr additive="base">
                                        <p:cTn id="18" dur="500" fill="hold"/>
                                        <p:tgtEl>
                                          <p:spTgt spid="2765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27657"/>
                                        </p:tgtEl>
                                        <p:attrNameLst>
                                          <p:attrName>style.visibility</p:attrName>
                                        </p:attrNameLst>
                                      </p:cBhvr>
                                      <p:to>
                                        <p:strVal val="visible"/>
                                      </p:to>
                                    </p:set>
                                    <p:anim calcmode="lin" valueType="num">
                                      <p:cBhvr additive="base">
                                        <p:cTn id="22" dur="500" fill="hold"/>
                                        <p:tgtEl>
                                          <p:spTgt spid="27657"/>
                                        </p:tgtEl>
                                        <p:attrNameLst>
                                          <p:attrName>ppt_x</p:attrName>
                                        </p:attrNameLst>
                                      </p:cBhvr>
                                      <p:tavLst>
                                        <p:tav tm="0">
                                          <p:val>
                                            <p:strVal val="#ppt_x"/>
                                          </p:val>
                                        </p:tav>
                                        <p:tav tm="100000">
                                          <p:val>
                                            <p:strVal val="#ppt_x"/>
                                          </p:val>
                                        </p:tav>
                                      </p:tavLst>
                                    </p:anim>
                                    <p:anim calcmode="lin" valueType="num">
                                      <p:cBhvr additive="base">
                                        <p:cTn id="23" dur="500" fill="hold"/>
                                        <p:tgtEl>
                                          <p:spTgt spid="276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2208213" y="738188"/>
            <a:ext cx="6513512" cy="487362"/>
          </a:xfrm>
        </p:spPr>
        <p:txBody>
          <a:bodyPr/>
          <a:lstStyle/>
          <a:p>
            <a:r>
              <a:rPr lang="zh-CN" altLang="en-US" sz="3000">
                <a:solidFill>
                  <a:srgbClr val="FF0000"/>
                </a:solidFill>
              </a:rPr>
              <a:t>通用风险管理定义</a:t>
            </a:r>
            <a:endParaRPr lang="zh-CN" altLang="en-US" sz="3000">
              <a:solidFill>
                <a:srgbClr val="FF0000"/>
              </a:solidFill>
            </a:endParaRPr>
          </a:p>
        </p:txBody>
      </p:sp>
      <p:sp>
        <p:nvSpPr>
          <p:cNvPr id="21507" name="内容占位符 2"/>
          <p:cNvSpPr>
            <a:spLocks noGrp="1"/>
          </p:cNvSpPr>
          <p:nvPr>
            <p:ph idx="1"/>
          </p:nvPr>
        </p:nvSpPr>
        <p:spPr>
          <a:xfrm>
            <a:off x="2038350" y="1949450"/>
            <a:ext cx="8191500" cy="2852738"/>
          </a:xfrm>
        </p:spPr>
        <p:txBody>
          <a:bodyPr/>
          <a:lstStyle/>
          <a:p>
            <a:pPr lvl="1"/>
            <a:r>
              <a:rPr lang="zh-CN" altLang="en-US" sz="2400" b="1"/>
              <a:t>是指如何在一个肯定有风险的环境里把风险减至最低的管理过程。</a:t>
            </a:r>
            <a:endParaRPr lang="en-US" altLang="zh-CN" sz="2400" b="1"/>
          </a:p>
          <a:p>
            <a:pPr lvl="1"/>
            <a:r>
              <a:rPr lang="zh-CN" altLang="en-US" sz="2400" b="1"/>
              <a:t>风险管理包括对风险的量度、评估和应变策略。</a:t>
            </a:r>
            <a:endParaRPr lang="en-US" altLang="zh-CN" sz="2400" b="1"/>
          </a:p>
          <a:p>
            <a:pPr lvl="1"/>
            <a:r>
              <a:rPr lang="zh-CN" altLang="en-US" sz="2400" b="1"/>
              <a:t>理想的风险管理，是一连串排好优先次序的过程，使引致最大损失及最可能发生的事情优先处理、而相对风险较低的事情则押后处理。</a:t>
            </a:r>
            <a:endParaRPr lang="en-US" altLang="zh-CN" sz="2400" b="1"/>
          </a:p>
        </p:txBody>
      </p:sp>
      <p:sp>
        <p:nvSpPr>
          <p:cNvPr id="2" name="矩形 1"/>
          <p:cNvSpPr/>
          <p:nvPr/>
        </p:nvSpPr>
        <p:spPr>
          <a:xfrm>
            <a:off x="2424113" y="1341438"/>
            <a:ext cx="1511300" cy="583565"/>
          </a:xfrm>
          <a:prstGeom prst="rect">
            <a:avLst/>
          </a:prstGeom>
        </p:spPr>
        <p:txBody>
          <a:bodyPr>
            <a:spAutoFit/>
          </a:bodyPr>
          <a:lstStyle/>
          <a:p>
            <a:pPr eaLnBrk="1" hangingPunct="1">
              <a:defRPr/>
            </a:pPr>
            <a:r>
              <a:rPr lang="zh-CN" altLang="en-US" sz="3200" b="1" dirty="0">
                <a:solidFill>
                  <a:srgbClr val="0033CC"/>
                </a:solidFill>
                <a:latin typeface="+mn-ea"/>
                <a:ea typeface="+mn-ea"/>
              </a:rPr>
              <a:t>定义</a:t>
            </a:r>
            <a:endParaRPr lang="en-US" altLang="zh-CN" sz="3200" b="1" dirty="0">
              <a:solidFill>
                <a:srgbClr val="0033CC"/>
              </a:solidFill>
              <a:latin typeface="+mn-ea"/>
              <a:ea typeface="+mn-ea"/>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608888" y="4437063"/>
            <a:ext cx="2924175" cy="178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1507">
                                            <p:txEl>
                                              <p:pRg st="0" end="0"/>
                                            </p:txEl>
                                          </p:spTgt>
                                        </p:tgtEl>
                                        <p:attrNameLst>
                                          <p:attrName>style.visibility</p:attrName>
                                        </p:attrNameLst>
                                      </p:cBhvr>
                                      <p:to>
                                        <p:strVal val="visible"/>
                                      </p:to>
                                    </p:set>
                                    <p:anim calcmode="lin" valueType="num">
                                      <p:cBhvr additive="base">
                                        <p:cTn id="12" dur="500" fill="hold"/>
                                        <p:tgtEl>
                                          <p:spTgt spid="21507">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1507">
                                            <p:txEl>
                                              <p:pRg st="0" end="0"/>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1507">
                                            <p:txEl>
                                              <p:pRg st="1" end="1"/>
                                            </p:txEl>
                                          </p:spTgt>
                                        </p:tgtEl>
                                        <p:attrNameLst>
                                          <p:attrName>style.visibility</p:attrName>
                                        </p:attrNameLst>
                                      </p:cBhvr>
                                      <p:to>
                                        <p:strVal val="visible"/>
                                      </p:to>
                                    </p:set>
                                    <p:anim calcmode="lin" valueType="num">
                                      <p:cBhvr additive="base">
                                        <p:cTn id="17" dur="500" fill="hold"/>
                                        <p:tgtEl>
                                          <p:spTgt spid="21507">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1507">
                                            <p:txEl>
                                              <p:pRg st="1" end="1"/>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21507">
                                            <p:txEl>
                                              <p:pRg st="2" end="2"/>
                                            </p:txEl>
                                          </p:spTgt>
                                        </p:tgtEl>
                                        <p:attrNameLst>
                                          <p:attrName>style.visibility</p:attrName>
                                        </p:attrNameLst>
                                      </p:cBhvr>
                                      <p:to>
                                        <p:strVal val="visible"/>
                                      </p:to>
                                    </p:set>
                                    <p:anim calcmode="lin" valueType="num">
                                      <p:cBhvr additive="base">
                                        <p:cTn id="22" dur="500" fill="hold"/>
                                        <p:tgtEl>
                                          <p:spTgt spid="21507">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1507">
                                            <p:txEl>
                                              <p:pRg st="2" end="2"/>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500" fill="hold"/>
                                        <p:tgtEl>
                                          <p:spTgt spid="3"/>
                                        </p:tgtEl>
                                        <p:attrNameLst>
                                          <p:attrName>ppt_w</p:attrName>
                                        </p:attrNameLst>
                                      </p:cBhvr>
                                      <p:tavLst>
                                        <p:tav tm="0">
                                          <p:val>
                                            <p:fltVal val="0"/>
                                          </p:val>
                                        </p:tav>
                                        <p:tav tm="100000">
                                          <p:val>
                                            <p:strVal val="#ppt_w"/>
                                          </p:val>
                                        </p:tav>
                                      </p:tavLst>
                                    </p:anim>
                                    <p:anim calcmode="lin" valueType="num">
                                      <p:cBhvr>
                                        <p:cTn id="28" dur="500" fill="hold"/>
                                        <p:tgtEl>
                                          <p:spTgt spid="3"/>
                                        </p:tgtEl>
                                        <p:attrNameLst>
                                          <p:attrName>ppt_h</p:attrName>
                                        </p:attrNameLst>
                                      </p:cBhvr>
                                      <p:tavLst>
                                        <p:tav tm="0">
                                          <p:val>
                                            <p:fltVal val="0"/>
                                          </p:val>
                                        </p:tav>
                                        <p:tav tm="100000">
                                          <p:val>
                                            <p:strVal val="#ppt_h"/>
                                          </p:val>
                                        </p:tav>
                                      </p:tavLst>
                                    </p:anim>
                                    <p:animEffect transition="in" filter="fade">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2135188" y="854075"/>
            <a:ext cx="8027987" cy="487363"/>
          </a:xfrm>
        </p:spPr>
        <p:txBody>
          <a:bodyPr/>
          <a:lstStyle/>
          <a:p>
            <a:r>
              <a:rPr lang="zh-CN" altLang="en-US">
                <a:solidFill>
                  <a:srgbClr val="FF0000"/>
                </a:solidFill>
              </a:rPr>
              <a:t>网络空间安全工作中的风险管理</a:t>
            </a:r>
            <a:endParaRPr lang="zh-CN" altLang="en-US">
              <a:solidFill>
                <a:srgbClr val="FF0000"/>
              </a:solidFill>
            </a:endParaRPr>
          </a:p>
        </p:txBody>
      </p:sp>
      <p:graphicFrame>
        <p:nvGraphicFramePr>
          <p:cNvPr id="6" name="内容占位符 5"/>
          <p:cNvGraphicFramePr>
            <a:graphicFrameLocks noGrp="1"/>
          </p:cNvGraphicFramePr>
          <p:nvPr>
            <p:ph idx="1"/>
          </p:nvPr>
        </p:nvGraphicFramePr>
        <p:xfrm>
          <a:off x="1972047" y="1772816"/>
          <a:ext cx="8191500" cy="3479800"/>
        </p:xfrm>
        <a:graphic>
          <a:graphicData uri="http://schemas.openxmlformats.org/drawingml/2006/table">
            <a:tbl>
              <a:tblPr firstRow="1" bandRow="1">
                <a:effectLst>
                  <a:outerShdw blurRad="50800" dist="38100" dir="18900000" algn="bl" rotWithShape="0">
                    <a:prstClr val="black">
                      <a:alpha val="40000"/>
                    </a:prstClr>
                  </a:outerShdw>
                </a:effectLst>
                <a:tableStyleId>{5C22544A-7EE6-4342-B048-85BDC9FD1C3A}</a:tableStyleId>
              </a:tblPr>
              <a:tblGrid>
                <a:gridCol w="4095750"/>
                <a:gridCol w="4095750"/>
              </a:tblGrid>
              <a:tr h="370840">
                <a:tc>
                  <a:txBody>
                    <a:bodyPr/>
                    <a:lstStyle/>
                    <a:p>
                      <a:r>
                        <a:rPr lang="zh-CN" altLang="en-US" b="1" dirty="0">
                          <a:solidFill>
                            <a:srgbClr val="0033CC"/>
                          </a:solidFill>
                          <a:latin typeface="Times New Roman" panose="02020603050405020304" pitchFamily="18" charset="0"/>
                          <a:cs typeface="Times New Roman" panose="02020603050405020304" pitchFamily="18" charset="0"/>
                        </a:rPr>
                        <a:t>常见问题</a:t>
                      </a:r>
                      <a:endParaRPr lang="zh-CN" altLang="en-US" b="1" dirty="0">
                        <a:solidFill>
                          <a:srgbClr val="0033CC"/>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r>
                        <a:rPr lang="zh-CN" altLang="en-US" b="1" dirty="0">
                          <a:solidFill>
                            <a:srgbClr val="0033CC"/>
                          </a:solidFill>
                          <a:latin typeface="Times New Roman" panose="02020603050405020304" pitchFamily="18" charset="0"/>
                          <a:cs typeface="Times New Roman" panose="02020603050405020304" pitchFamily="18" charset="0"/>
                        </a:rPr>
                        <a:t>问题根源浅析</a:t>
                      </a:r>
                      <a:endParaRPr lang="zh-CN" altLang="en-US" b="1" dirty="0">
                        <a:solidFill>
                          <a:srgbClr val="0033CC"/>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r>
              <a:tr h="370840">
                <a:tc>
                  <a:txBody>
                    <a:bodyPr/>
                    <a:lstStyle/>
                    <a:p>
                      <a:r>
                        <a:rPr lang="zh-CN" altLang="en-US" b="1" dirty="0">
                          <a:solidFill>
                            <a:srgbClr val="FF0000"/>
                          </a:solidFill>
                          <a:latin typeface="Times New Roman" panose="02020603050405020304" pitchFamily="18" charset="0"/>
                          <a:cs typeface="Times New Roman" panose="02020603050405020304" pitchFamily="18" charset="0"/>
                        </a:rPr>
                        <a:t>安全投资逐年增加，但看不到收益</a:t>
                      </a:r>
                      <a:endParaRPr lang="zh-CN" altLang="en-US" b="1" dirty="0">
                        <a:solidFill>
                          <a:srgbClr val="FF0000"/>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r>
                        <a:rPr lang="zh-CN" altLang="en-US" b="1" dirty="0">
                          <a:latin typeface="Times New Roman" panose="02020603050405020304" pitchFamily="18" charset="0"/>
                          <a:cs typeface="Times New Roman" panose="02020603050405020304" pitchFamily="18" charset="0"/>
                        </a:rPr>
                        <a:t>没有根据风险优先级做安全投资规划，没有抓住主要矛盾，导致有限资金的有效利用率低</a:t>
                      </a:r>
                      <a:endParaRPr lang="zh-CN" altLang="en-US" b="1"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r>
              <a:tr h="370840">
                <a:tc>
                  <a:txBody>
                    <a:bodyPr/>
                    <a:lstStyle/>
                    <a:p>
                      <a:r>
                        <a:rPr lang="zh-CN" altLang="en-US" b="1" dirty="0">
                          <a:solidFill>
                            <a:srgbClr val="FF0000"/>
                          </a:solidFill>
                          <a:latin typeface="Times New Roman" panose="02020603050405020304" pitchFamily="18" charset="0"/>
                          <a:cs typeface="Times New Roman" panose="02020603050405020304" pitchFamily="18" charset="0"/>
                        </a:rPr>
                        <a:t>按照国家要求或行业要求开展信息安全工作，但安全事件仍出现</a:t>
                      </a:r>
                      <a:endParaRPr lang="zh-CN" altLang="en-US" b="1" dirty="0">
                        <a:solidFill>
                          <a:srgbClr val="FF0000"/>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r>
                        <a:rPr lang="zh-CN" altLang="en-US" b="1" dirty="0">
                          <a:latin typeface="Times New Roman" panose="02020603050405020304" pitchFamily="18" charset="0"/>
                          <a:cs typeface="Times New Roman" panose="02020603050405020304" pitchFamily="18" charset="0"/>
                        </a:rPr>
                        <a:t>没有根据企业自身安全需求部署安全控制措施，没有突出控制高风险。</a:t>
                      </a:r>
                      <a:endParaRPr lang="zh-CN" altLang="en-US" b="1"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en-US" altLang="zh-CN" b="1" dirty="0">
                          <a:solidFill>
                            <a:srgbClr val="FF0000"/>
                          </a:solidFill>
                          <a:latin typeface="Times New Roman" panose="02020603050405020304" pitchFamily="18" charset="0"/>
                          <a:cs typeface="Times New Roman" panose="02020603050405020304" pitchFamily="18" charset="0"/>
                        </a:rPr>
                        <a:t>IT</a:t>
                      </a:r>
                      <a:r>
                        <a:rPr lang="zh-CN" altLang="en-US" b="1" dirty="0">
                          <a:solidFill>
                            <a:srgbClr val="FF0000"/>
                          </a:solidFill>
                          <a:latin typeface="Times New Roman" panose="02020603050405020304" pitchFamily="18" charset="0"/>
                          <a:cs typeface="Times New Roman" panose="02020603050405020304" pitchFamily="18" charset="0"/>
                        </a:rPr>
                        <a:t>安全需求很多，有限的资金应优先拨向哪个领域</a:t>
                      </a:r>
                      <a:endParaRPr lang="zh-CN" altLang="en-US" b="1" dirty="0">
                        <a:solidFill>
                          <a:srgbClr val="FF0000"/>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r>
                        <a:rPr lang="zh-CN" altLang="en-US" b="1" dirty="0">
                          <a:latin typeface="Times New Roman" panose="02020603050405020304" pitchFamily="18" charset="0"/>
                          <a:cs typeface="Times New Roman" panose="02020603050405020304" pitchFamily="18" charset="0"/>
                        </a:rPr>
                        <a:t>决策者没有看到安全投资收益报告，资金划拨无参考依据。</a:t>
                      </a:r>
                      <a:endParaRPr lang="zh-CN" altLang="en-US" b="1"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zh-CN" altLang="en-US" b="1" dirty="0">
                          <a:solidFill>
                            <a:srgbClr val="FF0000"/>
                          </a:solidFill>
                          <a:latin typeface="Times New Roman" panose="02020603050405020304" pitchFamily="18" charset="0"/>
                          <a:cs typeface="Times New Roman" panose="02020603050405020304" pitchFamily="18" charset="0"/>
                        </a:rPr>
                        <a:t>当了</a:t>
                      </a:r>
                      <a:r>
                        <a:rPr lang="en-US" altLang="zh-CN" b="1" dirty="0">
                          <a:solidFill>
                            <a:srgbClr val="FF0000"/>
                          </a:solidFill>
                          <a:latin typeface="Times New Roman" panose="02020603050405020304" pitchFamily="18" charset="0"/>
                          <a:cs typeface="Times New Roman" panose="02020603050405020304" pitchFamily="18" charset="0"/>
                        </a:rPr>
                        <a:t>CIO</a:t>
                      </a:r>
                      <a:r>
                        <a:rPr lang="zh-CN" altLang="en-US" b="1" dirty="0">
                          <a:solidFill>
                            <a:srgbClr val="FF0000"/>
                          </a:solidFill>
                          <a:latin typeface="Times New Roman" panose="02020603050405020304" pitchFamily="18" charset="0"/>
                          <a:cs typeface="Times New Roman" panose="02020603050405020304" pitchFamily="18" charset="0"/>
                        </a:rPr>
                        <a:t>，时刻担心系统出事，无法预见可能会出什么事</a:t>
                      </a:r>
                      <a:endParaRPr lang="en-US" altLang="zh-CN" b="1" dirty="0">
                        <a:solidFill>
                          <a:srgbClr val="FF0000"/>
                        </a:solidFill>
                        <a:latin typeface="Times New Roman" panose="02020603050405020304" pitchFamily="18" charset="0"/>
                        <a:cs typeface="Times New Roman" panose="02020603050405020304" pitchFamily="18" charset="0"/>
                      </a:endParaRPr>
                    </a:p>
                    <a:p>
                      <a:pPr marL="0" marR="0" lvl="1" indent="0" algn="l" defTabSz="914400" rtl="0" eaLnBrk="1" fontAlgn="auto" latinLnBrk="0" hangingPunct="1">
                        <a:lnSpc>
                          <a:spcPct val="100000"/>
                        </a:lnSpc>
                        <a:spcBef>
                          <a:spcPts val="0"/>
                        </a:spcBef>
                        <a:spcAft>
                          <a:spcPts val="0"/>
                        </a:spcAft>
                        <a:buClrTx/>
                        <a:buSzTx/>
                        <a:buFontTx/>
                        <a:buNone/>
                        <a:defRPr/>
                      </a:pPr>
                      <a:endParaRPr lang="zh-CN" altLang="en-US" b="1" dirty="0">
                        <a:solidFill>
                          <a:srgbClr val="FF0000"/>
                        </a:solidFill>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zh-CN" altLang="en-US" b="1" dirty="0">
                          <a:latin typeface="Times New Roman" panose="02020603050405020304" pitchFamily="18" charset="0"/>
                          <a:cs typeface="Times New Roman" panose="02020603050405020304" pitchFamily="18" charset="0"/>
                        </a:rPr>
                        <a:t>没有残余风险清单，在什么条件可被触发，如何做好控制</a:t>
                      </a:r>
                      <a:endParaRPr lang="zh-CN" altLang="en-US" b="1" dirty="0">
                        <a:latin typeface="Times New Roman" panose="02020603050405020304" pitchFamily="18" charset="0"/>
                        <a:cs typeface="Times New Roman" panose="02020603050405020304" pitchFamily="18" charset="0"/>
                      </a:endParaRPr>
                    </a:p>
                    <a:p>
                      <a:endParaRPr lang="zh-CN" altLang="en-US" b="1"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r>
            </a:tbl>
          </a:graphicData>
        </a:graphic>
      </p:graphicFrame>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a:extLst>
              <a:ext uri="{28A0092B-C50C-407E-A947-70E740481C1C}">
                <a14:useLocalDpi xmlns:a14="http://schemas.microsoft.com/office/drawing/2010/main" val="0"/>
              </a:ext>
            </a:extLst>
          </a:blip>
          <a:srcRect b="10440"/>
          <a:stretch>
            <a:fillRect/>
          </a:stretch>
        </p:blipFill>
        <p:spPr bwMode="auto">
          <a:xfrm>
            <a:off x="7319963" y="3573463"/>
            <a:ext cx="3024187" cy="251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标题 1"/>
          <p:cNvSpPr>
            <a:spLocks noGrp="1"/>
          </p:cNvSpPr>
          <p:nvPr>
            <p:ph type="title"/>
          </p:nvPr>
        </p:nvSpPr>
        <p:spPr>
          <a:xfrm>
            <a:off x="1693863" y="765175"/>
            <a:ext cx="8943975" cy="487363"/>
          </a:xfrm>
        </p:spPr>
        <p:txBody>
          <a:bodyPr/>
          <a:lstStyle/>
          <a:p>
            <a:r>
              <a:rPr lang="zh-CN" altLang="en-US">
                <a:solidFill>
                  <a:srgbClr val="FF0000"/>
                </a:solidFill>
              </a:rPr>
              <a:t>风险管理是网络空间安全保障工作有效工作方式</a:t>
            </a:r>
            <a:endParaRPr lang="zh-CN" altLang="en-US">
              <a:solidFill>
                <a:srgbClr val="FF0000"/>
              </a:solidFill>
            </a:endParaRPr>
          </a:p>
        </p:txBody>
      </p:sp>
      <p:sp>
        <p:nvSpPr>
          <p:cNvPr id="24579" name="内容占位符 2"/>
          <p:cNvSpPr>
            <a:spLocks noGrp="1"/>
          </p:cNvSpPr>
          <p:nvPr>
            <p:ph idx="1"/>
          </p:nvPr>
        </p:nvSpPr>
        <p:spPr>
          <a:xfrm>
            <a:off x="2092325" y="1660525"/>
            <a:ext cx="8191500" cy="2490788"/>
          </a:xfrm>
        </p:spPr>
        <p:txBody>
          <a:bodyPr/>
          <a:lstStyle/>
          <a:p>
            <a:pPr>
              <a:defRPr/>
            </a:pPr>
            <a:r>
              <a:rPr lang="zh-CN" altLang="en-US" sz="2400" b="1" dirty="0">
                <a:latin typeface="+mn-ea"/>
              </a:rPr>
              <a:t>好的风险管理过程可以让机构</a:t>
            </a:r>
            <a:r>
              <a:rPr lang="zh-CN" sz="2400" b="1" dirty="0">
                <a:latin typeface="+mn-ea"/>
              </a:rPr>
              <a:t>以最具有成本效益的方式运行，并且使已知的风险维持在可接受的水平。</a:t>
            </a:r>
            <a:endParaRPr lang="en-US" altLang="zh-CN" sz="2400" b="1" dirty="0">
              <a:latin typeface="+mn-ea"/>
            </a:endParaRPr>
          </a:p>
          <a:p>
            <a:pPr>
              <a:defRPr/>
            </a:pPr>
            <a:r>
              <a:rPr lang="zh-CN" altLang="en-US" sz="2400" b="1" dirty="0">
                <a:latin typeface="+mn-ea"/>
              </a:rPr>
              <a:t>好的风险管理过程</a:t>
            </a:r>
            <a:r>
              <a:rPr lang="zh-CN" sz="2400" b="1" dirty="0">
                <a:latin typeface="+mn-ea"/>
              </a:rPr>
              <a:t>使组织可以用一种一致的、条理清晰的方式来组织有限的资源并确定优先级，更好地管理风险。而不是将保贵的资源用于解决所有可能的风险</a:t>
            </a:r>
            <a:r>
              <a:rPr lang="zh-CN" altLang="en-US" sz="2400" b="1" dirty="0">
                <a:latin typeface="+mn-ea"/>
              </a:rPr>
              <a:t>。</a:t>
            </a:r>
            <a:endParaRPr lang="en-US" altLang="zh-CN" sz="2400" b="1" dirty="0">
              <a:latin typeface="+mn-ea"/>
            </a:endParaRPr>
          </a:p>
          <a:p>
            <a:pPr>
              <a:defRPr/>
            </a:pPr>
            <a:r>
              <a:rPr lang="zh-CN" altLang="en-US" sz="2400" b="1" dirty="0">
                <a:latin typeface="+mn-ea"/>
              </a:rPr>
              <a:t>风险管理是一个持续的</a:t>
            </a:r>
            <a:r>
              <a:rPr lang="en-US" altLang="zh-CN" sz="2400" b="1" dirty="0">
                <a:latin typeface="+mn-ea"/>
              </a:rPr>
              <a:t>PDCA</a:t>
            </a:r>
            <a:r>
              <a:rPr lang="zh-CN" altLang="en-US" sz="2400" b="1" dirty="0">
                <a:latin typeface="+mn-ea"/>
              </a:rPr>
              <a:t>管理过程。</a:t>
            </a:r>
            <a:endParaRPr lang="en-US" altLang="zh-CN" sz="2400" b="1" dirty="0">
              <a:latin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 calcmode="lin" valueType="num">
                                      <p:cBhvr additive="base">
                                        <p:cTn id="12"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4579">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 calcmode="lin" valueType="num">
                                      <p:cBhvr additive="base">
                                        <p:cTn id="17"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1+#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24113" y="1196975"/>
            <a:ext cx="7596187" cy="485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标题 1"/>
          <p:cNvSpPr>
            <a:spLocks noGrp="1"/>
          </p:cNvSpPr>
          <p:nvPr>
            <p:ph type="title"/>
          </p:nvPr>
        </p:nvSpPr>
        <p:spPr>
          <a:xfrm>
            <a:off x="1827213" y="854075"/>
            <a:ext cx="4335462" cy="487363"/>
          </a:xfrm>
        </p:spPr>
        <p:txBody>
          <a:bodyPr/>
          <a:lstStyle/>
          <a:p>
            <a:r>
              <a:rPr lang="zh-CN" altLang="en-US">
                <a:solidFill>
                  <a:srgbClr val="FF0000"/>
                </a:solidFill>
                <a:latin typeface="Times New Roman" panose="02020603050405020304" pitchFamily="18" charset="0"/>
                <a:cs typeface="Times New Roman" panose="02020603050405020304" pitchFamily="18" charset="0"/>
              </a:rPr>
              <a:t>知识扩展：</a:t>
            </a:r>
            <a:r>
              <a:rPr lang="en-US" altLang="zh-CN">
                <a:solidFill>
                  <a:srgbClr val="FF0000"/>
                </a:solidFill>
                <a:latin typeface="Times New Roman" panose="02020603050405020304" pitchFamily="18" charset="0"/>
                <a:cs typeface="Times New Roman" panose="02020603050405020304" pitchFamily="18" charset="0"/>
              </a:rPr>
              <a:t>PDCA	</a:t>
            </a:r>
            <a:endParaRPr lang="zh-CN" altLang="en-US">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1484313"/>
            <a:ext cx="9144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标题 1"/>
          <p:cNvSpPr>
            <a:spLocks noGrp="1"/>
          </p:cNvSpPr>
          <p:nvPr>
            <p:ph type="title"/>
          </p:nvPr>
        </p:nvSpPr>
        <p:spPr>
          <a:xfrm>
            <a:off x="1827213" y="854075"/>
            <a:ext cx="4335462" cy="487363"/>
          </a:xfrm>
        </p:spPr>
        <p:txBody>
          <a:bodyPr/>
          <a:lstStyle/>
          <a:p>
            <a:r>
              <a:rPr lang="zh-CN" altLang="en-US">
                <a:solidFill>
                  <a:srgbClr val="FF0000"/>
                </a:solidFill>
              </a:rPr>
              <a:t>知识扩展：</a:t>
            </a:r>
            <a:r>
              <a:rPr lang="en-US" altLang="zh-CN">
                <a:solidFill>
                  <a:srgbClr val="FF0000"/>
                </a:solidFill>
                <a:latin typeface="Times New Roman" panose="02020603050405020304" pitchFamily="18" charset="0"/>
                <a:cs typeface="Times New Roman" panose="02020603050405020304" pitchFamily="18" charset="0"/>
              </a:rPr>
              <a:t>PDCA</a:t>
            </a:r>
            <a:r>
              <a:rPr lang="en-US" altLang="zh-CN">
                <a:solidFill>
                  <a:srgbClr val="FF0000"/>
                </a:solidFill>
              </a:rPr>
              <a:t>	</a:t>
            </a:r>
            <a:endParaRPr lang="zh-CN" altLang="en-US">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279650" y="806450"/>
            <a:ext cx="6513513" cy="487363"/>
          </a:xfrm>
        </p:spPr>
        <p:txBody>
          <a:bodyPr/>
          <a:lstStyle/>
          <a:p>
            <a:r>
              <a:rPr lang="zh-CN" altLang="en-US">
                <a:solidFill>
                  <a:srgbClr val="FF0000"/>
                </a:solidFill>
              </a:rPr>
              <a:t>什么是网络空间安全风险管理</a:t>
            </a:r>
            <a:endParaRPr lang="en-US" altLang="zh-CN">
              <a:solidFill>
                <a:srgbClr val="FF0000"/>
              </a:solidFill>
            </a:endParaRPr>
          </a:p>
        </p:txBody>
      </p:sp>
      <p:sp>
        <p:nvSpPr>
          <p:cNvPr id="1575940" name="WordArt 4"/>
          <p:cNvSpPr>
            <a:spLocks noChangeArrowheads="1" noChangeShapeType="1" noTextEdit="1"/>
          </p:cNvSpPr>
          <p:nvPr/>
        </p:nvSpPr>
        <p:spPr bwMode="auto">
          <a:xfrm>
            <a:off x="3250354" y="1676699"/>
            <a:ext cx="5622597" cy="838350"/>
          </a:xfrm>
          <a:prstGeom prst="rect">
            <a:avLst/>
          </a:prstGeom>
        </p:spPr>
        <p:txBody>
          <a:bodyPr wrap="none" fromWordArt="1">
            <a:prstTxWarp prst="textPlain">
              <a:avLst>
                <a:gd name="adj" fmla="val 50000"/>
              </a:avLst>
            </a:prstTxWarp>
          </a:bodyPr>
          <a:lstStyle/>
          <a:p>
            <a:pPr algn="ctr" eaLnBrk="1" hangingPunct="1">
              <a:defRPr/>
            </a:pPr>
            <a:r>
              <a:rPr lang="zh-CN" altLang="en-US" sz="3600" kern="10" dirty="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rPr>
              <a:t>了解风险</a:t>
            </a:r>
            <a:r>
              <a:rPr lang="en-US" altLang="zh-CN" sz="3600" kern="10" dirty="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rPr>
              <a:t>+</a:t>
            </a:r>
            <a:r>
              <a:rPr lang="zh-CN" altLang="en-US" sz="3600" kern="10" dirty="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rPr>
              <a:t>控制风险</a:t>
            </a:r>
            <a:r>
              <a:rPr lang="en-US" altLang="zh-CN" sz="3600" kern="10" dirty="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rPr>
              <a:t>=</a:t>
            </a:r>
            <a:r>
              <a:rPr lang="zh-CN" altLang="en-US" sz="3600" kern="10" dirty="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rPr>
              <a:t>管理风险</a:t>
            </a:r>
            <a:endParaRPr lang="zh-CN" altLang="en-US" sz="3600" kern="10" dirty="0">
              <a:ln w="12700">
                <a:solidFill>
                  <a:srgbClr val="3333CC"/>
                </a:solidFill>
                <a:round/>
              </a:ln>
              <a:solidFill>
                <a:srgbClr val="B2B2B2">
                  <a:alpha val="50000"/>
                </a:srgbClr>
              </a:solidFill>
              <a:effectLst>
                <a:outerShdw dist="45791" dir="2021404" algn="ctr" rotWithShape="0">
                  <a:srgbClr val="9999FF"/>
                </a:outerShdw>
              </a:effectLst>
              <a:latin typeface="宋体" panose="02010600030101010101" pitchFamily="2" charset="-122"/>
            </a:endParaRPr>
          </a:p>
        </p:txBody>
      </p:sp>
      <p:sp>
        <p:nvSpPr>
          <p:cNvPr id="24580" name="灯片编号占位符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98F8C4C1-0EE7-47C4-86A9-8CC96810C36F}" type="slidenum">
              <a:rPr lang="zh-CN" altLang="en-US" sz="1000" smtClean="0">
                <a:latin typeface="Arial" panose="020B0604020202020204" pitchFamily="34" charset="0"/>
                <a:ea typeface="宋体" panose="02010600030101010101" pitchFamily="2" charset="-122"/>
              </a:rPr>
            </a:fld>
            <a:endParaRPr lang="en-US" altLang="zh-CN" sz="1000">
              <a:latin typeface="Arial" panose="020B0604020202020204" pitchFamily="34" charset="0"/>
              <a:ea typeface="宋体" panose="02010600030101010101" pitchFamily="2" charset="-122"/>
            </a:endParaRPr>
          </a:p>
        </p:txBody>
      </p:sp>
      <p:sp>
        <p:nvSpPr>
          <p:cNvPr id="2" name="矩形 1"/>
          <p:cNvSpPr/>
          <p:nvPr/>
        </p:nvSpPr>
        <p:spPr>
          <a:xfrm>
            <a:off x="2012950" y="3017838"/>
            <a:ext cx="8242300" cy="1266825"/>
          </a:xfrm>
          <a:prstGeom prst="rect">
            <a:avLst/>
          </a:prstGeom>
        </p:spPr>
        <p:txBody>
          <a:bodyPr>
            <a:spAutoFit/>
          </a:bodyPr>
          <a:lstStyle/>
          <a:p>
            <a:pPr eaLnBrk="1" hangingPunct="1">
              <a:lnSpc>
                <a:spcPct val="90000"/>
              </a:lnSpc>
              <a:defRPr/>
            </a:pPr>
            <a:r>
              <a:rPr lang="zh-CN" altLang="en-US" sz="2900" dirty="0">
                <a:solidFill>
                  <a:srgbClr val="FF0000"/>
                </a:solidFill>
                <a:latin typeface="+mn-lt"/>
                <a:ea typeface="+mn-ea"/>
              </a:rPr>
              <a:t>定义一：</a:t>
            </a:r>
            <a:r>
              <a:rPr lang="en-US" altLang="zh-CN" sz="2800" b="1" dirty="0">
                <a:solidFill>
                  <a:srgbClr val="0033CC"/>
                </a:solidFill>
                <a:latin typeface="Times New Roman" panose="02020603050405020304" pitchFamily="18" charset="0"/>
                <a:ea typeface="+mn-ea"/>
                <a:cs typeface="Times New Roman" panose="02020603050405020304" pitchFamily="18" charset="0"/>
              </a:rPr>
              <a:t>GB/Z 24364《</a:t>
            </a:r>
            <a:r>
              <a:rPr lang="zh-CN" altLang="en-US" sz="2800" b="1" dirty="0">
                <a:solidFill>
                  <a:srgbClr val="0033CC"/>
                </a:solidFill>
                <a:latin typeface="Times New Roman" panose="02020603050405020304" pitchFamily="18" charset="0"/>
                <a:ea typeface="+mn-ea"/>
                <a:cs typeface="Times New Roman" panose="02020603050405020304" pitchFamily="18" charset="0"/>
              </a:rPr>
              <a:t>信息安全风险管理指南</a:t>
            </a:r>
            <a:r>
              <a:rPr lang="en-US" altLang="zh-CN" sz="2800" b="1" dirty="0">
                <a:solidFill>
                  <a:srgbClr val="0033CC"/>
                </a:solidFill>
                <a:latin typeface="Times New Roman" panose="02020603050405020304" pitchFamily="18" charset="0"/>
                <a:ea typeface="+mn-ea"/>
                <a:cs typeface="Times New Roman" panose="02020603050405020304" pitchFamily="18" charset="0"/>
              </a:rPr>
              <a:t>》</a:t>
            </a:r>
            <a:endParaRPr lang="en-US" altLang="zh-CN" sz="2800" b="1" dirty="0">
              <a:solidFill>
                <a:srgbClr val="0033CC"/>
              </a:solidFill>
              <a:latin typeface="Times New Roman" panose="02020603050405020304" pitchFamily="18" charset="0"/>
              <a:ea typeface="+mn-ea"/>
              <a:cs typeface="Times New Roman" panose="02020603050405020304" pitchFamily="18" charset="0"/>
            </a:endParaRPr>
          </a:p>
          <a:p>
            <a:pPr eaLnBrk="1" hangingPunct="1">
              <a:lnSpc>
                <a:spcPct val="90000"/>
              </a:lnSpc>
              <a:defRPr/>
            </a:pPr>
            <a:r>
              <a:rPr lang="zh-CN" altLang="en-US" sz="2800" b="1" dirty="0">
                <a:latin typeface="Times New Roman" panose="02020603050405020304" pitchFamily="18" charset="0"/>
                <a:ea typeface="+mn-ea"/>
                <a:cs typeface="Times New Roman" panose="02020603050405020304" pitchFamily="18" charset="0"/>
              </a:rPr>
              <a:t>信息安全风险管理是识别、控制、消除或最小化可能影响系统资源的不确定因素的过程。</a:t>
            </a:r>
            <a:endParaRPr lang="en-US" altLang="zh-CN" sz="2800" b="1" dirty="0">
              <a:latin typeface="Times New Roman" panose="02020603050405020304" pitchFamily="18" charset="0"/>
              <a:ea typeface="+mn-ea"/>
              <a:cs typeface="Times New Roman" panose="02020603050405020304" pitchFamily="18" charset="0"/>
            </a:endParaRPr>
          </a:p>
        </p:txBody>
      </p:sp>
      <p:sp>
        <p:nvSpPr>
          <p:cNvPr id="3" name="矩形 2"/>
          <p:cNvSpPr/>
          <p:nvPr/>
        </p:nvSpPr>
        <p:spPr>
          <a:xfrm>
            <a:off x="2012950" y="4425950"/>
            <a:ext cx="7970838" cy="983615"/>
          </a:xfrm>
          <a:prstGeom prst="rect">
            <a:avLst/>
          </a:prstGeom>
        </p:spPr>
        <p:txBody>
          <a:bodyPr>
            <a:spAutoFit/>
          </a:bodyPr>
          <a:lstStyle/>
          <a:p>
            <a:pPr eaLnBrk="1" hangingPunct="1">
              <a:defRPr/>
            </a:pPr>
            <a:r>
              <a:rPr lang="zh-CN" altLang="en-US" sz="2900" dirty="0">
                <a:solidFill>
                  <a:srgbClr val="FF0000"/>
                </a:solidFill>
                <a:latin typeface="+mn-lt"/>
                <a:ea typeface="+mn-ea"/>
              </a:rPr>
              <a:t>定义二：</a:t>
            </a:r>
            <a:r>
              <a:rPr lang="zh-CN" altLang="en-US" sz="2900" b="1" dirty="0">
                <a:latin typeface="+mn-lt"/>
                <a:ea typeface="+mn-ea"/>
              </a:rPr>
              <a:t>在组织机构内部识别、优化、管理风险，使风险降低到可接受水平的过程。</a:t>
            </a:r>
            <a:endParaRPr lang="zh-CN" altLang="en-US" sz="2900" b="1" dirty="0">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575940"/>
                                        </p:tgtEl>
                                        <p:attrNameLst>
                                          <p:attrName>style.visibility</p:attrName>
                                        </p:attrNameLst>
                                      </p:cBhvr>
                                      <p:to>
                                        <p:strVal val="visible"/>
                                      </p:to>
                                    </p:set>
                                    <p:animEffect transition="in" filter="blinds(horizontal)">
                                      <p:cBhvr>
                                        <p:cTn id="19" dur="500"/>
                                        <p:tgtEl>
                                          <p:spTgt spid="1575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标题 1"/>
          <p:cNvSpPr>
            <a:spLocks noGrp="1"/>
          </p:cNvSpPr>
          <p:nvPr>
            <p:ph type="title"/>
          </p:nvPr>
        </p:nvSpPr>
        <p:spPr>
          <a:xfrm>
            <a:off x="1905000" y="636588"/>
            <a:ext cx="6513513" cy="488950"/>
          </a:xfrm>
        </p:spPr>
        <p:txBody>
          <a:bodyPr/>
          <a:lstStyle/>
          <a:p>
            <a:r>
              <a:rPr lang="zh-CN" altLang="en-US">
                <a:solidFill>
                  <a:srgbClr val="FF0000"/>
                </a:solidFill>
              </a:rPr>
              <a:t>正确的风险管理方法</a:t>
            </a:r>
            <a:endParaRPr lang="zh-CN" altLang="en-US">
              <a:solidFill>
                <a:srgbClr val="FF0000"/>
              </a:solidFill>
            </a:endParaRPr>
          </a:p>
        </p:txBody>
      </p:sp>
      <p:grpSp>
        <p:nvGrpSpPr>
          <p:cNvPr id="13" name="组合 12"/>
          <p:cNvGrpSpPr/>
          <p:nvPr/>
        </p:nvGrpSpPr>
        <p:grpSpPr>
          <a:xfrm>
            <a:off x="2172072" y="1314623"/>
            <a:ext cx="2190750" cy="3024336"/>
            <a:chOff x="648072" y="1268760"/>
            <a:chExt cx="2190750" cy="3168352"/>
          </a:xfrm>
          <a:effectLst>
            <a:outerShdw blurRad="50800" dist="38100" dir="18900000" algn="bl" rotWithShape="0">
              <a:prstClr val="black">
                <a:alpha val="40000"/>
              </a:prstClr>
            </a:outerShdw>
          </a:effectLst>
        </p:grpSpPr>
        <p:sp>
          <p:nvSpPr>
            <p:cNvPr id="8" name="矩形 7"/>
            <p:cNvSpPr/>
            <p:nvPr/>
          </p:nvSpPr>
          <p:spPr>
            <a:xfrm>
              <a:off x="648072" y="1270084"/>
              <a:ext cx="2190750" cy="3167028"/>
            </a:xfrm>
            <a:prstGeom prst="rect">
              <a:avLst/>
            </a:prstGeom>
            <a:solidFill>
              <a:srgbClr val="0033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buFont typeface="Arial" panose="020B0604020202020204" pitchFamily="34" charset="0"/>
                <a:buChar char="•"/>
                <a:defRPr/>
              </a:pPr>
              <a:r>
                <a:rPr lang="zh-CN" altLang="en-US" dirty="0"/>
                <a:t>评估风险</a:t>
              </a:r>
              <a:endParaRPr lang="en-US" altLang="zh-CN" dirty="0"/>
            </a:p>
            <a:p>
              <a:pPr eaLnBrk="1" hangingPunct="1">
                <a:buFont typeface="Arial" panose="020B0604020202020204" pitchFamily="34" charset="0"/>
                <a:buChar char="•"/>
                <a:defRPr/>
              </a:pPr>
              <a:r>
                <a:rPr lang="zh-CN" altLang="en-US" dirty="0"/>
                <a:t>实施风险决策</a:t>
              </a:r>
              <a:endParaRPr lang="en-US" altLang="zh-CN" dirty="0"/>
            </a:p>
            <a:p>
              <a:pPr eaLnBrk="1" hangingPunct="1">
                <a:buFont typeface="Arial" panose="020B0604020202020204" pitchFamily="34" charset="0"/>
                <a:buChar char="•"/>
                <a:defRPr/>
              </a:pPr>
              <a:r>
                <a:rPr lang="zh-CN" altLang="en-US" dirty="0"/>
                <a:t>风险控制</a:t>
              </a:r>
              <a:endParaRPr lang="en-US" altLang="zh-CN" dirty="0"/>
            </a:p>
            <a:p>
              <a:pPr eaLnBrk="1" hangingPunct="1">
                <a:buFont typeface="Arial" panose="020B0604020202020204" pitchFamily="34" charset="0"/>
                <a:buChar char="•"/>
                <a:defRPr/>
              </a:pPr>
              <a:r>
                <a:rPr lang="zh-CN" altLang="en-US" dirty="0"/>
                <a:t>评定风险管理的有效性</a:t>
              </a:r>
              <a:endParaRPr lang="zh-CN" altLang="en-US" dirty="0"/>
            </a:p>
          </p:txBody>
        </p:sp>
        <p:sp>
          <p:nvSpPr>
            <p:cNvPr id="9" name="矩形 8"/>
            <p:cNvSpPr/>
            <p:nvPr/>
          </p:nvSpPr>
          <p:spPr>
            <a:xfrm>
              <a:off x="648072" y="1268760"/>
              <a:ext cx="2190750" cy="762629"/>
            </a:xfrm>
            <a:prstGeom prst="rect">
              <a:avLst/>
            </a:prstGeom>
            <a:solidFill>
              <a:schemeClr val="tx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bg1"/>
                  </a:solidFill>
                </a:rPr>
                <a:t>前瞻性风险管理</a:t>
              </a:r>
              <a:endParaRPr lang="zh-CN" altLang="en-US" dirty="0">
                <a:solidFill>
                  <a:schemeClr val="bg1"/>
                </a:solidFill>
              </a:endParaRPr>
            </a:p>
          </p:txBody>
        </p:sp>
      </p:grpSp>
      <p:grpSp>
        <p:nvGrpSpPr>
          <p:cNvPr id="14" name="组合 13"/>
          <p:cNvGrpSpPr/>
          <p:nvPr/>
        </p:nvGrpSpPr>
        <p:grpSpPr>
          <a:xfrm>
            <a:off x="5073650" y="1314623"/>
            <a:ext cx="2190750" cy="3024336"/>
            <a:chOff x="3549650" y="1268760"/>
            <a:chExt cx="2190750" cy="3168352"/>
          </a:xfrm>
          <a:effectLst>
            <a:outerShdw blurRad="50800" dist="38100" dir="18900000" algn="bl" rotWithShape="0">
              <a:prstClr val="black">
                <a:alpha val="40000"/>
              </a:prstClr>
            </a:outerShdw>
          </a:effectLst>
        </p:grpSpPr>
        <p:sp>
          <p:nvSpPr>
            <p:cNvPr id="11" name="矩形 10"/>
            <p:cNvSpPr/>
            <p:nvPr/>
          </p:nvSpPr>
          <p:spPr>
            <a:xfrm>
              <a:off x="3549650" y="1270084"/>
              <a:ext cx="2190750" cy="3167028"/>
            </a:xfrm>
            <a:prstGeom prst="rect">
              <a:avLst/>
            </a:prstGeom>
            <a:solidFill>
              <a:srgbClr val="0033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buFont typeface="Arial" panose="020B0604020202020204" pitchFamily="34" charset="0"/>
                <a:buChar char="•"/>
                <a:defRPr/>
              </a:pPr>
              <a:endParaRPr lang="en-US" altLang="zh-CN" dirty="0"/>
            </a:p>
            <a:p>
              <a:pPr eaLnBrk="1" hangingPunct="1">
                <a:buFont typeface="Arial" panose="020B0604020202020204" pitchFamily="34" charset="0"/>
                <a:buChar char="•"/>
                <a:defRPr/>
              </a:pPr>
              <a:endParaRPr lang="en-US" altLang="zh-CN" dirty="0"/>
            </a:p>
            <a:p>
              <a:pPr eaLnBrk="1" hangingPunct="1">
                <a:buFont typeface="Arial" panose="020B0604020202020204" pitchFamily="34" charset="0"/>
                <a:buChar char="•"/>
                <a:defRPr/>
              </a:pPr>
              <a:r>
                <a:rPr lang="zh-CN" altLang="en-US" dirty="0"/>
                <a:t>保护人身安全</a:t>
              </a:r>
              <a:endParaRPr lang="en-US" altLang="zh-CN" dirty="0"/>
            </a:p>
            <a:p>
              <a:pPr eaLnBrk="1" hangingPunct="1">
                <a:buFont typeface="Arial" panose="020B0604020202020204" pitchFamily="34" charset="0"/>
                <a:buChar char="•"/>
                <a:defRPr/>
              </a:pPr>
              <a:r>
                <a:rPr lang="zh-CN" altLang="en-US" dirty="0"/>
                <a:t>遏制损害</a:t>
              </a:r>
              <a:endParaRPr lang="en-US" altLang="zh-CN" dirty="0"/>
            </a:p>
            <a:p>
              <a:pPr eaLnBrk="1" hangingPunct="1">
                <a:buFont typeface="Arial" panose="020B0604020202020204" pitchFamily="34" charset="0"/>
                <a:buChar char="•"/>
                <a:defRPr/>
              </a:pPr>
              <a:r>
                <a:rPr lang="zh-CN" altLang="en-US" dirty="0"/>
                <a:t>评估损害</a:t>
              </a:r>
              <a:endParaRPr lang="en-US" altLang="zh-CN" dirty="0"/>
            </a:p>
            <a:p>
              <a:pPr eaLnBrk="1" hangingPunct="1">
                <a:buFont typeface="Arial" panose="020B0604020202020204" pitchFamily="34" charset="0"/>
                <a:buChar char="•"/>
                <a:defRPr/>
              </a:pPr>
              <a:r>
                <a:rPr lang="zh-CN" altLang="en-US" dirty="0"/>
                <a:t>确定损害部位</a:t>
              </a:r>
              <a:endParaRPr lang="en-US" altLang="zh-CN" dirty="0"/>
            </a:p>
            <a:p>
              <a:pPr eaLnBrk="1" hangingPunct="1">
                <a:buFont typeface="Arial" panose="020B0604020202020204" pitchFamily="34" charset="0"/>
                <a:buChar char="•"/>
                <a:defRPr/>
              </a:pPr>
              <a:r>
                <a:rPr lang="zh-CN" altLang="en-US" dirty="0"/>
                <a:t>修复损害部位</a:t>
              </a:r>
              <a:endParaRPr lang="en-US" altLang="zh-CN" dirty="0"/>
            </a:p>
            <a:p>
              <a:pPr eaLnBrk="1" hangingPunct="1">
                <a:buFont typeface="Arial" panose="020B0604020202020204" pitchFamily="34" charset="0"/>
                <a:buChar char="•"/>
                <a:defRPr/>
              </a:pPr>
              <a:r>
                <a:rPr lang="zh-CN" altLang="en-US" dirty="0"/>
                <a:t>审查响应过程并更新安全策略</a:t>
              </a:r>
              <a:endParaRPr lang="zh-CN" altLang="en-US" dirty="0"/>
            </a:p>
          </p:txBody>
        </p:sp>
        <p:sp>
          <p:nvSpPr>
            <p:cNvPr id="12" name="矩形 11"/>
            <p:cNvSpPr/>
            <p:nvPr/>
          </p:nvSpPr>
          <p:spPr>
            <a:xfrm>
              <a:off x="3549650" y="1268760"/>
              <a:ext cx="2190750" cy="762629"/>
            </a:xfrm>
            <a:prstGeom prst="rect">
              <a:avLst/>
            </a:prstGeom>
            <a:solidFill>
              <a:schemeClr val="tx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反应性风险管理</a:t>
              </a:r>
              <a:endParaRPr lang="zh-CN" altLang="en-US" dirty="0"/>
            </a:p>
          </p:txBody>
        </p:sp>
      </p:grpSp>
      <p:grpSp>
        <p:nvGrpSpPr>
          <p:cNvPr id="18" name="组合 17"/>
          <p:cNvGrpSpPr/>
          <p:nvPr/>
        </p:nvGrpSpPr>
        <p:grpSpPr>
          <a:xfrm>
            <a:off x="8067675" y="1314623"/>
            <a:ext cx="2190750" cy="3024336"/>
            <a:chOff x="6543675" y="1268760"/>
            <a:chExt cx="2190750" cy="3024336"/>
          </a:xfrm>
          <a:effectLst>
            <a:outerShdw blurRad="50800" dist="38100" dir="18900000" algn="bl" rotWithShape="0">
              <a:prstClr val="black">
                <a:alpha val="40000"/>
              </a:prstClr>
            </a:outerShdw>
          </a:effectLst>
        </p:grpSpPr>
        <p:sp>
          <p:nvSpPr>
            <p:cNvPr id="16" name="矩形 15"/>
            <p:cNvSpPr/>
            <p:nvPr/>
          </p:nvSpPr>
          <p:spPr>
            <a:xfrm>
              <a:off x="6543675" y="1270023"/>
              <a:ext cx="2190750" cy="3023073"/>
            </a:xfrm>
            <a:prstGeom prst="rect">
              <a:avLst/>
            </a:prstGeom>
            <a:solidFill>
              <a:srgbClr val="0033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Char char="•"/>
                <a:defRPr/>
              </a:pPr>
              <a:r>
                <a:rPr lang="zh-CN" altLang="en-US" dirty="0"/>
                <a:t>前瞻性风险管理</a:t>
              </a:r>
              <a:endParaRPr lang="zh-CN" altLang="en-US" dirty="0"/>
            </a:p>
            <a:p>
              <a:pPr algn="ctr" eaLnBrk="1" hangingPunct="1">
                <a:buFont typeface="Arial" panose="020B0604020202020204" pitchFamily="34" charset="0"/>
                <a:buChar char="•"/>
                <a:defRPr/>
              </a:pPr>
              <a:r>
                <a:rPr lang="zh-CN" altLang="en-US" dirty="0"/>
                <a:t>反应性风险管理</a:t>
              </a:r>
              <a:endParaRPr lang="en-US" altLang="zh-CN" dirty="0"/>
            </a:p>
          </p:txBody>
        </p:sp>
        <p:sp>
          <p:nvSpPr>
            <p:cNvPr id="17" name="矩形 16"/>
            <p:cNvSpPr/>
            <p:nvPr/>
          </p:nvSpPr>
          <p:spPr>
            <a:xfrm>
              <a:off x="6543675" y="1268760"/>
              <a:ext cx="2190750" cy="727964"/>
            </a:xfrm>
            <a:prstGeom prst="rect">
              <a:avLst/>
            </a:prstGeom>
            <a:solidFill>
              <a:schemeClr val="tx2">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风险管理最佳实践</a:t>
              </a:r>
              <a:endParaRPr lang="zh-CN" altLang="en-US" dirty="0"/>
            </a:p>
          </p:txBody>
        </p:sp>
      </p:grpSp>
      <p:sp>
        <p:nvSpPr>
          <p:cNvPr id="19" name="TextBox 10"/>
          <p:cNvSpPr txBox="1">
            <a:spLocks noChangeArrowheads="1"/>
          </p:cNvSpPr>
          <p:nvPr/>
        </p:nvSpPr>
        <p:spPr bwMode="auto">
          <a:xfrm>
            <a:off x="4370388" y="2082800"/>
            <a:ext cx="90170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6600" b="1">
                <a:latin typeface="Arial" panose="020B0604020202020204" pitchFamily="34" charset="0"/>
                <a:ea typeface="宋体" panose="02010600030101010101" pitchFamily="2" charset="-122"/>
              </a:rPr>
              <a:t>+</a:t>
            </a:r>
            <a:endParaRPr lang="zh-CN" altLang="en-US" sz="6600" b="1">
              <a:latin typeface="Arial" panose="020B0604020202020204" pitchFamily="34" charset="0"/>
              <a:ea typeface="宋体" panose="02010600030101010101" pitchFamily="2" charset="-122"/>
            </a:endParaRPr>
          </a:p>
        </p:txBody>
      </p:sp>
      <p:sp>
        <p:nvSpPr>
          <p:cNvPr id="20" name="TextBox 11"/>
          <p:cNvSpPr txBox="1">
            <a:spLocks noChangeArrowheads="1"/>
          </p:cNvSpPr>
          <p:nvPr/>
        </p:nvSpPr>
        <p:spPr bwMode="auto">
          <a:xfrm>
            <a:off x="7348538" y="2190750"/>
            <a:ext cx="672465"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en-US" altLang="zh-CN" sz="6600" b="1">
                <a:latin typeface="Arial" panose="020B0604020202020204" pitchFamily="34" charset="0"/>
                <a:ea typeface="宋体" panose="02010600030101010101" pitchFamily="2" charset="-122"/>
              </a:rPr>
              <a:t>=</a:t>
            </a:r>
            <a:endParaRPr lang="zh-CN" altLang="en-US" sz="6600" b="1">
              <a:latin typeface="Arial" panose="020B0604020202020204" pitchFamily="34" charset="0"/>
              <a:ea typeface="宋体" panose="02010600030101010101" pitchFamily="2" charset="-122"/>
            </a:endParaRPr>
          </a:p>
        </p:txBody>
      </p:sp>
      <p:sp>
        <p:nvSpPr>
          <p:cNvPr id="21" name="横卷形 20"/>
          <p:cNvSpPr/>
          <p:nvPr/>
        </p:nvSpPr>
        <p:spPr>
          <a:xfrm>
            <a:off x="2351088" y="3500438"/>
            <a:ext cx="7813675" cy="2811462"/>
          </a:xfrm>
          <a:prstGeom prst="horizontalScroll">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zh-CN" altLang="en-US" dirty="0"/>
              <a:t>     流行性感冒是一种致命的呼吸道疾病，美国每年都会有数以百万计的感染者。这些感染者中，至少有</a:t>
            </a:r>
            <a:r>
              <a:rPr lang="en-US" dirty="0"/>
              <a:t> 100,000 </a:t>
            </a:r>
            <a:r>
              <a:rPr lang="zh-CN" altLang="en-US" dirty="0"/>
              <a:t>人必须入院治疗，并且约有</a:t>
            </a:r>
            <a:r>
              <a:rPr lang="en-US" dirty="0"/>
              <a:t> 36,000 </a:t>
            </a:r>
            <a:r>
              <a:rPr lang="zh-CN" altLang="en-US" dirty="0"/>
              <a:t>人死亡。 您可能会选择通过等待以确定您是否受到感染，如果确实受到感染，则采用服药治疗这种方式来治疗疾病。 此外，您也可以选择在流行性感冒病发季节开始之前接种疫苗。二者相结合才是最佳风险管理方法。</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500" fill="hold"/>
                                        <p:tgtEl>
                                          <p:spTgt spid="19"/>
                                        </p:tgtEl>
                                        <p:attrNameLst>
                                          <p:attrName>ppt_x</p:attrName>
                                        </p:attrNameLst>
                                      </p:cBhvr>
                                      <p:tavLst>
                                        <p:tav tm="0">
                                          <p:val>
                                            <p:strVal val="0-#ppt_w/2"/>
                                          </p:val>
                                        </p:tav>
                                        <p:tav tm="100000">
                                          <p:val>
                                            <p:strVal val="#ppt_x"/>
                                          </p:val>
                                        </p:tav>
                                      </p:tavLst>
                                    </p:anim>
                                    <p:anim calcmode="lin" valueType="num">
                                      <p:cBhvr additive="base">
                                        <p:cTn id="13"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0-#ppt_w/2"/>
                                          </p:val>
                                        </p:tav>
                                        <p:tav tm="100000">
                                          <p:val>
                                            <p:strVal val="#ppt_x"/>
                                          </p:val>
                                        </p:tav>
                                      </p:tavLst>
                                    </p:anim>
                                    <p:anim calcmode="lin" valueType="num">
                                      <p:cBhvr additive="base">
                                        <p:cTn id="19" dur="500" fill="hold"/>
                                        <p:tgtEl>
                                          <p:spTgt spid="14"/>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0-#ppt_w/2"/>
                                          </p:val>
                                        </p:tav>
                                        <p:tav tm="100000">
                                          <p:val>
                                            <p:strVal val="#ppt_x"/>
                                          </p:val>
                                        </p:tav>
                                      </p:tavLst>
                                    </p:anim>
                                    <p:anim calcmode="lin" valueType="num">
                                      <p:cBhvr additive="base">
                                        <p:cTn id="24"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1+#ppt_w/2"/>
                                          </p:val>
                                        </p:tav>
                                        <p:tav tm="100000">
                                          <p:val>
                                            <p:strVal val="#ppt_x"/>
                                          </p:val>
                                        </p:tav>
                                      </p:tavLst>
                                    </p:anim>
                                    <p:anim calcmode="lin" valueType="num">
                                      <p:cBhvr additive="base">
                                        <p:cTn id="30"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21"/>
                                        </p:tgtEl>
                                        <p:attrNameLst>
                                          <p:attrName>style.visibility</p:attrName>
                                        </p:attrNameLst>
                                      </p:cBhvr>
                                      <p:to>
                                        <p:strVal val="visible"/>
                                      </p:to>
                                    </p:set>
                                    <p:anim calcmode="discrete" valueType="clr">
                                      <p:cBhvr override="childStyle">
                                        <p:cTn id="35" dur="80"/>
                                        <p:tgtEl>
                                          <p:spTgt spid="21"/>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21"/>
                                        </p:tgtEl>
                                        <p:attrNameLst>
                                          <p:attrName>fillcolor</p:attrName>
                                        </p:attrNameLst>
                                      </p:cBhvr>
                                      <p:tavLst>
                                        <p:tav tm="0">
                                          <p:val>
                                            <p:clrVal>
                                              <a:schemeClr val="accent2"/>
                                            </p:clrVal>
                                          </p:val>
                                        </p:tav>
                                        <p:tav tm="50000">
                                          <p:val>
                                            <p:clrVal>
                                              <a:schemeClr val="hlink"/>
                                            </p:clrVal>
                                          </p:val>
                                        </p:tav>
                                      </p:tavLst>
                                    </p:anim>
                                    <p:set>
                                      <p:cBhvr>
                                        <p:cTn id="37" dur="80"/>
                                        <p:tgtEl>
                                          <p:spTgt spid="2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2024063" y="719138"/>
            <a:ext cx="6513512" cy="487362"/>
          </a:xfrm>
        </p:spPr>
        <p:txBody>
          <a:bodyPr/>
          <a:lstStyle/>
          <a:p>
            <a:r>
              <a:rPr lang="zh-CN" altLang="en-US">
                <a:solidFill>
                  <a:srgbClr val="FF0000"/>
                </a:solidFill>
              </a:rPr>
              <a:t>网络空间安全风险管理的目标</a:t>
            </a:r>
            <a:endParaRPr lang="zh-CN" altLang="en-US">
              <a:solidFill>
                <a:srgbClr val="FF0000"/>
              </a:solidFill>
            </a:endParaRPr>
          </a:p>
        </p:txBody>
      </p:sp>
      <p:sp>
        <p:nvSpPr>
          <p:cNvPr id="26627" name="内容占位符 2"/>
          <p:cNvSpPr>
            <a:spLocks noGrp="1"/>
          </p:cNvSpPr>
          <p:nvPr>
            <p:ph idx="1"/>
          </p:nvPr>
        </p:nvSpPr>
        <p:spPr>
          <a:xfrm>
            <a:off x="2373313" y="1403350"/>
            <a:ext cx="7899400" cy="684213"/>
          </a:xfrm>
        </p:spPr>
        <p:txBody>
          <a:bodyPr/>
          <a:lstStyle/>
          <a:p>
            <a:r>
              <a:rPr lang="zh-CN" altLang="en-US"/>
              <a:t>网络空间安全属性</a:t>
            </a:r>
            <a:endParaRPr lang="zh-CN" altLang="en-US"/>
          </a:p>
        </p:txBody>
      </p:sp>
      <p:sp>
        <p:nvSpPr>
          <p:cNvPr id="26630" name="Rectangle 4"/>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2" name="圆角矩形 1"/>
          <p:cNvSpPr/>
          <p:nvPr/>
        </p:nvSpPr>
        <p:spPr>
          <a:xfrm>
            <a:off x="3071813" y="2444750"/>
            <a:ext cx="1728787" cy="792163"/>
          </a:xfrm>
          <a:prstGeom prst="roundRect">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400" b="1" dirty="0">
                <a:solidFill>
                  <a:srgbClr val="FF0000"/>
                </a:solidFill>
              </a:rPr>
              <a:t>机密性</a:t>
            </a:r>
            <a:endParaRPr lang="zh-CN" altLang="en-US" sz="2400" b="1" dirty="0">
              <a:solidFill>
                <a:srgbClr val="FF0000"/>
              </a:solidFill>
            </a:endParaRPr>
          </a:p>
        </p:txBody>
      </p:sp>
      <p:sp>
        <p:nvSpPr>
          <p:cNvPr id="10" name="圆角矩形 9"/>
          <p:cNvSpPr/>
          <p:nvPr/>
        </p:nvSpPr>
        <p:spPr>
          <a:xfrm>
            <a:off x="7391400" y="2444750"/>
            <a:ext cx="1728788" cy="792163"/>
          </a:xfrm>
          <a:prstGeom prst="roundRect">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400" b="1" dirty="0">
                <a:solidFill>
                  <a:srgbClr val="FF0000"/>
                </a:solidFill>
              </a:rPr>
              <a:t>可用性</a:t>
            </a:r>
            <a:endParaRPr lang="zh-CN" altLang="en-US" sz="2400" b="1" dirty="0">
              <a:solidFill>
                <a:srgbClr val="FF0000"/>
              </a:solidFill>
            </a:endParaRPr>
          </a:p>
        </p:txBody>
      </p:sp>
      <p:sp>
        <p:nvSpPr>
          <p:cNvPr id="11" name="圆角矩形 10"/>
          <p:cNvSpPr/>
          <p:nvPr/>
        </p:nvSpPr>
        <p:spPr>
          <a:xfrm>
            <a:off x="5280025" y="2432050"/>
            <a:ext cx="1728788" cy="792163"/>
          </a:xfrm>
          <a:prstGeom prst="roundRect">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400" b="1" dirty="0">
                <a:solidFill>
                  <a:srgbClr val="FF0000"/>
                </a:solidFill>
              </a:rPr>
              <a:t>完整性</a:t>
            </a:r>
            <a:endParaRPr lang="zh-CN" altLang="en-US" sz="2400" b="1" dirty="0">
              <a:solidFill>
                <a:srgbClr val="FF0000"/>
              </a:solidFill>
            </a:endParaRPr>
          </a:p>
        </p:txBody>
      </p:sp>
      <p:sp>
        <p:nvSpPr>
          <p:cNvPr id="12" name="圆角矩形 11"/>
          <p:cNvSpPr/>
          <p:nvPr/>
        </p:nvSpPr>
        <p:spPr>
          <a:xfrm>
            <a:off x="4079875" y="3559175"/>
            <a:ext cx="1728788" cy="792163"/>
          </a:xfrm>
          <a:prstGeom prst="roundRect">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400" b="1" dirty="0">
                <a:solidFill>
                  <a:srgbClr val="FF0000"/>
                </a:solidFill>
              </a:rPr>
              <a:t>真实性</a:t>
            </a:r>
            <a:endParaRPr lang="zh-CN" altLang="en-US" sz="2400" b="1" dirty="0">
              <a:solidFill>
                <a:srgbClr val="FF0000"/>
              </a:solidFill>
            </a:endParaRPr>
          </a:p>
        </p:txBody>
      </p:sp>
      <p:sp>
        <p:nvSpPr>
          <p:cNvPr id="13" name="圆角矩形 12"/>
          <p:cNvSpPr/>
          <p:nvPr/>
        </p:nvSpPr>
        <p:spPr>
          <a:xfrm>
            <a:off x="6323013" y="3559175"/>
            <a:ext cx="1727200" cy="792163"/>
          </a:xfrm>
          <a:prstGeom prst="roundRect">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400" b="1" dirty="0">
                <a:solidFill>
                  <a:srgbClr val="FF0000"/>
                </a:solidFill>
              </a:rPr>
              <a:t>抗抵赖性</a:t>
            </a:r>
            <a:endParaRPr lang="zh-CN" altLang="en-US" sz="2400" b="1" dirty="0">
              <a:solidFill>
                <a:srgbClr val="FF0000"/>
              </a:solidFill>
            </a:endParaRPr>
          </a:p>
        </p:txBody>
      </p:sp>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73313" y="1403350"/>
            <a:ext cx="7451725"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Effect transition="in" filter="fade">
                                      <p:cBhvr>
                                        <p:cTn id="15" dur="500"/>
                                        <p:tgtEl>
                                          <p:spTgt spid="11"/>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fltVal val="0"/>
                                          </p:val>
                                        </p:tav>
                                        <p:tav tm="100000">
                                          <p:val>
                                            <p:strVal val="#ppt_w"/>
                                          </p:val>
                                        </p:tav>
                                      </p:tavLst>
                                    </p:anim>
                                    <p:anim calcmode="lin" valueType="num">
                                      <p:cBhvr>
                                        <p:cTn id="32" dur="500" fill="hold"/>
                                        <p:tgtEl>
                                          <p:spTgt spid="13"/>
                                        </p:tgtEl>
                                        <p:attrNameLst>
                                          <p:attrName>ppt_h</p:attrName>
                                        </p:attrNameLst>
                                      </p:cBhvr>
                                      <p:tavLst>
                                        <p:tav tm="0">
                                          <p:val>
                                            <p:fltVal val="0"/>
                                          </p:val>
                                        </p:tav>
                                        <p:tav tm="100000">
                                          <p:val>
                                            <p:strVal val="#ppt_h"/>
                                          </p:val>
                                        </p:tav>
                                      </p:tavLst>
                                    </p:anim>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fill="hold"/>
                                        <p:tgtEl>
                                          <p:spTgt spid="8"/>
                                        </p:tgtEl>
                                        <p:attrNameLst>
                                          <p:attrName>ppt_x</p:attrName>
                                        </p:attrNameLst>
                                      </p:cBhvr>
                                      <p:tavLst>
                                        <p:tav tm="0">
                                          <p:val>
                                            <p:strVal val="#ppt_x"/>
                                          </p:val>
                                        </p:tav>
                                        <p:tav tm="100000">
                                          <p:val>
                                            <p:strVal val="#ppt_x"/>
                                          </p:val>
                                        </p:tav>
                                      </p:tavLst>
                                    </p:anim>
                                    <p:anim calcmode="lin" valueType="num">
                                      <p:cBhvr additive="base">
                                        <p:cTn id="3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0" grpId="0" bldLvl="0" animBg="1"/>
      <p:bldP spid="11" grpId="0" bldLvl="0" animBg="1"/>
      <p:bldP spid="12" grpId="0" bldLvl="0" animBg="1"/>
      <p:bldP spid="13"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967663" y="908050"/>
            <a:ext cx="23050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标题 1"/>
          <p:cNvSpPr>
            <a:spLocks noGrp="1"/>
          </p:cNvSpPr>
          <p:nvPr>
            <p:ph type="title"/>
          </p:nvPr>
        </p:nvSpPr>
        <p:spPr>
          <a:xfrm>
            <a:off x="2279650" y="765175"/>
            <a:ext cx="6513513" cy="487363"/>
          </a:xfrm>
        </p:spPr>
        <p:txBody>
          <a:bodyPr/>
          <a:lstStyle/>
          <a:p>
            <a:r>
              <a:rPr lang="zh-CN" altLang="en-US">
                <a:solidFill>
                  <a:srgbClr val="FF0000"/>
                </a:solidFill>
              </a:rPr>
              <a:t>网络空间安全风险术语</a:t>
            </a:r>
            <a:endParaRPr lang="zh-CN" altLang="en-US">
              <a:solidFill>
                <a:srgbClr val="FF0000"/>
              </a:solidFill>
            </a:endParaRPr>
          </a:p>
        </p:txBody>
      </p:sp>
      <p:sp>
        <p:nvSpPr>
          <p:cNvPr id="2" name="内容占位符 2"/>
          <p:cNvSpPr>
            <a:spLocks noGrp="1"/>
          </p:cNvSpPr>
          <p:nvPr>
            <p:ph idx="1"/>
          </p:nvPr>
        </p:nvSpPr>
        <p:spPr>
          <a:xfrm>
            <a:off x="2135188" y="1577975"/>
            <a:ext cx="7561262" cy="4602163"/>
          </a:xfrm>
        </p:spPr>
        <p:txBody>
          <a:bodyPr/>
          <a:lstStyle/>
          <a:p>
            <a:pPr lvl="1"/>
            <a:r>
              <a:rPr lang="zh-CN" altLang="en-US" sz="2400" b="1" dirty="0">
                <a:latin typeface="Times New Roman" panose="02020603050405020304" pitchFamily="18" charset="0"/>
                <a:cs typeface="Times New Roman" panose="02020603050405020304" pitchFamily="18" charset="0"/>
              </a:rPr>
              <a:t>资产（</a:t>
            </a:r>
            <a:r>
              <a:rPr lang="en-US" altLang="zh-CN" sz="2400" b="1" dirty="0">
                <a:latin typeface="Times New Roman" panose="02020603050405020304" pitchFamily="18" charset="0"/>
                <a:cs typeface="Times New Roman" panose="02020603050405020304" pitchFamily="18" charset="0"/>
              </a:rPr>
              <a:t>Asset</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a:r>
              <a:rPr lang="zh-CN" altLang="en-US" sz="2400" b="1" dirty="0">
                <a:latin typeface="Times New Roman" panose="02020603050405020304" pitchFamily="18" charset="0"/>
                <a:cs typeface="Times New Roman" panose="02020603050405020304" pitchFamily="18" charset="0"/>
              </a:rPr>
              <a:t>威胁源（</a:t>
            </a:r>
            <a:r>
              <a:rPr lang="en-US" altLang="zh-CN" sz="2400" b="1" dirty="0">
                <a:latin typeface="Times New Roman" panose="02020603050405020304" pitchFamily="18" charset="0"/>
                <a:cs typeface="Times New Roman" panose="02020603050405020304" pitchFamily="18" charset="0"/>
              </a:rPr>
              <a:t>Threat Agent</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a:r>
              <a:rPr lang="zh-CN" altLang="en-US" sz="2400" b="1" dirty="0">
                <a:latin typeface="Times New Roman" panose="02020603050405020304" pitchFamily="18" charset="0"/>
                <a:cs typeface="Times New Roman" panose="02020603050405020304" pitchFamily="18" charset="0"/>
              </a:rPr>
              <a:t>威胁（</a:t>
            </a:r>
            <a:r>
              <a:rPr lang="en-US" altLang="zh-CN" sz="2400" b="1" dirty="0">
                <a:latin typeface="Times New Roman" panose="02020603050405020304" pitchFamily="18" charset="0"/>
                <a:cs typeface="Times New Roman" panose="02020603050405020304" pitchFamily="18" charset="0"/>
              </a:rPr>
              <a:t> Threat </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a:r>
              <a:rPr lang="zh-CN" altLang="en-US" sz="2400" b="1" dirty="0">
                <a:latin typeface="Times New Roman" panose="02020603050405020304" pitchFamily="18" charset="0"/>
                <a:cs typeface="Times New Roman" panose="02020603050405020304" pitchFamily="18" charset="0"/>
              </a:rPr>
              <a:t>脆弱性（</a:t>
            </a:r>
            <a:r>
              <a:rPr lang="en-US" altLang="zh-CN" sz="2400" b="1" dirty="0" err="1">
                <a:latin typeface="Times New Roman" panose="02020603050405020304" pitchFamily="18" charset="0"/>
                <a:cs typeface="Times New Roman" panose="02020603050405020304" pitchFamily="18" charset="0"/>
              </a:rPr>
              <a:t>Vunerability</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a:r>
              <a:rPr lang="zh-CN" altLang="en-US" sz="2400" b="1" dirty="0">
                <a:latin typeface="Times New Roman" panose="02020603050405020304" pitchFamily="18" charset="0"/>
                <a:cs typeface="Times New Roman" panose="02020603050405020304" pitchFamily="18" charset="0"/>
              </a:rPr>
              <a:t>控制措施（</a:t>
            </a:r>
            <a:r>
              <a:rPr lang="en-US" altLang="zh-CN" sz="2400" b="1" dirty="0">
                <a:latin typeface="Times New Roman" panose="02020603050405020304" pitchFamily="18" charset="0"/>
                <a:cs typeface="Times New Roman" panose="02020603050405020304" pitchFamily="18" charset="0"/>
              </a:rPr>
              <a:t>Countermeasure, safeguard, control</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a:r>
              <a:rPr lang="zh-CN" altLang="en-US" sz="2400" b="1" dirty="0">
                <a:latin typeface="Times New Roman" panose="02020603050405020304" pitchFamily="18" charset="0"/>
                <a:cs typeface="Times New Roman" panose="02020603050405020304" pitchFamily="18" charset="0"/>
              </a:rPr>
              <a:t>可能性（</a:t>
            </a:r>
            <a:r>
              <a:rPr lang="en-US" altLang="zh-CN" sz="2400" b="1" dirty="0">
                <a:latin typeface="Times New Roman" panose="02020603050405020304" pitchFamily="18" charset="0"/>
                <a:cs typeface="Times New Roman" panose="02020603050405020304" pitchFamily="18" charset="0"/>
              </a:rPr>
              <a:t>Likelihood, Probability</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a:r>
              <a:rPr lang="zh-CN" altLang="en-US" sz="2400" b="1" dirty="0">
                <a:latin typeface="Times New Roman" panose="02020603050405020304" pitchFamily="18" charset="0"/>
                <a:cs typeface="Times New Roman" panose="02020603050405020304" pitchFamily="18" charset="0"/>
              </a:rPr>
              <a:t>影响（</a:t>
            </a:r>
            <a:r>
              <a:rPr lang="en-US" altLang="zh-CN" sz="2400" b="1" dirty="0">
                <a:latin typeface="Times New Roman" panose="02020603050405020304" pitchFamily="18" charset="0"/>
                <a:cs typeface="Times New Roman" panose="02020603050405020304" pitchFamily="18" charset="0"/>
              </a:rPr>
              <a:t> Impact, loss </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a:r>
              <a:rPr lang="zh-CN" altLang="en-US" sz="2400" b="1" dirty="0">
                <a:latin typeface="Times New Roman" panose="02020603050405020304" pitchFamily="18" charset="0"/>
                <a:cs typeface="Times New Roman" panose="02020603050405020304" pitchFamily="18" charset="0"/>
              </a:rPr>
              <a:t>风险（</a:t>
            </a:r>
            <a:r>
              <a:rPr lang="en-US" altLang="zh-CN" sz="2400" b="1" dirty="0">
                <a:latin typeface="Times New Roman" panose="02020603050405020304" pitchFamily="18" charset="0"/>
                <a:cs typeface="Times New Roman" panose="02020603050405020304" pitchFamily="18" charset="0"/>
              </a:rPr>
              <a:t>	Risk</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a:r>
              <a:rPr lang="zh-CN" altLang="en-US" sz="2400" b="1" dirty="0">
                <a:latin typeface="Times New Roman" panose="02020603050405020304" pitchFamily="18" charset="0"/>
                <a:cs typeface="Times New Roman" panose="02020603050405020304" pitchFamily="18" charset="0"/>
              </a:rPr>
              <a:t>残余风险（</a:t>
            </a:r>
            <a:r>
              <a:rPr lang="en-US" altLang="zh-CN" sz="2400" b="1" dirty="0" err="1">
                <a:latin typeface="Times New Roman" panose="02020603050405020304" pitchFamily="18" charset="0"/>
                <a:cs typeface="Times New Roman" panose="02020603050405020304" pitchFamily="18" charset="0"/>
              </a:rPr>
              <a:t>Residental</a:t>
            </a:r>
            <a:r>
              <a:rPr lang="en-US" altLang="zh-CN" sz="2400" b="1" dirty="0">
                <a:latin typeface="Times New Roman" panose="02020603050405020304" pitchFamily="18" charset="0"/>
                <a:cs typeface="Times New Roman" panose="02020603050405020304" pitchFamily="18" charset="0"/>
              </a:rPr>
              <a:t> Risk</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a:endParaRPr lang="zh-CN" altLang="en-US" b="1" dirty="0">
              <a:latin typeface="Times New Roman" panose="02020603050405020304" pitchFamily="18" charset="0"/>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additive="base">
                                        <p:cTn id="12"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 calcmode="lin" valueType="num">
                                      <p:cBhvr additive="base">
                                        <p:cTn id="22"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 calcmode="lin" valueType="num">
                                      <p:cBhvr additive="base">
                                        <p:cTn id="2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 calcmode="lin" valueType="num">
                                      <p:cBhvr additive="base">
                                        <p:cTn id="32"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 calcmode="lin" valueType="num">
                                      <p:cBhvr additive="base">
                                        <p:cTn id="3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 calcmode="lin" valueType="num">
                                      <p:cBhvr additive="base">
                                        <p:cTn id="42"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 calcmode="lin" valueType="num">
                                      <p:cBhvr additive="base">
                                        <p:cTn id="47"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992313" y="803275"/>
            <a:ext cx="6513512" cy="487363"/>
          </a:xfrm>
        </p:spPr>
        <p:txBody>
          <a:bodyPr/>
          <a:lstStyle/>
          <a:p>
            <a:r>
              <a:rPr lang="zh-CN" altLang="en-US">
                <a:solidFill>
                  <a:srgbClr val="FF0000"/>
                </a:solidFill>
              </a:rPr>
              <a:t>网络空间安全风险术语</a:t>
            </a:r>
            <a:r>
              <a:rPr lang="en-US" altLang="zh-CN">
                <a:solidFill>
                  <a:srgbClr val="FF0000"/>
                </a:solidFill>
              </a:rPr>
              <a:t>-</a:t>
            </a:r>
            <a:r>
              <a:rPr lang="zh-CN" altLang="en-US">
                <a:solidFill>
                  <a:srgbClr val="FF0000"/>
                </a:solidFill>
              </a:rPr>
              <a:t>资产</a:t>
            </a:r>
            <a:endParaRPr lang="zh-CN" altLang="en-US">
              <a:solidFill>
                <a:srgbClr val="FF0000"/>
              </a:solidFill>
            </a:endParaRPr>
          </a:p>
        </p:txBody>
      </p:sp>
      <p:sp>
        <p:nvSpPr>
          <p:cNvPr id="2" name="矩形 1"/>
          <p:cNvSpPr/>
          <p:nvPr/>
        </p:nvSpPr>
        <p:spPr>
          <a:xfrm>
            <a:off x="2024063" y="1419225"/>
            <a:ext cx="7993062" cy="46037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400" dirty="0">
                <a:solidFill>
                  <a:srgbClr val="0033CC"/>
                </a:solidFill>
                <a:latin typeface="+mn-lt"/>
                <a:ea typeface="+mn-ea"/>
              </a:rPr>
              <a:t>资产是任何对组织有价值的东西，是要保护的对象。</a:t>
            </a:r>
            <a:endParaRPr lang="zh-CN" altLang="en-US" sz="2400" dirty="0">
              <a:solidFill>
                <a:srgbClr val="0033CC"/>
              </a:solidFill>
              <a:latin typeface="+mn-lt"/>
              <a:ea typeface="+mn-ea"/>
            </a:endParaRPr>
          </a:p>
        </p:txBody>
      </p:sp>
      <p:sp>
        <p:nvSpPr>
          <p:cNvPr id="3" name="矩形 2"/>
          <p:cNvSpPr/>
          <p:nvPr/>
        </p:nvSpPr>
        <p:spPr>
          <a:xfrm>
            <a:off x="2063750" y="1995488"/>
            <a:ext cx="5707380" cy="460375"/>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400" dirty="0">
                <a:latin typeface="+mn-lt"/>
                <a:ea typeface="+mn-ea"/>
              </a:rPr>
              <a:t>资产以多种形式存在（多种分类方法）</a:t>
            </a:r>
            <a:endParaRPr lang="en-US" altLang="zh-CN" sz="2400" dirty="0">
              <a:latin typeface="+mn-lt"/>
              <a:ea typeface="+mn-ea"/>
            </a:endParaRPr>
          </a:p>
        </p:txBody>
      </p:sp>
      <p:sp>
        <p:nvSpPr>
          <p:cNvPr id="4" name="矩形 3"/>
          <p:cNvSpPr/>
          <p:nvPr/>
        </p:nvSpPr>
        <p:spPr>
          <a:xfrm>
            <a:off x="1717675" y="2505075"/>
            <a:ext cx="8386763" cy="768350"/>
          </a:xfrm>
          <a:prstGeom prst="rect">
            <a:avLst/>
          </a:prstGeom>
        </p:spPr>
        <p:txBody>
          <a:bodyPr>
            <a:spAutoFit/>
          </a:bodyPr>
          <a:lstStyle/>
          <a:p>
            <a:pPr marL="742950" lvl="1" indent="-285750">
              <a:spcBef>
                <a:spcPct val="20000"/>
              </a:spcBef>
              <a:buClr>
                <a:srgbClr val="FF9900"/>
              </a:buClr>
              <a:buFont typeface="Wingdings" panose="05000000000000000000" pitchFamily="2" charset="2"/>
              <a:buChar char="§"/>
              <a:defRPr/>
            </a:pPr>
            <a:r>
              <a:rPr lang="zh-CN" altLang="zh-CN" sz="2400" dirty="0">
                <a:solidFill>
                  <a:srgbClr val="0033CC"/>
                </a:solidFill>
                <a:latin typeface="+mn-lt"/>
                <a:ea typeface="+mn-ea"/>
              </a:rPr>
              <a:t>物理的</a:t>
            </a:r>
            <a:r>
              <a:rPr lang="zh-CN" altLang="zh-CN" sz="2000" dirty="0">
                <a:latin typeface="+mn-lt"/>
                <a:ea typeface="+mn-ea"/>
              </a:rPr>
              <a:t>（如计算设备、网络设备和存储介质等）和</a:t>
            </a:r>
            <a:r>
              <a:rPr lang="zh-CN" altLang="zh-CN" sz="2400" dirty="0">
                <a:solidFill>
                  <a:srgbClr val="0033CC"/>
                </a:solidFill>
                <a:latin typeface="+mn-lt"/>
                <a:ea typeface="+mn-ea"/>
              </a:rPr>
              <a:t>逻辑的</a:t>
            </a:r>
            <a:r>
              <a:rPr lang="zh-CN" altLang="zh-CN" sz="2000" dirty="0">
                <a:latin typeface="+mn-lt"/>
                <a:ea typeface="+mn-ea"/>
              </a:rPr>
              <a:t>（如体系结构、通信协议、计算程序和数据文件等）；</a:t>
            </a:r>
            <a:endParaRPr lang="en-US" altLang="zh-CN" sz="2000" dirty="0">
              <a:latin typeface="+mn-lt"/>
              <a:ea typeface="+mn-ea"/>
            </a:endParaRPr>
          </a:p>
        </p:txBody>
      </p:sp>
      <p:sp>
        <p:nvSpPr>
          <p:cNvPr id="5" name="矩形 4"/>
          <p:cNvSpPr/>
          <p:nvPr/>
        </p:nvSpPr>
        <p:spPr>
          <a:xfrm>
            <a:off x="1717675" y="3297238"/>
            <a:ext cx="8699500" cy="768350"/>
          </a:xfrm>
          <a:prstGeom prst="rect">
            <a:avLst/>
          </a:prstGeom>
        </p:spPr>
        <p:txBody>
          <a:bodyPr>
            <a:spAutoFit/>
          </a:bodyPr>
          <a:lstStyle/>
          <a:p>
            <a:pPr marL="742950" lvl="1" indent="-285750">
              <a:spcBef>
                <a:spcPct val="20000"/>
              </a:spcBef>
              <a:buClr>
                <a:srgbClr val="FF9900"/>
              </a:buClr>
              <a:buFont typeface="Wingdings" panose="05000000000000000000" pitchFamily="2" charset="2"/>
              <a:buChar char="§"/>
              <a:defRPr/>
            </a:pPr>
            <a:r>
              <a:rPr lang="zh-CN" altLang="zh-CN" sz="2400" dirty="0">
                <a:solidFill>
                  <a:srgbClr val="0033CC"/>
                </a:solidFill>
                <a:latin typeface="+mn-lt"/>
                <a:ea typeface="+mn-ea"/>
              </a:rPr>
              <a:t>硬件的</a:t>
            </a:r>
            <a:r>
              <a:rPr lang="zh-CN" altLang="zh-CN" sz="2000" dirty="0">
                <a:latin typeface="+mn-lt"/>
                <a:ea typeface="+mn-ea"/>
              </a:rPr>
              <a:t>（如计算机主板、机箱、显示器、键盘和鼠标等）和</a:t>
            </a:r>
            <a:r>
              <a:rPr lang="zh-CN" altLang="zh-CN" sz="2400" dirty="0">
                <a:solidFill>
                  <a:srgbClr val="0033CC"/>
                </a:solidFill>
                <a:latin typeface="+mn-lt"/>
                <a:ea typeface="+mn-ea"/>
              </a:rPr>
              <a:t>软件的</a:t>
            </a:r>
            <a:r>
              <a:rPr lang="zh-CN" altLang="zh-CN" sz="2000" dirty="0">
                <a:latin typeface="+mn-lt"/>
                <a:ea typeface="+mn-ea"/>
              </a:rPr>
              <a:t>（如操作系统软件、数据库管理软件、工具软件和应用软件等）；</a:t>
            </a:r>
            <a:endParaRPr lang="en-US" altLang="zh-CN" sz="2000" dirty="0">
              <a:latin typeface="+mn-lt"/>
              <a:ea typeface="+mn-ea"/>
            </a:endParaRPr>
          </a:p>
        </p:txBody>
      </p:sp>
      <p:sp>
        <p:nvSpPr>
          <p:cNvPr id="6" name="矩形 5"/>
          <p:cNvSpPr/>
          <p:nvPr/>
        </p:nvSpPr>
        <p:spPr>
          <a:xfrm>
            <a:off x="1717675" y="4089400"/>
            <a:ext cx="8482013" cy="768350"/>
          </a:xfrm>
          <a:prstGeom prst="rect">
            <a:avLst/>
          </a:prstGeom>
        </p:spPr>
        <p:txBody>
          <a:bodyPr>
            <a:spAutoFit/>
          </a:bodyPr>
          <a:lstStyle/>
          <a:p>
            <a:pPr marL="742950" lvl="1" indent="-285750">
              <a:spcBef>
                <a:spcPct val="20000"/>
              </a:spcBef>
              <a:buClr>
                <a:srgbClr val="FF9900"/>
              </a:buClr>
              <a:buFont typeface="Wingdings" panose="05000000000000000000" pitchFamily="2" charset="2"/>
              <a:buChar char="§"/>
              <a:defRPr/>
            </a:pPr>
            <a:r>
              <a:rPr lang="zh-CN" altLang="zh-CN" sz="2400" dirty="0">
                <a:solidFill>
                  <a:srgbClr val="0033CC"/>
                </a:solidFill>
                <a:latin typeface="+mn-lt"/>
                <a:ea typeface="+mn-ea"/>
              </a:rPr>
              <a:t>有形的</a:t>
            </a:r>
            <a:r>
              <a:rPr lang="zh-CN" altLang="zh-CN" sz="2000" dirty="0">
                <a:latin typeface="+mn-lt"/>
                <a:ea typeface="+mn-ea"/>
              </a:rPr>
              <a:t>（如机房、设备和人员等）和</a:t>
            </a:r>
            <a:r>
              <a:rPr lang="zh-CN" altLang="zh-CN" sz="2400" dirty="0">
                <a:solidFill>
                  <a:srgbClr val="0033CC"/>
                </a:solidFill>
                <a:latin typeface="+mn-lt"/>
                <a:ea typeface="+mn-ea"/>
              </a:rPr>
              <a:t>无形的</a:t>
            </a:r>
            <a:r>
              <a:rPr lang="zh-CN" altLang="zh-CN" sz="2000" dirty="0">
                <a:latin typeface="+mn-lt"/>
                <a:ea typeface="+mn-ea"/>
              </a:rPr>
              <a:t>（如品牌、信心和名誉等）；</a:t>
            </a:r>
            <a:endParaRPr lang="en-US" altLang="zh-CN" sz="2000" dirty="0">
              <a:latin typeface="+mn-lt"/>
              <a:ea typeface="+mn-ea"/>
            </a:endParaRPr>
          </a:p>
        </p:txBody>
      </p:sp>
      <p:sp>
        <p:nvSpPr>
          <p:cNvPr id="7" name="矩形 6"/>
          <p:cNvSpPr/>
          <p:nvPr/>
        </p:nvSpPr>
        <p:spPr>
          <a:xfrm>
            <a:off x="1717675" y="4829175"/>
            <a:ext cx="8537575" cy="460375"/>
          </a:xfrm>
          <a:prstGeom prst="rect">
            <a:avLst/>
          </a:prstGeom>
        </p:spPr>
        <p:txBody>
          <a:bodyPr>
            <a:spAutoFit/>
          </a:bodyPr>
          <a:lstStyle/>
          <a:p>
            <a:pPr marL="742950" lvl="1" indent="-285750">
              <a:spcBef>
                <a:spcPct val="20000"/>
              </a:spcBef>
              <a:buClr>
                <a:srgbClr val="FF9900"/>
              </a:buClr>
              <a:buFont typeface="Wingdings" panose="05000000000000000000" pitchFamily="2" charset="2"/>
              <a:buChar char="§"/>
              <a:defRPr/>
            </a:pPr>
            <a:r>
              <a:rPr lang="zh-CN" altLang="zh-CN" sz="2400" dirty="0">
                <a:solidFill>
                  <a:srgbClr val="0033CC"/>
                </a:solidFill>
                <a:latin typeface="+mn-lt"/>
                <a:ea typeface="+mn-ea"/>
              </a:rPr>
              <a:t>静态的</a:t>
            </a:r>
            <a:r>
              <a:rPr lang="zh-CN" altLang="zh-CN" sz="2000" dirty="0">
                <a:latin typeface="+mn-lt"/>
                <a:ea typeface="+mn-ea"/>
              </a:rPr>
              <a:t>（如设施和规程等）和</a:t>
            </a:r>
            <a:r>
              <a:rPr lang="zh-CN" altLang="zh-CN" sz="2400" dirty="0">
                <a:solidFill>
                  <a:srgbClr val="0033CC"/>
                </a:solidFill>
                <a:latin typeface="+mn-lt"/>
                <a:ea typeface="+mn-ea"/>
              </a:rPr>
              <a:t>动态的</a:t>
            </a:r>
            <a:r>
              <a:rPr lang="zh-CN" altLang="zh-CN" sz="2000" dirty="0">
                <a:latin typeface="+mn-lt"/>
                <a:ea typeface="+mn-ea"/>
              </a:rPr>
              <a:t>（如人员和过程等）；</a:t>
            </a:r>
            <a:endParaRPr lang="en-US" altLang="zh-CN" sz="2000" dirty="0">
              <a:latin typeface="+mn-lt"/>
              <a:ea typeface="+mn-ea"/>
            </a:endParaRPr>
          </a:p>
        </p:txBody>
      </p:sp>
      <p:sp>
        <p:nvSpPr>
          <p:cNvPr id="8" name="矩形 7"/>
          <p:cNvSpPr/>
          <p:nvPr/>
        </p:nvSpPr>
        <p:spPr>
          <a:xfrm>
            <a:off x="1717675" y="5445125"/>
            <a:ext cx="8537575" cy="768350"/>
          </a:xfrm>
          <a:prstGeom prst="rect">
            <a:avLst/>
          </a:prstGeom>
        </p:spPr>
        <p:txBody>
          <a:bodyPr>
            <a:spAutoFit/>
          </a:bodyPr>
          <a:lstStyle/>
          <a:p>
            <a:pPr marL="742950" lvl="1" indent="-285750">
              <a:spcBef>
                <a:spcPct val="20000"/>
              </a:spcBef>
              <a:buClr>
                <a:srgbClr val="FF9900"/>
              </a:buClr>
              <a:buFont typeface="Wingdings" panose="05000000000000000000" pitchFamily="2" charset="2"/>
              <a:buChar char="§"/>
              <a:defRPr/>
            </a:pPr>
            <a:r>
              <a:rPr lang="zh-CN" altLang="zh-CN" sz="2400" dirty="0">
                <a:solidFill>
                  <a:srgbClr val="0033CC"/>
                </a:solidFill>
                <a:latin typeface="+mn-lt"/>
                <a:ea typeface="+mn-ea"/>
              </a:rPr>
              <a:t>技术的</a:t>
            </a:r>
            <a:r>
              <a:rPr lang="zh-CN" altLang="zh-CN" sz="2000" dirty="0">
                <a:latin typeface="+mn-lt"/>
                <a:ea typeface="+mn-ea"/>
              </a:rPr>
              <a:t>（如计算机硬件、软件和固件等）和</a:t>
            </a:r>
            <a:r>
              <a:rPr lang="zh-CN" altLang="zh-CN" sz="2400" dirty="0">
                <a:solidFill>
                  <a:srgbClr val="0033CC"/>
                </a:solidFill>
                <a:latin typeface="+mn-lt"/>
                <a:ea typeface="+mn-ea"/>
              </a:rPr>
              <a:t>管理的</a:t>
            </a:r>
            <a:r>
              <a:rPr lang="zh-CN" altLang="zh-CN" sz="2000" dirty="0">
                <a:latin typeface="+mn-lt"/>
                <a:ea typeface="+mn-ea"/>
              </a:rPr>
              <a:t>（如业务目标、战略、策略、规程、过程、计划和人员等）等。</a:t>
            </a:r>
            <a:endParaRPr lang="en-US" altLang="zh-CN" sz="2000" dirty="0">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0-#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0-#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0-#ppt_w/2"/>
                                          </p:val>
                                        </p:tav>
                                        <p:tav tm="100000">
                                          <p:val>
                                            <p:strVal val="#ppt_x"/>
                                          </p:val>
                                        </p:tav>
                                      </p:tavLst>
                                    </p:anim>
                                    <p:anim calcmode="lin" valueType="num">
                                      <p:cBhvr additive="base">
                                        <p:cTn id="4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1992313" y="755650"/>
            <a:ext cx="6513512" cy="487363"/>
          </a:xfrm>
        </p:spPr>
        <p:txBody>
          <a:bodyPr/>
          <a:lstStyle/>
          <a:p>
            <a:r>
              <a:rPr lang="zh-CN" altLang="en-US">
                <a:solidFill>
                  <a:srgbClr val="FF0000"/>
                </a:solidFill>
              </a:rPr>
              <a:t>网络空间安全风险术语</a:t>
            </a:r>
            <a:r>
              <a:rPr lang="en-US" altLang="zh-CN">
                <a:solidFill>
                  <a:srgbClr val="FF0000"/>
                </a:solidFill>
              </a:rPr>
              <a:t>-</a:t>
            </a:r>
            <a:r>
              <a:rPr lang="zh-CN" altLang="en-US">
                <a:solidFill>
                  <a:srgbClr val="FF0000"/>
                </a:solidFill>
              </a:rPr>
              <a:t>威胁</a:t>
            </a:r>
            <a:endParaRPr lang="zh-CN" altLang="en-US">
              <a:solidFill>
                <a:srgbClr val="FF0000"/>
              </a:solidFill>
            </a:endParaRPr>
          </a:p>
        </p:txBody>
      </p:sp>
      <p:sp>
        <p:nvSpPr>
          <p:cNvPr id="29699" name="内容占位符 2"/>
          <p:cNvSpPr>
            <a:spLocks noGrp="1"/>
          </p:cNvSpPr>
          <p:nvPr>
            <p:ph idx="1"/>
          </p:nvPr>
        </p:nvSpPr>
        <p:spPr>
          <a:xfrm>
            <a:off x="2279650" y="3141663"/>
            <a:ext cx="2808288" cy="2735262"/>
          </a:xfrm>
        </p:spPr>
        <p:txBody>
          <a:bodyPr/>
          <a:lstStyle/>
          <a:p>
            <a:pPr lvl="1"/>
            <a:r>
              <a:rPr lang="zh-CN" altLang="en-US" sz="2400"/>
              <a:t>操作失误</a:t>
            </a:r>
            <a:endParaRPr lang="en-US" altLang="zh-CN" sz="2400"/>
          </a:p>
          <a:p>
            <a:pPr lvl="1"/>
            <a:r>
              <a:rPr lang="zh-CN" altLang="en-US" sz="2400"/>
              <a:t>滥用授权</a:t>
            </a:r>
            <a:endParaRPr lang="en-US" altLang="zh-CN" sz="2400"/>
          </a:p>
          <a:p>
            <a:pPr lvl="1"/>
            <a:r>
              <a:rPr lang="zh-CN" altLang="en-US" sz="2400"/>
              <a:t>行为抵赖</a:t>
            </a:r>
            <a:endParaRPr lang="en-US" altLang="zh-CN" sz="2400"/>
          </a:p>
          <a:p>
            <a:pPr lvl="1"/>
            <a:r>
              <a:rPr lang="zh-CN" altLang="en-US" sz="2400"/>
              <a:t>身份假冒</a:t>
            </a:r>
            <a:endParaRPr lang="en-US" altLang="zh-CN" sz="2400"/>
          </a:p>
          <a:p>
            <a:pPr lvl="1"/>
            <a:r>
              <a:rPr lang="zh-CN" altLang="en-US" sz="2400"/>
              <a:t>口令攻击</a:t>
            </a:r>
            <a:endParaRPr lang="en-US" altLang="zh-CN" sz="2400"/>
          </a:p>
          <a:p>
            <a:pPr lvl="1"/>
            <a:r>
              <a:rPr lang="zh-CN" altLang="en-US" sz="2400"/>
              <a:t>密钥分析</a:t>
            </a:r>
            <a:endParaRPr lang="en-US" altLang="zh-CN"/>
          </a:p>
        </p:txBody>
      </p:sp>
      <p:sp>
        <p:nvSpPr>
          <p:cNvPr id="6" name="内容占位符 2"/>
          <p:cNvSpPr txBox="1"/>
          <p:nvPr/>
        </p:nvSpPr>
        <p:spPr bwMode="gray">
          <a:xfrm>
            <a:off x="5016500" y="3170238"/>
            <a:ext cx="2519363" cy="2897187"/>
          </a:xfrm>
          <a:prstGeom prst="rect">
            <a:avLst/>
          </a:prstGeom>
          <a:noFill/>
          <a:ln w="9525">
            <a:noFill/>
            <a:miter lim="800000"/>
          </a:ln>
        </p:spPr>
        <p:txBody>
          <a:bodyPr/>
          <a:lstStyle/>
          <a:p>
            <a:pPr marL="742950" lvl="1" indent="-285750">
              <a:spcBef>
                <a:spcPct val="20000"/>
              </a:spcBef>
              <a:buClr>
                <a:srgbClr val="FF9900"/>
              </a:buClr>
              <a:buFont typeface="Wingdings" panose="05000000000000000000" pitchFamily="2" charset="2"/>
              <a:buChar char="§"/>
              <a:defRPr/>
            </a:pPr>
            <a:r>
              <a:rPr lang="zh-CN" altLang="en-US" sz="2400" kern="0" dirty="0">
                <a:latin typeface="+mn-lt"/>
                <a:ea typeface="+mn-ea"/>
              </a:rPr>
              <a:t>漏洞利用</a:t>
            </a:r>
            <a:endParaRPr lang="en-US" altLang="zh-CN" sz="2400" kern="0" dirty="0">
              <a:latin typeface="+mn-lt"/>
              <a:ea typeface="+mn-ea"/>
            </a:endParaRPr>
          </a:p>
          <a:p>
            <a:pPr marL="742950" lvl="1" indent="-285750">
              <a:spcBef>
                <a:spcPct val="20000"/>
              </a:spcBef>
              <a:buClr>
                <a:srgbClr val="FF9900"/>
              </a:buClr>
              <a:buFont typeface="Wingdings" panose="05000000000000000000" pitchFamily="2" charset="2"/>
              <a:buChar char="§"/>
              <a:defRPr/>
            </a:pPr>
            <a:r>
              <a:rPr lang="zh-CN" altLang="en-US" sz="2400" kern="0" dirty="0">
                <a:latin typeface="+mn-lt"/>
                <a:ea typeface="+mn-ea"/>
              </a:rPr>
              <a:t>拒绝服务</a:t>
            </a:r>
            <a:endParaRPr lang="en-US" altLang="zh-CN" sz="2400" kern="0" dirty="0">
              <a:latin typeface="+mn-lt"/>
              <a:ea typeface="+mn-ea"/>
            </a:endParaRPr>
          </a:p>
          <a:p>
            <a:pPr marL="742950" lvl="1" indent="-285750">
              <a:spcBef>
                <a:spcPct val="20000"/>
              </a:spcBef>
              <a:buClr>
                <a:srgbClr val="FF9900"/>
              </a:buClr>
              <a:buFont typeface="Wingdings" panose="05000000000000000000" pitchFamily="2" charset="2"/>
              <a:buChar char="§"/>
              <a:defRPr/>
            </a:pPr>
            <a:r>
              <a:rPr lang="zh-CN" altLang="en-US" sz="2400" kern="0" dirty="0">
                <a:latin typeface="+mn-lt"/>
                <a:ea typeface="+mn-ea"/>
              </a:rPr>
              <a:t>窃取数据</a:t>
            </a:r>
            <a:endParaRPr lang="en-US" altLang="zh-CN" sz="2400" kern="0" dirty="0">
              <a:latin typeface="+mn-lt"/>
              <a:ea typeface="+mn-ea"/>
            </a:endParaRPr>
          </a:p>
          <a:p>
            <a:pPr marL="742950" lvl="1" indent="-285750">
              <a:spcBef>
                <a:spcPct val="20000"/>
              </a:spcBef>
              <a:buClr>
                <a:srgbClr val="FF9900"/>
              </a:buClr>
              <a:buFont typeface="Wingdings" panose="05000000000000000000" pitchFamily="2" charset="2"/>
              <a:buChar char="§"/>
              <a:defRPr/>
            </a:pPr>
            <a:r>
              <a:rPr lang="zh-CN" altLang="en-US" sz="2400" kern="0" dirty="0">
                <a:latin typeface="+mn-lt"/>
                <a:ea typeface="+mn-ea"/>
              </a:rPr>
              <a:t>物理破坏</a:t>
            </a:r>
            <a:endParaRPr lang="en-US" altLang="zh-CN" sz="2400" kern="0" dirty="0">
              <a:latin typeface="+mn-lt"/>
              <a:ea typeface="+mn-ea"/>
            </a:endParaRPr>
          </a:p>
          <a:p>
            <a:pPr marL="742950" lvl="1" indent="-285750">
              <a:spcBef>
                <a:spcPct val="20000"/>
              </a:spcBef>
              <a:buClr>
                <a:srgbClr val="FF9900"/>
              </a:buClr>
              <a:buFont typeface="Wingdings" panose="05000000000000000000" pitchFamily="2" charset="2"/>
              <a:buChar char="§"/>
              <a:defRPr/>
            </a:pPr>
            <a:r>
              <a:rPr lang="zh-CN" altLang="en-US" sz="2400" kern="0" dirty="0">
                <a:latin typeface="+mn-lt"/>
                <a:ea typeface="+mn-ea"/>
              </a:rPr>
              <a:t>社会工程</a:t>
            </a:r>
            <a:endParaRPr lang="en-US" altLang="zh-CN" sz="2400" kern="0" dirty="0">
              <a:latin typeface="+mn-lt"/>
              <a:ea typeface="+mn-ea"/>
            </a:endParaRPr>
          </a:p>
          <a:p>
            <a:pPr marL="742950" lvl="1" indent="-285750">
              <a:spcBef>
                <a:spcPct val="20000"/>
              </a:spcBef>
              <a:buClr>
                <a:srgbClr val="FF9900"/>
              </a:buClr>
              <a:buFont typeface="Wingdings" panose="05000000000000000000" pitchFamily="2" charset="2"/>
              <a:buChar char="§"/>
              <a:defRPr/>
            </a:pPr>
            <a:endParaRPr lang="en-US" altLang="zh-CN" sz="2600" kern="0" dirty="0">
              <a:latin typeface="+mn-lt"/>
              <a:ea typeface="+mn-ea"/>
            </a:endParaRPr>
          </a:p>
        </p:txBody>
      </p:sp>
      <p:sp>
        <p:nvSpPr>
          <p:cNvPr id="2" name="矩形 1"/>
          <p:cNvSpPr/>
          <p:nvPr/>
        </p:nvSpPr>
        <p:spPr>
          <a:xfrm>
            <a:off x="1930400" y="1450975"/>
            <a:ext cx="8243888" cy="491490"/>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600" dirty="0">
                <a:solidFill>
                  <a:srgbClr val="0033CC"/>
                </a:solidFill>
                <a:latin typeface="+mn-lt"/>
                <a:ea typeface="+mn-ea"/>
              </a:rPr>
              <a:t>可能导致信息安全事故和组织信息资产损失的活动。</a:t>
            </a:r>
            <a:endParaRPr lang="en-US" altLang="zh-CN" sz="2600" dirty="0">
              <a:solidFill>
                <a:srgbClr val="0033CC"/>
              </a:solidFill>
              <a:latin typeface="+mn-lt"/>
              <a:ea typeface="+mn-ea"/>
            </a:endParaRPr>
          </a:p>
        </p:txBody>
      </p:sp>
      <p:sp>
        <p:nvSpPr>
          <p:cNvPr id="3" name="矩形 2"/>
          <p:cNvSpPr/>
          <p:nvPr/>
        </p:nvSpPr>
        <p:spPr>
          <a:xfrm>
            <a:off x="1992313" y="2049463"/>
            <a:ext cx="6799580" cy="491490"/>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600" dirty="0">
                <a:latin typeface="+mn-lt"/>
                <a:ea typeface="+mn-ea"/>
              </a:rPr>
              <a:t>威胁源采取恰当的威胁方式才可能引发风险</a:t>
            </a:r>
            <a:endParaRPr lang="zh-CN" altLang="en-US" sz="2600" dirty="0">
              <a:latin typeface="+mn-lt"/>
              <a:ea typeface="+mn-ea"/>
            </a:endParaRPr>
          </a:p>
        </p:txBody>
      </p:sp>
      <p:sp>
        <p:nvSpPr>
          <p:cNvPr id="4" name="矩形 3"/>
          <p:cNvSpPr/>
          <p:nvPr/>
        </p:nvSpPr>
        <p:spPr>
          <a:xfrm>
            <a:off x="2014538" y="2595563"/>
            <a:ext cx="2176780" cy="491490"/>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600" dirty="0">
                <a:latin typeface="+mn-lt"/>
                <a:ea typeface="+mn-ea"/>
              </a:rPr>
              <a:t>威胁举例：</a:t>
            </a:r>
            <a:endParaRPr lang="en-US" altLang="zh-CN" sz="2600" dirty="0">
              <a:latin typeface="+mn-lt"/>
              <a:ea typeface="+mn-ea"/>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919288" y="1341438"/>
            <a:ext cx="8343900" cy="474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0-#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29699">
                                            <p:txEl>
                                              <p:pRg st="0" end="0"/>
                                            </p:txEl>
                                          </p:spTgt>
                                        </p:tgtEl>
                                        <p:attrNameLst>
                                          <p:attrName>style.visibility</p:attrName>
                                        </p:attrNameLst>
                                      </p:cBhvr>
                                      <p:to>
                                        <p:strVal val="visible"/>
                                      </p:to>
                                    </p:set>
                                    <p:anim calcmode="lin" valueType="num">
                                      <p:cBhvr>
                                        <p:cTn id="24" dur="500" fill="hold"/>
                                        <p:tgtEl>
                                          <p:spTgt spid="29699">
                                            <p:txEl>
                                              <p:pRg st="0" end="0"/>
                                            </p:txEl>
                                          </p:spTgt>
                                        </p:tgtEl>
                                        <p:attrNameLst>
                                          <p:attrName>ppt_w</p:attrName>
                                        </p:attrNameLst>
                                      </p:cBhvr>
                                      <p:tavLst>
                                        <p:tav tm="0">
                                          <p:val>
                                            <p:fltVal val="0"/>
                                          </p:val>
                                        </p:tav>
                                        <p:tav tm="100000">
                                          <p:val>
                                            <p:strVal val="#ppt_w"/>
                                          </p:val>
                                        </p:tav>
                                      </p:tavLst>
                                    </p:anim>
                                    <p:anim calcmode="lin" valueType="num">
                                      <p:cBhvr>
                                        <p:cTn id="25" dur="500" fill="hold"/>
                                        <p:tgtEl>
                                          <p:spTgt spid="29699">
                                            <p:txEl>
                                              <p:pRg st="0" end="0"/>
                                            </p:txEl>
                                          </p:spTgt>
                                        </p:tgtEl>
                                        <p:attrNameLst>
                                          <p:attrName>ppt_h</p:attrName>
                                        </p:attrNameLst>
                                      </p:cBhvr>
                                      <p:tavLst>
                                        <p:tav tm="0">
                                          <p:val>
                                            <p:fltVal val="0"/>
                                          </p:val>
                                        </p:tav>
                                        <p:tav tm="100000">
                                          <p:val>
                                            <p:strVal val="#ppt_h"/>
                                          </p:val>
                                        </p:tav>
                                      </p:tavLst>
                                    </p:anim>
                                    <p:animEffect transition="in" filter="fade">
                                      <p:cBhvr>
                                        <p:cTn id="26" dur="500"/>
                                        <p:tgtEl>
                                          <p:spTgt spid="29699">
                                            <p:txEl>
                                              <p:pRg st="0" end="0"/>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29699">
                                            <p:txEl>
                                              <p:pRg st="1" end="1"/>
                                            </p:txEl>
                                          </p:spTgt>
                                        </p:tgtEl>
                                        <p:attrNameLst>
                                          <p:attrName>style.visibility</p:attrName>
                                        </p:attrNameLst>
                                      </p:cBhvr>
                                      <p:to>
                                        <p:strVal val="visible"/>
                                      </p:to>
                                    </p:set>
                                    <p:anim calcmode="lin" valueType="num">
                                      <p:cBhvr>
                                        <p:cTn id="29" dur="500" fill="hold"/>
                                        <p:tgtEl>
                                          <p:spTgt spid="29699">
                                            <p:txEl>
                                              <p:pRg st="1" end="1"/>
                                            </p:txEl>
                                          </p:spTgt>
                                        </p:tgtEl>
                                        <p:attrNameLst>
                                          <p:attrName>ppt_w</p:attrName>
                                        </p:attrNameLst>
                                      </p:cBhvr>
                                      <p:tavLst>
                                        <p:tav tm="0">
                                          <p:val>
                                            <p:fltVal val="0"/>
                                          </p:val>
                                        </p:tav>
                                        <p:tav tm="100000">
                                          <p:val>
                                            <p:strVal val="#ppt_w"/>
                                          </p:val>
                                        </p:tav>
                                      </p:tavLst>
                                    </p:anim>
                                    <p:anim calcmode="lin" valueType="num">
                                      <p:cBhvr>
                                        <p:cTn id="30" dur="500" fill="hold"/>
                                        <p:tgtEl>
                                          <p:spTgt spid="29699">
                                            <p:txEl>
                                              <p:pRg st="1" end="1"/>
                                            </p:txEl>
                                          </p:spTgt>
                                        </p:tgtEl>
                                        <p:attrNameLst>
                                          <p:attrName>ppt_h</p:attrName>
                                        </p:attrNameLst>
                                      </p:cBhvr>
                                      <p:tavLst>
                                        <p:tav tm="0">
                                          <p:val>
                                            <p:fltVal val="0"/>
                                          </p:val>
                                        </p:tav>
                                        <p:tav tm="100000">
                                          <p:val>
                                            <p:strVal val="#ppt_h"/>
                                          </p:val>
                                        </p:tav>
                                      </p:tavLst>
                                    </p:anim>
                                    <p:animEffect transition="in" filter="fade">
                                      <p:cBhvr>
                                        <p:cTn id="31" dur="500"/>
                                        <p:tgtEl>
                                          <p:spTgt spid="29699">
                                            <p:txEl>
                                              <p:pRg st="1" end="1"/>
                                            </p:txEl>
                                          </p:spTgt>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29699">
                                            <p:txEl>
                                              <p:pRg st="2" end="2"/>
                                            </p:txEl>
                                          </p:spTgt>
                                        </p:tgtEl>
                                        <p:attrNameLst>
                                          <p:attrName>style.visibility</p:attrName>
                                        </p:attrNameLst>
                                      </p:cBhvr>
                                      <p:to>
                                        <p:strVal val="visible"/>
                                      </p:to>
                                    </p:set>
                                    <p:anim calcmode="lin" valueType="num">
                                      <p:cBhvr>
                                        <p:cTn id="34" dur="500" fill="hold"/>
                                        <p:tgtEl>
                                          <p:spTgt spid="29699">
                                            <p:txEl>
                                              <p:pRg st="2" end="2"/>
                                            </p:txEl>
                                          </p:spTgt>
                                        </p:tgtEl>
                                        <p:attrNameLst>
                                          <p:attrName>ppt_w</p:attrName>
                                        </p:attrNameLst>
                                      </p:cBhvr>
                                      <p:tavLst>
                                        <p:tav tm="0">
                                          <p:val>
                                            <p:fltVal val="0"/>
                                          </p:val>
                                        </p:tav>
                                        <p:tav tm="100000">
                                          <p:val>
                                            <p:strVal val="#ppt_w"/>
                                          </p:val>
                                        </p:tav>
                                      </p:tavLst>
                                    </p:anim>
                                    <p:anim calcmode="lin" valueType="num">
                                      <p:cBhvr>
                                        <p:cTn id="35" dur="500" fill="hold"/>
                                        <p:tgtEl>
                                          <p:spTgt spid="29699">
                                            <p:txEl>
                                              <p:pRg st="2" end="2"/>
                                            </p:txEl>
                                          </p:spTgt>
                                        </p:tgtEl>
                                        <p:attrNameLst>
                                          <p:attrName>ppt_h</p:attrName>
                                        </p:attrNameLst>
                                      </p:cBhvr>
                                      <p:tavLst>
                                        <p:tav tm="0">
                                          <p:val>
                                            <p:fltVal val="0"/>
                                          </p:val>
                                        </p:tav>
                                        <p:tav tm="100000">
                                          <p:val>
                                            <p:strVal val="#ppt_h"/>
                                          </p:val>
                                        </p:tav>
                                      </p:tavLst>
                                    </p:anim>
                                    <p:animEffect transition="in" filter="fade">
                                      <p:cBhvr>
                                        <p:cTn id="36" dur="500"/>
                                        <p:tgtEl>
                                          <p:spTgt spid="29699">
                                            <p:txEl>
                                              <p:pRg st="2" end="2"/>
                                            </p:txEl>
                                          </p:spTgt>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29699">
                                            <p:txEl>
                                              <p:pRg st="3" end="3"/>
                                            </p:txEl>
                                          </p:spTgt>
                                        </p:tgtEl>
                                        <p:attrNameLst>
                                          <p:attrName>style.visibility</p:attrName>
                                        </p:attrNameLst>
                                      </p:cBhvr>
                                      <p:to>
                                        <p:strVal val="visible"/>
                                      </p:to>
                                    </p:set>
                                    <p:anim calcmode="lin" valueType="num">
                                      <p:cBhvr>
                                        <p:cTn id="39" dur="500" fill="hold"/>
                                        <p:tgtEl>
                                          <p:spTgt spid="29699">
                                            <p:txEl>
                                              <p:pRg st="3" end="3"/>
                                            </p:txEl>
                                          </p:spTgt>
                                        </p:tgtEl>
                                        <p:attrNameLst>
                                          <p:attrName>ppt_w</p:attrName>
                                        </p:attrNameLst>
                                      </p:cBhvr>
                                      <p:tavLst>
                                        <p:tav tm="0">
                                          <p:val>
                                            <p:fltVal val="0"/>
                                          </p:val>
                                        </p:tav>
                                        <p:tav tm="100000">
                                          <p:val>
                                            <p:strVal val="#ppt_w"/>
                                          </p:val>
                                        </p:tav>
                                      </p:tavLst>
                                    </p:anim>
                                    <p:anim calcmode="lin" valueType="num">
                                      <p:cBhvr>
                                        <p:cTn id="40" dur="500" fill="hold"/>
                                        <p:tgtEl>
                                          <p:spTgt spid="29699">
                                            <p:txEl>
                                              <p:pRg st="3" end="3"/>
                                            </p:txEl>
                                          </p:spTgt>
                                        </p:tgtEl>
                                        <p:attrNameLst>
                                          <p:attrName>ppt_h</p:attrName>
                                        </p:attrNameLst>
                                      </p:cBhvr>
                                      <p:tavLst>
                                        <p:tav tm="0">
                                          <p:val>
                                            <p:fltVal val="0"/>
                                          </p:val>
                                        </p:tav>
                                        <p:tav tm="100000">
                                          <p:val>
                                            <p:strVal val="#ppt_h"/>
                                          </p:val>
                                        </p:tav>
                                      </p:tavLst>
                                    </p:anim>
                                    <p:animEffect transition="in" filter="fade">
                                      <p:cBhvr>
                                        <p:cTn id="41" dur="500"/>
                                        <p:tgtEl>
                                          <p:spTgt spid="29699">
                                            <p:txEl>
                                              <p:pRg st="3" end="3"/>
                                            </p:txEl>
                                          </p:spTgt>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29699">
                                            <p:txEl>
                                              <p:pRg st="4" end="4"/>
                                            </p:txEl>
                                          </p:spTgt>
                                        </p:tgtEl>
                                        <p:attrNameLst>
                                          <p:attrName>style.visibility</p:attrName>
                                        </p:attrNameLst>
                                      </p:cBhvr>
                                      <p:to>
                                        <p:strVal val="visible"/>
                                      </p:to>
                                    </p:set>
                                    <p:anim calcmode="lin" valueType="num">
                                      <p:cBhvr>
                                        <p:cTn id="44" dur="500" fill="hold"/>
                                        <p:tgtEl>
                                          <p:spTgt spid="29699">
                                            <p:txEl>
                                              <p:pRg st="4" end="4"/>
                                            </p:txEl>
                                          </p:spTgt>
                                        </p:tgtEl>
                                        <p:attrNameLst>
                                          <p:attrName>ppt_w</p:attrName>
                                        </p:attrNameLst>
                                      </p:cBhvr>
                                      <p:tavLst>
                                        <p:tav tm="0">
                                          <p:val>
                                            <p:fltVal val="0"/>
                                          </p:val>
                                        </p:tav>
                                        <p:tav tm="100000">
                                          <p:val>
                                            <p:strVal val="#ppt_w"/>
                                          </p:val>
                                        </p:tav>
                                      </p:tavLst>
                                    </p:anim>
                                    <p:anim calcmode="lin" valueType="num">
                                      <p:cBhvr>
                                        <p:cTn id="45" dur="500" fill="hold"/>
                                        <p:tgtEl>
                                          <p:spTgt spid="29699">
                                            <p:txEl>
                                              <p:pRg st="4" end="4"/>
                                            </p:txEl>
                                          </p:spTgt>
                                        </p:tgtEl>
                                        <p:attrNameLst>
                                          <p:attrName>ppt_h</p:attrName>
                                        </p:attrNameLst>
                                      </p:cBhvr>
                                      <p:tavLst>
                                        <p:tav tm="0">
                                          <p:val>
                                            <p:fltVal val="0"/>
                                          </p:val>
                                        </p:tav>
                                        <p:tav tm="100000">
                                          <p:val>
                                            <p:strVal val="#ppt_h"/>
                                          </p:val>
                                        </p:tav>
                                      </p:tavLst>
                                    </p:anim>
                                    <p:animEffect transition="in" filter="fade">
                                      <p:cBhvr>
                                        <p:cTn id="46" dur="500"/>
                                        <p:tgtEl>
                                          <p:spTgt spid="29699">
                                            <p:txEl>
                                              <p:pRg st="4" end="4"/>
                                            </p:txEl>
                                          </p:spTgt>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29699">
                                            <p:txEl>
                                              <p:pRg st="5" end="5"/>
                                            </p:txEl>
                                          </p:spTgt>
                                        </p:tgtEl>
                                        <p:attrNameLst>
                                          <p:attrName>style.visibility</p:attrName>
                                        </p:attrNameLst>
                                      </p:cBhvr>
                                      <p:to>
                                        <p:strVal val="visible"/>
                                      </p:to>
                                    </p:set>
                                    <p:anim calcmode="lin" valueType="num">
                                      <p:cBhvr>
                                        <p:cTn id="49" dur="500" fill="hold"/>
                                        <p:tgtEl>
                                          <p:spTgt spid="29699">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29699">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29699">
                                            <p:txEl>
                                              <p:pRg st="5" end="5"/>
                                            </p:txEl>
                                          </p:spTgt>
                                        </p:tgtEl>
                                      </p:cBhvr>
                                    </p:animEffect>
                                  </p:childTnLst>
                                </p:cTn>
                              </p:par>
                            </p:childTnLst>
                          </p:cTn>
                        </p:par>
                        <p:par>
                          <p:cTn id="52" fill="hold">
                            <p:stCondLst>
                              <p:cond delay="500"/>
                            </p:stCondLst>
                            <p:childTnLst>
                              <p:par>
                                <p:cTn id="53" presetID="53" presetClass="entr" presetSubtype="16" fill="hold" grpId="0" nodeType="after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p:cTn id="55" dur="500" fill="hold"/>
                                        <p:tgtEl>
                                          <p:spTgt spid="6"/>
                                        </p:tgtEl>
                                        <p:attrNameLst>
                                          <p:attrName>ppt_w</p:attrName>
                                        </p:attrNameLst>
                                      </p:cBhvr>
                                      <p:tavLst>
                                        <p:tav tm="0">
                                          <p:val>
                                            <p:fltVal val="0"/>
                                          </p:val>
                                        </p:tav>
                                        <p:tav tm="100000">
                                          <p:val>
                                            <p:strVal val="#ppt_w"/>
                                          </p:val>
                                        </p:tav>
                                      </p:tavLst>
                                    </p:anim>
                                    <p:anim calcmode="lin" valueType="num">
                                      <p:cBhvr>
                                        <p:cTn id="56" dur="500" fill="hold"/>
                                        <p:tgtEl>
                                          <p:spTgt spid="6"/>
                                        </p:tgtEl>
                                        <p:attrNameLst>
                                          <p:attrName>ppt_h</p:attrName>
                                        </p:attrNameLst>
                                      </p:cBhvr>
                                      <p:tavLst>
                                        <p:tav tm="0">
                                          <p:val>
                                            <p:fltVal val="0"/>
                                          </p:val>
                                        </p:tav>
                                        <p:tav tm="100000">
                                          <p:val>
                                            <p:strVal val="#ppt_h"/>
                                          </p:val>
                                        </p:tav>
                                      </p:tavLst>
                                    </p:anim>
                                    <p:animEffect transition="in" filter="fade">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 calcmode="lin" valueType="num">
                                      <p:cBhvr>
                                        <p:cTn id="62" dur="500" fill="hold"/>
                                        <p:tgtEl>
                                          <p:spTgt spid="5"/>
                                        </p:tgtEl>
                                        <p:attrNameLst>
                                          <p:attrName>ppt_w</p:attrName>
                                        </p:attrNameLst>
                                      </p:cBhvr>
                                      <p:tavLst>
                                        <p:tav tm="0">
                                          <p:val>
                                            <p:fltVal val="0"/>
                                          </p:val>
                                        </p:tav>
                                        <p:tav tm="100000">
                                          <p:val>
                                            <p:strVal val="#ppt_w"/>
                                          </p:val>
                                        </p:tav>
                                      </p:tavLst>
                                    </p:anim>
                                    <p:anim calcmode="lin" valueType="num">
                                      <p:cBhvr>
                                        <p:cTn id="63" dur="500" fill="hold"/>
                                        <p:tgtEl>
                                          <p:spTgt spid="5"/>
                                        </p:tgtEl>
                                        <p:attrNameLst>
                                          <p:attrName>ppt_h</p:attrName>
                                        </p:attrNameLst>
                                      </p:cBhvr>
                                      <p:tavLst>
                                        <p:tav tm="0">
                                          <p:val>
                                            <p:fltVal val="0"/>
                                          </p:val>
                                        </p:tav>
                                        <p:tav tm="100000">
                                          <p:val>
                                            <p:strVal val="#ppt_h"/>
                                          </p:val>
                                        </p:tav>
                                      </p:tavLst>
                                    </p:anim>
                                    <p:animEffect transition="in" filter="fade">
                                      <p:cBhvr>
                                        <p:cTn id="6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P spid="6" grpId="0"/>
      <p:bldP spid="2"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2057400" y="709613"/>
            <a:ext cx="6513513" cy="487362"/>
          </a:xfrm>
        </p:spPr>
        <p:txBody>
          <a:bodyPr/>
          <a:lstStyle/>
          <a:p>
            <a:r>
              <a:rPr lang="zh-CN" altLang="en-US">
                <a:solidFill>
                  <a:srgbClr val="FF0000"/>
                </a:solidFill>
              </a:rPr>
              <a:t>网络空间安全风险术语</a:t>
            </a:r>
            <a:r>
              <a:rPr lang="en-US" altLang="zh-CN">
                <a:solidFill>
                  <a:srgbClr val="FF0000"/>
                </a:solidFill>
              </a:rPr>
              <a:t>-</a:t>
            </a:r>
            <a:r>
              <a:rPr lang="zh-CN" altLang="en-US">
                <a:solidFill>
                  <a:srgbClr val="FF0000"/>
                </a:solidFill>
              </a:rPr>
              <a:t>脆弱性</a:t>
            </a:r>
            <a:endParaRPr lang="zh-CN" altLang="en-US">
              <a:solidFill>
                <a:srgbClr val="FF0000"/>
              </a:solidFill>
            </a:endParaRPr>
          </a:p>
        </p:txBody>
      </p:sp>
      <p:sp>
        <p:nvSpPr>
          <p:cNvPr id="30723" name="内容占位符 2"/>
          <p:cNvSpPr>
            <a:spLocks noGrp="1"/>
          </p:cNvSpPr>
          <p:nvPr>
            <p:ph idx="1"/>
          </p:nvPr>
        </p:nvSpPr>
        <p:spPr>
          <a:xfrm>
            <a:off x="2373313" y="4267200"/>
            <a:ext cx="3719512" cy="1682750"/>
          </a:xfrm>
        </p:spPr>
        <p:txBody>
          <a:bodyPr/>
          <a:lstStyle/>
          <a:p>
            <a:pPr lvl="1"/>
            <a:r>
              <a:rPr lang="zh-CN" altLang="en-US" sz="2000"/>
              <a:t>系统程序代码缺陷</a:t>
            </a:r>
            <a:endParaRPr lang="en-US" altLang="zh-CN" sz="2000"/>
          </a:p>
          <a:p>
            <a:pPr lvl="1"/>
            <a:r>
              <a:rPr lang="zh-CN" altLang="en-US" sz="2000"/>
              <a:t>系统设备安全配置错误</a:t>
            </a:r>
            <a:endParaRPr lang="en-US" altLang="zh-CN" sz="2000"/>
          </a:p>
          <a:p>
            <a:pPr lvl="1"/>
            <a:r>
              <a:rPr lang="zh-CN" altLang="en-US" sz="2000"/>
              <a:t>系统操作流程有缺陷</a:t>
            </a:r>
            <a:endParaRPr lang="en-US" altLang="zh-CN" sz="2000"/>
          </a:p>
          <a:p>
            <a:pPr lvl="1"/>
            <a:r>
              <a:rPr lang="zh-CN" altLang="en-US" sz="2000"/>
              <a:t>维护人员安全意识不足</a:t>
            </a:r>
            <a:endParaRPr lang="en-US" altLang="zh-CN" sz="2000"/>
          </a:p>
        </p:txBody>
      </p:sp>
      <p:sp>
        <p:nvSpPr>
          <p:cNvPr id="2" name="矩形 1"/>
          <p:cNvSpPr/>
          <p:nvPr/>
        </p:nvSpPr>
        <p:spPr>
          <a:xfrm>
            <a:off x="2373313" y="1427163"/>
            <a:ext cx="5402580" cy="460375"/>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400" dirty="0">
                <a:solidFill>
                  <a:srgbClr val="0033CC"/>
                </a:solidFill>
                <a:latin typeface="+mn-lt"/>
                <a:ea typeface="+mn-ea"/>
              </a:rPr>
              <a:t>与信息资产有关的弱点或安全隐患。</a:t>
            </a:r>
            <a:endParaRPr lang="en-US" altLang="zh-CN" sz="2400" dirty="0">
              <a:solidFill>
                <a:srgbClr val="0033CC"/>
              </a:solidFill>
              <a:latin typeface="+mn-lt"/>
              <a:ea typeface="+mn-ea"/>
            </a:endParaRPr>
          </a:p>
        </p:txBody>
      </p:sp>
      <p:sp>
        <p:nvSpPr>
          <p:cNvPr id="3" name="矩形 2"/>
          <p:cNvSpPr/>
          <p:nvPr/>
        </p:nvSpPr>
        <p:spPr>
          <a:xfrm>
            <a:off x="2382838" y="1989138"/>
            <a:ext cx="3868737" cy="46037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400" dirty="0">
                <a:latin typeface="+mn-lt"/>
                <a:ea typeface="+mn-ea"/>
              </a:rPr>
              <a:t>造成风险的内因。</a:t>
            </a:r>
            <a:endParaRPr lang="en-US" altLang="zh-CN" sz="2400" dirty="0">
              <a:latin typeface="+mn-lt"/>
              <a:ea typeface="+mn-ea"/>
            </a:endParaRPr>
          </a:p>
        </p:txBody>
      </p:sp>
      <p:sp>
        <p:nvSpPr>
          <p:cNvPr id="4" name="矩形 3"/>
          <p:cNvSpPr/>
          <p:nvPr/>
        </p:nvSpPr>
        <p:spPr>
          <a:xfrm>
            <a:off x="2373313" y="2516188"/>
            <a:ext cx="8115300" cy="1198880"/>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400" dirty="0">
                <a:latin typeface="+mn-lt"/>
                <a:ea typeface="+mn-ea"/>
              </a:rPr>
              <a:t>脆弱性本身</a:t>
            </a:r>
            <a:r>
              <a:rPr lang="zh-CN" altLang="en-US" sz="2400" dirty="0">
                <a:solidFill>
                  <a:srgbClr val="FF0000"/>
                </a:solidFill>
                <a:latin typeface="+mn-lt"/>
                <a:ea typeface="+mn-ea"/>
              </a:rPr>
              <a:t>并不对资产构成危害</a:t>
            </a:r>
            <a:r>
              <a:rPr lang="zh-CN" altLang="en-US" sz="2400" dirty="0">
                <a:latin typeface="+mn-lt"/>
                <a:ea typeface="+mn-ea"/>
              </a:rPr>
              <a:t>，但是在一定条件得到满足时，脆弱性会被威胁源利用恰当的威胁方式对信息资产造成危害。</a:t>
            </a:r>
            <a:endParaRPr lang="zh-CN" altLang="en-US" sz="2400" dirty="0">
              <a:latin typeface="+mn-lt"/>
              <a:ea typeface="+mn-ea"/>
            </a:endParaRPr>
          </a:p>
        </p:txBody>
      </p:sp>
      <p:sp>
        <p:nvSpPr>
          <p:cNvPr id="5" name="矩形 4"/>
          <p:cNvSpPr/>
          <p:nvPr/>
        </p:nvSpPr>
        <p:spPr>
          <a:xfrm>
            <a:off x="2382838" y="3759200"/>
            <a:ext cx="2049780" cy="460375"/>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400" dirty="0">
                <a:latin typeface="+mn-lt"/>
                <a:ea typeface="+mn-ea"/>
              </a:rPr>
              <a:t>脆弱性举例</a:t>
            </a:r>
            <a:endParaRPr lang="en-US" altLang="zh-CN" sz="2400" dirty="0">
              <a:latin typeface="+mn-lt"/>
              <a:ea typeface="+mn-ea"/>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258050" y="3633788"/>
            <a:ext cx="2808288"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par>
                          <p:cTn id="22" fill="hold">
                            <p:stCondLst>
                              <p:cond delay="500"/>
                            </p:stCondLst>
                            <p:childTnLst>
                              <p:par>
                                <p:cTn id="23" presetID="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0723">
                                            <p:txEl>
                                              <p:pRg st="0" end="0"/>
                                            </p:txEl>
                                          </p:spTgt>
                                        </p:tgtEl>
                                        <p:attrNameLst>
                                          <p:attrName>style.visibility</p:attrName>
                                        </p:attrNameLst>
                                      </p:cBhvr>
                                      <p:to>
                                        <p:strVal val="visible"/>
                                      </p:to>
                                    </p:set>
                                    <p:anim calcmode="lin" valueType="num">
                                      <p:cBhvr>
                                        <p:cTn id="31" dur="500" fill="hold"/>
                                        <p:tgtEl>
                                          <p:spTgt spid="30723">
                                            <p:txEl>
                                              <p:pRg st="0" end="0"/>
                                            </p:txEl>
                                          </p:spTgt>
                                        </p:tgtEl>
                                        <p:attrNameLst>
                                          <p:attrName>ppt_w</p:attrName>
                                        </p:attrNameLst>
                                      </p:cBhvr>
                                      <p:tavLst>
                                        <p:tav tm="0">
                                          <p:val>
                                            <p:fltVal val="0"/>
                                          </p:val>
                                        </p:tav>
                                        <p:tav tm="100000">
                                          <p:val>
                                            <p:strVal val="#ppt_w"/>
                                          </p:val>
                                        </p:tav>
                                      </p:tavLst>
                                    </p:anim>
                                    <p:anim calcmode="lin" valueType="num">
                                      <p:cBhvr>
                                        <p:cTn id="32" dur="500" fill="hold"/>
                                        <p:tgtEl>
                                          <p:spTgt spid="30723">
                                            <p:txEl>
                                              <p:pRg st="0" end="0"/>
                                            </p:txEl>
                                          </p:spTgt>
                                        </p:tgtEl>
                                        <p:attrNameLst>
                                          <p:attrName>ppt_h</p:attrName>
                                        </p:attrNameLst>
                                      </p:cBhvr>
                                      <p:tavLst>
                                        <p:tav tm="0">
                                          <p:val>
                                            <p:fltVal val="0"/>
                                          </p:val>
                                        </p:tav>
                                        <p:tav tm="100000">
                                          <p:val>
                                            <p:strVal val="#ppt_h"/>
                                          </p:val>
                                        </p:tav>
                                      </p:tavLst>
                                    </p:anim>
                                    <p:animEffect transition="in" filter="fade">
                                      <p:cBhvr>
                                        <p:cTn id="33" dur="500"/>
                                        <p:tgtEl>
                                          <p:spTgt spid="30723">
                                            <p:txEl>
                                              <p:pRg st="0" end="0"/>
                                            </p:txEl>
                                          </p:spTgt>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30723">
                                            <p:txEl>
                                              <p:pRg st="1" end="1"/>
                                            </p:txEl>
                                          </p:spTgt>
                                        </p:tgtEl>
                                        <p:attrNameLst>
                                          <p:attrName>style.visibility</p:attrName>
                                        </p:attrNameLst>
                                      </p:cBhvr>
                                      <p:to>
                                        <p:strVal val="visible"/>
                                      </p:to>
                                    </p:set>
                                    <p:anim calcmode="lin" valueType="num">
                                      <p:cBhvr>
                                        <p:cTn id="36" dur="500" fill="hold"/>
                                        <p:tgtEl>
                                          <p:spTgt spid="30723">
                                            <p:txEl>
                                              <p:pRg st="1" end="1"/>
                                            </p:txEl>
                                          </p:spTgt>
                                        </p:tgtEl>
                                        <p:attrNameLst>
                                          <p:attrName>ppt_w</p:attrName>
                                        </p:attrNameLst>
                                      </p:cBhvr>
                                      <p:tavLst>
                                        <p:tav tm="0">
                                          <p:val>
                                            <p:fltVal val="0"/>
                                          </p:val>
                                        </p:tav>
                                        <p:tav tm="100000">
                                          <p:val>
                                            <p:strVal val="#ppt_w"/>
                                          </p:val>
                                        </p:tav>
                                      </p:tavLst>
                                    </p:anim>
                                    <p:anim calcmode="lin" valueType="num">
                                      <p:cBhvr>
                                        <p:cTn id="37" dur="500" fill="hold"/>
                                        <p:tgtEl>
                                          <p:spTgt spid="30723">
                                            <p:txEl>
                                              <p:pRg st="1" end="1"/>
                                            </p:txEl>
                                          </p:spTgt>
                                        </p:tgtEl>
                                        <p:attrNameLst>
                                          <p:attrName>ppt_h</p:attrName>
                                        </p:attrNameLst>
                                      </p:cBhvr>
                                      <p:tavLst>
                                        <p:tav tm="0">
                                          <p:val>
                                            <p:fltVal val="0"/>
                                          </p:val>
                                        </p:tav>
                                        <p:tav tm="100000">
                                          <p:val>
                                            <p:strVal val="#ppt_h"/>
                                          </p:val>
                                        </p:tav>
                                      </p:tavLst>
                                    </p:anim>
                                    <p:animEffect transition="in" filter="fade">
                                      <p:cBhvr>
                                        <p:cTn id="38" dur="500"/>
                                        <p:tgtEl>
                                          <p:spTgt spid="30723">
                                            <p:txEl>
                                              <p:pRg st="1" end="1"/>
                                            </p:txEl>
                                          </p:spTgt>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30723">
                                            <p:txEl>
                                              <p:pRg st="2" end="2"/>
                                            </p:txEl>
                                          </p:spTgt>
                                        </p:tgtEl>
                                        <p:attrNameLst>
                                          <p:attrName>style.visibility</p:attrName>
                                        </p:attrNameLst>
                                      </p:cBhvr>
                                      <p:to>
                                        <p:strVal val="visible"/>
                                      </p:to>
                                    </p:set>
                                    <p:anim calcmode="lin" valueType="num">
                                      <p:cBhvr>
                                        <p:cTn id="41" dur="500" fill="hold"/>
                                        <p:tgtEl>
                                          <p:spTgt spid="30723">
                                            <p:txEl>
                                              <p:pRg st="2" end="2"/>
                                            </p:txEl>
                                          </p:spTgt>
                                        </p:tgtEl>
                                        <p:attrNameLst>
                                          <p:attrName>ppt_w</p:attrName>
                                        </p:attrNameLst>
                                      </p:cBhvr>
                                      <p:tavLst>
                                        <p:tav tm="0">
                                          <p:val>
                                            <p:fltVal val="0"/>
                                          </p:val>
                                        </p:tav>
                                        <p:tav tm="100000">
                                          <p:val>
                                            <p:strVal val="#ppt_w"/>
                                          </p:val>
                                        </p:tav>
                                      </p:tavLst>
                                    </p:anim>
                                    <p:anim calcmode="lin" valueType="num">
                                      <p:cBhvr>
                                        <p:cTn id="42" dur="500" fill="hold"/>
                                        <p:tgtEl>
                                          <p:spTgt spid="30723">
                                            <p:txEl>
                                              <p:pRg st="2" end="2"/>
                                            </p:txEl>
                                          </p:spTgt>
                                        </p:tgtEl>
                                        <p:attrNameLst>
                                          <p:attrName>ppt_h</p:attrName>
                                        </p:attrNameLst>
                                      </p:cBhvr>
                                      <p:tavLst>
                                        <p:tav tm="0">
                                          <p:val>
                                            <p:fltVal val="0"/>
                                          </p:val>
                                        </p:tav>
                                        <p:tav tm="100000">
                                          <p:val>
                                            <p:strVal val="#ppt_h"/>
                                          </p:val>
                                        </p:tav>
                                      </p:tavLst>
                                    </p:anim>
                                    <p:animEffect transition="in" filter="fade">
                                      <p:cBhvr>
                                        <p:cTn id="43" dur="500"/>
                                        <p:tgtEl>
                                          <p:spTgt spid="30723">
                                            <p:txEl>
                                              <p:pRg st="2" end="2"/>
                                            </p:txEl>
                                          </p:spTgt>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30723">
                                            <p:txEl>
                                              <p:pRg st="3" end="3"/>
                                            </p:txEl>
                                          </p:spTgt>
                                        </p:tgtEl>
                                        <p:attrNameLst>
                                          <p:attrName>style.visibility</p:attrName>
                                        </p:attrNameLst>
                                      </p:cBhvr>
                                      <p:to>
                                        <p:strVal val="visible"/>
                                      </p:to>
                                    </p:set>
                                    <p:anim calcmode="lin" valueType="num">
                                      <p:cBhvr>
                                        <p:cTn id="46" dur="500" fill="hold"/>
                                        <p:tgtEl>
                                          <p:spTgt spid="30723">
                                            <p:txEl>
                                              <p:pRg st="3" end="3"/>
                                            </p:txEl>
                                          </p:spTgt>
                                        </p:tgtEl>
                                        <p:attrNameLst>
                                          <p:attrName>ppt_w</p:attrName>
                                        </p:attrNameLst>
                                      </p:cBhvr>
                                      <p:tavLst>
                                        <p:tav tm="0">
                                          <p:val>
                                            <p:fltVal val="0"/>
                                          </p:val>
                                        </p:tav>
                                        <p:tav tm="100000">
                                          <p:val>
                                            <p:strVal val="#ppt_w"/>
                                          </p:val>
                                        </p:tav>
                                      </p:tavLst>
                                    </p:anim>
                                    <p:anim calcmode="lin" valueType="num">
                                      <p:cBhvr>
                                        <p:cTn id="47" dur="500" fill="hold"/>
                                        <p:tgtEl>
                                          <p:spTgt spid="30723">
                                            <p:txEl>
                                              <p:pRg st="3" end="3"/>
                                            </p:txEl>
                                          </p:spTgt>
                                        </p:tgtEl>
                                        <p:attrNameLst>
                                          <p:attrName>ppt_h</p:attrName>
                                        </p:attrNameLst>
                                      </p:cBhvr>
                                      <p:tavLst>
                                        <p:tav tm="0">
                                          <p:val>
                                            <p:fltVal val="0"/>
                                          </p:val>
                                        </p:tav>
                                        <p:tav tm="100000">
                                          <p:val>
                                            <p:strVal val="#ppt_h"/>
                                          </p:val>
                                        </p:tav>
                                      </p:tavLst>
                                    </p:anim>
                                    <p:animEffect transition="in" filter="fade">
                                      <p:cBhvr>
                                        <p:cTn id="48" dur="500"/>
                                        <p:tgtEl>
                                          <p:spTgt spid="30723">
                                            <p:txEl>
                                              <p:pRg st="3" end="3"/>
                                            </p:txEl>
                                          </p:spTgt>
                                        </p:tgtEl>
                                      </p:cBhvr>
                                    </p:animEffect>
                                  </p:childTnLst>
                                </p:cTn>
                              </p:par>
                            </p:childTnLst>
                          </p:cTn>
                        </p:par>
                        <p:par>
                          <p:cTn id="49" fill="hold">
                            <p:stCondLst>
                              <p:cond delay="500"/>
                            </p:stCondLst>
                            <p:childTnLst>
                              <p:par>
                                <p:cTn id="50" presetID="2" presetClass="entr" presetSubtype="2" fill="hold" nodeType="afterEffect">
                                  <p:stCondLst>
                                    <p:cond delay="0"/>
                                  </p:stCondLst>
                                  <p:childTnLst>
                                    <p:set>
                                      <p:cBhvr>
                                        <p:cTn id="51" dur="1" fill="hold">
                                          <p:stCondLst>
                                            <p:cond delay="0"/>
                                          </p:stCondLst>
                                        </p:cTn>
                                        <p:tgtEl>
                                          <p:spTgt spid="10"/>
                                        </p:tgtEl>
                                        <p:attrNameLst>
                                          <p:attrName>style.visibility</p:attrName>
                                        </p:attrNameLst>
                                      </p:cBhvr>
                                      <p:to>
                                        <p:strVal val="visible"/>
                                      </p:to>
                                    </p:set>
                                    <p:anim calcmode="lin" valueType="num">
                                      <p:cBhvr additive="base">
                                        <p:cTn id="52" dur="500" fill="hold"/>
                                        <p:tgtEl>
                                          <p:spTgt spid="10"/>
                                        </p:tgtEl>
                                        <p:attrNameLst>
                                          <p:attrName>ppt_x</p:attrName>
                                        </p:attrNameLst>
                                      </p:cBhvr>
                                      <p:tavLst>
                                        <p:tav tm="0">
                                          <p:val>
                                            <p:strVal val="1+#ppt_w/2"/>
                                          </p:val>
                                        </p:tav>
                                        <p:tav tm="100000">
                                          <p:val>
                                            <p:strVal val="#ppt_x"/>
                                          </p:val>
                                        </p:tav>
                                      </p:tavLst>
                                    </p:anim>
                                    <p:anim calcmode="lin" valueType="num">
                                      <p:cBhvr additive="base">
                                        <p:cTn id="53"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P spid="2" grpId="0"/>
      <p:bldP spid="3" grpId="0"/>
      <p:bldP spid="4"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2063750" y="836613"/>
            <a:ext cx="7618413" cy="487362"/>
          </a:xfrm>
        </p:spPr>
        <p:txBody>
          <a:bodyPr/>
          <a:lstStyle/>
          <a:p>
            <a:r>
              <a:rPr lang="zh-CN" altLang="en-US">
                <a:solidFill>
                  <a:srgbClr val="FF0000"/>
                </a:solidFill>
              </a:rPr>
              <a:t>网络空间安全风险术语</a:t>
            </a:r>
            <a:r>
              <a:rPr lang="en-US" altLang="zh-CN">
                <a:solidFill>
                  <a:srgbClr val="FF0000"/>
                </a:solidFill>
              </a:rPr>
              <a:t>-</a:t>
            </a:r>
            <a:r>
              <a:rPr lang="zh-CN" altLang="en-US">
                <a:solidFill>
                  <a:srgbClr val="FF0000"/>
                </a:solidFill>
              </a:rPr>
              <a:t>控制措施</a:t>
            </a:r>
            <a:endParaRPr lang="zh-CN" altLang="en-US">
              <a:solidFill>
                <a:srgbClr val="FF0000"/>
              </a:solidFill>
            </a:endParaRPr>
          </a:p>
        </p:txBody>
      </p:sp>
      <p:sp>
        <p:nvSpPr>
          <p:cNvPr id="31747" name="内容占位符 2"/>
          <p:cNvSpPr>
            <a:spLocks noGrp="1"/>
          </p:cNvSpPr>
          <p:nvPr>
            <p:ph idx="1"/>
          </p:nvPr>
        </p:nvSpPr>
        <p:spPr>
          <a:xfrm>
            <a:off x="2089150" y="2794000"/>
            <a:ext cx="5616575" cy="2338388"/>
          </a:xfrm>
        </p:spPr>
        <p:txBody>
          <a:bodyPr/>
          <a:lstStyle/>
          <a:p>
            <a:pPr lvl="1"/>
            <a:r>
              <a:rPr lang="zh-CN" altLang="en-US" sz="2400"/>
              <a:t>部署防火墙、入侵检测、审计系统</a:t>
            </a:r>
            <a:endParaRPr lang="en-US" altLang="zh-CN" sz="2400"/>
          </a:p>
          <a:p>
            <a:pPr lvl="1"/>
            <a:r>
              <a:rPr lang="zh-CN" altLang="en-US" sz="2400"/>
              <a:t>测试环节</a:t>
            </a:r>
            <a:endParaRPr lang="en-US" altLang="zh-CN" sz="2400"/>
          </a:p>
          <a:p>
            <a:pPr lvl="1"/>
            <a:r>
              <a:rPr lang="zh-CN" altLang="en-US" sz="2400"/>
              <a:t>操作审批环节</a:t>
            </a:r>
            <a:endParaRPr lang="en-US" altLang="zh-CN" sz="2400"/>
          </a:p>
          <a:p>
            <a:pPr lvl="1"/>
            <a:r>
              <a:rPr lang="zh-CN" altLang="en-US" sz="2400"/>
              <a:t>应急体系</a:t>
            </a:r>
            <a:endParaRPr lang="en-US" altLang="zh-CN" sz="2400"/>
          </a:p>
          <a:p>
            <a:pPr lvl="1"/>
            <a:r>
              <a:rPr lang="zh-CN" altLang="en-US" sz="2400"/>
              <a:t>终端</a:t>
            </a:r>
            <a:r>
              <a:rPr lang="en-US" altLang="zh-CN" sz="2400"/>
              <a:t>U</a:t>
            </a:r>
            <a:r>
              <a:rPr lang="zh-CN" altLang="en-US" sz="2400"/>
              <a:t>盘管理制度</a:t>
            </a:r>
            <a:endParaRPr lang="zh-CN" altLang="en-US" sz="2400"/>
          </a:p>
        </p:txBody>
      </p:sp>
      <p:sp>
        <p:nvSpPr>
          <p:cNvPr id="2" name="矩形 1"/>
          <p:cNvSpPr/>
          <p:nvPr/>
        </p:nvSpPr>
        <p:spPr>
          <a:xfrm>
            <a:off x="1905000" y="1557338"/>
            <a:ext cx="8216900" cy="46037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400" dirty="0">
                <a:solidFill>
                  <a:srgbClr val="0033CC"/>
                </a:solidFill>
                <a:latin typeface="+mn-lt"/>
                <a:ea typeface="+mn-ea"/>
              </a:rPr>
              <a:t>根据安全需求部署，用来防范威胁，降低风险的措施。</a:t>
            </a:r>
            <a:endParaRPr lang="en-US" altLang="zh-CN" sz="2400" dirty="0">
              <a:solidFill>
                <a:srgbClr val="0033CC"/>
              </a:solidFill>
              <a:latin typeface="+mn-lt"/>
              <a:ea typeface="+mn-ea"/>
            </a:endParaRPr>
          </a:p>
        </p:txBody>
      </p:sp>
      <p:sp>
        <p:nvSpPr>
          <p:cNvPr id="3" name="矩形 2"/>
          <p:cNvSpPr/>
          <p:nvPr/>
        </p:nvSpPr>
        <p:spPr>
          <a:xfrm>
            <a:off x="1890713" y="2144713"/>
            <a:ext cx="1236980" cy="521970"/>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800" dirty="0">
                <a:latin typeface="+mn-lt"/>
                <a:ea typeface="+mn-ea"/>
              </a:rPr>
              <a:t>举例</a:t>
            </a:r>
            <a:endParaRPr lang="en-US" altLang="zh-CN" sz="2800" dirty="0">
              <a:latin typeface="+mn-lt"/>
              <a:ea typeface="+mn-ea"/>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600825" y="3741738"/>
            <a:ext cx="3619500" cy="219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1747">
                                            <p:txEl>
                                              <p:pRg st="0" end="0"/>
                                            </p:txEl>
                                          </p:spTgt>
                                        </p:tgtEl>
                                        <p:attrNameLst>
                                          <p:attrName>style.visibility</p:attrName>
                                        </p:attrNameLst>
                                      </p:cBhvr>
                                      <p:to>
                                        <p:strVal val="visible"/>
                                      </p:to>
                                    </p:set>
                                    <p:anim calcmode="lin" valueType="num">
                                      <p:cBhvr>
                                        <p:cTn id="18" dur="500" fill="hold"/>
                                        <p:tgtEl>
                                          <p:spTgt spid="31747">
                                            <p:txEl>
                                              <p:pRg st="0" end="0"/>
                                            </p:txEl>
                                          </p:spTgt>
                                        </p:tgtEl>
                                        <p:attrNameLst>
                                          <p:attrName>ppt_w</p:attrName>
                                        </p:attrNameLst>
                                      </p:cBhvr>
                                      <p:tavLst>
                                        <p:tav tm="0">
                                          <p:val>
                                            <p:fltVal val="0"/>
                                          </p:val>
                                        </p:tav>
                                        <p:tav tm="100000">
                                          <p:val>
                                            <p:strVal val="#ppt_w"/>
                                          </p:val>
                                        </p:tav>
                                      </p:tavLst>
                                    </p:anim>
                                    <p:anim calcmode="lin" valueType="num">
                                      <p:cBhvr>
                                        <p:cTn id="19" dur="500" fill="hold"/>
                                        <p:tgtEl>
                                          <p:spTgt spid="31747">
                                            <p:txEl>
                                              <p:pRg st="0" end="0"/>
                                            </p:txEl>
                                          </p:spTgt>
                                        </p:tgtEl>
                                        <p:attrNameLst>
                                          <p:attrName>ppt_h</p:attrName>
                                        </p:attrNameLst>
                                      </p:cBhvr>
                                      <p:tavLst>
                                        <p:tav tm="0">
                                          <p:val>
                                            <p:fltVal val="0"/>
                                          </p:val>
                                        </p:tav>
                                        <p:tav tm="100000">
                                          <p:val>
                                            <p:strVal val="#ppt_h"/>
                                          </p:val>
                                        </p:tav>
                                      </p:tavLst>
                                    </p:anim>
                                    <p:animEffect transition="in" filter="fade">
                                      <p:cBhvr>
                                        <p:cTn id="20" dur="500"/>
                                        <p:tgtEl>
                                          <p:spTgt spid="31747">
                                            <p:txEl>
                                              <p:pRg st="0" end="0"/>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1747">
                                            <p:txEl>
                                              <p:pRg st="1" end="1"/>
                                            </p:txEl>
                                          </p:spTgt>
                                        </p:tgtEl>
                                        <p:attrNameLst>
                                          <p:attrName>style.visibility</p:attrName>
                                        </p:attrNameLst>
                                      </p:cBhvr>
                                      <p:to>
                                        <p:strVal val="visible"/>
                                      </p:to>
                                    </p:set>
                                    <p:anim calcmode="lin" valueType="num">
                                      <p:cBhvr>
                                        <p:cTn id="23" dur="500" fill="hold"/>
                                        <p:tgtEl>
                                          <p:spTgt spid="31747">
                                            <p:txEl>
                                              <p:pRg st="1" end="1"/>
                                            </p:txEl>
                                          </p:spTgt>
                                        </p:tgtEl>
                                        <p:attrNameLst>
                                          <p:attrName>ppt_w</p:attrName>
                                        </p:attrNameLst>
                                      </p:cBhvr>
                                      <p:tavLst>
                                        <p:tav tm="0">
                                          <p:val>
                                            <p:fltVal val="0"/>
                                          </p:val>
                                        </p:tav>
                                        <p:tav tm="100000">
                                          <p:val>
                                            <p:strVal val="#ppt_w"/>
                                          </p:val>
                                        </p:tav>
                                      </p:tavLst>
                                    </p:anim>
                                    <p:anim calcmode="lin" valueType="num">
                                      <p:cBhvr>
                                        <p:cTn id="24" dur="500" fill="hold"/>
                                        <p:tgtEl>
                                          <p:spTgt spid="31747">
                                            <p:txEl>
                                              <p:pRg st="1" end="1"/>
                                            </p:txEl>
                                          </p:spTgt>
                                        </p:tgtEl>
                                        <p:attrNameLst>
                                          <p:attrName>ppt_h</p:attrName>
                                        </p:attrNameLst>
                                      </p:cBhvr>
                                      <p:tavLst>
                                        <p:tav tm="0">
                                          <p:val>
                                            <p:fltVal val="0"/>
                                          </p:val>
                                        </p:tav>
                                        <p:tav tm="100000">
                                          <p:val>
                                            <p:strVal val="#ppt_h"/>
                                          </p:val>
                                        </p:tav>
                                      </p:tavLst>
                                    </p:anim>
                                    <p:animEffect transition="in" filter="fade">
                                      <p:cBhvr>
                                        <p:cTn id="25" dur="500"/>
                                        <p:tgtEl>
                                          <p:spTgt spid="31747">
                                            <p:txEl>
                                              <p:pRg st="1" end="1"/>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1747">
                                            <p:txEl>
                                              <p:pRg st="2" end="2"/>
                                            </p:txEl>
                                          </p:spTgt>
                                        </p:tgtEl>
                                        <p:attrNameLst>
                                          <p:attrName>style.visibility</p:attrName>
                                        </p:attrNameLst>
                                      </p:cBhvr>
                                      <p:to>
                                        <p:strVal val="visible"/>
                                      </p:to>
                                    </p:set>
                                    <p:anim calcmode="lin" valueType="num">
                                      <p:cBhvr>
                                        <p:cTn id="28" dur="500" fill="hold"/>
                                        <p:tgtEl>
                                          <p:spTgt spid="31747">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31747">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31747">
                                            <p:txEl>
                                              <p:pRg st="2" end="2"/>
                                            </p:txEl>
                                          </p:spTgt>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31747">
                                            <p:txEl>
                                              <p:pRg st="3" end="3"/>
                                            </p:txEl>
                                          </p:spTgt>
                                        </p:tgtEl>
                                        <p:attrNameLst>
                                          <p:attrName>style.visibility</p:attrName>
                                        </p:attrNameLst>
                                      </p:cBhvr>
                                      <p:to>
                                        <p:strVal val="visible"/>
                                      </p:to>
                                    </p:set>
                                    <p:anim calcmode="lin" valueType="num">
                                      <p:cBhvr>
                                        <p:cTn id="33" dur="500" fill="hold"/>
                                        <p:tgtEl>
                                          <p:spTgt spid="3174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31747">
                                            <p:txEl>
                                              <p:pRg st="3" end="3"/>
                                            </p:txEl>
                                          </p:spTgt>
                                        </p:tgtEl>
                                        <p:attrNameLst>
                                          <p:attrName>ppt_h</p:attrName>
                                        </p:attrNameLst>
                                      </p:cBhvr>
                                      <p:tavLst>
                                        <p:tav tm="0">
                                          <p:val>
                                            <p:fltVal val="0"/>
                                          </p:val>
                                        </p:tav>
                                        <p:tav tm="100000">
                                          <p:val>
                                            <p:strVal val="#ppt_h"/>
                                          </p:val>
                                        </p:tav>
                                      </p:tavLst>
                                    </p:anim>
                                    <p:animEffect transition="in" filter="fade">
                                      <p:cBhvr>
                                        <p:cTn id="35" dur="500"/>
                                        <p:tgtEl>
                                          <p:spTgt spid="31747">
                                            <p:txEl>
                                              <p:pRg st="3" end="3"/>
                                            </p:txEl>
                                          </p:spTgt>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31747">
                                            <p:txEl>
                                              <p:pRg st="4" end="4"/>
                                            </p:txEl>
                                          </p:spTgt>
                                        </p:tgtEl>
                                        <p:attrNameLst>
                                          <p:attrName>style.visibility</p:attrName>
                                        </p:attrNameLst>
                                      </p:cBhvr>
                                      <p:to>
                                        <p:strVal val="visible"/>
                                      </p:to>
                                    </p:set>
                                    <p:anim calcmode="lin" valueType="num">
                                      <p:cBhvr>
                                        <p:cTn id="38" dur="500" fill="hold"/>
                                        <p:tgtEl>
                                          <p:spTgt spid="31747">
                                            <p:txEl>
                                              <p:pRg st="4" end="4"/>
                                            </p:txEl>
                                          </p:spTgt>
                                        </p:tgtEl>
                                        <p:attrNameLst>
                                          <p:attrName>ppt_w</p:attrName>
                                        </p:attrNameLst>
                                      </p:cBhvr>
                                      <p:tavLst>
                                        <p:tav tm="0">
                                          <p:val>
                                            <p:fltVal val="0"/>
                                          </p:val>
                                        </p:tav>
                                        <p:tav tm="100000">
                                          <p:val>
                                            <p:strVal val="#ppt_w"/>
                                          </p:val>
                                        </p:tav>
                                      </p:tavLst>
                                    </p:anim>
                                    <p:anim calcmode="lin" valueType="num">
                                      <p:cBhvr>
                                        <p:cTn id="39" dur="500" fill="hold"/>
                                        <p:tgtEl>
                                          <p:spTgt spid="31747">
                                            <p:txEl>
                                              <p:pRg st="4" end="4"/>
                                            </p:txEl>
                                          </p:spTgt>
                                        </p:tgtEl>
                                        <p:attrNameLst>
                                          <p:attrName>ppt_h</p:attrName>
                                        </p:attrNameLst>
                                      </p:cBhvr>
                                      <p:tavLst>
                                        <p:tav tm="0">
                                          <p:val>
                                            <p:fltVal val="0"/>
                                          </p:val>
                                        </p:tav>
                                        <p:tav tm="100000">
                                          <p:val>
                                            <p:strVal val="#ppt_h"/>
                                          </p:val>
                                        </p:tav>
                                      </p:tavLst>
                                    </p:anim>
                                    <p:animEffect transition="in" filter="fade">
                                      <p:cBhvr>
                                        <p:cTn id="40" dur="500"/>
                                        <p:tgtEl>
                                          <p:spTgt spid="31747">
                                            <p:txEl>
                                              <p:pRg st="4" end="4"/>
                                            </p:txEl>
                                          </p:spTgt>
                                        </p:tgtEl>
                                      </p:cBhvr>
                                    </p:animEffect>
                                  </p:childTnLst>
                                </p:cTn>
                              </p:par>
                            </p:childTnLst>
                          </p:cTn>
                        </p:par>
                        <p:par>
                          <p:cTn id="41" fill="hold">
                            <p:stCondLst>
                              <p:cond delay="500"/>
                            </p:stCondLst>
                            <p:childTnLst>
                              <p:par>
                                <p:cTn id="42" presetID="53" presetClass="entr" presetSubtype="16"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 calcmode="lin" valueType="num">
                                      <p:cBhvr>
                                        <p:cTn id="44" dur="500" fill="hold"/>
                                        <p:tgtEl>
                                          <p:spTgt spid="4"/>
                                        </p:tgtEl>
                                        <p:attrNameLst>
                                          <p:attrName>ppt_w</p:attrName>
                                        </p:attrNameLst>
                                      </p:cBhvr>
                                      <p:tavLst>
                                        <p:tav tm="0">
                                          <p:val>
                                            <p:fltVal val="0"/>
                                          </p:val>
                                        </p:tav>
                                        <p:tav tm="100000">
                                          <p:val>
                                            <p:strVal val="#ppt_w"/>
                                          </p:val>
                                        </p:tav>
                                      </p:tavLst>
                                    </p:anim>
                                    <p:anim calcmode="lin" valueType="num">
                                      <p:cBhvr>
                                        <p:cTn id="45" dur="500" fill="hold"/>
                                        <p:tgtEl>
                                          <p:spTgt spid="4"/>
                                        </p:tgtEl>
                                        <p:attrNameLst>
                                          <p:attrName>ppt_h</p:attrName>
                                        </p:attrNameLst>
                                      </p:cBhvr>
                                      <p:tavLst>
                                        <p:tav tm="0">
                                          <p:val>
                                            <p:fltVal val="0"/>
                                          </p:val>
                                        </p:tav>
                                        <p:tav tm="100000">
                                          <p:val>
                                            <p:strVal val="#ppt_h"/>
                                          </p:val>
                                        </p:tav>
                                      </p:tavLst>
                                    </p:anim>
                                    <p:animEffect transition="in" filter="fade">
                                      <p:cBhvr>
                                        <p:cTn id="4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P spid="2"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2135188" y="836613"/>
            <a:ext cx="6513512" cy="487362"/>
          </a:xfrm>
        </p:spPr>
        <p:txBody>
          <a:bodyPr/>
          <a:lstStyle/>
          <a:p>
            <a:r>
              <a:rPr lang="zh-CN" altLang="en-US">
                <a:solidFill>
                  <a:srgbClr val="FF0000"/>
                </a:solidFill>
              </a:rPr>
              <a:t>网络空间安全风险术语</a:t>
            </a:r>
            <a:r>
              <a:rPr lang="en-US" altLang="zh-CN">
                <a:solidFill>
                  <a:srgbClr val="FF0000"/>
                </a:solidFill>
              </a:rPr>
              <a:t>-</a:t>
            </a:r>
            <a:r>
              <a:rPr lang="zh-CN" altLang="en-US">
                <a:solidFill>
                  <a:srgbClr val="FF0000"/>
                </a:solidFill>
              </a:rPr>
              <a:t>可能性</a:t>
            </a:r>
            <a:endParaRPr lang="zh-CN" altLang="en-US">
              <a:solidFill>
                <a:srgbClr val="FF0000"/>
              </a:solidFill>
            </a:endParaRPr>
          </a:p>
        </p:txBody>
      </p:sp>
      <p:sp>
        <p:nvSpPr>
          <p:cNvPr id="32771" name="内容占位符 2"/>
          <p:cNvSpPr>
            <a:spLocks noGrp="1"/>
          </p:cNvSpPr>
          <p:nvPr>
            <p:ph idx="1"/>
          </p:nvPr>
        </p:nvSpPr>
        <p:spPr>
          <a:xfrm>
            <a:off x="2135188" y="2606675"/>
            <a:ext cx="8191500" cy="2108200"/>
          </a:xfrm>
        </p:spPr>
        <p:txBody>
          <a:bodyPr/>
          <a:lstStyle/>
          <a:p>
            <a:pPr lvl="1"/>
            <a:r>
              <a:rPr lang="zh-CN" altLang="en-US" sz="2000"/>
              <a:t>脆弱性只有国家级测试人员采用专业工具才能利用，发生不良后果的可能性</a:t>
            </a:r>
            <a:r>
              <a:rPr lang="zh-CN" altLang="en-US" sz="2000" u="sng">
                <a:solidFill>
                  <a:srgbClr val="FF0000"/>
                </a:solidFill>
              </a:rPr>
              <a:t>很小</a:t>
            </a:r>
            <a:endParaRPr lang="en-US" altLang="zh-CN" sz="2000" u="sng">
              <a:solidFill>
                <a:srgbClr val="FF0000"/>
              </a:solidFill>
            </a:endParaRPr>
          </a:p>
          <a:p>
            <a:pPr lvl="1"/>
            <a:r>
              <a:rPr lang="zh-CN" altLang="en-US" sz="2000"/>
              <a:t>系统存在漏洞，但只在与互联网物理隔离的局域网运行，发生的可能性</a:t>
            </a:r>
            <a:r>
              <a:rPr lang="zh-CN" altLang="en-US" sz="2000" u="sng">
                <a:solidFill>
                  <a:srgbClr val="FF0000"/>
                </a:solidFill>
              </a:rPr>
              <a:t>较小</a:t>
            </a:r>
            <a:r>
              <a:rPr lang="zh-CN" altLang="en-US" sz="2000"/>
              <a:t>。</a:t>
            </a:r>
            <a:endParaRPr lang="en-US" altLang="zh-CN" sz="2000"/>
          </a:p>
          <a:p>
            <a:pPr lvl="1"/>
            <a:r>
              <a:rPr lang="zh-CN" altLang="en-US" sz="2000"/>
              <a:t>互联网公开漏洞且有相应的测试工具，发生不良后果的可能性</a:t>
            </a:r>
            <a:r>
              <a:rPr lang="zh-CN" altLang="en-US" sz="2000" u="sng">
                <a:solidFill>
                  <a:srgbClr val="FF0000"/>
                </a:solidFill>
              </a:rPr>
              <a:t>很大</a:t>
            </a:r>
            <a:r>
              <a:rPr lang="zh-CN" altLang="en-US" sz="2000"/>
              <a:t>。</a:t>
            </a:r>
            <a:endParaRPr lang="zh-CN" altLang="en-US"/>
          </a:p>
        </p:txBody>
      </p:sp>
      <p:sp>
        <p:nvSpPr>
          <p:cNvPr id="2" name="矩形 1"/>
          <p:cNvSpPr/>
          <p:nvPr/>
        </p:nvSpPr>
        <p:spPr>
          <a:xfrm>
            <a:off x="2495550" y="1508125"/>
            <a:ext cx="6621780" cy="460375"/>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400" dirty="0">
                <a:solidFill>
                  <a:srgbClr val="0033CC"/>
                </a:solidFill>
                <a:latin typeface="+mn-lt"/>
                <a:ea typeface="+mn-ea"/>
              </a:rPr>
              <a:t>指威胁源利用脆弱性造成不良后果的可能性。</a:t>
            </a:r>
            <a:endParaRPr lang="en-US" altLang="zh-CN" sz="2400" dirty="0">
              <a:solidFill>
                <a:srgbClr val="0033CC"/>
              </a:solidFill>
              <a:latin typeface="+mn-lt"/>
              <a:ea typeface="+mn-ea"/>
            </a:endParaRPr>
          </a:p>
        </p:txBody>
      </p:sp>
      <p:sp>
        <p:nvSpPr>
          <p:cNvPr id="3" name="矩形 2"/>
          <p:cNvSpPr/>
          <p:nvPr/>
        </p:nvSpPr>
        <p:spPr>
          <a:xfrm>
            <a:off x="2500313" y="2057400"/>
            <a:ext cx="1135380" cy="460375"/>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400" dirty="0">
                <a:solidFill>
                  <a:srgbClr val="0033CC"/>
                </a:solidFill>
                <a:latin typeface="+mn-lt"/>
                <a:ea typeface="+mn-ea"/>
              </a:rPr>
              <a:t>举例</a:t>
            </a:r>
            <a:endParaRPr lang="en-US" altLang="zh-CN" sz="2400" dirty="0">
              <a:solidFill>
                <a:srgbClr val="0033CC"/>
              </a:solidFill>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32771">
                                            <p:txEl>
                                              <p:pRg st="0" end="0"/>
                                            </p:txEl>
                                          </p:spTgt>
                                        </p:tgtEl>
                                        <p:attrNameLst>
                                          <p:attrName>style.visibility</p:attrName>
                                        </p:attrNameLst>
                                      </p:cBhvr>
                                      <p:to>
                                        <p:strVal val="visible"/>
                                      </p:to>
                                    </p:set>
                                    <p:anim calcmode="lin" valueType="num">
                                      <p:cBhvr>
                                        <p:cTn id="18" dur="500" fill="hold"/>
                                        <p:tgtEl>
                                          <p:spTgt spid="32771">
                                            <p:txEl>
                                              <p:pRg st="0" end="0"/>
                                            </p:txEl>
                                          </p:spTgt>
                                        </p:tgtEl>
                                        <p:attrNameLst>
                                          <p:attrName>ppt_w</p:attrName>
                                        </p:attrNameLst>
                                      </p:cBhvr>
                                      <p:tavLst>
                                        <p:tav tm="0">
                                          <p:val>
                                            <p:fltVal val="0"/>
                                          </p:val>
                                        </p:tav>
                                        <p:tav tm="100000">
                                          <p:val>
                                            <p:strVal val="#ppt_w"/>
                                          </p:val>
                                        </p:tav>
                                      </p:tavLst>
                                    </p:anim>
                                    <p:anim calcmode="lin" valueType="num">
                                      <p:cBhvr>
                                        <p:cTn id="19" dur="500" fill="hold"/>
                                        <p:tgtEl>
                                          <p:spTgt spid="32771">
                                            <p:txEl>
                                              <p:pRg st="0" end="0"/>
                                            </p:txEl>
                                          </p:spTgt>
                                        </p:tgtEl>
                                        <p:attrNameLst>
                                          <p:attrName>ppt_h</p:attrName>
                                        </p:attrNameLst>
                                      </p:cBhvr>
                                      <p:tavLst>
                                        <p:tav tm="0">
                                          <p:val>
                                            <p:fltVal val="0"/>
                                          </p:val>
                                        </p:tav>
                                        <p:tav tm="100000">
                                          <p:val>
                                            <p:strVal val="#ppt_h"/>
                                          </p:val>
                                        </p:tav>
                                      </p:tavLst>
                                    </p:anim>
                                    <p:animEffect transition="in" filter="fade">
                                      <p:cBhvr>
                                        <p:cTn id="20" dur="500"/>
                                        <p:tgtEl>
                                          <p:spTgt spid="32771">
                                            <p:txEl>
                                              <p:pRg st="0" end="0"/>
                                            </p:txEl>
                                          </p:spTgt>
                                        </p:tgtEl>
                                      </p:cBhvr>
                                    </p:animEffect>
                                  </p:childTnLst>
                                </p:cTn>
                              </p:par>
                            </p:childTnLst>
                          </p:cTn>
                        </p:par>
                        <p:par>
                          <p:cTn id="21" fill="hold">
                            <p:stCondLst>
                              <p:cond delay="1000"/>
                            </p:stCondLst>
                            <p:childTnLst>
                              <p:par>
                                <p:cTn id="22" presetID="53" presetClass="entr" presetSubtype="16" fill="hold" grpId="0" nodeType="afterEffect">
                                  <p:stCondLst>
                                    <p:cond delay="0"/>
                                  </p:stCondLst>
                                  <p:childTnLst>
                                    <p:set>
                                      <p:cBhvr>
                                        <p:cTn id="23" dur="1" fill="hold">
                                          <p:stCondLst>
                                            <p:cond delay="0"/>
                                          </p:stCondLst>
                                        </p:cTn>
                                        <p:tgtEl>
                                          <p:spTgt spid="32771">
                                            <p:txEl>
                                              <p:pRg st="1" end="1"/>
                                            </p:txEl>
                                          </p:spTgt>
                                        </p:tgtEl>
                                        <p:attrNameLst>
                                          <p:attrName>style.visibility</p:attrName>
                                        </p:attrNameLst>
                                      </p:cBhvr>
                                      <p:to>
                                        <p:strVal val="visible"/>
                                      </p:to>
                                    </p:set>
                                    <p:anim calcmode="lin" valueType="num">
                                      <p:cBhvr>
                                        <p:cTn id="24" dur="500" fill="hold"/>
                                        <p:tgtEl>
                                          <p:spTgt spid="32771">
                                            <p:txEl>
                                              <p:pRg st="1" end="1"/>
                                            </p:txEl>
                                          </p:spTgt>
                                        </p:tgtEl>
                                        <p:attrNameLst>
                                          <p:attrName>ppt_w</p:attrName>
                                        </p:attrNameLst>
                                      </p:cBhvr>
                                      <p:tavLst>
                                        <p:tav tm="0">
                                          <p:val>
                                            <p:fltVal val="0"/>
                                          </p:val>
                                        </p:tav>
                                        <p:tav tm="100000">
                                          <p:val>
                                            <p:strVal val="#ppt_w"/>
                                          </p:val>
                                        </p:tav>
                                      </p:tavLst>
                                    </p:anim>
                                    <p:anim calcmode="lin" valueType="num">
                                      <p:cBhvr>
                                        <p:cTn id="25" dur="500" fill="hold"/>
                                        <p:tgtEl>
                                          <p:spTgt spid="32771">
                                            <p:txEl>
                                              <p:pRg st="1" end="1"/>
                                            </p:txEl>
                                          </p:spTgt>
                                        </p:tgtEl>
                                        <p:attrNameLst>
                                          <p:attrName>ppt_h</p:attrName>
                                        </p:attrNameLst>
                                      </p:cBhvr>
                                      <p:tavLst>
                                        <p:tav tm="0">
                                          <p:val>
                                            <p:fltVal val="0"/>
                                          </p:val>
                                        </p:tav>
                                        <p:tav tm="100000">
                                          <p:val>
                                            <p:strVal val="#ppt_h"/>
                                          </p:val>
                                        </p:tav>
                                      </p:tavLst>
                                    </p:anim>
                                    <p:animEffect transition="in" filter="fade">
                                      <p:cBhvr>
                                        <p:cTn id="26" dur="500"/>
                                        <p:tgtEl>
                                          <p:spTgt spid="32771">
                                            <p:txEl>
                                              <p:pRg st="1" end="1"/>
                                            </p:txEl>
                                          </p:spTgt>
                                        </p:tgtEl>
                                      </p:cBhvr>
                                    </p:animEffect>
                                  </p:childTnLst>
                                </p:cTn>
                              </p:par>
                            </p:childTnLst>
                          </p:cTn>
                        </p:par>
                        <p:par>
                          <p:cTn id="27" fill="hold">
                            <p:stCondLst>
                              <p:cond delay="1500"/>
                            </p:stCondLst>
                            <p:childTnLst>
                              <p:par>
                                <p:cTn id="28" presetID="53" presetClass="entr" presetSubtype="16" fill="hold" grpId="0" nodeType="afterEffect">
                                  <p:stCondLst>
                                    <p:cond delay="0"/>
                                  </p:stCondLst>
                                  <p:childTnLst>
                                    <p:set>
                                      <p:cBhvr>
                                        <p:cTn id="29" dur="1" fill="hold">
                                          <p:stCondLst>
                                            <p:cond delay="0"/>
                                          </p:stCondLst>
                                        </p:cTn>
                                        <p:tgtEl>
                                          <p:spTgt spid="32771">
                                            <p:txEl>
                                              <p:pRg st="2" end="2"/>
                                            </p:txEl>
                                          </p:spTgt>
                                        </p:tgtEl>
                                        <p:attrNameLst>
                                          <p:attrName>style.visibility</p:attrName>
                                        </p:attrNameLst>
                                      </p:cBhvr>
                                      <p:to>
                                        <p:strVal val="visible"/>
                                      </p:to>
                                    </p:set>
                                    <p:anim calcmode="lin" valueType="num">
                                      <p:cBhvr>
                                        <p:cTn id="30" dur="500" fill="hold"/>
                                        <p:tgtEl>
                                          <p:spTgt spid="32771">
                                            <p:txEl>
                                              <p:pRg st="2" end="2"/>
                                            </p:txEl>
                                          </p:spTgt>
                                        </p:tgtEl>
                                        <p:attrNameLst>
                                          <p:attrName>ppt_w</p:attrName>
                                        </p:attrNameLst>
                                      </p:cBhvr>
                                      <p:tavLst>
                                        <p:tav tm="0">
                                          <p:val>
                                            <p:fltVal val="0"/>
                                          </p:val>
                                        </p:tav>
                                        <p:tav tm="100000">
                                          <p:val>
                                            <p:strVal val="#ppt_w"/>
                                          </p:val>
                                        </p:tav>
                                      </p:tavLst>
                                    </p:anim>
                                    <p:anim calcmode="lin" valueType="num">
                                      <p:cBhvr>
                                        <p:cTn id="31" dur="500" fill="hold"/>
                                        <p:tgtEl>
                                          <p:spTgt spid="32771">
                                            <p:txEl>
                                              <p:pRg st="2" end="2"/>
                                            </p:txEl>
                                          </p:spTgt>
                                        </p:tgtEl>
                                        <p:attrNameLst>
                                          <p:attrName>ppt_h</p:attrName>
                                        </p:attrNameLst>
                                      </p:cBhvr>
                                      <p:tavLst>
                                        <p:tav tm="0">
                                          <p:val>
                                            <p:fltVal val="0"/>
                                          </p:val>
                                        </p:tav>
                                        <p:tav tm="100000">
                                          <p:val>
                                            <p:strVal val="#ppt_h"/>
                                          </p:val>
                                        </p:tav>
                                      </p:tavLst>
                                    </p:anim>
                                    <p:animEffect transition="in" filter="fade">
                                      <p:cBhvr>
                                        <p:cTn id="32" dur="500"/>
                                        <p:tgtEl>
                                          <p:spTgt spid="327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P spid="2"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1992313" y="769938"/>
            <a:ext cx="6513512" cy="487362"/>
          </a:xfrm>
        </p:spPr>
        <p:txBody>
          <a:bodyPr/>
          <a:lstStyle/>
          <a:p>
            <a:r>
              <a:rPr lang="zh-CN" altLang="en-US">
                <a:solidFill>
                  <a:srgbClr val="FF0000"/>
                </a:solidFill>
              </a:rPr>
              <a:t>网络空间安全风险术语</a:t>
            </a:r>
            <a:r>
              <a:rPr lang="en-US" altLang="zh-CN">
                <a:solidFill>
                  <a:srgbClr val="FF0000"/>
                </a:solidFill>
              </a:rPr>
              <a:t>-</a:t>
            </a:r>
            <a:r>
              <a:rPr lang="zh-CN" altLang="en-US">
                <a:solidFill>
                  <a:srgbClr val="FF0000"/>
                </a:solidFill>
              </a:rPr>
              <a:t>影响</a:t>
            </a:r>
            <a:endParaRPr lang="zh-CN" altLang="en-US">
              <a:solidFill>
                <a:srgbClr val="FF0000"/>
              </a:solidFill>
            </a:endParaRPr>
          </a:p>
        </p:txBody>
      </p:sp>
      <p:sp>
        <p:nvSpPr>
          <p:cNvPr id="33795" name="内容占位符 2"/>
          <p:cNvSpPr>
            <a:spLocks noGrp="1"/>
          </p:cNvSpPr>
          <p:nvPr>
            <p:ph idx="1"/>
          </p:nvPr>
        </p:nvSpPr>
        <p:spPr>
          <a:xfrm>
            <a:off x="1811338" y="2752725"/>
            <a:ext cx="8191500" cy="2547938"/>
          </a:xfrm>
        </p:spPr>
        <p:txBody>
          <a:bodyPr/>
          <a:lstStyle/>
          <a:p>
            <a:pPr lvl="1"/>
            <a:r>
              <a:rPr lang="zh-CN" altLang="en-US" sz="2400"/>
              <a:t>网站被黑客控制，国家级网站比省市网站的名誉损失大很多。</a:t>
            </a:r>
            <a:endParaRPr lang="en-US" altLang="zh-CN" sz="2400"/>
          </a:p>
          <a:p>
            <a:pPr lvl="1"/>
            <a:r>
              <a:rPr lang="zh-CN" altLang="en-US" sz="2400"/>
              <a:t>银行门户网站和内部核心系统受到攻击，其核心系统的损失更大。</a:t>
            </a:r>
            <a:endParaRPr lang="en-US" altLang="zh-CN" sz="2400"/>
          </a:p>
          <a:p>
            <a:pPr lvl="1"/>
            <a:r>
              <a:rPr lang="zh-CN" altLang="en-US" sz="2400"/>
              <a:t>同样型号路由器被攻破，用于互联网骨干路由要比企业内部系统的路由器损失更大。</a:t>
            </a:r>
            <a:endParaRPr lang="zh-CN" altLang="en-US"/>
          </a:p>
        </p:txBody>
      </p:sp>
      <p:sp>
        <p:nvSpPr>
          <p:cNvPr id="2" name="矩形 1"/>
          <p:cNvSpPr/>
          <p:nvPr/>
        </p:nvSpPr>
        <p:spPr>
          <a:xfrm>
            <a:off x="2279650" y="1465263"/>
            <a:ext cx="7704138" cy="521970"/>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800" dirty="0">
                <a:solidFill>
                  <a:srgbClr val="0033CC"/>
                </a:solidFill>
                <a:latin typeface="+mn-lt"/>
                <a:ea typeface="+mn-ea"/>
              </a:rPr>
              <a:t>指威胁源利用脆弱性造成不良后果的程度大小</a:t>
            </a:r>
            <a:endParaRPr lang="en-US" altLang="zh-CN" sz="2800" dirty="0">
              <a:solidFill>
                <a:srgbClr val="0033CC"/>
              </a:solidFill>
              <a:latin typeface="+mn-lt"/>
              <a:ea typeface="+mn-ea"/>
            </a:endParaRPr>
          </a:p>
        </p:txBody>
      </p:sp>
      <p:sp>
        <p:nvSpPr>
          <p:cNvPr id="3" name="矩形 2"/>
          <p:cNvSpPr/>
          <p:nvPr/>
        </p:nvSpPr>
        <p:spPr>
          <a:xfrm>
            <a:off x="2249488" y="2035175"/>
            <a:ext cx="1236980" cy="521970"/>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800" dirty="0">
                <a:solidFill>
                  <a:srgbClr val="0033CC"/>
                </a:solidFill>
                <a:latin typeface="+mn-lt"/>
                <a:ea typeface="+mn-ea"/>
              </a:rPr>
              <a:t>举例</a:t>
            </a:r>
            <a:endParaRPr lang="en-US" altLang="zh-CN" sz="2800" dirty="0">
              <a:solidFill>
                <a:srgbClr val="0033CC"/>
              </a:solidFill>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3795">
                                            <p:txEl>
                                              <p:pRg st="0" end="0"/>
                                            </p:txEl>
                                          </p:spTgt>
                                        </p:tgtEl>
                                        <p:attrNameLst>
                                          <p:attrName>style.visibility</p:attrName>
                                        </p:attrNameLst>
                                      </p:cBhvr>
                                      <p:to>
                                        <p:strVal val="visible"/>
                                      </p:to>
                                    </p:set>
                                    <p:anim calcmode="lin" valueType="num">
                                      <p:cBhvr>
                                        <p:cTn id="18" dur="500" fill="hold"/>
                                        <p:tgtEl>
                                          <p:spTgt spid="33795">
                                            <p:txEl>
                                              <p:pRg st="0" end="0"/>
                                            </p:txEl>
                                          </p:spTgt>
                                        </p:tgtEl>
                                        <p:attrNameLst>
                                          <p:attrName>ppt_w</p:attrName>
                                        </p:attrNameLst>
                                      </p:cBhvr>
                                      <p:tavLst>
                                        <p:tav tm="0">
                                          <p:val>
                                            <p:fltVal val="0"/>
                                          </p:val>
                                        </p:tav>
                                        <p:tav tm="100000">
                                          <p:val>
                                            <p:strVal val="#ppt_w"/>
                                          </p:val>
                                        </p:tav>
                                      </p:tavLst>
                                    </p:anim>
                                    <p:anim calcmode="lin" valueType="num">
                                      <p:cBhvr>
                                        <p:cTn id="19" dur="500" fill="hold"/>
                                        <p:tgtEl>
                                          <p:spTgt spid="33795">
                                            <p:txEl>
                                              <p:pRg st="0" end="0"/>
                                            </p:txEl>
                                          </p:spTgt>
                                        </p:tgtEl>
                                        <p:attrNameLst>
                                          <p:attrName>ppt_h</p:attrName>
                                        </p:attrNameLst>
                                      </p:cBhvr>
                                      <p:tavLst>
                                        <p:tav tm="0">
                                          <p:val>
                                            <p:fltVal val="0"/>
                                          </p:val>
                                        </p:tav>
                                        <p:tav tm="100000">
                                          <p:val>
                                            <p:strVal val="#ppt_h"/>
                                          </p:val>
                                        </p:tav>
                                      </p:tavLst>
                                    </p:anim>
                                    <p:animEffect transition="in" filter="fade">
                                      <p:cBhvr>
                                        <p:cTn id="20" dur="500"/>
                                        <p:tgtEl>
                                          <p:spTgt spid="33795">
                                            <p:txEl>
                                              <p:pRg st="0" end="0"/>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3795">
                                            <p:txEl>
                                              <p:pRg st="1" end="1"/>
                                            </p:txEl>
                                          </p:spTgt>
                                        </p:tgtEl>
                                        <p:attrNameLst>
                                          <p:attrName>style.visibility</p:attrName>
                                        </p:attrNameLst>
                                      </p:cBhvr>
                                      <p:to>
                                        <p:strVal val="visible"/>
                                      </p:to>
                                    </p:set>
                                    <p:anim calcmode="lin" valueType="num">
                                      <p:cBhvr>
                                        <p:cTn id="23" dur="500" fill="hold"/>
                                        <p:tgtEl>
                                          <p:spTgt spid="33795">
                                            <p:txEl>
                                              <p:pRg st="1" end="1"/>
                                            </p:txEl>
                                          </p:spTgt>
                                        </p:tgtEl>
                                        <p:attrNameLst>
                                          <p:attrName>ppt_w</p:attrName>
                                        </p:attrNameLst>
                                      </p:cBhvr>
                                      <p:tavLst>
                                        <p:tav tm="0">
                                          <p:val>
                                            <p:fltVal val="0"/>
                                          </p:val>
                                        </p:tav>
                                        <p:tav tm="100000">
                                          <p:val>
                                            <p:strVal val="#ppt_w"/>
                                          </p:val>
                                        </p:tav>
                                      </p:tavLst>
                                    </p:anim>
                                    <p:anim calcmode="lin" valueType="num">
                                      <p:cBhvr>
                                        <p:cTn id="24" dur="500" fill="hold"/>
                                        <p:tgtEl>
                                          <p:spTgt spid="33795">
                                            <p:txEl>
                                              <p:pRg st="1" end="1"/>
                                            </p:txEl>
                                          </p:spTgt>
                                        </p:tgtEl>
                                        <p:attrNameLst>
                                          <p:attrName>ppt_h</p:attrName>
                                        </p:attrNameLst>
                                      </p:cBhvr>
                                      <p:tavLst>
                                        <p:tav tm="0">
                                          <p:val>
                                            <p:fltVal val="0"/>
                                          </p:val>
                                        </p:tav>
                                        <p:tav tm="100000">
                                          <p:val>
                                            <p:strVal val="#ppt_h"/>
                                          </p:val>
                                        </p:tav>
                                      </p:tavLst>
                                    </p:anim>
                                    <p:animEffect transition="in" filter="fade">
                                      <p:cBhvr>
                                        <p:cTn id="25" dur="500"/>
                                        <p:tgtEl>
                                          <p:spTgt spid="33795">
                                            <p:txEl>
                                              <p:pRg st="1" end="1"/>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3795">
                                            <p:txEl>
                                              <p:pRg st="2" end="2"/>
                                            </p:txEl>
                                          </p:spTgt>
                                        </p:tgtEl>
                                        <p:attrNameLst>
                                          <p:attrName>style.visibility</p:attrName>
                                        </p:attrNameLst>
                                      </p:cBhvr>
                                      <p:to>
                                        <p:strVal val="visible"/>
                                      </p:to>
                                    </p:set>
                                    <p:anim calcmode="lin" valueType="num">
                                      <p:cBhvr>
                                        <p:cTn id="28" dur="500" fill="hold"/>
                                        <p:tgtEl>
                                          <p:spTgt spid="33795">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33795">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337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1976438" y="723900"/>
            <a:ext cx="6511925" cy="487363"/>
          </a:xfrm>
        </p:spPr>
        <p:txBody>
          <a:bodyPr/>
          <a:lstStyle/>
          <a:p>
            <a:r>
              <a:rPr lang="zh-CN" altLang="en-US">
                <a:solidFill>
                  <a:srgbClr val="FF0000"/>
                </a:solidFill>
              </a:rPr>
              <a:t>网络空间安全风险术语</a:t>
            </a:r>
            <a:r>
              <a:rPr lang="en-US" altLang="zh-CN">
                <a:solidFill>
                  <a:srgbClr val="FF0000"/>
                </a:solidFill>
              </a:rPr>
              <a:t>-</a:t>
            </a:r>
            <a:r>
              <a:rPr lang="zh-CN" altLang="en-US">
                <a:solidFill>
                  <a:srgbClr val="FF0000"/>
                </a:solidFill>
              </a:rPr>
              <a:t>风险</a:t>
            </a:r>
            <a:endParaRPr lang="zh-CN" altLang="en-US">
              <a:solidFill>
                <a:srgbClr val="FF0000"/>
              </a:solidFill>
            </a:endParaRPr>
          </a:p>
        </p:txBody>
      </p:sp>
      <p:sp>
        <p:nvSpPr>
          <p:cNvPr id="3" name="内容占位符 2"/>
          <p:cNvSpPr>
            <a:spLocks noGrp="1"/>
          </p:cNvSpPr>
          <p:nvPr>
            <p:ph idx="1"/>
          </p:nvPr>
        </p:nvSpPr>
        <p:spPr>
          <a:xfrm>
            <a:off x="1954213" y="1498600"/>
            <a:ext cx="8359775" cy="460375"/>
          </a:xfrm>
        </p:spPr>
        <p:txBody>
          <a:bodyPr/>
          <a:lstStyle/>
          <a:p>
            <a:pPr>
              <a:defRPr/>
            </a:pPr>
            <a:r>
              <a:rPr lang="zh-CN" altLang="en-US" sz="2400" dirty="0">
                <a:solidFill>
                  <a:srgbClr val="0033CC"/>
                </a:solidFill>
              </a:rPr>
              <a:t>指威胁源采用恰当的威胁方式利用脆弱性造成不良后果。</a:t>
            </a:r>
            <a:endParaRPr lang="en-US" altLang="zh-CN" dirty="0"/>
          </a:p>
          <a:p>
            <a:pPr>
              <a:defRPr/>
            </a:pPr>
            <a:endParaRPr lang="en-US" altLang="zh-CN" dirty="0"/>
          </a:p>
          <a:p>
            <a:pPr marL="0" indent="0">
              <a:buFont typeface="Wingdings" panose="05000000000000000000" pitchFamily="2" charset="2"/>
              <a:buNone/>
              <a:defRPr/>
            </a:pPr>
            <a:endParaRPr lang="en-US" altLang="zh-CN" dirty="0"/>
          </a:p>
          <a:p>
            <a:pPr lvl="1">
              <a:buFont typeface="Wingdings" panose="05000000000000000000" pitchFamily="2" charset="2"/>
              <a:buNone/>
              <a:defRPr/>
            </a:pPr>
            <a:r>
              <a:rPr lang="zh-CN" altLang="en-US" dirty="0"/>
              <a:t>     </a:t>
            </a:r>
            <a:endParaRPr lang="en-US" altLang="zh-CN" dirty="0"/>
          </a:p>
          <a:p>
            <a:pPr lvl="1">
              <a:buFont typeface="Wingdings" panose="05000000000000000000" pitchFamily="2" charset="2"/>
              <a:buNone/>
              <a:defRPr/>
            </a:pPr>
            <a:r>
              <a:rPr lang="en-US" altLang="zh-CN" sz="2400" dirty="0"/>
              <a:t>      </a:t>
            </a:r>
            <a:endParaRPr lang="zh-CN" altLang="en-US" sz="2400" u="sng" dirty="0">
              <a:solidFill>
                <a:srgbClr val="FF0000"/>
              </a:solidFill>
            </a:endParaRPr>
          </a:p>
        </p:txBody>
      </p:sp>
      <p:sp>
        <p:nvSpPr>
          <p:cNvPr id="6" name="立方体 5"/>
          <p:cNvSpPr/>
          <p:nvPr/>
        </p:nvSpPr>
        <p:spPr>
          <a:xfrm>
            <a:off x="3382963" y="2611438"/>
            <a:ext cx="1216025" cy="766762"/>
          </a:xfrm>
          <a:prstGeom prst="cube">
            <a:avLst/>
          </a:prstGeom>
          <a:solidFill>
            <a:schemeClr val="tx2">
              <a:lumMod val="20000"/>
              <a:lumOff val="80000"/>
            </a:schemeClr>
          </a:solidFill>
          <a:ln>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rgbClr val="FF0000"/>
                </a:solidFill>
              </a:rPr>
              <a:t>威胁源</a:t>
            </a:r>
            <a:endParaRPr lang="zh-CN" altLang="en-US" dirty="0">
              <a:solidFill>
                <a:srgbClr val="FF0000"/>
              </a:solidFill>
            </a:endParaRPr>
          </a:p>
        </p:txBody>
      </p:sp>
      <p:sp>
        <p:nvSpPr>
          <p:cNvPr id="7" name="立方体 6"/>
          <p:cNvSpPr/>
          <p:nvPr/>
        </p:nvSpPr>
        <p:spPr>
          <a:xfrm>
            <a:off x="4916488" y="3086100"/>
            <a:ext cx="1204912" cy="766763"/>
          </a:xfrm>
          <a:prstGeom prst="cube">
            <a:avLst/>
          </a:prstGeom>
          <a:solidFill>
            <a:schemeClr val="tx2">
              <a:lumMod val="20000"/>
              <a:lumOff val="80000"/>
            </a:schemeClr>
          </a:solidFill>
          <a:ln>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rgbClr val="FF0000"/>
                </a:solidFill>
              </a:rPr>
              <a:t>威胁方式</a:t>
            </a:r>
            <a:endParaRPr lang="zh-CN" altLang="en-US" dirty="0">
              <a:solidFill>
                <a:srgbClr val="FF0000"/>
              </a:solidFill>
            </a:endParaRPr>
          </a:p>
        </p:txBody>
      </p:sp>
      <p:sp>
        <p:nvSpPr>
          <p:cNvPr id="8" name="立方体 7"/>
          <p:cNvSpPr/>
          <p:nvPr/>
        </p:nvSpPr>
        <p:spPr>
          <a:xfrm>
            <a:off x="6486525" y="3414713"/>
            <a:ext cx="1216025" cy="766762"/>
          </a:xfrm>
          <a:prstGeom prst="cube">
            <a:avLst/>
          </a:prstGeom>
          <a:solidFill>
            <a:schemeClr val="tx2">
              <a:lumMod val="20000"/>
              <a:lumOff val="80000"/>
            </a:schemeClr>
          </a:solidFill>
          <a:ln>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rgbClr val="FF0000"/>
                </a:solidFill>
              </a:rPr>
              <a:t>脆弱性</a:t>
            </a:r>
            <a:endParaRPr lang="zh-CN" altLang="en-US" dirty="0">
              <a:solidFill>
                <a:srgbClr val="FF0000"/>
              </a:solidFill>
            </a:endParaRPr>
          </a:p>
        </p:txBody>
      </p:sp>
      <p:sp>
        <p:nvSpPr>
          <p:cNvPr id="9" name="立方体 8"/>
          <p:cNvSpPr/>
          <p:nvPr/>
        </p:nvSpPr>
        <p:spPr>
          <a:xfrm>
            <a:off x="8093075" y="3741738"/>
            <a:ext cx="1216025" cy="766762"/>
          </a:xfrm>
          <a:prstGeom prst="cube">
            <a:avLst/>
          </a:prstGeom>
          <a:solidFill>
            <a:schemeClr val="tx2">
              <a:lumMod val="20000"/>
              <a:lumOff val="80000"/>
            </a:schemeClr>
          </a:solidFill>
          <a:ln>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rgbClr val="FF0000"/>
                </a:solidFill>
              </a:rPr>
              <a:t>风险</a:t>
            </a:r>
            <a:endParaRPr lang="zh-CN" altLang="en-US" dirty="0">
              <a:solidFill>
                <a:srgbClr val="FF0000"/>
              </a:solidFill>
            </a:endParaRPr>
          </a:p>
        </p:txBody>
      </p:sp>
      <p:grpSp>
        <p:nvGrpSpPr>
          <p:cNvPr id="10" name="组合 9"/>
          <p:cNvGrpSpPr/>
          <p:nvPr/>
        </p:nvGrpSpPr>
        <p:grpSpPr bwMode="auto">
          <a:xfrm>
            <a:off x="4598988" y="2501900"/>
            <a:ext cx="923607" cy="584200"/>
            <a:chOff x="3074988" y="2501949"/>
            <a:chExt cx="923607" cy="584200"/>
          </a:xfrm>
        </p:grpSpPr>
        <p:cxnSp>
          <p:nvCxnSpPr>
            <p:cNvPr id="11" name="直接连接符 10"/>
            <p:cNvCxnSpPr/>
            <p:nvPr/>
          </p:nvCxnSpPr>
          <p:spPr>
            <a:xfrm>
              <a:off x="3074988" y="2830562"/>
              <a:ext cx="828675" cy="4762"/>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3902075" y="2830562"/>
              <a:ext cx="1588" cy="255587"/>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34837" name="TextBox 22"/>
            <p:cNvSpPr txBox="1">
              <a:spLocks noChangeArrowheads="1"/>
            </p:cNvSpPr>
            <p:nvPr/>
          </p:nvSpPr>
          <p:spPr bwMode="auto">
            <a:xfrm>
              <a:off x="3355975" y="2501949"/>
              <a:ext cx="64262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采取</a:t>
              </a:r>
              <a:endParaRPr lang="zh-CN" altLang="en-US" sz="1800" b="1">
                <a:latin typeface="Arial" panose="020B0604020202020204" pitchFamily="34" charset="0"/>
                <a:ea typeface="宋体" panose="02010600030101010101" pitchFamily="2" charset="-122"/>
              </a:endParaRPr>
            </a:p>
          </p:txBody>
        </p:sp>
      </p:grpSp>
      <p:grpSp>
        <p:nvGrpSpPr>
          <p:cNvPr id="12" name="组合 11"/>
          <p:cNvGrpSpPr/>
          <p:nvPr/>
        </p:nvGrpSpPr>
        <p:grpSpPr bwMode="auto">
          <a:xfrm>
            <a:off x="6121400" y="2830513"/>
            <a:ext cx="1018856" cy="547688"/>
            <a:chOff x="4597400" y="2830562"/>
            <a:chExt cx="1018855" cy="547688"/>
          </a:xfrm>
        </p:grpSpPr>
        <p:cxnSp>
          <p:nvCxnSpPr>
            <p:cNvPr id="17" name="直接连接符 16"/>
            <p:cNvCxnSpPr/>
            <p:nvPr/>
          </p:nvCxnSpPr>
          <p:spPr>
            <a:xfrm>
              <a:off x="4597400" y="3159174"/>
              <a:ext cx="985837" cy="158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rot="5400000">
              <a:off x="5472905" y="3267918"/>
              <a:ext cx="219075" cy="1588"/>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34834" name="TextBox 23"/>
            <p:cNvSpPr txBox="1">
              <a:spLocks noChangeArrowheads="1"/>
            </p:cNvSpPr>
            <p:nvPr/>
          </p:nvSpPr>
          <p:spPr bwMode="auto">
            <a:xfrm>
              <a:off x="4973636" y="2830562"/>
              <a:ext cx="642619"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利用</a:t>
              </a:r>
              <a:endParaRPr lang="zh-CN" altLang="en-US" sz="1800" b="1">
                <a:latin typeface="Arial" panose="020B0604020202020204" pitchFamily="34" charset="0"/>
                <a:ea typeface="宋体" panose="02010600030101010101" pitchFamily="2" charset="-122"/>
              </a:endParaRPr>
            </a:p>
          </p:txBody>
        </p:sp>
      </p:grpSp>
      <p:grpSp>
        <p:nvGrpSpPr>
          <p:cNvPr id="13" name="组合 12"/>
          <p:cNvGrpSpPr/>
          <p:nvPr/>
        </p:nvGrpSpPr>
        <p:grpSpPr bwMode="auto">
          <a:xfrm>
            <a:off x="7727950" y="3117850"/>
            <a:ext cx="1020222" cy="588964"/>
            <a:chOff x="6203950" y="3118374"/>
            <a:chExt cx="1019869" cy="588489"/>
          </a:xfrm>
        </p:grpSpPr>
        <p:cxnSp>
          <p:nvCxnSpPr>
            <p:cNvPr id="21" name="直接连接符 20"/>
            <p:cNvCxnSpPr/>
            <p:nvPr/>
          </p:nvCxnSpPr>
          <p:spPr>
            <a:xfrm>
              <a:off x="6203950" y="3487964"/>
              <a:ext cx="985497" cy="158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rot="5400000">
              <a:off x="7079204" y="3596620"/>
              <a:ext cx="218898" cy="1587"/>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34831" name="TextBox 24"/>
            <p:cNvSpPr txBox="1">
              <a:spLocks noChangeArrowheads="1"/>
            </p:cNvSpPr>
            <p:nvPr/>
          </p:nvSpPr>
          <p:spPr bwMode="auto">
            <a:xfrm>
              <a:off x="6581421" y="3118374"/>
              <a:ext cx="642398" cy="368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造成</a:t>
              </a:r>
              <a:endParaRPr lang="zh-CN" altLang="en-US" sz="1800" b="1">
                <a:latin typeface="Arial" panose="020B0604020202020204" pitchFamily="34" charset="0"/>
                <a:ea typeface="宋体" panose="02010600030101010101" pitchFamily="2" charset="-122"/>
              </a:endParaRPr>
            </a:p>
          </p:txBody>
        </p:sp>
      </p:grpSp>
      <p:sp>
        <p:nvSpPr>
          <p:cNvPr id="2" name="矩形 1"/>
          <p:cNvSpPr/>
          <p:nvPr/>
        </p:nvSpPr>
        <p:spPr>
          <a:xfrm>
            <a:off x="1870075" y="4833938"/>
            <a:ext cx="7942263" cy="1198880"/>
          </a:xfrm>
          <a:prstGeom prst="rect">
            <a:avLst/>
          </a:prstGeom>
        </p:spPr>
        <p:txBody>
          <a:bodyPr>
            <a:spAutoFit/>
          </a:bodyPr>
          <a:lstStyle/>
          <a:p>
            <a:pPr lvl="1" eaLnBrk="1" hangingPunct="1">
              <a:buFont typeface="Wingdings" panose="05000000000000000000" pitchFamily="2" charset="2"/>
              <a:buNone/>
              <a:defRPr/>
            </a:pPr>
            <a:r>
              <a:rPr lang="zh-CN" altLang="en-US" sz="2400" b="1" dirty="0">
                <a:latin typeface="+mn-ea"/>
                <a:ea typeface="+mn-ea"/>
              </a:rPr>
              <a:t>如：网站存在</a:t>
            </a:r>
            <a:r>
              <a:rPr lang="en-US" altLang="zh-CN" sz="2400" b="1" u="sng" dirty="0">
                <a:solidFill>
                  <a:srgbClr val="FF0000"/>
                </a:solidFill>
                <a:latin typeface="+mn-ea"/>
                <a:ea typeface="+mn-ea"/>
              </a:rPr>
              <a:t>SQL</a:t>
            </a:r>
            <a:r>
              <a:rPr lang="zh-CN" altLang="en-US" sz="2400" b="1" u="sng" dirty="0">
                <a:solidFill>
                  <a:srgbClr val="FF0000"/>
                </a:solidFill>
                <a:latin typeface="+mn-ea"/>
                <a:ea typeface="+mn-ea"/>
              </a:rPr>
              <a:t>注入漏洞</a:t>
            </a:r>
            <a:r>
              <a:rPr lang="zh-CN" altLang="en-US" sz="2400" b="1" dirty="0">
                <a:latin typeface="+mn-ea"/>
                <a:ea typeface="+mn-ea"/>
              </a:rPr>
              <a:t>，</a:t>
            </a:r>
            <a:r>
              <a:rPr lang="zh-CN" altLang="en-US" sz="2400" b="1" u="sng" dirty="0">
                <a:solidFill>
                  <a:schemeClr val="tx1">
                    <a:lumMod val="65000"/>
                    <a:lumOff val="35000"/>
                  </a:schemeClr>
                </a:solidFill>
                <a:latin typeface="+mn-ea"/>
                <a:ea typeface="+mn-ea"/>
              </a:rPr>
              <a:t>普通攻击者</a:t>
            </a:r>
            <a:r>
              <a:rPr lang="zh-CN" altLang="en-US" sz="2400" b="1" dirty="0">
                <a:latin typeface="+mn-ea"/>
                <a:ea typeface="+mn-ea"/>
              </a:rPr>
              <a:t>利用自动化攻击工具很容易</a:t>
            </a:r>
            <a:r>
              <a:rPr lang="zh-CN" altLang="en-US" sz="2400" b="1" u="sng" dirty="0">
                <a:solidFill>
                  <a:srgbClr val="FF0000"/>
                </a:solidFill>
                <a:latin typeface="+mn-ea"/>
                <a:ea typeface="+mn-ea"/>
              </a:rPr>
              <a:t>控制网站，修改网站内容，从而损害国家政府部门声誉</a:t>
            </a:r>
            <a:endParaRPr lang="zh-CN" altLang="en-US" sz="2400" b="1" u="sng" dirty="0">
              <a:solidFill>
                <a:srgbClr val="FF0000"/>
              </a:solidFill>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additive="base">
                                        <p:cTn id="12"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8" fill="hold" nodeType="after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0-#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childTnLst>
                          </p:cTn>
                        </p:par>
                        <p:par>
                          <p:cTn id="30" fill="hold">
                            <p:stCondLst>
                              <p:cond delay="1000"/>
                            </p:stCondLst>
                            <p:childTnLst>
                              <p:par>
                                <p:cTn id="31" presetID="2" presetClass="entr" presetSubtype="8"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0-#ppt_w/2"/>
                                          </p:val>
                                        </p:tav>
                                        <p:tav tm="100000">
                                          <p:val>
                                            <p:strVal val="#ppt_x"/>
                                          </p:val>
                                        </p:tav>
                                      </p:tavLst>
                                    </p:anim>
                                    <p:anim calcmode="lin" valueType="num">
                                      <p:cBhvr additive="base">
                                        <p:cTn id="34" dur="500" fill="hold"/>
                                        <p:tgtEl>
                                          <p:spTgt spid="7"/>
                                        </p:tgtEl>
                                        <p:attrNameLst>
                                          <p:attrName>ppt_y</p:attrName>
                                        </p:attrNameLst>
                                      </p:cBhvr>
                                      <p:tavLst>
                                        <p:tav tm="0">
                                          <p:val>
                                            <p:strVal val="#ppt_y"/>
                                          </p:val>
                                        </p:tav>
                                        <p:tav tm="100000">
                                          <p:val>
                                            <p:strVal val="#ppt_y"/>
                                          </p:val>
                                        </p:tav>
                                      </p:tavLst>
                                    </p:anim>
                                  </p:childTnLst>
                                </p:cTn>
                              </p:par>
                            </p:childTnLst>
                          </p:cTn>
                        </p:par>
                        <p:par>
                          <p:cTn id="35" fill="hold">
                            <p:stCondLst>
                              <p:cond delay="1500"/>
                            </p:stCondLst>
                            <p:childTnLst>
                              <p:par>
                                <p:cTn id="36" presetID="2" presetClass="entr" presetSubtype="8" fill="hold" nodeType="after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0-#ppt_w/2"/>
                                          </p:val>
                                        </p:tav>
                                        <p:tav tm="100000">
                                          <p:val>
                                            <p:strVal val="#ppt_x"/>
                                          </p:val>
                                        </p:tav>
                                      </p:tavLst>
                                    </p:anim>
                                    <p:anim calcmode="lin" valueType="num">
                                      <p:cBhvr additive="base">
                                        <p:cTn id="39" dur="500" fill="hold"/>
                                        <p:tgtEl>
                                          <p:spTgt spid="12"/>
                                        </p:tgtEl>
                                        <p:attrNameLst>
                                          <p:attrName>ppt_y</p:attrName>
                                        </p:attrNameLst>
                                      </p:cBhvr>
                                      <p:tavLst>
                                        <p:tav tm="0">
                                          <p:val>
                                            <p:strVal val="#ppt_y"/>
                                          </p:val>
                                        </p:tav>
                                        <p:tav tm="100000">
                                          <p:val>
                                            <p:strVal val="#ppt_y"/>
                                          </p:val>
                                        </p:tav>
                                      </p:tavLst>
                                    </p:anim>
                                  </p:childTnLst>
                                </p:cTn>
                              </p:par>
                            </p:childTnLst>
                          </p:cTn>
                        </p:par>
                        <p:par>
                          <p:cTn id="40" fill="hold">
                            <p:stCondLst>
                              <p:cond delay="2000"/>
                            </p:stCondLst>
                            <p:childTnLst>
                              <p:par>
                                <p:cTn id="41" presetID="2" presetClass="entr" presetSubtype="8"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0-#ppt_w/2"/>
                                          </p:val>
                                        </p:tav>
                                        <p:tav tm="100000">
                                          <p:val>
                                            <p:strVal val="#ppt_x"/>
                                          </p:val>
                                        </p:tav>
                                      </p:tavLst>
                                    </p:anim>
                                    <p:anim calcmode="lin" valueType="num">
                                      <p:cBhvr additive="base">
                                        <p:cTn id="44" dur="500" fill="hold"/>
                                        <p:tgtEl>
                                          <p:spTgt spid="8"/>
                                        </p:tgtEl>
                                        <p:attrNameLst>
                                          <p:attrName>ppt_y</p:attrName>
                                        </p:attrNameLst>
                                      </p:cBhvr>
                                      <p:tavLst>
                                        <p:tav tm="0">
                                          <p:val>
                                            <p:strVal val="#ppt_y"/>
                                          </p:val>
                                        </p:tav>
                                        <p:tav tm="100000">
                                          <p:val>
                                            <p:strVal val="#ppt_y"/>
                                          </p:val>
                                        </p:tav>
                                      </p:tavLst>
                                    </p:anim>
                                  </p:childTnLst>
                                </p:cTn>
                              </p:par>
                            </p:childTnLst>
                          </p:cTn>
                        </p:par>
                        <p:par>
                          <p:cTn id="45" fill="hold">
                            <p:stCondLst>
                              <p:cond delay="2500"/>
                            </p:stCondLst>
                            <p:childTnLst>
                              <p:par>
                                <p:cTn id="46" presetID="2" presetClass="entr" presetSubtype="8" fill="hold" nodeType="after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ppt_x</p:attrName>
                                        </p:attrNameLst>
                                      </p:cBhvr>
                                      <p:tavLst>
                                        <p:tav tm="0">
                                          <p:val>
                                            <p:strVal val="0-#ppt_w/2"/>
                                          </p:val>
                                        </p:tav>
                                        <p:tav tm="100000">
                                          <p:val>
                                            <p:strVal val="#ppt_x"/>
                                          </p:val>
                                        </p:tav>
                                      </p:tavLst>
                                    </p:anim>
                                    <p:anim calcmode="lin" valueType="num">
                                      <p:cBhvr additive="base">
                                        <p:cTn id="49" dur="500" fill="hold"/>
                                        <p:tgtEl>
                                          <p:spTgt spid="13"/>
                                        </p:tgtEl>
                                        <p:attrNameLst>
                                          <p:attrName>ppt_y</p:attrName>
                                        </p:attrNameLst>
                                      </p:cBhvr>
                                      <p:tavLst>
                                        <p:tav tm="0">
                                          <p:val>
                                            <p:strVal val="#ppt_y"/>
                                          </p:val>
                                        </p:tav>
                                        <p:tav tm="100000">
                                          <p:val>
                                            <p:strVal val="#ppt_y"/>
                                          </p:val>
                                        </p:tav>
                                      </p:tavLst>
                                    </p:anim>
                                  </p:childTnLst>
                                </p:cTn>
                              </p:par>
                            </p:childTnLst>
                          </p:cTn>
                        </p:par>
                        <p:par>
                          <p:cTn id="50" fill="hold">
                            <p:stCondLst>
                              <p:cond delay="3000"/>
                            </p:stCondLst>
                            <p:childTnLst>
                              <p:par>
                                <p:cTn id="51" presetID="2" presetClass="entr" presetSubtype="8" fill="hold" grpId="0" nodeType="after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0-#ppt_w/2"/>
                                          </p:val>
                                        </p:tav>
                                        <p:tav tm="100000">
                                          <p:val>
                                            <p:strVal val="#ppt_x"/>
                                          </p:val>
                                        </p:tav>
                                      </p:tavLst>
                                    </p:anim>
                                    <p:anim calcmode="lin" valueType="num">
                                      <p:cBhvr additive="base">
                                        <p:cTn id="5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p:cTn id="59" dur="500" fill="hold"/>
                                        <p:tgtEl>
                                          <p:spTgt spid="2"/>
                                        </p:tgtEl>
                                        <p:attrNameLst>
                                          <p:attrName>ppt_w</p:attrName>
                                        </p:attrNameLst>
                                      </p:cBhvr>
                                      <p:tavLst>
                                        <p:tav tm="0">
                                          <p:val>
                                            <p:fltVal val="0"/>
                                          </p:val>
                                        </p:tav>
                                        <p:tav tm="100000">
                                          <p:val>
                                            <p:strVal val="#ppt_w"/>
                                          </p:val>
                                        </p:tav>
                                      </p:tavLst>
                                    </p:anim>
                                    <p:anim calcmode="lin" valueType="num">
                                      <p:cBhvr>
                                        <p:cTn id="60" dur="500" fill="hold"/>
                                        <p:tgtEl>
                                          <p:spTgt spid="2"/>
                                        </p:tgtEl>
                                        <p:attrNameLst>
                                          <p:attrName>ppt_h</p:attrName>
                                        </p:attrNameLst>
                                      </p:cBhvr>
                                      <p:tavLst>
                                        <p:tav tm="0">
                                          <p:val>
                                            <p:fltVal val="0"/>
                                          </p:val>
                                        </p:tav>
                                        <p:tav tm="100000">
                                          <p:val>
                                            <p:strVal val="#ppt_h"/>
                                          </p:val>
                                        </p:tav>
                                      </p:tavLst>
                                    </p:anim>
                                    <p:animEffect transition="in" filter="fade">
                                      <p:cBhvr>
                                        <p:cTn id="6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ldLvl="0" animBg="1"/>
      <p:bldP spid="7" grpId="0" bldLvl="0" animBg="1"/>
      <p:bldP spid="8" grpId="0" bldLvl="0" animBg="1"/>
      <p:bldP spid="9" grpId="0" bldLvl="0" animBg="1"/>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2208213" y="755650"/>
            <a:ext cx="6513512" cy="487363"/>
          </a:xfrm>
        </p:spPr>
        <p:txBody>
          <a:bodyPr/>
          <a:lstStyle/>
          <a:p>
            <a:r>
              <a:rPr lang="zh-CN" altLang="en-US">
                <a:solidFill>
                  <a:srgbClr val="FF0000"/>
                </a:solidFill>
              </a:rPr>
              <a:t>网络空间安全风险术语</a:t>
            </a:r>
            <a:r>
              <a:rPr lang="en-US" altLang="zh-CN">
                <a:solidFill>
                  <a:srgbClr val="FF0000"/>
                </a:solidFill>
              </a:rPr>
              <a:t>-</a:t>
            </a:r>
            <a:r>
              <a:rPr lang="zh-CN" altLang="en-US">
                <a:solidFill>
                  <a:srgbClr val="FF0000"/>
                </a:solidFill>
              </a:rPr>
              <a:t>风险</a:t>
            </a:r>
            <a:endParaRPr lang="zh-CN" altLang="en-US">
              <a:solidFill>
                <a:srgbClr val="FF0000"/>
              </a:solidFill>
            </a:endParaRPr>
          </a:p>
        </p:txBody>
      </p:sp>
      <p:sp>
        <p:nvSpPr>
          <p:cNvPr id="2" name="矩形 1"/>
          <p:cNvSpPr/>
          <p:nvPr/>
        </p:nvSpPr>
        <p:spPr>
          <a:xfrm>
            <a:off x="2279650" y="5127625"/>
            <a:ext cx="8208963" cy="46037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400" dirty="0">
                <a:latin typeface="+mn-lt"/>
                <a:ea typeface="+mn-ea"/>
              </a:rPr>
              <a:t>网络空间安全风险只考虑那些对组织有负面影响的事件。</a:t>
            </a:r>
            <a:endParaRPr lang="zh-CN" altLang="en-US" sz="2400" dirty="0">
              <a:latin typeface="+mn-lt"/>
              <a:ea typeface="+mn-ea"/>
            </a:endParaRPr>
          </a:p>
        </p:txBody>
      </p:sp>
      <p:sp>
        <p:nvSpPr>
          <p:cNvPr id="4" name="矩形 3"/>
          <p:cNvSpPr/>
          <p:nvPr/>
        </p:nvSpPr>
        <p:spPr>
          <a:xfrm>
            <a:off x="2271713" y="4181475"/>
            <a:ext cx="7856537" cy="82994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400" dirty="0">
                <a:latin typeface="+mn-lt"/>
                <a:ea typeface="+mn-ea"/>
              </a:rPr>
              <a:t>网络空间安全风险是指信息资产的机密性、完整性和可用性遭到破坏的可能性。</a:t>
            </a:r>
            <a:endParaRPr lang="zh-CN" altLang="en-US" sz="2400" dirty="0">
              <a:latin typeface="+mn-lt"/>
              <a:ea typeface="+mn-ea"/>
            </a:endParaRPr>
          </a:p>
        </p:txBody>
      </p:sp>
      <p:sp>
        <p:nvSpPr>
          <p:cNvPr id="5" name="矩形 4"/>
          <p:cNvSpPr/>
          <p:nvPr/>
        </p:nvSpPr>
        <p:spPr>
          <a:xfrm>
            <a:off x="2279650" y="3213100"/>
            <a:ext cx="7920038" cy="82994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400" dirty="0">
                <a:latin typeface="+mn-lt"/>
                <a:ea typeface="+mn-ea"/>
              </a:rPr>
              <a:t>网络空间安全风险是指一种特定的威胁利用一种或一组脆弱性造成组织的资产损失或损害的可能性。</a:t>
            </a:r>
            <a:endParaRPr lang="zh-CN" altLang="en-US" sz="2400" dirty="0">
              <a:latin typeface="+mn-lt"/>
              <a:ea typeface="+mn-ea"/>
            </a:endParaRPr>
          </a:p>
        </p:txBody>
      </p:sp>
      <p:sp>
        <p:nvSpPr>
          <p:cNvPr id="6" name="矩形 5"/>
          <p:cNvSpPr/>
          <p:nvPr/>
        </p:nvSpPr>
        <p:spPr>
          <a:xfrm>
            <a:off x="2579688" y="2166938"/>
            <a:ext cx="7548562" cy="829945"/>
          </a:xfrm>
          <a:prstGeom prst="rect">
            <a:avLst/>
          </a:prstGeom>
        </p:spPr>
        <p:txBody>
          <a:bodyPr>
            <a:spAutoFit/>
          </a:bodyPr>
          <a:lstStyle/>
          <a:p>
            <a:pPr eaLnBrk="1" hangingPunct="1">
              <a:defRPr/>
            </a:pPr>
            <a:r>
              <a:rPr lang="zh-CN" altLang="zh-CN" sz="2400" b="1" dirty="0">
                <a:solidFill>
                  <a:srgbClr val="0033CC"/>
                </a:solidFill>
                <a:latin typeface="+mn-ea"/>
                <a:ea typeface="+mn-ea"/>
              </a:rPr>
              <a:t>人为或自然的威胁利用信息系统及其管理体系中存在的脆弱性导致安全事件的发生及其对组织造成的影响</a:t>
            </a:r>
            <a:r>
              <a:rPr lang="zh-CN" altLang="en-US" sz="2400" b="1" dirty="0">
                <a:solidFill>
                  <a:srgbClr val="0033CC"/>
                </a:solidFill>
                <a:latin typeface="+mn-ea"/>
                <a:ea typeface="+mn-ea"/>
              </a:rPr>
              <a:t>。</a:t>
            </a:r>
            <a:endParaRPr lang="zh-CN" altLang="en-US" sz="2400" b="1" dirty="0">
              <a:solidFill>
                <a:srgbClr val="0033CC"/>
              </a:solidFill>
              <a:latin typeface="+mn-ea"/>
              <a:ea typeface="+mn-ea"/>
            </a:endParaRPr>
          </a:p>
        </p:txBody>
      </p:sp>
      <p:sp>
        <p:nvSpPr>
          <p:cNvPr id="7" name="矩形 6"/>
          <p:cNvSpPr/>
          <p:nvPr/>
        </p:nvSpPr>
        <p:spPr>
          <a:xfrm>
            <a:off x="2409825" y="1625600"/>
            <a:ext cx="6207125" cy="46037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en-US" altLang="zh-CN" sz="2400" dirty="0">
                <a:latin typeface="+mn-lt"/>
                <a:ea typeface="+mn-ea"/>
              </a:rPr>
              <a:t>GB/T 20984</a:t>
            </a:r>
            <a:r>
              <a:rPr lang="zh-CN" altLang="en-US" sz="2400" dirty="0">
                <a:latin typeface="+mn-lt"/>
                <a:ea typeface="+mn-ea"/>
              </a:rPr>
              <a:t>的定义：网络空间安全风险</a:t>
            </a:r>
            <a:endParaRPr lang="zh-CN" altLang="en-US" sz="2400" dirty="0">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animEffect transition="in" filter="fade">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2208213" y="781050"/>
            <a:ext cx="6513512" cy="487363"/>
          </a:xfrm>
        </p:spPr>
        <p:txBody>
          <a:bodyPr/>
          <a:lstStyle/>
          <a:p>
            <a:r>
              <a:rPr lang="zh-CN" altLang="en-US">
                <a:solidFill>
                  <a:srgbClr val="FF0000"/>
                </a:solidFill>
              </a:rPr>
              <a:t>对风险的理解</a:t>
            </a:r>
            <a:endParaRPr lang="zh-CN" altLang="en-US">
              <a:solidFill>
                <a:srgbClr val="FF0000"/>
              </a:solidFill>
            </a:endParaRPr>
          </a:p>
        </p:txBody>
      </p:sp>
      <p:sp>
        <p:nvSpPr>
          <p:cNvPr id="36867" name="内容占位符 2"/>
          <p:cNvSpPr>
            <a:spLocks noGrp="1"/>
          </p:cNvSpPr>
          <p:nvPr>
            <p:ph idx="1"/>
          </p:nvPr>
        </p:nvSpPr>
        <p:spPr>
          <a:xfrm>
            <a:off x="2173288" y="1531938"/>
            <a:ext cx="2986087" cy="2760662"/>
          </a:xfrm>
        </p:spPr>
        <p:txBody>
          <a:bodyPr/>
          <a:lstStyle/>
          <a:p>
            <a:r>
              <a:rPr lang="zh-CN" altLang="en-US"/>
              <a:t>风险的五方面</a:t>
            </a:r>
            <a:endParaRPr lang="en-US" altLang="zh-CN"/>
          </a:p>
          <a:p>
            <a:pPr lvl="1"/>
            <a:r>
              <a:rPr lang="zh-CN" altLang="en-US" sz="2400"/>
              <a:t>威胁源</a:t>
            </a:r>
            <a:endParaRPr lang="en-US" altLang="zh-CN" sz="2400"/>
          </a:p>
          <a:p>
            <a:pPr lvl="1"/>
            <a:r>
              <a:rPr lang="zh-CN" altLang="en-US" sz="2400"/>
              <a:t>威胁行为</a:t>
            </a:r>
            <a:endParaRPr lang="en-US" altLang="zh-CN" sz="2400"/>
          </a:p>
          <a:p>
            <a:pPr lvl="1"/>
            <a:r>
              <a:rPr lang="zh-CN" altLang="en-US" sz="2400"/>
              <a:t>脆弱性</a:t>
            </a:r>
            <a:endParaRPr lang="en-US" altLang="zh-CN" sz="2400"/>
          </a:p>
          <a:p>
            <a:pPr lvl="1"/>
            <a:r>
              <a:rPr lang="zh-CN" altLang="en-US" sz="2400"/>
              <a:t>资产</a:t>
            </a:r>
            <a:endParaRPr lang="en-US" altLang="zh-CN" sz="2400"/>
          </a:p>
          <a:p>
            <a:pPr lvl="1"/>
            <a:r>
              <a:rPr lang="zh-CN" altLang="en-US" sz="2400"/>
              <a:t>影响</a:t>
            </a:r>
            <a:endParaRPr lang="en-US" altLang="zh-CN" sz="2400"/>
          </a:p>
        </p:txBody>
      </p:sp>
      <p:grpSp>
        <p:nvGrpSpPr>
          <p:cNvPr id="14" name="组合 13"/>
          <p:cNvGrpSpPr/>
          <p:nvPr/>
        </p:nvGrpSpPr>
        <p:grpSpPr bwMode="auto">
          <a:xfrm>
            <a:off x="4622800" y="3829050"/>
            <a:ext cx="3616325" cy="2339975"/>
            <a:chOff x="4788024" y="3973257"/>
            <a:chExt cx="3616501" cy="2339861"/>
          </a:xfrm>
        </p:grpSpPr>
        <p:pic>
          <p:nvPicPr>
            <p:cNvPr id="36873"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788024" y="3973257"/>
              <a:ext cx="3528392" cy="189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1"/>
            <p:cNvSpPr txBox="1"/>
            <p:nvPr/>
          </p:nvSpPr>
          <p:spPr bwMode="gray">
            <a:xfrm>
              <a:off x="5024574" y="5825780"/>
              <a:ext cx="3379951" cy="487338"/>
            </a:xfrm>
            <a:prstGeom prst="rect">
              <a:avLst/>
            </a:prstGeom>
            <a:noFill/>
            <a:ln w="9525">
              <a:noFill/>
              <a:miter lim="800000"/>
            </a:ln>
          </p:spPr>
          <p:txBody>
            <a:bodyPr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000" kern="0" dirty="0">
                  <a:solidFill>
                    <a:srgbClr val="0033CC"/>
                  </a:solidFill>
                </a:rPr>
                <a:t>案例</a:t>
              </a:r>
              <a:r>
                <a:rPr lang="en-US" altLang="zh-CN" sz="2000" kern="0" dirty="0">
                  <a:solidFill>
                    <a:srgbClr val="0033CC"/>
                  </a:solidFill>
                </a:rPr>
                <a:t>2</a:t>
              </a:r>
              <a:r>
                <a:rPr lang="zh-CN" altLang="en-US" sz="2000" kern="0" dirty="0">
                  <a:solidFill>
                    <a:srgbClr val="0033CC"/>
                  </a:solidFill>
                </a:rPr>
                <a:t>：在马路上被车撞到</a:t>
              </a:r>
              <a:endParaRPr lang="zh-CN" altLang="en-US" sz="2000" kern="0" dirty="0">
                <a:solidFill>
                  <a:srgbClr val="0033CC"/>
                </a:solidFill>
              </a:endParaRPr>
            </a:p>
          </p:txBody>
        </p:sp>
      </p:grpSp>
      <p:grpSp>
        <p:nvGrpSpPr>
          <p:cNvPr id="13" name="组合 12"/>
          <p:cNvGrpSpPr/>
          <p:nvPr/>
        </p:nvGrpSpPr>
        <p:grpSpPr bwMode="auto">
          <a:xfrm>
            <a:off x="6311900" y="1354138"/>
            <a:ext cx="3582988" cy="2363787"/>
            <a:chOff x="4788024" y="1353770"/>
            <a:chExt cx="3582798" cy="2363723"/>
          </a:xfrm>
        </p:grpSpPr>
        <p:pic>
          <p:nvPicPr>
            <p:cNvPr id="36871" name="图片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353770"/>
              <a:ext cx="3528392" cy="1982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标题 1"/>
            <p:cNvSpPr txBox="1"/>
            <p:nvPr/>
          </p:nvSpPr>
          <p:spPr bwMode="gray">
            <a:xfrm>
              <a:off x="5057885" y="3230144"/>
              <a:ext cx="3312937" cy="487349"/>
            </a:xfrm>
            <a:prstGeom prst="rect">
              <a:avLst/>
            </a:prstGeom>
            <a:noFill/>
            <a:ln w="9525">
              <a:noFill/>
              <a:miter lim="800000"/>
            </a:ln>
          </p:spPr>
          <p:txBody>
            <a:bodyPr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2000" kern="0" dirty="0">
                  <a:solidFill>
                    <a:srgbClr val="0033CC"/>
                  </a:solidFill>
                </a:rPr>
                <a:t>案例</a:t>
              </a:r>
              <a:r>
                <a:rPr lang="en-US" altLang="zh-CN" sz="2000" kern="0" dirty="0">
                  <a:solidFill>
                    <a:srgbClr val="0033CC"/>
                  </a:solidFill>
                </a:rPr>
                <a:t>1</a:t>
              </a:r>
              <a:r>
                <a:rPr lang="zh-CN" altLang="en-US" sz="2000" kern="0" dirty="0">
                  <a:solidFill>
                    <a:srgbClr val="0033CC"/>
                  </a:solidFill>
                </a:rPr>
                <a:t>：人被陨石砸中头</a:t>
              </a:r>
              <a:endParaRPr lang="zh-CN" altLang="en-US" sz="2000" kern="0" dirty="0">
                <a:solidFill>
                  <a:srgbClr val="0033CC"/>
                </a:solidFill>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additive="base">
                                        <p:cTn id="14" dur="500" fill="hold"/>
                                        <p:tgtEl>
                                          <p:spTgt spid="14"/>
                                        </p:tgtEl>
                                        <p:attrNameLst>
                                          <p:attrName>ppt_x</p:attrName>
                                        </p:attrNameLst>
                                      </p:cBhvr>
                                      <p:tavLst>
                                        <p:tav tm="0">
                                          <p:val>
                                            <p:strVal val="#ppt_x"/>
                                          </p:val>
                                        </p:tav>
                                        <p:tav tm="100000">
                                          <p:val>
                                            <p:strVal val="#ppt_x"/>
                                          </p:val>
                                        </p:tav>
                                      </p:tavLst>
                                    </p:anim>
                                    <p:anim calcmode="lin" valueType="num">
                                      <p:cBhvr additive="base">
                                        <p:cTn id="1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2032000" y="825500"/>
            <a:ext cx="7088188" cy="487363"/>
          </a:xfrm>
        </p:spPr>
        <p:txBody>
          <a:bodyPr/>
          <a:lstStyle/>
          <a:p>
            <a:r>
              <a:rPr lang="zh-CN" altLang="en-US">
                <a:solidFill>
                  <a:srgbClr val="FF0000"/>
                </a:solidFill>
              </a:rPr>
              <a:t>网络空间安全风险术语之间的关系</a:t>
            </a:r>
            <a:endParaRPr lang="zh-CN" altLang="en-US">
              <a:solidFill>
                <a:srgbClr val="FF0000"/>
              </a:solidFill>
            </a:endParaRPr>
          </a:p>
        </p:txBody>
      </p:sp>
      <p:sp>
        <p:nvSpPr>
          <p:cNvPr id="6" name="立方体 5"/>
          <p:cNvSpPr/>
          <p:nvPr/>
        </p:nvSpPr>
        <p:spPr>
          <a:xfrm>
            <a:off x="3321050" y="1708150"/>
            <a:ext cx="1216025" cy="766763"/>
          </a:xfrm>
          <a:prstGeom prst="cube">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威胁源</a:t>
            </a:r>
            <a:endParaRPr lang="zh-CN" altLang="en-US" dirty="0">
              <a:solidFill>
                <a:schemeClr val="tx1"/>
              </a:solidFill>
            </a:endParaRPr>
          </a:p>
        </p:txBody>
      </p:sp>
      <p:sp>
        <p:nvSpPr>
          <p:cNvPr id="7" name="立方体 6"/>
          <p:cNvSpPr/>
          <p:nvPr/>
        </p:nvSpPr>
        <p:spPr>
          <a:xfrm>
            <a:off x="4854575" y="2182813"/>
            <a:ext cx="1204913" cy="766762"/>
          </a:xfrm>
          <a:prstGeom prst="cube">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威胁</a:t>
            </a:r>
            <a:endParaRPr lang="en-US" altLang="zh-CN" dirty="0">
              <a:solidFill>
                <a:schemeClr val="tx1"/>
              </a:solidFill>
            </a:endParaRPr>
          </a:p>
          <a:p>
            <a:pPr algn="ctr" eaLnBrk="1" hangingPunct="1">
              <a:defRPr/>
            </a:pPr>
            <a:r>
              <a:rPr lang="zh-CN" altLang="en-US" dirty="0">
                <a:solidFill>
                  <a:schemeClr val="tx1"/>
                </a:solidFill>
              </a:rPr>
              <a:t>方式</a:t>
            </a:r>
            <a:endParaRPr lang="zh-CN" altLang="en-US" dirty="0">
              <a:solidFill>
                <a:schemeClr val="tx1"/>
              </a:solidFill>
            </a:endParaRPr>
          </a:p>
        </p:txBody>
      </p:sp>
      <p:sp>
        <p:nvSpPr>
          <p:cNvPr id="8" name="立方体 7"/>
          <p:cNvSpPr/>
          <p:nvPr/>
        </p:nvSpPr>
        <p:spPr>
          <a:xfrm>
            <a:off x="6424613" y="2511425"/>
            <a:ext cx="1216025" cy="766763"/>
          </a:xfrm>
          <a:prstGeom prst="cube">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脆弱性</a:t>
            </a:r>
            <a:endParaRPr lang="zh-CN" altLang="en-US" dirty="0">
              <a:solidFill>
                <a:schemeClr val="tx1"/>
              </a:solidFill>
            </a:endParaRPr>
          </a:p>
        </p:txBody>
      </p:sp>
      <p:sp>
        <p:nvSpPr>
          <p:cNvPr id="9" name="立方体 8"/>
          <p:cNvSpPr/>
          <p:nvPr/>
        </p:nvSpPr>
        <p:spPr>
          <a:xfrm>
            <a:off x="8031163" y="2803525"/>
            <a:ext cx="1216025" cy="766763"/>
          </a:xfrm>
          <a:prstGeom prst="cube">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风险</a:t>
            </a:r>
            <a:endParaRPr lang="zh-CN" altLang="en-US" dirty="0">
              <a:solidFill>
                <a:schemeClr val="tx1"/>
              </a:solidFill>
            </a:endParaRPr>
          </a:p>
        </p:txBody>
      </p:sp>
      <p:grpSp>
        <p:nvGrpSpPr>
          <p:cNvPr id="26" name="组合 25"/>
          <p:cNvGrpSpPr/>
          <p:nvPr/>
        </p:nvGrpSpPr>
        <p:grpSpPr bwMode="auto">
          <a:xfrm>
            <a:off x="4537075" y="1563688"/>
            <a:ext cx="857231" cy="619125"/>
            <a:chOff x="3013075" y="1563588"/>
            <a:chExt cx="857627" cy="619919"/>
          </a:xfrm>
        </p:grpSpPr>
        <p:cxnSp>
          <p:nvCxnSpPr>
            <p:cNvPr id="10" name="直接连接符 9"/>
            <p:cNvCxnSpPr/>
            <p:nvPr/>
          </p:nvCxnSpPr>
          <p:spPr>
            <a:xfrm>
              <a:off x="3013075" y="1916465"/>
              <a:ext cx="829057" cy="476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3840545" y="1916465"/>
              <a:ext cx="1588" cy="26704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950" name="TextBox 15"/>
            <p:cNvSpPr txBox="1">
              <a:spLocks noChangeArrowheads="1"/>
            </p:cNvSpPr>
            <p:nvPr/>
          </p:nvSpPr>
          <p:spPr bwMode="auto">
            <a:xfrm>
              <a:off x="3227785" y="1563588"/>
              <a:ext cx="642917" cy="368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采取</a:t>
              </a:r>
              <a:endParaRPr lang="zh-CN" altLang="en-US" sz="1800" b="1">
                <a:latin typeface="Arial" panose="020B0604020202020204" pitchFamily="34" charset="0"/>
                <a:ea typeface="宋体" panose="02010600030101010101" pitchFamily="2" charset="-122"/>
              </a:endParaRPr>
            </a:p>
          </p:txBody>
        </p:sp>
      </p:grpSp>
      <p:grpSp>
        <p:nvGrpSpPr>
          <p:cNvPr id="16" name="组合 15"/>
          <p:cNvGrpSpPr/>
          <p:nvPr/>
        </p:nvGrpSpPr>
        <p:grpSpPr bwMode="auto">
          <a:xfrm>
            <a:off x="6067425" y="1906588"/>
            <a:ext cx="985838" cy="646113"/>
            <a:chOff x="4543864" y="1907282"/>
            <a:chExt cx="985837" cy="645878"/>
          </a:xfrm>
        </p:grpSpPr>
        <p:cxnSp>
          <p:nvCxnSpPr>
            <p:cNvPr id="12" name="直接连接符 11"/>
            <p:cNvCxnSpPr/>
            <p:nvPr/>
          </p:nvCxnSpPr>
          <p:spPr>
            <a:xfrm>
              <a:off x="4543864" y="2334164"/>
              <a:ext cx="985837" cy="15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rot="5400000">
              <a:off x="5419409" y="2442868"/>
              <a:ext cx="218995" cy="15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947" name="TextBox 16"/>
            <p:cNvSpPr txBox="1">
              <a:spLocks noChangeArrowheads="1"/>
            </p:cNvSpPr>
            <p:nvPr/>
          </p:nvSpPr>
          <p:spPr bwMode="auto">
            <a:xfrm>
              <a:off x="4734719" y="1907282"/>
              <a:ext cx="642619" cy="368166"/>
            </a:xfrm>
            <a:prstGeom prst="rect">
              <a:avLst/>
            </a:prstGeom>
            <a:noFill/>
            <a:ln w="381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利用</a:t>
              </a:r>
              <a:endParaRPr lang="zh-CN" altLang="en-US" sz="1800" b="1">
                <a:latin typeface="Arial" panose="020B0604020202020204" pitchFamily="34" charset="0"/>
                <a:ea typeface="宋体" panose="02010600030101010101" pitchFamily="2" charset="-122"/>
              </a:endParaRPr>
            </a:p>
          </p:txBody>
        </p:sp>
      </p:grpSp>
      <p:grpSp>
        <p:nvGrpSpPr>
          <p:cNvPr id="17" name="组合 16"/>
          <p:cNvGrpSpPr/>
          <p:nvPr/>
        </p:nvGrpSpPr>
        <p:grpSpPr bwMode="auto">
          <a:xfrm>
            <a:off x="7666038" y="2152650"/>
            <a:ext cx="985837" cy="650875"/>
            <a:chOff x="6142038" y="2152729"/>
            <a:chExt cx="985837" cy="651491"/>
          </a:xfrm>
        </p:grpSpPr>
        <p:cxnSp>
          <p:nvCxnSpPr>
            <p:cNvPr id="14" name="直接连接符 13"/>
            <p:cNvCxnSpPr/>
            <p:nvPr/>
          </p:nvCxnSpPr>
          <p:spPr>
            <a:xfrm>
              <a:off x="6142038" y="2584938"/>
              <a:ext cx="985837" cy="159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rot="5400000">
              <a:off x="7017440" y="2693785"/>
              <a:ext cx="219282" cy="158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944" name="TextBox 17"/>
            <p:cNvSpPr txBox="1">
              <a:spLocks noChangeArrowheads="1"/>
            </p:cNvSpPr>
            <p:nvPr/>
          </p:nvSpPr>
          <p:spPr bwMode="auto">
            <a:xfrm>
              <a:off x="6434496" y="2152729"/>
              <a:ext cx="642620" cy="368649"/>
            </a:xfrm>
            <a:prstGeom prst="rect">
              <a:avLst/>
            </a:prstGeom>
            <a:noFill/>
            <a:ln w="381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造成</a:t>
              </a:r>
              <a:endParaRPr lang="zh-CN" altLang="en-US" sz="1800" b="1">
                <a:latin typeface="Arial" panose="020B0604020202020204" pitchFamily="34" charset="0"/>
                <a:ea typeface="宋体" panose="02010600030101010101" pitchFamily="2" charset="-122"/>
              </a:endParaRPr>
            </a:p>
          </p:txBody>
        </p:sp>
      </p:grpSp>
      <p:sp>
        <p:nvSpPr>
          <p:cNvPr id="19" name="立方体 18"/>
          <p:cNvSpPr/>
          <p:nvPr/>
        </p:nvSpPr>
        <p:spPr>
          <a:xfrm>
            <a:off x="6497638" y="3898900"/>
            <a:ext cx="1216025" cy="766763"/>
          </a:xfrm>
          <a:prstGeom prst="cube">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资产</a:t>
            </a:r>
            <a:endParaRPr lang="zh-CN" altLang="en-US" dirty="0">
              <a:solidFill>
                <a:schemeClr val="tx1"/>
              </a:solidFill>
            </a:endParaRPr>
          </a:p>
        </p:txBody>
      </p:sp>
      <p:sp>
        <p:nvSpPr>
          <p:cNvPr id="20" name="立方体 19"/>
          <p:cNvSpPr/>
          <p:nvPr/>
        </p:nvSpPr>
        <p:spPr>
          <a:xfrm>
            <a:off x="4537075" y="4592638"/>
            <a:ext cx="1423988" cy="766762"/>
          </a:xfrm>
          <a:prstGeom prst="cube">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不良影响</a:t>
            </a:r>
            <a:endParaRPr lang="zh-CN" altLang="en-US" dirty="0">
              <a:solidFill>
                <a:schemeClr val="tx1"/>
              </a:solidFill>
            </a:endParaRPr>
          </a:p>
        </p:txBody>
      </p:sp>
      <p:sp>
        <p:nvSpPr>
          <p:cNvPr id="21" name="立方体 20"/>
          <p:cNvSpPr/>
          <p:nvPr/>
        </p:nvSpPr>
        <p:spPr>
          <a:xfrm>
            <a:off x="3000375" y="5140325"/>
            <a:ext cx="1390650" cy="766763"/>
          </a:xfrm>
          <a:prstGeom prst="cube">
            <a:avLst/>
          </a:prstGeom>
          <a:solidFill>
            <a:schemeClr val="tx2">
              <a:lumMod val="20000"/>
              <a:lumOff val="80000"/>
            </a:schemeClr>
          </a:solidFill>
          <a:ln>
            <a:solidFill>
              <a:srgbClr val="0033CC"/>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solidFill>
                  <a:schemeClr val="tx1"/>
                </a:solidFill>
              </a:rPr>
              <a:t>控制措施</a:t>
            </a:r>
            <a:endParaRPr lang="zh-CN" altLang="en-US" dirty="0">
              <a:solidFill>
                <a:schemeClr val="tx1"/>
              </a:solidFill>
            </a:endParaRPr>
          </a:p>
        </p:txBody>
      </p:sp>
      <p:grpSp>
        <p:nvGrpSpPr>
          <p:cNvPr id="18" name="组合 17"/>
          <p:cNvGrpSpPr/>
          <p:nvPr/>
        </p:nvGrpSpPr>
        <p:grpSpPr bwMode="auto">
          <a:xfrm>
            <a:off x="7750175" y="3570288"/>
            <a:ext cx="830264" cy="1080909"/>
            <a:chOff x="6226175" y="3570982"/>
            <a:chExt cx="830264" cy="1080389"/>
          </a:xfrm>
        </p:grpSpPr>
        <p:cxnSp>
          <p:nvCxnSpPr>
            <p:cNvPr id="25" name="直接连接符 24"/>
            <p:cNvCxnSpPr/>
            <p:nvPr/>
          </p:nvCxnSpPr>
          <p:spPr>
            <a:xfrm rot="5400000">
              <a:off x="6744644" y="3881188"/>
              <a:ext cx="622001"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rot="10800000">
              <a:off x="6226175" y="4154901"/>
              <a:ext cx="828675" cy="476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941" name="TextBox 35"/>
            <p:cNvSpPr txBox="1">
              <a:spLocks noChangeArrowheads="1"/>
            </p:cNvSpPr>
            <p:nvPr/>
          </p:nvSpPr>
          <p:spPr bwMode="auto">
            <a:xfrm>
              <a:off x="6361113" y="4283248"/>
              <a:ext cx="642620" cy="368123"/>
            </a:xfrm>
            <a:prstGeom prst="rect">
              <a:avLst/>
            </a:prstGeom>
            <a:noFill/>
            <a:ln w="381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破坏</a:t>
              </a:r>
              <a:endParaRPr lang="zh-CN" altLang="en-US" sz="1800" b="1">
                <a:latin typeface="Arial" panose="020B0604020202020204" pitchFamily="34" charset="0"/>
                <a:ea typeface="宋体" panose="02010600030101010101" pitchFamily="2" charset="-122"/>
              </a:endParaRPr>
            </a:p>
          </p:txBody>
        </p:sp>
      </p:grpSp>
      <p:grpSp>
        <p:nvGrpSpPr>
          <p:cNvPr id="22" name="组合 21"/>
          <p:cNvGrpSpPr/>
          <p:nvPr/>
        </p:nvGrpSpPr>
        <p:grpSpPr bwMode="auto">
          <a:xfrm>
            <a:off x="5949950" y="4652963"/>
            <a:ext cx="898208" cy="800213"/>
            <a:chOff x="4425950" y="4653136"/>
            <a:chExt cx="898208" cy="800462"/>
          </a:xfrm>
        </p:grpSpPr>
        <p:cxnSp>
          <p:nvCxnSpPr>
            <p:cNvPr id="29" name="直接箭头连接符 28"/>
            <p:cNvCxnSpPr/>
            <p:nvPr/>
          </p:nvCxnSpPr>
          <p:spPr>
            <a:xfrm rot="10800000">
              <a:off x="4425950" y="4994554"/>
              <a:ext cx="828675" cy="317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5254625" y="4653136"/>
              <a:ext cx="11113" cy="37794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8938" name="TextBox 36"/>
            <p:cNvSpPr txBox="1">
              <a:spLocks noChangeArrowheads="1"/>
            </p:cNvSpPr>
            <p:nvPr/>
          </p:nvSpPr>
          <p:spPr bwMode="auto">
            <a:xfrm>
              <a:off x="4681538" y="5085184"/>
              <a:ext cx="642620" cy="368414"/>
            </a:xfrm>
            <a:prstGeom prst="rect">
              <a:avLst/>
            </a:prstGeom>
            <a:noFill/>
            <a:ln w="38100">
              <a:solidFill>
                <a:schemeClr val="bg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造成</a:t>
              </a:r>
              <a:endParaRPr lang="zh-CN" altLang="en-US" sz="1800" b="1">
                <a:latin typeface="Arial" panose="020B0604020202020204" pitchFamily="34" charset="0"/>
                <a:ea typeface="宋体" panose="02010600030101010101" pitchFamily="2" charset="-122"/>
              </a:endParaRPr>
            </a:p>
          </p:txBody>
        </p:sp>
      </p:grpSp>
      <p:grpSp>
        <p:nvGrpSpPr>
          <p:cNvPr id="23" name="组合 22"/>
          <p:cNvGrpSpPr/>
          <p:nvPr/>
        </p:nvGrpSpPr>
        <p:grpSpPr bwMode="auto">
          <a:xfrm>
            <a:off x="4379913" y="5395914"/>
            <a:ext cx="954643" cy="685381"/>
            <a:chOff x="2855913" y="5396608"/>
            <a:chExt cx="954213" cy="684609"/>
          </a:xfrm>
        </p:grpSpPr>
        <p:cxnSp>
          <p:nvCxnSpPr>
            <p:cNvPr id="34" name="直接箭头连接符 33"/>
            <p:cNvCxnSpPr/>
            <p:nvPr/>
          </p:nvCxnSpPr>
          <p:spPr>
            <a:xfrm rot="10800000">
              <a:off x="2855913" y="5651906"/>
              <a:ext cx="828301" cy="3171"/>
            </a:xfrm>
            <a:prstGeom prst="straightConnector1">
              <a:avLst/>
            </a:prstGeom>
            <a:ln w="381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rot="16200000" flipH="1">
              <a:off x="3549436" y="5542493"/>
              <a:ext cx="29177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8935" name="TextBox 37"/>
            <p:cNvSpPr txBox="1">
              <a:spLocks noChangeArrowheads="1"/>
            </p:cNvSpPr>
            <p:nvPr/>
          </p:nvSpPr>
          <p:spPr bwMode="auto">
            <a:xfrm>
              <a:off x="2938029" y="5713332"/>
              <a:ext cx="872097" cy="367885"/>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受控制</a:t>
              </a:r>
              <a:endParaRPr lang="zh-CN" altLang="en-US" sz="1800" b="1">
                <a:latin typeface="Arial" panose="020B0604020202020204" pitchFamily="34" charset="0"/>
                <a:ea typeface="宋体" panose="02010600030101010101" pitchFamily="2" charset="-122"/>
              </a:endParaRPr>
            </a:p>
          </p:txBody>
        </p:sp>
      </p:grpSp>
      <p:grpSp>
        <p:nvGrpSpPr>
          <p:cNvPr id="4" name="组合 3"/>
          <p:cNvGrpSpPr/>
          <p:nvPr/>
        </p:nvGrpSpPr>
        <p:grpSpPr bwMode="auto">
          <a:xfrm>
            <a:off x="2566988" y="2503488"/>
            <a:ext cx="1144587" cy="2600325"/>
            <a:chOff x="1043608" y="2502744"/>
            <a:chExt cx="1144586" cy="2601764"/>
          </a:xfrm>
        </p:grpSpPr>
        <p:cxnSp>
          <p:nvCxnSpPr>
            <p:cNvPr id="40" name="直接箭头连接符 39"/>
            <p:cNvCxnSpPr/>
            <p:nvPr/>
          </p:nvCxnSpPr>
          <p:spPr>
            <a:xfrm flipV="1">
              <a:off x="2162794" y="2502744"/>
              <a:ext cx="25400" cy="2601764"/>
            </a:xfrm>
            <a:prstGeom prst="straightConnector1">
              <a:avLst/>
            </a:prstGeom>
            <a:ln w="381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8932" name="TextBox 40"/>
            <p:cNvSpPr txBox="1">
              <a:spLocks noChangeArrowheads="1"/>
            </p:cNvSpPr>
            <p:nvPr/>
          </p:nvSpPr>
          <p:spPr bwMode="auto">
            <a:xfrm>
              <a:off x="1043608" y="3356992"/>
              <a:ext cx="1102359" cy="36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直接影响</a:t>
              </a:r>
              <a:endParaRPr lang="zh-CN" altLang="en-US" sz="1800" b="1">
                <a:latin typeface="Arial" panose="020B0604020202020204" pitchFamily="34" charset="0"/>
                <a:ea typeface="宋体" panose="02010600030101010101" pitchFamily="2"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p:cTn id="12" dur="500" fill="hold"/>
                                        <p:tgtEl>
                                          <p:spTgt spid="26"/>
                                        </p:tgtEl>
                                        <p:attrNameLst>
                                          <p:attrName>ppt_w</p:attrName>
                                        </p:attrNameLst>
                                      </p:cBhvr>
                                      <p:tavLst>
                                        <p:tav tm="0">
                                          <p:val>
                                            <p:fltVal val="0"/>
                                          </p:val>
                                        </p:tav>
                                        <p:tav tm="100000">
                                          <p:val>
                                            <p:strVal val="#ppt_w"/>
                                          </p:val>
                                        </p:tav>
                                      </p:tavLst>
                                    </p:anim>
                                    <p:anim calcmode="lin" valueType="num">
                                      <p:cBhvr>
                                        <p:cTn id="13" dur="500" fill="hold"/>
                                        <p:tgtEl>
                                          <p:spTgt spid="26"/>
                                        </p:tgtEl>
                                        <p:attrNameLst>
                                          <p:attrName>ppt_h</p:attrName>
                                        </p:attrNameLst>
                                      </p:cBhvr>
                                      <p:tavLst>
                                        <p:tav tm="0">
                                          <p:val>
                                            <p:fltVal val="0"/>
                                          </p:val>
                                        </p:tav>
                                        <p:tav tm="100000">
                                          <p:val>
                                            <p:strVal val="#ppt_h"/>
                                          </p:val>
                                        </p:tav>
                                      </p:tavLst>
                                    </p:anim>
                                    <p:animEffect transition="in" filter="fade">
                                      <p:cBhvr>
                                        <p:cTn id="14" dur="500"/>
                                        <p:tgtEl>
                                          <p:spTgt spid="26"/>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p:cTn id="23" dur="500" fill="hold"/>
                                        <p:tgtEl>
                                          <p:spTgt spid="16"/>
                                        </p:tgtEl>
                                        <p:attrNameLst>
                                          <p:attrName>ppt_w</p:attrName>
                                        </p:attrNameLst>
                                      </p:cBhvr>
                                      <p:tavLst>
                                        <p:tav tm="0">
                                          <p:val>
                                            <p:fltVal val="0"/>
                                          </p:val>
                                        </p:tav>
                                        <p:tav tm="100000">
                                          <p:val>
                                            <p:strVal val="#ppt_w"/>
                                          </p:val>
                                        </p:tav>
                                      </p:tavLst>
                                    </p:anim>
                                    <p:anim calcmode="lin" valueType="num">
                                      <p:cBhvr>
                                        <p:cTn id="24" dur="500" fill="hold"/>
                                        <p:tgtEl>
                                          <p:spTgt spid="16"/>
                                        </p:tgtEl>
                                        <p:attrNameLst>
                                          <p:attrName>ppt_h</p:attrName>
                                        </p:attrNameLst>
                                      </p:cBhvr>
                                      <p:tavLst>
                                        <p:tav tm="0">
                                          <p:val>
                                            <p:fltVal val="0"/>
                                          </p:val>
                                        </p:tav>
                                        <p:tav tm="100000">
                                          <p:val>
                                            <p:strVal val="#ppt_h"/>
                                          </p:val>
                                        </p:tav>
                                      </p:tavLst>
                                    </p:anim>
                                    <p:animEffect transition="in" filter="fade">
                                      <p:cBhvr>
                                        <p:cTn id="25" dur="500"/>
                                        <p:tgtEl>
                                          <p:spTgt spid="16"/>
                                        </p:tgtEl>
                                      </p:cBhvr>
                                    </p:animEffect>
                                  </p:childTnLst>
                                </p:cTn>
                              </p:par>
                            </p:childTnLst>
                          </p:cTn>
                        </p:par>
                        <p:par>
                          <p:cTn id="26" fill="hold">
                            <p:stCondLst>
                              <p:cond delay="2000"/>
                            </p:stCondLst>
                            <p:childTnLst>
                              <p:par>
                                <p:cTn id="27" presetID="2" presetClass="entr" presetSubtype="8"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0-#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childTnLst>
                          </p:cTn>
                        </p:par>
                        <p:par>
                          <p:cTn id="31" fill="hold">
                            <p:stCondLst>
                              <p:cond delay="2500"/>
                            </p:stCondLst>
                            <p:childTnLst>
                              <p:par>
                                <p:cTn id="32" presetID="53" presetClass="entr" presetSubtype="16" fill="hold"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animEffect transition="in" filter="fade">
                                      <p:cBhvr>
                                        <p:cTn id="36" dur="500"/>
                                        <p:tgtEl>
                                          <p:spTgt spid="17"/>
                                        </p:tgtEl>
                                      </p:cBhvr>
                                    </p:animEffect>
                                  </p:childTnLst>
                                </p:cTn>
                              </p:par>
                            </p:childTnLst>
                          </p:cTn>
                        </p:par>
                        <p:par>
                          <p:cTn id="37" fill="hold">
                            <p:stCondLst>
                              <p:cond delay="3000"/>
                            </p:stCondLst>
                            <p:childTnLst>
                              <p:par>
                                <p:cTn id="38" presetID="2" presetClass="entr" presetSubtype="2" fill="hold" grpId="0" nodeType="after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1+#ppt_w/2"/>
                                          </p:val>
                                        </p:tav>
                                        <p:tav tm="100000">
                                          <p:val>
                                            <p:strVal val="#ppt_x"/>
                                          </p:val>
                                        </p:tav>
                                      </p:tavLst>
                                    </p:anim>
                                    <p:anim calcmode="lin" valueType="num">
                                      <p:cBhvr additive="base">
                                        <p:cTn id="41"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p:cTn id="46" dur="500" fill="hold"/>
                                        <p:tgtEl>
                                          <p:spTgt spid="18"/>
                                        </p:tgtEl>
                                        <p:attrNameLst>
                                          <p:attrName>ppt_w</p:attrName>
                                        </p:attrNameLst>
                                      </p:cBhvr>
                                      <p:tavLst>
                                        <p:tav tm="0">
                                          <p:val>
                                            <p:fltVal val="0"/>
                                          </p:val>
                                        </p:tav>
                                        <p:tav tm="100000">
                                          <p:val>
                                            <p:strVal val="#ppt_w"/>
                                          </p:val>
                                        </p:tav>
                                      </p:tavLst>
                                    </p:anim>
                                    <p:anim calcmode="lin" valueType="num">
                                      <p:cBhvr>
                                        <p:cTn id="47" dur="500" fill="hold"/>
                                        <p:tgtEl>
                                          <p:spTgt spid="18"/>
                                        </p:tgtEl>
                                        <p:attrNameLst>
                                          <p:attrName>ppt_h</p:attrName>
                                        </p:attrNameLst>
                                      </p:cBhvr>
                                      <p:tavLst>
                                        <p:tav tm="0">
                                          <p:val>
                                            <p:fltVal val="0"/>
                                          </p:val>
                                        </p:tav>
                                        <p:tav tm="100000">
                                          <p:val>
                                            <p:strVal val="#ppt_h"/>
                                          </p:val>
                                        </p:tav>
                                      </p:tavLst>
                                    </p:anim>
                                    <p:animEffect transition="in" filter="fade">
                                      <p:cBhvr>
                                        <p:cTn id="48" dur="500"/>
                                        <p:tgtEl>
                                          <p:spTgt spid="18"/>
                                        </p:tgtEl>
                                      </p:cBhvr>
                                    </p:animEffect>
                                  </p:childTnLst>
                                </p:cTn>
                              </p:par>
                            </p:childTnLst>
                          </p:cTn>
                        </p:par>
                        <p:par>
                          <p:cTn id="49" fill="hold">
                            <p:stCondLst>
                              <p:cond delay="500"/>
                            </p:stCondLst>
                            <p:childTnLst>
                              <p:par>
                                <p:cTn id="50" presetID="2" presetClass="entr" presetSubtype="2"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500" fill="hold"/>
                                        <p:tgtEl>
                                          <p:spTgt spid="19"/>
                                        </p:tgtEl>
                                        <p:attrNameLst>
                                          <p:attrName>ppt_x</p:attrName>
                                        </p:attrNameLst>
                                      </p:cBhvr>
                                      <p:tavLst>
                                        <p:tav tm="0">
                                          <p:val>
                                            <p:strVal val="1+#ppt_w/2"/>
                                          </p:val>
                                        </p:tav>
                                        <p:tav tm="100000">
                                          <p:val>
                                            <p:strVal val="#ppt_x"/>
                                          </p:val>
                                        </p:tav>
                                      </p:tavLst>
                                    </p:anim>
                                    <p:anim calcmode="lin" valueType="num">
                                      <p:cBhvr additive="base">
                                        <p:cTn id="53" dur="500" fill="hold"/>
                                        <p:tgtEl>
                                          <p:spTgt spid="19"/>
                                        </p:tgtEl>
                                        <p:attrNameLst>
                                          <p:attrName>ppt_y</p:attrName>
                                        </p:attrNameLst>
                                      </p:cBhvr>
                                      <p:tavLst>
                                        <p:tav tm="0">
                                          <p:val>
                                            <p:strVal val="#ppt_y"/>
                                          </p:val>
                                        </p:tav>
                                        <p:tav tm="100000">
                                          <p:val>
                                            <p:strVal val="#ppt_y"/>
                                          </p:val>
                                        </p:tav>
                                      </p:tavLst>
                                    </p:anim>
                                  </p:childTnLst>
                                </p:cTn>
                              </p:par>
                            </p:childTnLst>
                          </p:cTn>
                        </p:par>
                        <p:par>
                          <p:cTn id="54" fill="hold">
                            <p:stCondLst>
                              <p:cond delay="1000"/>
                            </p:stCondLst>
                            <p:childTnLst>
                              <p:par>
                                <p:cTn id="55" presetID="53" presetClass="entr" presetSubtype="16" fill="hold" nodeType="afterEffect">
                                  <p:stCondLst>
                                    <p:cond delay="0"/>
                                  </p:stCondLst>
                                  <p:childTnLst>
                                    <p:set>
                                      <p:cBhvr>
                                        <p:cTn id="56" dur="1" fill="hold">
                                          <p:stCondLst>
                                            <p:cond delay="0"/>
                                          </p:stCondLst>
                                        </p:cTn>
                                        <p:tgtEl>
                                          <p:spTgt spid="22"/>
                                        </p:tgtEl>
                                        <p:attrNameLst>
                                          <p:attrName>style.visibility</p:attrName>
                                        </p:attrNameLst>
                                      </p:cBhvr>
                                      <p:to>
                                        <p:strVal val="visible"/>
                                      </p:to>
                                    </p:set>
                                    <p:anim calcmode="lin" valueType="num">
                                      <p:cBhvr>
                                        <p:cTn id="57" dur="500" fill="hold"/>
                                        <p:tgtEl>
                                          <p:spTgt spid="22"/>
                                        </p:tgtEl>
                                        <p:attrNameLst>
                                          <p:attrName>ppt_w</p:attrName>
                                        </p:attrNameLst>
                                      </p:cBhvr>
                                      <p:tavLst>
                                        <p:tav tm="0">
                                          <p:val>
                                            <p:fltVal val="0"/>
                                          </p:val>
                                        </p:tav>
                                        <p:tav tm="100000">
                                          <p:val>
                                            <p:strVal val="#ppt_w"/>
                                          </p:val>
                                        </p:tav>
                                      </p:tavLst>
                                    </p:anim>
                                    <p:anim calcmode="lin" valueType="num">
                                      <p:cBhvr>
                                        <p:cTn id="58" dur="500" fill="hold"/>
                                        <p:tgtEl>
                                          <p:spTgt spid="22"/>
                                        </p:tgtEl>
                                        <p:attrNameLst>
                                          <p:attrName>ppt_h</p:attrName>
                                        </p:attrNameLst>
                                      </p:cBhvr>
                                      <p:tavLst>
                                        <p:tav tm="0">
                                          <p:val>
                                            <p:fltVal val="0"/>
                                          </p:val>
                                        </p:tav>
                                        <p:tav tm="100000">
                                          <p:val>
                                            <p:strVal val="#ppt_h"/>
                                          </p:val>
                                        </p:tav>
                                      </p:tavLst>
                                    </p:anim>
                                    <p:animEffect transition="in" filter="fade">
                                      <p:cBhvr>
                                        <p:cTn id="59" dur="500"/>
                                        <p:tgtEl>
                                          <p:spTgt spid="22"/>
                                        </p:tgtEl>
                                      </p:cBhvr>
                                    </p:animEffect>
                                  </p:childTnLst>
                                </p:cTn>
                              </p:par>
                            </p:childTnLst>
                          </p:cTn>
                        </p:par>
                        <p:par>
                          <p:cTn id="60" fill="hold">
                            <p:stCondLst>
                              <p:cond delay="1500"/>
                            </p:stCondLst>
                            <p:childTnLst>
                              <p:par>
                                <p:cTn id="61" presetID="2" presetClass="entr" presetSubtype="2" fill="hold" grpId="0" nodeType="after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1+#ppt_w/2"/>
                                          </p:val>
                                        </p:tav>
                                        <p:tav tm="100000">
                                          <p:val>
                                            <p:strVal val="#ppt_x"/>
                                          </p:val>
                                        </p:tav>
                                      </p:tavLst>
                                    </p:anim>
                                    <p:anim calcmode="lin" valueType="num">
                                      <p:cBhvr additive="base">
                                        <p:cTn id="64" dur="500" fill="hold"/>
                                        <p:tgtEl>
                                          <p:spTgt spid="20"/>
                                        </p:tgtEl>
                                        <p:attrNameLst>
                                          <p:attrName>ppt_y</p:attrName>
                                        </p:attrNameLst>
                                      </p:cBhvr>
                                      <p:tavLst>
                                        <p:tav tm="0">
                                          <p:val>
                                            <p:strVal val="#ppt_y"/>
                                          </p:val>
                                        </p:tav>
                                        <p:tav tm="100000">
                                          <p:val>
                                            <p:strVal val="#ppt_y"/>
                                          </p:val>
                                        </p:tav>
                                      </p:tavLst>
                                    </p:anim>
                                  </p:childTnLst>
                                </p:cTn>
                              </p:par>
                            </p:childTnLst>
                          </p:cTn>
                        </p:par>
                        <p:par>
                          <p:cTn id="65" fill="hold">
                            <p:stCondLst>
                              <p:cond delay="2000"/>
                            </p:stCondLst>
                            <p:childTnLst>
                              <p:par>
                                <p:cTn id="66" presetID="53" presetClass="entr" presetSubtype="16" fill="hold" nodeType="after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p:cTn id="68" dur="500" fill="hold"/>
                                        <p:tgtEl>
                                          <p:spTgt spid="23"/>
                                        </p:tgtEl>
                                        <p:attrNameLst>
                                          <p:attrName>ppt_w</p:attrName>
                                        </p:attrNameLst>
                                      </p:cBhvr>
                                      <p:tavLst>
                                        <p:tav tm="0">
                                          <p:val>
                                            <p:fltVal val="0"/>
                                          </p:val>
                                        </p:tav>
                                        <p:tav tm="100000">
                                          <p:val>
                                            <p:strVal val="#ppt_w"/>
                                          </p:val>
                                        </p:tav>
                                      </p:tavLst>
                                    </p:anim>
                                    <p:anim calcmode="lin" valueType="num">
                                      <p:cBhvr>
                                        <p:cTn id="69" dur="500" fill="hold"/>
                                        <p:tgtEl>
                                          <p:spTgt spid="23"/>
                                        </p:tgtEl>
                                        <p:attrNameLst>
                                          <p:attrName>ppt_h</p:attrName>
                                        </p:attrNameLst>
                                      </p:cBhvr>
                                      <p:tavLst>
                                        <p:tav tm="0">
                                          <p:val>
                                            <p:fltVal val="0"/>
                                          </p:val>
                                        </p:tav>
                                        <p:tav tm="100000">
                                          <p:val>
                                            <p:strVal val="#ppt_h"/>
                                          </p:val>
                                        </p:tav>
                                      </p:tavLst>
                                    </p:anim>
                                    <p:animEffect transition="in" filter="fade">
                                      <p:cBhvr>
                                        <p:cTn id="70" dur="500"/>
                                        <p:tgtEl>
                                          <p:spTgt spid="23"/>
                                        </p:tgtEl>
                                      </p:cBhvr>
                                    </p:animEffect>
                                  </p:childTnLst>
                                </p:cTn>
                              </p:par>
                            </p:childTnLst>
                          </p:cTn>
                        </p:par>
                        <p:par>
                          <p:cTn id="71" fill="hold">
                            <p:stCondLst>
                              <p:cond delay="2500"/>
                            </p:stCondLst>
                            <p:childTnLst>
                              <p:par>
                                <p:cTn id="72" presetID="2" presetClass="entr" presetSubtype="2"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500" fill="hold"/>
                                        <p:tgtEl>
                                          <p:spTgt spid="21"/>
                                        </p:tgtEl>
                                        <p:attrNameLst>
                                          <p:attrName>ppt_x</p:attrName>
                                        </p:attrNameLst>
                                      </p:cBhvr>
                                      <p:tavLst>
                                        <p:tav tm="0">
                                          <p:val>
                                            <p:strVal val="1+#ppt_w/2"/>
                                          </p:val>
                                        </p:tav>
                                        <p:tav tm="100000">
                                          <p:val>
                                            <p:strVal val="#ppt_x"/>
                                          </p:val>
                                        </p:tav>
                                      </p:tavLst>
                                    </p:anim>
                                    <p:anim calcmode="lin" valueType="num">
                                      <p:cBhvr additive="base">
                                        <p:cTn id="75" dur="500" fill="hold"/>
                                        <p:tgtEl>
                                          <p:spTgt spid="21"/>
                                        </p:tgtEl>
                                        <p:attrNameLst>
                                          <p:attrName>ppt_y</p:attrName>
                                        </p:attrNameLst>
                                      </p:cBhvr>
                                      <p:tavLst>
                                        <p:tav tm="0">
                                          <p:val>
                                            <p:strVal val="#ppt_y"/>
                                          </p:val>
                                        </p:tav>
                                        <p:tav tm="100000">
                                          <p:val>
                                            <p:strVal val="#ppt_y"/>
                                          </p:val>
                                        </p:tav>
                                      </p:tavLst>
                                    </p:anim>
                                  </p:childTnLst>
                                </p:cTn>
                              </p:par>
                            </p:childTnLst>
                          </p:cTn>
                        </p:par>
                        <p:par>
                          <p:cTn id="76" fill="hold">
                            <p:stCondLst>
                              <p:cond delay="3000"/>
                            </p:stCondLst>
                            <p:childTnLst>
                              <p:par>
                                <p:cTn id="77" presetID="53" presetClass="entr" presetSubtype="16" fill="hold" nodeType="afterEffect">
                                  <p:stCondLst>
                                    <p:cond delay="0"/>
                                  </p:stCondLst>
                                  <p:childTnLst>
                                    <p:set>
                                      <p:cBhvr>
                                        <p:cTn id="78" dur="1" fill="hold">
                                          <p:stCondLst>
                                            <p:cond delay="0"/>
                                          </p:stCondLst>
                                        </p:cTn>
                                        <p:tgtEl>
                                          <p:spTgt spid="4"/>
                                        </p:tgtEl>
                                        <p:attrNameLst>
                                          <p:attrName>style.visibility</p:attrName>
                                        </p:attrNameLst>
                                      </p:cBhvr>
                                      <p:to>
                                        <p:strVal val="visible"/>
                                      </p:to>
                                    </p:set>
                                    <p:anim calcmode="lin" valueType="num">
                                      <p:cBhvr>
                                        <p:cTn id="79" dur="500" fill="hold"/>
                                        <p:tgtEl>
                                          <p:spTgt spid="4"/>
                                        </p:tgtEl>
                                        <p:attrNameLst>
                                          <p:attrName>ppt_w</p:attrName>
                                        </p:attrNameLst>
                                      </p:cBhvr>
                                      <p:tavLst>
                                        <p:tav tm="0">
                                          <p:val>
                                            <p:fltVal val="0"/>
                                          </p:val>
                                        </p:tav>
                                        <p:tav tm="100000">
                                          <p:val>
                                            <p:strVal val="#ppt_w"/>
                                          </p:val>
                                        </p:tav>
                                      </p:tavLst>
                                    </p:anim>
                                    <p:anim calcmode="lin" valueType="num">
                                      <p:cBhvr>
                                        <p:cTn id="80" dur="500" fill="hold"/>
                                        <p:tgtEl>
                                          <p:spTgt spid="4"/>
                                        </p:tgtEl>
                                        <p:attrNameLst>
                                          <p:attrName>ppt_h</p:attrName>
                                        </p:attrNameLst>
                                      </p:cBhvr>
                                      <p:tavLst>
                                        <p:tav tm="0">
                                          <p:val>
                                            <p:fltVal val="0"/>
                                          </p:val>
                                        </p:tav>
                                        <p:tav tm="100000">
                                          <p:val>
                                            <p:strVal val="#ppt_h"/>
                                          </p:val>
                                        </p:tav>
                                      </p:tavLst>
                                    </p:anim>
                                    <p:animEffect transition="in" filter="fade">
                                      <p:cBhvr>
                                        <p:cTn id="8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P spid="19" grpId="0" bldLvl="0" animBg="1"/>
      <p:bldP spid="20" grpId="0" bldLvl="0" animBg="1"/>
      <p:bldP spid="21"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2279650" y="781050"/>
            <a:ext cx="6513513" cy="487363"/>
          </a:xfrm>
        </p:spPr>
        <p:txBody>
          <a:bodyPr/>
          <a:lstStyle/>
          <a:p>
            <a:r>
              <a:rPr lang="zh-CN" altLang="en-US">
                <a:solidFill>
                  <a:srgbClr val="FF0000"/>
                </a:solidFill>
              </a:rPr>
              <a:t>网络空间安全风险术语</a:t>
            </a:r>
            <a:r>
              <a:rPr lang="en-US" altLang="zh-CN">
                <a:solidFill>
                  <a:srgbClr val="FF0000"/>
                </a:solidFill>
              </a:rPr>
              <a:t>-</a:t>
            </a:r>
            <a:r>
              <a:rPr lang="zh-CN" altLang="en-US">
                <a:solidFill>
                  <a:srgbClr val="FF0000"/>
                </a:solidFill>
              </a:rPr>
              <a:t>残余风险</a:t>
            </a:r>
            <a:endParaRPr lang="zh-CN" altLang="en-US">
              <a:solidFill>
                <a:srgbClr val="FF0000"/>
              </a:solidFill>
            </a:endParaRPr>
          </a:p>
        </p:txBody>
      </p:sp>
      <p:sp>
        <p:nvSpPr>
          <p:cNvPr id="2" name="矩形 1"/>
          <p:cNvSpPr/>
          <p:nvPr/>
        </p:nvSpPr>
        <p:spPr>
          <a:xfrm>
            <a:off x="2319338" y="1628775"/>
            <a:ext cx="7880350" cy="46037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400" dirty="0">
                <a:latin typeface="+mn-lt"/>
                <a:ea typeface="+mn-ea"/>
              </a:rPr>
              <a:t>指</a:t>
            </a:r>
            <a:r>
              <a:rPr lang="zh-CN" altLang="zh-CN" sz="2400" dirty="0">
                <a:latin typeface="+mn-lt"/>
                <a:ea typeface="+mn-ea"/>
              </a:rPr>
              <a:t>采取了安全措施后，信息系统仍然可能存在的风险</a:t>
            </a:r>
            <a:r>
              <a:rPr lang="zh-CN" altLang="en-US" sz="2400" dirty="0">
                <a:latin typeface="+mn-lt"/>
                <a:ea typeface="+mn-ea"/>
              </a:rPr>
              <a:t>。</a:t>
            </a:r>
            <a:endParaRPr lang="en-US" altLang="zh-CN" sz="2400" dirty="0">
              <a:latin typeface="+mn-lt"/>
              <a:ea typeface="+mn-ea"/>
            </a:endParaRPr>
          </a:p>
        </p:txBody>
      </p:sp>
      <p:sp>
        <p:nvSpPr>
          <p:cNvPr id="3" name="矩形 2"/>
          <p:cNvSpPr/>
          <p:nvPr/>
        </p:nvSpPr>
        <p:spPr>
          <a:xfrm>
            <a:off x="2319338" y="2182813"/>
            <a:ext cx="7737475" cy="82994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zh-CN" sz="2400" dirty="0">
                <a:latin typeface="+mn-lt"/>
                <a:ea typeface="+mn-ea"/>
              </a:rPr>
              <a:t>有些</a:t>
            </a:r>
            <a:r>
              <a:rPr lang="zh-CN" altLang="en-US" sz="2400" dirty="0">
                <a:latin typeface="+mn-lt"/>
                <a:ea typeface="+mn-ea"/>
              </a:rPr>
              <a:t>残余风险</a:t>
            </a:r>
            <a:r>
              <a:rPr lang="zh-CN" altLang="zh-CN" sz="2400" dirty="0">
                <a:latin typeface="+mn-lt"/>
                <a:ea typeface="+mn-ea"/>
              </a:rPr>
              <a:t>是在综合考虑了安全成本与效益后不去控制的风险</a:t>
            </a:r>
            <a:endParaRPr lang="en-US" altLang="zh-CN" sz="2400" dirty="0">
              <a:latin typeface="+mn-lt"/>
              <a:ea typeface="+mn-ea"/>
            </a:endParaRPr>
          </a:p>
        </p:txBody>
      </p:sp>
      <p:sp>
        <p:nvSpPr>
          <p:cNvPr id="4" name="矩形 3"/>
          <p:cNvSpPr/>
          <p:nvPr/>
        </p:nvSpPr>
        <p:spPr>
          <a:xfrm>
            <a:off x="2333625" y="3070225"/>
            <a:ext cx="7723188" cy="82994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zh-CN" sz="2400" dirty="0">
                <a:latin typeface="+mn-lt"/>
                <a:ea typeface="+mn-ea"/>
              </a:rPr>
              <a:t>残余风险应受到密切监视，它可能会在将来诱发新的安全事件</a:t>
            </a:r>
            <a:endParaRPr lang="en-US" altLang="zh-CN" sz="2400" dirty="0">
              <a:latin typeface="+mn-lt"/>
              <a:ea typeface="+mn-ea"/>
            </a:endParaRPr>
          </a:p>
        </p:txBody>
      </p:sp>
      <p:sp>
        <p:nvSpPr>
          <p:cNvPr id="5" name="矩形 4"/>
          <p:cNvSpPr/>
          <p:nvPr/>
        </p:nvSpPr>
        <p:spPr>
          <a:xfrm>
            <a:off x="2330450" y="3957638"/>
            <a:ext cx="1135380" cy="460375"/>
          </a:xfrm>
          <a:prstGeom prst="rect">
            <a:avLst/>
          </a:prstGeom>
        </p:spPr>
        <p:txBody>
          <a:bodyPr wrap="none">
            <a:spAutoFit/>
          </a:bodyPr>
          <a:lstStyle/>
          <a:p>
            <a:pPr marL="342900" indent="-342900">
              <a:spcBef>
                <a:spcPct val="20000"/>
              </a:spcBef>
              <a:buClr>
                <a:srgbClr val="3399FF"/>
              </a:buClr>
              <a:buFont typeface="Wingdings" panose="05000000000000000000" pitchFamily="2" charset="2"/>
              <a:buChar char="v"/>
              <a:defRPr/>
            </a:pPr>
            <a:r>
              <a:rPr lang="zh-CN" altLang="en-US" sz="2400" dirty="0">
                <a:latin typeface="+mn-lt"/>
                <a:ea typeface="+mn-ea"/>
              </a:rPr>
              <a:t>举例</a:t>
            </a:r>
            <a:endParaRPr lang="en-US" altLang="zh-CN" sz="2400" dirty="0">
              <a:latin typeface="+mn-lt"/>
              <a:ea typeface="+mn-ea"/>
            </a:endParaRPr>
          </a:p>
        </p:txBody>
      </p:sp>
      <p:sp>
        <p:nvSpPr>
          <p:cNvPr id="6" name="矩形 5"/>
          <p:cNvSpPr/>
          <p:nvPr/>
        </p:nvSpPr>
        <p:spPr>
          <a:xfrm>
            <a:off x="2208213" y="4508500"/>
            <a:ext cx="7848600" cy="1014730"/>
          </a:xfrm>
          <a:prstGeom prst="rect">
            <a:avLst/>
          </a:prstGeom>
        </p:spPr>
        <p:txBody>
          <a:bodyPr>
            <a:spAutoFit/>
          </a:bodyPr>
          <a:lstStyle/>
          <a:p>
            <a:pPr lvl="1" eaLnBrk="1" hangingPunct="1">
              <a:defRPr/>
            </a:pPr>
            <a:r>
              <a:rPr lang="zh-CN" altLang="en-US" sz="2000" b="1" dirty="0">
                <a:latin typeface="+mn-ea"/>
                <a:ea typeface="+mn-ea"/>
              </a:rPr>
              <a:t>风险列表中有</a:t>
            </a:r>
            <a:r>
              <a:rPr lang="en-US" altLang="zh-CN" sz="2000" b="1" dirty="0">
                <a:solidFill>
                  <a:srgbClr val="FF0000"/>
                </a:solidFill>
                <a:latin typeface="+mn-ea"/>
                <a:ea typeface="+mn-ea"/>
              </a:rPr>
              <a:t>10</a:t>
            </a:r>
            <a:r>
              <a:rPr lang="zh-CN" altLang="en-US" sz="2000" b="1" dirty="0">
                <a:solidFill>
                  <a:srgbClr val="FF0000"/>
                </a:solidFill>
                <a:latin typeface="+mn-ea"/>
                <a:ea typeface="+mn-ea"/>
              </a:rPr>
              <a:t>类风险</a:t>
            </a:r>
            <a:r>
              <a:rPr lang="zh-CN" altLang="en-US" sz="2000" b="1" dirty="0">
                <a:latin typeface="+mn-ea"/>
                <a:ea typeface="+mn-ea"/>
              </a:rPr>
              <a:t>，根据风险成本效益分析，只有前</a:t>
            </a:r>
            <a:r>
              <a:rPr lang="en-US" altLang="zh-CN" sz="2000" b="1" dirty="0">
                <a:latin typeface="+mn-ea"/>
                <a:ea typeface="+mn-ea"/>
              </a:rPr>
              <a:t>8</a:t>
            </a:r>
            <a:r>
              <a:rPr lang="zh-CN" altLang="en-US" sz="2000" b="1" dirty="0">
                <a:latin typeface="+mn-ea"/>
                <a:ea typeface="+mn-ea"/>
              </a:rPr>
              <a:t>项需要控制，则另</a:t>
            </a:r>
            <a:r>
              <a:rPr lang="en-US" altLang="zh-CN" sz="2000" b="1" dirty="0">
                <a:latin typeface="+mn-ea"/>
                <a:ea typeface="+mn-ea"/>
              </a:rPr>
              <a:t>2</a:t>
            </a:r>
            <a:r>
              <a:rPr lang="zh-CN" altLang="en-US" sz="2000" b="1" dirty="0">
                <a:latin typeface="+mn-ea"/>
                <a:ea typeface="+mn-ea"/>
              </a:rPr>
              <a:t>项为残余风险，一段时间内系统处于风险可接受水平。</a:t>
            </a:r>
            <a:endParaRPr lang="en-US" altLang="zh-CN" sz="2000" b="1" dirty="0">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0" fill="hold"/>
                                        <p:tgtEl>
                                          <p:spTgt spid="3"/>
                                        </p:tgtEl>
                                        <p:attrNameLst>
                                          <p:attrName>ppt_x</p:attrName>
                                        </p:attrNameLst>
                                      </p:cBhvr>
                                      <p:tavLst>
                                        <p:tav tm="0">
                                          <p:val>
                                            <p:strVal val="0-#ppt_w/2"/>
                                          </p:val>
                                        </p:tav>
                                        <p:tav tm="100000">
                                          <p:val>
                                            <p:strVal val="#ppt_x"/>
                                          </p:val>
                                        </p:tav>
                                      </p:tavLst>
                                    </p:anim>
                                    <p:anim calcmode="lin" valueType="num">
                                      <p:cBhvr additive="base">
                                        <p:cTn id="13" dur="15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8"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0" fill="hold"/>
                                        <p:tgtEl>
                                          <p:spTgt spid="4"/>
                                        </p:tgtEl>
                                        <p:attrNameLst>
                                          <p:attrName>ppt_x</p:attrName>
                                        </p:attrNameLst>
                                      </p:cBhvr>
                                      <p:tavLst>
                                        <p:tav tm="0">
                                          <p:val>
                                            <p:strVal val="0-#ppt_w/2"/>
                                          </p:val>
                                        </p:tav>
                                        <p:tav tm="100000">
                                          <p:val>
                                            <p:strVal val="#ppt_x"/>
                                          </p:val>
                                        </p:tav>
                                      </p:tavLst>
                                    </p:anim>
                                    <p:anim calcmode="lin" valueType="num">
                                      <p:cBhvr additive="base">
                                        <p:cTn id="18" dur="1500" fill="hold"/>
                                        <p:tgtEl>
                                          <p:spTgt spid="4"/>
                                        </p:tgtEl>
                                        <p:attrNameLst>
                                          <p:attrName>ppt_y</p:attrName>
                                        </p:attrNameLst>
                                      </p:cBhvr>
                                      <p:tavLst>
                                        <p:tav tm="0">
                                          <p:val>
                                            <p:strVal val="#ppt_y"/>
                                          </p:val>
                                        </p:tav>
                                        <p:tav tm="100000">
                                          <p:val>
                                            <p:strVal val="#ppt_y"/>
                                          </p:val>
                                        </p:tav>
                                      </p:tavLst>
                                    </p:anim>
                                  </p:childTnLst>
                                </p:cTn>
                              </p:par>
                            </p:childTnLst>
                          </p:cTn>
                        </p:par>
                        <p:par>
                          <p:cTn id="19" fill="hold">
                            <p:stCondLst>
                              <p:cond delay="3500"/>
                            </p:stCondLst>
                            <p:childTnLst>
                              <p:par>
                                <p:cTn id="20" presetID="2" presetClass="entr" presetSubtype="8"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0" fill="hold"/>
                                        <p:tgtEl>
                                          <p:spTgt spid="5"/>
                                        </p:tgtEl>
                                        <p:attrNameLst>
                                          <p:attrName>ppt_x</p:attrName>
                                        </p:attrNameLst>
                                      </p:cBhvr>
                                      <p:tavLst>
                                        <p:tav tm="0">
                                          <p:val>
                                            <p:strVal val="0-#ppt_w/2"/>
                                          </p:val>
                                        </p:tav>
                                        <p:tav tm="100000">
                                          <p:val>
                                            <p:strVal val="#ppt_x"/>
                                          </p:val>
                                        </p:tav>
                                      </p:tavLst>
                                    </p:anim>
                                    <p:anim calcmode="lin" valueType="num">
                                      <p:cBhvr additive="base">
                                        <p:cTn id="23" dur="1500" fill="hold"/>
                                        <p:tgtEl>
                                          <p:spTgt spid="5"/>
                                        </p:tgtEl>
                                        <p:attrNameLst>
                                          <p:attrName>ppt_y</p:attrName>
                                        </p:attrNameLst>
                                      </p:cBhvr>
                                      <p:tavLst>
                                        <p:tav tm="0">
                                          <p:val>
                                            <p:strVal val="#ppt_y"/>
                                          </p:val>
                                        </p:tav>
                                        <p:tav tm="100000">
                                          <p:val>
                                            <p:strVal val="#ppt_y"/>
                                          </p:val>
                                        </p:tav>
                                      </p:tavLst>
                                    </p:anim>
                                  </p:childTnLst>
                                </p:cTn>
                              </p:par>
                            </p:childTnLst>
                          </p:cTn>
                        </p:par>
                        <p:par>
                          <p:cTn id="24" fill="hold">
                            <p:stCondLst>
                              <p:cond delay="5000"/>
                            </p:stCondLst>
                            <p:childTnLst>
                              <p:par>
                                <p:cTn id="25" presetID="2" presetClass="entr" presetSubtype="8"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0-#ppt_w/2"/>
                                          </p:val>
                                        </p:tav>
                                        <p:tav tm="100000">
                                          <p:val>
                                            <p:strVal val="#ppt_x"/>
                                          </p:val>
                                        </p:tav>
                                      </p:tavLst>
                                    </p:anim>
                                    <p:anim calcmode="lin" valueType="num">
                                      <p:cBhvr additive="base">
                                        <p:cTn id="2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2279650" y="728663"/>
            <a:ext cx="6513513" cy="487362"/>
          </a:xfrm>
        </p:spPr>
        <p:txBody>
          <a:bodyPr/>
          <a:lstStyle/>
          <a:p>
            <a:r>
              <a:rPr lang="zh-CN" altLang="en-US">
                <a:solidFill>
                  <a:srgbClr val="FF0000"/>
                </a:solidFill>
              </a:rPr>
              <a:t>网络空间安全风险术语</a:t>
            </a:r>
            <a:r>
              <a:rPr lang="en-US" altLang="zh-CN">
                <a:solidFill>
                  <a:srgbClr val="FF0000"/>
                </a:solidFill>
              </a:rPr>
              <a:t>-</a:t>
            </a:r>
            <a:r>
              <a:rPr lang="zh-CN" altLang="en-US">
                <a:solidFill>
                  <a:srgbClr val="FF0000"/>
                </a:solidFill>
              </a:rPr>
              <a:t>风险评估</a:t>
            </a:r>
            <a:endParaRPr lang="zh-CN" altLang="en-US">
              <a:solidFill>
                <a:srgbClr val="FF0000"/>
              </a:solidFill>
            </a:endParaRPr>
          </a:p>
        </p:txBody>
      </p:sp>
      <p:sp>
        <p:nvSpPr>
          <p:cNvPr id="38915" name="内容占位符 2"/>
          <p:cNvSpPr>
            <a:spLocks noGrp="1"/>
          </p:cNvSpPr>
          <p:nvPr>
            <p:ph idx="1"/>
          </p:nvPr>
        </p:nvSpPr>
        <p:spPr>
          <a:xfrm>
            <a:off x="1900238" y="1412875"/>
            <a:ext cx="8281987" cy="2447925"/>
          </a:xfrm>
        </p:spPr>
        <p:txBody>
          <a:bodyPr/>
          <a:lstStyle/>
          <a:p>
            <a:pPr>
              <a:buFont typeface="Wingdings" panose="05000000000000000000" pitchFamily="2" charset="2"/>
              <a:buNone/>
            </a:pPr>
            <a:r>
              <a:rPr lang="en-US" altLang="zh-CN">
                <a:solidFill>
                  <a:srgbClr val="0033CC"/>
                </a:solidFill>
              </a:rPr>
              <a:t>     </a:t>
            </a:r>
            <a:r>
              <a:rPr lang="zh-CN" altLang="en-US" sz="2400">
                <a:solidFill>
                  <a:srgbClr val="0033CC"/>
                </a:solidFill>
              </a:rPr>
              <a:t>网络空间</a:t>
            </a:r>
            <a:r>
              <a:rPr lang="zh-CN" altLang="zh-CN" sz="2400">
                <a:solidFill>
                  <a:srgbClr val="0033CC"/>
                </a:solidFill>
              </a:rPr>
              <a:t>安全风险评估就是从风险管理角度，运用科学的方法和手段，系统地分析信息系统所面临的威胁及其存在的脆弱性，评估安全事件一旦发生可能造成的危害程度，提出有针对性的抵御威胁的防护对策和整改措施；为防范和化解</a:t>
            </a:r>
            <a:r>
              <a:rPr lang="zh-CN" altLang="en-US" sz="2400">
                <a:solidFill>
                  <a:srgbClr val="0033CC"/>
                </a:solidFill>
              </a:rPr>
              <a:t>网络空间</a:t>
            </a:r>
            <a:r>
              <a:rPr lang="zh-CN" altLang="zh-CN" sz="2400">
                <a:solidFill>
                  <a:srgbClr val="0033CC"/>
                </a:solidFill>
              </a:rPr>
              <a:t>安全风险，将风险控制在可接受的水平，从而最大限度地保障</a:t>
            </a:r>
            <a:r>
              <a:rPr lang="zh-CN" altLang="en-US" sz="2400">
                <a:solidFill>
                  <a:srgbClr val="0033CC"/>
                </a:solidFill>
              </a:rPr>
              <a:t>网络空间</a:t>
            </a:r>
            <a:r>
              <a:rPr lang="zh-CN" altLang="zh-CN" sz="2400">
                <a:solidFill>
                  <a:srgbClr val="0033CC"/>
                </a:solidFill>
              </a:rPr>
              <a:t>安全提供科学依据。</a:t>
            </a:r>
            <a:endParaRPr lang="en-US" altLang="zh-CN">
              <a:solidFill>
                <a:srgbClr val="0033CC"/>
              </a:solidFill>
            </a:endParaRPr>
          </a:p>
          <a:p>
            <a:endParaRPr lang="zh-CN" altLang="en-US">
              <a:solidFill>
                <a:srgbClr val="0033CC"/>
              </a:solidFill>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63813" y="3933825"/>
            <a:ext cx="317182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72263" y="3827463"/>
            <a:ext cx="3240087"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2895600" y="5800725"/>
            <a:ext cx="2481580" cy="368300"/>
          </a:xfrm>
          <a:prstGeom prst="rect">
            <a:avLst/>
          </a:prstGeom>
        </p:spPr>
        <p:txBody>
          <a:bodyPr wrap="none">
            <a:spAutoFit/>
          </a:bodyPr>
          <a:lstStyle/>
          <a:p>
            <a:pPr eaLnBrk="1" hangingPunct="1">
              <a:defRPr/>
            </a:pPr>
            <a:r>
              <a:rPr lang="zh-CN" altLang="en-US" b="1" dirty="0">
                <a:solidFill>
                  <a:srgbClr val="FF0000"/>
                </a:solidFill>
                <a:latin typeface="+mn-ea"/>
                <a:ea typeface="+mn-ea"/>
              </a:rPr>
              <a:t>不存在风险，因为无人</a:t>
            </a:r>
            <a:endParaRPr lang="zh-CN" altLang="en-US" dirty="0">
              <a:solidFill>
                <a:srgbClr val="FF0000"/>
              </a:solidFill>
              <a:latin typeface="+mn-ea"/>
              <a:ea typeface="+mn-ea"/>
            </a:endParaRPr>
          </a:p>
        </p:txBody>
      </p:sp>
      <p:sp>
        <p:nvSpPr>
          <p:cNvPr id="16" name="椭圆 15"/>
          <p:cNvSpPr/>
          <p:nvPr/>
        </p:nvSpPr>
        <p:spPr>
          <a:xfrm>
            <a:off x="6672263" y="4797425"/>
            <a:ext cx="936625" cy="79216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风险</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p:cTn id="7" dur="500" fill="hold"/>
                                        <p:tgtEl>
                                          <p:spTgt spid="3891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891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891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childTnLst>
                          </p:cTn>
                        </p:par>
                        <p:par>
                          <p:cTn id="30" fill="hold">
                            <p:stCondLst>
                              <p:cond delay="500"/>
                            </p:stCondLst>
                            <p:childTnLst>
                              <p:par>
                                <p:cTn id="31" presetID="53" presetClass="entr" presetSubtype="16"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p:cTn id="33" dur="1500" fill="hold"/>
                                        <p:tgtEl>
                                          <p:spTgt spid="16"/>
                                        </p:tgtEl>
                                        <p:attrNameLst>
                                          <p:attrName>ppt_w</p:attrName>
                                        </p:attrNameLst>
                                      </p:cBhvr>
                                      <p:tavLst>
                                        <p:tav tm="0">
                                          <p:val>
                                            <p:fltVal val="0"/>
                                          </p:val>
                                        </p:tav>
                                        <p:tav tm="100000">
                                          <p:val>
                                            <p:strVal val="#ppt_w"/>
                                          </p:val>
                                        </p:tav>
                                      </p:tavLst>
                                    </p:anim>
                                    <p:anim calcmode="lin" valueType="num">
                                      <p:cBhvr>
                                        <p:cTn id="34" dur="1500" fill="hold"/>
                                        <p:tgtEl>
                                          <p:spTgt spid="16"/>
                                        </p:tgtEl>
                                        <p:attrNameLst>
                                          <p:attrName>ppt_h</p:attrName>
                                        </p:attrNameLst>
                                      </p:cBhvr>
                                      <p:tavLst>
                                        <p:tav tm="0">
                                          <p:val>
                                            <p:fltVal val="0"/>
                                          </p:val>
                                        </p:tav>
                                        <p:tav tm="100000">
                                          <p:val>
                                            <p:strVal val="#ppt_h"/>
                                          </p:val>
                                        </p:tav>
                                      </p:tavLst>
                                    </p:anim>
                                    <p:animEffect transition="in" filter="fade">
                                      <p:cBhvr>
                                        <p:cTn id="35" dur="1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P spid="12" grpId="0"/>
      <p:bldP spid="16"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gray">
          <a:xfrm>
            <a:off x="1905000" y="1079500"/>
            <a:ext cx="2590800" cy="5256213"/>
          </a:xfrm>
          <a:prstGeom prst="rect">
            <a:avLst/>
          </a:prstGeom>
          <a:noFill/>
          <a:ln w="9525">
            <a:noFill/>
            <a:miter lim="800000"/>
          </a:ln>
        </p:spPr>
        <p:txBody>
          <a:bodyPr/>
          <a:lstStyle>
            <a:lvl1pPr marL="342900" indent="-342900" algn="l" rtl="0" eaLnBrk="0" fontAlgn="base" hangingPunct="0">
              <a:spcBef>
                <a:spcPct val="20000"/>
              </a:spcBef>
              <a:spcAft>
                <a:spcPct val="0"/>
              </a:spcAft>
              <a:buClr>
                <a:srgbClr val="3399FF"/>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anose="05000000000000000000"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n-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n-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n-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n-ea"/>
              </a:defRPr>
            </a:lvl9pPr>
          </a:lstStyle>
          <a:p>
            <a:pPr marL="0" indent="0" defTabSz="179705">
              <a:buFont typeface="Wingdings" panose="05000000000000000000" pitchFamily="2" charset="2"/>
              <a:buNone/>
              <a:defRPr/>
            </a:pPr>
            <a:r>
              <a:rPr lang="en-US" altLang="zh-CN" sz="2400" b="1" kern="0" dirty="0">
                <a:solidFill>
                  <a:srgbClr val="161616"/>
                </a:solidFill>
                <a:latin typeface="Arial" panose="020B0604020202020204" pitchFamily="34" charset="0"/>
                <a:ea typeface="宋体" panose="02010600030101010101" pitchFamily="2" charset="-122"/>
                <a:sym typeface="Arial" panose="020B0604020202020204" pitchFamily="34" charset="0"/>
              </a:rPr>
              <a:t>《</a:t>
            </a:r>
            <a:r>
              <a:rPr lang="zh-CN" altLang="en-US" sz="2400" b="1" kern="0" dirty="0">
                <a:solidFill>
                  <a:srgbClr val="161616"/>
                </a:solidFill>
                <a:latin typeface="Arial" panose="020B0604020202020204" pitchFamily="34" charset="0"/>
                <a:ea typeface="宋体" panose="02010600030101010101" pitchFamily="2" charset="-122"/>
                <a:sym typeface="Arial" panose="020B0604020202020204" pitchFamily="34" charset="0"/>
              </a:rPr>
              <a:t>信息安全风险评估规范</a:t>
            </a:r>
            <a:r>
              <a:rPr lang="en-US" altLang="zh-CN" sz="2400" b="1" kern="0" dirty="0">
                <a:solidFill>
                  <a:srgbClr val="161616"/>
                </a:solidFill>
                <a:latin typeface="Arial" panose="020B0604020202020204" pitchFamily="34" charset="0"/>
                <a:ea typeface="宋体" panose="02010600030101010101" pitchFamily="2" charset="-122"/>
                <a:sym typeface="Arial" panose="020B0604020202020204" pitchFamily="34" charset="0"/>
              </a:rPr>
              <a:t>》</a:t>
            </a:r>
            <a:r>
              <a:rPr lang="en-US" altLang="zh-CN" sz="2400" b="1" kern="0" dirty="0">
                <a:solidFill>
                  <a:srgbClr val="C00000"/>
                </a:solidFill>
                <a:ea typeface="宋体" panose="02010600030101010101" pitchFamily="2" charset="-122"/>
                <a:sym typeface="黑体" panose="02010609060101010101" pitchFamily="49" charset="-122"/>
              </a:rPr>
              <a:t>GB/T20984</a:t>
            </a:r>
            <a:r>
              <a:rPr lang="en-US" altLang="zh-CN" sz="2400" b="1" kern="0" dirty="0">
                <a:solidFill>
                  <a:srgbClr val="161616"/>
                </a:solidFill>
                <a:latin typeface="Arial" panose="020B0604020202020204" pitchFamily="34" charset="0"/>
                <a:ea typeface="宋体" panose="02010600030101010101" pitchFamily="2" charset="-122"/>
                <a:sym typeface="Arial" panose="020B0604020202020204" pitchFamily="34" charset="0"/>
              </a:rPr>
              <a:t> </a:t>
            </a:r>
            <a:r>
              <a:rPr lang="zh-CN" altLang="en-US" sz="2400" b="1" kern="0" dirty="0">
                <a:solidFill>
                  <a:srgbClr val="161616"/>
                </a:solidFill>
                <a:latin typeface="Arial" panose="020B0604020202020204" pitchFamily="34" charset="0"/>
                <a:ea typeface="宋体" panose="02010600030101010101" pitchFamily="2" charset="-122"/>
                <a:sym typeface="Arial" panose="020B0604020202020204" pitchFamily="34" charset="0"/>
              </a:rPr>
              <a:t>对</a:t>
            </a:r>
            <a:r>
              <a:rPr lang="en-US" altLang="zh-CN" sz="2400" b="1" kern="0" dirty="0">
                <a:solidFill>
                  <a:srgbClr val="161616"/>
                </a:solidFill>
                <a:latin typeface="Arial" panose="020B0604020202020204" pitchFamily="34" charset="0"/>
                <a:ea typeface="宋体" panose="02010600030101010101" pitchFamily="2" charset="-122"/>
                <a:sym typeface="Arial" panose="020B0604020202020204" pitchFamily="34" charset="0"/>
              </a:rPr>
              <a:t>ISO/IEC 13335-1</a:t>
            </a:r>
            <a:r>
              <a:rPr lang="zh-CN" altLang="en-US" sz="2400" b="1" kern="0" dirty="0">
                <a:solidFill>
                  <a:srgbClr val="161616"/>
                </a:solidFill>
                <a:latin typeface="Arial" panose="020B0604020202020204" pitchFamily="34" charset="0"/>
                <a:ea typeface="宋体" panose="02010600030101010101" pitchFamily="2" charset="-122"/>
                <a:sym typeface="Arial" panose="020B0604020202020204" pitchFamily="34" charset="0"/>
              </a:rPr>
              <a:t>提出风险要素关系模型进行了扩展</a:t>
            </a:r>
            <a:endParaRPr lang="en-US" altLang="zh-CN" sz="2400" b="1" kern="0" dirty="0">
              <a:solidFill>
                <a:srgbClr val="161616"/>
              </a:solidFill>
              <a:latin typeface="Arial" panose="020B0604020202020204" pitchFamily="34" charset="0"/>
              <a:ea typeface="宋体" panose="02010600030101010101" pitchFamily="2" charset="-122"/>
              <a:sym typeface="Arial" panose="020B0604020202020204" pitchFamily="34" charset="0"/>
            </a:endParaRPr>
          </a:p>
          <a:p>
            <a:pPr marL="0" indent="0" defTabSz="179705">
              <a:buFont typeface="Wingdings" panose="05000000000000000000" pitchFamily="2" charset="2"/>
              <a:buNone/>
              <a:defRPr/>
            </a:pPr>
            <a:r>
              <a:rPr lang="zh-CN" altLang="en-US" sz="2400" b="1" kern="0" dirty="0">
                <a:solidFill>
                  <a:srgbClr val="C00000"/>
                </a:solidFill>
                <a:ea typeface="宋体" panose="02010600030101010101" pitchFamily="2" charset="-122"/>
                <a:sym typeface="黑体" panose="02010609060101010101" pitchFamily="49" charset="-122"/>
              </a:rPr>
              <a:t>我国提出的信息风险要素关系图</a:t>
            </a:r>
            <a:endParaRPr lang="zh-CN" altLang="en-US" sz="2400" b="1" kern="0" dirty="0">
              <a:solidFill>
                <a:srgbClr val="161616"/>
              </a:solidFill>
              <a:latin typeface="Arial" panose="020B0604020202020204" pitchFamily="34" charset="0"/>
              <a:ea typeface="宋体" panose="02010600030101010101" pitchFamily="2" charset="-122"/>
              <a:sym typeface="Arial" panose="020B0604020202020204" pitchFamily="34" charset="0"/>
            </a:endParaRPr>
          </a:p>
          <a:p>
            <a:pPr marL="179705" lvl="1" indent="0" defTabSz="179705">
              <a:lnSpc>
                <a:spcPct val="80000"/>
              </a:lnSpc>
              <a:buFont typeface="Wingdings" panose="05000000000000000000" pitchFamily="2" charset="2"/>
              <a:buNone/>
              <a:defRPr/>
            </a:pPr>
            <a:endParaRPr lang="zh-CN" altLang="en-US" sz="2900" kern="0" dirty="0">
              <a:ea typeface="宋体" panose="02010600030101010101" pitchFamily="2" charset="-122"/>
            </a:endParaRPr>
          </a:p>
        </p:txBody>
      </p:sp>
      <p:graphicFrame>
        <p:nvGraphicFramePr>
          <p:cNvPr id="7" name="Object 42"/>
          <p:cNvGraphicFramePr>
            <a:graphicFrameLocks noChangeAspect="1"/>
          </p:cNvGraphicFramePr>
          <p:nvPr/>
        </p:nvGraphicFramePr>
        <p:xfrm>
          <a:off x="4367213" y="765175"/>
          <a:ext cx="6121400" cy="5427663"/>
        </p:xfrm>
        <a:graphic>
          <a:graphicData uri="http://schemas.openxmlformats.org/presentationml/2006/ole">
            <mc:AlternateContent xmlns:mc="http://schemas.openxmlformats.org/markup-compatibility/2006">
              <mc:Choice xmlns:v="urn:schemas-microsoft-com:vml" Requires="v">
                <p:oleObj spid="_x0000_s1033" name="" r:id="rId1" imgW="5599430" imgH="4955540" progId="Visio.Drawing.11">
                  <p:embed/>
                </p:oleObj>
              </mc:Choice>
              <mc:Fallback>
                <p:oleObj name="" r:id="rId1" imgW="5599430" imgH="4955540" progId="Visio.Drawing.11">
                  <p:embed/>
                  <p:pic>
                    <p:nvPicPr>
                      <p:cNvPr id="0" name="Object 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7213" y="765175"/>
                        <a:ext cx="6121400" cy="542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fltVal val="0"/>
                                          </p:val>
                                        </p:tav>
                                        <p:tav tm="100000">
                                          <p:val>
                                            <p:strVal val="#ppt_w"/>
                                          </p:val>
                                        </p:tav>
                                      </p:tavLst>
                                    </p:anim>
                                    <p:anim calcmode="lin" valueType="num">
                                      <p:cBhvr>
                                        <p:cTn id="13" dur="1000" fill="hold"/>
                                        <p:tgtEl>
                                          <p:spTgt spid="7"/>
                                        </p:tgtEl>
                                        <p:attrNameLst>
                                          <p:attrName>ppt_h</p:attrName>
                                        </p:attrNameLst>
                                      </p:cBhvr>
                                      <p:tavLst>
                                        <p:tav tm="0">
                                          <p:val>
                                            <p:fltVal val="0"/>
                                          </p:val>
                                        </p:tav>
                                        <p:tav tm="100000">
                                          <p:val>
                                            <p:strVal val="#ppt_h"/>
                                          </p:val>
                                        </p:tav>
                                      </p:tavLst>
                                    </p:anim>
                                    <p:animEffect transition="in" filter="fade">
                                      <p:cBhvr>
                                        <p:cTn id="1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825625" y="3284538"/>
            <a:ext cx="3409950" cy="2152650"/>
          </a:xfrm>
          <a:prstGeom prst="rect">
            <a:avLst/>
          </a:prstGeom>
          <a:ln w="38100">
            <a:solidFill>
              <a:srgbClr val="0033CC"/>
            </a:solidFill>
          </a:ln>
          <a:effectLst>
            <a:outerShdw blurRad="63500" sx="102000" sy="102000" algn="ctr" rotWithShape="0">
              <a:prstClr val="black">
                <a:alpha val="40000"/>
              </a:prstClr>
            </a:outerShdw>
          </a:effectLst>
        </p:spPr>
      </p:pic>
      <p:pic>
        <p:nvPicPr>
          <p:cNvPr id="7" name="图片 6"/>
          <p:cNvPicPr>
            <a:picLocks noChangeAspect="1"/>
          </p:cNvPicPr>
          <p:nvPr/>
        </p:nvPicPr>
        <p:blipFill>
          <a:blip r:embed="rId2"/>
          <a:stretch>
            <a:fillRect/>
          </a:stretch>
        </p:blipFill>
        <p:spPr>
          <a:xfrm>
            <a:off x="5591175" y="836613"/>
            <a:ext cx="4826000" cy="5373687"/>
          </a:xfrm>
          <a:prstGeom prst="rect">
            <a:avLst/>
          </a:prstGeom>
          <a:ln w="38100">
            <a:solidFill>
              <a:srgbClr val="0033CC"/>
            </a:solidFill>
          </a:ln>
          <a:effectLst>
            <a:outerShdw blurRad="63500" sx="102000" sy="102000" algn="ctr" rotWithShape="0">
              <a:prstClr val="black">
                <a:alpha val="40000"/>
              </a:prstClr>
            </a:outerShdw>
          </a:effectLst>
        </p:spPr>
      </p:pic>
      <p:pic>
        <p:nvPicPr>
          <p:cNvPr id="8" name="图片 7"/>
          <p:cNvPicPr>
            <a:picLocks noChangeAspect="1"/>
          </p:cNvPicPr>
          <p:nvPr/>
        </p:nvPicPr>
        <p:blipFill>
          <a:blip r:embed="rId3"/>
          <a:stretch>
            <a:fillRect/>
          </a:stretch>
        </p:blipFill>
        <p:spPr>
          <a:xfrm>
            <a:off x="1825625" y="836613"/>
            <a:ext cx="3409950" cy="1997075"/>
          </a:xfrm>
          <a:prstGeom prst="rect">
            <a:avLst/>
          </a:prstGeom>
          <a:ln w="38100">
            <a:solidFill>
              <a:srgbClr val="FF0000"/>
            </a:solidFill>
          </a:ln>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2000" fill="hold"/>
                                        <p:tgtEl>
                                          <p:spTgt spid="7"/>
                                        </p:tgtEl>
                                        <p:attrNameLst>
                                          <p:attrName>ppt_w</p:attrName>
                                        </p:attrNameLst>
                                      </p:cBhvr>
                                      <p:tavLst>
                                        <p:tav tm="0">
                                          <p:val>
                                            <p:fltVal val="0"/>
                                          </p:val>
                                        </p:tav>
                                        <p:tav tm="100000">
                                          <p:val>
                                            <p:strVal val="#ppt_w"/>
                                          </p:val>
                                        </p:tav>
                                      </p:tavLst>
                                    </p:anim>
                                    <p:anim calcmode="lin" valueType="num">
                                      <p:cBhvr>
                                        <p:cTn id="20" dur="2000" fill="hold"/>
                                        <p:tgtEl>
                                          <p:spTgt spid="7"/>
                                        </p:tgtEl>
                                        <p:attrNameLst>
                                          <p:attrName>ppt_h</p:attrName>
                                        </p:attrNameLst>
                                      </p:cBhvr>
                                      <p:tavLst>
                                        <p:tav tm="0">
                                          <p:val>
                                            <p:fltVal val="0"/>
                                          </p:val>
                                        </p:tav>
                                        <p:tav tm="100000">
                                          <p:val>
                                            <p:strVal val="#ppt_h"/>
                                          </p:val>
                                        </p:tav>
                                      </p:tavLst>
                                    </p:anim>
                                    <p:animEffect transition="in" filter="fade">
                                      <p:cBhvr>
                                        <p:cTn id="2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919288" y="955675"/>
            <a:ext cx="3940175" cy="2519363"/>
          </a:xfrm>
          <a:prstGeom prst="rect">
            <a:avLst/>
          </a:prstGeom>
          <a:ln w="38100">
            <a:solidFill>
              <a:srgbClr val="0033CC"/>
            </a:solidFill>
          </a:ln>
          <a:effectLst>
            <a:outerShdw blurRad="63500" sx="102000" sy="102000" algn="ctr" rotWithShape="0">
              <a:prstClr val="black">
                <a:alpha val="40000"/>
              </a:prstClr>
            </a:outerShdw>
          </a:effectLst>
        </p:spPr>
      </p:pic>
      <p:pic>
        <p:nvPicPr>
          <p:cNvPr id="7" name="图片 6"/>
          <p:cNvPicPr>
            <a:picLocks noChangeAspect="1"/>
          </p:cNvPicPr>
          <p:nvPr/>
        </p:nvPicPr>
        <p:blipFill>
          <a:blip r:embed="rId2"/>
          <a:stretch>
            <a:fillRect/>
          </a:stretch>
        </p:blipFill>
        <p:spPr>
          <a:xfrm>
            <a:off x="6176963" y="955675"/>
            <a:ext cx="4022725" cy="2517775"/>
          </a:xfrm>
          <a:prstGeom prst="rect">
            <a:avLst/>
          </a:prstGeom>
          <a:ln w="38100">
            <a:solidFill>
              <a:srgbClr val="0033CC"/>
            </a:solidFill>
          </a:ln>
          <a:effectLst>
            <a:outerShdw blurRad="63500" sx="102000" sy="102000" algn="ctr" rotWithShape="0">
              <a:prstClr val="black">
                <a:alpha val="40000"/>
              </a:prstClr>
            </a:outerShdw>
          </a:effectLst>
        </p:spPr>
      </p:pic>
      <p:pic>
        <p:nvPicPr>
          <p:cNvPr id="8" name="图片 7"/>
          <p:cNvPicPr>
            <a:picLocks noChangeAspect="1"/>
          </p:cNvPicPr>
          <p:nvPr/>
        </p:nvPicPr>
        <p:blipFill>
          <a:blip r:embed="rId3"/>
          <a:stretch>
            <a:fillRect/>
          </a:stretch>
        </p:blipFill>
        <p:spPr>
          <a:xfrm>
            <a:off x="1939925" y="3656013"/>
            <a:ext cx="3940175" cy="2487612"/>
          </a:xfrm>
          <a:prstGeom prst="rect">
            <a:avLst/>
          </a:prstGeom>
          <a:ln w="38100">
            <a:solidFill>
              <a:srgbClr val="0033CC"/>
            </a:solidFill>
          </a:ln>
          <a:effectLst>
            <a:outerShdw blurRad="63500" sx="102000" sy="102000" algn="ctr" rotWithShape="0">
              <a:prstClr val="black">
                <a:alpha val="40000"/>
              </a:prstClr>
            </a:outerShdw>
          </a:effectLst>
        </p:spPr>
      </p:pic>
      <p:pic>
        <p:nvPicPr>
          <p:cNvPr id="9" name="图片 8"/>
          <p:cNvPicPr>
            <a:picLocks noChangeAspect="1"/>
          </p:cNvPicPr>
          <p:nvPr/>
        </p:nvPicPr>
        <p:blipFill>
          <a:blip r:embed="rId4"/>
          <a:stretch>
            <a:fillRect/>
          </a:stretch>
        </p:blipFill>
        <p:spPr>
          <a:xfrm>
            <a:off x="6176963" y="3656013"/>
            <a:ext cx="4022725" cy="2487612"/>
          </a:xfrm>
          <a:prstGeom prst="rect">
            <a:avLst/>
          </a:prstGeom>
          <a:ln w="38100">
            <a:solidFill>
              <a:srgbClr val="0033CC"/>
            </a:solidFill>
          </a:ln>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2000" fill="hold"/>
                                        <p:tgtEl>
                                          <p:spTgt spid="7"/>
                                        </p:tgtEl>
                                        <p:attrNameLst>
                                          <p:attrName>ppt_x</p:attrName>
                                        </p:attrNameLst>
                                      </p:cBhvr>
                                      <p:tavLst>
                                        <p:tav tm="0">
                                          <p:val>
                                            <p:strVal val="1+#ppt_w/2"/>
                                          </p:val>
                                        </p:tav>
                                        <p:tav tm="100000">
                                          <p:val>
                                            <p:strVal val="#ppt_x"/>
                                          </p:val>
                                        </p:tav>
                                      </p:tavLst>
                                    </p:anim>
                                    <p:anim calcmode="lin" valueType="num">
                                      <p:cBhvr additive="base">
                                        <p:cTn id="13" dur="20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2500"/>
                            </p:stCondLst>
                            <p:childTnLst>
                              <p:par>
                                <p:cTn id="15" presetID="2" presetClass="entr" presetSubtype="8"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2000" fill="hold"/>
                                        <p:tgtEl>
                                          <p:spTgt spid="8"/>
                                        </p:tgtEl>
                                        <p:attrNameLst>
                                          <p:attrName>ppt_x</p:attrName>
                                        </p:attrNameLst>
                                      </p:cBhvr>
                                      <p:tavLst>
                                        <p:tav tm="0">
                                          <p:val>
                                            <p:strVal val="0-#ppt_w/2"/>
                                          </p:val>
                                        </p:tav>
                                        <p:tav tm="100000">
                                          <p:val>
                                            <p:strVal val="#ppt_x"/>
                                          </p:val>
                                        </p:tav>
                                      </p:tavLst>
                                    </p:anim>
                                    <p:anim calcmode="lin" valueType="num">
                                      <p:cBhvr additive="base">
                                        <p:cTn id="18" dur="2000" fill="hold"/>
                                        <p:tgtEl>
                                          <p:spTgt spid="8"/>
                                        </p:tgtEl>
                                        <p:attrNameLst>
                                          <p:attrName>ppt_y</p:attrName>
                                        </p:attrNameLst>
                                      </p:cBhvr>
                                      <p:tavLst>
                                        <p:tav tm="0">
                                          <p:val>
                                            <p:strVal val="#ppt_y"/>
                                          </p:val>
                                        </p:tav>
                                        <p:tav tm="100000">
                                          <p:val>
                                            <p:strVal val="#ppt_y"/>
                                          </p:val>
                                        </p:tav>
                                      </p:tavLst>
                                    </p:anim>
                                  </p:childTnLst>
                                </p:cTn>
                              </p:par>
                            </p:childTnLst>
                          </p:cTn>
                        </p:par>
                        <p:par>
                          <p:cTn id="19" fill="hold">
                            <p:stCondLst>
                              <p:cond delay="4500"/>
                            </p:stCondLst>
                            <p:childTnLst>
                              <p:par>
                                <p:cTn id="20" presetID="2" presetClass="entr" presetSubtype="2"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2000" fill="hold"/>
                                        <p:tgtEl>
                                          <p:spTgt spid="9"/>
                                        </p:tgtEl>
                                        <p:attrNameLst>
                                          <p:attrName>ppt_x</p:attrName>
                                        </p:attrNameLst>
                                      </p:cBhvr>
                                      <p:tavLst>
                                        <p:tav tm="0">
                                          <p:val>
                                            <p:strVal val="1+#ppt_w/2"/>
                                          </p:val>
                                        </p:tav>
                                        <p:tav tm="100000">
                                          <p:val>
                                            <p:strVal val="#ppt_x"/>
                                          </p:val>
                                        </p:tav>
                                      </p:tavLst>
                                    </p:anim>
                                    <p:anim calcmode="lin" valueType="num">
                                      <p:cBhvr additive="base">
                                        <p:cTn id="23" dur="2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6311900" y="1898650"/>
            <a:ext cx="4176713" cy="4246563"/>
          </a:xfrm>
          <a:prstGeom prst="rect">
            <a:avLst/>
          </a:prstGeom>
          <a:ln w="38100">
            <a:solidFill>
              <a:srgbClr val="0033CC"/>
            </a:solidFill>
          </a:ln>
          <a:effectLst>
            <a:outerShdw blurRad="63500" sx="102000" sy="102000" algn="ctr" rotWithShape="0">
              <a:prstClr val="black">
                <a:alpha val="40000"/>
              </a:prstClr>
            </a:outerShdw>
          </a:effectLst>
        </p:spPr>
      </p:pic>
      <p:grpSp>
        <p:nvGrpSpPr>
          <p:cNvPr id="12" name="组合 11"/>
          <p:cNvGrpSpPr/>
          <p:nvPr/>
        </p:nvGrpSpPr>
        <p:grpSpPr bwMode="auto">
          <a:xfrm>
            <a:off x="1662113" y="1898650"/>
            <a:ext cx="4443412" cy="4248150"/>
            <a:chOff x="138008" y="1899049"/>
            <a:chExt cx="4443120" cy="4248472"/>
          </a:xfrm>
        </p:grpSpPr>
        <p:pic>
          <p:nvPicPr>
            <p:cNvPr id="9" name="图片 8"/>
            <p:cNvPicPr>
              <a:picLocks noChangeAspect="1"/>
            </p:cNvPicPr>
            <p:nvPr/>
          </p:nvPicPr>
          <p:blipFill>
            <a:blip r:embed="rId2"/>
            <a:stretch>
              <a:fillRect/>
            </a:stretch>
          </p:blipFill>
          <p:spPr>
            <a:xfrm>
              <a:off x="138008" y="1899049"/>
              <a:ext cx="4443120" cy="4248472"/>
            </a:xfrm>
            <a:prstGeom prst="rect">
              <a:avLst/>
            </a:prstGeom>
            <a:ln w="38100">
              <a:solidFill>
                <a:srgbClr val="0033CC"/>
              </a:solidFill>
            </a:ln>
            <a:effectLst>
              <a:outerShdw blurRad="63500" sx="102000" sy="102000" algn="ctr" rotWithShape="0">
                <a:prstClr val="black">
                  <a:alpha val="40000"/>
                </a:prstClr>
              </a:outerShdw>
            </a:effectLst>
          </p:spPr>
        </p:pic>
        <p:sp>
          <p:nvSpPr>
            <p:cNvPr id="46088" name="文本框 10"/>
            <p:cNvSpPr txBox="1">
              <a:spLocks noChangeArrowheads="1"/>
            </p:cNvSpPr>
            <p:nvPr/>
          </p:nvSpPr>
          <p:spPr bwMode="auto">
            <a:xfrm>
              <a:off x="251520" y="5589240"/>
              <a:ext cx="4248472" cy="368328"/>
            </a:xfrm>
            <a:prstGeom prst="rect">
              <a:avLst/>
            </a:prstGeom>
            <a:noFill/>
            <a:ln w="5715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pSp>
      <p:pic>
        <p:nvPicPr>
          <p:cNvPr id="6" name="图片 5"/>
          <p:cNvPicPr>
            <a:picLocks noChangeAspect="1"/>
          </p:cNvPicPr>
          <p:nvPr/>
        </p:nvPicPr>
        <p:blipFill>
          <a:blip r:embed="rId3"/>
          <a:stretch>
            <a:fillRect/>
          </a:stretch>
        </p:blipFill>
        <p:spPr>
          <a:xfrm>
            <a:off x="3810000" y="692150"/>
            <a:ext cx="4589463" cy="1441450"/>
          </a:xfrm>
          <a:prstGeom prst="rect">
            <a:avLst/>
          </a:prstGeom>
          <a:solidFill>
            <a:srgbClr val="FF0000"/>
          </a:solidFill>
          <a:ln w="38100">
            <a:solidFill>
              <a:srgbClr val="FF0000"/>
            </a:solidFill>
          </a:ln>
          <a:effectLst>
            <a:outerShdw blurRad="63500" sx="102000" sy="102000" algn="ctr" rotWithShape="0">
              <a:prstClr val="black">
                <a:alpha val="40000"/>
              </a:prst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ppt_x"/>
                                          </p:val>
                                        </p:tav>
                                        <p:tav tm="100000">
                                          <p:val>
                                            <p:strVal val="#ppt_x"/>
                                          </p:val>
                                        </p:tav>
                                      </p:tavLst>
                                    </p:anim>
                                    <p:anim calcmode="lin" valueType="num">
                                      <p:cBhvr additive="base">
                                        <p:cTn id="1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2" name="标题 1"/>
          <p:cNvSpPr>
            <a:spLocks noGrp="1"/>
          </p:cNvSpPr>
          <p:nvPr>
            <p:ph type="title"/>
          </p:nvPr>
        </p:nvSpPr>
        <p:spPr>
          <a:xfrm>
            <a:off x="2208213" y="981075"/>
            <a:ext cx="3435350" cy="487363"/>
          </a:xfrm>
        </p:spPr>
        <p:txBody>
          <a:bodyPr/>
          <a:lstStyle/>
          <a:p>
            <a:r>
              <a:rPr lang="zh-CN" altLang="en-US">
                <a:solidFill>
                  <a:srgbClr val="FF0000"/>
                </a:solidFill>
              </a:rPr>
              <a:t>课堂思考：</a:t>
            </a:r>
            <a:endParaRPr lang="zh-CN" altLang="en-US">
              <a:solidFill>
                <a:srgbClr val="FF0000"/>
              </a:solidFill>
            </a:endParaRPr>
          </a:p>
        </p:txBody>
      </p:sp>
      <p:sp>
        <p:nvSpPr>
          <p:cNvPr id="7" name="标题 1"/>
          <p:cNvSpPr txBox="1"/>
          <p:nvPr/>
        </p:nvSpPr>
        <p:spPr bwMode="gray">
          <a:xfrm>
            <a:off x="5448300" y="2997200"/>
            <a:ext cx="4824413" cy="487363"/>
          </a:xfrm>
          <a:prstGeom prst="rect">
            <a:avLst/>
          </a:prstGeom>
          <a:noFill/>
          <a:ln w="9525">
            <a:noFill/>
            <a:miter lim="800000"/>
          </a:ln>
        </p:spPr>
        <p:txBody>
          <a:bodyPr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kern="0" dirty="0">
                <a:solidFill>
                  <a:srgbClr val="0033CC"/>
                </a:solidFill>
              </a:rPr>
              <a:t>你怎么理解风险评估？</a:t>
            </a:r>
            <a:endParaRPr lang="zh-CN" altLang="en-US" kern="0" dirty="0">
              <a:solidFill>
                <a:srgbClr val="0033CC"/>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2063750" y="812800"/>
            <a:ext cx="6513513" cy="487363"/>
          </a:xfrm>
        </p:spPr>
        <p:txBody>
          <a:bodyPr/>
          <a:lstStyle/>
          <a:p>
            <a:r>
              <a:rPr lang="zh-CN" altLang="en-US">
                <a:solidFill>
                  <a:srgbClr val="FF0000"/>
                </a:solidFill>
              </a:rPr>
              <a:t>风险评估的理解</a:t>
            </a:r>
            <a:endParaRPr lang="zh-CN" altLang="en-US">
              <a:solidFill>
                <a:srgbClr val="FF0000"/>
              </a:solidFill>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319963" y="2922588"/>
            <a:ext cx="2859087"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063750" y="1552575"/>
            <a:ext cx="7993063" cy="1014730"/>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000" dirty="0">
                <a:latin typeface="+mn-lt"/>
                <a:ea typeface="+mn-ea"/>
              </a:rPr>
              <a:t>信息系统的安全风险信息是</a:t>
            </a:r>
            <a:r>
              <a:rPr lang="zh-CN" altLang="en-US" sz="2000" dirty="0">
                <a:solidFill>
                  <a:srgbClr val="FF0000"/>
                </a:solidFill>
                <a:latin typeface="+mn-lt"/>
                <a:ea typeface="+mn-ea"/>
              </a:rPr>
              <a:t>动态变化的</a:t>
            </a:r>
            <a:r>
              <a:rPr lang="zh-CN" altLang="en-US" sz="2000" dirty="0">
                <a:latin typeface="+mn-lt"/>
                <a:ea typeface="+mn-ea"/>
              </a:rPr>
              <a:t>，只有动态的信息安全评估才能</a:t>
            </a:r>
            <a:r>
              <a:rPr lang="zh-CN" altLang="en-US" sz="2000" dirty="0">
                <a:solidFill>
                  <a:srgbClr val="0033CC"/>
                </a:solidFill>
                <a:latin typeface="+mn-lt"/>
                <a:ea typeface="+mn-ea"/>
              </a:rPr>
              <a:t>发现和跟踪最新的安全风险</a:t>
            </a:r>
            <a:r>
              <a:rPr lang="zh-CN" altLang="en-US" sz="2000" dirty="0">
                <a:latin typeface="+mn-lt"/>
                <a:ea typeface="+mn-ea"/>
              </a:rPr>
              <a:t>。所以信息安全评估</a:t>
            </a:r>
            <a:r>
              <a:rPr lang="zh-CN" altLang="en-US" sz="2000" dirty="0">
                <a:solidFill>
                  <a:srgbClr val="C00000"/>
                </a:solidFill>
                <a:latin typeface="+mn-lt"/>
                <a:ea typeface="+mn-ea"/>
              </a:rPr>
              <a:t>是一个长期持续的工作</a:t>
            </a:r>
            <a:r>
              <a:rPr lang="zh-CN" altLang="en-US" sz="2000" dirty="0">
                <a:latin typeface="+mn-lt"/>
                <a:ea typeface="+mn-ea"/>
              </a:rPr>
              <a:t>，通常应该每隔</a:t>
            </a:r>
            <a:r>
              <a:rPr lang="en-US" altLang="zh-CN" sz="2000" dirty="0">
                <a:latin typeface="+mn-lt"/>
                <a:ea typeface="+mn-ea"/>
              </a:rPr>
              <a:t>1-3</a:t>
            </a:r>
            <a:r>
              <a:rPr lang="zh-CN" altLang="en-US" sz="2000" dirty="0">
                <a:latin typeface="+mn-lt"/>
                <a:ea typeface="+mn-ea"/>
              </a:rPr>
              <a:t>年就进行一次全面安全风险评估。</a:t>
            </a:r>
            <a:endParaRPr lang="en-US" altLang="zh-CN" sz="2000" dirty="0">
              <a:latin typeface="+mn-lt"/>
              <a:ea typeface="+mn-ea"/>
            </a:endParaRPr>
          </a:p>
        </p:txBody>
      </p:sp>
      <p:sp>
        <p:nvSpPr>
          <p:cNvPr id="3" name="矩形 2"/>
          <p:cNvSpPr/>
          <p:nvPr/>
        </p:nvSpPr>
        <p:spPr>
          <a:xfrm>
            <a:off x="2087563" y="2668588"/>
            <a:ext cx="4378325" cy="398780"/>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000" dirty="0">
                <a:latin typeface="+mn-lt"/>
                <a:ea typeface="+mn-ea"/>
              </a:rPr>
              <a:t>风险评估是分析确定风险的</a:t>
            </a:r>
            <a:r>
              <a:rPr lang="zh-CN" altLang="en-US" sz="2000" dirty="0">
                <a:solidFill>
                  <a:srgbClr val="FF0000"/>
                </a:solidFill>
                <a:latin typeface="+mn-lt"/>
                <a:ea typeface="+mn-ea"/>
              </a:rPr>
              <a:t>过程</a:t>
            </a:r>
            <a:r>
              <a:rPr lang="zh-CN" altLang="en-US" sz="2000" dirty="0">
                <a:latin typeface="+mn-lt"/>
                <a:ea typeface="+mn-ea"/>
              </a:rPr>
              <a:t>。</a:t>
            </a:r>
            <a:endParaRPr lang="en-US" altLang="zh-CN" sz="2000" dirty="0">
              <a:latin typeface="+mn-lt"/>
              <a:ea typeface="+mn-ea"/>
            </a:endParaRPr>
          </a:p>
        </p:txBody>
      </p:sp>
      <p:sp>
        <p:nvSpPr>
          <p:cNvPr id="4" name="矩形 3"/>
          <p:cNvSpPr/>
          <p:nvPr/>
        </p:nvSpPr>
        <p:spPr>
          <a:xfrm>
            <a:off x="2078038" y="3265488"/>
            <a:ext cx="3863975" cy="398780"/>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000" dirty="0">
                <a:latin typeface="+mn-lt"/>
                <a:ea typeface="+mn-ea"/>
              </a:rPr>
              <a:t>风险评估的目的是</a:t>
            </a:r>
            <a:r>
              <a:rPr lang="zh-CN" altLang="en-US" sz="2000" dirty="0">
                <a:solidFill>
                  <a:srgbClr val="FF0000"/>
                </a:solidFill>
                <a:latin typeface="+mn-lt"/>
                <a:ea typeface="+mn-ea"/>
              </a:rPr>
              <a:t>控制风险</a:t>
            </a:r>
            <a:r>
              <a:rPr lang="zh-CN" altLang="en-US" sz="2000" dirty="0">
                <a:latin typeface="+mn-lt"/>
                <a:ea typeface="+mn-ea"/>
              </a:rPr>
              <a:t>。</a:t>
            </a:r>
            <a:endParaRPr lang="en-US" altLang="zh-CN" sz="2000" dirty="0">
              <a:latin typeface="+mn-lt"/>
              <a:ea typeface="+mn-ea"/>
            </a:endParaRPr>
          </a:p>
        </p:txBody>
      </p:sp>
      <p:sp>
        <p:nvSpPr>
          <p:cNvPr id="6" name="矩形 5"/>
          <p:cNvSpPr/>
          <p:nvPr/>
        </p:nvSpPr>
        <p:spPr>
          <a:xfrm>
            <a:off x="2063750" y="3805238"/>
            <a:ext cx="5111750" cy="398780"/>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000" dirty="0">
                <a:latin typeface="+mn-lt"/>
                <a:ea typeface="+mn-ea"/>
              </a:rPr>
              <a:t>风险评估是风险管理的</a:t>
            </a:r>
            <a:r>
              <a:rPr lang="zh-CN" altLang="en-US" sz="2000" dirty="0">
                <a:solidFill>
                  <a:srgbClr val="FF0000"/>
                </a:solidFill>
                <a:latin typeface="+mn-lt"/>
                <a:ea typeface="+mn-ea"/>
              </a:rPr>
              <a:t>起点和基础环节</a:t>
            </a:r>
            <a:r>
              <a:rPr lang="zh-CN" altLang="en-US" sz="2000" dirty="0"/>
              <a:t>。</a:t>
            </a:r>
            <a:endParaRPr lang="en-US" altLang="zh-CN" sz="2000" dirty="0">
              <a:solidFill>
                <a:srgbClr val="FF0000"/>
              </a:solidFill>
              <a:latin typeface="+mn-lt"/>
              <a:ea typeface="+mn-ea"/>
            </a:endParaRPr>
          </a:p>
        </p:txBody>
      </p:sp>
      <p:sp>
        <p:nvSpPr>
          <p:cNvPr id="7" name="矩形 6"/>
          <p:cNvSpPr/>
          <p:nvPr/>
        </p:nvSpPr>
        <p:spPr>
          <a:xfrm>
            <a:off x="2063750" y="4414838"/>
            <a:ext cx="4176713" cy="398780"/>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000" dirty="0">
                <a:latin typeface="+mn-lt"/>
                <a:ea typeface="+mn-ea"/>
              </a:rPr>
              <a:t>风险管理是在倡导</a:t>
            </a:r>
            <a:r>
              <a:rPr lang="zh-CN" altLang="en-US" sz="2000" dirty="0">
                <a:solidFill>
                  <a:srgbClr val="FF0000"/>
                </a:solidFill>
                <a:latin typeface="+mn-lt"/>
                <a:ea typeface="+mn-ea"/>
              </a:rPr>
              <a:t>适度安全</a:t>
            </a:r>
            <a:r>
              <a:rPr lang="zh-CN" altLang="en-US" sz="2000" dirty="0"/>
              <a:t>。</a:t>
            </a:r>
            <a:endParaRPr lang="en-US" altLang="zh-CN" sz="2000" dirty="0">
              <a:solidFill>
                <a:srgbClr val="FF0000"/>
              </a:solidFill>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1973263" y="1052513"/>
            <a:ext cx="8586787" cy="487362"/>
          </a:xfrm>
        </p:spPr>
        <p:txBody>
          <a:bodyPr/>
          <a:lstStyle/>
          <a:p>
            <a:r>
              <a:rPr lang="zh-CN" altLang="en-US">
                <a:solidFill>
                  <a:srgbClr val="FF0000"/>
                </a:solidFill>
              </a:rPr>
              <a:t>网络空间安全风险术语</a:t>
            </a:r>
            <a:r>
              <a:rPr lang="en-US" altLang="zh-CN">
                <a:solidFill>
                  <a:srgbClr val="FF0000"/>
                </a:solidFill>
              </a:rPr>
              <a:t>-</a:t>
            </a:r>
            <a:r>
              <a:rPr lang="zh-CN" altLang="en-US">
                <a:solidFill>
                  <a:srgbClr val="FF0000"/>
                </a:solidFill>
              </a:rPr>
              <a:t>风险评估</a:t>
            </a:r>
            <a:r>
              <a:rPr lang="en-US" altLang="zh-CN">
                <a:solidFill>
                  <a:srgbClr val="FF0000"/>
                </a:solidFill>
              </a:rPr>
              <a:t>vs</a:t>
            </a:r>
            <a:r>
              <a:rPr lang="zh-CN" altLang="en-US">
                <a:solidFill>
                  <a:srgbClr val="FF0000"/>
                </a:solidFill>
              </a:rPr>
              <a:t>风险管理</a:t>
            </a:r>
            <a:endParaRPr lang="zh-CN" altLang="en-US">
              <a:solidFill>
                <a:srgbClr val="FF0000"/>
              </a:solidFill>
            </a:endParaRPr>
          </a:p>
        </p:txBody>
      </p:sp>
      <p:graphicFrame>
        <p:nvGraphicFramePr>
          <p:cNvPr id="6" name="内容占位符 5"/>
          <p:cNvGraphicFramePr>
            <a:graphicFrameLocks noGrp="1"/>
          </p:cNvGraphicFramePr>
          <p:nvPr>
            <p:ph idx="1"/>
          </p:nvPr>
        </p:nvGraphicFramePr>
        <p:xfrm>
          <a:off x="1998452" y="2060848"/>
          <a:ext cx="8374380" cy="2601595"/>
        </p:xfrm>
        <a:graphic>
          <a:graphicData uri="http://schemas.openxmlformats.org/drawingml/2006/table">
            <a:tbl>
              <a:tblPr>
                <a:effectLst>
                  <a:outerShdw blurRad="50800" dist="38100" dir="13500000" algn="br" rotWithShape="0">
                    <a:prstClr val="black">
                      <a:alpha val="40000"/>
                    </a:prstClr>
                  </a:outerShdw>
                </a:effectLst>
              </a:tblPr>
              <a:tblGrid>
                <a:gridCol w="1111885"/>
                <a:gridCol w="3345815"/>
                <a:gridCol w="3916680"/>
              </a:tblGrid>
              <a:tr h="568325">
                <a:tc>
                  <a:txBody>
                    <a:bodyPr/>
                    <a:lstStyle/>
                    <a:p>
                      <a:pPr>
                        <a:lnSpc>
                          <a:spcPct val="150000"/>
                        </a:lnSpc>
                        <a:spcAft>
                          <a:spcPts val="0"/>
                        </a:spcAft>
                      </a:pPr>
                      <a:r>
                        <a:rPr lang="en-US" sz="2000" b="1" kern="100" dirty="0">
                          <a:solidFill>
                            <a:srgbClr val="000000"/>
                          </a:solidFill>
                          <a:latin typeface="Verdana" panose="020B0604030504040204"/>
                          <a:ea typeface="仿宋_GB2312"/>
                          <a:cs typeface="Times New Roman" panose="02020603050405020304"/>
                        </a:rPr>
                        <a:t> </a:t>
                      </a:r>
                      <a:endParaRPr lang="zh-CN" sz="2000" kern="100" dirty="0">
                        <a:latin typeface="Arial" panose="020B0604020202020204"/>
                        <a:ea typeface="仿宋_GB2312"/>
                        <a:cs typeface="Times New Roman" panose="02020603050405020304"/>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bg1">
                        <a:lumMod val="85000"/>
                      </a:schemeClr>
                    </a:solidFill>
                  </a:tcPr>
                </a:tc>
                <a:tc>
                  <a:txBody>
                    <a:bodyPr/>
                    <a:lstStyle/>
                    <a:p>
                      <a:pPr>
                        <a:lnSpc>
                          <a:spcPct val="150000"/>
                        </a:lnSpc>
                        <a:spcAft>
                          <a:spcPts val="0"/>
                        </a:spcAft>
                      </a:pPr>
                      <a:r>
                        <a:rPr lang="zh-CN" sz="2000" b="1" kern="100" dirty="0">
                          <a:solidFill>
                            <a:srgbClr val="000000"/>
                          </a:solidFill>
                          <a:latin typeface="Verdana" panose="020B0604030504040204"/>
                          <a:ea typeface="仿宋_GB2312"/>
                          <a:cs typeface="Times New Roman" panose="02020603050405020304"/>
                        </a:rPr>
                        <a:t>风险管理</a:t>
                      </a:r>
                      <a:endParaRPr lang="zh-CN" sz="2000" kern="100" dirty="0">
                        <a:latin typeface="Arial" panose="020B0604020202020204"/>
                        <a:ea typeface="仿宋_GB2312"/>
                        <a:cs typeface="Times New Roman" panose="02020603050405020304"/>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tx2">
                        <a:lumMod val="20000"/>
                        <a:lumOff val="80000"/>
                      </a:schemeClr>
                    </a:solidFill>
                  </a:tcPr>
                </a:tc>
                <a:tc>
                  <a:txBody>
                    <a:bodyPr/>
                    <a:lstStyle/>
                    <a:p>
                      <a:pPr>
                        <a:lnSpc>
                          <a:spcPct val="150000"/>
                        </a:lnSpc>
                        <a:spcAft>
                          <a:spcPts val="0"/>
                        </a:spcAft>
                      </a:pPr>
                      <a:r>
                        <a:rPr lang="zh-CN" sz="2000" b="1" kern="100" dirty="0">
                          <a:solidFill>
                            <a:srgbClr val="000000"/>
                          </a:solidFill>
                          <a:latin typeface="Verdana" panose="020B0604030504040204"/>
                          <a:ea typeface="仿宋_GB2312"/>
                          <a:cs typeface="Times New Roman" panose="02020603050405020304"/>
                        </a:rPr>
                        <a:t>风险评估</a:t>
                      </a:r>
                      <a:endParaRPr lang="zh-CN" sz="2000" kern="100" dirty="0">
                        <a:latin typeface="Arial" panose="020B0604020202020204"/>
                        <a:ea typeface="仿宋_GB2312"/>
                        <a:cs typeface="Times New Roman" panose="02020603050405020304"/>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C000"/>
                    </a:solidFill>
                  </a:tcPr>
                </a:tc>
              </a:tr>
              <a:tr h="541655">
                <a:tc>
                  <a:txBody>
                    <a:bodyPr/>
                    <a:lstStyle/>
                    <a:p>
                      <a:pPr>
                        <a:lnSpc>
                          <a:spcPct val="140000"/>
                        </a:lnSpc>
                        <a:spcAft>
                          <a:spcPts val="0"/>
                        </a:spcAft>
                      </a:pPr>
                      <a:r>
                        <a:rPr lang="zh-CN" sz="2000" b="1" kern="100" dirty="0">
                          <a:latin typeface="Verdana" panose="020B0604030504040204"/>
                          <a:ea typeface="宋体" panose="02010600030101010101" pitchFamily="2" charset="-122"/>
                          <a:cs typeface="宋体" panose="02010600030101010101" pitchFamily="2" charset="-122"/>
                        </a:rPr>
                        <a:t>目标</a:t>
                      </a:r>
                      <a:endParaRPr lang="zh-CN" sz="2000" kern="100" dirty="0">
                        <a:latin typeface="Verdana" panose="020B0604030504040204"/>
                        <a:ea typeface="宋体" panose="02010600030101010101" pitchFamily="2" charset="-122"/>
                        <a:cs typeface="宋体" panose="02010600030101010101" pitchFamily="2" charset="-122"/>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bg1">
                        <a:lumMod val="85000"/>
                      </a:schemeClr>
                    </a:solidFill>
                  </a:tcPr>
                </a:tc>
                <a:tc>
                  <a:txBody>
                    <a:bodyPr/>
                    <a:lstStyle/>
                    <a:p>
                      <a:pPr>
                        <a:lnSpc>
                          <a:spcPct val="140000"/>
                        </a:lnSpc>
                        <a:spcAft>
                          <a:spcPts val="0"/>
                        </a:spcAft>
                      </a:pPr>
                      <a:r>
                        <a:rPr lang="zh-CN" sz="2000" b="1" kern="100" dirty="0">
                          <a:latin typeface="Verdana" panose="020B0604030504040204"/>
                          <a:ea typeface="宋体" panose="02010600030101010101" pitchFamily="2" charset="-122"/>
                          <a:cs typeface="宋体" panose="02010600030101010101" pitchFamily="2" charset="-122"/>
                        </a:rPr>
                        <a:t>将风险降低到可接受水平</a:t>
                      </a:r>
                      <a:endParaRPr lang="zh-CN" sz="2000" b="1" kern="100" dirty="0">
                        <a:latin typeface="Verdana" panose="020B0604030504040204"/>
                        <a:ea typeface="宋体" panose="02010600030101010101" pitchFamily="2" charset="-122"/>
                        <a:cs typeface="宋体" panose="02010600030101010101" pitchFamily="2" charset="-122"/>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tx2">
                        <a:lumMod val="20000"/>
                        <a:lumOff val="80000"/>
                      </a:schemeClr>
                    </a:solidFill>
                  </a:tcPr>
                </a:tc>
                <a:tc>
                  <a:txBody>
                    <a:bodyPr/>
                    <a:lstStyle/>
                    <a:p>
                      <a:pPr>
                        <a:lnSpc>
                          <a:spcPct val="140000"/>
                        </a:lnSpc>
                        <a:spcAft>
                          <a:spcPts val="0"/>
                        </a:spcAft>
                      </a:pPr>
                      <a:r>
                        <a:rPr lang="zh-CN" sz="2000" b="1" kern="100" dirty="0">
                          <a:latin typeface="Verdana" panose="020B0604030504040204"/>
                          <a:ea typeface="宋体" panose="02010600030101010101" pitchFamily="2" charset="-122"/>
                          <a:cs typeface="宋体" panose="02010600030101010101" pitchFamily="2" charset="-122"/>
                        </a:rPr>
                        <a:t>确定面临的风险并确定其优先级</a:t>
                      </a:r>
                      <a:endParaRPr lang="zh-CN" sz="2000" b="1" kern="100" dirty="0">
                        <a:latin typeface="Verdana" panose="020B0604030504040204"/>
                        <a:ea typeface="宋体" panose="02010600030101010101" pitchFamily="2" charset="-122"/>
                        <a:cs typeface="宋体" panose="02010600030101010101" pitchFamily="2" charset="-122"/>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C000"/>
                    </a:solidFill>
                  </a:tcPr>
                </a:tc>
              </a:tr>
              <a:tr h="948690">
                <a:tc>
                  <a:txBody>
                    <a:bodyPr/>
                    <a:lstStyle/>
                    <a:p>
                      <a:pPr>
                        <a:lnSpc>
                          <a:spcPct val="140000"/>
                        </a:lnSpc>
                        <a:spcAft>
                          <a:spcPts val="0"/>
                        </a:spcAft>
                      </a:pPr>
                      <a:r>
                        <a:rPr lang="zh-CN" sz="2000" b="1" kern="100">
                          <a:latin typeface="Verdana" panose="020B0604030504040204"/>
                          <a:ea typeface="宋体" panose="02010600030101010101" pitchFamily="2" charset="-122"/>
                          <a:cs typeface="宋体" panose="02010600030101010101" pitchFamily="2" charset="-122"/>
                        </a:rPr>
                        <a:t>周期</a:t>
                      </a:r>
                      <a:endParaRPr lang="zh-CN" sz="2000" kern="100">
                        <a:latin typeface="Verdana" panose="020B0604030504040204"/>
                        <a:ea typeface="宋体" panose="02010600030101010101" pitchFamily="2" charset="-122"/>
                        <a:cs typeface="宋体" panose="02010600030101010101" pitchFamily="2" charset="-122"/>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bg1">
                        <a:lumMod val="85000"/>
                      </a:schemeClr>
                    </a:solidFill>
                  </a:tcPr>
                </a:tc>
                <a:tc>
                  <a:txBody>
                    <a:bodyPr/>
                    <a:lstStyle/>
                    <a:p>
                      <a:pPr>
                        <a:lnSpc>
                          <a:spcPct val="140000"/>
                        </a:lnSpc>
                        <a:spcAft>
                          <a:spcPts val="0"/>
                        </a:spcAft>
                      </a:pPr>
                      <a:r>
                        <a:rPr lang="zh-CN" sz="2000" b="1" kern="100" dirty="0">
                          <a:latin typeface="Verdana" panose="020B0604030504040204"/>
                          <a:ea typeface="宋体" panose="02010600030101010101" pitchFamily="2" charset="-122"/>
                          <a:cs typeface="宋体" panose="02010600030101010101" pitchFamily="2" charset="-122"/>
                        </a:rPr>
                        <a:t>包括</a:t>
                      </a:r>
                      <a:r>
                        <a:rPr lang="zh-CN" altLang="en-US" sz="2000" b="1" kern="100" dirty="0">
                          <a:latin typeface="Verdana" panose="020B0604030504040204"/>
                          <a:ea typeface="宋体" panose="02010600030101010101" pitchFamily="2" charset="-122"/>
                          <a:cs typeface="宋体" panose="02010600030101010101" pitchFamily="2" charset="-122"/>
                        </a:rPr>
                        <a:t>风险评估、风险决策、风险控制等所有</a:t>
                      </a:r>
                      <a:r>
                        <a:rPr lang="zh-CN" sz="2000" b="1" kern="100" dirty="0">
                          <a:latin typeface="Verdana" panose="020B0604030504040204"/>
                          <a:ea typeface="宋体" panose="02010600030101010101" pitchFamily="2" charset="-122"/>
                          <a:cs typeface="宋体" panose="02010600030101010101" pitchFamily="2" charset="-122"/>
                        </a:rPr>
                        <a:t>阶段</a:t>
                      </a:r>
                      <a:endParaRPr lang="zh-CN" sz="2000" b="1" kern="100" dirty="0">
                        <a:latin typeface="Verdana" panose="020B0604030504040204"/>
                        <a:ea typeface="宋体" panose="02010600030101010101" pitchFamily="2" charset="-122"/>
                        <a:cs typeface="宋体" panose="02010600030101010101" pitchFamily="2" charset="-122"/>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tx2">
                        <a:lumMod val="20000"/>
                        <a:lumOff val="80000"/>
                      </a:schemeClr>
                    </a:solidFill>
                  </a:tcPr>
                </a:tc>
                <a:tc>
                  <a:txBody>
                    <a:bodyPr/>
                    <a:lstStyle/>
                    <a:p>
                      <a:pPr>
                        <a:lnSpc>
                          <a:spcPct val="140000"/>
                        </a:lnSpc>
                        <a:spcAft>
                          <a:spcPts val="0"/>
                        </a:spcAft>
                      </a:pPr>
                      <a:r>
                        <a:rPr lang="zh-CN" sz="2000" b="1" kern="100" dirty="0">
                          <a:latin typeface="Verdana" panose="020B0604030504040204"/>
                          <a:ea typeface="宋体" panose="02010600030101010101" pitchFamily="2" charset="-122"/>
                          <a:cs typeface="宋体" panose="02010600030101010101" pitchFamily="2" charset="-122"/>
                        </a:rPr>
                        <a:t>风险管理中的单个阶段</a:t>
                      </a:r>
                      <a:endParaRPr lang="zh-CN" sz="2000" b="1" kern="100" dirty="0">
                        <a:latin typeface="Verdana" panose="020B0604030504040204"/>
                        <a:ea typeface="宋体" panose="02010600030101010101" pitchFamily="2" charset="-122"/>
                        <a:cs typeface="宋体" panose="02010600030101010101" pitchFamily="2" charset="-122"/>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C000"/>
                    </a:solidFill>
                  </a:tcPr>
                </a:tc>
              </a:tr>
              <a:tr h="542925">
                <a:tc>
                  <a:txBody>
                    <a:bodyPr/>
                    <a:lstStyle/>
                    <a:p>
                      <a:pPr>
                        <a:lnSpc>
                          <a:spcPct val="140000"/>
                        </a:lnSpc>
                        <a:spcAft>
                          <a:spcPts val="0"/>
                        </a:spcAft>
                      </a:pPr>
                      <a:r>
                        <a:rPr lang="zh-CN" sz="2000" b="1" kern="100" dirty="0">
                          <a:latin typeface="Verdana" panose="020B0604030504040204"/>
                          <a:ea typeface="宋体" panose="02010600030101010101" pitchFamily="2" charset="-122"/>
                          <a:cs typeface="宋体" panose="02010600030101010101" pitchFamily="2" charset="-122"/>
                        </a:rPr>
                        <a:t>计划</a:t>
                      </a:r>
                      <a:endParaRPr lang="zh-CN" sz="2000" kern="100" dirty="0">
                        <a:latin typeface="Verdana" panose="020B0604030504040204"/>
                        <a:ea typeface="宋体" panose="02010600030101010101" pitchFamily="2" charset="-122"/>
                        <a:cs typeface="宋体" panose="02010600030101010101" pitchFamily="2" charset="-122"/>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bg1">
                        <a:lumMod val="85000"/>
                      </a:schemeClr>
                    </a:solidFill>
                  </a:tcPr>
                </a:tc>
                <a:tc>
                  <a:txBody>
                    <a:bodyPr/>
                    <a:lstStyle/>
                    <a:p>
                      <a:pPr>
                        <a:lnSpc>
                          <a:spcPct val="140000"/>
                        </a:lnSpc>
                        <a:spcAft>
                          <a:spcPts val="0"/>
                        </a:spcAft>
                      </a:pPr>
                      <a:r>
                        <a:rPr lang="zh-CN" sz="2000" b="1" kern="100" dirty="0">
                          <a:latin typeface="Verdana" panose="020B0604030504040204"/>
                          <a:ea typeface="宋体" panose="02010600030101010101" pitchFamily="2" charset="-122"/>
                          <a:cs typeface="宋体" panose="02010600030101010101" pitchFamily="2" charset="-122"/>
                        </a:rPr>
                        <a:t>持续</a:t>
                      </a:r>
                      <a:r>
                        <a:rPr lang="zh-CN" altLang="en-US" sz="2000" b="1" kern="100" dirty="0">
                          <a:latin typeface="Verdana" panose="020B0604030504040204"/>
                          <a:ea typeface="宋体" panose="02010600030101010101" pitchFamily="2" charset="-122"/>
                          <a:cs typeface="宋体" panose="02010600030101010101" pitchFamily="2" charset="-122"/>
                        </a:rPr>
                        <a:t>（</a:t>
                      </a:r>
                      <a:r>
                        <a:rPr lang="en-US" altLang="zh-CN" sz="2000" b="1" kern="100" dirty="0">
                          <a:latin typeface="Verdana" panose="020B0604030504040204"/>
                          <a:ea typeface="宋体" panose="02010600030101010101" pitchFamily="2" charset="-122"/>
                          <a:cs typeface="宋体" panose="02010600030101010101" pitchFamily="2" charset="-122"/>
                        </a:rPr>
                        <a:t>PDCA</a:t>
                      </a:r>
                      <a:r>
                        <a:rPr lang="zh-CN" altLang="en-US" sz="2000" b="1" kern="100" dirty="0">
                          <a:latin typeface="Verdana" panose="020B0604030504040204"/>
                          <a:ea typeface="宋体" panose="02010600030101010101" pitchFamily="2" charset="-122"/>
                          <a:cs typeface="宋体" panose="02010600030101010101" pitchFamily="2" charset="-122"/>
                        </a:rPr>
                        <a:t>）</a:t>
                      </a:r>
                      <a:endParaRPr lang="zh-CN" sz="2000" b="1" kern="100" dirty="0">
                        <a:latin typeface="Verdana" panose="020B0604030504040204"/>
                        <a:ea typeface="宋体" panose="02010600030101010101" pitchFamily="2" charset="-122"/>
                        <a:cs typeface="宋体" panose="02010600030101010101" pitchFamily="2" charset="-122"/>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chemeClr val="tx2">
                        <a:lumMod val="20000"/>
                        <a:lumOff val="80000"/>
                      </a:schemeClr>
                    </a:solidFill>
                  </a:tcPr>
                </a:tc>
                <a:tc>
                  <a:txBody>
                    <a:bodyPr/>
                    <a:lstStyle/>
                    <a:p>
                      <a:pPr>
                        <a:lnSpc>
                          <a:spcPct val="140000"/>
                        </a:lnSpc>
                        <a:spcAft>
                          <a:spcPts val="0"/>
                        </a:spcAft>
                      </a:pPr>
                      <a:r>
                        <a:rPr lang="zh-CN" sz="2000" b="1" kern="100" dirty="0">
                          <a:latin typeface="Verdana" panose="020B0604030504040204"/>
                          <a:ea typeface="宋体" panose="02010600030101010101" pitchFamily="2" charset="-122"/>
                          <a:cs typeface="宋体" panose="02010600030101010101" pitchFamily="2" charset="-122"/>
                        </a:rPr>
                        <a:t>按需要</a:t>
                      </a:r>
                      <a:endParaRPr lang="zh-CN" sz="2000" b="1" kern="100" dirty="0">
                        <a:latin typeface="Verdana" panose="020B0604030504040204"/>
                        <a:ea typeface="宋体" panose="02010600030101010101" pitchFamily="2" charset="-122"/>
                        <a:cs typeface="宋体" panose="02010600030101010101" pitchFamily="2" charset="-122"/>
                      </a:endParaRPr>
                    </a:p>
                  </a:txBody>
                  <a:tcPr marL="47625" marR="47625" marT="47625" marB="47625">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C000"/>
                    </a:solidFill>
                  </a:tcPr>
                </a:tc>
              </a:tr>
            </a:tbl>
          </a:graphicData>
        </a:graphic>
      </p:graphicFrame>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2063750" y="704850"/>
            <a:ext cx="6513513" cy="487363"/>
          </a:xfrm>
        </p:spPr>
        <p:txBody>
          <a:bodyPr/>
          <a:lstStyle/>
          <a:p>
            <a:r>
              <a:rPr lang="zh-CN" altLang="en-US">
                <a:solidFill>
                  <a:srgbClr val="FF0000"/>
                </a:solidFill>
              </a:rPr>
              <a:t>网络空间安全风险管理工作内容</a:t>
            </a:r>
            <a:endParaRPr lang="en-US" altLang="zh-CN">
              <a:solidFill>
                <a:srgbClr val="FF0000"/>
              </a:solidFill>
            </a:endParaRPr>
          </a:p>
        </p:txBody>
      </p:sp>
      <p:pic>
        <p:nvPicPr>
          <p:cNvPr id="1581067" name="Picture 11"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62525" y="2468563"/>
            <a:ext cx="18780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1070" name="Rectangle 14"/>
          <p:cNvSpPr>
            <a:spLocks noChangeAspect="1" noChangeArrowheads="1"/>
          </p:cNvSpPr>
          <p:nvPr/>
        </p:nvSpPr>
        <p:spPr bwMode="auto">
          <a:xfrm>
            <a:off x="5232400" y="2544763"/>
            <a:ext cx="1422400" cy="460375"/>
          </a:xfrm>
          <a:prstGeom prst="rect">
            <a:avLst/>
          </a:prstGeom>
          <a:noFill/>
          <a:ln w="9525">
            <a:noFill/>
            <a:miter lim="800000"/>
          </a:ln>
          <a:effectLst/>
        </p:spPr>
        <p:txBody>
          <a:bodyPr>
            <a:spAutoFit/>
          </a:bodyPr>
          <a:lstStyle/>
          <a:p>
            <a:pPr algn="ctr" eaLnBrk="1" hangingPunct="1">
              <a:defRPr/>
            </a:pPr>
            <a:r>
              <a:rPr lang="zh-CN" altLang="en-US" sz="2400" b="1" dirty="0">
                <a:solidFill>
                  <a:srgbClr val="FF0000"/>
                </a:solidFill>
                <a:effectLst>
                  <a:outerShdw blurRad="38100" dist="38100" dir="2700000" algn="tl">
                    <a:srgbClr val="C0C0C0"/>
                  </a:outerShdw>
                </a:effectLst>
              </a:rPr>
              <a:t>建立背景</a:t>
            </a:r>
            <a:endParaRPr lang="en-US" altLang="zh-CN" sz="2800" b="1" dirty="0">
              <a:solidFill>
                <a:srgbClr val="FF0000"/>
              </a:solidFill>
              <a:effectLst>
                <a:outerShdw blurRad="38100" dist="38100" dir="2700000" algn="tl">
                  <a:srgbClr val="C0C0C0"/>
                </a:outerShdw>
              </a:effectLst>
            </a:endParaRPr>
          </a:p>
        </p:txBody>
      </p:sp>
      <p:pic>
        <p:nvPicPr>
          <p:cNvPr id="51205" name="Picture 15"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62525" y="3459163"/>
            <a:ext cx="18780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1072" name="Rectangle 16"/>
          <p:cNvSpPr>
            <a:spLocks noChangeAspect="1" noChangeArrowheads="1"/>
          </p:cNvSpPr>
          <p:nvPr/>
        </p:nvSpPr>
        <p:spPr bwMode="auto">
          <a:xfrm>
            <a:off x="5232400" y="3533775"/>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风险评估</a:t>
            </a:r>
            <a:endParaRPr lang="en-US" altLang="zh-CN" sz="2800" b="1">
              <a:solidFill>
                <a:schemeClr val="tx2"/>
              </a:solidFill>
              <a:effectLst>
                <a:outerShdw blurRad="38100" dist="38100" dir="2700000" algn="tl">
                  <a:srgbClr val="C0C0C0"/>
                </a:outerShdw>
              </a:effectLst>
            </a:endParaRPr>
          </a:p>
        </p:txBody>
      </p:sp>
      <p:pic>
        <p:nvPicPr>
          <p:cNvPr id="51207" name="Picture 17"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62525" y="4449763"/>
            <a:ext cx="18780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1074" name="Rectangle 18"/>
          <p:cNvSpPr>
            <a:spLocks noChangeAspect="1" noChangeArrowheads="1"/>
          </p:cNvSpPr>
          <p:nvPr/>
        </p:nvSpPr>
        <p:spPr bwMode="auto">
          <a:xfrm>
            <a:off x="5232400" y="4525963"/>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风险处理</a:t>
            </a:r>
            <a:endParaRPr lang="en-US" altLang="zh-CN" sz="2800" b="1">
              <a:solidFill>
                <a:schemeClr val="tx2"/>
              </a:solidFill>
              <a:effectLst>
                <a:outerShdw blurRad="38100" dist="38100" dir="2700000" algn="tl">
                  <a:srgbClr val="C0C0C0"/>
                </a:outerShdw>
              </a:effectLst>
            </a:endParaRPr>
          </a:p>
        </p:txBody>
      </p:sp>
      <p:pic>
        <p:nvPicPr>
          <p:cNvPr id="51209" name="Picture 19" descr="GEL Rounded Square aquamarin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2525" y="5441950"/>
            <a:ext cx="1878013"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1076" name="Rectangle 20"/>
          <p:cNvSpPr>
            <a:spLocks noChangeAspect="1" noChangeArrowheads="1"/>
          </p:cNvSpPr>
          <p:nvPr/>
        </p:nvSpPr>
        <p:spPr bwMode="auto">
          <a:xfrm>
            <a:off x="5232400" y="5516563"/>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批准监督</a:t>
            </a:r>
            <a:endParaRPr lang="en-US" altLang="zh-CN" sz="2800" b="1">
              <a:solidFill>
                <a:schemeClr val="tx2"/>
              </a:solidFill>
              <a:effectLst>
                <a:outerShdw blurRad="38100" dist="38100" dir="2700000" algn="tl">
                  <a:srgbClr val="C0C0C0"/>
                </a:outerShdw>
              </a:effectLst>
            </a:endParaRPr>
          </a:p>
        </p:txBody>
      </p:sp>
      <p:grpSp>
        <p:nvGrpSpPr>
          <p:cNvPr id="51211" name="Group 24"/>
          <p:cNvGrpSpPr/>
          <p:nvPr/>
        </p:nvGrpSpPr>
        <p:grpSpPr bwMode="auto">
          <a:xfrm>
            <a:off x="3443288" y="2897188"/>
            <a:ext cx="839787" cy="3000375"/>
            <a:chOff x="1228" y="1117"/>
            <a:chExt cx="563" cy="1786"/>
          </a:xfrm>
        </p:grpSpPr>
        <p:pic>
          <p:nvPicPr>
            <p:cNvPr id="51229" name="Picture 21"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0" name="Text Box 22"/>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51231" name="Text Box 23"/>
            <p:cNvSpPr txBox="1">
              <a:spLocks noChangeArrowheads="1"/>
            </p:cNvSpPr>
            <p:nvPr/>
          </p:nvSpPr>
          <p:spPr bwMode="auto">
            <a:xfrm>
              <a:off x="1310" y="1588"/>
              <a:ext cx="391"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latin typeface="Arial" panose="020B0604020202020204" pitchFamily="34" charset="0"/>
                  <a:ea typeface="宋体" panose="02010600030101010101" pitchFamily="2" charset="-122"/>
                </a:rPr>
                <a:t>监控审查</a:t>
              </a:r>
              <a:endParaRPr lang="en-US" altLang="zh-CN" sz="2600" b="1">
                <a:latin typeface="Arial" panose="020B0604020202020204" pitchFamily="34" charset="0"/>
                <a:ea typeface="宋体" panose="02010600030101010101" pitchFamily="2" charset="-122"/>
              </a:endParaRPr>
            </a:p>
          </p:txBody>
        </p:sp>
      </p:grpSp>
      <p:grpSp>
        <p:nvGrpSpPr>
          <p:cNvPr id="51212" name="Group 25"/>
          <p:cNvGrpSpPr/>
          <p:nvPr/>
        </p:nvGrpSpPr>
        <p:grpSpPr bwMode="auto">
          <a:xfrm>
            <a:off x="7670800" y="2897188"/>
            <a:ext cx="841375" cy="3000375"/>
            <a:chOff x="1228" y="1117"/>
            <a:chExt cx="563" cy="1786"/>
          </a:xfrm>
        </p:grpSpPr>
        <p:pic>
          <p:nvPicPr>
            <p:cNvPr id="51226" name="Picture 26"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7" name="Text Box 27"/>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51228" name="Text Box 28"/>
            <p:cNvSpPr txBox="1">
              <a:spLocks noChangeArrowheads="1"/>
            </p:cNvSpPr>
            <p:nvPr/>
          </p:nvSpPr>
          <p:spPr bwMode="auto">
            <a:xfrm>
              <a:off x="1311" y="1588"/>
              <a:ext cx="390"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latin typeface="Arial" panose="020B0604020202020204" pitchFamily="34" charset="0"/>
                  <a:ea typeface="宋体" panose="02010600030101010101" pitchFamily="2" charset="-122"/>
                </a:rPr>
                <a:t>沟通咨询</a:t>
              </a:r>
              <a:endParaRPr lang="en-US" altLang="zh-CN" sz="2600" b="1">
                <a:latin typeface="Arial" panose="020B0604020202020204" pitchFamily="34" charset="0"/>
                <a:ea typeface="宋体" panose="02010600030101010101" pitchFamily="2" charset="-122"/>
              </a:endParaRPr>
            </a:p>
          </p:txBody>
        </p:sp>
      </p:grpSp>
      <p:sp>
        <p:nvSpPr>
          <p:cNvPr id="51213" name="AutoShape 29"/>
          <p:cNvSpPr>
            <a:spLocks noChangeArrowheads="1"/>
          </p:cNvSpPr>
          <p:nvPr/>
        </p:nvSpPr>
        <p:spPr bwMode="auto">
          <a:xfrm>
            <a:off x="5707063" y="3154363"/>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1214" name="AutoShape 30"/>
          <p:cNvSpPr>
            <a:spLocks noChangeArrowheads="1"/>
          </p:cNvSpPr>
          <p:nvPr/>
        </p:nvSpPr>
        <p:spPr bwMode="auto">
          <a:xfrm>
            <a:off x="5707063" y="4146550"/>
            <a:ext cx="406400" cy="303213"/>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1215" name="AutoShape 31"/>
          <p:cNvSpPr>
            <a:spLocks noChangeArrowheads="1"/>
          </p:cNvSpPr>
          <p:nvPr/>
        </p:nvSpPr>
        <p:spPr bwMode="auto">
          <a:xfrm>
            <a:off x="5707063" y="5137150"/>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1216" name="AutoShape 32"/>
          <p:cNvSpPr>
            <a:spLocks noChangeArrowheads="1"/>
          </p:cNvSpPr>
          <p:nvPr/>
        </p:nvSpPr>
        <p:spPr bwMode="auto">
          <a:xfrm rot="-5400000">
            <a:off x="4428332" y="2688431"/>
            <a:ext cx="457200" cy="474663"/>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1217" name="AutoShape 34"/>
          <p:cNvSpPr>
            <a:spLocks noChangeArrowheads="1"/>
          </p:cNvSpPr>
          <p:nvPr/>
        </p:nvSpPr>
        <p:spPr bwMode="auto">
          <a:xfrm rot="5400000">
            <a:off x="4361657" y="5585618"/>
            <a:ext cx="457200" cy="474663"/>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1218" name="AutoShape 35"/>
          <p:cNvSpPr>
            <a:spLocks noChangeArrowheads="1"/>
          </p:cNvSpPr>
          <p:nvPr/>
        </p:nvSpPr>
        <p:spPr bwMode="auto">
          <a:xfrm>
            <a:off x="4352925" y="3687763"/>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1219" name="AutoShape 36"/>
          <p:cNvSpPr>
            <a:spLocks noChangeArrowheads="1"/>
          </p:cNvSpPr>
          <p:nvPr/>
        </p:nvSpPr>
        <p:spPr bwMode="auto">
          <a:xfrm>
            <a:off x="4352925" y="4754563"/>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1220" name="AutoShape 37"/>
          <p:cNvSpPr>
            <a:spLocks noChangeArrowheads="1"/>
          </p:cNvSpPr>
          <p:nvPr/>
        </p:nvSpPr>
        <p:spPr bwMode="auto">
          <a:xfrm>
            <a:off x="6926263" y="2849563"/>
            <a:ext cx="608012" cy="304800"/>
          </a:xfrm>
          <a:prstGeom prst="leftRightArrow">
            <a:avLst>
              <a:gd name="adj1" fmla="val 50000"/>
              <a:gd name="adj2" fmla="val 44883"/>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1221" name="AutoShape 38"/>
          <p:cNvSpPr>
            <a:spLocks noChangeArrowheads="1"/>
          </p:cNvSpPr>
          <p:nvPr/>
        </p:nvSpPr>
        <p:spPr bwMode="auto">
          <a:xfrm>
            <a:off x="6926263" y="3611563"/>
            <a:ext cx="609600" cy="306387"/>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1222" name="AutoShape 39"/>
          <p:cNvSpPr>
            <a:spLocks noChangeArrowheads="1"/>
          </p:cNvSpPr>
          <p:nvPr/>
        </p:nvSpPr>
        <p:spPr bwMode="auto">
          <a:xfrm>
            <a:off x="6926263" y="4449763"/>
            <a:ext cx="608012" cy="306387"/>
          </a:xfrm>
          <a:prstGeom prst="leftRightArrow">
            <a:avLst>
              <a:gd name="adj1" fmla="val 50000"/>
              <a:gd name="adj2" fmla="val 4465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1223" name="AutoShape 40"/>
          <p:cNvSpPr>
            <a:spLocks noChangeArrowheads="1"/>
          </p:cNvSpPr>
          <p:nvPr/>
        </p:nvSpPr>
        <p:spPr bwMode="auto">
          <a:xfrm>
            <a:off x="6926263" y="5364163"/>
            <a:ext cx="609600" cy="306387"/>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30" name="Rectangle 3"/>
          <p:cNvSpPr txBox="1">
            <a:spLocks noChangeArrowheads="1"/>
          </p:cNvSpPr>
          <p:nvPr/>
        </p:nvSpPr>
        <p:spPr bwMode="gray">
          <a:xfrm>
            <a:off x="1919288" y="1343025"/>
            <a:ext cx="7418387" cy="392113"/>
          </a:xfrm>
          <a:prstGeom prst="rect">
            <a:avLst/>
          </a:prstGeom>
          <a:noFill/>
          <a:ln w="9525">
            <a:noFill/>
            <a:miter lim="800000"/>
          </a:ln>
        </p:spPr>
        <p:txBody>
          <a:bodyPr/>
          <a:lstStyle/>
          <a:p>
            <a:pPr marL="342900" indent="-342900">
              <a:spcBef>
                <a:spcPct val="20000"/>
              </a:spcBef>
              <a:buClr>
                <a:srgbClr val="3399FF"/>
              </a:buClr>
              <a:buFont typeface="Wingdings" panose="05000000000000000000" pitchFamily="2" charset="2"/>
              <a:buChar char="v"/>
              <a:defRPr/>
            </a:pPr>
            <a:r>
              <a:rPr lang="en-US" altLang="zh-CN" sz="2400" dirty="0"/>
              <a:t>GB/Z 24364《</a:t>
            </a:r>
            <a:r>
              <a:rPr lang="zh-CN" altLang="en-US" sz="2400" dirty="0"/>
              <a:t>信息安全风险管理指南</a:t>
            </a:r>
            <a:r>
              <a:rPr lang="en-US" altLang="zh-CN" sz="2400" dirty="0"/>
              <a:t>》</a:t>
            </a:r>
            <a:endParaRPr lang="zh-CN" altLang="en-US" sz="2400" kern="0" dirty="0"/>
          </a:p>
          <a:p>
            <a:pPr marL="342900" indent="-342900">
              <a:spcBef>
                <a:spcPct val="20000"/>
              </a:spcBef>
              <a:buClr>
                <a:srgbClr val="3399FF"/>
              </a:buClr>
              <a:defRPr/>
            </a:pPr>
            <a:r>
              <a:rPr lang="en-US" altLang="zh-CN" sz="2400" kern="0" dirty="0">
                <a:latin typeface="+mn-lt"/>
                <a:ea typeface="+mn-ea"/>
              </a:rPr>
              <a:t>      </a:t>
            </a:r>
            <a:endParaRPr lang="zh-CN" altLang="en-US" sz="2400" kern="0" dirty="0">
              <a:latin typeface="+mn-lt"/>
              <a:ea typeface="+mn-ea"/>
            </a:endParaRPr>
          </a:p>
        </p:txBody>
      </p:sp>
      <p:sp>
        <p:nvSpPr>
          <p:cNvPr id="4" name="矩形 3"/>
          <p:cNvSpPr/>
          <p:nvPr/>
        </p:nvSpPr>
        <p:spPr>
          <a:xfrm>
            <a:off x="3790950" y="1765300"/>
            <a:ext cx="3937635" cy="521970"/>
          </a:xfrm>
          <a:prstGeom prst="rect">
            <a:avLst/>
          </a:prstGeom>
        </p:spPr>
        <p:txBody>
          <a:bodyPr wrap="none">
            <a:spAutoFit/>
          </a:bodyPr>
          <a:lstStyle/>
          <a:p>
            <a:pPr eaLnBrk="1" hangingPunct="1">
              <a:defRPr/>
            </a:pPr>
            <a:r>
              <a:rPr lang="zh-CN" altLang="en-US" sz="2800" b="1" kern="0" dirty="0">
                <a:solidFill>
                  <a:srgbClr val="FF0000"/>
                </a:solidFill>
                <a:latin typeface="+mn-ea"/>
                <a:ea typeface="+mn-ea"/>
              </a:rPr>
              <a:t> 四个阶段，两个贯穿。</a:t>
            </a:r>
            <a:endParaRPr lang="zh-CN" altLang="en-US" sz="2800" b="1" dirty="0">
              <a:solidFill>
                <a:srgbClr val="FF0000"/>
              </a:solidFill>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grpId="0" nodeType="clickEffect">
                                  <p:stCondLst>
                                    <p:cond delay="0"/>
                                  </p:stCondLst>
                                  <p:childTnLst>
                                    <p:animScale>
                                      <p:cBhvr>
                                        <p:cTn id="18" dur="2000" fill="hold"/>
                                        <p:tgtEl>
                                          <p:spTgt spid="1581070"/>
                                        </p:tgtEl>
                                      </p:cBhvr>
                                      <p:by x="120000" y="120000"/>
                                    </p:animScale>
                                  </p:childTnLst>
                                </p:cTn>
                              </p:par>
                              <p:par>
                                <p:cTn id="19" presetID="6" presetClass="emph" presetSubtype="0" fill="hold" nodeType="withEffect">
                                  <p:stCondLst>
                                    <p:cond delay="0"/>
                                  </p:stCondLst>
                                  <p:childTnLst>
                                    <p:animScale>
                                      <p:cBhvr>
                                        <p:cTn id="20" dur="2000" fill="hold"/>
                                        <p:tgtEl>
                                          <p:spTgt spid="1581067"/>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1070" grpId="0" bldLvl="0" animBg="1"/>
      <p:bldP spid="30" grpId="0"/>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063750" y="690563"/>
            <a:ext cx="6948488" cy="720725"/>
          </a:xfrm>
        </p:spPr>
        <p:txBody>
          <a:bodyPr/>
          <a:lstStyle/>
          <a:p>
            <a:r>
              <a:rPr lang="zh-CN" altLang="en-US">
                <a:solidFill>
                  <a:srgbClr val="FF0000"/>
                </a:solidFill>
              </a:rPr>
              <a:t>建立背景</a:t>
            </a:r>
            <a:endParaRPr lang="en-US" altLang="zh-CN">
              <a:solidFill>
                <a:srgbClr val="FF0000"/>
              </a:solidFill>
            </a:endParaRPr>
          </a:p>
        </p:txBody>
      </p:sp>
      <p:sp>
        <p:nvSpPr>
          <p:cNvPr id="39939" name="Rectangle 3"/>
          <p:cNvSpPr>
            <a:spLocks noGrp="1" noChangeArrowheads="1"/>
          </p:cNvSpPr>
          <p:nvPr>
            <p:ph type="body" sz="half" idx="1"/>
          </p:nvPr>
        </p:nvSpPr>
        <p:spPr>
          <a:xfrm>
            <a:off x="1774825" y="1411288"/>
            <a:ext cx="8713788" cy="3024187"/>
          </a:xfrm>
        </p:spPr>
        <p:txBody>
          <a:bodyPr/>
          <a:lstStyle/>
          <a:p>
            <a:pPr>
              <a:defRPr/>
            </a:pPr>
            <a:r>
              <a:rPr lang="zh-CN" altLang="en-US" sz="2400" b="1" dirty="0"/>
              <a:t>背景建立是网络空间安全风险管理的第一步骤，确定风险管理的对象和范围，确立实施风险管理的准备，进行相关信息的调查和分析。</a:t>
            </a:r>
            <a:endParaRPr lang="en-US" altLang="zh-CN" sz="2400" b="1" dirty="0"/>
          </a:p>
          <a:p>
            <a:pPr lvl="1" eaLnBrk="1" hangingPunct="1">
              <a:defRPr/>
            </a:pPr>
            <a:r>
              <a:rPr lang="zh-CN" sz="2000" b="1" dirty="0">
                <a:cs typeface="+mn-cs"/>
              </a:rPr>
              <a:t>风险管理准备：确定对象、组建团队、制定计划、获得支持</a:t>
            </a:r>
            <a:r>
              <a:rPr lang="zh-CN" altLang="en-US" sz="2000" b="1" dirty="0">
                <a:cs typeface="+mn-cs"/>
              </a:rPr>
              <a:t>（</a:t>
            </a:r>
            <a:r>
              <a:rPr lang="zh-CN" altLang="en-US" sz="2000" b="1" dirty="0">
                <a:solidFill>
                  <a:srgbClr val="FF0000"/>
                </a:solidFill>
                <a:cs typeface="+mn-cs"/>
              </a:rPr>
              <a:t>需要决策人参与</a:t>
            </a:r>
            <a:r>
              <a:rPr lang="zh-CN" altLang="en-US" sz="2000" b="1" dirty="0">
                <a:cs typeface="+mn-cs"/>
              </a:rPr>
              <a:t>）</a:t>
            </a:r>
            <a:endParaRPr lang="en-US" sz="2000" b="1" dirty="0">
              <a:cs typeface="+mn-cs"/>
            </a:endParaRPr>
          </a:p>
          <a:p>
            <a:pPr lvl="1" eaLnBrk="1" hangingPunct="1">
              <a:defRPr/>
            </a:pPr>
            <a:r>
              <a:rPr lang="zh-CN" sz="2000" b="1" dirty="0">
                <a:cs typeface="+mn-cs"/>
              </a:rPr>
              <a:t>信息系统调查：信息系统的业务目标、技术和管理上的特点</a:t>
            </a:r>
            <a:endParaRPr lang="en-US" sz="2000" b="1" dirty="0">
              <a:cs typeface="+mn-cs"/>
            </a:endParaRPr>
          </a:p>
          <a:p>
            <a:pPr lvl="1" eaLnBrk="1" hangingPunct="1">
              <a:defRPr/>
            </a:pPr>
            <a:r>
              <a:rPr lang="zh-CN" sz="2000" b="1" dirty="0">
                <a:cs typeface="+mn-cs"/>
              </a:rPr>
              <a:t>信息系统分析：信息系统的体系结构、关键要素</a:t>
            </a:r>
            <a:endParaRPr lang="zh-CN" sz="2000" b="1" dirty="0">
              <a:cs typeface="+mn-cs"/>
            </a:endParaRPr>
          </a:p>
          <a:p>
            <a:pPr lvl="1" eaLnBrk="1" hangingPunct="1">
              <a:defRPr/>
            </a:pPr>
            <a:r>
              <a:rPr lang="zh-CN" sz="2000" b="1" dirty="0">
                <a:cs typeface="+mn-cs"/>
              </a:rPr>
              <a:t>信息安全分析：分析安全要求、分析安全环境</a:t>
            </a:r>
            <a:endParaRPr lang="zh-CN" altLang="en-US" sz="2000" b="1" dirty="0"/>
          </a:p>
          <a:p>
            <a:pPr>
              <a:defRPr/>
            </a:pPr>
            <a:endParaRPr lang="zh-CN" altLang="en-US" b="1"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824788" y="4435475"/>
            <a:ext cx="2735262"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9939">
                                            <p:txEl>
                                              <p:pRg st="0" end="0"/>
                                            </p:txEl>
                                          </p:spTgt>
                                        </p:tgtEl>
                                        <p:attrNameLst>
                                          <p:attrName>style.visibility</p:attrName>
                                        </p:attrNameLst>
                                      </p:cBhvr>
                                      <p:to>
                                        <p:strVal val="visible"/>
                                      </p:to>
                                    </p:set>
                                    <p:anim calcmode="lin" valueType="num">
                                      <p:cBhvr additive="base">
                                        <p:cTn id="14" dur="5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9939">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39939">
                                            <p:txEl>
                                              <p:pRg st="1" end="1"/>
                                            </p:txEl>
                                          </p:spTgt>
                                        </p:tgtEl>
                                        <p:attrNameLst>
                                          <p:attrName>style.visibility</p:attrName>
                                        </p:attrNameLst>
                                      </p:cBhvr>
                                      <p:to>
                                        <p:strVal val="visible"/>
                                      </p:to>
                                    </p:set>
                                    <p:anim calcmode="lin" valueType="num">
                                      <p:cBhvr additive="base">
                                        <p:cTn id="18" dur="5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9939">
                                            <p:txEl>
                                              <p:pRg st="1" end="1"/>
                                            </p:txEl>
                                          </p:spTgt>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39939">
                                            <p:txEl>
                                              <p:pRg st="2" end="2"/>
                                            </p:txEl>
                                          </p:spTgt>
                                        </p:tgtEl>
                                        <p:attrNameLst>
                                          <p:attrName>style.visibility</p:attrName>
                                        </p:attrNameLst>
                                      </p:cBhvr>
                                      <p:to>
                                        <p:strVal val="visible"/>
                                      </p:to>
                                    </p:set>
                                    <p:anim calcmode="lin" valueType="num">
                                      <p:cBhvr additive="base">
                                        <p:cTn id="22" dur="5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9939">
                                            <p:txEl>
                                              <p:pRg st="2" end="2"/>
                                            </p:txEl>
                                          </p:spTgt>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39939">
                                            <p:txEl>
                                              <p:pRg st="3" end="3"/>
                                            </p:txEl>
                                          </p:spTgt>
                                        </p:tgtEl>
                                        <p:attrNameLst>
                                          <p:attrName>style.visibility</p:attrName>
                                        </p:attrNameLst>
                                      </p:cBhvr>
                                      <p:to>
                                        <p:strVal val="visible"/>
                                      </p:to>
                                    </p:set>
                                    <p:anim calcmode="lin" valueType="num">
                                      <p:cBhvr additive="base">
                                        <p:cTn id="26" dur="500" fill="hold"/>
                                        <p:tgtEl>
                                          <p:spTgt spid="39939">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9939">
                                            <p:txEl>
                                              <p:pRg st="3" end="3"/>
                                            </p:txEl>
                                          </p:spTgt>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39939">
                                            <p:txEl>
                                              <p:pRg st="4" end="4"/>
                                            </p:txEl>
                                          </p:spTgt>
                                        </p:tgtEl>
                                        <p:attrNameLst>
                                          <p:attrName>style.visibility</p:attrName>
                                        </p:attrNameLst>
                                      </p:cBhvr>
                                      <p:to>
                                        <p:strVal val="visible"/>
                                      </p:to>
                                    </p:set>
                                    <p:anim calcmode="lin" valueType="num">
                                      <p:cBhvr additive="base">
                                        <p:cTn id="30" dur="500" fill="hold"/>
                                        <p:tgtEl>
                                          <p:spTgt spid="39939">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993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135188" y="782638"/>
            <a:ext cx="6513512" cy="487362"/>
          </a:xfrm>
        </p:spPr>
        <p:txBody>
          <a:bodyPr/>
          <a:lstStyle/>
          <a:p>
            <a:r>
              <a:rPr lang="zh-CN" altLang="en-US">
                <a:solidFill>
                  <a:srgbClr val="FF0000"/>
                </a:solidFill>
              </a:rPr>
              <a:t>背景建立过程</a:t>
            </a:r>
            <a:endParaRPr lang="zh-CN" altLang="en-US">
              <a:solidFill>
                <a:srgbClr val="FF0000"/>
              </a:solidFill>
            </a:endParaRPr>
          </a:p>
        </p:txBody>
      </p:sp>
      <p:sp>
        <p:nvSpPr>
          <p:cNvPr id="53251" name="Rectangle 3"/>
          <p:cNvSpPr>
            <a:spLocks noChangeArrowheads="1"/>
          </p:cNvSpPr>
          <p:nvPr/>
        </p:nvSpPr>
        <p:spPr bwMode="auto">
          <a:xfrm>
            <a:off x="1524000" y="7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2050" name="Object 2"/>
          <p:cNvGraphicFramePr>
            <a:graphicFrameLocks noChangeAspect="1"/>
          </p:cNvGraphicFramePr>
          <p:nvPr/>
        </p:nvGraphicFramePr>
        <p:xfrm>
          <a:off x="2711450" y="1557338"/>
          <a:ext cx="6877050" cy="4699000"/>
        </p:xfrm>
        <a:graphic>
          <a:graphicData uri="http://schemas.openxmlformats.org/presentationml/2006/ole">
            <mc:AlternateContent xmlns:mc="http://schemas.openxmlformats.org/markup-compatibility/2006">
              <mc:Choice xmlns:v="urn:schemas-microsoft-com:vml" Requires="v">
                <p:oleObj spid="_x0000_s2057" name="" r:id="rId1" imgW="7213600" imgH="5655945" progId="">
                  <p:embed/>
                </p:oleObj>
              </mc:Choice>
              <mc:Fallback>
                <p:oleObj name="" r:id="rId1" imgW="7213600" imgH="5655945" progId="">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1557338"/>
                        <a:ext cx="6877050" cy="469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500" fill="hold"/>
                                        <p:tgtEl>
                                          <p:spTgt spid="2050"/>
                                        </p:tgtEl>
                                        <p:attrNameLst>
                                          <p:attrName>ppt_w</p:attrName>
                                        </p:attrNameLst>
                                      </p:cBhvr>
                                      <p:tavLst>
                                        <p:tav tm="0">
                                          <p:val>
                                            <p:fltVal val="0"/>
                                          </p:val>
                                        </p:tav>
                                        <p:tav tm="100000">
                                          <p:val>
                                            <p:strVal val="#ppt_w"/>
                                          </p:val>
                                        </p:tav>
                                      </p:tavLst>
                                    </p:anim>
                                    <p:anim calcmode="lin" valueType="num">
                                      <p:cBhvr>
                                        <p:cTn id="8" dur="500" fill="hold"/>
                                        <p:tgtEl>
                                          <p:spTgt spid="2050"/>
                                        </p:tgtEl>
                                        <p:attrNameLst>
                                          <p:attrName>ppt_h</p:attrName>
                                        </p:attrNameLst>
                                      </p:cBhvr>
                                      <p:tavLst>
                                        <p:tav tm="0">
                                          <p:val>
                                            <p:fltVal val="0"/>
                                          </p:val>
                                        </p:tav>
                                        <p:tav tm="100000">
                                          <p:val>
                                            <p:strVal val="#ppt_h"/>
                                          </p:val>
                                        </p:tav>
                                      </p:tavLst>
                                    </p:anim>
                                    <p:animEffect transition="in" filter="fade">
                                      <p:cBhvr>
                                        <p:cTn id="9"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2351088" y="877888"/>
            <a:ext cx="6513512" cy="488950"/>
          </a:xfrm>
        </p:spPr>
        <p:txBody>
          <a:bodyPr/>
          <a:lstStyle/>
          <a:p>
            <a:r>
              <a:rPr lang="zh-CN" altLang="en-US">
                <a:solidFill>
                  <a:srgbClr val="FF0000"/>
                </a:solidFill>
              </a:rPr>
              <a:t>风险管理工作内容</a:t>
            </a:r>
            <a:endParaRPr lang="en-US" altLang="zh-CN">
              <a:solidFill>
                <a:srgbClr val="FF0000"/>
              </a:solidFill>
            </a:endParaRPr>
          </a:p>
        </p:txBody>
      </p:sp>
      <p:pic>
        <p:nvPicPr>
          <p:cNvPr id="54275" name="Picture 11"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56175" y="2187575"/>
            <a:ext cx="18780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ectangle 14"/>
          <p:cNvSpPr>
            <a:spLocks noChangeAspect="1" noChangeArrowheads="1"/>
          </p:cNvSpPr>
          <p:nvPr/>
        </p:nvSpPr>
        <p:spPr bwMode="auto">
          <a:xfrm>
            <a:off x="5226050" y="2263775"/>
            <a:ext cx="1422400" cy="460375"/>
          </a:xfrm>
          <a:prstGeom prst="rect">
            <a:avLst/>
          </a:prstGeom>
          <a:noFill/>
          <a:ln w="9525">
            <a:noFill/>
            <a:miter lim="800000"/>
          </a:ln>
          <a:effectLst/>
        </p:spPr>
        <p:txBody>
          <a:bodyPr>
            <a:spAutoFit/>
          </a:bodyPr>
          <a:lstStyle/>
          <a:p>
            <a:pPr algn="ctr" eaLnBrk="1" hangingPunct="1">
              <a:defRPr/>
            </a:pPr>
            <a:r>
              <a:rPr lang="zh-CN" altLang="en-US" sz="2400" b="1" dirty="0">
                <a:solidFill>
                  <a:schemeClr val="tx2"/>
                </a:solidFill>
                <a:effectLst>
                  <a:outerShdw blurRad="38100" dist="38100" dir="2700000" algn="tl">
                    <a:srgbClr val="C0C0C0"/>
                  </a:outerShdw>
                </a:effectLst>
              </a:rPr>
              <a:t>建立背景</a:t>
            </a:r>
            <a:endParaRPr lang="en-US" altLang="zh-CN" sz="2800" b="1" dirty="0">
              <a:solidFill>
                <a:schemeClr val="tx2"/>
              </a:solidFill>
              <a:effectLst>
                <a:outerShdw blurRad="38100" dist="38100" dir="2700000" algn="tl">
                  <a:srgbClr val="C0C0C0"/>
                </a:outerShdw>
              </a:effectLst>
            </a:endParaRPr>
          </a:p>
        </p:txBody>
      </p:sp>
      <p:pic>
        <p:nvPicPr>
          <p:cNvPr id="44037" name="Picture 15"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56175" y="3178175"/>
            <a:ext cx="18780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Rectangle 16"/>
          <p:cNvSpPr>
            <a:spLocks noChangeAspect="1" noChangeArrowheads="1"/>
          </p:cNvSpPr>
          <p:nvPr/>
        </p:nvSpPr>
        <p:spPr bwMode="auto">
          <a:xfrm>
            <a:off x="5226050" y="3252788"/>
            <a:ext cx="1422400" cy="460375"/>
          </a:xfrm>
          <a:prstGeom prst="rect">
            <a:avLst/>
          </a:prstGeom>
          <a:noFill/>
          <a:ln w="9525">
            <a:noFill/>
            <a:miter lim="800000"/>
          </a:ln>
          <a:effectLst/>
        </p:spPr>
        <p:txBody>
          <a:bodyPr>
            <a:spAutoFit/>
          </a:bodyPr>
          <a:lstStyle/>
          <a:p>
            <a:pPr algn="ctr" eaLnBrk="1" hangingPunct="1">
              <a:defRPr/>
            </a:pPr>
            <a:r>
              <a:rPr lang="zh-CN" altLang="en-US" sz="2400" b="1" dirty="0">
                <a:solidFill>
                  <a:srgbClr val="FF0000"/>
                </a:solidFill>
                <a:effectLst>
                  <a:outerShdw blurRad="38100" dist="38100" dir="2700000" algn="tl">
                    <a:srgbClr val="C0C0C0"/>
                  </a:outerShdw>
                </a:effectLst>
              </a:rPr>
              <a:t>风险评估</a:t>
            </a:r>
            <a:endParaRPr lang="en-US" altLang="zh-CN" sz="2800" b="1" dirty="0">
              <a:solidFill>
                <a:srgbClr val="FF0000"/>
              </a:solidFill>
              <a:effectLst>
                <a:outerShdw blurRad="38100" dist="38100" dir="2700000" algn="tl">
                  <a:srgbClr val="C0C0C0"/>
                </a:outerShdw>
              </a:effectLst>
            </a:endParaRPr>
          </a:p>
        </p:txBody>
      </p:sp>
      <p:pic>
        <p:nvPicPr>
          <p:cNvPr id="54279" name="Picture 17"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56175" y="4168775"/>
            <a:ext cx="18780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Rectangle 18"/>
          <p:cNvSpPr>
            <a:spLocks noChangeAspect="1" noChangeArrowheads="1"/>
          </p:cNvSpPr>
          <p:nvPr/>
        </p:nvSpPr>
        <p:spPr bwMode="auto">
          <a:xfrm>
            <a:off x="5226050" y="4244975"/>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风险处理</a:t>
            </a:r>
            <a:endParaRPr lang="en-US" altLang="zh-CN" sz="2800" b="1">
              <a:solidFill>
                <a:schemeClr val="tx2"/>
              </a:solidFill>
              <a:effectLst>
                <a:outerShdw blurRad="38100" dist="38100" dir="2700000" algn="tl">
                  <a:srgbClr val="C0C0C0"/>
                </a:outerShdw>
              </a:effectLst>
            </a:endParaRPr>
          </a:p>
        </p:txBody>
      </p:sp>
      <p:pic>
        <p:nvPicPr>
          <p:cNvPr id="54281" name="Picture 19" descr="GEL Rounded Square aquamarin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6175" y="5160963"/>
            <a:ext cx="1878013"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Rectangle 20"/>
          <p:cNvSpPr>
            <a:spLocks noChangeAspect="1" noChangeArrowheads="1"/>
          </p:cNvSpPr>
          <p:nvPr/>
        </p:nvSpPr>
        <p:spPr bwMode="auto">
          <a:xfrm>
            <a:off x="5226050" y="5235575"/>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批准监督</a:t>
            </a:r>
            <a:endParaRPr lang="en-US" altLang="zh-CN" sz="2800" b="1">
              <a:solidFill>
                <a:schemeClr val="tx2"/>
              </a:solidFill>
              <a:effectLst>
                <a:outerShdw blurRad="38100" dist="38100" dir="2700000" algn="tl">
                  <a:srgbClr val="C0C0C0"/>
                </a:outerShdw>
              </a:effectLst>
            </a:endParaRPr>
          </a:p>
        </p:txBody>
      </p:sp>
      <p:grpSp>
        <p:nvGrpSpPr>
          <p:cNvPr id="54283" name="Group 24"/>
          <p:cNvGrpSpPr/>
          <p:nvPr/>
        </p:nvGrpSpPr>
        <p:grpSpPr bwMode="auto">
          <a:xfrm>
            <a:off x="3436938" y="2616200"/>
            <a:ext cx="839787" cy="3000375"/>
            <a:chOff x="1228" y="1117"/>
            <a:chExt cx="563" cy="1786"/>
          </a:xfrm>
        </p:grpSpPr>
        <p:pic>
          <p:nvPicPr>
            <p:cNvPr id="54299" name="Picture 21"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300" name="Text Box 22"/>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54301" name="Text Box 23"/>
            <p:cNvSpPr txBox="1">
              <a:spLocks noChangeArrowheads="1"/>
            </p:cNvSpPr>
            <p:nvPr/>
          </p:nvSpPr>
          <p:spPr bwMode="auto">
            <a:xfrm>
              <a:off x="1310" y="1588"/>
              <a:ext cx="391"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latin typeface="Arial" panose="020B0604020202020204" pitchFamily="34" charset="0"/>
                  <a:ea typeface="宋体" panose="02010600030101010101" pitchFamily="2" charset="-122"/>
                </a:rPr>
                <a:t>监控审查</a:t>
              </a:r>
              <a:endParaRPr lang="en-US" altLang="zh-CN" sz="2600" b="1">
                <a:latin typeface="Arial" panose="020B0604020202020204" pitchFamily="34" charset="0"/>
                <a:ea typeface="宋体" panose="02010600030101010101" pitchFamily="2" charset="-122"/>
              </a:endParaRPr>
            </a:p>
          </p:txBody>
        </p:sp>
      </p:grpSp>
      <p:grpSp>
        <p:nvGrpSpPr>
          <p:cNvPr id="54284" name="Group 25"/>
          <p:cNvGrpSpPr/>
          <p:nvPr/>
        </p:nvGrpSpPr>
        <p:grpSpPr bwMode="auto">
          <a:xfrm>
            <a:off x="7664450" y="2616200"/>
            <a:ext cx="841375" cy="3000375"/>
            <a:chOff x="1228" y="1117"/>
            <a:chExt cx="563" cy="1786"/>
          </a:xfrm>
        </p:grpSpPr>
        <p:pic>
          <p:nvPicPr>
            <p:cNvPr id="54296" name="Picture 26"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97" name="Text Box 27"/>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54298" name="Text Box 28"/>
            <p:cNvSpPr txBox="1">
              <a:spLocks noChangeArrowheads="1"/>
            </p:cNvSpPr>
            <p:nvPr/>
          </p:nvSpPr>
          <p:spPr bwMode="auto">
            <a:xfrm>
              <a:off x="1311" y="1588"/>
              <a:ext cx="390"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latin typeface="Arial" panose="020B0604020202020204" pitchFamily="34" charset="0"/>
                  <a:ea typeface="宋体" panose="02010600030101010101" pitchFamily="2" charset="-122"/>
                </a:rPr>
                <a:t>沟通咨询</a:t>
              </a:r>
              <a:endParaRPr lang="en-US" altLang="zh-CN" sz="2600" b="1">
                <a:latin typeface="Arial" panose="020B0604020202020204" pitchFamily="34" charset="0"/>
                <a:ea typeface="宋体" panose="02010600030101010101" pitchFamily="2" charset="-122"/>
              </a:endParaRPr>
            </a:p>
          </p:txBody>
        </p:sp>
      </p:grpSp>
      <p:sp>
        <p:nvSpPr>
          <p:cNvPr id="54285" name="AutoShape 29"/>
          <p:cNvSpPr>
            <a:spLocks noChangeArrowheads="1"/>
          </p:cNvSpPr>
          <p:nvPr/>
        </p:nvSpPr>
        <p:spPr bwMode="auto">
          <a:xfrm>
            <a:off x="5700713" y="2873375"/>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4286" name="AutoShape 30"/>
          <p:cNvSpPr>
            <a:spLocks noChangeArrowheads="1"/>
          </p:cNvSpPr>
          <p:nvPr/>
        </p:nvSpPr>
        <p:spPr bwMode="auto">
          <a:xfrm>
            <a:off x="5700713" y="3865563"/>
            <a:ext cx="406400" cy="303212"/>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4287" name="AutoShape 31"/>
          <p:cNvSpPr>
            <a:spLocks noChangeArrowheads="1"/>
          </p:cNvSpPr>
          <p:nvPr/>
        </p:nvSpPr>
        <p:spPr bwMode="auto">
          <a:xfrm>
            <a:off x="5700713" y="4856163"/>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4288" name="AutoShape 32"/>
          <p:cNvSpPr>
            <a:spLocks noChangeArrowheads="1"/>
          </p:cNvSpPr>
          <p:nvPr/>
        </p:nvSpPr>
        <p:spPr bwMode="auto">
          <a:xfrm rot="-5400000">
            <a:off x="4421982" y="2407443"/>
            <a:ext cx="457200" cy="474663"/>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4289" name="AutoShape 34"/>
          <p:cNvSpPr>
            <a:spLocks noChangeArrowheads="1"/>
          </p:cNvSpPr>
          <p:nvPr/>
        </p:nvSpPr>
        <p:spPr bwMode="auto">
          <a:xfrm rot="5400000">
            <a:off x="4355307" y="5304631"/>
            <a:ext cx="457200" cy="474663"/>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4290" name="AutoShape 35"/>
          <p:cNvSpPr>
            <a:spLocks noChangeArrowheads="1"/>
          </p:cNvSpPr>
          <p:nvPr/>
        </p:nvSpPr>
        <p:spPr bwMode="auto">
          <a:xfrm>
            <a:off x="4346575" y="3406775"/>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4291" name="AutoShape 36"/>
          <p:cNvSpPr>
            <a:spLocks noChangeArrowheads="1"/>
          </p:cNvSpPr>
          <p:nvPr/>
        </p:nvSpPr>
        <p:spPr bwMode="auto">
          <a:xfrm>
            <a:off x="4346575" y="4473575"/>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4292" name="AutoShape 37"/>
          <p:cNvSpPr>
            <a:spLocks noChangeArrowheads="1"/>
          </p:cNvSpPr>
          <p:nvPr/>
        </p:nvSpPr>
        <p:spPr bwMode="auto">
          <a:xfrm>
            <a:off x="6919913" y="2568575"/>
            <a:ext cx="608012" cy="304800"/>
          </a:xfrm>
          <a:prstGeom prst="leftRightArrow">
            <a:avLst>
              <a:gd name="adj1" fmla="val 50000"/>
              <a:gd name="adj2" fmla="val 44883"/>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4293" name="AutoShape 38"/>
          <p:cNvSpPr>
            <a:spLocks noChangeArrowheads="1"/>
          </p:cNvSpPr>
          <p:nvPr/>
        </p:nvSpPr>
        <p:spPr bwMode="auto">
          <a:xfrm>
            <a:off x="6919913" y="3330575"/>
            <a:ext cx="609600" cy="306388"/>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4294" name="AutoShape 39"/>
          <p:cNvSpPr>
            <a:spLocks noChangeArrowheads="1"/>
          </p:cNvSpPr>
          <p:nvPr/>
        </p:nvSpPr>
        <p:spPr bwMode="auto">
          <a:xfrm>
            <a:off x="6919913" y="4168775"/>
            <a:ext cx="608012" cy="306388"/>
          </a:xfrm>
          <a:prstGeom prst="leftRightArrow">
            <a:avLst>
              <a:gd name="adj1" fmla="val 50000"/>
              <a:gd name="adj2" fmla="val 4465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4295" name="AutoShape 40"/>
          <p:cNvSpPr>
            <a:spLocks noChangeArrowheads="1"/>
          </p:cNvSpPr>
          <p:nvPr/>
        </p:nvSpPr>
        <p:spPr bwMode="auto">
          <a:xfrm>
            <a:off x="6919913" y="5083175"/>
            <a:ext cx="609600" cy="306388"/>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4403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651750" y="4581525"/>
            <a:ext cx="2881313"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9" name="Rectangle 2"/>
          <p:cNvSpPr>
            <a:spLocks noGrp="1" noChangeArrowheads="1"/>
          </p:cNvSpPr>
          <p:nvPr>
            <p:ph type="title"/>
          </p:nvPr>
        </p:nvSpPr>
        <p:spPr>
          <a:xfrm>
            <a:off x="1992313" y="549275"/>
            <a:ext cx="8540750" cy="927100"/>
          </a:xfrm>
        </p:spPr>
        <p:txBody>
          <a:bodyPr/>
          <a:lstStyle/>
          <a:p>
            <a:r>
              <a:rPr lang="zh-CN" altLang="en-US">
                <a:solidFill>
                  <a:srgbClr val="FF0000"/>
                </a:solidFill>
              </a:rPr>
              <a:t>风险评估</a:t>
            </a:r>
            <a:endParaRPr lang="en-US" altLang="zh-CN">
              <a:solidFill>
                <a:srgbClr val="FF0000"/>
              </a:solidFill>
            </a:endParaRPr>
          </a:p>
        </p:txBody>
      </p:sp>
      <p:sp>
        <p:nvSpPr>
          <p:cNvPr id="41987" name="Rectangle 3"/>
          <p:cNvSpPr>
            <a:spLocks noGrp="1" noChangeArrowheads="1"/>
          </p:cNvSpPr>
          <p:nvPr>
            <p:ph type="body" sz="half" idx="1"/>
          </p:nvPr>
        </p:nvSpPr>
        <p:spPr>
          <a:xfrm>
            <a:off x="1774825" y="1557338"/>
            <a:ext cx="8485188" cy="3167062"/>
          </a:xfrm>
        </p:spPr>
        <p:txBody>
          <a:bodyPr/>
          <a:lstStyle/>
          <a:p>
            <a:pPr>
              <a:lnSpc>
                <a:spcPct val="90000"/>
              </a:lnSpc>
              <a:defRPr/>
            </a:pPr>
            <a:r>
              <a:rPr lang="zh-CN" altLang="en-US" dirty="0"/>
              <a:t>网络空间安全风险管理要依靠风险评估的结果来确定随后的风险处理和批准监督活动。</a:t>
            </a:r>
            <a:endParaRPr lang="en-US" altLang="zh-CN" dirty="0"/>
          </a:p>
          <a:p>
            <a:pPr lvl="1" eaLnBrk="1" hangingPunct="1">
              <a:defRPr/>
            </a:pPr>
            <a:r>
              <a:rPr lang="zh-CN" dirty="0">
                <a:cs typeface="+mn-cs"/>
              </a:rPr>
              <a:t>风险分析准备：制定风险评估方案、选择评估方法</a:t>
            </a:r>
            <a:endParaRPr lang="en-US" dirty="0">
              <a:cs typeface="+mn-cs"/>
            </a:endParaRPr>
          </a:p>
          <a:p>
            <a:pPr lvl="1" eaLnBrk="1" hangingPunct="1">
              <a:defRPr/>
            </a:pPr>
            <a:r>
              <a:rPr lang="zh-CN" dirty="0">
                <a:cs typeface="+mn-cs"/>
              </a:rPr>
              <a:t>风险要素识别：发现系统存在的威胁、脆弱性和控制措施</a:t>
            </a:r>
            <a:endParaRPr lang="zh-CN" dirty="0">
              <a:cs typeface="+mn-cs"/>
            </a:endParaRPr>
          </a:p>
          <a:p>
            <a:pPr lvl="1" eaLnBrk="1" hangingPunct="1">
              <a:defRPr/>
            </a:pPr>
            <a:r>
              <a:rPr lang="zh-CN" dirty="0">
                <a:cs typeface="+mn-cs"/>
              </a:rPr>
              <a:t>风险分析：判断风险发生的可能性和影响的程度</a:t>
            </a:r>
            <a:endParaRPr lang="en-US" dirty="0">
              <a:cs typeface="+mn-cs"/>
            </a:endParaRPr>
          </a:p>
          <a:p>
            <a:pPr lvl="1" eaLnBrk="1" hangingPunct="1">
              <a:defRPr/>
            </a:pPr>
            <a:r>
              <a:rPr lang="zh-CN" dirty="0">
                <a:cs typeface="+mn-cs"/>
              </a:rPr>
              <a:t>风险结果判定：综合分析结果判定风险等级</a:t>
            </a:r>
            <a:endParaRPr lang="zh-CN" dirty="0">
              <a:cs typeface="+mn-cs"/>
            </a:endParaRPr>
          </a:p>
          <a:p>
            <a:pPr>
              <a:lnSpc>
                <a:spcPct val="90000"/>
              </a:lnSpc>
              <a:defRPr/>
            </a:pP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1987">
                                            <p:txEl>
                                              <p:pRg st="0" end="0"/>
                                            </p:txEl>
                                          </p:spTgt>
                                        </p:tgtEl>
                                        <p:attrNameLst>
                                          <p:attrName>style.visibility</p:attrName>
                                        </p:attrNameLst>
                                      </p:cBhvr>
                                      <p:to>
                                        <p:strVal val="visible"/>
                                      </p:to>
                                    </p:set>
                                    <p:anim calcmode="lin" valueType="num">
                                      <p:cBhvr>
                                        <p:cTn id="14" dur="500" fill="hold"/>
                                        <p:tgtEl>
                                          <p:spTgt spid="41987">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41987">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41987">
                                            <p:txEl>
                                              <p:pRg st="0" end="0"/>
                                            </p:txEl>
                                          </p:spTgt>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41987">
                                            <p:txEl>
                                              <p:pRg st="1" end="1"/>
                                            </p:txEl>
                                          </p:spTgt>
                                        </p:tgtEl>
                                        <p:attrNameLst>
                                          <p:attrName>style.visibility</p:attrName>
                                        </p:attrNameLst>
                                      </p:cBhvr>
                                      <p:to>
                                        <p:strVal val="visible"/>
                                      </p:to>
                                    </p:set>
                                    <p:anim calcmode="lin" valueType="num">
                                      <p:cBhvr>
                                        <p:cTn id="19" dur="500" fill="hold"/>
                                        <p:tgtEl>
                                          <p:spTgt spid="41987">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41987">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41987">
                                            <p:txEl>
                                              <p:pRg st="1" end="1"/>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1987">
                                            <p:txEl>
                                              <p:pRg st="2" end="2"/>
                                            </p:txEl>
                                          </p:spTgt>
                                        </p:tgtEl>
                                        <p:attrNameLst>
                                          <p:attrName>style.visibility</p:attrName>
                                        </p:attrNameLst>
                                      </p:cBhvr>
                                      <p:to>
                                        <p:strVal val="visible"/>
                                      </p:to>
                                    </p:set>
                                    <p:anim calcmode="lin" valueType="num">
                                      <p:cBhvr>
                                        <p:cTn id="24" dur="500" fill="hold"/>
                                        <p:tgtEl>
                                          <p:spTgt spid="41987">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41987">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41987">
                                            <p:txEl>
                                              <p:pRg st="2" end="2"/>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41987">
                                            <p:txEl>
                                              <p:pRg st="3" end="3"/>
                                            </p:txEl>
                                          </p:spTgt>
                                        </p:tgtEl>
                                        <p:attrNameLst>
                                          <p:attrName>style.visibility</p:attrName>
                                        </p:attrNameLst>
                                      </p:cBhvr>
                                      <p:to>
                                        <p:strVal val="visible"/>
                                      </p:to>
                                    </p:set>
                                    <p:anim calcmode="lin" valueType="num">
                                      <p:cBhvr>
                                        <p:cTn id="29" dur="500" fill="hold"/>
                                        <p:tgtEl>
                                          <p:spTgt spid="41987">
                                            <p:txEl>
                                              <p:pRg st="3" end="3"/>
                                            </p:txEl>
                                          </p:spTgt>
                                        </p:tgtEl>
                                        <p:attrNameLst>
                                          <p:attrName>ppt_w</p:attrName>
                                        </p:attrNameLst>
                                      </p:cBhvr>
                                      <p:tavLst>
                                        <p:tav tm="0">
                                          <p:val>
                                            <p:fltVal val="0"/>
                                          </p:val>
                                        </p:tav>
                                        <p:tav tm="100000">
                                          <p:val>
                                            <p:strVal val="#ppt_w"/>
                                          </p:val>
                                        </p:tav>
                                      </p:tavLst>
                                    </p:anim>
                                    <p:anim calcmode="lin" valueType="num">
                                      <p:cBhvr>
                                        <p:cTn id="30" dur="500" fill="hold"/>
                                        <p:tgtEl>
                                          <p:spTgt spid="41987">
                                            <p:txEl>
                                              <p:pRg st="3" end="3"/>
                                            </p:txEl>
                                          </p:spTgt>
                                        </p:tgtEl>
                                        <p:attrNameLst>
                                          <p:attrName>ppt_h</p:attrName>
                                        </p:attrNameLst>
                                      </p:cBhvr>
                                      <p:tavLst>
                                        <p:tav tm="0">
                                          <p:val>
                                            <p:fltVal val="0"/>
                                          </p:val>
                                        </p:tav>
                                        <p:tav tm="100000">
                                          <p:val>
                                            <p:strVal val="#ppt_h"/>
                                          </p:val>
                                        </p:tav>
                                      </p:tavLst>
                                    </p:anim>
                                    <p:animEffect transition="in" filter="fade">
                                      <p:cBhvr>
                                        <p:cTn id="31" dur="500"/>
                                        <p:tgtEl>
                                          <p:spTgt spid="41987">
                                            <p:txEl>
                                              <p:pRg st="3" end="3"/>
                                            </p:txEl>
                                          </p:spTgt>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41987">
                                            <p:txEl>
                                              <p:pRg st="4" end="4"/>
                                            </p:txEl>
                                          </p:spTgt>
                                        </p:tgtEl>
                                        <p:attrNameLst>
                                          <p:attrName>style.visibility</p:attrName>
                                        </p:attrNameLst>
                                      </p:cBhvr>
                                      <p:to>
                                        <p:strVal val="visible"/>
                                      </p:to>
                                    </p:set>
                                    <p:anim calcmode="lin" valueType="num">
                                      <p:cBhvr>
                                        <p:cTn id="34" dur="500" fill="hold"/>
                                        <p:tgtEl>
                                          <p:spTgt spid="41987">
                                            <p:txEl>
                                              <p:pRg st="4" end="4"/>
                                            </p:txEl>
                                          </p:spTgt>
                                        </p:tgtEl>
                                        <p:attrNameLst>
                                          <p:attrName>ppt_w</p:attrName>
                                        </p:attrNameLst>
                                      </p:cBhvr>
                                      <p:tavLst>
                                        <p:tav tm="0">
                                          <p:val>
                                            <p:fltVal val="0"/>
                                          </p:val>
                                        </p:tav>
                                        <p:tav tm="100000">
                                          <p:val>
                                            <p:strVal val="#ppt_w"/>
                                          </p:val>
                                        </p:tav>
                                      </p:tavLst>
                                    </p:anim>
                                    <p:anim calcmode="lin" valueType="num">
                                      <p:cBhvr>
                                        <p:cTn id="35" dur="500" fill="hold"/>
                                        <p:tgtEl>
                                          <p:spTgt spid="41987">
                                            <p:txEl>
                                              <p:pRg st="4" end="4"/>
                                            </p:txEl>
                                          </p:spTgt>
                                        </p:tgtEl>
                                        <p:attrNameLst>
                                          <p:attrName>ppt_h</p:attrName>
                                        </p:attrNameLst>
                                      </p:cBhvr>
                                      <p:tavLst>
                                        <p:tav tm="0">
                                          <p:val>
                                            <p:fltVal val="0"/>
                                          </p:val>
                                        </p:tav>
                                        <p:tav tm="100000">
                                          <p:val>
                                            <p:strVal val="#ppt_h"/>
                                          </p:val>
                                        </p:tav>
                                      </p:tavLst>
                                    </p:anim>
                                    <p:animEffect transition="in" filter="fade">
                                      <p:cBhvr>
                                        <p:cTn id="36" dur="500"/>
                                        <p:tgtEl>
                                          <p:spTgt spid="419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279650" y="836613"/>
            <a:ext cx="6513513" cy="487362"/>
          </a:xfrm>
        </p:spPr>
        <p:txBody>
          <a:bodyPr/>
          <a:lstStyle/>
          <a:p>
            <a:r>
              <a:rPr lang="zh-CN" altLang="en-US">
                <a:solidFill>
                  <a:srgbClr val="FF0000"/>
                </a:solidFill>
              </a:rPr>
              <a:t>风险评估过程</a:t>
            </a:r>
            <a:endParaRPr lang="zh-CN" altLang="en-US">
              <a:solidFill>
                <a:srgbClr val="FF0000"/>
              </a:solidFill>
            </a:endParaRPr>
          </a:p>
        </p:txBody>
      </p:sp>
      <p:sp>
        <p:nvSpPr>
          <p:cNvPr id="56323" name="Rectangle 3"/>
          <p:cNvSpPr>
            <a:spLocks noChangeArrowheads="1"/>
          </p:cNvSpPr>
          <p:nvPr/>
        </p:nvSpPr>
        <p:spPr bwMode="auto">
          <a:xfrm>
            <a:off x="1524000" y="7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3074" name="Object 2"/>
          <p:cNvGraphicFramePr>
            <a:graphicFrameLocks noGrp="1" noChangeAspect="1"/>
          </p:cNvGraphicFramePr>
          <p:nvPr>
            <p:ph idx="1"/>
          </p:nvPr>
        </p:nvGraphicFramePr>
        <p:xfrm>
          <a:off x="2566988" y="1608138"/>
          <a:ext cx="6927850" cy="4613275"/>
        </p:xfrm>
        <a:graphic>
          <a:graphicData uri="http://schemas.openxmlformats.org/presentationml/2006/ole">
            <mc:AlternateContent xmlns:mc="http://schemas.openxmlformats.org/markup-compatibility/2006">
              <mc:Choice xmlns:v="urn:schemas-microsoft-com:vml" Requires="v">
                <p:oleObj spid="_x0000_s3081" name="" r:id="rId1" imgW="8161655" imgH="5655945" progId="">
                  <p:embed/>
                </p:oleObj>
              </mc:Choice>
              <mc:Fallback>
                <p:oleObj name="" r:id="rId1" imgW="8161655" imgH="5655945" progId="">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988" y="1608138"/>
                        <a:ext cx="6927850"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5" name="灯片编号占位符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66D904FA-D8CA-4ABE-B0A1-AE8480791AA1}" type="slidenum">
              <a:rPr lang="zh-CN" altLang="en-US" sz="1000" smtClean="0">
                <a:latin typeface="Arial" panose="020B0604020202020204" pitchFamily="34" charset="0"/>
                <a:ea typeface="宋体" panose="02010600030101010101" pitchFamily="2" charset="-122"/>
              </a:rPr>
            </a:fld>
            <a:endParaRPr lang="en-US" altLang="zh-CN" sz="1000">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p:cTn id="7" dur="500" fill="hold"/>
                                        <p:tgtEl>
                                          <p:spTgt spid="3074"/>
                                        </p:tgtEl>
                                        <p:attrNameLst>
                                          <p:attrName>ppt_w</p:attrName>
                                        </p:attrNameLst>
                                      </p:cBhvr>
                                      <p:tavLst>
                                        <p:tav tm="0">
                                          <p:val>
                                            <p:fltVal val="0"/>
                                          </p:val>
                                        </p:tav>
                                        <p:tav tm="100000">
                                          <p:val>
                                            <p:strVal val="#ppt_w"/>
                                          </p:val>
                                        </p:tav>
                                      </p:tavLst>
                                    </p:anim>
                                    <p:anim calcmode="lin" valueType="num">
                                      <p:cBhvr>
                                        <p:cTn id="8" dur="500" fill="hold"/>
                                        <p:tgtEl>
                                          <p:spTgt spid="3074"/>
                                        </p:tgtEl>
                                        <p:attrNameLst>
                                          <p:attrName>ppt_h</p:attrName>
                                        </p:attrNameLst>
                                      </p:cBhvr>
                                      <p:tavLst>
                                        <p:tav tm="0">
                                          <p:val>
                                            <p:fltVal val="0"/>
                                          </p:val>
                                        </p:tav>
                                        <p:tav tm="100000">
                                          <p:val>
                                            <p:strVal val="#ppt_h"/>
                                          </p:val>
                                        </p:tav>
                                      </p:tavLst>
                                    </p:anim>
                                    <p:animEffect transition="in" filter="fade">
                                      <p:cBhvr>
                                        <p:cTn id="9"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279650" y="790575"/>
            <a:ext cx="6513513" cy="487363"/>
          </a:xfrm>
        </p:spPr>
        <p:txBody>
          <a:bodyPr/>
          <a:lstStyle/>
          <a:p>
            <a:r>
              <a:rPr lang="zh-CN" altLang="en-US">
                <a:solidFill>
                  <a:srgbClr val="FF0000"/>
                </a:solidFill>
              </a:rPr>
              <a:t>风险管理工作内容</a:t>
            </a:r>
            <a:endParaRPr lang="en-US" altLang="zh-CN">
              <a:solidFill>
                <a:srgbClr val="FF0000"/>
              </a:solidFill>
            </a:endParaRPr>
          </a:p>
        </p:txBody>
      </p:sp>
      <p:pic>
        <p:nvPicPr>
          <p:cNvPr id="57347" name="Picture 3"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18288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9252" name="Rectangle 4"/>
          <p:cNvSpPr>
            <a:spLocks noChangeAspect="1" noChangeArrowheads="1"/>
          </p:cNvSpPr>
          <p:nvPr/>
        </p:nvSpPr>
        <p:spPr bwMode="auto">
          <a:xfrm>
            <a:off x="5459413" y="1905000"/>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建立背景</a:t>
            </a:r>
            <a:endParaRPr lang="en-US" altLang="zh-CN" sz="2800" b="1">
              <a:solidFill>
                <a:schemeClr val="tx2"/>
              </a:solidFill>
              <a:effectLst>
                <a:outerShdw blurRad="38100" dist="38100" dir="2700000" algn="tl">
                  <a:srgbClr val="C0C0C0"/>
                </a:outerShdw>
              </a:effectLst>
            </a:endParaRPr>
          </a:p>
        </p:txBody>
      </p:sp>
      <p:pic>
        <p:nvPicPr>
          <p:cNvPr id="57349" name="Picture 5"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28194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9254" name="Rectangle 6"/>
          <p:cNvSpPr>
            <a:spLocks noChangeAspect="1" noChangeArrowheads="1"/>
          </p:cNvSpPr>
          <p:nvPr/>
        </p:nvSpPr>
        <p:spPr bwMode="auto">
          <a:xfrm>
            <a:off x="5459413" y="2894013"/>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风险评估</a:t>
            </a:r>
            <a:endParaRPr lang="en-US" altLang="zh-CN" sz="2800" b="1">
              <a:solidFill>
                <a:schemeClr val="tx2"/>
              </a:solidFill>
              <a:effectLst>
                <a:outerShdw blurRad="38100" dist="38100" dir="2700000" algn="tl">
                  <a:srgbClr val="C0C0C0"/>
                </a:outerShdw>
              </a:effectLst>
            </a:endParaRPr>
          </a:p>
        </p:txBody>
      </p:sp>
      <p:pic>
        <p:nvPicPr>
          <p:cNvPr id="1589255" name="Picture 7"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38100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9256" name="Rectangle 8"/>
          <p:cNvSpPr>
            <a:spLocks noChangeAspect="1" noChangeArrowheads="1"/>
          </p:cNvSpPr>
          <p:nvPr/>
        </p:nvSpPr>
        <p:spPr bwMode="auto">
          <a:xfrm>
            <a:off x="5459413" y="3886200"/>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rgbClr val="FF0000"/>
                </a:solidFill>
                <a:effectLst>
                  <a:outerShdw blurRad="38100" dist="38100" dir="2700000" algn="tl">
                    <a:srgbClr val="C0C0C0"/>
                  </a:outerShdw>
                </a:effectLst>
              </a:rPr>
              <a:t>风险处理</a:t>
            </a:r>
            <a:endParaRPr lang="en-US" altLang="zh-CN" sz="2800" b="1">
              <a:solidFill>
                <a:srgbClr val="FF0000"/>
              </a:solidFill>
              <a:effectLst>
                <a:outerShdw blurRad="38100" dist="38100" dir="2700000" algn="tl">
                  <a:srgbClr val="C0C0C0"/>
                </a:outerShdw>
              </a:effectLst>
            </a:endParaRPr>
          </a:p>
        </p:txBody>
      </p:sp>
      <p:pic>
        <p:nvPicPr>
          <p:cNvPr id="57353" name="Picture 9" descr="GEL Rounded Square aquamarin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9538" y="4802188"/>
            <a:ext cx="1878012"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9258" name="Rectangle 10"/>
          <p:cNvSpPr>
            <a:spLocks noChangeAspect="1" noChangeArrowheads="1"/>
          </p:cNvSpPr>
          <p:nvPr/>
        </p:nvSpPr>
        <p:spPr bwMode="auto">
          <a:xfrm>
            <a:off x="5459413" y="4876800"/>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批准监督</a:t>
            </a:r>
            <a:endParaRPr lang="en-US" altLang="zh-CN" sz="2800" b="1">
              <a:solidFill>
                <a:schemeClr val="tx2"/>
              </a:solidFill>
              <a:effectLst>
                <a:outerShdw blurRad="38100" dist="38100" dir="2700000" algn="tl">
                  <a:srgbClr val="C0C0C0"/>
                </a:outerShdw>
              </a:effectLst>
            </a:endParaRPr>
          </a:p>
        </p:txBody>
      </p:sp>
      <p:grpSp>
        <p:nvGrpSpPr>
          <p:cNvPr id="57355" name="Group 11"/>
          <p:cNvGrpSpPr/>
          <p:nvPr/>
        </p:nvGrpSpPr>
        <p:grpSpPr bwMode="auto">
          <a:xfrm>
            <a:off x="3670300" y="2257425"/>
            <a:ext cx="839788" cy="3000375"/>
            <a:chOff x="1228" y="1117"/>
            <a:chExt cx="563" cy="1786"/>
          </a:xfrm>
        </p:grpSpPr>
        <p:pic>
          <p:nvPicPr>
            <p:cNvPr id="57372" name="Picture 12"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73" name="Text Box 13"/>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57374" name="Text Box 14"/>
            <p:cNvSpPr txBox="1">
              <a:spLocks noChangeArrowheads="1"/>
            </p:cNvSpPr>
            <p:nvPr/>
          </p:nvSpPr>
          <p:spPr bwMode="auto">
            <a:xfrm>
              <a:off x="1310" y="1588"/>
              <a:ext cx="391"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latin typeface="Arial" panose="020B0604020202020204" pitchFamily="34" charset="0"/>
                  <a:ea typeface="宋体" panose="02010600030101010101" pitchFamily="2" charset="-122"/>
                </a:rPr>
                <a:t>监控审查</a:t>
              </a:r>
              <a:endParaRPr lang="en-US" altLang="zh-CN" sz="2600" b="1">
                <a:latin typeface="Arial" panose="020B0604020202020204" pitchFamily="34" charset="0"/>
                <a:ea typeface="宋体" panose="02010600030101010101" pitchFamily="2" charset="-122"/>
              </a:endParaRPr>
            </a:p>
          </p:txBody>
        </p:sp>
      </p:grpSp>
      <p:grpSp>
        <p:nvGrpSpPr>
          <p:cNvPr id="57356" name="Group 15"/>
          <p:cNvGrpSpPr/>
          <p:nvPr/>
        </p:nvGrpSpPr>
        <p:grpSpPr bwMode="auto">
          <a:xfrm>
            <a:off x="7897813" y="2257425"/>
            <a:ext cx="841375" cy="3000375"/>
            <a:chOff x="1228" y="1117"/>
            <a:chExt cx="563" cy="1786"/>
          </a:xfrm>
        </p:grpSpPr>
        <p:pic>
          <p:nvPicPr>
            <p:cNvPr id="57369" name="Picture 16"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70" name="Text Box 17"/>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57371" name="Text Box 18"/>
            <p:cNvSpPr txBox="1">
              <a:spLocks noChangeArrowheads="1"/>
            </p:cNvSpPr>
            <p:nvPr/>
          </p:nvSpPr>
          <p:spPr bwMode="auto">
            <a:xfrm>
              <a:off x="1311" y="1588"/>
              <a:ext cx="390"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latin typeface="Arial" panose="020B0604020202020204" pitchFamily="34" charset="0"/>
                  <a:ea typeface="宋体" panose="02010600030101010101" pitchFamily="2" charset="-122"/>
                </a:rPr>
                <a:t>沟通咨询</a:t>
              </a:r>
              <a:endParaRPr lang="en-US" altLang="zh-CN" sz="2600" b="1">
                <a:latin typeface="Arial" panose="020B0604020202020204" pitchFamily="34" charset="0"/>
                <a:ea typeface="宋体" panose="02010600030101010101" pitchFamily="2" charset="-122"/>
              </a:endParaRPr>
            </a:p>
          </p:txBody>
        </p:sp>
      </p:grpSp>
      <p:sp>
        <p:nvSpPr>
          <p:cNvPr id="57357" name="AutoShape 19"/>
          <p:cNvSpPr>
            <a:spLocks noChangeArrowheads="1"/>
          </p:cNvSpPr>
          <p:nvPr/>
        </p:nvSpPr>
        <p:spPr bwMode="auto">
          <a:xfrm>
            <a:off x="5934075" y="2514600"/>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7358" name="AutoShape 20"/>
          <p:cNvSpPr>
            <a:spLocks noChangeArrowheads="1"/>
          </p:cNvSpPr>
          <p:nvPr/>
        </p:nvSpPr>
        <p:spPr bwMode="auto">
          <a:xfrm>
            <a:off x="5934075" y="3506788"/>
            <a:ext cx="406400" cy="303212"/>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7359" name="AutoShape 21"/>
          <p:cNvSpPr>
            <a:spLocks noChangeArrowheads="1"/>
          </p:cNvSpPr>
          <p:nvPr/>
        </p:nvSpPr>
        <p:spPr bwMode="auto">
          <a:xfrm>
            <a:off x="5934075" y="4497388"/>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7360" name="AutoShape 22"/>
          <p:cNvSpPr>
            <a:spLocks noChangeArrowheads="1"/>
          </p:cNvSpPr>
          <p:nvPr/>
        </p:nvSpPr>
        <p:spPr bwMode="auto">
          <a:xfrm rot="-5400000">
            <a:off x="4655344" y="2048669"/>
            <a:ext cx="457200" cy="474662"/>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7361" name="AutoShape 23"/>
          <p:cNvSpPr>
            <a:spLocks noChangeArrowheads="1"/>
          </p:cNvSpPr>
          <p:nvPr/>
        </p:nvSpPr>
        <p:spPr bwMode="auto">
          <a:xfrm rot="5400000">
            <a:off x="4588669" y="4945857"/>
            <a:ext cx="457200" cy="474662"/>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7362" name="AutoShape 24"/>
          <p:cNvSpPr>
            <a:spLocks noChangeArrowheads="1"/>
          </p:cNvSpPr>
          <p:nvPr/>
        </p:nvSpPr>
        <p:spPr bwMode="auto">
          <a:xfrm>
            <a:off x="4579938" y="3048000"/>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7363" name="AutoShape 25"/>
          <p:cNvSpPr>
            <a:spLocks noChangeArrowheads="1"/>
          </p:cNvSpPr>
          <p:nvPr/>
        </p:nvSpPr>
        <p:spPr bwMode="auto">
          <a:xfrm>
            <a:off x="4579938" y="4114800"/>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7364" name="AutoShape 26"/>
          <p:cNvSpPr>
            <a:spLocks noChangeArrowheads="1"/>
          </p:cNvSpPr>
          <p:nvPr/>
        </p:nvSpPr>
        <p:spPr bwMode="auto">
          <a:xfrm>
            <a:off x="7153275" y="2209800"/>
            <a:ext cx="608013" cy="304800"/>
          </a:xfrm>
          <a:prstGeom prst="leftRightArrow">
            <a:avLst>
              <a:gd name="adj1" fmla="val 50000"/>
              <a:gd name="adj2" fmla="val 44883"/>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7365" name="AutoShape 27"/>
          <p:cNvSpPr>
            <a:spLocks noChangeArrowheads="1"/>
          </p:cNvSpPr>
          <p:nvPr/>
        </p:nvSpPr>
        <p:spPr bwMode="auto">
          <a:xfrm>
            <a:off x="7153275" y="2971800"/>
            <a:ext cx="609600" cy="306388"/>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7366" name="AutoShape 28"/>
          <p:cNvSpPr>
            <a:spLocks noChangeArrowheads="1"/>
          </p:cNvSpPr>
          <p:nvPr/>
        </p:nvSpPr>
        <p:spPr bwMode="auto">
          <a:xfrm>
            <a:off x="7153275" y="3810000"/>
            <a:ext cx="608013" cy="306388"/>
          </a:xfrm>
          <a:prstGeom prst="leftRightArrow">
            <a:avLst>
              <a:gd name="adj1" fmla="val 50000"/>
              <a:gd name="adj2" fmla="val 4465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57367" name="AutoShape 29"/>
          <p:cNvSpPr>
            <a:spLocks noChangeArrowheads="1"/>
          </p:cNvSpPr>
          <p:nvPr/>
        </p:nvSpPr>
        <p:spPr bwMode="auto">
          <a:xfrm>
            <a:off x="7153275" y="4724400"/>
            <a:ext cx="609600" cy="306388"/>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1589256"/>
                                        </p:tgtEl>
                                      </p:cBhvr>
                                      <p:by x="120000" y="120000"/>
                                    </p:animScale>
                                  </p:childTnLst>
                                </p:cTn>
                              </p:par>
                              <p:par>
                                <p:cTn id="7" presetID="6" presetClass="emph" presetSubtype="0" fill="hold" nodeType="withEffect">
                                  <p:stCondLst>
                                    <p:cond delay="0"/>
                                  </p:stCondLst>
                                  <p:childTnLst>
                                    <p:animScale>
                                      <p:cBhvr>
                                        <p:cTn id="8" dur="2000" fill="hold"/>
                                        <p:tgtEl>
                                          <p:spTgt spid="158925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9256"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xfrm>
            <a:off x="2351088" y="781050"/>
            <a:ext cx="6513512" cy="487363"/>
          </a:xfrm>
        </p:spPr>
        <p:txBody>
          <a:bodyPr/>
          <a:lstStyle/>
          <a:p>
            <a:r>
              <a:rPr lang="zh-CN" altLang="en-US">
                <a:solidFill>
                  <a:srgbClr val="FF0000"/>
                </a:solidFill>
              </a:rPr>
              <a:t>风险处理</a:t>
            </a:r>
            <a:endParaRPr lang="zh-CN" altLang="en-US">
              <a:solidFill>
                <a:srgbClr val="FF0000"/>
              </a:solidFill>
            </a:endParaRPr>
          </a:p>
        </p:txBody>
      </p:sp>
      <p:sp>
        <p:nvSpPr>
          <p:cNvPr id="47107" name="内容占位符 2"/>
          <p:cNvSpPr>
            <a:spLocks noGrp="1"/>
          </p:cNvSpPr>
          <p:nvPr>
            <p:ph idx="1"/>
          </p:nvPr>
        </p:nvSpPr>
        <p:spPr>
          <a:xfrm>
            <a:off x="1774825" y="1484313"/>
            <a:ext cx="8785225" cy="2665412"/>
          </a:xfrm>
        </p:spPr>
        <p:txBody>
          <a:bodyPr/>
          <a:lstStyle/>
          <a:p>
            <a:pPr>
              <a:lnSpc>
                <a:spcPct val="90000"/>
              </a:lnSpc>
            </a:pPr>
            <a:r>
              <a:rPr lang="zh-CN" altLang="en-US"/>
              <a:t>风险处理是为了将风险始终控制在可接受的范围内。</a:t>
            </a:r>
            <a:endParaRPr lang="en-US" altLang="zh-CN"/>
          </a:p>
          <a:p>
            <a:pPr lvl="1"/>
            <a:r>
              <a:rPr lang="zh-CN" altLang="en-US" sz="2400"/>
              <a:t>现存风险判断：判断信息系统中哪些风险可以接受，哪些不可以</a:t>
            </a:r>
            <a:endParaRPr lang="en-US" altLang="zh-CN" sz="2400"/>
          </a:p>
          <a:p>
            <a:pPr lvl="1"/>
            <a:r>
              <a:rPr lang="zh-CN" altLang="en-US" sz="2400"/>
              <a:t>处理目标确认：不可接受的风险需要控制到怎样的程度</a:t>
            </a:r>
            <a:endParaRPr lang="zh-CN" altLang="en-US" sz="2400"/>
          </a:p>
          <a:p>
            <a:pPr lvl="1"/>
            <a:r>
              <a:rPr lang="zh-CN" altLang="en-US" sz="2400"/>
              <a:t>处理措施选择：选择风险处理方式，确定风险控制措施</a:t>
            </a:r>
            <a:endParaRPr lang="zh-CN" altLang="en-US" sz="2400"/>
          </a:p>
          <a:p>
            <a:pPr lvl="1"/>
            <a:r>
              <a:rPr lang="zh-CN" altLang="en-US" sz="2400"/>
              <a:t>处理措施实施：制定具体安全方案，部署控制措施</a:t>
            </a:r>
            <a:endParaRPr lang="zh-CN" altLang="en-US" sz="2400"/>
          </a:p>
          <a:p>
            <a:endParaRPr lang="zh-CN" altLang="en-US"/>
          </a:p>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456363" y="4116388"/>
            <a:ext cx="38100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7107">
                                            <p:txEl>
                                              <p:pRg st="0" end="0"/>
                                            </p:txEl>
                                          </p:spTgt>
                                        </p:tgtEl>
                                        <p:attrNameLst>
                                          <p:attrName>style.visibility</p:attrName>
                                        </p:attrNameLst>
                                      </p:cBhvr>
                                      <p:to>
                                        <p:strVal val="visible"/>
                                      </p:to>
                                    </p:set>
                                    <p:anim calcmode="lin" valueType="num">
                                      <p:cBhvr>
                                        <p:cTn id="14" dur="500" fill="hold"/>
                                        <p:tgtEl>
                                          <p:spTgt spid="47107">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47107">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47107">
                                            <p:txEl>
                                              <p:pRg st="0" end="0"/>
                                            </p:txEl>
                                          </p:spTgt>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47107">
                                            <p:txEl>
                                              <p:pRg st="1" end="1"/>
                                            </p:txEl>
                                          </p:spTgt>
                                        </p:tgtEl>
                                        <p:attrNameLst>
                                          <p:attrName>style.visibility</p:attrName>
                                        </p:attrNameLst>
                                      </p:cBhvr>
                                      <p:to>
                                        <p:strVal val="visible"/>
                                      </p:to>
                                    </p:set>
                                    <p:anim calcmode="lin" valueType="num">
                                      <p:cBhvr>
                                        <p:cTn id="19" dur="500" fill="hold"/>
                                        <p:tgtEl>
                                          <p:spTgt spid="47107">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47107">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47107">
                                            <p:txEl>
                                              <p:pRg st="1" end="1"/>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7107">
                                            <p:txEl>
                                              <p:pRg st="2" end="2"/>
                                            </p:txEl>
                                          </p:spTgt>
                                        </p:tgtEl>
                                        <p:attrNameLst>
                                          <p:attrName>style.visibility</p:attrName>
                                        </p:attrNameLst>
                                      </p:cBhvr>
                                      <p:to>
                                        <p:strVal val="visible"/>
                                      </p:to>
                                    </p:set>
                                    <p:anim calcmode="lin" valueType="num">
                                      <p:cBhvr>
                                        <p:cTn id="24" dur="500" fill="hold"/>
                                        <p:tgtEl>
                                          <p:spTgt spid="47107">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47107">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47107">
                                            <p:txEl>
                                              <p:pRg st="2" end="2"/>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47107">
                                            <p:txEl>
                                              <p:pRg st="3" end="3"/>
                                            </p:txEl>
                                          </p:spTgt>
                                        </p:tgtEl>
                                        <p:attrNameLst>
                                          <p:attrName>style.visibility</p:attrName>
                                        </p:attrNameLst>
                                      </p:cBhvr>
                                      <p:to>
                                        <p:strVal val="visible"/>
                                      </p:to>
                                    </p:set>
                                    <p:anim calcmode="lin" valueType="num">
                                      <p:cBhvr>
                                        <p:cTn id="29" dur="500" fill="hold"/>
                                        <p:tgtEl>
                                          <p:spTgt spid="47107">
                                            <p:txEl>
                                              <p:pRg st="3" end="3"/>
                                            </p:txEl>
                                          </p:spTgt>
                                        </p:tgtEl>
                                        <p:attrNameLst>
                                          <p:attrName>ppt_w</p:attrName>
                                        </p:attrNameLst>
                                      </p:cBhvr>
                                      <p:tavLst>
                                        <p:tav tm="0">
                                          <p:val>
                                            <p:fltVal val="0"/>
                                          </p:val>
                                        </p:tav>
                                        <p:tav tm="100000">
                                          <p:val>
                                            <p:strVal val="#ppt_w"/>
                                          </p:val>
                                        </p:tav>
                                      </p:tavLst>
                                    </p:anim>
                                    <p:anim calcmode="lin" valueType="num">
                                      <p:cBhvr>
                                        <p:cTn id="30" dur="500" fill="hold"/>
                                        <p:tgtEl>
                                          <p:spTgt spid="47107">
                                            <p:txEl>
                                              <p:pRg st="3" end="3"/>
                                            </p:txEl>
                                          </p:spTgt>
                                        </p:tgtEl>
                                        <p:attrNameLst>
                                          <p:attrName>ppt_h</p:attrName>
                                        </p:attrNameLst>
                                      </p:cBhvr>
                                      <p:tavLst>
                                        <p:tav tm="0">
                                          <p:val>
                                            <p:fltVal val="0"/>
                                          </p:val>
                                        </p:tav>
                                        <p:tav tm="100000">
                                          <p:val>
                                            <p:strVal val="#ppt_h"/>
                                          </p:val>
                                        </p:tav>
                                      </p:tavLst>
                                    </p:anim>
                                    <p:animEffect transition="in" filter="fade">
                                      <p:cBhvr>
                                        <p:cTn id="31" dur="500"/>
                                        <p:tgtEl>
                                          <p:spTgt spid="47107">
                                            <p:txEl>
                                              <p:pRg st="3" end="3"/>
                                            </p:txEl>
                                          </p:spTgt>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47107">
                                            <p:txEl>
                                              <p:pRg st="4" end="4"/>
                                            </p:txEl>
                                          </p:spTgt>
                                        </p:tgtEl>
                                        <p:attrNameLst>
                                          <p:attrName>style.visibility</p:attrName>
                                        </p:attrNameLst>
                                      </p:cBhvr>
                                      <p:to>
                                        <p:strVal val="visible"/>
                                      </p:to>
                                    </p:set>
                                    <p:anim calcmode="lin" valueType="num">
                                      <p:cBhvr>
                                        <p:cTn id="34" dur="500" fill="hold"/>
                                        <p:tgtEl>
                                          <p:spTgt spid="47107">
                                            <p:txEl>
                                              <p:pRg st="4" end="4"/>
                                            </p:txEl>
                                          </p:spTgt>
                                        </p:tgtEl>
                                        <p:attrNameLst>
                                          <p:attrName>ppt_w</p:attrName>
                                        </p:attrNameLst>
                                      </p:cBhvr>
                                      <p:tavLst>
                                        <p:tav tm="0">
                                          <p:val>
                                            <p:fltVal val="0"/>
                                          </p:val>
                                        </p:tav>
                                        <p:tav tm="100000">
                                          <p:val>
                                            <p:strVal val="#ppt_w"/>
                                          </p:val>
                                        </p:tav>
                                      </p:tavLst>
                                    </p:anim>
                                    <p:anim calcmode="lin" valueType="num">
                                      <p:cBhvr>
                                        <p:cTn id="35" dur="500" fill="hold"/>
                                        <p:tgtEl>
                                          <p:spTgt spid="47107">
                                            <p:txEl>
                                              <p:pRg st="4" end="4"/>
                                            </p:txEl>
                                          </p:spTgt>
                                        </p:tgtEl>
                                        <p:attrNameLst>
                                          <p:attrName>ppt_h</p:attrName>
                                        </p:attrNameLst>
                                      </p:cBhvr>
                                      <p:tavLst>
                                        <p:tav tm="0">
                                          <p:val>
                                            <p:fltVal val="0"/>
                                          </p:val>
                                        </p:tav>
                                        <p:tav tm="100000">
                                          <p:val>
                                            <p:strVal val="#ppt_h"/>
                                          </p:val>
                                        </p:tav>
                                      </p:tavLst>
                                    </p:anim>
                                    <p:animEffect transition="in" filter="fade">
                                      <p:cBhvr>
                                        <p:cTn id="36" dur="500"/>
                                        <p:tgtEl>
                                          <p:spTgt spid="471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063750" y="1052513"/>
            <a:ext cx="6513513" cy="415925"/>
          </a:xfrm>
        </p:spPr>
        <p:txBody>
          <a:bodyPr/>
          <a:lstStyle/>
          <a:p>
            <a:r>
              <a:rPr lang="zh-CN" altLang="en-US" sz="3600">
                <a:solidFill>
                  <a:srgbClr val="FF0000"/>
                </a:solidFill>
              </a:rPr>
              <a:t>风险处理过程</a:t>
            </a:r>
            <a:br>
              <a:rPr lang="zh-CN" altLang="en-US" sz="3600">
                <a:solidFill>
                  <a:srgbClr val="FF0000"/>
                </a:solidFill>
              </a:rPr>
            </a:br>
            <a:endParaRPr lang="zh-CN" altLang="en-US" sz="3600">
              <a:solidFill>
                <a:srgbClr val="FF0000"/>
              </a:solidFill>
            </a:endParaRPr>
          </a:p>
        </p:txBody>
      </p:sp>
      <p:sp>
        <p:nvSpPr>
          <p:cNvPr id="59395" name="Rectangle 3"/>
          <p:cNvSpPr>
            <a:spLocks noChangeArrowheads="1"/>
          </p:cNvSpPr>
          <p:nvPr/>
        </p:nvSpPr>
        <p:spPr bwMode="auto">
          <a:xfrm>
            <a:off x="1524000" y="7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4098" name="Object 2"/>
          <p:cNvGraphicFramePr>
            <a:graphicFrameLocks noChangeAspect="1"/>
          </p:cNvGraphicFramePr>
          <p:nvPr/>
        </p:nvGraphicFramePr>
        <p:xfrm>
          <a:off x="2360613" y="1557338"/>
          <a:ext cx="7546975" cy="4635500"/>
        </p:xfrm>
        <a:graphic>
          <a:graphicData uri="http://schemas.openxmlformats.org/presentationml/2006/ole">
            <mc:AlternateContent xmlns:mc="http://schemas.openxmlformats.org/markup-compatibility/2006">
              <mc:Choice xmlns:v="urn:schemas-microsoft-com:vml" Requires="v">
                <p:oleObj spid="_x0000_s4105" name="" r:id="rId1" imgW="8071485" imgH="5869940" progId="">
                  <p:embed/>
                </p:oleObj>
              </mc:Choice>
              <mc:Fallback>
                <p:oleObj name="" r:id="rId1" imgW="8071485" imgH="5869940" progId="">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0613" y="1557338"/>
                        <a:ext cx="7546975"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500" fill="hold"/>
                                        <p:tgtEl>
                                          <p:spTgt spid="4098"/>
                                        </p:tgtEl>
                                        <p:attrNameLst>
                                          <p:attrName>ppt_w</p:attrName>
                                        </p:attrNameLst>
                                      </p:cBhvr>
                                      <p:tavLst>
                                        <p:tav tm="0">
                                          <p:val>
                                            <p:fltVal val="0"/>
                                          </p:val>
                                        </p:tav>
                                        <p:tav tm="100000">
                                          <p:val>
                                            <p:strVal val="#ppt_w"/>
                                          </p:val>
                                        </p:tav>
                                      </p:tavLst>
                                    </p:anim>
                                    <p:anim calcmode="lin" valueType="num">
                                      <p:cBhvr>
                                        <p:cTn id="8" dur="500" fill="hold"/>
                                        <p:tgtEl>
                                          <p:spTgt spid="4098"/>
                                        </p:tgtEl>
                                        <p:attrNameLst>
                                          <p:attrName>ppt_h</p:attrName>
                                        </p:attrNameLst>
                                      </p:cBhvr>
                                      <p:tavLst>
                                        <p:tav tm="0">
                                          <p:val>
                                            <p:fltVal val="0"/>
                                          </p:val>
                                        </p:tav>
                                        <p:tav tm="100000">
                                          <p:val>
                                            <p:strVal val="#ppt_h"/>
                                          </p:val>
                                        </p:tav>
                                      </p:tavLst>
                                    </p:anim>
                                    <p:animEffect transition="in" filter="fade">
                                      <p:cBhvr>
                                        <p:cTn id="9"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标题 1"/>
          <p:cNvSpPr>
            <a:spLocks noGrp="1"/>
          </p:cNvSpPr>
          <p:nvPr>
            <p:ph type="title"/>
          </p:nvPr>
        </p:nvSpPr>
        <p:spPr>
          <a:xfrm>
            <a:off x="2208213" y="981075"/>
            <a:ext cx="3435350" cy="487363"/>
          </a:xfrm>
        </p:spPr>
        <p:txBody>
          <a:bodyPr/>
          <a:lstStyle/>
          <a:p>
            <a:r>
              <a:rPr lang="zh-CN" altLang="en-US">
                <a:solidFill>
                  <a:srgbClr val="FF0000"/>
                </a:solidFill>
              </a:rPr>
              <a:t>课堂思考：</a:t>
            </a:r>
            <a:endParaRPr lang="zh-CN" altLang="en-US">
              <a:solidFill>
                <a:srgbClr val="FF0000"/>
              </a:solidFill>
            </a:endParaRPr>
          </a:p>
        </p:txBody>
      </p:sp>
      <p:sp>
        <p:nvSpPr>
          <p:cNvPr id="7" name="标题 1"/>
          <p:cNvSpPr txBox="1"/>
          <p:nvPr/>
        </p:nvSpPr>
        <p:spPr bwMode="gray">
          <a:xfrm>
            <a:off x="5522913" y="2774950"/>
            <a:ext cx="5111750" cy="487363"/>
          </a:xfrm>
          <a:prstGeom prst="rect">
            <a:avLst/>
          </a:prstGeom>
          <a:noFill/>
          <a:ln w="9525">
            <a:noFill/>
            <a:miter lim="800000"/>
          </a:ln>
        </p:spPr>
        <p:txBody>
          <a:bodyPr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dirty="0">
                <a:solidFill>
                  <a:srgbClr val="FF0000"/>
                </a:solidFill>
              </a:rPr>
              <a:t>你所知道的风险处置方法</a:t>
            </a:r>
            <a:r>
              <a:rPr lang="zh-CN" altLang="en-US" kern="0" dirty="0">
                <a:solidFill>
                  <a:srgbClr val="FF0000"/>
                </a:solidFill>
              </a:rPr>
              <a:t>？</a:t>
            </a:r>
            <a:endParaRPr lang="zh-CN" altLang="en-US" kern="0" dirty="0">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body" idx="1"/>
          </p:nvPr>
        </p:nvSpPr>
        <p:spPr>
          <a:xfrm>
            <a:off x="3359150" y="1954213"/>
            <a:ext cx="3290888" cy="2209800"/>
          </a:xfrm>
        </p:spPr>
        <p:txBody>
          <a:bodyPr/>
          <a:lstStyle/>
          <a:p>
            <a:r>
              <a:rPr lang="zh-CN" altLang="en-US"/>
              <a:t>减低风险</a:t>
            </a:r>
            <a:endParaRPr lang="zh-CN" altLang="en-US"/>
          </a:p>
          <a:p>
            <a:r>
              <a:rPr lang="zh-CN" altLang="en-US"/>
              <a:t>转移风险</a:t>
            </a:r>
            <a:endParaRPr lang="zh-CN" altLang="en-US"/>
          </a:p>
          <a:p>
            <a:r>
              <a:rPr lang="zh-CN" altLang="en-US"/>
              <a:t>规避风险</a:t>
            </a:r>
            <a:endParaRPr lang="zh-CN" altLang="en-US"/>
          </a:p>
          <a:p>
            <a:r>
              <a:rPr lang="zh-CN" altLang="en-US"/>
              <a:t>接受风险</a:t>
            </a:r>
            <a:endParaRPr lang="zh-CN" altLang="en-US"/>
          </a:p>
          <a:p>
            <a:pPr lvl="1"/>
            <a:endParaRPr lang="en-US" altLang="zh-CN"/>
          </a:p>
        </p:txBody>
      </p:sp>
      <p:sp>
        <p:nvSpPr>
          <p:cNvPr id="61443" name="Rectangle 3"/>
          <p:cNvSpPr>
            <a:spLocks noGrp="1" noChangeArrowheads="1"/>
          </p:cNvSpPr>
          <p:nvPr>
            <p:ph type="title"/>
          </p:nvPr>
        </p:nvSpPr>
        <p:spPr>
          <a:xfrm>
            <a:off x="2279650" y="1125538"/>
            <a:ext cx="6513513" cy="485775"/>
          </a:xfrm>
        </p:spPr>
        <p:txBody>
          <a:bodyPr/>
          <a:lstStyle/>
          <a:p>
            <a:pPr marL="342900" indent="-342900"/>
            <a:r>
              <a:rPr lang="zh-CN" altLang="en-US">
                <a:solidFill>
                  <a:srgbClr val="FF0000"/>
                </a:solidFill>
              </a:rPr>
              <a:t>常用的四类风险处置方法</a:t>
            </a:r>
            <a:br>
              <a:rPr lang="zh-CN" altLang="en-US">
                <a:solidFill>
                  <a:srgbClr val="FF0000"/>
                </a:solidFill>
              </a:rPr>
            </a:br>
            <a:endParaRPr lang="zh-CN" altLang="en-US">
              <a:solidFill>
                <a:srgbClr val="FF0000"/>
              </a:solidFill>
            </a:endParaRPr>
          </a:p>
        </p:txBody>
      </p:sp>
      <p:pic>
        <p:nvPicPr>
          <p:cNvPr id="6144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535613" y="1484313"/>
            <a:ext cx="4217987" cy="422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anim calcmode="lin" valueType="num">
                                      <p:cBhvr additive="base">
                                        <p:cTn id="7" dur="500" fill="hold"/>
                                        <p:tgtEl>
                                          <p:spTgt spid="481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8130">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8130">
                                            <p:txEl>
                                              <p:pRg st="1" end="1"/>
                                            </p:txEl>
                                          </p:spTgt>
                                        </p:tgtEl>
                                        <p:attrNameLst>
                                          <p:attrName>style.visibility</p:attrName>
                                        </p:attrNameLst>
                                      </p:cBhvr>
                                      <p:to>
                                        <p:strVal val="visible"/>
                                      </p:to>
                                    </p:set>
                                    <p:anim calcmode="lin" valueType="num">
                                      <p:cBhvr additive="base">
                                        <p:cTn id="12" dur="500" fill="hold"/>
                                        <p:tgtEl>
                                          <p:spTgt spid="48130">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8130">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48130">
                                            <p:txEl>
                                              <p:pRg st="2" end="2"/>
                                            </p:txEl>
                                          </p:spTgt>
                                        </p:tgtEl>
                                        <p:attrNameLst>
                                          <p:attrName>style.visibility</p:attrName>
                                        </p:attrNameLst>
                                      </p:cBhvr>
                                      <p:to>
                                        <p:strVal val="visible"/>
                                      </p:to>
                                    </p:set>
                                    <p:anim calcmode="lin" valueType="num">
                                      <p:cBhvr additive="base">
                                        <p:cTn id="17" dur="500" fill="hold"/>
                                        <p:tgtEl>
                                          <p:spTgt spid="48130">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8130">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48130">
                                            <p:txEl>
                                              <p:pRg st="3" end="3"/>
                                            </p:txEl>
                                          </p:spTgt>
                                        </p:tgtEl>
                                        <p:attrNameLst>
                                          <p:attrName>style.visibility</p:attrName>
                                        </p:attrNameLst>
                                      </p:cBhvr>
                                      <p:to>
                                        <p:strVal val="visible"/>
                                      </p:to>
                                    </p:set>
                                    <p:anim calcmode="lin" valueType="num">
                                      <p:cBhvr additive="base">
                                        <p:cTn id="22" dur="500" fill="hold"/>
                                        <p:tgtEl>
                                          <p:spTgt spid="48130">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4813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172325" y="1666875"/>
            <a:ext cx="3384550"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2208213" y="1446213"/>
            <a:ext cx="4824412" cy="755650"/>
          </a:xfrm>
          <a:prstGeom prst="rect">
            <a:avLst/>
          </a:prstGeom>
        </p:spPr>
        <p:txBody>
          <a:bodyPr>
            <a:spAutoFit/>
          </a:bodyPr>
          <a:lstStyle/>
          <a:p>
            <a:pPr marL="342900" indent="-342900">
              <a:lnSpc>
                <a:spcPct val="90000"/>
              </a:lnSpc>
              <a:spcBef>
                <a:spcPct val="20000"/>
              </a:spcBef>
              <a:buClr>
                <a:srgbClr val="3399FF"/>
              </a:buClr>
              <a:buFont typeface="Wingdings" panose="05000000000000000000" pitchFamily="2" charset="2"/>
              <a:buChar char="v"/>
              <a:defRPr/>
            </a:pPr>
            <a:r>
              <a:rPr lang="zh-CN" altLang="en-US" sz="2400" dirty="0">
                <a:latin typeface="+mn-lt"/>
                <a:ea typeface="+mn-ea"/>
              </a:rPr>
              <a:t>通过对面临风险的资产采取保护措施来降低风险。 </a:t>
            </a:r>
            <a:endParaRPr lang="zh-CN" altLang="en-US" sz="2400" dirty="0">
              <a:latin typeface="+mn-lt"/>
              <a:ea typeface="+mn-ea"/>
            </a:endParaRPr>
          </a:p>
        </p:txBody>
      </p:sp>
      <p:sp>
        <p:nvSpPr>
          <p:cNvPr id="8" name="矩形 7"/>
          <p:cNvSpPr/>
          <p:nvPr/>
        </p:nvSpPr>
        <p:spPr>
          <a:xfrm>
            <a:off x="2176463" y="2252663"/>
            <a:ext cx="4799012" cy="1087755"/>
          </a:xfrm>
          <a:prstGeom prst="rect">
            <a:avLst/>
          </a:prstGeom>
        </p:spPr>
        <p:txBody>
          <a:bodyPr>
            <a:spAutoFit/>
          </a:bodyPr>
          <a:lstStyle/>
          <a:p>
            <a:pPr marL="342900" indent="-342900">
              <a:lnSpc>
                <a:spcPct val="90000"/>
              </a:lnSpc>
              <a:spcBef>
                <a:spcPct val="20000"/>
              </a:spcBef>
              <a:buClr>
                <a:srgbClr val="3399FF"/>
              </a:buClr>
              <a:buFont typeface="Wingdings" panose="05000000000000000000" pitchFamily="2" charset="2"/>
              <a:buChar char="v"/>
              <a:defRPr/>
            </a:pPr>
            <a:r>
              <a:rPr lang="zh-CN" altLang="en-US" sz="2400" dirty="0">
                <a:latin typeface="+mn-lt"/>
                <a:ea typeface="+mn-ea"/>
              </a:rPr>
              <a:t>首先应当考虑的风险处置措施，通常在安全投入小于负面影响价值的情况下采用。</a:t>
            </a:r>
            <a:endParaRPr lang="zh-CN" altLang="en-US" sz="2400" dirty="0">
              <a:latin typeface="+mn-lt"/>
              <a:ea typeface="+mn-ea"/>
            </a:endParaRPr>
          </a:p>
        </p:txBody>
      </p:sp>
      <p:sp>
        <p:nvSpPr>
          <p:cNvPr id="9" name="矩形 8"/>
          <p:cNvSpPr/>
          <p:nvPr/>
        </p:nvSpPr>
        <p:spPr>
          <a:xfrm>
            <a:off x="2195513" y="3460750"/>
            <a:ext cx="4779962" cy="755650"/>
          </a:xfrm>
          <a:prstGeom prst="rect">
            <a:avLst/>
          </a:prstGeom>
        </p:spPr>
        <p:txBody>
          <a:bodyPr>
            <a:spAutoFit/>
          </a:bodyPr>
          <a:lstStyle/>
          <a:p>
            <a:pPr marL="342900" indent="-342900">
              <a:lnSpc>
                <a:spcPct val="90000"/>
              </a:lnSpc>
              <a:spcBef>
                <a:spcPct val="20000"/>
              </a:spcBef>
              <a:buClr>
                <a:srgbClr val="3399FF"/>
              </a:buClr>
              <a:buFont typeface="Wingdings" panose="05000000000000000000" pitchFamily="2" charset="2"/>
              <a:buChar char="v"/>
              <a:defRPr/>
            </a:pPr>
            <a:r>
              <a:rPr lang="zh-CN" altLang="en-US" sz="2400" dirty="0">
                <a:latin typeface="+mn-lt"/>
                <a:ea typeface="+mn-ea"/>
              </a:rPr>
              <a:t>保护措施可以从构成风险的五个方面来降低风险。</a:t>
            </a:r>
            <a:endParaRPr lang="zh-CN" altLang="en-US" sz="2400" dirty="0">
              <a:latin typeface="+mn-lt"/>
              <a:ea typeface="+mn-ea"/>
            </a:endParaRPr>
          </a:p>
        </p:txBody>
      </p:sp>
      <p:sp>
        <p:nvSpPr>
          <p:cNvPr id="62472" name="Rectangle 2"/>
          <p:cNvSpPr>
            <a:spLocks noGrp="1" noChangeArrowheads="1"/>
          </p:cNvSpPr>
          <p:nvPr>
            <p:ph type="title"/>
          </p:nvPr>
        </p:nvSpPr>
        <p:spPr>
          <a:xfrm>
            <a:off x="2351088" y="781050"/>
            <a:ext cx="6513512" cy="487363"/>
          </a:xfrm>
        </p:spPr>
        <p:txBody>
          <a:bodyPr/>
          <a:lstStyle/>
          <a:p>
            <a:r>
              <a:rPr lang="zh-CN" altLang="en-US">
                <a:solidFill>
                  <a:srgbClr val="FF0000"/>
                </a:solidFill>
              </a:rPr>
              <a:t>减低风险</a:t>
            </a:r>
            <a:endParaRPr lang="zh-CN" altLang="en-US">
              <a:solidFill>
                <a:srgbClr val="FF0000"/>
              </a:solidFill>
            </a:endParaRPr>
          </a:p>
        </p:txBody>
      </p:sp>
      <p:sp>
        <p:nvSpPr>
          <p:cNvPr id="11" name="矩形 10"/>
          <p:cNvSpPr/>
          <p:nvPr/>
        </p:nvSpPr>
        <p:spPr>
          <a:xfrm>
            <a:off x="2857500" y="4217988"/>
            <a:ext cx="1750060" cy="1938020"/>
          </a:xfrm>
          <a:prstGeom prst="rect">
            <a:avLst/>
          </a:prstGeom>
        </p:spPr>
        <p:txBody>
          <a:bodyPr wrap="none">
            <a:spAutoFit/>
          </a:bodyPr>
          <a:lstStyle/>
          <a:p>
            <a:pPr marL="342900" indent="-342900" eaLnBrk="1" hangingPunct="1">
              <a:buFont typeface="Wingdings" panose="05000000000000000000" pitchFamily="2" charset="2"/>
              <a:buChar char="p"/>
              <a:defRPr/>
            </a:pPr>
            <a:r>
              <a:rPr lang="zh-CN" altLang="en-US" sz="2400" b="1" dirty="0">
                <a:solidFill>
                  <a:srgbClr val="0033CC"/>
                </a:solidFill>
                <a:latin typeface="+mn-ea"/>
                <a:ea typeface="+mn-ea"/>
              </a:rPr>
              <a:t>威胁源</a:t>
            </a:r>
            <a:endParaRPr lang="en-US" altLang="zh-CN" sz="2400" b="1" dirty="0">
              <a:solidFill>
                <a:srgbClr val="0033CC"/>
              </a:solidFill>
              <a:latin typeface="+mn-ea"/>
              <a:ea typeface="+mn-ea"/>
            </a:endParaRPr>
          </a:p>
          <a:p>
            <a:pPr marL="342900" indent="-342900" eaLnBrk="1" hangingPunct="1">
              <a:buFont typeface="Wingdings" panose="05000000000000000000" pitchFamily="2" charset="2"/>
              <a:buChar char="p"/>
              <a:defRPr/>
            </a:pPr>
            <a:r>
              <a:rPr lang="zh-CN" altLang="en-US" sz="2400" b="1" dirty="0">
                <a:solidFill>
                  <a:srgbClr val="0033CC"/>
                </a:solidFill>
                <a:latin typeface="+mn-ea"/>
                <a:ea typeface="+mn-ea"/>
              </a:rPr>
              <a:t>威胁行为</a:t>
            </a:r>
            <a:endParaRPr lang="en-US" altLang="zh-CN" sz="2400" b="1" dirty="0">
              <a:solidFill>
                <a:srgbClr val="0033CC"/>
              </a:solidFill>
              <a:latin typeface="+mn-ea"/>
              <a:ea typeface="+mn-ea"/>
            </a:endParaRPr>
          </a:p>
          <a:p>
            <a:pPr marL="342900" indent="-342900" eaLnBrk="1" hangingPunct="1">
              <a:buFont typeface="Wingdings" panose="05000000000000000000" pitchFamily="2" charset="2"/>
              <a:buChar char="p"/>
              <a:defRPr/>
            </a:pPr>
            <a:r>
              <a:rPr lang="zh-CN" altLang="en-US" sz="2400" b="1" dirty="0">
                <a:solidFill>
                  <a:srgbClr val="0033CC"/>
                </a:solidFill>
                <a:latin typeface="+mn-ea"/>
                <a:ea typeface="+mn-ea"/>
              </a:rPr>
              <a:t>脆弱性</a:t>
            </a:r>
            <a:endParaRPr lang="en-US" altLang="zh-CN" sz="2400" b="1" dirty="0">
              <a:solidFill>
                <a:srgbClr val="0033CC"/>
              </a:solidFill>
              <a:latin typeface="+mn-ea"/>
              <a:ea typeface="+mn-ea"/>
            </a:endParaRPr>
          </a:p>
          <a:p>
            <a:pPr marL="342900" indent="-342900" eaLnBrk="1" hangingPunct="1">
              <a:buFont typeface="Wingdings" panose="05000000000000000000" pitchFamily="2" charset="2"/>
              <a:buChar char="p"/>
              <a:defRPr/>
            </a:pPr>
            <a:r>
              <a:rPr lang="zh-CN" altLang="en-US" sz="2400" b="1" dirty="0">
                <a:solidFill>
                  <a:srgbClr val="0033CC"/>
                </a:solidFill>
                <a:latin typeface="+mn-ea"/>
                <a:ea typeface="+mn-ea"/>
              </a:rPr>
              <a:t>资产</a:t>
            </a:r>
            <a:endParaRPr lang="en-US" altLang="zh-CN" sz="2400" b="1" dirty="0">
              <a:solidFill>
                <a:srgbClr val="0033CC"/>
              </a:solidFill>
              <a:latin typeface="+mn-ea"/>
              <a:ea typeface="+mn-ea"/>
            </a:endParaRPr>
          </a:p>
          <a:p>
            <a:pPr marL="342900" indent="-342900" eaLnBrk="1" hangingPunct="1">
              <a:buFont typeface="Wingdings" panose="05000000000000000000" pitchFamily="2" charset="2"/>
              <a:buChar char="p"/>
              <a:defRPr/>
            </a:pPr>
            <a:r>
              <a:rPr lang="zh-CN" altLang="en-US" sz="2400" b="1" dirty="0">
                <a:solidFill>
                  <a:srgbClr val="0033CC"/>
                </a:solidFill>
                <a:latin typeface="+mn-ea"/>
                <a:ea typeface="+mn-ea"/>
              </a:rPr>
              <a:t>影响</a:t>
            </a:r>
            <a:endParaRPr lang="zh-CN" altLang="en-US" sz="2400" b="1" dirty="0">
              <a:solidFill>
                <a:srgbClr val="0033CC"/>
              </a:solidFill>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2" presetClass="entr" presetSubtype="8"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135188" y="692150"/>
            <a:ext cx="6513512" cy="487363"/>
          </a:xfrm>
        </p:spPr>
        <p:txBody>
          <a:bodyPr/>
          <a:lstStyle/>
          <a:p>
            <a:r>
              <a:rPr lang="zh-CN" altLang="en-US">
                <a:solidFill>
                  <a:srgbClr val="FF0000"/>
                </a:solidFill>
              </a:rPr>
              <a:t>减低风险的具体办法</a:t>
            </a:r>
            <a:endParaRPr lang="en-US" altLang="zh-CN">
              <a:solidFill>
                <a:srgbClr val="FF0000"/>
              </a:solidFill>
            </a:endParaRPr>
          </a:p>
        </p:txBody>
      </p:sp>
      <p:sp>
        <p:nvSpPr>
          <p:cNvPr id="2" name="矩形 1"/>
          <p:cNvSpPr/>
          <p:nvPr/>
        </p:nvSpPr>
        <p:spPr>
          <a:xfrm>
            <a:off x="2116138" y="1323975"/>
            <a:ext cx="2354580" cy="386080"/>
          </a:xfrm>
          <a:prstGeom prst="rect">
            <a:avLst/>
          </a:prstGeom>
        </p:spPr>
        <p:txBody>
          <a:bodyPr wrap="none">
            <a:spAutoFit/>
          </a:bodyPr>
          <a:lstStyle/>
          <a:p>
            <a:pPr marL="342900" indent="-342900">
              <a:lnSpc>
                <a:spcPct val="80000"/>
              </a:lnSpc>
              <a:spcBef>
                <a:spcPct val="20000"/>
              </a:spcBef>
              <a:buClr>
                <a:srgbClr val="3399FF"/>
              </a:buClr>
              <a:buFont typeface="Wingdings" panose="05000000000000000000" pitchFamily="2" charset="2"/>
              <a:buChar char="v"/>
              <a:defRPr/>
            </a:pPr>
            <a:r>
              <a:rPr lang="zh-CN" altLang="en-US" sz="2400" dirty="0">
                <a:solidFill>
                  <a:srgbClr val="FF0000"/>
                </a:solidFill>
                <a:latin typeface="+mn-lt"/>
                <a:ea typeface="+mn-ea"/>
              </a:rPr>
              <a:t>减少威胁源：</a:t>
            </a:r>
            <a:endParaRPr lang="en-US" altLang="zh-CN" sz="2400" dirty="0">
              <a:solidFill>
                <a:srgbClr val="FF0000"/>
              </a:solidFill>
              <a:latin typeface="+mn-lt"/>
              <a:ea typeface="+mn-ea"/>
            </a:endParaRPr>
          </a:p>
        </p:txBody>
      </p:sp>
      <p:sp>
        <p:nvSpPr>
          <p:cNvPr id="3" name="矩形 2"/>
          <p:cNvSpPr/>
          <p:nvPr/>
        </p:nvSpPr>
        <p:spPr>
          <a:xfrm>
            <a:off x="2116138" y="1700213"/>
            <a:ext cx="7894637" cy="533400"/>
          </a:xfrm>
          <a:prstGeom prst="rect">
            <a:avLst/>
          </a:prstGeom>
        </p:spPr>
        <p:txBody>
          <a:bodyPr>
            <a:spAutoFit/>
          </a:bodyPr>
          <a:lstStyle/>
          <a:p>
            <a:pPr lvl="1" eaLnBrk="1" hangingPunct="1">
              <a:lnSpc>
                <a:spcPct val="80000"/>
              </a:lnSpc>
              <a:defRPr/>
            </a:pPr>
            <a:r>
              <a:rPr lang="zh-CN" altLang="en-US" b="1" dirty="0">
                <a:latin typeface="+mn-ea"/>
                <a:ea typeface="+mn-ea"/>
              </a:rPr>
              <a:t>采用法律的手段制裁计算机犯罪，发挥法律的威慑作用，从而有效遏制威胁源的动机；</a:t>
            </a:r>
            <a:endParaRPr lang="zh-CN" altLang="en-US" b="1" dirty="0">
              <a:latin typeface="+mn-ea"/>
              <a:ea typeface="+mn-ea"/>
            </a:endParaRPr>
          </a:p>
        </p:txBody>
      </p:sp>
      <p:sp>
        <p:nvSpPr>
          <p:cNvPr id="4" name="矩形 3"/>
          <p:cNvSpPr/>
          <p:nvPr/>
        </p:nvSpPr>
        <p:spPr>
          <a:xfrm>
            <a:off x="2135188" y="2308225"/>
            <a:ext cx="2659380" cy="386080"/>
          </a:xfrm>
          <a:prstGeom prst="rect">
            <a:avLst/>
          </a:prstGeom>
        </p:spPr>
        <p:txBody>
          <a:bodyPr wrap="none">
            <a:spAutoFit/>
          </a:bodyPr>
          <a:lstStyle/>
          <a:p>
            <a:pPr marL="342900" indent="-342900">
              <a:lnSpc>
                <a:spcPct val="80000"/>
              </a:lnSpc>
              <a:spcBef>
                <a:spcPct val="20000"/>
              </a:spcBef>
              <a:buClr>
                <a:srgbClr val="3399FF"/>
              </a:buClr>
              <a:buFont typeface="Wingdings" panose="05000000000000000000" pitchFamily="2" charset="2"/>
              <a:buChar char="v"/>
              <a:defRPr/>
            </a:pPr>
            <a:r>
              <a:rPr lang="zh-CN" altLang="en-US" sz="2400" dirty="0">
                <a:solidFill>
                  <a:srgbClr val="FF0000"/>
                </a:solidFill>
                <a:latin typeface="+mn-lt"/>
                <a:ea typeface="+mn-ea"/>
              </a:rPr>
              <a:t>减低威胁能力：</a:t>
            </a:r>
            <a:endParaRPr lang="en-US" altLang="zh-CN" sz="2400" dirty="0">
              <a:solidFill>
                <a:srgbClr val="FF0000"/>
              </a:solidFill>
              <a:latin typeface="+mn-lt"/>
              <a:ea typeface="+mn-ea"/>
            </a:endParaRPr>
          </a:p>
        </p:txBody>
      </p:sp>
      <p:sp>
        <p:nvSpPr>
          <p:cNvPr id="5" name="矩形 4"/>
          <p:cNvSpPr/>
          <p:nvPr/>
        </p:nvSpPr>
        <p:spPr>
          <a:xfrm>
            <a:off x="2116138" y="2708275"/>
            <a:ext cx="7651750" cy="312420"/>
          </a:xfrm>
          <a:prstGeom prst="rect">
            <a:avLst/>
          </a:prstGeom>
        </p:spPr>
        <p:txBody>
          <a:bodyPr>
            <a:spAutoFit/>
          </a:bodyPr>
          <a:lstStyle/>
          <a:p>
            <a:pPr lvl="1" eaLnBrk="1" hangingPunct="1">
              <a:lnSpc>
                <a:spcPct val="80000"/>
              </a:lnSpc>
              <a:defRPr/>
            </a:pPr>
            <a:r>
              <a:rPr lang="zh-CN" altLang="en-US" b="1" dirty="0">
                <a:latin typeface="+mn-ea"/>
                <a:ea typeface="+mn-ea"/>
              </a:rPr>
              <a:t>采取身份鉴别措施，从而抵制身份假冒这种威胁行为的能力；</a:t>
            </a:r>
            <a:endParaRPr lang="zh-CN" altLang="en-US" b="1" dirty="0">
              <a:latin typeface="+mn-ea"/>
              <a:ea typeface="+mn-ea"/>
            </a:endParaRPr>
          </a:p>
        </p:txBody>
      </p:sp>
      <p:sp>
        <p:nvSpPr>
          <p:cNvPr id="6" name="矩形 5"/>
          <p:cNvSpPr/>
          <p:nvPr/>
        </p:nvSpPr>
        <p:spPr>
          <a:xfrm>
            <a:off x="2122488" y="3065463"/>
            <a:ext cx="2354580" cy="386080"/>
          </a:xfrm>
          <a:prstGeom prst="rect">
            <a:avLst/>
          </a:prstGeom>
        </p:spPr>
        <p:txBody>
          <a:bodyPr wrap="none">
            <a:spAutoFit/>
          </a:bodyPr>
          <a:lstStyle/>
          <a:p>
            <a:pPr marL="342900" indent="-342900">
              <a:lnSpc>
                <a:spcPct val="80000"/>
              </a:lnSpc>
              <a:spcBef>
                <a:spcPct val="20000"/>
              </a:spcBef>
              <a:buClr>
                <a:srgbClr val="3399FF"/>
              </a:buClr>
              <a:buFont typeface="Wingdings" panose="05000000000000000000" pitchFamily="2" charset="2"/>
              <a:buChar char="v"/>
              <a:defRPr/>
            </a:pPr>
            <a:r>
              <a:rPr lang="zh-CN" altLang="en-US" sz="2400" dirty="0">
                <a:solidFill>
                  <a:srgbClr val="FF0000"/>
                </a:solidFill>
                <a:latin typeface="+mn-lt"/>
                <a:ea typeface="+mn-ea"/>
              </a:rPr>
              <a:t>减少脆弱性：</a:t>
            </a:r>
            <a:endParaRPr lang="en-US" altLang="zh-CN" sz="2400" dirty="0">
              <a:solidFill>
                <a:srgbClr val="FF0000"/>
              </a:solidFill>
              <a:latin typeface="+mn-lt"/>
              <a:ea typeface="+mn-ea"/>
            </a:endParaRPr>
          </a:p>
        </p:txBody>
      </p:sp>
      <p:sp>
        <p:nvSpPr>
          <p:cNvPr id="7" name="矩形 6"/>
          <p:cNvSpPr/>
          <p:nvPr/>
        </p:nvSpPr>
        <p:spPr>
          <a:xfrm>
            <a:off x="2065338" y="3484563"/>
            <a:ext cx="7775575" cy="533400"/>
          </a:xfrm>
          <a:prstGeom prst="rect">
            <a:avLst/>
          </a:prstGeom>
        </p:spPr>
        <p:txBody>
          <a:bodyPr>
            <a:spAutoFit/>
          </a:bodyPr>
          <a:lstStyle/>
          <a:p>
            <a:pPr lvl="1" eaLnBrk="1" hangingPunct="1">
              <a:lnSpc>
                <a:spcPct val="80000"/>
              </a:lnSpc>
              <a:defRPr/>
            </a:pPr>
            <a:r>
              <a:rPr lang="zh-CN" altLang="en-US" b="1" dirty="0">
                <a:latin typeface="+mn-ea"/>
                <a:ea typeface="+mn-ea"/>
              </a:rPr>
              <a:t>及时给系统打补丁，关闭无用的网络服务端口，从而减少系统的脆弱性，降低被利用的可能性；</a:t>
            </a:r>
            <a:endParaRPr lang="zh-CN" altLang="en-US" b="1" dirty="0">
              <a:latin typeface="+mn-ea"/>
              <a:ea typeface="+mn-ea"/>
            </a:endParaRPr>
          </a:p>
        </p:txBody>
      </p:sp>
      <p:sp>
        <p:nvSpPr>
          <p:cNvPr id="8" name="矩形 7"/>
          <p:cNvSpPr/>
          <p:nvPr/>
        </p:nvSpPr>
        <p:spPr>
          <a:xfrm>
            <a:off x="2135188" y="4137025"/>
            <a:ext cx="2049780" cy="386080"/>
          </a:xfrm>
          <a:prstGeom prst="rect">
            <a:avLst/>
          </a:prstGeom>
        </p:spPr>
        <p:txBody>
          <a:bodyPr wrap="none">
            <a:spAutoFit/>
          </a:bodyPr>
          <a:lstStyle/>
          <a:p>
            <a:pPr marL="342900" indent="-342900">
              <a:lnSpc>
                <a:spcPct val="80000"/>
              </a:lnSpc>
              <a:spcBef>
                <a:spcPct val="20000"/>
              </a:spcBef>
              <a:buClr>
                <a:srgbClr val="3399FF"/>
              </a:buClr>
              <a:buFont typeface="Wingdings" panose="05000000000000000000" pitchFamily="2" charset="2"/>
              <a:buChar char="v"/>
              <a:defRPr/>
            </a:pPr>
            <a:r>
              <a:rPr lang="zh-CN" altLang="en-US" sz="2400" dirty="0">
                <a:solidFill>
                  <a:srgbClr val="FF0000"/>
                </a:solidFill>
                <a:latin typeface="+mn-lt"/>
                <a:ea typeface="+mn-ea"/>
              </a:rPr>
              <a:t>防护资产：</a:t>
            </a:r>
            <a:endParaRPr lang="en-US" altLang="zh-CN" sz="2400" dirty="0">
              <a:solidFill>
                <a:srgbClr val="FF0000"/>
              </a:solidFill>
              <a:latin typeface="+mn-lt"/>
              <a:ea typeface="+mn-ea"/>
            </a:endParaRPr>
          </a:p>
        </p:txBody>
      </p:sp>
      <p:sp>
        <p:nvSpPr>
          <p:cNvPr id="9" name="矩形 8"/>
          <p:cNvSpPr/>
          <p:nvPr/>
        </p:nvSpPr>
        <p:spPr>
          <a:xfrm>
            <a:off x="2135188" y="4557713"/>
            <a:ext cx="7993062" cy="533400"/>
          </a:xfrm>
          <a:prstGeom prst="rect">
            <a:avLst/>
          </a:prstGeom>
        </p:spPr>
        <p:txBody>
          <a:bodyPr>
            <a:spAutoFit/>
          </a:bodyPr>
          <a:lstStyle/>
          <a:p>
            <a:pPr lvl="1" eaLnBrk="1" hangingPunct="1">
              <a:lnSpc>
                <a:spcPct val="80000"/>
              </a:lnSpc>
              <a:defRPr/>
            </a:pPr>
            <a:r>
              <a:rPr lang="zh-CN" altLang="en-US" b="1" dirty="0">
                <a:latin typeface="+mn-ea"/>
                <a:ea typeface="+mn-ea"/>
              </a:rPr>
              <a:t>采用各种防护措施，建立资产的安全域，从而保证资产不受侵犯，其价值得到保持；</a:t>
            </a:r>
            <a:endParaRPr lang="zh-CN" altLang="en-US" b="1" dirty="0">
              <a:latin typeface="+mn-ea"/>
              <a:ea typeface="+mn-ea"/>
            </a:endParaRPr>
          </a:p>
        </p:txBody>
      </p:sp>
      <p:sp>
        <p:nvSpPr>
          <p:cNvPr id="10" name="矩形 9"/>
          <p:cNvSpPr/>
          <p:nvPr/>
        </p:nvSpPr>
        <p:spPr>
          <a:xfrm>
            <a:off x="2135188" y="5157788"/>
            <a:ext cx="2659380" cy="386080"/>
          </a:xfrm>
          <a:prstGeom prst="rect">
            <a:avLst/>
          </a:prstGeom>
        </p:spPr>
        <p:txBody>
          <a:bodyPr wrap="none">
            <a:spAutoFit/>
          </a:bodyPr>
          <a:lstStyle/>
          <a:p>
            <a:pPr marL="342900" indent="-342900">
              <a:lnSpc>
                <a:spcPct val="80000"/>
              </a:lnSpc>
              <a:spcBef>
                <a:spcPct val="20000"/>
              </a:spcBef>
              <a:buClr>
                <a:srgbClr val="3399FF"/>
              </a:buClr>
              <a:buFont typeface="Wingdings" panose="05000000000000000000" pitchFamily="2" charset="2"/>
              <a:buChar char="v"/>
              <a:defRPr/>
            </a:pPr>
            <a:r>
              <a:rPr lang="zh-CN" altLang="en-US" sz="2400" dirty="0">
                <a:solidFill>
                  <a:srgbClr val="FF0000"/>
                </a:solidFill>
                <a:latin typeface="+mn-lt"/>
                <a:ea typeface="+mn-ea"/>
              </a:rPr>
              <a:t>降低负面影响：</a:t>
            </a:r>
            <a:endParaRPr lang="en-US" altLang="zh-CN" sz="2400" dirty="0">
              <a:solidFill>
                <a:srgbClr val="FF0000"/>
              </a:solidFill>
              <a:latin typeface="+mn-lt"/>
              <a:ea typeface="+mn-ea"/>
            </a:endParaRPr>
          </a:p>
        </p:txBody>
      </p:sp>
      <p:sp>
        <p:nvSpPr>
          <p:cNvPr id="11" name="矩形 10"/>
          <p:cNvSpPr/>
          <p:nvPr/>
        </p:nvSpPr>
        <p:spPr>
          <a:xfrm>
            <a:off x="2090738" y="5668963"/>
            <a:ext cx="7920037" cy="533400"/>
          </a:xfrm>
          <a:prstGeom prst="rect">
            <a:avLst/>
          </a:prstGeom>
        </p:spPr>
        <p:txBody>
          <a:bodyPr>
            <a:spAutoFit/>
          </a:bodyPr>
          <a:lstStyle/>
          <a:p>
            <a:pPr lvl="1" eaLnBrk="1" hangingPunct="1">
              <a:lnSpc>
                <a:spcPct val="80000"/>
              </a:lnSpc>
              <a:defRPr/>
            </a:pPr>
            <a:r>
              <a:rPr lang="zh-CN" altLang="en-US" b="1" dirty="0">
                <a:latin typeface="+mn-ea"/>
                <a:ea typeface="+mn-ea"/>
              </a:rPr>
              <a:t>采取容灾备份、应急响应和业务连续计划等措施，从而减少安全事件造成的影响程度。</a:t>
            </a:r>
            <a:endParaRPr lang="zh-CN" altLang="en-US" b="1" dirty="0">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53" presetClass="entr" presetSubtype="16"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0-#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childTnLst>
                          </p:cTn>
                        </p:par>
                        <p:par>
                          <p:cTn id="33" fill="hold">
                            <p:stCondLst>
                              <p:cond delay="500"/>
                            </p:stCondLst>
                            <p:childTnLst>
                              <p:par>
                                <p:cTn id="34" presetID="53" presetClass="entr" presetSubtype="16"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500" fill="hold"/>
                                        <p:tgtEl>
                                          <p:spTgt spid="7"/>
                                        </p:tgtEl>
                                        <p:attrNameLst>
                                          <p:attrName>ppt_w</p:attrName>
                                        </p:attrNameLst>
                                      </p:cBhvr>
                                      <p:tavLst>
                                        <p:tav tm="0">
                                          <p:val>
                                            <p:fltVal val="0"/>
                                          </p:val>
                                        </p:tav>
                                        <p:tav tm="100000">
                                          <p:val>
                                            <p:strVal val="#ppt_w"/>
                                          </p:val>
                                        </p:tav>
                                      </p:tavLst>
                                    </p:anim>
                                    <p:anim calcmode="lin" valueType="num">
                                      <p:cBhvr>
                                        <p:cTn id="37" dur="500" fill="hold"/>
                                        <p:tgtEl>
                                          <p:spTgt spid="7"/>
                                        </p:tgtEl>
                                        <p:attrNameLst>
                                          <p:attrName>ppt_h</p:attrName>
                                        </p:attrNameLst>
                                      </p:cBhvr>
                                      <p:tavLst>
                                        <p:tav tm="0">
                                          <p:val>
                                            <p:fltVal val="0"/>
                                          </p:val>
                                        </p:tav>
                                        <p:tav tm="100000">
                                          <p:val>
                                            <p:strVal val="#ppt_h"/>
                                          </p:val>
                                        </p:tav>
                                      </p:tavLst>
                                    </p:anim>
                                    <p:animEffect transition="in" filter="fade">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0-#ppt_w/2"/>
                                          </p:val>
                                        </p:tav>
                                        <p:tav tm="100000">
                                          <p:val>
                                            <p:strVal val="#ppt_x"/>
                                          </p:val>
                                        </p:tav>
                                      </p:tavLst>
                                    </p:anim>
                                    <p:anim calcmode="lin" valueType="num">
                                      <p:cBhvr additive="base">
                                        <p:cTn id="44" dur="500" fill="hold"/>
                                        <p:tgtEl>
                                          <p:spTgt spid="8"/>
                                        </p:tgtEl>
                                        <p:attrNameLst>
                                          <p:attrName>ppt_y</p:attrName>
                                        </p:attrNameLst>
                                      </p:cBhvr>
                                      <p:tavLst>
                                        <p:tav tm="0">
                                          <p:val>
                                            <p:strVal val="#ppt_y"/>
                                          </p:val>
                                        </p:tav>
                                        <p:tav tm="100000">
                                          <p:val>
                                            <p:strVal val="#ppt_y"/>
                                          </p:val>
                                        </p:tav>
                                      </p:tavLst>
                                    </p:anim>
                                  </p:childTnLst>
                                </p:cTn>
                              </p:par>
                            </p:childTnLst>
                          </p:cTn>
                        </p:par>
                        <p:par>
                          <p:cTn id="45" fill="hold">
                            <p:stCondLst>
                              <p:cond delay="500"/>
                            </p:stCondLst>
                            <p:childTnLst>
                              <p:par>
                                <p:cTn id="46" presetID="53" presetClass="entr" presetSubtype="16" fill="hold" grpId="0" nodeType="afterEffect">
                                  <p:stCondLst>
                                    <p:cond delay="0"/>
                                  </p:stCondLst>
                                  <p:childTnLst>
                                    <p:set>
                                      <p:cBhvr>
                                        <p:cTn id="47" dur="1" fill="hold">
                                          <p:stCondLst>
                                            <p:cond delay="0"/>
                                          </p:stCondLst>
                                        </p:cTn>
                                        <p:tgtEl>
                                          <p:spTgt spid="9"/>
                                        </p:tgtEl>
                                        <p:attrNameLst>
                                          <p:attrName>style.visibility</p:attrName>
                                        </p:attrNameLst>
                                      </p:cBhvr>
                                      <p:to>
                                        <p:strVal val="visible"/>
                                      </p:to>
                                    </p:set>
                                    <p:anim calcmode="lin" valueType="num">
                                      <p:cBhvr>
                                        <p:cTn id="48" dur="500" fill="hold"/>
                                        <p:tgtEl>
                                          <p:spTgt spid="9"/>
                                        </p:tgtEl>
                                        <p:attrNameLst>
                                          <p:attrName>ppt_w</p:attrName>
                                        </p:attrNameLst>
                                      </p:cBhvr>
                                      <p:tavLst>
                                        <p:tav tm="0">
                                          <p:val>
                                            <p:fltVal val="0"/>
                                          </p:val>
                                        </p:tav>
                                        <p:tav tm="100000">
                                          <p:val>
                                            <p:strVal val="#ppt_w"/>
                                          </p:val>
                                        </p:tav>
                                      </p:tavLst>
                                    </p:anim>
                                    <p:anim calcmode="lin" valueType="num">
                                      <p:cBhvr>
                                        <p:cTn id="49" dur="500" fill="hold"/>
                                        <p:tgtEl>
                                          <p:spTgt spid="9"/>
                                        </p:tgtEl>
                                        <p:attrNameLst>
                                          <p:attrName>ppt_h</p:attrName>
                                        </p:attrNameLst>
                                      </p:cBhvr>
                                      <p:tavLst>
                                        <p:tav tm="0">
                                          <p:val>
                                            <p:fltVal val="0"/>
                                          </p:val>
                                        </p:tav>
                                        <p:tav tm="100000">
                                          <p:val>
                                            <p:strVal val="#ppt_h"/>
                                          </p:val>
                                        </p:tav>
                                      </p:tavLst>
                                    </p:anim>
                                    <p:animEffect transition="in" filter="fade">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0-#ppt_w/2"/>
                                          </p:val>
                                        </p:tav>
                                        <p:tav tm="100000">
                                          <p:val>
                                            <p:strVal val="#ppt_x"/>
                                          </p:val>
                                        </p:tav>
                                      </p:tavLst>
                                    </p:anim>
                                    <p:anim calcmode="lin" valueType="num">
                                      <p:cBhvr additive="base">
                                        <p:cTn id="56" dur="500" fill="hold"/>
                                        <p:tgtEl>
                                          <p:spTgt spid="10"/>
                                        </p:tgtEl>
                                        <p:attrNameLst>
                                          <p:attrName>ppt_y</p:attrName>
                                        </p:attrNameLst>
                                      </p:cBhvr>
                                      <p:tavLst>
                                        <p:tav tm="0">
                                          <p:val>
                                            <p:strVal val="#ppt_y"/>
                                          </p:val>
                                        </p:tav>
                                        <p:tav tm="100000">
                                          <p:val>
                                            <p:strVal val="#ppt_y"/>
                                          </p:val>
                                        </p:tav>
                                      </p:tavLst>
                                    </p:anim>
                                  </p:childTnLst>
                                </p:cTn>
                              </p:par>
                            </p:childTnLst>
                          </p:cTn>
                        </p:par>
                        <p:par>
                          <p:cTn id="57" fill="hold">
                            <p:stCondLst>
                              <p:cond delay="500"/>
                            </p:stCondLst>
                            <p:childTnLst>
                              <p:par>
                                <p:cTn id="58" presetID="53" presetClass="entr" presetSubtype="16" fill="hold" grpId="0" nodeType="after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标题 1"/>
          <p:cNvSpPr>
            <a:spLocks noGrp="1"/>
          </p:cNvSpPr>
          <p:nvPr>
            <p:ph type="title"/>
          </p:nvPr>
        </p:nvSpPr>
        <p:spPr>
          <a:xfrm>
            <a:off x="2208213" y="981075"/>
            <a:ext cx="3435350" cy="487363"/>
          </a:xfrm>
        </p:spPr>
        <p:txBody>
          <a:bodyPr/>
          <a:lstStyle/>
          <a:p>
            <a:r>
              <a:rPr lang="zh-CN" altLang="en-US">
                <a:solidFill>
                  <a:srgbClr val="FF0000"/>
                </a:solidFill>
              </a:rPr>
              <a:t>课堂思考：</a:t>
            </a:r>
            <a:endParaRPr lang="zh-CN" altLang="en-US">
              <a:solidFill>
                <a:srgbClr val="FF0000"/>
              </a:solidFill>
            </a:endParaRPr>
          </a:p>
        </p:txBody>
      </p:sp>
      <p:sp>
        <p:nvSpPr>
          <p:cNvPr id="2" name="矩形 1"/>
          <p:cNvSpPr/>
          <p:nvPr/>
        </p:nvSpPr>
        <p:spPr>
          <a:xfrm>
            <a:off x="3173413" y="1511300"/>
            <a:ext cx="3400425" cy="521970"/>
          </a:xfrm>
          <a:prstGeom prst="rect">
            <a:avLst/>
          </a:prstGeom>
        </p:spPr>
        <p:txBody>
          <a:bodyPr wrap="none">
            <a:spAutoFit/>
          </a:bodyPr>
          <a:lstStyle/>
          <a:p>
            <a:pPr eaLnBrk="1" hangingPunct="1">
              <a:defRPr/>
            </a:pPr>
            <a:r>
              <a:rPr lang="zh-CN" altLang="en-US" sz="2800" b="1" dirty="0">
                <a:solidFill>
                  <a:srgbClr val="0033CC"/>
                </a:solidFill>
                <a:latin typeface="+mn-ea"/>
                <a:ea typeface="+mn-ea"/>
              </a:rPr>
              <a:t>减低风险的案例分析</a:t>
            </a:r>
            <a:endParaRPr lang="zh-CN" altLang="en-US" sz="2800" b="1" dirty="0">
              <a:solidFill>
                <a:srgbClr val="0033CC"/>
              </a:solidFill>
              <a:latin typeface="+mn-ea"/>
              <a:ea typeface="+mn-ea"/>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63750" y="2636838"/>
            <a:ext cx="4197350"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6743700" y="3297238"/>
            <a:ext cx="1750060" cy="1938020"/>
          </a:xfrm>
          <a:prstGeom prst="rect">
            <a:avLst/>
          </a:prstGeom>
        </p:spPr>
        <p:txBody>
          <a:bodyPr wrap="none">
            <a:spAutoFit/>
          </a:bodyPr>
          <a:lstStyle/>
          <a:p>
            <a:pPr marL="342900" indent="-342900" eaLnBrk="1" hangingPunct="1">
              <a:buFont typeface="Wingdings" panose="05000000000000000000" pitchFamily="2" charset="2"/>
              <a:buChar char="p"/>
              <a:defRPr/>
            </a:pPr>
            <a:r>
              <a:rPr lang="zh-CN" altLang="en-US" sz="2400" b="1" dirty="0">
                <a:solidFill>
                  <a:srgbClr val="0033CC"/>
                </a:solidFill>
                <a:latin typeface="+mn-ea"/>
                <a:ea typeface="+mn-ea"/>
              </a:rPr>
              <a:t>威胁源</a:t>
            </a:r>
            <a:endParaRPr lang="en-US" altLang="zh-CN" sz="2400" b="1" dirty="0">
              <a:solidFill>
                <a:srgbClr val="0033CC"/>
              </a:solidFill>
              <a:latin typeface="+mn-ea"/>
              <a:ea typeface="+mn-ea"/>
            </a:endParaRPr>
          </a:p>
          <a:p>
            <a:pPr marL="342900" indent="-342900" eaLnBrk="1" hangingPunct="1">
              <a:buFont typeface="Wingdings" panose="05000000000000000000" pitchFamily="2" charset="2"/>
              <a:buChar char="p"/>
              <a:defRPr/>
            </a:pPr>
            <a:r>
              <a:rPr lang="zh-CN" altLang="en-US" sz="2400" b="1" dirty="0">
                <a:solidFill>
                  <a:srgbClr val="0033CC"/>
                </a:solidFill>
                <a:latin typeface="+mn-ea"/>
                <a:ea typeface="+mn-ea"/>
              </a:rPr>
              <a:t>威胁行为</a:t>
            </a:r>
            <a:endParaRPr lang="en-US" altLang="zh-CN" sz="2400" b="1" dirty="0">
              <a:solidFill>
                <a:srgbClr val="0033CC"/>
              </a:solidFill>
              <a:latin typeface="+mn-ea"/>
              <a:ea typeface="+mn-ea"/>
            </a:endParaRPr>
          </a:p>
          <a:p>
            <a:pPr marL="342900" indent="-342900" eaLnBrk="1" hangingPunct="1">
              <a:buFont typeface="Wingdings" panose="05000000000000000000" pitchFamily="2" charset="2"/>
              <a:buChar char="p"/>
              <a:defRPr/>
            </a:pPr>
            <a:r>
              <a:rPr lang="zh-CN" altLang="en-US" sz="2400" b="1" dirty="0">
                <a:solidFill>
                  <a:srgbClr val="0033CC"/>
                </a:solidFill>
                <a:latin typeface="+mn-ea"/>
                <a:ea typeface="+mn-ea"/>
              </a:rPr>
              <a:t>脆弱性</a:t>
            </a:r>
            <a:endParaRPr lang="en-US" altLang="zh-CN" sz="2400" b="1" dirty="0">
              <a:solidFill>
                <a:srgbClr val="0033CC"/>
              </a:solidFill>
              <a:latin typeface="+mn-ea"/>
              <a:ea typeface="+mn-ea"/>
            </a:endParaRPr>
          </a:p>
          <a:p>
            <a:pPr marL="342900" indent="-342900" eaLnBrk="1" hangingPunct="1">
              <a:buFont typeface="Wingdings" panose="05000000000000000000" pitchFamily="2" charset="2"/>
              <a:buChar char="p"/>
              <a:defRPr/>
            </a:pPr>
            <a:r>
              <a:rPr lang="zh-CN" altLang="en-US" sz="2400" b="1" dirty="0">
                <a:solidFill>
                  <a:srgbClr val="0033CC"/>
                </a:solidFill>
                <a:latin typeface="+mn-ea"/>
                <a:ea typeface="+mn-ea"/>
              </a:rPr>
              <a:t>资产</a:t>
            </a:r>
            <a:endParaRPr lang="en-US" altLang="zh-CN" sz="2400" b="1" dirty="0">
              <a:solidFill>
                <a:srgbClr val="0033CC"/>
              </a:solidFill>
              <a:latin typeface="+mn-ea"/>
              <a:ea typeface="+mn-ea"/>
            </a:endParaRPr>
          </a:p>
          <a:p>
            <a:pPr marL="342900" indent="-342900" eaLnBrk="1" hangingPunct="1">
              <a:buFont typeface="Wingdings" panose="05000000000000000000" pitchFamily="2" charset="2"/>
              <a:buChar char="p"/>
              <a:defRPr/>
            </a:pPr>
            <a:r>
              <a:rPr lang="zh-CN" altLang="en-US" sz="2400" b="1" dirty="0">
                <a:solidFill>
                  <a:srgbClr val="0033CC"/>
                </a:solidFill>
                <a:latin typeface="+mn-ea"/>
                <a:ea typeface="+mn-ea"/>
              </a:rPr>
              <a:t>影响</a:t>
            </a:r>
            <a:endParaRPr lang="zh-CN" altLang="en-US" sz="2400" b="1" dirty="0">
              <a:solidFill>
                <a:srgbClr val="0033CC"/>
              </a:solidFill>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Effect transition="in" filter="fade">
                                      <p:cBhvr>
                                        <p:cTn id="15"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2279650" y="908050"/>
            <a:ext cx="6513513" cy="487363"/>
          </a:xfrm>
        </p:spPr>
        <p:txBody>
          <a:bodyPr/>
          <a:lstStyle/>
          <a:p>
            <a:r>
              <a:rPr lang="zh-CN" altLang="en-US">
                <a:solidFill>
                  <a:srgbClr val="FF0000"/>
                </a:solidFill>
              </a:rPr>
              <a:t>转移风险</a:t>
            </a:r>
            <a:endParaRPr lang="zh-CN" altLang="en-US">
              <a:solidFill>
                <a:srgbClr val="FF0000"/>
              </a:solidFill>
            </a:endParaRPr>
          </a:p>
        </p:txBody>
      </p:sp>
      <p:sp>
        <p:nvSpPr>
          <p:cNvPr id="52227" name="Rectangle 3"/>
          <p:cNvSpPr>
            <a:spLocks noGrp="1" noChangeArrowheads="1"/>
          </p:cNvSpPr>
          <p:nvPr>
            <p:ph type="body" idx="1"/>
          </p:nvPr>
        </p:nvSpPr>
        <p:spPr>
          <a:xfrm>
            <a:off x="1992313" y="1700213"/>
            <a:ext cx="8191500" cy="3141662"/>
          </a:xfrm>
        </p:spPr>
        <p:txBody>
          <a:bodyPr/>
          <a:lstStyle/>
          <a:p>
            <a:r>
              <a:rPr lang="zh-CN" altLang="en-US"/>
              <a:t>通过将面临风险的资产或其价值转移到更安全的地方来避免或降低风险。</a:t>
            </a:r>
            <a:endParaRPr lang="en-US" altLang="zh-CN"/>
          </a:p>
          <a:p>
            <a:r>
              <a:rPr lang="zh-CN" altLang="en-US"/>
              <a:t>通常只有当风险不能被降低或避免、且被第三方（被转嫁方）接受时才被采用。一般用于那些低概率、但一旦风险发生时会对组织产生重大影响的风险。 </a:t>
            </a:r>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2227">
                                            <p:txEl>
                                              <p:pRg st="1" end="1"/>
                                            </p:txEl>
                                          </p:spTgt>
                                        </p:tgtEl>
                                        <p:attrNameLst>
                                          <p:attrName>style.visibility</p:attrName>
                                        </p:attrNameLst>
                                      </p:cBhvr>
                                      <p:to>
                                        <p:strVal val="visible"/>
                                      </p:to>
                                    </p:set>
                                    <p:anim calcmode="lin" valueType="num">
                                      <p:cBhvr additive="base">
                                        <p:cTn id="12" dur="500" fill="hold"/>
                                        <p:tgtEl>
                                          <p:spTgt spid="52227">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222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2319338" y="852488"/>
            <a:ext cx="6513512" cy="487362"/>
          </a:xfrm>
        </p:spPr>
        <p:txBody>
          <a:bodyPr/>
          <a:lstStyle/>
          <a:p>
            <a:r>
              <a:rPr lang="zh-CN" altLang="en-US">
                <a:solidFill>
                  <a:srgbClr val="FF0000"/>
                </a:solidFill>
              </a:rPr>
              <a:t>转移风险的具体做法</a:t>
            </a:r>
            <a:endParaRPr lang="en-US" altLang="zh-CN">
              <a:solidFill>
                <a:srgbClr val="FF0000"/>
              </a:solidFill>
            </a:endParaRPr>
          </a:p>
        </p:txBody>
      </p:sp>
      <p:sp>
        <p:nvSpPr>
          <p:cNvPr id="53251" name="Rectangle 3"/>
          <p:cNvSpPr>
            <a:spLocks noGrp="1" noChangeArrowheads="1"/>
          </p:cNvSpPr>
          <p:nvPr>
            <p:ph type="body" idx="1"/>
          </p:nvPr>
        </p:nvSpPr>
        <p:spPr>
          <a:xfrm>
            <a:off x="6600825" y="4516438"/>
            <a:ext cx="3816350" cy="1649412"/>
          </a:xfrm>
        </p:spPr>
        <p:txBody>
          <a:bodyPr/>
          <a:lstStyle/>
          <a:p>
            <a:pPr>
              <a:defRPr/>
            </a:pPr>
            <a:r>
              <a:rPr lang="zh-CN" altLang="en-US" sz="2000" kern="1200" dirty="0"/>
              <a:t>通过给昂贵的设备上保险，将设备损失的风险转移给保险公司，从而降低资产价值的损失。 </a:t>
            </a:r>
            <a:endParaRPr lang="zh-CN" altLang="en-US" sz="2000" kern="1200" dirty="0"/>
          </a:p>
          <a:p>
            <a:pPr>
              <a:defRPr/>
            </a:pPr>
            <a:endParaRPr lang="zh-CN" altLang="en-US" sz="2000" kern="1200"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711450" y="3141663"/>
            <a:ext cx="2398713" cy="275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1847850" y="1628775"/>
            <a:ext cx="4943475" cy="1512888"/>
          </a:xfrm>
          <a:prstGeom prst="rect">
            <a:avLst/>
          </a:prstGeom>
          <a:noFill/>
          <a:ln w="9525">
            <a:noFill/>
            <a:miter lim="800000"/>
          </a:ln>
        </p:spPr>
        <p:txBody>
          <a:bodyPr/>
          <a:lstStyle/>
          <a:p>
            <a:pPr marL="342900" indent="-342900">
              <a:spcBef>
                <a:spcPct val="20000"/>
              </a:spcBef>
              <a:buClr>
                <a:srgbClr val="3399FF"/>
              </a:buClr>
              <a:buFont typeface="Wingdings" panose="05000000000000000000" pitchFamily="2" charset="2"/>
              <a:buChar char="v"/>
              <a:defRPr/>
            </a:pPr>
            <a:r>
              <a:rPr lang="zh-CN" altLang="en-US" sz="2000" dirty="0">
                <a:latin typeface="+mn-lt"/>
                <a:ea typeface="+mn-ea"/>
              </a:rPr>
              <a:t>在本机构不具备足够的安全保障的技术能力时，将信息系统的技术体系（即信息载体部分）外包给满足安全保障要求的第三方机构，从而避免技术风险</a:t>
            </a:r>
            <a:r>
              <a:rPr lang="zh-CN" altLang="en-US" sz="2400" dirty="0">
                <a:latin typeface="+mn-lt"/>
                <a:ea typeface="+mn-ea"/>
              </a:rPr>
              <a:t>。</a:t>
            </a:r>
            <a:endParaRPr lang="zh-CN" altLang="en-US" sz="2400" dirty="0">
              <a:latin typeface="+mn-lt"/>
              <a:ea typeface="+mn-ea"/>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73863" y="1773238"/>
            <a:ext cx="3810000"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ppt_w</p:attrName>
                                        </p:attrNameLst>
                                      </p:cBhvr>
                                      <p:tavLst>
                                        <p:tav tm="0">
                                          <p:val>
                                            <p:fltVal val="0"/>
                                          </p:val>
                                        </p:tav>
                                        <p:tav tm="100000">
                                          <p:val>
                                            <p:strVal val="#ppt_w"/>
                                          </p:val>
                                        </p:tav>
                                      </p:tavLst>
                                    </p:anim>
                                    <p:anim calcmode="lin" valueType="num">
                                      <p:cBhvr>
                                        <p:cTn id="14" dur="1000" fill="hold"/>
                                        <p:tgtEl>
                                          <p:spTgt spid="2"/>
                                        </p:tgtEl>
                                        <p:attrNameLst>
                                          <p:attrName>ppt_h</p:attrName>
                                        </p:attrNameLst>
                                      </p:cBhvr>
                                      <p:tavLst>
                                        <p:tav tm="0">
                                          <p:val>
                                            <p:fltVal val="0"/>
                                          </p:val>
                                        </p:tav>
                                        <p:tav tm="100000">
                                          <p:val>
                                            <p:strVal val="#ppt_h"/>
                                          </p:val>
                                        </p:tav>
                                      </p:tavLst>
                                    </p:anim>
                                    <p:animEffect transition="in" filter="fade">
                                      <p:cBhvr>
                                        <p:cTn id="15" dur="10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53251">
                                            <p:txEl>
                                              <p:pRg st="0" end="0"/>
                                            </p:txEl>
                                          </p:spTgt>
                                        </p:tgtEl>
                                        <p:attrNameLst>
                                          <p:attrName>style.visibility</p:attrName>
                                        </p:attrNameLst>
                                      </p:cBhvr>
                                      <p:to>
                                        <p:strVal val="visible"/>
                                      </p:to>
                                    </p:set>
                                    <p:anim calcmode="lin" valueType="num">
                                      <p:cBhvr additive="base">
                                        <p:cTn id="20" dur="500" fill="hold"/>
                                        <p:tgtEl>
                                          <p:spTgt spid="53251">
                                            <p:txEl>
                                              <p:pRg st="0" end="0"/>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53251">
                                            <p:txEl>
                                              <p:pRg st="0" end="0"/>
                                            </p:txEl>
                                          </p:spTgt>
                                        </p:tgtEl>
                                        <p:attrNameLst>
                                          <p:attrName>ppt_y</p:attrName>
                                        </p:attrNameLst>
                                      </p:cBhvr>
                                      <p:tavLst>
                                        <p:tav tm="0">
                                          <p:val>
                                            <p:strVal val="#ppt_y"/>
                                          </p:val>
                                        </p:tav>
                                        <p:tav tm="100000">
                                          <p:val>
                                            <p:strVal val="#ppt_y"/>
                                          </p:val>
                                        </p:tav>
                                      </p:tavLst>
                                    </p:anim>
                                  </p:childTnLst>
                                </p:cTn>
                              </p:par>
                            </p:childTnLst>
                          </p:cTn>
                        </p:par>
                        <p:par>
                          <p:cTn id="22" fill="hold">
                            <p:stCondLst>
                              <p:cond delay="500"/>
                            </p:stCondLst>
                            <p:childTnLst>
                              <p:par>
                                <p:cTn id="23" presetID="53" presetClass="entr" presetSubtype="16"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1000" fill="hold"/>
                                        <p:tgtEl>
                                          <p:spTgt spid="4"/>
                                        </p:tgtEl>
                                        <p:attrNameLst>
                                          <p:attrName>ppt_w</p:attrName>
                                        </p:attrNameLst>
                                      </p:cBhvr>
                                      <p:tavLst>
                                        <p:tav tm="0">
                                          <p:val>
                                            <p:fltVal val="0"/>
                                          </p:val>
                                        </p:tav>
                                        <p:tav tm="100000">
                                          <p:val>
                                            <p:strVal val="#ppt_w"/>
                                          </p:val>
                                        </p:tav>
                                      </p:tavLst>
                                    </p:anim>
                                    <p:anim calcmode="lin" valueType="num">
                                      <p:cBhvr>
                                        <p:cTn id="26" dur="1000" fill="hold"/>
                                        <p:tgtEl>
                                          <p:spTgt spid="4"/>
                                        </p:tgtEl>
                                        <p:attrNameLst>
                                          <p:attrName>ppt_h</p:attrName>
                                        </p:attrNameLst>
                                      </p:cBhvr>
                                      <p:tavLst>
                                        <p:tav tm="0">
                                          <p:val>
                                            <p:fltVal val="0"/>
                                          </p:val>
                                        </p:tav>
                                        <p:tav tm="100000">
                                          <p:val>
                                            <p:strVal val="#ppt_h"/>
                                          </p:val>
                                        </p:tav>
                                      </p:tavLst>
                                    </p:anim>
                                    <p:animEffect transition="in" filter="fade">
                                      <p:cBhvr>
                                        <p:cTn id="2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016500" y="2924175"/>
            <a:ext cx="5411788"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85988" y="1628775"/>
            <a:ext cx="7058025"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Rectangle 2"/>
          <p:cNvSpPr>
            <a:spLocks noGrp="1" noChangeArrowheads="1"/>
          </p:cNvSpPr>
          <p:nvPr>
            <p:ph type="title"/>
          </p:nvPr>
        </p:nvSpPr>
        <p:spPr>
          <a:xfrm>
            <a:off x="2319338" y="852488"/>
            <a:ext cx="6513512" cy="487362"/>
          </a:xfrm>
        </p:spPr>
        <p:txBody>
          <a:bodyPr/>
          <a:lstStyle/>
          <a:p>
            <a:r>
              <a:rPr lang="zh-CN" altLang="en-US">
                <a:solidFill>
                  <a:srgbClr val="FF0000"/>
                </a:solidFill>
              </a:rPr>
              <a:t>转移风险的案例</a:t>
            </a:r>
            <a:endParaRPr lang="en-US" altLang="zh-CN">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2" presetClass="entr" presetSubtype="4"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3000" fill="hold"/>
                                        <p:tgtEl>
                                          <p:spTgt spid="7"/>
                                        </p:tgtEl>
                                        <p:attrNameLst>
                                          <p:attrName>ppt_x</p:attrName>
                                        </p:attrNameLst>
                                      </p:cBhvr>
                                      <p:tavLst>
                                        <p:tav tm="0">
                                          <p:val>
                                            <p:strVal val="#ppt_x"/>
                                          </p:val>
                                        </p:tav>
                                        <p:tav tm="100000">
                                          <p:val>
                                            <p:strVal val="#ppt_x"/>
                                          </p:val>
                                        </p:tav>
                                      </p:tavLst>
                                    </p:anim>
                                    <p:anim calcmode="lin" valueType="num">
                                      <p:cBhvr additive="base">
                                        <p:cTn id="14" dur="3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650038" y="3402013"/>
            <a:ext cx="3694112"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1" name="Rectangle 2"/>
          <p:cNvSpPr>
            <a:spLocks noGrp="1" noChangeArrowheads="1"/>
          </p:cNvSpPr>
          <p:nvPr>
            <p:ph type="title"/>
          </p:nvPr>
        </p:nvSpPr>
        <p:spPr>
          <a:xfrm>
            <a:off x="2279650" y="709613"/>
            <a:ext cx="6513513" cy="487362"/>
          </a:xfrm>
        </p:spPr>
        <p:txBody>
          <a:bodyPr/>
          <a:lstStyle/>
          <a:p>
            <a:r>
              <a:rPr lang="zh-CN" altLang="en-US">
                <a:solidFill>
                  <a:srgbClr val="FF0000"/>
                </a:solidFill>
              </a:rPr>
              <a:t>规避风险</a:t>
            </a:r>
            <a:endParaRPr lang="zh-CN" altLang="en-US">
              <a:solidFill>
                <a:srgbClr val="FF0000"/>
              </a:solidFill>
            </a:endParaRPr>
          </a:p>
        </p:txBody>
      </p:sp>
      <p:sp>
        <p:nvSpPr>
          <p:cNvPr id="2" name="矩形 1"/>
          <p:cNvSpPr/>
          <p:nvPr/>
        </p:nvSpPr>
        <p:spPr>
          <a:xfrm>
            <a:off x="2208213" y="1322388"/>
            <a:ext cx="8208962" cy="521970"/>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800" dirty="0">
                <a:latin typeface="+mn-lt"/>
                <a:ea typeface="+mn-ea"/>
              </a:rPr>
              <a:t>通过不使用面临风险的资产来避免风险。比如：</a:t>
            </a:r>
            <a:endParaRPr lang="zh-CN" altLang="en-US" sz="2800" dirty="0">
              <a:latin typeface="+mn-lt"/>
              <a:ea typeface="+mn-ea"/>
            </a:endParaRPr>
          </a:p>
        </p:txBody>
      </p:sp>
      <p:sp>
        <p:nvSpPr>
          <p:cNvPr id="3" name="矩形 2"/>
          <p:cNvSpPr/>
          <p:nvPr/>
        </p:nvSpPr>
        <p:spPr>
          <a:xfrm>
            <a:off x="2063750" y="1962150"/>
            <a:ext cx="7720013" cy="1322070"/>
          </a:xfrm>
          <a:prstGeom prst="rect">
            <a:avLst/>
          </a:prstGeom>
        </p:spPr>
        <p:txBody>
          <a:bodyPr>
            <a:spAutoFit/>
          </a:bodyPr>
          <a:lstStyle/>
          <a:p>
            <a:pPr marL="800100" lvl="1" indent="-342900" eaLnBrk="1" hangingPunct="1">
              <a:buFont typeface="Wingdings" panose="05000000000000000000" pitchFamily="2" charset="2"/>
              <a:buChar char="u"/>
              <a:defRPr/>
            </a:pPr>
            <a:r>
              <a:rPr lang="zh-CN" altLang="en-US" sz="2000" b="1" dirty="0">
                <a:solidFill>
                  <a:srgbClr val="0033CC"/>
                </a:solidFill>
                <a:latin typeface="+mn-ea"/>
                <a:ea typeface="+mn-ea"/>
              </a:rPr>
              <a:t>在没有足够安全保障的信息系统中，不处理特别敏感的信息，从而防止敏感信息的泄漏。</a:t>
            </a:r>
            <a:endParaRPr lang="zh-CN" altLang="en-US" sz="2000" b="1" dirty="0">
              <a:solidFill>
                <a:srgbClr val="0033CC"/>
              </a:solidFill>
              <a:latin typeface="+mn-ea"/>
              <a:ea typeface="+mn-ea"/>
            </a:endParaRPr>
          </a:p>
          <a:p>
            <a:pPr marL="800100" lvl="1" indent="-342900" eaLnBrk="1" hangingPunct="1">
              <a:buFont typeface="Wingdings" panose="05000000000000000000" pitchFamily="2" charset="2"/>
              <a:buChar char="u"/>
              <a:defRPr/>
            </a:pPr>
            <a:r>
              <a:rPr lang="zh-CN" altLang="en-US" sz="2000" b="1" dirty="0">
                <a:solidFill>
                  <a:srgbClr val="0033CC"/>
                </a:solidFill>
                <a:latin typeface="+mn-ea"/>
                <a:ea typeface="+mn-ea"/>
              </a:rPr>
              <a:t>对于只处理内部业务的信息系统，不使用互联网，从而避免外部的有害入侵和不良攻击。 </a:t>
            </a:r>
            <a:endParaRPr lang="zh-CN" altLang="en-US" sz="2000" b="1" dirty="0">
              <a:solidFill>
                <a:srgbClr val="0033CC"/>
              </a:solidFill>
              <a:latin typeface="+mn-ea"/>
              <a:ea typeface="+mn-ea"/>
            </a:endParaRPr>
          </a:p>
        </p:txBody>
      </p:sp>
      <p:sp>
        <p:nvSpPr>
          <p:cNvPr id="4" name="矩形 3"/>
          <p:cNvSpPr/>
          <p:nvPr/>
        </p:nvSpPr>
        <p:spPr>
          <a:xfrm>
            <a:off x="2170113" y="3338513"/>
            <a:ext cx="7850187" cy="95313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800" dirty="0">
                <a:latin typeface="+mn-lt"/>
                <a:ea typeface="+mn-ea"/>
              </a:rPr>
              <a:t>通常在风险的损失无法接受，又难以通过控制措施减低风险的情况下</a:t>
            </a:r>
            <a:endParaRPr lang="en-US" altLang="zh-CN" sz="2800" dirty="0">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Effect transition="in" filter="fade">
                                      <p:cBhvr>
                                        <p:cTn id="14" dur="1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53" presetClass="entr" presetSubtype="16"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1000" fill="hold"/>
                                        <p:tgtEl>
                                          <p:spTgt spid="6"/>
                                        </p:tgtEl>
                                        <p:attrNameLst>
                                          <p:attrName>ppt_w</p:attrName>
                                        </p:attrNameLst>
                                      </p:cBhvr>
                                      <p:tavLst>
                                        <p:tav tm="0">
                                          <p:val>
                                            <p:fltVal val="0"/>
                                          </p:val>
                                        </p:tav>
                                        <p:tav tm="100000">
                                          <p:val>
                                            <p:strVal val="#ppt_w"/>
                                          </p:val>
                                        </p:tav>
                                      </p:tavLst>
                                    </p:anim>
                                    <p:anim calcmode="lin" valueType="num">
                                      <p:cBhvr>
                                        <p:cTn id="25" dur="1000" fill="hold"/>
                                        <p:tgtEl>
                                          <p:spTgt spid="6"/>
                                        </p:tgtEl>
                                        <p:attrNameLst>
                                          <p:attrName>ppt_h</p:attrName>
                                        </p:attrNameLst>
                                      </p:cBhvr>
                                      <p:tavLst>
                                        <p:tav tm="0">
                                          <p:val>
                                            <p:fltVal val="0"/>
                                          </p:val>
                                        </p:tav>
                                        <p:tav tm="100000">
                                          <p:val>
                                            <p:strVal val="#ppt_h"/>
                                          </p:val>
                                        </p:tav>
                                      </p:tavLst>
                                    </p:anim>
                                    <p:animEffect transition="in" filter="fade">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104112" y="4403700"/>
            <a:ext cx="2016224" cy="175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Rectangle 2"/>
          <p:cNvSpPr>
            <a:spLocks noGrp="1" noChangeArrowheads="1"/>
          </p:cNvSpPr>
          <p:nvPr>
            <p:ph type="title"/>
          </p:nvPr>
        </p:nvSpPr>
        <p:spPr>
          <a:xfrm>
            <a:off x="2279650" y="703263"/>
            <a:ext cx="6513513" cy="487362"/>
          </a:xfrm>
        </p:spPr>
        <p:txBody>
          <a:bodyPr/>
          <a:lstStyle/>
          <a:p>
            <a:r>
              <a:rPr lang="zh-CN" altLang="en-US">
                <a:solidFill>
                  <a:srgbClr val="FF0000"/>
                </a:solidFill>
              </a:rPr>
              <a:t>接受风险</a:t>
            </a:r>
            <a:endParaRPr lang="zh-CN" altLang="en-US">
              <a:solidFill>
                <a:srgbClr val="FF0000"/>
              </a:solidFill>
            </a:endParaRPr>
          </a:p>
        </p:txBody>
      </p:sp>
      <p:sp>
        <p:nvSpPr>
          <p:cNvPr id="2" name="矩形 1"/>
          <p:cNvSpPr/>
          <p:nvPr/>
        </p:nvSpPr>
        <p:spPr>
          <a:xfrm>
            <a:off x="2089150" y="1441450"/>
            <a:ext cx="8031163" cy="755650"/>
          </a:xfrm>
          <a:prstGeom prst="rect">
            <a:avLst/>
          </a:prstGeom>
        </p:spPr>
        <p:txBody>
          <a:bodyPr>
            <a:spAutoFit/>
          </a:bodyPr>
          <a:lstStyle/>
          <a:p>
            <a:pPr marL="342900" indent="-342900">
              <a:lnSpc>
                <a:spcPct val="90000"/>
              </a:lnSpc>
              <a:spcBef>
                <a:spcPct val="20000"/>
              </a:spcBef>
              <a:buClr>
                <a:srgbClr val="3399FF"/>
              </a:buClr>
              <a:buFont typeface="Wingdings" panose="05000000000000000000" pitchFamily="2" charset="2"/>
              <a:buChar char="v"/>
              <a:defRPr/>
            </a:pPr>
            <a:r>
              <a:rPr lang="zh-CN" altLang="en-US" sz="2400" dirty="0">
                <a:latin typeface="+mn-lt"/>
                <a:ea typeface="+mn-ea"/>
              </a:rPr>
              <a:t>接受风险是选择对风险不采取进一步的处理措施，接受风险可能带来的结果。 </a:t>
            </a:r>
            <a:endParaRPr lang="zh-CN" altLang="en-US" sz="2400" dirty="0">
              <a:latin typeface="+mn-lt"/>
              <a:ea typeface="+mn-ea"/>
            </a:endParaRPr>
          </a:p>
        </p:txBody>
      </p:sp>
      <p:sp>
        <p:nvSpPr>
          <p:cNvPr id="3" name="矩形 2"/>
          <p:cNvSpPr/>
          <p:nvPr/>
        </p:nvSpPr>
        <p:spPr>
          <a:xfrm>
            <a:off x="2135188" y="2276475"/>
            <a:ext cx="7985125" cy="1087755"/>
          </a:xfrm>
          <a:prstGeom prst="rect">
            <a:avLst/>
          </a:prstGeom>
        </p:spPr>
        <p:txBody>
          <a:bodyPr>
            <a:spAutoFit/>
          </a:bodyPr>
          <a:lstStyle/>
          <a:p>
            <a:pPr marL="342900" indent="-342900">
              <a:lnSpc>
                <a:spcPct val="90000"/>
              </a:lnSpc>
              <a:spcBef>
                <a:spcPct val="20000"/>
              </a:spcBef>
              <a:buClr>
                <a:srgbClr val="3399FF"/>
              </a:buClr>
              <a:buFont typeface="Wingdings" panose="05000000000000000000" pitchFamily="2" charset="2"/>
              <a:buChar char="v"/>
              <a:defRPr/>
            </a:pPr>
            <a:r>
              <a:rPr lang="zh-CN" altLang="en-US" sz="2400" dirty="0">
                <a:latin typeface="+mn-lt"/>
                <a:ea typeface="+mn-ea"/>
              </a:rPr>
              <a:t>用于那些在采取了降低风险和避免风险措施后，出于实际和经济方面的原因，只要组织进行运营，就必然存在并必须接受的风险。 </a:t>
            </a:r>
            <a:endParaRPr lang="zh-CN" altLang="en-US" sz="2400" dirty="0">
              <a:latin typeface="+mn-lt"/>
              <a:ea typeface="+mn-ea"/>
            </a:endParaRPr>
          </a:p>
        </p:txBody>
      </p:sp>
      <p:sp>
        <p:nvSpPr>
          <p:cNvPr id="5" name="矩形 4"/>
          <p:cNvSpPr/>
          <p:nvPr/>
        </p:nvSpPr>
        <p:spPr>
          <a:xfrm>
            <a:off x="2055813" y="3444875"/>
            <a:ext cx="8064500" cy="1087755"/>
          </a:xfrm>
          <a:prstGeom prst="rect">
            <a:avLst/>
          </a:prstGeom>
        </p:spPr>
        <p:txBody>
          <a:bodyPr>
            <a:spAutoFit/>
          </a:bodyPr>
          <a:lstStyle/>
          <a:p>
            <a:pPr marL="342900" indent="-342900">
              <a:lnSpc>
                <a:spcPct val="90000"/>
              </a:lnSpc>
              <a:spcBef>
                <a:spcPct val="20000"/>
              </a:spcBef>
              <a:buClr>
                <a:srgbClr val="3399FF"/>
              </a:buClr>
              <a:buFont typeface="Wingdings" panose="05000000000000000000" pitchFamily="2" charset="2"/>
              <a:buChar char="v"/>
              <a:defRPr/>
            </a:pPr>
            <a:r>
              <a:rPr lang="zh-CN" altLang="en-US" sz="2400" dirty="0">
                <a:latin typeface="+mn-lt"/>
                <a:ea typeface="+mn-ea"/>
              </a:rPr>
              <a:t>接受风险不意味着不闻不问，需要对风险态势变化进行持续的监控，一旦发展为无法接受的风险就要进一步采取措施。</a:t>
            </a:r>
            <a:endParaRPr lang="en-US" altLang="zh-CN" sz="2400" dirty="0">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000" fill="hold"/>
                                        <p:tgtEl>
                                          <p:spTgt spid="3"/>
                                        </p:tgtEl>
                                        <p:attrNameLst>
                                          <p:attrName>ppt_x</p:attrName>
                                        </p:attrNameLst>
                                      </p:cBhvr>
                                      <p:tavLst>
                                        <p:tav tm="0">
                                          <p:val>
                                            <p:strVal val="0-#ppt_w/2"/>
                                          </p:val>
                                        </p:tav>
                                        <p:tav tm="100000">
                                          <p:val>
                                            <p:strVal val="#ppt_x"/>
                                          </p:val>
                                        </p:tav>
                                      </p:tavLst>
                                    </p:anim>
                                    <p:anim calcmode="lin" valueType="num">
                                      <p:cBhvr additive="base">
                                        <p:cTn id="13" dur="10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2" presetClass="entr" presetSubtype="8"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2000" fill="hold"/>
                                        <p:tgtEl>
                                          <p:spTgt spid="5"/>
                                        </p:tgtEl>
                                        <p:attrNameLst>
                                          <p:attrName>ppt_x</p:attrName>
                                        </p:attrNameLst>
                                      </p:cBhvr>
                                      <p:tavLst>
                                        <p:tav tm="0">
                                          <p:val>
                                            <p:strVal val="0-#ppt_w/2"/>
                                          </p:val>
                                        </p:tav>
                                        <p:tav tm="100000">
                                          <p:val>
                                            <p:strVal val="#ppt_x"/>
                                          </p:val>
                                        </p:tav>
                                      </p:tavLst>
                                    </p:anim>
                                    <p:anim calcmode="lin" valueType="num">
                                      <p:cBhvr additive="base">
                                        <p:cTn id="18" dur="2000" fill="hold"/>
                                        <p:tgtEl>
                                          <p:spTgt spid="5"/>
                                        </p:tgtEl>
                                        <p:attrNameLst>
                                          <p:attrName>ppt_y</p:attrName>
                                        </p:attrNameLst>
                                      </p:cBhvr>
                                      <p:tavLst>
                                        <p:tav tm="0">
                                          <p:val>
                                            <p:strVal val="#ppt_y"/>
                                          </p:val>
                                        </p:tav>
                                        <p:tav tm="100000">
                                          <p:val>
                                            <p:strVal val="#ppt_y"/>
                                          </p:val>
                                        </p:tav>
                                      </p:tavLst>
                                    </p:anim>
                                  </p:childTnLst>
                                </p:cTn>
                              </p:par>
                            </p:childTnLst>
                          </p:cTn>
                        </p:par>
                        <p:par>
                          <p:cTn id="19" fill="hold">
                            <p:stCondLst>
                              <p:cond delay="3500"/>
                            </p:stCondLst>
                            <p:childTnLst>
                              <p:par>
                                <p:cTn id="20" presetID="53" presetClass="entr" presetSubtype="16"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1000" fill="hold"/>
                                        <p:tgtEl>
                                          <p:spTgt spid="6"/>
                                        </p:tgtEl>
                                        <p:attrNameLst>
                                          <p:attrName>ppt_w</p:attrName>
                                        </p:attrNameLst>
                                      </p:cBhvr>
                                      <p:tavLst>
                                        <p:tav tm="0">
                                          <p:val>
                                            <p:fltVal val="0"/>
                                          </p:val>
                                        </p:tav>
                                        <p:tav tm="100000">
                                          <p:val>
                                            <p:strVal val="#ppt_w"/>
                                          </p:val>
                                        </p:tav>
                                      </p:tavLst>
                                    </p:anim>
                                    <p:anim calcmode="lin" valueType="num">
                                      <p:cBhvr>
                                        <p:cTn id="23" dur="1000" fill="hold"/>
                                        <p:tgtEl>
                                          <p:spTgt spid="6"/>
                                        </p:tgtEl>
                                        <p:attrNameLst>
                                          <p:attrName>ppt_h</p:attrName>
                                        </p:attrNameLst>
                                      </p:cBhvr>
                                      <p:tavLst>
                                        <p:tav tm="0">
                                          <p:val>
                                            <p:fltVal val="0"/>
                                          </p:val>
                                        </p:tav>
                                        <p:tav tm="100000">
                                          <p:val>
                                            <p:strVal val="#ppt_h"/>
                                          </p:val>
                                        </p:tav>
                                      </p:tavLst>
                                    </p:anim>
                                    <p:animEffect transition="in" filter="fade">
                                      <p:cBhvr>
                                        <p:cTn id="24"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2351088" y="882650"/>
            <a:ext cx="6513512" cy="487363"/>
          </a:xfrm>
        </p:spPr>
        <p:txBody>
          <a:bodyPr/>
          <a:lstStyle/>
          <a:p>
            <a:r>
              <a:rPr lang="zh-CN" altLang="en-US">
                <a:solidFill>
                  <a:srgbClr val="FF0000"/>
                </a:solidFill>
              </a:rPr>
              <a:t>风险管理工作内容</a:t>
            </a:r>
            <a:endParaRPr lang="en-US" altLang="zh-CN">
              <a:solidFill>
                <a:srgbClr val="FF0000"/>
              </a:solidFill>
            </a:endParaRPr>
          </a:p>
        </p:txBody>
      </p:sp>
      <p:pic>
        <p:nvPicPr>
          <p:cNvPr id="70659" name="Picture 3"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18288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2324" name="Rectangle 4"/>
          <p:cNvSpPr>
            <a:spLocks noChangeAspect="1" noChangeArrowheads="1"/>
          </p:cNvSpPr>
          <p:nvPr/>
        </p:nvSpPr>
        <p:spPr bwMode="auto">
          <a:xfrm>
            <a:off x="5459413" y="1905000"/>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建立背景</a:t>
            </a:r>
            <a:endParaRPr lang="en-US" altLang="zh-CN" sz="2800" b="1">
              <a:solidFill>
                <a:schemeClr val="tx2"/>
              </a:solidFill>
              <a:effectLst>
                <a:outerShdw blurRad="38100" dist="38100" dir="2700000" algn="tl">
                  <a:srgbClr val="C0C0C0"/>
                </a:outerShdw>
              </a:effectLst>
            </a:endParaRPr>
          </a:p>
        </p:txBody>
      </p:sp>
      <p:pic>
        <p:nvPicPr>
          <p:cNvPr id="70661" name="Picture 5"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28194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2326" name="Rectangle 6"/>
          <p:cNvSpPr>
            <a:spLocks noChangeAspect="1" noChangeArrowheads="1"/>
          </p:cNvSpPr>
          <p:nvPr/>
        </p:nvSpPr>
        <p:spPr bwMode="auto">
          <a:xfrm>
            <a:off x="5459413" y="2894013"/>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风险评估</a:t>
            </a:r>
            <a:endParaRPr lang="en-US" altLang="zh-CN" sz="2800" b="1">
              <a:solidFill>
                <a:schemeClr val="tx2"/>
              </a:solidFill>
              <a:effectLst>
                <a:outerShdw blurRad="38100" dist="38100" dir="2700000" algn="tl">
                  <a:srgbClr val="C0C0C0"/>
                </a:outerShdw>
              </a:effectLst>
            </a:endParaRPr>
          </a:p>
        </p:txBody>
      </p:sp>
      <p:pic>
        <p:nvPicPr>
          <p:cNvPr id="70663" name="Picture 7"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38100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2328" name="Rectangle 8"/>
          <p:cNvSpPr>
            <a:spLocks noChangeAspect="1" noChangeArrowheads="1"/>
          </p:cNvSpPr>
          <p:nvPr/>
        </p:nvSpPr>
        <p:spPr bwMode="auto">
          <a:xfrm>
            <a:off x="5459413" y="3886200"/>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风险处理</a:t>
            </a:r>
            <a:endParaRPr lang="en-US" altLang="zh-CN" sz="2800" b="1">
              <a:solidFill>
                <a:schemeClr val="tx2"/>
              </a:solidFill>
              <a:effectLst>
                <a:outerShdw blurRad="38100" dist="38100" dir="2700000" algn="tl">
                  <a:srgbClr val="C0C0C0"/>
                </a:outerShdw>
              </a:effectLst>
            </a:endParaRPr>
          </a:p>
        </p:txBody>
      </p:sp>
      <p:pic>
        <p:nvPicPr>
          <p:cNvPr id="56329" name="Picture 9" descr="GEL Rounded Square aquamarin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9538" y="4802188"/>
            <a:ext cx="1878012"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2330" name="Rectangle 10"/>
          <p:cNvSpPr>
            <a:spLocks noChangeAspect="1" noChangeArrowheads="1"/>
          </p:cNvSpPr>
          <p:nvPr/>
        </p:nvSpPr>
        <p:spPr bwMode="auto">
          <a:xfrm>
            <a:off x="5459413" y="4876800"/>
            <a:ext cx="1422400" cy="460375"/>
          </a:xfrm>
          <a:prstGeom prst="rect">
            <a:avLst/>
          </a:prstGeom>
          <a:noFill/>
          <a:ln w="9525">
            <a:noFill/>
            <a:miter lim="800000"/>
          </a:ln>
          <a:effectLst/>
        </p:spPr>
        <p:txBody>
          <a:bodyPr>
            <a:spAutoFit/>
          </a:bodyPr>
          <a:lstStyle/>
          <a:p>
            <a:pPr algn="ctr" eaLnBrk="1" hangingPunct="1">
              <a:defRPr/>
            </a:pPr>
            <a:r>
              <a:rPr lang="zh-CN" altLang="en-US" sz="2400" b="1" dirty="0">
                <a:solidFill>
                  <a:srgbClr val="FF0000"/>
                </a:solidFill>
                <a:effectLst>
                  <a:outerShdw blurRad="38100" dist="38100" dir="2700000" algn="tl">
                    <a:srgbClr val="C0C0C0"/>
                  </a:outerShdw>
                </a:effectLst>
              </a:rPr>
              <a:t>批准监督</a:t>
            </a:r>
            <a:endParaRPr lang="en-US" altLang="zh-CN" sz="2800" b="1" dirty="0">
              <a:solidFill>
                <a:srgbClr val="FF0000"/>
              </a:solidFill>
              <a:effectLst>
                <a:outerShdw blurRad="38100" dist="38100" dir="2700000" algn="tl">
                  <a:srgbClr val="C0C0C0"/>
                </a:outerShdw>
              </a:effectLst>
            </a:endParaRPr>
          </a:p>
        </p:txBody>
      </p:sp>
      <p:grpSp>
        <p:nvGrpSpPr>
          <p:cNvPr id="70667" name="Group 11"/>
          <p:cNvGrpSpPr/>
          <p:nvPr/>
        </p:nvGrpSpPr>
        <p:grpSpPr bwMode="auto">
          <a:xfrm>
            <a:off x="3670300" y="2257425"/>
            <a:ext cx="839788" cy="3000375"/>
            <a:chOff x="1228" y="1117"/>
            <a:chExt cx="563" cy="1786"/>
          </a:xfrm>
        </p:grpSpPr>
        <p:pic>
          <p:nvPicPr>
            <p:cNvPr id="70684" name="Picture 12"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85" name="Text Box 13"/>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70686" name="Text Box 14"/>
            <p:cNvSpPr txBox="1">
              <a:spLocks noChangeArrowheads="1"/>
            </p:cNvSpPr>
            <p:nvPr/>
          </p:nvSpPr>
          <p:spPr bwMode="auto">
            <a:xfrm>
              <a:off x="1310" y="1588"/>
              <a:ext cx="391"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latin typeface="Arial" panose="020B0604020202020204" pitchFamily="34" charset="0"/>
                  <a:ea typeface="宋体" panose="02010600030101010101" pitchFamily="2" charset="-122"/>
                </a:rPr>
                <a:t>监控审查</a:t>
              </a:r>
              <a:endParaRPr lang="en-US" altLang="zh-CN" sz="2600" b="1">
                <a:latin typeface="Arial" panose="020B0604020202020204" pitchFamily="34" charset="0"/>
                <a:ea typeface="宋体" panose="02010600030101010101" pitchFamily="2" charset="-122"/>
              </a:endParaRPr>
            </a:p>
          </p:txBody>
        </p:sp>
      </p:grpSp>
      <p:grpSp>
        <p:nvGrpSpPr>
          <p:cNvPr id="70668" name="Group 15"/>
          <p:cNvGrpSpPr/>
          <p:nvPr/>
        </p:nvGrpSpPr>
        <p:grpSpPr bwMode="auto">
          <a:xfrm>
            <a:off x="7897813" y="2257425"/>
            <a:ext cx="841375" cy="3000375"/>
            <a:chOff x="1228" y="1117"/>
            <a:chExt cx="563" cy="1786"/>
          </a:xfrm>
        </p:grpSpPr>
        <p:pic>
          <p:nvPicPr>
            <p:cNvPr id="70681" name="Picture 16"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82" name="Text Box 17"/>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70683" name="Text Box 18"/>
            <p:cNvSpPr txBox="1">
              <a:spLocks noChangeArrowheads="1"/>
            </p:cNvSpPr>
            <p:nvPr/>
          </p:nvSpPr>
          <p:spPr bwMode="auto">
            <a:xfrm>
              <a:off x="1311" y="1588"/>
              <a:ext cx="390"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latin typeface="Arial" panose="020B0604020202020204" pitchFamily="34" charset="0"/>
                  <a:ea typeface="宋体" panose="02010600030101010101" pitchFamily="2" charset="-122"/>
                </a:rPr>
                <a:t>沟通咨询</a:t>
              </a:r>
              <a:endParaRPr lang="en-US" altLang="zh-CN" sz="2600" b="1">
                <a:latin typeface="Arial" panose="020B0604020202020204" pitchFamily="34" charset="0"/>
                <a:ea typeface="宋体" panose="02010600030101010101" pitchFamily="2" charset="-122"/>
              </a:endParaRPr>
            </a:p>
          </p:txBody>
        </p:sp>
      </p:grpSp>
      <p:sp>
        <p:nvSpPr>
          <p:cNvPr id="70669" name="AutoShape 19"/>
          <p:cNvSpPr>
            <a:spLocks noChangeArrowheads="1"/>
          </p:cNvSpPr>
          <p:nvPr/>
        </p:nvSpPr>
        <p:spPr bwMode="auto">
          <a:xfrm>
            <a:off x="5934075" y="2514600"/>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0670" name="AutoShape 20"/>
          <p:cNvSpPr>
            <a:spLocks noChangeArrowheads="1"/>
          </p:cNvSpPr>
          <p:nvPr/>
        </p:nvSpPr>
        <p:spPr bwMode="auto">
          <a:xfrm>
            <a:off x="5934075" y="3506788"/>
            <a:ext cx="406400" cy="303212"/>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0671" name="AutoShape 21"/>
          <p:cNvSpPr>
            <a:spLocks noChangeArrowheads="1"/>
          </p:cNvSpPr>
          <p:nvPr/>
        </p:nvSpPr>
        <p:spPr bwMode="auto">
          <a:xfrm>
            <a:off x="5934075" y="4497388"/>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0672" name="AutoShape 22"/>
          <p:cNvSpPr>
            <a:spLocks noChangeArrowheads="1"/>
          </p:cNvSpPr>
          <p:nvPr/>
        </p:nvSpPr>
        <p:spPr bwMode="auto">
          <a:xfrm rot="-5400000">
            <a:off x="4655344" y="2048669"/>
            <a:ext cx="457200" cy="474662"/>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0673" name="AutoShape 23"/>
          <p:cNvSpPr>
            <a:spLocks noChangeArrowheads="1"/>
          </p:cNvSpPr>
          <p:nvPr/>
        </p:nvSpPr>
        <p:spPr bwMode="auto">
          <a:xfrm rot="5400000">
            <a:off x="4588669" y="4945857"/>
            <a:ext cx="457200" cy="474662"/>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0674" name="AutoShape 24"/>
          <p:cNvSpPr>
            <a:spLocks noChangeArrowheads="1"/>
          </p:cNvSpPr>
          <p:nvPr/>
        </p:nvSpPr>
        <p:spPr bwMode="auto">
          <a:xfrm>
            <a:off x="4579938" y="3048000"/>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0675" name="AutoShape 25"/>
          <p:cNvSpPr>
            <a:spLocks noChangeArrowheads="1"/>
          </p:cNvSpPr>
          <p:nvPr/>
        </p:nvSpPr>
        <p:spPr bwMode="auto">
          <a:xfrm>
            <a:off x="4579938" y="4114800"/>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0676" name="AutoShape 26"/>
          <p:cNvSpPr>
            <a:spLocks noChangeArrowheads="1"/>
          </p:cNvSpPr>
          <p:nvPr/>
        </p:nvSpPr>
        <p:spPr bwMode="auto">
          <a:xfrm>
            <a:off x="7153275" y="2209800"/>
            <a:ext cx="608013" cy="304800"/>
          </a:xfrm>
          <a:prstGeom prst="leftRightArrow">
            <a:avLst>
              <a:gd name="adj1" fmla="val 50000"/>
              <a:gd name="adj2" fmla="val 44883"/>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0677" name="AutoShape 27"/>
          <p:cNvSpPr>
            <a:spLocks noChangeArrowheads="1"/>
          </p:cNvSpPr>
          <p:nvPr/>
        </p:nvSpPr>
        <p:spPr bwMode="auto">
          <a:xfrm>
            <a:off x="7153275" y="2971800"/>
            <a:ext cx="609600" cy="306388"/>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0678" name="AutoShape 28"/>
          <p:cNvSpPr>
            <a:spLocks noChangeArrowheads="1"/>
          </p:cNvSpPr>
          <p:nvPr/>
        </p:nvSpPr>
        <p:spPr bwMode="auto">
          <a:xfrm>
            <a:off x="7153275" y="3810000"/>
            <a:ext cx="608013" cy="306388"/>
          </a:xfrm>
          <a:prstGeom prst="leftRightArrow">
            <a:avLst>
              <a:gd name="adj1" fmla="val 50000"/>
              <a:gd name="adj2" fmla="val 4465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0679" name="AutoShape 29"/>
          <p:cNvSpPr>
            <a:spLocks noChangeArrowheads="1"/>
          </p:cNvSpPr>
          <p:nvPr/>
        </p:nvSpPr>
        <p:spPr bwMode="auto">
          <a:xfrm>
            <a:off x="7153275" y="4724400"/>
            <a:ext cx="609600" cy="306388"/>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6329"/>
                                        </p:tgtEl>
                                      </p:cBhvr>
                                      <p:by x="150000" y="150000"/>
                                    </p:animScale>
                                  </p:childTnLst>
                                </p:cTn>
                              </p:par>
                              <p:par>
                                <p:cTn id="7" presetID="6" presetClass="emph" presetSubtype="0" fill="hold" grpId="0" nodeType="withEffect">
                                  <p:stCondLst>
                                    <p:cond delay="0"/>
                                  </p:stCondLst>
                                  <p:childTnLst>
                                    <p:animScale>
                                      <p:cBhvr>
                                        <p:cTn id="8" dur="2000" fill="hold"/>
                                        <p:tgtEl>
                                          <p:spTgt spid="159233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2330"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xfrm>
            <a:off x="2424113" y="836613"/>
            <a:ext cx="6513512" cy="487362"/>
          </a:xfrm>
        </p:spPr>
        <p:txBody>
          <a:bodyPr/>
          <a:lstStyle/>
          <a:p>
            <a:r>
              <a:rPr lang="zh-CN" altLang="en-US">
                <a:solidFill>
                  <a:srgbClr val="FF0000"/>
                </a:solidFill>
              </a:rPr>
              <a:t>批准监督</a:t>
            </a:r>
            <a:endParaRPr lang="zh-CN" altLang="en-US">
              <a:solidFill>
                <a:srgbClr val="FF0000"/>
              </a:solidFill>
            </a:endParaRPr>
          </a:p>
        </p:txBody>
      </p:sp>
      <p:sp>
        <p:nvSpPr>
          <p:cNvPr id="57347" name="内容占位符 2"/>
          <p:cNvSpPr>
            <a:spLocks noGrp="1"/>
          </p:cNvSpPr>
          <p:nvPr>
            <p:ph idx="1"/>
          </p:nvPr>
        </p:nvSpPr>
        <p:spPr>
          <a:xfrm>
            <a:off x="2208213" y="1752600"/>
            <a:ext cx="8191500" cy="1389063"/>
          </a:xfrm>
        </p:spPr>
        <p:txBody>
          <a:bodyPr/>
          <a:lstStyle/>
          <a:p>
            <a:pPr eaLnBrk="1" hangingPunct="1"/>
            <a:r>
              <a:rPr lang="zh-CN" altLang="zh-CN">
                <a:solidFill>
                  <a:srgbClr val="FF0000"/>
                </a:solidFill>
              </a:rPr>
              <a:t>批准：</a:t>
            </a:r>
            <a:r>
              <a:rPr lang="zh-CN" altLang="zh-CN"/>
              <a:t>是指机构的决策层依据风险评估和风险处理的结果是否满足信息系统的安全要求，做出是否认可风险管理活动的决定</a:t>
            </a:r>
            <a:endParaRPr lang="zh-CN" altLang="zh-CN"/>
          </a:p>
          <a:p>
            <a:pPr eaLnBrk="1" hangingPunct="1"/>
            <a:endParaRPr lang="zh-CN" altLang="zh-CN">
              <a:solidFill>
                <a:srgbClr val="FF0000"/>
              </a:solidFill>
            </a:endParaRPr>
          </a:p>
          <a:p>
            <a:pPr eaLnBrk="1" hangingPunct="1"/>
            <a:r>
              <a:rPr lang="zh-CN" altLang="zh-CN">
                <a:solidFill>
                  <a:srgbClr val="FF0000"/>
                </a:solidFill>
              </a:rPr>
              <a:t>监督：</a:t>
            </a:r>
            <a:r>
              <a:rPr lang="zh-CN" altLang="zh-CN"/>
              <a:t>是指检查机构及其信息系统以及信息安全相关的环境有无变化，监督变化因素是否有可能引入新风险</a:t>
            </a:r>
            <a:endParaRPr lang="zh-CN" altLang="zh-CN"/>
          </a:p>
          <a:p>
            <a:pPr eaLnBrk="1" hangingPunct="1"/>
            <a:endParaRPr lang="zh-CN" altLang="en-US">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 calcmode="lin" valueType="num">
                                      <p:cBhvr additive="base">
                                        <p:cTn id="7" dur="500" fill="hold"/>
                                        <p:tgtEl>
                                          <p:spTgt spid="57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347">
                                            <p:txEl>
                                              <p:pRg st="2" end="2"/>
                                            </p:txEl>
                                          </p:spTgt>
                                        </p:tgtEl>
                                        <p:attrNameLst>
                                          <p:attrName>style.visibility</p:attrName>
                                        </p:attrNameLst>
                                      </p:cBhvr>
                                      <p:to>
                                        <p:strVal val="visible"/>
                                      </p:to>
                                    </p:set>
                                    <p:anim calcmode="lin" valueType="num">
                                      <p:cBhvr additive="base">
                                        <p:cTn id="13" dur="500" fill="hold"/>
                                        <p:tgtEl>
                                          <p:spTgt spid="5734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734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2208213" y="1035050"/>
            <a:ext cx="6513512" cy="487363"/>
          </a:xfrm>
        </p:spPr>
        <p:txBody>
          <a:bodyPr/>
          <a:lstStyle/>
          <a:p>
            <a:r>
              <a:rPr lang="zh-CN" altLang="en-US" sz="3600">
                <a:solidFill>
                  <a:srgbClr val="FF0000"/>
                </a:solidFill>
              </a:rPr>
              <a:t>批准监督过程</a:t>
            </a:r>
            <a:br>
              <a:rPr lang="zh-CN" altLang="en-US" sz="3600">
                <a:solidFill>
                  <a:srgbClr val="FF0000"/>
                </a:solidFill>
              </a:rPr>
            </a:br>
            <a:endParaRPr lang="zh-CN" altLang="en-US" sz="3600">
              <a:solidFill>
                <a:srgbClr val="FF0000"/>
              </a:solidFill>
            </a:endParaRPr>
          </a:p>
        </p:txBody>
      </p:sp>
      <p:sp>
        <p:nvSpPr>
          <p:cNvPr id="72707" name="Rectangle 3"/>
          <p:cNvSpPr>
            <a:spLocks noChangeArrowheads="1"/>
          </p:cNvSpPr>
          <p:nvPr/>
        </p:nvSpPr>
        <p:spPr bwMode="auto">
          <a:xfrm>
            <a:off x="1524000" y="7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5122" name="Object 2"/>
          <p:cNvGraphicFramePr>
            <a:graphicFrameLocks noChangeAspect="1"/>
          </p:cNvGraphicFramePr>
          <p:nvPr/>
        </p:nvGraphicFramePr>
        <p:xfrm>
          <a:off x="2351088" y="1628775"/>
          <a:ext cx="7038975" cy="4503738"/>
        </p:xfrm>
        <a:graphic>
          <a:graphicData uri="http://schemas.openxmlformats.org/presentationml/2006/ole">
            <mc:AlternateContent xmlns:mc="http://schemas.openxmlformats.org/markup-compatibility/2006">
              <mc:Choice xmlns:v="urn:schemas-microsoft-com:vml" Requires="v">
                <p:oleObj spid="_x0000_s5129" name="" r:id="rId1" imgW="7439660" imgH="5068570" progId="">
                  <p:embed/>
                </p:oleObj>
              </mc:Choice>
              <mc:Fallback>
                <p:oleObj name="" r:id="rId1" imgW="7439660" imgH="5068570" progId="">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088" y="1628775"/>
                        <a:ext cx="7038975" cy="4503738"/>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254250" y="846138"/>
            <a:ext cx="6513513" cy="488950"/>
          </a:xfrm>
        </p:spPr>
        <p:txBody>
          <a:bodyPr/>
          <a:lstStyle/>
          <a:p>
            <a:r>
              <a:rPr lang="zh-CN" altLang="en-US">
                <a:solidFill>
                  <a:srgbClr val="FF0000"/>
                </a:solidFill>
              </a:rPr>
              <a:t>风险管理工作内容</a:t>
            </a:r>
            <a:endParaRPr lang="en-US" altLang="zh-CN">
              <a:solidFill>
                <a:srgbClr val="FF0000"/>
              </a:solidFill>
            </a:endParaRPr>
          </a:p>
        </p:txBody>
      </p:sp>
      <p:pic>
        <p:nvPicPr>
          <p:cNvPr id="73731" name="Picture 3"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18288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8468" name="Rectangle 4"/>
          <p:cNvSpPr>
            <a:spLocks noChangeAspect="1" noChangeArrowheads="1"/>
          </p:cNvSpPr>
          <p:nvPr/>
        </p:nvSpPr>
        <p:spPr bwMode="auto">
          <a:xfrm>
            <a:off x="5459413" y="1905000"/>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建立背景</a:t>
            </a:r>
            <a:endParaRPr lang="en-US" altLang="zh-CN" sz="2800" b="1">
              <a:solidFill>
                <a:schemeClr val="tx2"/>
              </a:solidFill>
              <a:effectLst>
                <a:outerShdw blurRad="38100" dist="38100" dir="2700000" algn="tl">
                  <a:srgbClr val="C0C0C0"/>
                </a:outerShdw>
              </a:effectLst>
            </a:endParaRPr>
          </a:p>
        </p:txBody>
      </p:sp>
      <p:pic>
        <p:nvPicPr>
          <p:cNvPr id="73733" name="Picture 5"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28194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8470" name="Rectangle 6"/>
          <p:cNvSpPr>
            <a:spLocks noChangeAspect="1" noChangeArrowheads="1"/>
          </p:cNvSpPr>
          <p:nvPr/>
        </p:nvSpPr>
        <p:spPr bwMode="auto">
          <a:xfrm>
            <a:off x="5459413" y="2894013"/>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风险评估</a:t>
            </a:r>
            <a:endParaRPr lang="en-US" altLang="zh-CN" sz="2800" b="1">
              <a:solidFill>
                <a:schemeClr val="tx2"/>
              </a:solidFill>
              <a:effectLst>
                <a:outerShdw blurRad="38100" dist="38100" dir="2700000" algn="tl">
                  <a:srgbClr val="C0C0C0"/>
                </a:outerShdw>
              </a:effectLst>
            </a:endParaRPr>
          </a:p>
        </p:txBody>
      </p:sp>
      <p:pic>
        <p:nvPicPr>
          <p:cNvPr id="73735" name="Picture 7"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38100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8472" name="Rectangle 8"/>
          <p:cNvSpPr>
            <a:spLocks noChangeAspect="1" noChangeArrowheads="1"/>
          </p:cNvSpPr>
          <p:nvPr/>
        </p:nvSpPr>
        <p:spPr bwMode="auto">
          <a:xfrm>
            <a:off x="5459413" y="3886200"/>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风险处理</a:t>
            </a:r>
            <a:endParaRPr lang="en-US" altLang="zh-CN" sz="2800" b="1">
              <a:solidFill>
                <a:schemeClr val="tx2"/>
              </a:solidFill>
              <a:effectLst>
                <a:outerShdw blurRad="38100" dist="38100" dir="2700000" algn="tl">
                  <a:srgbClr val="C0C0C0"/>
                </a:outerShdw>
              </a:effectLst>
            </a:endParaRPr>
          </a:p>
        </p:txBody>
      </p:sp>
      <p:pic>
        <p:nvPicPr>
          <p:cNvPr id="73737" name="Picture 9" descr="GEL Rounded Square aquamarin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9538" y="4802188"/>
            <a:ext cx="1878012"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8474" name="Rectangle 10"/>
          <p:cNvSpPr>
            <a:spLocks noChangeAspect="1" noChangeArrowheads="1"/>
          </p:cNvSpPr>
          <p:nvPr/>
        </p:nvSpPr>
        <p:spPr bwMode="auto">
          <a:xfrm>
            <a:off x="5459413" y="4876800"/>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批准监督</a:t>
            </a:r>
            <a:endParaRPr lang="en-US" altLang="zh-CN" sz="2800" b="1">
              <a:solidFill>
                <a:schemeClr val="tx2"/>
              </a:solidFill>
              <a:effectLst>
                <a:outerShdw blurRad="38100" dist="38100" dir="2700000" algn="tl">
                  <a:srgbClr val="C0C0C0"/>
                </a:outerShdw>
              </a:effectLst>
            </a:endParaRPr>
          </a:p>
        </p:txBody>
      </p:sp>
      <p:grpSp>
        <p:nvGrpSpPr>
          <p:cNvPr id="2" name="Group 11"/>
          <p:cNvGrpSpPr/>
          <p:nvPr/>
        </p:nvGrpSpPr>
        <p:grpSpPr bwMode="auto">
          <a:xfrm>
            <a:off x="3670300" y="2257425"/>
            <a:ext cx="839788" cy="3000375"/>
            <a:chOff x="1228" y="1117"/>
            <a:chExt cx="563" cy="1786"/>
          </a:xfrm>
        </p:grpSpPr>
        <p:pic>
          <p:nvPicPr>
            <p:cNvPr id="73755" name="Picture 12"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56" name="Text Box 13"/>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73757" name="Text Box 14"/>
            <p:cNvSpPr txBox="1">
              <a:spLocks noChangeArrowheads="1"/>
            </p:cNvSpPr>
            <p:nvPr/>
          </p:nvSpPr>
          <p:spPr bwMode="auto">
            <a:xfrm>
              <a:off x="1310" y="1588"/>
              <a:ext cx="391"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solidFill>
                    <a:srgbClr val="FF0000"/>
                  </a:solidFill>
                  <a:latin typeface="Arial" panose="020B0604020202020204" pitchFamily="34" charset="0"/>
                  <a:ea typeface="宋体" panose="02010600030101010101" pitchFamily="2" charset="-122"/>
                </a:rPr>
                <a:t>监控审查</a:t>
              </a:r>
              <a:endParaRPr lang="en-US" altLang="zh-CN" sz="2600" b="1">
                <a:solidFill>
                  <a:srgbClr val="FF0000"/>
                </a:solidFill>
                <a:latin typeface="Arial" panose="020B0604020202020204" pitchFamily="34" charset="0"/>
                <a:ea typeface="宋体" panose="02010600030101010101" pitchFamily="2" charset="-122"/>
              </a:endParaRPr>
            </a:p>
          </p:txBody>
        </p:sp>
      </p:grpSp>
      <p:grpSp>
        <p:nvGrpSpPr>
          <p:cNvPr id="73740" name="Group 15"/>
          <p:cNvGrpSpPr/>
          <p:nvPr/>
        </p:nvGrpSpPr>
        <p:grpSpPr bwMode="auto">
          <a:xfrm>
            <a:off x="7897813" y="2257425"/>
            <a:ext cx="841375" cy="3000375"/>
            <a:chOff x="1228" y="1117"/>
            <a:chExt cx="563" cy="1786"/>
          </a:xfrm>
        </p:grpSpPr>
        <p:pic>
          <p:nvPicPr>
            <p:cNvPr id="73752" name="Picture 16"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53" name="Text Box 17"/>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73754" name="Text Box 18"/>
            <p:cNvSpPr txBox="1">
              <a:spLocks noChangeArrowheads="1"/>
            </p:cNvSpPr>
            <p:nvPr/>
          </p:nvSpPr>
          <p:spPr bwMode="auto">
            <a:xfrm>
              <a:off x="1311" y="1588"/>
              <a:ext cx="390"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latin typeface="Arial" panose="020B0604020202020204" pitchFamily="34" charset="0"/>
                  <a:ea typeface="宋体" panose="02010600030101010101" pitchFamily="2" charset="-122"/>
                </a:rPr>
                <a:t>沟通咨询</a:t>
              </a:r>
              <a:endParaRPr lang="en-US" altLang="zh-CN" sz="2600" b="1">
                <a:latin typeface="Arial" panose="020B0604020202020204" pitchFamily="34" charset="0"/>
                <a:ea typeface="宋体" panose="02010600030101010101" pitchFamily="2" charset="-122"/>
              </a:endParaRPr>
            </a:p>
          </p:txBody>
        </p:sp>
      </p:grpSp>
      <p:sp>
        <p:nvSpPr>
          <p:cNvPr id="73741" name="AutoShape 19"/>
          <p:cNvSpPr>
            <a:spLocks noChangeArrowheads="1"/>
          </p:cNvSpPr>
          <p:nvPr/>
        </p:nvSpPr>
        <p:spPr bwMode="auto">
          <a:xfrm>
            <a:off x="5934075" y="2514600"/>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3742" name="AutoShape 20"/>
          <p:cNvSpPr>
            <a:spLocks noChangeArrowheads="1"/>
          </p:cNvSpPr>
          <p:nvPr/>
        </p:nvSpPr>
        <p:spPr bwMode="auto">
          <a:xfrm>
            <a:off x="5934075" y="3506788"/>
            <a:ext cx="406400" cy="303212"/>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3743" name="AutoShape 21"/>
          <p:cNvSpPr>
            <a:spLocks noChangeArrowheads="1"/>
          </p:cNvSpPr>
          <p:nvPr/>
        </p:nvSpPr>
        <p:spPr bwMode="auto">
          <a:xfrm>
            <a:off x="5934075" y="4497388"/>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3744" name="AutoShape 22"/>
          <p:cNvSpPr>
            <a:spLocks noChangeArrowheads="1"/>
          </p:cNvSpPr>
          <p:nvPr/>
        </p:nvSpPr>
        <p:spPr bwMode="auto">
          <a:xfrm rot="-5400000">
            <a:off x="4655344" y="2048669"/>
            <a:ext cx="457200" cy="474662"/>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3745" name="AutoShape 23"/>
          <p:cNvSpPr>
            <a:spLocks noChangeArrowheads="1"/>
          </p:cNvSpPr>
          <p:nvPr/>
        </p:nvSpPr>
        <p:spPr bwMode="auto">
          <a:xfrm rot="5400000">
            <a:off x="4588669" y="4945857"/>
            <a:ext cx="457200" cy="474662"/>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3746" name="AutoShape 24"/>
          <p:cNvSpPr>
            <a:spLocks noChangeArrowheads="1"/>
          </p:cNvSpPr>
          <p:nvPr/>
        </p:nvSpPr>
        <p:spPr bwMode="auto">
          <a:xfrm>
            <a:off x="4579938" y="3048000"/>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3747" name="AutoShape 25"/>
          <p:cNvSpPr>
            <a:spLocks noChangeArrowheads="1"/>
          </p:cNvSpPr>
          <p:nvPr/>
        </p:nvSpPr>
        <p:spPr bwMode="auto">
          <a:xfrm>
            <a:off x="4579938" y="4114800"/>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3748" name="AutoShape 26"/>
          <p:cNvSpPr>
            <a:spLocks noChangeArrowheads="1"/>
          </p:cNvSpPr>
          <p:nvPr/>
        </p:nvSpPr>
        <p:spPr bwMode="auto">
          <a:xfrm>
            <a:off x="7153275" y="2209800"/>
            <a:ext cx="608013" cy="304800"/>
          </a:xfrm>
          <a:prstGeom prst="leftRightArrow">
            <a:avLst>
              <a:gd name="adj1" fmla="val 50000"/>
              <a:gd name="adj2" fmla="val 44883"/>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3749" name="AutoShape 27"/>
          <p:cNvSpPr>
            <a:spLocks noChangeArrowheads="1"/>
          </p:cNvSpPr>
          <p:nvPr/>
        </p:nvSpPr>
        <p:spPr bwMode="auto">
          <a:xfrm>
            <a:off x="7153275" y="2971800"/>
            <a:ext cx="609600" cy="306388"/>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3750" name="AutoShape 28"/>
          <p:cNvSpPr>
            <a:spLocks noChangeArrowheads="1"/>
          </p:cNvSpPr>
          <p:nvPr/>
        </p:nvSpPr>
        <p:spPr bwMode="auto">
          <a:xfrm>
            <a:off x="7153275" y="3810000"/>
            <a:ext cx="608013" cy="306388"/>
          </a:xfrm>
          <a:prstGeom prst="leftRightArrow">
            <a:avLst>
              <a:gd name="adj1" fmla="val 50000"/>
              <a:gd name="adj2" fmla="val 4465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3751" name="AutoShape 29"/>
          <p:cNvSpPr>
            <a:spLocks noChangeArrowheads="1"/>
          </p:cNvSpPr>
          <p:nvPr/>
        </p:nvSpPr>
        <p:spPr bwMode="auto">
          <a:xfrm>
            <a:off x="7153275" y="4724400"/>
            <a:ext cx="609600" cy="306388"/>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2351088" y="844550"/>
            <a:ext cx="6513512" cy="487363"/>
          </a:xfrm>
        </p:spPr>
        <p:txBody>
          <a:bodyPr/>
          <a:lstStyle/>
          <a:p>
            <a:r>
              <a:rPr lang="zh-CN" altLang="en-US">
                <a:solidFill>
                  <a:srgbClr val="FF0000"/>
                </a:solidFill>
              </a:rPr>
              <a:t>监控审查的意义</a:t>
            </a:r>
            <a:endParaRPr lang="zh-CN" altLang="en-US">
              <a:solidFill>
                <a:srgbClr val="FF0000"/>
              </a:solidFill>
            </a:endParaRPr>
          </a:p>
        </p:txBody>
      </p:sp>
      <p:sp>
        <p:nvSpPr>
          <p:cNvPr id="1599491" name="Rectangle 3"/>
          <p:cNvSpPr>
            <a:spLocks noGrp="1" noChangeArrowheads="1"/>
          </p:cNvSpPr>
          <p:nvPr>
            <p:ph type="body" idx="1"/>
          </p:nvPr>
        </p:nvSpPr>
        <p:spPr>
          <a:xfrm>
            <a:off x="1981200" y="1600200"/>
            <a:ext cx="8291513" cy="1905000"/>
          </a:xfrm>
        </p:spPr>
        <p:txBody>
          <a:bodyPr/>
          <a:lstStyle/>
          <a:p>
            <a:pPr marL="590550" indent="-590550" defTabSz="884555"/>
            <a:r>
              <a:rPr lang="zh-CN" altLang="en-US" b="1"/>
              <a:t>监控与审查可以及时发现已经出现或即将出现的变化、偏差和延误等问题，并采取适当的措施进行控制和纠正，从而减少因此造成的损失，保证信息安全风险管理主循环的有效性。</a:t>
            </a:r>
            <a:endParaRPr lang="zh-CN" altLang="en-US" b="1"/>
          </a:p>
          <a:p>
            <a:pPr marL="1687830" lvl="3" indent="-361950" defTabSz="884555"/>
            <a:endParaRPr lang="zh-CN" altLang="en-US"/>
          </a:p>
        </p:txBody>
      </p:sp>
      <p:grpSp>
        <p:nvGrpSpPr>
          <p:cNvPr id="5" name="组合 4"/>
          <p:cNvGrpSpPr/>
          <p:nvPr/>
        </p:nvGrpSpPr>
        <p:grpSpPr bwMode="auto">
          <a:xfrm>
            <a:off x="1774825" y="3429000"/>
            <a:ext cx="8148638" cy="2857500"/>
            <a:chOff x="251520" y="3429000"/>
            <a:chExt cx="8147923" cy="2857500"/>
          </a:xfrm>
        </p:grpSpPr>
        <p:pic>
          <p:nvPicPr>
            <p:cNvPr id="7475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1520" y="3429000"/>
              <a:ext cx="52959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8"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89443" y="3773692"/>
              <a:ext cx="3810000"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599491">
                                            <p:txEl>
                                              <p:pRg st="0" end="0"/>
                                            </p:txEl>
                                          </p:spTgt>
                                        </p:tgtEl>
                                        <p:attrNameLst>
                                          <p:attrName>style.visibility</p:attrName>
                                        </p:attrNameLst>
                                      </p:cBhvr>
                                      <p:to>
                                        <p:strVal val="visible"/>
                                      </p:to>
                                    </p:set>
                                    <p:anim calcmode="lin" valueType="num">
                                      <p:cBhvr>
                                        <p:cTn id="7" dur="500" fill="hold"/>
                                        <p:tgtEl>
                                          <p:spTgt spid="159949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59949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599491">
                                            <p:txEl>
                                              <p:pRg st="0" end="0"/>
                                            </p:txEl>
                                          </p:spTgt>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Effect transition="in" filter="fade">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9491" grpId="0" build="p"/>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2135188" y="984250"/>
            <a:ext cx="6513512" cy="487363"/>
          </a:xfrm>
        </p:spPr>
        <p:txBody>
          <a:bodyPr/>
          <a:lstStyle/>
          <a:p>
            <a:r>
              <a:rPr lang="zh-CN" altLang="en-US" sz="3600">
                <a:solidFill>
                  <a:srgbClr val="FF0000"/>
                </a:solidFill>
              </a:rPr>
              <a:t>监控审查过程</a:t>
            </a:r>
            <a:br>
              <a:rPr lang="zh-CN" altLang="en-US" sz="3600">
                <a:solidFill>
                  <a:srgbClr val="FF0000"/>
                </a:solidFill>
              </a:rPr>
            </a:br>
            <a:endParaRPr lang="zh-CN" altLang="en-US" sz="3600">
              <a:solidFill>
                <a:srgbClr val="FF0000"/>
              </a:solidFill>
            </a:endParaRPr>
          </a:p>
        </p:txBody>
      </p:sp>
      <p:sp>
        <p:nvSpPr>
          <p:cNvPr id="75779" name="Rectangle 3"/>
          <p:cNvSpPr>
            <a:spLocks noChangeArrowheads="1"/>
          </p:cNvSpPr>
          <p:nvPr/>
        </p:nvSpPr>
        <p:spPr bwMode="auto">
          <a:xfrm>
            <a:off x="1524000" y="7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6146" name="Object 2"/>
          <p:cNvGraphicFramePr>
            <a:graphicFrameLocks noChangeAspect="1"/>
          </p:cNvGraphicFramePr>
          <p:nvPr/>
        </p:nvGraphicFramePr>
        <p:xfrm>
          <a:off x="2711450" y="1471613"/>
          <a:ext cx="6264275" cy="4716462"/>
        </p:xfrm>
        <a:graphic>
          <a:graphicData uri="http://schemas.openxmlformats.org/presentationml/2006/ole">
            <mc:AlternateContent xmlns:mc="http://schemas.openxmlformats.org/markup-compatibility/2006">
              <mc:Choice xmlns:v="urn:schemas-microsoft-com:vml" Requires="v">
                <p:oleObj spid="_x0000_s6153" name="" r:id="rId1" imgW="4345940" imgH="4357370" progId="">
                  <p:embed/>
                </p:oleObj>
              </mc:Choice>
              <mc:Fallback>
                <p:oleObj name="" r:id="rId1" imgW="4345940" imgH="4357370" progId="">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1471613"/>
                        <a:ext cx="6264275" cy="471646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2203450" y="882650"/>
            <a:ext cx="6513513" cy="487363"/>
          </a:xfrm>
        </p:spPr>
        <p:txBody>
          <a:bodyPr/>
          <a:lstStyle/>
          <a:p>
            <a:r>
              <a:rPr lang="zh-CN" altLang="en-US">
                <a:solidFill>
                  <a:srgbClr val="FF0000"/>
                </a:solidFill>
              </a:rPr>
              <a:t>风险管理工作内容</a:t>
            </a:r>
            <a:endParaRPr lang="en-US" altLang="zh-CN">
              <a:solidFill>
                <a:srgbClr val="FF0000"/>
              </a:solidFill>
            </a:endParaRPr>
          </a:p>
        </p:txBody>
      </p:sp>
      <p:pic>
        <p:nvPicPr>
          <p:cNvPr id="76803" name="Picture 3"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18288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1540" name="Rectangle 4"/>
          <p:cNvSpPr>
            <a:spLocks noChangeAspect="1" noChangeArrowheads="1"/>
          </p:cNvSpPr>
          <p:nvPr/>
        </p:nvSpPr>
        <p:spPr bwMode="auto">
          <a:xfrm>
            <a:off x="5459413" y="1905000"/>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建立背景</a:t>
            </a:r>
            <a:endParaRPr lang="en-US" altLang="zh-CN" sz="2800" b="1">
              <a:solidFill>
                <a:schemeClr val="tx2"/>
              </a:solidFill>
              <a:effectLst>
                <a:outerShdw blurRad="38100" dist="38100" dir="2700000" algn="tl">
                  <a:srgbClr val="C0C0C0"/>
                </a:outerShdw>
              </a:effectLst>
            </a:endParaRPr>
          </a:p>
        </p:txBody>
      </p:sp>
      <p:pic>
        <p:nvPicPr>
          <p:cNvPr id="76805" name="Picture 5"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28194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1542" name="Rectangle 6"/>
          <p:cNvSpPr>
            <a:spLocks noChangeAspect="1" noChangeArrowheads="1"/>
          </p:cNvSpPr>
          <p:nvPr/>
        </p:nvSpPr>
        <p:spPr bwMode="auto">
          <a:xfrm>
            <a:off x="5459413" y="2894013"/>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风险评估</a:t>
            </a:r>
            <a:endParaRPr lang="en-US" altLang="zh-CN" sz="2800" b="1">
              <a:solidFill>
                <a:schemeClr val="tx2"/>
              </a:solidFill>
              <a:effectLst>
                <a:outerShdw blurRad="38100" dist="38100" dir="2700000" algn="tl">
                  <a:srgbClr val="C0C0C0"/>
                </a:outerShdw>
              </a:effectLst>
            </a:endParaRPr>
          </a:p>
        </p:txBody>
      </p:sp>
      <p:pic>
        <p:nvPicPr>
          <p:cNvPr id="76807" name="Picture 7" descr="GEL Rounded Square aquamar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9538" y="3810000"/>
            <a:ext cx="18780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1544" name="Rectangle 8"/>
          <p:cNvSpPr>
            <a:spLocks noChangeAspect="1" noChangeArrowheads="1"/>
          </p:cNvSpPr>
          <p:nvPr/>
        </p:nvSpPr>
        <p:spPr bwMode="auto">
          <a:xfrm>
            <a:off x="5459413" y="3886200"/>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风险处理</a:t>
            </a:r>
            <a:endParaRPr lang="en-US" altLang="zh-CN" sz="2800" b="1">
              <a:solidFill>
                <a:schemeClr val="tx2"/>
              </a:solidFill>
              <a:effectLst>
                <a:outerShdw blurRad="38100" dist="38100" dir="2700000" algn="tl">
                  <a:srgbClr val="C0C0C0"/>
                </a:outerShdw>
              </a:effectLst>
            </a:endParaRPr>
          </a:p>
        </p:txBody>
      </p:sp>
      <p:pic>
        <p:nvPicPr>
          <p:cNvPr id="76809" name="Picture 9" descr="GEL Rounded Square aquamarin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9538" y="4802188"/>
            <a:ext cx="1878012"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1546" name="Rectangle 10"/>
          <p:cNvSpPr>
            <a:spLocks noChangeAspect="1" noChangeArrowheads="1"/>
          </p:cNvSpPr>
          <p:nvPr/>
        </p:nvSpPr>
        <p:spPr bwMode="auto">
          <a:xfrm>
            <a:off x="5459413" y="4876800"/>
            <a:ext cx="1422400" cy="460375"/>
          </a:xfrm>
          <a:prstGeom prst="rect">
            <a:avLst/>
          </a:prstGeom>
          <a:noFill/>
          <a:ln w="9525">
            <a:noFill/>
            <a:miter lim="800000"/>
          </a:ln>
          <a:effectLst/>
        </p:spPr>
        <p:txBody>
          <a:bodyPr>
            <a:spAutoFit/>
          </a:bodyPr>
          <a:lstStyle/>
          <a:p>
            <a:pPr algn="ctr" eaLnBrk="1" hangingPunct="1">
              <a:defRPr/>
            </a:pPr>
            <a:r>
              <a:rPr lang="zh-CN" altLang="en-US" sz="2400" b="1">
                <a:solidFill>
                  <a:schemeClr val="tx2"/>
                </a:solidFill>
                <a:effectLst>
                  <a:outerShdw blurRad="38100" dist="38100" dir="2700000" algn="tl">
                    <a:srgbClr val="C0C0C0"/>
                  </a:outerShdw>
                </a:effectLst>
              </a:rPr>
              <a:t>批准监督</a:t>
            </a:r>
            <a:endParaRPr lang="en-US" altLang="zh-CN" sz="2800" b="1">
              <a:solidFill>
                <a:schemeClr val="tx2"/>
              </a:solidFill>
              <a:effectLst>
                <a:outerShdw blurRad="38100" dist="38100" dir="2700000" algn="tl">
                  <a:srgbClr val="C0C0C0"/>
                </a:outerShdw>
              </a:effectLst>
            </a:endParaRPr>
          </a:p>
        </p:txBody>
      </p:sp>
      <p:grpSp>
        <p:nvGrpSpPr>
          <p:cNvPr id="76811" name="Group 11"/>
          <p:cNvGrpSpPr/>
          <p:nvPr/>
        </p:nvGrpSpPr>
        <p:grpSpPr bwMode="auto">
          <a:xfrm>
            <a:off x="3670300" y="2257425"/>
            <a:ext cx="839788" cy="3000375"/>
            <a:chOff x="1228" y="1117"/>
            <a:chExt cx="563" cy="1786"/>
          </a:xfrm>
        </p:grpSpPr>
        <p:pic>
          <p:nvPicPr>
            <p:cNvPr id="76828" name="Picture 12"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29" name="Text Box 13"/>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76830" name="Text Box 14"/>
            <p:cNvSpPr txBox="1">
              <a:spLocks noChangeArrowheads="1"/>
            </p:cNvSpPr>
            <p:nvPr/>
          </p:nvSpPr>
          <p:spPr bwMode="auto">
            <a:xfrm>
              <a:off x="1310" y="1588"/>
              <a:ext cx="391"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latin typeface="Arial" panose="020B0604020202020204" pitchFamily="34" charset="0"/>
                  <a:ea typeface="宋体" panose="02010600030101010101" pitchFamily="2" charset="-122"/>
                </a:rPr>
                <a:t>监控审查</a:t>
              </a:r>
              <a:endParaRPr lang="en-US" altLang="zh-CN" sz="2600" b="1">
                <a:latin typeface="Arial" panose="020B0604020202020204" pitchFamily="34" charset="0"/>
                <a:ea typeface="宋体" panose="02010600030101010101" pitchFamily="2" charset="-122"/>
              </a:endParaRPr>
            </a:p>
          </p:txBody>
        </p:sp>
      </p:grpSp>
      <p:grpSp>
        <p:nvGrpSpPr>
          <p:cNvPr id="3" name="Group 15"/>
          <p:cNvGrpSpPr/>
          <p:nvPr/>
        </p:nvGrpSpPr>
        <p:grpSpPr bwMode="auto">
          <a:xfrm>
            <a:off x="7897813" y="2257425"/>
            <a:ext cx="841375" cy="3000375"/>
            <a:chOff x="1228" y="1117"/>
            <a:chExt cx="563" cy="1786"/>
          </a:xfrm>
        </p:grpSpPr>
        <p:pic>
          <p:nvPicPr>
            <p:cNvPr id="76825" name="Picture 16" descr="GEL Rounded Column carr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 y="1117"/>
              <a:ext cx="563" cy="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26" name="Text Box 17"/>
            <p:cNvSpPr txBox="1">
              <a:spLocks noChangeArrowheads="1"/>
            </p:cNvSpPr>
            <p:nvPr/>
          </p:nvSpPr>
          <p:spPr bwMode="auto">
            <a:xfrm>
              <a:off x="1393" y="1270"/>
              <a:ext cx="308"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endParaRPr lang="zh-CN" altLang="en-US" sz="1800">
                <a:latin typeface="Arial" panose="020B0604020202020204" pitchFamily="34" charset="0"/>
                <a:ea typeface="宋体" panose="02010600030101010101" pitchFamily="2" charset="-122"/>
              </a:endParaRPr>
            </a:p>
          </p:txBody>
        </p:sp>
        <p:sp>
          <p:nvSpPr>
            <p:cNvPr id="76827" name="Text Box 18"/>
            <p:cNvSpPr txBox="1">
              <a:spLocks noChangeArrowheads="1"/>
            </p:cNvSpPr>
            <p:nvPr/>
          </p:nvSpPr>
          <p:spPr bwMode="auto">
            <a:xfrm>
              <a:off x="1311" y="1588"/>
              <a:ext cx="390"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600" b="1">
                  <a:solidFill>
                    <a:srgbClr val="FF0000"/>
                  </a:solidFill>
                  <a:latin typeface="Arial" panose="020B0604020202020204" pitchFamily="34" charset="0"/>
                  <a:ea typeface="宋体" panose="02010600030101010101" pitchFamily="2" charset="-122"/>
                </a:rPr>
                <a:t>沟通咨询</a:t>
              </a:r>
              <a:endParaRPr lang="en-US" altLang="zh-CN" sz="2600" b="1">
                <a:solidFill>
                  <a:srgbClr val="FF0000"/>
                </a:solidFill>
                <a:latin typeface="Arial" panose="020B0604020202020204" pitchFamily="34" charset="0"/>
                <a:ea typeface="宋体" panose="02010600030101010101" pitchFamily="2" charset="-122"/>
              </a:endParaRPr>
            </a:p>
          </p:txBody>
        </p:sp>
      </p:grpSp>
      <p:sp>
        <p:nvSpPr>
          <p:cNvPr id="76813" name="AutoShape 19"/>
          <p:cNvSpPr>
            <a:spLocks noChangeArrowheads="1"/>
          </p:cNvSpPr>
          <p:nvPr/>
        </p:nvSpPr>
        <p:spPr bwMode="auto">
          <a:xfrm>
            <a:off x="5934075" y="2514600"/>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6814" name="AutoShape 20"/>
          <p:cNvSpPr>
            <a:spLocks noChangeArrowheads="1"/>
          </p:cNvSpPr>
          <p:nvPr/>
        </p:nvSpPr>
        <p:spPr bwMode="auto">
          <a:xfrm>
            <a:off x="5934075" y="3506788"/>
            <a:ext cx="406400" cy="303212"/>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6815" name="AutoShape 21"/>
          <p:cNvSpPr>
            <a:spLocks noChangeArrowheads="1"/>
          </p:cNvSpPr>
          <p:nvPr/>
        </p:nvSpPr>
        <p:spPr bwMode="auto">
          <a:xfrm>
            <a:off x="5934075" y="4497388"/>
            <a:ext cx="406400" cy="304800"/>
          </a:xfrm>
          <a:prstGeom prst="downArrow">
            <a:avLst>
              <a:gd name="adj1" fmla="val 50000"/>
              <a:gd name="adj2" fmla="val 25000"/>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6816" name="AutoShape 22"/>
          <p:cNvSpPr>
            <a:spLocks noChangeArrowheads="1"/>
          </p:cNvSpPr>
          <p:nvPr/>
        </p:nvSpPr>
        <p:spPr bwMode="auto">
          <a:xfrm rot="-5400000">
            <a:off x="4655344" y="2048669"/>
            <a:ext cx="457200" cy="474662"/>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6817" name="AutoShape 23"/>
          <p:cNvSpPr>
            <a:spLocks noChangeArrowheads="1"/>
          </p:cNvSpPr>
          <p:nvPr/>
        </p:nvSpPr>
        <p:spPr bwMode="auto">
          <a:xfrm rot="5400000">
            <a:off x="4588669" y="4945857"/>
            <a:ext cx="457200" cy="474662"/>
          </a:xfrm>
          <a:prstGeom prst="downArrow">
            <a:avLst>
              <a:gd name="adj1" fmla="val 50000"/>
              <a:gd name="adj2" fmla="val 29199"/>
            </a:avLst>
          </a:prstGeom>
          <a:solidFill>
            <a:srgbClr val="00B8FF"/>
          </a:solidFill>
          <a:ln w="9525">
            <a:solidFill>
              <a:schemeClr val="tx1"/>
            </a:solidFill>
            <a:miter lim="800000"/>
          </a:ln>
        </p:spPr>
        <p:txBody>
          <a:bodyPr vert="eaVert"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6818" name="AutoShape 24"/>
          <p:cNvSpPr>
            <a:spLocks noChangeArrowheads="1"/>
          </p:cNvSpPr>
          <p:nvPr/>
        </p:nvSpPr>
        <p:spPr bwMode="auto">
          <a:xfrm>
            <a:off x="4579938" y="3048000"/>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6819" name="AutoShape 25"/>
          <p:cNvSpPr>
            <a:spLocks noChangeArrowheads="1"/>
          </p:cNvSpPr>
          <p:nvPr/>
        </p:nvSpPr>
        <p:spPr bwMode="auto">
          <a:xfrm>
            <a:off x="4579938" y="4114800"/>
            <a:ext cx="609600" cy="304800"/>
          </a:xfrm>
          <a:prstGeom prst="leftRightArrow">
            <a:avLst>
              <a:gd name="adj1" fmla="val 50000"/>
              <a:gd name="adj2" fmla="val 4500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6820" name="AutoShape 26"/>
          <p:cNvSpPr>
            <a:spLocks noChangeArrowheads="1"/>
          </p:cNvSpPr>
          <p:nvPr/>
        </p:nvSpPr>
        <p:spPr bwMode="auto">
          <a:xfrm>
            <a:off x="7153275" y="2209800"/>
            <a:ext cx="608013" cy="304800"/>
          </a:xfrm>
          <a:prstGeom prst="leftRightArrow">
            <a:avLst>
              <a:gd name="adj1" fmla="val 50000"/>
              <a:gd name="adj2" fmla="val 44883"/>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6821" name="AutoShape 27"/>
          <p:cNvSpPr>
            <a:spLocks noChangeArrowheads="1"/>
          </p:cNvSpPr>
          <p:nvPr/>
        </p:nvSpPr>
        <p:spPr bwMode="auto">
          <a:xfrm>
            <a:off x="7153275" y="2971800"/>
            <a:ext cx="609600" cy="306388"/>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6822" name="AutoShape 28"/>
          <p:cNvSpPr>
            <a:spLocks noChangeArrowheads="1"/>
          </p:cNvSpPr>
          <p:nvPr/>
        </p:nvSpPr>
        <p:spPr bwMode="auto">
          <a:xfrm>
            <a:off x="7153275" y="3810000"/>
            <a:ext cx="608013" cy="306388"/>
          </a:xfrm>
          <a:prstGeom prst="leftRightArrow">
            <a:avLst>
              <a:gd name="adj1" fmla="val 50000"/>
              <a:gd name="adj2" fmla="val 44650"/>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6823" name="AutoShape 29"/>
          <p:cNvSpPr>
            <a:spLocks noChangeArrowheads="1"/>
          </p:cNvSpPr>
          <p:nvPr/>
        </p:nvSpPr>
        <p:spPr bwMode="auto">
          <a:xfrm>
            <a:off x="7153275" y="4724400"/>
            <a:ext cx="609600" cy="306388"/>
          </a:xfrm>
          <a:prstGeom prst="leftRightArrow">
            <a:avLst>
              <a:gd name="adj1" fmla="val 50000"/>
              <a:gd name="adj2" fmla="val 44767"/>
            </a:avLst>
          </a:prstGeom>
          <a:solidFill>
            <a:srgbClr val="00B8FF"/>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2279650" y="728663"/>
            <a:ext cx="6513513" cy="487362"/>
          </a:xfrm>
        </p:spPr>
        <p:txBody>
          <a:bodyPr/>
          <a:lstStyle/>
          <a:p>
            <a:r>
              <a:rPr lang="zh-CN" altLang="en-US">
                <a:solidFill>
                  <a:srgbClr val="FF0000"/>
                </a:solidFill>
              </a:rPr>
              <a:t>沟通咨询</a:t>
            </a:r>
            <a:endParaRPr lang="en-US" altLang="zh-CN">
              <a:solidFill>
                <a:srgbClr val="FF0000"/>
              </a:solidFill>
            </a:endParaRPr>
          </a:p>
        </p:txBody>
      </p:sp>
      <p:sp>
        <p:nvSpPr>
          <p:cNvPr id="61443" name="Rectangle 3"/>
          <p:cNvSpPr>
            <a:spLocks noGrp="1" noChangeArrowheads="1"/>
          </p:cNvSpPr>
          <p:nvPr>
            <p:ph type="body" idx="1"/>
          </p:nvPr>
        </p:nvSpPr>
        <p:spPr>
          <a:xfrm>
            <a:off x="1768475" y="1341438"/>
            <a:ext cx="8623300" cy="1524000"/>
          </a:xfrm>
        </p:spPr>
        <p:txBody>
          <a:bodyPr/>
          <a:lstStyle/>
          <a:p>
            <a:r>
              <a:rPr lang="zh-CN" altLang="en-US" sz="2400"/>
              <a:t>通过畅通的交流和充分的沟通，保持行动的协调和一致；通过有效的培训和方便的咨询，保证行动者具有足够的知识和技能，就是沟通咨询的意义所在</a:t>
            </a:r>
            <a:endParaRPr lang="zh-CN" altLang="en-US" sz="2400"/>
          </a:p>
        </p:txBody>
      </p:sp>
      <p:graphicFrame>
        <p:nvGraphicFramePr>
          <p:cNvPr id="1602615" name="Group 55"/>
          <p:cNvGraphicFramePr>
            <a:graphicFrameLocks noGrp="1"/>
          </p:cNvGraphicFramePr>
          <p:nvPr/>
        </p:nvGraphicFramePr>
        <p:xfrm>
          <a:off x="3031714" y="2757487"/>
          <a:ext cx="6097270" cy="3497580"/>
        </p:xfrm>
        <a:graphic>
          <a:graphicData uri="http://schemas.openxmlformats.org/drawingml/2006/table">
            <a:tbl>
              <a:tblPr>
                <a:effectLst>
                  <a:outerShdw blurRad="50800" dist="38100" dir="18900000" algn="bl" rotWithShape="0">
                    <a:prstClr val="black">
                      <a:alpha val="40000"/>
                    </a:prstClr>
                  </a:outerShdw>
                </a:effectLst>
              </a:tblPr>
              <a:tblGrid>
                <a:gridCol w="6097270"/>
              </a:tblGrid>
              <a:tr h="4775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5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风险管理</a:t>
                      </a:r>
                      <a:endParaRPr kumimoji="0" lang="en-US" altLang="zh-CN" sz="25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86019" marR="86019" marT="48386" marB="483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1989455">
                <a:tc>
                  <a:txBody>
                    <a:bodyPr/>
                    <a:lstStyle/>
                    <a:p>
                      <a:pPr marL="0" marR="0" lvl="0" indent="0" algn="l" defTabSz="914400" rtl="0" eaLnBrk="1" fontAlgn="base" latinLnBrk="0" hangingPunct="1">
                        <a:lnSpc>
                          <a:spcPct val="100000"/>
                        </a:lnSpc>
                        <a:spcBef>
                          <a:spcPct val="20000"/>
                        </a:spcBef>
                        <a:spcAft>
                          <a:spcPct val="0"/>
                        </a:spcAft>
                        <a:buClrTx/>
                        <a:buSzTx/>
                        <a:buFontTx/>
                        <a:buChar char="•"/>
                      </a:pPr>
                      <a:r>
                        <a:rPr kumimoji="0" lang="zh-CN" altLang="en-US" sz="23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与领导沟通，以得到理解和批准。</a:t>
                      </a:r>
                      <a:endParaRPr kumimoji="0" lang="zh-CN" altLang="en-US" sz="2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Char char="•"/>
                      </a:pPr>
                      <a:r>
                        <a:rPr kumimoji="0" lang="zh-CN" altLang="en-US" sz="23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单位内部各有关部门相互沟通，以得到理解和协作。</a:t>
                      </a:r>
                      <a:endParaRPr kumimoji="0" lang="zh-CN" altLang="en-US" sz="2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Char char="•"/>
                      </a:pPr>
                      <a:r>
                        <a:rPr kumimoji="0" lang="zh-CN" altLang="en-US" sz="23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与支持单位和系统用户沟通，以得到了解和支持。</a:t>
                      </a:r>
                      <a:endParaRPr kumimoji="0" lang="zh-CN" altLang="en-US" sz="2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86019" marR="86019" marT="48386" marB="483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1030605">
                <a:tc>
                  <a:txBody>
                    <a:bodyPr/>
                    <a:lstStyle/>
                    <a:p>
                      <a:pPr marL="0" marR="0" lvl="0" indent="0" algn="l" defTabSz="914400" rtl="0" eaLnBrk="1" fontAlgn="base" latinLnBrk="0" hangingPunct="1">
                        <a:lnSpc>
                          <a:spcPct val="100000"/>
                        </a:lnSpc>
                        <a:spcBef>
                          <a:spcPct val="20000"/>
                        </a:spcBef>
                        <a:spcAft>
                          <a:spcPct val="0"/>
                        </a:spcAft>
                        <a:buClrTx/>
                        <a:buSzTx/>
                        <a:buFontTx/>
                        <a:buChar char="•"/>
                      </a:pPr>
                      <a:r>
                        <a:rPr kumimoji="0" lang="zh-CN" altLang="zh-CN" sz="23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为所有层面的相关人员提供咨询和培训等，以提高人员的安全意识、知识和技能</a:t>
                      </a:r>
                      <a:endParaRPr kumimoji="0" lang="zh-CN" altLang="zh-CN" sz="2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86019" marR="86019" marT="48386" marB="4838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additive="base">
                                        <p:cTn id="7" dur="500" fill="hold"/>
                                        <p:tgtEl>
                                          <p:spTgt spid="614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4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602615"/>
                                        </p:tgtEl>
                                        <p:attrNameLst>
                                          <p:attrName>style.visibility</p:attrName>
                                        </p:attrNameLst>
                                      </p:cBhvr>
                                      <p:to>
                                        <p:strVal val="visible"/>
                                      </p:to>
                                    </p:set>
                                    <p:anim calcmode="lin" valueType="num">
                                      <p:cBhvr>
                                        <p:cTn id="12" dur="1000" fill="hold"/>
                                        <p:tgtEl>
                                          <p:spTgt spid="1602615"/>
                                        </p:tgtEl>
                                        <p:attrNameLst>
                                          <p:attrName>ppt_w</p:attrName>
                                        </p:attrNameLst>
                                      </p:cBhvr>
                                      <p:tavLst>
                                        <p:tav tm="0">
                                          <p:val>
                                            <p:fltVal val="0"/>
                                          </p:val>
                                        </p:tav>
                                        <p:tav tm="100000">
                                          <p:val>
                                            <p:strVal val="#ppt_w"/>
                                          </p:val>
                                        </p:tav>
                                      </p:tavLst>
                                    </p:anim>
                                    <p:anim calcmode="lin" valueType="num">
                                      <p:cBhvr>
                                        <p:cTn id="13" dur="1000" fill="hold"/>
                                        <p:tgtEl>
                                          <p:spTgt spid="1602615"/>
                                        </p:tgtEl>
                                        <p:attrNameLst>
                                          <p:attrName>ppt_h</p:attrName>
                                        </p:attrNameLst>
                                      </p:cBhvr>
                                      <p:tavLst>
                                        <p:tav tm="0">
                                          <p:val>
                                            <p:fltVal val="0"/>
                                          </p:val>
                                        </p:tav>
                                        <p:tav tm="100000">
                                          <p:val>
                                            <p:strVal val="#ppt_h"/>
                                          </p:val>
                                        </p:tav>
                                      </p:tavLst>
                                    </p:anim>
                                    <p:animEffect transition="in" filter="fade">
                                      <p:cBhvr>
                                        <p:cTn id="14" dur="1000"/>
                                        <p:tgtEl>
                                          <p:spTgt spid="1602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2320925" y="830263"/>
            <a:ext cx="6513513" cy="487362"/>
          </a:xfrm>
        </p:spPr>
        <p:txBody>
          <a:bodyPr/>
          <a:lstStyle/>
          <a:p>
            <a:r>
              <a:rPr lang="zh-CN" altLang="en-US" sz="3600">
                <a:solidFill>
                  <a:srgbClr val="FF0000"/>
                </a:solidFill>
              </a:rPr>
              <a:t>沟通咨询过程</a:t>
            </a:r>
            <a:endParaRPr lang="zh-CN" altLang="en-US" sz="3600">
              <a:solidFill>
                <a:srgbClr val="FF0000"/>
              </a:solidFill>
            </a:endParaRPr>
          </a:p>
        </p:txBody>
      </p:sp>
      <p:sp>
        <p:nvSpPr>
          <p:cNvPr id="78851" name="Rectangle 3"/>
          <p:cNvSpPr>
            <a:spLocks noChangeArrowheads="1"/>
          </p:cNvSpPr>
          <p:nvPr/>
        </p:nvSpPr>
        <p:spPr bwMode="auto">
          <a:xfrm>
            <a:off x="1524000" y="7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7170" name="Object 2"/>
          <p:cNvGraphicFramePr>
            <a:graphicFrameLocks noChangeAspect="1"/>
          </p:cNvGraphicFramePr>
          <p:nvPr/>
        </p:nvGraphicFramePr>
        <p:xfrm>
          <a:off x="3155950" y="1616075"/>
          <a:ext cx="5678488" cy="4524375"/>
        </p:xfrm>
        <a:graphic>
          <a:graphicData uri="http://schemas.openxmlformats.org/presentationml/2006/ole">
            <mc:AlternateContent xmlns:mc="http://schemas.openxmlformats.org/markup-compatibility/2006">
              <mc:Choice xmlns:v="urn:schemas-microsoft-com:vml" Requires="v">
                <p:oleObj spid="_x0000_s7177" name="" r:id="rId1" imgW="4345940" imgH="4345940" progId="">
                  <p:embed/>
                </p:oleObj>
              </mc:Choice>
              <mc:Fallback>
                <p:oleObj name="" r:id="rId1" imgW="4345940" imgH="4345940" progId="">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5950" y="1616075"/>
                        <a:ext cx="5678488" cy="4524375"/>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53" name="灯片编号占位符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fld id="{0ECD9F33-C3BE-4370-A82B-E7ACFFD247D0}" type="slidenum">
              <a:rPr lang="zh-CN" altLang="en-US" sz="1000" smtClean="0">
                <a:latin typeface="Arial" panose="020B0604020202020204" pitchFamily="34" charset="0"/>
                <a:ea typeface="宋体" panose="02010600030101010101" pitchFamily="2" charset="-122"/>
              </a:rPr>
            </a:fld>
            <a:endParaRPr lang="en-US" altLang="zh-CN" sz="1000">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2316163" y="725488"/>
            <a:ext cx="6513512" cy="487362"/>
          </a:xfrm>
        </p:spPr>
        <p:txBody>
          <a:bodyPr/>
          <a:lstStyle/>
          <a:p>
            <a:r>
              <a:rPr lang="zh-CN" altLang="en-US">
                <a:solidFill>
                  <a:srgbClr val="FF0000"/>
                </a:solidFill>
              </a:rPr>
              <a:t>课程内容</a:t>
            </a:r>
            <a:endParaRPr lang="zh-CN" altLang="en-US">
              <a:solidFill>
                <a:srgbClr val="FF0000"/>
              </a:solidFill>
            </a:endParaRPr>
          </a:p>
        </p:txBody>
      </p:sp>
      <p:pic>
        <p:nvPicPr>
          <p:cNvPr id="12292" name="Picture 1" descr="信息安全风险管理"/>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6163" y="1736725"/>
            <a:ext cx="7380287"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a:xfrm>
            <a:off x="2279650" y="908050"/>
            <a:ext cx="6513513" cy="487363"/>
          </a:xfrm>
        </p:spPr>
        <p:txBody>
          <a:bodyPr/>
          <a:lstStyle/>
          <a:p>
            <a:r>
              <a:rPr lang="zh-CN" altLang="en-US">
                <a:solidFill>
                  <a:srgbClr val="FF0000"/>
                </a:solidFill>
              </a:rPr>
              <a:t>知识域：风险管理工作内容</a:t>
            </a:r>
            <a:endParaRPr lang="zh-CN" altLang="en-US">
              <a:solidFill>
                <a:srgbClr val="FF0000"/>
              </a:solidFill>
            </a:endParaRPr>
          </a:p>
        </p:txBody>
      </p:sp>
      <p:sp>
        <p:nvSpPr>
          <p:cNvPr id="79875" name="内容占位符 2"/>
          <p:cNvSpPr>
            <a:spLocks noGrp="1"/>
          </p:cNvSpPr>
          <p:nvPr>
            <p:ph idx="1"/>
          </p:nvPr>
        </p:nvSpPr>
        <p:spPr>
          <a:xfrm>
            <a:off x="1957388" y="1662113"/>
            <a:ext cx="8191500" cy="3854450"/>
          </a:xfrm>
        </p:spPr>
        <p:txBody>
          <a:bodyPr/>
          <a:lstStyle/>
          <a:p>
            <a:pPr>
              <a:lnSpc>
                <a:spcPct val="150000"/>
              </a:lnSpc>
            </a:pPr>
            <a:r>
              <a:rPr lang="zh-CN" altLang="zh-CN" dirty="0"/>
              <a:t>知识子域：系统生命周期中的风险管理</a:t>
            </a:r>
            <a:endParaRPr lang="zh-CN" altLang="zh-CN" dirty="0"/>
          </a:p>
          <a:p>
            <a:pPr lvl="1">
              <a:lnSpc>
                <a:spcPct val="150000"/>
              </a:lnSpc>
            </a:pPr>
            <a:r>
              <a:rPr lang="zh-CN" altLang="zh-CN" sz="2400" dirty="0"/>
              <a:t>掌握系统规划阶段的风险管理工作</a:t>
            </a:r>
            <a:endParaRPr lang="zh-CN" altLang="zh-CN" sz="2400" dirty="0"/>
          </a:p>
          <a:p>
            <a:pPr lvl="1">
              <a:lnSpc>
                <a:spcPct val="150000"/>
              </a:lnSpc>
            </a:pPr>
            <a:r>
              <a:rPr lang="zh-CN" altLang="zh-CN" sz="2400" dirty="0"/>
              <a:t>掌握系统设计阶段的风险管理工作</a:t>
            </a:r>
            <a:endParaRPr lang="zh-CN" altLang="zh-CN" sz="2400" dirty="0"/>
          </a:p>
          <a:p>
            <a:pPr lvl="1">
              <a:lnSpc>
                <a:spcPct val="150000"/>
              </a:lnSpc>
            </a:pPr>
            <a:r>
              <a:rPr lang="zh-CN" altLang="zh-CN" sz="2400" dirty="0"/>
              <a:t>掌握系统实施阶段的风险管理工作</a:t>
            </a:r>
            <a:endParaRPr lang="zh-CN" altLang="zh-CN" sz="2400" dirty="0"/>
          </a:p>
          <a:p>
            <a:pPr lvl="1">
              <a:lnSpc>
                <a:spcPct val="150000"/>
              </a:lnSpc>
            </a:pPr>
            <a:r>
              <a:rPr lang="zh-CN" altLang="zh-CN" sz="2400" dirty="0"/>
              <a:t>掌握系统运行维护阶段的风险管理工作</a:t>
            </a:r>
            <a:endParaRPr lang="zh-CN" altLang="zh-CN" sz="2400" dirty="0"/>
          </a:p>
          <a:p>
            <a:pPr lvl="1">
              <a:lnSpc>
                <a:spcPct val="150000"/>
              </a:lnSpc>
            </a:pPr>
            <a:r>
              <a:rPr lang="zh-CN" altLang="zh-CN" sz="2400" dirty="0"/>
              <a:t>掌握系统废弃阶段的风险管理工作</a:t>
            </a:r>
            <a:endParaRPr lang="zh-CN" altLang="zh-CN" sz="2400" dirty="0"/>
          </a:p>
          <a:p>
            <a:pPr>
              <a:lnSpc>
                <a:spcPct val="150000"/>
              </a:lnSpc>
            </a:pPr>
            <a:endParaRPr lang="zh-CN" altLang="en-US" dirty="0"/>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2208213" y="765175"/>
            <a:ext cx="6513512" cy="487363"/>
          </a:xfrm>
        </p:spPr>
        <p:txBody>
          <a:bodyPr/>
          <a:lstStyle/>
          <a:p>
            <a:r>
              <a:rPr lang="zh-CN" altLang="en-US">
                <a:solidFill>
                  <a:srgbClr val="FF0000"/>
                </a:solidFill>
              </a:rPr>
              <a:t>何时实施风险管理</a:t>
            </a:r>
            <a:endParaRPr lang="en-US" altLang="zh-CN">
              <a:solidFill>
                <a:srgbClr val="FF0000"/>
              </a:solidFill>
            </a:endParaRPr>
          </a:p>
        </p:txBody>
      </p:sp>
      <p:sp>
        <p:nvSpPr>
          <p:cNvPr id="63491" name="Rectangle 3"/>
          <p:cNvSpPr>
            <a:spLocks noGrp="1" noChangeArrowheads="1"/>
          </p:cNvSpPr>
          <p:nvPr>
            <p:ph type="body" idx="1"/>
          </p:nvPr>
        </p:nvSpPr>
        <p:spPr>
          <a:xfrm>
            <a:off x="2208213" y="2492375"/>
            <a:ext cx="8191500" cy="576263"/>
          </a:xfrm>
        </p:spPr>
        <p:txBody>
          <a:bodyPr/>
          <a:lstStyle/>
          <a:p>
            <a:r>
              <a:rPr lang="zh-CN" altLang="en-US"/>
              <a:t>是需要贯穿信息系统生命周期，持续进行的工作</a:t>
            </a:r>
            <a:endParaRPr lang="en-US" altLang="zh-CN"/>
          </a:p>
          <a:p>
            <a:pPr lvl="1"/>
            <a:endParaRPr lang="zh-CN" altLang="en-US" sz="2900"/>
          </a:p>
          <a:p>
            <a:endParaRPr lang="zh-CN" altLang="en-US"/>
          </a:p>
        </p:txBody>
      </p:sp>
      <p:sp>
        <p:nvSpPr>
          <p:cNvPr id="609283" name="AutoShape 3"/>
          <p:cNvSpPr>
            <a:spLocks noChangeArrowheads="1"/>
          </p:cNvSpPr>
          <p:nvPr/>
        </p:nvSpPr>
        <p:spPr bwMode="ltGray">
          <a:xfrm>
            <a:off x="2919413" y="3442336"/>
            <a:ext cx="1327150" cy="579754"/>
          </a:xfrm>
          <a:prstGeom prst="chevron">
            <a:avLst>
              <a:gd name="adj" fmla="val 73201"/>
            </a:avLst>
          </a:prstGeom>
          <a:solidFill>
            <a:schemeClr val="tx2">
              <a:lumMod val="20000"/>
              <a:lumOff val="8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1600" b="1" dirty="0"/>
              <a:t>规划</a:t>
            </a:r>
            <a:endParaRPr lang="zh-CN" altLang="en-US" sz="1600" b="1" dirty="0"/>
          </a:p>
        </p:txBody>
      </p:sp>
      <p:sp>
        <p:nvSpPr>
          <p:cNvPr id="609284" name="AutoShape 4"/>
          <p:cNvSpPr>
            <a:spLocks noChangeArrowheads="1"/>
          </p:cNvSpPr>
          <p:nvPr/>
        </p:nvSpPr>
        <p:spPr bwMode="ltGray">
          <a:xfrm>
            <a:off x="4251325" y="3429636"/>
            <a:ext cx="1328738" cy="579754"/>
          </a:xfrm>
          <a:prstGeom prst="chevron">
            <a:avLst>
              <a:gd name="adj" fmla="val 73279"/>
            </a:avLst>
          </a:prstGeom>
          <a:solidFill>
            <a:schemeClr val="tx2">
              <a:lumMod val="20000"/>
              <a:lumOff val="8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1600" b="1"/>
              <a:t>设计</a:t>
            </a:r>
            <a:endParaRPr lang="zh-CN" altLang="en-US" sz="1600" b="1"/>
          </a:p>
        </p:txBody>
      </p:sp>
      <p:sp>
        <p:nvSpPr>
          <p:cNvPr id="609285" name="AutoShape 5"/>
          <p:cNvSpPr>
            <a:spLocks noChangeArrowheads="1"/>
          </p:cNvSpPr>
          <p:nvPr/>
        </p:nvSpPr>
        <p:spPr bwMode="ltGray">
          <a:xfrm>
            <a:off x="5580063" y="3429636"/>
            <a:ext cx="1327150" cy="579754"/>
          </a:xfrm>
          <a:prstGeom prst="chevron">
            <a:avLst>
              <a:gd name="adj" fmla="val 73201"/>
            </a:avLst>
          </a:prstGeom>
          <a:solidFill>
            <a:schemeClr val="tx2">
              <a:lumMod val="20000"/>
              <a:lumOff val="8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1600" b="1" dirty="0"/>
              <a:t>实施</a:t>
            </a:r>
            <a:endParaRPr lang="en-US" altLang="zh-CN" sz="1600" b="1" dirty="0"/>
          </a:p>
        </p:txBody>
      </p:sp>
      <p:sp>
        <p:nvSpPr>
          <p:cNvPr id="609286" name="AutoShape 6"/>
          <p:cNvSpPr>
            <a:spLocks noChangeArrowheads="1"/>
          </p:cNvSpPr>
          <p:nvPr/>
        </p:nvSpPr>
        <p:spPr bwMode="ltGray">
          <a:xfrm>
            <a:off x="6843713" y="3429636"/>
            <a:ext cx="1325562" cy="579754"/>
          </a:xfrm>
          <a:prstGeom prst="chevron">
            <a:avLst>
              <a:gd name="adj" fmla="val 73123"/>
            </a:avLst>
          </a:prstGeom>
          <a:solidFill>
            <a:schemeClr val="tx2">
              <a:lumMod val="20000"/>
              <a:lumOff val="8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1600" b="1" dirty="0"/>
              <a:t>运维</a:t>
            </a:r>
            <a:endParaRPr lang="en-US" altLang="zh-CN" sz="1600" b="1" dirty="0"/>
          </a:p>
        </p:txBody>
      </p:sp>
      <p:sp>
        <p:nvSpPr>
          <p:cNvPr id="609287" name="AutoShape 7"/>
          <p:cNvSpPr>
            <a:spLocks noChangeArrowheads="1"/>
          </p:cNvSpPr>
          <p:nvPr/>
        </p:nvSpPr>
        <p:spPr bwMode="ltGray">
          <a:xfrm>
            <a:off x="8172450" y="3429636"/>
            <a:ext cx="1323975" cy="579754"/>
          </a:xfrm>
          <a:prstGeom prst="chevron">
            <a:avLst>
              <a:gd name="adj" fmla="val 73045"/>
            </a:avLst>
          </a:prstGeom>
          <a:solidFill>
            <a:schemeClr val="tx2">
              <a:lumMod val="20000"/>
              <a:lumOff val="8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1600" b="1"/>
              <a:t>废弃</a:t>
            </a:r>
            <a:endParaRPr lang="zh-CN" altLang="en-US" sz="1600" b="1"/>
          </a:p>
        </p:txBody>
      </p:sp>
      <p:sp>
        <p:nvSpPr>
          <p:cNvPr id="2" name="矩形 1"/>
          <p:cNvSpPr/>
          <p:nvPr/>
        </p:nvSpPr>
        <p:spPr>
          <a:xfrm>
            <a:off x="2208213" y="1412875"/>
            <a:ext cx="8062912" cy="95313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800" dirty="0">
                <a:latin typeface="+mn-lt"/>
                <a:ea typeface="+mn-ea"/>
              </a:rPr>
              <a:t>网络空间安全风险管理是网络空间安全保障工作中的一项基础性工作 </a:t>
            </a:r>
            <a:endParaRPr lang="zh-CN" altLang="en-US" sz="2800" dirty="0">
              <a:latin typeface="+mn-lt"/>
              <a:ea typeface="+mn-ea"/>
            </a:endParaRPr>
          </a:p>
        </p:txBody>
      </p:sp>
      <p:pic>
        <p:nvPicPr>
          <p:cNvPr id="80906"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737992" y="4437112"/>
            <a:ext cx="4716016"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3491">
                                            <p:txEl>
                                              <p:pRg st="0" end="0"/>
                                            </p:txEl>
                                          </p:spTgt>
                                        </p:tgtEl>
                                        <p:attrNameLst>
                                          <p:attrName>style.visibility</p:attrName>
                                        </p:attrNameLst>
                                      </p:cBhvr>
                                      <p:to>
                                        <p:strVal val="visible"/>
                                      </p:to>
                                    </p:set>
                                    <p:anim calcmode="lin" valueType="num">
                                      <p:cBhvr additive="base">
                                        <p:cTn id="12" dur="1000" fill="hold"/>
                                        <p:tgtEl>
                                          <p:spTgt spid="63491">
                                            <p:txEl>
                                              <p:pRg st="0" end="0"/>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634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09283"/>
                                        </p:tgtEl>
                                        <p:attrNameLst>
                                          <p:attrName>style.visibility</p:attrName>
                                        </p:attrNameLst>
                                      </p:cBhvr>
                                      <p:to>
                                        <p:strVal val="visible"/>
                                      </p:to>
                                    </p:set>
                                    <p:anim calcmode="lin" valueType="num">
                                      <p:cBhvr additive="base">
                                        <p:cTn id="18" dur="500" fill="hold"/>
                                        <p:tgtEl>
                                          <p:spTgt spid="609283"/>
                                        </p:tgtEl>
                                        <p:attrNameLst>
                                          <p:attrName>ppt_x</p:attrName>
                                        </p:attrNameLst>
                                      </p:cBhvr>
                                      <p:tavLst>
                                        <p:tav tm="0">
                                          <p:val>
                                            <p:strVal val="0-#ppt_w/2"/>
                                          </p:val>
                                        </p:tav>
                                        <p:tav tm="100000">
                                          <p:val>
                                            <p:strVal val="#ppt_x"/>
                                          </p:val>
                                        </p:tav>
                                      </p:tavLst>
                                    </p:anim>
                                    <p:anim calcmode="lin" valueType="num">
                                      <p:cBhvr additive="base">
                                        <p:cTn id="19" dur="500" fill="hold"/>
                                        <p:tgtEl>
                                          <p:spTgt spid="609283"/>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53" presetClass="entr" presetSubtype="16" fill="hold" grpId="0" nodeType="afterEffect">
                                  <p:stCondLst>
                                    <p:cond delay="0"/>
                                  </p:stCondLst>
                                  <p:childTnLst>
                                    <p:set>
                                      <p:cBhvr>
                                        <p:cTn id="22" dur="1" fill="hold">
                                          <p:stCondLst>
                                            <p:cond delay="0"/>
                                          </p:stCondLst>
                                        </p:cTn>
                                        <p:tgtEl>
                                          <p:spTgt spid="609284"/>
                                        </p:tgtEl>
                                        <p:attrNameLst>
                                          <p:attrName>style.visibility</p:attrName>
                                        </p:attrNameLst>
                                      </p:cBhvr>
                                      <p:to>
                                        <p:strVal val="visible"/>
                                      </p:to>
                                    </p:set>
                                    <p:anim calcmode="lin" valueType="num">
                                      <p:cBhvr>
                                        <p:cTn id="23" dur="500" fill="hold"/>
                                        <p:tgtEl>
                                          <p:spTgt spid="609284"/>
                                        </p:tgtEl>
                                        <p:attrNameLst>
                                          <p:attrName>ppt_w</p:attrName>
                                        </p:attrNameLst>
                                      </p:cBhvr>
                                      <p:tavLst>
                                        <p:tav tm="0">
                                          <p:val>
                                            <p:fltVal val="0"/>
                                          </p:val>
                                        </p:tav>
                                        <p:tav tm="100000">
                                          <p:val>
                                            <p:strVal val="#ppt_w"/>
                                          </p:val>
                                        </p:tav>
                                      </p:tavLst>
                                    </p:anim>
                                    <p:anim calcmode="lin" valueType="num">
                                      <p:cBhvr>
                                        <p:cTn id="24" dur="500" fill="hold"/>
                                        <p:tgtEl>
                                          <p:spTgt spid="609284"/>
                                        </p:tgtEl>
                                        <p:attrNameLst>
                                          <p:attrName>ppt_h</p:attrName>
                                        </p:attrNameLst>
                                      </p:cBhvr>
                                      <p:tavLst>
                                        <p:tav tm="0">
                                          <p:val>
                                            <p:fltVal val="0"/>
                                          </p:val>
                                        </p:tav>
                                        <p:tav tm="100000">
                                          <p:val>
                                            <p:strVal val="#ppt_h"/>
                                          </p:val>
                                        </p:tav>
                                      </p:tavLst>
                                    </p:anim>
                                    <p:animEffect transition="in" filter="fade">
                                      <p:cBhvr>
                                        <p:cTn id="25" dur="500"/>
                                        <p:tgtEl>
                                          <p:spTgt spid="609284"/>
                                        </p:tgtEl>
                                      </p:cBhvr>
                                    </p:animEffect>
                                  </p:childTnLst>
                                </p:cTn>
                              </p:par>
                            </p:childTnLst>
                          </p:cTn>
                        </p:par>
                        <p:par>
                          <p:cTn id="26" fill="hold">
                            <p:stCondLst>
                              <p:cond delay="1000"/>
                            </p:stCondLst>
                            <p:childTnLst>
                              <p:par>
                                <p:cTn id="27" presetID="53" presetClass="entr" presetSubtype="16" fill="hold" grpId="0" nodeType="afterEffect">
                                  <p:stCondLst>
                                    <p:cond delay="0"/>
                                  </p:stCondLst>
                                  <p:childTnLst>
                                    <p:set>
                                      <p:cBhvr>
                                        <p:cTn id="28" dur="1" fill="hold">
                                          <p:stCondLst>
                                            <p:cond delay="0"/>
                                          </p:stCondLst>
                                        </p:cTn>
                                        <p:tgtEl>
                                          <p:spTgt spid="609285"/>
                                        </p:tgtEl>
                                        <p:attrNameLst>
                                          <p:attrName>style.visibility</p:attrName>
                                        </p:attrNameLst>
                                      </p:cBhvr>
                                      <p:to>
                                        <p:strVal val="visible"/>
                                      </p:to>
                                    </p:set>
                                    <p:anim calcmode="lin" valueType="num">
                                      <p:cBhvr>
                                        <p:cTn id="29" dur="500" fill="hold"/>
                                        <p:tgtEl>
                                          <p:spTgt spid="609285"/>
                                        </p:tgtEl>
                                        <p:attrNameLst>
                                          <p:attrName>ppt_w</p:attrName>
                                        </p:attrNameLst>
                                      </p:cBhvr>
                                      <p:tavLst>
                                        <p:tav tm="0">
                                          <p:val>
                                            <p:fltVal val="0"/>
                                          </p:val>
                                        </p:tav>
                                        <p:tav tm="100000">
                                          <p:val>
                                            <p:strVal val="#ppt_w"/>
                                          </p:val>
                                        </p:tav>
                                      </p:tavLst>
                                    </p:anim>
                                    <p:anim calcmode="lin" valueType="num">
                                      <p:cBhvr>
                                        <p:cTn id="30" dur="500" fill="hold"/>
                                        <p:tgtEl>
                                          <p:spTgt spid="609285"/>
                                        </p:tgtEl>
                                        <p:attrNameLst>
                                          <p:attrName>ppt_h</p:attrName>
                                        </p:attrNameLst>
                                      </p:cBhvr>
                                      <p:tavLst>
                                        <p:tav tm="0">
                                          <p:val>
                                            <p:fltVal val="0"/>
                                          </p:val>
                                        </p:tav>
                                        <p:tav tm="100000">
                                          <p:val>
                                            <p:strVal val="#ppt_h"/>
                                          </p:val>
                                        </p:tav>
                                      </p:tavLst>
                                    </p:anim>
                                    <p:animEffect transition="in" filter="fade">
                                      <p:cBhvr>
                                        <p:cTn id="31" dur="500"/>
                                        <p:tgtEl>
                                          <p:spTgt spid="609285"/>
                                        </p:tgtEl>
                                      </p:cBhvr>
                                    </p:animEffect>
                                  </p:childTnLst>
                                </p:cTn>
                              </p:par>
                            </p:childTnLst>
                          </p:cTn>
                        </p:par>
                        <p:par>
                          <p:cTn id="32" fill="hold">
                            <p:stCondLst>
                              <p:cond delay="1500"/>
                            </p:stCondLst>
                            <p:childTnLst>
                              <p:par>
                                <p:cTn id="33" presetID="53" presetClass="entr" presetSubtype="16" fill="hold" grpId="0" nodeType="afterEffect">
                                  <p:stCondLst>
                                    <p:cond delay="0"/>
                                  </p:stCondLst>
                                  <p:childTnLst>
                                    <p:set>
                                      <p:cBhvr>
                                        <p:cTn id="34" dur="1" fill="hold">
                                          <p:stCondLst>
                                            <p:cond delay="0"/>
                                          </p:stCondLst>
                                        </p:cTn>
                                        <p:tgtEl>
                                          <p:spTgt spid="609286"/>
                                        </p:tgtEl>
                                        <p:attrNameLst>
                                          <p:attrName>style.visibility</p:attrName>
                                        </p:attrNameLst>
                                      </p:cBhvr>
                                      <p:to>
                                        <p:strVal val="visible"/>
                                      </p:to>
                                    </p:set>
                                    <p:anim calcmode="lin" valueType="num">
                                      <p:cBhvr>
                                        <p:cTn id="35" dur="500" fill="hold"/>
                                        <p:tgtEl>
                                          <p:spTgt spid="609286"/>
                                        </p:tgtEl>
                                        <p:attrNameLst>
                                          <p:attrName>ppt_w</p:attrName>
                                        </p:attrNameLst>
                                      </p:cBhvr>
                                      <p:tavLst>
                                        <p:tav tm="0">
                                          <p:val>
                                            <p:fltVal val="0"/>
                                          </p:val>
                                        </p:tav>
                                        <p:tav tm="100000">
                                          <p:val>
                                            <p:strVal val="#ppt_w"/>
                                          </p:val>
                                        </p:tav>
                                      </p:tavLst>
                                    </p:anim>
                                    <p:anim calcmode="lin" valueType="num">
                                      <p:cBhvr>
                                        <p:cTn id="36" dur="500" fill="hold"/>
                                        <p:tgtEl>
                                          <p:spTgt spid="609286"/>
                                        </p:tgtEl>
                                        <p:attrNameLst>
                                          <p:attrName>ppt_h</p:attrName>
                                        </p:attrNameLst>
                                      </p:cBhvr>
                                      <p:tavLst>
                                        <p:tav tm="0">
                                          <p:val>
                                            <p:fltVal val="0"/>
                                          </p:val>
                                        </p:tav>
                                        <p:tav tm="100000">
                                          <p:val>
                                            <p:strVal val="#ppt_h"/>
                                          </p:val>
                                        </p:tav>
                                      </p:tavLst>
                                    </p:anim>
                                    <p:animEffect transition="in" filter="fade">
                                      <p:cBhvr>
                                        <p:cTn id="37" dur="500"/>
                                        <p:tgtEl>
                                          <p:spTgt spid="609286"/>
                                        </p:tgtEl>
                                      </p:cBhvr>
                                    </p:animEffect>
                                  </p:childTnLst>
                                </p:cTn>
                              </p:par>
                            </p:childTnLst>
                          </p:cTn>
                        </p:par>
                        <p:par>
                          <p:cTn id="38" fill="hold">
                            <p:stCondLst>
                              <p:cond delay="2000"/>
                            </p:stCondLst>
                            <p:childTnLst>
                              <p:par>
                                <p:cTn id="39" presetID="53" presetClass="entr" presetSubtype="16" fill="hold" grpId="0" nodeType="afterEffect">
                                  <p:stCondLst>
                                    <p:cond delay="0"/>
                                  </p:stCondLst>
                                  <p:childTnLst>
                                    <p:set>
                                      <p:cBhvr>
                                        <p:cTn id="40" dur="1" fill="hold">
                                          <p:stCondLst>
                                            <p:cond delay="0"/>
                                          </p:stCondLst>
                                        </p:cTn>
                                        <p:tgtEl>
                                          <p:spTgt spid="609287"/>
                                        </p:tgtEl>
                                        <p:attrNameLst>
                                          <p:attrName>style.visibility</p:attrName>
                                        </p:attrNameLst>
                                      </p:cBhvr>
                                      <p:to>
                                        <p:strVal val="visible"/>
                                      </p:to>
                                    </p:set>
                                    <p:anim calcmode="lin" valueType="num">
                                      <p:cBhvr>
                                        <p:cTn id="41" dur="500" fill="hold"/>
                                        <p:tgtEl>
                                          <p:spTgt spid="609287"/>
                                        </p:tgtEl>
                                        <p:attrNameLst>
                                          <p:attrName>ppt_w</p:attrName>
                                        </p:attrNameLst>
                                      </p:cBhvr>
                                      <p:tavLst>
                                        <p:tav tm="0">
                                          <p:val>
                                            <p:fltVal val="0"/>
                                          </p:val>
                                        </p:tav>
                                        <p:tav tm="100000">
                                          <p:val>
                                            <p:strVal val="#ppt_w"/>
                                          </p:val>
                                        </p:tav>
                                      </p:tavLst>
                                    </p:anim>
                                    <p:anim calcmode="lin" valueType="num">
                                      <p:cBhvr>
                                        <p:cTn id="42" dur="500" fill="hold"/>
                                        <p:tgtEl>
                                          <p:spTgt spid="609287"/>
                                        </p:tgtEl>
                                        <p:attrNameLst>
                                          <p:attrName>ppt_h</p:attrName>
                                        </p:attrNameLst>
                                      </p:cBhvr>
                                      <p:tavLst>
                                        <p:tav tm="0">
                                          <p:val>
                                            <p:fltVal val="0"/>
                                          </p:val>
                                        </p:tav>
                                        <p:tav tm="100000">
                                          <p:val>
                                            <p:strVal val="#ppt_h"/>
                                          </p:val>
                                        </p:tav>
                                      </p:tavLst>
                                    </p:anim>
                                    <p:animEffect transition="in" filter="fade">
                                      <p:cBhvr>
                                        <p:cTn id="43" dur="500"/>
                                        <p:tgtEl>
                                          <p:spTgt spid="609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P spid="609283" grpId="0" bldLvl="0" animBg="1"/>
      <p:bldP spid="609284" grpId="0" bldLvl="0" animBg="1"/>
      <p:bldP spid="609285" grpId="0" bldLvl="0" animBg="1"/>
      <p:bldP spid="609286" grpId="0" bldLvl="0" animBg="1"/>
      <p:bldP spid="609287" grpId="0" bldLvl="0" animBg="1"/>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11779" name="Rectangle 3"/>
          <p:cNvSpPr>
            <a:spLocks noGrp="1" noChangeArrowheads="1"/>
          </p:cNvSpPr>
          <p:nvPr>
            <p:ph type="body" idx="1"/>
          </p:nvPr>
        </p:nvSpPr>
        <p:spPr>
          <a:xfrm>
            <a:off x="1992313" y="2924175"/>
            <a:ext cx="8286750" cy="2089150"/>
          </a:xfrm>
        </p:spPr>
        <p:txBody>
          <a:bodyPr/>
          <a:lstStyle/>
          <a:p>
            <a:pPr lvl="1">
              <a:buFont typeface="Wingdings" panose="05000000000000000000" pitchFamily="2" charset="2"/>
              <a:buChar char="n"/>
            </a:pPr>
            <a:r>
              <a:rPr lang="zh-CN" altLang="en-US" sz="2200"/>
              <a:t>明确信息系统安全建设的目的</a:t>
            </a:r>
            <a:r>
              <a:rPr lang="en-US" altLang="zh-CN" sz="2200"/>
              <a:t>,</a:t>
            </a:r>
            <a:r>
              <a:rPr lang="zh-CN" altLang="en-US" sz="2200"/>
              <a:t>对信息系统安全建设实现的可能性进行</a:t>
            </a:r>
            <a:r>
              <a:rPr lang="zh-CN" altLang="en-US" sz="2200" b="1">
                <a:solidFill>
                  <a:srgbClr val="CC0000"/>
                </a:solidFill>
              </a:rPr>
              <a:t>分析论证</a:t>
            </a:r>
            <a:r>
              <a:rPr lang="zh-CN" altLang="en-US" sz="2200"/>
              <a:t>并</a:t>
            </a:r>
            <a:r>
              <a:rPr lang="zh-CN" altLang="en-US" sz="2200" b="1">
                <a:solidFill>
                  <a:srgbClr val="CC0000"/>
                </a:solidFill>
              </a:rPr>
              <a:t>设计</a:t>
            </a:r>
            <a:r>
              <a:rPr lang="zh-CN" altLang="en-US" sz="2200"/>
              <a:t>出</a:t>
            </a:r>
            <a:r>
              <a:rPr lang="zh-CN" altLang="en-US" sz="2200" b="1">
                <a:solidFill>
                  <a:srgbClr val="CC0000"/>
                </a:solidFill>
              </a:rPr>
              <a:t>总体安全规划</a:t>
            </a:r>
            <a:r>
              <a:rPr lang="zh-CN" altLang="en-US" sz="2200"/>
              <a:t>方案。</a:t>
            </a:r>
            <a:endParaRPr lang="zh-CN" altLang="en-US" sz="2200"/>
          </a:p>
          <a:p>
            <a:pPr lvl="1">
              <a:buFont typeface="Wingdings" panose="05000000000000000000" pitchFamily="2" charset="2"/>
              <a:buChar char="n"/>
            </a:pPr>
            <a:r>
              <a:rPr lang="zh-CN" altLang="en-US" sz="2200"/>
              <a:t>为了保证安全目标的实现，需要对信息系统规划阶段中可能引入安全风险的环节进行风险管理，从而降低在项目后期处理相同安全风险所带来的高额成本。</a:t>
            </a:r>
            <a:endParaRPr lang="zh-CN" altLang="en-US" sz="2200"/>
          </a:p>
        </p:txBody>
      </p:sp>
      <p:sp>
        <p:nvSpPr>
          <p:cNvPr id="609283" name="AutoShape 3"/>
          <p:cNvSpPr>
            <a:spLocks noChangeArrowheads="1"/>
          </p:cNvSpPr>
          <p:nvPr/>
        </p:nvSpPr>
        <p:spPr bwMode="ltGray">
          <a:xfrm>
            <a:off x="2887663" y="1861503"/>
            <a:ext cx="1358900" cy="702944"/>
          </a:xfrm>
          <a:prstGeom prst="chevron">
            <a:avLst>
              <a:gd name="adj" fmla="val 73201"/>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dirty="0">
                <a:solidFill>
                  <a:srgbClr val="FF0000"/>
                </a:solidFill>
                <a:latin typeface="+mn-ea"/>
                <a:ea typeface="+mn-ea"/>
              </a:rPr>
              <a:t>规划</a:t>
            </a:r>
            <a:endParaRPr lang="zh-CN" altLang="en-US" sz="2000" b="1" dirty="0">
              <a:solidFill>
                <a:srgbClr val="FF0000"/>
              </a:solidFill>
              <a:latin typeface="+mn-ea"/>
              <a:ea typeface="+mn-ea"/>
            </a:endParaRPr>
          </a:p>
        </p:txBody>
      </p:sp>
      <p:sp>
        <p:nvSpPr>
          <p:cNvPr id="609284" name="AutoShape 4"/>
          <p:cNvSpPr>
            <a:spLocks noChangeArrowheads="1"/>
          </p:cNvSpPr>
          <p:nvPr/>
        </p:nvSpPr>
        <p:spPr bwMode="ltGray">
          <a:xfrm>
            <a:off x="4219575" y="1845628"/>
            <a:ext cx="1360488" cy="702944"/>
          </a:xfrm>
          <a:prstGeom prst="chevron">
            <a:avLst>
              <a:gd name="adj" fmla="val 73279"/>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设计</a:t>
            </a:r>
            <a:endParaRPr lang="zh-CN" altLang="en-US" sz="2000" b="1">
              <a:latin typeface="+mn-ea"/>
              <a:ea typeface="+mn-ea"/>
            </a:endParaRPr>
          </a:p>
        </p:txBody>
      </p:sp>
      <p:sp>
        <p:nvSpPr>
          <p:cNvPr id="609285" name="AutoShape 5"/>
          <p:cNvSpPr>
            <a:spLocks noChangeArrowheads="1"/>
          </p:cNvSpPr>
          <p:nvPr/>
        </p:nvSpPr>
        <p:spPr bwMode="ltGray">
          <a:xfrm>
            <a:off x="5548313" y="1845628"/>
            <a:ext cx="1358900" cy="702944"/>
          </a:xfrm>
          <a:prstGeom prst="chevron">
            <a:avLst>
              <a:gd name="adj" fmla="val 73201"/>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实施</a:t>
            </a:r>
            <a:endParaRPr lang="en-US" altLang="zh-CN" sz="2000" b="1">
              <a:latin typeface="+mn-ea"/>
              <a:ea typeface="+mn-ea"/>
            </a:endParaRPr>
          </a:p>
        </p:txBody>
      </p:sp>
      <p:sp>
        <p:nvSpPr>
          <p:cNvPr id="609286" name="AutoShape 6"/>
          <p:cNvSpPr>
            <a:spLocks noChangeArrowheads="1"/>
          </p:cNvSpPr>
          <p:nvPr/>
        </p:nvSpPr>
        <p:spPr bwMode="ltGray">
          <a:xfrm>
            <a:off x="6811963" y="1845628"/>
            <a:ext cx="1357312" cy="702944"/>
          </a:xfrm>
          <a:prstGeom prst="chevron">
            <a:avLst>
              <a:gd name="adj" fmla="val 73123"/>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运维</a:t>
            </a:r>
            <a:endParaRPr lang="en-US" altLang="zh-CN" sz="2000" b="1">
              <a:latin typeface="+mn-ea"/>
              <a:ea typeface="+mn-ea"/>
            </a:endParaRPr>
          </a:p>
        </p:txBody>
      </p:sp>
      <p:sp>
        <p:nvSpPr>
          <p:cNvPr id="609287" name="AutoShape 7"/>
          <p:cNvSpPr>
            <a:spLocks noChangeArrowheads="1"/>
          </p:cNvSpPr>
          <p:nvPr/>
        </p:nvSpPr>
        <p:spPr bwMode="ltGray">
          <a:xfrm>
            <a:off x="8140700" y="1845628"/>
            <a:ext cx="1355725" cy="702944"/>
          </a:xfrm>
          <a:prstGeom prst="chevron">
            <a:avLst>
              <a:gd name="adj" fmla="val 73045"/>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废弃</a:t>
            </a:r>
            <a:endParaRPr lang="zh-CN" altLang="en-US" sz="2000" b="1">
              <a:latin typeface="+mn-ea"/>
              <a:ea typeface="+mn-ea"/>
            </a:endParaRPr>
          </a:p>
        </p:txBody>
      </p:sp>
      <p:sp>
        <p:nvSpPr>
          <p:cNvPr id="81928" name="Rectangle 10"/>
          <p:cNvSpPr>
            <a:spLocks noGrp="1" noChangeArrowheads="1"/>
          </p:cNvSpPr>
          <p:nvPr>
            <p:ph type="title"/>
          </p:nvPr>
        </p:nvSpPr>
        <p:spPr>
          <a:xfrm>
            <a:off x="1968500" y="908050"/>
            <a:ext cx="8448675" cy="487363"/>
          </a:xfrm>
        </p:spPr>
        <p:txBody>
          <a:bodyPr/>
          <a:lstStyle/>
          <a:p>
            <a:r>
              <a:rPr lang="zh-CN" altLang="en-US">
                <a:solidFill>
                  <a:srgbClr val="FF0000"/>
                </a:solidFill>
              </a:rPr>
              <a:t>系统规划阶段的网络空间安全风险管理目标</a:t>
            </a:r>
            <a:endParaRPr lang="en-US" altLang="zh-CN">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5400000">
                                      <p:cBhvr>
                                        <p:cTn id="6" dur="1000" fill="hold"/>
                                        <p:tgtEl>
                                          <p:spTgt spid="609283"/>
                                        </p:tgtEl>
                                        <p:attrNameLst>
                                          <p:attrName>r</p:attrName>
                                        </p:attrNameLst>
                                      </p:cBhvr>
                                    </p:animRot>
                                  </p:childTnLst>
                                </p:cTn>
                              </p:par>
                            </p:childTnLst>
                          </p:cTn>
                        </p:par>
                        <p:par>
                          <p:cTn id="7" fill="hold">
                            <p:stCondLst>
                              <p:cond delay="1000"/>
                            </p:stCondLst>
                            <p:childTnLst>
                              <p:par>
                                <p:cTn id="8" presetID="53" presetClass="entr" presetSubtype="16" fill="hold" grpId="0" nodeType="afterEffect">
                                  <p:stCondLst>
                                    <p:cond delay="0"/>
                                  </p:stCondLst>
                                  <p:childTnLst>
                                    <p:set>
                                      <p:cBhvr>
                                        <p:cTn id="9" dur="1" fill="hold">
                                          <p:stCondLst>
                                            <p:cond delay="0"/>
                                          </p:stCondLst>
                                        </p:cTn>
                                        <p:tgtEl>
                                          <p:spTgt spid="1611779">
                                            <p:txEl>
                                              <p:pRg st="0" end="0"/>
                                            </p:txEl>
                                          </p:spTgt>
                                        </p:tgtEl>
                                        <p:attrNameLst>
                                          <p:attrName>style.visibility</p:attrName>
                                        </p:attrNameLst>
                                      </p:cBhvr>
                                      <p:to>
                                        <p:strVal val="visible"/>
                                      </p:to>
                                    </p:set>
                                    <p:anim calcmode="lin" valueType="num">
                                      <p:cBhvr>
                                        <p:cTn id="10" dur="500" fill="hold"/>
                                        <p:tgtEl>
                                          <p:spTgt spid="1611779">
                                            <p:txEl>
                                              <p:pRg st="0" end="0"/>
                                            </p:txEl>
                                          </p:spTgt>
                                        </p:tgtEl>
                                        <p:attrNameLst>
                                          <p:attrName>ppt_w</p:attrName>
                                        </p:attrNameLst>
                                      </p:cBhvr>
                                      <p:tavLst>
                                        <p:tav tm="0">
                                          <p:val>
                                            <p:fltVal val="0"/>
                                          </p:val>
                                        </p:tav>
                                        <p:tav tm="100000">
                                          <p:val>
                                            <p:strVal val="#ppt_w"/>
                                          </p:val>
                                        </p:tav>
                                      </p:tavLst>
                                    </p:anim>
                                    <p:anim calcmode="lin" valueType="num">
                                      <p:cBhvr>
                                        <p:cTn id="11" dur="500" fill="hold"/>
                                        <p:tgtEl>
                                          <p:spTgt spid="1611779">
                                            <p:txEl>
                                              <p:pRg st="0" end="0"/>
                                            </p:txEl>
                                          </p:spTgt>
                                        </p:tgtEl>
                                        <p:attrNameLst>
                                          <p:attrName>ppt_h</p:attrName>
                                        </p:attrNameLst>
                                      </p:cBhvr>
                                      <p:tavLst>
                                        <p:tav tm="0">
                                          <p:val>
                                            <p:fltVal val="0"/>
                                          </p:val>
                                        </p:tav>
                                        <p:tav tm="100000">
                                          <p:val>
                                            <p:strVal val="#ppt_h"/>
                                          </p:val>
                                        </p:tav>
                                      </p:tavLst>
                                    </p:anim>
                                    <p:animEffect transition="in" filter="fade">
                                      <p:cBhvr>
                                        <p:cTn id="12" dur="500"/>
                                        <p:tgtEl>
                                          <p:spTgt spid="1611779">
                                            <p:txEl>
                                              <p:pRg st="0" end="0"/>
                                            </p:txEl>
                                          </p:spTgt>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1611779">
                                            <p:txEl>
                                              <p:pRg st="1" end="1"/>
                                            </p:txEl>
                                          </p:spTgt>
                                        </p:tgtEl>
                                        <p:attrNameLst>
                                          <p:attrName>style.visibility</p:attrName>
                                        </p:attrNameLst>
                                      </p:cBhvr>
                                      <p:to>
                                        <p:strVal val="visible"/>
                                      </p:to>
                                    </p:set>
                                    <p:anim calcmode="lin" valueType="num">
                                      <p:cBhvr>
                                        <p:cTn id="16" dur="500" fill="hold"/>
                                        <p:tgtEl>
                                          <p:spTgt spid="1611779">
                                            <p:txEl>
                                              <p:pRg st="1" end="1"/>
                                            </p:txEl>
                                          </p:spTgt>
                                        </p:tgtEl>
                                        <p:attrNameLst>
                                          <p:attrName>ppt_w</p:attrName>
                                        </p:attrNameLst>
                                      </p:cBhvr>
                                      <p:tavLst>
                                        <p:tav tm="0">
                                          <p:val>
                                            <p:fltVal val="0"/>
                                          </p:val>
                                        </p:tav>
                                        <p:tav tm="100000">
                                          <p:val>
                                            <p:strVal val="#ppt_w"/>
                                          </p:val>
                                        </p:tav>
                                      </p:tavLst>
                                    </p:anim>
                                    <p:anim calcmode="lin" valueType="num">
                                      <p:cBhvr>
                                        <p:cTn id="17" dur="500" fill="hold"/>
                                        <p:tgtEl>
                                          <p:spTgt spid="1611779">
                                            <p:txEl>
                                              <p:pRg st="1" end="1"/>
                                            </p:txEl>
                                          </p:spTgt>
                                        </p:tgtEl>
                                        <p:attrNameLst>
                                          <p:attrName>ppt_h</p:attrName>
                                        </p:attrNameLst>
                                      </p:cBhvr>
                                      <p:tavLst>
                                        <p:tav tm="0">
                                          <p:val>
                                            <p:fltVal val="0"/>
                                          </p:val>
                                        </p:tav>
                                        <p:tav tm="100000">
                                          <p:val>
                                            <p:strVal val="#ppt_h"/>
                                          </p:val>
                                        </p:tav>
                                      </p:tavLst>
                                    </p:anim>
                                    <p:animEffect transition="in" filter="fade">
                                      <p:cBhvr>
                                        <p:cTn id="18" dur="500"/>
                                        <p:tgtEl>
                                          <p:spTgt spid="16117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1779" grpId="0" build="p"/>
      <p:bldP spid="609283"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605635" name="Group 3"/>
          <p:cNvGraphicFramePr>
            <a:graphicFrameLocks noGrp="1"/>
          </p:cNvGraphicFramePr>
          <p:nvPr>
            <p:ph idx="1"/>
          </p:nvPr>
        </p:nvGraphicFramePr>
        <p:xfrm>
          <a:off x="2016182" y="1916369"/>
          <a:ext cx="5507990" cy="3322320"/>
        </p:xfrm>
        <a:graphic>
          <a:graphicData uri="http://schemas.openxmlformats.org/drawingml/2006/table">
            <a:tbl>
              <a:tblPr>
                <a:effectLst>
                  <a:outerShdw blurRad="50800" dist="38100" dir="13500000" algn="br" rotWithShape="0">
                    <a:prstClr val="black">
                      <a:alpha val="40000"/>
                    </a:prstClr>
                  </a:outerShdw>
                </a:effectLst>
              </a:tblPr>
              <a:tblGrid>
                <a:gridCol w="749935"/>
                <a:gridCol w="2309495"/>
                <a:gridCol w="2448560"/>
              </a:tblGrid>
              <a:tr h="641350">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序号</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风险管理活动</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风险管理</a:t>
                      </a:r>
                      <a:r>
                        <a:rPr kumimoji="0"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工作内容</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40715">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明确安全总体方针</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背景建立</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40715">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安全需求分析</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背景建立</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99770">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风险评估准则达成一致</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风险评估</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99770">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安全实现论证分析</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风险处理、批准监督</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bl>
          </a:graphicData>
        </a:graphic>
      </p:graphicFrame>
      <p:sp>
        <p:nvSpPr>
          <p:cNvPr id="82947" name="Rectangle 10"/>
          <p:cNvSpPr>
            <a:spLocks noGrp="1" noChangeArrowheads="1"/>
          </p:cNvSpPr>
          <p:nvPr>
            <p:ph type="title"/>
          </p:nvPr>
        </p:nvSpPr>
        <p:spPr>
          <a:xfrm>
            <a:off x="2016125" y="576263"/>
            <a:ext cx="8229600" cy="954087"/>
          </a:xfrm>
        </p:spPr>
        <p:txBody>
          <a:bodyPr/>
          <a:lstStyle/>
          <a:p>
            <a:r>
              <a:rPr lang="zh-CN" altLang="en-US">
                <a:solidFill>
                  <a:srgbClr val="FF0000"/>
                </a:solidFill>
              </a:rPr>
              <a:t>系统规划阶段的网络空间安全风险管理</a:t>
            </a:r>
            <a:endParaRPr lang="en-US" altLang="zh-CN">
              <a:solidFill>
                <a:srgbClr val="FF0000"/>
              </a:solidFill>
            </a:endParaRPr>
          </a:p>
        </p:txBody>
      </p:sp>
      <p:sp>
        <p:nvSpPr>
          <p:cNvPr id="2" name="矩形标注 1"/>
          <p:cNvSpPr/>
          <p:nvPr/>
        </p:nvSpPr>
        <p:spPr>
          <a:xfrm>
            <a:off x="7700963" y="1660525"/>
            <a:ext cx="2844800" cy="971550"/>
          </a:xfrm>
          <a:prstGeom prst="wedgeRectCallout">
            <a:avLst>
              <a:gd name="adj1" fmla="val -63443"/>
              <a:gd name="adj2" fmla="val 60705"/>
            </a:avLst>
          </a:prstGeom>
          <a:solidFill>
            <a:srgbClr val="0070C0"/>
          </a:solidFill>
          <a:ln>
            <a:solidFill>
              <a:schemeClr val="tx2">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zh-CN" altLang="en-US" dirty="0"/>
              <a:t>条理、完整、明确性审查</a:t>
            </a:r>
            <a:endParaRPr lang="en-US" altLang="zh-CN" dirty="0"/>
          </a:p>
          <a:p>
            <a:pPr eaLnBrk="1" hangingPunct="1">
              <a:defRPr/>
            </a:pPr>
            <a:r>
              <a:rPr lang="zh-CN" altLang="en-US" dirty="0"/>
              <a:t>安全方针法律标准符合性审查</a:t>
            </a:r>
            <a:endParaRPr lang="zh-CN" altLang="en-US" dirty="0"/>
          </a:p>
        </p:txBody>
      </p:sp>
      <p:sp>
        <p:nvSpPr>
          <p:cNvPr id="6" name="矩形标注 5"/>
          <p:cNvSpPr/>
          <p:nvPr/>
        </p:nvSpPr>
        <p:spPr>
          <a:xfrm>
            <a:off x="7716838" y="2708275"/>
            <a:ext cx="2843212" cy="1260475"/>
          </a:xfrm>
          <a:prstGeom prst="wedgeRectCallout">
            <a:avLst>
              <a:gd name="adj1" fmla="val -65811"/>
              <a:gd name="adj2" fmla="val 6157"/>
            </a:avLst>
          </a:prstGeom>
          <a:solidFill>
            <a:srgbClr val="0070C0"/>
          </a:solidFill>
          <a:ln>
            <a:solidFill>
              <a:schemeClr val="tx2">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zh-CN" altLang="en-US" dirty="0"/>
              <a:t>需求分析条理、完整、明确性审查</a:t>
            </a:r>
            <a:endParaRPr lang="en-US" altLang="zh-CN" dirty="0"/>
          </a:p>
          <a:p>
            <a:pPr eaLnBrk="1" hangingPunct="1">
              <a:defRPr/>
            </a:pPr>
            <a:r>
              <a:rPr lang="zh-CN" altLang="en-US" dirty="0"/>
              <a:t>审查是否通过风险评估来确认需求准确</a:t>
            </a:r>
            <a:endParaRPr lang="en-US" altLang="zh-CN" dirty="0"/>
          </a:p>
        </p:txBody>
      </p:sp>
      <p:sp>
        <p:nvSpPr>
          <p:cNvPr id="7" name="矩形标注 6"/>
          <p:cNvSpPr/>
          <p:nvPr/>
        </p:nvSpPr>
        <p:spPr>
          <a:xfrm>
            <a:off x="7716838" y="4076700"/>
            <a:ext cx="2843212" cy="928688"/>
          </a:xfrm>
          <a:prstGeom prst="wedgeRectCallout">
            <a:avLst>
              <a:gd name="adj1" fmla="val -64562"/>
              <a:gd name="adj2" fmla="val -38122"/>
            </a:avLst>
          </a:prstGeom>
          <a:solidFill>
            <a:srgbClr val="0070C0"/>
          </a:solidFill>
          <a:ln>
            <a:solidFill>
              <a:schemeClr val="tx2">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zh-CN" altLang="en-US" dirty="0"/>
              <a:t>条理、完整、明确性审查通过调研确定风险评估准则是否获得一致的认可</a:t>
            </a:r>
            <a:endParaRPr lang="en-US" altLang="zh-CN" dirty="0"/>
          </a:p>
        </p:txBody>
      </p:sp>
      <p:sp>
        <p:nvSpPr>
          <p:cNvPr id="8" name="矩形标注 7"/>
          <p:cNvSpPr/>
          <p:nvPr/>
        </p:nvSpPr>
        <p:spPr>
          <a:xfrm>
            <a:off x="7702550" y="5165725"/>
            <a:ext cx="2843213" cy="927100"/>
          </a:xfrm>
          <a:prstGeom prst="wedgeRectCallout">
            <a:avLst>
              <a:gd name="adj1" fmla="val -66552"/>
              <a:gd name="adj2" fmla="val -63932"/>
            </a:avLst>
          </a:prstGeom>
          <a:solidFill>
            <a:srgbClr val="0070C0"/>
          </a:solidFill>
          <a:ln>
            <a:solidFill>
              <a:schemeClr val="tx2">
                <a:lumMod val="75000"/>
              </a:schemeClr>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zh-CN" altLang="en-US" dirty="0"/>
              <a:t>条理、完整、明确性审查信息系统信息描述（使用信息、运行环境）</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05635"/>
                                        </p:tgtEl>
                                        <p:attrNameLst>
                                          <p:attrName>style.visibility</p:attrName>
                                        </p:attrNameLst>
                                      </p:cBhvr>
                                      <p:to>
                                        <p:strVal val="visible"/>
                                      </p:to>
                                    </p:set>
                                    <p:anim calcmode="lin" valueType="num">
                                      <p:cBhvr additive="base">
                                        <p:cTn id="7" dur="500" fill="hold"/>
                                        <p:tgtEl>
                                          <p:spTgt spid="1605635"/>
                                        </p:tgtEl>
                                        <p:attrNameLst>
                                          <p:attrName>ppt_x</p:attrName>
                                        </p:attrNameLst>
                                      </p:cBhvr>
                                      <p:tavLst>
                                        <p:tav tm="0">
                                          <p:val>
                                            <p:strVal val="#ppt_x"/>
                                          </p:val>
                                        </p:tav>
                                        <p:tav tm="100000">
                                          <p:val>
                                            <p:strVal val="#ppt_x"/>
                                          </p:val>
                                        </p:tav>
                                      </p:tavLst>
                                    </p:anim>
                                    <p:anim calcmode="lin" valueType="num">
                                      <p:cBhvr additive="base">
                                        <p:cTn id="8" dur="500" fill="hold"/>
                                        <p:tgtEl>
                                          <p:spTgt spid="160563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randombar(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ircle(in)">
                                      <p:cBhvr>
                                        <p:cTn id="18" dur="20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arn(inVertic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31"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1000" fill="hold"/>
                                        <p:tgtEl>
                                          <p:spTgt spid="8"/>
                                        </p:tgtEl>
                                        <p:attrNameLst>
                                          <p:attrName>ppt_w</p:attrName>
                                        </p:attrNameLst>
                                      </p:cBhvr>
                                      <p:tavLst>
                                        <p:tav tm="0">
                                          <p:val>
                                            <p:fltVal val="0"/>
                                          </p:val>
                                        </p:tav>
                                        <p:tav tm="100000">
                                          <p:val>
                                            <p:strVal val="#ppt_w"/>
                                          </p:val>
                                        </p:tav>
                                      </p:tavLst>
                                    </p:anim>
                                    <p:anim calcmode="lin" valueType="num">
                                      <p:cBhvr>
                                        <p:cTn id="29" dur="1000" fill="hold"/>
                                        <p:tgtEl>
                                          <p:spTgt spid="8"/>
                                        </p:tgtEl>
                                        <p:attrNameLst>
                                          <p:attrName>ppt_h</p:attrName>
                                        </p:attrNameLst>
                                      </p:cBhvr>
                                      <p:tavLst>
                                        <p:tav tm="0">
                                          <p:val>
                                            <p:fltVal val="0"/>
                                          </p:val>
                                        </p:tav>
                                        <p:tav tm="100000">
                                          <p:val>
                                            <p:strVal val="#ppt_h"/>
                                          </p:val>
                                        </p:tav>
                                      </p:tavLst>
                                    </p:anim>
                                    <p:anim calcmode="lin" valueType="num">
                                      <p:cBhvr>
                                        <p:cTn id="30" dur="1000" fill="hold"/>
                                        <p:tgtEl>
                                          <p:spTgt spid="8"/>
                                        </p:tgtEl>
                                        <p:attrNameLst>
                                          <p:attrName>style.rotation</p:attrName>
                                        </p:attrNameLst>
                                      </p:cBhvr>
                                      <p:tavLst>
                                        <p:tav tm="0">
                                          <p:val>
                                            <p:fltVal val="90"/>
                                          </p:val>
                                        </p:tav>
                                        <p:tav tm="100000">
                                          <p:val>
                                            <p:fltVal val="0"/>
                                          </p:val>
                                        </p:tav>
                                      </p:tavLst>
                                    </p:anim>
                                    <p:animEffect transition="in" filter="fade">
                                      <p:cBhvr>
                                        <p:cTn id="3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6" grpId="0" bldLvl="0" animBg="1"/>
      <p:bldP spid="7" grpId="0" bldLvl="0" animBg="1"/>
      <p:bldP spid="8"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12802" name="Rectangle 2"/>
          <p:cNvSpPr>
            <a:spLocks noGrp="1" noChangeArrowheads="1"/>
          </p:cNvSpPr>
          <p:nvPr>
            <p:ph type="body" idx="1"/>
          </p:nvPr>
        </p:nvSpPr>
        <p:spPr>
          <a:xfrm>
            <a:off x="2135188" y="2924175"/>
            <a:ext cx="8242300" cy="3168650"/>
          </a:xfrm>
        </p:spPr>
        <p:txBody>
          <a:bodyPr/>
          <a:lstStyle/>
          <a:p>
            <a:pPr lvl="1">
              <a:buFont typeface="Wingdings" panose="05000000000000000000" pitchFamily="2" charset="2"/>
              <a:buChar char="n"/>
            </a:pPr>
            <a:r>
              <a:rPr lang="zh-CN" altLang="en-US" sz="2400"/>
              <a:t>依据规划阶段输出的总体安全规划方案来</a:t>
            </a:r>
            <a:r>
              <a:rPr lang="zh-CN" altLang="en-US" sz="2400" b="1">
                <a:solidFill>
                  <a:srgbClr val="CC0000"/>
                </a:solidFill>
              </a:rPr>
              <a:t>设计信息系统安全的实现结构</a:t>
            </a:r>
            <a:r>
              <a:rPr lang="zh-CN" altLang="en-US" sz="2400"/>
              <a:t>（包括功能划分、接口协议和性能指标等）</a:t>
            </a:r>
            <a:r>
              <a:rPr lang="zh-CN" altLang="en-US" sz="2400" b="1">
                <a:solidFill>
                  <a:srgbClr val="CC0000"/>
                </a:solidFill>
              </a:rPr>
              <a:t>和实施方案</a:t>
            </a:r>
            <a:r>
              <a:rPr lang="zh-CN" altLang="en-US" sz="2400"/>
              <a:t>（包括实现技术、设备选型和系统集成等）。</a:t>
            </a:r>
            <a:endParaRPr lang="zh-CN" altLang="en-US" sz="2400"/>
          </a:p>
          <a:p>
            <a:pPr lvl="1">
              <a:buFont typeface="Wingdings" panose="05000000000000000000" pitchFamily="2" charset="2"/>
              <a:buChar char="n"/>
            </a:pPr>
            <a:r>
              <a:rPr lang="zh-CN" altLang="en-US" sz="2400"/>
              <a:t>在设计信息系统的实现结构和实施方案时，在技术的选择、配合、管理等众多的环节均容易引入安全风险，因此对关键的环节应提出必要的安全要求并有针对性地进行安全风险管理。</a:t>
            </a:r>
            <a:endParaRPr lang="zh-CN" altLang="en-US"/>
          </a:p>
        </p:txBody>
      </p:sp>
      <p:sp>
        <p:nvSpPr>
          <p:cNvPr id="609283" name="AutoShape 3"/>
          <p:cNvSpPr>
            <a:spLocks noChangeArrowheads="1"/>
          </p:cNvSpPr>
          <p:nvPr/>
        </p:nvSpPr>
        <p:spPr bwMode="ltGray">
          <a:xfrm>
            <a:off x="2844800" y="1847216"/>
            <a:ext cx="1401763" cy="394969"/>
          </a:xfrm>
          <a:prstGeom prst="chevron">
            <a:avLst>
              <a:gd name="adj" fmla="val 73201"/>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dirty="0">
                <a:latin typeface="+mn-ea"/>
                <a:ea typeface="+mn-ea"/>
              </a:rPr>
              <a:t>规划</a:t>
            </a:r>
            <a:endParaRPr lang="zh-CN" altLang="en-US" sz="2000" b="1" dirty="0">
              <a:latin typeface="+mn-ea"/>
              <a:ea typeface="+mn-ea"/>
            </a:endParaRPr>
          </a:p>
        </p:txBody>
      </p:sp>
      <p:sp>
        <p:nvSpPr>
          <p:cNvPr id="609284" name="AutoShape 4"/>
          <p:cNvSpPr>
            <a:spLocks noChangeArrowheads="1"/>
          </p:cNvSpPr>
          <p:nvPr/>
        </p:nvSpPr>
        <p:spPr bwMode="ltGray">
          <a:xfrm>
            <a:off x="4176713" y="1830547"/>
            <a:ext cx="1403350" cy="394969"/>
          </a:xfrm>
          <a:prstGeom prst="chevron">
            <a:avLst>
              <a:gd name="adj" fmla="val 73279"/>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dirty="0">
                <a:solidFill>
                  <a:srgbClr val="FF0000"/>
                </a:solidFill>
                <a:latin typeface="+mn-ea"/>
                <a:ea typeface="+mn-ea"/>
              </a:rPr>
              <a:t>设计</a:t>
            </a:r>
            <a:endParaRPr lang="zh-CN" altLang="en-US" sz="2000" b="1" dirty="0">
              <a:solidFill>
                <a:srgbClr val="FF0000"/>
              </a:solidFill>
              <a:latin typeface="+mn-ea"/>
              <a:ea typeface="+mn-ea"/>
            </a:endParaRPr>
          </a:p>
        </p:txBody>
      </p:sp>
      <p:sp>
        <p:nvSpPr>
          <p:cNvPr id="609285" name="AutoShape 5"/>
          <p:cNvSpPr>
            <a:spLocks noChangeArrowheads="1"/>
          </p:cNvSpPr>
          <p:nvPr/>
        </p:nvSpPr>
        <p:spPr bwMode="ltGray">
          <a:xfrm>
            <a:off x="5505450" y="1830547"/>
            <a:ext cx="1401763" cy="394969"/>
          </a:xfrm>
          <a:prstGeom prst="chevron">
            <a:avLst>
              <a:gd name="adj" fmla="val 73201"/>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实施</a:t>
            </a:r>
            <a:endParaRPr lang="en-US" altLang="zh-CN" sz="2000" b="1">
              <a:latin typeface="+mn-ea"/>
              <a:ea typeface="+mn-ea"/>
            </a:endParaRPr>
          </a:p>
        </p:txBody>
      </p:sp>
      <p:sp>
        <p:nvSpPr>
          <p:cNvPr id="609286" name="AutoShape 6"/>
          <p:cNvSpPr>
            <a:spLocks noChangeArrowheads="1"/>
          </p:cNvSpPr>
          <p:nvPr/>
        </p:nvSpPr>
        <p:spPr bwMode="ltGray">
          <a:xfrm>
            <a:off x="6856413" y="1830547"/>
            <a:ext cx="1400175" cy="394969"/>
          </a:xfrm>
          <a:prstGeom prst="chevron">
            <a:avLst>
              <a:gd name="adj" fmla="val 73123"/>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运维</a:t>
            </a:r>
            <a:endParaRPr lang="en-US" altLang="zh-CN" sz="2000" b="1">
              <a:latin typeface="+mn-ea"/>
              <a:ea typeface="+mn-ea"/>
            </a:endParaRPr>
          </a:p>
        </p:txBody>
      </p:sp>
      <p:sp>
        <p:nvSpPr>
          <p:cNvPr id="609287" name="AutoShape 7"/>
          <p:cNvSpPr>
            <a:spLocks noChangeArrowheads="1"/>
          </p:cNvSpPr>
          <p:nvPr/>
        </p:nvSpPr>
        <p:spPr bwMode="ltGray">
          <a:xfrm>
            <a:off x="8226425" y="1830547"/>
            <a:ext cx="1398588" cy="394969"/>
          </a:xfrm>
          <a:prstGeom prst="chevron">
            <a:avLst>
              <a:gd name="adj" fmla="val 73045"/>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dirty="0">
                <a:latin typeface="+mn-ea"/>
                <a:ea typeface="+mn-ea"/>
              </a:rPr>
              <a:t>废弃</a:t>
            </a:r>
            <a:endParaRPr lang="zh-CN" altLang="en-US" sz="2000" b="1" dirty="0">
              <a:latin typeface="+mn-ea"/>
              <a:ea typeface="+mn-ea"/>
            </a:endParaRPr>
          </a:p>
        </p:txBody>
      </p:sp>
      <p:sp>
        <p:nvSpPr>
          <p:cNvPr id="85000" name="Rectangle 8"/>
          <p:cNvSpPr>
            <a:spLocks noGrp="1" noChangeArrowheads="1"/>
          </p:cNvSpPr>
          <p:nvPr>
            <p:ph type="title"/>
          </p:nvPr>
        </p:nvSpPr>
        <p:spPr>
          <a:xfrm>
            <a:off x="2324100" y="765175"/>
            <a:ext cx="6513513" cy="487363"/>
          </a:xfrm>
        </p:spPr>
        <p:txBody>
          <a:bodyPr/>
          <a:lstStyle/>
          <a:p>
            <a:r>
              <a:rPr lang="zh-CN" altLang="en-US">
                <a:solidFill>
                  <a:srgbClr val="FF0000"/>
                </a:solidFill>
              </a:rPr>
              <a:t>风险管理的目标</a:t>
            </a:r>
            <a:endParaRPr lang="en-US" altLang="zh-CN">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5400000">
                                      <p:cBhvr>
                                        <p:cTn id="6" dur="1000" fill="hold"/>
                                        <p:tgtEl>
                                          <p:spTgt spid="609284"/>
                                        </p:tgtEl>
                                        <p:attrNameLst>
                                          <p:attrName>r</p:attrName>
                                        </p:attrNameLst>
                                      </p:cBhvr>
                                    </p:animRot>
                                  </p:childTnLst>
                                </p:cTn>
                              </p:par>
                            </p:childTnLst>
                          </p:cTn>
                        </p:par>
                        <p:par>
                          <p:cTn id="7" fill="hold">
                            <p:stCondLst>
                              <p:cond delay="1000"/>
                            </p:stCondLst>
                            <p:childTnLst>
                              <p:par>
                                <p:cTn id="8" presetID="4" presetClass="entr" presetSubtype="16" fill="hold" grpId="0" nodeType="afterEffect">
                                  <p:stCondLst>
                                    <p:cond delay="0"/>
                                  </p:stCondLst>
                                  <p:childTnLst>
                                    <p:set>
                                      <p:cBhvr>
                                        <p:cTn id="9" dur="1" fill="hold">
                                          <p:stCondLst>
                                            <p:cond delay="0"/>
                                          </p:stCondLst>
                                        </p:cTn>
                                        <p:tgtEl>
                                          <p:spTgt spid="1612802">
                                            <p:txEl>
                                              <p:pRg st="0" end="0"/>
                                            </p:txEl>
                                          </p:spTgt>
                                        </p:tgtEl>
                                        <p:attrNameLst>
                                          <p:attrName>style.visibility</p:attrName>
                                        </p:attrNameLst>
                                      </p:cBhvr>
                                      <p:to>
                                        <p:strVal val="visible"/>
                                      </p:to>
                                    </p:set>
                                    <p:animEffect transition="in" filter="box(in)">
                                      <p:cBhvr>
                                        <p:cTn id="10" dur="500"/>
                                        <p:tgtEl>
                                          <p:spTgt spid="1612802">
                                            <p:txEl>
                                              <p:pRg st="0" end="0"/>
                                            </p:txEl>
                                          </p:spTgt>
                                        </p:tgtEl>
                                      </p:cBhvr>
                                    </p:animEffect>
                                  </p:childTnLst>
                                </p:cTn>
                              </p:par>
                            </p:childTnLst>
                          </p:cTn>
                        </p:par>
                        <p:par>
                          <p:cTn id="11" fill="hold">
                            <p:stCondLst>
                              <p:cond delay="1500"/>
                            </p:stCondLst>
                            <p:childTnLst>
                              <p:par>
                                <p:cTn id="12" presetID="4" presetClass="entr" presetSubtype="16" fill="hold" grpId="0" nodeType="afterEffect">
                                  <p:stCondLst>
                                    <p:cond delay="0"/>
                                  </p:stCondLst>
                                  <p:childTnLst>
                                    <p:set>
                                      <p:cBhvr>
                                        <p:cTn id="13" dur="1" fill="hold">
                                          <p:stCondLst>
                                            <p:cond delay="0"/>
                                          </p:stCondLst>
                                        </p:cTn>
                                        <p:tgtEl>
                                          <p:spTgt spid="1612802">
                                            <p:txEl>
                                              <p:pRg st="1" end="1"/>
                                            </p:txEl>
                                          </p:spTgt>
                                        </p:tgtEl>
                                        <p:attrNameLst>
                                          <p:attrName>style.visibility</p:attrName>
                                        </p:attrNameLst>
                                      </p:cBhvr>
                                      <p:to>
                                        <p:strVal val="visible"/>
                                      </p:to>
                                    </p:set>
                                    <p:animEffect transition="in" filter="box(in)">
                                      <p:cBhvr>
                                        <p:cTn id="14" dur="500"/>
                                        <p:tgtEl>
                                          <p:spTgt spid="161280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2802" grpId="0" build="p"/>
      <p:bldP spid="609284"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2019300" y="828675"/>
            <a:ext cx="8229600" cy="954088"/>
          </a:xfrm>
        </p:spPr>
        <p:txBody>
          <a:bodyPr/>
          <a:lstStyle/>
          <a:p>
            <a:r>
              <a:rPr lang="zh-CN" altLang="en-US">
                <a:solidFill>
                  <a:srgbClr val="FF0000"/>
                </a:solidFill>
              </a:rPr>
              <a:t>信息系统设计阶段的网络空间安全风险管理 </a:t>
            </a:r>
            <a:endParaRPr lang="zh-CN" altLang="en-US">
              <a:solidFill>
                <a:srgbClr val="FF0000"/>
              </a:solidFill>
            </a:endParaRPr>
          </a:p>
        </p:txBody>
      </p:sp>
      <p:graphicFrame>
        <p:nvGraphicFramePr>
          <p:cNvPr id="1606685" name="Group 29"/>
          <p:cNvGraphicFramePr>
            <a:graphicFrameLocks noGrp="1"/>
          </p:cNvGraphicFramePr>
          <p:nvPr>
            <p:ph idx="1"/>
          </p:nvPr>
        </p:nvGraphicFramePr>
        <p:xfrm>
          <a:off x="2639616" y="1988840"/>
          <a:ext cx="6825615" cy="3228975"/>
        </p:xfrm>
        <a:graphic>
          <a:graphicData uri="http://schemas.openxmlformats.org/drawingml/2006/table">
            <a:tbl>
              <a:tblPr>
                <a:effectLst>
                  <a:outerShdw blurRad="50800" dist="38100" dir="2700000" algn="tl" rotWithShape="0">
                    <a:prstClr val="black">
                      <a:alpha val="40000"/>
                    </a:prstClr>
                  </a:outerShdw>
                </a:effectLst>
              </a:tblPr>
              <a:tblGrid>
                <a:gridCol w="827405"/>
                <a:gridCol w="2606675"/>
                <a:gridCol w="3391535"/>
              </a:tblGrid>
              <a:tr h="631736">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序号</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风险管理活动</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风险管理</a:t>
                      </a:r>
                      <a:r>
                        <a:rPr kumimoji="0"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工作内容</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32870">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设计方案分析论证</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背景建立、风险评估</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31736">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安全技术选择</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风险处理</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32870">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安全产品选择</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风险处理</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31736">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自开发软件设计风险处理</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风险处理</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606685"/>
                                        </p:tgtEl>
                                        <p:attrNameLst>
                                          <p:attrName>style.visibility</p:attrName>
                                        </p:attrNameLst>
                                      </p:cBhvr>
                                      <p:to>
                                        <p:strVal val="visible"/>
                                      </p:to>
                                    </p:set>
                                    <p:anim calcmode="lin" valueType="num">
                                      <p:cBhvr>
                                        <p:cTn id="7" dur="500" fill="hold"/>
                                        <p:tgtEl>
                                          <p:spTgt spid="1606685"/>
                                        </p:tgtEl>
                                        <p:attrNameLst>
                                          <p:attrName>ppt_w</p:attrName>
                                        </p:attrNameLst>
                                      </p:cBhvr>
                                      <p:tavLst>
                                        <p:tav tm="0">
                                          <p:val>
                                            <p:fltVal val="0"/>
                                          </p:val>
                                        </p:tav>
                                        <p:tav tm="100000">
                                          <p:val>
                                            <p:strVal val="#ppt_w"/>
                                          </p:val>
                                        </p:tav>
                                      </p:tavLst>
                                    </p:anim>
                                    <p:anim calcmode="lin" valueType="num">
                                      <p:cBhvr>
                                        <p:cTn id="8" dur="500" fill="hold"/>
                                        <p:tgtEl>
                                          <p:spTgt spid="1606685"/>
                                        </p:tgtEl>
                                        <p:attrNameLst>
                                          <p:attrName>ppt_h</p:attrName>
                                        </p:attrNameLst>
                                      </p:cBhvr>
                                      <p:tavLst>
                                        <p:tav tm="0">
                                          <p:val>
                                            <p:fltVal val="0"/>
                                          </p:val>
                                        </p:tav>
                                        <p:tav tm="100000">
                                          <p:val>
                                            <p:strVal val="#ppt_h"/>
                                          </p:val>
                                        </p:tav>
                                      </p:tavLst>
                                    </p:anim>
                                    <p:animEffect transition="in" filter="fade">
                                      <p:cBhvr>
                                        <p:cTn id="9" dur="500"/>
                                        <p:tgtEl>
                                          <p:spTgt spid="1606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13826" name="Rectangle 2"/>
          <p:cNvSpPr>
            <a:spLocks noGrp="1" noChangeArrowheads="1"/>
          </p:cNvSpPr>
          <p:nvPr>
            <p:ph type="body" idx="1"/>
          </p:nvPr>
        </p:nvSpPr>
        <p:spPr>
          <a:xfrm>
            <a:off x="2063750" y="2636838"/>
            <a:ext cx="8191500" cy="2852737"/>
          </a:xfrm>
        </p:spPr>
        <p:txBody>
          <a:bodyPr/>
          <a:lstStyle/>
          <a:p>
            <a:r>
              <a:rPr lang="zh-CN" altLang="en-US"/>
              <a:t>按照规划和设计阶段所定义的信息系统安全实施方案</a:t>
            </a:r>
            <a:endParaRPr lang="zh-CN" altLang="en-US"/>
          </a:p>
          <a:p>
            <a:pPr lvl="1"/>
            <a:r>
              <a:rPr lang="zh-CN" altLang="en-US" sz="2400" b="1">
                <a:solidFill>
                  <a:srgbClr val="CC0000"/>
                </a:solidFill>
              </a:rPr>
              <a:t>采购</a:t>
            </a:r>
            <a:r>
              <a:rPr lang="zh-CN" altLang="en-US" sz="2400"/>
              <a:t>设备和软件，</a:t>
            </a:r>
            <a:r>
              <a:rPr lang="zh-CN" altLang="en-US" sz="2400" b="1">
                <a:solidFill>
                  <a:srgbClr val="CC0000"/>
                </a:solidFill>
              </a:rPr>
              <a:t>开发</a:t>
            </a:r>
            <a:r>
              <a:rPr lang="zh-CN" altLang="en-US" sz="2400"/>
              <a:t>定制功能</a:t>
            </a:r>
            <a:endParaRPr lang="zh-CN" altLang="en-US" sz="2400"/>
          </a:p>
          <a:p>
            <a:pPr lvl="1"/>
            <a:r>
              <a:rPr lang="zh-CN" altLang="en-US" sz="2400" b="1">
                <a:solidFill>
                  <a:srgbClr val="CC0000"/>
                </a:solidFill>
              </a:rPr>
              <a:t>集成、部署、配置和测试</a:t>
            </a:r>
            <a:r>
              <a:rPr lang="zh-CN" altLang="en-US" sz="2400"/>
              <a:t>信息系统的安全机制</a:t>
            </a:r>
            <a:endParaRPr lang="zh-CN" altLang="en-US" sz="2400"/>
          </a:p>
          <a:p>
            <a:pPr lvl="1"/>
            <a:r>
              <a:rPr lang="zh-CN" altLang="en-US" sz="2400" b="1">
                <a:solidFill>
                  <a:srgbClr val="CC0000"/>
                </a:solidFill>
              </a:rPr>
              <a:t>培训人员</a:t>
            </a:r>
            <a:endParaRPr lang="zh-CN" altLang="en-US" sz="2400" b="1">
              <a:solidFill>
                <a:srgbClr val="CC0000"/>
              </a:solidFill>
            </a:endParaRPr>
          </a:p>
          <a:p>
            <a:pPr lvl="1"/>
            <a:r>
              <a:rPr lang="zh-CN" altLang="en-US" sz="2400"/>
              <a:t>对</a:t>
            </a:r>
            <a:r>
              <a:rPr lang="zh-CN" altLang="en-US" sz="2400" b="1">
                <a:solidFill>
                  <a:srgbClr val="CC0000"/>
                </a:solidFill>
              </a:rPr>
              <a:t>是否允许系统投入运行</a:t>
            </a:r>
            <a:r>
              <a:rPr lang="zh-CN" altLang="en-US" sz="2400"/>
              <a:t>进行批准监督。</a:t>
            </a:r>
            <a:endParaRPr lang="zh-CN" altLang="en-US" sz="2400"/>
          </a:p>
          <a:p>
            <a:pPr lvl="1"/>
            <a:endParaRPr lang="zh-CN" altLang="en-US"/>
          </a:p>
        </p:txBody>
      </p:sp>
      <p:sp>
        <p:nvSpPr>
          <p:cNvPr id="609283" name="AutoShape 3"/>
          <p:cNvSpPr>
            <a:spLocks noChangeArrowheads="1"/>
          </p:cNvSpPr>
          <p:nvPr/>
        </p:nvSpPr>
        <p:spPr bwMode="ltGray">
          <a:xfrm>
            <a:off x="2643188" y="1751966"/>
            <a:ext cx="1401762" cy="394969"/>
          </a:xfrm>
          <a:prstGeom prst="chevron">
            <a:avLst>
              <a:gd name="adj" fmla="val 73201"/>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规划</a:t>
            </a:r>
            <a:endParaRPr lang="zh-CN" altLang="en-US" sz="2000" b="1">
              <a:latin typeface="+mn-ea"/>
              <a:ea typeface="+mn-ea"/>
            </a:endParaRPr>
          </a:p>
        </p:txBody>
      </p:sp>
      <p:sp>
        <p:nvSpPr>
          <p:cNvPr id="609284" name="AutoShape 4"/>
          <p:cNvSpPr>
            <a:spLocks noChangeArrowheads="1"/>
          </p:cNvSpPr>
          <p:nvPr/>
        </p:nvSpPr>
        <p:spPr bwMode="ltGray">
          <a:xfrm>
            <a:off x="3975100" y="1735297"/>
            <a:ext cx="1403350" cy="394969"/>
          </a:xfrm>
          <a:prstGeom prst="chevron">
            <a:avLst>
              <a:gd name="adj" fmla="val 73279"/>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设计</a:t>
            </a:r>
            <a:endParaRPr lang="zh-CN" altLang="en-US" sz="2000" b="1">
              <a:latin typeface="+mn-ea"/>
              <a:ea typeface="+mn-ea"/>
            </a:endParaRPr>
          </a:p>
        </p:txBody>
      </p:sp>
      <p:sp>
        <p:nvSpPr>
          <p:cNvPr id="609285" name="AutoShape 5"/>
          <p:cNvSpPr>
            <a:spLocks noChangeArrowheads="1"/>
          </p:cNvSpPr>
          <p:nvPr/>
        </p:nvSpPr>
        <p:spPr bwMode="ltGray">
          <a:xfrm>
            <a:off x="5341938" y="1735297"/>
            <a:ext cx="1401762" cy="394969"/>
          </a:xfrm>
          <a:prstGeom prst="chevron">
            <a:avLst>
              <a:gd name="adj" fmla="val 73201"/>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dirty="0">
                <a:solidFill>
                  <a:srgbClr val="FF0000"/>
                </a:solidFill>
                <a:latin typeface="+mn-ea"/>
                <a:ea typeface="+mn-ea"/>
              </a:rPr>
              <a:t>实施</a:t>
            </a:r>
            <a:endParaRPr lang="en-US" altLang="zh-CN" sz="2000" b="1" dirty="0">
              <a:solidFill>
                <a:srgbClr val="FF0000"/>
              </a:solidFill>
              <a:latin typeface="+mn-ea"/>
              <a:ea typeface="+mn-ea"/>
            </a:endParaRPr>
          </a:p>
        </p:txBody>
      </p:sp>
      <p:sp>
        <p:nvSpPr>
          <p:cNvPr id="609286" name="AutoShape 6"/>
          <p:cNvSpPr>
            <a:spLocks noChangeArrowheads="1"/>
          </p:cNvSpPr>
          <p:nvPr/>
        </p:nvSpPr>
        <p:spPr bwMode="ltGray">
          <a:xfrm>
            <a:off x="6711950" y="1735297"/>
            <a:ext cx="1400175" cy="394969"/>
          </a:xfrm>
          <a:prstGeom prst="chevron">
            <a:avLst>
              <a:gd name="adj" fmla="val 73123"/>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运维</a:t>
            </a:r>
            <a:endParaRPr lang="en-US" altLang="zh-CN" sz="2000" b="1">
              <a:latin typeface="+mn-ea"/>
              <a:ea typeface="+mn-ea"/>
            </a:endParaRPr>
          </a:p>
        </p:txBody>
      </p:sp>
      <p:sp>
        <p:nvSpPr>
          <p:cNvPr id="609287" name="AutoShape 7"/>
          <p:cNvSpPr>
            <a:spLocks noChangeArrowheads="1"/>
          </p:cNvSpPr>
          <p:nvPr/>
        </p:nvSpPr>
        <p:spPr bwMode="ltGray">
          <a:xfrm>
            <a:off x="8040688" y="1735297"/>
            <a:ext cx="1398587" cy="394969"/>
          </a:xfrm>
          <a:prstGeom prst="chevron">
            <a:avLst>
              <a:gd name="adj" fmla="val 73045"/>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dirty="0">
                <a:latin typeface="+mn-ea"/>
                <a:ea typeface="+mn-ea"/>
              </a:rPr>
              <a:t>废弃</a:t>
            </a:r>
            <a:endParaRPr lang="zh-CN" altLang="en-US" sz="2000" b="1" dirty="0">
              <a:latin typeface="+mn-ea"/>
              <a:ea typeface="+mn-ea"/>
            </a:endParaRPr>
          </a:p>
        </p:txBody>
      </p:sp>
      <p:sp>
        <p:nvSpPr>
          <p:cNvPr id="87048" name="Rectangle 8"/>
          <p:cNvSpPr>
            <a:spLocks noGrp="1" noChangeArrowheads="1"/>
          </p:cNvSpPr>
          <p:nvPr>
            <p:ph type="title"/>
          </p:nvPr>
        </p:nvSpPr>
        <p:spPr>
          <a:xfrm>
            <a:off x="2438400" y="890588"/>
            <a:ext cx="6513513" cy="487362"/>
          </a:xfrm>
        </p:spPr>
        <p:txBody>
          <a:bodyPr/>
          <a:lstStyle/>
          <a:p>
            <a:r>
              <a:rPr lang="zh-CN" altLang="en-US">
                <a:solidFill>
                  <a:srgbClr val="FF0000"/>
                </a:solidFill>
              </a:rPr>
              <a:t>风险管理的目标</a:t>
            </a:r>
            <a:endParaRPr lang="en-US" altLang="zh-CN">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5400000">
                                      <p:cBhvr>
                                        <p:cTn id="6" dur="1000" fill="hold"/>
                                        <p:tgtEl>
                                          <p:spTgt spid="609285"/>
                                        </p:tgtEl>
                                        <p:attrNameLst>
                                          <p:attrName>r</p:attrName>
                                        </p:attrNameLst>
                                      </p:cBhvr>
                                    </p:animRot>
                                  </p:childTnLst>
                                </p:cTn>
                              </p:par>
                            </p:childTnLst>
                          </p:cTn>
                        </p:par>
                        <p:par>
                          <p:cTn id="7" fill="hold">
                            <p:stCondLst>
                              <p:cond delay="1000"/>
                            </p:stCondLst>
                            <p:childTnLst>
                              <p:par>
                                <p:cTn id="8" presetID="53" presetClass="entr" presetSubtype="16" fill="hold" grpId="0" nodeType="afterEffect">
                                  <p:stCondLst>
                                    <p:cond delay="0"/>
                                  </p:stCondLst>
                                  <p:childTnLst>
                                    <p:set>
                                      <p:cBhvr>
                                        <p:cTn id="9" dur="1" fill="hold">
                                          <p:stCondLst>
                                            <p:cond delay="0"/>
                                          </p:stCondLst>
                                        </p:cTn>
                                        <p:tgtEl>
                                          <p:spTgt spid="1613826">
                                            <p:txEl>
                                              <p:pRg st="0" end="0"/>
                                            </p:txEl>
                                          </p:spTgt>
                                        </p:tgtEl>
                                        <p:attrNameLst>
                                          <p:attrName>style.visibility</p:attrName>
                                        </p:attrNameLst>
                                      </p:cBhvr>
                                      <p:to>
                                        <p:strVal val="visible"/>
                                      </p:to>
                                    </p:set>
                                    <p:anim calcmode="lin" valueType="num">
                                      <p:cBhvr>
                                        <p:cTn id="10" dur="1000" fill="hold"/>
                                        <p:tgtEl>
                                          <p:spTgt spid="1613826">
                                            <p:txEl>
                                              <p:pRg st="0" end="0"/>
                                            </p:txEl>
                                          </p:spTgt>
                                        </p:tgtEl>
                                        <p:attrNameLst>
                                          <p:attrName>ppt_w</p:attrName>
                                        </p:attrNameLst>
                                      </p:cBhvr>
                                      <p:tavLst>
                                        <p:tav tm="0">
                                          <p:val>
                                            <p:fltVal val="0"/>
                                          </p:val>
                                        </p:tav>
                                        <p:tav tm="100000">
                                          <p:val>
                                            <p:strVal val="#ppt_w"/>
                                          </p:val>
                                        </p:tav>
                                      </p:tavLst>
                                    </p:anim>
                                    <p:anim calcmode="lin" valueType="num">
                                      <p:cBhvr>
                                        <p:cTn id="11" dur="1000" fill="hold"/>
                                        <p:tgtEl>
                                          <p:spTgt spid="1613826">
                                            <p:txEl>
                                              <p:pRg st="0" end="0"/>
                                            </p:txEl>
                                          </p:spTgt>
                                        </p:tgtEl>
                                        <p:attrNameLst>
                                          <p:attrName>ppt_h</p:attrName>
                                        </p:attrNameLst>
                                      </p:cBhvr>
                                      <p:tavLst>
                                        <p:tav tm="0">
                                          <p:val>
                                            <p:fltVal val="0"/>
                                          </p:val>
                                        </p:tav>
                                        <p:tav tm="100000">
                                          <p:val>
                                            <p:strVal val="#ppt_h"/>
                                          </p:val>
                                        </p:tav>
                                      </p:tavLst>
                                    </p:anim>
                                    <p:animEffect transition="in" filter="fade">
                                      <p:cBhvr>
                                        <p:cTn id="12" dur="1000"/>
                                        <p:tgtEl>
                                          <p:spTgt spid="1613826">
                                            <p:txEl>
                                              <p:pRg st="0" end="0"/>
                                            </p:txEl>
                                          </p:spTgt>
                                        </p:tgtEl>
                                      </p:cBhvr>
                                    </p:animEffect>
                                  </p:childTnLst>
                                </p:cTn>
                              </p:par>
                            </p:childTnLst>
                          </p:cTn>
                        </p:par>
                        <p:par>
                          <p:cTn id="13" fill="hold">
                            <p:stCondLst>
                              <p:cond delay="2000"/>
                            </p:stCondLst>
                            <p:childTnLst>
                              <p:par>
                                <p:cTn id="14" presetID="53" presetClass="entr" presetSubtype="16" fill="hold" grpId="0" nodeType="afterEffect">
                                  <p:stCondLst>
                                    <p:cond delay="0"/>
                                  </p:stCondLst>
                                  <p:childTnLst>
                                    <p:set>
                                      <p:cBhvr>
                                        <p:cTn id="15" dur="1" fill="hold">
                                          <p:stCondLst>
                                            <p:cond delay="0"/>
                                          </p:stCondLst>
                                        </p:cTn>
                                        <p:tgtEl>
                                          <p:spTgt spid="1613826">
                                            <p:txEl>
                                              <p:pRg st="1" end="1"/>
                                            </p:txEl>
                                          </p:spTgt>
                                        </p:tgtEl>
                                        <p:attrNameLst>
                                          <p:attrName>style.visibility</p:attrName>
                                        </p:attrNameLst>
                                      </p:cBhvr>
                                      <p:to>
                                        <p:strVal val="visible"/>
                                      </p:to>
                                    </p:set>
                                    <p:anim calcmode="lin" valueType="num">
                                      <p:cBhvr>
                                        <p:cTn id="16" dur="1000" fill="hold"/>
                                        <p:tgtEl>
                                          <p:spTgt spid="1613826">
                                            <p:txEl>
                                              <p:pRg st="1" end="1"/>
                                            </p:txEl>
                                          </p:spTgt>
                                        </p:tgtEl>
                                        <p:attrNameLst>
                                          <p:attrName>ppt_w</p:attrName>
                                        </p:attrNameLst>
                                      </p:cBhvr>
                                      <p:tavLst>
                                        <p:tav tm="0">
                                          <p:val>
                                            <p:fltVal val="0"/>
                                          </p:val>
                                        </p:tav>
                                        <p:tav tm="100000">
                                          <p:val>
                                            <p:strVal val="#ppt_w"/>
                                          </p:val>
                                        </p:tav>
                                      </p:tavLst>
                                    </p:anim>
                                    <p:anim calcmode="lin" valueType="num">
                                      <p:cBhvr>
                                        <p:cTn id="17" dur="1000" fill="hold"/>
                                        <p:tgtEl>
                                          <p:spTgt spid="1613826">
                                            <p:txEl>
                                              <p:pRg st="1" end="1"/>
                                            </p:txEl>
                                          </p:spTgt>
                                        </p:tgtEl>
                                        <p:attrNameLst>
                                          <p:attrName>ppt_h</p:attrName>
                                        </p:attrNameLst>
                                      </p:cBhvr>
                                      <p:tavLst>
                                        <p:tav tm="0">
                                          <p:val>
                                            <p:fltVal val="0"/>
                                          </p:val>
                                        </p:tav>
                                        <p:tav tm="100000">
                                          <p:val>
                                            <p:strVal val="#ppt_h"/>
                                          </p:val>
                                        </p:tav>
                                      </p:tavLst>
                                    </p:anim>
                                    <p:animEffect transition="in" filter="fade">
                                      <p:cBhvr>
                                        <p:cTn id="18" dur="1000"/>
                                        <p:tgtEl>
                                          <p:spTgt spid="1613826">
                                            <p:txEl>
                                              <p:pRg st="1" end="1"/>
                                            </p:txEl>
                                          </p:spTgt>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613826">
                                            <p:txEl>
                                              <p:pRg st="2" end="2"/>
                                            </p:txEl>
                                          </p:spTgt>
                                        </p:tgtEl>
                                        <p:attrNameLst>
                                          <p:attrName>style.visibility</p:attrName>
                                        </p:attrNameLst>
                                      </p:cBhvr>
                                      <p:to>
                                        <p:strVal val="visible"/>
                                      </p:to>
                                    </p:set>
                                    <p:anim calcmode="lin" valueType="num">
                                      <p:cBhvr>
                                        <p:cTn id="22" dur="1000" fill="hold"/>
                                        <p:tgtEl>
                                          <p:spTgt spid="1613826">
                                            <p:txEl>
                                              <p:pRg st="2" end="2"/>
                                            </p:txEl>
                                          </p:spTgt>
                                        </p:tgtEl>
                                        <p:attrNameLst>
                                          <p:attrName>ppt_w</p:attrName>
                                        </p:attrNameLst>
                                      </p:cBhvr>
                                      <p:tavLst>
                                        <p:tav tm="0">
                                          <p:val>
                                            <p:fltVal val="0"/>
                                          </p:val>
                                        </p:tav>
                                        <p:tav tm="100000">
                                          <p:val>
                                            <p:strVal val="#ppt_w"/>
                                          </p:val>
                                        </p:tav>
                                      </p:tavLst>
                                    </p:anim>
                                    <p:anim calcmode="lin" valueType="num">
                                      <p:cBhvr>
                                        <p:cTn id="23" dur="1000" fill="hold"/>
                                        <p:tgtEl>
                                          <p:spTgt spid="1613826">
                                            <p:txEl>
                                              <p:pRg st="2" end="2"/>
                                            </p:txEl>
                                          </p:spTgt>
                                        </p:tgtEl>
                                        <p:attrNameLst>
                                          <p:attrName>ppt_h</p:attrName>
                                        </p:attrNameLst>
                                      </p:cBhvr>
                                      <p:tavLst>
                                        <p:tav tm="0">
                                          <p:val>
                                            <p:fltVal val="0"/>
                                          </p:val>
                                        </p:tav>
                                        <p:tav tm="100000">
                                          <p:val>
                                            <p:strVal val="#ppt_h"/>
                                          </p:val>
                                        </p:tav>
                                      </p:tavLst>
                                    </p:anim>
                                    <p:animEffect transition="in" filter="fade">
                                      <p:cBhvr>
                                        <p:cTn id="24" dur="1000"/>
                                        <p:tgtEl>
                                          <p:spTgt spid="1613826">
                                            <p:txEl>
                                              <p:pRg st="2" end="2"/>
                                            </p:txEl>
                                          </p:spTgt>
                                        </p:tgtEl>
                                      </p:cBhvr>
                                    </p:animEffect>
                                  </p:childTnLst>
                                </p:cTn>
                              </p:par>
                            </p:childTnLst>
                          </p:cTn>
                        </p:par>
                        <p:par>
                          <p:cTn id="25" fill="hold">
                            <p:stCondLst>
                              <p:cond delay="4000"/>
                            </p:stCondLst>
                            <p:childTnLst>
                              <p:par>
                                <p:cTn id="26" presetID="53" presetClass="entr" presetSubtype="16" fill="hold" grpId="0" nodeType="afterEffect">
                                  <p:stCondLst>
                                    <p:cond delay="0"/>
                                  </p:stCondLst>
                                  <p:childTnLst>
                                    <p:set>
                                      <p:cBhvr>
                                        <p:cTn id="27" dur="1" fill="hold">
                                          <p:stCondLst>
                                            <p:cond delay="0"/>
                                          </p:stCondLst>
                                        </p:cTn>
                                        <p:tgtEl>
                                          <p:spTgt spid="1613826">
                                            <p:txEl>
                                              <p:pRg st="3" end="3"/>
                                            </p:txEl>
                                          </p:spTgt>
                                        </p:tgtEl>
                                        <p:attrNameLst>
                                          <p:attrName>style.visibility</p:attrName>
                                        </p:attrNameLst>
                                      </p:cBhvr>
                                      <p:to>
                                        <p:strVal val="visible"/>
                                      </p:to>
                                    </p:set>
                                    <p:anim calcmode="lin" valueType="num">
                                      <p:cBhvr>
                                        <p:cTn id="28" dur="1000" fill="hold"/>
                                        <p:tgtEl>
                                          <p:spTgt spid="1613826">
                                            <p:txEl>
                                              <p:pRg st="3" end="3"/>
                                            </p:txEl>
                                          </p:spTgt>
                                        </p:tgtEl>
                                        <p:attrNameLst>
                                          <p:attrName>ppt_w</p:attrName>
                                        </p:attrNameLst>
                                      </p:cBhvr>
                                      <p:tavLst>
                                        <p:tav tm="0">
                                          <p:val>
                                            <p:fltVal val="0"/>
                                          </p:val>
                                        </p:tav>
                                        <p:tav tm="100000">
                                          <p:val>
                                            <p:strVal val="#ppt_w"/>
                                          </p:val>
                                        </p:tav>
                                      </p:tavLst>
                                    </p:anim>
                                    <p:anim calcmode="lin" valueType="num">
                                      <p:cBhvr>
                                        <p:cTn id="29" dur="1000" fill="hold"/>
                                        <p:tgtEl>
                                          <p:spTgt spid="1613826">
                                            <p:txEl>
                                              <p:pRg st="3" end="3"/>
                                            </p:txEl>
                                          </p:spTgt>
                                        </p:tgtEl>
                                        <p:attrNameLst>
                                          <p:attrName>ppt_h</p:attrName>
                                        </p:attrNameLst>
                                      </p:cBhvr>
                                      <p:tavLst>
                                        <p:tav tm="0">
                                          <p:val>
                                            <p:fltVal val="0"/>
                                          </p:val>
                                        </p:tav>
                                        <p:tav tm="100000">
                                          <p:val>
                                            <p:strVal val="#ppt_h"/>
                                          </p:val>
                                        </p:tav>
                                      </p:tavLst>
                                    </p:anim>
                                    <p:animEffect transition="in" filter="fade">
                                      <p:cBhvr>
                                        <p:cTn id="30" dur="1000"/>
                                        <p:tgtEl>
                                          <p:spTgt spid="1613826">
                                            <p:txEl>
                                              <p:pRg st="3" end="3"/>
                                            </p:txEl>
                                          </p:spTgt>
                                        </p:tgtEl>
                                      </p:cBhvr>
                                    </p:animEffect>
                                  </p:childTnLst>
                                </p:cTn>
                              </p:par>
                            </p:childTnLst>
                          </p:cTn>
                        </p:par>
                        <p:par>
                          <p:cTn id="31" fill="hold">
                            <p:stCondLst>
                              <p:cond delay="5000"/>
                            </p:stCondLst>
                            <p:childTnLst>
                              <p:par>
                                <p:cTn id="32" presetID="53" presetClass="entr" presetSubtype="16" fill="hold" grpId="0" nodeType="afterEffect">
                                  <p:stCondLst>
                                    <p:cond delay="0"/>
                                  </p:stCondLst>
                                  <p:childTnLst>
                                    <p:set>
                                      <p:cBhvr>
                                        <p:cTn id="33" dur="1" fill="hold">
                                          <p:stCondLst>
                                            <p:cond delay="0"/>
                                          </p:stCondLst>
                                        </p:cTn>
                                        <p:tgtEl>
                                          <p:spTgt spid="1613826">
                                            <p:txEl>
                                              <p:pRg st="4" end="4"/>
                                            </p:txEl>
                                          </p:spTgt>
                                        </p:tgtEl>
                                        <p:attrNameLst>
                                          <p:attrName>style.visibility</p:attrName>
                                        </p:attrNameLst>
                                      </p:cBhvr>
                                      <p:to>
                                        <p:strVal val="visible"/>
                                      </p:to>
                                    </p:set>
                                    <p:anim calcmode="lin" valueType="num">
                                      <p:cBhvr>
                                        <p:cTn id="34" dur="1000" fill="hold"/>
                                        <p:tgtEl>
                                          <p:spTgt spid="1613826">
                                            <p:txEl>
                                              <p:pRg st="4" end="4"/>
                                            </p:txEl>
                                          </p:spTgt>
                                        </p:tgtEl>
                                        <p:attrNameLst>
                                          <p:attrName>ppt_w</p:attrName>
                                        </p:attrNameLst>
                                      </p:cBhvr>
                                      <p:tavLst>
                                        <p:tav tm="0">
                                          <p:val>
                                            <p:fltVal val="0"/>
                                          </p:val>
                                        </p:tav>
                                        <p:tav tm="100000">
                                          <p:val>
                                            <p:strVal val="#ppt_w"/>
                                          </p:val>
                                        </p:tav>
                                      </p:tavLst>
                                    </p:anim>
                                    <p:anim calcmode="lin" valueType="num">
                                      <p:cBhvr>
                                        <p:cTn id="35" dur="1000" fill="hold"/>
                                        <p:tgtEl>
                                          <p:spTgt spid="1613826">
                                            <p:txEl>
                                              <p:pRg st="4" end="4"/>
                                            </p:txEl>
                                          </p:spTgt>
                                        </p:tgtEl>
                                        <p:attrNameLst>
                                          <p:attrName>ppt_h</p:attrName>
                                        </p:attrNameLst>
                                      </p:cBhvr>
                                      <p:tavLst>
                                        <p:tav tm="0">
                                          <p:val>
                                            <p:fltVal val="0"/>
                                          </p:val>
                                        </p:tav>
                                        <p:tav tm="100000">
                                          <p:val>
                                            <p:strVal val="#ppt_h"/>
                                          </p:val>
                                        </p:tav>
                                      </p:tavLst>
                                    </p:anim>
                                    <p:animEffect transition="in" filter="fade">
                                      <p:cBhvr>
                                        <p:cTn id="36" dur="1000"/>
                                        <p:tgtEl>
                                          <p:spTgt spid="16138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3826" grpId="0" build="p"/>
      <p:bldP spid="609285"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2279650" y="692150"/>
            <a:ext cx="8229600" cy="954088"/>
          </a:xfrm>
        </p:spPr>
        <p:txBody>
          <a:bodyPr/>
          <a:lstStyle/>
          <a:p>
            <a:r>
              <a:rPr lang="zh-CN" altLang="en-US">
                <a:solidFill>
                  <a:srgbClr val="FF0000"/>
                </a:solidFill>
              </a:rPr>
              <a:t>信息系统实施阶段的风险管理 </a:t>
            </a:r>
            <a:endParaRPr lang="zh-CN" altLang="en-US">
              <a:solidFill>
                <a:srgbClr val="FF0000"/>
              </a:solidFill>
            </a:endParaRPr>
          </a:p>
        </p:txBody>
      </p:sp>
      <p:graphicFrame>
        <p:nvGraphicFramePr>
          <p:cNvPr id="1607710" name="Group 30"/>
          <p:cNvGraphicFramePr>
            <a:graphicFrameLocks noGrp="1"/>
          </p:cNvGraphicFramePr>
          <p:nvPr>
            <p:ph idx="1"/>
          </p:nvPr>
        </p:nvGraphicFramePr>
        <p:xfrm>
          <a:off x="3068587" y="1916832"/>
          <a:ext cx="6130925" cy="3448685"/>
        </p:xfrm>
        <a:graphic>
          <a:graphicData uri="http://schemas.openxmlformats.org/drawingml/2006/table">
            <a:tbl>
              <a:tblPr>
                <a:effectLst>
                  <a:outerShdw blurRad="50800" dist="38100" dir="13500000" algn="br" rotWithShape="0">
                    <a:prstClr val="black">
                      <a:alpha val="40000"/>
                    </a:prstClr>
                  </a:outerShdw>
                </a:effectLst>
              </a:tblPr>
              <a:tblGrid>
                <a:gridCol w="1131570"/>
                <a:gridCol w="2134870"/>
                <a:gridCol w="2864485"/>
              </a:tblGrid>
              <a:tr h="682930">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序号</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风险管理活动</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风险管理</a:t>
                      </a:r>
                      <a:r>
                        <a:rPr kumimoji="0"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工作内容</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84156">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安全测试</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风险评估</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82930">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检查与配置</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风险处理</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84156">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人员培训</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风险处理</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714808">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授权系统运行</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批准监督</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bl>
          </a:graphicData>
        </a:graphic>
      </p:graphicFrame>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14850" name="Rectangle 2"/>
          <p:cNvSpPr>
            <a:spLocks noGrp="1" noChangeArrowheads="1"/>
          </p:cNvSpPr>
          <p:nvPr>
            <p:ph type="body" idx="1"/>
          </p:nvPr>
        </p:nvSpPr>
        <p:spPr>
          <a:xfrm>
            <a:off x="2057400" y="2924175"/>
            <a:ext cx="8191500" cy="2449513"/>
          </a:xfrm>
        </p:spPr>
        <p:txBody>
          <a:bodyPr/>
          <a:lstStyle/>
          <a:p>
            <a:pPr>
              <a:lnSpc>
                <a:spcPct val="99000"/>
              </a:lnSpc>
              <a:spcBef>
                <a:spcPct val="0"/>
              </a:spcBef>
              <a:buClr>
                <a:srgbClr val="000000"/>
              </a:buClr>
              <a:buSzPct val="45000"/>
              <a:buFont typeface="Wingdings" panose="05000000000000000000" pitchFamily="2" charset="2"/>
              <a:buNone/>
            </a:pPr>
            <a:endParaRPr lang="en-US" altLang="zh-CN"/>
          </a:p>
          <a:p>
            <a:pPr>
              <a:lnSpc>
                <a:spcPct val="99000"/>
              </a:lnSpc>
              <a:spcBef>
                <a:spcPct val="0"/>
              </a:spcBef>
              <a:buClr>
                <a:srgbClr val="000000"/>
              </a:buClr>
              <a:buSzPct val="45000"/>
              <a:buFont typeface="Wingdings" panose="05000000000000000000" pitchFamily="2" charset="2"/>
              <a:buNone/>
            </a:pPr>
            <a:r>
              <a:rPr lang="zh-CN" altLang="en-US"/>
              <a:t>  在信息系统经过授权投入运行之后，确保在运行过程中，以及信息系统或其运行环境发生变化时</a:t>
            </a:r>
            <a:r>
              <a:rPr lang="zh-CN" altLang="en-US" b="1">
                <a:solidFill>
                  <a:srgbClr val="CC0000"/>
                </a:solidFill>
              </a:rPr>
              <a:t>维持系统的正常运行和安全性</a:t>
            </a:r>
            <a:r>
              <a:rPr lang="zh-CN" altLang="en-US"/>
              <a:t>。</a:t>
            </a:r>
            <a:endParaRPr lang="zh-CN" altLang="en-US"/>
          </a:p>
          <a:p>
            <a:pPr lvl="1"/>
            <a:endParaRPr lang="zh-CN" altLang="en-US"/>
          </a:p>
        </p:txBody>
      </p:sp>
      <p:sp>
        <p:nvSpPr>
          <p:cNvPr id="609283" name="AutoShape 3"/>
          <p:cNvSpPr>
            <a:spLocks noChangeArrowheads="1"/>
          </p:cNvSpPr>
          <p:nvPr/>
        </p:nvSpPr>
        <p:spPr bwMode="ltGray">
          <a:xfrm>
            <a:off x="2630488" y="2202816"/>
            <a:ext cx="1401762" cy="394969"/>
          </a:xfrm>
          <a:prstGeom prst="chevron">
            <a:avLst>
              <a:gd name="adj" fmla="val 73201"/>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规划</a:t>
            </a:r>
            <a:endParaRPr lang="zh-CN" altLang="en-US" sz="2000" b="1">
              <a:latin typeface="+mn-ea"/>
              <a:ea typeface="+mn-ea"/>
            </a:endParaRPr>
          </a:p>
        </p:txBody>
      </p:sp>
      <p:sp>
        <p:nvSpPr>
          <p:cNvPr id="609284" name="AutoShape 4"/>
          <p:cNvSpPr>
            <a:spLocks noChangeArrowheads="1"/>
          </p:cNvSpPr>
          <p:nvPr/>
        </p:nvSpPr>
        <p:spPr bwMode="ltGray">
          <a:xfrm>
            <a:off x="3962400" y="2186147"/>
            <a:ext cx="1403350" cy="394969"/>
          </a:xfrm>
          <a:prstGeom prst="chevron">
            <a:avLst>
              <a:gd name="adj" fmla="val 73279"/>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设计</a:t>
            </a:r>
            <a:endParaRPr lang="zh-CN" altLang="en-US" sz="2000" b="1">
              <a:latin typeface="+mn-ea"/>
              <a:ea typeface="+mn-ea"/>
            </a:endParaRPr>
          </a:p>
        </p:txBody>
      </p:sp>
      <p:sp>
        <p:nvSpPr>
          <p:cNvPr id="609285" name="AutoShape 5"/>
          <p:cNvSpPr>
            <a:spLocks noChangeArrowheads="1"/>
          </p:cNvSpPr>
          <p:nvPr/>
        </p:nvSpPr>
        <p:spPr bwMode="ltGray">
          <a:xfrm>
            <a:off x="5303838" y="2186147"/>
            <a:ext cx="1401762" cy="394969"/>
          </a:xfrm>
          <a:prstGeom prst="chevron">
            <a:avLst>
              <a:gd name="adj" fmla="val 73201"/>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实施</a:t>
            </a:r>
            <a:endParaRPr lang="en-US" altLang="zh-CN" sz="2000" b="1">
              <a:latin typeface="+mn-ea"/>
              <a:ea typeface="+mn-ea"/>
            </a:endParaRPr>
          </a:p>
        </p:txBody>
      </p:sp>
      <p:sp>
        <p:nvSpPr>
          <p:cNvPr id="609286" name="AutoShape 6"/>
          <p:cNvSpPr>
            <a:spLocks noChangeArrowheads="1"/>
          </p:cNvSpPr>
          <p:nvPr/>
        </p:nvSpPr>
        <p:spPr bwMode="ltGray">
          <a:xfrm>
            <a:off x="6672263" y="2186147"/>
            <a:ext cx="1400175" cy="394969"/>
          </a:xfrm>
          <a:prstGeom prst="chevron">
            <a:avLst>
              <a:gd name="adj" fmla="val 73123"/>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dirty="0">
                <a:solidFill>
                  <a:srgbClr val="FF0000"/>
                </a:solidFill>
                <a:latin typeface="+mn-ea"/>
                <a:ea typeface="+mn-ea"/>
              </a:rPr>
              <a:t>运维</a:t>
            </a:r>
            <a:endParaRPr lang="en-US" altLang="zh-CN" sz="2000" b="1" dirty="0">
              <a:solidFill>
                <a:srgbClr val="FF0000"/>
              </a:solidFill>
              <a:latin typeface="+mn-ea"/>
              <a:ea typeface="+mn-ea"/>
            </a:endParaRPr>
          </a:p>
        </p:txBody>
      </p:sp>
      <p:sp>
        <p:nvSpPr>
          <p:cNvPr id="609287" name="AutoShape 7"/>
          <p:cNvSpPr>
            <a:spLocks noChangeArrowheads="1"/>
          </p:cNvSpPr>
          <p:nvPr/>
        </p:nvSpPr>
        <p:spPr bwMode="ltGray">
          <a:xfrm>
            <a:off x="8010525" y="2186147"/>
            <a:ext cx="1398588" cy="394969"/>
          </a:xfrm>
          <a:prstGeom prst="chevron">
            <a:avLst>
              <a:gd name="adj" fmla="val 73045"/>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dirty="0">
                <a:latin typeface="+mn-ea"/>
                <a:ea typeface="+mn-ea"/>
              </a:rPr>
              <a:t>废弃</a:t>
            </a:r>
            <a:endParaRPr lang="zh-CN" altLang="en-US" sz="2000" b="1" dirty="0">
              <a:latin typeface="+mn-ea"/>
              <a:ea typeface="+mn-ea"/>
            </a:endParaRPr>
          </a:p>
        </p:txBody>
      </p:sp>
      <p:sp>
        <p:nvSpPr>
          <p:cNvPr id="89096" name="Rectangle 8"/>
          <p:cNvSpPr>
            <a:spLocks noGrp="1" noChangeArrowheads="1"/>
          </p:cNvSpPr>
          <p:nvPr>
            <p:ph type="title"/>
          </p:nvPr>
        </p:nvSpPr>
        <p:spPr>
          <a:xfrm>
            <a:off x="2459038" y="942975"/>
            <a:ext cx="6511925" cy="487363"/>
          </a:xfrm>
        </p:spPr>
        <p:txBody>
          <a:bodyPr/>
          <a:lstStyle/>
          <a:p>
            <a:r>
              <a:rPr lang="zh-CN" altLang="en-US">
                <a:solidFill>
                  <a:srgbClr val="FF0000"/>
                </a:solidFill>
              </a:rPr>
              <a:t>风险管理的目标</a:t>
            </a:r>
            <a:endParaRPr lang="en-US" altLang="zh-CN">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5400000">
                                      <p:cBhvr>
                                        <p:cTn id="6" dur="1000" fill="hold"/>
                                        <p:tgtEl>
                                          <p:spTgt spid="609286"/>
                                        </p:tgtEl>
                                        <p:attrNameLst>
                                          <p:attrName>r</p:attrName>
                                        </p:attrNameLst>
                                      </p:cBhvr>
                                    </p:animRot>
                                  </p:childTnLst>
                                </p:cTn>
                              </p:par>
                            </p:childTnLst>
                          </p:cTn>
                        </p:par>
                        <p:par>
                          <p:cTn id="7" fill="hold">
                            <p:stCondLst>
                              <p:cond delay="1000"/>
                            </p:stCondLst>
                            <p:childTnLst>
                              <p:par>
                                <p:cTn id="8" presetID="53" presetClass="entr" presetSubtype="16" fill="hold" grpId="0" nodeType="afterEffect">
                                  <p:stCondLst>
                                    <p:cond delay="0"/>
                                  </p:stCondLst>
                                  <p:childTnLst>
                                    <p:set>
                                      <p:cBhvr>
                                        <p:cTn id="9" dur="1" fill="hold">
                                          <p:stCondLst>
                                            <p:cond delay="0"/>
                                          </p:stCondLst>
                                        </p:cTn>
                                        <p:tgtEl>
                                          <p:spTgt spid="1614850">
                                            <p:txEl>
                                              <p:pRg st="1" end="1"/>
                                            </p:txEl>
                                          </p:spTgt>
                                        </p:tgtEl>
                                        <p:attrNameLst>
                                          <p:attrName>style.visibility</p:attrName>
                                        </p:attrNameLst>
                                      </p:cBhvr>
                                      <p:to>
                                        <p:strVal val="visible"/>
                                      </p:to>
                                    </p:set>
                                    <p:anim calcmode="lin" valueType="num">
                                      <p:cBhvr>
                                        <p:cTn id="10" dur="1000" fill="hold"/>
                                        <p:tgtEl>
                                          <p:spTgt spid="1614850">
                                            <p:txEl>
                                              <p:pRg st="1" end="1"/>
                                            </p:txEl>
                                          </p:spTgt>
                                        </p:tgtEl>
                                        <p:attrNameLst>
                                          <p:attrName>ppt_w</p:attrName>
                                        </p:attrNameLst>
                                      </p:cBhvr>
                                      <p:tavLst>
                                        <p:tav tm="0">
                                          <p:val>
                                            <p:fltVal val="0"/>
                                          </p:val>
                                        </p:tav>
                                        <p:tav tm="100000">
                                          <p:val>
                                            <p:strVal val="#ppt_w"/>
                                          </p:val>
                                        </p:tav>
                                      </p:tavLst>
                                    </p:anim>
                                    <p:anim calcmode="lin" valueType="num">
                                      <p:cBhvr>
                                        <p:cTn id="11" dur="1000" fill="hold"/>
                                        <p:tgtEl>
                                          <p:spTgt spid="1614850">
                                            <p:txEl>
                                              <p:pRg st="1" end="1"/>
                                            </p:txEl>
                                          </p:spTgt>
                                        </p:tgtEl>
                                        <p:attrNameLst>
                                          <p:attrName>ppt_h</p:attrName>
                                        </p:attrNameLst>
                                      </p:cBhvr>
                                      <p:tavLst>
                                        <p:tav tm="0">
                                          <p:val>
                                            <p:fltVal val="0"/>
                                          </p:val>
                                        </p:tav>
                                        <p:tav tm="100000">
                                          <p:val>
                                            <p:strVal val="#ppt_h"/>
                                          </p:val>
                                        </p:tav>
                                      </p:tavLst>
                                    </p:anim>
                                    <p:animEffect transition="in" filter="fade">
                                      <p:cBhvr>
                                        <p:cTn id="12" dur="1000"/>
                                        <p:tgtEl>
                                          <p:spTgt spid="161485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4850" grpId="0" build="p"/>
      <p:bldP spid="609286"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2495550" y="779463"/>
            <a:ext cx="8229600" cy="954087"/>
          </a:xfrm>
        </p:spPr>
        <p:txBody>
          <a:bodyPr/>
          <a:lstStyle/>
          <a:p>
            <a:r>
              <a:rPr lang="zh-CN" altLang="en-US">
                <a:solidFill>
                  <a:srgbClr val="FF0000"/>
                </a:solidFill>
              </a:rPr>
              <a:t>信息系统运行维护阶段的风险管理 </a:t>
            </a:r>
            <a:endParaRPr lang="zh-CN" altLang="en-US">
              <a:solidFill>
                <a:srgbClr val="FF0000"/>
              </a:solidFill>
            </a:endParaRPr>
          </a:p>
        </p:txBody>
      </p:sp>
      <p:graphicFrame>
        <p:nvGraphicFramePr>
          <p:cNvPr id="1608733" name="Group 29"/>
          <p:cNvGraphicFramePr>
            <a:graphicFrameLocks noGrp="1"/>
          </p:cNvGraphicFramePr>
          <p:nvPr>
            <p:ph idx="1"/>
          </p:nvPr>
        </p:nvGraphicFramePr>
        <p:xfrm>
          <a:off x="3469686" y="1844824"/>
          <a:ext cx="6166485" cy="3484880"/>
        </p:xfrm>
        <a:graphic>
          <a:graphicData uri="http://schemas.openxmlformats.org/drawingml/2006/table">
            <a:tbl>
              <a:tblPr>
                <a:effectLst>
                  <a:outerShdw blurRad="50800" dist="38100" dir="13500000" algn="br" rotWithShape="0">
                    <a:prstClr val="black">
                      <a:alpha val="40000"/>
                    </a:prstClr>
                  </a:outerShdw>
                </a:effectLst>
              </a:tblPr>
              <a:tblGrid>
                <a:gridCol w="914400"/>
                <a:gridCol w="2453005"/>
                <a:gridCol w="2799080"/>
              </a:tblGrid>
              <a:tr h="696497">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序号</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风险管理活动</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风险管理</a:t>
                      </a:r>
                      <a:r>
                        <a:rPr kumimoji="0"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工作内容</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97747">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安全运行和管理</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风险评估、风险处理</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96497">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变更管理</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风险评估、风险处理</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97747">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风险再评估</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风险评估、风险处理</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696497">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定期重新审批</a:t>
                      </a:r>
                      <a:endParaRPr kumimoji="0" lang="zh-CN" altLang="en-GB" sz="2000" b="0"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批准监督</a:t>
                      </a:r>
                      <a:endParaRPr kumimoji="0" lang="zh-CN" altLang="en-GB" sz="2000" b="0"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bl>
          </a:graphicData>
        </a:graphic>
      </p:graphicFrame>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Rectangle 2"/>
          <p:cNvSpPr>
            <a:spLocks noGrp="1" noChangeArrowheads="1"/>
          </p:cNvSpPr>
          <p:nvPr>
            <p:ph type="body" idx="1"/>
          </p:nvPr>
        </p:nvSpPr>
        <p:spPr>
          <a:xfrm>
            <a:off x="2208213" y="2830513"/>
            <a:ext cx="8191500" cy="1473200"/>
          </a:xfrm>
        </p:spPr>
        <p:txBody>
          <a:bodyPr/>
          <a:lstStyle/>
          <a:p>
            <a:r>
              <a:rPr lang="zh-CN" altLang="en-US"/>
              <a:t>确保对信息系统的</a:t>
            </a:r>
            <a:r>
              <a:rPr lang="zh-CN" altLang="en-US" b="1">
                <a:solidFill>
                  <a:srgbClr val="CC0000"/>
                </a:solidFill>
              </a:rPr>
              <a:t>过时或无用部分</a:t>
            </a:r>
            <a:r>
              <a:rPr lang="zh-CN" altLang="en-US"/>
              <a:t>进行</a:t>
            </a:r>
            <a:r>
              <a:rPr lang="zh-CN" altLang="en-US" b="1">
                <a:solidFill>
                  <a:srgbClr val="CC0000"/>
                </a:solidFill>
              </a:rPr>
              <a:t>安全报废处理</a:t>
            </a:r>
            <a:r>
              <a:rPr lang="zh-CN" altLang="en-US"/>
              <a:t>，防止信息系统的安全要求和安全功能遭到破坏。</a:t>
            </a:r>
            <a:endParaRPr lang="zh-CN" altLang="en-US"/>
          </a:p>
        </p:txBody>
      </p:sp>
      <p:sp>
        <p:nvSpPr>
          <p:cNvPr id="609283" name="AutoShape 3"/>
          <p:cNvSpPr>
            <a:spLocks noChangeArrowheads="1"/>
          </p:cNvSpPr>
          <p:nvPr/>
        </p:nvSpPr>
        <p:spPr bwMode="ltGray">
          <a:xfrm>
            <a:off x="2643188" y="2112328"/>
            <a:ext cx="1401762" cy="394969"/>
          </a:xfrm>
          <a:prstGeom prst="chevron">
            <a:avLst>
              <a:gd name="adj" fmla="val 73201"/>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规划</a:t>
            </a:r>
            <a:endParaRPr lang="zh-CN" altLang="en-US" sz="2000" b="1">
              <a:latin typeface="+mn-ea"/>
              <a:ea typeface="+mn-ea"/>
            </a:endParaRPr>
          </a:p>
        </p:txBody>
      </p:sp>
      <p:sp>
        <p:nvSpPr>
          <p:cNvPr id="609284" name="AutoShape 4"/>
          <p:cNvSpPr>
            <a:spLocks noChangeArrowheads="1"/>
          </p:cNvSpPr>
          <p:nvPr/>
        </p:nvSpPr>
        <p:spPr bwMode="ltGray">
          <a:xfrm>
            <a:off x="3975100" y="2095660"/>
            <a:ext cx="1403350" cy="394969"/>
          </a:xfrm>
          <a:prstGeom prst="chevron">
            <a:avLst>
              <a:gd name="adj" fmla="val 73279"/>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设计</a:t>
            </a:r>
            <a:endParaRPr lang="zh-CN" altLang="en-US" sz="2000" b="1">
              <a:latin typeface="+mn-ea"/>
              <a:ea typeface="+mn-ea"/>
            </a:endParaRPr>
          </a:p>
        </p:txBody>
      </p:sp>
      <p:sp>
        <p:nvSpPr>
          <p:cNvPr id="609285" name="AutoShape 5"/>
          <p:cNvSpPr>
            <a:spLocks noChangeArrowheads="1"/>
          </p:cNvSpPr>
          <p:nvPr/>
        </p:nvSpPr>
        <p:spPr bwMode="ltGray">
          <a:xfrm>
            <a:off x="5303838" y="2095660"/>
            <a:ext cx="1401762" cy="394969"/>
          </a:xfrm>
          <a:prstGeom prst="chevron">
            <a:avLst>
              <a:gd name="adj" fmla="val 73201"/>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a:latin typeface="+mn-ea"/>
                <a:ea typeface="+mn-ea"/>
              </a:rPr>
              <a:t>实施</a:t>
            </a:r>
            <a:endParaRPr lang="en-US" altLang="zh-CN" sz="2000" b="1">
              <a:latin typeface="+mn-ea"/>
              <a:ea typeface="+mn-ea"/>
            </a:endParaRPr>
          </a:p>
        </p:txBody>
      </p:sp>
      <p:sp>
        <p:nvSpPr>
          <p:cNvPr id="609286" name="AutoShape 6"/>
          <p:cNvSpPr>
            <a:spLocks noChangeArrowheads="1"/>
          </p:cNvSpPr>
          <p:nvPr/>
        </p:nvSpPr>
        <p:spPr bwMode="ltGray">
          <a:xfrm>
            <a:off x="6627813" y="2095660"/>
            <a:ext cx="1400175" cy="394969"/>
          </a:xfrm>
          <a:prstGeom prst="chevron">
            <a:avLst>
              <a:gd name="adj" fmla="val 73123"/>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dirty="0">
                <a:latin typeface="+mn-ea"/>
                <a:ea typeface="+mn-ea"/>
              </a:rPr>
              <a:t>运维</a:t>
            </a:r>
            <a:endParaRPr lang="en-US" altLang="zh-CN" sz="2000" b="1" dirty="0">
              <a:latin typeface="+mn-ea"/>
              <a:ea typeface="+mn-ea"/>
            </a:endParaRPr>
          </a:p>
        </p:txBody>
      </p:sp>
      <p:sp>
        <p:nvSpPr>
          <p:cNvPr id="609287" name="AutoShape 7"/>
          <p:cNvSpPr>
            <a:spLocks noChangeArrowheads="1"/>
          </p:cNvSpPr>
          <p:nvPr/>
        </p:nvSpPr>
        <p:spPr bwMode="ltGray">
          <a:xfrm>
            <a:off x="7997825" y="2095660"/>
            <a:ext cx="1398588" cy="394969"/>
          </a:xfrm>
          <a:prstGeom prst="chevron">
            <a:avLst>
              <a:gd name="adj" fmla="val 73045"/>
            </a:avLst>
          </a:prstGeom>
          <a:solidFill>
            <a:schemeClr val="tx2">
              <a:lumMod val="40000"/>
              <a:lumOff val="60000"/>
            </a:schemeClr>
          </a:solidFill>
          <a:ln w="38100">
            <a:solidFill>
              <a:srgbClr val="FF0000"/>
            </a:solidFill>
            <a:miter lim="800000"/>
          </a:ln>
          <a:effectLst>
            <a:outerShdw blurRad="50800" dist="38100" dir="18900000" algn="bl" rotWithShape="0">
              <a:prstClr val="black">
                <a:alpha val="40000"/>
              </a:prstClr>
            </a:outerShdw>
          </a:effectLst>
        </p:spPr>
        <p:txBody>
          <a:bodyPr lIns="88358" tIns="44179" rIns="88358" bIns="44179" anchor="ctr">
            <a:spAutoFit/>
          </a:bodyPr>
          <a:lstStyle/>
          <a:p>
            <a:pPr algn="ctr" defTabSz="884555" eaLnBrk="1" hangingPunct="1">
              <a:defRPr/>
            </a:pPr>
            <a:r>
              <a:rPr lang="zh-CN" altLang="en-US" sz="2000" b="1" dirty="0">
                <a:solidFill>
                  <a:srgbClr val="FF0000"/>
                </a:solidFill>
                <a:latin typeface="+mn-ea"/>
                <a:ea typeface="+mn-ea"/>
              </a:rPr>
              <a:t>废弃</a:t>
            </a:r>
            <a:endParaRPr lang="zh-CN" altLang="en-US" sz="2000" b="1" dirty="0">
              <a:solidFill>
                <a:srgbClr val="FF0000"/>
              </a:solidFill>
              <a:latin typeface="+mn-ea"/>
              <a:ea typeface="+mn-ea"/>
            </a:endParaRPr>
          </a:p>
        </p:txBody>
      </p:sp>
      <p:sp>
        <p:nvSpPr>
          <p:cNvPr id="91144" name="Rectangle 8"/>
          <p:cNvSpPr>
            <a:spLocks noGrp="1" noChangeArrowheads="1"/>
          </p:cNvSpPr>
          <p:nvPr>
            <p:ph type="title"/>
          </p:nvPr>
        </p:nvSpPr>
        <p:spPr>
          <a:xfrm>
            <a:off x="2459038" y="1052513"/>
            <a:ext cx="6511925" cy="487362"/>
          </a:xfrm>
        </p:spPr>
        <p:txBody>
          <a:bodyPr/>
          <a:lstStyle/>
          <a:p>
            <a:r>
              <a:rPr lang="zh-CN" altLang="en-US">
                <a:solidFill>
                  <a:srgbClr val="FF0000"/>
                </a:solidFill>
              </a:rPr>
              <a:t>风险管理的目标</a:t>
            </a:r>
            <a:endParaRPr lang="en-US" altLang="zh-CN">
              <a:solidFill>
                <a:srgbClr val="FF0000"/>
              </a:solidFill>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296025" y="4640263"/>
            <a:ext cx="1333500" cy="156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4425" y="4664075"/>
            <a:ext cx="133350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697913" y="4664075"/>
            <a:ext cx="133350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5400000">
                                      <p:cBhvr>
                                        <p:cTn id="6" dur="1000" fill="hold"/>
                                        <p:tgtEl>
                                          <p:spTgt spid="609287"/>
                                        </p:tgtEl>
                                        <p:attrNameLst>
                                          <p:attrName>r</p:attrName>
                                        </p:attrNameLst>
                                      </p:cBhvr>
                                    </p:animRot>
                                  </p:childTnLst>
                                </p:cTn>
                              </p:par>
                            </p:childTnLst>
                          </p:cTn>
                        </p:par>
                        <p:par>
                          <p:cTn id="7" fill="hold">
                            <p:stCondLst>
                              <p:cond delay="1000"/>
                            </p:stCondLst>
                            <p:childTnLst>
                              <p:par>
                                <p:cTn id="8" presetID="53" presetClass="entr" presetSubtype="16" fill="hold" grpId="0" nodeType="afterEffect">
                                  <p:stCondLst>
                                    <p:cond delay="0"/>
                                  </p:stCondLst>
                                  <p:childTnLst>
                                    <p:set>
                                      <p:cBhvr>
                                        <p:cTn id="9" dur="1" fill="hold">
                                          <p:stCondLst>
                                            <p:cond delay="0"/>
                                          </p:stCondLst>
                                        </p:cTn>
                                        <p:tgtEl>
                                          <p:spTgt spid="72706">
                                            <p:txEl>
                                              <p:pRg st="0" end="0"/>
                                            </p:txEl>
                                          </p:spTgt>
                                        </p:tgtEl>
                                        <p:attrNameLst>
                                          <p:attrName>style.visibility</p:attrName>
                                        </p:attrNameLst>
                                      </p:cBhvr>
                                      <p:to>
                                        <p:strVal val="visible"/>
                                      </p:to>
                                    </p:set>
                                    <p:anim calcmode="lin" valueType="num">
                                      <p:cBhvr>
                                        <p:cTn id="10" dur="1000" fill="hold"/>
                                        <p:tgtEl>
                                          <p:spTgt spid="72706">
                                            <p:txEl>
                                              <p:pRg st="0" end="0"/>
                                            </p:txEl>
                                          </p:spTgt>
                                        </p:tgtEl>
                                        <p:attrNameLst>
                                          <p:attrName>ppt_w</p:attrName>
                                        </p:attrNameLst>
                                      </p:cBhvr>
                                      <p:tavLst>
                                        <p:tav tm="0">
                                          <p:val>
                                            <p:fltVal val="0"/>
                                          </p:val>
                                        </p:tav>
                                        <p:tav tm="100000">
                                          <p:val>
                                            <p:strVal val="#ppt_w"/>
                                          </p:val>
                                        </p:tav>
                                      </p:tavLst>
                                    </p:anim>
                                    <p:anim calcmode="lin" valueType="num">
                                      <p:cBhvr>
                                        <p:cTn id="11" dur="1000" fill="hold"/>
                                        <p:tgtEl>
                                          <p:spTgt spid="72706">
                                            <p:txEl>
                                              <p:pRg st="0" end="0"/>
                                            </p:txEl>
                                          </p:spTgt>
                                        </p:tgtEl>
                                        <p:attrNameLst>
                                          <p:attrName>ppt_h</p:attrName>
                                        </p:attrNameLst>
                                      </p:cBhvr>
                                      <p:tavLst>
                                        <p:tav tm="0">
                                          <p:val>
                                            <p:fltVal val="0"/>
                                          </p:val>
                                        </p:tav>
                                        <p:tav tm="100000">
                                          <p:val>
                                            <p:strVal val="#ppt_h"/>
                                          </p:val>
                                        </p:tav>
                                      </p:tavLst>
                                    </p:anim>
                                    <p:animEffect transition="in" filter="fade">
                                      <p:cBhvr>
                                        <p:cTn id="12" dur="1000"/>
                                        <p:tgtEl>
                                          <p:spTgt spid="72706">
                                            <p:txEl>
                                              <p:pRg st="0" end="0"/>
                                            </p:txEl>
                                          </p:spTgt>
                                        </p:tgtEl>
                                      </p:cBhvr>
                                    </p:animEffect>
                                  </p:childTnLst>
                                </p:cTn>
                              </p:par>
                            </p:childTnLst>
                          </p:cTn>
                        </p:par>
                        <p:par>
                          <p:cTn id="13" fill="hold">
                            <p:stCondLst>
                              <p:cond delay="20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childTnLst>
                          </p:cTn>
                        </p:par>
                        <p:par>
                          <p:cTn id="17" fill="hold">
                            <p:stCondLst>
                              <p:cond delay="2500"/>
                            </p:stCondLst>
                            <p:childTnLst>
                              <p:par>
                                <p:cTn id="18" presetID="22" presetClass="entr" presetSubtype="1"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par>
                          <p:cTn id="21" fill="hold">
                            <p:stCondLst>
                              <p:cond delay="3000"/>
                            </p:stCondLst>
                            <p:childTnLst>
                              <p:par>
                                <p:cTn id="22" presetID="22" presetClass="entr" presetSubtype="1"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up)">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build="p"/>
      <p:bldP spid="609287"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2019300" y="892175"/>
            <a:ext cx="8229600" cy="954088"/>
          </a:xfrm>
        </p:spPr>
        <p:txBody>
          <a:bodyPr/>
          <a:lstStyle/>
          <a:p>
            <a:r>
              <a:rPr lang="zh-CN" altLang="en-US">
                <a:solidFill>
                  <a:srgbClr val="FF0000"/>
                </a:solidFill>
              </a:rPr>
              <a:t>信息系统废弃阶段的风险管理</a:t>
            </a:r>
            <a:endParaRPr lang="zh-CN" altLang="en-US">
              <a:solidFill>
                <a:srgbClr val="FF0000"/>
              </a:solidFill>
            </a:endParaRPr>
          </a:p>
        </p:txBody>
      </p:sp>
      <p:graphicFrame>
        <p:nvGraphicFramePr>
          <p:cNvPr id="1609757" name="Group 29"/>
          <p:cNvGraphicFramePr>
            <a:graphicFrameLocks noGrp="1"/>
          </p:cNvGraphicFramePr>
          <p:nvPr>
            <p:ph idx="1"/>
          </p:nvPr>
        </p:nvGraphicFramePr>
        <p:xfrm>
          <a:off x="2783632" y="2060848"/>
          <a:ext cx="6238875" cy="3124835"/>
        </p:xfrm>
        <a:graphic>
          <a:graphicData uri="http://schemas.openxmlformats.org/drawingml/2006/table">
            <a:tbl>
              <a:tblPr>
                <a:effectLst>
                  <a:outerShdw blurRad="50800" dist="38100" dir="13500000" algn="br" rotWithShape="0">
                    <a:prstClr val="black">
                      <a:alpha val="40000"/>
                    </a:prstClr>
                  </a:outerShdw>
                </a:effectLst>
              </a:tblPr>
              <a:tblGrid>
                <a:gridCol w="1073150"/>
                <a:gridCol w="2583815"/>
                <a:gridCol w="2581910"/>
              </a:tblGrid>
              <a:tr h="624540">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序号</a:t>
                      </a:r>
                      <a:endParaRPr kumimoji="0" lang="zh-CN" altLang="en-GB" sz="2000" b="1"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风险管理活动</a:t>
                      </a:r>
                      <a:endParaRPr kumimoji="0" lang="zh-CN" altLang="en-GB" sz="2000" b="1"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风险管理</a:t>
                      </a:r>
                      <a:r>
                        <a:rPr kumimoji="0"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工作内容</a:t>
                      </a:r>
                      <a:endParaRPr kumimoji="0" lang="zh-CN" altLang="en-GB" sz="2000" b="1"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r>
              <a:tr h="625662">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确定废弃对象</a:t>
                      </a:r>
                      <a:endParaRPr kumimoji="0" lang="zh-CN" altLang="en-GB" sz="2000" b="1"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背景建立</a:t>
                      </a:r>
                      <a:endParaRPr kumimoji="0" lang="zh-CN" altLang="en-GB" sz="2000" b="1"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r>
              <a:tr h="624540">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废弃对象的风险评估</a:t>
                      </a:r>
                      <a:endParaRPr kumimoji="0" lang="zh-CN" altLang="en-GB" sz="2000" b="1"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风险评估</a:t>
                      </a:r>
                      <a:endParaRPr kumimoji="0" lang="zh-CN" altLang="en-GB" sz="2000" b="1"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r>
              <a:tr h="625662">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废弃过程的风险处理</a:t>
                      </a:r>
                      <a:endParaRPr kumimoji="0" lang="zh-CN" altLang="en-GB" sz="2000" b="1"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风险处理</a:t>
                      </a:r>
                      <a:endParaRPr kumimoji="0" lang="zh-CN" altLang="en-GB" sz="2000" b="1"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r>
              <a:tr h="624540">
                <a:tc>
                  <a:txBody>
                    <a:bodyPr/>
                    <a:lstStyle/>
                    <a:p>
                      <a:pPr marL="342900" marR="0" lvl="0" indent="-342900" algn="ctr"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废弃后的评审</a:t>
                      </a:r>
                      <a:endParaRPr kumimoji="0" lang="zh-CN" altLang="en-GB" sz="2000" b="1" i="0" u="none" strike="noStrike" cap="none" normalizeH="0" baseline="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342900" marR="0" lvl="0" indent="-342900" algn="l" defTabSz="914400" rtl="0" eaLnBrk="1" fontAlgn="base" latinLnBrk="0" hangingPunct="0">
                        <a:lnSpc>
                          <a:spcPct val="99000"/>
                        </a:lnSpc>
                        <a:spcBef>
                          <a:spcPct val="0"/>
                        </a:spcBef>
                        <a:spcAft>
                          <a:spcPct val="0"/>
                        </a:spcAft>
                        <a:buClr>
                          <a:srgbClr val="000000"/>
                        </a:buClr>
                        <a:buSzPct val="45000"/>
                        <a:buFont typeface="Wingdings" panose="05000000000000000000" pitchFamily="2" charset="2"/>
                        <a:buNone/>
                      </a:pPr>
                      <a:r>
                        <a:rPr kumimoji="0" lang="zh-CN" altLang="en-GB"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批准监督</a:t>
                      </a:r>
                      <a:endParaRPr kumimoji="0" lang="zh-CN" altLang="en-GB" sz="2000" b="1" i="0" u="none" strike="noStrike" cap="none" normalizeH="0" baseline="0" dirty="0">
                        <a:ln>
                          <a:noFill/>
                        </a:ln>
                        <a:solidFill>
                          <a:srgbClr val="000000"/>
                        </a:solidFill>
                        <a:effectLst/>
                        <a:latin typeface="Bitstream Vera Sans" pitchFamily="32" charset="0"/>
                        <a:ea typeface="宋体" panose="02010600030101010101" pitchFamily="2" charset="-122"/>
                      </a:endParaRPr>
                    </a:p>
                  </a:txBody>
                  <a:tcPr marL="86019" marR="86019" marT="48386" marB="4838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r>
            </a:tbl>
          </a:graphicData>
        </a:graphic>
      </p:graphicFrame>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2316163" y="725488"/>
            <a:ext cx="6513512" cy="487362"/>
          </a:xfrm>
        </p:spPr>
        <p:txBody>
          <a:bodyPr/>
          <a:lstStyle/>
          <a:p>
            <a:r>
              <a:rPr lang="zh-CN" altLang="en-US">
                <a:solidFill>
                  <a:srgbClr val="FF0000"/>
                </a:solidFill>
              </a:rPr>
              <a:t>课程内容</a:t>
            </a:r>
            <a:endParaRPr lang="zh-CN" altLang="en-US">
              <a:solidFill>
                <a:srgbClr val="FF0000"/>
              </a:solidFill>
            </a:endParaRPr>
          </a:p>
        </p:txBody>
      </p:sp>
      <p:pic>
        <p:nvPicPr>
          <p:cNvPr id="12292" name="Picture 1" descr="信息安全风险管理"/>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6163" y="1736725"/>
            <a:ext cx="7380287"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a:xfrm>
            <a:off x="2071688" y="908050"/>
            <a:ext cx="7553325" cy="487363"/>
          </a:xfrm>
        </p:spPr>
        <p:txBody>
          <a:bodyPr/>
          <a:lstStyle/>
          <a:p>
            <a:r>
              <a:rPr lang="zh-CN" altLang="en-US">
                <a:solidFill>
                  <a:srgbClr val="FF0000"/>
                </a:solidFill>
              </a:rPr>
              <a:t>知识域：网络空间安全风险评估实践</a:t>
            </a:r>
            <a:endParaRPr lang="zh-CN" altLang="en-US">
              <a:solidFill>
                <a:srgbClr val="FF0000"/>
              </a:solidFill>
            </a:endParaRPr>
          </a:p>
        </p:txBody>
      </p:sp>
      <p:sp>
        <p:nvSpPr>
          <p:cNvPr id="74755" name="内容占位符 2"/>
          <p:cNvSpPr>
            <a:spLocks noGrp="1"/>
          </p:cNvSpPr>
          <p:nvPr>
            <p:ph idx="1"/>
          </p:nvPr>
        </p:nvSpPr>
        <p:spPr>
          <a:xfrm>
            <a:off x="2063750" y="1773238"/>
            <a:ext cx="7920038" cy="4221162"/>
          </a:xfrm>
        </p:spPr>
        <p:txBody>
          <a:bodyPr/>
          <a:lstStyle/>
          <a:p>
            <a:r>
              <a:rPr lang="zh-CN" altLang="zh-CN"/>
              <a:t>知识子域：风险评估流程和方法</a:t>
            </a:r>
            <a:endParaRPr lang="zh-CN" altLang="zh-CN"/>
          </a:p>
          <a:p>
            <a:pPr lvl="1"/>
            <a:r>
              <a:rPr lang="zh-CN" altLang="zh-CN" sz="2000"/>
              <a:t>掌握国家对开展风险评估工作的政策要求</a:t>
            </a:r>
            <a:endParaRPr lang="zh-CN" altLang="zh-CN" sz="2000"/>
          </a:p>
          <a:p>
            <a:pPr lvl="1"/>
            <a:r>
              <a:rPr lang="zh-CN" altLang="zh-CN" sz="2000"/>
              <a:t>理解风险评估、检查评估和等级保护测评之间的关系</a:t>
            </a:r>
            <a:endParaRPr lang="zh-CN" altLang="zh-CN" sz="2000"/>
          </a:p>
          <a:p>
            <a:pPr lvl="1"/>
            <a:r>
              <a:rPr lang="zh-CN" altLang="zh-CN" sz="2000"/>
              <a:t>掌握风险评估的实施流程：风险评估准备、资产识别、威胁评估、脆弱性评估、已有安全措施确认、风险分析、风险评估文档记录</a:t>
            </a:r>
            <a:endParaRPr lang="zh-CN" altLang="zh-CN" sz="2000"/>
          </a:p>
          <a:p>
            <a:pPr lvl="1"/>
            <a:r>
              <a:rPr lang="zh-CN" altLang="zh-CN" sz="2000"/>
              <a:t>理解定量风险分析和定性风险分析的区别及优缺点</a:t>
            </a:r>
            <a:endParaRPr lang="zh-CN" altLang="zh-CN" sz="2000"/>
          </a:p>
          <a:p>
            <a:pPr lvl="1"/>
            <a:r>
              <a:rPr lang="zh-CN" altLang="zh-CN" sz="2000"/>
              <a:t>理解自评估和检查评估的区别及优缺点</a:t>
            </a:r>
            <a:endParaRPr lang="zh-CN" altLang="zh-CN" sz="2000"/>
          </a:p>
          <a:p>
            <a:pPr lvl="1"/>
            <a:r>
              <a:rPr lang="zh-CN" altLang="zh-CN" sz="2000"/>
              <a:t>掌握典型风险计算方法：年度损失值（</a:t>
            </a:r>
            <a:r>
              <a:rPr lang="en-US" altLang="zh-CN" sz="2000"/>
              <a:t>ALE</a:t>
            </a:r>
            <a:r>
              <a:rPr lang="zh-CN" altLang="zh-CN" sz="2000"/>
              <a:t>）、矩阵法、相乘法</a:t>
            </a:r>
            <a:endParaRPr lang="zh-CN" altLang="zh-CN" sz="2000"/>
          </a:p>
          <a:p>
            <a:pPr lvl="1"/>
            <a:r>
              <a:rPr lang="zh-CN" altLang="zh-CN" sz="2000"/>
              <a:t>掌握风险评估工具：风险评估与管理工具、系统基础平台风险评估工具、风险评估辅助工具</a:t>
            </a:r>
            <a:endParaRPr lang="zh-CN" altLang="zh-CN" sz="200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 calcmode="lin" valueType="num">
                                      <p:cBhvr>
                                        <p:cTn id="7" dur="500" fill="hold"/>
                                        <p:tgtEl>
                                          <p:spTgt spid="7475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475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4755">
                                            <p:txEl>
                                              <p:pRg st="0" end="0"/>
                                            </p:tx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74755">
                                            <p:txEl>
                                              <p:pRg st="1" end="1"/>
                                            </p:txEl>
                                          </p:spTgt>
                                        </p:tgtEl>
                                        <p:attrNameLst>
                                          <p:attrName>style.visibility</p:attrName>
                                        </p:attrNameLst>
                                      </p:cBhvr>
                                      <p:to>
                                        <p:strVal val="visible"/>
                                      </p:to>
                                    </p:set>
                                    <p:anim calcmode="lin" valueType="num">
                                      <p:cBhvr>
                                        <p:cTn id="13" dur="500" fill="hold"/>
                                        <p:tgtEl>
                                          <p:spTgt spid="74755">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74755">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74755">
                                            <p:txEl>
                                              <p:pRg st="1" end="1"/>
                                            </p:txEl>
                                          </p:spTgt>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74755">
                                            <p:txEl>
                                              <p:pRg st="2" end="2"/>
                                            </p:txEl>
                                          </p:spTgt>
                                        </p:tgtEl>
                                        <p:attrNameLst>
                                          <p:attrName>style.visibility</p:attrName>
                                        </p:attrNameLst>
                                      </p:cBhvr>
                                      <p:to>
                                        <p:strVal val="visible"/>
                                      </p:to>
                                    </p:set>
                                    <p:anim calcmode="lin" valueType="num">
                                      <p:cBhvr>
                                        <p:cTn id="19" dur="500" fill="hold"/>
                                        <p:tgtEl>
                                          <p:spTgt spid="74755">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74755">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74755">
                                            <p:txEl>
                                              <p:pRg st="2" end="2"/>
                                            </p:txEl>
                                          </p:spTgt>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74755">
                                            <p:txEl>
                                              <p:pRg st="3" end="3"/>
                                            </p:txEl>
                                          </p:spTgt>
                                        </p:tgtEl>
                                        <p:attrNameLst>
                                          <p:attrName>style.visibility</p:attrName>
                                        </p:attrNameLst>
                                      </p:cBhvr>
                                      <p:to>
                                        <p:strVal val="visible"/>
                                      </p:to>
                                    </p:set>
                                    <p:anim calcmode="lin" valueType="num">
                                      <p:cBhvr>
                                        <p:cTn id="25" dur="500" fill="hold"/>
                                        <p:tgtEl>
                                          <p:spTgt spid="74755">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74755">
                                            <p:txEl>
                                              <p:pRg st="3" end="3"/>
                                            </p:txEl>
                                          </p:spTgt>
                                        </p:tgtEl>
                                        <p:attrNameLst>
                                          <p:attrName>ppt_h</p:attrName>
                                        </p:attrNameLst>
                                      </p:cBhvr>
                                      <p:tavLst>
                                        <p:tav tm="0">
                                          <p:val>
                                            <p:fltVal val="0"/>
                                          </p:val>
                                        </p:tav>
                                        <p:tav tm="100000">
                                          <p:val>
                                            <p:strVal val="#ppt_h"/>
                                          </p:val>
                                        </p:tav>
                                      </p:tavLst>
                                    </p:anim>
                                    <p:animEffect transition="in" filter="fade">
                                      <p:cBhvr>
                                        <p:cTn id="27" dur="500"/>
                                        <p:tgtEl>
                                          <p:spTgt spid="74755">
                                            <p:txEl>
                                              <p:pRg st="3" end="3"/>
                                            </p:txEl>
                                          </p:spTgt>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74755">
                                            <p:txEl>
                                              <p:pRg st="4" end="4"/>
                                            </p:txEl>
                                          </p:spTgt>
                                        </p:tgtEl>
                                        <p:attrNameLst>
                                          <p:attrName>style.visibility</p:attrName>
                                        </p:attrNameLst>
                                      </p:cBhvr>
                                      <p:to>
                                        <p:strVal val="visible"/>
                                      </p:to>
                                    </p:set>
                                    <p:anim calcmode="lin" valueType="num">
                                      <p:cBhvr>
                                        <p:cTn id="31" dur="500" fill="hold"/>
                                        <p:tgtEl>
                                          <p:spTgt spid="74755">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74755">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74755">
                                            <p:txEl>
                                              <p:pRg st="4" end="4"/>
                                            </p:txEl>
                                          </p:spTgt>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74755">
                                            <p:txEl>
                                              <p:pRg st="5" end="5"/>
                                            </p:txEl>
                                          </p:spTgt>
                                        </p:tgtEl>
                                        <p:attrNameLst>
                                          <p:attrName>style.visibility</p:attrName>
                                        </p:attrNameLst>
                                      </p:cBhvr>
                                      <p:to>
                                        <p:strVal val="visible"/>
                                      </p:to>
                                    </p:set>
                                    <p:anim calcmode="lin" valueType="num">
                                      <p:cBhvr>
                                        <p:cTn id="37" dur="500" fill="hold"/>
                                        <p:tgtEl>
                                          <p:spTgt spid="74755">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74755">
                                            <p:txEl>
                                              <p:pRg st="5" end="5"/>
                                            </p:txEl>
                                          </p:spTgt>
                                        </p:tgtEl>
                                        <p:attrNameLst>
                                          <p:attrName>ppt_h</p:attrName>
                                        </p:attrNameLst>
                                      </p:cBhvr>
                                      <p:tavLst>
                                        <p:tav tm="0">
                                          <p:val>
                                            <p:fltVal val="0"/>
                                          </p:val>
                                        </p:tav>
                                        <p:tav tm="100000">
                                          <p:val>
                                            <p:strVal val="#ppt_h"/>
                                          </p:val>
                                        </p:tav>
                                      </p:tavLst>
                                    </p:anim>
                                    <p:animEffect transition="in" filter="fade">
                                      <p:cBhvr>
                                        <p:cTn id="39" dur="500"/>
                                        <p:tgtEl>
                                          <p:spTgt spid="74755">
                                            <p:txEl>
                                              <p:pRg st="5" end="5"/>
                                            </p:txEl>
                                          </p:spTgt>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74755">
                                            <p:txEl>
                                              <p:pRg st="6" end="6"/>
                                            </p:txEl>
                                          </p:spTgt>
                                        </p:tgtEl>
                                        <p:attrNameLst>
                                          <p:attrName>style.visibility</p:attrName>
                                        </p:attrNameLst>
                                      </p:cBhvr>
                                      <p:to>
                                        <p:strVal val="visible"/>
                                      </p:to>
                                    </p:set>
                                    <p:anim calcmode="lin" valueType="num">
                                      <p:cBhvr>
                                        <p:cTn id="43" dur="500" fill="hold"/>
                                        <p:tgtEl>
                                          <p:spTgt spid="74755">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74755">
                                            <p:txEl>
                                              <p:pRg st="6" end="6"/>
                                            </p:txEl>
                                          </p:spTgt>
                                        </p:tgtEl>
                                        <p:attrNameLst>
                                          <p:attrName>ppt_h</p:attrName>
                                        </p:attrNameLst>
                                      </p:cBhvr>
                                      <p:tavLst>
                                        <p:tav tm="0">
                                          <p:val>
                                            <p:fltVal val="0"/>
                                          </p:val>
                                        </p:tav>
                                        <p:tav tm="100000">
                                          <p:val>
                                            <p:strVal val="#ppt_h"/>
                                          </p:val>
                                        </p:tav>
                                      </p:tavLst>
                                    </p:anim>
                                    <p:animEffect transition="in" filter="fade">
                                      <p:cBhvr>
                                        <p:cTn id="45" dur="500"/>
                                        <p:tgtEl>
                                          <p:spTgt spid="74755">
                                            <p:txEl>
                                              <p:pRg st="6" end="6"/>
                                            </p:txEl>
                                          </p:spTgt>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74755">
                                            <p:txEl>
                                              <p:pRg st="7" end="7"/>
                                            </p:txEl>
                                          </p:spTgt>
                                        </p:tgtEl>
                                        <p:attrNameLst>
                                          <p:attrName>style.visibility</p:attrName>
                                        </p:attrNameLst>
                                      </p:cBhvr>
                                      <p:to>
                                        <p:strVal val="visible"/>
                                      </p:to>
                                    </p:set>
                                    <p:anim calcmode="lin" valueType="num">
                                      <p:cBhvr>
                                        <p:cTn id="49" dur="500" fill="hold"/>
                                        <p:tgtEl>
                                          <p:spTgt spid="74755">
                                            <p:txEl>
                                              <p:pRg st="7" end="7"/>
                                            </p:txEl>
                                          </p:spTgt>
                                        </p:tgtEl>
                                        <p:attrNameLst>
                                          <p:attrName>ppt_w</p:attrName>
                                        </p:attrNameLst>
                                      </p:cBhvr>
                                      <p:tavLst>
                                        <p:tav tm="0">
                                          <p:val>
                                            <p:fltVal val="0"/>
                                          </p:val>
                                        </p:tav>
                                        <p:tav tm="100000">
                                          <p:val>
                                            <p:strVal val="#ppt_w"/>
                                          </p:val>
                                        </p:tav>
                                      </p:tavLst>
                                    </p:anim>
                                    <p:anim calcmode="lin" valueType="num">
                                      <p:cBhvr>
                                        <p:cTn id="50" dur="500" fill="hold"/>
                                        <p:tgtEl>
                                          <p:spTgt spid="74755">
                                            <p:txEl>
                                              <p:pRg st="7" end="7"/>
                                            </p:txEl>
                                          </p:spTgt>
                                        </p:tgtEl>
                                        <p:attrNameLst>
                                          <p:attrName>ppt_h</p:attrName>
                                        </p:attrNameLst>
                                      </p:cBhvr>
                                      <p:tavLst>
                                        <p:tav tm="0">
                                          <p:val>
                                            <p:fltVal val="0"/>
                                          </p:val>
                                        </p:tav>
                                        <p:tav tm="100000">
                                          <p:val>
                                            <p:strVal val="#ppt_h"/>
                                          </p:val>
                                        </p:tav>
                                      </p:tavLst>
                                    </p:anim>
                                    <p:animEffect transition="in" filter="fade">
                                      <p:cBhvr>
                                        <p:cTn id="51" dur="500"/>
                                        <p:tgtEl>
                                          <p:spTgt spid="747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xfrm>
            <a:off x="2279650" y="795338"/>
            <a:ext cx="7289800" cy="487362"/>
          </a:xfrm>
        </p:spPr>
        <p:txBody>
          <a:bodyPr/>
          <a:lstStyle/>
          <a:p>
            <a:r>
              <a:rPr lang="zh-CN" altLang="zh-CN">
                <a:solidFill>
                  <a:srgbClr val="FF0000"/>
                </a:solidFill>
              </a:rPr>
              <a:t>国家对开展风险评估工作的政策要求</a:t>
            </a:r>
            <a:endParaRPr lang="zh-CN" altLang="en-US">
              <a:solidFill>
                <a:srgbClr val="FF0000"/>
              </a:solidFill>
            </a:endParaRPr>
          </a:p>
        </p:txBody>
      </p:sp>
      <p:sp>
        <p:nvSpPr>
          <p:cNvPr id="75779" name="内容占位符 2"/>
          <p:cNvSpPr>
            <a:spLocks noGrp="1"/>
          </p:cNvSpPr>
          <p:nvPr>
            <p:ph idx="1"/>
          </p:nvPr>
        </p:nvSpPr>
        <p:spPr>
          <a:xfrm>
            <a:off x="1908175" y="1484313"/>
            <a:ext cx="8496300" cy="830262"/>
          </a:xfrm>
        </p:spPr>
        <p:txBody>
          <a:bodyPr/>
          <a:lstStyle/>
          <a:p>
            <a:pPr>
              <a:lnSpc>
                <a:spcPct val="90000"/>
              </a:lnSpc>
              <a:buFont typeface="Wingdings" panose="05000000000000000000" pitchFamily="2" charset="2"/>
              <a:buNone/>
              <a:defRPr/>
            </a:pPr>
            <a:r>
              <a:rPr lang="en-US" altLang="zh-CN" b="1" dirty="0"/>
              <a:t>1.《</a:t>
            </a:r>
            <a:r>
              <a:rPr lang="zh-CN" altLang="en-US" b="1" dirty="0"/>
              <a:t>国家信息化领导小组关于加强信息安全保障工作的意见</a:t>
            </a:r>
            <a:r>
              <a:rPr lang="en-US" altLang="zh-CN" b="1" dirty="0"/>
              <a:t>》</a:t>
            </a:r>
            <a:r>
              <a:rPr lang="zh-CN" altLang="en-US" b="1" dirty="0"/>
              <a:t>（中办发</a:t>
            </a:r>
            <a:r>
              <a:rPr lang="en-US" altLang="zh-CN" b="1" dirty="0"/>
              <a:t>[2003]27</a:t>
            </a:r>
            <a:r>
              <a:rPr lang="zh-CN" altLang="en-US" b="1" dirty="0"/>
              <a:t>号）中明确提出：</a:t>
            </a:r>
            <a:endParaRPr lang="en-US" altLang="zh-CN" b="1" dirty="0"/>
          </a:p>
          <a:p>
            <a:pPr>
              <a:lnSpc>
                <a:spcPct val="90000"/>
              </a:lnSpc>
              <a:buFont typeface="Wingdings" panose="05000000000000000000" pitchFamily="2" charset="2"/>
              <a:buNone/>
              <a:defRPr/>
            </a:pPr>
            <a:endParaRPr lang="en-US" altLang="zh-CN" sz="2400" b="1" dirty="0"/>
          </a:p>
          <a:p>
            <a:pPr marL="0" indent="0">
              <a:buFont typeface="Wingdings" panose="05000000000000000000" pitchFamily="2" charset="2"/>
              <a:buNone/>
              <a:defRPr/>
            </a:pPr>
            <a:endParaRPr lang="zh-CN" altLang="en-US" dirty="0"/>
          </a:p>
        </p:txBody>
      </p:sp>
      <p:sp>
        <p:nvSpPr>
          <p:cNvPr id="2" name="矩形 1"/>
          <p:cNvSpPr/>
          <p:nvPr/>
        </p:nvSpPr>
        <p:spPr>
          <a:xfrm>
            <a:off x="2351088" y="4508500"/>
            <a:ext cx="7599362" cy="1419860"/>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eaLnBrk="1" hangingPunct="1">
              <a:lnSpc>
                <a:spcPct val="90000"/>
              </a:lnSpc>
              <a:buFont typeface="Wingdings" panose="05000000000000000000" pitchFamily="2" charset="2"/>
              <a:buNone/>
              <a:defRPr/>
            </a:pPr>
            <a:r>
              <a:rPr lang="zh-CN" altLang="en-US" sz="2400" b="1" dirty="0">
                <a:solidFill>
                  <a:srgbClr val="0033CC"/>
                </a:solidFill>
              </a:rPr>
              <a:t>“要重视信息安全风险评估工作，对网络与信息系统安全的潜在威胁、薄弱环节、防护措施等进行分析评估，综合考虑网络与信息系统的重要性、涉密程度和面临的信息安全风险等因素，进行相应等级的安全建设和管理”</a:t>
            </a:r>
            <a:r>
              <a:rPr lang="zh-CN" altLang="en-US" sz="2400" dirty="0">
                <a:solidFill>
                  <a:srgbClr val="0033CC"/>
                </a:solidFill>
              </a:rPr>
              <a:t> </a:t>
            </a:r>
            <a:endParaRPr lang="zh-CN" altLang="en-US" sz="2400" dirty="0">
              <a:solidFill>
                <a:srgbClr val="0033CC"/>
              </a:solidFill>
            </a:endParaRPr>
          </a:p>
        </p:txBody>
      </p:sp>
      <p:pic>
        <p:nvPicPr>
          <p:cNvPr id="5" name="图片 4"/>
          <p:cNvPicPr>
            <a:picLocks noChangeAspect="1"/>
          </p:cNvPicPr>
          <p:nvPr/>
        </p:nvPicPr>
        <p:blipFill>
          <a:blip r:embed="rId1"/>
          <a:stretch>
            <a:fillRect/>
          </a:stretch>
        </p:blipFill>
        <p:spPr>
          <a:xfrm>
            <a:off x="3071664" y="2480397"/>
            <a:ext cx="5904656" cy="1793729"/>
          </a:xfrm>
          <a:prstGeom prst="rect">
            <a:avLst/>
          </a:prstGeom>
        </p:spPr>
        <p:style>
          <a:lnRef idx="0">
            <a:schemeClr val="accent2"/>
          </a:lnRef>
          <a:fillRef idx="3">
            <a:schemeClr val="accent2"/>
          </a:fillRef>
          <a:effectRef idx="3">
            <a:schemeClr val="accent2"/>
          </a:effectRef>
          <a:fontRef idx="minor">
            <a:schemeClr val="lt1"/>
          </a:fontRef>
        </p:style>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 calcmode="lin" valueType="num">
                                      <p:cBhvr additive="base">
                                        <p:cTn id="7" dur="500" fill="hold"/>
                                        <p:tgtEl>
                                          <p:spTgt spid="757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5779">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1000" fill="hold"/>
                                        <p:tgtEl>
                                          <p:spTgt spid="2"/>
                                        </p:tgtEl>
                                        <p:attrNameLst>
                                          <p:attrName>ppt_x</p:attrName>
                                        </p:attrNameLst>
                                      </p:cBhvr>
                                      <p:tavLst>
                                        <p:tav tm="0">
                                          <p:val>
                                            <p:strVal val="#ppt_x"/>
                                          </p:val>
                                        </p:tav>
                                        <p:tav tm="100000">
                                          <p:val>
                                            <p:strVal val="#ppt_x"/>
                                          </p:val>
                                        </p:tav>
                                      </p:tavLst>
                                    </p:anim>
                                    <p:anim calcmode="lin" valueType="num">
                                      <p:cBhvr additive="base">
                                        <p:cTn id="19"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P spid="2"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2073275" y="817563"/>
            <a:ext cx="7289800" cy="487362"/>
          </a:xfrm>
        </p:spPr>
        <p:txBody>
          <a:bodyPr/>
          <a:lstStyle/>
          <a:p>
            <a:r>
              <a:rPr lang="zh-CN" altLang="zh-CN">
                <a:solidFill>
                  <a:srgbClr val="FF0000"/>
                </a:solidFill>
              </a:rPr>
              <a:t>国家对开展风险评估工作的政策要求</a:t>
            </a:r>
            <a:endParaRPr lang="zh-CN" altLang="en-US">
              <a:solidFill>
                <a:srgbClr val="FF0000"/>
              </a:solidFill>
            </a:endParaRPr>
          </a:p>
        </p:txBody>
      </p:sp>
      <p:sp>
        <p:nvSpPr>
          <p:cNvPr id="76803" name="内容占位符 2"/>
          <p:cNvSpPr>
            <a:spLocks noGrp="1"/>
          </p:cNvSpPr>
          <p:nvPr>
            <p:ph idx="1"/>
          </p:nvPr>
        </p:nvSpPr>
        <p:spPr>
          <a:xfrm>
            <a:off x="2073275" y="1557338"/>
            <a:ext cx="7993063" cy="1800225"/>
          </a:xfrm>
        </p:spPr>
        <p:txBody>
          <a:bodyPr/>
          <a:lstStyle/>
          <a:p>
            <a:pPr>
              <a:buFont typeface="Wingdings" panose="05000000000000000000" pitchFamily="2" charset="2"/>
              <a:buNone/>
            </a:pPr>
            <a:r>
              <a:rPr lang="en-US" altLang="zh-CN" b="1"/>
              <a:t>2.《</a:t>
            </a:r>
            <a:r>
              <a:rPr lang="zh-CN" altLang="en-US" b="1"/>
              <a:t>国家网络与信息安全协调小组</a:t>
            </a:r>
            <a:r>
              <a:rPr lang="en-US" altLang="zh-CN" b="1"/>
              <a:t>〈</a:t>
            </a:r>
            <a:r>
              <a:rPr lang="zh-CN" altLang="en-US" b="1"/>
              <a:t>关于开展信息安全风险评估工作的意见</a:t>
            </a:r>
            <a:r>
              <a:rPr lang="en-US" altLang="zh-CN" b="1"/>
              <a:t>〉》</a:t>
            </a:r>
            <a:r>
              <a:rPr lang="zh-CN" altLang="en-US" b="1"/>
              <a:t>（国信办</a:t>
            </a:r>
            <a:r>
              <a:rPr lang="en-US" altLang="zh-CN" b="1"/>
              <a:t>【2006】5</a:t>
            </a:r>
            <a:r>
              <a:rPr lang="zh-CN" altLang="en-US" b="1"/>
              <a:t>号文）中明确规定了风险评估工作的相关要求：</a:t>
            </a:r>
            <a:endParaRPr lang="zh-CN" altLang="en-US" b="1"/>
          </a:p>
        </p:txBody>
      </p:sp>
      <p:sp>
        <p:nvSpPr>
          <p:cNvPr id="2" name="矩形 1"/>
          <p:cNvSpPr>
            <a:spLocks noChangeArrowheads="1"/>
          </p:cNvSpPr>
          <p:nvPr/>
        </p:nvSpPr>
        <p:spPr bwMode="auto">
          <a:xfrm>
            <a:off x="2279650" y="3502025"/>
            <a:ext cx="6529388"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800100" indent="-34290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lvl="1" eaLnBrk="1" hangingPunct="1">
              <a:lnSpc>
                <a:spcPts val="3600"/>
              </a:lnSpc>
              <a:spcBef>
                <a:spcPct val="0"/>
              </a:spcBef>
              <a:buClrTx/>
              <a:buFont typeface="Wingdings" panose="05000000000000000000" pitchFamily="2" charset="2"/>
              <a:buChar char="u"/>
            </a:pPr>
            <a:r>
              <a:rPr lang="zh-CN" altLang="en-US" sz="2400" b="1"/>
              <a:t>风险评估的基本内容和原则</a:t>
            </a:r>
            <a:endParaRPr lang="zh-CN" altLang="en-US" sz="2400" b="1"/>
          </a:p>
          <a:p>
            <a:pPr lvl="1" eaLnBrk="1" hangingPunct="1">
              <a:lnSpc>
                <a:spcPts val="3600"/>
              </a:lnSpc>
              <a:spcBef>
                <a:spcPct val="0"/>
              </a:spcBef>
              <a:buClrTx/>
              <a:buFont typeface="Wingdings" panose="05000000000000000000" pitchFamily="2" charset="2"/>
              <a:buChar char="u"/>
            </a:pPr>
            <a:r>
              <a:rPr lang="zh-CN" altLang="en-US" sz="2400" b="1"/>
              <a:t>风险评估工作的基本要求</a:t>
            </a:r>
            <a:endParaRPr lang="zh-CN" altLang="en-US" sz="2400" b="1"/>
          </a:p>
          <a:p>
            <a:pPr lvl="1" eaLnBrk="1" hangingPunct="1">
              <a:lnSpc>
                <a:spcPts val="3600"/>
              </a:lnSpc>
              <a:spcBef>
                <a:spcPct val="0"/>
              </a:spcBef>
              <a:buClrTx/>
              <a:buFont typeface="Wingdings" panose="05000000000000000000" pitchFamily="2" charset="2"/>
              <a:buChar char="u"/>
            </a:pPr>
            <a:r>
              <a:rPr lang="zh-CN" altLang="en-US" sz="2400" b="1"/>
              <a:t>开展风险评估工作的有关安排</a:t>
            </a:r>
            <a:endParaRPr lang="zh-CN" altLang="en-US" sz="240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 calcmode="lin" valueType="num">
                                      <p:cBhvr additive="base">
                                        <p:cTn id="7" dur="500" fill="hold"/>
                                        <p:tgtEl>
                                          <p:spTgt spid="768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680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1000" fill="hold"/>
                                        <p:tgtEl>
                                          <p:spTgt spid="2"/>
                                        </p:tgtEl>
                                        <p:attrNameLst>
                                          <p:attrName>ppt_x</p:attrName>
                                        </p:attrNameLst>
                                      </p:cBhvr>
                                      <p:tavLst>
                                        <p:tav tm="0">
                                          <p:val>
                                            <p:strVal val="0-#ppt_w/2"/>
                                          </p:val>
                                        </p:tav>
                                        <p:tav tm="100000">
                                          <p:val>
                                            <p:strVal val="#ppt_x"/>
                                          </p:val>
                                        </p:tav>
                                      </p:tavLst>
                                    </p:anim>
                                    <p:anim calcmode="lin" valueType="num">
                                      <p:cBhvr additive="base">
                                        <p:cTn id="13"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P spid="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5" name="Rectangle 3"/>
          <p:cNvSpPr>
            <a:spLocks noGrp="1" noRot="1" noChangeArrowheads="1"/>
          </p:cNvSpPr>
          <p:nvPr>
            <p:ph type="body" idx="1"/>
          </p:nvPr>
        </p:nvSpPr>
        <p:spPr>
          <a:xfrm>
            <a:off x="2135188" y="1495425"/>
            <a:ext cx="8064500" cy="1900238"/>
          </a:xfrm>
        </p:spPr>
        <p:txBody>
          <a:bodyPr/>
          <a:lstStyle/>
          <a:p>
            <a:pPr>
              <a:buFont typeface="Wingdings" panose="05000000000000000000" pitchFamily="2" charset="2"/>
              <a:buNone/>
            </a:pPr>
            <a:r>
              <a:rPr lang="en-US" altLang="zh-CN" sz="2400" b="1"/>
              <a:t>3.</a:t>
            </a:r>
            <a:r>
              <a:rPr lang="zh-CN" altLang="en-US" sz="2400" b="1"/>
              <a:t>为落实</a:t>
            </a:r>
            <a:r>
              <a:rPr lang="en-US" altLang="zh-CN" sz="2400" b="1"/>
              <a:t>《</a:t>
            </a:r>
            <a:r>
              <a:rPr lang="zh-CN" altLang="en-US" sz="2400" b="1"/>
              <a:t>国家电子政务工程建设项目管理暂行办法</a:t>
            </a:r>
            <a:r>
              <a:rPr lang="en-US" altLang="zh-CN" sz="2400" b="1"/>
              <a:t>》</a:t>
            </a:r>
            <a:r>
              <a:rPr lang="zh-CN" altLang="en-US" sz="2400" b="1"/>
              <a:t>（发改委</a:t>
            </a:r>
            <a:r>
              <a:rPr lang="en-US" altLang="zh-CN" sz="2400" b="1"/>
              <a:t>[2007]55</a:t>
            </a:r>
            <a:r>
              <a:rPr lang="zh-CN" altLang="en-US" sz="2400" b="1"/>
              <a:t>号令）对风险评估的要求， </a:t>
            </a:r>
            <a:r>
              <a:rPr lang="en-US" altLang="en-US" sz="2400" b="1"/>
              <a:t>发改高技【2008】2071</a:t>
            </a:r>
            <a:r>
              <a:rPr lang="zh-CN" altLang="en-US" sz="2400" b="1"/>
              <a:t>号文件</a:t>
            </a:r>
            <a:r>
              <a:rPr lang="en-US" altLang="zh-CN" sz="2400" b="1"/>
              <a:t>《</a:t>
            </a:r>
            <a:r>
              <a:rPr lang="zh-CN" altLang="en-US" sz="2400" b="1"/>
              <a:t>关于加强国家电子政务工程建设项目信息安全风险评估工作的通知</a:t>
            </a:r>
            <a:r>
              <a:rPr lang="en-US" altLang="zh-CN" sz="2400" b="1"/>
              <a:t>》</a:t>
            </a:r>
            <a:r>
              <a:rPr lang="zh-CN" altLang="en-US" sz="2400" b="1"/>
              <a:t>提出了具体要求：（相当于“信息安全审计”）</a:t>
            </a:r>
            <a:endParaRPr lang="zh-CN" altLang="en-US" sz="2400" b="1"/>
          </a:p>
        </p:txBody>
      </p:sp>
      <p:sp>
        <p:nvSpPr>
          <p:cNvPr id="96259" name="标题 1"/>
          <p:cNvSpPr>
            <a:spLocks noGrp="1"/>
          </p:cNvSpPr>
          <p:nvPr>
            <p:ph type="title"/>
          </p:nvPr>
        </p:nvSpPr>
        <p:spPr>
          <a:xfrm>
            <a:off x="2135188" y="835025"/>
            <a:ext cx="7289800" cy="487363"/>
          </a:xfrm>
        </p:spPr>
        <p:txBody>
          <a:bodyPr/>
          <a:lstStyle/>
          <a:p>
            <a:r>
              <a:rPr lang="zh-CN" altLang="zh-CN">
                <a:solidFill>
                  <a:srgbClr val="FF0000"/>
                </a:solidFill>
              </a:rPr>
              <a:t>国家对开展风险评估工作的政策要求</a:t>
            </a:r>
            <a:endParaRPr lang="zh-CN" altLang="en-US">
              <a:solidFill>
                <a:srgbClr val="FF0000"/>
              </a:solidFill>
            </a:endParaRPr>
          </a:p>
        </p:txBody>
      </p:sp>
      <p:sp>
        <p:nvSpPr>
          <p:cNvPr id="3" name="矩形 2"/>
          <p:cNvSpPr>
            <a:spLocks noChangeArrowheads="1"/>
          </p:cNvSpPr>
          <p:nvPr/>
        </p:nvSpPr>
        <p:spPr bwMode="auto">
          <a:xfrm>
            <a:off x="2424113" y="3500438"/>
            <a:ext cx="7272337" cy="2604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800100" indent="-34290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lvl="1" eaLnBrk="1" hangingPunct="1">
              <a:lnSpc>
                <a:spcPts val="2800"/>
              </a:lnSpc>
              <a:spcBef>
                <a:spcPct val="0"/>
              </a:spcBef>
              <a:buClrTx/>
              <a:buFont typeface="Wingdings" panose="05000000000000000000" pitchFamily="2" charset="2"/>
              <a:buChar char="p"/>
            </a:pPr>
            <a:r>
              <a:rPr lang="zh-CN" altLang="en-US" sz="2000" b="1">
                <a:latin typeface="宋体" panose="02010600030101010101" pitchFamily="2" charset="-122"/>
                <a:ea typeface="宋体" panose="02010600030101010101" pitchFamily="2" charset="-122"/>
              </a:rPr>
              <a:t>电子政务工程建设项目应开展信息安全风险评估工作</a:t>
            </a:r>
            <a:endParaRPr lang="zh-CN" altLang="en-US" sz="2000" b="1">
              <a:latin typeface="宋体" panose="02010600030101010101" pitchFamily="2" charset="-122"/>
              <a:ea typeface="宋体" panose="02010600030101010101" pitchFamily="2" charset="-122"/>
            </a:endParaRPr>
          </a:p>
          <a:p>
            <a:pPr lvl="1" eaLnBrk="1" hangingPunct="1">
              <a:lnSpc>
                <a:spcPts val="2800"/>
              </a:lnSpc>
              <a:spcBef>
                <a:spcPct val="0"/>
              </a:spcBef>
              <a:buClrTx/>
              <a:buFont typeface="Wingdings" panose="05000000000000000000" pitchFamily="2" charset="2"/>
              <a:buChar char="p"/>
            </a:pPr>
            <a:r>
              <a:rPr lang="zh-CN" altLang="en-US" sz="2000" b="1">
                <a:latin typeface="宋体" panose="02010600030101010101" pitchFamily="2" charset="-122"/>
                <a:ea typeface="宋体" panose="02010600030101010101" pitchFamily="2" charset="-122"/>
              </a:rPr>
              <a:t>评估的主要内容应包含：资产、威胁、脆弱性、已有的安全措施和残余风险的影响等</a:t>
            </a:r>
            <a:endParaRPr lang="zh-CN" altLang="en-US" sz="2000" b="1">
              <a:latin typeface="宋体" panose="02010600030101010101" pitchFamily="2" charset="-122"/>
              <a:ea typeface="宋体" panose="02010600030101010101" pitchFamily="2" charset="-122"/>
            </a:endParaRPr>
          </a:p>
          <a:p>
            <a:pPr lvl="1" eaLnBrk="1" hangingPunct="1">
              <a:lnSpc>
                <a:spcPts val="2800"/>
              </a:lnSpc>
              <a:spcBef>
                <a:spcPct val="0"/>
              </a:spcBef>
              <a:buClrTx/>
              <a:buFont typeface="Wingdings" panose="05000000000000000000" pitchFamily="2" charset="2"/>
              <a:buChar char="p"/>
            </a:pPr>
            <a:r>
              <a:rPr lang="zh-CN" altLang="en-US" sz="2000" b="1">
                <a:latin typeface="宋体" panose="02010600030101010101" pitchFamily="2" charset="-122"/>
                <a:ea typeface="宋体" panose="02010600030101010101" pitchFamily="2" charset="-122"/>
              </a:rPr>
              <a:t>项目建设单位应在试运行期间开展风险评估工作，作为项目验收的重要依据</a:t>
            </a:r>
            <a:endParaRPr lang="zh-CN" altLang="en-US" sz="2000" b="1">
              <a:latin typeface="宋体" panose="02010600030101010101" pitchFamily="2" charset="-122"/>
              <a:ea typeface="宋体" panose="02010600030101010101" pitchFamily="2" charset="-122"/>
            </a:endParaRPr>
          </a:p>
          <a:p>
            <a:pPr lvl="1" eaLnBrk="1" hangingPunct="1">
              <a:lnSpc>
                <a:spcPts val="2800"/>
              </a:lnSpc>
              <a:spcBef>
                <a:spcPct val="0"/>
              </a:spcBef>
              <a:buClrTx/>
              <a:buFont typeface="Wingdings" panose="05000000000000000000" pitchFamily="2" charset="2"/>
              <a:buChar char="p"/>
            </a:pPr>
            <a:r>
              <a:rPr lang="zh-CN" altLang="en-US" sz="2000" b="1">
                <a:latin typeface="宋体" panose="02010600030101010101" pitchFamily="2" charset="-122"/>
                <a:ea typeface="宋体" panose="02010600030101010101" pitchFamily="2" charset="-122"/>
              </a:rPr>
              <a:t>项目验收申请时，应提交信息安全风险评估报告</a:t>
            </a:r>
            <a:endParaRPr lang="zh-CN" altLang="en-US" sz="2000" b="1">
              <a:latin typeface="宋体" panose="02010600030101010101" pitchFamily="2" charset="-122"/>
              <a:ea typeface="宋体" panose="02010600030101010101" pitchFamily="2" charset="-122"/>
            </a:endParaRPr>
          </a:p>
          <a:p>
            <a:pPr lvl="1" eaLnBrk="1" hangingPunct="1">
              <a:lnSpc>
                <a:spcPts val="2800"/>
              </a:lnSpc>
              <a:spcBef>
                <a:spcPct val="0"/>
              </a:spcBef>
              <a:buClrTx/>
              <a:buFont typeface="Wingdings" panose="05000000000000000000" pitchFamily="2" charset="2"/>
              <a:buChar char="p"/>
            </a:pPr>
            <a:r>
              <a:rPr lang="zh-CN" altLang="en-US" sz="2000" b="1">
                <a:latin typeface="宋体" panose="02010600030101010101" pitchFamily="2" charset="-122"/>
                <a:ea typeface="宋体" panose="02010600030101010101" pitchFamily="2" charset="-122"/>
              </a:rPr>
              <a:t>系统投入运行后，应定期开展信息安全风险评估</a:t>
            </a:r>
            <a:endParaRPr lang="zh-CN" altLang="en-US" sz="2000" b="1">
              <a:latin typeface="宋体" panose="02010600030101010101" pitchFamily="2" charset="-122"/>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1925">
                                            <p:txEl>
                                              <p:pRg st="0" end="0"/>
                                            </p:txEl>
                                          </p:spTgt>
                                        </p:tgtEl>
                                        <p:attrNameLst>
                                          <p:attrName>style.visibility</p:attrName>
                                        </p:attrNameLst>
                                      </p:cBhvr>
                                      <p:to>
                                        <p:strVal val="visible"/>
                                      </p:to>
                                    </p:set>
                                    <p:anim calcmode="lin" valueType="num">
                                      <p:cBhvr additive="base">
                                        <p:cTn id="7" dur="500" fill="hold"/>
                                        <p:tgtEl>
                                          <p:spTgt spid="8192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Effect transition="in" filter="fade">
                                      <p:cBhvr>
                                        <p:cTn id="1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5" grpId="0" build="p"/>
      <p:bldP spid="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rrowheads="1"/>
          </p:cNvSpPr>
          <p:nvPr>
            <p:ph type="title"/>
          </p:nvPr>
        </p:nvSpPr>
        <p:spPr>
          <a:xfrm>
            <a:off x="2208213" y="947738"/>
            <a:ext cx="6513512" cy="487362"/>
          </a:xfrm>
        </p:spPr>
        <p:txBody>
          <a:bodyPr/>
          <a:lstStyle/>
          <a:p>
            <a:r>
              <a:rPr lang="zh-CN" altLang="en-US">
                <a:solidFill>
                  <a:srgbClr val="FF0000"/>
                </a:solidFill>
              </a:rPr>
              <a:t>风险评估工作承担单位</a:t>
            </a:r>
            <a:endParaRPr lang="zh-CN" altLang="en-US">
              <a:solidFill>
                <a:srgbClr val="FF0000"/>
              </a:solidFill>
            </a:endParaRPr>
          </a:p>
        </p:txBody>
      </p:sp>
      <p:grpSp>
        <p:nvGrpSpPr>
          <p:cNvPr id="97283" name="Group 4"/>
          <p:cNvGrpSpPr/>
          <p:nvPr/>
        </p:nvGrpSpPr>
        <p:grpSpPr bwMode="auto">
          <a:xfrm>
            <a:off x="1981200" y="1916113"/>
            <a:ext cx="7848600" cy="4038600"/>
            <a:chOff x="288" y="1536"/>
            <a:chExt cx="4944" cy="2544"/>
          </a:xfrm>
        </p:grpSpPr>
        <p:sp>
          <p:nvSpPr>
            <p:cNvPr id="105477" name="_s1034"/>
            <p:cNvSpPr>
              <a:spLocks noChangeArrowheads="1"/>
            </p:cNvSpPr>
            <p:nvPr/>
          </p:nvSpPr>
          <p:spPr bwMode="auto">
            <a:xfrm>
              <a:off x="912" y="1584"/>
              <a:ext cx="1344" cy="2352"/>
            </a:xfrm>
            <a:prstGeom prst="roundRect">
              <a:avLst>
                <a:gd name="adj" fmla="val 16667"/>
              </a:avLst>
            </a:prstGeom>
            <a:solidFill>
              <a:schemeClr val="accent1">
                <a:alpha val="60001"/>
              </a:schemeClr>
            </a:solidFill>
            <a:ln w="9525">
              <a:solidFill>
                <a:schemeClr val="tx1"/>
              </a:solidFill>
              <a:round/>
            </a:ln>
          </p:spPr>
          <p:txBody>
            <a:bodyPr wrap="none" lIns="0" tIns="0" rIns="0" bIns="0" anchor="ctr"/>
            <a:lstStyle/>
            <a:p>
              <a:pPr eaLnBrk="1" hangingPunct="1">
                <a:defRPr/>
              </a:pPr>
              <a:endParaRPr lang="zh-CN" altLang="zh-CN" sz="900" b="1">
                <a:effectLst>
                  <a:outerShdw blurRad="38100" dist="38100" dir="2700000" algn="tl">
                    <a:srgbClr val="FFFFFF"/>
                  </a:outerShdw>
                </a:effectLst>
              </a:endParaRPr>
            </a:p>
          </p:txBody>
        </p:sp>
        <p:sp>
          <p:nvSpPr>
            <p:cNvPr id="105478" name="_s1034"/>
            <p:cNvSpPr>
              <a:spLocks noChangeArrowheads="1"/>
            </p:cNvSpPr>
            <p:nvPr/>
          </p:nvSpPr>
          <p:spPr bwMode="auto">
            <a:xfrm>
              <a:off x="2544" y="1536"/>
              <a:ext cx="1824" cy="2544"/>
            </a:xfrm>
            <a:prstGeom prst="roundRect">
              <a:avLst>
                <a:gd name="adj" fmla="val 16667"/>
              </a:avLst>
            </a:prstGeom>
            <a:solidFill>
              <a:schemeClr val="accent1">
                <a:alpha val="60001"/>
              </a:schemeClr>
            </a:solidFill>
            <a:ln w="9525">
              <a:solidFill>
                <a:schemeClr val="tx1"/>
              </a:solidFill>
              <a:round/>
            </a:ln>
          </p:spPr>
          <p:txBody>
            <a:bodyPr wrap="none" lIns="0" tIns="0" rIns="0" bIns="0" anchor="ctr"/>
            <a:lstStyle/>
            <a:p>
              <a:pPr eaLnBrk="1" hangingPunct="1">
                <a:defRPr/>
              </a:pPr>
              <a:endParaRPr lang="zh-CN" altLang="zh-CN" sz="900" b="1">
                <a:effectLst>
                  <a:outerShdw blurRad="38100" dist="38100" dir="2700000" algn="tl">
                    <a:srgbClr val="FFFFFF"/>
                  </a:outerShdw>
                </a:effectLst>
              </a:endParaRPr>
            </a:p>
          </p:txBody>
        </p:sp>
        <p:sp>
          <p:nvSpPr>
            <p:cNvPr id="97286" name="Oval 7"/>
            <p:cNvSpPr>
              <a:spLocks noChangeArrowheads="1"/>
            </p:cNvSpPr>
            <p:nvPr/>
          </p:nvSpPr>
          <p:spPr bwMode="auto">
            <a:xfrm>
              <a:off x="288" y="2064"/>
              <a:ext cx="4944" cy="2016"/>
            </a:xfrm>
            <a:prstGeom prst="ellipse">
              <a:avLst/>
            </a:prstGeom>
            <a:solidFill>
              <a:srgbClr val="FF0000">
                <a:alpha val="47842"/>
              </a:srgbClr>
            </a:solidFill>
            <a:ln w="9525" algn="ctr">
              <a:solidFill>
                <a:schemeClr val="tx1"/>
              </a:solidFill>
              <a:round/>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105480" name="_s1035"/>
            <p:cNvSpPr>
              <a:spLocks noChangeArrowheads="1"/>
            </p:cNvSpPr>
            <p:nvPr/>
          </p:nvSpPr>
          <p:spPr bwMode="auto">
            <a:xfrm>
              <a:off x="2640" y="2160"/>
              <a:ext cx="1584" cy="576"/>
            </a:xfrm>
            <a:prstGeom prst="roundRect">
              <a:avLst>
                <a:gd name="adj" fmla="val 16667"/>
              </a:avLst>
            </a:prstGeom>
            <a:solidFill>
              <a:srgbClr val="00CCFF"/>
            </a:solidFill>
            <a:ln w="9525">
              <a:solidFill>
                <a:schemeClr val="tx1"/>
              </a:solidFill>
              <a:round/>
            </a:ln>
          </p:spPr>
          <p:txBody>
            <a:bodyPr wrap="none" lIns="0" tIns="0" rIns="0" bIns="0" anchor="ctr"/>
            <a:lstStyle/>
            <a:p>
              <a:pPr eaLnBrk="1" hangingPunct="1">
                <a:defRPr/>
              </a:pPr>
              <a:endParaRPr lang="zh-CN" altLang="zh-CN" sz="900" b="1">
                <a:effectLst>
                  <a:outerShdw blurRad="38100" dist="38100" dir="2700000" algn="tl">
                    <a:srgbClr val="FFFFFF"/>
                  </a:outerShdw>
                </a:effectLst>
              </a:endParaRPr>
            </a:p>
          </p:txBody>
        </p:sp>
        <p:sp>
          <p:nvSpPr>
            <p:cNvPr id="97288" name="_s1035"/>
            <p:cNvSpPr>
              <a:spLocks noChangeArrowheads="1"/>
            </p:cNvSpPr>
            <p:nvPr/>
          </p:nvSpPr>
          <p:spPr bwMode="auto">
            <a:xfrm>
              <a:off x="960" y="2544"/>
              <a:ext cx="1200" cy="720"/>
            </a:xfrm>
            <a:prstGeom prst="roundRect">
              <a:avLst>
                <a:gd name="adj" fmla="val 16667"/>
              </a:avLst>
            </a:prstGeom>
            <a:solidFill>
              <a:srgbClr val="00CCFF"/>
            </a:solidFill>
            <a:ln w="9525">
              <a:solidFill>
                <a:schemeClr val="tx1"/>
              </a:solidFill>
              <a:round/>
            </a:ln>
          </p:spPr>
          <p:txBody>
            <a:bodyPr wrap="none" lIns="0" tIns="0" rIns="0" bIns="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zh-CN" sz="1800" b="1">
                <a:solidFill>
                  <a:schemeClr val="tx2"/>
                </a:solidFill>
                <a:latin typeface="Arial" panose="020B0604020202020204" pitchFamily="34" charset="0"/>
                <a:ea typeface="宋体" panose="02010600030101010101" pitchFamily="2" charset="-122"/>
              </a:endParaRPr>
            </a:p>
          </p:txBody>
        </p:sp>
        <p:sp>
          <p:nvSpPr>
            <p:cNvPr id="82956" name="Text Box 10"/>
            <p:cNvSpPr txBox="1">
              <a:spLocks noChangeArrowheads="1"/>
            </p:cNvSpPr>
            <p:nvPr/>
          </p:nvSpPr>
          <p:spPr bwMode="auto">
            <a:xfrm>
              <a:off x="960" y="2544"/>
              <a:ext cx="1296" cy="639"/>
            </a:xfrm>
            <a:prstGeom prst="rect">
              <a:avLst/>
            </a:prstGeom>
            <a:noFill/>
            <a:ln w="9525" algn="ctr">
              <a:noFill/>
              <a:miter lim="800000"/>
            </a:ln>
          </p:spPr>
          <p:txBody>
            <a:bodyPr>
              <a:spAutoFit/>
            </a:bodyPr>
            <a:lstStyle/>
            <a:p>
              <a:pPr eaLnBrk="1" hangingPunct="1">
                <a:spcBef>
                  <a:spcPct val="50000"/>
                </a:spcBef>
                <a:defRPr/>
              </a:pPr>
              <a:r>
                <a:rPr lang="zh-CN" altLang="en-US" sz="2000" b="1" dirty="0">
                  <a:solidFill>
                    <a:schemeClr val="tx2"/>
                  </a:solidFill>
                  <a:latin typeface="+mn-ea"/>
                  <a:ea typeface="+mn-ea"/>
                </a:rPr>
                <a:t>国家保密局涉密信息系统安全保密测评中心</a:t>
              </a:r>
              <a:endParaRPr lang="zh-CN" altLang="en-US" sz="2000" b="1" dirty="0">
                <a:solidFill>
                  <a:schemeClr val="tx2"/>
                </a:solidFill>
                <a:latin typeface="+mn-ea"/>
                <a:ea typeface="+mn-ea"/>
              </a:endParaRPr>
            </a:p>
          </p:txBody>
        </p:sp>
        <p:sp>
          <p:nvSpPr>
            <p:cNvPr id="97290" name="Text Box 11"/>
            <p:cNvSpPr txBox="1">
              <a:spLocks noChangeArrowheads="1"/>
            </p:cNvSpPr>
            <p:nvPr/>
          </p:nvSpPr>
          <p:spPr bwMode="auto">
            <a:xfrm>
              <a:off x="1056" y="1632"/>
              <a:ext cx="105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400" b="1">
                  <a:latin typeface="Arial" panose="020B0604020202020204" pitchFamily="34" charset="0"/>
                  <a:ea typeface="华文隶书" panose="02010800040101010101" pitchFamily="2" charset="-122"/>
                </a:rPr>
                <a:t>涉密系统</a:t>
              </a:r>
              <a:endParaRPr lang="zh-CN" altLang="en-US" sz="2400" b="1">
                <a:latin typeface="Arial" panose="020B0604020202020204" pitchFamily="34" charset="0"/>
                <a:ea typeface="华文隶书" panose="02010800040101010101" pitchFamily="2" charset="-122"/>
              </a:endParaRPr>
            </a:p>
          </p:txBody>
        </p:sp>
        <p:sp>
          <p:nvSpPr>
            <p:cNvPr id="97291" name="Text Box 12"/>
            <p:cNvSpPr txBox="1">
              <a:spLocks noChangeArrowheads="1"/>
            </p:cNvSpPr>
            <p:nvPr/>
          </p:nvSpPr>
          <p:spPr bwMode="auto">
            <a:xfrm>
              <a:off x="2880" y="1632"/>
              <a:ext cx="1152" cy="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lang="zh-CN" altLang="en-US" sz="2400" b="1">
                  <a:latin typeface="Arial" panose="020B0604020202020204" pitchFamily="34" charset="0"/>
                  <a:ea typeface="华文隶书" panose="02010800040101010101" pitchFamily="2" charset="-122"/>
                </a:rPr>
                <a:t>非涉密系统</a:t>
              </a:r>
              <a:endParaRPr lang="zh-CN" altLang="en-US" sz="2400" b="1">
                <a:latin typeface="Arial" panose="020B0604020202020204" pitchFamily="34" charset="0"/>
                <a:ea typeface="华文隶书" panose="02010800040101010101" pitchFamily="2" charset="-122"/>
              </a:endParaRPr>
            </a:p>
            <a:p>
              <a:pPr eaLnBrk="1" hangingPunct="1">
                <a:spcBef>
                  <a:spcPct val="50000"/>
                </a:spcBef>
                <a:buClrTx/>
                <a:buFontTx/>
                <a:buNone/>
              </a:pPr>
              <a:endParaRPr lang="en-US" altLang="zh-CN" sz="2400" b="1">
                <a:latin typeface="Arial" panose="020B0604020202020204" pitchFamily="34" charset="0"/>
                <a:ea typeface="华文隶书" panose="02010800040101010101" pitchFamily="2" charset="-122"/>
              </a:endParaRPr>
            </a:p>
          </p:txBody>
        </p:sp>
        <p:sp>
          <p:nvSpPr>
            <p:cNvPr id="97292" name="_s1035"/>
            <p:cNvSpPr>
              <a:spLocks noChangeArrowheads="1"/>
            </p:cNvSpPr>
            <p:nvPr/>
          </p:nvSpPr>
          <p:spPr bwMode="auto">
            <a:xfrm>
              <a:off x="2640" y="2784"/>
              <a:ext cx="1584" cy="576"/>
            </a:xfrm>
            <a:prstGeom prst="roundRect">
              <a:avLst>
                <a:gd name="adj" fmla="val 16667"/>
              </a:avLst>
            </a:prstGeom>
            <a:solidFill>
              <a:srgbClr val="00CCFF"/>
            </a:solidFill>
            <a:ln w="9525">
              <a:solidFill>
                <a:schemeClr val="tx1"/>
              </a:solidFill>
              <a:round/>
            </a:ln>
          </p:spPr>
          <p:txBody>
            <a:bodyPr wrap="none" lIns="0" tIns="0" rIns="0" bIns="0"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zh-CN" sz="1800" b="1">
                <a:solidFill>
                  <a:schemeClr val="tx2"/>
                </a:solidFill>
                <a:latin typeface="Arial" panose="020B0604020202020204" pitchFamily="34" charset="0"/>
                <a:ea typeface="宋体" panose="02010600030101010101" pitchFamily="2" charset="-122"/>
              </a:endParaRPr>
            </a:p>
          </p:txBody>
        </p:sp>
        <p:sp>
          <p:nvSpPr>
            <p:cNvPr id="105486" name="_s1035"/>
            <p:cNvSpPr>
              <a:spLocks noChangeArrowheads="1"/>
            </p:cNvSpPr>
            <p:nvPr/>
          </p:nvSpPr>
          <p:spPr bwMode="auto">
            <a:xfrm>
              <a:off x="2640" y="3408"/>
              <a:ext cx="1536" cy="576"/>
            </a:xfrm>
            <a:prstGeom prst="roundRect">
              <a:avLst>
                <a:gd name="adj" fmla="val 16667"/>
              </a:avLst>
            </a:prstGeom>
            <a:solidFill>
              <a:srgbClr val="00CCFF"/>
            </a:solidFill>
            <a:ln w="9525">
              <a:solidFill>
                <a:schemeClr val="tx1"/>
              </a:solidFill>
              <a:round/>
            </a:ln>
          </p:spPr>
          <p:txBody>
            <a:bodyPr wrap="none" lIns="0" tIns="0" rIns="0" bIns="0" anchor="ctr"/>
            <a:lstStyle/>
            <a:p>
              <a:pPr eaLnBrk="1" hangingPunct="1">
                <a:defRPr/>
              </a:pPr>
              <a:endParaRPr lang="zh-CN" altLang="zh-CN" sz="900" b="1">
                <a:effectLst>
                  <a:outerShdw blurRad="38100" dist="38100" dir="2700000" algn="tl">
                    <a:srgbClr val="FFFFFF"/>
                  </a:outerShdw>
                </a:effectLst>
              </a:endParaRPr>
            </a:p>
          </p:txBody>
        </p:sp>
        <p:sp>
          <p:nvSpPr>
            <p:cNvPr id="82961" name="Text Box 15"/>
            <p:cNvSpPr txBox="1">
              <a:spLocks noChangeArrowheads="1"/>
            </p:cNvSpPr>
            <p:nvPr/>
          </p:nvSpPr>
          <p:spPr bwMode="auto">
            <a:xfrm>
              <a:off x="2736" y="2256"/>
              <a:ext cx="1488" cy="445"/>
            </a:xfrm>
            <a:prstGeom prst="rect">
              <a:avLst/>
            </a:prstGeom>
            <a:noFill/>
            <a:ln w="9525" algn="ctr">
              <a:noFill/>
              <a:miter lim="800000"/>
            </a:ln>
          </p:spPr>
          <p:txBody>
            <a:bodyPr>
              <a:spAutoFit/>
            </a:bodyPr>
            <a:lstStyle/>
            <a:p>
              <a:pPr eaLnBrk="1" hangingPunct="1">
                <a:spcBef>
                  <a:spcPct val="50000"/>
                </a:spcBef>
                <a:defRPr/>
              </a:pPr>
              <a:r>
                <a:rPr lang="zh-CN" altLang="en-US" sz="2000" b="1" dirty="0">
                  <a:solidFill>
                    <a:schemeClr val="tx2"/>
                  </a:solidFill>
                  <a:latin typeface="+mn-ea"/>
                  <a:ea typeface="+mn-ea"/>
                </a:rPr>
                <a:t>中国信息安全测评中心</a:t>
              </a:r>
              <a:endParaRPr lang="zh-CN" altLang="en-US" sz="2000" b="1" dirty="0">
                <a:solidFill>
                  <a:schemeClr val="tx2"/>
                </a:solidFill>
                <a:latin typeface="+mn-ea"/>
                <a:ea typeface="+mn-ea"/>
              </a:endParaRPr>
            </a:p>
          </p:txBody>
        </p:sp>
        <p:sp>
          <p:nvSpPr>
            <p:cNvPr id="82962" name="Text Box 16"/>
            <p:cNvSpPr txBox="1">
              <a:spLocks noChangeArrowheads="1"/>
            </p:cNvSpPr>
            <p:nvPr/>
          </p:nvSpPr>
          <p:spPr bwMode="auto">
            <a:xfrm>
              <a:off x="2640" y="2832"/>
              <a:ext cx="1584" cy="445"/>
            </a:xfrm>
            <a:prstGeom prst="rect">
              <a:avLst/>
            </a:prstGeom>
            <a:noFill/>
            <a:ln w="9525" algn="ctr">
              <a:noFill/>
              <a:miter lim="800000"/>
            </a:ln>
          </p:spPr>
          <p:txBody>
            <a:bodyPr>
              <a:spAutoFit/>
            </a:bodyPr>
            <a:lstStyle/>
            <a:p>
              <a:pPr eaLnBrk="1" hangingPunct="1">
                <a:spcBef>
                  <a:spcPct val="50000"/>
                </a:spcBef>
                <a:defRPr/>
              </a:pPr>
              <a:r>
                <a:rPr lang="zh-CN" altLang="en-US" sz="2000" b="1" dirty="0">
                  <a:solidFill>
                    <a:schemeClr val="tx2"/>
                  </a:solidFill>
                  <a:latin typeface="+mn-ea"/>
                  <a:ea typeface="+mn-ea"/>
                </a:rPr>
                <a:t>国家信息技术安全研究中心</a:t>
              </a:r>
              <a:endParaRPr lang="zh-CN" altLang="en-US" sz="2000" b="1" dirty="0">
                <a:solidFill>
                  <a:schemeClr val="tx2"/>
                </a:solidFill>
                <a:latin typeface="+mn-ea"/>
                <a:ea typeface="+mn-ea"/>
              </a:endParaRPr>
            </a:p>
          </p:txBody>
        </p:sp>
        <p:sp>
          <p:nvSpPr>
            <p:cNvPr id="82963" name="Text Box 17"/>
            <p:cNvSpPr txBox="1">
              <a:spLocks noChangeArrowheads="1"/>
            </p:cNvSpPr>
            <p:nvPr/>
          </p:nvSpPr>
          <p:spPr bwMode="auto">
            <a:xfrm>
              <a:off x="2688" y="3456"/>
              <a:ext cx="1488" cy="445"/>
            </a:xfrm>
            <a:prstGeom prst="rect">
              <a:avLst/>
            </a:prstGeom>
            <a:noFill/>
            <a:ln w="9525" algn="ctr">
              <a:noFill/>
              <a:miter lim="800000"/>
            </a:ln>
          </p:spPr>
          <p:txBody>
            <a:bodyPr>
              <a:spAutoFit/>
            </a:bodyPr>
            <a:lstStyle/>
            <a:p>
              <a:pPr eaLnBrk="1" hangingPunct="1">
                <a:spcBef>
                  <a:spcPct val="50000"/>
                </a:spcBef>
                <a:defRPr/>
              </a:pPr>
              <a:r>
                <a:rPr lang="zh-CN" altLang="en-US" sz="2000" b="1" dirty="0">
                  <a:solidFill>
                    <a:schemeClr val="tx2"/>
                  </a:solidFill>
                  <a:latin typeface="+mn-ea"/>
                  <a:ea typeface="+mn-ea"/>
                </a:rPr>
                <a:t>公安部信息安全等级保护中心</a:t>
              </a:r>
              <a:endParaRPr lang="zh-CN" altLang="en-US" sz="2000" b="1" dirty="0">
                <a:solidFill>
                  <a:schemeClr val="tx2"/>
                </a:solidFill>
                <a:latin typeface="+mn-ea"/>
                <a:ea typeface="+mn-ea"/>
              </a:endParaRPr>
            </a:p>
          </p:txBody>
        </p:sp>
        <p:sp>
          <p:nvSpPr>
            <p:cNvPr id="82964" name="Text Box 18"/>
            <p:cNvSpPr txBox="1">
              <a:spLocks noChangeArrowheads="1"/>
            </p:cNvSpPr>
            <p:nvPr/>
          </p:nvSpPr>
          <p:spPr bwMode="auto">
            <a:xfrm>
              <a:off x="4320" y="2496"/>
              <a:ext cx="720" cy="1143"/>
            </a:xfrm>
            <a:prstGeom prst="rect">
              <a:avLst/>
            </a:prstGeom>
            <a:noFill/>
            <a:ln w="9525" algn="ctr">
              <a:noFill/>
              <a:miter lim="800000"/>
            </a:ln>
          </p:spPr>
          <p:txBody>
            <a:bodyPr>
              <a:spAutoFit/>
            </a:bodyPr>
            <a:lstStyle/>
            <a:p>
              <a:pPr eaLnBrk="1" hangingPunct="1">
                <a:spcBef>
                  <a:spcPct val="50000"/>
                </a:spcBef>
                <a:defRPr/>
              </a:pPr>
              <a:r>
                <a:rPr lang="zh-CN" altLang="en-US" sz="2800" b="1" dirty="0">
                  <a:solidFill>
                    <a:srgbClr val="FFFF00"/>
                  </a:solidFill>
                  <a:latin typeface="+mn-ea"/>
                  <a:ea typeface="+mn-ea"/>
                </a:rPr>
                <a:t>风险评估专业队伍</a:t>
              </a:r>
              <a:endParaRPr lang="zh-CN" altLang="en-US" sz="2800" b="1" dirty="0">
                <a:solidFill>
                  <a:srgbClr val="FFFF00"/>
                </a:solidFill>
                <a:latin typeface="+mn-ea"/>
                <a:ea typeface="+mn-ea"/>
              </a:endParaRPr>
            </a:p>
          </p:txBody>
        </p:sp>
      </p:grpSp>
    </p:spTree>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a:xfrm>
            <a:off x="2038350" y="908050"/>
            <a:ext cx="8066088" cy="487363"/>
          </a:xfrm>
        </p:spPr>
        <p:txBody>
          <a:bodyPr/>
          <a:lstStyle/>
          <a:p>
            <a:r>
              <a:rPr lang="zh-CN" altLang="en-US" sz="2800">
                <a:solidFill>
                  <a:srgbClr val="FF0000"/>
                </a:solidFill>
              </a:rPr>
              <a:t>风险评估、检查评估和等级保护测评之间的关系</a:t>
            </a:r>
            <a:endParaRPr lang="zh-CN" altLang="en-US" sz="2800">
              <a:solidFill>
                <a:srgbClr val="FF0000"/>
              </a:solidFill>
            </a:endParaRPr>
          </a:p>
        </p:txBody>
      </p:sp>
      <p:sp>
        <p:nvSpPr>
          <p:cNvPr id="84995" name="内容占位符 2"/>
          <p:cNvSpPr>
            <a:spLocks noGrp="1"/>
          </p:cNvSpPr>
          <p:nvPr>
            <p:ph idx="1"/>
          </p:nvPr>
        </p:nvSpPr>
        <p:spPr>
          <a:xfrm>
            <a:off x="2035175" y="1738313"/>
            <a:ext cx="8191500" cy="1871662"/>
          </a:xfrm>
        </p:spPr>
        <p:txBody>
          <a:bodyPr/>
          <a:lstStyle/>
          <a:p>
            <a:pPr>
              <a:defRPr/>
            </a:pPr>
            <a:r>
              <a:rPr lang="zh-CN" altLang="en-US" dirty="0"/>
              <a:t>等保测评、安全检查都是在既定安全基线的基础上开展的</a:t>
            </a:r>
            <a:r>
              <a:rPr lang="zh-CN" altLang="en-US" sz="3200" b="1" dirty="0">
                <a:solidFill>
                  <a:srgbClr val="FF0000"/>
                </a:solidFill>
              </a:rPr>
              <a:t>符合性测评</a:t>
            </a:r>
            <a:r>
              <a:rPr lang="zh-CN" altLang="en-US" b="1" dirty="0"/>
              <a:t>，其中等保测评是</a:t>
            </a:r>
            <a:r>
              <a:rPr lang="zh-CN" altLang="en-US" b="1" dirty="0">
                <a:solidFill>
                  <a:srgbClr val="FF0000"/>
                </a:solidFill>
              </a:rPr>
              <a:t>符合国家安全要求</a:t>
            </a:r>
            <a:r>
              <a:rPr lang="zh-CN" altLang="en-US" b="1" dirty="0"/>
              <a:t>的测评，安全检查</a:t>
            </a:r>
            <a:r>
              <a:rPr lang="zh-CN" altLang="en-US" dirty="0"/>
              <a:t>是</a:t>
            </a:r>
            <a:r>
              <a:rPr lang="zh-CN" altLang="en-US" b="1" dirty="0">
                <a:solidFill>
                  <a:schemeClr val="accent6"/>
                </a:solidFill>
              </a:rPr>
              <a:t>符合行业主管安全要求</a:t>
            </a:r>
            <a:r>
              <a:rPr lang="zh-CN" altLang="en-US" dirty="0"/>
              <a:t>的符合性测评。</a:t>
            </a:r>
            <a:endParaRPr lang="en-US" altLang="zh-CN" dirty="0"/>
          </a:p>
        </p:txBody>
      </p:sp>
      <p:sp>
        <p:nvSpPr>
          <p:cNvPr id="2" name="矩形 1"/>
          <p:cNvSpPr/>
          <p:nvPr/>
        </p:nvSpPr>
        <p:spPr>
          <a:xfrm>
            <a:off x="2089150" y="3789363"/>
            <a:ext cx="8137525" cy="1383665"/>
          </a:xfrm>
          <a:prstGeom prst="rect">
            <a:avLst/>
          </a:prstGeom>
        </p:spPr>
        <p:txBody>
          <a:bodyPr>
            <a:spAutoFit/>
          </a:bodyPr>
          <a:lstStyle/>
          <a:p>
            <a:pPr marL="342900" indent="-342900">
              <a:spcBef>
                <a:spcPct val="20000"/>
              </a:spcBef>
              <a:buClr>
                <a:srgbClr val="3399FF"/>
              </a:buClr>
              <a:buFont typeface="Wingdings" panose="05000000000000000000" pitchFamily="2" charset="2"/>
              <a:buChar char="v"/>
              <a:defRPr/>
            </a:pPr>
            <a:r>
              <a:rPr lang="zh-CN" altLang="en-US" sz="2800" dirty="0">
                <a:latin typeface="+mn-lt"/>
                <a:ea typeface="+mn-ea"/>
              </a:rPr>
              <a:t>而风险评估是在</a:t>
            </a:r>
            <a:r>
              <a:rPr lang="zh-CN" altLang="en-US" sz="2800" dirty="0">
                <a:solidFill>
                  <a:srgbClr val="FF0000"/>
                </a:solidFill>
                <a:latin typeface="+mn-lt"/>
                <a:ea typeface="+mn-ea"/>
              </a:rPr>
              <a:t>国家、行业安全要求</a:t>
            </a:r>
            <a:r>
              <a:rPr lang="zh-CN" altLang="en-US" sz="2800" dirty="0">
                <a:latin typeface="+mn-lt"/>
                <a:ea typeface="+mn-ea"/>
              </a:rPr>
              <a:t>的基础上，以被评估系统特定安全要求为目标而开展的</a:t>
            </a:r>
            <a:r>
              <a:rPr lang="zh-CN" altLang="en-US" sz="2800" dirty="0">
                <a:solidFill>
                  <a:srgbClr val="FF0000"/>
                </a:solidFill>
                <a:latin typeface="+mn-lt"/>
                <a:ea typeface="+mn-ea"/>
              </a:rPr>
              <a:t>风险识别、风险分析、风险评价</a:t>
            </a:r>
            <a:r>
              <a:rPr lang="zh-CN" altLang="en-US" sz="2800" dirty="0">
                <a:latin typeface="+mn-lt"/>
                <a:ea typeface="+mn-ea"/>
              </a:rPr>
              <a:t>活动。</a:t>
            </a:r>
            <a:endParaRPr lang="zh-CN" altLang="en-US" sz="2800" dirty="0">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 calcmode="lin" valueType="num">
                                      <p:cBhvr additive="base">
                                        <p:cTn id="7" dur="500" fill="hold"/>
                                        <p:tgtEl>
                                          <p:spTgt spid="849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499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P spid="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a:xfrm>
            <a:off x="2214563" y="809625"/>
            <a:ext cx="6513512" cy="487363"/>
          </a:xfrm>
        </p:spPr>
        <p:txBody>
          <a:bodyPr/>
          <a:lstStyle/>
          <a:p>
            <a:r>
              <a:rPr lang="zh-CN" altLang="en-US">
                <a:solidFill>
                  <a:srgbClr val="FF0000"/>
                </a:solidFill>
              </a:rPr>
              <a:t>风险评估实施流程</a:t>
            </a:r>
            <a:endParaRPr lang="zh-CN" altLang="en-US">
              <a:solidFill>
                <a:srgbClr val="FF0000"/>
              </a:solidFill>
            </a:endParaRPr>
          </a:p>
        </p:txBody>
      </p:sp>
      <p:sp>
        <p:nvSpPr>
          <p:cNvPr id="99333" name="Rectangle 7"/>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8194" name="Object 6"/>
          <p:cNvGraphicFramePr>
            <a:graphicFrameLocks noChangeAspect="1"/>
          </p:cNvGraphicFramePr>
          <p:nvPr/>
        </p:nvGraphicFramePr>
        <p:xfrm>
          <a:off x="4655840" y="1412776"/>
          <a:ext cx="5543848" cy="4687888"/>
        </p:xfrm>
        <a:graphic>
          <a:graphicData uri="http://schemas.openxmlformats.org/presentationml/2006/ole">
            <mc:AlternateContent xmlns:mc="http://schemas.openxmlformats.org/markup-compatibility/2006">
              <mc:Choice xmlns:v="urn:schemas-microsoft-com:vml" Requires="v">
                <p:oleObj spid="_x0000_s8201" name="Visio" r:id="rId1" imgW="6976745" imgH="6750685" progId="">
                  <p:embed/>
                </p:oleObj>
              </mc:Choice>
              <mc:Fallback>
                <p:oleObj name="Visio" r:id="rId1" imgW="6976745" imgH="6750685" progId="">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5840" y="1412776"/>
                        <a:ext cx="5543848" cy="4687888"/>
                      </a:xfrm>
                      <a:prstGeom prst="rect">
                        <a:avLst/>
                      </a:prstGeom>
                      <a:noFill/>
                      <a:ln>
                        <a:noFill/>
                      </a:ln>
                    </p:spPr>
                  </p:pic>
                </p:oleObj>
              </mc:Fallback>
            </mc:AlternateContent>
          </a:graphicData>
        </a:graphic>
      </p:graphicFrame>
      <p:sp>
        <p:nvSpPr>
          <p:cNvPr id="7" name="TextBox 1"/>
          <p:cNvSpPr>
            <a:spLocks noChangeArrowheads="1"/>
          </p:cNvSpPr>
          <p:nvPr/>
        </p:nvSpPr>
        <p:spPr bwMode="auto">
          <a:xfrm>
            <a:off x="1847850" y="1916113"/>
            <a:ext cx="3276600"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u="sng">
                <a:solidFill>
                  <a:schemeClr val="tx1"/>
                </a:solidFill>
                <a:latin typeface="Arial" panose="020B0604020202020204" pitchFamily="34" charset="0"/>
                <a:ea typeface="宋体" panose="02010600030101010101" pitchFamily="2" charset="-122"/>
              </a:defRPr>
            </a:lvl1pPr>
            <a:lvl2pPr marL="742950" indent="-285750">
              <a:defRPr u="sng">
                <a:solidFill>
                  <a:schemeClr val="tx1"/>
                </a:solidFill>
                <a:latin typeface="Arial" panose="020B0604020202020204" pitchFamily="34" charset="0"/>
                <a:ea typeface="宋体" panose="02010600030101010101" pitchFamily="2" charset="-122"/>
              </a:defRPr>
            </a:lvl2pPr>
            <a:lvl3pPr marL="1143000" indent="-228600">
              <a:defRPr u="sng">
                <a:solidFill>
                  <a:schemeClr val="tx1"/>
                </a:solidFill>
                <a:latin typeface="Arial" panose="020B0604020202020204" pitchFamily="34" charset="0"/>
                <a:ea typeface="宋体" panose="02010600030101010101" pitchFamily="2" charset="-122"/>
              </a:defRPr>
            </a:lvl3pPr>
            <a:lvl4pPr marL="1600200" indent="-228600">
              <a:defRPr u="sng">
                <a:solidFill>
                  <a:schemeClr val="tx1"/>
                </a:solidFill>
                <a:latin typeface="Arial" panose="020B0604020202020204" pitchFamily="34" charset="0"/>
                <a:ea typeface="宋体" panose="02010600030101010101" pitchFamily="2" charset="-122"/>
              </a:defRPr>
            </a:lvl4pPr>
            <a:lvl5pPr marL="2057400" indent="-22860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u="sng">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000" b="1" u="none" dirty="0">
                <a:solidFill>
                  <a:srgbClr val="0033CC"/>
                </a:solidFill>
                <a:latin typeface="+mn-ea"/>
                <a:ea typeface="+mn-ea"/>
              </a:rPr>
              <a:t>风险评估四个阶段</a:t>
            </a:r>
            <a:r>
              <a:rPr lang="en-US" altLang="zh-CN" sz="2000" b="1" u="none" dirty="0">
                <a:solidFill>
                  <a:srgbClr val="0033CC"/>
                </a:solidFill>
                <a:latin typeface="+mn-ea"/>
                <a:ea typeface="+mn-ea"/>
              </a:rPr>
              <a:t>:</a:t>
            </a:r>
            <a:endParaRPr lang="en-US" altLang="zh-CN" sz="2000" b="1" u="none" dirty="0">
              <a:solidFill>
                <a:srgbClr val="0033CC"/>
              </a:solidFill>
              <a:latin typeface="+mn-ea"/>
              <a:ea typeface="+mn-ea"/>
            </a:endParaRPr>
          </a:p>
          <a:p>
            <a:pPr eaLnBrk="1" hangingPunct="1">
              <a:defRPr/>
            </a:pPr>
            <a:endParaRPr lang="en-US" altLang="zh-CN" sz="2000" b="1" u="none" dirty="0">
              <a:solidFill>
                <a:srgbClr val="0033CC"/>
              </a:solidFill>
              <a:latin typeface="+mn-ea"/>
              <a:ea typeface="+mn-ea"/>
            </a:endParaRPr>
          </a:p>
          <a:p>
            <a:pPr eaLnBrk="1" hangingPunct="1">
              <a:buFont typeface="Arial" panose="020B0604020202020204" pitchFamily="34" charset="0"/>
              <a:buChar char="•"/>
              <a:defRPr/>
            </a:pPr>
            <a:r>
              <a:rPr lang="zh-CN" altLang="en-US" sz="2000" b="1" u="none" dirty="0">
                <a:solidFill>
                  <a:srgbClr val="0033CC"/>
                </a:solidFill>
                <a:latin typeface="+mn-ea"/>
                <a:ea typeface="+mn-ea"/>
              </a:rPr>
              <a:t>阶段</a:t>
            </a:r>
            <a:r>
              <a:rPr lang="en-US" altLang="zh-CN" sz="2000" b="1" u="none" dirty="0">
                <a:solidFill>
                  <a:srgbClr val="0033CC"/>
                </a:solidFill>
                <a:latin typeface="+mn-ea"/>
                <a:ea typeface="+mn-ea"/>
              </a:rPr>
              <a:t>1:</a:t>
            </a:r>
            <a:r>
              <a:rPr lang="zh-CN" altLang="en-US" sz="2000" b="1" u="none" dirty="0">
                <a:solidFill>
                  <a:srgbClr val="0033CC"/>
                </a:solidFill>
                <a:latin typeface="+mn-ea"/>
                <a:ea typeface="+mn-ea"/>
              </a:rPr>
              <a:t>评估准备</a:t>
            </a:r>
            <a:endParaRPr lang="zh-CN" altLang="en-US" sz="2000" b="1" u="none" dirty="0">
              <a:solidFill>
                <a:srgbClr val="0033CC"/>
              </a:solidFill>
              <a:latin typeface="+mn-ea"/>
              <a:ea typeface="+mn-ea"/>
            </a:endParaRPr>
          </a:p>
          <a:p>
            <a:pPr eaLnBrk="1" hangingPunct="1">
              <a:buFont typeface="Arial" panose="020B0604020202020204" pitchFamily="34" charset="0"/>
              <a:buChar char="•"/>
              <a:defRPr/>
            </a:pPr>
            <a:endParaRPr lang="zh-CN" altLang="en-US" sz="2000" b="1" u="none" dirty="0">
              <a:solidFill>
                <a:srgbClr val="0033CC"/>
              </a:solidFill>
              <a:latin typeface="+mn-ea"/>
              <a:ea typeface="+mn-ea"/>
            </a:endParaRPr>
          </a:p>
          <a:p>
            <a:pPr eaLnBrk="1" hangingPunct="1">
              <a:buFont typeface="Arial" panose="020B0604020202020204" pitchFamily="34" charset="0"/>
              <a:buChar char="•"/>
              <a:defRPr/>
            </a:pPr>
            <a:r>
              <a:rPr lang="zh-CN" altLang="en-US" sz="2000" b="1" u="none" dirty="0">
                <a:solidFill>
                  <a:srgbClr val="0033CC"/>
                </a:solidFill>
                <a:latin typeface="+mn-ea"/>
                <a:ea typeface="+mn-ea"/>
              </a:rPr>
              <a:t>阶段</a:t>
            </a:r>
            <a:r>
              <a:rPr lang="en-US" altLang="zh-CN" sz="2000" b="1" u="none" dirty="0">
                <a:solidFill>
                  <a:srgbClr val="0033CC"/>
                </a:solidFill>
                <a:latin typeface="+mn-ea"/>
                <a:ea typeface="+mn-ea"/>
              </a:rPr>
              <a:t>2:</a:t>
            </a:r>
            <a:r>
              <a:rPr lang="zh-CN" altLang="en-US" sz="2000" b="1" u="none" dirty="0">
                <a:solidFill>
                  <a:srgbClr val="0033CC"/>
                </a:solidFill>
                <a:latin typeface="+mn-ea"/>
                <a:ea typeface="+mn-ea"/>
              </a:rPr>
              <a:t>风险识别</a:t>
            </a:r>
            <a:endParaRPr lang="zh-CN" altLang="en-US" sz="2000" b="1" u="none" dirty="0">
              <a:solidFill>
                <a:srgbClr val="0033CC"/>
              </a:solidFill>
              <a:latin typeface="+mn-ea"/>
              <a:ea typeface="+mn-ea"/>
            </a:endParaRPr>
          </a:p>
          <a:p>
            <a:pPr eaLnBrk="1" hangingPunct="1">
              <a:buFont typeface="Arial" panose="020B0604020202020204" pitchFamily="34" charset="0"/>
              <a:buChar char="•"/>
              <a:defRPr/>
            </a:pPr>
            <a:endParaRPr lang="en-US" altLang="zh-CN" sz="2000" b="1" u="none" dirty="0">
              <a:solidFill>
                <a:srgbClr val="0033CC"/>
              </a:solidFill>
              <a:latin typeface="+mn-ea"/>
              <a:ea typeface="+mn-ea"/>
            </a:endParaRPr>
          </a:p>
          <a:p>
            <a:pPr eaLnBrk="1" hangingPunct="1">
              <a:buFont typeface="Arial" panose="020B0604020202020204" pitchFamily="34" charset="0"/>
              <a:buChar char="•"/>
              <a:defRPr/>
            </a:pPr>
            <a:r>
              <a:rPr lang="zh-CN" altLang="en-US" sz="2000" b="1" u="none" dirty="0">
                <a:solidFill>
                  <a:srgbClr val="0033CC"/>
                </a:solidFill>
                <a:latin typeface="+mn-ea"/>
                <a:ea typeface="+mn-ea"/>
              </a:rPr>
              <a:t>阶段</a:t>
            </a:r>
            <a:r>
              <a:rPr lang="en-US" altLang="zh-CN" sz="2000" b="1" u="none" dirty="0">
                <a:solidFill>
                  <a:srgbClr val="0033CC"/>
                </a:solidFill>
                <a:latin typeface="+mn-ea"/>
                <a:ea typeface="+mn-ea"/>
              </a:rPr>
              <a:t>3:</a:t>
            </a:r>
            <a:r>
              <a:rPr lang="zh-CN" altLang="en-US" sz="2000" b="1" u="none" dirty="0">
                <a:solidFill>
                  <a:srgbClr val="0033CC"/>
                </a:solidFill>
                <a:latin typeface="+mn-ea"/>
                <a:ea typeface="+mn-ea"/>
              </a:rPr>
              <a:t>风险评价</a:t>
            </a:r>
            <a:endParaRPr lang="zh-CN" altLang="en-US" sz="2000" b="1" u="none" dirty="0">
              <a:solidFill>
                <a:srgbClr val="0033CC"/>
              </a:solidFill>
              <a:latin typeface="+mn-ea"/>
              <a:ea typeface="+mn-ea"/>
            </a:endParaRPr>
          </a:p>
          <a:p>
            <a:pPr eaLnBrk="1" hangingPunct="1">
              <a:buFont typeface="Arial" panose="020B0604020202020204" pitchFamily="34" charset="0"/>
              <a:buChar char="•"/>
              <a:defRPr/>
            </a:pPr>
            <a:endParaRPr lang="en-US" altLang="zh-CN" sz="2000" b="1" u="none" dirty="0">
              <a:solidFill>
                <a:srgbClr val="0033CC"/>
              </a:solidFill>
              <a:latin typeface="+mn-ea"/>
              <a:ea typeface="+mn-ea"/>
            </a:endParaRPr>
          </a:p>
          <a:p>
            <a:pPr eaLnBrk="1" hangingPunct="1">
              <a:buFont typeface="Arial" panose="020B0604020202020204" pitchFamily="34" charset="0"/>
              <a:buChar char="•"/>
              <a:defRPr/>
            </a:pPr>
            <a:r>
              <a:rPr lang="zh-CN" altLang="en-US" sz="2000" b="1" u="none" dirty="0">
                <a:solidFill>
                  <a:srgbClr val="0033CC"/>
                </a:solidFill>
                <a:latin typeface="+mn-ea"/>
                <a:ea typeface="+mn-ea"/>
              </a:rPr>
              <a:t>阶段</a:t>
            </a:r>
            <a:r>
              <a:rPr lang="en-US" altLang="zh-CN" sz="2000" b="1" u="none" dirty="0">
                <a:solidFill>
                  <a:srgbClr val="0033CC"/>
                </a:solidFill>
                <a:latin typeface="+mn-ea"/>
                <a:ea typeface="+mn-ea"/>
              </a:rPr>
              <a:t>4:</a:t>
            </a:r>
            <a:r>
              <a:rPr lang="zh-CN" altLang="en-US" sz="2000" b="1" u="none" dirty="0">
                <a:solidFill>
                  <a:srgbClr val="0033CC"/>
                </a:solidFill>
                <a:latin typeface="+mn-ea"/>
                <a:ea typeface="+mn-ea"/>
              </a:rPr>
              <a:t>风险处理</a:t>
            </a:r>
            <a:endParaRPr lang="zh-CN" altLang="en-US" sz="2000" b="1" u="none" dirty="0">
              <a:solidFill>
                <a:srgbClr val="0033CC"/>
              </a:solidFill>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ppt_x"/>
                                          </p:val>
                                        </p:tav>
                                        <p:tav tm="100000">
                                          <p:val>
                                            <p:strVal val="#ppt_x"/>
                                          </p:val>
                                        </p:tav>
                                      </p:tavLst>
                                    </p:anim>
                                    <p:anim calcmode="lin" valueType="num">
                                      <p:cBhvr additive="base">
                                        <p:cTn id="8" dur="500" fill="hold"/>
                                        <p:tgtEl>
                                          <p:spTgt spid="819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6311900" y="1773238"/>
            <a:ext cx="2336800" cy="427196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8" name="矩形 27"/>
          <p:cNvSpPr/>
          <p:nvPr/>
        </p:nvSpPr>
        <p:spPr>
          <a:xfrm>
            <a:off x="3317875" y="1736725"/>
            <a:ext cx="1862138" cy="4308475"/>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0356" name="标题 1"/>
          <p:cNvSpPr>
            <a:spLocks noGrp="1"/>
          </p:cNvSpPr>
          <p:nvPr>
            <p:ph type="title"/>
          </p:nvPr>
        </p:nvSpPr>
        <p:spPr>
          <a:xfrm>
            <a:off x="2382838" y="912813"/>
            <a:ext cx="6513512" cy="487362"/>
          </a:xfrm>
        </p:spPr>
        <p:txBody>
          <a:bodyPr/>
          <a:lstStyle/>
          <a:p>
            <a:r>
              <a:rPr lang="zh-CN" altLang="en-US">
                <a:solidFill>
                  <a:srgbClr val="FF0000"/>
                </a:solidFill>
              </a:rPr>
              <a:t>风险评估是“健康体检</a:t>
            </a:r>
            <a:r>
              <a:rPr lang="en-US" altLang="zh-CN">
                <a:solidFill>
                  <a:srgbClr val="FF0000"/>
                </a:solidFill>
              </a:rPr>
              <a:t>+</a:t>
            </a:r>
            <a:r>
              <a:rPr lang="zh-CN" altLang="en-US">
                <a:solidFill>
                  <a:srgbClr val="FF0000"/>
                </a:solidFill>
              </a:rPr>
              <a:t>专项检查”</a:t>
            </a:r>
            <a:endParaRPr lang="zh-CN" altLang="en-US">
              <a:solidFill>
                <a:srgbClr val="FF0000"/>
              </a:solidFill>
            </a:endParaRPr>
          </a:p>
        </p:txBody>
      </p:sp>
      <p:sp>
        <p:nvSpPr>
          <p:cNvPr id="7" name="矩形 6"/>
          <p:cNvSpPr/>
          <p:nvPr/>
        </p:nvSpPr>
        <p:spPr>
          <a:xfrm>
            <a:off x="3719513" y="2503488"/>
            <a:ext cx="796925" cy="3302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资产</a:t>
            </a:r>
            <a:endParaRPr lang="zh-CN" altLang="en-US" dirty="0"/>
          </a:p>
        </p:txBody>
      </p:sp>
      <p:sp>
        <p:nvSpPr>
          <p:cNvPr id="8" name="矩形 7"/>
          <p:cNvSpPr/>
          <p:nvPr/>
        </p:nvSpPr>
        <p:spPr>
          <a:xfrm>
            <a:off x="3719513" y="3233738"/>
            <a:ext cx="796925" cy="3302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威胁</a:t>
            </a:r>
            <a:endParaRPr lang="zh-CN" altLang="en-US" dirty="0"/>
          </a:p>
        </p:txBody>
      </p:sp>
      <p:sp>
        <p:nvSpPr>
          <p:cNvPr id="9" name="矩形 8"/>
          <p:cNvSpPr/>
          <p:nvPr/>
        </p:nvSpPr>
        <p:spPr>
          <a:xfrm>
            <a:off x="3756025" y="4000500"/>
            <a:ext cx="876300" cy="3302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脆弱性</a:t>
            </a:r>
            <a:endParaRPr lang="zh-CN" altLang="en-US" dirty="0"/>
          </a:p>
        </p:txBody>
      </p:sp>
      <p:sp>
        <p:nvSpPr>
          <p:cNvPr id="10" name="矩形 9"/>
          <p:cNvSpPr/>
          <p:nvPr/>
        </p:nvSpPr>
        <p:spPr>
          <a:xfrm>
            <a:off x="3427413" y="4730750"/>
            <a:ext cx="1606550" cy="3302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现有控制措施</a:t>
            </a:r>
            <a:endParaRPr lang="zh-CN" altLang="en-US" dirty="0"/>
          </a:p>
        </p:txBody>
      </p:sp>
      <p:sp>
        <p:nvSpPr>
          <p:cNvPr id="17" name="矩形 16"/>
          <p:cNvSpPr/>
          <p:nvPr/>
        </p:nvSpPr>
        <p:spPr>
          <a:xfrm>
            <a:off x="6530975" y="2465388"/>
            <a:ext cx="914400" cy="3302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人</a:t>
            </a:r>
            <a:endParaRPr lang="zh-CN" altLang="en-US" dirty="0"/>
          </a:p>
        </p:txBody>
      </p:sp>
      <p:sp>
        <p:nvSpPr>
          <p:cNvPr id="18" name="矩形 17"/>
          <p:cNvSpPr/>
          <p:nvPr/>
        </p:nvSpPr>
        <p:spPr>
          <a:xfrm>
            <a:off x="6530975" y="3195638"/>
            <a:ext cx="914400" cy="3302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病毒</a:t>
            </a:r>
            <a:endParaRPr lang="zh-CN" altLang="en-US" dirty="0"/>
          </a:p>
        </p:txBody>
      </p:sp>
      <p:sp>
        <p:nvSpPr>
          <p:cNvPr id="19" name="矩形 18"/>
          <p:cNvSpPr/>
          <p:nvPr/>
        </p:nvSpPr>
        <p:spPr>
          <a:xfrm>
            <a:off x="6567488" y="3962400"/>
            <a:ext cx="1181100" cy="32385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t>身体情况</a:t>
            </a:r>
            <a:endParaRPr lang="zh-CN" altLang="en-US" b="1" dirty="0"/>
          </a:p>
        </p:txBody>
      </p:sp>
      <p:sp>
        <p:nvSpPr>
          <p:cNvPr id="20" name="矩形 19"/>
          <p:cNvSpPr/>
          <p:nvPr/>
        </p:nvSpPr>
        <p:spPr>
          <a:xfrm>
            <a:off x="6494463" y="4692650"/>
            <a:ext cx="1460500" cy="3302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t>预防措施</a:t>
            </a:r>
            <a:endParaRPr lang="zh-CN" altLang="en-US" b="1" dirty="0"/>
          </a:p>
        </p:txBody>
      </p:sp>
      <p:cxnSp>
        <p:nvCxnSpPr>
          <p:cNvPr id="22" name="直接箭头连接符 21"/>
          <p:cNvCxnSpPr>
            <a:stCxn id="7" idx="3"/>
            <a:endCxn id="17" idx="1"/>
          </p:cNvCxnSpPr>
          <p:nvPr/>
        </p:nvCxnSpPr>
        <p:spPr>
          <a:xfrm flipV="1">
            <a:off x="4516438" y="2630488"/>
            <a:ext cx="2014537" cy="38100"/>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8" idx="3"/>
            <a:endCxn id="18" idx="1"/>
          </p:cNvCxnSpPr>
          <p:nvPr/>
        </p:nvCxnSpPr>
        <p:spPr>
          <a:xfrm flipV="1">
            <a:off x="4516438" y="3360738"/>
            <a:ext cx="2014537" cy="38100"/>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9" idx="3"/>
            <a:endCxn id="19" idx="1"/>
          </p:cNvCxnSpPr>
          <p:nvPr/>
        </p:nvCxnSpPr>
        <p:spPr>
          <a:xfrm flipV="1">
            <a:off x="4632325" y="4124325"/>
            <a:ext cx="1935163" cy="41275"/>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0" idx="3"/>
            <a:endCxn id="20" idx="1"/>
          </p:cNvCxnSpPr>
          <p:nvPr/>
        </p:nvCxnSpPr>
        <p:spPr>
          <a:xfrm flipV="1">
            <a:off x="5033963" y="4857750"/>
            <a:ext cx="1460500" cy="38100"/>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3317875" y="1773238"/>
            <a:ext cx="1825625"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风险评估</a:t>
            </a:r>
            <a:endParaRPr lang="zh-CN" altLang="en-US" dirty="0"/>
          </a:p>
        </p:txBody>
      </p:sp>
      <p:sp>
        <p:nvSpPr>
          <p:cNvPr id="32" name="矩形 31"/>
          <p:cNvSpPr/>
          <p:nvPr/>
        </p:nvSpPr>
        <p:spPr>
          <a:xfrm>
            <a:off x="6311900" y="1773238"/>
            <a:ext cx="1825625"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健康体检</a:t>
            </a:r>
            <a:endParaRPr lang="zh-CN" altLang="en-US" dirty="0"/>
          </a:p>
        </p:txBody>
      </p:sp>
      <p:sp>
        <p:nvSpPr>
          <p:cNvPr id="33" name="矩形 32"/>
          <p:cNvSpPr/>
          <p:nvPr/>
        </p:nvSpPr>
        <p:spPr>
          <a:xfrm>
            <a:off x="3427413" y="5313363"/>
            <a:ext cx="1606550" cy="622300"/>
          </a:xfrm>
          <a:prstGeom prst="rect">
            <a:avLst/>
          </a:prstGeom>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t>风险优先级和风险控制建议</a:t>
            </a:r>
            <a:endParaRPr lang="zh-CN" altLang="en-US" dirty="0"/>
          </a:p>
        </p:txBody>
      </p:sp>
      <p:sp>
        <p:nvSpPr>
          <p:cNvPr id="34" name="矩形 33"/>
          <p:cNvSpPr/>
          <p:nvPr/>
        </p:nvSpPr>
        <p:spPr>
          <a:xfrm>
            <a:off x="6421438" y="5314950"/>
            <a:ext cx="1866900" cy="622300"/>
          </a:xfrm>
          <a:prstGeom prst="rect">
            <a:avLst/>
          </a:prstGeom>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solidFill>
                  <a:schemeClr val="tx1"/>
                </a:solidFill>
              </a:rPr>
              <a:t>病情诊断和药方</a:t>
            </a:r>
            <a:endParaRPr lang="zh-CN" altLang="en-US" b="1" dirty="0">
              <a:solidFill>
                <a:schemeClr val="tx1"/>
              </a:solidFill>
            </a:endParaRPr>
          </a:p>
        </p:txBody>
      </p:sp>
      <p:cxnSp>
        <p:nvCxnSpPr>
          <p:cNvPr id="44" name="直接箭头连接符 43"/>
          <p:cNvCxnSpPr/>
          <p:nvPr/>
        </p:nvCxnSpPr>
        <p:spPr>
          <a:xfrm flipV="1">
            <a:off x="5033963" y="5678488"/>
            <a:ext cx="1460500" cy="38100"/>
          </a:xfrm>
          <a:prstGeom prst="straightConnector1">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p:cTn id="13" dur="1000" fill="hold"/>
                                        <p:tgtEl>
                                          <p:spTgt spid="23"/>
                                        </p:tgtEl>
                                        <p:attrNameLst>
                                          <p:attrName>ppt_w</p:attrName>
                                        </p:attrNameLst>
                                      </p:cBhvr>
                                      <p:tavLst>
                                        <p:tav tm="0">
                                          <p:val>
                                            <p:fltVal val="0"/>
                                          </p:val>
                                        </p:tav>
                                        <p:tav tm="100000">
                                          <p:val>
                                            <p:strVal val="#ppt_w"/>
                                          </p:val>
                                        </p:tav>
                                      </p:tavLst>
                                    </p:anim>
                                    <p:anim calcmode="lin" valueType="num">
                                      <p:cBhvr>
                                        <p:cTn id="14" dur="1000" fill="hold"/>
                                        <p:tgtEl>
                                          <p:spTgt spid="23"/>
                                        </p:tgtEl>
                                        <p:attrNameLst>
                                          <p:attrName>ppt_h</p:attrName>
                                        </p:attrNameLst>
                                      </p:cBhvr>
                                      <p:tavLst>
                                        <p:tav tm="0">
                                          <p:val>
                                            <p:fltVal val="0"/>
                                          </p:val>
                                        </p:tav>
                                        <p:tav tm="100000">
                                          <p:val>
                                            <p:strVal val="#ppt_h"/>
                                          </p:val>
                                        </p:tav>
                                      </p:tavLst>
                                    </p:anim>
                                    <p:animEffect transition="in" filter="fade">
                                      <p:cBhvr>
                                        <p:cTn id="15" dur="1000"/>
                                        <p:tgtEl>
                                          <p:spTgt spid="23"/>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p:cTn id="19" dur="1000" fill="hold"/>
                                        <p:tgtEl>
                                          <p:spTgt spid="24"/>
                                        </p:tgtEl>
                                        <p:attrNameLst>
                                          <p:attrName>ppt_w</p:attrName>
                                        </p:attrNameLst>
                                      </p:cBhvr>
                                      <p:tavLst>
                                        <p:tav tm="0">
                                          <p:val>
                                            <p:fltVal val="0"/>
                                          </p:val>
                                        </p:tav>
                                        <p:tav tm="100000">
                                          <p:val>
                                            <p:strVal val="#ppt_w"/>
                                          </p:val>
                                        </p:tav>
                                      </p:tavLst>
                                    </p:anim>
                                    <p:anim calcmode="lin" valueType="num">
                                      <p:cBhvr>
                                        <p:cTn id="20" dur="1000" fill="hold"/>
                                        <p:tgtEl>
                                          <p:spTgt spid="24"/>
                                        </p:tgtEl>
                                        <p:attrNameLst>
                                          <p:attrName>ppt_h</p:attrName>
                                        </p:attrNameLst>
                                      </p:cBhvr>
                                      <p:tavLst>
                                        <p:tav tm="0">
                                          <p:val>
                                            <p:fltVal val="0"/>
                                          </p:val>
                                        </p:tav>
                                        <p:tav tm="100000">
                                          <p:val>
                                            <p:strVal val="#ppt_h"/>
                                          </p:val>
                                        </p:tav>
                                      </p:tavLst>
                                    </p:anim>
                                    <p:animEffect transition="in" filter="fade">
                                      <p:cBhvr>
                                        <p:cTn id="21" dur="1000"/>
                                        <p:tgtEl>
                                          <p:spTgt spid="24"/>
                                        </p:tgtEl>
                                      </p:cBhvr>
                                    </p:animEffect>
                                  </p:childTnLst>
                                </p:cTn>
                              </p:par>
                            </p:childTnLst>
                          </p:cTn>
                        </p:par>
                        <p:par>
                          <p:cTn id="22" fill="hold">
                            <p:stCondLst>
                              <p:cond delay="2500"/>
                            </p:stCondLst>
                            <p:childTnLst>
                              <p:par>
                                <p:cTn id="23" presetID="53" presetClass="entr" presetSubtype="16" fill="hold" nodeType="after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p:cTn id="25" dur="1000" fill="hold"/>
                                        <p:tgtEl>
                                          <p:spTgt spid="25"/>
                                        </p:tgtEl>
                                        <p:attrNameLst>
                                          <p:attrName>ppt_w</p:attrName>
                                        </p:attrNameLst>
                                      </p:cBhvr>
                                      <p:tavLst>
                                        <p:tav tm="0">
                                          <p:val>
                                            <p:fltVal val="0"/>
                                          </p:val>
                                        </p:tav>
                                        <p:tav tm="100000">
                                          <p:val>
                                            <p:strVal val="#ppt_w"/>
                                          </p:val>
                                        </p:tav>
                                      </p:tavLst>
                                    </p:anim>
                                    <p:anim calcmode="lin" valueType="num">
                                      <p:cBhvr>
                                        <p:cTn id="26" dur="1000" fill="hold"/>
                                        <p:tgtEl>
                                          <p:spTgt spid="25"/>
                                        </p:tgtEl>
                                        <p:attrNameLst>
                                          <p:attrName>ppt_h</p:attrName>
                                        </p:attrNameLst>
                                      </p:cBhvr>
                                      <p:tavLst>
                                        <p:tav tm="0">
                                          <p:val>
                                            <p:fltVal val="0"/>
                                          </p:val>
                                        </p:tav>
                                        <p:tav tm="100000">
                                          <p:val>
                                            <p:strVal val="#ppt_h"/>
                                          </p:val>
                                        </p:tav>
                                      </p:tavLst>
                                    </p:anim>
                                    <p:animEffect transition="in" filter="fade">
                                      <p:cBhvr>
                                        <p:cTn id="27" dur="1000"/>
                                        <p:tgtEl>
                                          <p:spTgt spid="25"/>
                                        </p:tgtEl>
                                      </p:cBhvr>
                                    </p:animEffect>
                                  </p:childTnLst>
                                </p:cTn>
                              </p:par>
                            </p:childTnLst>
                          </p:cTn>
                        </p:par>
                        <p:par>
                          <p:cTn id="28" fill="hold">
                            <p:stCondLst>
                              <p:cond delay="3500"/>
                            </p:stCondLst>
                            <p:childTnLst>
                              <p:par>
                                <p:cTn id="29" presetID="53" presetClass="entr" presetSubtype="16" fill="hold" nodeType="afterEffect">
                                  <p:stCondLst>
                                    <p:cond delay="0"/>
                                  </p:stCondLst>
                                  <p:childTnLst>
                                    <p:set>
                                      <p:cBhvr>
                                        <p:cTn id="30" dur="1" fill="hold">
                                          <p:stCondLst>
                                            <p:cond delay="0"/>
                                          </p:stCondLst>
                                        </p:cTn>
                                        <p:tgtEl>
                                          <p:spTgt spid="44"/>
                                        </p:tgtEl>
                                        <p:attrNameLst>
                                          <p:attrName>style.visibility</p:attrName>
                                        </p:attrNameLst>
                                      </p:cBhvr>
                                      <p:to>
                                        <p:strVal val="visible"/>
                                      </p:to>
                                    </p:set>
                                    <p:anim calcmode="lin" valueType="num">
                                      <p:cBhvr>
                                        <p:cTn id="31" dur="1000" fill="hold"/>
                                        <p:tgtEl>
                                          <p:spTgt spid="44"/>
                                        </p:tgtEl>
                                        <p:attrNameLst>
                                          <p:attrName>ppt_w</p:attrName>
                                        </p:attrNameLst>
                                      </p:cBhvr>
                                      <p:tavLst>
                                        <p:tav tm="0">
                                          <p:val>
                                            <p:fltVal val="0"/>
                                          </p:val>
                                        </p:tav>
                                        <p:tav tm="100000">
                                          <p:val>
                                            <p:strVal val="#ppt_w"/>
                                          </p:val>
                                        </p:tav>
                                      </p:tavLst>
                                    </p:anim>
                                    <p:anim calcmode="lin" valueType="num">
                                      <p:cBhvr>
                                        <p:cTn id="32" dur="1000" fill="hold"/>
                                        <p:tgtEl>
                                          <p:spTgt spid="44"/>
                                        </p:tgtEl>
                                        <p:attrNameLst>
                                          <p:attrName>ppt_h</p:attrName>
                                        </p:attrNameLst>
                                      </p:cBhvr>
                                      <p:tavLst>
                                        <p:tav tm="0">
                                          <p:val>
                                            <p:fltVal val="0"/>
                                          </p:val>
                                        </p:tav>
                                        <p:tav tm="100000">
                                          <p:val>
                                            <p:strVal val="#ppt_h"/>
                                          </p:val>
                                        </p:tav>
                                      </p:tavLst>
                                    </p:anim>
                                    <p:animEffect transition="in" filter="fade">
                                      <p:cBhvr>
                                        <p:cTn id="33"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13"/>
          <p:cNvSpPr txBox="1">
            <a:spLocks noChangeArrowheads="1"/>
          </p:cNvSpPr>
          <p:nvPr/>
        </p:nvSpPr>
        <p:spPr bwMode="auto">
          <a:xfrm>
            <a:off x="2208372" y="711200"/>
            <a:ext cx="4881245" cy="583565"/>
          </a:xfrm>
          <a:prstGeom prst="rect">
            <a:avLst/>
          </a:prstGeom>
          <a:noFill/>
          <a:ln w="9525">
            <a:noFill/>
            <a:miter lim="800000"/>
          </a:ln>
        </p:spPr>
        <p:txBody>
          <a:bodyPr wrap="none">
            <a:spAutoFit/>
          </a:bodyPr>
          <a:lstStyle/>
          <a:p>
            <a:pPr algn="ctr" eaLnBrk="1" hangingPunct="1">
              <a:defRPr/>
            </a:pPr>
            <a:r>
              <a:rPr lang="zh-CN" altLang="en-US" sz="3200" dirty="0">
                <a:solidFill>
                  <a:srgbClr val="FF0000"/>
                </a:solidFill>
                <a:latin typeface="黑体" panose="02010609060101010101" pitchFamily="49" charset="-122"/>
                <a:ea typeface="黑体" panose="02010609060101010101" pitchFamily="49" charset="-122"/>
              </a:rPr>
              <a:t>  </a:t>
            </a:r>
            <a:r>
              <a:rPr lang="zh-CN" altLang="en-US" sz="3200" b="1" dirty="0">
                <a:solidFill>
                  <a:srgbClr val="FF0000"/>
                </a:solidFill>
                <a:latin typeface="+mj-lt"/>
                <a:ea typeface="+mj-ea"/>
                <a:cs typeface="+mj-cs"/>
              </a:rPr>
              <a:t>准备 识别 计算</a:t>
            </a:r>
            <a:r>
              <a:rPr lang="en-US" altLang="zh-CN" sz="3200" b="1" dirty="0">
                <a:solidFill>
                  <a:srgbClr val="FF0000"/>
                </a:solidFill>
                <a:latin typeface="+mj-lt"/>
                <a:ea typeface="+mj-ea"/>
                <a:cs typeface="+mj-cs"/>
              </a:rPr>
              <a:t> </a:t>
            </a:r>
            <a:r>
              <a:rPr lang="zh-CN" altLang="en-US" sz="3200" b="1" dirty="0">
                <a:solidFill>
                  <a:srgbClr val="FF0000"/>
                </a:solidFill>
                <a:latin typeface="+mj-lt"/>
                <a:ea typeface="+mj-ea"/>
                <a:cs typeface="+mj-cs"/>
              </a:rPr>
              <a:t>报告  </a:t>
            </a:r>
            <a:endParaRPr lang="zh-CN" altLang="en-US" sz="3200" b="1" dirty="0">
              <a:solidFill>
                <a:srgbClr val="FF0000"/>
              </a:solidFill>
              <a:latin typeface="+mj-lt"/>
              <a:ea typeface="+mj-ea"/>
              <a:cs typeface="+mj-cs"/>
            </a:endParaRPr>
          </a:p>
        </p:txBody>
      </p:sp>
      <p:sp>
        <p:nvSpPr>
          <p:cNvPr id="149522" name="Text Box 18"/>
          <p:cNvSpPr txBox="1">
            <a:spLocks noChangeArrowheads="1"/>
          </p:cNvSpPr>
          <p:nvPr/>
        </p:nvSpPr>
        <p:spPr bwMode="auto">
          <a:xfrm>
            <a:off x="2124075" y="1484313"/>
            <a:ext cx="8232775"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kumimoji="1" lang="zh-CN" altLang="en-US" b="1">
                <a:latin typeface="Arial" panose="020B0604020202020204" pitchFamily="34" charset="0"/>
                <a:ea typeface="宋体" panose="02010600030101010101" pitchFamily="2" charset="-122"/>
              </a:rPr>
              <a:t>一个简化的风险评估流程：</a:t>
            </a:r>
            <a:endParaRPr kumimoji="1" lang="en-US" altLang="zh-CN" b="1">
              <a:latin typeface="Arial" panose="020B0604020202020204" pitchFamily="34" charset="0"/>
              <a:ea typeface="宋体" panose="02010600030101010101" pitchFamily="2" charset="-122"/>
            </a:endParaRPr>
          </a:p>
          <a:p>
            <a:pPr eaLnBrk="1" hangingPunct="1">
              <a:spcBef>
                <a:spcPct val="0"/>
              </a:spcBef>
              <a:buClrTx/>
              <a:buFontTx/>
              <a:buNone/>
            </a:pPr>
            <a:r>
              <a:rPr kumimoji="1" lang="zh-CN" altLang="en-US" b="1">
                <a:latin typeface="Arial" panose="020B0604020202020204" pitchFamily="34" charset="0"/>
                <a:ea typeface="宋体" panose="02010600030101010101" pitchFamily="2" charset="-122"/>
              </a:rPr>
              <a:t>准备（</a:t>
            </a:r>
            <a:r>
              <a:rPr kumimoji="1" lang="en-US" altLang="zh-CN" b="1">
                <a:latin typeface="Arial" panose="020B0604020202020204" pitchFamily="34" charset="0"/>
                <a:ea typeface="宋体" panose="02010600030101010101" pitchFamily="2" charset="-122"/>
              </a:rPr>
              <a:t>Readiness</a:t>
            </a:r>
            <a:r>
              <a:rPr kumimoji="1" lang="zh-CN" altLang="en-US" b="1">
                <a:latin typeface="Arial" panose="020B0604020202020204" pitchFamily="34" charset="0"/>
                <a:ea typeface="宋体" panose="02010600030101010101" pitchFamily="2" charset="-122"/>
              </a:rPr>
              <a:t>）</a:t>
            </a:r>
            <a:endParaRPr kumimoji="1" lang="en-US" altLang="zh-CN" b="1">
              <a:latin typeface="Arial" panose="020B0604020202020204" pitchFamily="34" charset="0"/>
              <a:ea typeface="宋体" panose="02010600030101010101" pitchFamily="2" charset="-122"/>
            </a:endParaRPr>
          </a:p>
          <a:p>
            <a:pPr eaLnBrk="1" hangingPunct="1">
              <a:spcBef>
                <a:spcPct val="0"/>
              </a:spcBef>
              <a:buClrTx/>
              <a:buFontTx/>
              <a:buNone/>
            </a:pPr>
            <a:r>
              <a:rPr kumimoji="1" lang="zh-CN" altLang="en-US" b="1">
                <a:latin typeface="Arial" panose="020B0604020202020204" pitchFamily="34" charset="0"/>
                <a:ea typeface="宋体" panose="02010600030101010101" pitchFamily="2" charset="-122"/>
              </a:rPr>
              <a:t>识别（</a:t>
            </a:r>
            <a:r>
              <a:rPr kumimoji="1" lang="en-US" altLang="zh-CN" b="1">
                <a:latin typeface="Arial" panose="020B0604020202020204" pitchFamily="34" charset="0"/>
                <a:ea typeface="宋体" panose="02010600030101010101" pitchFamily="2" charset="-122"/>
              </a:rPr>
              <a:t>Realization</a:t>
            </a:r>
            <a:r>
              <a:rPr kumimoji="1" lang="zh-CN" altLang="en-US" b="1">
                <a:latin typeface="Arial" panose="020B0604020202020204" pitchFamily="34" charset="0"/>
                <a:ea typeface="宋体" panose="02010600030101010101" pitchFamily="2" charset="-122"/>
              </a:rPr>
              <a:t>）</a:t>
            </a:r>
            <a:endParaRPr kumimoji="1" lang="zh-CN" altLang="en-US" b="1">
              <a:latin typeface="Arial" panose="020B0604020202020204" pitchFamily="34" charset="0"/>
              <a:ea typeface="宋体" panose="02010600030101010101" pitchFamily="2" charset="-122"/>
            </a:endParaRPr>
          </a:p>
          <a:p>
            <a:pPr eaLnBrk="1" hangingPunct="1">
              <a:spcBef>
                <a:spcPct val="0"/>
              </a:spcBef>
              <a:buClrTx/>
              <a:buFontTx/>
              <a:buNone/>
            </a:pPr>
            <a:r>
              <a:rPr kumimoji="1" lang="zh-CN" altLang="en-US" b="1">
                <a:latin typeface="Arial" panose="020B0604020202020204" pitchFamily="34" charset="0"/>
                <a:ea typeface="宋体" panose="02010600030101010101" pitchFamily="2" charset="-122"/>
              </a:rPr>
              <a:t>计算（</a:t>
            </a:r>
            <a:r>
              <a:rPr kumimoji="1" lang="en-US" altLang="zh-CN" b="1">
                <a:latin typeface="Arial" panose="020B0604020202020204" pitchFamily="34" charset="0"/>
                <a:ea typeface="宋体" panose="02010600030101010101" pitchFamily="2" charset="-122"/>
              </a:rPr>
              <a:t>Calculation</a:t>
            </a:r>
            <a:r>
              <a:rPr kumimoji="1" lang="zh-CN" altLang="en-US" b="1">
                <a:latin typeface="Arial" panose="020B0604020202020204" pitchFamily="34" charset="0"/>
                <a:ea typeface="宋体" panose="02010600030101010101" pitchFamily="2" charset="-122"/>
              </a:rPr>
              <a:t>）</a:t>
            </a:r>
            <a:endParaRPr kumimoji="1" lang="en-US" altLang="zh-CN" b="1">
              <a:latin typeface="Arial" panose="020B0604020202020204" pitchFamily="34" charset="0"/>
              <a:ea typeface="宋体" panose="02010600030101010101" pitchFamily="2" charset="-122"/>
            </a:endParaRPr>
          </a:p>
          <a:p>
            <a:pPr eaLnBrk="1" hangingPunct="1">
              <a:spcBef>
                <a:spcPct val="0"/>
              </a:spcBef>
              <a:buClrTx/>
              <a:buFontTx/>
              <a:buNone/>
            </a:pPr>
            <a:r>
              <a:rPr kumimoji="1" lang="zh-CN" altLang="en-US" b="1">
                <a:latin typeface="Arial" panose="020B0604020202020204" pitchFamily="34" charset="0"/>
                <a:ea typeface="宋体" panose="02010600030101010101" pitchFamily="2" charset="-122"/>
              </a:rPr>
              <a:t>报告（</a:t>
            </a:r>
            <a:r>
              <a:rPr kumimoji="1" lang="en-US" altLang="zh-CN" b="1">
                <a:latin typeface="Arial" panose="020B0604020202020204" pitchFamily="34" charset="0"/>
                <a:ea typeface="宋体" panose="02010600030101010101" pitchFamily="2" charset="-122"/>
              </a:rPr>
              <a:t>Report</a:t>
            </a:r>
            <a:r>
              <a:rPr kumimoji="1" lang="zh-CN" altLang="en-US" b="1">
                <a:latin typeface="Arial" panose="020B0604020202020204" pitchFamily="34" charset="0"/>
                <a:ea typeface="宋体" panose="02010600030101010101" pitchFamily="2" charset="-122"/>
              </a:rPr>
              <a:t>）  </a:t>
            </a:r>
            <a:endParaRPr kumimoji="1" lang="zh-CN" altLang="en-US" b="1">
              <a:latin typeface="Arial" panose="020B0604020202020204" pitchFamily="34" charset="0"/>
              <a:ea typeface="宋体" panose="02010600030101010101" pitchFamily="2" charset="-122"/>
            </a:endParaRPr>
          </a:p>
        </p:txBody>
      </p:sp>
      <p:grpSp>
        <p:nvGrpSpPr>
          <p:cNvPr id="2" name="Group 25"/>
          <p:cNvGrpSpPr/>
          <p:nvPr/>
        </p:nvGrpSpPr>
        <p:grpSpPr bwMode="auto">
          <a:xfrm>
            <a:off x="4338638" y="3576638"/>
            <a:ext cx="1901825" cy="2754312"/>
            <a:chOff x="738" y="1404"/>
            <a:chExt cx="1198" cy="1735"/>
          </a:xfrm>
        </p:grpSpPr>
        <p:sp>
          <p:nvSpPr>
            <p:cNvPr id="101391" name="AutoShape 26"/>
            <p:cNvSpPr>
              <a:spLocks noChangeArrowheads="1"/>
            </p:cNvSpPr>
            <p:nvPr/>
          </p:nvSpPr>
          <p:spPr bwMode="auto">
            <a:xfrm>
              <a:off x="799" y="1456"/>
              <a:ext cx="1137" cy="1683"/>
            </a:xfrm>
            <a:prstGeom prst="notchedRightArrow">
              <a:avLst>
                <a:gd name="adj1" fmla="val 60667"/>
                <a:gd name="adj2" fmla="val 28144"/>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latin typeface="Arial" panose="020B0604020202020204" pitchFamily="34" charset="0"/>
                <a:ea typeface="宋体" panose="02010600030101010101" pitchFamily="2" charset="-122"/>
              </a:endParaRPr>
            </a:p>
          </p:txBody>
        </p:sp>
        <p:sp>
          <p:nvSpPr>
            <p:cNvPr id="149531" name="AutoShape 27"/>
            <p:cNvSpPr>
              <a:spLocks noChangeArrowheads="1"/>
            </p:cNvSpPr>
            <p:nvPr/>
          </p:nvSpPr>
          <p:spPr bwMode="auto">
            <a:xfrm>
              <a:off x="738" y="1404"/>
              <a:ext cx="1137" cy="1683"/>
            </a:xfrm>
            <a:prstGeom prst="notchedRightArrow">
              <a:avLst>
                <a:gd name="adj1" fmla="val 60667"/>
                <a:gd name="adj2" fmla="val 28144"/>
              </a:avLst>
            </a:prstGeom>
            <a:gradFill rotWithShape="1">
              <a:gsLst>
                <a:gs pos="0">
                  <a:schemeClr val="bg1">
                    <a:gamma/>
                    <a:shade val="60392"/>
                    <a:invGamma/>
                  </a:schemeClr>
                </a:gs>
                <a:gs pos="100000">
                  <a:schemeClr val="bg1"/>
                </a:gs>
              </a:gsLst>
              <a:lin ang="0" scaled="1"/>
            </a:gradFill>
            <a:ln w="9525">
              <a:noFill/>
              <a:miter lim="800000"/>
            </a:ln>
            <a:effectLst/>
          </p:spPr>
          <p:txBody>
            <a:bodyPr wrap="none" anchor="ctr"/>
            <a:lstStyle/>
            <a:p>
              <a:pPr eaLnBrk="1" hangingPunct="1">
                <a:defRPr/>
              </a:pPr>
              <a:r>
                <a:rPr lang="zh-CN" altLang="en-US" b="1"/>
                <a:t>识别   </a:t>
              </a:r>
              <a:endParaRPr lang="zh-CN" altLang="en-US" b="1"/>
            </a:p>
            <a:p>
              <a:pPr eaLnBrk="1" hangingPunct="1">
                <a:buFont typeface="Wingdings" panose="05000000000000000000" pitchFamily="2" charset="2"/>
                <a:buChar char="n"/>
                <a:defRPr/>
              </a:pPr>
              <a:r>
                <a:rPr lang="zh-CN" altLang="en-US" b="1"/>
                <a:t> 资产  </a:t>
              </a:r>
              <a:endParaRPr lang="zh-CN" altLang="en-US" b="1"/>
            </a:p>
            <a:p>
              <a:pPr eaLnBrk="1" hangingPunct="1">
                <a:buFont typeface="Wingdings" panose="05000000000000000000" pitchFamily="2" charset="2"/>
                <a:buChar char="n"/>
                <a:defRPr/>
              </a:pPr>
              <a:r>
                <a:rPr lang="zh-CN" altLang="en-US" b="1"/>
                <a:t> 威胁  </a:t>
              </a:r>
              <a:endParaRPr lang="zh-CN" altLang="en-US" b="1"/>
            </a:p>
            <a:p>
              <a:pPr eaLnBrk="1" hangingPunct="1">
                <a:buFont typeface="Wingdings" panose="05000000000000000000" pitchFamily="2" charset="2"/>
                <a:buChar char="n"/>
                <a:defRPr/>
              </a:pPr>
              <a:r>
                <a:rPr lang="zh-CN" altLang="en-US" b="1"/>
                <a:t> 漏洞 </a:t>
              </a:r>
              <a:endParaRPr lang="zh-CN" altLang="en-US" b="1"/>
            </a:p>
            <a:p>
              <a:pPr eaLnBrk="1" hangingPunct="1">
                <a:buFont typeface="Wingdings" panose="05000000000000000000" pitchFamily="2" charset="2"/>
                <a:buNone/>
                <a:defRPr/>
              </a:pPr>
              <a:r>
                <a:rPr lang="zh-CN" altLang="en-US" b="1"/>
                <a:t>  </a:t>
              </a:r>
              <a:endParaRPr lang="zh-CN" altLang="en-US" b="1"/>
            </a:p>
          </p:txBody>
        </p:sp>
      </p:grpSp>
      <p:grpSp>
        <p:nvGrpSpPr>
          <p:cNvPr id="3" name="Group 28"/>
          <p:cNvGrpSpPr/>
          <p:nvPr/>
        </p:nvGrpSpPr>
        <p:grpSpPr bwMode="auto">
          <a:xfrm>
            <a:off x="2678113" y="3573463"/>
            <a:ext cx="1901825" cy="2754312"/>
            <a:chOff x="738" y="1404"/>
            <a:chExt cx="1198" cy="1735"/>
          </a:xfrm>
        </p:grpSpPr>
        <p:sp>
          <p:nvSpPr>
            <p:cNvPr id="101389" name="AutoShape 29"/>
            <p:cNvSpPr>
              <a:spLocks noChangeArrowheads="1"/>
            </p:cNvSpPr>
            <p:nvPr/>
          </p:nvSpPr>
          <p:spPr bwMode="auto">
            <a:xfrm>
              <a:off x="799" y="1456"/>
              <a:ext cx="1137" cy="1683"/>
            </a:xfrm>
            <a:prstGeom prst="notchedRightArrow">
              <a:avLst>
                <a:gd name="adj1" fmla="val 60667"/>
                <a:gd name="adj2" fmla="val 28144"/>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latin typeface="Arial" panose="020B0604020202020204" pitchFamily="34" charset="0"/>
                <a:ea typeface="宋体" panose="02010600030101010101" pitchFamily="2" charset="-122"/>
              </a:endParaRPr>
            </a:p>
          </p:txBody>
        </p:sp>
        <p:sp>
          <p:nvSpPr>
            <p:cNvPr id="149534" name="AutoShape 30"/>
            <p:cNvSpPr>
              <a:spLocks noChangeArrowheads="1"/>
            </p:cNvSpPr>
            <p:nvPr/>
          </p:nvSpPr>
          <p:spPr bwMode="auto">
            <a:xfrm>
              <a:off x="738" y="1404"/>
              <a:ext cx="1137" cy="1683"/>
            </a:xfrm>
            <a:prstGeom prst="notchedRightArrow">
              <a:avLst>
                <a:gd name="adj1" fmla="val 60667"/>
                <a:gd name="adj2" fmla="val 28144"/>
              </a:avLst>
            </a:prstGeom>
            <a:gradFill rotWithShape="1">
              <a:gsLst>
                <a:gs pos="0">
                  <a:schemeClr val="bg1">
                    <a:gamma/>
                    <a:shade val="60392"/>
                    <a:invGamma/>
                  </a:schemeClr>
                </a:gs>
                <a:gs pos="100000">
                  <a:schemeClr val="bg1"/>
                </a:gs>
              </a:gsLst>
              <a:lin ang="0" scaled="1"/>
            </a:gradFill>
            <a:ln w="9525">
              <a:noFill/>
              <a:miter lim="800000"/>
            </a:ln>
            <a:effectLst/>
          </p:spPr>
          <p:txBody>
            <a:bodyPr wrap="none" anchor="ctr"/>
            <a:lstStyle/>
            <a:p>
              <a:pPr eaLnBrk="1" hangingPunct="1">
                <a:defRPr/>
              </a:pPr>
              <a:r>
                <a:rPr lang="zh-CN" altLang="en-US" b="1"/>
                <a:t>准备   </a:t>
              </a:r>
              <a:endParaRPr lang="zh-CN" altLang="en-US" b="1"/>
            </a:p>
            <a:p>
              <a:pPr eaLnBrk="1" hangingPunct="1">
                <a:buFont typeface="Wingdings" panose="05000000000000000000" pitchFamily="2" charset="2"/>
                <a:buChar char="n"/>
                <a:defRPr/>
              </a:pPr>
              <a:r>
                <a:rPr lang="zh-CN" altLang="en-US" b="1"/>
                <a:t> 资料审核   </a:t>
              </a:r>
              <a:endParaRPr lang="zh-CN" altLang="en-US" b="1"/>
            </a:p>
            <a:p>
              <a:pPr eaLnBrk="1" hangingPunct="1">
                <a:buFont typeface="Wingdings" panose="05000000000000000000" pitchFamily="2" charset="2"/>
                <a:buChar char="n"/>
                <a:defRPr/>
              </a:pPr>
              <a:r>
                <a:rPr lang="zh-CN" altLang="en-US" b="1"/>
                <a:t> </a:t>
              </a:r>
              <a:r>
                <a:rPr lang="en-US" altLang="zh-CN" b="1"/>
                <a:t>SLA   </a:t>
              </a:r>
              <a:endParaRPr lang="en-US" altLang="zh-CN" b="1"/>
            </a:p>
            <a:p>
              <a:pPr eaLnBrk="1" hangingPunct="1">
                <a:buFont typeface="Wingdings" panose="05000000000000000000" pitchFamily="2" charset="2"/>
                <a:buChar char="n"/>
                <a:defRPr/>
              </a:pPr>
              <a:r>
                <a:rPr lang="en-US" altLang="zh-CN" b="1"/>
                <a:t> </a:t>
              </a:r>
              <a:r>
                <a:rPr lang="zh-CN" altLang="en-US" b="1"/>
                <a:t>工作计划   </a:t>
              </a:r>
              <a:endParaRPr lang="zh-CN" altLang="en-US" b="1"/>
            </a:p>
            <a:p>
              <a:pPr eaLnBrk="1" hangingPunct="1">
                <a:buFont typeface="Wingdings" panose="05000000000000000000" pitchFamily="2" charset="2"/>
                <a:buChar char="n"/>
                <a:defRPr/>
              </a:pPr>
              <a:r>
                <a:rPr lang="zh-CN" altLang="en-US" b="1"/>
                <a:t> 组队   </a:t>
              </a:r>
              <a:endParaRPr lang="zh-CN" altLang="en-US" b="1"/>
            </a:p>
          </p:txBody>
        </p:sp>
      </p:grpSp>
      <p:grpSp>
        <p:nvGrpSpPr>
          <p:cNvPr id="4" name="Group 31"/>
          <p:cNvGrpSpPr/>
          <p:nvPr/>
        </p:nvGrpSpPr>
        <p:grpSpPr bwMode="auto">
          <a:xfrm>
            <a:off x="6007100" y="3587750"/>
            <a:ext cx="1901825" cy="2754313"/>
            <a:chOff x="738" y="1404"/>
            <a:chExt cx="1198" cy="1735"/>
          </a:xfrm>
        </p:grpSpPr>
        <p:sp>
          <p:nvSpPr>
            <p:cNvPr id="101387" name="AutoShape 32"/>
            <p:cNvSpPr>
              <a:spLocks noChangeArrowheads="1"/>
            </p:cNvSpPr>
            <p:nvPr/>
          </p:nvSpPr>
          <p:spPr bwMode="auto">
            <a:xfrm>
              <a:off x="799" y="1456"/>
              <a:ext cx="1137" cy="1683"/>
            </a:xfrm>
            <a:prstGeom prst="notchedRightArrow">
              <a:avLst>
                <a:gd name="adj1" fmla="val 60667"/>
                <a:gd name="adj2" fmla="val 28144"/>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latin typeface="Arial" panose="020B0604020202020204" pitchFamily="34" charset="0"/>
                <a:ea typeface="宋体" panose="02010600030101010101" pitchFamily="2" charset="-122"/>
              </a:endParaRPr>
            </a:p>
          </p:txBody>
        </p:sp>
        <p:sp>
          <p:nvSpPr>
            <p:cNvPr id="149537" name="AutoShape 33"/>
            <p:cNvSpPr>
              <a:spLocks noChangeArrowheads="1"/>
            </p:cNvSpPr>
            <p:nvPr/>
          </p:nvSpPr>
          <p:spPr bwMode="auto">
            <a:xfrm>
              <a:off x="738" y="1404"/>
              <a:ext cx="1137" cy="1683"/>
            </a:xfrm>
            <a:prstGeom prst="notchedRightArrow">
              <a:avLst>
                <a:gd name="adj1" fmla="val 60667"/>
                <a:gd name="adj2" fmla="val 28144"/>
              </a:avLst>
            </a:prstGeom>
            <a:gradFill rotWithShape="1">
              <a:gsLst>
                <a:gs pos="0">
                  <a:schemeClr val="bg1">
                    <a:gamma/>
                    <a:shade val="60392"/>
                    <a:invGamma/>
                  </a:schemeClr>
                </a:gs>
                <a:gs pos="100000">
                  <a:schemeClr val="bg1"/>
                </a:gs>
              </a:gsLst>
              <a:lin ang="0" scaled="1"/>
            </a:gradFill>
            <a:ln w="9525">
              <a:noFill/>
              <a:miter lim="800000"/>
            </a:ln>
            <a:effectLst/>
          </p:spPr>
          <p:txBody>
            <a:bodyPr wrap="none" anchor="ctr"/>
            <a:lstStyle/>
            <a:p>
              <a:pPr eaLnBrk="1" hangingPunct="1">
                <a:defRPr/>
              </a:pPr>
              <a:r>
                <a:rPr lang="zh-CN" altLang="en-US" b="1"/>
                <a:t>计算   </a:t>
              </a:r>
              <a:endParaRPr lang="zh-CN" altLang="en-US" b="1"/>
            </a:p>
            <a:p>
              <a:pPr eaLnBrk="1" hangingPunct="1">
                <a:buFont typeface="Wingdings" panose="05000000000000000000" pitchFamily="2" charset="2"/>
                <a:buChar char="n"/>
                <a:defRPr/>
              </a:pPr>
              <a:r>
                <a:rPr lang="zh-CN" altLang="en-US" b="1"/>
                <a:t> 威胁概率  </a:t>
              </a:r>
              <a:endParaRPr lang="zh-CN" altLang="en-US" b="1"/>
            </a:p>
            <a:p>
              <a:pPr eaLnBrk="1" hangingPunct="1">
                <a:buFont typeface="Wingdings" panose="05000000000000000000" pitchFamily="2" charset="2"/>
                <a:buChar char="n"/>
                <a:defRPr/>
              </a:pPr>
              <a:r>
                <a:rPr lang="zh-CN" altLang="en-US" b="1"/>
                <a:t> 事件影响  </a:t>
              </a:r>
              <a:endParaRPr lang="zh-CN" altLang="en-US" b="1"/>
            </a:p>
            <a:p>
              <a:pPr eaLnBrk="1" hangingPunct="1">
                <a:buFont typeface="Wingdings" panose="05000000000000000000" pitchFamily="2" charset="2"/>
                <a:buChar char="n"/>
                <a:defRPr/>
              </a:pPr>
              <a:r>
                <a:rPr lang="zh-CN" altLang="en-US" b="1"/>
                <a:t> 风险定级 </a:t>
              </a:r>
              <a:endParaRPr lang="zh-CN" altLang="en-US" b="1"/>
            </a:p>
            <a:p>
              <a:pPr eaLnBrk="1" hangingPunct="1">
                <a:buFont typeface="Wingdings" panose="05000000000000000000" pitchFamily="2" charset="2"/>
                <a:buNone/>
                <a:defRPr/>
              </a:pPr>
              <a:r>
                <a:rPr lang="zh-CN" altLang="en-US" b="1"/>
                <a:t> </a:t>
              </a:r>
              <a:endParaRPr lang="zh-CN" altLang="en-US" b="1"/>
            </a:p>
          </p:txBody>
        </p:sp>
      </p:grpSp>
      <p:grpSp>
        <p:nvGrpSpPr>
          <p:cNvPr id="5" name="Group 34"/>
          <p:cNvGrpSpPr/>
          <p:nvPr/>
        </p:nvGrpSpPr>
        <p:grpSpPr bwMode="auto">
          <a:xfrm>
            <a:off x="7661275" y="3584575"/>
            <a:ext cx="1901825" cy="2754313"/>
            <a:chOff x="738" y="1404"/>
            <a:chExt cx="1198" cy="1735"/>
          </a:xfrm>
        </p:grpSpPr>
        <p:sp>
          <p:nvSpPr>
            <p:cNvPr id="101385" name="AutoShape 35"/>
            <p:cNvSpPr>
              <a:spLocks noChangeArrowheads="1"/>
            </p:cNvSpPr>
            <p:nvPr/>
          </p:nvSpPr>
          <p:spPr bwMode="auto">
            <a:xfrm>
              <a:off x="799" y="1456"/>
              <a:ext cx="1137" cy="1683"/>
            </a:xfrm>
            <a:prstGeom prst="notchedRightArrow">
              <a:avLst>
                <a:gd name="adj1" fmla="val 60667"/>
                <a:gd name="adj2" fmla="val 28144"/>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b="1">
                <a:latin typeface="Arial" panose="020B0604020202020204" pitchFamily="34" charset="0"/>
                <a:ea typeface="宋体" panose="02010600030101010101" pitchFamily="2" charset="-122"/>
              </a:endParaRPr>
            </a:p>
          </p:txBody>
        </p:sp>
        <p:sp>
          <p:nvSpPr>
            <p:cNvPr id="149540" name="AutoShape 36"/>
            <p:cNvSpPr>
              <a:spLocks noChangeArrowheads="1"/>
            </p:cNvSpPr>
            <p:nvPr/>
          </p:nvSpPr>
          <p:spPr bwMode="auto">
            <a:xfrm>
              <a:off x="738" y="1404"/>
              <a:ext cx="1137" cy="1683"/>
            </a:xfrm>
            <a:prstGeom prst="notchedRightArrow">
              <a:avLst>
                <a:gd name="adj1" fmla="val 60667"/>
                <a:gd name="adj2" fmla="val 28144"/>
              </a:avLst>
            </a:prstGeom>
            <a:gradFill rotWithShape="1">
              <a:gsLst>
                <a:gs pos="0">
                  <a:schemeClr val="bg1">
                    <a:gamma/>
                    <a:shade val="60392"/>
                    <a:invGamma/>
                  </a:schemeClr>
                </a:gs>
                <a:gs pos="100000">
                  <a:schemeClr val="bg1"/>
                </a:gs>
              </a:gsLst>
              <a:lin ang="0" scaled="1"/>
            </a:gradFill>
            <a:ln w="9525">
              <a:noFill/>
              <a:miter lim="800000"/>
            </a:ln>
            <a:effectLst/>
          </p:spPr>
          <p:txBody>
            <a:bodyPr wrap="none" anchor="ctr"/>
            <a:lstStyle/>
            <a:p>
              <a:pPr eaLnBrk="1" hangingPunct="1">
                <a:defRPr/>
              </a:pPr>
              <a:r>
                <a:rPr lang="zh-CN" altLang="en-US" b="1"/>
                <a:t>报告  </a:t>
              </a:r>
              <a:endParaRPr lang="zh-CN" altLang="en-US" b="1"/>
            </a:p>
            <a:p>
              <a:pPr eaLnBrk="1" hangingPunct="1">
                <a:buFont typeface="Wingdings" panose="05000000000000000000" pitchFamily="2" charset="2"/>
                <a:buChar char="n"/>
                <a:defRPr/>
              </a:pPr>
              <a:r>
                <a:rPr lang="zh-CN" altLang="en-US" b="1"/>
                <a:t> 整改建议  </a:t>
              </a:r>
              <a:endParaRPr lang="zh-CN" altLang="en-US" b="1"/>
            </a:p>
            <a:p>
              <a:pPr eaLnBrk="1" hangingPunct="1">
                <a:buFont typeface="Wingdings" panose="05000000000000000000" pitchFamily="2" charset="2"/>
                <a:buChar char="n"/>
                <a:defRPr/>
              </a:pPr>
              <a:r>
                <a:rPr lang="zh-CN" altLang="en-US" b="1"/>
                <a:t> 各类文档 </a:t>
              </a:r>
              <a:endParaRPr lang="zh-CN" altLang="en-US" b="1"/>
            </a:p>
            <a:p>
              <a:pPr eaLnBrk="1" hangingPunct="1">
                <a:buFont typeface="Wingdings" panose="05000000000000000000" pitchFamily="2" charset="2"/>
                <a:buNone/>
                <a:defRPr/>
              </a:pPr>
              <a:endParaRPr lang="zh-CN" altLang="en-US" b="1"/>
            </a:p>
            <a:p>
              <a:pPr eaLnBrk="1" hangingPunct="1">
                <a:buFont typeface="Wingdings" panose="05000000000000000000" pitchFamily="2" charset="2"/>
                <a:buNone/>
                <a:defRPr/>
              </a:pPr>
              <a:r>
                <a:rPr lang="zh-CN" altLang="en-US" b="1"/>
                <a:t> </a:t>
              </a:r>
              <a:endParaRPr lang="zh-CN" altLang="en-US" b="1"/>
            </a:p>
          </p:txBody>
        </p:sp>
      </p:grpSp>
    </p:spTree>
  </p:cSld>
  <p:clrMapOvr>
    <a:masterClrMapping/>
  </p:clrMapOvr>
  <p:transition spd="med">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49522"/>
                                        </p:tgtEl>
                                        <p:attrNameLst>
                                          <p:attrName>style.visibility</p:attrName>
                                        </p:attrNameLst>
                                      </p:cBhvr>
                                      <p:to>
                                        <p:strVal val="visible"/>
                                      </p:to>
                                    </p:set>
                                    <p:anim calcmode="discrete" valueType="clr">
                                      <p:cBhvr override="childStyle">
                                        <p:cTn id="7" dur="80"/>
                                        <p:tgtEl>
                                          <p:spTgt spid="14952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49522"/>
                                        </p:tgtEl>
                                        <p:attrNameLst>
                                          <p:attrName>fillcolor</p:attrName>
                                        </p:attrNameLst>
                                      </p:cBhvr>
                                      <p:tavLst>
                                        <p:tav tm="0">
                                          <p:val>
                                            <p:clrVal>
                                              <a:schemeClr val="accent2"/>
                                            </p:clrVal>
                                          </p:val>
                                        </p:tav>
                                        <p:tav tm="50000">
                                          <p:val>
                                            <p:clrVal>
                                              <a:schemeClr val="hlink"/>
                                            </p:clrVal>
                                          </p:val>
                                        </p:tav>
                                      </p:tavLst>
                                    </p:anim>
                                    <p:set>
                                      <p:cBhvr>
                                        <p:cTn id="9" dur="80"/>
                                        <p:tgtEl>
                                          <p:spTgt spid="149522"/>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8" presetClass="entr" presetSubtype="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strips(downRight)">
                                      <p:cBhvr>
                                        <p:cTn id="14" dur="500"/>
                                        <p:tgtEl>
                                          <p:spTgt spid="3"/>
                                        </p:tgtEl>
                                      </p:cBhvr>
                                    </p:animEffect>
                                  </p:childTnLst>
                                </p:cTn>
                              </p:par>
                            </p:childTnLst>
                          </p:cTn>
                        </p:par>
                        <p:par>
                          <p:cTn id="15" fill="hold">
                            <p:stCondLst>
                              <p:cond delay="500"/>
                            </p:stCondLst>
                            <p:childTnLst>
                              <p:par>
                                <p:cTn id="16" presetID="18" presetClass="entr" presetSubtype="6"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strips(downRight)">
                                      <p:cBhvr>
                                        <p:cTn id="18" dur="1000"/>
                                        <p:tgtEl>
                                          <p:spTgt spid="2"/>
                                        </p:tgtEl>
                                      </p:cBhvr>
                                    </p:animEffect>
                                  </p:childTnLst>
                                </p:cTn>
                              </p:par>
                            </p:childTnLst>
                          </p:cTn>
                        </p:par>
                        <p:par>
                          <p:cTn id="19" fill="hold">
                            <p:stCondLst>
                              <p:cond delay="1500"/>
                            </p:stCondLst>
                            <p:childTnLst>
                              <p:par>
                                <p:cTn id="20" presetID="18" presetClass="entr" presetSubtype="6"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trips(downRight)">
                                      <p:cBhvr>
                                        <p:cTn id="22" dur="1000"/>
                                        <p:tgtEl>
                                          <p:spTgt spid="4"/>
                                        </p:tgtEl>
                                      </p:cBhvr>
                                    </p:animEffect>
                                  </p:childTnLst>
                                </p:cTn>
                              </p:par>
                            </p:childTnLst>
                          </p:cTn>
                        </p:par>
                        <p:par>
                          <p:cTn id="23" fill="hold">
                            <p:stCondLst>
                              <p:cond delay="2500"/>
                            </p:stCondLst>
                            <p:childTnLst>
                              <p:par>
                                <p:cTn id="24" presetID="18" presetClass="entr" presetSubtype="6"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strips(downRight)">
                                      <p:cBhvr>
                                        <p:cTn id="2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22"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175500" y="3357563"/>
            <a:ext cx="3048000" cy="294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7" name="标题 1"/>
          <p:cNvSpPr>
            <a:spLocks noGrp="1" noChangeArrowheads="1"/>
          </p:cNvSpPr>
          <p:nvPr>
            <p:ph type="ctrTitle"/>
          </p:nvPr>
        </p:nvSpPr>
        <p:spPr>
          <a:xfrm>
            <a:off x="2132013" y="836613"/>
            <a:ext cx="7164387" cy="487362"/>
          </a:xfrm>
        </p:spPr>
        <p:txBody>
          <a:bodyPr anchor="ctr"/>
          <a:lstStyle/>
          <a:p>
            <a:pPr algn="l"/>
            <a:r>
              <a:rPr lang="zh-CN" altLang="en-US" sz="3200">
                <a:solidFill>
                  <a:srgbClr val="FF0000"/>
                </a:solidFill>
              </a:rPr>
              <a:t>知识域：网络空间安全风险评估</a:t>
            </a:r>
            <a:endParaRPr lang="zh-CN" altLang="en-US" sz="3200">
              <a:solidFill>
                <a:srgbClr val="FF0000"/>
              </a:solidFill>
            </a:endParaRPr>
          </a:p>
        </p:txBody>
      </p:sp>
      <p:sp>
        <p:nvSpPr>
          <p:cNvPr id="103428" name="内容占位符 2"/>
          <p:cNvSpPr>
            <a:spLocks noGrp="1" noChangeArrowheads="1"/>
          </p:cNvSpPr>
          <p:nvPr>
            <p:ph type="subTitle" idx="1"/>
          </p:nvPr>
        </p:nvSpPr>
        <p:spPr>
          <a:xfrm>
            <a:off x="2063750" y="1520825"/>
            <a:ext cx="7848600" cy="2916238"/>
          </a:xfrm>
        </p:spPr>
        <p:txBody>
          <a:bodyPr/>
          <a:lstStyle/>
          <a:p>
            <a:pPr marL="342900" indent="-342900" algn="l"/>
            <a:r>
              <a:rPr lang="zh-CN" altLang="en-US" sz="2800" b="1"/>
              <a:t>知识子域： 风险评估方法</a:t>
            </a:r>
            <a:endParaRPr lang="zh-CN" altLang="en-US" sz="2800" b="1"/>
          </a:p>
          <a:p>
            <a:pPr marL="342900" indent="-342900" algn="l">
              <a:buFont typeface="Wingdings" panose="05000000000000000000" pitchFamily="2" charset="2"/>
              <a:buChar char="v"/>
            </a:pPr>
            <a:r>
              <a:rPr lang="zh-CN" altLang="en-US" sz="2400"/>
              <a:t>理解定性风险分析方法</a:t>
            </a:r>
            <a:endParaRPr lang="zh-CN" altLang="en-US" sz="2400"/>
          </a:p>
          <a:p>
            <a:pPr marL="342900" indent="-342900" algn="l">
              <a:buFont typeface="Wingdings" panose="05000000000000000000" pitchFamily="2" charset="2"/>
              <a:buChar char="v"/>
            </a:pPr>
            <a:r>
              <a:rPr lang="zh-CN" altLang="en-US" sz="2400"/>
              <a:t>理解定量风险分析方法，掌握年度预期损失（</a:t>
            </a:r>
            <a:r>
              <a:rPr lang="en-US" altLang="zh-CN" sz="2400"/>
              <a:t>ALE</a:t>
            </a:r>
            <a:r>
              <a:rPr lang="zh-CN" altLang="en-US" sz="2400"/>
              <a:t>）的计算方法</a:t>
            </a:r>
            <a:endParaRPr lang="zh-CN" altLang="en-US" sz="2400"/>
          </a:p>
          <a:p>
            <a:pPr marL="342900" indent="-342900" algn="l">
              <a:buFont typeface="Wingdings" panose="05000000000000000000" pitchFamily="2" charset="2"/>
              <a:buChar char="v"/>
            </a:pPr>
            <a:r>
              <a:rPr lang="zh-CN" altLang="en-US" sz="2400"/>
              <a:t>理解半定量风险分析方法</a:t>
            </a:r>
            <a:endParaRPr lang="zh-CN" altLang="en-US" sz="2400"/>
          </a:p>
          <a:p>
            <a:pPr marL="342900" indent="-342900" algn="l">
              <a:buFont typeface="Wingdings" panose="05000000000000000000" pitchFamily="2" charset="2"/>
              <a:buChar char="v"/>
            </a:pPr>
            <a:r>
              <a:rPr lang="zh-CN" altLang="en-US" sz="2400"/>
              <a:t>理解定性和定量风险分析方法的优缺点</a:t>
            </a:r>
            <a:endParaRPr lang="zh-CN" altLang="en-US" sz="2400"/>
          </a:p>
          <a:p>
            <a:pPr marL="342900" indent="-342900" algn="l">
              <a:buFont typeface="Wingdings" panose="05000000000000000000" pitchFamily="2" charset="2"/>
              <a:buChar char="v"/>
            </a:pPr>
            <a:endParaRPr lang="zh-CN" altLang="en-US" sz="2400" b="1">
              <a:solidFill>
                <a:srgbClr val="009900"/>
              </a:solidFill>
            </a:endParaRPr>
          </a:p>
        </p:txBody>
      </p:sp>
      <p:sp>
        <p:nvSpPr>
          <p:cNvPr id="103429" name="日期占位符 3"/>
          <p:cNvSpPr>
            <a:spLocks noGrp="1" noChangeArrowheads="1"/>
          </p:cNvSpPr>
          <p:nvPr/>
        </p:nvSpPr>
        <p:spPr bwMode="auto">
          <a:xfrm>
            <a:off x="1905000" y="6505575"/>
            <a:ext cx="1905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00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gray">
          <a:xfrm>
            <a:off x="2058988" y="796925"/>
            <a:ext cx="6604000" cy="487363"/>
          </a:xfrm>
          <a:prstGeom prst="rect">
            <a:avLst/>
          </a:prstGeom>
          <a:noFill/>
          <a:ln w="9525">
            <a:solidFill>
              <a:schemeClr val="bg1"/>
            </a:solidFill>
            <a:miter lim="800000"/>
          </a:ln>
        </p:spPr>
        <p:txBody>
          <a:bodyPr anchor="b"/>
          <a:lstStyle>
            <a:lvl1pPr algn="ctr" rtl="0" eaLnBrk="0" fontAlgn="base" hangingPunct="0">
              <a:spcBef>
                <a:spcPct val="0"/>
              </a:spcBef>
              <a:spcAft>
                <a:spcPct val="0"/>
              </a:spcAft>
              <a:defRPr sz="45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lgn="l" eaLnBrk="1" hangingPunct="1">
              <a:defRPr/>
            </a:pPr>
            <a:r>
              <a:rPr lang="zh-CN" altLang="en-US" sz="2800" kern="0" dirty="0">
                <a:solidFill>
                  <a:srgbClr val="FF0000"/>
                </a:solidFill>
                <a:latin typeface="+mn-ea"/>
                <a:ea typeface="+mn-ea"/>
              </a:rPr>
              <a:t>风险评估的方法综述</a:t>
            </a:r>
            <a:endParaRPr lang="en-US" altLang="zh-CN" sz="2800" kern="0" dirty="0">
              <a:solidFill>
                <a:srgbClr val="FF0000"/>
              </a:solidFill>
              <a:latin typeface="+mn-ea"/>
              <a:ea typeface="+mn-ea"/>
            </a:endParaRPr>
          </a:p>
        </p:txBody>
      </p:sp>
      <p:sp>
        <p:nvSpPr>
          <p:cNvPr id="8" name="Rectangle 3"/>
          <p:cNvSpPr>
            <a:spLocks noChangeArrowheads="1"/>
          </p:cNvSpPr>
          <p:nvPr/>
        </p:nvSpPr>
        <p:spPr bwMode="auto">
          <a:xfrm>
            <a:off x="8904288" y="1558925"/>
            <a:ext cx="1439862" cy="2663825"/>
          </a:xfrm>
          <a:prstGeom prst="rect">
            <a:avLst/>
          </a:prstGeom>
          <a:gradFill rotWithShape="1">
            <a:gsLst>
              <a:gs pos="0">
                <a:srgbClr val="2F5658"/>
              </a:gs>
              <a:gs pos="50000">
                <a:srgbClr val="65B9BF"/>
              </a:gs>
              <a:gs pos="100000">
                <a:srgbClr val="2F5658"/>
              </a:gs>
            </a:gsLst>
            <a:lin ang="18900000" scaled="1"/>
          </a:gradFill>
          <a:ln>
            <a:noFill/>
          </a:ln>
          <a:effectLst>
            <a:prstShdw prst="shdw17" dist="17961" dir="2700000">
              <a:srgbClr val="3D6F73"/>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104454" name="Object 4"/>
          <p:cNvGraphicFramePr>
            <a:graphicFrameLocks noChangeAspect="1"/>
          </p:cNvGraphicFramePr>
          <p:nvPr/>
        </p:nvGraphicFramePr>
        <p:xfrm>
          <a:off x="2595563" y="4518025"/>
          <a:ext cx="3638550" cy="1625600"/>
        </p:xfrm>
        <a:graphic>
          <a:graphicData uri="http://schemas.openxmlformats.org/presentationml/2006/ole">
            <mc:AlternateContent xmlns:mc="http://schemas.openxmlformats.org/markup-compatibility/2006">
              <mc:Choice xmlns:v="urn:schemas-microsoft-com:vml" Requires="v">
                <p:oleObj spid="_x0000_s9225" name="Clip" r:id="rId1" imgW="3639185" imgH="1624965" progId="">
                  <p:embed/>
                </p:oleObj>
              </mc:Choice>
              <mc:Fallback>
                <p:oleObj name="Clip" r:id="rId1" imgW="3639185" imgH="1624965" progId="">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5563" y="4518025"/>
                        <a:ext cx="3638550"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AutoShape 5"/>
          <p:cNvSpPr>
            <a:spLocks noChangeArrowheads="1"/>
          </p:cNvSpPr>
          <p:nvPr/>
        </p:nvSpPr>
        <p:spPr bwMode="auto">
          <a:xfrm>
            <a:off x="9120188" y="1917700"/>
            <a:ext cx="1008062" cy="838200"/>
          </a:xfrm>
          <a:prstGeom prst="flowChartMultidocument">
            <a:avLst/>
          </a:prstGeom>
          <a:solidFill>
            <a:srgbClr val="FECABA"/>
          </a:solidFill>
          <a:ln w="9525">
            <a:noFill/>
            <a:miter lim="800000"/>
          </a:ln>
          <a:effectLst>
            <a:prstShdw prst="shdw17" dist="17961" dir="2700000">
              <a:srgbClr val="FECABA">
                <a:gamma/>
                <a:shade val="60000"/>
                <a:invGamma/>
              </a:srgbClr>
            </a:prstShdw>
          </a:effectLst>
        </p:spPr>
        <p:txBody>
          <a:bodyPr wrap="none" anchor="ctr"/>
          <a:lstStyle/>
          <a:p>
            <a:pPr eaLnBrk="1" hangingPunct="1">
              <a:defRPr/>
            </a:pPr>
            <a:r>
              <a:rPr lang="zh-CN" altLang="en-US" sz="1400" b="1" dirty="0">
                <a:latin typeface="+mn-ea"/>
                <a:ea typeface="+mn-ea"/>
              </a:rPr>
              <a:t>相关方法</a:t>
            </a:r>
            <a:endParaRPr lang="en-US" altLang="zh-CN" sz="1400" b="1" dirty="0">
              <a:latin typeface="+mn-ea"/>
              <a:ea typeface="+mn-ea"/>
            </a:endParaRPr>
          </a:p>
          <a:p>
            <a:pPr eaLnBrk="1" hangingPunct="1">
              <a:defRPr/>
            </a:pPr>
            <a:r>
              <a:rPr lang="zh-CN" altLang="en-US" sz="1400" b="1" dirty="0">
                <a:latin typeface="+mn-ea"/>
                <a:ea typeface="+mn-ea"/>
              </a:rPr>
              <a:t>深入学习</a:t>
            </a:r>
            <a:endParaRPr lang="zh-CN" altLang="en-US" sz="1400" b="1" dirty="0">
              <a:latin typeface="+mn-ea"/>
              <a:ea typeface="+mn-ea"/>
            </a:endParaRPr>
          </a:p>
        </p:txBody>
      </p:sp>
      <p:sp>
        <p:nvSpPr>
          <p:cNvPr id="11" name="AutoShape 6"/>
          <p:cNvSpPr>
            <a:spLocks noChangeArrowheads="1"/>
          </p:cNvSpPr>
          <p:nvPr/>
        </p:nvSpPr>
        <p:spPr bwMode="auto">
          <a:xfrm>
            <a:off x="9121775" y="3060700"/>
            <a:ext cx="935038" cy="801688"/>
          </a:xfrm>
          <a:prstGeom prst="can">
            <a:avLst>
              <a:gd name="adj" fmla="val 27588"/>
            </a:avLst>
          </a:prstGeom>
          <a:gradFill rotWithShape="1">
            <a:gsLst>
              <a:gs pos="0">
                <a:srgbClr val="FF33CC">
                  <a:gamma/>
                  <a:shade val="46275"/>
                  <a:invGamma/>
                </a:srgbClr>
              </a:gs>
              <a:gs pos="50000">
                <a:srgbClr val="FF33CC"/>
              </a:gs>
              <a:gs pos="100000">
                <a:srgbClr val="FF33CC">
                  <a:gamma/>
                  <a:shade val="46275"/>
                  <a:invGamma/>
                </a:srgbClr>
              </a:gs>
            </a:gsLst>
            <a:lin ang="0" scaled="1"/>
          </a:gradFill>
          <a:ln w="9525">
            <a:noFill/>
            <a:round/>
          </a:ln>
          <a:effectLst>
            <a:prstShdw prst="shdw17" dist="17961" dir="2700000">
              <a:srgbClr val="FF33CC">
                <a:gamma/>
                <a:shade val="60000"/>
                <a:invGamma/>
              </a:srgbClr>
            </a:prstShdw>
          </a:effectLst>
        </p:spPr>
        <p:txBody>
          <a:bodyPr wrap="none" anchor="ctr"/>
          <a:lstStyle/>
          <a:p>
            <a:pPr eaLnBrk="1" hangingPunct="1">
              <a:defRPr/>
            </a:pPr>
            <a:r>
              <a:rPr lang="zh-CN" altLang="en-US" sz="1600" b="1" dirty="0">
                <a:latin typeface="+mn-ea"/>
                <a:ea typeface="+mn-ea"/>
              </a:rPr>
              <a:t>解决问题</a:t>
            </a:r>
            <a:endParaRPr lang="zh-CN" altLang="en-US" sz="1600" b="1" dirty="0">
              <a:latin typeface="+mn-ea"/>
              <a:ea typeface="+mn-ea"/>
            </a:endParaRPr>
          </a:p>
        </p:txBody>
      </p:sp>
      <p:sp>
        <p:nvSpPr>
          <p:cNvPr id="12" name="AutoShape 7"/>
          <p:cNvSpPr>
            <a:spLocks noChangeArrowheads="1"/>
          </p:cNvSpPr>
          <p:nvPr/>
        </p:nvSpPr>
        <p:spPr bwMode="auto">
          <a:xfrm rot="5400000">
            <a:off x="9394032" y="2834481"/>
            <a:ext cx="381000" cy="223837"/>
          </a:xfrm>
          <a:prstGeom prst="notchedRightArrow">
            <a:avLst>
              <a:gd name="adj1" fmla="val 50000"/>
              <a:gd name="adj2" fmla="val 42553"/>
            </a:avLst>
          </a:prstGeom>
          <a:solidFill>
            <a:srgbClr val="32689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13" name="Rectangle 8"/>
          <p:cNvSpPr>
            <a:spLocks noChangeArrowheads="1"/>
          </p:cNvSpPr>
          <p:nvPr/>
        </p:nvSpPr>
        <p:spPr bwMode="auto">
          <a:xfrm>
            <a:off x="2832100" y="1873250"/>
            <a:ext cx="1295400" cy="523875"/>
          </a:xfrm>
          <a:prstGeom prst="rect">
            <a:avLst/>
          </a:prstGeom>
          <a:solidFill>
            <a:schemeClr val="tx2">
              <a:lumMod val="20000"/>
              <a:lumOff val="80000"/>
            </a:schemeClr>
          </a:solidFill>
          <a:ln w="9525">
            <a:solidFill>
              <a:schemeClr val="tx1"/>
            </a:solidFill>
            <a:miter lim="800000"/>
          </a:ln>
          <a:effectLst>
            <a:outerShdw blurRad="50800" dist="38100" dir="13500000" algn="br" rotWithShape="0">
              <a:prstClr val="black">
                <a:alpha val="40000"/>
              </a:prstClr>
            </a:outerShdw>
          </a:effectLst>
        </p:spPr>
        <p:txBody>
          <a:bodyPr anchor="ctr"/>
          <a:lstStyle/>
          <a:p>
            <a:pPr eaLnBrk="1" hangingPunct="1">
              <a:defRPr/>
            </a:pPr>
            <a:r>
              <a:rPr lang="zh-CN" altLang="en-US" sz="1400" b="1" dirty="0">
                <a:latin typeface="+mn-ea"/>
                <a:ea typeface="+mn-ea"/>
              </a:rPr>
              <a:t>定性评估方法</a:t>
            </a:r>
            <a:endParaRPr lang="zh-CN" altLang="en-US" sz="1400" b="1" dirty="0">
              <a:latin typeface="+mn-ea"/>
              <a:ea typeface="+mn-ea"/>
            </a:endParaRPr>
          </a:p>
        </p:txBody>
      </p:sp>
      <p:sp>
        <p:nvSpPr>
          <p:cNvPr id="14" name="Rectangle 9"/>
          <p:cNvSpPr>
            <a:spLocks noChangeArrowheads="1"/>
          </p:cNvSpPr>
          <p:nvPr/>
        </p:nvSpPr>
        <p:spPr bwMode="auto">
          <a:xfrm>
            <a:off x="2820988" y="2633663"/>
            <a:ext cx="1295400" cy="627062"/>
          </a:xfrm>
          <a:prstGeom prst="rect">
            <a:avLst/>
          </a:prstGeom>
          <a:solidFill>
            <a:schemeClr val="tx2">
              <a:lumMod val="20000"/>
              <a:lumOff val="80000"/>
            </a:schemeClr>
          </a:solidFill>
          <a:ln w="9525">
            <a:solidFill>
              <a:schemeClr val="tx1"/>
            </a:solidFill>
            <a:miter lim="800000"/>
          </a:ln>
          <a:effectLst>
            <a:outerShdw blurRad="50800" dist="38100" dir="13500000" algn="br" rotWithShape="0">
              <a:prstClr val="black">
                <a:alpha val="40000"/>
              </a:prstClr>
            </a:outerShdw>
          </a:effectLst>
        </p:spPr>
        <p:txBody>
          <a:bodyPr anchor="ctr"/>
          <a:lstStyle/>
          <a:p>
            <a:pPr eaLnBrk="1" hangingPunct="1">
              <a:defRPr/>
            </a:pPr>
            <a:r>
              <a:rPr lang="zh-CN" altLang="en-US" sz="1400" b="1" dirty="0">
                <a:latin typeface="+mn-ea"/>
                <a:ea typeface="+mn-ea"/>
              </a:rPr>
              <a:t>定量评估方法</a:t>
            </a:r>
            <a:endParaRPr lang="zh-CN" altLang="en-US" sz="1400" b="1" dirty="0">
              <a:latin typeface="+mn-ea"/>
              <a:ea typeface="+mn-ea"/>
            </a:endParaRPr>
          </a:p>
        </p:txBody>
      </p:sp>
      <p:sp>
        <p:nvSpPr>
          <p:cNvPr id="15" name="Rectangle 10"/>
          <p:cNvSpPr>
            <a:spLocks noChangeArrowheads="1"/>
          </p:cNvSpPr>
          <p:nvPr/>
        </p:nvSpPr>
        <p:spPr bwMode="auto">
          <a:xfrm>
            <a:off x="2832100" y="3511550"/>
            <a:ext cx="1295400" cy="642938"/>
          </a:xfrm>
          <a:prstGeom prst="rect">
            <a:avLst/>
          </a:prstGeom>
          <a:solidFill>
            <a:schemeClr val="tx2">
              <a:lumMod val="20000"/>
              <a:lumOff val="80000"/>
            </a:schemeClr>
          </a:solidFill>
          <a:ln w="9525">
            <a:solidFill>
              <a:schemeClr val="tx1"/>
            </a:solidFill>
            <a:miter lim="800000"/>
          </a:ln>
          <a:effectLst>
            <a:outerShdw blurRad="50800" dist="38100" dir="13500000" algn="br" rotWithShape="0">
              <a:prstClr val="black">
                <a:alpha val="40000"/>
              </a:prstClr>
            </a:outerShdw>
          </a:effectLst>
        </p:spPr>
        <p:txBody>
          <a:bodyPr anchor="ctr"/>
          <a:lstStyle/>
          <a:p>
            <a:pPr eaLnBrk="1" hangingPunct="1">
              <a:defRPr/>
            </a:pPr>
            <a:r>
              <a:rPr lang="zh-CN" altLang="en-US" sz="1400" b="1" dirty="0">
                <a:latin typeface="+mn-ea"/>
                <a:ea typeface="+mn-ea"/>
              </a:rPr>
              <a:t>综合评估方法</a:t>
            </a:r>
            <a:endParaRPr lang="zh-CN" altLang="en-US" sz="1400" b="1" dirty="0">
              <a:latin typeface="+mn-ea"/>
              <a:ea typeface="+mn-ea"/>
            </a:endParaRPr>
          </a:p>
        </p:txBody>
      </p:sp>
      <p:sp>
        <p:nvSpPr>
          <p:cNvPr id="16" name="AutoShape 11"/>
          <p:cNvSpPr>
            <a:spLocks noChangeArrowheads="1"/>
          </p:cNvSpPr>
          <p:nvPr/>
        </p:nvSpPr>
        <p:spPr bwMode="auto">
          <a:xfrm>
            <a:off x="4376738" y="1347788"/>
            <a:ext cx="2557462" cy="3163887"/>
          </a:xfrm>
          <a:prstGeom prst="flowChartMultidocument">
            <a:avLst/>
          </a:prstGeom>
          <a:solidFill>
            <a:schemeClr val="accent2">
              <a:lumMod val="20000"/>
              <a:lumOff val="80000"/>
            </a:schemeClr>
          </a:solidFill>
          <a:ln w="9525">
            <a:noFill/>
            <a:miter lim="800000"/>
          </a:ln>
          <a:effectLst>
            <a:prstShdw prst="shdw17" dist="17961" dir="2700000">
              <a:srgbClr val="9191DB">
                <a:gamma/>
                <a:shade val="60000"/>
                <a:invGamma/>
              </a:srgbClr>
            </a:prstShdw>
          </a:effectLst>
        </p:spPr>
        <p:txBody>
          <a:bodyPr anchor="ctr"/>
          <a:lstStyle/>
          <a:p>
            <a:pPr eaLnBrk="1" hangingPunct="1">
              <a:lnSpc>
                <a:spcPct val="125000"/>
              </a:lnSpc>
              <a:buFontTx/>
              <a:buChar char="•"/>
              <a:defRPr/>
            </a:pPr>
            <a:r>
              <a:rPr lang="zh-CN" altLang="en-US" sz="1400" b="1" dirty="0">
                <a:latin typeface="+mn-ea"/>
                <a:ea typeface="+mn-ea"/>
              </a:rPr>
              <a:t> 因素分析法、逻辑分析法、历史比较、德尔斐法</a:t>
            </a:r>
            <a:endParaRPr lang="en-US" altLang="zh-CN" sz="1400" b="1" dirty="0">
              <a:latin typeface="+mn-ea"/>
              <a:ea typeface="+mn-ea"/>
            </a:endParaRPr>
          </a:p>
          <a:p>
            <a:pPr eaLnBrk="1" hangingPunct="1">
              <a:lnSpc>
                <a:spcPct val="125000"/>
              </a:lnSpc>
              <a:buFontTx/>
              <a:buChar char="•"/>
              <a:defRPr/>
            </a:pPr>
            <a:r>
              <a:rPr lang="zh-CN" altLang="en-US" sz="1400" b="1" dirty="0">
                <a:latin typeface="+mn-ea"/>
                <a:ea typeface="+mn-ea"/>
              </a:rPr>
              <a:t>因子分析法、聚类分析法、时序模型、回归模型、决策树法等</a:t>
            </a:r>
            <a:endParaRPr lang="en-US" altLang="zh-CN" sz="1400" b="1" dirty="0">
              <a:latin typeface="+mn-ea"/>
              <a:ea typeface="+mn-ea"/>
            </a:endParaRPr>
          </a:p>
          <a:p>
            <a:pPr eaLnBrk="1" hangingPunct="1">
              <a:lnSpc>
                <a:spcPct val="125000"/>
              </a:lnSpc>
              <a:buFontTx/>
              <a:buChar char="•"/>
              <a:defRPr/>
            </a:pPr>
            <a:r>
              <a:rPr lang="zh-CN" altLang="en-US" sz="1400" b="1" dirty="0">
                <a:latin typeface="+mn-ea"/>
                <a:ea typeface="+mn-ea"/>
              </a:rPr>
              <a:t>基于模糊综合评价的风险评估方法、基于灰色理论的风险评估方法</a:t>
            </a:r>
            <a:endParaRPr lang="zh-CN" altLang="en-US" sz="1400" b="1" dirty="0">
              <a:latin typeface="+mn-ea"/>
              <a:ea typeface="+mn-ea"/>
            </a:endParaRPr>
          </a:p>
        </p:txBody>
      </p:sp>
      <p:sp>
        <p:nvSpPr>
          <p:cNvPr id="17" name="Rectangle 12"/>
          <p:cNvSpPr>
            <a:spLocks noChangeArrowheads="1"/>
          </p:cNvSpPr>
          <p:nvPr/>
        </p:nvSpPr>
        <p:spPr bwMode="auto">
          <a:xfrm>
            <a:off x="8024826" y="2000240"/>
            <a:ext cx="428628" cy="1928826"/>
          </a:xfrm>
          <a:prstGeom prst="rect">
            <a:avLst/>
          </a:prstGeom>
        </p:spPr>
        <p:style>
          <a:lnRef idx="1">
            <a:schemeClr val="accent2"/>
          </a:lnRef>
          <a:fillRef idx="3">
            <a:schemeClr val="accent2"/>
          </a:fillRef>
          <a:effectRef idx="2">
            <a:schemeClr val="accent2"/>
          </a:effectRef>
          <a:fontRef idx="minor">
            <a:schemeClr val="lt1"/>
          </a:fontRef>
        </p:style>
        <p:txBody>
          <a:bodyPr vert="wordArtVertRtl" anchor="ctr"/>
          <a:lstStyle/>
          <a:p>
            <a:pPr eaLnBrk="1" hangingPunct="1">
              <a:defRPr/>
            </a:pPr>
            <a:r>
              <a:rPr lang="zh-CN" altLang="en-US" sz="1600" b="1" dirty="0">
                <a:latin typeface="+mn-ea"/>
              </a:rPr>
              <a:t>模糊综合评价法</a:t>
            </a:r>
            <a:endParaRPr lang="zh-CN" altLang="en-US" sz="1600" b="1" dirty="0">
              <a:latin typeface="+mn-ea"/>
            </a:endParaRPr>
          </a:p>
        </p:txBody>
      </p:sp>
      <p:sp>
        <p:nvSpPr>
          <p:cNvPr id="18" name="Rectangle 13"/>
          <p:cNvSpPr>
            <a:spLocks noChangeArrowheads="1"/>
          </p:cNvSpPr>
          <p:nvPr/>
        </p:nvSpPr>
        <p:spPr bwMode="auto">
          <a:xfrm>
            <a:off x="7104063" y="1285875"/>
            <a:ext cx="576262" cy="3225800"/>
          </a:xfrm>
          <a:prstGeom prst="rect">
            <a:avLst/>
          </a:prstGeom>
          <a:solidFill>
            <a:schemeClr val="bg1">
              <a:lumMod val="85000"/>
            </a:schemeClr>
          </a:solidFill>
          <a:ln w="9525">
            <a:noFill/>
            <a:miter lim="800000"/>
          </a:ln>
          <a:effectLst>
            <a:prstShdw prst="shdw17" dist="17961" dir="2700000">
              <a:schemeClr val="accent1">
                <a:gamma/>
                <a:shade val="60000"/>
                <a:invGamma/>
              </a:schemeClr>
            </a:prstShdw>
          </a:effectLst>
        </p:spPr>
        <p:txBody>
          <a:bodyPr vert="eaVert" anchor="ctr"/>
          <a:lstStyle/>
          <a:p>
            <a:pPr eaLnBrk="1" hangingPunct="1">
              <a:defRPr/>
            </a:pPr>
            <a:r>
              <a:rPr lang="zh-CN" altLang="en-US" sz="1600" b="1" dirty="0">
                <a:latin typeface="+mn-ea"/>
                <a:ea typeface="+mn-ea"/>
              </a:rPr>
              <a:t>对三类方法的优缺点进行比较分析</a:t>
            </a:r>
            <a:endParaRPr lang="zh-CN" altLang="en-US" sz="1600" b="1" dirty="0">
              <a:latin typeface="+mn-ea"/>
              <a:ea typeface="+mn-ea"/>
            </a:endParaRPr>
          </a:p>
        </p:txBody>
      </p:sp>
      <p:sp>
        <p:nvSpPr>
          <p:cNvPr id="19" name="AutoShape 14"/>
          <p:cNvSpPr>
            <a:spLocks noChangeArrowheads="1"/>
          </p:cNvSpPr>
          <p:nvPr/>
        </p:nvSpPr>
        <p:spPr bwMode="auto">
          <a:xfrm>
            <a:off x="1919288" y="2206625"/>
            <a:ext cx="576262" cy="1512888"/>
          </a:xfrm>
          <a:prstGeom prst="wedgeRectCallout">
            <a:avLst>
              <a:gd name="adj1" fmla="val 86268"/>
              <a:gd name="adj2" fmla="val 106470"/>
            </a:avLst>
          </a:prstGeom>
          <a:solidFill>
            <a:srgbClr val="FFFF00"/>
          </a:solidFill>
          <a:ln w="9525">
            <a:noFill/>
            <a:miter lim="800000"/>
          </a:ln>
          <a:effectLst>
            <a:prstShdw prst="shdw17" dist="17961" dir="2700000">
              <a:srgbClr val="4B8BC5">
                <a:gamma/>
                <a:shade val="60000"/>
                <a:invGamma/>
              </a:srgbClr>
            </a:prstShdw>
          </a:effectLst>
        </p:spPr>
        <p:txBody>
          <a:bodyPr anchor="ctr" anchorCtr="1"/>
          <a:lstStyle/>
          <a:p>
            <a:pPr eaLnBrk="1" fontAlgn="ctr" hangingPunct="1">
              <a:defRPr/>
            </a:pPr>
            <a:r>
              <a:rPr lang="zh-CN" altLang="en-US" sz="1600" b="1" dirty="0">
                <a:latin typeface="+mn-ea"/>
                <a:ea typeface="+mn-ea"/>
              </a:rPr>
              <a:t>三个方面</a:t>
            </a:r>
            <a:endParaRPr lang="zh-CN" altLang="en-US" sz="1600" b="1" dirty="0">
              <a:latin typeface="+mn-ea"/>
              <a:ea typeface="+mn-ea"/>
            </a:endParaRPr>
          </a:p>
        </p:txBody>
      </p:sp>
      <p:sp>
        <p:nvSpPr>
          <p:cNvPr id="20" name="AutoShape 15"/>
          <p:cNvSpPr/>
          <p:nvPr/>
        </p:nvSpPr>
        <p:spPr bwMode="auto">
          <a:xfrm>
            <a:off x="2566988" y="2135188"/>
            <a:ext cx="215900" cy="1655762"/>
          </a:xfrm>
          <a:prstGeom prst="leftBrace">
            <a:avLst>
              <a:gd name="adj1" fmla="val 63909"/>
              <a:gd name="adj2" fmla="val 50000"/>
            </a:avLst>
          </a:prstGeom>
          <a:noFill/>
          <a:ln w="28575">
            <a:solidFill>
              <a:srgbClr val="FECABA"/>
            </a:solidFill>
            <a:round/>
          </a:ln>
          <a:effectLst>
            <a:prstShdw prst="shdw17" dist="17961" dir="2700000">
              <a:srgbClr val="987970"/>
            </a:prst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21" name="AutoShape 16"/>
          <p:cNvSpPr/>
          <p:nvPr/>
        </p:nvSpPr>
        <p:spPr bwMode="auto">
          <a:xfrm>
            <a:off x="4151313" y="2135188"/>
            <a:ext cx="144462" cy="1584325"/>
          </a:xfrm>
          <a:prstGeom prst="rightBrace">
            <a:avLst>
              <a:gd name="adj1" fmla="val 91392"/>
              <a:gd name="adj2" fmla="val 50000"/>
            </a:avLst>
          </a:prstGeom>
          <a:noFill/>
          <a:ln w="28575">
            <a:solidFill>
              <a:srgbClr val="FECABA"/>
            </a:solidFill>
            <a:round/>
          </a:ln>
          <a:effectLst>
            <a:prstShdw prst="shdw17" dist="17961" dir="2700000">
              <a:srgbClr val="987970"/>
            </a:prst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22" name="AutoShape 17"/>
          <p:cNvSpPr>
            <a:spLocks noChangeArrowheads="1"/>
          </p:cNvSpPr>
          <p:nvPr/>
        </p:nvSpPr>
        <p:spPr bwMode="auto">
          <a:xfrm>
            <a:off x="6519863" y="2768600"/>
            <a:ext cx="576262" cy="301625"/>
          </a:xfrm>
          <a:custGeom>
            <a:avLst/>
            <a:gdLst>
              <a:gd name="T0" fmla="*/ 341438223 w 21600"/>
              <a:gd name="T1" fmla="*/ 0 h 21600"/>
              <a:gd name="T2" fmla="*/ 0 w 21600"/>
              <a:gd name="T3" fmla="*/ 29408033 h 21600"/>
              <a:gd name="T4" fmla="*/ 341438223 w 21600"/>
              <a:gd name="T5" fmla="*/ 58815870 h 21600"/>
              <a:gd name="T6" fmla="*/ 410159201 w 21600"/>
              <a:gd name="T7" fmla="*/ 29408033 h 21600"/>
              <a:gd name="T8" fmla="*/ 17694720 60000 65536"/>
              <a:gd name="T9" fmla="*/ 11796480 60000 65536"/>
              <a:gd name="T10" fmla="*/ 5898240 60000 65536"/>
              <a:gd name="T11" fmla="*/ 0 60000 65536"/>
              <a:gd name="T12" fmla="*/ 3375 w 21600"/>
              <a:gd name="T13" fmla="*/ 6600 h 21600"/>
              <a:gd name="T14" fmla="*/ 20193 w 21600"/>
              <a:gd name="T15" fmla="*/ 15000 h 21600"/>
            </a:gdLst>
            <a:ahLst/>
            <a:cxnLst>
              <a:cxn ang="T8">
                <a:pos x="T0" y="T1"/>
              </a:cxn>
              <a:cxn ang="T9">
                <a:pos x="T2" y="T3"/>
              </a:cxn>
              <a:cxn ang="T10">
                <a:pos x="T4" y="T5"/>
              </a:cxn>
              <a:cxn ang="T11">
                <a:pos x="T6" y="T7"/>
              </a:cxn>
            </a:cxnLst>
            <a:rect l="T12" t="T13" r="T14" b="T15"/>
            <a:pathLst>
              <a:path w="21600" h="21600">
                <a:moveTo>
                  <a:pt x="17981" y="0"/>
                </a:moveTo>
                <a:lnTo>
                  <a:pt x="17981" y="6600"/>
                </a:lnTo>
                <a:lnTo>
                  <a:pt x="3375" y="6600"/>
                </a:lnTo>
                <a:lnTo>
                  <a:pt x="3375" y="15000"/>
                </a:lnTo>
                <a:lnTo>
                  <a:pt x="17981" y="15000"/>
                </a:lnTo>
                <a:lnTo>
                  <a:pt x="17981" y="21600"/>
                </a:lnTo>
                <a:lnTo>
                  <a:pt x="21600" y="10800"/>
                </a:lnTo>
                <a:lnTo>
                  <a:pt x="17981" y="0"/>
                </a:lnTo>
                <a:close/>
              </a:path>
              <a:path w="21600" h="21600">
                <a:moveTo>
                  <a:pt x="1350" y="6600"/>
                </a:moveTo>
                <a:lnTo>
                  <a:pt x="1350" y="15000"/>
                </a:lnTo>
                <a:lnTo>
                  <a:pt x="2700" y="15000"/>
                </a:lnTo>
                <a:lnTo>
                  <a:pt x="2700" y="6600"/>
                </a:lnTo>
                <a:lnTo>
                  <a:pt x="1350" y="6600"/>
                </a:lnTo>
                <a:close/>
              </a:path>
              <a:path w="21600" h="21600">
                <a:moveTo>
                  <a:pt x="0" y="6600"/>
                </a:moveTo>
                <a:lnTo>
                  <a:pt x="0" y="15000"/>
                </a:lnTo>
                <a:lnTo>
                  <a:pt x="675" y="15000"/>
                </a:lnTo>
                <a:lnTo>
                  <a:pt x="675" y="6600"/>
                </a:lnTo>
                <a:lnTo>
                  <a:pt x="0" y="6600"/>
                </a:lnTo>
                <a:close/>
              </a:path>
            </a:pathLst>
          </a:custGeom>
          <a:gradFill rotWithShape="1">
            <a:gsLst>
              <a:gs pos="0">
                <a:srgbClr val="705C5E"/>
              </a:gs>
              <a:gs pos="50000">
                <a:srgbClr val="F2C6CC"/>
              </a:gs>
              <a:gs pos="100000">
                <a:srgbClr val="705C5E"/>
              </a:gs>
            </a:gsLst>
            <a:lin ang="18900000" scaled="1"/>
          </a:gradFill>
          <a:ln>
            <a:noFill/>
          </a:ln>
          <a:effectLst>
            <a:prstShdw prst="shdw17" dist="17961" dir="2700000">
              <a:srgbClr val="91777A"/>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3" name="AutoShape 18"/>
          <p:cNvSpPr>
            <a:spLocks noChangeArrowheads="1"/>
          </p:cNvSpPr>
          <p:nvPr/>
        </p:nvSpPr>
        <p:spPr bwMode="auto">
          <a:xfrm>
            <a:off x="8443913" y="2798763"/>
            <a:ext cx="436562" cy="271462"/>
          </a:xfrm>
          <a:prstGeom prst="notchedRightArrow">
            <a:avLst>
              <a:gd name="adj1" fmla="val 50000"/>
              <a:gd name="adj2" fmla="val 40205"/>
            </a:avLst>
          </a:prstGeom>
          <a:gradFill rotWithShape="1">
            <a:gsLst>
              <a:gs pos="0">
                <a:srgbClr val="F2C6CC"/>
              </a:gs>
              <a:gs pos="100000">
                <a:srgbClr val="705C5E"/>
              </a:gs>
            </a:gsLst>
            <a:lin ang="18900000" scaled="1"/>
          </a:gradFill>
          <a:ln>
            <a:noFill/>
          </a:ln>
          <a:effectLst>
            <a:prstShdw prst="shdw17" dist="17961" dir="2700000">
              <a:srgbClr val="91777A"/>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24" name="AutoShape 19"/>
          <p:cNvSpPr>
            <a:spLocks noChangeArrowheads="1"/>
          </p:cNvSpPr>
          <p:nvPr/>
        </p:nvSpPr>
        <p:spPr bwMode="auto">
          <a:xfrm>
            <a:off x="7661275" y="2782888"/>
            <a:ext cx="379413" cy="301625"/>
          </a:xfrm>
          <a:custGeom>
            <a:avLst/>
            <a:gdLst>
              <a:gd name="T0" fmla="*/ 97451720 w 21600"/>
              <a:gd name="T1" fmla="*/ 0 h 21600"/>
              <a:gd name="T2" fmla="*/ 0 w 21600"/>
              <a:gd name="T3" fmla="*/ 29408033 h 21600"/>
              <a:gd name="T4" fmla="*/ 97451720 w 21600"/>
              <a:gd name="T5" fmla="*/ 58815870 h 21600"/>
              <a:gd name="T6" fmla="*/ 117065545 w 21600"/>
              <a:gd name="T7" fmla="*/ 29408033 h 21600"/>
              <a:gd name="T8" fmla="*/ 17694720 60000 65536"/>
              <a:gd name="T9" fmla="*/ 11796480 60000 65536"/>
              <a:gd name="T10" fmla="*/ 5898240 60000 65536"/>
              <a:gd name="T11" fmla="*/ 0 60000 65536"/>
              <a:gd name="T12" fmla="*/ 3375 w 21600"/>
              <a:gd name="T13" fmla="*/ 6600 h 21600"/>
              <a:gd name="T14" fmla="*/ 20193 w 21600"/>
              <a:gd name="T15" fmla="*/ 15000 h 21600"/>
            </a:gdLst>
            <a:ahLst/>
            <a:cxnLst>
              <a:cxn ang="T8">
                <a:pos x="T0" y="T1"/>
              </a:cxn>
              <a:cxn ang="T9">
                <a:pos x="T2" y="T3"/>
              </a:cxn>
              <a:cxn ang="T10">
                <a:pos x="T4" y="T5"/>
              </a:cxn>
              <a:cxn ang="T11">
                <a:pos x="T6" y="T7"/>
              </a:cxn>
            </a:cxnLst>
            <a:rect l="T12" t="T13" r="T14" b="T15"/>
            <a:pathLst>
              <a:path w="21600" h="21600">
                <a:moveTo>
                  <a:pt x="17981" y="0"/>
                </a:moveTo>
                <a:lnTo>
                  <a:pt x="17981" y="6600"/>
                </a:lnTo>
                <a:lnTo>
                  <a:pt x="3375" y="6600"/>
                </a:lnTo>
                <a:lnTo>
                  <a:pt x="3375" y="15000"/>
                </a:lnTo>
                <a:lnTo>
                  <a:pt x="17981" y="15000"/>
                </a:lnTo>
                <a:lnTo>
                  <a:pt x="17981" y="21600"/>
                </a:lnTo>
                <a:lnTo>
                  <a:pt x="21600" y="10800"/>
                </a:lnTo>
                <a:lnTo>
                  <a:pt x="17981" y="0"/>
                </a:lnTo>
                <a:close/>
              </a:path>
              <a:path w="21600" h="21600">
                <a:moveTo>
                  <a:pt x="1350" y="6600"/>
                </a:moveTo>
                <a:lnTo>
                  <a:pt x="1350" y="15000"/>
                </a:lnTo>
                <a:lnTo>
                  <a:pt x="2700" y="15000"/>
                </a:lnTo>
                <a:lnTo>
                  <a:pt x="2700" y="6600"/>
                </a:lnTo>
                <a:lnTo>
                  <a:pt x="1350" y="6600"/>
                </a:lnTo>
                <a:close/>
              </a:path>
              <a:path w="21600" h="21600">
                <a:moveTo>
                  <a:pt x="0" y="6600"/>
                </a:moveTo>
                <a:lnTo>
                  <a:pt x="0" y="15000"/>
                </a:lnTo>
                <a:lnTo>
                  <a:pt x="675" y="15000"/>
                </a:lnTo>
                <a:lnTo>
                  <a:pt x="675" y="6600"/>
                </a:lnTo>
                <a:lnTo>
                  <a:pt x="0" y="6600"/>
                </a:lnTo>
                <a:close/>
              </a:path>
            </a:pathLst>
          </a:custGeom>
          <a:gradFill rotWithShape="1">
            <a:gsLst>
              <a:gs pos="0">
                <a:srgbClr val="705C5E"/>
              </a:gs>
              <a:gs pos="50000">
                <a:srgbClr val="F2C6CC"/>
              </a:gs>
              <a:gs pos="100000">
                <a:srgbClr val="705C5E"/>
              </a:gs>
            </a:gsLst>
            <a:lin ang="18900000" scaled="1"/>
          </a:gradFill>
          <a:ln>
            <a:noFill/>
          </a:ln>
          <a:effectLst>
            <a:prstShdw prst="shdw17" dist="17961" dir="2700000">
              <a:srgbClr val="91777A"/>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1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ox(out)">
                                      <p:cBhvr>
                                        <p:cTn id="12" dur="500"/>
                                        <p:tgtEl>
                                          <p:spTgt spid="2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ox(in)">
                                      <p:cBhvr>
                                        <p:cTn id="27" dur="500"/>
                                        <p:tgtEl>
                                          <p:spTgt spid="21"/>
                                        </p:tgtEl>
                                      </p:cBhvr>
                                    </p:animEffect>
                                  </p:childTnLst>
                                </p:cTn>
                              </p:par>
                            </p:childTnLst>
                          </p:cTn>
                        </p:par>
                        <p:par>
                          <p:cTn id="28" fill="hold">
                            <p:stCondLst>
                              <p:cond delay="500"/>
                            </p:stCondLst>
                            <p:childTnLst>
                              <p:par>
                                <p:cTn id="29" presetID="18" presetClass="entr" presetSubtype="6"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strips(downRight)">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childTnLst>
                          </p:cTn>
                        </p:par>
                        <p:par>
                          <p:cTn id="37" fill="hold">
                            <p:stCondLst>
                              <p:cond delay="500"/>
                            </p:stCondLst>
                            <p:childTnLst>
                              <p:par>
                                <p:cTn id="38" presetID="5" presetClass="entr" presetSubtype="5"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checkerboard(down)">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500"/>
                                        <p:tgtEl>
                                          <p:spTgt spid="24"/>
                                        </p:tgtEl>
                                      </p:cBhvr>
                                    </p:animEffect>
                                  </p:childTnLst>
                                </p:cTn>
                              </p:par>
                            </p:childTnLst>
                          </p:cTn>
                        </p:par>
                        <p:par>
                          <p:cTn id="46" fill="hold">
                            <p:stCondLst>
                              <p:cond delay="500"/>
                            </p:stCondLst>
                            <p:childTnLst>
                              <p:par>
                                <p:cTn id="47" presetID="16" presetClass="entr" presetSubtype="42" fill="hold"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barn(outHorizontal)">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wipe(left)">
                                      <p:cBhvr>
                                        <p:cTn id="54" dur="500"/>
                                        <p:tgtEl>
                                          <p:spTgt spid="23"/>
                                        </p:tgtEl>
                                      </p:cBhvr>
                                    </p:animEffect>
                                  </p:childTnLst>
                                </p:cTn>
                              </p:par>
                            </p:childTnLst>
                          </p:cTn>
                        </p:par>
                        <p:par>
                          <p:cTn id="55" fill="hold">
                            <p:stCondLst>
                              <p:cond delay="500"/>
                            </p:stCondLst>
                            <p:childTnLst>
                              <p:par>
                                <p:cTn id="56" presetID="16" presetClass="entr" presetSubtype="42" fill="hold" grpId="0"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barn(outHorizontal)">
                                      <p:cBhvr>
                                        <p:cTn id="58" dur="500"/>
                                        <p:tgtEl>
                                          <p:spTgt spid="8"/>
                                        </p:tgtEl>
                                      </p:cBhvr>
                                    </p:animEffect>
                                  </p:childTnLst>
                                </p:cTn>
                              </p:par>
                            </p:childTnLst>
                          </p:cTn>
                        </p:par>
                        <p:par>
                          <p:cTn id="59" fill="hold">
                            <p:stCondLst>
                              <p:cond delay="1000"/>
                            </p:stCondLst>
                            <p:childTnLst>
                              <p:par>
                                <p:cTn id="60" presetID="22" presetClass="entr" presetSubtype="1" fill="hold" grpId="0" nodeType="after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up)">
                                      <p:cBhvr>
                                        <p:cTn id="62" dur="500"/>
                                        <p:tgtEl>
                                          <p:spTgt spid="10"/>
                                        </p:tgtEl>
                                      </p:cBhvr>
                                    </p:animEffect>
                                  </p:childTnLst>
                                </p:cTn>
                              </p:par>
                            </p:childTnLst>
                          </p:cTn>
                        </p:par>
                        <p:par>
                          <p:cTn id="63" fill="hold">
                            <p:stCondLst>
                              <p:cond delay="1500"/>
                            </p:stCondLst>
                            <p:childTnLst>
                              <p:par>
                                <p:cTn id="64" presetID="22" presetClass="entr" presetSubtype="1" fill="hold" grpId="0" nodeType="after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up)">
                                      <p:cBhvr>
                                        <p:cTn id="66" dur="500"/>
                                        <p:tgtEl>
                                          <p:spTgt spid="12"/>
                                        </p:tgtEl>
                                      </p:cBhvr>
                                    </p:animEffect>
                                  </p:childTnLst>
                                </p:cTn>
                              </p:par>
                            </p:childTnLst>
                          </p:cTn>
                        </p:par>
                        <p:par>
                          <p:cTn id="67" fill="hold">
                            <p:stCondLst>
                              <p:cond delay="2000"/>
                            </p:stCondLst>
                            <p:childTnLst>
                              <p:par>
                                <p:cTn id="68" presetID="22" presetClass="entr" presetSubtype="1" fill="hold" grpId="0" nodeType="after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up)">
                                      <p:cBhvr>
                                        <p:cTn id="7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2135188" y="765175"/>
            <a:ext cx="6604000" cy="487363"/>
          </a:xfrm>
        </p:spPr>
        <p:txBody>
          <a:bodyPr/>
          <a:lstStyle/>
          <a:p>
            <a:pPr eaLnBrk="1" hangingPunct="1">
              <a:defRPr/>
            </a:pPr>
            <a:r>
              <a:rPr lang="zh-CN" altLang="en-US" sz="2800" dirty="0">
                <a:solidFill>
                  <a:srgbClr val="FF0000"/>
                </a:solidFill>
                <a:latin typeface="+mn-ea"/>
                <a:ea typeface="+mn-ea"/>
              </a:rPr>
              <a:t>定性的风险评估方法</a:t>
            </a:r>
            <a:endParaRPr lang="en-US" altLang="zh-CN" sz="2800" dirty="0">
              <a:solidFill>
                <a:srgbClr val="FF0000"/>
              </a:solidFill>
              <a:latin typeface="+mn-ea"/>
              <a:ea typeface="+mn-ea"/>
            </a:endParaRPr>
          </a:p>
        </p:txBody>
      </p:sp>
      <p:sp>
        <p:nvSpPr>
          <p:cNvPr id="4" name="Text Box 2"/>
          <p:cNvSpPr txBox="1">
            <a:spLocks noChangeArrowheads="1"/>
          </p:cNvSpPr>
          <p:nvPr/>
        </p:nvSpPr>
        <p:spPr bwMode="auto">
          <a:xfrm>
            <a:off x="2351088" y="3716338"/>
            <a:ext cx="7186612" cy="2393315"/>
          </a:xfrm>
          <a:prstGeom prst="rect">
            <a:avLst/>
          </a:prstGeom>
          <a:noFill/>
          <a:ln w="9525">
            <a:noFill/>
            <a:miter lim="800000"/>
          </a:ln>
          <a:effectLst/>
        </p:spPr>
        <p:txBody>
          <a:bodyPr>
            <a:spAutoFit/>
          </a:bodyPr>
          <a:lstStyle/>
          <a:p>
            <a:pPr marL="457200" indent="-457200" eaLnBrk="1" hangingPunct="1">
              <a:lnSpc>
                <a:spcPct val="120000"/>
              </a:lnSpc>
              <a:spcBef>
                <a:spcPct val="25000"/>
              </a:spcBef>
              <a:buSzPct val="80000"/>
              <a:defRPr/>
            </a:pPr>
            <a:r>
              <a:rPr lang="zh-CN" altLang="en-US" sz="2800" b="1" dirty="0">
                <a:solidFill>
                  <a:srgbClr val="FF0000"/>
                </a:solidFill>
                <a:latin typeface="+mn-ea"/>
                <a:ea typeface="+mn-ea"/>
              </a:rPr>
              <a:t>  典型的定性评估方法：</a:t>
            </a:r>
            <a:endParaRPr lang="zh-CN" altLang="en-US" sz="2800" b="1" dirty="0">
              <a:solidFill>
                <a:srgbClr val="FF0000"/>
              </a:solidFill>
              <a:latin typeface="+mn-ea"/>
              <a:ea typeface="+mn-ea"/>
            </a:endParaRPr>
          </a:p>
          <a:p>
            <a:pPr marL="1371600" lvl="2" indent="-457200" eaLnBrk="1" hangingPunct="1">
              <a:lnSpc>
                <a:spcPct val="120000"/>
              </a:lnSpc>
              <a:spcBef>
                <a:spcPct val="25000"/>
              </a:spcBef>
              <a:buSzPct val="80000"/>
              <a:buFont typeface="Wingdings" panose="05000000000000000000" pitchFamily="2" charset="2"/>
              <a:buChar char="u"/>
              <a:defRPr/>
            </a:pPr>
            <a:r>
              <a:rPr lang="zh-CN" altLang="en-US" sz="2000" b="1" dirty="0">
                <a:solidFill>
                  <a:srgbClr val="002060"/>
                </a:solidFill>
                <a:latin typeface="+mn-ea"/>
                <a:ea typeface="+mn-ea"/>
              </a:rPr>
              <a:t>因素分析法</a:t>
            </a:r>
            <a:endParaRPr lang="en-US" altLang="zh-CN" sz="2000" b="1" dirty="0">
              <a:solidFill>
                <a:srgbClr val="002060"/>
              </a:solidFill>
              <a:latin typeface="+mn-ea"/>
              <a:ea typeface="+mn-ea"/>
            </a:endParaRPr>
          </a:p>
          <a:p>
            <a:pPr marL="1371600" lvl="2" indent="-457200" eaLnBrk="1" hangingPunct="1">
              <a:lnSpc>
                <a:spcPct val="120000"/>
              </a:lnSpc>
              <a:spcBef>
                <a:spcPct val="25000"/>
              </a:spcBef>
              <a:buSzPct val="80000"/>
              <a:buFont typeface="Wingdings" panose="05000000000000000000" pitchFamily="2" charset="2"/>
              <a:buChar char="u"/>
              <a:defRPr/>
            </a:pPr>
            <a:r>
              <a:rPr lang="zh-CN" altLang="en-US" sz="2000" b="1" dirty="0">
                <a:solidFill>
                  <a:srgbClr val="002060"/>
                </a:solidFill>
                <a:latin typeface="+mn-ea"/>
                <a:ea typeface="+mn-ea"/>
              </a:rPr>
              <a:t>逻辑分析法</a:t>
            </a:r>
            <a:endParaRPr lang="en-US" altLang="zh-CN" sz="2000" b="1" dirty="0">
              <a:solidFill>
                <a:srgbClr val="002060"/>
              </a:solidFill>
              <a:latin typeface="+mn-ea"/>
              <a:ea typeface="+mn-ea"/>
            </a:endParaRPr>
          </a:p>
          <a:p>
            <a:pPr marL="1371600" lvl="2" indent="-457200" eaLnBrk="1" hangingPunct="1">
              <a:lnSpc>
                <a:spcPct val="120000"/>
              </a:lnSpc>
              <a:spcBef>
                <a:spcPct val="25000"/>
              </a:spcBef>
              <a:buSzPct val="80000"/>
              <a:buFont typeface="Wingdings" panose="05000000000000000000" pitchFamily="2" charset="2"/>
              <a:buChar char="u"/>
              <a:defRPr/>
            </a:pPr>
            <a:r>
              <a:rPr lang="zh-CN" altLang="en-US" sz="2000" b="1" dirty="0">
                <a:solidFill>
                  <a:srgbClr val="002060"/>
                </a:solidFill>
                <a:latin typeface="+mn-ea"/>
                <a:ea typeface="+mn-ea"/>
              </a:rPr>
              <a:t>历史比较法</a:t>
            </a:r>
            <a:endParaRPr lang="en-US" altLang="zh-CN" sz="2000" b="1" dirty="0">
              <a:solidFill>
                <a:srgbClr val="002060"/>
              </a:solidFill>
              <a:latin typeface="+mn-ea"/>
              <a:ea typeface="+mn-ea"/>
            </a:endParaRPr>
          </a:p>
          <a:p>
            <a:pPr marL="1371600" lvl="2" indent="-457200" eaLnBrk="1" hangingPunct="1">
              <a:lnSpc>
                <a:spcPct val="120000"/>
              </a:lnSpc>
              <a:spcBef>
                <a:spcPct val="25000"/>
              </a:spcBef>
              <a:buSzPct val="80000"/>
              <a:buFont typeface="Wingdings" panose="05000000000000000000" pitchFamily="2" charset="2"/>
              <a:buChar char="u"/>
              <a:defRPr/>
            </a:pPr>
            <a:r>
              <a:rPr lang="zh-CN" altLang="en-US" sz="2000" b="1" dirty="0">
                <a:solidFill>
                  <a:srgbClr val="002060"/>
                </a:solidFill>
                <a:latin typeface="+mn-ea"/>
                <a:ea typeface="+mn-ea"/>
              </a:rPr>
              <a:t>德尔斐法。</a:t>
            </a:r>
            <a:endParaRPr lang="zh-CN" altLang="en-US" sz="2000" b="1" dirty="0">
              <a:solidFill>
                <a:srgbClr val="002060"/>
              </a:solidFill>
              <a:latin typeface="+mn-ea"/>
              <a:ea typeface="+mn-ea"/>
            </a:endParaRPr>
          </a:p>
        </p:txBody>
      </p:sp>
      <p:sp>
        <p:nvSpPr>
          <p:cNvPr id="5" name="Text Box 3"/>
          <p:cNvSpPr txBox="1">
            <a:spLocks noChangeArrowheads="1"/>
          </p:cNvSpPr>
          <p:nvPr/>
        </p:nvSpPr>
        <p:spPr bwMode="auto">
          <a:xfrm>
            <a:off x="2351088" y="1417638"/>
            <a:ext cx="6815137" cy="2239010"/>
          </a:xfrm>
          <a:prstGeom prst="rect">
            <a:avLst/>
          </a:prstGeom>
          <a:noFill/>
          <a:ln w="9525">
            <a:noFill/>
            <a:miter lim="800000"/>
          </a:ln>
          <a:effectLst/>
        </p:spPr>
        <p:txBody>
          <a:bodyPr>
            <a:spAutoFit/>
          </a:bodyPr>
          <a:lstStyle/>
          <a:p>
            <a:pPr marL="457200" indent="-457200" eaLnBrk="1" hangingPunct="1">
              <a:lnSpc>
                <a:spcPct val="120000"/>
              </a:lnSpc>
              <a:spcBef>
                <a:spcPct val="25000"/>
              </a:spcBef>
              <a:buSzPct val="80000"/>
              <a:defRPr/>
            </a:pPr>
            <a:r>
              <a:rPr lang="zh-CN" altLang="en-US" sz="2000" b="1" dirty="0">
                <a:latin typeface="宋体" panose="02010600030101010101" pitchFamily="2" charset="-122"/>
              </a:rPr>
              <a:t>  </a:t>
            </a:r>
            <a:r>
              <a:rPr lang="zh-CN" altLang="en-US" sz="2800" b="1" dirty="0">
                <a:solidFill>
                  <a:srgbClr val="FF0000"/>
                </a:solidFill>
                <a:latin typeface="+mn-ea"/>
                <a:ea typeface="+mn-ea"/>
              </a:rPr>
              <a:t>定性评估：</a:t>
            </a:r>
            <a:endParaRPr lang="zh-CN" altLang="en-US" sz="2800" b="1" dirty="0">
              <a:solidFill>
                <a:srgbClr val="FF0000"/>
              </a:solidFill>
              <a:latin typeface="+mn-ea"/>
              <a:ea typeface="+mn-ea"/>
            </a:endParaRPr>
          </a:p>
          <a:p>
            <a:pPr marL="914400" lvl="1" indent="-457200" eaLnBrk="1" hangingPunct="1">
              <a:lnSpc>
                <a:spcPct val="120000"/>
              </a:lnSpc>
              <a:spcBef>
                <a:spcPct val="25000"/>
              </a:spcBef>
              <a:buSzPct val="80000"/>
              <a:buFont typeface="Wingdings" panose="05000000000000000000" pitchFamily="2" charset="2"/>
              <a:buChar char="u"/>
              <a:defRPr/>
            </a:pPr>
            <a:r>
              <a:rPr lang="zh-CN" altLang="en-US" sz="2000" b="1" dirty="0">
                <a:solidFill>
                  <a:srgbClr val="002060"/>
                </a:solidFill>
                <a:latin typeface="+mn-ea"/>
                <a:ea typeface="+mn-ea"/>
              </a:rPr>
              <a:t>依据研究者的知识、经验、历史教训、政策走向及特殊变例等</a:t>
            </a:r>
            <a:r>
              <a:rPr lang="zh-CN" altLang="en-US" sz="2000" b="1" dirty="0">
                <a:solidFill>
                  <a:schemeClr val="tx2">
                    <a:lumMod val="60000"/>
                    <a:lumOff val="40000"/>
                  </a:schemeClr>
                </a:solidFill>
                <a:latin typeface="+mn-ea"/>
                <a:ea typeface="+mn-ea"/>
              </a:rPr>
              <a:t>非量化资料</a:t>
            </a:r>
            <a:r>
              <a:rPr lang="zh-CN" altLang="en-US" sz="2000" b="1" dirty="0">
                <a:solidFill>
                  <a:srgbClr val="002060"/>
                </a:solidFill>
                <a:latin typeface="+mn-ea"/>
                <a:ea typeface="+mn-ea"/>
              </a:rPr>
              <a:t>对风险做出判断</a:t>
            </a:r>
            <a:endParaRPr lang="zh-CN" altLang="en-US" sz="2000" b="1" dirty="0">
              <a:solidFill>
                <a:srgbClr val="002060"/>
              </a:solidFill>
              <a:latin typeface="+mn-ea"/>
              <a:ea typeface="+mn-ea"/>
            </a:endParaRPr>
          </a:p>
          <a:p>
            <a:pPr marL="914400" lvl="1" indent="-457200" eaLnBrk="1" hangingPunct="1">
              <a:lnSpc>
                <a:spcPct val="120000"/>
              </a:lnSpc>
              <a:spcBef>
                <a:spcPct val="25000"/>
              </a:spcBef>
              <a:buSzPct val="80000"/>
              <a:buFont typeface="Wingdings" panose="05000000000000000000" pitchFamily="2" charset="2"/>
              <a:buChar char="u"/>
              <a:defRPr/>
            </a:pPr>
            <a:r>
              <a:rPr lang="zh-CN" altLang="en-US" sz="2000" b="1" dirty="0">
                <a:solidFill>
                  <a:srgbClr val="002060"/>
                </a:solidFill>
                <a:latin typeface="+mn-ea"/>
                <a:ea typeface="+mn-ea"/>
              </a:rPr>
              <a:t>采用</a:t>
            </a:r>
            <a:r>
              <a:rPr lang="zh-CN" altLang="en-US" sz="2000" b="1" dirty="0">
                <a:solidFill>
                  <a:schemeClr val="tx2">
                    <a:lumMod val="60000"/>
                    <a:lumOff val="40000"/>
                  </a:schemeClr>
                </a:solidFill>
                <a:latin typeface="+mn-ea"/>
                <a:ea typeface="+mn-ea"/>
              </a:rPr>
              <a:t>文字形式</a:t>
            </a:r>
            <a:r>
              <a:rPr lang="zh-CN" altLang="en-US" sz="2000" b="1" dirty="0">
                <a:solidFill>
                  <a:srgbClr val="002060"/>
                </a:solidFill>
                <a:latin typeface="+mn-ea"/>
                <a:ea typeface="+mn-ea"/>
              </a:rPr>
              <a:t>或</a:t>
            </a:r>
            <a:r>
              <a:rPr lang="zh-CN" altLang="en-US" sz="2000" b="1" dirty="0">
                <a:solidFill>
                  <a:schemeClr val="tx2">
                    <a:lumMod val="60000"/>
                    <a:lumOff val="40000"/>
                  </a:schemeClr>
                </a:solidFill>
                <a:latin typeface="+mn-ea"/>
                <a:ea typeface="+mn-ea"/>
              </a:rPr>
              <a:t>叙述性数值范围</a:t>
            </a:r>
            <a:r>
              <a:rPr lang="zh-CN" altLang="en-US" sz="2000" b="1" dirty="0">
                <a:solidFill>
                  <a:srgbClr val="002060"/>
                </a:solidFill>
                <a:latin typeface="+mn-ea"/>
                <a:ea typeface="+mn-ea"/>
              </a:rPr>
              <a:t>描述风险的影响程度和可能性的大小（如高、中、低等）</a:t>
            </a:r>
            <a:endParaRPr lang="zh-CN" altLang="en-US" sz="2000" b="1" dirty="0">
              <a:solidFill>
                <a:srgbClr val="002060"/>
              </a:solidFill>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Effect transition="in" filter="fad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noChangeArrowheads="1"/>
          </p:cNvSpPr>
          <p:nvPr>
            <p:ph type="ctrTitle"/>
          </p:nvPr>
        </p:nvSpPr>
        <p:spPr>
          <a:xfrm>
            <a:off x="2135188" y="825500"/>
            <a:ext cx="6513512" cy="487363"/>
          </a:xfrm>
        </p:spPr>
        <p:txBody>
          <a:bodyPr anchor="ctr"/>
          <a:lstStyle/>
          <a:p>
            <a:pPr algn="l"/>
            <a:r>
              <a:rPr lang="zh-CN" altLang="en-US" sz="3200">
                <a:solidFill>
                  <a:srgbClr val="FF0000"/>
                </a:solidFill>
              </a:rPr>
              <a:t>定性风险分析</a:t>
            </a:r>
            <a:endParaRPr lang="zh-CN" altLang="en-US" sz="3200">
              <a:solidFill>
                <a:srgbClr val="FF0000"/>
              </a:solidFill>
            </a:endParaRPr>
          </a:p>
        </p:txBody>
      </p:sp>
      <p:graphicFrame>
        <p:nvGraphicFramePr>
          <p:cNvPr id="68613" name="表格 68612"/>
          <p:cNvGraphicFramePr/>
          <p:nvPr/>
        </p:nvGraphicFramePr>
        <p:xfrm>
          <a:off x="2567608" y="3481356"/>
          <a:ext cx="6705600" cy="2547620"/>
        </p:xfrm>
        <a:graphic>
          <a:graphicData uri="http://schemas.openxmlformats.org/drawingml/2006/table">
            <a:tbl>
              <a:tblPr>
                <a:effectLst>
                  <a:outerShdw blurRad="50800" dist="38100" dir="13500000" algn="br" rotWithShape="0">
                    <a:prstClr val="black">
                      <a:alpha val="40000"/>
                    </a:prstClr>
                  </a:outerShdw>
                </a:effectLst>
              </a:tblPr>
              <a:tblGrid>
                <a:gridCol w="838200"/>
                <a:gridCol w="1327150"/>
                <a:gridCol w="4540250"/>
              </a:tblGrid>
              <a:tr h="484505">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0"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等级</a:t>
                      </a:r>
                      <a:endParaRPr lang="zh-CN" altLang="en-US" i="0"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28575"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0"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描述</a:t>
                      </a:r>
                      <a:endParaRPr lang="zh-CN" altLang="en-US" i="0" dirty="0"/>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28575"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0"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a:t>
                      </a:r>
                      <a:r>
                        <a:rPr lang="zh-CN" altLang="en-US" sz="1800" b="1" i="0"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详细情形</a:t>
                      </a:r>
                      <a:endParaRPr lang="zh-CN" altLang="en-US" i="0" dirty="0"/>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28575"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r>
              <a:tr h="38227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1</a:t>
                      </a:r>
                      <a:endParaRPr lang="zh-CN" altLang="en-US"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600" b="1" i="1" baseline="0">
                          <a:solidFill>
                            <a:schemeClr val="tx1"/>
                          </a:solidFill>
                          <a:latin typeface="宋体" panose="02010600030101010101" pitchFamily="2" charset="-122"/>
                          <a:ea typeface="黑体" panose="02010609060101010101" pitchFamily="49" charset="-122"/>
                          <a:sym typeface="宋体" panose="02010600030101010101" pitchFamily="2" charset="-122"/>
                        </a:rPr>
                        <a:t>可以忽略</a:t>
                      </a:r>
                      <a:endParaRPr lang="zh-CN" altLang="en-US"/>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无伤害，低财务损失</a:t>
                      </a:r>
                      <a:endParaRPr lang="zh-CN" altLang="en-US" dirty="0"/>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r>
              <a:tr h="45974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2</a:t>
                      </a:r>
                      <a:endParaRPr lang="zh-CN" altLang="en-US"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a:t>
                      </a:r>
                      <a:r>
                        <a:rPr lang="zh-CN" altLang="en-US"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较小</a:t>
                      </a:r>
                      <a:endParaRPr lang="zh-CN" altLang="en-US" dirty="0"/>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立即受控制，中等财务损失</a:t>
                      </a:r>
                      <a:endParaRPr lang="zh-CN" altLang="en-US" dirty="0"/>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r>
              <a:tr h="45720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3</a:t>
                      </a:r>
                      <a:endParaRPr lang="zh-CN" altLang="en-US"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a:t>
                      </a:r>
                      <a:r>
                        <a:rPr lang="zh-CN" altLang="en-US"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中等</a:t>
                      </a:r>
                      <a:endParaRPr lang="zh-CN" altLang="en-US" dirty="0"/>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a:t>
                      </a:r>
                      <a:r>
                        <a:rPr lang="zh-CN" altLang="en-US"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受控，高财务损失</a:t>
                      </a:r>
                      <a:endParaRPr lang="zh-CN" altLang="en-US" dirty="0"/>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r>
              <a:tr h="38100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4</a:t>
                      </a:r>
                      <a:endParaRPr lang="zh-CN" altLang="en-US"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a:t>
                      </a:r>
                      <a:r>
                        <a:rPr lang="zh-CN" altLang="en-US"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较大</a:t>
                      </a:r>
                      <a:endParaRPr lang="zh-CN" altLang="en-US" dirty="0"/>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大伤害，失去生产能力有较大财务损失</a:t>
                      </a:r>
                      <a:endParaRPr lang="zh-CN" altLang="en-US" dirty="0"/>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r>
              <a:tr h="382905">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5</a:t>
                      </a:r>
                      <a:endParaRPr lang="zh-CN" altLang="en-US"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28575"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600" b="1" i="1" baseline="0">
                          <a:solidFill>
                            <a:schemeClr val="tx1"/>
                          </a:solidFill>
                          <a:latin typeface="宋体" panose="02010600030101010101" pitchFamily="2" charset="-122"/>
                          <a:ea typeface="黑体" panose="02010609060101010101" pitchFamily="49" charset="-122"/>
                          <a:sym typeface="宋体" panose="02010600030101010101" pitchFamily="2" charset="-122"/>
                        </a:rPr>
                        <a:t>灾难性</a:t>
                      </a:r>
                      <a:endParaRPr lang="zh-CN" altLang="en-US"/>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28575"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6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持续能力中断，巨大财务损失</a:t>
                      </a:r>
                      <a:endParaRPr lang="zh-CN" altLang="en-US" dirty="0"/>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28575" cap="flat" cmpd="sng">
                      <a:solidFill>
                        <a:schemeClr val="tx1"/>
                      </a:solidFill>
                      <a:prstDash val="solid"/>
                      <a:bevel/>
                      <a:headEnd type="none" w="med" len="med"/>
                      <a:tailEnd type="none" w="med" len="med"/>
                    </a:lnB>
                    <a:lnTlToBr>
                      <a:noFill/>
                    </a:lnTlToBr>
                    <a:lnBlToTr>
                      <a:noFill/>
                    </a:lnBlToTr>
                    <a:solidFill>
                      <a:schemeClr val="bg2">
                        <a:lumMod val="20000"/>
                        <a:lumOff val="80000"/>
                      </a:schemeClr>
                    </a:solidFill>
                  </a:tcPr>
                </a:tc>
              </a:tr>
            </a:tbl>
          </a:graphicData>
        </a:graphic>
      </p:graphicFrame>
      <p:sp>
        <p:nvSpPr>
          <p:cNvPr id="2" name="矩形 1"/>
          <p:cNvSpPr/>
          <p:nvPr/>
        </p:nvSpPr>
        <p:spPr>
          <a:xfrm>
            <a:off x="2030413" y="1544638"/>
            <a:ext cx="8207375" cy="706755"/>
          </a:xfrm>
          <a:prstGeom prst="rect">
            <a:avLst/>
          </a:prstGeom>
        </p:spPr>
        <p:txBody>
          <a:bodyPr>
            <a:spAutoFit/>
          </a:bodyPr>
          <a:lstStyle/>
          <a:p>
            <a:pPr marL="342900" indent="-342900">
              <a:spcBef>
                <a:spcPts val="1500"/>
              </a:spcBef>
              <a:buClr>
                <a:srgbClr val="3399FF"/>
              </a:buClr>
              <a:buFont typeface="Wingdings" panose="05000000000000000000" pitchFamily="2" charset="2"/>
              <a:buChar char="v"/>
              <a:defRPr/>
            </a:pPr>
            <a:r>
              <a:rPr lang="zh-CN" altLang="en-US" sz="2000" dirty="0">
                <a:latin typeface="+mn-lt"/>
                <a:ea typeface="+mn-ea"/>
              </a:rPr>
              <a:t>定性风险分析在风险评价时，往往需要凭借分析者的经验和直觉，或者业界的标准和惯例，为风险诸要素的大小或高低程度定性分级。</a:t>
            </a:r>
            <a:endParaRPr lang="en-US" altLang="zh-CN" sz="2000" dirty="0">
              <a:latin typeface="+mn-lt"/>
              <a:ea typeface="+mn-ea"/>
            </a:endParaRPr>
          </a:p>
        </p:txBody>
      </p:sp>
      <p:sp>
        <p:nvSpPr>
          <p:cNvPr id="3" name="矩形 2"/>
          <p:cNvSpPr/>
          <p:nvPr/>
        </p:nvSpPr>
        <p:spPr>
          <a:xfrm>
            <a:off x="2030413" y="2328863"/>
            <a:ext cx="3319780" cy="398780"/>
          </a:xfrm>
          <a:prstGeom prst="rect">
            <a:avLst/>
          </a:prstGeom>
        </p:spPr>
        <p:txBody>
          <a:bodyPr wrap="none">
            <a:spAutoFit/>
          </a:bodyPr>
          <a:lstStyle/>
          <a:p>
            <a:pPr marL="342900" indent="-342900">
              <a:spcBef>
                <a:spcPts val="1500"/>
              </a:spcBef>
              <a:buClr>
                <a:srgbClr val="3399FF"/>
              </a:buClr>
              <a:buFont typeface="Wingdings" panose="05000000000000000000" pitchFamily="2" charset="2"/>
              <a:buChar char="v"/>
              <a:defRPr/>
            </a:pPr>
            <a:r>
              <a:rPr lang="zh-CN" altLang="en-US" sz="2000" dirty="0">
                <a:latin typeface="+mn-lt"/>
                <a:ea typeface="+mn-ea"/>
              </a:rPr>
              <a:t>定性风险分析更具主观性</a:t>
            </a:r>
            <a:endParaRPr lang="en-US" altLang="zh-CN" sz="2000" dirty="0">
              <a:latin typeface="+mn-lt"/>
              <a:ea typeface="+mn-ea"/>
            </a:endParaRPr>
          </a:p>
        </p:txBody>
      </p:sp>
      <p:sp>
        <p:nvSpPr>
          <p:cNvPr id="4" name="矩形 3"/>
          <p:cNvSpPr/>
          <p:nvPr/>
        </p:nvSpPr>
        <p:spPr>
          <a:xfrm>
            <a:off x="2012950" y="2805113"/>
            <a:ext cx="4081780" cy="398780"/>
          </a:xfrm>
          <a:prstGeom prst="rect">
            <a:avLst/>
          </a:prstGeom>
        </p:spPr>
        <p:txBody>
          <a:bodyPr wrap="none">
            <a:spAutoFit/>
          </a:bodyPr>
          <a:lstStyle/>
          <a:p>
            <a:pPr marL="342900" indent="-342900">
              <a:spcBef>
                <a:spcPts val="1500"/>
              </a:spcBef>
              <a:buClr>
                <a:srgbClr val="3399FF"/>
              </a:buClr>
              <a:buFont typeface="Wingdings" panose="05000000000000000000" pitchFamily="2" charset="2"/>
              <a:buChar char="v"/>
              <a:defRPr/>
            </a:pPr>
            <a:r>
              <a:rPr lang="zh-CN" altLang="en-US" sz="2000" dirty="0">
                <a:latin typeface="+mn-lt"/>
                <a:ea typeface="+mn-ea"/>
              </a:rPr>
              <a:t>后果或影响的定性量度（示例）</a:t>
            </a:r>
            <a:endParaRPr lang="zh-CN" altLang="en-US" sz="2000" dirty="0">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000" fill="hold"/>
                                        <p:tgtEl>
                                          <p:spTgt spid="3"/>
                                        </p:tgtEl>
                                        <p:attrNameLst>
                                          <p:attrName>ppt_x</p:attrName>
                                        </p:attrNameLst>
                                      </p:cBhvr>
                                      <p:tavLst>
                                        <p:tav tm="0">
                                          <p:val>
                                            <p:strVal val="0-#ppt_w/2"/>
                                          </p:val>
                                        </p:tav>
                                        <p:tav tm="100000">
                                          <p:val>
                                            <p:strVal val="#ppt_x"/>
                                          </p:val>
                                        </p:tav>
                                      </p:tavLst>
                                    </p:anim>
                                    <p:anim calcmode="lin" valueType="num">
                                      <p:cBhvr additive="base">
                                        <p:cTn id="13" dur="1000" fill="hold"/>
                                        <p:tgtEl>
                                          <p:spTgt spid="3"/>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2" presetClass="entr" presetSubtype="8"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000" fill="hold"/>
                                        <p:tgtEl>
                                          <p:spTgt spid="4"/>
                                        </p:tgtEl>
                                        <p:attrNameLst>
                                          <p:attrName>ppt_x</p:attrName>
                                        </p:attrNameLst>
                                      </p:cBhvr>
                                      <p:tavLst>
                                        <p:tav tm="0">
                                          <p:val>
                                            <p:strVal val="0-#ppt_w/2"/>
                                          </p:val>
                                        </p:tav>
                                        <p:tav tm="100000">
                                          <p:val>
                                            <p:strVal val="#ppt_x"/>
                                          </p:val>
                                        </p:tav>
                                      </p:tavLst>
                                    </p:anim>
                                    <p:anim calcmode="lin" valueType="num">
                                      <p:cBhvr additive="base">
                                        <p:cTn id="18" dur="1000" fill="hold"/>
                                        <p:tgtEl>
                                          <p:spTgt spid="4"/>
                                        </p:tgtEl>
                                        <p:attrNameLst>
                                          <p:attrName>ppt_y</p:attrName>
                                        </p:attrNameLst>
                                      </p:cBhvr>
                                      <p:tavLst>
                                        <p:tav tm="0">
                                          <p:val>
                                            <p:strVal val="#ppt_y"/>
                                          </p:val>
                                        </p:tav>
                                        <p:tav tm="100000">
                                          <p:val>
                                            <p:strVal val="#ppt_y"/>
                                          </p:val>
                                        </p:tav>
                                      </p:tavLst>
                                    </p:anim>
                                  </p:childTnLst>
                                </p:cTn>
                              </p:par>
                            </p:childTnLst>
                          </p:cTn>
                        </p:par>
                        <p:par>
                          <p:cTn id="19" fill="hold">
                            <p:stCondLst>
                              <p:cond delay="2500"/>
                            </p:stCondLst>
                            <p:childTnLst>
                              <p:par>
                                <p:cTn id="20" presetID="53" presetClass="entr" presetSubtype="16" fill="hold" nodeType="afterEffect">
                                  <p:stCondLst>
                                    <p:cond delay="0"/>
                                  </p:stCondLst>
                                  <p:childTnLst>
                                    <p:set>
                                      <p:cBhvr>
                                        <p:cTn id="21" dur="1" fill="hold">
                                          <p:stCondLst>
                                            <p:cond delay="0"/>
                                          </p:stCondLst>
                                        </p:cTn>
                                        <p:tgtEl>
                                          <p:spTgt spid="68613"/>
                                        </p:tgtEl>
                                        <p:attrNameLst>
                                          <p:attrName>style.visibility</p:attrName>
                                        </p:attrNameLst>
                                      </p:cBhvr>
                                      <p:to>
                                        <p:strVal val="visible"/>
                                      </p:to>
                                    </p:set>
                                    <p:anim calcmode="lin" valueType="num">
                                      <p:cBhvr>
                                        <p:cTn id="22" dur="1000" fill="hold"/>
                                        <p:tgtEl>
                                          <p:spTgt spid="68613"/>
                                        </p:tgtEl>
                                        <p:attrNameLst>
                                          <p:attrName>ppt_w</p:attrName>
                                        </p:attrNameLst>
                                      </p:cBhvr>
                                      <p:tavLst>
                                        <p:tav tm="0">
                                          <p:val>
                                            <p:fltVal val="0"/>
                                          </p:val>
                                        </p:tav>
                                        <p:tav tm="100000">
                                          <p:val>
                                            <p:strVal val="#ppt_w"/>
                                          </p:val>
                                        </p:tav>
                                      </p:tavLst>
                                    </p:anim>
                                    <p:anim calcmode="lin" valueType="num">
                                      <p:cBhvr>
                                        <p:cTn id="23" dur="1000" fill="hold"/>
                                        <p:tgtEl>
                                          <p:spTgt spid="68613"/>
                                        </p:tgtEl>
                                        <p:attrNameLst>
                                          <p:attrName>ppt_h</p:attrName>
                                        </p:attrNameLst>
                                      </p:cBhvr>
                                      <p:tavLst>
                                        <p:tav tm="0">
                                          <p:val>
                                            <p:fltVal val="0"/>
                                          </p:val>
                                        </p:tav>
                                        <p:tav tm="100000">
                                          <p:val>
                                            <p:strVal val="#ppt_h"/>
                                          </p:val>
                                        </p:tav>
                                      </p:tavLst>
                                    </p:anim>
                                    <p:animEffect transition="in" filter="fade">
                                      <p:cBhvr>
                                        <p:cTn id="24" dur="1000"/>
                                        <p:tgtEl>
                                          <p:spTgt spid="68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a:spLocks noChangeArrowheads="1"/>
          </p:cNvSpPr>
          <p:nvPr/>
        </p:nvSpPr>
        <p:spPr bwMode="auto">
          <a:xfrm>
            <a:off x="2424113" y="1487488"/>
            <a:ext cx="6961187" cy="607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120000"/>
              </a:lnSpc>
              <a:spcBef>
                <a:spcPts val="1500"/>
              </a:spcBef>
              <a:buSzPct val="80000"/>
            </a:pPr>
            <a:r>
              <a:rPr lang="zh-CN" altLang="en-US">
                <a:solidFill>
                  <a:srgbClr val="000000"/>
                </a:solidFill>
                <a:sym typeface="黑体" panose="02010609060101010101" pitchFamily="49" charset="-122"/>
              </a:rPr>
              <a:t>可能性的定性量度（示例）</a:t>
            </a:r>
            <a:endParaRPr lang="zh-CN" altLang="en-US" sz="1800">
              <a:latin typeface="Arial" panose="020B0604020202020204" pitchFamily="34" charset="0"/>
              <a:ea typeface="宋体" panose="02010600030101010101" pitchFamily="2" charset="-122"/>
            </a:endParaRPr>
          </a:p>
        </p:txBody>
      </p:sp>
      <p:graphicFrame>
        <p:nvGraphicFramePr>
          <p:cNvPr id="69635" name="表格 69634"/>
          <p:cNvGraphicFramePr/>
          <p:nvPr/>
        </p:nvGraphicFramePr>
        <p:xfrm>
          <a:off x="2639616" y="2523642"/>
          <a:ext cx="7162800" cy="2519045"/>
        </p:xfrm>
        <a:graphic>
          <a:graphicData uri="http://schemas.openxmlformats.org/drawingml/2006/table">
            <a:tbl>
              <a:tblPr>
                <a:effectLst>
                  <a:outerShdw blurRad="50800" dist="38100" dir="13500000" algn="br" rotWithShape="0">
                    <a:prstClr val="black">
                      <a:alpha val="40000"/>
                    </a:prstClr>
                  </a:outerShdw>
                </a:effectLst>
              </a:tblPr>
              <a:tblGrid>
                <a:gridCol w="914400"/>
                <a:gridCol w="1905000"/>
                <a:gridCol w="4343400"/>
              </a:tblGrid>
              <a:tr h="45720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0"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等级</a:t>
                      </a:r>
                      <a:endParaRPr lang="zh-CN" altLang="en-US" i="0"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28575"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0"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描述</a:t>
                      </a:r>
                      <a:endParaRPr lang="zh-CN" altLang="en-US" i="0" dirty="0"/>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28575"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0"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a:t>
                      </a:r>
                      <a:r>
                        <a:rPr lang="zh-CN" altLang="en-US" sz="1800" b="1" i="0"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详细情形</a:t>
                      </a:r>
                      <a:endParaRPr lang="zh-CN" altLang="en-US" i="0" dirty="0"/>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28575"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r>
              <a:tr h="38100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A</a:t>
                      </a:r>
                      <a:endParaRPr lang="zh-CN" altLang="en-US"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a:solidFill>
                            <a:schemeClr val="tx1"/>
                          </a:solidFill>
                          <a:latin typeface="宋体" panose="02010600030101010101" pitchFamily="2" charset="-122"/>
                          <a:ea typeface="黑体" panose="02010609060101010101" pitchFamily="49" charset="-122"/>
                          <a:sym typeface="宋体" panose="02010600030101010101" pitchFamily="2" charset="-122"/>
                        </a:rPr>
                        <a:t>几乎肯定</a:t>
                      </a:r>
                      <a:endParaRPr lang="zh-CN" altLang="en-US"/>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a:solidFill>
                            <a:schemeClr val="tx1"/>
                          </a:solidFill>
                          <a:latin typeface="宋体" panose="02010600030101010101" pitchFamily="2" charset="-122"/>
                          <a:ea typeface="黑体" panose="02010609060101010101" pitchFamily="49" charset="-122"/>
                          <a:sym typeface="宋体" panose="02010600030101010101" pitchFamily="2" charset="-122"/>
                        </a:rPr>
                        <a:t>预期在大多数情况发生</a:t>
                      </a:r>
                      <a:endParaRPr lang="zh-CN" altLang="en-US"/>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r>
              <a:tr h="382905">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B</a:t>
                      </a:r>
                      <a:endParaRPr lang="zh-CN" altLang="en-US"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a:solidFill>
                            <a:schemeClr val="tx1"/>
                          </a:solidFill>
                          <a:latin typeface="宋体" panose="02010600030101010101" pitchFamily="2" charset="-122"/>
                          <a:ea typeface="黑体" panose="02010609060101010101" pitchFamily="49" charset="-122"/>
                          <a:sym typeface="宋体" panose="02010600030101010101" pitchFamily="2" charset="-122"/>
                        </a:rPr>
                        <a:t>很可能</a:t>
                      </a:r>
                      <a:endParaRPr lang="zh-CN" altLang="en-US"/>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a:solidFill>
                            <a:schemeClr val="tx1"/>
                          </a:solidFill>
                          <a:latin typeface="宋体" panose="02010600030101010101" pitchFamily="2" charset="-122"/>
                          <a:ea typeface="黑体" panose="02010609060101010101" pitchFamily="49" charset="-122"/>
                          <a:sym typeface="宋体" panose="02010600030101010101" pitchFamily="2" charset="-122"/>
                        </a:rPr>
                        <a:t>在大多数情况下很可能会发生</a:t>
                      </a:r>
                      <a:endParaRPr lang="zh-CN" altLang="en-US"/>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r>
              <a:tr h="45974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C</a:t>
                      </a:r>
                      <a:endParaRPr lang="zh-CN" altLang="en-US"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a:solidFill>
                            <a:schemeClr val="tx1"/>
                          </a:solidFill>
                          <a:latin typeface="宋体" panose="02010600030101010101" pitchFamily="2" charset="-122"/>
                          <a:ea typeface="黑体" panose="02010609060101010101" pitchFamily="49" charset="-122"/>
                          <a:sym typeface="宋体" panose="02010600030101010101" pitchFamily="2" charset="-122"/>
                        </a:rPr>
                        <a:t>可能</a:t>
                      </a:r>
                      <a:endParaRPr lang="zh-CN" altLang="en-US"/>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a:solidFill>
                            <a:schemeClr val="tx1"/>
                          </a:solidFill>
                          <a:latin typeface="宋体" panose="02010600030101010101" pitchFamily="2" charset="-122"/>
                          <a:ea typeface="黑体" panose="02010609060101010101" pitchFamily="49" charset="-122"/>
                          <a:sym typeface="宋体" panose="02010600030101010101" pitchFamily="2" charset="-122"/>
                        </a:rPr>
                        <a:t>在某个时间可能会发生</a:t>
                      </a:r>
                      <a:endParaRPr lang="zh-CN" altLang="en-US"/>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r>
              <a:tr h="45720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D</a:t>
                      </a:r>
                      <a:endParaRPr lang="zh-CN" altLang="en-US"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a:solidFill>
                            <a:schemeClr val="tx1"/>
                          </a:solidFill>
                          <a:latin typeface="宋体" panose="02010600030101010101" pitchFamily="2" charset="-122"/>
                          <a:ea typeface="黑体" panose="02010609060101010101" pitchFamily="49" charset="-122"/>
                          <a:sym typeface="宋体" panose="02010600030101010101" pitchFamily="2" charset="-122"/>
                        </a:rPr>
                        <a:t>不太可能</a:t>
                      </a:r>
                      <a:endParaRPr lang="zh-CN" altLang="en-US"/>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a:solidFill>
                            <a:schemeClr val="tx1"/>
                          </a:solidFill>
                          <a:latin typeface="宋体" panose="02010600030101010101" pitchFamily="2" charset="-122"/>
                          <a:ea typeface="黑体" panose="02010609060101010101" pitchFamily="49" charset="-122"/>
                          <a:sym typeface="宋体" panose="02010600030101010101" pitchFamily="2" charset="-122"/>
                        </a:rPr>
                        <a:t>在某个时间能够发生</a:t>
                      </a:r>
                      <a:endParaRPr lang="zh-CN" altLang="en-US"/>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r>
              <a:tr h="38100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 E</a:t>
                      </a:r>
                      <a:endParaRPr lang="zh-CN" altLang="en-US" dirty="0"/>
                    </a:p>
                  </a:txBody>
                  <a:tcPr>
                    <a:lnL w="28575"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28575"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a:solidFill>
                            <a:schemeClr val="tx1"/>
                          </a:solidFill>
                          <a:latin typeface="宋体" panose="02010600030101010101" pitchFamily="2" charset="-122"/>
                          <a:ea typeface="黑体" panose="02010609060101010101" pitchFamily="49" charset="-122"/>
                          <a:sym typeface="宋体" panose="02010600030101010101" pitchFamily="2" charset="-122"/>
                        </a:rPr>
                        <a:t>罕见</a:t>
                      </a:r>
                      <a:endParaRPr lang="zh-CN" altLang="en-US"/>
                    </a:p>
                  </a:txBody>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28575"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宋体" panose="02010600030101010101" pitchFamily="2" charset="-122"/>
                          <a:ea typeface="黑体" panose="02010609060101010101" pitchFamily="49" charset="-122"/>
                          <a:sym typeface="宋体" panose="02010600030101010101" pitchFamily="2" charset="-122"/>
                        </a:rPr>
                        <a:t>仅在例外的情况下可能发生</a:t>
                      </a:r>
                      <a:endParaRPr lang="zh-CN" altLang="en-US" dirty="0"/>
                    </a:p>
                  </a:txBody>
                  <a:tcPr>
                    <a:lnL w="12700" cap="flat" cmpd="sng">
                      <a:solidFill>
                        <a:schemeClr val="tx1"/>
                      </a:solidFill>
                      <a:prstDash val="solid"/>
                      <a:bevel/>
                      <a:headEnd type="none" w="med" len="med"/>
                      <a:tailEnd type="none" w="med" len="med"/>
                    </a:lnL>
                    <a:lnR w="28575"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28575" cap="flat" cmpd="sng">
                      <a:solidFill>
                        <a:schemeClr val="tx1"/>
                      </a:solidFill>
                      <a:prstDash val="solid"/>
                      <a:bevel/>
                      <a:headEnd type="none" w="med" len="med"/>
                      <a:tailEnd type="none" w="med" len="med"/>
                    </a:lnB>
                    <a:lnTlToBr>
                      <a:noFill/>
                    </a:lnTlToBr>
                    <a:lnBlToTr>
                      <a:noFill/>
                    </a:lnBlToTr>
                    <a:noFill/>
                  </a:tcPr>
                </a:tc>
              </a:tr>
            </a:tbl>
          </a:graphicData>
        </a:graphic>
      </p:graphicFrame>
      <p:sp>
        <p:nvSpPr>
          <p:cNvPr id="107524" name="标题 1"/>
          <p:cNvSpPr>
            <a:spLocks noChangeArrowheads="1"/>
          </p:cNvSpPr>
          <p:nvPr/>
        </p:nvSpPr>
        <p:spPr bwMode="auto">
          <a:xfrm>
            <a:off x="2279650" y="808038"/>
            <a:ext cx="6513513"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3200" b="1">
                <a:solidFill>
                  <a:srgbClr val="FF0000"/>
                </a:solidFill>
                <a:sym typeface="黑体" panose="02010609060101010101" pitchFamily="49" charset="-122"/>
              </a:rPr>
              <a:t>定性风险分析</a:t>
            </a:r>
            <a:endParaRPr lang="zh-CN" altLang="en-US" sz="3200" b="1">
              <a:solidFill>
                <a:srgbClr val="FF0000"/>
              </a:solidFill>
              <a:sym typeface="黑体" panose="02010609060101010101" pitchFamily="49" charset="-122"/>
            </a:endParaRPr>
          </a:p>
        </p:txBody>
      </p:sp>
    </p:spTree>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a:spLocks noChangeArrowheads="1"/>
          </p:cNvSpPr>
          <p:nvPr/>
        </p:nvSpPr>
        <p:spPr bwMode="auto">
          <a:xfrm>
            <a:off x="2354263" y="1714500"/>
            <a:ext cx="7669212"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120000"/>
              </a:lnSpc>
              <a:spcBef>
                <a:spcPts val="1500"/>
              </a:spcBef>
              <a:buSzPct val="80000"/>
            </a:pPr>
            <a:r>
              <a:rPr lang="zh-CN" altLang="en-US" sz="2000" b="1">
                <a:solidFill>
                  <a:srgbClr val="000000"/>
                </a:solidFill>
              </a:rPr>
              <a:t>依此类推，得到所有重要资产的风险值，并根据风险等级划分表，确定风险等级 </a:t>
            </a:r>
            <a:endParaRPr lang="zh-CN" altLang="en-US" sz="2000" b="1">
              <a:solidFill>
                <a:srgbClr val="000000"/>
              </a:solidFill>
            </a:endParaRPr>
          </a:p>
        </p:txBody>
      </p:sp>
      <p:graphicFrame>
        <p:nvGraphicFramePr>
          <p:cNvPr id="70659" name="表格 70658"/>
          <p:cNvGraphicFramePr/>
          <p:nvPr/>
        </p:nvGraphicFramePr>
        <p:xfrm>
          <a:off x="2354263" y="2633663"/>
          <a:ext cx="7487920" cy="2889250"/>
        </p:xfrm>
        <a:graphic>
          <a:graphicData uri="http://schemas.openxmlformats.org/drawingml/2006/table">
            <a:tbl>
              <a:tblPr/>
              <a:tblGrid>
                <a:gridCol w="1721485"/>
                <a:gridCol w="1351915"/>
                <a:gridCol w="1183640"/>
                <a:gridCol w="1102995"/>
                <a:gridCol w="946785"/>
                <a:gridCol w="1181100"/>
              </a:tblGrid>
              <a:tr h="365725">
                <a:tc rowSpan="2">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 </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可能性</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gridSpan="5">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                        </a:t>
                      </a: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影响</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hMerge="1">
                  <a:tcP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tcPr>
                </a:tc>
                <a:tc hMerge="1">
                  <a:tcP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tcPr>
                </a:tc>
                <a:tc hMerge="1">
                  <a:tcP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tcPr>
                </a:tc>
                <a:tc hMerge="1">
                  <a:tcPr>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tcPr>
                </a:tc>
              </a:tr>
              <a:tr h="694902">
                <a:tc vMerge="1">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B w="12700" cap="flat" cmpd="sng">
                      <a:solidFill>
                        <a:schemeClr val="tx1"/>
                      </a:solidFill>
                      <a:prstDash val="solid"/>
                      <a:bevel/>
                      <a:headEnd type="none" w="med" len="med"/>
                      <a:tailEnd type="none" w="med" len="med"/>
                    </a:lnB>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可以忽略</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1</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较小</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2</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中等</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3</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较大</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4</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灾难性</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5</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r>
              <a:tr h="365725">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A</a:t>
                      </a: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（几乎肯定）</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H</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H</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E</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00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E</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00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E</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0000">
                        <a:alpha val="100000"/>
                      </a:srgbClr>
                    </a:solidFill>
                  </a:tcPr>
                </a:tc>
              </a:tr>
              <a:tr h="365725">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B </a:t>
                      </a: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（很可能）</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M</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66FF33">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H</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H   </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E</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00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E</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0000">
                        <a:alpha val="100000"/>
                      </a:srgbClr>
                    </a:solidFill>
                  </a:tcPr>
                </a:tc>
              </a:tr>
              <a:tr h="365725">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C  ( </a:t>
                      </a: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可能）</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L</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M</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66FF33">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H</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E</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00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E</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0000">
                        <a:alpha val="100000"/>
                      </a:srgbClr>
                    </a:solidFill>
                  </a:tcPr>
                </a:tc>
              </a:tr>
              <a:tr h="365725">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D</a:t>
                      </a: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（不太可能）</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L</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L</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M</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66FF33">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H</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E</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0000">
                        <a:alpha val="100000"/>
                      </a:srgbClr>
                    </a:solidFill>
                  </a:tcPr>
                </a:tc>
              </a:tr>
              <a:tr h="365725">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E </a:t>
                      </a: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（罕见）</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L</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L</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M</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66FF33">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H</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H</a:t>
                      </a:r>
                      <a:endParaRPr lang="zh-CN" altLang="en-US" sz="2800" dirty="0"/>
                    </a:p>
                  </a:txBody>
                  <a:tcPr marL="91433" marR="91433" marT="45705" marB="45705">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r>
            </a:tbl>
          </a:graphicData>
        </a:graphic>
      </p:graphicFrame>
      <p:grpSp>
        <p:nvGrpSpPr>
          <p:cNvPr id="3" name="组合 2"/>
          <p:cNvGrpSpPr/>
          <p:nvPr/>
        </p:nvGrpSpPr>
        <p:grpSpPr bwMode="auto">
          <a:xfrm>
            <a:off x="2098675" y="5594350"/>
            <a:ext cx="7924800" cy="592721"/>
            <a:chOff x="574110" y="5594923"/>
            <a:chExt cx="7924800" cy="592592"/>
          </a:xfrm>
        </p:grpSpPr>
        <p:sp>
          <p:nvSpPr>
            <p:cNvPr id="108603" name="Rectangle 56"/>
            <p:cNvSpPr>
              <a:spLocks noChangeArrowheads="1"/>
            </p:cNvSpPr>
            <p:nvPr/>
          </p:nvSpPr>
          <p:spPr bwMode="auto">
            <a:xfrm>
              <a:off x="574110" y="5594923"/>
              <a:ext cx="7924800" cy="398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40000"/>
                </a:spcBef>
                <a:buClrTx/>
                <a:buSzPct val="80000"/>
                <a:buFont typeface="Arial" panose="020B0604020202020204" pitchFamily="34" charset="0"/>
                <a:buNone/>
              </a:pPr>
              <a:r>
                <a:rPr lang="en-US" altLang="zh-CN" sz="2000" b="1">
                  <a:solidFill>
                    <a:srgbClr val="000000"/>
                  </a:solidFill>
                  <a:latin typeface="宋体" panose="02010600030101010101" pitchFamily="2" charset="-122"/>
                  <a:ea typeface="宋体" panose="02010600030101010101" pitchFamily="2" charset="-122"/>
                  <a:sym typeface="宋体" panose="02010600030101010101" pitchFamily="2" charset="-122"/>
                </a:rPr>
                <a:t>     E</a:t>
              </a:r>
              <a:r>
                <a:rPr lang="zh-CN" altLang="en-US" sz="2000" b="1">
                  <a:solidFill>
                    <a:srgbClr val="000000"/>
                  </a:solidFill>
                  <a:latin typeface="宋体" panose="02010600030101010101" pitchFamily="2" charset="-122"/>
                  <a:ea typeface="宋体" panose="02010600030101010101" pitchFamily="2" charset="-122"/>
                  <a:sym typeface="宋体" panose="02010600030101010101" pitchFamily="2" charset="-122"/>
                </a:rPr>
                <a:t>：极度风险    </a:t>
              </a:r>
              <a:r>
                <a:rPr lang="en-US" altLang="zh-CN" sz="2000" b="1">
                  <a:solidFill>
                    <a:srgbClr val="000000"/>
                  </a:solidFill>
                  <a:latin typeface="宋体" panose="02010600030101010101" pitchFamily="2" charset="-122"/>
                  <a:ea typeface="宋体" panose="02010600030101010101" pitchFamily="2" charset="-122"/>
                  <a:sym typeface="宋体" panose="02010600030101010101" pitchFamily="2" charset="-122"/>
                </a:rPr>
                <a:t>H</a:t>
              </a:r>
              <a:r>
                <a:rPr lang="zh-CN" altLang="en-US" sz="2000" b="1">
                  <a:solidFill>
                    <a:srgbClr val="000000"/>
                  </a:solidFill>
                  <a:latin typeface="宋体" panose="02010600030101010101" pitchFamily="2" charset="-122"/>
                  <a:ea typeface="宋体" panose="02010600030101010101" pitchFamily="2" charset="-122"/>
                  <a:sym typeface="宋体" panose="02010600030101010101" pitchFamily="2" charset="-122"/>
                </a:rPr>
                <a:t>：高风险    </a:t>
              </a:r>
              <a:r>
                <a:rPr lang="en-US" altLang="zh-CN" sz="2000" b="1">
                  <a:solidFill>
                    <a:srgbClr val="000000"/>
                  </a:solidFill>
                  <a:latin typeface="宋体" panose="02010600030101010101" pitchFamily="2" charset="-122"/>
                  <a:ea typeface="宋体" panose="02010600030101010101" pitchFamily="2" charset="-122"/>
                  <a:sym typeface="宋体" panose="02010600030101010101" pitchFamily="2" charset="-122"/>
                </a:rPr>
                <a:t>M</a:t>
              </a:r>
              <a:r>
                <a:rPr lang="zh-CN" altLang="en-US" sz="2000" b="1">
                  <a:solidFill>
                    <a:srgbClr val="000000"/>
                  </a:solidFill>
                  <a:latin typeface="宋体" panose="02010600030101010101" pitchFamily="2" charset="-122"/>
                  <a:ea typeface="宋体" panose="02010600030101010101" pitchFamily="2" charset="-122"/>
                  <a:sym typeface="宋体" panose="02010600030101010101" pitchFamily="2" charset="-122"/>
                </a:rPr>
                <a:t>：中等风险     </a:t>
              </a:r>
              <a:r>
                <a:rPr lang="en-US" altLang="zh-CN" sz="2000" b="1">
                  <a:solidFill>
                    <a:srgbClr val="000000"/>
                  </a:solidFill>
                  <a:latin typeface="宋体" panose="02010600030101010101" pitchFamily="2" charset="-122"/>
                  <a:ea typeface="宋体" panose="02010600030101010101" pitchFamily="2" charset="-122"/>
                  <a:sym typeface="宋体" panose="02010600030101010101" pitchFamily="2" charset="-122"/>
                </a:rPr>
                <a:t>L: </a:t>
              </a:r>
              <a:r>
                <a:rPr lang="zh-CN" altLang="en-US" sz="2000" b="1">
                  <a:solidFill>
                    <a:srgbClr val="000000"/>
                  </a:solidFill>
                  <a:latin typeface="宋体" panose="02010600030101010101" pitchFamily="2" charset="-122"/>
                  <a:ea typeface="宋体" panose="02010600030101010101" pitchFamily="2" charset="-122"/>
                  <a:sym typeface="宋体" panose="02010600030101010101" pitchFamily="2" charset="-122"/>
                </a:rPr>
                <a:t>低风险</a:t>
              </a:r>
              <a:endParaRPr lang="zh-CN" altLang="en-US" sz="1800" b="1">
                <a:latin typeface="Arial" panose="020B0604020202020204" pitchFamily="34" charset="0"/>
                <a:ea typeface="宋体" panose="02010600030101010101" pitchFamily="2" charset="-122"/>
              </a:endParaRPr>
            </a:p>
          </p:txBody>
        </p:sp>
        <p:sp>
          <p:nvSpPr>
            <p:cNvPr id="108604" name="Text Box 57"/>
            <p:cNvSpPr>
              <a:spLocks noChangeArrowheads="1"/>
            </p:cNvSpPr>
            <p:nvPr/>
          </p:nvSpPr>
          <p:spPr bwMode="auto">
            <a:xfrm>
              <a:off x="1836093" y="5948807"/>
              <a:ext cx="990600" cy="2387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120000"/>
                </a:lnSpc>
                <a:spcBef>
                  <a:spcPct val="50000"/>
                </a:spcBef>
                <a:buClrTx/>
                <a:buSzPct val="90000"/>
                <a:buFont typeface="Wingdings" panose="05000000000000000000" pitchFamily="2" charset="2"/>
                <a:buNone/>
              </a:pPr>
              <a:endParaRPr lang="zh-CN" altLang="en-US" sz="800" b="1">
                <a:solidFill>
                  <a:srgbClr val="000000"/>
                </a:solidFill>
                <a:latin typeface="Times New Roman" panose="02020603050405020304" pitchFamily="18" charset="0"/>
                <a:ea typeface="宋体" panose="02010600030101010101" pitchFamily="2" charset="-122"/>
                <a:sym typeface="Times New Roman" panose="02020603050405020304" pitchFamily="18" charset="0"/>
              </a:endParaRPr>
            </a:p>
          </p:txBody>
        </p:sp>
        <p:sp>
          <p:nvSpPr>
            <p:cNvPr id="108605" name="Text Box 58"/>
            <p:cNvSpPr>
              <a:spLocks noChangeArrowheads="1"/>
            </p:cNvSpPr>
            <p:nvPr/>
          </p:nvSpPr>
          <p:spPr bwMode="auto">
            <a:xfrm>
              <a:off x="3552180" y="5948807"/>
              <a:ext cx="990600" cy="23870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120000"/>
                </a:lnSpc>
                <a:spcBef>
                  <a:spcPct val="50000"/>
                </a:spcBef>
                <a:buClrTx/>
                <a:buSzPct val="90000"/>
                <a:buFont typeface="Wingdings" panose="05000000000000000000" pitchFamily="2" charset="2"/>
                <a:buNone/>
              </a:pPr>
              <a:endParaRPr lang="zh-CN" altLang="en-US" sz="800" b="1">
                <a:solidFill>
                  <a:srgbClr val="000000"/>
                </a:solidFill>
                <a:latin typeface="Times New Roman" panose="02020603050405020304" pitchFamily="18" charset="0"/>
                <a:ea typeface="宋体" panose="02010600030101010101" pitchFamily="2" charset="-122"/>
                <a:sym typeface="Times New Roman" panose="02020603050405020304" pitchFamily="18" charset="0"/>
              </a:endParaRPr>
            </a:p>
          </p:txBody>
        </p:sp>
        <p:sp>
          <p:nvSpPr>
            <p:cNvPr id="108606" name="Text Box 59"/>
            <p:cNvSpPr>
              <a:spLocks noChangeArrowheads="1"/>
            </p:cNvSpPr>
            <p:nvPr/>
          </p:nvSpPr>
          <p:spPr bwMode="auto">
            <a:xfrm>
              <a:off x="5292080" y="5913882"/>
              <a:ext cx="990600" cy="238708"/>
            </a:xfrm>
            <a:prstGeom prst="rect">
              <a:avLst/>
            </a:prstGeom>
            <a:solidFill>
              <a:srgbClr val="66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120000"/>
                </a:lnSpc>
                <a:spcBef>
                  <a:spcPct val="50000"/>
                </a:spcBef>
                <a:buClrTx/>
                <a:buSzPct val="90000"/>
                <a:buFont typeface="Wingdings" panose="05000000000000000000" pitchFamily="2" charset="2"/>
                <a:buNone/>
              </a:pPr>
              <a:endParaRPr lang="zh-CN" altLang="en-US" sz="800" b="1">
                <a:solidFill>
                  <a:srgbClr val="000000"/>
                </a:solidFill>
                <a:latin typeface="Times New Roman" panose="02020603050405020304" pitchFamily="18" charset="0"/>
                <a:ea typeface="宋体" panose="02010600030101010101" pitchFamily="2" charset="-122"/>
                <a:sym typeface="Times New Roman" panose="02020603050405020304" pitchFamily="18" charset="0"/>
              </a:endParaRPr>
            </a:p>
          </p:txBody>
        </p:sp>
        <p:sp>
          <p:nvSpPr>
            <p:cNvPr id="108607" name="Text Box 60"/>
            <p:cNvSpPr>
              <a:spLocks noChangeArrowheads="1"/>
            </p:cNvSpPr>
            <p:nvPr/>
          </p:nvSpPr>
          <p:spPr bwMode="auto">
            <a:xfrm>
              <a:off x="7165330" y="5913882"/>
              <a:ext cx="990600" cy="238708"/>
            </a:xfrm>
            <a:prstGeom prst="rect">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120000"/>
                </a:lnSpc>
                <a:spcBef>
                  <a:spcPct val="50000"/>
                </a:spcBef>
                <a:buClrTx/>
                <a:buSzPct val="90000"/>
                <a:buFont typeface="Wingdings" panose="05000000000000000000" pitchFamily="2" charset="2"/>
                <a:buNone/>
              </a:pPr>
              <a:endParaRPr lang="zh-CN" altLang="en-US" sz="800" b="1">
                <a:solidFill>
                  <a:srgbClr val="000000"/>
                </a:solidFill>
                <a:latin typeface="Times New Roman" panose="02020603050405020304" pitchFamily="18" charset="0"/>
                <a:ea typeface="宋体" panose="02010600030101010101" pitchFamily="2" charset="-122"/>
                <a:sym typeface="Times New Roman" panose="02020603050405020304" pitchFamily="18" charset="0"/>
              </a:endParaRPr>
            </a:p>
          </p:txBody>
        </p:sp>
      </p:grpSp>
      <p:sp>
        <p:nvSpPr>
          <p:cNvPr id="108601" name="标题 1"/>
          <p:cNvSpPr>
            <a:spLocks noChangeArrowheads="1"/>
          </p:cNvSpPr>
          <p:nvPr/>
        </p:nvSpPr>
        <p:spPr bwMode="auto">
          <a:xfrm>
            <a:off x="2276475" y="641350"/>
            <a:ext cx="651351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3200" b="1">
                <a:solidFill>
                  <a:srgbClr val="FF0000"/>
                </a:solidFill>
                <a:sym typeface="黑体" panose="02010609060101010101" pitchFamily="49" charset="-122"/>
              </a:rPr>
              <a:t>定性风险分析</a:t>
            </a:r>
            <a:r>
              <a:rPr lang="en-US" altLang="zh-CN" sz="3200" b="1">
                <a:solidFill>
                  <a:srgbClr val="FF0000"/>
                </a:solidFill>
                <a:sym typeface="黑体" panose="02010609060101010101" pitchFamily="49" charset="-122"/>
              </a:rPr>
              <a:t>——</a:t>
            </a:r>
            <a:r>
              <a:rPr lang="zh-CN" altLang="en-US" sz="3200" b="1">
                <a:solidFill>
                  <a:srgbClr val="FF0000"/>
                </a:solidFill>
                <a:sym typeface="黑体" panose="02010609060101010101" pitchFamily="49" charset="-122"/>
              </a:rPr>
              <a:t>矩阵法</a:t>
            </a:r>
            <a:endParaRPr lang="zh-CN" altLang="en-US" sz="3200" b="1">
              <a:solidFill>
                <a:srgbClr val="FF0000"/>
              </a:solidFill>
              <a:sym typeface="黑体" panose="02010609060101010101" pitchFamily="49" charset="-122"/>
            </a:endParaRPr>
          </a:p>
        </p:txBody>
      </p:sp>
      <p:sp>
        <p:nvSpPr>
          <p:cNvPr id="2" name="矩形 1"/>
          <p:cNvSpPr>
            <a:spLocks noChangeArrowheads="1"/>
          </p:cNvSpPr>
          <p:nvPr/>
        </p:nvSpPr>
        <p:spPr bwMode="auto">
          <a:xfrm>
            <a:off x="2354263" y="1319213"/>
            <a:ext cx="486537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120000"/>
              </a:lnSpc>
              <a:spcBef>
                <a:spcPts val="1500"/>
              </a:spcBef>
              <a:buSzPct val="80000"/>
            </a:pPr>
            <a:r>
              <a:rPr lang="zh-CN" altLang="en-US" sz="2000" b="1">
                <a:solidFill>
                  <a:srgbClr val="000000"/>
                </a:solidFill>
              </a:rPr>
              <a:t>根据预设的等级划分规则判定风险结果</a:t>
            </a:r>
            <a:endParaRPr lang="en-US" altLang="zh-CN" sz="2000" b="1">
              <a:solidFill>
                <a:srgbClr val="00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84994"/>
                                        </p:tgtEl>
                                        <p:attrNameLst>
                                          <p:attrName>style.visibility</p:attrName>
                                        </p:attrNameLst>
                                      </p:cBhvr>
                                      <p:to>
                                        <p:strVal val="visible"/>
                                      </p:to>
                                    </p:set>
                                    <p:anim calcmode="lin" valueType="num">
                                      <p:cBhvr additive="base">
                                        <p:cTn id="12" dur="1000" fill="hold"/>
                                        <p:tgtEl>
                                          <p:spTgt spid="84994"/>
                                        </p:tgtEl>
                                        <p:attrNameLst>
                                          <p:attrName>ppt_x</p:attrName>
                                        </p:attrNameLst>
                                      </p:cBhvr>
                                      <p:tavLst>
                                        <p:tav tm="0">
                                          <p:val>
                                            <p:strVal val="0-#ppt_w/2"/>
                                          </p:val>
                                        </p:tav>
                                        <p:tav tm="100000">
                                          <p:val>
                                            <p:strVal val="#ppt_x"/>
                                          </p:val>
                                        </p:tav>
                                      </p:tavLst>
                                    </p:anim>
                                    <p:anim calcmode="lin" valueType="num">
                                      <p:cBhvr additive="base">
                                        <p:cTn id="13" dur="1000" fill="hold"/>
                                        <p:tgtEl>
                                          <p:spTgt spid="8499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70659"/>
                                        </p:tgtEl>
                                        <p:attrNameLst>
                                          <p:attrName>style.visibility</p:attrName>
                                        </p:attrNameLst>
                                      </p:cBhvr>
                                      <p:to>
                                        <p:strVal val="visible"/>
                                      </p:to>
                                    </p:set>
                                    <p:anim calcmode="lin" valueType="num">
                                      <p:cBhvr>
                                        <p:cTn id="18" dur="500" fill="hold"/>
                                        <p:tgtEl>
                                          <p:spTgt spid="70659"/>
                                        </p:tgtEl>
                                        <p:attrNameLst>
                                          <p:attrName>ppt_w</p:attrName>
                                        </p:attrNameLst>
                                      </p:cBhvr>
                                      <p:tavLst>
                                        <p:tav tm="0">
                                          <p:val>
                                            <p:fltVal val="0"/>
                                          </p:val>
                                        </p:tav>
                                        <p:tav tm="100000">
                                          <p:val>
                                            <p:strVal val="#ppt_w"/>
                                          </p:val>
                                        </p:tav>
                                      </p:tavLst>
                                    </p:anim>
                                    <p:anim calcmode="lin" valueType="num">
                                      <p:cBhvr>
                                        <p:cTn id="19" dur="500" fill="hold"/>
                                        <p:tgtEl>
                                          <p:spTgt spid="70659"/>
                                        </p:tgtEl>
                                        <p:attrNameLst>
                                          <p:attrName>ppt_h</p:attrName>
                                        </p:attrNameLst>
                                      </p:cBhvr>
                                      <p:tavLst>
                                        <p:tav tm="0">
                                          <p:val>
                                            <p:fltVal val="0"/>
                                          </p:val>
                                        </p:tav>
                                        <p:tav tm="100000">
                                          <p:val>
                                            <p:strVal val="#ppt_h"/>
                                          </p:val>
                                        </p:tav>
                                      </p:tavLst>
                                    </p:anim>
                                    <p:animEffect transition="in" filter="fade">
                                      <p:cBhvr>
                                        <p:cTn id="20" dur="500"/>
                                        <p:tgtEl>
                                          <p:spTgt spid="70659"/>
                                        </p:tgtEl>
                                      </p:cBhvr>
                                    </p:animEffect>
                                  </p:childTnLst>
                                </p:cTn>
                              </p:par>
                            </p:childTnLst>
                          </p:cTn>
                        </p:par>
                        <p:par>
                          <p:cTn id="21" fill="hold">
                            <p:stCondLst>
                              <p:cond delay="500"/>
                            </p:stCondLst>
                            <p:childTnLst>
                              <p:par>
                                <p:cTn id="22" presetID="53" presetClass="entr" presetSubtype="16"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p:bldP spid="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2135188" y="765175"/>
            <a:ext cx="6604000" cy="487363"/>
          </a:xfrm>
        </p:spPr>
        <p:txBody>
          <a:bodyPr/>
          <a:lstStyle/>
          <a:p>
            <a:pPr eaLnBrk="1" hangingPunct="1">
              <a:defRPr/>
            </a:pPr>
            <a:r>
              <a:rPr lang="zh-CN" altLang="en-US" sz="2800" dirty="0">
                <a:solidFill>
                  <a:srgbClr val="FF0000"/>
                </a:solidFill>
                <a:latin typeface="+mn-ea"/>
                <a:ea typeface="+mn-ea"/>
              </a:rPr>
              <a:t>定量的风险评估方法</a:t>
            </a:r>
            <a:endParaRPr lang="en-US" altLang="zh-CN" sz="2800" dirty="0">
              <a:solidFill>
                <a:srgbClr val="FF0000"/>
              </a:solidFill>
              <a:latin typeface="+mn-ea"/>
              <a:ea typeface="+mn-ea"/>
            </a:endParaRPr>
          </a:p>
        </p:txBody>
      </p:sp>
      <p:sp>
        <p:nvSpPr>
          <p:cNvPr id="4" name="Text Box 2"/>
          <p:cNvSpPr txBox="1">
            <a:spLocks noChangeArrowheads="1"/>
          </p:cNvSpPr>
          <p:nvPr/>
        </p:nvSpPr>
        <p:spPr bwMode="auto">
          <a:xfrm>
            <a:off x="2351088" y="1341438"/>
            <a:ext cx="7029450" cy="2023745"/>
          </a:xfrm>
          <a:prstGeom prst="rect">
            <a:avLst/>
          </a:prstGeom>
          <a:noFill/>
          <a:ln w="9525">
            <a:noFill/>
            <a:miter lim="800000"/>
          </a:ln>
          <a:effectLst/>
        </p:spPr>
        <p:txBody>
          <a:bodyPr>
            <a:spAutoFit/>
          </a:bodyPr>
          <a:lstStyle/>
          <a:p>
            <a:pPr marL="457200" indent="-457200" eaLnBrk="1" hangingPunct="1">
              <a:lnSpc>
                <a:spcPct val="120000"/>
              </a:lnSpc>
              <a:spcBef>
                <a:spcPct val="25000"/>
              </a:spcBef>
              <a:buSzPct val="80000"/>
              <a:defRPr/>
            </a:pPr>
            <a:r>
              <a:rPr lang="zh-CN" altLang="en-US" sz="2800" b="1" dirty="0">
                <a:solidFill>
                  <a:srgbClr val="FF0000"/>
                </a:solidFill>
                <a:latin typeface="+mn-ea"/>
                <a:ea typeface="+mn-ea"/>
              </a:rPr>
              <a:t>定量评估：</a:t>
            </a:r>
            <a:endParaRPr lang="zh-CN" altLang="en-US" sz="2800" b="1" dirty="0">
              <a:solidFill>
                <a:srgbClr val="FF0000"/>
              </a:solidFill>
              <a:latin typeface="+mn-ea"/>
              <a:ea typeface="+mn-ea"/>
            </a:endParaRPr>
          </a:p>
          <a:p>
            <a:pPr marL="914400" lvl="1" indent="-457200" eaLnBrk="1" hangingPunct="1">
              <a:lnSpc>
                <a:spcPct val="120000"/>
              </a:lnSpc>
              <a:spcBef>
                <a:spcPct val="50000"/>
              </a:spcBef>
              <a:buSzPct val="80000"/>
              <a:buFont typeface="Wingdings" panose="05000000000000000000" pitchFamily="2" charset="2"/>
              <a:buChar char="u"/>
              <a:defRPr/>
            </a:pPr>
            <a:r>
              <a:rPr lang="zh-CN" altLang="en-US" sz="2000" b="1" dirty="0">
                <a:solidFill>
                  <a:srgbClr val="002060"/>
                </a:solidFill>
                <a:latin typeface="+mn-ea"/>
                <a:ea typeface="+mn-ea"/>
              </a:rPr>
              <a:t>运用</a:t>
            </a:r>
            <a:r>
              <a:rPr lang="zh-CN" altLang="en-US" sz="2000" b="1" dirty="0">
                <a:solidFill>
                  <a:schemeClr val="tx2">
                    <a:lumMod val="60000"/>
                    <a:lumOff val="40000"/>
                  </a:schemeClr>
                </a:solidFill>
                <a:latin typeface="+mn-ea"/>
                <a:ea typeface="+mn-ea"/>
              </a:rPr>
              <a:t>数量指标</a:t>
            </a:r>
            <a:r>
              <a:rPr lang="zh-CN" altLang="en-US" sz="2000" b="1" dirty="0">
                <a:solidFill>
                  <a:srgbClr val="002060"/>
                </a:solidFill>
                <a:latin typeface="+mn-ea"/>
                <a:ea typeface="+mn-ea"/>
              </a:rPr>
              <a:t>来对风险进行评估</a:t>
            </a:r>
            <a:endParaRPr lang="zh-CN" altLang="en-US" sz="2000" b="1" dirty="0">
              <a:solidFill>
                <a:srgbClr val="002060"/>
              </a:solidFill>
              <a:latin typeface="+mn-ea"/>
              <a:ea typeface="+mn-ea"/>
            </a:endParaRPr>
          </a:p>
          <a:p>
            <a:pPr marL="914400" lvl="1" indent="-457200" eaLnBrk="1" hangingPunct="1">
              <a:lnSpc>
                <a:spcPct val="120000"/>
              </a:lnSpc>
              <a:spcBef>
                <a:spcPct val="50000"/>
              </a:spcBef>
              <a:buSzPct val="80000"/>
              <a:buFont typeface="Wingdings" panose="05000000000000000000" pitchFamily="2" charset="2"/>
              <a:buChar char="u"/>
              <a:defRPr/>
            </a:pPr>
            <a:r>
              <a:rPr lang="zh-CN" altLang="en-US" sz="2000" b="1" dirty="0">
                <a:solidFill>
                  <a:srgbClr val="002060"/>
                </a:solidFill>
                <a:latin typeface="+mn-ea"/>
                <a:ea typeface="+mn-ea"/>
              </a:rPr>
              <a:t>采用</a:t>
            </a:r>
            <a:r>
              <a:rPr lang="zh-CN" altLang="en-US" sz="2000" b="1" dirty="0">
                <a:solidFill>
                  <a:schemeClr val="tx2">
                    <a:lumMod val="60000"/>
                    <a:lumOff val="40000"/>
                  </a:schemeClr>
                </a:solidFill>
                <a:latin typeface="+mn-ea"/>
                <a:ea typeface="+mn-ea"/>
              </a:rPr>
              <a:t>量化的数值</a:t>
            </a:r>
            <a:r>
              <a:rPr lang="zh-CN" altLang="en-US" sz="2000" b="1" dirty="0">
                <a:solidFill>
                  <a:srgbClr val="002060"/>
                </a:solidFill>
                <a:latin typeface="+mn-ea"/>
                <a:ea typeface="+mn-ea"/>
              </a:rPr>
              <a:t>描述后果（估计出可能损失的金额）和可能性（概率或频率）</a:t>
            </a:r>
            <a:endParaRPr lang="en-US" altLang="zh-CN" sz="2000" b="1" dirty="0">
              <a:solidFill>
                <a:srgbClr val="002060"/>
              </a:solidFill>
              <a:latin typeface="宋体" panose="02010600030101010101" pitchFamily="2" charset="-122"/>
            </a:endParaRPr>
          </a:p>
        </p:txBody>
      </p:sp>
      <p:sp>
        <p:nvSpPr>
          <p:cNvPr id="2" name="矩形 1"/>
          <p:cNvSpPr/>
          <p:nvPr/>
        </p:nvSpPr>
        <p:spPr>
          <a:xfrm>
            <a:off x="2495550" y="3365500"/>
            <a:ext cx="3095625" cy="1762125"/>
          </a:xfrm>
          <a:prstGeom prst="rect">
            <a:avLst/>
          </a:prstGeom>
        </p:spPr>
        <p:txBody>
          <a:bodyPr>
            <a:spAutoFit/>
          </a:bodyPr>
          <a:lstStyle/>
          <a:p>
            <a:pPr lvl="1" indent="-457200" eaLnBrk="1" hangingPunct="1">
              <a:lnSpc>
                <a:spcPct val="120000"/>
              </a:lnSpc>
              <a:spcBef>
                <a:spcPct val="25000"/>
              </a:spcBef>
              <a:buSzPct val="80000"/>
              <a:buFont typeface="Wingdings" panose="05000000000000000000" pitchFamily="2" charset="2"/>
              <a:buNone/>
              <a:defRPr/>
            </a:pPr>
            <a:r>
              <a:rPr lang="zh-CN" altLang="en-US" sz="2800" b="1" dirty="0">
                <a:solidFill>
                  <a:srgbClr val="FF0000"/>
                </a:solidFill>
                <a:latin typeface="+mn-ea"/>
                <a:ea typeface="+mn-ea"/>
              </a:rPr>
              <a:t>定量的评估方法：</a:t>
            </a:r>
            <a:endParaRPr lang="zh-CN" altLang="en-US" sz="2800" b="1" dirty="0">
              <a:solidFill>
                <a:srgbClr val="FF0000"/>
              </a:solidFill>
              <a:latin typeface="+mn-ea"/>
              <a:ea typeface="+mn-ea"/>
            </a:endParaRPr>
          </a:p>
          <a:p>
            <a:pPr marL="914400" lvl="1" indent="-457200" eaLnBrk="1" hangingPunct="1">
              <a:spcBef>
                <a:spcPts val="600"/>
              </a:spcBef>
              <a:buSzPct val="80000"/>
              <a:buFont typeface="Wingdings" panose="05000000000000000000" pitchFamily="2" charset="2"/>
              <a:buChar char="u"/>
              <a:defRPr/>
            </a:pPr>
            <a:r>
              <a:rPr lang="zh-CN" altLang="en-US" sz="2000" b="1" dirty="0">
                <a:solidFill>
                  <a:srgbClr val="002060"/>
                </a:solidFill>
                <a:latin typeface="宋体" panose="02010600030101010101" pitchFamily="2" charset="-122"/>
              </a:rPr>
              <a:t>因子分析法</a:t>
            </a:r>
            <a:endParaRPr lang="en-US" altLang="zh-CN" sz="2000" b="1" dirty="0">
              <a:solidFill>
                <a:srgbClr val="002060"/>
              </a:solidFill>
              <a:latin typeface="宋体" panose="02010600030101010101" pitchFamily="2" charset="-122"/>
            </a:endParaRPr>
          </a:p>
          <a:p>
            <a:pPr marL="914400" lvl="1" indent="-457200" eaLnBrk="1" hangingPunct="1">
              <a:spcBef>
                <a:spcPts val="600"/>
              </a:spcBef>
              <a:buSzPct val="80000"/>
              <a:buFont typeface="Wingdings" panose="05000000000000000000" pitchFamily="2" charset="2"/>
              <a:buChar char="u"/>
              <a:defRPr/>
            </a:pPr>
            <a:r>
              <a:rPr lang="zh-CN" altLang="en-US" sz="2000" b="1" dirty="0">
                <a:solidFill>
                  <a:srgbClr val="002060"/>
                </a:solidFill>
                <a:latin typeface="宋体" panose="02010600030101010101" pitchFamily="2" charset="-122"/>
              </a:rPr>
              <a:t>聚类分析法</a:t>
            </a:r>
            <a:endParaRPr lang="en-US" altLang="zh-CN" sz="2000" b="1" dirty="0">
              <a:solidFill>
                <a:srgbClr val="002060"/>
              </a:solidFill>
              <a:latin typeface="宋体" panose="02010600030101010101" pitchFamily="2" charset="-122"/>
            </a:endParaRPr>
          </a:p>
          <a:p>
            <a:pPr marL="914400" lvl="1" indent="-457200" eaLnBrk="1" hangingPunct="1">
              <a:spcBef>
                <a:spcPts val="600"/>
              </a:spcBef>
              <a:buSzPct val="80000"/>
              <a:buFont typeface="Wingdings" panose="05000000000000000000" pitchFamily="2" charset="2"/>
              <a:buChar char="u"/>
              <a:defRPr/>
            </a:pPr>
            <a:r>
              <a:rPr lang="zh-CN" altLang="en-US" sz="2000" b="1" dirty="0">
                <a:solidFill>
                  <a:srgbClr val="002060"/>
                </a:solidFill>
                <a:latin typeface="宋体" panose="02010600030101010101" pitchFamily="2" charset="-122"/>
              </a:rPr>
              <a:t>时序模型</a:t>
            </a:r>
            <a:endParaRPr lang="en-US" altLang="zh-CN" sz="2000" b="1" dirty="0">
              <a:solidFill>
                <a:srgbClr val="002060"/>
              </a:solidFill>
              <a:latin typeface="宋体" panose="02010600030101010101" pitchFamily="2" charset="-122"/>
            </a:endParaRPr>
          </a:p>
        </p:txBody>
      </p:sp>
      <p:sp>
        <p:nvSpPr>
          <p:cNvPr id="3" name="矩形 2"/>
          <p:cNvSpPr>
            <a:spLocks noChangeArrowheads="1"/>
          </p:cNvSpPr>
          <p:nvPr/>
        </p:nvSpPr>
        <p:spPr bwMode="auto">
          <a:xfrm>
            <a:off x="5200650" y="3959225"/>
            <a:ext cx="45720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914400" indent="-45720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lvl="1" eaLnBrk="1" hangingPunct="1">
              <a:spcBef>
                <a:spcPts val="600"/>
              </a:spcBef>
              <a:buClrTx/>
              <a:buSzPct val="80000"/>
              <a:buFont typeface="Wingdings" panose="05000000000000000000" pitchFamily="2" charset="2"/>
              <a:buChar char="u"/>
            </a:pPr>
            <a:r>
              <a:rPr lang="zh-CN" altLang="en-US" sz="2000" b="1">
                <a:solidFill>
                  <a:srgbClr val="002060"/>
                </a:solidFill>
                <a:latin typeface="宋体" panose="02010600030101010101" pitchFamily="2" charset="-122"/>
                <a:ea typeface="宋体" panose="02010600030101010101" pitchFamily="2" charset="-122"/>
              </a:rPr>
              <a:t>回归模型</a:t>
            </a:r>
            <a:endParaRPr lang="en-US" altLang="zh-CN" sz="2000" b="1">
              <a:solidFill>
                <a:srgbClr val="002060"/>
              </a:solidFill>
              <a:latin typeface="宋体" panose="02010600030101010101" pitchFamily="2" charset="-122"/>
              <a:ea typeface="宋体" panose="02010600030101010101" pitchFamily="2" charset="-122"/>
            </a:endParaRPr>
          </a:p>
          <a:p>
            <a:pPr lvl="1" eaLnBrk="1" hangingPunct="1">
              <a:spcBef>
                <a:spcPts val="600"/>
              </a:spcBef>
              <a:buClrTx/>
              <a:buSzPct val="80000"/>
              <a:buFont typeface="Wingdings" panose="05000000000000000000" pitchFamily="2" charset="2"/>
              <a:buChar char="u"/>
            </a:pPr>
            <a:r>
              <a:rPr lang="zh-CN" altLang="en-US" sz="2000" b="1">
                <a:solidFill>
                  <a:srgbClr val="002060"/>
                </a:solidFill>
                <a:latin typeface="宋体" panose="02010600030101010101" pitchFamily="2" charset="-122"/>
                <a:ea typeface="宋体" panose="02010600030101010101" pitchFamily="2" charset="-122"/>
              </a:rPr>
              <a:t>风险图法</a:t>
            </a:r>
            <a:endParaRPr lang="en-US" altLang="zh-CN" sz="2000" b="1">
              <a:solidFill>
                <a:srgbClr val="002060"/>
              </a:solidFill>
              <a:latin typeface="宋体" panose="02010600030101010101" pitchFamily="2" charset="-122"/>
              <a:ea typeface="宋体" panose="02010600030101010101" pitchFamily="2" charset="-122"/>
            </a:endParaRPr>
          </a:p>
          <a:p>
            <a:pPr lvl="1" eaLnBrk="1" hangingPunct="1">
              <a:spcBef>
                <a:spcPts val="600"/>
              </a:spcBef>
              <a:buClrTx/>
              <a:buSzPct val="80000"/>
              <a:buFont typeface="Wingdings" panose="05000000000000000000" pitchFamily="2" charset="2"/>
              <a:buChar char="u"/>
            </a:pPr>
            <a:r>
              <a:rPr lang="zh-CN" altLang="en-US" sz="2000" b="1">
                <a:solidFill>
                  <a:srgbClr val="002060"/>
                </a:solidFill>
                <a:latin typeface="宋体" panose="02010600030101010101" pitchFamily="2" charset="-122"/>
                <a:ea typeface="宋体" panose="02010600030101010101" pitchFamily="2" charset="-122"/>
              </a:rPr>
              <a:t>决策树法等</a:t>
            </a:r>
            <a:endParaRPr lang="en-US" altLang="zh-CN" sz="2000" b="1">
              <a:solidFill>
                <a:srgbClr val="002060"/>
              </a:solidFill>
              <a:latin typeface="宋体" panose="02010600030101010101" pitchFamily="2" charset="-122"/>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53" presetClass="entr" presetSubtype="16"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Effect transition="in" filter="fade">
                                      <p:cBhvr>
                                        <p:cTn id="14" dur="1000"/>
                                        <p:tgtEl>
                                          <p:spTgt spid="2"/>
                                        </p:tgtEl>
                                      </p:cBhvr>
                                    </p:animEffect>
                                  </p:childTnLst>
                                </p:cTn>
                              </p:par>
                            </p:childTnLst>
                          </p:cTn>
                        </p:par>
                        <p:par>
                          <p:cTn id="15" fill="hold">
                            <p:stCondLst>
                              <p:cond delay="2000"/>
                            </p:stCondLst>
                            <p:childTnLst>
                              <p:par>
                                <p:cTn id="16" presetID="53" presetClass="entr" presetSubtype="16"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 grpId="0"/>
      <p:bldP spid="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p:cNvSpPr>
            <a:spLocks noGrp="1" noChangeArrowheads="1"/>
          </p:cNvSpPr>
          <p:nvPr>
            <p:ph type="ctrTitle"/>
          </p:nvPr>
        </p:nvSpPr>
        <p:spPr>
          <a:xfrm>
            <a:off x="2279650" y="804863"/>
            <a:ext cx="6513513" cy="488950"/>
          </a:xfrm>
        </p:spPr>
        <p:txBody>
          <a:bodyPr anchor="ctr"/>
          <a:lstStyle/>
          <a:p>
            <a:pPr algn="l"/>
            <a:r>
              <a:rPr lang="zh-CN" altLang="en-US" sz="3200">
                <a:solidFill>
                  <a:srgbClr val="FF0000"/>
                </a:solidFill>
              </a:rPr>
              <a:t>定量风险分析</a:t>
            </a:r>
            <a:endParaRPr lang="zh-CN" altLang="en-US" sz="3200">
              <a:solidFill>
                <a:srgbClr val="FF0000"/>
              </a:solidFill>
            </a:endParaRPr>
          </a:p>
        </p:txBody>
      </p:sp>
      <p:sp>
        <p:nvSpPr>
          <p:cNvPr id="86019" name="内容占位符 2"/>
          <p:cNvSpPr>
            <a:spLocks noGrp="1" noChangeArrowheads="1"/>
          </p:cNvSpPr>
          <p:nvPr>
            <p:ph type="subTitle" idx="1"/>
          </p:nvPr>
        </p:nvSpPr>
        <p:spPr>
          <a:xfrm>
            <a:off x="2351088" y="4335463"/>
            <a:ext cx="7993062" cy="606425"/>
          </a:xfrm>
        </p:spPr>
        <p:txBody>
          <a:bodyPr/>
          <a:lstStyle/>
          <a:p>
            <a:pPr marL="342900" indent="-342900" algn="l">
              <a:spcBef>
                <a:spcPts val="1500"/>
              </a:spcBef>
              <a:buFont typeface="Wingdings" panose="05000000000000000000" pitchFamily="2" charset="2"/>
              <a:buChar char="v"/>
            </a:pPr>
            <a:r>
              <a:rPr lang="zh-CN" altLang="en-US" sz="2400"/>
              <a:t>因为定量分析处理数字和金额价值，它必须有公式</a:t>
            </a:r>
            <a:endParaRPr lang="zh-CN" altLang="en-US" sz="2400"/>
          </a:p>
        </p:txBody>
      </p:sp>
      <p:sp>
        <p:nvSpPr>
          <p:cNvPr id="2" name="矩形 1"/>
          <p:cNvSpPr/>
          <p:nvPr/>
        </p:nvSpPr>
        <p:spPr>
          <a:xfrm>
            <a:off x="2351088" y="1700213"/>
            <a:ext cx="7921625" cy="768350"/>
          </a:xfrm>
          <a:prstGeom prst="rect">
            <a:avLst/>
          </a:prstGeom>
        </p:spPr>
        <p:txBody>
          <a:bodyPr>
            <a:spAutoFit/>
          </a:bodyPr>
          <a:lstStyle/>
          <a:p>
            <a:pPr marL="342900" indent="-342900">
              <a:spcBef>
                <a:spcPts val="1500"/>
              </a:spcBef>
              <a:buClr>
                <a:srgbClr val="3399FF"/>
              </a:buClr>
              <a:buFont typeface="Wingdings" panose="05000000000000000000" pitchFamily="2" charset="2"/>
              <a:buChar char="v"/>
              <a:defRPr/>
            </a:pPr>
            <a:r>
              <a:rPr lang="zh-CN" altLang="en-US" sz="2200" dirty="0">
                <a:latin typeface="+mn-lt"/>
                <a:ea typeface="+mn-ea"/>
              </a:rPr>
              <a:t>定量风险分析试图是在风险评估与成本效益分析期间收集的各个组成部分计算客观数字值，定量风险分析更具客观性</a:t>
            </a:r>
            <a:endParaRPr lang="en-US" altLang="zh-CN" sz="2200" dirty="0">
              <a:latin typeface="+mn-lt"/>
              <a:ea typeface="+mn-ea"/>
            </a:endParaRPr>
          </a:p>
        </p:txBody>
      </p:sp>
      <p:sp>
        <p:nvSpPr>
          <p:cNvPr id="3" name="矩形 2"/>
          <p:cNvSpPr>
            <a:spLocks noChangeArrowheads="1"/>
          </p:cNvSpPr>
          <p:nvPr/>
        </p:nvSpPr>
        <p:spPr bwMode="auto">
          <a:xfrm>
            <a:off x="2782888" y="2571750"/>
            <a:ext cx="6913562"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ts val="1500"/>
              </a:spcBef>
              <a:buClrTx/>
              <a:buFontTx/>
              <a:buNone/>
            </a:pPr>
            <a:r>
              <a:rPr lang="zh-CN" altLang="en-US" sz="1800" b="1">
                <a:solidFill>
                  <a:srgbClr val="0033CC"/>
                </a:solidFill>
                <a:latin typeface="Arial" panose="020B0604020202020204" pitchFamily="34" charset="0"/>
                <a:ea typeface="宋体" panose="02010600030101010101" pitchFamily="2" charset="-122"/>
              </a:rPr>
              <a:t>例如，用替换成本、生产率损失成本、品牌名誉成本以及其他直接和间接商业价值来估计各项资产的真实价值</a:t>
            </a:r>
            <a:endParaRPr lang="en-US" altLang="zh-CN" sz="1800" b="1">
              <a:solidFill>
                <a:srgbClr val="0033CC"/>
              </a:solidFill>
              <a:latin typeface="Arial" panose="020B0604020202020204" pitchFamily="34" charset="0"/>
              <a:ea typeface="宋体" panose="02010600030101010101" pitchFamily="2" charset="-122"/>
            </a:endParaRPr>
          </a:p>
        </p:txBody>
      </p:sp>
      <p:sp>
        <p:nvSpPr>
          <p:cNvPr id="4" name="矩形 3"/>
          <p:cNvSpPr/>
          <p:nvPr/>
        </p:nvSpPr>
        <p:spPr>
          <a:xfrm>
            <a:off x="2351088" y="3357563"/>
            <a:ext cx="7921625" cy="768350"/>
          </a:xfrm>
          <a:prstGeom prst="rect">
            <a:avLst/>
          </a:prstGeom>
        </p:spPr>
        <p:txBody>
          <a:bodyPr>
            <a:spAutoFit/>
          </a:bodyPr>
          <a:lstStyle/>
          <a:p>
            <a:pPr marL="342900" indent="-342900">
              <a:spcBef>
                <a:spcPts val="1500"/>
              </a:spcBef>
              <a:buClr>
                <a:srgbClr val="3399FF"/>
              </a:buClr>
              <a:buFont typeface="Wingdings" panose="05000000000000000000" pitchFamily="2" charset="2"/>
              <a:buChar char="v"/>
              <a:defRPr/>
            </a:pPr>
            <a:r>
              <a:rPr lang="zh-CN" altLang="en-US" sz="2200" dirty="0">
                <a:latin typeface="+mn-lt"/>
                <a:ea typeface="+mn-ea"/>
              </a:rPr>
              <a:t>定量分析主要试图从财务数字上对安全风险进行评估，得出可以量化的风险分析结果，准确度量风险的可能性和损失量</a:t>
            </a:r>
            <a:endParaRPr lang="zh-CN" altLang="en-US" sz="2200" dirty="0">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1000" fill="hold"/>
                                        <p:tgtEl>
                                          <p:spTgt spid="4"/>
                                        </p:tgtEl>
                                        <p:attrNameLst>
                                          <p:attrName>ppt_x</p:attrName>
                                        </p:attrNameLst>
                                      </p:cBhvr>
                                      <p:tavLst>
                                        <p:tav tm="0">
                                          <p:val>
                                            <p:strVal val="0-#ppt_w/2"/>
                                          </p:val>
                                        </p:tav>
                                        <p:tav tm="100000">
                                          <p:val>
                                            <p:strVal val="#ppt_x"/>
                                          </p:val>
                                        </p:tav>
                                      </p:tavLst>
                                    </p:anim>
                                    <p:anim calcmode="lin" valueType="num">
                                      <p:cBhvr additive="base">
                                        <p:cTn id="19" dur="1000" fill="hold"/>
                                        <p:tgtEl>
                                          <p:spTgt spid="4"/>
                                        </p:tgtEl>
                                        <p:attrNameLst>
                                          <p:attrName>ppt_y</p:attrName>
                                        </p:attrNameLst>
                                      </p:cBhvr>
                                      <p:tavLst>
                                        <p:tav tm="0">
                                          <p:val>
                                            <p:strVal val="#ppt_y"/>
                                          </p:val>
                                        </p:tav>
                                        <p:tav tm="100000">
                                          <p:val>
                                            <p:strVal val="#ppt_y"/>
                                          </p:val>
                                        </p:tav>
                                      </p:tavLst>
                                    </p:anim>
                                  </p:childTnLst>
                                </p:cTn>
                              </p:par>
                            </p:childTnLst>
                          </p:cTn>
                        </p:par>
                        <p:par>
                          <p:cTn id="20" fill="hold">
                            <p:stCondLst>
                              <p:cond delay="2000"/>
                            </p:stCondLst>
                            <p:childTnLst>
                              <p:par>
                                <p:cTn id="21" presetID="2" presetClass="entr" presetSubtype="8" fill="hold" grpId="0" nodeType="afterEffect">
                                  <p:stCondLst>
                                    <p:cond delay="0"/>
                                  </p:stCondLst>
                                  <p:childTnLst>
                                    <p:set>
                                      <p:cBhvr>
                                        <p:cTn id="22" dur="1" fill="hold">
                                          <p:stCondLst>
                                            <p:cond delay="0"/>
                                          </p:stCondLst>
                                        </p:cTn>
                                        <p:tgtEl>
                                          <p:spTgt spid="86019">
                                            <p:txEl>
                                              <p:pRg st="0" end="0"/>
                                            </p:txEl>
                                          </p:spTgt>
                                        </p:tgtEl>
                                        <p:attrNameLst>
                                          <p:attrName>style.visibility</p:attrName>
                                        </p:attrNameLst>
                                      </p:cBhvr>
                                      <p:to>
                                        <p:strVal val="visible"/>
                                      </p:to>
                                    </p:set>
                                    <p:anim calcmode="lin" valueType="num">
                                      <p:cBhvr additive="base">
                                        <p:cTn id="23" dur="1000" fill="hold"/>
                                        <p:tgtEl>
                                          <p:spTgt spid="86019">
                                            <p:txEl>
                                              <p:pRg st="0" end="0"/>
                                            </p:txEl>
                                          </p:spTgt>
                                        </p:tgtEl>
                                        <p:attrNameLst>
                                          <p:attrName>ppt_x</p:attrName>
                                        </p:attrNameLst>
                                      </p:cBhvr>
                                      <p:tavLst>
                                        <p:tav tm="0">
                                          <p:val>
                                            <p:strVal val="0-#ppt_w/2"/>
                                          </p:val>
                                        </p:tav>
                                        <p:tav tm="100000">
                                          <p:val>
                                            <p:strVal val="#ppt_x"/>
                                          </p:val>
                                        </p:tav>
                                      </p:tavLst>
                                    </p:anim>
                                    <p:anim calcmode="lin" valueType="num">
                                      <p:cBhvr additive="base">
                                        <p:cTn id="24" dur="1000" fill="hold"/>
                                        <p:tgtEl>
                                          <p:spTgt spid="8601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P spid="2" grpId="0"/>
      <p:bldP spid="3" grpId="0"/>
      <p:bldP spid="4"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166938" y="3613150"/>
            <a:ext cx="7561262" cy="386080"/>
          </a:xfrm>
          <a:prstGeom prst="rect">
            <a:avLst/>
          </a:prstGeom>
        </p:spPr>
        <p:txBody>
          <a:bodyPr>
            <a:spAutoFit/>
          </a:bodyPr>
          <a:lstStyle/>
          <a:p>
            <a:pPr marL="342900" indent="-342900" defTabSz="179705" eaLnBrk="1" hangingPunct="1">
              <a:lnSpc>
                <a:spcPct val="80000"/>
              </a:lnSpc>
              <a:buFont typeface="Wingdings" panose="05000000000000000000" pitchFamily="2" charset="2"/>
              <a:buChar char="n"/>
              <a:defRPr/>
            </a:pPr>
            <a:r>
              <a:rPr lang="zh-CN" altLang="en-US" sz="2400" b="1" dirty="0">
                <a:solidFill>
                  <a:srgbClr val="0033CC"/>
                </a:solidFill>
                <a:latin typeface="+mn-ea"/>
                <a:ea typeface="+mn-ea"/>
                <a:sym typeface="Arial" panose="020B0604020202020204" pitchFamily="34" charset="0"/>
              </a:rPr>
              <a:t>基于期望损失效用的风险评估方法</a:t>
            </a:r>
            <a:endParaRPr lang="en-US" altLang="zh-CN" sz="2400" b="1" dirty="0">
              <a:solidFill>
                <a:srgbClr val="0033CC"/>
              </a:solidFill>
              <a:latin typeface="+mn-ea"/>
              <a:ea typeface="+mn-ea"/>
              <a:sym typeface="Arial" panose="020B0604020202020204" pitchFamily="34" charset="0"/>
            </a:endParaRPr>
          </a:p>
        </p:txBody>
      </p:sp>
      <p:sp>
        <p:nvSpPr>
          <p:cNvPr id="7" name="矩形 6"/>
          <p:cNvSpPr/>
          <p:nvPr/>
        </p:nvSpPr>
        <p:spPr>
          <a:xfrm>
            <a:off x="2135188" y="1530350"/>
            <a:ext cx="4504690" cy="386080"/>
          </a:xfrm>
          <a:prstGeom prst="rect">
            <a:avLst/>
          </a:prstGeom>
        </p:spPr>
        <p:txBody>
          <a:bodyPr wrap="none">
            <a:spAutoFit/>
          </a:bodyPr>
          <a:lstStyle/>
          <a:p>
            <a:pPr marL="342900" indent="-342900" defTabSz="179705" eaLnBrk="1" hangingPunct="1">
              <a:lnSpc>
                <a:spcPct val="80000"/>
              </a:lnSpc>
              <a:buFont typeface="Wingdings" panose="05000000000000000000" pitchFamily="2" charset="2"/>
              <a:buChar char="n"/>
              <a:defRPr/>
            </a:pPr>
            <a:r>
              <a:rPr lang="zh-CN" altLang="en-US" sz="2400" b="1" dirty="0">
                <a:solidFill>
                  <a:srgbClr val="0033CC"/>
                </a:solidFill>
                <a:latin typeface="+mn-ea"/>
                <a:ea typeface="+mn-ea"/>
                <a:sym typeface="Arial" panose="020B0604020202020204" pitchFamily="34" charset="0"/>
              </a:rPr>
              <a:t>基于期望损失的风险评估方法</a:t>
            </a:r>
            <a:endParaRPr lang="en-US" altLang="zh-CN" sz="2400" b="1" dirty="0">
              <a:solidFill>
                <a:srgbClr val="0033CC"/>
              </a:solidFill>
              <a:latin typeface="+mn-ea"/>
              <a:ea typeface="+mn-ea"/>
              <a:sym typeface="Arial" panose="020B0604020202020204" pitchFamily="34" charset="0"/>
            </a:endParaRPr>
          </a:p>
        </p:txBody>
      </p:sp>
      <p:pic>
        <p:nvPicPr>
          <p:cNvPr id="8"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79650" y="2127250"/>
            <a:ext cx="7378700" cy="120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4210050"/>
            <a:ext cx="763270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4" name="标题 1"/>
          <p:cNvSpPr>
            <a:spLocks noGrp="1" noChangeArrowheads="1"/>
          </p:cNvSpPr>
          <p:nvPr>
            <p:ph type="ctrTitle"/>
          </p:nvPr>
        </p:nvSpPr>
        <p:spPr>
          <a:xfrm>
            <a:off x="2063750" y="760413"/>
            <a:ext cx="6513513" cy="487362"/>
          </a:xfrm>
        </p:spPr>
        <p:txBody>
          <a:bodyPr anchor="ctr"/>
          <a:lstStyle/>
          <a:p>
            <a:pPr algn="l"/>
            <a:r>
              <a:rPr lang="zh-CN" altLang="en-US" sz="3200">
                <a:solidFill>
                  <a:srgbClr val="FF0000"/>
                </a:solidFill>
              </a:rPr>
              <a:t>定量风险分析</a:t>
            </a:r>
            <a:endParaRPr lang="zh-CN" altLang="en-US" sz="3200">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53" presetClass="entr" presetSubtype="16"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p:cNvSpPr>
            <a:spLocks noGrp="1" noChangeArrowheads="1"/>
          </p:cNvSpPr>
          <p:nvPr>
            <p:ph type="ctrTitle"/>
          </p:nvPr>
        </p:nvSpPr>
        <p:spPr>
          <a:xfrm>
            <a:off x="1998663" y="765175"/>
            <a:ext cx="8274050" cy="487363"/>
          </a:xfrm>
        </p:spPr>
        <p:txBody>
          <a:bodyPr anchor="ctr"/>
          <a:lstStyle/>
          <a:p>
            <a:pPr algn="l"/>
            <a:r>
              <a:rPr lang="zh-CN" altLang="en-US" sz="3200">
                <a:solidFill>
                  <a:srgbClr val="FF0000"/>
                </a:solidFill>
              </a:rPr>
              <a:t>定量风险分析</a:t>
            </a:r>
            <a:r>
              <a:rPr lang="en-US" altLang="zh-CN" sz="3200">
                <a:solidFill>
                  <a:srgbClr val="FF0000"/>
                </a:solidFill>
              </a:rPr>
              <a:t>(</a:t>
            </a:r>
            <a:r>
              <a:rPr lang="zh-CN" altLang="en-US" sz="3200">
                <a:solidFill>
                  <a:srgbClr val="0033CC"/>
                </a:solidFill>
              </a:rPr>
              <a:t>经典方法</a:t>
            </a:r>
            <a:r>
              <a:rPr lang="en-US" altLang="zh-CN" sz="3200">
                <a:solidFill>
                  <a:srgbClr val="FF0000"/>
                </a:solidFill>
              </a:rPr>
              <a:t>)</a:t>
            </a:r>
            <a:r>
              <a:rPr lang="zh-CN" altLang="en-US" sz="3200">
                <a:solidFill>
                  <a:srgbClr val="FF0000"/>
                </a:solidFill>
              </a:rPr>
              <a:t>：</a:t>
            </a:r>
            <a:r>
              <a:rPr lang="zh-CN" altLang="en-US" sz="3200">
                <a:solidFill>
                  <a:srgbClr val="FF0000"/>
                </a:solidFill>
                <a:sym typeface="Arial" panose="020B0604020202020204" pitchFamily="34" charset="0"/>
              </a:rPr>
              <a:t>期望年度损失</a:t>
            </a:r>
            <a:r>
              <a:rPr lang="zh-CN" altLang="en-US" sz="3200">
                <a:solidFill>
                  <a:srgbClr val="FF0000"/>
                </a:solidFill>
              </a:rPr>
              <a:t>法</a:t>
            </a:r>
            <a:endParaRPr lang="zh-CN" altLang="en-US" sz="3200">
              <a:solidFill>
                <a:srgbClr val="FF0000"/>
              </a:solidFill>
            </a:endParaRPr>
          </a:p>
        </p:txBody>
      </p:sp>
      <p:sp>
        <p:nvSpPr>
          <p:cNvPr id="87043" name="内容占位符 2"/>
          <p:cNvSpPr>
            <a:spLocks noGrp="1" noChangeArrowheads="1"/>
          </p:cNvSpPr>
          <p:nvPr>
            <p:ph type="subTitle" idx="1"/>
          </p:nvPr>
        </p:nvSpPr>
        <p:spPr>
          <a:xfrm>
            <a:off x="1992313" y="1916113"/>
            <a:ext cx="8191500" cy="4321175"/>
          </a:xfrm>
        </p:spPr>
        <p:txBody>
          <a:bodyPr/>
          <a:lstStyle/>
          <a:p>
            <a:pPr marL="342900" indent="-342900" algn="l">
              <a:spcBef>
                <a:spcPts val="1200"/>
              </a:spcBef>
              <a:buFont typeface="Wingdings" panose="05000000000000000000" pitchFamily="2" charset="2"/>
              <a:buChar char="v"/>
            </a:pPr>
            <a:r>
              <a:rPr lang="zh-CN" altLang="en-US" sz="2400" dirty="0">
                <a:solidFill>
                  <a:srgbClr val="0033CC"/>
                </a:solidFill>
              </a:rPr>
              <a:t>步骤</a:t>
            </a:r>
            <a:r>
              <a:rPr lang="en-US" altLang="zh-CN" sz="2400" dirty="0">
                <a:solidFill>
                  <a:srgbClr val="0033CC"/>
                </a:solidFill>
              </a:rPr>
              <a:t>1</a:t>
            </a:r>
            <a:r>
              <a:rPr lang="zh-CN" altLang="en-US" sz="2400" dirty="0">
                <a:solidFill>
                  <a:srgbClr val="0033CC"/>
                </a:solidFill>
              </a:rPr>
              <a:t>：评估资产</a:t>
            </a:r>
            <a:r>
              <a:rPr lang="zh-CN" altLang="en-US" sz="2400" dirty="0"/>
              <a:t>：</a:t>
            </a:r>
            <a:r>
              <a:rPr lang="zh-CN" altLang="en-US" sz="2000" dirty="0"/>
              <a:t>根据资产价值（</a:t>
            </a:r>
            <a:r>
              <a:rPr lang="en-US" altLang="zh-CN" sz="2000" dirty="0"/>
              <a:t>AV</a:t>
            </a:r>
            <a:r>
              <a:rPr lang="zh-CN" altLang="en-US" sz="2000" dirty="0"/>
              <a:t>）清单</a:t>
            </a:r>
            <a:r>
              <a:rPr lang="en-US" altLang="zh-CN" sz="2000" dirty="0"/>
              <a:t>,</a:t>
            </a:r>
            <a:r>
              <a:rPr lang="zh-CN" altLang="en-US" sz="2000" dirty="0"/>
              <a:t>计算资产总价值及资产损失对财务的直接和间接影响</a:t>
            </a:r>
            <a:endParaRPr lang="zh-CN" altLang="en-US" sz="2000" dirty="0"/>
          </a:p>
          <a:p>
            <a:pPr marL="342900" indent="-342900" algn="l">
              <a:spcBef>
                <a:spcPts val="1200"/>
              </a:spcBef>
              <a:buFont typeface="Wingdings" panose="05000000000000000000" pitchFamily="2" charset="2"/>
              <a:buChar char="v"/>
            </a:pPr>
            <a:r>
              <a:rPr lang="zh-CN" altLang="en-US" sz="2400" dirty="0">
                <a:solidFill>
                  <a:srgbClr val="0033CC"/>
                </a:solidFill>
              </a:rPr>
              <a:t>步骤</a:t>
            </a:r>
            <a:r>
              <a:rPr lang="en-US" altLang="zh-CN" sz="2400" dirty="0">
                <a:solidFill>
                  <a:srgbClr val="0033CC"/>
                </a:solidFill>
              </a:rPr>
              <a:t>2</a:t>
            </a:r>
            <a:r>
              <a:rPr lang="zh-CN" altLang="en-US" sz="2400" dirty="0">
                <a:solidFill>
                  <a:srgbClr val="0033CC"/>
                </a:solidFill>
              </a:rPr>
              <a:t>：确定单一预期损失</a:t>
            </a:r>
            <a:r>
              <a:rPr lang="en-US" altLang="zh-CN" sz="2400" dirty="0">
                <a:solidFill>
                  <a:srgbClr val="0033CC"/>
                </a:solidFill>
              </a:rPr>
              <a:t>SLE</a:t>
            </a:r>
            <a:endParaRPr lang="zh-CN" altLang="en-US" sz="2400" dirty="0">
              <a:solidFill>
                <a:srgbClr val="0033CC"/>
              </a:solidFill>
            </a:endParaRPr>
          </a:p>
          <a:p>
            <a:pPr marL="742950" lvl="1" indent="-285750" algn="l">
              <a:spcBef>
                <a:spcPts val="1200"/>
              </a:spcBef>
              <a:buFont typeface="Wingdings" panose="05000000000000000000" pitchFamily="2" charset="2"/>
              <a:buChar char="§"/>
            </a:pPr>
            <a:r>
              <a:rPr lang="en-US" altLang="zh-CN" sz="2000" dirty="0"/>
              <a:t>SLE </a:t>
            </a:r>
            <a:r>
              <a:rPr lang="zh-CN" altLang="en-US" sz="2000" dirty="0"/>
              <a:t>是指发生一次风险引起的收入损失总额</a:t>
            </a:r>
            <a:endParaRPr lang="en-US" altLang="zh-CN" sz="2000" dirty="0"/>
          </a:p>
          <a:p>
            <a:pPr marL="742950" lvl="1" indent="-285750" algn="l">
              <a:spcBef>
                <a:spcPts val="1200"/>
              </a:spcBef>
              <a:buFont typeface="Wingdings" panose="05000000000000000000" pitchFamily="2" charset="2"/>
              <a:buChar char="§"/>
            </a:pPr>
            <a:r>
              <a:rPr lang="en-US" altLang="zh-CN" sz="2000" dirty="0"/>
              <a:t>SLE </a:t>
            </a:r>
            <a:r>
              <a:rPr lang="zh-CN" altLang="en-US" sz="2000" dirty="0"/>
              <a:t>是分配给单个事件的金额，代表一个具体威胁利用漏洞时将面临的潜在损失 （</a:t>
            </a:r>
            <a:r>
              <a:rPr lang="en-US" altLang="zh-CN" sz="2000" dirty="0"/>
              <a:t>SLE </a:t>
            </a:r>
            <a:r>
              <a:rPr lang="zh-CN" altLang="en-US" sz="2000" dirty="0"/>
              <a:t>类似于定性风险分析的影响）</a:t>
            </a:r>
            <a:endParaRPr lang="en-US" altLang="zh-CN" sz="2000" dirty="0"/>
          </a:p>
          <a:p>
            <a:pPr marL="742950" lvl="1" indent="-285750" algn="l">
              <a:spcBef>
                <a:spcPts val="1200"/>
              </a:spcBef>
              <a:buFont typeface="Wingdings" panose="05000000000000000000" pitchFamily="2" charset="2"/>
              <a:buChar char="§"/>
            </a:pPr>
            <a:r>
              <a:rPr lang="zh-CN" altLang="en-US" sz="2000" dirty="0">
                <a:solidFill>
                  <a:srgbClr val="FF0000"/>
                </a:solidFill>
              </a:rPr>
              <a:t>将资产价值与暴露系数相乘 </a:t>
            </a:r>
            <a:r>
              <a:rPr lang="en-US" altLang="zh-CN" sz="2000" dirty="0">
                <a:solidFill>
                  <a:srgbClr val="FF0000"/>
                </a:solidFill>
              </a:rPr>
              <a:t>(EF) </a:t>
            </a:r>
            <a:r>
              <a:rPr lang="zh-CN" altLang="en-US" sz="2000" dirty="0"/>
              <a:t>计算出</a:t>
            </a:r>
            <a:r>
              <a:rPr lang="zh-CN" altLang="en-US" sz="2000" dirty="0">
                <a:solidFill>
                  <a:srgbClr val="FF0000"/>
                </a:solidFill>
              </a:rPr>
              <a:t> </a:t>
            </a:r>
            <a:r>
              <a:rPr lang="en-US" altLang="zh-CN" sz="2000" dirty="0">
                <a:solidFill>
                  <a:srgbClr val="FF0000"/>
                </a:solidFill>
              </a:rPr>
              <a:t>SLE</a:t>
            </a:r>
            <a:r>
              <a:rPr lang="zh-CN" altLang="en-US" sz="2000" dirty="0"/>
              <a:t>。暴露系数表示为现实威胁对某个资产造成的损失百分比 </a:t>
            </a:r>
            <a:endParaRPr lang="zh-CN" altLang="en-US" sz="2000" dirty="0"/>
          </a:p>
          <a:p>
            <a:pPr marL="342900" indent="-342900" algn="l">
              <a:spcBef>
                <a:spcPts val="1200"/>
              </a:spcBef>
              <a:buFont typeface="Wingdings" panose="05000000000000000000" pitchFamily="2" charset="2"/>
              <a:buChar char="v"/>
            </a:pPr>
            <a:r>
              <a:rPr lang="zh-CN" altLang="en-US" sz="2400" dirty="0">
                <a:solidFill>
                  <a:srgbClr val="0033CC"/>
                </a:solidFill>
              </a:rPr>
              <a:t>步骤</a:t>
            </a:r>
            <a:r>
              <a:rPr lang="en-US" altLang="zh-CN" sz="2400" dirty="0">
                <a:solidFill>
                  <a:srgbClr val="0033CC"/>
                </a:solidFill>
              </a:rPr>
              <a:t>3</a:t>
            </a:r>
            <a:r>
              <a:rPr lang="zh-CN" altLang="en-US" sz="2400" dirty="0">
                <a:solidFill>
                  <a:srgbClr val="0033CC"/>
                </a:solidFill>
              </a:rPr>
              <a:t>：确定年发生率</a:t>
            </a:r>
            <a:r>
              <a:rPr lang="en-US" altLang="zh-CN" sz="2400" dirty="0">
                <a:solidFill>
                  <a:srgbClr val="0033CC"/>
                </a:solidFill>
              </a:rPr>
              <a:t>ARO</a:t>
            </a:r>
            <a:endParaRPr lang="en-US" altLang="zh-CN" sz="2400" dirty="0">
              <a:solidFill>
                <a:srgbClr val="0033CC"/>
              </a:solidFill>
            </a:endParaRPr>
          </a:p>
          <a:p>
            <a:pPr marL="742950" lvl="1" indent="-285750" algn="l">
              <a:spcBef>
                <a:spcPts val="1200"/>
              </a:spcBef>
              <a:buFont typeface="Wingdings" panose="05000000000000000000" pitchFamily="2" charset="2"/>
              <a:buChar char="§"/>
            </a:pPr>
            <a:r>
              <a:rPr lang="en-US" altLang="zh-CN" sz="2000" dirty="0"/>
              <a:t>ARO </a:t>
            </a:r>
            <a:r>
              <a:rPr lang="zh-CN" altLang="en-US" sz="2000" dirty="0"/>
              <a:t>是一年中风险发生的次数</a:t>
            </a:r>
            <a:endParaRPr lang="zh-CN" altLang="en-US" sz="2000" dirty="0"/>
          </a:p>
        </p:txBody>
      </p:sp>
      <p:sp>
        <p:nvSpPr>
          <p:cNvPr id="4" name="矩形 3"/>
          <p:cNvSpPr>
            <a:spLocks noChangeArrowheads="1"/>
          </p:cNvSpPr>
          <p:nvPr/>
        </p:nvSpPr>
        <p:spPr bwMode="auto">
          <a:xfrm>
            <a:off x="2424113" y="1400175"/>
            <a:ext cx="59753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000" b="1">
                <a:solidFill>
                  <a:srgbClr val="0033CC"/>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期望年度损失</a:t>
            </a:r>
            <a:r>
              <a:rPr lang="en-US" altLang="zh-CN" sz="2000" b="1">
                <a:solidFill>
                  <a:srgbClr val="0033CC"/>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ALE</a:t>
            </a:r>
            <a:r>
              <a:rPr lang="zh-CN" altLang="en-US" sz="2000" b="1">
                <a:solidFill>
                  <a:srgbClr val="0033CC"/>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a:t>
            </a:r>
            <a:r>
              <a:rPr lang="en-US" altLang="zh-CN" sz="2000" b="1">
                <a:solidFill>
                  <a:srgbClr val="0033CC"/>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Annual Loss Expectancy</a:t>
            </a:r>
            <a:r>
              <a:rPr lang="zh-CN" altLang="en-US" sz="2000" b="1">
                <a:solidFill>
                  <a:srgbClr val="0033CC"/>
                </a:solidFill>
                <a:latin typeface="Times New Roman" panose="02020603050405020304" pitchFamily="18" charset="0"/>
                <a:ea typeface="宋体" panose="02010600030101010101" pitchFamily="2" charset="-122"/>
                <a:cs typeface="Times New Roman" panose="02020603050405020304" pitchFamily="18" charset="0"/>
                <a:sym typeface="Arial" panose="020B0604020202020204" pitchFamily="34" charset="0"/>
              </a:rPr>
              <a:t>）</a:t>
            </a:r>
            <a:endParaRPr lang="zh-CN" altLang="en-US" sz="2000">
              <a:solidFill>
                <a:srgbClr val="0033CC"/>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87043">
                                            <p:txEl>
                                              <p:pRg st="0" end="0"/>
                                            </p:txEl>
                                          </p:spTgt>
                                        </p:tgtEl>
                                        <p:attrNameLst>
                                          <p:attrName>style.visibility</p:attrName>
                                        </p:attrNameLst>
                                      </p:cBhvr>
                                      <p:to>
                                        <p:strVal val="visible"/>
                                      </p:to>
                                    </p:set>
                                    <p:anim calcmode="lin" valueType="num">
                                      <p:cBhvr>
                                        <p:cTn id="13" dur="500" fill="hold"/>
                                        <p:tgtEl>
                                          <p:spTgt spid="8704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8704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8704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87043">
                                            <p:txEl>
                                              <p:pRg st="1" end="1"/>
                                            </p:txEl>
                                          </p:spTgt>
                                        </p:tgtEl>
                                        <p:attrNameLst>
                                          <p:attrName>style.visibility</p:attrName>
                                        </p:attrNameLst>
                                      </p:cBhvr>
                                      <p:to>
                                        <p:strVal val="visible"/>
                                      </p:to>
                                    </p:set>
                                    <p:anim calcmode="lin" valueType="num">
                                      <p:cBhvr>
                                        <p:cTn id="20" dur="500" fill="hold"/>
                                        <p:tgtEl>
                                          <p:spTgt spid="87043">
                                            <p:txEl>
                                              <p:pRg st="1" end="1"/>
                                            </p:txEl>
                                          </p:spTgt>
                                        </p:tgtEl>
                                        <p:attrNameLst>
                                          <p:attrName>ppt_w</p:attrName>
                                        </p:attrNameLst>
                                      </p:cBhvr>
                                      <p:tavLst>
                                        <p:tav tm="0">
                                          <p:val>
                                            <p:fltVal val="0"/>
                                          </p:val>
                                        </p:tav>
                                        <p:tav tm="100000">
                                          <p:val>
                                            <p:strVal val="#ppt_w"/>
                                          </p:val>
                                        </p:tav>
                                      </p:tavLst>
                                    </p:anim>
                                    <p:anim calcmode="lin" valueType="num">
                                      <p:cBhvr>
                                        <p:cTn id="21" dur="500" fill="hold"/>
                                        <p:tgtEl>
                                          <p:spTgt spid="87043">
                                            <p:txEl>
                                              <p:pRg st="1" end="1"/>
                                            </p:txEl>
                                          </p:spTgt>
                                        </p:tgtEl>
                                        <p:attrNameLst>
                                          <p:attrName>ppt_h</p:attrName>
                                        </p:attrNameLst>
                                      </p:cBhvr>
                                      <p:tavLst>
                                        <p:tav tm="0">
                                          <p:val>
                                            <p:fltVal val="0"/>
                                          </p:val>
                                        </p:tav>
                                        <p:tav tm="100000">
                                          <p:val>
                                            <p:strVal val="#ppt_h"/>
                                          </p:val>
                                        </p:tav>
                                      </p:tavLst>
                                    </p:anim>
                                    <p:animEffect transition="in" filter="fade">
                                      <p:cBhvr>
                                        <p:cTn id="22" dur="500"/>
                                        <p:tgtEl>
                                          <p:spTgt spid="87043">
                                            <p:txEl>
                                              <p:pRg st="1" end="1"/>
                                            </p:txEl>
                                          </p:spTgt>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87043">
                                            <p:txEl>
                                              <p:pRg st="2" end="2"/>
                                            </p:txEl>
                                          </p:spTgt>
                                        </p:tgtEl>
                                        <p:attrNameLst>
                                          <p:attrName>style.visibility</p:attrName>
                                        </p:attrNameLst>
                                      </p:cBhvr>
                                      <p:to>
                                        <p:strVal val="visible"/>
                                      </p:to>
                                    </p:set>
                                    <p:anim calcmode="lin" valueType="num">
                                      <p:cBhvr>
                                        <p:cTn id="25" dur="500" fill="hold"/>
                                        <p:tgtEl>
                                          <p:spTgt spid="87043">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87043">
                                            <p:txEl>
                                              <p:pRg st="2" end="2"/>
                                            </p:txEl>
                                          </p:spTgt>
                                        </p:tgtEl>
                                        <p:attrNameLst>
                                          <p:attrName>ppt_h</p:attrName>
                                        </p:attrNameLst>
                                      </p:cBhvr>
                                      <p:tavLst>
                                        <p:tav tm="0">
                                          <p:val>
                                            <p:fltVal val="0"/>
                                          </p:val>
                                        </p:tav>
                                        <p:tav tm="100000">
                                          <p:val>
                                            <p:strVal val="#ppt_h"/>
                                          </p:val>
                                        </p:tav>
                                      </p:tavLst>
                                    </p:anim>
                                    <p:animEffect transition="in" filter="fade">
                                      <p:cBhvr>
                                        <p:cTn id="27" dur="500"/>
                                        <p:tgtEl>
                                          <p:spTgt spid="87043">
                                            <p:txEl>
                                              <p:pRg st="2" end="2"/>
                                            </p:txEl>
                                          </p:spTgt>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87043">
                                            <p:txEl>
                                              <p:pRg st="3" end="3"/>
                                            </p:txEl>
                                          </p:spTgt>
                                        </p:tgtEl>
                                        <p:attrNameLst>
                                          <p:attrName>style.visibility</p:attrName>
                                        </p:attrNameLst>
                                      </p:cBhvr>
                                      <p:to>
                                        <p:strVal val="visible"/>
                                      </p:to>
                                    </p:set>
                                    <p:anim calcmode="lin" valueType="num">
                                      <p:cBhvr>
                                        <p:cTn id="30" dur="500" fill="hold"/>
                                        <p:tgtEl>
                                          <p:spTgt spid="87043">
                                            <p:txEl>
                                              <p:pRg st="3" end="3"/>
                                            </p:txEl>
                                          </p:spTgt>
                                        </p:tgtEl>
                                        <p:attrNameLst>
                                          <p:attrName>ppt_w</p:attrName>
                                        </p:attrNameLst>
                                      </p:cBhvr>
                                      <p:tavLst>
                                        <p:tav tm="0">
                                          <p:val>
                                            <p:fltVal val="0"/>
                                          </p:val>
                                        </p:tav>
                                        <p:tav tm="100000">
                                          <p:val>
                                            <p:strVal val="#ppt_w"/>
                                          </p:val>
                                        </p:tav>
                                      </p:tavLst>
                                    </p:anim>
                                    <p:anim calcmode="lin" valueType="num">
                                      <p:cBhvr>
                                        <p:cTn id="31" dur="500" fill="hold"/>
                                        <p:tgtEl>
                                          <p:spTgt spid="87043">
                                            <p:txEl>
                                              <p:pRg st="3" end="3"/>
                                            </p:txEl>
                                          </p:spTgt>
                                        </p:tgtEl>
                                        <p:attrNameLst>
                                          <p:attrName>ppt_h</p:attrName>
                                        </p:attrNameLst>
                                      </p:cBhvr>
                                      <p:tavLst>
                                        <p:tav tm="0">
                                          <p:val>
                                            <p:fltVal val="0"/>
                                          </p:val>
                                        </p:tav>
                                        <p:tav tm="100000">
                                          <p:val>
                                            <p:strVal val="#ppt_h"/>
                                          </p:val>
                                        </p:tav>
                                      </p:tavLst>
                                    </p:anim>
                                    <p:animEffect transition="in" filter="fade">
                                      <p:cBhvr>
                                        <p:cTn id="32" dur="500"/>
                                        <p:tgtEl>
                                          <p:spTgt spid="87043">
                                            <p:txEl>
                                              <p:pRg st="3" end="3"/>
                                            </p:txEl>
                                          </p:spTgt>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87043">
                                            <p:txEl>
                                              <p:pRg st="4" end="4"/>
                                            </p:txEl>
                                          </p:spTgt>
                                        </p:tgtEl>
                                        <p:attrNameLst>
                                          <p:attrName>style.visibility</p:attrName>
                                        </p:attrNameLst>
                                      </p:cBhvr>
                                      <p:to>
                                        <p:strVal val="visible"/>
                                      </p:to>
                                    </p:set>
                                    <p:anim calcmode="lin" valueType="num">
                                      <p:cBhvr>
                                        <p:cTn id="35" dur="500" fill="hold"/>
                                        <p:tgtEl>
                                          <p:spTgt spid="8704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8704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8704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87043">
                                            <p:txEl>
                                              <p:pRg st="5" end="5"/>
                                            </p:txEl>
                                          </p:spTgt>
                                        </p:tgtEl>
                                        <p:attrNameLst>
                                          <p:attrName>style.visibility</p:attrName>
                                        </p:attrNameLst>
                                      </p:cBhvr>
                                      <p:to>
                                        <p:strVal val="visible"/>
                                      </p:to>
                                    </p:set>
                                    <p:anim calcmode="lin" valueType="num">
                                      <p:cBhvr>
                                        <p:cTn id="42" dur="500" fill="hold"/>
                                        <p:tgtEl>
                                          <p:spTgt spid="87043">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87043">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87043">
                                            <p:txEl>
                                              <p:pRg st="5" end="5"/>
                                            </p:txEl>
                                          </p:spTgt>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87043">
                                            <p:txEl>
                                              <p:pRg st="6" end="6"/>
                                            </p:txEl>
                                          </p:spTgt>
                                        </p:tgtEl>
                                        <p:attrNameLst>
                                          <p:attrName>style.visibility</p:attrName>
                                        </p:attrNameLst>
                                      </p:cBhvr>
                                      <p:to>
                                        <p:strVal val="visible"/>
                                      </p:to>
                                    </p:set>
                                    <p:anim calcmode="lin" valueType="num">
                                      <p:cBhvr>
                                        <p:cTn id="47" dur="500" fill="hold"/>
                                        <p:tgtEl>
                                          <p:spTgt spid="87043">
                                            <p:txEl>
                                              <p:pRg st="6" end="6"/>
                                            </p:txEl>
                                          </p:spTgt>
                                        </p:tgtEl>
                                        <p:attrNameLst>
                                          <p:attrName>ppt_w</p:attrName>
                                        </p:attrNameLst>
                                      </p:cBhvr>
                                      <p:tavLst>
                                        <p:tav tm="0">
                                          <p:val>
                                            <p:fltVal val="0"/>
                                          </p:val>
                                        </p:tav>
                                        <p:tav tm="100000">
                                          <p:val>
                                            <p:strVal val="#ppt_w"/>
                                          </p:val>
                                        </p:tav>
                                      </p:tavLst>
                                    </p:anim>
                                    <p:anim calcmode="lin" valueType="num">
                                      <p:cBhvr>
                                        <p:cTn id="48" dur="500" fill="hold"/>
                                        <p:tgtEl>
                                          <p:spTgt spid="87043">
                                            <p:txEl>
                                              <p:pRg st="6" end="6"/>
                                            </p:txEl>
                                          </p:spTgt>
                                        </p:tgtEl>
                                        <p:attrNameLst>
                                          <p:attrName>ppt_h</p:attrName>
                                        </p:attrNameLst>
                                      </p:cBhvr>
                                      <p:tavLst>
                                        <p:tav tm="0">
                                          <p:val>
                                            <p:fltVal val="0"/>
                                          </p:val>
                                        </p:tav>
                                        <p:tav tm="100000">
                                          <p:val>
                                            <p:strVal val="#ppt_h"/>
                                          </p:val>
                                        </p:tav>
                                      </p:tavLst>
                                    </p:anim>
                                    <p:animEffect transition="in" filter="fade">
                                      <p:cBhvr>
                                        <p:cTn id="49" dur="500"/>
                                        <p:tgtEl>
                                          <p:spTgt spid="870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P spid="4"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内容占位符 2"/>
          <p:cNvSpPr>
            <a:spLocks noGrp="1" noChangeArrowheads="1"/>
          </p:cNvSpPr>
          <p:nvPr>
            <p:ph type="subTitle" idx="1"/>
          </p:nvPr>
        </p:nvSpPr>
        <p:spPr>
          <a:xfrm>
            <a:off x="2063750" y="1557338"/>
            <a:ext cx="8208963" cy="4510087"/>
          </a:xfrm>
        </p:spPr>
        <p:txBody>
          <a:bodyPr/>
          <a:lstStyle/>
          <a:p>
            <a:pPr marL="342900" indent="-342900" algn="l">
              <a:spcBef>
                <a:spcPts val="1200"/>
              </a:spcBef>
              <a:buFont typeface="Wingdings" panose="05000000000000000000" pitchFamily="2" charset="2"/>
              <a:buChar char="v"/>
              <a:defRPr/>
            </a:pPr>
            <a:r>
              <a:rPr lang="zh-CN" altLang="en-US" sz="2400" dirty="0">
                <a:solidFill>
                  <a:srgbClr val="0033CC"/>
                </a:solidFill>
                <a:latin typeface="+mn-ea"/>
              </a:rPr>
              <a:t>步骤</a:t>
            </a:r>
            <a:r>
              <a:rPr lang="en-US" altLang="zh-CN" sz="2400" dirty="0">
                <a:solidFill>
                  <a:srgbClr val="0033CC"/>
                </a:solidFill>
                <a:latin typeface="+mn-ea"/>
              </a:rPr>
              <a:t>4</a:t>
            </a:r>
            <a:r>
              <a:rPr lang="zh-CN" altLang="en-US" sz="2400" dirty="0">
                <a:solidFill>
                  <a:srgbClr val="0033CC"/>
                </a:solidFill>
                <a:latin typeface="+mn-ea"/>
              </a:rPr>
              <a:t>：确定年预期损失</a:t>
            </a:r>
            <a:r>
              <a:rPr lang="en-US" altLang="zh-CN" sz="2800" dirty="0">
                <a:solidFill>
                  <a:srgbClr val="FF0000"/>
                </a:solidFill>
              </a:rPr>
              <a:t>ALE</a:t>
            </a:r>
            <a:endParaRPr lang="en-US" altLang="zh-CN" sz="2800" dirty="0">
              <a:solidFill>
                <a:srgbClr val="FF0000"/>
              </a:solidFill>
            </a:endParaRPr>
          </a:p>
          <a:p>
            <a:pPr marL="742950" lvl="1" indent="-285750" algn="l">
              <a:spcBef>
                <a:spcPts val="1200"/>
              </a:spcBef>
              <a:buFont typeface="Wingdings" panose="05000000000000000000" pitchFamily="2" charset="2"/>
              <a:buChar char="§"/>
              <a:defRPr/>
            </a:pPr>
            <a:r>
              <a:rPr lang="en-US" altLang="zh-CN" sz="2000" dirty="0"/>
              <a:t>ALE </a:t>
            </a:r>
            <a:r>
              <a:rPr lang="zh-CN" altLang="en-US" sz="2000" dirty="0"/>
              <a:t>是不采取任何减轻风险的措施在一年中可能损失的总金额。 </a:t>
            </a:r>
            <a:r>
              <a:rPr lang="en-US" altLang="zh-CN" sz="2000" dirty="0"/>
              <a:t>SLE </a:t>
            </a:r>
            <a:r>
              <a:rPr lang="zh-CN" altLang="en-US" sz="2000" dirty="0"/>
              <a:t>乘以 </a:t>
            </a:r>
            <a:r>
              <a:rPr lang="en-US" altLang="zh-CN" sz="2000" dirty="0"/>
              <a:t>ARO </a:t>
            </a:r>
            <a:r>
              <a:rPr lang="zh-CN" altLang="en-US" sz="2000" dirty="0"/>
              <a:t>即可计算出该值（</a:t>
            </a:r>
            <a:r>
              <a:rPr lang="en-US" altLang="zh-CN" sz="2000" dirty="0"/>
              <a:t>ALE </a:t>
            </a:r>
            <a:r>
              <a:rPr lang="zh-CN" altLang="en-US" sz="2000" dirty="0"/>
              <a:t>类似于定性风险分析的相对级别）</a:t>
            </a:r>
            <a:endParaRPr lang="zh-CN" altLang="en-US" sz="2000" dirty="0"/>
          </a:p>
          <a:p>
            <a:pPr marL="742950" lvl="1" indent="-285750" algn="l">
              <a:spcBef>
                <a:spcPts val="1200"/>
              </a:spcBef>
              <a:buFont typeface="Wingdings" panose="05000000000000000000" pitchFamily="2" charset="2"/>
              <a:buChar char="§"/>
              <a:defRPr/>
            </a:pPr>
            <a:r>
              <a:rPr lang="en-US" altLang="zh-CN" sz="2400" dirty="0">
                <a:solidFill>
                  <a:srgbClr val="FF0000"/>
                </a:solidFill>
                <a:latin typeface="Times New Roman" panose="02020603050405020304" pitchFamily="18" charset="0"/>
                <a:cs typeface="Times New Roman" panose="02020603050405020304" pitchFamily="18" charset="0"/>
              </a:rPr>
              <a:t>ALE=SLE*ARO=AV*EF*ARO</a:t>
            </a:r>
            <a:endParaRPr lang="en-US" altLang="zh-CN" sz="2400" dirty="0">
              <a:solidFill>
                <a:srgbClr val="FF0000"/>
              </a:solidFill>
              <a:latin typeface="Times New Roman" panose="02020603050405020304" pitchFamily="18" charset="0"/>
              <a:cs typeface="Times New Roman" panose="02020603050405020304" pitchFamily="18" charset="0"/>
            </a:endParaRPr>
          </a:p>
          <a:p>
            <a:pPr marL="342900" indent="-342900" algn="l">
              <a:spcBef>
                <a:spcPts val="1200"/>
              </a:spcBef>
              <a:buFont typeface="Wingdings" panose="05000000000000000000" pitchFamily="2" charset="2"/>
              <a:buChar char="v"/>
              <a:defRPr/>
            </a:pPr>
            <a:r>
              <a:rPr lang="zh-CN" altLang="en-US" sz="2400" dirty="0">
                <a:solidFill>
                  <a:srgbClr val="0033CC"/>
                </a:solidFill>
                <a:latin typeface="+mn-ea"/>
              </a:rPr>
              <a:t>步骤</a:t>
            </a:r>
            <a:r>
              <a:rPr lang="en-US" altLang="zh-CN" sz="2400" dirty="0">
                <a:solidFill>
                  <a:srgbClr val="0033CC"/>
                </a:solidFill>
                <a:latin typeface="+mn-ea"/>
              </a:rPr>
              <a:t>5</a:t>
            </a:r>
            <a:r>
              <a:rPr lang="zh-CN" altLang="en-US" sz="2400" dirty="0">
                <a:solidFill>
                  <a:srgbClr val="0033CC"/>
                </a:solidFill>
                <a:latin typeface="+mn-ea"/>
              </a:rPr>
              <a:t>：确定控制成本</a:t>
            </a:r>
            <a:endParaRPr lang="zh-CN" altLang="en-US" sz="2400" dirty="0">
              <a:solidFill>
                <a:srgbClr val="0033CC"/>
              </a:solidFill>
              <a:latin typeface="+mn-ea"/>
            </a:endParaRPr>
          </a:p>
          <a:p>
            <a:pPr marL="742950" lvl="1" indent="-285750" algn="l">
              <a:spcBef>
                <a:spcPts val="1200"/>
              </a:spcBef>
              <a:buFont typeface="Wingdings" panose="05000000000000000000" pitchFamily="2" charset="2"/>
              <a:buChar char="§"/>
              <a:defRPr/>
            </a:pPr>
            <a:r>
              <a:rPr lang="zh-CN" altLang="en-US" sz="2000" dirty="0"/>
              <a:t>控制成本就是为了规避企业所存在风险的发生而应投入的费用</a:t>
            </a:r>
            <a:endParaRPr lang="zh-CN" altLang="en-US" sz="2000" dirty="0"/>
          </a:p>
          <a:p>
            <a:pPr marL="342900" indent="-342900" algn="l">
              <a:spcBef>
                <a:spcPts val="1200"/>
              </a:spcBef>
              <a:buFont typeface="Wingdings" panose="05000000000000000000" pitchFamily="2" charset="2"/>
              <a:buChar char="v"/>
              <a:defRPr/>
            </a:pPr>
            <a:r>
              <a:rPr lang="zh-CN" altLang="en-US" sz="2400" dirty="0">
                <a:solidFill>
                  <a:srgbClr val="0033CC"/>
                </a:solidFill>
                <a:latin typeface="+mn-ea"/>
              </a:rPr>
              <a:t>步骤</a:t>
            </a:r>
            <a:r>
              <a:rPr lang="en-US" altLang="zh-CN" sz="2400" dirty="0">
                <a:solidFill>
                  <a:srgbClr val="0033CC"/>
                </a:solidFill>
                <a:latin typeface="+mn-ea"/>
              </a:rPr>
              <a:t>6</a:t>
            </a:r>
            <a:r>
              <a:rPr lang="zh-CN" altLang="en-US" sz="2400" dirty="0">
                <a:solidFill>
                  <a:srgbClr val="0033CC"/>
                </a:solidFill>
                <a:latin typeface="+mn-ea"/>
              </a:rPr>
              <a:t>：安全投资收益</a:t>
            </a:r>
            <a:r>
              <a:rPr lang="en-US" altLang="zh-CN" sz="2800" dirty="0"/>
              <a:t>ROSI</a:t>
            </a:r>
            <a:endParaRPr lang="zh-CN" altLang="en-US" sz="2800" dirty="0"/>
          </a:p>
          <a:p>
            <a:pPr marL="742950" lvl="1" indent="-285750" algn="l">
              <a:spcBef>
                <a:spcPts val="1200"/>
              </a:spcBef>
              <a:buFont typeface="Wingdings" panose="05000000000000000000" pitchFamily="2" charset="2"/>
              <a:buChar char="§"/>
              <a:defRPr/>
            </a:pPr>
            <a:r>
              <a:rPr lang="en-US" altLang="zh-CN" sz="1800" b="1" dirty="0">
                <a:solidFill>
                  <a:srgbClr val="FF0000"/>
                </a:solidFill>
                <a:latin typeface="Times New Roman" panose="02020603050405020304" pitchFamily="18" charset="0"/>
                <a:cs typeface="Times New Roman" panose="02020603050405020304" pitchFamily="18" charset="0"/>
              </a:rPr>
              <a:t>ROSI = (</a:t>
            </a:r>
            <a:r>
              <a:rPr lang="zh-CN" altLang="en-US" sz="1800" b="1" dirty="0">
                <a:solidFill>
                  <a:srgbClr val="FF0000"/>
                </a:solidFill>
                <a:latin typeface="Times New Roman" panose="02020603050405020304" pitchFamily="18" charset="0"/>
                <a:cs typeface="Times New Roman" panose="02020603050405020304" pitchFamily="18" charset="0"/>
              </a:rPr>
              <a:t>实施控制前的</a:t>
            </a:r>
            <a:r>
              <a:rPr lang="en-US" altLang="zh-CN" sz="1800" b="1" dirty="0">
                <a:solidFill>
                  <a:srgbClr val="FF0000"/>
                </a:solidFill>
                <a:latin typeface="Times New Roman" panose="02020603050405020304" pitchFamily="18" charset="0"/>
                <a:cs typeface="Times New Roman" panose="02020603050405020304" pitchFamily="18" charset="0"/>
              </a:rPr>
              <a:t>ALE</a:t>
            </a:r>
            <a:r>
              <a:rPr lang="zh-CN" altLang="en-US" sz="1800" b="1" dirty="0">
                <a:solidFill>
                  <a:srgbClr val="FF0000"/>
                </a:solidFill>
                <a:latin typeface="Times New Roman" panose="02020603050405020304" pitchFamily="18" charset="0"/>
                <a:cs typeface="Times New Roman" panose="02020603050405020304" pitchFamily="18" charset="0"/>
              </a:rPr>
              <a:t>）</a:t>
            </a:r>
            <a:r>
              <a:rPr lang="en-US" altLang="zh-CN" sz="1800" b="1" dirty="0">
                <a:solidFill>
                  <a:srgbClr val="FF0000"/>
                </a:solidFill>
                <a:latin typeface="Times New Roman" panose="02020603050405020304" pitchFamily="18" charset="0"/>
                <a:cs typeface="Times New Roman" panose="02020603050405020304" pitchFamily="18" charset="0"/>
              </a:rPr>
              <a:t>–</a:t>
            </a:r>
            <a:r>
              <a:rPr lang="zh-CN" altLang="en-US" sz="1800" b="1" dirty="0">
                <a:solidFill>
                  <a:srgbClr val="FF0000"/>
                </a:solidFill>
                <a:latin typeface="Times New Roman" panose="02020603050405020304" pitchFamily="18" charset="0"/>
                <a:cs typeface="Times New Roman" panose="02020603050405020304" pitchFamily="18" charset="0"/>
              </a:rPr>
              <a:t>（实施控制后的</a:t>
            </a:r>
            <a:r>
              <a:rPr lang="en-US" altLang="zh-CN" sz="1800" b="1" dirty="0">
                <a:solidFill>
                  <a:srgbClr val="FF0000"/>
                </a:solidFill>
                <a:latin typeface="Times New Roman" panose="02020603050405020304" pitchFamily="18" charset="0"/>
                <a:cs typeface="Times New Roman" panose="02020603050405020304" pitchFamily="18" charset="0"/>
              </a:rPr>
              <a:t>ALE</a:t>
            </a:r>
            <a:r>
              <a:rPr lang="zh-CN" altLang="en-US" sz="1800" b="1" dirty="0">
                <a:solidFill>
                  <a:srgbClr val="FF0000"/>
                </a:solidFill>
                <a:latin typeface="Times New Roman" panose="02020603050405020304" pitchFamily="18" charset="0"/>
                <a:cs typeface="Times New Roman" panose="02020603050405020304" pitchFamily="18" charset="0"/>
              </a:rPr>
              <a:t>）</a:t>
            </a:r>
            <a:r>
              <a:rPr lang="en-US" altLang="zh-CN" sz="1800" b="1" dirty="0">
                <a:solidFill>
                  <a:srgbClr val="FF0000"/>
                </a:solidFill>
                <a:latin typeface="Times New Roman" panose="02020603050405020304" pitchFamily="18" charset="0"/>
                <a:cs typeface="Times New Roman" panose="02020603050405020304" pitchFamily="18" charset="0"/>
              </a:rPr>
              <a:t>–</a:t>
            </a:r>
            <a:r>
              <a:rPr lang="zh-CN" altLang="en-US" sz="1800" b="1" dirty="0">
                <a:solidFill>
                  <a:srgbClr val="FF0000"/>
                </a:solidFill>
                <a:latin typeface="Times New Roman" panose="02020603050405020304" pitchFamily="18" charset="0"/>
                <a:cs typeface="Times New Roman" panose="02020603050405020304" pitchFamily="18" charset="0"/>
              </a:rPr>
              <a:t>（年控制成本）</a:t>
            </a:r>
            <a:endParaRPr lang="zh-CN" altLang="en-US" sz="1800" b="1" dirty="0">
              <a:solidFill>
                <a:srgbClr val="FF0000"/>
              </a:solidFill>
              <a:latin typeface="Times New Roman" panose="02020603050405020304" pitchFamily="18" charset="0"/>
              <a:cs typeface="Times New Roman" panose="02020603050405020304" pitchFamily="18" charset="0"/>
            </a:endParaRPr>
          </a:p>
        </p:txBody>
      </p:sp>
      <p:sp>
        <p:nvSpPr>
          <p:cNvPr id="113667" name="标题 1"/>
          <p:cNvSpPr>
            <a:spLocks noGrp="1" noChangeArrowheads="1"/>
          </p:cNvSpPr>
          <p:nvPr>
            <p:ph type="ctrTitle"/>
          </p:nvPr>
        </p:nvSpPr>
        <p:spPr>
          <a:xfrm>
            <a:off x="2351088" y="755650"/>
            <a:ext cx="7812087" cy="487363"/>
          </a:xfrm>
        </p:spPr>
        <p:txBody>
          <a:bodyPr anchor="ctr"/>
          <a:lstStyle/>
          <a:p>
            <a:pPr algn="l"/>
            <a:r>
              <a:rPr lang="zh-CN" altLang="en-US" sz="3200">
                <a:solidFill>
                  <a:srgbClr val="FF0000"/>
                </a:solidFill>
              </a:rPr>
              <a:t>定量风险分析</a:t>
            </a:r>
            <a:r>
              <a:rPr lang="en-US" altLang="zh-CN" sz="3200">
                <a:solidFill>
                  <a:srgbClr val="FF0000"/>
                </a:solidFill>
              </a:rPr>
              <a:t>——</a:t>
            </a:r>
            <a:r>
              <a:rPr lang="zh-CN" altLang="en-US" sz="3200">
                <a:solidFill>
                  <a:srgbClr val="FF0000"/>
                </a:solidFill>
                <a:sym typeface="Arial" panose="020B0604020202020204" pitchFamily="34" charset="0"/>
              </a:rPr>
              <a:t>期望年度损失</a:t>
            </a:r>
            <a:r>
              <a:rPr lang="zh-CN" altLang="en-US" sz="3200">
                <a:solidFill>
                  <a:srgbClr val="FF0000"/>
                </a:solidFill>
              </a:rPr>
              <a:t>法（续）</a:t>
            </a:r>
            <a:endParaRPr lang="zh-CN" altLang="en-US" sz="3200">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8066">
                                            <p:txEl>
                                              <p:pRg st="0" end="0"/>
                                            </p:txEl>
                                          </p:spTgt>
                                        </p:tgtEl>
                                        <p:attrNameLst>
                                          <p:attrName>style.visibility</p:attrName>
                                        </p:attrNameLst>
                                      </p:cBhvr>
                                      <p:to>
                                        <p:strVal val="visible"/>
                                      </p:to>
                                    </p:set>
                                    <p:anim calcmode="lin" valueType="num">
                                      <p:cBhvr>
                                        <p:cTn id="7" dur="500" fill="hold"/>
                                        <p:tgtEl>
                                          <p:spTgt spid="8806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806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8066">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8066">
                                            <p:txEl>
                                              <p:pRg st="1" end="1"/>
                                            </p:txEl>
                                          </p:spTgt>
                                        </p:tgtEl>
                                        <p:attrNameLst>
                                          <p:attrName>style.visibility</p:attrName>
                                        </p:attrNameLst>
                                      </p:cBhvr>
                                      <p:to>
                                        <p:strVal val="visible"/>
                                      </p:to>
                                    </p:set>
                                    <p:anim calcmode="lin" valueType="num">
                                      <p:cBhvr>
                                        <p:cTn id="12" dur="500" fill="hold"/>
                                        <p:tgtEl>
                                          <p:spTgt spid="88066">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88066">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88066">
                                            <p:txEl>
                                              <p:pRg st="1" end="1"/>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88066">
                                            <p:txEl>
                                              <p:pRg st="2" end="2"/>
                                            </p:txEl>
                                          </p:spTgt>
                                        </p:tgtEl>
                                        <p:attrNameLst>
                                          <p:attrName>style.visibility</p:attrName>
                                        </p:attrNameLst>
                                      </p:cBhvr>
                                      <p:to>
                                        <p:strVal val="visible"/>
                                      </p:to>
                                    </p:set>
                                    <p:anim calcmode="lin" valueType="num">
                                      <p:cBhvr>
                                        <p:cTn id="17" dur="500" fill="hold"/>
                                        <p:tgtEl>
                                          <p:spTgt spid="88066">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88066">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88066">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88066">
                                            <p:txEl>
                                              <p:pRg st="3" end="3"/>
                                            </p:txEl>
                                          </p:spTgt>
                                        </p:tgtEl>
                                        <p:attrNameLst>
                                          <p:attrName>style.visibility</p:attrName>
                                        </p:attrNameLst>
                                      </p:cBhvr>
                                      <p:to>
                                        <p:strVal val="visible"/>
                                      </p:to>
                                    </p:set>
                                    <p:anim calcmode="lin" valueType="num">
                                      <p:cBhvr>
                                        <p:cTn id="24" dur="500" fill="hold"/>
                                        <p:tgtEl>
                                          <p:spTgt spid="88066">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88066">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88066">
                                            <p:txEl>
                                              <p:pRg st="3" end="3"/>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88066">
                                            <p:txEl>
                                              <p:pRg st="4" end="4"/>
                                            </p:txEl>
                                          </p:spTgt>
                                        </p:tgtEl>
                                        <p:attrNameLst>
                                          <p:attrName>style.visibility</p:attrName>
                                        </p:attrNameLst>
                                      </p:cBhvr>
                                      <p:to>
                                        <p:strVal val="visible"/>
                                      </p:to>
                                    </p:set>
                                    <p:anim calcmode="lin" valueType="num">
                                      <p:cBhvr>
                                        <p:cTn id="29" dur="500" fill="hold"/>
                                        <p:tgtEl>
                                          <p:spTgt spid="88066">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88066">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88066">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8066">
                                            <p:txEl>
                                              <p:pRg st="5" end="5"/>
                                            </p:txEl>
                                          </p:spTgt>
                                        </p:tgtEl>
                                        <p:attrNameLst>
                                          <p:attrName>style.visibility</p:attrName>
                                        </p:attrNameLst>
                                      </p:cBhvr>
                                      <p:to>
                                        <p:strVal val="visible"/>
                                      </p:to>
                                    </p:set>
                                    <p:anim calcmode="lin" valueType="num">
                                      <p:cBhvr>
                                        <p:cTn id="36" dur="500" fill="hold"/>
                                        <p:tgtEl>
                                          <p:spTgt spid="88066">
                                            <p:txEl>
                                              <p:pRg st="5" end="5"/>
                                            </p:txEl>
                                          </p:spTgt>
                                        </p:tgtEl>
                                        <p:attrNameLst>
                                          <p:attrName>ppt_w</p:attrName>
                                        </p:attrNameLst>
                                      </p:cBhvr>
                                      <p:tavLst>
                                        <p:tav tm="0">
                                          <p:val>
                                            <p:fltVal val="0"/>
                                          </p:val>
                                        </p:tav>
                                        <p:tav tm="100000">
                                          <p:val>
                                            <p:strVal val="#ppt_w"/>
                                          </p:val>
                                        </p:tav>
                                      </p:tavLst>
                                    </p:anim>
                                    <p:anim calcmode="lin" valueType="num">
                                      <p:cBhvr>
                                        <p:cTn id="37" dur="500" fill="hold"/>
                                        <p:tgtEl>
                                          <p:spTgt spid="88066">
                                            <p:txEl>
                                              <p:pRg st="5" end="5"/>
                                            </p:txEl>
                                          </p:spTgt>
                                        </p:tgtEl>
                                        <p:attrNameLst>
                                          <p:attrName>ppt_h</p:attrName>
                                        </p:attrNameLst>
                                      </p:cBhvr>
                                      <p:tavLst>
                                        <p:tav tm="0">
                                          <p:val>
                                            <p:fltVal val="0"/>
                                          </p:val>
                                        </p:tav>
                                        <p:tav tm="100000">
                                          <p:val>
                                            <p:strVal val="#ppt_h"/>
                                          </p:val>
                                        </p:tav>
                                      </p:tavLst>
                                    </p:anim>
                                    <p:animEffect transition="in" filter="fade">
                                      <p:cBhvr>
                                        <p:cTn id="38" dur="500"/>
                                        <p:tgtEl>
                                          <p:spTgt spid="88066">
                                            <p:txEl>
                                              <p:pRg st="5" end="5"/>
                                            </p:txEl>
                                          </p:spTgt>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88066">
                                            <p:txEl>
                                              <p:pRg st="6" end="6"/>
                                            </p:txEl>
                                          </p:spTgt>
                                        </p:tgtEl>
                                        <p:attrNameLst>
                                          <p:attrName>style.visibility</p:attrName>
                                        </p:attrNameLst>
                                      </p:cBhvr>
                                      <p:to>
                                        <p:strVal val="visible"/>
                                      </p:to>
                                    </p:set>
                                    <p:anim calcmode="lin" valueType="num">
                                      <p:cBhvr>
                                        <p:cTn id="41" dur="500" fill="hold"/>
                                        <p:tgtEl>
                                          <p:spTgt spid="88066">
                                            <p:txEl>
                                              <p:pRg st="6" end="6"/>
                                            </p:txEl>
                                          </p:spTgt>
                                        </p:tgtEl>
                                        <p:attrNameLst>
                                          <p:attrName>ppt_w</p:attrName>
                                        </p:attrNameLst>
                                      </p:cBhvr>
                                      <p:tavLst>
                                        <p:tav tm="0">
                                          <p:val>
                                            <p:fltVal val="0"/>
                                          </p:val>
                                        </p:tav>
                                        <p:tav tm="100000">
                                          <p:val>
                                            <p:strVal val="#ppt_w"/>
                                          </p:val>
                                        </p:tav>
                                      </p:tavLst>
                                    </p:anim>
                                    <p:anim calcmode="lin" valueType="num">
                                      <p:cBhvr>
                                        <p:cTn id="42" dur="500" fill="hold"/>
                                        <p:tgtEl>
                                          <p:spTgt spid="88066">
                                            <p:txEl>
                                              <p:pRg st="6" end="6"/>
                                            </p:txEl>
                                          </p:spTgt>
                                        </p:tgtEl>
                                        <p:attrNameLst>
                                          <p:attrName>ppt_h</p:attrName>
                                        </p:attrNameLst>
                                      </p:cBhvr>
                                      <p:tavLst>
                                        <p:tav tm="0">
                                          <p:val>
                                            <p:fltVal val="0"/>
                                          </p:val>
                                        </p:tav>
                                        <p:tav tm="100000">
                                          <p:val>
                                            <p:strVal val="#ppt_h"/>
                                          </p:val>
                                        </p:tav>
                                      </p:tavLst>
                                    </p:anim>
                                    <p:animEffect transition="in" filter="fade">
                                      <p:cBhvr>
                                        <p:cTn id="43" dur="500"/>
                                        <p:tgtEl>
                                          <p:spTgt spid="8806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
          <p:cNvSpPr>
            <a:spLocks noGrp="1" noChangeArrowheads="1"/>
          </p:cNvSpPr>
          <p:nvPr>
            <p:ph type="ctrTitle"/>
          </p:nvPr>
        </p:nvSpPr>
        <p:spPr>
          <a:xfrm>
            <a:off x="2351088" y="814388"/>
            <a:ext cx="6513512" cy="487362"/>
          </a:xfrm>
        </p:spPr>
        <p:txBody>
          <a:bodyPr anchor="ctr"/>
          <a:lstStyle/>
          <a:p>
            <a:pPr algn="l"/>
            <a:r>
              <a:rPr lang="zh-CN" altLang="en-US" sz="3200">
                <a:solidFill>
                  <a:srgbClr val="FF0000"/>
                </a:solidFill>
              </a:rPr>
              <a:t>定性分析与定量分析</a:t>
            </a:r>
            <a:endParaRPr lang="zh-CN" altLang="en-US" sz="3200">
              <a:solidFill>
                <a:srgbClr val="FF0000"/>
              </a:solidFill>
            </a:endParaRPr>
          </a:p>
        </p:txBody>
      </p:sp>
      <p:graphicFrame>
        <p:nvGraphicFramePr>
          <p:cNvPr id="74756" name="表格 74755"/>
          <p:cNvGraphicFramePr/>
          <p:nvPr/>
        </p:nvGraphicFramePr>
        <p:xfrm>
          <a:off x="1992313" y="1557338"/>
          <a:ext cx="8404225" cy="4508500"/>
        </p:xfrm>
        <a:graphic>
          <a:graphicData uri="http://schemas.openxmlformats.org/drawingml/2006/table">
            <a:tbl>
              <a:tblPr/>
              <a:tblGrid>
                <a:gridCol w="441325"/>
                <a:gridCol w="4423410"/>
                <a:gridCol w="3539490"/>
              </a:tblGrid>
              <a:tr h="417775">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hangingPunct="1">
                        <a:lnSpc>
                          <a:spcPct val="100000"/>
                        </a:lnSpc>
                        <a:spcBef>
                          <a:spcPct val="0"/>
                        </a:spcBef>
                        <a:spcAft>
                          <a:spcPct val="0"/>
                        </a:spcAft>
                        <a:buClr>
                          <a:srgbClr val="000000"/>
                        </a:buClr>
                        <a:buFont typeface="Arial" panose="020B0604020202020204" pitchFamily="34" charset="0"/>
                        <a:buNone/>
                      </a:pPr>
                      <a:r>
                        <a:rPr lang="en-US" altLang="zh-CN" sz="1800" baseline="0" dirty="0">
                          <a:solidFill>
                            <a:srgbClr val="FF0000"/>
                          </a:solidFill>
                          <a:latin typeface="Arial" panose="020B0604020202020204" pitchFamily="34" charset="0"/>
                          <a:ea typeface="宋体" panose="02010600030101010101" pitchFamily="2" charset="-122"/>
                          <a:sym typeface="黑体" panose="02010609060101010101" pitchFamily="49" charset="-122"/>
                        </a:rPr>
                        <a:t> </a:t>
                      </a:r>
                      <a:endParaRPr lang="en-US" altLang="zh-CN" sz="1800" baseline="0" dirty="0">
                        <a:solidFill>
                          <a:srgbClr val="FF0000"/>
                        </a:solidFill>
                        <a:latin typeface="Arial" panose="020B0604020202020204" pitchFamily="34" charset="0"/>
                        <a:ea typeface="宋体" panose="02010600030101010101" pitchFamily="2" charset="-122"/>
                        <a:sym typeface="黑体" panose="02010609060101010101" pitchFamily="49" charset="-122"/>
                      </a:endParaRPr>
                    </a:p>
                  </a:txBody>
                  <a:tcPr marL="68579" marR="68579" marT="71731" marB="71731">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D8D8D8">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hangingPunct="1">
                        <a:lnSpc>
                          <a:spcPct val="100000"/>
                        </a:lnSpc>
                        <a:spcBef>
                          <a:spcPct val="0"/>
                        </a:spcBef>
                        <a:spcAft>
                          <a:spcPct val="0"/>
                        </a:spcAft>
                        <a:buClr>
                          <a:srgbClr val="000000"/>
                        </a:buClr>
                        <a:buFont typeface="Arial" panose="020B0604020202020204" pitchFamily="34" charset="0"/>
                        <a:buNone/>
                      </a:pPr>
                      <a:r>
                        <a:rPr lang="zh-CN" altLang="en-US" sz="1800" b="1" baseline="0" dirty="0">
                          <a:solidFill>
                            <a:srgbClr val="FF0000"/>
                          </a:solidFill>
                          <a:latin typeface="Arial" panose="020B0604020202020204" pitchFamily="34" charset="0"/>
                          <a:ea typeface="宋体" panose="02010600030101010101" pitchFamily="2" charset="-122"/>
                          <a:sym typeface="黑体" panose="02010609060101010101" pitchFamily="49" charset="-122"/>
                        </a:rPr>
                        <a:t>定量</a:t>
                      </a:r>
                      <a:endParaRPr lang="zh-CN" altLang="en-US" sz="1800" b="1" baseline="0" dirty="0">
                        <a:solidFill>
                          <a:srgbClr val="FF0000"/>
                        </a:solidFill>
                        <a:latin typeface="Arial" panose="020B0604020202020204" pitchFamily="34" charset="0"/>
                        <a:ea typeface="宋体" panose="02010600030101010101" pitchFamily="2" charset="-122"/>
                        <a:sym typeface="黑体" panose="02010609060101010101" pitchFamily="49" charset="-122"/>
                      </a:endParaRPr>
                    </a:p>
                  </a:txBody>
                  <a:tcPr marL="68579" marR="68579" marT="71731" marB="71731">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D8D8D8">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hangingPunct="1">
                        <a:lnSpc>
                          <a:spcPct val="100000"/>
                        </a:lnSpc>
                        <a:spcBef>
                          <a:spcPct val="0"/>
                        </a:spcBef>
                        <a:spcAft>
                          <a:spcPct val="0"/>
                        </a:spcAft>
                        <a:buClr>
                          <a:srgbClr val="000000"/>
                        </a:buClr>
                        <a:buFont typeface="Arial" panose="020B0604020202020204" pitchFamily="34" charset="0"/>
                        <a:buNone/>
                      </a:pPr>
                      <a:r>
                        <a:rPr lang="zh-CN" altLang="en-US" sz="1800" b="1" baseline="0" dirty="0">
                          <a:solidFill>
                            <a:srgbClr val="FF0000"/>
                          </a:solidFill>
                          <a:latin typeface="Arial" panose="020B0604020202020204" pitchFamily="34" charset="0"/>
                          <a:ea typeface="宋体" panose="02010600030101010101" pitchFamily="2" charset="-122"/>
                          <a:sym typeface="黑体" panose="02010609060101010101" pitchFamily="49" charset="-122"/>
                        </a:rPr>
                        <a:t>定性</a:t>
                      </a:r>
                      <a:endParaRPr lang="zh-CN" altLang="en-US" sz="1800" b="1" baseline="0" dirty="0">
                        <a:solidFill>
                          <a:srgbClr val="FF0000"/>
                        </a:solidFill>
                        <a:latin typeface="Arial" panose="020B0604020202020204" pitchFamily="34" charset="0"/>
                        <a:ea typeface="宋体" panose="02010600030101010101" pitchFamily="2" charset="-122"/>
                        <a:sym typeface="黑体" panose="02010609060101010101" pitchFamily="49" charset="-122"/>
                      </a:endParaRPr>
                    </a:p>
                  </a:txBody>
                  <a:tcPr marL="68579" marR="68579" marT="71731" marB="71731">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D8D8D8">
                        <a:alpha val="100000"/>
                      </a:srgbClr>
                    </a:solidFill>
                  </a:tcPr>
                </a:tc>
              </a:tr>
              <a:tr h="2191663">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hangingPunct="1">
                        <a:lnSpc>
                          <a:spcPct val="150000"/>
                        </a:lnSpc>
                        <a:spcBef>
                          <a:spcPct val="0"/>
                        </a:spcBef>
                        <a:spcAft>
                          <a:spcPct val="0"/>
                        </a:spcAft>
                        <a:buClr>
                          <a:srgbClr val="000000"/>
                        </a:buClr>
                        <a:buFont typeface="Arial" panose="020B0604020202020204" pitchFamily="34" charset="0"/>
                        <a:buNone/>
                      </a:pPr>
                      <a:r>
                        <a:rPr lang="zh-CN" altLang="en-US" sz="1800" b="1" baseline="0" dirty="0">
                          <a:solidFill>
                            <a:srgbClr val="FF0000"/>
                          </a:solidFill>
                          <a:latin typeface="Arial" panose="020B0604020202020204" pitchFamily="34" charset="0"/>
                          <a:ea typeface="宋体" panose="02010600030101010101" pitchFamily="2" charset="-122"/>
                          <a:sym typeface="黑体" panose="02010609060101010101" pitchFamily="49" charset="-122"/>
                        </a:rPr>
                        <a:t>优点</a:t>
                      </a:r>
                      <a:endParaRPr lang="zh-CN" altLang="en-US" sz="1800" b="1" baseline="0" dirty="0">
                        <a:solidFill>
                          <a:srgbClr val="FF0000"/>
                        </a:solidFill>
                        <a:latin typeface="Arial" panose="020B0604020202020204" pitchFamily="34" charset="0"/>
                        <a:ea typeface="宋体" panose="02010600030101010101" pitchFamily="2" charset="-122"/>
                        <a:sym typeface="黑体" panose="02010609060101010101" pitchFamily="49" charset="-122"/>
                      </a:endParaRPr>
                    </a:p>
                  </a:txBody>
                  <a:tcPr marL="68579" marR="68579" marT="71731" marB="71731"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D8D8D8">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rPr>
                        <a:t>结果可用货币值和具体数据（如百分比）来表达</a:t>
                      </a:r>
                      <a:endPar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rPr>
                        <a:t>按财务影响确定风险优先级；按财务价值确定资产优先级</a:t>
                      </a:r>
                      <a:endPar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rPr>
                        <a:t>通过安全投资收益分析推动风险管理</a:t>
                      </a:r>
                      <a:endPar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rPr>
                        <a:t>随着组织建立的历史数据记录而获得经验，其精确度将随时间的推移而提高</a:t>
                      </a:r>
                      <a:endPar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endParaRPr>
                    </a:p>
                  </a:txBody>
                  <a:tcPr marL="68579" marR="68579" marT="71731" marB="71731">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a:solidFill>
                            <a:schemeClr val="tx1"/>
                          </a:solidFill>
                          <a:latin typeface="Arial" panose="020B0604020202020204" pitchFamily="34" charset="0"/>
                          <a:ea typeface="宋体" panose="02010600030101010101" pitchFamily="2" charset="-122"/>
                          <a:sym typeface="黑体" panose="02010609060101010101" pitchFamily="49" charset="-122"/>
                        </a:rPr>
                        <a:t>可以对风险的处置排定优先顺序</a:t>
                      </a:r>
                      <a:endParaRPr lang="zh-CN" altLang="en-US" sz="1600" baseline="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a:solidFill>
                            <a:schemeClr val="tx1"/>
                          </a:solidFill>
                          <a:latin typeface="Arial" panose="020B0604020202020204" pitchFamily="34" charset="0"/>
                          <a:ea typeface="宋体" panose="02010600030101010101" pitchFamily="2" charset="-122"/>
                          <a:sym typeface="黑体" panose="02010609060101010101" pitchFamily="49" charset="-122"/>
                        </a:rPr>
                        <a:t>更容易达成一致意见</a:t>
                      </a:r>
                      <a:endParaRPr lang="zh-CN" altLang="en-US" sz="1600" baseline="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a:solidFill>
                            <a:schemeClr val="tx1"/>
                          </a:solidFill>
                          <a:latin typeface="Arial" panose="020B0604020202020204" pitchFamily="34" charset="0"/>
                          <a:ea typeface="宋体" panose="02010600030101010101" pitchFamily="2" charset="-122"/>
                          <a:sym typeface="黑体" panose="02010609060101010101" pitchFamily="49" charset="-122"/>
                        </a:rPr>
                        <a:t>无需量化威胁频率</a:t>
                      </a:r>
                      <a:endParaRPr lang="zh-CN" altLang="en-US" sz="1600" baseline="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a:solidFill>
                            <a:schemeClr val="tx1"/>
                          </a:solidFill>
                          <a:latin typeface="Arial" panose="020B0604020202020204" pitchFamily="34" charset="0"/>
                          <a:ea typeface="宋体" panose="02010600030101010101" pitchFamily="2" charset="-122"/>
                          <a:sym typeface="黑体" panose="02010609060101010101" pitchFamily="49" charset="-122"/>
                        </a:rPr>
                        <a:t>无需确定资产的财务价值</a:t>
                      </a:r>
                      <a:endParaRPr lang="zh-CN" altLang="en-US" sz="1600" baseline="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a:solidFill>
                            <a:schemeClr val="tx1"/>
                          </a:solidFill>
                          <a:latin typeface="Arial" panose="020B0604020202020204" pitchFamily="34" charset="0"/>
                          <a:ea typeface="宋体" panose="02010600030101010101" pitchFamily="2" charset="-122"/>
                          <a:sym typeface="黑体" panose="02010609060101010101" pitchFamily="49" charset="-122"/>
                        </a:rPr>
                        <a:t>更便于非安全或计算机专业人员的参与</a:t>
                      </a:r>
                      <a:endParaRPr lang="zh-CN" altLang="en-US" sz="1600" baseline="0">
                        <a:solidFill>
                          <a:schemeClr val="tx1"/>
                        </a:solidFill>
                        <a:latin typeface="Arial" panose="020B0604020202020204" pitchFamily="34" charset="0"/>
                        <a:ea typeface="宋体" panose="02010600030101010101" pitchFamily="2" charset="-122"/>
                        <a:sym typeface="黑体" panose="02010609060101010101" pitchFamily="49" charset="-122"/>
                      </a:endParaRPr>
                    </a:p>
                  </a:txBody>
                  <a:tcPr marL="68579" marR="68579" marT="71731" marB="71731">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1">
                        <a:alpha val="100000"/>
                      </a:schemeClr>
                    </a:solidFill>
                  </a:tcPr>
                </a:tc>
              </a:tr>
              <a:tr h="1899063">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hangingPunct="1">
                        <a:lnSpc>
                          <a:spcPct val="150000"/>
                        </a:lnSpc>
                        <a:spcBef>
                          <a:spcPct val="0"/>
                        </a:spcBef>
                        <a:spcAft>
                          <a:spcPct val="0"/>
                        </a:spcAft>
                        <a:buClr>
                          <a:srgbClr val="000000"/>
                        </a:buClr>
                        <a:buFont typeface="Arial" panose="020B0604020202020204" pitchFamily="34" charset="0"/>
                        <a:buNone/>
                      </a:pPr>
                      <a:r>
                        <a:rPr lang="zh-CN" altLang="en-US" sz="1800" b="1" baseline="0" dirty="0">
                          <a:solidFill>
                            <a:srgbClr val="FF0000"/>
                          </a:solidFill>
                          <a:latin typeface="Arial" panose="020B0604020202020204" pitchFamily="34" charset="0"/>
                          <a:ea typeface="宋体" panose="02010600030101010101" pitchFamily="2" charset="-122"/>
                          <a:sym typeface="黑体" panose="02010609060101010101" pitchFamily="49" charset="-122"/>
                        </a:rPr>
                        <a:t>缺点</a:t>
                      </a:r>
                      <a:endParaRPr lang="zh-CN" altLang="en-US" sz="1800" b="1" baseline="0" dirty="0">
                        <a:solidFill>
                          <a:srgbClr val="FF0000"/>
                        </a:solidFill>
                        <a:latin typeface="Arial" panose="020B0604020202020204" pitchFamily="34" charset="0"/>
                        <a:ea typeface="宋体" panose="02010600030101010101" pitchFamily="2" charset="-122"/>
                        <a:sym typeface="黑体" panose="02010609060101010101" pitchFamily="49" charset="-122"/>
                      </a:endParaRPr>
                    </a:p>
                  </a:txBody>
                  <a:tcPr marL="68579" marR="68579" marT="71731" marB="71731" anchor="ct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D8D8D8">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rPr>
                        <a:t>分配给风险的影响值以参与者的主观意见为基础</a:t>
                      </a:r>
                      <a:endPar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rPr>
                        <a:t>达成可靠结果和一致意见的流程非常耗时</a:t>
                      </a:r>
                      <a:endPar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rPr>
                        <a:t>计算可能会非常复杂且耗时</a:t>
                      </a:r>
                      <a:endPar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rPr>
                        <a:t>流程专业技术性强，参与者若未获指导则无法轻松执行流程</a:t>
                      </a:r>
                      <a:endPar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endParaRPr>
                    </a:p>
                  </a:txBody>
                  <a:tcPr marL="68579" marR="68579" marT="71731" marB="71731">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rPr>
                        <a:t>在重要的风险之间没有足够的区别</a:t>
                      </a:r>
                      <a:endPar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rPr>
                        <a:t>没有为成本效益分析，难以证明投资控制措施是否正确</a:t>
                      </a:r>
                      <a:endPar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endParaRPr>
                    </a:p>
                    <a:p>
                      <a:pPr marL="342900" lvl="0" indent="-342900" algn="just" eaLnBrk="1" hangingPunct="1">
                        <a:lnSpc>
                          <a:spcPct val="120000"/>
                        </a:lnSpc>
                        <a:spcBef>
                          <a:spcPct val="0"/>
                        </a:spcBef>
                        <a:spcAft>
                          <a:spcPct val="0"/>
                        </a:spcAft>
                        <a:buClr>
                          <a:srgbClr val="000000"/>
                        </a:buClr>
                        <a:buFont typeface="Wingdings" panose="05000000000000000000" pitchFamily="2" charset="2"/>
                        <a:buChar char=""/>
                      </a:pPr>
                      <a:r>
                        <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rPr>
                        <a:t>结果取决于风险管理团队的素质、经验和知识技能</a:t>
                      </a:r>
                      <a:endParaRPr lang="zh-CN" altLang="en-US" sz="1600" baseline="0" dirty="0">
                        <a:solidFill>
                          <a:schemeClr val="tx1"/>
                        </a:solidFill>
                        <a:latin typeface="Arial" panose="020B0604020202020204" pitchFamily="34" charset="0"/>
                        <a:ea typeface="宋体" panose="02010600030101010101" pitchFamily="2" charset="-122"/>
                        <a:sym typeface="黑体" panose="02010609060101010101" pitchFamily="49" charset="-122"/>
                      </a:endParaRPr>
                    </a:p>
                  </a:txBody>
                  <a:tcPr marL="68579" marR="68579" marT="71731" marB="71731">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chemeClr val="bg1">
                        <a:alpha val="100000"/>
                      </a:schemeClr>
                    </a:solidFill>
                  </a:tcPr>
                </a:tc>
              </a:tr>
            </a:tbl>
          </a:graphicData>
        </a:graphic>
      </p:graphicFrame>
      <p:graphicFrame>
        <p:nvGraphicFramePr>
          <p:cNvPr id="5" name="Group 3"/>
          <p:cNvGraphicFramePr>
            <a:graphicFrameLocks noGrp="1"/>
          </p:cNvGraphicFramePr>
          <p:nvPr/>
        </p:nvGraphicFramePr>
        <p:xfrm>
          <a:off x="2264634" y="1818257"/>
          <a:ext cx="7858125" cy="3951605"/>
        </p:xfrm>
        <a:graphic>
          <a:graphicData uri="http://schemas.openxmlformats.org/drawingml/2006/table">
            <a:tbl>
              <a:tblPr>
                <a:effectLst>
                  <a:outerShdw blurRad="50800" dist="38100" dir="13500000" algn="br" rotWithShape="0">
                    <a:prstClr val="black">
                      <a:alpha val="40000"/>
                    </a:prstClr>
                  </a:outerShdw>
                </a:effectLst>
              </a:tblPr>
              <a:tblGrid>
                <a:gridCol w="1192530"/>
                <a:gridCol w="3297555"/>
                <a:gridCol w="3368040"/>
              </a:tblGrid>
              <a:tr h="56261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优点</a:t>
                      </a:r>
                      <a:endParaRPr kumimoji="0" lang="en-US" altLang="zh-CN" sz="1800" b="1" i="0" u="none" strike="noStrike" cap="none" normalizeH="0" baseline="0" dirty="0">
                        <a:ln>
                          <a:noFill/>
                        </a:ln>
                        <a:solidFill>
                          <a:schemeClr val="tx2"/>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tx2"/>
                          </a:solidFill>
                          <a:effectLst/>
                          <a:latin typeface="Arial" panose="020B0604020202020204" pitchFamily="34" charset="0"/>
                          <a:ea typeface="宋体" panose="02010600030101010101" pitchFamily="2" charset="-122"/>
                        </a:rPr>
                        <a:t>缺点</a:t>
                      </a:r>
                      <a:endParaRPr kumimoji="0" lang="en-US" altLang="zh-CN" sz="1800" b="1" i="0" u="none" strike="noStrike" cap="none" normalizeH="0" baseline="0" dirty="0">
                        <a:ln>
                          <a:noFill/>
                        </a:ln>
                        <a:solidFill>
                          <a:schemeClr val="tx2"/>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lumMod val="20000"/>
                        <a:lumOff val="80000"/>
                      </a:schemeClr>
                    </a:solidFill>
                  </a:tcPr>
                </a:tc>
              </a:tr>
              <a:tr h="165163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kern="1200" cap="none" normalizeH="0" baseline="0" dirty="0">
                          <a:ln>
                            <a:noFill/>
                          </a:ln>
                          <a:solidFill>
                            <a:schemeClr val="tx2"/>
                          </a:solidFill>
                          <a:effectLst/>
                          <a:latin typeface="Arial" panose="020B0604020202020204" pitchFamily="34" charset="0"/>
                          <a:ea typeface="宋体" panose="02010600030101010101" pitchFamily="2" charset="-122"/>
                          <a:cs typeface="+mn-cs"/>
                        </a:rPr>
                        <a:t>定性评估</a:t>
                      </a:r>
                      <a:endParaRPr kumimoji="0" lang="zh-CN" altLang="en-US" sz="1800" b="1" i="0" u="none" strike="noStrike" kern="1200" cap="none" normalizeH="0" baseline="0" dirty="0">
                        <a:ln>
                          <a:noFill/>
                        </a:ln>
                        <a:solidFill>
                          <a:schemeClr val="tx2"/>
                        </a:solidFill>
                        <a:effectLst/>
                        <a:latin typeface="Arial" panose="020B0604020202020204" pitchFamily="34" charset="0"/>
                        <a:ea typeface="宋体" panose="02010600030101010101" pitchFamily="2" charset="-122"/>
                        <a:cs typeface="+mn-cs"/>
                      </a:endParaRP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indent="0" algn="l" defTabSz="914400" rtl="0" eaLnBrk="1" fontAlgn="auto" latinLnBrk="0" hangingPunct="1">
                        <a:lnSpc>
                          <a:spcPct val="200000"/>
                        </a:lnSpc>
                        <a:spcBef>
                          <a:spcPts val="0"/>
                        </a:spcBef>
                        <a:spcAft>
                          <a:spcPts val="0"/>
                        </a:spcAft>
                        <a:buClrTx/>
                        <a:buSzTx/>
                        <a:buFontTx/>
                        <a:buNone/>
                        <a:defRPr/>
                      </a:pPr>
                      <a:r>
                        <a:rPr lang="zh-CN" altLang="en-US" sz="1800" b="0" kern="1200" dirty="0">
                          <a:solidFill>
                            <a:srgbClr val="002060"/>
                          </a:solidFill>
                          <a:latin typeface="+mn-lt"/>
                          <a:ea typeface="+mn-ea"/>
                          <a:cs typeface="+mn-cs"/>
                        </a:rPr>
                        <a:t>挖掘一些蕴藏很深的思想，使评估结论</a:t>
                      </a:r>
                      <a:r>
                        <a:rPr lang="zh-CN" altLang="en-US" sz="1800" b="0" kern="1200" dirty="0">
                          <a:solidFill>
                            <a:schemeClr val="tx2">
                              <a:lumMod val="60000"/>
                              <a:lumOff val="40000"/>
                            </a:schemeClr>
                          </a:solidFill>
                          <a:latin typeface="+mn-lt"/>
                          <a:ea typeface="+mn-ea"/>
                          <a:cs typeface="+mn-cs"/>
                        </a:rPr>
                        <a:t>更全面、更深刻</a:t>
                      </a:r>
                      <a:endParaRPr lang="en-US" altLang="zh-CN" sz="1800" b="0" kern="1200" dirty="0">
                        <a:solidFill>
                          <a:schemeClr val="tx2">
                            <a:lumMod val="60000"/>
                            <a:lumOff val="40000"/>
                          </a:schemeClr>
                        </a:solidFill>
                        <a:latin typeface="+mn-lt"/>
                        <a:ea typeface="+mn-ea"/>
                        <a:cs typeface="+mn-cs"/>
                      </a:endParaRP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indent="0" algn="l" defTabSz="914400" rtl="0" eaLnBrk="1" fontAlgn="auto" latinLnBrk="0" hangingPunct="1">
                        <a:lnSpc>
                          <a:spcPct val="200000"/>
                        </a:lnSpc>
                        <a:spcBef>
                          <a:spcPts val="0"/>
                        </a:spcBef>
                        <a:spcAft>
                          <a:spcPts val="0"/>
                        </a:spcAft>
                        <a:buClrTx/>
                        <a:buSzTx/>
                        <a:buFontTx/>
                        <a:buNone/>
                        <a:defRPr/>
                      </a:pPr>
                      <a:r>
                        <a:rPr lang="zh-CN" altLang="en-US" sz="1800" b="0" kern="1200" dirty="0">
                          <a:solidFill>
                            <a:schemeClr val="tx2">
                              <a:lumMod val="60000"/>
                              <a:lumOff val="40000"/>
                            </a:schemeClr>
                          </a:solidFill>
                          <a:latin typeface="+mn-lt"/>
                          <a:ea typeface="+mn-ea"/>
                          <a:cs typeface="+mn-cs"/>
                        </a:rPr>
                        <a:t>主观性很强</a:t>
                      </a:r>
                      <a:r>
                        <a:rPr lang="zh-CN" altLang="en-US" sz="1800" b="0" kern="1200" dirty="0">
                          <a:solidFill>
                            <a:srgbClr val="002060"/>
                          </a:solidFill>
                          <a:latin typeface="+mn-lt"/>
                          <a:ea typeface="+mn-ea"/>
                          <a:cs typeface="+mn-cs"/>
                        </a:rPr>
                        <a:t>，对评估者本身的要求很高</a:t>
                      </a:r>
                      <a:endParaRPr lang="en-US" altLang="zh-CN" sz="1800" b="0" kern="1200" dirty="0">
                        <a:solidFill>
                          <a:srgbClr val="002060"/>
                        </a:solidFill>
                        <a:latin typeface="+mn-lt"/>
                        <a:ea typeface="+mn-ea"/>
                        <a:cs typeface="+mn-cs"/>
                      </a:endParaRP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lumMod val="20000"/>
                        <a:lumOff val="80000"/>
                      </a:schemeClr>
                    </a:solidFill>
                  </a:tcPr>
                </a:tc>
              </a:tr>
              <a:tr h="173736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kern="1200" cap="none" normalizeH="0" baseline="0" dirty="0">
                          <a:ln>
                            <a:noFill/>
                          </a:ln>
                          <a:solidFill>
                            <a:schemeClr val="tx2"/>
                          </a:solidFill>
                          <a:effectLst/>
                          <a:latin typeface="Arial" panose="020B0604020202020204" pitchFamily="34" charset="0"/>
                          <a:ea typeface="宋体" panose="02010600030101010101" pitchFamily="2" charset="-122"/>
                          <a:cs typeface="+mn-cs"/>
                        </a:rPr>
                        <a:t>定量评估</a:t>
                      </a:r>
                      <a:endParaRPr kumimoji="0" lang="zh-CN" altLang="en-US" sz="1800" b="1" i="0" u="none" strike="noStrike" kern="1200" cap="none" normalizeH="0" baseline="0" dirty="0">
                        <a:ln>
                          <a:noFill/>
                        </a:ln>
                        <a:solidFill>
                          <a:schemeClr val="tx2"/>
                        </a:solidFill>
                        <a:effectLst/>
                        <a:latin typeface="Arial" panose="020B0604020202020204" pitchFamily="34" charset="0"/>
                        <a:ea typeface="宋体" panose="02010600030101010101" pitchFamily="2" charset="-122"/>
                        <a:cs typeface="+mn-cs"/>
                      </a:endParaRP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indent="0" algn="l" defTabSz="914400" rtl="0" eaLnBrk="1" fontAlgn="auto" latinLnBrk="0" hangingPunct="1">
                        <a:lnSpc>
                          <a:spcPct val="200000"/>
                        </a:lnSpc>
                        <a:spcBef>
                          <a:spcPts val="0"/>
                        </a:spcBef>
                        <a:spcAft>
                          <a:spcPts val="0"/>
                        </a:spcAft>
                        <a:buClrTx/>
                        <a:buSzTx/>
                        <a:buFontTx/>
                        <a:buNone/>
                        <a:defRPr/>
                      </a:pPr>
                      <a:r>
                        <a:rPr lang="zh-CN" altLang="en-US" sz="1800" b="0" kern="1200" dirty="0">
                          <a:solidFill>
                            <a:srgbClr val="002060"/>
                          </a:solidFill>
                          <a:latin typeface="+mn-lt"/>
                          <a:ea typeface="+mn-ea"/>
                          <a:cs typeface="+mn-cs"/>
                        </a:rPr>
                        <a:t>用直观的数据表述评估结果，使研究结果</a:t>
                      </a:r>
                      <a:r>
                        <a:rPr lang="zh-CN" altLang="en-US" sz="1800" b="0" kern="1200" dirty="0">
                          <a:solidFill>
                            <a:schemeClr val="tx2">
                              <a:lumMod val="60000"/>
                              <a:lumOff val="40000"/>
                            </a:schemeClr>
                          </a:solidFill>
                          <a:latin typeface="+mn-lt"/>
                          <a:ea typeface="+mn-ea"/>
                          <a:cs typeface="+mn-cs"/>
                        </a:rPr>
                        <a:t>更科学，更严密，更深刻</a:t>
                      </a:r>
                      <a:endParaRPr lang="zh-CN" altLang="en-US" sz="1800" b="0" dirty="0">
                        <a:solidFill>
                          <a:schemeClr val="tx2">
                            <a:lumMod val="60000"/>
                            <a:lumOff val="40000"/>
                          </a:schemeClr>
                        </a:solidFill>
                      </a:endParaRP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indent="0" algn="l" defTabSz="914400" rtl="0" eaLnBrk="1" fontAlgn="auto" latinLnBrk="0" hangingPunct="1">
                        <a:lnSpc>
                          <a:spcPct val="200000"/>
                        </a:lnSpc>
                        <a:spcBef>
                          <a:spcPts val="0"/>
                        </a:spcBef>
                        <a:spcAft>
                          <a:spcPts val="0"/>
                        </a:spcAft>
                        <a:buClrTx/>
                        <a:buSzTx/>
                        <a:buFontTx/>
                        <a:buNone/>
                        <a:defRPr/>
                      </a:pPr>
                      <a:r>
                        <a:rPr lang="zh-CN" altLang="en-US" sz="1800" b="0" dirty="0">
                          <a:solidFill>
                            <a:srgbClr val="002060"/>
                          </a:solidFill>
                        </a:rPr>
                        <a:t>使原本</a:t>
                      </a:r>
                      <a:r>
                        <a:rPr lang="zh-CN" altLang="en-US" sz="1800" b="0" kern="1200" dirty="0">
                          <a:solidFill>
                            <a:srgbClr val="002060"/>
                          </a:solidFill>
                          <a:latin typeface="+mn-lt"/>
                          <a:ea typeface="+mn-ea"/>
                          <a:cs typeface="+mn-cs"/>
                        </a:rPr>
                        <a:t>复杂的事物</a:t>
                      </a:r>
                      <a:r>
                        <a:rPr lang="zh-CN" altLang="en-US" sz="1800" b="0" kern="1200" dirty="0">
                          <a:solidFill>
                            <a:schemeClr val="tx2">
                              <a:lumMod val="60000"/>
                              <a:lumOff val="40000"/>
                            </a:schemeClr>
                          </a:solidFill>
                          <a:latin typeface="+mn-lt"/>
                          <a:ea typeface="+mn-ea"/>
                          <a:cs typeface="+mn-cs"/>
                        </a:rPr>
                        <a:t>简单化、模糊化</a:t>
                      </a:r>
                      <a:r>
                        <a:rPr lang="zh-CN" altLang="en-US" sz="1800" b="0" kern="1200" dirty="0">
                          <a:solidFill>
                            <a:srgbClr val="002060"/>
                          </a:solidFill>
                          <a:latin typeface="+mn-lt"/>
                          <a:ea typeface="+mn-ea"/>
                          <a:cs typeface="+mn-cs"/>
                        </a:rPr>
                        <a:t>，风险因素被量化后可能被</a:t>
                      </a:r>
                      <a:r>
                        <a:rPr lang="zh-CN" altLang="en-US" sz="1800" b="0" kern="1200" dirty="0">
                          <a:solidFill>
                            <a:schemeClr val="tx2">
                              <a:lumMod val="60000"/>
                              <a:lumOff val="40000"/>
                            </a:schemeClr>
                          </a:solidFill>
                          <a:latin typeface="+mn-lt"/>
                          <a:ea typeface="+mn-ea"/>
                          <a:cs typeface="+mn-cs"/>
                        </a:rPr>
                        <a:t>误解和曲解</a:t>
                      </a:r>
                      <a:endParaRPr lang="zh-CN" altLang="en-US" sz="1800" b="0" dirty="0">
                        <a:solidFill>
                          <a:schemeClr val="tx2">
                            <a:lumMod val="60000"/>
                            <a:lumOff val="40000"/>
                          </a:schemeClr>
                        </a:solidFill>
                      </a:endParaRP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lumMod val="20000"/>
                        <a:lumOff val="80000"/>
                      </a:schemeClr>
                    </a:solidFill>
                  </a:tcPr>
                </a:tc>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4756"/>
                                        </p:tgtEl>
                                        <p:attrNameLst>
                                          <p:attrName>style.visibility</p:attrName>
                                        </p:attrNameLst>
                                      </p:cBhvr>
                                      <p:to>
                                        <p:strVal val="visible"/>
                                      </p:to>
                                    </p:set>
                                    <p:anim calcmode="lin" valueType="num">
                                      <p:cBhvr additive="base">
                                        <p:cTn id="7" dur="500" fill="hold"/>
                                        <p:tgtEl>
                                          <p:spTgt spid="74756"/>
                                        </p:tgtEl>
                                        <p:attrNameLst>
                                          <p:attrName>ppt_x</p:attrName>
                                        </p:attrNameLst>
                                      </p:cBhvr>
                                      <p:tavLst>
                                        <p:tav tm="0">
                                          <p:val>
                                            <p:strVal val="#ppt_x"/>
                                          </p:val>
                                        </p:tav>
                                        <p:tav tm="100000">
                                          <p:val>
                                            <p:strVal val="#ppt_x"/>
                                          </p:val>
                                        </p:tav>
                                      </p:tavLst>
                                    </p:anim>
                                    <p:anim calcmode="lin" valueType="num">
                                      <p:cBhvr additive="base">
                                        <p:cTn id="8" dur="500" fill="hold"/>
                                        <p:tgtEl>
                                          <p:spTgt spid="7475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74756"/>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00600" y="3357563"/>
            <a:ext cx="3959225" cy="296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4" name="内容占位符 2"/>
          <p:cNvSpPr>
            <a:spLocks noGrp="1" noChangeArrowheads="1"/>
          </p:cNvSpPr>
          <p:nvPr>
            <p:ph type="subTitle" idx="1"/>
          </p:nvPr>
        </p:nvSpPr>
        <p:spPr>
          <a:xfrm>
            <a:off x="2057400" y="1557338"/>
            <a:ext cx="8191500" cy="2447925"/>
          </a:xfrm>
        </p:spPr>
        <p:txBody>
          <a:bodyPr/>
          <a:lstStyle/>
          <a:p>
            <a:pPr marL="342900" indent="-342900" algn="l">
              <a:spcBef>
                <a:spcPts val="1200"/>
              </a:spcBef>
              <a:buFont typeface="Wingdings" panose="05000000000000000000" pitchFamily="2" charset="2"/>
              <a:buChar char="v"/>
            </a:pPr>
            <a:r>
              <a:rPr lang="zh-CN" altLang="en-US" sz="2800">
                <a:latin typeface="Arial" panose="020B0604020202020204" pitchFamily="34" charset="0"/>
                <a:sym typeface="Arial" panose="020B0604020202020204" pitchFamily="34" charset="0"/>
              </a:rPr>
              <a:t>在风险分析过程中综合使用定性和定量风险分析技术对风险要素赋值的方式，实现对风险各要素的度量数值化</a:t>
            </a:r>
            <a:endParaRPr lang="en-US" altLang="zh-CN" sz="2800">
              <a:latin typeface="Arial" panose="020B0604020202020204" pitchFamily="34" charset="0"/>
              <a:sym typeface="Arial" panose="020B0604020202020204" pitchFamily="34" charset="0"/>
            </a:endParaRPr>
          </a:p>
          <a:p>
            <a:pPr marL="342900" indent="-342900" algn="l">
              <a:spcBef>
                <a:spcPts val="1200"/>
              </a:spcBef>
              <a:buFont typeface="Wingdings" panose="05000000000000000000" pitchFamily="2" charset="2"/>
              <a:buChar char="v"/>
            </a:pPr>
            <a:r>
              <a:rPr lang="zh-CN" altLang="en-US" sz="2800">
                <a:latin typeface="Arial" panose="020B0604020202020204" pitchFamily="34" charset="0"/>
                <a:sym typeface="Arial" panose="020B0604020202020204" pitchFamily="34" charset="0"/>
              </a:rPr>
              <a:t>在实际的风险分析活动中，经常采用半定量的风险分析方法</a:t>
            </a:r>
            <a:endParaRPr lang="zh-CN" altLang="en-US" sz="2400"/>
          </a:p>
        </p:txBody>
      </p:sp>
      <p:sp>
        <p:nvSpPr>
          <p:cNvPr id="115716" name="标题 1"/>
          <p:cNvSpPr>
            <a:spLocks noGrp="1" noChangeArrowheads="1"/>
          </p:cNvSpPr>
          <p:nvPr>
            <p:ph type="ctrTitle"/>
          </p:nvPr>
        </p:nvSpPr>
        <p:spPr>
          <a:xfrm>
            <a:off x="2335213" y="773113"/>
            <a:ext cx="7597775" cy="488950"/>
          </a:xfrm>
        </p:spPr>
        <p:txBody>
          <a:bodyPr anchor="ctr"/>
          <a:lstStyle/>
          <a:p>
            <a:pPr algn="l"/>
            <a:r>
              <a:rPr lang="zh-CN" altLang="en-US" sz="3200">
                <a:solidFill>
                  <a:srgbClr val="FF0000"/>
                </a:solidFill>
              </a:rPr>
              <a:t>半定量风险分析</a:t>
            </a:r>
            <a:endParaRPr lang="zh-CN" altLang="en-US" sz="3200">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0114">
                                            <p:txEl>
                                              <p:pRg st="0" end="0"/>
                                            </p:txEl>
                                          </p:spTgt>
                                        </p:tgtEl>
                                        <p:attrNameLst>
                                          <p:attrName>style.visibility</p:attrName>
                                        </p:attrNameLst>
                                      </p:cBhvr>
                                      <p:to>
                                        <p:strVal val="visible"/>
                                      </p:to>
                                    </p:set>
                                    <p:anim calcmode="lin" valueType="num">
                                      <p:cBhvr additive="base">
                                        <p:cTn id="7" dur="500" fill="hold"/>
                                        <p:tgtEl>
                                          <p:spTgt spid="901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01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0114">
                                            <p:txEl>
                                              <p:pRg st="1" end="1"/>
                                            </p:txEl>
                                          </p:spTgt>
                                        </p:tgtEl>
                                        <p:attrNameLst>
                                          <p:attrName>style.visibility</p:attrName>
                                        </p:attrNameLst>
                                      </p:cBhvr>
                                      <p:to>
                                        <p:strVal val="visible"/>
                                      </p:to>
                                    </p:set>
                                    <p:anim calcmode="lin" valueType="num">
                                      <p:cBhvr additive="base">
                                        <p:cTn id="13" dur="500" fill="hold"/>
                                        <p:tgtEl>
                                          <p:spTgt spid="901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01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ctrTitle"/>
          </p:nvPr>
        </p:nvSpPr>
        <p:spPr>
          <a:xfrm>
            <a:off x="2063750" y="487363"/>
            <a:ext cx="8540750" cy="1143000"/>
          </a:xfrm>
        </p:spPr>
        <p:txBody>
          <a:bodyPr anchor="ctr"/>
          <a:lstStyle/>
          <a:p>
            <a:pPr algn="l"/>
            <a:r>
              <a:rPr lang="zh-CN" altLang="en-US" sz="3200">
                <a:solidFill>
                  <a:srgbClr val="FF0000"/>
                </a:solidFill>
              </a:rPr>
              <a:t>半定量风险分析</a:t>
            </a:r>
            <a:r>
              <a:rPr lang="en-US" altLang="zh-CN" sz="3200">
                <a:solidFill>
                  <a:srgbClr val="FF0000"/>
                </a:solidFill>
              </a:rPr>
              <a:t>——</a:t>
            </a:r>
            <a:r>
              <a:rPr lang="zh-CN" altLang="en-US" sz="3200">
                <a:solidFill>
                  <a:srgbClr val="FF0000"/>
                </a:solidFill>
              </a:rPr>
              <a:t>相乘法</a:t>
            </a:r>
            <a:endParaRPr lang="zh-CN" altLang="en-US" sz="3200">
              <a:solidFill>
                <a:srgbClr val="FF0000"/>
              </a:solidFill>
            </a:endParaRPr>
          </a:p>
        </p:txBody>
      </p:sp>
      <p:sp>
        <p:nvSpPr>
          <p:cNvPr id="116739" name="Rectangle 4"/>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16740" name="Rectangle 6"/>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16741" name="Rectangle 8"/>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pic>
        <p:nvPicPr>
          <p:cNvPr id="91142" name="Object 5"/>
          <p:cNvPicPr>
            <a:picLocks noGrp="1"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97163" y="4960938"/>
            <a:ext cx="6873875"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6808" name="表格 76807"/>
          <p:cNvGraphicFramePr/>
          <p:nvPr/>
        </p:nvGraphicFramePr>
        <p:xfrm>
          <a:off x="2803525" y="1630363"/>
          <a:ext cx="6629400" cy="3002915"/>
        </p:xfrm>
        <a:graphic>
          <a:graphicData uri="http://schemas.openxmlformats.org/drawingml/2006/table">
            <a:tbl>
              <a:tblPr/>
              <a:tblGrid>
                <a:gridCol w="1524000"/>
                <a:gridCol w="1196975"/>
                <a:gridCol w="1047750"/>
                <a:gridCol w="976630"/>
                <a:gridCol w="838200"/>
                <a:gridCol w="1045845"/>
              </a:tblGrid>
              <a:tr h="417830">
                <a:tc rowSpan="2">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 </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可能性</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gridSpan="5">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a:solidFill>
                            <a:schemeClr val="tx1"/>
                          </a:solidFill>
                          <a:latin typeface="Arial" panose="020B0604020202020204" pitchFamily="34" charset="0"/>
                          <a:ea typeface="黑体" panose="02010609060101010101" pitchFamily="49" charset="-122"/>
                          <a:sym typeface="Arial" panose="020B0604020202020204" pitchFamily="34" charset="0"/>
                        </a:rPr>
                        <a:t>影响</a:t>
                      </a:r>
                      <a:endParaRPr lang="zh-CN" altLang="en-US" sz="280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hMerge="1">
                  <a:tcP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tcPr>
                </a:tc>
                <a:tc hMerge="1">
                  <a:tcP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tcPr>
                </a:tc>
                <a:tc hMerge="1">
                  <a:tcP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tcPr>
                </a:tc>
                <a:tc hMerge="1">
                  <a:tcPr>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tcPr>
                </a:tc>
              </a:tr>
              <a:tr h="694690">
                <a:tc vMerge="1">
                  <a:tcPr>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B w="12700" cap="flat" cmpd="sng">
                      <a:solidFill>
                        <a:schemeClr val="tx1"/>
                      </a:solidFill>
                      <a:prstDash val="solid"/>
                      <a:bevel/>
                      <a:headEnd type="none" w="med" len="med"/>
                      <a:tailEnd type="none" w="med" len="med"/>
                    </a:lnB>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可以忽略</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1</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较小</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2</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中等</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3</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较大</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4</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灾难性</a:t>
                      </a:r>
                      <a:endPar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endParaRPr>
                    </a:p>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5</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r>
              <a:tr h="36703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5</a:t>
                      </a: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（几乎肯定）</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5</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66FF66">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10</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15</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20</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00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25</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0000">
                        <a:alpha val="100000"/>
                      </a:srgbClr>
                    </a:solidFill>
                  </a:tcPr>
                </a:tc>
              </a:tr>
              <a:tr h="380365">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4 </a:t>
                      </a: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（很可能）</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4</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8</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66FF66">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12   </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16</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20</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0000">
                        <a:alpha val="100000"/>
                      </a:srgbClr>
                    </a:solidFill>
                  </a:tcPr>
                </a:tc>
              </a:tr>
              <a:tr h="38100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3  ( </a:t>
                      </a: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可能）</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3</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6</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66FF33">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9</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66FF66">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12</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15</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r>
              <a:tr h="38100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2</a:t>
                      </a: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（不太可能）</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2</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4</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6</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66FF33">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8</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66FF66">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10</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FFFF00">
                        <a:alpha val="100000"/>
                      </a:srgbClr>
                    </a:solidFill>
                  </a:tcPr>
                </a:tc>
              </a:tr>
              <a:tr h="38100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1 </a:t>
                      </a:r>
                      <a:r>
                        <a:rPr lang="zh-CN" altLang="en-US" sz="1800" b="1" i="1" baseline="0" dirty="0">
                          <a:solidFill>
                            <a:schemeClr val="tx1"/>
                          </a:solidFill>
                          <a:latin typeface="Arial" panose="020B0604020202020204" pitchFamily="34" charset="0"/>
                          <a:ea typeface="黑体" panose="02010609060101010101" pitchFamily="49" charset="-122"/>
                          <a:sym typeface="Arial" panose="020B0604020202020204" pitchFamily="34" charset="0"/>
                        </a:rPr>
                        <a:t>（罕见）</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no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1</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2</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Arial" panose="020B0604020202020204" pitchFamily="34" charset="0"/>
                        </a:rPr>
                        <a:t>3</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bg1"/>
                          </a:solidFill>
                          <a:latin typeface="Arial" panose="020B0604020202020204" pitchFamily="34" charset="0"/>
                          <a:ea typeface="黑体" panose="02010609060101010101" pitchFamily="49" charset="-122"/>
                          <a:sym typeface="黑体" panose="02010609060101010101" pitchFamily="49" charset="-122"/>
                        </a:rPr>
                        <a:t>4</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7F7F7F">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fontAlgn="base" latinLnBrk="0" hangingPunct="1">
                        <a:lnSpc>
                          <a:spcPct val="100000"/>
                        </a:lnSpc>
                        <a:spcBef>
                          <a:spcPct val="20000"/>
                        </a:spcBef>
                        <a:spcAft>
                          <a:spcPct val="0"/>
                        </a:spcAft>
                        <a:buClr>
                          <a:srgbClr val="FF9900"/>
                        </a:buClr>
                        <a:buSzPct val="80000"/>
                        <a:buFont typeface="Wingdings" panose="05000000000000000000" pitchFamily="2" charset="2"/>
                        <a:buNone/>
                      </a:pPr>
                      <a:r>
                        <a:rPr lang="en-US" altLang="x-none" sz="1800" b="1" i="1" baseline="0" dirty="0">
                          <a:solidFill>
                            <a:schemeClr val="tx2"/>
                          </a:solidFill>
                          <a:latin typeface="Arial" panose="020B0604020202020204" pitchFamily="34" charset="0"/>
                          <a:ea typeface="黑体" panose="02010609060101010101" pitchFamily="49" charset="-122"/>
                          <a:sym typeface="Arial" panose="020B0604020202020204" pitchFamily="34" charset="0"/>
                        </a:rPr>
                        <a:t>5</a:t>
                      </a:r>
                      <a:endParaRPr lang="zh-CN" altLang="en-US" sz="2800" dirty="0"/>
                    </a:p>
                  </a:txBody>
                  <a:tcPr marT="45726" marB="45726">
                    <a:lnL w="12700" cap="flat" cmpd="sng">
                      <a:solidFill>
                        <a:schemeClr val="tx1"/>
                      </a:solidFill>
                      <a:prstDash val="solid"/>
                      <a:bevel/>
                      <a:headEnd type="none" w="med" len="med"/>
                      <a:tailEnd type="none" w="med" len="med"/>
                    </a:lnL>
                    <a:lnR w="12700" cap="flat" cmpd="sng">
                      <a:solidFill>
                        <a:schemeClr val="tx1"/>
                      </a:solidFill>
                      <a:prstDash val="solid"/>
                      <a:bevel/>
                      <a:headEnd type="none" w="med" len="med"/>
                      <a:tailEnd type="none" w="med" len="med"/>
                    </a:lnR>
                    <a:lnT w="12700" cap="flat" cmpd="sng">
                      <a:solidFill>
                        <a:schemeClr val="tx1"/>
                      </a:solidFill>
                      <a:prstDash val="solid"/>
                      <a:bevel/>
                      <a:headEnd type="none" w="med" len="med"/>
                      <a:tailEnd type="none" w="med" len="med"/>
                    </a:lnT>
                    <a:lnB w="12700" cap="flat" cmpd="sng">
                      <a:solidFill>
                        <a:schemeClr val="tx1"/>
                      </a:solidFill>
                      <a:prstDash val="solid"/>
                      <a:bevel/>
                      <a:headEnd type="none" w="med" len="med"/>
                      <a:tailEnd type="none" w="med" len="med"/>
                    </a:lnB>
                    <a:lnTlToBr>
                      <a:noFill/>
                    </a:lnTlToBr>
                    <a:lnBlToTr>
                      <a:noFill/>
                    </a:lnBlToTr>
                    <a:solidFill>
                      <a:srgbClr val="66FF66">
                        <a:alpha val="100000"/>
                      </a:srgbClr>
                    </a:solidFill>
                  </a:tcPr>
                </a:tc>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6808"/>
                                        </p:tgtEl>
                                        <p:attrNameLst>
                                          <p:attrName>style.visibility</p:attrName>
                                        </p:attrNameLst>
                                      </p:cBhvr>
                                      <p:to>
                                        <p:strVal val="visible"/>
                                      </p:to>
                                    </p:set>
                                    <p:anim calcmode="lin" valueType="num">
                                      <p:cBhvr>
                                        <p:cTn id="7" dur="500" fill="hold"/>
                                        <p:tgtEl>
                                          <p:spTgt spid="76808"/>
                                        </p:tgtEl>
                                        <p:attrNameLst>
                                          <p:attrName>ppt_w</p:attrName>
                                        </p:attrNameLst>
                                      </p:cBhvr>
                                      <p:tavLst>
                                        <p:tav tm="0">
                                          <p:val>
                                            <p:fltVal val="0"/>
                                          </p:val>
                                        </p:tav>
                                        <p:tav tm="100000">
                                          <p:val>
                                            <p:strVal val="#ppt_w"/>
                                          </p:val>
                                        </p:tav>
                                      </p:tavLst>
                                    </p:anim>
                                    <p:anim calcmode="lin" valueType="num">
                                      <p:cBhvr>
                                        <p:cTn id="8" dur="500" fill="hold"/>
                                        <p:tgtEl>
                                          <p:spTgt spid="76808"/>
                                        </p:tgtEl>
                                        <p:attrNameLst>
                                          <p:attrName>ppt_h</p:attrName>
                                        </p:attrNameLst>
                                      </p:cBhvr>
                                      <p:tavLst>
                                        <p:tav tm="0">
                                          <p:val>
                                            <p:fltVal val="0"/>
                                          </p:val>
                                        </p:tav>
                                        <p:tav tm="100000">
                                          <p:val>
                                            <p:strVal val="#ppt_h"/>
                                          </p:val>
                                        </p:tav>
                                      </p:tavLst>
                                    </p:anim>
                                    <p:animEffect transition="in" filter="fade">
                                      <p:cBhvr>
                                        <p:cTn id="9" dur="500"/>
                                        <p:tgtEl>
                                          <p:spTgt spid="76808"/>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91142"/>
                                        </p:tgtEl>
                                        <p:attrNameLst>
                                          <p:attrName>style.visibility</p:attrName>
                                        </p:attrNameLst>
                                      </p:cBhvr>
                                      <p:to>
                                        <p:strVal val="visible"/>
                                      </p:to>
                                    </p:set>
                                    <p:anim calcmode="lin" valueType="num">
                                      <p:cBhvr>
                                        <p:cTn id="13" dur="1000" fill="hold"/>
                                        <p:tgtEl>
                                          <p:spTgt spid="91142"/>
                                        </p:tgtEl>
                                        <p:attrNameLst>
                                          <p:attrName>ppt_w</p:attrName>
                                        </p:attrNameLst>
                                      </p:cBhvr>
                                      <p:tavLst>
                                        <p:tav tm="0">
                                          <p:val>
                                            <p:fltVal val="0"/>
                                          </p:val>
                                        </p:tav>
                                        <p:tav tm="100000">
                                          <p:val>
                                            <p:strVal val="#ppt_w"/>
                                          </p:val>
                                        </p:tav>
                                      </p:tavLst>
                                    </p:anim>
                                    <p:anim calcmode="lin" valueType="num">
                                      <p:cBhvr>
                                        <p:cTn id="14" dur="1000" fill="hold"/>
                                        <p:tgtEl>
                                          <p:spTgt spid="91142"/>
                                        </p:tgtEl>
                                        <p:attrNameLst>
                                          <p:attrName>ppt_h</p:attrName>
                                        </p:attrNameLst>
                                      </p:cBhvr>
                                      <p:tavLst>
                                        <p:tav tm="0">
                                          <p:val>
                                            <p:fltVal val="0"/>
                                          </p:val>
                                        </p:tav>
                                        <p:tav tm="100000">
                                          <p:val>
                                            <p:strVal val="#ppt_h"/>
                                          </p:val>
                                        </p:tav>
                                      </p:tavLst>
                                    </p:anim>
                                    <p:animEffect transition="in" filter="fade">
                                      <p:cBhvr>
                                        <p:cTn id="15" dur="1000"/>
                                        <p:tgtEl>
                                          <p:spTgt spid="91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sz="half" idx="1"/>
          </p:nvPr>
        </p:nvSpPr>
        <p:spPr>
          <a:xfrm>
            <a:off x="2063750" y="1908175"/>
            <a:ext cx="7629525" cy="4859338"/>
          </a:xfrm>
        </p:spPr>
        <p:txBody>
          <a:bodyPr/>
          <a:lstStyle/>
          <a:p>
            <a:pPr>
              <a:defRPr/>
            </a:pPr>
            <a:r>
              <a:rPr lang="zh-CN" altLang="en-US" sz="2400" dirty="0">
                <a:latin typeface="+mn-ea"/>
              </a:rPr>
              <a:t>根据预设的等级划分规则判定风险结果。</a:t>
            </a:r>
            <a:endParaRPr lang="zh-CN" altLang="en-US" sz="2400" dirty="0">
              <a:latin typeface="+mn-ea"/>
            </a:endParaRPr>
          </a:p>
          <a:p>
            <a:pPr>
              <a:defRPr/>
            </a:pPr>
            <a:r>
              <a:rPr lang="zh-CN" altLang="en-US" sz="2400" dirty="0">
                <a:latin typeface="+mn-ea"/>
              </a:rPr>
              <a:t>依此类推，得到所有重要资产的风险值，并根据风险等级划分表，确定风险等级。 </a:t>
            </a:r>
            <a:endParaRPr lang="zh-CN" altLang="en-US" sz="2400" dirty="0">
              <a:latin typeface="+mn-ea"/>
            </a:endParaRPr>
          </a:p>
          <a:p>
            <a:pPr>
              <a:defRPr/>
            </a:pPr>
            <a:endParaRPr lang="en-US" altLang="zh-CN" sz="2000" dirty="0">
              <a:latin typeface="+mn-ea"/>
            </a:endParaRPr>
          </a:p>
        </p:txBody>
      </p:sp>
      <p:graphicFrame>
        <p:nvGraphicFramePr>
          <p:cNvPr id="117763" name="Object 2"/>
          <p:cNvGraphicFramePr>
            <a:graphicFrameLocks noGrp="1" noChangeAspect="1"/>
          </p:cNvGraphicFramePr>
          <p:nvPr>
            <p:ph sz="half" idx="2"/>
          </p:nvPr>
        </p:nvGraphicFramePr>
        <p:xfrm>
          <a:off x="2289175" y="4076700"/>
          <a:ext cx="7856538" cy="1241425"/>
        </p:xfrm>
        <a:graphic>
          <a:graphicData uri="http://schemas.openxmlformats.org/presentationml/2006/ole">
            <mc:AlternateContent xmlns:mc="http://schemas.openxmlformats.org/markup-compatibility/2006">
              <mc:Choice xmlns:v="urn:schemas-microsoft-com:vml" Requires="v">
                <p:oleObj spid="_x0000_s10249" name="Document" r:id="rId1" imgW="6571615" imgH="1039495" progId="Word.Document.8">
                  <p:embed/>
                </p:oleObj>
              </mc:Choice>
              <mc:Fallback>
                <p:oleObj name="Document" r:id="rId1" imgW="6571615" imgH="1039495" progId="Word.Document.8">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175" y="4076700"/>
                        <a:ext cx="7856538"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2"/>
          <p:cNvSpPr txBox="1">
            <a:spLocks noChangeArrowheads="1"/>
          </p:cNvSpPr>
          <p:nvPr/>
        </p:nvSpPr>
        <p:spPr bwMode="gray">
          <a:xfrm>
            <a:off x="2063750" y="487363"/>
            <a:ext cx="8540750" cy="1143000"/>
          </a:xfrm>
          <a:prstGeom prst="rect">
            <a:avLst/>
          </a:prstGeom>
          <a:noFill/>
          <a:ln w="9525">
            <a:noFill/>
            <a:miter lim="800000"/>
          </a:ln>
        </p:spPr>
        <p:txBody>
          <a:bodyPr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kern="0" dirty="0">
                <a:solidFill>
                  <a:srgbClr val="FF0000"/>
                </a:solidFill>
              </a:rPr>
              <a:t>半定量风险分析</a:t>
            </a:r>
            <a:r>
              <a:rPr lang="en-US" altLang="zh-CN" kern="0" dirty="0">
                <a:solidFill>
                  <a:srgbClr val="FF0000"/>
                </a:solidFill>
              </a:rPr>
              <a:t>——</a:t>
            </a:r>
            <a:r>
              <a:rPr lang="zh-CN" altLang="en-US" kern="0" dirty="0">
                <a:solidFill>
                  <a:srgbClr val="FF0000"/>
                </a:solidFill>
              </a:rPr>
              <a:t>相乘法</a:t>
            </a:r>
            <a:endParaRPr lang="zh-CN" altLang="en-US" kern="0" dirty="0">
              <a:solidFill>
                <a:srgbClr val="FF0000"/>
              </a:solidFill>
            </a:endParaRPr>
          </a:p>
        </p:txBody>
      </p:sp>
    </p:spTree>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9810" name="Rectangle 3"/>
              <p:cNvSpPr>
                <a:spLocks noGrp="1" noChangeArrowheads="1"/>
              </p:cNvSpPr>
              <p:nvPr>
                <p:ph type="body" sz="half" idx="1"/>
              </p:nvPr>
            </p:nvSpPr>
            <p:spPr>
              <a:xfrm>
                <a:off x="2043113" y="1397000"/>
                <a:ext cx="7856537" cy="3889375"/>
              </a:xfrm>
            </p:spPr>
            <p:txBody>
              <a:bodyPr/>
              <a:lstStyle/>
              <a:p>
                <a:pPr>
                  <a:lnSpc>
                    <a:spcPts val="1800"/>
                  </a:lnSpc>
                </a:pPr>
                <a:r>
                  <a:rPr lang="zh-CN" altLang="en-US" sz="1800" b="1" dirty="0"/>
                  <a:t>（</a:t>
                </a:r>
                <a:r>
                  <a:rPr lang="en-US" altLang="zh-CN" sz="1800" b="1" dirty="0">
                    <a:ea typeface="楷体_GB2312"/>
                    <a:cs typeface="楷体_GB2312"/>
                  </a:rPr>
                  <a:t>1</a:t>
                </a:r>
                <a:r>
                  <a:rPr lang="zh-CN" altLang="en-US" sz="1800" b="1" dirty="0">
                    <a:ea typeface="楷体_GB2312"/>
                    <a:cs typeface="楷体_GB2312"/>
                  </a:rPr>
                  <a:t>）计算安全事件发生可能性</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威胁发生频率：威胁</a:t>
                </a:r>
                <a:r>
                  <a:rPr lang="en-US" altLang="zh-CN" sz="1800" b="1" dirty="0">
                    <a:ea typeface="楷体_GB2312"/>
                    <a:cs typeface="楷体_GB2312"/>
                  </a:rPr>
                  <a:t>T1=1</a:t>
                </a:r>
                <a:r>
                  <a:rPr lang="zh-CN" altLang="en-US" sz="1800" b="1" dirty="0">
                    <a:ea typeface="楷体_GB2312"/>
                    <a:cs typeface="楷体_GB2312"/>
                  </a:rPr>
                  <a:t>；</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脆弱性严重程度：脆弱性</a:t>
                </a:r>
                <a:r>
                  <a:rPr lang="en-US" altLang="zh-CN" sz="1800" b="1" dirty="0">
                    <a:ea typeface="楷体_GB2312"/>
                    <a:cs typeface="楷体_GB2312"/>
                  </a:rPr>
                  <a:t>V1=</a:t>
                </a:r>
                <a14:m>
                  <m:oMath xmlns:m="http://schemas.openxmlformats.org/officeDocument/2006/math">
                    <m:r>
                      <a:rPr lang="en-US" altLang="zh-CN" sz="1800" b="1" i="1" dirty="0" smtClean="0">
                        <a:latin typeface="Cambria Math" panose="02040503050406030204" pitchFamily="18" charset="0"/>
                        <a:ea typeface="楷体_GB2312"/>
                        <a:cs typeface="楷体_GB2312"/>
                      </a:rPr>
                      <m:t>𝟑</m:t>
                    </m:r>
                  </m:oMath>
                </a14:m>
                <a:r>
                  <a:rPr lang="zh-CN" altLang="en-US" sz="1800" b="1" dirty="0">
                    <a:ea typeface="楷体_GB2312"/>
                    <a:cs typeface="楷体_GB2312"/>
                  </a:rPr>
                  <a:t>。</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安全事件发生可能性</a:t>
                </a:r>
                <a:r>
                  <a:rPr lang="en-US" altLang="zh-CN" sz="1800" b="1" dirty="0">
                    <a:ea typeface="楷体_GB2312"/>
                    <a:cs typeface="楷体_GB2312"/>
                  </a:rPr>
                  <a:t>=</a:t>
                </a:r>
                <a:endParaRPr lang="en-US" altLang="zh-CN" sz="1800" b="1" dirty="0">
                  <a:ea typeface="楷体_GB2312"/>
                  <a:cs typeface="楷体_GB2312"/>
                </a:endParaRPr>
              </a:p>
              <a:p>
                <a:pPr>
                  <a:lnSpc>
                    <a:spcPts val="1800"/>
                  </a:lnSpc>
                </a:pPr>
                <a:r>
                  <a:rPr lang="zh-CN" altLang="en-US" sz="1800" b="1" dirty="0">
                    <a:ea typeface="楷体_GB2312"/>
                    <a:cs typeface="楷体_GB2312"/>
                  </a:rPr>
                  <a:t>（</a:t>
                </a:r>
                <a:r>
                  <a:rPr lang="en-US" altLang="zh-CN" sz="1800" b="1" dirty="0">
                    <a:ea typeface="楷体_GB2312"/>
                    <a:cs typeface="楷体_GB2312"/>
                  </a:rPr>
                  <a:t>2</a:t>
                </a:r>
                <a:r>
                  <a:rPr lang="zh-CN" altLang="en-US" sz="1800" b="1" dirty="0">
                    <a:ea typeface="楷体_GB2312"/>
                    <a:cs typeface="楷体_GB2312"/>
                  </a:rPr>
                  <a:t>）计算安全事件的损失</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资产价值：资产</a:t>
                </a:r>
                <a:r>
                  <a:rPr lang="en-US" altLang="zh-CN" sz="1800" b="1" dirty="0">
                    <a:ea typeface="楷体_GB2312"/>
                    <a:cs typeface="楷体_GB2312"/>
                  </a:rPr>
                  <a:t>A1=4</a:t>
                </a:r>
                <a:r>
                  <a:rPr lang="zh-CN" altLang="en-US" sz="1800" b="1" dirty="0">
                    <a:ea typeface="楷体_GB2312"/>
                    <a:cs typeface="楷体_GB2312"/>
                  </a:rPr>
                  <a:t>；</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脆弱性严重程度：脆弱性</a:t>
                </a:r>
                <a:r>
                  <a:rPr lang="en-US" altLang="zh-CN" sz="1800" b="1" dirty="0">
                    <a:ea typeface="楷体_GB2312"/>
                    <a:cs typeface="楷体_GB2312"/>
                  </a:rPr>
                  <a:t>V1=3</a:t>
                </a:r>
                <a:r>
                  <a:rPr lang="zh-CN" altLang="en-US" sz="1800" b="1" dirty="0">
                    <a:ea typeface="楷体_GB2312"/>
                    <a:cs typeface="楷体_GB2312"/>
                  </a:rPr>
                  <a:t>。</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计算安全事件的损失，安全事件损失</a:t>
                </a:r>
                <a:r>
                  <a:rPr lang="en-US" altLang="zh-CN" sz="1800" b="1" dirty="0">
                    <a:ea typeface="楷体_GB2312"/>
                    <a:cs typeface="楷体_GB2312"/>
                  </a:rPr>
                  <a:t>=</a:t>
                </a:r>
                <a:endParaRPr lang="en-US" altLang="zh-CN" sz="1800" b="1" dirty="0">
                  <a:ea typeface="楷体_GB2312"/>
                  <a:cs typeface="楷体_GB2312"/>
                </a:endParaRPr>
              </a:p>
              <a:p>
                <a:pPr>
                  <a:lnSpc>
                    <a:spcPts val="1800"/>
                  </a:lnSpc>
                </a:pPr>
                <a:r>
                  <a:rPr lang="zh-CN" altLang="en-US" sz="1800" b="1" dirty="0">
                    <a:ea typeface="楷体_GB2312"/>
                    <a:cs typeface="楷体_GB2312"/>
                  </a:rPr>
                  <a:t>（</a:t>
                </a:r>
                <a:r>
                  <a:rPr lang="en-US" altLang="zh-CN" sz="1800" b="1" dirty="0">
                    <a:ea typeface="楷体_GB2312"/>
                    <a:cs typeface="楷体_GB2312"/>
                  </a:rPr>
                  <a:t>3</a:t>
                </a:r>
                <a:r>
                  <a:rPr lang="zh-CN" altLang="en-US" sz="1800" b="1" dirty="0">
                    <a:ea typeface="楷体_GB2312"/>
                    <a:cs typeface="楷体_GB2312"/>
                  </a:rPr>
                  <a:t>）计算风险值</a:t>
                </a:r>
                <a:endParaRPr lang="zh-CN" altLang="en-US" sz="1800" b="1" dirty="0">
                  <a:ea typeface="楷体_GB2312"/>
                  <a:cs typeface="楷体_GB2312"/>
                </a:endParaRPr>
              </a:p>
              <a:p>
                <a:pPr>
                  <a:lnSpc>
                    <a:spcPts val="1800"/>
                  </a:lnSpc>
                  <a:buNone/>
                </a:pPr>
                <a:r>
                  <a:rPr lang="zh-CN" altLang="en-US" sz="1800" b="1" dirty="0">
                    <a:ea typeface="楷体_GB2312"/>
                    <a:cs typeface="楷体_GB2312"/>
                  </a:rPr>
                  <a:t>		安全事件发生可能性</a:t>
                </a:r>
                <a:r>
                  <a:rPr lang="en-US" altLang="zh-CN" sz="1800" b="1" dirty="0">
                    <a:ea typeface="楷体_GB2312"/>
                    <a:cs typeface="楷体_GB2312"/>
                  </a:rPr>
                  <a:t>=</a:t>
                </a:r>
                <a14:m>
                  <m:oMath xmlns:m="http://schemas.openxmlformats.org/officeDocument/2006/math">
                    <m:rad>
                      <m:radPr>
                        <m:degHide m:val="on"/>
                        <m:ctrlPr>
                          <a:rPr lang="en-US" altLang="zh-CN" sz="1800" b="1" i="1" dirty="0" smtClean="0">
                            <a:latin typeface="Cambria Math" panose="02040503050406030204" pitchFamily="18" charset="0"/>
                          </a:rPr>
                        </m:ctrlPr>
                      </m:radPr>
                      <m:deg/>
                      <m:e>
                        <m:r>
                          <a:rPr lang="en-US" altLang="zh-CN" sz="1800" b="1" i="1" dirty="0">
                            <a:latin typeface="Cambria Math" panose="02040503050406030204" pitchFamily="18" charset="0"/>
                            <a:ea typeface="楷体_GB2312"/>
                            <a:cs typeface="楷体_GB2312"/>
                          </a:rPr>
                          <m:t>𝟏𝟐</m:t>
                        </m:r>
                      </m:e>
                    </m:rad>
                  </m:oMath>
                </a14:m>
                <a:r>
                  <a:rPr lang="zh-CN" altLang="en-US" sz="1800" b="1" dirty="0">
                    <a:ea typeface="楷体_GB2312"/>
                    <a:cs typeface="楷体_GB2312"/>
                  </a:rPr>
                  <a:t>；</a:t>
                </a:r>
                <a:endParaRPr lang="zh-CN" altLang="en-US" sz="1800" b="1" dirty="0">
                  <a:ea typeface="楷体_GB2312"/>
                  <a:cs typeface="楷体_GB2312"/>
                </a:endParaRPr>
              </a:p>
              <a:p>
                <a:pPr>
                  <a:lnSpc>
                    <a:spcPts val="1800"/>
                  </a:lnSpc>
                  <a:buNone/>
                </a:pPr>
                <a:r>
                  <a:rPr lang="zh-CN" altLang="en-US" sz="1800" b="1" dirty="0">
                    <a:ea typeface="楷体_GB2312"/>
                    <a:cs typeface="楷体_GB2312"/>
                  </a:rPr>
                  <a:t>		安全事件损失</a:t>
                </a:r>
                <a:r>
                  <a:rPr lang="en-US" altLang="zh-CN" sz="1800" b="1" dirty="0">
                    <a:ea typeface="楷体_GB2312"/>
                    <a:cs typeface="楷体_GB2312"/>
                  </a:rPr>
                  <a:t>=</a:t>
                </a:r>
                <a14:m>
                  <m:oMath xmlns:m="http://schemas.openxmlformats.org/officeDocument/2006/math">
                    <m:rad>
                      <m:radPr>
                        <m:degHide m:val="on"/>
                        <m:ctrlPr>
                          <a:rPr lang="en-US" altLang="zh-CN" sz="1800" b="1" i="1" dirty="0" smtClean="0">
                            <a:latin typeface="Cambria Math" panose="02040503050406030204" pitchFamily="18" charset="0"/>
                          </a:rPr>
                        </m:ctrlPr>
                      </m:radPr>
                      <m:deg/>
                      <m:e>
                        <m:r>
                          <a:rPr lang="en-US" altLang="zh-CN" sz="1800" b="1" i="1" dirty="0">
                            <a:latin typeface="Cambria Math" panose="02040503050406030204" pitchFamily="18" charset="0"/>
                            <a:ea typeface="楷体_GB2312"/>
                            <a:cs typeface="楷体_GB2312"/>
                          </a:rPr>
                          <m:t>𝟑</m:t>
                        </m:r>
                      </m:e>
                    </m:rad>
                  </m:oMath>
                </a14:m>
                <a:r>
                  <a:rPr lang="zh-CN" altLang="en-US" sz="1800" b="1" dirty="0">
                    <a:ea typeface="楷体_GB2312"/>
                    <a:cs typeface="楷体_GB2312"/>
                  </a:rPr>
                  <a:t>。</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安全事件风险值</a:t>
                </a:r>
                <a:r>
                  <a:rPr lang="en-US" altLang="zh-CN" sz="1800" b="1" dirty="0">
                    <a:ea typeface="楷体_GB2312"/>
                    <a:cs typeface="楷体_GB2312"/>
                  </a:rPr>
                  <a:t>=</a:t>
                </a:r>
                <a:endParaRPr lang="en-US" altLang="zh-CN" sz="1800" b="1" dirty="0">
                  <a:ea typeface="楷体_GB2312"/>
                  <a:cs typeface="楷体_GB2312"/>
                </a:endParaRPr>
              </a:p>
              <a:p>
                <a:pPr>
                  <a:lnSpc>
                    <a:spcPts val="1800"/>
                  </a:lnSpc>
                </a:pPr>
                <a:r>
                  <a:rPr lang="zh-CN" altLang="en-US" sz="1800" b="1" dirty="0">
                    <a:ea typeface="楷体_GB2312"/>
                    <a:cs typeface="楷体_GB2312"/>
                  </a:rPr>
                  <a:t>（</a:t>
                </a:r>
                <a:r>
                  <a:rPr lang="en-US" altLang="zh-CN" sz="1800" b="1" dirty="0">
                    <a:ea typeface="楷体_GB2312"/>
                    <a:cs typeface="楷体_GB2312"/>
                  </a:rPr>
                  <a:t>4</a:t>
                </a:r>
                <a:r>
                  <a:rPr lang="zh-CN" altLang="en-US" sz="1800" b="1" dirty="0">
                    <a:ea typeface="楷体_GB2312"/>
                    <a:cs typeface="楷体_GB2312"/>
                  </a:rPr>
                  <a:t>）确定风险等级</a:t>
                </a:r>
                <a:r>
                  <a:rPr lang="zh-CN" altLang="en-US" sz="1800" b="1" dirty="0"/>
                  <a:t> </a:t>
                </a:r>
                <a:endParaRPr lang="zh-CN" altLang="en-US" sz="1800" b="1" dirty="0"/>
              </a:p>
              <a:p>
                <a:pPr>
                  <a:lnSpc>
                    <a:spcPct val="80000"/>
                  </a:lnSpc>
                </a:pPr>
                <a:endParaRPr lang="en-US" altLang="zh-CN" sz="2000" b="1" dirty="0"/>
              </a:p>
            </p:txBody>
          </p:sp>
        </mc:Choice>
        <mc:Fallback>
          <p:sp>
            <p:nvSpPr>
              <p:cNvPr id="119810" name="Rectangle 3"/>
              <p:cNvSpPr>
                <a:spLocks noRot="1" noChangeAspect="1" noMove="1" noResize="1" noEditPoints="1" noAdjustHandles="1" noChangeArrowheads="1" noChangeShapeType="1" noTextEdit="1"/>
              </p:cNvSpPr>
              <p:nvPr>
                <p:ph type="body" sz="half" idx="1"/>
              </p:nvPr>
            </p:nvSpPr>
            <p:spPr>
              <a:xfrm>
                <a:off x="2043113" y="1397000"/>
                <a:ext cx="7856537" cy="3889375"/>
              </a:xfrm>
              <a:blipFill rotWithShape="1">
                <a:blip r:embed="rId1"/>
                <a:stretch>
                  <a:fillRect l="-4" b="-2335"/>
                </a:stretch>
              </a:blipFill>
            </p:spPr>
            <p:txBody>
              <a:bodyPr/>
              <a:lstStyle/>
              <a:p>
                <a:r>
                  <a:rPr lang="zh-CN" altLang="en-US">
                    <a:noFill/>
                  </a:rPr>
                  <a:t> </a:t>
                </a:r>
              </a:p>
            </p:txBody>
          </p:sp>
        </mc:Fallback>
      </mc:AlternateContent>
      <p:sp>
        <p:nvSpPr>
          <p:cNvPr id="119811" name="Rectangle 4"/>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119812" name="Object 2"/>
          <p:cNvGraphicFramePr>
            <a:graphicFrameLocks noChangeAspect="1"/>
          </p:cNvGraphicFramePr>
          <p:nvPr/>
        </p:nvGraphicFramePr>
        <p:xfrm>
          <a:off x="5253038" y="2205038"/>
          <a:ext cx="1130300" cy="349250"/>
        </p:xfrm>
        <a:graphic>
          <a:graphicData uri="http://schemas.openxmlformats.org/presentationml/2006/ole">
            <mc:AlternateContent xmlns:mc="http://schemas.openxmlformats.org/markup-compatibility/2006">
              <mc:Choice xmlns:v="urn:schemas-microsoft-com:vml" Requires="v">
                <p:oleObj spid="_x0000_s11294" name="公式" r:id="rId2" imgW="736600" imgH="228600" progId="Equation.3">
                  <p:embed/>
                </p:oleObj>
              </mc:Choice>
              <mc:Fallback>
                <p:oleObj name="公式" r:id="rId2" imgW="736600" imgH="228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3038" y="2205038"/>
                        <a:ext cx="11303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813" name="Rectangle 6"/>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119814" name="Object 3"/>
          <p:cNvGraphicFramePr>
            <a:graphicFrameLocks noChangeAspect="1"/>
          </p:cNvGraphicFramePr>
          <p:nvPr/>
        </p:nvGraphicFramePr>
        <p:xfrm>
          <a:off x="6888163" y="3357563"/>
          <a:ext cx="1223962" cy="330200"/>
        </p:xfrm>
        <a:graphic>
          <a:graphicData uri="http://schemas.openxmlformats.org/presentationml/2006/ole">
            <mc:AlternateContent xmlns:mc="http://schemas.openxmlformats.org/markup-compatibility/2006">
              <mc:Choice xmlns:v="urn:schemas-microsoft-com:vml" Requires="v">
                <p:oleObj spid="_x0000_s11295" name="公式" r:id="rId4" imgW="850900" imgH="228600" progId="Equation.3">
                  <p:embed/>
                </p:oleObj>
              </mc:Choice>
              <mc:Fallback>
                <p:oleObj name="公式" r:id="rId4" imgW="850900" imgH="228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8163" y="3357563"/>
                        <a:ext cx="122396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815" name="Rectangle 8"/>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119816" name="Object 4"/>
          <p:cNvGraphicFramePr>
            <a:graphicFrameLocks noChangeAspect="1"/>
          </p:cNvGraphicFramePr>
          <p:nvPr/>
        </p:nvGraphicFramePr>
        <p:xfrm>
          <a:off x="4870450" y="4508500"/>
          <a:ext cx="1225550" cy="338138"/>
        </p:xfrm>
        <a:graphic>
          <a:graphicData uri="http://schemas.openxmlformats.org/presentationml/2006/ole">
            <mc:AlternateContent xmlns:mc="http://schemas.openxmlformats.org/markup-compatibility/2006">
              <mc:Choice xmlns:v="urn:schemas-microsoft-com:vml" Requires="v">
                <p:oleObj spid="_x0000_s11296" name="公式" r:id="rId6" imgW="825500" imgH="228600" progId="Equation.3">
                  <p:embed/>
                </p:oleObj>
              </mc:Choice>
              <mc:Fallback>
                <p:oleObj name="公式" r:id="rId6" imgW="825500" imgH="228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0450" y="4508500"/>
                        <a:ext cx="12255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17" name="Object 5"/>
          <p:cNvGraphicFramePr>
            <a:graphicFrameLocks noGrp="1" noChangeAspect="1"/>
          </p:cNvGraphicFramePr>
          <p:nvPr>
            <p:ph sz="half" idx="2"/>
          </p:nvPr>
        </p:nvGraphicFramePr>
        <p:xfrm>
          <a:off x="2794000" y="5249863"/>
          <a:ext cx="7078663" cy="1203325"/>
        </p:xfrm>
        <a:graphic>
          <a:graphicData uri="http://schemas.openxmlformats.org/presentationml/2006/ole">
            <mc:AlternateContent xmlns:mc="http://schemas.openxmlformats.org/markup-compatibility/2006">
              <mc:Choice xmlns:v="urn:schemas-microsoft-com:vml" Requires="v">
                <p:oleObj spid="_x0000_s11297" name="Document" r:id="rId8" imgW="6103620" imgH="1039495" progId="Word.Document.8">
                  <p:embed/>
                </p:oleObj>
              </mc:Choice>
              <mc:Fallback>
                <p:oleObj name="Document" r:id="rId8" imgW="6103620" imgH="1039495" progId="Word.Document.8">
                  <p:embed/>
                  <p:pic>
                    <p:nvPicPr>
                      <p:cNvPr id="0" name="Object 5"/>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94000" y="5249863"/>
                        <a:ext cx="7078663"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2"/>
          <p:cNvSpPr txBox="1">
            <a:spLocks noChangeArrowheads="1"/>
          </p:cNvSpPr>
          <p:nvPr/>
        </p:nvSpPr>
        <p:spPr bwMode="gray">
          <a:xfrm>
            <a:off x="2063750" y="341313"/>
            <a:ext cx="8540750" cy="1143000"/>
          </a:xfrm>
          <a:prstGeom prst="rect">
            <a:avLst/>
          </a:prstGeom>
          <a:noFill/>
          <a:ln w="9525">
            <a:noFill/>
            <a:miter lim="800000"/>
          </a:ln>
        </p:spPr>
        <p:txBody>
          <a:bodyPr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kern="0" dirty="0">
                <a:solidFill>
                  <a:srgbClr val="FF0000"/>
                </a:solidFill>
              </a:rPr>
              <a:t>半定量风险分析</a:t>
            </a:r>
            <a:r>
              <a:rPr lang="en-US" altLang="zh-CN" kern="0" dirty="0">
                <a:solidFill>
                  <a:srgbClr val="FF0000"/>
                </a:solidFill>
              </a:rPr>
              <a:t>——</a:t>
            </a:r>
            <a:r>
              <a:rPr lang="zh-CN" altLang="en-US" kern="0" dirty="0">
                <a:solidFill>
                  <a:srgbClr val="FF0000"/>
                </a:solidFill>
              </a:rPr>
              <a:t>相乘法</a:t>
            </a:r>
            <a:endParaRPr lang="zh-CN" altLang="en-US" kern="0" dirty="0">
              <a:solidFill>
                <a:srgbClr val="FF0000"/>
              </a:solidFill>
            </a:endParaRPr>
          </a:p>
        </p:txBody>
      </p:sp>
    </p:spTree>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2135188" y="765175"/>
            <a:ext cx="6604000" cy="487363"/>
          </a:xfrm>
        </p:spPr>
        <p:txBody>
          <a:bodyPr/>
          <a:lstStyle/>
          <a:p>
            <a:pPr eaLnBrk="1" hangingPunct="1">
              <a:defRPr/>
            </a:pPr>
            <a:r>
              <a:rPr lang="zh-CN" altLang="en-US" sz="2800" dirty="0">
                <a:solidFill>
                  <a:srgbClr val="FF0000"/>
                </a:solidFill>
                <a:latin typeface="+mn-ea"/>
                <a:ea typeface="+mn-ea"/>
              </a:rPr>
              <a:t>综合评估方法</a:t>
            </a:r>
            <a:endParaRPr lang="en-US" altLang="zh-CN" sz="2800" dirty="0">
              <a:solidFill>
                <a:srgbClr val="FF0000"/>
              </a:solidFill>
              <a:latin typeface="+mn-ea"/>
              <a:ea typeface="+mn-ea"/>
            </a:endParaRPr>
          </a:p>
        </p:txBody>
      </p:sp>
      <p:sp>
        <p:nvSpPr>
          <p:cNvPr id="4" name="Text Box 2"/>
          <p:cNvSpPr txBox="1">
            <a:spLocks noChangeArrowheads="1"/>
          </p:cNvSpPr>
          <p:nvPr/>
        </p:nvSpPr>
        <p:spPr bwMode="auto">
          <a:xfrm>
            <a:off x="1909763" y="1466850"/>
            <a:ext cx="8280400" cy="2177415"/>
          </a:xfrm>
          <a:prstGeom prst="rect">
            <a:avLst/>
          </a:prstGeom>
          <a:noFill/>
          <a:ln w="9525">
            <a:noFill/>
            <a:miter lim="800000"/>
          </a:ln>
          <a:effectLst/>
        </p:spPr>
        <p:txBody>
          <a:bodyPr>
            <a:spAutoFit/>
          </a:bodyPr>
          <a:lstStyle/>
          <a:p>
            <a:pPr marL="457200" indent="-457200" eaLnBrk="1" hangingPunct="1">
              <a:lnSpc>
                <a:spcPct val="120000"/>
              </a:lnSpc>
              <a:spcBef>
                <a:spcPct val="50000"/>
              </a:spcBef>
              <a:buSzPct val="80000"/>
              <a:defRPr/>
            </a:pPr>
            <a:r>
              <a:rPr lang="en-US" altLang="zh-CN" sz="2400" b="1" dirty="0">
                <a:solidFill>
                  <a:srgbClr val="002060"/>
                </a:solidFill>
                <a:latin typeface="宋体" panose="02010600030101010101" pitchFamily="2" charset="-122"/>
              </a:rPr>
              <a:t>   </a:t>
            </a:r>
            <a:r>
              <a:rPr lang="zh-CN" altLang="en-US" sz="2400" b="1" dirty="0">
                <a:solidFill>
                  <a:srgbClr val="FF0000"/>
                </a:solidFill>
                <a:latin typeface="+mn-ea"/>
                <a:ea typeface="+mn-ea"/>
              </a:rPr>
              <a:t>综合评估方法</a:t>
            </a:r>
            <a:r>
              <a:rPr lang="zh-CN" altLang="en-US" sz="2800" b="1" dirty="0">
                <a:solidFill>
                  <a:srgbClr val="FF0000"/>
                </a:solidFill>
                <a:latin typeface="+mn-ea"/>
                <a:ea typeface="+mn-ea"/>
              </a:rPr>
              <a:t>：</a:t>
            </a:r>
            <a:endParaRPr lang="zh-CN" altLang="en-US" sz="2800" b="1" dirty="0">
              <a:solidFill>
                <a:srgbClr val="FF0000"/>
              </a:solidFill>
              <a:latin typeface="+mn-ea"/>
              <a:ea typeface="+mn-ea"/>
            </a:endParaRPr>
          </a:p>
          <a:p>
            <a:pPr marL="914400" lvl="1" indent="-457200" eaLnBrk="1" hangingPunct="1">
              <a:lnSpc>
                <a:spcPct val="120000"/>
              </a:lnSpc>
              <a:spcBef>
                <a:spcPct val="50000"/>
              </a:spcBef>
              <a:buSzPct val="80000"/>
              <a:buFont typeface="Wingdings" panose="05000000000000000000" pitchFamily="2" charset="2"/>
              <a:buChar char="u"/>
              <a:defRPr/>
            </a:pPr>
            <a:r>
              <a:rPr lang="zh-CN" altLang="en-US" sz="2000" b="1" dirty="0">
                <a:solidFill>
                  <a:srgbClr val="002060"/>
                </a:solidFill>
                <a:latin typeface="宋体" panose="02010600030101010101" pitchFamily="2" charset="-122"/>
              </a:rPr>
              <a:t>定量分析是定性分析的</a:t>
            </a:r>
            <a:r>
              <a:rPr lang="zh-CN" altLang="en-US" sz="2000" b="1" dirty="0">
                <a:solidFill>
                  <a:schemeClr val="tx2">
                    <a:lumMod val="60000"/>
                    <a:lumOff val="40000"/>
                  </a:schemeClr>
                </a:solidFill>
                <a:latin typeface="宋体" panose="02010600030101010101" pitchFamily="2" charset="-122"/>
              </a:rPr>
              <a:t>基础和前提</a:t>
            </a:r>
            <a:endParaRPr lang="zh-CN" altLang="en-US" sz="2000" b="1" dirty="0">
              <a:solidFill>
                <a:schemeClr val="tx2">
                  <a:lumMod val="60000"/>
                  <a:lumOff val="40000"/>
                </a:schemeClr>
              </a:solidFill>
              <a:latin typeface="宋体" panose="02010600030101010101" pitchFamily="2" charset="-122"/>
            </a:endParaRPr>
          </a:p>
          <a:p>
            <a:pPr marL="914400" lvl="1" indent="-457200" eaLnBrk="1" hangingPunct="1">
              <a:lnSpc>
                <a:spcPct val="120000"/>
              </a:lnSpc>
              <a:spcBef>
                <a:spcPct val="50000"/>
              </a:spcBef>
              <a:buSzPct val="80000"/>
              <a:buFont typeface="Wingdings" panose="05000000000000000000" pitchFamily="2" charset="2"/>
              <a:buChar char="u"/>
              <a:defRPr/>
            </a:pPr>
            <a:r>
              <a:rPr lang="zh-CN" altLang="en-US" sz="2000" b="1" dirty="0">
                <a:solidFill>
                  <a:srgbClr val="002060"/>
                </a:solidFill>
                <a:latin typeface="宋体" panose="02010600030101010101" pitchFamily="2" charset="-122"/>
              </a:rPr>
              <a:t>定性分析则是</a:t>
            </a:r>
            <a:r>
              <a:rPr lang="zh-CN" altLang="en-US" sz="2000" b="1" dirty="0">
                <a:solidFill>
                  <a:schemeClr val="tx2">
                    <a:lumMod val="60000"/>
                    <a:lumOff val="40000"/>
                  </a:schemeClr>
                </a:solidFill>
                <a:latin typeface="宋体" panose="02010600030101010101" pitchFamily="2" charset="-122"/>
              </a:rPr>
              <a:t>灵魂</a:t>
            </a:r>
            <a:r>
              <a:rPr lang="zh-CN" altLang="en-US" sz="2000" b="1" dirty="0">
                <a:solidFill>
                  <a:srgbClr val="002060"/>
                </a:solidFill>
                <a:latin typeface="宋体" panose="02010600030101010101" pitchFamily="2" charset="-122"/>
              </a:rPr>
              <a:t>，是形成概念，做出判断，得出结论的</a:t>
            </a:r>
            <a:r>
              <a:rPr lang="zh-CN" altLang="en-US" sz="2000" b="1" dirty="0">
                <a:solidFill>
                  <a:schemeClr val="tx2">
                    <a:lumMod val="60000"/>
                    <a:lumOff val="40000"/>
                  </a:schemeClr>
                </a:solidFill>
                <a:latin typeface="宋体" panose="02010600030101010101" pitchFamily="2" charset="-122"/>
              </a:rPr>
              <a:t>依靠</a:t>
            </a:r>
            <a:endParaRPr lang="en-US" altLang="zh-CN" sz="2000" b="1" dirty="0">
              <a:solidFill>
                <a:schemeClr val="tx2">
                  <a:lumMod val="60000"/>
                  <a:lumOff val="40000"/>
                </a:schemeClr>
              </a:solidFill>
              <a:latin typeface="宋体" panose="02010600030101010101" pitchFamily="2" charset="-122"/>
            </a:endParaRPr>
          </a:p>
          <a:p>
            <a:pPr marL="914400" lvl="1" indent="-457200" eaLnBrk="1" hangingPunct="1">
              <a:lnSpc>
                <a:spcPct val="120000"/>
              </a:lnSpc>
              <a:spcBef>
                <a:spcPct val="50000"/>
              </a:spcBef>
              <a:buSzPct val="80000"/>
              <a:buFont typeface="Wingdings" panose="05000000000000000000" pitchFamily="2" charset="2"/>
              <a:buChar char="u"/>
              <a:defRPr/>
            </a:pPr>
            <a:r>
              <a:rPr lang="zh-CN" altLang="en-US" sz="2000" b="1" dirty="0">
                <a:solidFill>
                  <a:srgbClr val="002060"/>
                </a:solidFill>
                <a:latin typeface="宋体" panose="02010600030101010101" pitchFamily="2" charset="-122"/>
              </a:rPr>
              <a:t>应该将这两种方法融合起来，得到综合的评估方法</a:t>
            </a:r>
            <a:endParaRPr lang="en-US" altLang="zh-CN" sz="2000" b="1" dirty="0">
              <a:latin typeface="宋体" panose="02010600030101010101" pitchFamily="2" charset="-122"/>
            </a:endParaRPr>
          </a:p>
        </p:txBody>
      </p:sp>
      <p:sp>
        <p:nvSpPr>
          <p:cNvPr id="2" name="矩形 1"/>
          <p:cNvSpPr/>
          <p:nvPr/>
        </p:nvSpPr>
        <p:spPr>
          <a:xfrm>
            <a:off x="2379663" y="4005263"/>
            <a:ext cx="7810500" cy="1426845"/>
          </a:xfrm>
          <a:prstGeom prst="rect">
            <a:avLst/>
          </a:prstGeom>
        </p:spPr>
        <p:txBody>
          <a:bodyPr>
            <a:spAutoFit/>
          </a:bodyPr>
          <a:lstStyle/>
          <a:p>
            <a:pPr lvl="1" indent="-457200" eaLnBrk="1" hangingPunct="1">
              <a:lnSpc>
                <a:spcPct val="120000"/>
              </a:lnSpc>
              <a:spcBef>
                <a:spcPct val="50000"/>
              </a:spcBef>
              <a:buSzPct val="80000"/>
              <a:buFont typeface="Wingdings" panose="05000000000000000000" pitchFamily="2" charset="2"/>
              <a:buNone/>
              <a:defRPr/>
            </a:pPr>
            <a:r>
              <a:rPr lang="zh-CN" altLang="en-US" sz="2400" b="1" dirty="0">
                <a:solidFill>
                  <a:srgbClr val="FF0000"/>
                </a:solidFill>
                <a:latin typeface="+mn-ea"/>
                <a:ea typeface="+mn-ea"/>
              </a:rPr>
              <a:t>典型的综合评估方法：</a:t>
            </a:r>
            <a:endParaRPr lang="zh-CN" altLang="en-US" sz="2400" b="1" dirty="0">
              <a:solidFill>
                <a:srgbClr val="FF0000"/>
              </a:solidFill>
              <a:latin typeface="+mn-ea"/>
              <a:ea typeface="+mn-ea"/>
            </a:endParaRPr>
          </a:p>
          <a:p>
            <a:pPr marL="914400" lvl="1" indent="-457200" eaLnBrk="1" hangingPunct="1">
              <a:lnSpc>
                <a:spcPct val="120000"/>
              </a:lnSpc>
              <a:spcBef>
                <a:spcPct val="50000"/>
              </a:spcBef>
              <a:buSzPct val="80000"/>
              <a:buFont typeface="Wingdings" panose="05000000000000000000" pitchFamily="2" charset="2"/>
              <a:buChar char="u"/>
              <a:defRPr/>
            </a:pPr>
            <a:r>
              <a:rPr lang="zh-CN" altLang="en-US" sz="2000" b="1" dirty="0">
                <a:solidFill>
                  <a:srgbClr val="0033CC"/>
                </a:solidFill>
                <a:latin typeface="宋体" panose="02010600030101010101" pitchFamily="2" charset="-122"/>
              </a:rPr>
              <a:t>层次分析法 </a:t>
            </a:r>
            <a:r>
              <a:rPr lang="en-US" altLang="en-US" sz="2000" b="1" dirty="0">
                <a:solidFill>
                  <a:srgbClr val="0033CC"/>
                </a:solidFill>
                <a:latin typeface="宋体" panose="02010600030101010101" pitchFamily="2" charset="-122"/>
              </a:rPr>
              <a:t>(The analytic hierarchy process,</a:t>
            </a:r>
            <a:r>
              <a:rPr lang="zh-CN" altLang="en-US" sz="2000" b="1" dirty="0">
                <a:solidFill>
                  <a:srgbClr val="0033CC"/>
                </a:solidFill>
                <a:latin typeface="宋体" panose="02010600030101010101" pitchFamily="2" charset="-122"/>
              </a:rPr>
              <a:t>简称</a:t>
            </a:r>
            <a:r>
              <a:rPr lang="en-US" altLang="en-US" sz="2000" b="1" dirty="0">
                <a:solidFill>
                  <a:srgbClr val="0033CC"/>
                </a:solidFill>
                <a:latin typeface="宋体" panose="02010600030101010101" pitchFamily="2" charset="-122"/>
              </a:rPr>
              <a:t>AHP)</a:t>
            </a:r>
            <a:r>
              <a:rPr lang="zh-CN" altLang="en-US" sz="2000" b="1" dirty="0">
                <a:latin typeface="宋体" panose="02010600030101010101" pitchFamily="2" charset="-122"/>
              </a:rPr>
              <a:t>（</a:t>
            </a:r>
            <a:r>
              <a:rPr lang="en-US" altLang="en-US" sz="2000" b="1" dirty="0">
                <a:latin typeface="宋体" panose="02010600030101010101" pitchFamily="2" charset="-122"/>
              </a:rPr>
              <a:t>20 </a:t>
            </a:r>
            <a:r>
              <a:rPr lang="zh-CN" altLang="en-US" sz="2000" b="1" dirty="0">
                <a:latin typeface="宋体" panose="02010600030101010101" pitchFamily="2" charset="-122"/>
              </a:rPr>
              <a:t>世纪</a:t>
            </a:r>
            <a:r>
              <a:rPr lang="en-US" altLang="en-US" sz="2000" b="1" dirty="0">
                <a:latin typeface="宋体" panose="02010600030101010101" pitchFamily="2" charset="-122"/>
              </a:rPr>
              <a:t>70 </a:t>
            </a:r>
            <a:r>
              <a:rPr lang="zh-CN" altLang="en-US" sz="2000" b="1" dirty="0">
                <a:latin typeface="宋体" panose="02010600030101010101" pitchFamily="2" charset="-122"/>
              </a:rPr>
              <a:t>年代，美国著名的运筹学专家，萨蒂提出）</a:t>
            </a:r>
            <a:endParaRPr lang="en-US" altLang="zh-CN" sz="2000" b="1" dirty="0">
              <a:latin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31950" y="2781300"/>
            <a:ext cx="3032125"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2"/>
          <p:cNvSpPr>
            <a:spLocks noGrp="1" noChangeArrowheads="1"/>
          </p:cNvSpPr>
          <p:nvPr>
            <p:ph type="title"/>
          </p:nvPr>
        </p:nvSpPr>
        <p:spPr>
          <a:xfrm>
            <a:off x="2135188" y="765175"/>
            <a:ext cx="6604000" cy="487363"/>
          </a:xfrm>
        </p:spPr>
        <p:txBody>
          <a:bodyPr/>
          <a:lstStyle/>
          <a:p>
            <a:pPr eaLnBrk="1" hangingPunct="1">
              <a:defRPr/>
            </a:pPr>
            <a:r>
              <a:rPr lang="zh-CN" altLang="en-US" sz="2800" dirty="0">
                <a:solidFill>
                  <a:srgbClr val="FF0000"/>
                </a:solidFill>
                <a:latin typeface="+mn-ea"/>
                <a:ea typeface="+mn-ea"/>
              </a:rPr>
              <a:t>改进的风险综合评估方法</a:t>
            </a:r>
            <a:endParaRPr lang="en-US" altLang="zh-CN" sz="2800" dirty="0">
              <a:solidFill>
                <a:srgbClr val="FF0000"/>
              </a:solidFill>
              <a:latin typeface="+mn-ea"/>
              <a:ea typeface="+mn-ea"/>
            </a:endParaRPr>
          </a:p>
        </p:txBody>
      </p:sp>
      <p:sp>
        <p:nvSpPr>
          <p:cNvPr id="6" name="Text Box 2"/>
          <p:cNvSpPr txBox="1">
            <a:spLocks noChangeArrowheads="1"/>
          </p:cNvSpPr>
          <p:nvPr/>
        </p:nvSpPr>
        <p:spPr bwMode="auto">
          <a:xfrm>
            <a:off x="4556125" y="1787525"/>
            <a:ext cx="5761038" cy="2417445"/>
          </a:xfrm>
          <a:prstGeom prst="rect">
            <a:avLst/>
          </a:prstGeom>
          <a:noFill/>
          <a:ln w="9525">
            <a:noFill/>
            <a:miter lim="800000"/>
          </a:ln>
          <a:effectLst/>
        </p:spPr>
        <p:txBody>
          <a:bodyPr>
            <a:spAutoFit/>
          </a:bodyPr>
          <a:lstStyle/>
          <a:p>
            <a:pPr marL="342900" indent="-342900" eaLnBrk="1" hangingPunct="1">
              <a:lnSpc>
                <a:spcPct val="120000"/>
              </a:lnSpc>
              <a:spcBef>
                <a:spcPct val="50000"/>
              </a:spcBef>
              <a:buSzPct val="80000"/>
              <a:buFont typeface="Wingdings" panose="05000000000000000000" pitchFamily="2" charset="2"/>
              <a:buChar char="p"/>
              <a:defRPr/>
            </a:pPr>
            <a:r>
              <a:rPr lang="zh-CN" altLang="en-US" sz="2400" b="1" dirty="0">
                <a:solidFill>
                  <a:srgbClr val="002060"/>
                </a:solidFill>
                <a:latin typeface="+mn-ea"/>
                <a:ea typeface="+mn-ea"/>
              </a:rPr>
              <a:t>基于模糊综合评价的风险评估方法</a:t>
            </a:r>
            <a:endParaRPr lang="en-US" altLang="zh-CN" sz="2400" b="1" dirty="0">
              <a:solidFill>
                <a:srgbClr val="002060"/>
              </a:solidFill>
              <a:latin typeface="+mn-ea"/>
              <a:ea typeface="+mn-ea"/>
            </a:endParaRPr>
          </a:p>
          <a:p>
            <a:pPr marL="342900" indent="-342900" eaLnBrk="1" hangingPunct="1">
              <a:lnSpc>
                <a:spcPct val="120000"/>
              </a:lnSpc>
              <a:spcBef>
                <a:spcPct val="50000"/>
              </a:spcBef>
              <a:buSzPct val="80000"/>
              <a:buFont typeface="Wingdings" panose="05000000000000000000" pitchFamily="2" charset="2"/>
              <a:buChar char="p"/>
              <a:defRPr/>
            </a:pPr>
            <a:r>
              <a:rPr lang="zh-CN" altLang="en-US" sz="2400" b="1" dirty="0">
                <a:solidFill>
                  <a:srgbClr val="002060"/>
                </a:solidFill>
                <a:latin typeface="+mn-ea"/>
                <a:ea typeface="+mn-ea"/>
              </a:rPr>
              <a:t>基于灰色理论的风险评估方法</a:t>
            </a:r>
            <a:endParaRPr lang="en-US" altLang="zh-CN" sz="2400" b="1" dirty="0">
              <a:solidFill>
                <a:srgbClr val="002060"/>
              </a:solidFill>
              <a:latin typeface="+mn-ea"/>
              <a:ea typeface="+mn-ea"/>
            </a:endParaRPr>
          </a:p>
          <a:p>
            <a:pPr marL="342900" indent="-342900" eaLnBrk="1" hangingPunct="1">
              <a:lnSpc>
                <a:spcPct val="120000"/>
              </a:lnSpc>
              <a:spcBef>
                <a:spcPct val="50000"/>
              </a:spcBef>
              <a:buSzPct val="80000"/>
              <a:buFont typeface="Wingdings" panose="05000000000000000000" pitchFamily="2" charset="2"/>
              <a:buChar char="p"/>
              <a:defRPr/>
            </a:pPr>
            <a:r>
              <a:rPr lang="zh-CN" altLang="en-US" sz="2400" b="1" dirty="0">
                <a:solidFill>
                  <a:srgbClr val="002060"/>
                </a:solidFill>
                <a:latin typeface="+mn-ea"/>
                <a:ea typeface="+mn-ea"/>
              </a:rPr>
              <a:t>基于</a:t>
            </a:r>
            <a:r>
              <a:rPr lang="en-US" altLang="zh-CN" sz="2400" b="1" dirty="0">
                <a:solidFill>
                  <a:srgbClr val="002060"/>
                </a:solidFill>
                <a:latin typeface="+mn-ea"/>
                <a:ea typeface="+mn-ea"/>
              </a:rPr>
              <a:t>D-S</a:t>
            </a:r>
            <a:r>
              <a:rPr lang="zh-CN" altLang="en-US" sz="2400" b="1" dirty="0">
                <a:solidFill>
                  <a:srgbClr val="002060"/>
                </a:solidFill>
                <a:latin typeface="+mn-ea"/>
                <a:ea typeface="+mn-ea"/>
              </a:rPr>
              <a:t>证据理论的风险评估方法</a:t>
            </a:r>
            <a:endParaRPr lang="en-US" altLang="zh-CN" sz="2400" b="1" dirty="0">
              <a:solidFill>
                <a:srgbClr val="002060"/>
              </a:solidFill>
              <a:latin typeface="+mn-ea"/>
              <a:ea typeface="+mn-ea"/>
            </a:endParaRPr>
          </a:p>
          <a:p>
            <a:pPr marL="342900" indent="-342900" eaLnBrk="1" hangingPunct="1">
              <a:lnSpc>
                <a:spcPct val="120000"/>
              </a:lnSpc>
              <a:spcBef>
                <a:spcPct val="50000"/>
              </a:spcBef>
              <a:buSzPct val="80000"/>
              <a:buFont typeface="Wingdings" panose="05000000000000000000" pitchFamily="2" charset="2"/>
              <a:buChar char="p"/>
              <a:defRPr/>
            </a:pPr>
            <a:r>
              <a:rPr lang="zh-CN" altLang="en-US" sz="2400" b="1" dirty="0">
                <a:solidFill>
                  <a:srgbClr val="002060"/>
                </a:solidFill>
                <a:latin typeface="+mn-ea"/>
                <a:ea typeface="+mn-ea"/>
              </a:rPr>
              <a:t>基于机器学习的风险评估方法</a:t>
            </a:r>
            <a:endParaRPr lang="en-US" altLang="zh-CN" sz="2400" b="1" dirty="0">
              <a:latin typeface="+mn-ea"/>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9810" name="Rectangle 3"/>
              <p:cNvSpPr>
                <a:spLocks noGrp="1" noChangeArrowheads="1"/>
              </p:cNvSpPr>
              <p:nvPr>
                <p:ph type="body" sz="half" idx="1"/>
              </p:nvPr>
            </p:nvSpPr>
            <p:spPr>
              <a:xfrm>
                <a:off x="2043113" y="1397000"/>
                <a:ext cx="7856537" cy="3889375"/>
              </a:xfrm>
            </p:spPr>
            <p:txBody>
              <a:bodyPr/>
              <a:lstStyle/>
              <a:p>
                <a:pPr>
                  <a:lnSpc>
                    <a:spcPts val="1800"/>
                  </a:lnSpc>
                </a:pPr>
                <a:r>
                  <a:rPr lang="zh-CN" altLang="en-US" sz="1800" b="1" dirty="0"/>
                  <a:t>（</a:t>
                </a:r>
                <a:r>
                  <a:rPr lang="en-US" altLang="zh-CN" sz="1800" b="1" dirty="0">
                    <a:ea typeface="楷体_GB2312"/>
                    <a:cs typeface="楷体_GB2312"/>
                  </a:rPr>
                  <a:t>1</a:t>
                </a:r>
                <a:r>
                  <a:rPr lang="zh-CN" altLang="en-US" sz="1800" b="1" dirty="0">
                    <a:ea typeface="楷体_GB2312"/>
                    <a:cs typeface="楷体_GB2312"/>
                  </a:rPr>
                  <a:t>）计算安全事件发生可能性</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威胁发生频率：</a:t>
                </a:r>
                <a:r>
                  <a:rPr lang="zh-CN" altLang="en-US" sz="1800" b="1" dirty="0">
                    <a:solidFill>
                      <a:srgbClr val="FF0000"/>
                    </a:solidFill>
                    <a:ea typeface="楷体_GB2312"/>
                    <a:cs typeface="楷体_GB2312"/>
                  </a:rPr>
                  <a:t>威胁</a:t>
                </a:r>
                <a:r>
                  <a:rPr lang="en-US" altLang="zh-CN" sz="1800" b="1" dirty="0">
                    <a:solidFill>
                      <a:srgbClr val="FF0000"/>
                    </a:solidFill>
                    <a:ea typeface="楷体_GB2312"/>
                    <a:cs typeface="楷体_GB2312"/>
                  </a:rPr>
                  <a:t>T1=1</a:t>
                </a:r>
                <a:r>
                  <a:rPr lang="zh-CN" altLang="en-US" sz="1800" b="1" dirty="0">
                    <a:ea typeface="楷体_GB2312"/>
                    <a:cs typeface="楷体_GB2312"/>
                  </a:rPr>
                  <a:t>；</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脆弱性严重程度：</a:t>
                </a:r>
                <a:r>
                  <a:rPr lang="zh-CN" altLang="en-US" sz="1800" b="1" dirty="0">
                    <a:solidFill>
                      <a:srgbClr val="FF0000"/>
                    </a:solidFill>
                    <a:ea typeface="楷体_GB2312"/>
                    <a:cs typeface="楷体_GB2312"/>
                  </a:rPr>
                  <a:t>脆弱性</a:t>
                </a:r>
                <a:r>
                  <a:rPr lang="en-US" altLang="zh-CN" sz="1800" b="1" dirty="0">
                    <a:solidFill>
                      <a:srgbClr val="FF0000"/>
                    </a:solidFill>
                    <a:ea typeface="楷体_GB2312"/>
                    <a:cs typeface="楷体_GB2312"/>
                  </a:rPr>
                  <a:t>V1=</a:t>
                </a:r>
                <a14:m>
                  <m:oMath xmlns:m="http://schemas.openxmlformats.org/officeDocument/2006/math">
                    <m:r>
                      <a:rPr lang="en-US" altLang="zh-CN" sz="1800" b="1" i="1" dirty="0" smtClean="0">
                        <a:solidFill>
                          <a:srgbClr val="FF0000"/>
                        </a:solidFill>
                        <a:latin typeface="Cambria Math" panose="02040503050406030204" pitchFamily="18" charset="0"/>
                        <a:ea typeface="楷体_GB2312"/>
                        <a:cs typeface="楷体_GB2312"/>
                      </a:rPr>
                      <m:t>𝟑</m:t>
                    </m:r>
                  </m:oMath>
                </a14:m>
                <a:r>
                  <a:rPr lang="zh-CN" altLang="en-US" sz="1800" b="1" dirty="0">
                    <a:ea typeface="楷体_GB2312"/>
                    <a:cs typeface="楷体_GB2312"/>
                  </a:rPr>
                  <a:t>。</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安全事件发生可能性</a:t>
                </a:r>
                <a:r>
                  <a:rPr lang="en-US" altLang="zh-CN" sz="1800" b="1" dirty="0">
                    <a:ea typeface="楷体_GB2312"/>
                    <a:cs typeface="楷体_GB2312"/>
                  </a:rPr>
                  <a:t>=</a:t>
                </a:r>
                <a:endParaRPr lang="en-US" altLang="zh-CN" sz="1800" b="1" dirty="0">
                  <a:ea typeface="楷体_GB2312"/>
                  <a:cs typeface="楷体_GB2312"/>
                </a:endParaRPr>
              </a:p>
              <a:p>
                <a:pPr>
                  <a:lnSpc>
                    <a:spcPts val="1800"/>
                  </a:lnSpc>
                </a:pPr>
                <a:r>
                  <a:rPr lang="zh-CN" altLang="en-US" sz="1800" b="1" dirty="0">
                    <a:ea typeface="楷体_GB2312"/>
                    <a:cs typeface="楷体_GB2312"/>
                  </a:rPr>
                  <a:t>（</a:t>
                </a:r>
                <a:r>
                  <a:rPr lang="en-US" altLang="zh-CN" sz="1800" b="1" dirty="0">
                    <a:ea typeface="楷体_GB2312"/>
                    <a:cs typeface="楷体_GB2312"/>
                  </a:rPr>
                  <a:t>2</a:t>
                </a:r>
                <a:r>
                  <a:rPr lang="zh-CN" altLang="en-US" sz="1800" b="1" dirty="0">
                    <a:ea typeface="楷体_GB2312"/>
                    <a:cs typeface="楷体_GB2312"/>
                  </a:rPr>
                  <a:t>）计算安全事件的损失</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资产价值：</a:t>
                </a:r>
                <a:r>
                  <a:rPr lang="zh-CN" altLang="en-US" sz="1800" b="1" dirty="0">
                    <a:solidFill>
                      <a:srgbClr val="FF0000"/>
                    </a:solidFill>
                    <a:ea typeface="楷体_GB2312"/>
                    <a:cs typeface="楷体_GB2312"/>
                  </a:rPr>
                  <a:t>资产</a:t>
                </a:r>
                <a:r>
                  <a:rPr lang="en-US" altLang="zh-CN" sz="1800" b="1" dirty="0">
                    <a:solidFill>
                      <a:srgbClr val="FF0000"/>
                    </a:solidFill>
                    <a:ea typeface="楷体_GB2312"/>
                    <a:cs typeface="楷体_GB2312"/>
                  </a:rPr>
                  <a:t>A1=4</a:t>
                </a:r>
                <a:r>
                  <a:rPr lang="zh-CN" altLang="en-US" sz="1800" b="1" dirty="0">
                    <a:ea typeface="楷体_GB2312"/>
                    <a:cs typeface="楷体_GB2312"/>
                  </a:rPr>
                  <a:t>；</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脆弱性严重程度：</a:t>
                </a:r>
                <a:r>
                  <a:rPr lang="zh-CN" altLang="en-US" sz="1800" b="1" dirty="0">
                    <a:solidFill>
                      <a:srgbClr val="FF0000"/>
                    </a:solidFill>
                    <a:ea typeface="楷体_GB2312"/>
                    <a:cs typeface="楷体_GB2312"/>
                  </a:rPr>
                  <a:t>脆弱性</a:t>
                </a:r>
                <a:r>
                  <a:rPr lang="en-US" altLang="zh-CN" sz="1800" b="1" dirty="0">
                    <a:solidFill>
                      <a:srgbClr val="FF0000"/>
                    </a:solidFill>
                    <a:ea typeface="楷体_GB2312"/>
                    <a:cs typeface="楷体_GB2312"/>
                  </a:rPr>
                  <a:t>V1=3</a:t>
                </a:r>
                <a:r>
                  <a:rPr lang="zh-CN" altLang="en-US" sz="1800" b="1" dirty="0">
                    <a:ea typeface="楷体_GB2312"/>
                    <a:cs typeface="楷体_GB2312"/>
                  </a:rPr>
                  <a:t>。</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计算安全事件的损失，安全事件损失</a:t>
                </a:r>
                <a:r>
                  <a:rPr lang="en-US" altLang="zh-CN" sz="1800" b="1" dirty="0">
                    <a:ea typeface="楷体_GB2312"/>
                    <a:cs typeface="楷体_GB2312"/>
                  </a:rPr>
                  <a:t>=</a:t>
                </a:r>
                <a:endParaRPr lang="en-US" altLang="zh-CN" sz="1800" b="1" dirty="0">
                  <a:ea typeface="楷体_GB2312"/>
                  <a:cs typeface="楷体_GB2312"/>
                </a:endParaRPr>
              </a:p>
              <a:p>
                <a:pPr>
                  <a:lnSpc>
                    <a:spcPts val="1800"/>
                  </a:lnSpc>
                </a:pPr>
                <a:r>
                  <a:rPr lang="zh-CN" altLang="en-US" sz="1800" b="1" dirty="0">
                    <a:ea typeface="楷体_GB2312"/>
                    <a:cs typeface="楷体_GB2312"/>
                  </a:rPr>
                  <a:t>（</a:t>
                </a:r>
                <a:r>
                  <a:rPr lang="en-US" altLang="zh-CN" sz="1800" b="1" dirty="0">
                    <a:ea typeface="楷体_GB2312"/>
                    <a:cs typeface="楷体_GB2312"/>
                  </a:rPr>
                  <a:t>3</a:t>
                </a:r>
                <a:r>
                  <a:rPr lang="zh-CN" altLang="en-US" sz="1800" b="1" dirty="0">
                    <a:ea typeface="楷体_GB2312"/>
                    <a:cs typeface="楷体_GB2312"/>
                  </a:rPr>
                  <a:t>）计算风险值</a:t>
                </a:r>
                <a:endParaRPr lang="zh-CN" altLang="en-US" sz="1800" b="1" dirty="0">
                  <a:ea typeface="楷体_GB2312"/>
                  <a:cs typeface="楷体_GB2312"/>
                </a:endParaRPr>
              </a:p>
              <a:p>
                <a:pPr>
                  <a:lnSpc>
                    <a:spcPts val="1800"/>
                  </a:lnSpc>
                  <a:buNone/>
                </a:pPr>
                <a:r>
                  <a:rPr lang="zh-CN" altLang="en-US" sz="1800" b="1" dirty="0">
                    <a:ea typeface="楷体_GB2312"/>
                    <a:cs typeface="楷体_GB2312"/>
                  </a:rPr>
                  <a:t>		安全事件发生可能性</a:t>
                </a:r>
                <a:r>
                  <a:rPr lang="en-US" altLang="zh-CN" sz="1800" b="1" dirty="0">
                    <a:ea typeface="楷体_GB2312"/>
                    <a:cs typeface="楷体_GB2312"/>
                  </a:rPr>
                  <a:t>=</a:t>
                </a:r>
                <a14:m>
                  <m:oMath xmlns:m="http://schemas.openxmlformats.org/officeDocument/2006/math">
                    <m:rad>
                      <m:radPr>
                        <m:degHide m:val="on"/>
                        <m:ctrlPr>
                          <a:rPr lang="en-US" altLang="zh-CN" sz="1800" b="1" i="1" dirty="0" smtClean="0">
                            <a:latin typeface="Cambria Math" panose="02040503050406030204" pitchFamily="18" charset="0"/>
                          </a:rPr>
                        </m:ctrlPr>
                      </m:radPr>
                      <m:deg/>
                      <m:e>
                        <m:r>
                          <a:rPr lang="en-US" altLang="zh-CN" sz="1800" b="1" i="1" dirty="0">
                            <a:latin typeface="Cambria Math" panose="02040503050406030204" pitchFamily="18" charset="0"/>
                            <a:ea typeface="楷体_GB2312"/>
                            <a:cs typeface="楷体_GB2312"/>
                          </a:rPr>
                          <m:t>𝟏𝟐</m:t>
                        </m:r>
                      </m:e>
                    </m:rad>
                  </m:oMath>
                </a14:m>
                <a:r>
                  <a:rPr lang="zh-CN" altLang="en-US" sz="1800" b="1" dirty="0">
                    <a:ea typeface="楷体_GB2312"/>
                    <a:cs typeface="楷体_GB2312"/>
                  </a:rPr>
                  <a:t>；</a:t>
                </a:r>
                <a:endParaRPr lang="zh-CN" altLang="en-US" sz="1800" b="1" dirty="0">
                  <a:ea typeface="楷体_GB2312"/>
                  <a:cs typeface="楷体_GB2312"/>
                </a:endParaRPr>
              </a:p>
              <a:p>
                <a:pPr>
                  <a:lnSpc>
                    <a:spcPts val="1800"/>
                  </a:lnSpc>
                  <a:buNone/>
                </a:pPr>
                <a:r>
                  <a:rPr lang="zh-CN" altLang="en-US" sz="1800" b="1" dirty="0">
                    <a:ea typeface="楷体_GB2312"/>
                    <a:cs typeface="楷体_GB2312"/>
                  </a:rPr>
                  <a:t>		安全事件损失</a:t>
                </a:r>
                <a:r>
                  <a:rPr lang="en-US" altLang="zh-CN" sz="1800" b="1" dirty="0">
                    <a:ea typeface="楷体_GB2312"/>
                    <a:cs typeface="楷体_GB2312"/>
                  </a:rPr>
                  <a:t>=</a:t>
                </a:r>
                <a14:m>
                  <m:oMath xmlns:m="http://schemas.openxmlformats.org/officeDocument/2006/math">
                    <m:rad>
                      <m:radPr>
                        <m:degHide m:val="on"/>
                        <m:ctrlPr>
                          <a:rPr lang="en-US" altLang="zh-CN" sz="1800" b="1" i="1" dirty="0" smtClean="0">
                            <a:latin typeface="Cambria Math" panose="02040503050406030204" pitchFamily="18" charset="0"/>
                          </a:rPr>
                        </m:ctrlPr>
                      </m:radPr>
                      <m:deg/>
                      <m:e>
                        <m:r>
                          <a:rPr lang="en-US" altLang="zh-CN" sz="1800" b="1" i="1" dirty="0">
                            <a:latin typeface="Cambria Math" panose="02040503050406030204" pitchFamily="18" charset="0"/>
                            <a:ea typeface="楷体_GB2312"/>
                            <a:cs typeface="楷体_GB2312"/>
                          </a:rPr>
                          <m:t>𝟑</m:t>
                        </m:r>
                      </m:e>
                    </m:rad>
                  </m:oMath>
                </a14:m>
                <a:r>
                  <a:rPr lang="zh-CN" altLang="en-US" sz="1800" b="1" dirty="0">
                    <a:ea typeface="楷体_GB2312"/>
                    <a:cs typeface="楷体_GB2312"/>
                  </a:rPr>
                  <a:t>。</a:t>
                </a:r>
                <a:endParaRPr lang="zh-CN" altLang="en-US" sz="1800" b="1" dirty="0">
                  <a:ea typeface="楷体_GB2312"/>
                  <a:cs typeface="楷体_GB2312"/>
                </a:endParaRPr>
              </a:p>
              <a:p>
                <a:pPr>
                  <a:lnSpc>
                    <a:spcPts val="1800"/>
                  </a:lnSpc>
                  <a:buFont typeface="Wingdings" panose="05000000000000000000" pitchFamily="2" charset="2"/>
                  <a:buNone/>
                </a:pPr>
                <a:r>
                  <a:rPr lang="zh-CN" altLang="en-US" sz="1800" b="1" dirty="0">
                    <a:ea typeface="楷体_GB2312"/>
                    <a:cs typeface="楷体_GB2312"/>
                  </a:rPr>
                  <a:t>		安全事件风险值</a:t>
                </a:r>
                <a:r>
                  <a:rPr lang="en-US" altLang="zh-CN" sz="1800" b="1" dirty="0">
                    <a:ea typeface="楷体_GB2312"/>
                    <a:cs typeface="楷体_GB2312"/>
                  </a:rPr>
                  <a:t>=</a:t>
                </a:r>
                <a:endParaRPr lang="en-US" altLang="zh-CN" sz="1800" b="1" dirty="0">
                  <a:ea typeface="楷体_GB2312"/>
                  <a:cs typeface="楷体_GB2312"/>
                </a:endParaRPr>
              </a:p>
              <a:p>
                <a:pPr>
                  <a:lnSpc>
                    <a:spcPts val="1800"/>
                  </a:lnSpc>
                </a:pPr>
                <a:r>
                  <a:rPr lang="zh-CN" altLang="en-US" sz="1800" b="1" dirty="0">
                    <a:ea typeface="楷体_GB2312"/>
                    <a:cs typeface="楷体_GB2312"/>
                  </a:rPr>
                  <a:t>（</a:t>
                </a:r>
                <a:r>
                  <a:rPr lang="en-US" altLang="zh-CN" sz="1800" b="1" dirty="0">
                    <a:ea typeface="楷体_GB2312"/>
                    <a:cs typeface="楷体_GB2312"/>
                  </a:rPr>
                  <a:t>4</a:t>
                </a:r>
                <a:r>
                  <a:rPr lang="zh-CN" altLang="en-US" sz="1800" b="1" dirty="0">
                    <a:ea typeface="楷体_GB2312"/>
                    <a:cs typeface="楷体_GB2312"/>
                  </a:rPr>
                  <a:t>）确定风险等级</a:t>
                </a:r>
                <a:r>
                  <a:rPr lang="zh-CN" altLang="en-US" sz="1800" b="1" dirty="0"/>
                  <a:t> </a:t>
                </a:r>
                <a:endParaRPr lang="zh-CN" altLang="en-US" sz="1800" b="1" dirty="0"/>
              </a:p>
              <a:p>
                <a:pPr>
                  <a:lnSpc>
                    <a:spcPct val="80000"/>
                  </a:lnSpc>
                </a:pPr>
                <a:endParaRPr lang="en-US" altLang="zh-CN" sz="2000" b="1" dirty="0"/>
              </a:p>
            </p:txBody>
          </p:sp>
        </mc:Choice>
        <mc:Fallback>
          <p:sp>
            <p:nvSpPr>
              <p:cNvPr id="119810" name="Rectangle 3"/>
              <p:cNvSpPr>
                <a:spLocks noRot="1" noChangeAspect="1" noMove="1" noResize="1" noEditPoints="1" noAdjustHandles="1" noChangeArrowheads="1" noChangeShapeType="1" noTextEdit="1"/>
              </p:cNvSpPr>
              <p:nvPr>
                <p:ph type="body" sz="half" idx="1"/>
              </p:nvPr>
            </p:nvSpPr>
            <p:spPr>
              <a:xfrm>
                <a:off x="2043113" y="1397000"/>
                <a:ext cx="7856537" cy="3889375"/>
              </a:xfrm>
              <a:blipFill rotWithShape="1">
                <a:blip r:embed="rId1"/>
                <a:stretch>
                  <a:fillRect l="-4" b="-2335"/>
                </a:stretch>
              </a:blipFill>
            </p:spPr>
            <p:txBody>
              <a:bodyPr/>
              <a:lstStyle/>
              <a:p>
                <a:r>
                  <a:rPr lang="zh-CN" altLang="en-US">
                    <a:noFill/>
                  </a:rPr>
                  <a:t> </a:t>
                </a:r>
              </a:p>
            </p:txBody>
          </p:sp>
        </mc:Fallback>
      </mc:AlternateContent>
      <p:sp>
        <p:nvSpPr>
          <p:cNvPr id="119811" name="Rectangle 4"/>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119812" name="Object 2"/>
          <p:cNvGraphicFramePr>
            <a:graphicFrameLocks noChangeAspect="1"/>
          </p:cNvGraphicFramePr>
          <p:nvPr/>
        </p:nvGraphicFramePr>
        <p:xfrm>
          <a:off x="5253038" y="2205038"/>
          <a:ext cx="1130300" cy="349250"/>
        </p:xfrm>
        <a:graphic>
          <a:graphicData uri="http://schemas.openxmlformats.org/presentationml/2006/ole">
            <mc:AlternateContent xmlns:mc="http://schemas.openxmlformats.org/markup-compatibility/2006">
              <mc:Choice xmlns:v="urn:schemas-microsoft-com:vml" Requires="v">
                <p:oleObj spid="_x0000_s13322" name="公式" r:id="rId2" imgW="736600" imgH="228600" progId="Equation.3">
                  <p:embed/>
                </p:oleObj>
              </mc:Choice>
              <mc:Fallback>
                <p:oleObj name="公式" r:id="rId2" imgW="736600" imgH="228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3038" y="2205038"/>
                        <a:ext cx="11303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813" name="Rectangle 6"/>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119814" name="Object 3"/>
          <p:cNvGraphicFramePr>
            <a:graphicFrameLocks noChangeAspect="1"/>
          </p:cNvGraphicFramePr>
          <p:nvPr/>
        </p:nvGraphicFramePr>
        <p:xfrm>
          <a:off x="6888163" y="3357563"/>
          <a:ext cx="1223962" cy="330200"/>
        </p:xfrm>
        <a:graphic>
          <a:graphicData uri="http://schemas.openxmlformats.org/presentationml/2006/ole">
            <mc:AlternateContent xmlns:mc="http://schemas.openxmlformats.org/markup-compatibility/2006">
              <mc:Choice xmlns:v="urn:schemas-microsoft-com:vml" Requires="v">
                <p:oleObj spid="_x0000_s13323" name="公式" r:id="rId4" imgW="850900" imgH="228600" progId="Equation.3">
                  <p:embed/>
                </p:oleObj>
              </mc:Choice>
              <mc:Fallback>
                <p:oleObj name="公式" r:id="rId4" imgW="850900" imgH="228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8163" y="3357563"/>
                        <a:ext cx="122396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815" name="Rectangle 8"/>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graphicFrame>
        <p:nvGraphicFramePr>
          <p:cNvPr id="119816" name="Object 4"/>
          <p:cNvGraphicFramePr>
            <a:graphicFrameLocks noChangeAspect="1"/>
          </p:cNvGraphicFramePr>
          <p:nvPr/>
        </p:nvGraphicFramePr>
        <p:xfrm>
          <a:off x="4870450" y="4508500"/>
          <a:ext cx="1225550" cy="338138"/>
        </p:xfrm>
        <a:graphic>
          <a:graphicData uri="http://schemas.openxmlformats.org/presentationml/2006/ole">
            <mc:AlternateContent xmlns:mc="http://schemas.openxmlformats.org/markup-compatibility/2006">
              <mc:Choice xmlns:v="urn:schemas-microsoft-com:vml" Requires="v">
                <p:oleObj spid="_x0000_s13324" name="公式" r:id="rId6" imgW="825500" imgH="228600" progId="Equation.3">
                  <p:embed/>
                </p:oleObj>
              </mc:Choice>
              <mc:Fallback>
                <p:oleObj name="公式" r:id="rId6" imgW="825500" imgH="228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0450" y="4508500"/>
                        <a:ext cx="12255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17" name="Object 5"/>
          <p:cNvGraphicFramePr>
            <a:graphicFrameLocks noGrp="1" noChangeAspect="1"/>
          </p:cNvGraphicFramePr>
          <p:nvPr>
            <p:ph sz="half" idx="2"/>
          </p:nvPr>
        </p:nvGraphicFramePr>
        <p:xfrm>
          <a:off x="2794000" y="5249863"/>
          <a:ext cx="7078663" cy="1203325"/>
        </p:xfrm>
        <a:graphic>
          <a:graphicData uri="http://schemas.openxmlformats.org/presentationml/2006/ole">
            <mc:AlternateContent xmlns:mc="http://schemas.openxmlformats.org/markup-compatibility/2006">
              <mc:Choice xmlns:v="urn:schemas-microsoft-com:vml" Requires="v">
                <p:oleObj spid="_x0000_s13325" name="Document" r:id="rId8" imgW="6103620" imgH="1039495" progId="Word.Document.8">
                  <p:embed/>
                </p:oleObj>
              </mc:Choice>
              <mc:Fallback>
                <p:oleObj name="Document" r:id="rId8" imgW="6103620" imgH="1039495" progId="Word.Document.8">
                  <p:embed/>
                  <p:pic>
                    <p:nvPicPr>
                      <p:cNvPr id="0" name="Object 5"/>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94000" y="5249863"/>
                        <a:ext cx="7078663"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2"/>
          <p:cNvSpPr txBox="1">
            <a:spLocks noChangeArrowheads="1"/>
          </p:cNvSpPr>
          <p:nvPr/>
        </p:nvSpPr>
        <p:spPr bwMode="gray">
          <a:xfrm>
            <a:off x="2063750" y="341313"/>
            <a:ext cx="8540750" cy="1143000"/>
          </a:xfrm>
          <a:prstGeom prst="rect">
            <a:avLst/>
          </a:prstGeom>
          <a:noFill/>
          <a:ln w="9525">
            <a:noFill/>
            <a:miter lim="800000"/>
          </a:ln>
        </p:spPr>
        <p:txBody>
          <a:bodyPr anchor="ct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kern="0" dirty="0">
                <a:solidFill>
                  <a:srgbClr val="FF0000"/>
                </a:solidFill>
              </a:rPr>
              <a:t>半定量风险分析</a:t>
            </a:r>
            <a:r>
              <a:rPr lang="en-US" altLang="zh-CN" kern="0" dirty="0">
                <a:solidFill>
                  <a:srgbClr val="FF0000"/>
                </a:solidFill>
              </a:rPr>
              <a:t>——</a:t>
            </a:r>
            <a:r>
              <a:rPr lang="zh-CN" altLang="en-US" kern="0" dirty="0">
                <a:solidFill>
                  <a:srgbClr val="FF0000"/>
                </a:solidFill>
              </a:rPr>
              <a:t>相乘法</a:t>
            </a:r>
            <a:endParaRPr lang="zh-CN" altLang="en-US" kern="0" dirty="0">
              <a:solidFill>
                <a:srgbClr val="FF0000"/>
              </a:solidFill>
            </a:endParaRPr>
          </a:p>
        </p:txBody>
      </p:sp>
    </p:spTree>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154863" y="1047750"/>
            <a:ext cx="3513137"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7" name="标题 1"/>
          <p:cNvSpPr>
            <a:spLocks noGrp="1" noChangeArrowheads="1"/>
          </p:cNvSpPr>
          <p:nvPr>
            <p:ph type="ctrTitle"/>
          </p:nvPr>
        </p:nvSpPr>
        <p:spPr>
          <a:xfrm>
            <a:off x="2279650" y="836613"/>
            <a:ext cx="7164388" cy="487362"/>
          </a:xfrm>
        </p:spPr>
        <p:txBody>
          <a:bodyPr anchor="ctr"/>
          <a:lstStyle/>
          <a:p>
            <a:pPr algn="l"/>
            <a:r>
              <a:rPr lang="zh-CN" altLang="en-US" sz="3200">
                <a:solidFill>
                  <a:srgbClr val="FF0000"/>
                </a:solidFill>
              </a:rPr>
              <a:t>知识域：网络空间安全风险评估</a:t>
            </a:r>
            <a:endParaRPr lang="zh-CN" altLang="en-US" sz="3200">
              <a:solidFill>
                <a:srgbClr val="FF0000"/>
              </a:solidFill>
            </a:endParaRPr>
          </a:p>
        </p:txBody>
      </p:sp>
      <p:sp>
        <p:nvSpPr>
          <p:cNvPr id="92163" name="内容占位符 2"/>
          <p:cNvSpPr>
            <a:spLocks noGrp="1" noChangeArrowheads="1"/>
          </p:cNvSpPr>
          <p:nvPr>
            <p:ph type="subTitle" idx="1"/>
          </p:nvPr>
        </p:nvSpPr>
        <p:spPr>
          <a:xfrm>
            <a:off x="2509838" y="2903538"/>
            <a:ext cx="6410325" cy="2303462"/>
          </a:xfrm>
        </p:spPr>
        <p:txBody>
          <a:bodyPr/>
          <a:lstStyle/>
          <a:p>
            <a:pPr marL="342900" indent="-342900" algn="l">
              <a:lnSpc>
                <a:spcPts val="3800"/>
              </a:lnSpc>
              <a:buFont typeface="Wingdings" panose="05000000000000000000" pitchFamily="2" charset="2"/>
              <a:buChar char="v"/>
            </a:pPr>
            <a:r>
              <a:rPr lang="zh-CN" altLang="en-US" sz="2400" b="1"/>
              <a:t>掌握风险评估准备阶段的工作内容</a:t>
            </a:r>
            <a:endParaRPr lang="zh-CN" altLang="en-US" sz="2400" b="1"/>
          </a:p>
          <a:p>
            <a:pPr marL="342900" indent="-342900" algn="l">
              <a:lnSpc>
                <a:spcPts val="3800"/>
              </a:lnSpc>
              <a:buFont typeface="Wingdings" panose="05000000000000000000" pitchFamily="2" charset="2"/>
              <a:buChar char="v"/>
            </a:pPr>
            <a:r>
              <a:rPr lang="zh-CN" altLang="en-US" sz="2400" b="1"/>
              <a:t>掌握风险要素识别阶段的工作内容</a:t>
            </a:r>
            <a:endParaRPr lang="zh-CN" altLang="en-US" sz="2400" b="1"/>
          </a:p>
          <a:p>
            <a:pPr marL="342900" indent="-342900" algn="l">
              <a:lnSpc>
                <a:spcPts val="3800"/>
              </a:lnSpc>
              <a:buFont typeface="Wingdings" panose="05000000000000000000" pitchFamily="2" charset="2"/>
              <a:buChar char="v"/>
            </a:pPr>
            <a:r>
              <a:rPr lang="zh-CN" altLang="en-US" sz="2400" b="1"/>
              <a:t>掌握风险分析阶段的工作内容和工作步骤 </a:t>
            </a:r>
            <a:endParaRPr lang="zh-CN" altLang="en-US" sz="2400" b="1"/>
          </a:p>
          <a:p>
            <a:pPr marL="342900" indent="-342900" algn="l">
              <a:lnSpc>
                <a:spcPts val="3800"/>
              </a:lnSpc>
              <a:buFont typeface="Wingdings" panose="05000000000000000000" pitchFamily="2" charset="2"/>
              <a:buChar char="v"/>
            </a:pPr>
            <a:r>
              <a:rPr lang="zh-CN" altLang="en-US" sz="2400" b="1"/>
              <a:t>掌握风险结果判定阶段的工作内容</a:t>
            </a:r>
            <a:endParaRPr lang="zh-CN" altLang="en-US" sz="2400" b="1"/>
          </a:p>
          <a:p>
            <a:pPr marL="342900" indent="-342900" algn="l">
              <a:buFont typeface="Wingdings" panose="05000000000000000000" pitchFamily="2" charset="2"/>
              <a:buChar char="v"/>
            </a:pPr>
            <a:endParaRPr lang="zh-CN" altLang="en-US" sz="2400" b="1">
              <a:solidFill>
                <a:srgbClr val="009900"/>
              </a:solidFill>
            </a:endParaRPr>
          </a:p>
        </p:txBody>
      </p:sp>
      <p:sp>
        <p:nvSpPr>
          <p:cNvPr id="123909" name="日期占位符 3"/>
          <p:cNvSpPr>
            <a:spLocks noGrp="1" noChangeArrowheads="1"/>
          </p:cNvSpPr>
          <p:nvPr/>
        </p:nvSpPr>
        <p:spPr bwMode="auto">
          <a:xfrm>
            <a:off x="1905000" y="6505575"/>
            <a:ext cx="1905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000">
              <a:latin typeface="Arial" panose="020B0604020202020204" pitchFamily="34" charset="0"/>
              <a:ea typeface="宋体" panose="02010600030101010101" pitchFamily="2" charset="-122"/>
            </a:endParaRPr>
          </a:p>
        </p:txBody>
      </p:sp>
      <p:sp>
        <p:nvSpPr>
          <p:cNvPr id="2" name="矩形 1"/>
          <p:cNvSpPr/>
          <p:nvPr/>
        </p:nvSpPr>
        <p:spPr>
          <a:xfrm>
            <a:off x="2514600" y="1852613"/>
            <a:ext cx="5339080" cy="521970"/>
          </a:xfrm>
          <a:prstGeom prst="rect">
            <a:avLst/>
          </a:prstGeom>
        </p:spPr>
        <p:txBody>
          <a:bodyPr wrap="none">
            <a:spAutoFit/>
          </a:bodyPr>
          <a:lstStyle/>
          <a:p>
            <a:pPr marL="342900" indent="-342900" eaLnBrk="1" hangingPunct="1">
              <a:defRPr/>
            </a:pPr>
            <a:r>
              <a:rPr lang="zh-CN" altLang="en-US" sz="2800" dirty="0">
                <a:solidFill>
                  <a:srgbClr val="0033CC"/>
                </a:solidFill>
                <a:latin typeface="+mn-lt"/>
                <a:ea typeface="+mn-ea"/>
              </a:rPr>
              <a:t>知识子域： 风险评估的实施流程</a:t>
            </a:r>
            <a:endParaRPr lang="zh-CN" altLang="en-US" sz="2800" dirty="0">
              <a:solidFill>
                <a:srgbClr val="0033CC"/>
              </a:solidFill>
              <a:latin typeface="+mn-lt"/>
              <a:ea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92163">
                                            <p:txEl>
                                              <p:pRg st="0" end="0"/>
                                            </p:txEl>
                                          </p:spTgt>
                                        </p:tgtEl>
                                        <p:attrNameLst>
                                          <p:attrName>style.visibility</p:attrName>
                                        </p:attrNameLst>
                                      </p:cBhvr>
                                      <p:to>
                                        <p:strVal val="visible"/>
                                      </p:to>
                                    </p:set>
                                    <p:anim calcmode="lin" valueType="num">
                                      <p:cBhvr>
                                        <p:cTn id="12" dur="500" fill="hold"/>
                                        <p:tgtEl>
                                          <p:spTgt spid="9216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92163">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92163">
                                            <p:txEl>
                                              <p:pRg st="0" end="0"/>
                                            </p:txEl>
                                          </p:spTgt>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92163">
                                            <p:txEl>
                                              <p:pRg st="1" end="1"/>
                                            </p:txEl>
                                          </p:spTgt>
                                        </p:tgtEl>
                                        <p:attrNameLst>
                                          <p:attrName>style.visibility</p:attrName>
                                        </p:attrNameLst>
                                      </p:cBhvr>
                                      <p:to>
                                        <p:strVal val="visible"/>
                                      </p:to>
                                    </p:set>
                                    <p:anim calcmode="lin" valueType="num">
                                      <p:cBhvr>
                                        <p:cTn id="18" dur="500" fill="hold"/>
                                        <p:tgtEl>
                                          <p:spTgt spid="9216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9216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92163">
                                            <p:txEl>
                                              <p:pRg st="1" end="1"/>
                                            </p:txEl>
                                          </p:spTgt>
                                        </p:tgtEl>
                                      </p:cBhvr>
                                    </p:animEffect>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92163">
                                            <p:txEl>
                                              <p:pRg st="2" end="2"/>
                                            </p:txEl>
                                          </p:spTgt>
                                        </p:tgtEl>
                                        <p:attrNameLst>
                                          <p:attrName>style.visibility</p:attrName>
                                        </p:attrNameLst>
                                      </p:cBhvr>
                                      <p:to>
                                        <p:strVal val="visible"/>
                                      </p:to>
                                    </p:set>
                                    <p:anim calcmode="lin" valueType="num">
                                      <p:cBhvr>
                                        <p:cTn id="24" dur="500" fill="hold"/>
                                        <p:tgtEl>
                                          <p:spTgt spid="92163">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92163">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92163">
                                            <p:txEl>
                                              <p:pRg st="2" end="2"/>
                                            </p:txEl>
                                          </p:spTgt>
                                        </p:tgtEl>
                                      </p:cBhvr>
                                    </p:animEffect>
                                  </p:childTnLst>
                                </p:cTn>
                              </p:par>
                            </p:childTnLst>
                          </p:cTn>
                        </p:par>
                        <p:par>
                          <p:cTn id="27" fill="hold">
                            <p:stCondLst>
                              <p:cond delay="2000"/>
                            </p:stCondLst>
                            <p:childTnLst>
                              <p:par>
                                <p:cTn id="28" presetID="53" presetClass="entr" presetSubtype="16" fill="hold" grpId="0" nodeType="afterEffect">
                                  <p:stCondLst>
                                    <p:cond delay="0"/>
                                  </p:stCondLst>
                                  <p:childTnLst>
                                    <p:set>
                                      <p:cBhvr>
                                        <p:cTn id="29" dur="1" fill="hold">
                                          <p:stCondLst>
                                            <p:cond delay="0"/>
                                          </p:stCondLst>
                                        </p:cTn>
                                        <p:tgtEl>
                                          <p:spTgt spid="92163">
                                            <p:txEl>
                                              <p:pRg st="3" end="3"/>
                                            </p:txEl>
                                          </p:spTgt>
                                        </p:tgtEl>
                                        <p:attrNameLst>
                                          <p:attrName>style.visibility</p:attrName>
                                        </p:attrNameLst>
                                      </p:cBhvr>
                                      <p:to>
                                        <p:strVal val="visible"/>
                                      </p:to>
                                    </p:set>
                                    <p:anim calcmode="lin" valueType="num">
                                      <p:cBhvr>
                                        <p:cTn id="30" dur="500" fill="hold"/>
                                        <p:tgtEl>
                                          <p:spTgt spid="92163">
                                            <p:txEl>
                                              <p:pRg st="3" end="3"/>
                                            </p:txEl>
                                          </p:spTgt>
                                        </p:tgtEl>
                                        <p:attrNameLst>
                                          <p:attrName>ppt_w</p:attrName>
                                        </p:attrNameLst>
                                      </p:cBhvr>
                                      <p:tavLst>
                                        <p:tav tm="0">
                                          <p:val>
                                            <p:fltVal val="0"/>
                                          </p:val>
                                        </p:tav>
                                        <p:tav tm="100000">
                                          <p:val>
                                            <p:strVal val="#ppt_w"/>
                                          </p:val>
                                        </p:tav>
                                      </p:tavLst>
                                    </p:anim>
                                    <p:anim calcmode="lin" valueType="num">
                                      <p:cBhvr>
                                        <p:cTn id="31" dur="500" fill="hold"/>
                                        <p:tgtEl>
                                          <p:spTgt spid="92163">
                                            <p:txEl>
                                              <p:pRg st="3" end="3"/>
                                            </p:txEl>
                                          </p:spTgt>
                                        </p:tgtEl>
                                        <p:attrNameLst>
                                          <p:attrName>ppt_h</p:attrName>
                                        </p:attrNameLst>
                                      </p:cBhvr>
                                      <p:tavLst>
                                        <p:tav tm="0">
                                          <p:val>
                                            <p:fltVal val="0"/>
                                          </p:val>
                                        </p:tav>
                                        <p:tav tm="100000">
                                          <p:val>
                                            <p:strVal val="#ppt_h"/>
                                          </p:val>
                                        </p:tav>
                                      </p:tavLst>
                                    </p:anim>
                                    <p:animEffect transition="in" filter="fade">
                                      <p:cBhvr>
                                        <p:cTn id="32" dur="500"/>
                                        <p:tgtEl>
                                          <p:spTgt spid="921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p:bldP spid="2"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内容占位符 2"/>
          <p:cNvSpPr>
            <a:spLocks noGrp="1" noChangeArrowheads="1"/>
          </p:cNvSpPr>
          <p:nvPr>
            <p:ph type="subTitle" idx="1"/>
          </p:nvPr>
        </p:nvSpPr>
        <p:spPr>
          <a:xfrm>
            <a:off x="2782888" y="1557338"/>
            <a:ext cx="3673475" cy="2519362"/>
          </a:xfrm>
        </p:spPr>
        <p:txBody>
          <a:bodyPr/>
          <a:lstStyle/>
          <a:p>
            <a:pPr marL="342900" indent="-342900" algn="l">
              <a:spcBef>
                <a:spcPts val="1200"/>
              </a:spcBef>
              <a:buFont typeface="Wingdings" panose="05000000000000000000" pitchFamily="2" charset="2"/>
              <a:buChar char="v"/>
            </a:pPr>
            <a:r>
              <a:rPr lang="zh-CN" altLang="en-US" sz="2800">
                <a:latin typeface="Arial" panose="020B0604020202020204" pitchFamily="34" charset="0"/>
                <a:sym typeface="Arial" panose="020B0604020202020204" pitchFamily="34" charset="0"/>
              </a:rPr>
              <a:t>风险评估准备</a:t>
            </a:r>
            <a:endParaRPr lang="en-US" altLang="zh-CN" sz="2800">
              <a:latin typeface="Arial" panose="020B0604020202020204" pitchFamily="34" charset="0"/>
              <a:sym typeface="Arial" panose="020B0604020202020204" pitchFamily="34" charset="0"/>
            </a:endParaRPr>
          </a:p>
          <a:p>
            <a:pPr marL="342900" indent="-342900" algn="l">
              <a:spcBef>
                <a:spcPts val="1200"/>
              </a:spcBef>
              <a:buFont typeface="Wingdings" panose="05000000000000000000" pitchFamily="2" charset="2"/>
              <a:buChar char="v"/>
            </a:pPr>
            <a:r>
              <a:rPr lang="zh-CN" altLang="en-US" sz="2800"/>
              <a:t>风险要素识别</a:t>
            </a:r>
            <a:endParaRPr lang="en-US" altLang="zh-CN" sz="2800"/>
          </a:p>
          <a:p>
            <a:pPr marL="342900" indent="-342900" algn="l">
              <a:spcBef>
                <a:spcPts val="1200"/>
              </a:spcBef>
              <a:buFont typeface="Wingdings" panose="05000000000000000000" pitchFamily="2" charset="2"/>
              <a:buChar char="v"/>
            </a:pPr>
            <a:r>
              <a:rPr lang="zh-CN" altLang="en-US" sz="2800"/>
              <a:t>风险分析</a:t>
            </a:r>
            <a:endParaRPr lang="en-US" altLang="zh-CN" sz="2800"/>
          </a:p>
          <a:p>
            <a:pPr marL="342900" indent="-342900" algn="l">
              <a:spcBef>
                <a:spcPts val="1200"/>
              </a:spcBef>
              <a:buFont typeface="Wingdings" panose="05000000000000000000" pitchFamily="2" charset="2"/>
              <a:buChar char="v"/>
            </a:pPr>
            <a:r>
              <a:rPr lang="zh-CN" altLang="en-US" sz="2800"/>
              <a:t>风险结果判定</a:t>
            </a:r>
            <a:endParaRPr lang="zh-CN" altLang="en-US" sz="2800"/>
          </a:p>
        </p:txBody>
      </p:sp>
      <p:sp>
        <p:nvSpPr>
          <p:cNvPr id="124931" name="标题 1"/>
          <p:cNvSpPr>
            <a:spLocks noGrp="1" noChangeArrowheads="1"/>
          </p:cNvSpPr>
          <p:nvPr>
            <p:ph type="ctrTitle"/>
          </p:nvPr>
        </p:nvSpPr>
        <p:spPr>
          <a:xfrm>
            <a:off x="2495550" y="773113"/>
            <a:ext cx="7596188" cy="488950"/>
          </a:xfrm>
        </p:spPr>
        <p:txBody>
          <a:bodyPr anchor="ctr"/>
          <a:lstStyle/>
          <a:p>
            <a:pPr algn="l"/>
            <a:r>
              <a:rPr lang="zh-CN" altLang="en-US" sz="3200">
                <a:solidFill>
                  <a:srgbClr val="FF0000"/>
                </a:solidFill>
              </a:rPr>
              <a:t>风险评估实施流程</a:t>
            </a:r>
            <a:endParaRPr lang="zh-CN" altLang="en-US" sz="3200">
              <a:solidFill>
                <a:srgbClr val="FF0000"/>
              </a:solidFill>
            </a:endParaRPr>
          </a:p>
        </p:txBody>
      </p:sp>
      <p:pic>
        <p:nvPicPr>
          <p:cNvPr id="12493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664200" y="2852738"/>
            <a:ext cx="475297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anim calcmode="lin" valueType="num">
                                      <p:cBhvr>
                                        <p:cTn id="7" dur="500" fill="hold"/>
                                        <p:tgtEl>
                                          <p:spTgt spid="9318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318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3186">
                                            <p:txEl>
                                              <p:pRg st="0" end="0"/>
                                            </p:tx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93186">
                                            <p:txEl>
                                              <p:pRg st="1" end="1"/>
                                            </p:txEl>
                                          </p:spTgt>
                                        </p:tgtEl>
                                        <p:attrNameLst>
                                          <p:attrName>style.visibility</p:attrName>
                                        </p:attrNameLst>
                                      </p:cBhvr>
                                      <p:to>
                                        <p:strVal val="visible"/>
                                      </p:to>
                                    </p:set>
                                    <p:anim calcmode="lin" valueType="num">
                                      <p:cBhvr>
                                        <p:cTn id="13" dur="500" fill="hold"/>
                                        <p:tgtEl>
                                          <p:spTgt spid="93186">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93186">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93186">
                                            <p:txEl>
                                              <p:pRg st="1" end="1"/>
                                            </p:txEl>
                                          </p:spTgt>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93186">
                                            <p:txEl>
                                              <p:pRg st="2" end="2"/>
                                            </p:txEl>
                                          </p:spTgt>
                                        </p:tgtEl>
                                        <p:attrNameLst>
                                          <p:attrName>style.visibility</p:attrName>
                                        </p:attrNameLst>
                                      </p:cBhvr>
                                      <p:to>
                                        <p:strVal val="visible"/>
                                      </p:to>
                                    </p:set>
                                    <p:anim calcmode="lin" valueType="num">
                                      <p:cBhvr>
                                        <p:cTn id="19" dur="500" fill="hold"/>
                                        <p:tgtEl>
                                          <p:spTgt spid="93186">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93186">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93186">
                                            <p:txEl>
                                              <p:pRg st="2" end="2"/>
                                            </p:txEl>
                                          </p:spTgt>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93186">
                                            <p:txEl>
                                              <p:pRg st="3" end="3"/>
                                            </p:txEl>
                                          </p:spTgt>
                                        </p:tgtEl>
                                        <p:attrNameLst>
                                          <p:attrName>style.visibility</p:attrName>
                                        </p:attrNameLst>
                                      </p:cBhvr>
                                      <p:to>
                                        <p:strVal val="visible"/>
                                      </p:to>
                                    </p:set>
                                    <p:anim calcmode="lin" valueType="num">
                                      <p:cBhvr>
                                        <p:cTn id="25" dur="500" fill="hold"/>
                                        <p:tgtEl>
                                          <p:spTgt spid="93186">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93186">
                                            <p:txEl>
                                              <p:pRg st="3" end="3"/>
                                            </p:txEl>
                                          </p:spTgt>
                                        </p:tgtEl>
                                        <p:attrNameLst>
                                          <p:attrName>ppt_h</p:attrName>
                                        </p:attrNameLst>
                                      </p:cBhvr>
                                      <p:tavLst>
                                        <p:tav tm="0">
                                          <p:val>
                                            <p:fltVal val="0"/>
                                          </p:val>
                                        </p:tav>
                                        <p:tav tm="100000">
                                          <p:val>
                                            <p:strVal val="#ppt_h"/>
                                          </p:val>
                                        </p:tav>
                                      </p:tavLst>
                                    </p:anim>
                                    <p:animEffect transition="in" filter="fade">
                                      <p:cBhvr>
                                        <p:cTn id="27" dur="500"/>
                                        <p:tgtEl>
                                          <p:spTgt spid="9318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标题 1"/>
          <p:cNvSpPr>
            <a:spLocks noGrp="1" noChangeArrowheads="1"/>
          </p:cNvSpPr>
          <p:nvPr>
            <p:ph type="ctrTitle"/>
          </p:nvPr>
        </p:nvSpPr>
        <p:spPr>
          <a:xfrm>
            <a:off x="2135188" y="808038"/>
            <a:ext cx="7596187" cy="487362"/>
          </a:xfrm>
        </p:spPr>
        <p:txBody>
          <a:bodyPr anchor="ctr"/>
          <a:lstStyle/>
          <a:p>
            <a:pPr algn="l"/>
            <a:r>
              <a:rPr lang="zh-CN" altLang="en-US" sz="3200">
                <a:solidFill>
                  <a:srgbClr val="FF0000"/>
                </a:solidFill>
              </a:rPr>
              <a:t>风险评估准备</a:t>
            </a:r>
            <a:endParaRPr lang="zh-CN" altLang="en-US" sz="3200">
              <a:solidFill>
                <a:srgbClr val="FF0000"/>
              </a:solidFill>
            </a:endParaRPr>
          </a:p>
        </p:txBody>
      </p:sp>
      <p:sp>
        <p:nvSpPr>
          <p:cNvPr id="125956" name="Rectangle 2"/>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pic>
        <p:nvPicPr>
          <p:cNvPr id="9421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95775" y="1319213"/>
            <a:ext cx="3671888" cy="491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4213"/>
                                        </p:tgtEl>
                                        <p:attrNameLst>
                                          <p:attrName>style.visibility</p:attrName>
                                        </p:attrNameLst>
                                      </p:cBhvr>
                                      <p:to>
                                        <p:strVal val="visible"/>
                                      </p:to>
                                    </p:set>
                                    <p:anim calcmode="lin" valueType="num">
                                      <p:cBhvr>
                                        <p:cTn id="7" dur="500" fill="hold"/>
                                        <p:tgtEl>
                                          <p:spTgt spid="94213"/>
                                        </p:tgtEl>
                                        <p:attrNameLst>
                                          <p:attrName>ppt_w</p:attrName>
                                        </p:attrNameLst>
                                      </p:cBhvr>
                                      <p:tavLst>
                                        <p:tav tm="0">
                                          <p:val>
                                            <p:fltVal val="0"/>
                                          </p:val>
                                        </p:tav>
                                        <p:tav tm="100000">
                                          <p:val>
                                            <p:strVal val="#ppt_w"/>
                                          </p:val>
                                        </p:tav>
                                      </p:tavLst>
                                    </p:anim>
                                    <p:anim calcmode="lin" valueType="num">
                                      <p:cBhvr>
                                        <p:cTn id="8" dur="500" fill="hold"/>
                                        <p:tgtEl>
                                          <p:spTgt spid="94213"/>
                                        </p:tgtEl>
                                        <p:attrNameLst>
                                          <p:attrName>ppt_h</p:attrName>
                                        </p:attrNameLst>
                                      </p:cBhvr>
                                      <p:tavLst>
                                        <p:tav tm="0">
                                          <p:val>
                                            <p:fltVal val="0"/>
                                          </p:val>
                                        </p:tav>
                                        <p:tav tm="100000">
                                          <p:val>
                                            <p:strVal val="#ppt_h"/>
                                          </p:val>
                                        </p:tav>
                                      </p:tavLst>
                                    </p:anim>
                                    <p:animEffect transition="in" filter="fade">
                                      <p:cBhvr>
                                        <p:cTn id="9" dur="500"/>
                                        <p:tgtEl>
                                          <p:spTgt spid="94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标题 1"/>
          <p:cNvSpPr>
            <a:spLocks noGrp="1" noChangeArrowheads="1"/>
          </p:cNvSpPr>
          <p:nvPr>
            <p:ph type="ctrTitle"/>
          </p:nvPr>
        </p:nvSpPr>
        <p:spPr>
          <a:xfrm>
            <a:off x="2208213" y="825500"/>
            <a:ext cx="7596187" cy="487363"/>
          </a:xfrm>
        </p:spPr>
        <p:txBody>
          <a:bodyPr anchor="ctr"/>
          <a:lstStyle/>
          <a:p>
            <a:pPr algn="l"/>
            <a:r>
              <a:rPr lang="zh-CN" altLang="en-US" sz="3200">
                <a:solidFill>
                  <a:srgbClr val="FF0000"/>
                </a:solidFill>
              </a:rPr>
              <a:t>风险要素识别</a:t>
            </a:r>
            <a:endParaRPr lang="zh-CN" altLang="en-US" sz="3200">
              <a:solidFill>
                <a:srgbClr val="FF0000"/>
              </a:solidFill>
            </a:endParaRPr>
          </a:p>
        </p:txBody>
      </p:sp>
      <p:sp>
        <p:nvSpPr>
          <p:cNvPr id="126980" name="Rectangle 2"/>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pic>
        <p:nvPicPr>
          <p:cNvPr id="9523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06850" y="1406525"/>
            <a:ext cx="4284663" cy="491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5237"/>
                                        </p:tgtEl>
                                        <p:attrNameLst>
                                          <p:attrName>style.visibility</p:attrName>
                                        </p:attrNameLst>
                                      </p:cBhvr>
                                      <p:to>
                                        <p:strVal val="visible"/>
                                      </p:to>
                                    </p:set>
                                    <p:anim calcmode="lin" valueType="num">
                                      <p:cBhvr>
                                        <p:cTn id="7" dur="500" fill="hold"/>
                                        <p:tgtEl>
                                          <p:spTgt spid="95237"/>
                                        </p:tgtEl>
                                        <p:attrNameLst>
                                          <p:attrName>ppt_w</p:attrName>
                                        </p:attrNameLst>
                                      </p:cBhvr>
                                      <p:tavLst>
                                        <p:tav tm="0">
                                          <p:val>
                                            <p:fltVal val="0"/>
                                          </p:val>
                                        </p:tav>
                                        <p:tav tm="100000">
                                          <p:val>
                                            <p:strVal val="#ppt_w"/>
                                          </p:val>
                                        </p:tav>
                                      </p:tavLst>
                                    </p:anim>
                                    <p:anim calcmode="lin" valueType="num">
                                      <p:cBhvr>
                                        <p:cTn id="8" dur="500" fill="hold"/>
                                        <p:tgtEl>
                                          <p:spTgt spid="95237"/>
                                        </p:tgtEl>
                                        <p:attrNameLst>
                                          <p:attrName>ppt_h</p:attrName>
                                        </p:attrNameLst>
                                      </p:cBhvr>
                                      <p:tavLst>
                                        <p:tav tm="0">
                                          <p:val>
                                            <p:fltVal val="0"/>
                                          </p:val>
                                        </p:tav>
                                        <p:tav tm="100000">
                                          <p:val>
                                            <p:strVal val="#ppt_h"/>
                                          </p:val>
                                        </p:tav>
                                      </p:tavLst>
                                    </p:anim>
                                    <p:animEffect transition="in" filter="fade">
                                      <p:cBhvr>
                                        <p:cTn id="9" dur="500"/>
                                        <p:tgtEl>
                                          <p:spTgt spid="95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Text Box 2"/>
          <p:cNvSpPr>
            <a:spLocks noChangeArrowheads="1"/>
          </p:cNvSpPr>
          <p:nvPr/>
        </p:nvSpPr>
        <p:spPr bwMode="auto">
          <a:xfrm>
            <a:off x="2362359" y="852488"/>
            <a:ext cx="263652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 typeface="Arial" panose="020B0604020202020204" pitchFamily="34" charset="0"/>
              <a:buNone/>
            </a:pPr>
            <a:r>
              <a:rPr lang="zh-CN" altLang="en-US" sz="3200" b="1">
                <a:solidFill>
                  <a:srgbClr val="FF0000"/>
                </a:solidFill>
                <a:sym typeface="黑体" panose="02010609060101010101" pitchFamily="49" charset="-122"/>
              </a:rPr>
              <a:t>资产识别    </a:t>
            </a:r>
            <a:endParaRPr lang="zh-CN" altLang="en-US" sz="1800">
              <a:solidFill>
                <a:srgbClr val="FF0000"/>
              </a:solidFill>
              <a:latin typeface="Arial" panose="020B0604020202020204" pitchFamily="34" charset="0"/>
              <a:ea typeface="宋体" panose="02010600030101010101" pitchFamily="2" charset="-122"/>
            </a:endParaRPr>
          </a:p>
        </p:txBody>
      </p:sp>
      <p:sp>
        <p:nvSpPr>
          <p:cNvPr id="81924" name="Text Box 3"/>
          <p:cNvSpPr>
            <a:spLocks noChangeArrowheads="1"/>
          </p:cNvSpPr>
          <p:nvPr/>
        </p:nvSpPr>
        <p:spPr bwMode="auto">
          <a:xfrm>
            <a:off x="2230438" y="1666875"/>
            <a:ext cx="634174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n"/>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 资产识别在整个风险评估中起什么作用？    </a:t>
            </a:r>
            <a:endParaRPr lang="zh-CN" altLang="en-US" sz="1800">
              <a:latin typeface="Arial" panose="020B0604020202020204" pitchFamily="34" charset="0"/>
              <a:ea typeface="宋体" panose="02010600030101010101" pitchFamily="2" charset="-122"/>
            </a:endParaRPr>
          </a:p>
        </p:txBody>
      </p:sp>
      <p:sp>
        <p:nvSpPr>
          <p:cNvPr id="81925" name="Text Box 4"/>
          <p:cNvSpPr>
            <a:spLocks noChangeArrowheads="1"/>
          </p:cNvSpPr>
          <p:nvPr/>
        </p:nvSpPr>
        <p:spPr bwMode="auto">
          <a:xfrm>
            <a:off x="2784475" y="2106613"/>
            <a:ext cx="60299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None/>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两点：是整个风险评估工作的起点和终点    </a:t>
            </a:r>
            <a:endParaRPr lang="zh-CN" altLang="en-US" sz="1800" b="1">
              <a:latin typeface="Arial" panose="020B0604020202020204" pitchFamily="34" charset="0"/>
              <a:ea typeface="宋体" panose="02010600030101010101" pitchFamily="2" charset="-122"/>
            </a:endParaRPr>
          </a:p>
        </p:txBody>
      </p:sp>
      <p:sp>
        <p:nvSpPr>
          <p:cNvPr id="81926" name="Text Box 5"/>
          <p:cNvSpPr>
            <a:spLocks noChangeArrowheads="1"/>
          </p:cNvSpPr>
          <p:nvPr/>
        </p:nvSpPr>
        <p:spPr bwMode="auto">
          <a:xfrm>
            <a:off x="2227263" y="2592388"/>
            <a:ext cx="511746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n"/>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 资产识别的重点和难点是什么？    </a:t>
            </a:r>
            <a:endParaRPr lang="zh-CN" altLang="en-US" sz="1800">
              <a:latin typeface="Arial" panose="020B0604020202020204" pitchFamily="34" charset="0"/>
              <a:ea typeface="宋体" panose="02010600030101010101" pitchFamily="2" charset="-122"/>
            </a:endParaRPr>
          </a:p>
        </p:txBody>
      </p:sp>
      <p:sp>
        <p:nvSpPr>
          <p:cNvPr id="81927" name="Text Box 6"/>
          <p:cNvSpPr>
            <a:spLocks noChangeArrowheads="1"/>
          </p:cNvSpPr>
          <p:nvPr/>
        </p:nvSpPr>
        <p:spPr bwMode="auto">
          <a:xfrm>
            <a:off x="2695575" y="2968625"/>
            <a:ext cx="8031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None/>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一线：业务战略→ 信息化战略→ 系统特征（管理</a:t>
            </a:r>
            <a:r>
              <a:rPr lang="en-US" altLang="zh-CN" sz="2400" b="1">
                <a:solidFill>
                  <a:srgbClr val="000000"/>
                </a:solidFill>
                <a:latin typeface="Arial" panose="020B0604020202020204" pitchFamily="34" charset="0"/>
                <a:ea typeface="宋体" panose="02010600030101010101" pitchFamily="2" charset="-122"/>
                <a:sym typeface="黑体" panose="02010609060101010101" pitchFamily="49" charset="-122"/>
              </a:rPr>
              <a:t>/</a:t>
            </a: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技术</a:t>
            </a:r>
            <a:r>
              <a:rPr lang="zh-CN" altLang="en-US" sz="2400">
                <a:solidFill>
                  <a:srgbClr val="000000"/>
                </a:solidFill>
                <a:latin typeface="Arial" panose="020B0604020202020204" pitchFamily="34" charset="0"/>
                <a:ea typeface="宋体" panose="02010600030101010101" pitchFamily="2" charset="-122"/>
                <a:sym typeface="黑体" panose="02010609060101010101" pitchFamily="49" charset="-122"/>
              </a:rPr>
              <a:t>）   </a:t>
            </a:r>
            <a:endParaRPr lang="zh-CN" altLang="en-US" sz="1800">
              <a:latin typeface="Arial" panose="020B0604020202020204" pitchFamily="34" charset="0"/>
              <a:ea typeface="宋体" panose="02010600030101010101" pitchFamily="2" charset="-122"/>
            </a:endParaRPr>
          </a:p>
        </p:txBody>
      </p:sp>
      <p:sp>
        <p:nvSpPr>
          <p:cNvPr id="81928" name="Text Box 7"/>
          <p:cNvSpPr>
            <a:spLocks noChangeArrowheads="1"/>
          </p:cNvSpPr>
          <p:nvPr/>
        </p:nvSpPr>
        <p:spPr bwMode="auto">
          <a:xfrm>
            <a:off x="2266950" y="3589338"/>
            <a:ext cx="41992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n"/>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 资产识别的方法有哪些？    </a:t>
            </a:r>
            <a:endParaRPr lang="zh-CN" altLang="en-US" sz="1800">
              <a:latin typeface="Arial" panose="020B0604020202020204" pitchFamily="34" charset="0"/>
              <a:ea typeface="宋体" panose="02010600030101010101" pitchFamily="2" charset="-122"/>
            </a:endParaRPr>
          </a:p>
        </p:txBody>
      </p:sp>
      <p:sp>
        <p:nvSpPr>
          <p:cNvPr id="81929" name="Text Box 8"/>
          <p:cNvSpPr>
            <a:spLocks noChangeArrowheads="1"/>
          </p:cNvSpPr>
          <p:nvPr/>
        </p:nvSpPr>
        <p:spPr bwMode="auto">
          <a:xfrm>
            <a:off x="2649538" y="4029075"/>
            <a:ext cx="717550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None/>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资产分类：树状法。自然形态分类（勾画资产树：管理、技术</a:t>
            </a:r>
            <a:r>
              <a:rPr lang="en-US" altLang="zh-CN" sz="2400" b="1">
                <a:solidFill>
                  <a:srgbClr val="000000"/>
                </a:solidFill>
                <a:latin typeface="Arial" panose="020B0604020202020204" pitchFamily="34" charset="0"/>
                <a:ea typeface="宋体" panose="02010600030101010101" pitchFamily="2" charset="-122"/>
                <a:sym typeface="黑体" panose="02010609060101010101" pitchFamily="49" charset="-122"/>
              </a:rPr>
              <a:t>…</a:t>
            </a: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逐步往下细化）；信息形态分类（信息环境、  信息载体、信息）  </a:t>
            </a:r>
            <a:endParaRPr lang="zh-CN" altLang="en-US" sz="1800" b="1">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81924"/>
                                        </p:tgtEl>
                                        <p:attrNameLst>
                                          <p:attrName>style.visibility</p:attrName>
                                        </p:attrNameLst>
                                      </p:cBhvr>
                                      <p:to>
                                        <p:strVal val="visible"/>
                                      </p:to>
                                    </p:set>
                                    <p:anim calcmode="fmla" valueType="clr">
                                      <p:cBhvr override="childStyle">
                                        <p:cTn id="7" dur="80"/>
                                        <p:tgtEl>
                                          <p:spTgt spid="81924"/>
                                        </p:tgtEl>
                                        <p:attrNameLst>
                                          <p:attrName>style.color</p:attrName>
                                        </p:attrNameLst>
                                      </p:cBhvr>
                                    </p:anim>
                                    <p:anim calcmode="fmla" valueType="clr">
                                      <p:cBhvr>
                                        <p:cTn id="8" dur="80"/>
                                        <p:tgtEl>
                                          <p:spTgt spid="81924"/>
                                        </p:tgtEl>
                                        <p:attrNameLst>
                                          <p:attrName>fillcolor</p:attrName>
                                        </p:attrNameLst>
                                      </p:cBhvr>
                                    </p:anim>
                                    <p:set>
                                      <p:cBhvr>
                                        <p:cTn id="9" dur="80"/>
                                        <p:tgtEl>
                                          <p:spTgt spid="8192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81925"/>
                                        </p:tgtEl>
                                        <p:attrNameLst>
                                          <p:attrName>style.visibility</p:attrName>
                                        </p:attrNameLst>
                                      </p:cBhvr>
                                      <p:to>
                                        <p:strVal val="visible"/>
                                      </p:to>
                                    </p:set>
                                    <p:anim calcmode="fmla" valueType="clr">
                                      <p:cBhvr override="childStyle">
                                        <p:cTn id="14" dur="80"/>
                                        <p:tgtEl>
                                          <p:spTgt spid="81925"/>
                                        </p:tgtEl>
                                        <p:attrNameLst>
                                          <p:attrName>style.color</p:attrName>
                                        </p:attrNameLst>
                                      </p:cBhvr>
                                    </p:anim>
                                    <p:anim calcmode="fmla" valueType="clr">
                                      <p:cBhvr>
                                        <p:cTn id="15" dur="80"/>
                                        <p:tgtEl>
                                          <p:spTgt spid="81925"/>
                                        </p:tgtEl>
                                        <p:attrNameLst>
                                          <p:attrName>fillcolor</p:attrName>
                                        </p:attrNameLst>
                                      </p:cBhvr>
                                    </p:anim>
                                    <p:set>
                                      <p:cBhvr>
                                        <p:cTn id="16" dur="80"/>
                                        <p:tgtEl>
                                          <p:spTgt spid="81925"/>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81926"/>
                                        </p:tgtEl>
                                        <p:attrNameLst>
                                          <p:attrName>style.visibility</p:attrName>
                                        </p:attrNameLst>
                                      </p:cBhvr>
                                      <p:to>
                                        <p:strVal val="visible"/>
                                      </p:to>
                                    </p:set>
                                    <p:anim calcmode="fmla" valueType="clr">
                                      <p:cBhvr override="childStyle">
                                        <p:cTn id="21" dur="80"/>
                                        <p:tgtEl>
                                          <p:spTgt spid="81926"/>
                                        </p:tgtEl>
                                        <p:attrNameLst>
                                          <p:attrName>style.color</p:attrName>
                                        </p:attrNameLst>
                                      </p:cBhvr>
                                    </p:anim>
                                    <p:anim calcmode="fmla" valueType="clr">
                                      <p:cBhvr>
                                        <p:cTn id="22" dur="80"/>
                                        <p:tgtEl>
                                          <p:spTgt spid="81926"/>
                                        </p:tgtEl>
                                        <p:attrNameLst>
                                          <p:attrName>fillcolor</p:attrName>
                                        </p:attrNameLst>
                                      </p:cBhvr>
                                    </p:anim>
                                    <p:set>
                                      <p:cBhvr>
                                        <p:cTn id="23" dur="80"/>
                                        <p:tgtEl>
                                          <p:spTgt spid="81926"/>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81927"/>
                                        </p:tgtEl>
                                        <p:attrNameLst>
                                          <p:attrName>style.visibility</p:attrName>
                                        </p:attrNameLst>
                                      </p:cBhvr>
                                      <p:to>
                                        <p:strVal val="visible"/>
                                      </p:to>
                                    </p:set>
                                    <p:anim calcmode="fmla" valueType="clr">
                                      <p:cBhvr override="childStyle">
                                        <p:cTn id="28" dur="80"/>
                                        <p:tgtEl>
                                          <p:spTgt spid="81927"/>
                                        </p:tgtEl>
                                        <p:attrNameLst>
                                          <p:attrName>style.color</p:attrName>
                                        </p:attrNameLst>
                                      </p:cBhvr>
                                    </p:anim>
                                    <p:anim calcmode="fmla" valueType="clr">
                                      <p:cBhvr>
                                        <p:cTn id="29" dur="80"/>
                                        <p:tgtEl>
                                          <p:spTgt spid="81927"/>
                                        </p:tgtEl>
                                        <p:attrNameLst>
                                          <p:attrName>fillcolor</p:attrName>
                                        </p:attrNameLst>
                                      </p:cBhvr>
                                    </p:anim>
                                    <p:set>
                                      <p:cBhvr>
                                        <p:cTn id="30" dur="80"/>
                                        <p:tgtEl>
                                          <p:spTgt spid="81927"/>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81928"/>
                                        </p:tgtEl>
                                        <p:attrNameLst>
                                          <p:attrName>style.visibility</p:attrName>
                                        </p:attrNameLst>
                                      </p:cBhvr>
                                      <p:to>
                                        <p:strVal val="visible"/>
                                      </p:to>
                                    </p:set>
                                    <p:anim calcmode="fmla" valueType="clr">
                                      <p:cBhvr override="childStyle">
                                        <p:cTn id="35" dur="80"/>
                                        <p:tgtEl>
                                          <p:spTgt spid="81928"/>
                                        </p:tgtEl>
                                        <p:attrNameLst>
                                          <p:attrName>style.color</p:attrName>
                                        </p:attrNameLst>
                                      </p:cBhvr>
                                    </p:anim>
                                    <p:anim calcmode="fmla" valueType="clr">
                                      <p:cBhvr>
                                        <p:cTn id="36" dur="80"/>
                                        <p:tgtEl>
                                          <p:spTgt spid="81928"/>
                                        </p:tgtEl>
                                        <p:attrNameLst>
                                          <p:attrName>fillcolor</p:attrName>
                                        </p:attrNameLst>
                                      </p:cBhvr>
                                    </p:anim>
                                    <p:set>
                                      <p:cBhvr>
                                        <p:cTn id="37" dur="80"/>
                                        <p:tgtEl>
                                          <p:spTgt spid="81928"/>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grpId="0" nodeType="clickEffect">
                                  <p:stCondLst>
                                    <p:cond delay="0"/>
                                  </p:stCondLst>
                                  <p:iterate type="lt">
                                    <p:tmPct val="50000"/>
                                  </p:iterate>
                                  <p:childTnLst>
                                    <p:set>
                                      <p:cBhvr>
                                        <p:cTn id="41" dur="1" fill="hold">
                                          <p:stCondLst>
                                            <p:cond delay="0"/>
                                          </p:stCondLst>
                                        </p:cTn>
                                        <p:tgtEl>
                                          <p:spTgt spid="81929"/>
                                        </p:tgtEl>
                                        <p:attrNameLst>
                                          <p:attrName>style.visibility</p:attrName>
                                        </p:attrNameLst>
                                      </p:cBhvr>
                                      <p:to>
                                        <p:strVal val="visible"/>
                                      </p:to>
                                    </p:set>
                                    <p:anim calcmode="fmla" valueType="clr">
                                      <p:cBhvr override="childStyle">
                                        <p:cTn id="42" dur="80"/>
                                        <p:tgtEl>
                                          <p:spTgt spid="81929"/>
                                        </p:tgtEl>
                                        <p:attrNameLst>
                                          <p:attrName>style.color</p:attrName>
                                        </p:attrNameLst>
                                      </p:cBhvr>
                                    </p:anim>
                                    <p:anim calcmode="fmla" valueType="clr">
                                      <p:cBhvr>
                                        <p:cTn id="43" dur="80"/>
                                        <p:tgtEl>
                                          <p:spTgt spid="81929"/>
                                        </p:tgtEl>
                                        <p:attrNameLst>
                                          <p:attrName>fillcolor</p:attrName>
                                        </p:attrNameLst>
                                      </p:cBhvr>
                                    </p:anim>
                                    <p:set>
                                      <p:cBhvr>
                                        <p:cTn id="44" dur="80"/>
                                        <p:tgtEl>
                                          <p:spTgt spid="8192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bldLvl="0"/>
      <p:bldP spid="81925" grpId="0" bldLvl="0"/>
      <p:bldP spid="81926" grpId="0" bldLvl="0"/>
      <p:bldP spid="81927" grpId="0" bldLvl="0"/>
      <p:bldP spid="81928" grpId="0" bldLvl="0"/>
      <p:bldP spid="81929" grpId="0" bldLvl="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Text Box 2"/>
          <p:cNvSpPr>
            <a:spLocks noChangeArrowheads="1"/>
          </p:cNvSpPr>
          <p:nvPr/>
        </p:nvSpPr>
        <p:spPr bwMode="auto">
          <a:xfrm>
            <a:off x="1856743" y="836613"/>
            <a:ext cx="467804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 typeface="Arial" panose="020B0604020202020204" pitchFamily="34" charset="0"/>
              <a:buNone/>
            </a:pPr>
            <a:r>
              <a:rPr lang="zh-CN" altLang="en-US" sz="3200" b="1" dirty="0">
                <a:solidFill>
                  <a:srgbClr val="FF0000"/>
                </a:solidFill>
                <a:sym typeface="黑体" panose="02010609060101010101" pitchFamily="49" charset="-122"/>
              </a:rPr>
              <a:t>资产按信息形态分类    </a:t>
            </a:r>
            <a:endParaRPr lang="zh-CN" altLang="en-US" sz="1800" dirty="0">
              <a:solidFill>
                <a:srgbClr val="FF0000"/>
              </a:solidFill>
              <a:latin typeface="Arial" panose="020B0604020202020204" pitchFamily="34" charset="0"/>
              <a:ea typeface="宋体" panose="02010600030101010101" pitchFamily="2" charset="-122"/>
            </a:endParaRPr>
          </a:p>
        </p:txBody>
      </p:sp>
      <p:pic>
        <p:nvPicPr>
          <p:cNvPr id="129028" name="Picture 5" descr="资产识别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6988" y="1841500"/>
            <a:ext cx="6842125"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标题 1"/>
          <p:cNvSpPr>
            <a:spLocks noGrp="1" noChangeArrowheads="1"/>
          </p:cNvSpPr>
          <p:nvPr>
            <p:ph type="ctrTitle"/>
          </p:nvPr>
        </p:nvSpPr>
        <p:spPr>
          <a:xfrm>
            <a:off x="2459038" y="820738"/>
            <a:ext cx="6511925" cy="487362"/>
          </a:xfrm>
        </p:spPr>
        <p:txBody>
          <a:bodyPr anchor="ctr"/>
          <a:lstStyle/>
          <a:p>
            <a:pPr algn="l"/>
            <a:r>
              <a:rPr lang="zh-CN" altLang="en-US" sz="3200">
                <a:solidFill>
                  <a:srgbClr val="FF0000"/>
                </a:solidFill>
              </a:rPr>
              <a:t>资产识别</a:t>
            </a:r>
            <a:endParaRPr lang="zh-CN" altLang="en-US" sz="3200">
              <a:solidFill>
                <a:srgbClr val="FF0000"/>
              </a:solidFill>
            </a:endParaRPr>
          </a:p>
        </p:txBody>
      </p:sp>
      <p:pic>
        <p:nvPicPr>
          <p:cNvPr id="9830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6988" y="1557338"/>
            <a:ext cx="7777162" cy="450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8308"/>
                                        </p:tgtEl>
                                        <p:attrNameLst>
                                          <p:attrName>style.visibility</p:attrName>
                                        </p:attrNameLst>
                                      </p:cBhvr>
                                      <p:to>
                                        <p:strVal val="visible"/>
                                      </p:to>
                                    </p:set>
                                    <p:anim calcmode="lin" valueType="num">
                                      <p:cBhvr>
                                        <p:cTn id="7" dur="500" fill="hold"/>
                                        <p:tgtEl>
                                          <p:spTgt spid="98308"/>
                                        </p:tgtEl>
                                        <p:attrNameLst>
                                          <p:attrName>ppt_w</p:attrName>
                                        </p:attrNameLst>
                                      </p:cBhvr>
                                      <p:tavLst>
                                        <p:tav tm="0">
                                          <p:val>
                                            <p:fltVal val="0"/>
                                          </p:val>
                                        </p:tav>
                                        <p:tav tm="100000">
                                          <p:val>
                                            <p:strVal val="#ppt_w"/>
                                          </p:val>
                                        </p:tav>
                                      </p:tavLst>
                                    </p:anim>
                                    <p:anim calcmode="lin" valueType="num">
                                      <p:cBhvr>
                                        <p:cTn id="8" dur="500" fill="hold"/>
                                        <p:tgtEl>
                                          <p:spTgt spid="98308"/>
                                        </p:tgtEl>
                                        <p:attrNameLst>
                                          <p:attrName>ppt_h</p:attrName>
                                        </p:attrNameLst>
                                      </p:cBhvr>
                                      <p:tavLst>
                                        <p:tav tm="0">
                                          <p:val>
                                            <p:fltVal val="0"/>
                                          </p:val>
                                        </p:tav>
                                        <p:tav tm="100000">
                                          <p:val>
                                            <p:strVal val="#ppt_h"/>
                                          </p:val>
                                        </p:tav>
                                      </p:tavLst>
                                    </p:anim>
                                    <p:animEffect transition="in" filter="fade">
                                      <p:cBhvr>
                                        <p:cTn id="9" dur="500"/>
                                        <p:tgtEl>
                                          <p:spTgt spid="98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63750" y="765175"/>
            <a:ext cx="1816100" cy="485140"/>
          </a:xfrm>
          <a:prstGeom prst="rect">
            <a:avLst/>
          </a:prstGeom>
        </p:spPr>
        <p:txBody>
          <a:bodyPr wrap="none">
            <a:spAutoFit/>
          </a:bodyPr>
          <a:lstStyle/>
          <a:p>
            <a:pPr defTabSz="179705">
              <a:lnSpc>
                <a:spcPct val="80000"/>
              </a:lnSpc>
              <a:defRPr/>
            </a:pPr>
            <a:r>
              <a:rPr lang="zh-CN" altLang="en-US" sz="3200" b="1" dirty="0">
                <a:solidFill>
                  <a:srgbClr val="FF0000"/>
                </a:solidFill>
                <a:latin typeface="+mj-lt"/>
                <a:ea typeface="+mj-ea"/>
                <a:cs typeface="+mj-cs"/>
                <a:sym typeface="Arial" panose="020B0604020202020204" pitchFamily="34" charset="0"/>
              </a:rPr>
              <a:t>资产评估</a:t>
            </a:r>
            <a:endParaRPr lang="en-US" altLang="zh-CN" sz="3200" b="1" dirty="0">
              <a:solidFill>
                <a:srgbClr val="FF0000"/>
              </a:solidFill>
              <a:latin typeface="+mj-lt"/>
              <a:ea typeface="+mj-ea"/>
              <a:cs typeface="+mj-cs"/>
              <a:sym typeface="Arial" panose="020B0604020202020204" pitchFamily="34" charset="0"/>
            </a:endParaRPr>
          </a:p>
        </p:txBody>
      </p:sp>
      <p:sp>
        <p:nvSpPr>
          <p:cNvPr id="3" name="矩形 2"/>
          <p:cNvSpPr/>
          <p:nvPr/>
        </p:nvSpPr>
        <p:spPr>
          <a:xfrm>
            <a:off x="2351088" y="1412875"/>
            <a:ext cx="7921625" cy="1630045"/>
          </a:xfrm>
          <a:prstGeom prst="rect">
            <a:avLst/>
          </a:prstGeom>
        </p:spPr>
        <p:txBody>
          <a:bodyPr>
            <a:spAutoFit/>
          </a:bodyPr>
          <a:lstStyle/>
          <a:p>
            <a:pPr marL="285750" indent="-285750" defTabSz="179705" eaLnBrk="1" hangingPunct="1">
              <a:lnSpc>
                <a:spcPts val="2400"/>
              </a:lnSpc>
              <a:buClr>
                <a:srgbClr val="0033CC"/>
              </a:buClr>
              <a:buFont typeface="Wingdings" panose="05000000000000000000" pitchFamily="2" charset="2"/>
              <a:buChar char="n"/>
              <a:defRPr/>
            </a:pPr>
            <a:r>
              <a:rPr lang="zh-CN" altLang="en-US" sz="2000" b="1" dirty="0">
                <a:solidFill>
                  <a:srgbClr val="161616"/>
                </a:solidFill>
                <a:latin typeface="+mn-ea"/>
                <a:ea typeface="+mn-ea"/>
                <a:sym typeface="Arial" panose="020B0604020202020204" pitchFamily="34" charset="0"/>
              </a:rPr>
              <a:t>资产的评价是对资产的价值或重要程度进行评估，资产本身的货币价值是资产价值的体现，但更重要的是</a:t>
            </a:r>
            <a:r>
              <a:rPr lang="zh-CN" altLang="en-US" sz="2000" b="1" dirty="0">
                <a:solidFill>
                  <a:srgbClr val="FF0000"/>
                </a:solidFill>
                <a:latin typeface="+mn-ea"/>
                <a:ea typeface="+mn-ea"/>
                <a:sym typeface="Arial" panose="020B0604020202020204" pitchFamily="34" charset="0"/>
              </a:rPr>
              <a:t>资产对组织关键业务的顺利开展乃至组织目标实现的重要程度</a:t>
            </a:r>
            <a:r>
              <a:rPr lang="zh-CN" altLang="en-US" sz="2000" b="1" dirty="0">
                <a:solidFill>
                  <a:srgbClr val="161616"/>
                </a:solidFill>
                <a:latin typeface="+mn-ea"/>
                <a:ea typeface="+mn-ea"/>
                <a:sym typeface="Arial" panose="020B0604020202020204" pitchFamily="34" charset="0"/>
              </a:rPr>
              <a:t>。由于多数资产不能以货币形式的价值来衡量，资产评价很难以定量的方式来进行，</a:t>
            </a:r>
            <a:r>
              <a:rPr lang="zh-CN" altLang="en-US" sz="2000" b="1" dirty="0">
                <a:solidFill>
                  <a:srgbClr val="FF0000"/>
                </a:solidFill>
                <a:latin typeface="+mn-ea"/>
                <a:ea typeface="+mn-ea"/>
                <a:sym typeface="Arial" panose="020B0604020202020204" pitchFamily="34" charset="0"/>
              </a:rPr>
              <a:t>多数情况下只能以定性的形式，依据重要程度的不同划分等级</a:t>
            </a:r>
            <a:endParaRPr lang="zh-CN" altLang="en-US" sz="2000" b="1" dirty="0">
              <a:solidFill>
                <a:srgbClr val="161616"/>
              </a:solidFill>
              <a:latin typeface="+mn-ea"/>
              <a:ea typeface="+mn-ea"/>
              <a:sym typeface="Arial" panose="020B0604020202020204" pitchFamily="34" charset="0"/>
            </a:endParaRPr>
          </a:p>
        </p:txBody>
      </p:sp>
      <p:sp>
        <p:nvSpPr>
          <p:cNvPr id="4" name="矩形 3"/>
          <p:cNvSpPr>
            <a:spLocks noChangeArrowheads="1"/>
          </p:cNvSpPr>
          <p:nvPr/>
        </p:nvSpPr>
        <p:spPr bwMode="auto">
          <a:xfrm>
            <a:off x="2351088" y="3062288"/>
            <a:ext cx="813752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defTabSz="1797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1797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1797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1797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1797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150000"/>
              </a:lnSpc>
              <a:spcBef>
                <a:spcPct val="0"/>
              </a:spcBef>
              <a:buClrTx/>
              <a:buFont typeface="Wingdings" panose="05000000000000000000" pitchFamily="2" charset="2"/>
              <a:buChar char="n"/>
            </a:pPr>
            <a:r>
              <a:rPr lang="zh-CN" altLang="en-US" sz="2000" b="1">
                <a:solidFill>
                  <a:srgbClr val="0033CC"/>
                </a:solidFill>
                <a:latin typeface="Arial" panose="020B0604020202020204" pitchFamily="34" charset="0"/>
                <a:ea typeface="宋体" panose="02010600030101010101" pitchFamily="2" charset="-122"/>
                <a:sym typeface="Arial" panose="020B0604020202020204" pitchFamily="34" charset="0"/>
              </a:rPr>
              <a:t>定性：</a:t>
            </a:r>
            <a:r>
              <a:rPr lang="zh-CN" altLang="en-US" sz="2000" b="1">
                <a:latin typeface="Arial" panose="020B0604020202020204" pitchFamily="34" charset="0"/>
                <a:ea typeface="宋体" panose="02010600030101010101" pitchFamily="2" charset="-122"/>
                <a:sym typeface="Arial" panose="020B0604020202020204" pitchFamily="34" charset="0"/>
              </a:rPr>
              <a:t>非常重要</a:t>
            </a:r>
            <a:r>
              <a:rPr lang="zh-CN" altLang="en-US" sz="2000" b="1">
                <a:latin typeface="Arial" panose="020B0604020202020204" pitchFamily="34" charset="0"/>
                <a:ea typeface="宋体" panose="02010600030101010101" pitchFamily="2" charset="-122"/>
                <a:cs typeface="Arial" panose="020B0604020202020204" pitchFamily="34" charset="0"/>
                <a:sym typeface="Arial" panose="020B0604020202020204" pitchFamily="34" charset="0"/>
              </a:rPr>
              <a:t>→</a:t>
            </a:r>
            <a:r>
              <a:rPr lang="zh-CN" altLang="en-US" sz="2000" b="1">
                <a:latin typeface="Arial" panose="020B0604020202020204" pitchFamily="34" charset="0"/>
                <a:ea typeface="宋体" panose="02010600030101010101" pitchFamily="2" charset="-122"/>
                <a:sym typeface="Arial" panose="020B0604020202020204" pitchFamily="34" charset="0"/>
              </a:rPr>
              <a:t>重要→比较重要→不太重要→不重要</a:t>
            </a:r>
            <a:r>
              <a:rPr lang="zh-CN" altLang="en-US" sz="2000" b="1">
                <a:solidFill>
                  <a:schemeClr val="tx2"/>
                </a:solidFill>
                <a:latin typeface="Arial" panose="020B0604020202020204" pitchFamily="34" charset="0"/>
                <a:ea typeface="宋体" panose="02010600030101010101" pitchFamily="2" charset="-122"/>
                <a:sym typeface="Arial" panose="020B0604020202020204" pitchFamily="34" charset="0"/>
              </a:rPr>
              <a:t>（ </a:t>
            </a:r>
            <a:r>
              <a:rPr lang="en-US" altLang="zh-CN" sz="2000" b="1">
                <a:solidFill>
                  <a:srgbClr val="FF0000"/>
                </a:solidFill>
                <a:latin typeface="Arial" panose="020B0604020202020204" pitchFamily="34" charset="0"/>
                <a:ea typeface="宋体" panose="02010600030101010101" pitchFamily="2" charset="-122"/>
                <a:sym typeface="Arial" panose="020B0604020202020204" pitchFamily="34" charset="0"/>
              </a:rPr>
              <a:t>5</a:t>
            </a:r>
            <a:r>
              <a:rPr lang="zh-CN" altLang="en-US" sz="2000" b="1">
                <a:solidFill>
                  <a:srgbClr val="FF0000"/>
                </a:solidFill>
                <a:latin typeface="Arial" panose="020B0604020202020204" pitchFamily="34" charset="0"/>
                <a:ea typeface="宋体" panose="02010600030101010101" pitchFamily="2" charset="-122"/>
                <a:sym typeface="Arial" panose="020B0604020202020204" pitchFamily="34" charset="0"/>
              </a:rPr>
              <a:t>级划分</a:t>
            </a:r>
            <a:r>
              <a:rPr lang="zh-CN" altLang="en-US" sz="2000" b="1">
                <a:solidFill>
                  <a:schemeClr val="tx2"/>
                </a:solidFill>
                <a:latin typeface="Arial" panose="020B0604020202020204" pitchFamily="34" charset="0"/>
                <a:ea typeface="宋体" panose="02010600030101010101" pitchFamily="2" charset="-122"/>
                <a:sym typeface="Arial" panose="020B0604020202020204" pitchFamily="34" charset="0"/>
              </a:rPr>
              <a:t>）</a:t>
            </a:r>
            <a:endParaRPr lang="zh-CN" altLang="en-US" sz="2000" b="1">
              <a:solidFill>
                <a:schemeClr val="tx2"/>
              </a:solidFill>
              <a:latin typeface="Arial" panose="020B0604020202020204" pitchFamily="34" charset="0"/>
              <a:ea typeface="宋体" panose="02010600030101010101" pitchFamily="2" charset="-122"/>
              <a:sym typeface="Arial" panose="020B0604020202020204" pitchFamily="34" charset="0"/>
            </a:endParaRPr>
          </a:p>
          <a:p>
            <a:pPr eaLnBrk="1" hangingPunct="1">
              <a:lnSpc>
                <a:spcPct val="150000"/>
              </a:lnSpc>
              <a:spcBef>
                <a:spcPct val="0"/>
              </a:spcBef>
              <a:buClrTx/>
              <a:buFont typeface="Wingdings" panose="05000000000000000000" pitchFamily="2" charset="2"/>
              <a:buChar char="n"/>
            </a:pPr>
            <a:r>
              <a:rPr lang="zh-CN" altLang="en-US" sz="2000" b="1">
                <a:solidFill>
                  <a:srgbClr val="0033CC"/>
                </a:solidFill>
                <a:latin typeface="Arial" panose="020B0604020202020204" pitchFamily="34" charset="0"/>
                <a:ea typeface="宋体" panose="02010600030101010101" pitchFamily="2" charset="-122"/>
                <a:sym typeface="Arial" panose="020B0604020202020204" pitchFamily="34" charset="0"/>
              </a:rPr>
              <a:t>定量：       </a:t>
            </a:r>
            <a:r>
              <a:rPr lang="en-US" altLang="zh-CN" sz="2000" b="1">
                <a:solidFill>
                  <a:schemeClr val="tx2"/>
                </a:solidFill>
                <a:latin typeface="Arial" panose="020B0604020202020204" pitchFamily="34" charset="0"/>
                <a:ea typeface="宋体" panose="02010600030101010101" pitchFamily="2" charset="-122"/>
                <a:sym typeface="Arial" panose="020B0604020202020204" pitchFamily="34" charset="0"/>
              </a:rPr>
              <a:t>5            4             3               2               1</a:t>
            </a:r>
            <a:endParaRPr lang="en-US" altLang="zh-CN" sz="2000" b="1">
              <a:solidFill>
                <a:schemeClr val="tx2"/>
              </a:solidFill>
              <a:latin typeface="Arial" panose="020B0604020202020204" pitchFamily="34" charset="0"/>
              <a:ea typeface="宋体" panose="02010600030101010101" pitchFamily="2" charset="-122"/>
              <a:sym typeface="Arial" panose="020B0604020202020204" pitchFamily="34" charset="0"/>
            </a:endParaRPr>
          </a:p>
        </p:txBody>
      </p:sp>
      <p:sp>
        <p:nvSpPr>
          <p:cNvPr id="5" name="矩形 4"/>
          <p:cNvSpPr>
            <a:spLocks noChangeArrowheads="1"/>
          </p:cNvSpPr>
          <p:nvPr/>
        </p:nvSpPr>
        <p:spPr bwMode="auto">
          <a:xfrm>
            <a:off x="2349500" y="4284663"/>
            <a:ext cx="7345363"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defTabSz="1797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1797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1797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1797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1797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ts val="2400"/>
              </a:lnSpc>
              <a:spcBef>
                <a:spcPct val="0"/>
              </a:spcBef>
              <a:buClrTx/>
              <a:buFont typeface="Wingdings" panose="05000000000000000000" pitchFamily="2" charset="2"/>
              <a:buChar char="n"/>
            </a:pPr>
            <a:r>
              <a:rPr lang="zh-CN" altLang="en-US" sz="2000" b="1" dirty="0">
                <a:solidFill>
                  <a:srgbClr val="161616"/>
                </a:solidFill>
                <a:latin typeface="Arial" panose="020B0604020202020204" pitchFamily="34" charset="0"/>
                <a:ea typeface="宋体" panose="02010600030101010101" pitchFamily="2" charset="-122"/>
                <a:sym typeface="Arial" panose="020B0604020202020204" pitchFamily="34" charset="0"/>
              </a:rPr>
              <a:t>信息资产的</a:t>
            </a:r>
            <a:r>
              <a:rPr lang="zh-CN" altLang="en-US" sz="2000" b="1" dirty="0">
                <a:solidFill>
                  <a:srgbClr val="FF0000"/>
                </a:solidFill>
                <a:latin typeface="Arial" panose="020B0604020202020204" pitchFamily="34" charset="0"/>
                <a:ea typeface="宋体" panose="02010600030101010101" pitchFamily="2" charset="-122"/>
                <a:sym typeface="Arial" panose="020B0604020202020204" pitchFamily="34" charset="0"/>
              </a:rPr>
              <a:t>机密性、完整性、可用性、可审计性和不可抵赖性</a:t>
            </a:r>
            <a:r>
              <a:rPr lang="zh-CN" altLang="en-US" sz="2000" b="1" dirty="0">
                <a:solidFill>
                  <a:srgbClr val="161616"/>
                </a:solidFill>
                <a:latin typeface="Arial" panose="020B0604020202020204" pitchFamily="34" charset="0"/>
                <a:ea typeface="宋体" panose="02010600030101010101" pitchFamily="2" charset="-122"/>
                <a:sym typeface="Arial" panose="020B0604020202020204" pitchFamily="34" charset="0"/>
              </a:rPr>
              <a:t>等是评价资产的安全属性</a:t>
            </a:r>
            <a:endParaRPr lang="zh-CN" altLang="en-US" sz="2000" b="1" dirty="0">
              <a:solidFill>
                <a:srgbClr val="161616"/>
              </a:solidFill>
              <a:latin typeface="Arial" panose="020B0604020202020204" pitchFamily="34" charset="0"/>
              <a:ea typeface="宋体" panose="02010600030101010101" pitchFamily="2" charset="-122"/>
              <a:sym typeface="Arial" panose="020B0604020202020204" pitchFamily="34" charset="0"/>
            </a:endParaRPr>
          </a:p>
        </p:txBody>
      </p:sp>
      <p:sp>
        <p:nvSpPr>
          <p:cNvPr id="6" name="矩形 5"/>
          <p:cNvSpPr>
            <a:spLocks noChangeArrowheads="1"/>
          </p:cNvSpPr>
          <p:nvPr/>
        </p:nvSpPr>
        <p:spPr bwMode="auto">
          <a:xfrm>
            <a:off x="2349500" y="5124450"/>
            <a:ext cx="776605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defTabSz="1797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1797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1797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1797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1797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ts val="2400"/>
              </a:lnSpc>
              <a:spcBef>
                <a:spcPct val="0"/>
              </a:spcBef>
              <a:buClrTx/>
              <a:buFont typeface="Wingdings" panose="05000000000000000000" pitchFamily="2" charset="2"/>
              <a:buChar char="n"/>
            </a:pPr>
            <a:r>
              <a:rPr lang="zh-CN" altLang="en-US" sz="2000" b="1">
                <a:solidFill>
                  <a:srgbClr val="161616"/>
                </a:solidFill>
                <a:latin typeface="Arial" panose="020B0604020202020204" pitchFamily="34" charset="0"/>
                <a:ea typeface="宋体" panose="02010600030101010101" pitchFamily="2" charset="-122"/>
                <a:sym typeface="Arial" panose="020B0604020202020204" pitchFamily="34" charset="0"/>
              </a:rPr>
              <a:t>可以</a:t>
            </a:r>
            <a:r>
              <a:rPr lang="zh-CN" altLang="en-US" sz="2000" b="1">
                <a:solidFill>
                  <a:srgbClr val="FF0000"/>
                </a:solidFill>
                <a:latin typeface="Arial" panose="020B0604020202020204" pitchFamily="34" charset="0"/>
                <a:ea typeface="宋体" panose="02010600030101010101" pitchFamily="2" charset="-122"/>
                <a:sym typeface="Arial" panose="020B0604020202020204" pitchFamily="34" charset="0"/>
              </a:rPr>
              <a:t>先分别对资产在以上各方面的重要程度进行评估</a:t>
            </a:r>
            <a:r>
              <a:rPr lang="zh-CN" altLang="en-US" sz="2000" b="1">
                <a:solidFill>
                  <a:srgbClr val="161616"/>
                </a:solidFill>
                <a:latin typeface="Arial" panose="020B0604020202020204" pitchFamily="34" charset="0"/>
                <a:ea typeface="宋体" panose="02010600030101010101" pitchFamily="2" charset="-122"/>
                <a:sym typeface="Arial" panose="020B0604020202020204" pitchFamily="34" charset="0"/>
              </a:rPr>
              <a:t>，然后通过一定的方法</a:t>
            </a:r>
            <a:r>
              <a:rPr lang="zh-CN" altLang="en-US" sz="2000" b="1">
                <a:solidFill>
                  <a:srgbClr val="FF0000"/>
                </a:solidFill>
                <a:latin typeface="Arial" panose="020B0604020202020204" pitchFamily="34" charset="0"/>
                <a:ea typeface="宋体" panose="02010600030101010101" pitchFamily="2" charset="-122"/>
                <a:sym typeface="Arial" panose="020B0604020202020204" pitchFamily="34" charset="0"/>
              </a:rPr>
              <a:t>进行综合</a:t>
            </a:r>
            <a:r>
              <a:rPr lang="en-US" altLang="zh-CN" sz="2000" b="1">
                <a:solidFill>
                  <a:srgbClr val="FF0000"/>
                </a:solidFill>
                <a:latin typeface="Arial" panose="020B0604020202020204" pitchFamily="34" charset="0"/>
                <a:ea typeface="宋体" panose="02010600030101010101" pitchFamily="2" charset="-122"/>
                <a:sym typeface="Arial" panose="020B0604020202020204" pitchFamily="34" charset="0"/>
              </a:rPr>
              <a:t>,</a:t>
            </a:r>
            <a:r>
              <a:rPr lang="zh-CN" altLang="en-US" sz="2000" b="1">
                <a:solidFill>
                  <a:srgbClr val="161616"/>
                </a:solidFill>
                <a:latin typeface="Arial" panose="020B0604020202020204" pitchFamily="34" charset="0"/>
                <a:ea typeface="宋体" panose="02010600030101010101" pitchFamily="2" charset="-122"/>
                <a:sym typeface="Arial" panose="020B0604020202020204" pitchFamily="34" charset="0"/>
              </a:rPr>
              <a:t>可得资产的</a:t>
            </a:r>
            <a:r>
              <a:rPr lang="zh-CN" altLang="en-US" sz="2000" b="1">
                <a:solidFill>
                  <a:srgbClr val="FF0000"/>
                </a:solidFill>
                <a:latin typeface="Arial" panose="020B0604020202020204" pitchFamily="34" charset="0"/>
                <a:ea typeface="宋体" panose="02010600030101010101" pitchFamily="2" charset="-122"/>
                <a:sym typeface="Arial" panose="020B0604020202020204" pitchFamily="34" charset="0"/>
              </a:rPr>
              <a:t>综合价值</a:t>
            </a:r>
            <a:endParaRPr lang="zh-CN" altLang="en-US" sz="2000" b="1">
              <a:solidFill>
                <a:srgbClr val="FF0000"/>
              </a:solidFill>
              <a:latin typeface="Arial" panose="020B0604020202020204" pitchFamily="34" charset="0"/>
              <a:ea typeface="宋体" panose="02010600030101010101" pitchFamily="2" charset="-122"/>
              <a:sym typeface="Arial" panose="020B060402020202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165850" y="2705100"/>
            <a:ext cx="4183063"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18" name="Text Box 2"/>
          <p:cNvSpPr>
            <a:spLocks noChangeArrowheads="1"/>
          </p:cNvSpPr>
          <p:nvPr/>
        </p:nvSpPr>
        <p:spPr bwMode="auto">
          <a:xfrm>
            <a:off x="1992313" y="922338"/>
            <a:ext cx="6265862" cy="485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Verdana" panose="020B0604030504040204" pitchFamily="34" charset="0"/>
                <a:sym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b="1">
                <a:solidFill>
                  <a:schemeClr val="tx1"/>
                </a:solidFill>
                <a:latin typeface="Arial" panose="020B0604020202020204" pitchFamily="34" charset="0"/>
                <a:sym typeface="Verdana" panose="020B0604030504040204" pitchFamily="34" charset="0"/>
              </a:defRPr>
            </a:lvl2pPr>
            <a:lvl3pPr marL="1143000" indent="-228600">
              <a:spcBef>
                <a:spcPct val="20000"/>
              </a:spcBef>
              <a:buClr>
                <a:schemeClr val="tx1"/>
              </a:buClr>
              <a:buFont typeface="Wingdings" panose="05000000000000000000" pitchFamily="2" charset="2"/>
              <a:buChar char="•"/>
              <a:defRPr sz="28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a:spcBef>
                <a:spcPct val="20000"/>
              </a:spcBef>
              <a:buClr>
                <a:schemeClr val="tx1"/>
              </a:buClr>
              <a:buFont typeface="Wingdings" panose="05000000000000000000" pitchFamily="2" charset="2"/>
              <a:buChar char="–"/>
              <a:defRPr sz="24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a:spcBef>
                <a:spcPct val="20000"/>
              </a:spcBef>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5pPr>
            <a:lvl6pPr marL="25146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6pPr>
            <a:lvl7pPr marL="29718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7pPr>
            <a:lvl8pPr marL="34290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8pPr>
            <a:lvl9pPr marL="38862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9pPr>
          </a:lstStyle>
          <a:p>
            <a:pPr defTabSz="179705">
              <a:lnSpc>
                <a:spcPct val="80000"/>
              </a:lnSpc>
              <a:spcBef>
                <a:spcPct val="0"/>
              </a:spcBef>
              <a:buClrTx/>
              <a:buFont typeface="Arial" panose="020B0604020202020204" pitchFamily="34" charset="0"/>
              <a:buNone/>
              <a:defRPr/>
            </a:pPr>
            <a:r>
              <a:rPr lang="zh-CN" altLang="en-US" b="1" dirty="0">
                <a:solidFill>
                  <a:srgbClr val="FF0000"/>
                </a:solidFill>
                <a:latin typeface="+mj-lt"/>
                <a:ea typeface="+mj-ea"/>
                <a:cs typeface="+mj-cs"/>
                <a:sym typeface="微软雅黑" panose="020B0503020204020204" charset="-122"/>
              </a:rPr>
              <a:t>资产评估</a:t>
            </a:r>
            <a:endParaRPr lang="zh-CN" altLang="en-US" b="1" dirty="0">
              <a:solidFill>
                <a:srgbClr val="FF0000"/>
              </a:solidFill>
              <a:latin typeface="+mj-lt"/>
              <a:ea typeface="+mj-ea"/>
              <a:cs typeface="+mj-cs"/>
              <a:sym typeface="微软雅黑" panose="020B0503020204020204" charset="-122"/>
            </a:endParaRPr>
          </a:p>
        </p:txBody>
      </p:sp>
      <p:sp>
        <p:nvSpPr>
          <p:cNvPr id="132100" name="Rectangle 3"/>
          <p:cNvSpPr>
            <a:spLocks noChangeArrowheads="1"/>
          </p:cNvSpPr>
          <p:nvPr/>
        </p:nvSpPr>
        <p:spPr bwMode="auto">
          <a:xfrm>
            <a:off x="1524000" y="173275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2101" name="Rectangle 4"/>
          <p:cNvSpPr>
            <a:spLocks noChangeArrowheads="1"/>
          </p:cNvSpPr>
          <p:nvPr/>
        </p:nvSpPr>
        <p:spPr bwMode="auto">
          <a:xfrm>
            <a:off x="1524000" y="248840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2102" name="Rectangle 5"/>
          <p:cNvSpPr>
            <a:spLocks noChangeArrowheads="1"/>
          </p:cNvSpPr>
          <p:nvPr/>
        </p:nvSpPr>
        <p:spPr bwMode="auto">
          <a:xfrm>
            <a:off x="1524000" y="91122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86022" name="Text Box 36"/>
          <p:cNvSpPr>
            <a:spLocks noChangeArrowheads="1"/>
          </p:cNvSpPr>
          <p:nvPr/>
        </p:nvSpPr>
        <p:spPr bwMode="auto">
          <a:xfrm>
            <a:off x="2351088" y="1524000"/>
            <a:ext cx="7924800" cy="91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827405"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235075"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4338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ts val="3200"/>
              </a:lnSpc>
              <a:spcBef>
                <a:spcPct val="50000"/>
              </a:spcBef>
              <a:buClrTx/>
              <a:buFont typeface="Wingdings" panose="05000000000000000000" pitchFamily="2" charset="2"/>
              <a:buNone/>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资产价值应依据资产</a:t>
            </a:r>
            <a:r>
              <a:rPr lang="zh-CN" altLang="en-US" sz="2400" b="1">
                <a:solidFill>
                  <a:srgbClr val="FF0000"/>
                </a:solidFill>
                <a:latin typeface="Arial" panose="020B0604020202020204" pitchFamily="34" charset="0"/>
                <a:ea typeface="宋体" panose="02010600030101010101" pitchFamily="2" charset="-122"/>
                <a:sym typeface="黑体" panose="02010609060101010101" pitchFamily="49" charset="-122"/>
              </a:rPr>
              <a:t>在保密性、完整性和可用性上的赋值等级</a:t>
            </a: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，经过综合评定得出：</a:t>
            </a:r>
            <a:endPar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86023" name="Text Box 4"/>
          <p:cNvSpPr>
            <a:spLocks noChangeArrowheads="1"/>
          </p:cNvSpPr>
          <p:nvPr/>
        </p:nvSpPr>
        <p:spPr bwMode="auto">
          <a:xfrm>
            <a:off x="2711450" y="2705100"/>
            <a:ext cx="4321175" cy="2614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lvl="1" eaLnBrk="1" hangingPunct="1">
              <a:buClrTx/>
              <a:buSzPct val="80000"/>
              <a:buFont typeface="Wingdings" panose="05000000000000000000" pitchFamily="2" charset="2"/>
              <a:buChar char="þ"/>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  电子信息资产</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1" eaLnBrk="1" hangingPunct="1">
              <a:buClrTx/>
              <a:buSzPct val="80000"/>
              <a:buFont typeface="Wingdings" panose="05000000000000000000" pitchFamily="2" charset="2"/>
              <a:buChar char="þ"/>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  纸介资产</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1" eaLnBrk="1" hangingPunct="1">
              <a:buClrTx/>
              <a:buSzPct val="80000"/>
              <a:buFont typeface="Wingdings" panose="05000000000000000000" pitchFamily="2" charset="2"/>
              <a:buChar char="þ"/>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  软件资产</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1" eaLnBrk="1" hangingPunct="1">
              <a:buClrTx/>
              <a:buSzPct val="80000"/>
              <a:buFont typeface="Wingdings" panose="05000000000000000000" pitchFamily="2" charset="2"/>
              <a:buChar char="þ"/>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  物理资产</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1" eaLnBrk="1" hangingPunct="1">
              <a:buClrTx/>
              <a:buSzPct val="80000"/>
              <a:buFont typeface="Wingdings" panose="05000000000000000000" pitchFamily="2" charset="2"/>
              <a:buChar char="þ"/>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  人员</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1" eaLnBrk="1" hangingPunct="1">
              <a:buClrTx/>
              <a:buSzPct val="80000"/>
              <a:buFont typeface="Wingdings" panose="05000000000000000000" pitchFamily="2" charset="2"/>
              <a:buChar char="þ"/>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  服务性资产</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1" eaLnBrk="1" hangingPunct="1">
              <a:buClrTx/>
              <a:buSzPct val="80000"/>
              <a:buFont typeface="Wingdings" panose="05000000000000000000" pitchFamily="2" charset="2"/>
              <a:buChar char="þ"/>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  公司形象和名誉</a:t>
            </a:r>
            <a:endParaRPr lang="zh-CN" altLang="en-US" sz="1800">
              <a:latin typeface="Arial" panose="020B0604020202020204" pitchFamily="34" charset="0"/>
              <a:ea typeface="宋体" panose="02010600030101010101" pitchFamily="2" charset="-122"/>
              <a:sym typeface="Verdan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6022"/>
                                        </p:tgtEl>
                                        <p:attrNameLst>
                                          <p:attrName>style.visibility</p:attrName>
                                        </p:attrNameLst>
                                      </p:cBhvr>
                                      <p:to>
                                        <p:strVal val="visible"/>
                                      </p:to>
                                    </p:set>
                                    <p:anim calcmode="lin" valueType="num">
                                      <p:cBhvr additive="base">
                                        <p:cTn id="7" dur="500" fill="hold"/>
                                        <p:tgtEl>
                                          <p:spTgt spid="86022"/>
                                        </p:tgtEl>
                                        <p:attrNameLst>
                                          <p:attrName>ppt_x</p:attrName>
                                        </p:attrNameLst>
                                      </p:cBhvr>
                                      <p:tavLst>
                                        <p:tav tm="0">
                                          <p:val>
                                            <p:strVal val="0-#ppt_w/2"/>
                                          </p:val>
                                        </p:tav>
                                        <p:tav tm="100000">
                                          <p:val>
                                            <p:strVal val="#ppt_x"/>
                                          </p:val>
                                        </p:tav>
                                      </p:tavLst>
                                    </p:anim>
                                    <p:anim calcmode="lin" valueType="num">
                                      <p:cBhvr additive="base">
                                        <p:cTn id="8" dur="500" fill="hold"/>
                                        <p:tgtEl>
                                          <p:spTgt spid="8602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86023"/>
                                        </p:tgtEl>
                                        <p:attrNameLst>
                                          <p:attrName>style.visibility</p:attrName>
                                        </p:attrNameLst>
                                      </p:cBhvr>
                                      <p:to>
                                        <p:strVal val="visible"/>
                                      </p:to>
                                    </p:set>
                                    <p:anim calcmode="lin" valueType="num">
                                      <p:cBhvr>
                                        <p:cTn id="12" dur="1000" fill="hold"/>
                                        <p:tgtEl>
                                          <p:spTgt spid="86023"/>
                                        </p:tgtEl>
                                        <p:attrNameLst>
                                          <p:attrName>ppt_w</p:attrName>
                                        </p:attrNameLst>
                                      </p:cBhvr>
                                      <p:tavLst>
                                        <p:tav tm="0">
                                          <p:val>
                                            <p:fltVal val="0"/>
                                          </p:val>
                                        </p:tav>
                                        <p:tav tm="100000">
                                          <p:val>
                                            <p:strVal val="#ppt_w"/>
                                          </p:val>
                                        </p:tav>
                                      </p:tavLst>
                                    </p:anim>
                                    <p:anim calcmode="lin" valueType="num">
                                      <p:cBhvr>
                                        <p:cTn id="13" dur="1000" fill="hold"/>
                                        <p:tgtEl>
                                          <p:spTgt spid="86023"/>
                                        </p:tgtEl>
                                        <p:attrNameLst>
                                          <p:attrName>ppt_h</p:attrName>
                                        </p:attrNameLst>
                                      </p:cBhvr>
                                      <p:tavLst>
                                        <p:tav tm="0">
                                          <p:val>
                                            <p:fltVal val="0"/>
                                          </p:val>
                                        </p:tav>
                                        <p:tav tm="100000">
                                          <p:val>
                                            <p:strVal val="#ppt_h"/>
                                          </p:val>
                                        </p:tav>
                                      </p:tavLst>
                                    </p:anim>
                                    <p:animEffect transition="in" filter="fade">
                                      <p:cBhvr>
                                        <p:cTn id="14" dur="1000"/>
                                        <p:tgtEl>
                                          <p:spTgt spid="86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2" grpId="0"/>
      <p:bldP spid="86023"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a:spLocks noChangeArrowheads="1"/>
          </p:cNvSpPr>
          <p:nvPr/>
        </p:nvSpPr>
        <p:spPr bwMode="auto">
          <a:xfrm>
            <a:off x="1919288" y="954088"/>
            <a:ext cx="6265862" cy="485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Verdana" panose="020B0604030504040204" pitchFamily="34" charset="0"/>
                <a:sym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b="1">
                <a:solidFill>
                  <a:schemeClr val="tx1"/>
                </a:solidFill>
                <a:latin typeface="Arial" panose="020B0604020202020204" pitchFamily="34" charset="0"/>
                <a:sym typeface="Verdana" panose="020B0604030504040204" pitchFamily="34" charset="0"/>
              </a:defRPr>
            </a:lvl2pPr>
            <a:lvl3pPr marL="1143000" indent="-228600">
              <a:spcBef>
                <a:spcPct val="20000"/>
              </a:spcBef>
              <a:buClr>
                <a:schemeClr val="tx1"/>
              </a:buClr>
              <a:buFont typeface="Wingdings" panose="05000000000000000000" pitchFamily="2" charset="2"/>
              <a:buChar char="•"/>
              <a:defRPr sz="28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a:spcBef>
                <a:spcPct val="20000"/>
              </a:spcBef>
              <a:buClr>
                <a:schemeClr val="tx1"/>
              </a:buClr>
              <a:buFont typeface="Wingdings" panose="05000000000000000000" pitchFamily="2" charset="2"/>
              <a:buChar char="–"/>
              <a:defRPr sz="24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a:spcBef>
                <a:spcPct val="20000"/>
              </a:spcBef>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5pPr>
            <a:lvl6pPr marL="25146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6pPr>
            <a:lvl7pPr marL="29718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7pPr>
            <a:lvl8pPr marL="34290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8pPr>
            <a:lvl9pPr marL="38862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9pPr>
          </a:lstStyle>
          <a:p>
            <a:pPr defTabSz="179705">
              <a:lnSpc>
                <a:spcPct val="80000"/>
              </a:lnSpc>
              <a:spcBef>
                <a:spcPct val="0"/>
              </a:spcBef>
              <a:buClrTx/>
              <a:buFont typeface="Wingdings" panose="05000000000000000000" pitchFamily="2" charset="2"/>
              <a:buNone/>
              <a:defRPr/>
            </a:pPr>
            <a:r>
              <a:rPr lang="zh-CN" altLang="en-US" b="1" dirty="0">
                <a:solidFill>
                  <a:srgbClr val="FF0000"/>
                </a:solidFill>
                <a:latin typeface="+mj-lt"/>
                <a:ea typeface="+mj-ea"/>
                <a:cs typeface="+mj-cs"/>
                <a:sym typeface="微软雅黑" panose="020B0503020204020204" charset="-122"/>
              </a:rPr>
              <a:t>资产评估</a:t>
            </a:r>
            <a:endParaRPr lang="zh-CN" altLang="en-US" b="1" dirty="0">
              <a:solidFill>
                <a:srgbClr val="FF0000"/>
              </a:solidFill>
              <a:latin typeface="+mj-lt"/>
              <a:ea typeface="+mj-ea"/>
              <a:cs typeface="+mj-cs"/>
              <a:sym typeface="微软雅黑" panose="020B0503020204020204" charset="-122"/>
            </a:endParaRPr>
          </a:p>
        </p:txBody>
      </p:sp>
      <p:sp>
        <p:nvSpPr>
          <p:cNvPr id="133123" name="Rectangle 3"/>
          <p:cNvSpPr>
            <a:spLocks noChangeArrowheads="1"/>
          </p:cNvSpPr>
          <p:nvPr/>
        </p:nvSpPr>
        <p:spPr bwMode="auto">
          <a:xfrm>
            <a:off x="1524000" y="173275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3124" name="Rectangle 4"/>
          <p:cNvSpPr>
            <a:spLocks noChangeArrowheads="1"/>
          </p:cNvSpPr>
          <p:nvPr/>
        </p:nvSpPr>
        <p:spPr bwMode="auto">
          <a:xfrm>
            <a:off x="1524000" y="248840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3125" name="Rectangle 5"/>
          <p:cNvSpPr>
            <a:spLocks noChangeArrowheads="1"/>
          </p:cNvSpPr>
          <p:nvPr/>
        </p:nvSpPr>
        <p:spPr bwMode="auto">
          <a:xfrm>
            <a:off x="1524000" y="91122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87046" name="Text Box 36"/>
          <p:cNvSpPr>
            <a:spLocks noChangeArrowheads="1"/>
          </p:cNvSpPr>
          <p:nvPr/>
        </p:nvSpPr>
        <p:spPr bwMode="auto">
          <a:xfrm>
            <a:off x="3143250" y="4724400"/>
            <a:ext cx="6073775" cy="860425"/>
          </a:xfrm>
          <a:prstGeom prst="rect">
            <a:avLst/>
          </a:prstGeom>
          <a:ln>
            <a:solidFill>
              <a:srgbClr val="C00000"/>
            </a:solidFill>
          </a:ln>
          <a:effectLst>
            <a:outerShdw blurRad="50800" dist="38100" dir="13500000" algn="br"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wrap="none">
            <a:spAutoFit/>
          </a:bodyPr>
          <a:lstStyle/>
          <a:p>
            <a:pPr eaLnBrk="1" hangingPunct="1">
              <a:spcBef>
                <a:spcPct val="50000"/>
              </a:spcBef>
              <a:defRPr/>
            </a:pPr>
            <a:r>
              <a:rPr lang="en-US" altLang="zh-CN"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rPr>
              <a:t> </a:t>
            </a:r>
            <a:r>
              <a:rPr lang="en-US" altLang="zh-CN"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Wc+Wi+Wa+Wac+Wn</a:t>
            </a:r>
            <a:r>
              <a:rPr lang="en-US" altLang="zh-CN"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rPr>
              <a:t>=1</a:t>
            </a:r>
            <a:r>
              <a:rPr lang="zh-CN" altLang="en-US"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rPr>
              <a:t>，</a:t>
            </a:r>
            <a:endParaRPr lang="zh-CN" altLang="en-US"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endParaRPr>
          </a:p>
          <a:p>
            <a:pPr eaLnBrk="1" hangingPunct="1">
              <a:spcBef>
                <a:spcPct val="50000"/>
              </a:spcBef>
              <a:defRPr/>
            </a:pPr>
            <a:r>
              <a:rPr lang="en-US" altLang="zh-CN"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rPr>
              <a:t> VA= </a:t>
            </a:r>
            <a:r>
              <a:rPr lang="en-US" altLang="zh-CN"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VAc·Wc+VAi·Wi+VAa</a:t>
            </a:r>
            <a:r>
              <a:rPr lang="en-US" altLang="en-US"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a:t>
            </a:r>
            <a:r>
              <a:rPr lang="en-US" altLang="zh-CN"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Wa+VAac</a:t>
            </a:r>
            <a:r>
              <a:rPr lang="en-US" altLang="en-US"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a:t>
            </a:r>
            <a:r>
              <a:rPr lang="en-US" altLang="zh-CN"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Wac+VAn</a:t>
            </a:r>
            <a:r>
              <a:rPr lang="en-US" altLang="en-US"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a:t>
            </a:r>
            <a:r>
              <a:rPr lang="en-US" altLang="zh-CN"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Wn</a:t>
            </a:r>
            <a:endParaRPr lang="zh-CN" altLang="en-US"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endParaRPr>
          </a:p>
        </p:txBody>
      </p:sp>
      <p:sp>
        <p:nvSpPr>
          <p:cNvPr id="2" name="矩形 1"/>
          <p:cNvSpPr>
            <a:spLocks noChangeArrowheads="1"/>
          </p:cNvSpPr>
          <p:nvPr/>
        </p:nvSpPr>
        <p:spPr bwMode="auto">
          <a:xfrm>
            <a:off x="2305050" y="1522413"/>
            <a:ext cx="76327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Wingdings" panose="05000000000000000000" pitchFamily="2" charset="2"/>
              <a:buNone/>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资产价值应依据资产</a:t>
            </a:r>
            <a:r>
              <a:rPr lang="zh-CN" altLang="en-US" sz="2400" b="1">
                <a:solidFill>
                  <a:srgbClr val="FF0000"/>
                </a:solidFill>
                <a:latin typeface="Arial" panose="020B0604020202020204" pitchFamily="34" charset="0"/>
                <a:ea typeface="宋体" panose="02010600030101010101" pitchFamily="2" charset="-122"/>
                <a:sym typeface="黑体" panose="02010609060101010101" pitchFamily="49" charset="-122"/>
              </a:rPr>
              <a:t>在保密性、完整性和可用性上的赋值等级</a:t>
            </a: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，经过综合评定得出。</a:t>
            </a:r>
            <a:endPar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3" name="矩形 2"/>
          <p:cNvSpPr>
            <a:spLocks noChangeArrowheads="1"/>
          </p:cNvSpPr>
          <p:nvPr/>
        </p:nvSpPr>
        <p:spPr bwMode="auto">
          <a:xfrm>
            <a:off x="2305050" y="2492375"/>
            <a:ext cx="76327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Wingdings" panose="05000000000000000000" pitchFamily="2" charset="2"/>
              <a:buChar char="q"/>
            </a:pPr>
            <a:r>
              <a:rPr lang="zh-CN" altLang="en-US" sz="2400" b="1">
                <a:solidFill>
                  <a:srgbClr val="0033CC"/>
                </a:solidFill>
                <a:latin typeface="Arial" panose="020B0604020202020204" pitchFamily="34" charset="0"/>
                <a:ea typeface="宋体" panose="02010600030101010101" pitchFamily="2" charset="-122"/>
                <a:sym typeface="黑体" panose="02010609060101010101" pitchFamily="49" charset="-122"/>
              </a:rPr>
              <a:t>最大原则：</a:t>
            </a: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取</a:t>
            </a:r>
            <a:r>
              <a:rPr lang="en-US" altLang="zh-CN" sz="2400" b="1">
                <a:solidFill>
                  <a:srgbClr val="000000"/>
                </a:solidFill>
                <a:latin typeface="Arial" panose="020B0604020202020204" pitchFamily="34" charset="0"/>
                <a:ea typeface="宋体" panose="02010600030101010101" pitchFamily="2" charset="-122"/>
                <a:sym typeface="黑体" panose="02010609060101010101" pitchFamily="49" charset="-122"/>
              </a:rPr>
              <a:t>5</a:t>
            </a: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个属性中最大的那个属性赋值作为综合评价值</a:t>
            </a:r>
            <a:endPar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4" name="矩形 3"/>
          <p:cNvSpPr/>
          <p:nvPr/>
        </p:nvSpPr>
        <p:spPr>
          <a:xfrm>
            <a:off x="3071813" y="3400425"/>
            <a:ext cx="3951605" cy="398780"/>
          </a:xfrm>
          <a:prstGeom prst="rect">
            <a:avLst/>
          </a:prstGeom>
          <a:ln>
            <a:solidFill>
              <a:srgbClr val="C00000"/>
            </a:solidFill>
          </a:ln>
          <a:effectLst>
            <a:outerShdw blurRad="50800" dist="38100" dir="13500000" algn="br"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wrap="none">
            <a:spAutoFit/>
          </a:bodyPr>
          <a:lstStyle/>
          <a:p>
            <a:pPr eaLnBrk="1" hangingPunct="1">
              <a:spcBef>
                <a:spcPct val="50000"/>
              </a:spcBef>
              <a:defRPr/>
            </a:pPr>
            <a:r>
              <a:rPr lang="en-US" altLang="zh-CN"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rPr>
              <a:t>VA=Max(</a:t>
            </a:r>
            <a:r>
              <a:rPr lang="en-US" altLang="zh-CN"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VA</a:t>
            </a:r>
            <a:r>
              <a:rPr lang="en-US" altLang="zh-CN" sz="2000" b="1" baseline="-25000"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c</a:t>
            </a:r>
            <a:r>
              <a:rPr lang="en-US" altLang="zh-CN"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rPr>
              <a:t>, </a:t>
            </a:r>
            <a:r>
              <a:rPr lang="en-US" altLang="zh-CN"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VA</a:t>
            </a:r>
            <a:r>
              <a:rPr lang="en-US" altLang="zh-CN" sz="2000" b="1" baseline="-25000"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i</a:t>
            </a:r>
            <a:r>
              <a:rPr lang="en-US" altLang="zh-CN"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rPr>
              <a:t>, </a:t>
            </a:r>
            <a:r>
              <a:rPr lang="en-US" altLang="zh-CN"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VA</a:t>
            </a:r>
            <a:r>
              <a:rPr lang="en-US" altLang="zh-CN" sz="2000" b="1" baseline="-25000"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a</a:t>
            </a:r>
            <a:r>
              <a:rPr lang="en-US" altLang="zh-CN"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rPr>
              <a:t>, </a:t>
            </a:r>
            <a:r>
              <a:rPr lang="en-US" altLang="zh-CN"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VA</a:t>
            </a:r>
            <a:r>
              <a:rPr lang="en-US" altLang="zh-CN" sz="2000" b="1" baseline="-25000"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ac</a:t>
            </a:r>
            <a:r>
              <a:rPr lang="en-US" altLang="zh-CN"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rPr>
              <a:t>, </a:t>
            </a:r>
            <a:r>
              <a:rPr lang="en-US" altLang="zh-CN" sz="2000" b="1"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VA</a:t>
            </a:r>
            <a:r>
              <a:rPr lang="en-US" altLang="zh-CN" sz="2000" b="1" baseline="-25000" dirty="0" err="1">
                <a:solidFill>
                  <a:schemeClr val="tx2"/>
                </a:solidFill>
                <a:latin typeface="Times New Roman" panose="02020603050405020304" pitchFamily="18" charset="0"/>
                <a:cs typeface="Times New Roman" panose="02020603050405020304" pitchFamily="18" charset="0"/>
                <a:sym typeface="黑体" panose="02010609060101010101" pitchFamily="49" charset="-122"/>
              </a:rPr>
              <a:t>n</a:t>
            </a:r>
            <a:r>
              <a:rPr lang="en-US" altLang="zh-CN"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rPr>
              <a:t>)</a:t>
            </a:r>
            <a:endParaRPr lang="en-US" altLang="zh-CN" sz="2000" b="1" dirty="0">
              <a:solidFill>
                <a:schemeClr val="tx2"/>
              </a:solidFill>
              <a:latin typeface="Times New Roman" panose="02020603050405020304" pitchFamily="18" charset="0"/>
              <a:cs typeface="Times New Roman" panose="02020603050405020304" pitchFamily="18" charset="0"/>
              <a:sym typeface="黑体" panose="02010609060101010101" pitchFamily="49" charset="-122"/>
            </a:endParaRPr>
          </a:p>
        </p:txBody>
      </p:sp>
      <p:sp>
        <p:nvSpPr>
          <p:cNvPr id="5" name="矩形 4"/>
          <p:cNvSpPr>
            <a:spLocks noChangeArrowheads="1"/>
          </p:cNvSpPr>
          <p:nvPr/>
        </p:nvSpPr>
        <p:spPr bwMode="auto">
          <a:xfrm>
            <a:off x="2305050" y="3930650"/>
            <a:ext cx="73866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Wingdings" panose="05000000000000000000" pitchFamily="2" charset="2"/>
              <a:buChar char="q"/>
            </a:pPr>
            <a:r>
              <a:rPr lang="zh-CN" altLang="en-US" sz="2400" b="1">
                <a:solidFill>
                  <a:srgbClr val="0033CC"/>
                </a:solidFill>
                <a:latin typeface="Arial" panose="020B0604020202020204" pitchFamily="34" charset="0"/>
                <a:ea typeface="宋体" panose="02010600030101010101" pitchFamily="2" charset="-122"/>
                <a:sym typeface="黑体" panose="02010609060101010101" pitchFamily="49" charset="-122"/>
              </a:rPr>
              <a:t>加权原则</a:t>
            </a:r>
            <a:r>
              <a:rPr lang="zh-CN" altLang="en-US" sz="2400" b="1">
                <a:solidFill>
                  <a:srgbClr val="000000"/>
                </a:solidFill>
                <a:latin typeface="Times New Roman" panose="02020603050405020304" pitchFamily="18" charset="0"/>
                <a:ea typeface="宋体" panose="02010600030101010101" pitchFamily="2" charset="-122"/>
                <a:sym typeface="黑体" panose="02010609060101010101" pitchFamily="49" charset="-122"/>
              </a:rPr>
              <a:t>：根据属性保护对业务开展影响赋权重</a:t>
            </a:r>
            <a:endParaRPr lang="zh-CN" altLang="en-US" sz="2400" b="1">
              <a:solidFill>
                <a:srgbClr val="000000"/>
              </a:solidFill>
              <a:latin typeface="Times New Roman" panose="02020603050405020304" pitchFamily="18" charset="0"/>
              <a:ea typeface="宋体" panose="02010600030101010101" pitchFamily="2" charset="-122"/>
              <a:sym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53" presetClass="entr" presetSubtype="16" fill="hold" grpId="0" nodeType="afterEffect">
                                  <p:stCondLst>
                                    <p:cond delay="0"/>
                                  </p:stCondLst>
                                  <p:childTnLst>
                                    <p:set>
                                      <p:cBhvr>
                                        <p:cTn id="29" dur="1" fill="hold">
                                          <p:stCondLst>
                                            <p:cond delay="0"/>
                                          </p:stCondLst>
                                        </p:cTn>
                                        <p:tgtEl>
                                          <p:spTgt spid="87046"/>
                                        </p:tgtEl>
                                        <p:attrNameLst>
                                          <p:attrName>style.visibility</p:attrName>
                                        </p:attrNameLst>
                                      </p:cBhvr>
                                      <p:to>
                                        <p:strVal val="visible"/>
                                      </p:to>
                                    </p:set>
                                    <p:anim calcmode="lin" valueType="num">
                                      <p:cBhvr>
                                        <p:cTn id="30" dur="500" fill="hold"/>
                                        <p:tgtEl>
                                          <p:spTgt spid="87046"/>
                                        </p:tgtEl>
                                        <p:attrNameLst>
                                          <p:attrName>ppt_w</p:attrName>
                                        </p:attrNameLst>
                                      </p:cBhvr>
                                      <p:tavLst>
                                        <p:tav tm="0">
                                          <p:val>
                                            <p:fltVal val="0"/>
                                          </p:val>
                                        </p:tav>
                                        <p:tav tm="100000">
                                          <p:val>
                                            <p:strVal val="#ppt_w"/>
                                          </p:val>
                                        </p:tav>
                                      </p:tavLst>
                                    </p:anim>
                                    <p:anim calcmode="lin" valueType="num">
                                      <p:cBhvr>
                                        <p:cTn id="31" dur="500" fill="hold"/>
                                        <p:tgtEl>
                                          <p:spTgt spid="87046"/>
                                        </p:tgtEl>
                                        <p:attrNameLst>
                                          <p:attrName>ppt_h</p:attrName>
                                        </p:attrNameLst>
                                      </p:cBhvr>
                                      <p:tavLst>
                                        <p:tav tm="0">
                                          <p:val>
                                            <p:fltVal val="0"/>
                                          </p:val>
                                        </p:tav>
                                        <p:tav tm="100000">
                                          <p:val>
                                            <p:strVal val="#ppt_h"/>
                                          </p:val>
                                        </p:tav>
                                      </p:tavLst>
                                    </p:anim>
                                    <p:animEffect transition="in" filter="fade">
                                      <p:cBhvr>
                                        <p:cTn id="32" dur="500"/>
                                        <p:tgtEl>
                                          <p:spTgt spid="87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6" grpId="0" bldLvl="0" animBg="1"/>
      <p:bldP spid="2" grpId="0"/>
      <p:bldP spid="3" grpId="0"/>
      <p:bldP spid="4" grpId="0" bldLvl="0" animBg="1"/>
      <p:bldP spid="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3"/>
          <p:cNvSpPr>
            <a:spLocks noChangeArrowheads="1"/>
          </p:cNvSpPr>
          <p:nvPr/>
        </p:nvSpPr>
        <p:spPr bwMode="auto">
          <a:xfrm>
            <a:off x="1524000" y="173275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4147" name="Rectangle 4"/>
          <p:cNvSpPr>
            <a:spLocks noChangeArrowheads="1"/>
          </p:cNvSpPr>
          <p:nvPr/>
        </p:nvSpPr>
        <p:spPr bwMode="auto">
          <a:xfrm>
            <a:off x="1524000" y="248840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4148" name="Rectangle 5"/>
          <p:cNvSpPr>
            <a:spLocks noChangeArrowheads="1"/>
          </p:cNvSpPr>
          <p:nvPr/>
        </p:nvSpPr>
        <p:spPr bwMode="auto">
          <a:xfrm>
            <a:off x="1524000" y="91122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88070" name="Text Box 36"/>
          <p:cNvSpPr>
            <a:spLocks noChangeArrowheads="1"/>
          </p:cNvSpPr>
          <p:nvPr/>
        </p:nvSpPr>
        <p:spPr bwMode="auto">
          <a:xfrm>
            <a:off x="2279650" y="2420938"/>
            <a:ext cx="8280400" cy="2799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827405"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235075"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4338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Wingdings" panose="05000000000000000000" pitchFamily="2" charset="2"/>
              <a:buChar char="q"/>
            </a:pPr>
            <a:r>
              <a:rPr lang="zh-CN" altLang="en-US" sz="2600" b="1">
                <a:solidFill>
                  <a:srgbClr val="0033CC"/>
                </a:solidFill>
                <a:latin typeface="Arial" panose="020B0604020202020204" pitchFamily="34" charset="0"/>
                <a:ea typeface="宋体" panose="02010600030101010101" pitchFamily="2" charset="-122"/>
                <a:sym typeface="黑体" panose="02010609060101010101" pitchFamily="49" charset="-122"/>
              </a:rPr>
              <a:t>首先，</a:t>
            </a:r>
            <a:r>
              <a:rPr lang="zh-CN" altLang="en-US" sz="2600" b="1">
                <a:solidFill>
                  <a:srgbClr val="000000"/>
                </a:solidFill>
                <a:latin typeface="Arial" panose="020B0604020202020204" pitchFamily="34" charset="0"/>
                <a:ea typeface="宋体" panose="02010600030101010101" pitchFamily="2" charset="-122"/>
                <a:sym typeface="黑体" panose="02010609060101010101" pitchFamily="49" charset="-122"/>
              </a:rPr>
              <a:t>对资产的机密性、完整性、可用性定性赋值</a:t>
            </a:r>
            <a:endParaRPr lang="zh-CN" altLang="en-US" sz="26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50000"/>
              </a:spcBef>
              <a:buClrTx/>
              <a:buFont typeface="Wingdings" panose="05000000000000000000" pitchFamily="2" charset="2"/>
              <a:buChar char="q"/>
            </a:pPr>
            <a:r>
              <a:rPr lang="zh-CN" altLang="en-US" sz="2600" b="1">
                <a:solidFill>
                  <a:srgbClr val="0033CC"/>
                </a:solidFill>
                <a:latin typeface="Arial" panose="020B0604020202020204" pitchFamily="34" charset="0"/>
                <a:ea typeface="宋体" panose="02010600030101010101" pitchFamily="2" charset="-122"/>
                <a:sym typeface="黑体" panose="02010609060101010101" pitchFamily="49" charset="-122"/>
              </a:rPr>
              <a:t>其次</a:t>
            </a:r>
            <a:r>
              <a:rPr lang="zh-CN" altLang="en-US" sz="2600" b="1">
                <a:solidFill>
                  <a:srgbClr val="000000"/>
                </a:solidFill>
                <a:latin typeface="Arial" panose="020B0604020202020204" pitchFamily="34" charset="0"/>
                <a:ea typeface="宋体" panose="02010600030101010101" pitchFamily="2" charset="-122"/>
                <a:sym typeface="黑体" panose="02010609060101010101" pitchFamily="49" charset="-122"/>
              </a:rPr>
              <a:t>，用一定方法进行综合，基本属于最大原则</a:t>
            </a:r>
            <a:endParaRPr lang="zh-CN" altLang="en-US" sz="26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50000"/>
              </a:spcBef>
              <a:buClrTx/>
              <a:buFont typeface="Wingdings" panose="05000000000000000000" pitchFamily="2" charset="2"/>
              <a:buNone/>
            </a:pPr>
            <a:r>
              <a:rPr lang="zh-CN" altLang="en-US" sz="2600" b="1">
                <a:solidFill>
                  <a:schemeClr val="tx2"/>
                </a:solidFill>
                <a:latin typeface="Arial" panose="020B0604020202020204" pitchFamily="34" charset="0"/>
                <a:ea typeface="宋体" panose="02010600030101010101" pitchFamily="2" charset="-122"/>
                <a:sym typeface="黑体" panose="02010609060101010101" pitchFamily="49" charset="-122"/>
              </a:rPr>
              <a:t>     </a:t>
            </a:r>
            <a:r>
              <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机密性赋值表</a:t>
            </a:r>
            <a:r>
              <a:rPr lang="en-US" altLang="zh-CN"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2-3</a:t>
            </a:r>
            <a:r>
              <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a:t>
            </a:r>
            <a:r>
              <a:rPr lang="en-US" altLang="zh-CN"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P28</a:t>
            </a:r>
            <a:r>
              <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a:t>
            </a:r>
            <a:endPar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endParaRPr>
          </a:p>
          <a:p>
            <a:pPr eaLnBrk="1" hangingPunct="1">
              <a:spcBef>
                <a:spcPct val="50000"/>
              </a:spcBef>
              <a:buClrTx/>
              <a:buFont typeface="Wingdings" panose="05000000000000000000" pitchFamily="2" charset="2"/>
              <a:buNone/>
            </a:pPr>
            <a:r>
              <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      完整性赋值表</a:t>
            </a:r>
            <a:r>
              <a:rPr lang="en-US" altLang="zh-CN"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2-4 </a:t>
            </a:r>
            <a:r>
              <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a:t>
            </a:r>
            <a:r>
              <a:rPr lang="en-US" altLang="zh-CN"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P29</a:t>
            </a:r>
            <a:r>
              <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a:t>
            </a:r>
            <a:endPar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endParaRPr>
          </a:p>
          <a:p>
            <a:pPr eaLnBrk="1" hangingPunct="1">
              <a:spcBef>
                <a:spcPct val="50000"/>
              </a:spcBef>
              <a:buClrTx/>
              <a:buFont typeface="Wingdings" panose="05000000000000000000" pitchFamily="2" charset="2"/>
              <a:buNone/>
            </a:pPr>
            <a:r>
              <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      资产可用性赋值表</a:t>
            </a:r>
            <a:r>
              <a:rPr lang="en-US" altLang="zh-CN"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2-5</a:t>
            </a:r>
            <a:r>
              <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a:t>
            </a:r>
            <a:r>
              <a:rPr lang="en-US" altLang="zh-CN"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P29</a:t>
            </a:r>
            <a:r>
              <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rPr>
              <a:t>）</a:t>
            </a:r>
            <a:endParaRPr lang="zh-CN" altLang="en-US" sz="2400" b="1">
              <a:solidFill>
                <a:schemeClr val="tx2"/>
              </a:solidFill>
              <a:latin typeface="Times New Roman" panose="02020603050405020304" pitchFamily="18" charset="0"/>
              <a:ea typeface="宋体" panose="02010600030101010101" pitchFamily="2" charset="-122"/>
              <a:sym typeface="黑体" panose="02010609060101010101" pitchFamily="49" charset="-122"/>
            </a:endParaRPr>
          </a:p>
        </p:txBody>
      </p:sp>
      <p:sp>
        <p:nvSpPr>
          <p:cNvPr id="8" name="Text Box 2"/>
          <p:cNvSpPr>
            <a:spLocks noChangeArrowheads="1"/>
          </p:cNvSpPr>
          <p:nvPr/>
        </p:nvSpPr>
        <p:spPr bwMode="auto">
          <a:xfrm>
            <a:off x="1919288" y="954088"/>
            <a:ext cx="6265862" cy="485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Verdana" panose="020B0604030504040204" pitchFamily="34" charset="0"/>
                <a:sym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b="1">
                <a:solidFill>
                  <a:schemeClr val="tx1"/>
                </a:solidFill>
                <a:latin typeface="Arial" panose="020B0604020202020204" pitchFamily="34" charset="0"/>
                <a:sym typeface="Verdana" panose="020B0604030504040204" pitchFamily="34" charset="0"/>
              </a:defRPr>
            </a:lvl2pPr>
            <a:lvl3pPr marL="1143000" indent="-228600">
              <a:spcBef>
                <a:spcPct val="20000"/>
              </a:spcBef>
              <a:buClr>
                <a:schemeClr val="tx1"/>
              </a:buClr>
              <a:buFont typeface="Wingdings" panose="05000000000000000000" pitchFamily="2" charset="2"/>
              <a:buChar char="•"/>
              <a:defRPr sz="28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a:spcBef>
                <a:spcPct val="20000"/>
              </a:spcBef>
              <a:buClr>
                <a:schemeClr val="tx1"/>
              </a:buClr>
              <a:buFont typeface="Wingdings" panose="05000000000000000000" pitchFamily="2" charset="2"/>
              <a:buChar char="–"/>
              <a:defRPr sz="24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a:spcBef>
                <a:spcPct val="20000"/>
              </a:spcBef>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5pPr>
            <a:lvl6pPr marL="25146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6pPr>
            <a:lvl7pPr marL="29718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7pPr>
            <a:lvl8pPr marL="34290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8pPr>
            <a:lvl9pPr marL="38862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9pPr>
          </a:lstStyle>
          <a:p>
            <a:pPr defTabSz="179705">
              <a:lnSpc>
                <a:spcPct val="80000"/>
              </a:lnSpc>
              <a:spcBef>
                <a:spcPct val="0"/>
              </a:spcBef>
              <a:buClrTx/>
              <a:buFont typeface="Wingdings" panose="05000000000000000000" pitchFamily="2" charset="2"/>
              <a:buNone/>
              <a:defRPr/>
            </a:pPr>
            <a:r>
              <a:rPr lang="zh-CN" altLang="en-US" b="1" dirty="0">
                <a:solidFill>
                  <a:srgbClr val="FF0000"/>
                </a:solidFill>
                <a:latin typeface="+mj-lt"/>
                <a:ea typeface="+mj-ea"/>
                <a:cs typeface="+mj-cs"/>
                <a:sym typeface="微软雅黑" panose="020B0503020204020204" charset="-122"/>
              </a:rPr>
              <a:t>资产评估</a:t>
            </a:r>
            <a:endParaRPr lang="zh-CN" altLang="en-US" b="1" dirty="0">
              <a:solidFill>
                <a:srgbClr val="FF0000"/>
              </a:solidFill>
              <a:latin typeface="+mj-lt"/>
              <a:ea typeface="+mj-ea"/>
              <a:cs typeface="+mj-cs"/>
              <a:sym typeface="微软雅黑" panose="020B0503020204020204" charset="-122"/>
            </a:endParaRPr>
          </a:p>
        </p:txBody>
      </p:sp>
      <p:sp>
        <p:nvSpPr>
          <p:cNvPr id="2" name="矩形 1"/>
          <p:cNvSpPr>
            <a:spLocks noChangeArrowheads="1"/>
          </p:cNvSpPr>
          <p:nvPr/>
        </p:nvSpPr>
        <p:spPr bwMode="auto">
          <a:xfrm>
            <a:off x="2351088" y="1574800"/>
            <a:ext cx="7489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Wingdings" panose="05000000000000000000" pitchFamily="2" charset="2"/>
              <a:buNone/>
            </a:pP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zh-CN" altLang="en-US" sz="2400" b="1">
                <a:solidFill>
                  <a:srgbClr val="000000"/>
                </a:solidFill>
                <a:latin typeface="Arial" panose="020B0604020202020204" pitchFamily="34" charset="0"/>
                <a:ea typeface="宋体" panose="02010600030101010101" pitchFamily="2" charset="-122"/>
                <a:sym typeface="Arial" panose="020B0604020202020204" pitchFamily="34" charset="0"/>
              </a:rPr>
              <a:t>信息安全风险评估规范</a:t>
            </a: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en-US" altLang="zh-CN" sz="2400" b="1">
                <a:solidFill>
                  <a:srgbClr val="000000"/>
                </a:solidFill>
                <a:latin typeface="Arial" panose="020B0604020202020204" pitchFamily="34" charset="0"/>
                <a:ea typeface="宋体" panose="02010600030101010101" pitchFamily="2" charset="-122"/>
                <a:sym typeface="黑体" panose="02010609060101010101" pitchFamily="49" charset="-122"/>
              </a:rPr>
              <a:t>GB/T20984</a:t>
            </a: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推荐方法：</a:t>
            </a:r>
            <a:endPar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3" name="矩形 2"/>
          <p:cNvSpPr/>
          <p:nvPr/>
        </p:nvSpPr>
        <p:spPr>
          <a:xfrm>
            <a:off x="2711450" y="5367338"/>
            <a:ext cx="4467860" cy="460375"/>
          </a:xfrm>
          <a:prstGeom prst="rect">
            <a:avLst/>
          </a:prstGeom>
        </p:spPr>
        <p:txBody>
          <a:bodyPr wrap="none">
            <a:spAutoFit/>
          </a:bodyPr>
          <a:lstStyle/>
          <a:p>
            <a:pPr eaLnBrk="1" hangingPunct="1">
              <a:spcBef>
                <a:spcPct val="50000"/>
              </a:spcBef>
              <a:buFont typeface="Wingdings" panose="05000000000000000000" pitchFamily="2" charset="2"/>
              <a:buNone/>
              <a:defRPr/>
            </a:pPr>
            <a:r>
              <a:rPr lang="zh-CN" altLang="en-US" sz="2400" b="1" dirty="0">
                <a:solidFill>
                  <a:srgbClr val="FF0000"/>
                </a:solidFill>
                <a:latin typeface="+mn-ea"/>
                <a:ea typeface="+mn-ea"/>
                <a:sym typeface="黑体" panose="02010609060101010101" pitchFamily="49" charset="-122"/>
              </a:rPr>
              <a:t>对关键资产进行风险评估是重点</a:t>
            </a:r>
            <a:endParaRPr lang="zh-CN" altLang="en-US" sz="2400" b="1" dirty="0">
              <a:solidFill>
                <a:srgbClr val="FF0000"/>
              </a:solidFill>
              <a:latin typeface="+mn-ea"/>
              <a:ea typeface="+mn-ea"/>
              <a:sym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88070"/>
                                        </p:tgtEl>
                                        <p:attrNameLst>
                                          <p:attrName>style.visibility</p:attrName>
                                        </p:attrNameLst>
                                      </p:cBhvr>
                                      <p:to>
                                        <p:strVal val="visible"/>
                                      </p:to>
                                    </p:set>
                                    <p:anim calcmode="lin" valueType="num">
                                      <p:cBhvr>
                                        <p:cTn id="12" dur="500" fill="hold"/>
                                        <p:tgtEl>
                                          <p:spTgt spid="88070"/>
                                        </p:tgtEl>
                                        <p:attrNameLst>
                                          <p:attrName>ppt_w</p:attrName>
                                        </p:attrNameLst>
                                      </p:cBhvr>
                                      <p:tavLst>
                                        <p:tav tm="0">
                                          <p:val>
                                            <p:fltVal val="0"/>
                                          </p:val>
                                        </p:tav>
                                        <p:tav tm="100000">
                                          <p:val>
                                            <p:strVal val="#ppt_w"/>
                                          </p:val>
                                        </p:tav>
                                      </p:tavLst>
                                    </p:anim>
                                    <p:anim calcmode="lin" valueType="num">
                                      <p:cBhvr>
                                        <p:cTn id="13" dur="500" fill="hold"/>
                                        <p:tgtEl>
                                          <p:spTgt spid="88070"/>
                                        </p:tgtEl>
                                        <p:attrNameLst>
                                          <p:attrName>ppt_h</p:attrName>
                                        </p:attrNameLst>
                                      </p:cBhvr>
                                      <p:tavLst>
                                        <p:tav tm="0">
                                          <p:val>
                                            <p:fltVal val="0"/>
                                          </p:val>
                                        </p:tav>
                                        <p:tav tm="100000">
                                          <p:val>
                                            <p:strVal val="#ppt_h"/>
                                          </p:val>
                                        </p:tav>
                                      </p:tavLst>
                                    </p:anim>
                                    <p:animEffect transition="in" filter="fade">
                                      <p:cBhvr>
                                        <p:cTn id="14" dur="500"/>
                                        <p:tgtEl>
                                          <p:spTgt spid="88070"/>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1000" fill="hold"/>
                                        <p:tgtEl>
                                          <p:spTgt spid="3"/>
                                        </p:tgtEl>
                                        <p:attrNameLst>
                                          <p:attrName>ppt_x</p:attrName>
                                        </p:attrNameLst>
                                      </p:cBhvr>
                                      <p:tavLst>
                                        <p:tav tm="0">
                                          <p:val>
                                            <p:strVal val="0-#ppt_w/2"/>
                                          </p:val>
                                        </p:tav>
                                        <p:tav tm="100000">
                                          <p:val>
                                            <p:strVal val="#ppt_x"/>
                                          </p:val>
                                        </p:tav>
                                      </p:tavLst>
                                    </p:anim>
                                    <p:anim calcmode="lin" valueType="num">
                                      <p:cBhvr additive="base">
                                        <p:cTn id="19"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0" grpId="0"/>
      <p:bldP spid="2" grpId="0"/>
      <p:bldP spid="3"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ChangeArrowheads="1"/>
          </p:cNvSpPr>
          <p:nvPr/>
        </p:nvSpPr>
        <p:spPr bwMode="auto">
          <a:xfrm>
            <a:off x="1524000" y="173275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5171" name="Rectangle 4"/>
          <p:cNvSpPr>
            <a:spLocks noChangeArrowheads="1"/>
          </p:cNvSpPr>
          <p:nvPr/>
        </p:nvSpPr>
        <p:spPr bwMode="auto">
          <a:xfrm>
            <a:off x="1524000" y="2524919"/>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5172" name="Rectangle 5"/>
          <p:cNvSpPr>
            <a:spLocks noChangeArrowheads="1"/>
          </p:cNvSpPr>
          <p:nvPr/>
        </p:nvSpPr>
        <p:spPr bwMode="auto">
          <a:xfrm>
            <a:off x="1524000" y="91122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graphicFrame>
        <p:nvGraphicFramePr>
          <p:cNvPr id="394371" name="Group 131"/>
          <p:cNvGraphicFramePr>
            <a:graphicFrameLocks noGrp="1"/>
          </p:cNvGraphicFramePr>
          <p:nvPr/>
        </p:nvGraphicFramePr>
        <p:xfrm>
          <a:off x="2135981" y="2449983"/>
          <a:ext cx="7919720" cy="3566160"/>
        </p:xfrm>
        <a:graphic>
          <a:graphicData uri="http://schemas.openxmlformats.org/drawingml/2006/table">
            <a:tbl>
              <a:tblPr>
                <a:effectLst>
                  <a:outerShdw blurRad="50800" dist="38100" dir="13500000" algn="br" rotWithShape="0">
                    <a:prstClr val="black">
                      <a:alpha val="40000"/>
                    </a:prstClr>
                  </a:outerShdw>
                </a:effectLst>
              </a:tblPr>
              <a:tblGrid>
                <a:gridCol w="814705"/>
                <a:gridCol w="1016000"/>
                <a:gridCol w="6089015"/>
              </a:tblGrid>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赋值 </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标识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定义 </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r>
              <a:tr h="91440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很高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包含组织最重要的秘密，关系未来发展的前途命运，对组织根本利益有着决定性的影响，如果泄露会造成灾难性的损害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高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包含组织的重要秘密，其泄露会使组织的安全和利益遭受严重损害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中等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组织的一般性秘密，其泄露会使组织的安全和利益受到损害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低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仅能在组织内部或在组织某一部门内部公开的信息，向外扩散有可能对组织的利益造成轻微损害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r>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很低 </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可对社会公开的信息，公用的信息处理设备和系统资源等 </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2">
                        <a:lumMod val="20000"/>
                        <a:lumOff val="80000"/>
                      </a:schemeClr>
                    </a:solidFill>
                  </a:tcPr>
                </a:tc>
              </a:tr>
            </a:tbl>
          </a:graphicData>
        </a:graphic>
      </p:graphicFrame>
      <p:sp>
        <p:nvSpPr>
          <p:cNvPr id="89125" name="Rectangle 128"/>
          <p:cNvSpPr>
            <a:spLocks noChangeArrowheads="1"/>
          </p:cNvSpPr>
          <p:nvPr/>
        </p:nvSpPr>
        <p:spPr bwMode="auto">
          <a:xfrm>
            <a:off x="4981575" y="2003425"/>
            <a:ext cx="222504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2000" b="1">
                <a:solidFill>
                  <a:schemeClr val="tx2"/>
                </a:solidFill>
                <a:latin typeface="Arial" panose="020B0604020202020204" pitchFamily="34" charset="0"/>
                <a:ea typeface="宋体" panose="02010600030101010101" pitchFamily="2" charset="-122"/>
                <a:sym typeface="黑体" panose="02010609060101010101" pitchFamily="49" charset="-122"/>
              </a:rPr>
              <a:t>资产机密性赋值表</a:t>
            </a:r>
            <a:endParaRPr lang="zh-CN" altLang="en-US" sz="2000" b="1">
              <a:solidFill>
                <a:schemeClr val="tx2"/>
              </a:solidFill>
              <a:latin typeface="Arial" panose="020B0604020202020204" pitchFamily="34" charset="0"/>
              <a:ea typeface="宋体" panose="02010600030101010101" pitchFamily="2" charset="-122"/>
              <a:sym typeface="黑体" panose="02010609060101010101" pitchFamily="49" charset="-122"/>
            </a:endParaRPr>
          </a:p>
        </p:txBody>
      </p:sp>
      <p:sp>
        <p:nvSpPr>
          <p:cNvPr id="89126" name="Rectangle 130"/>
          <p:cNvSpPr>
            <a:spLocks noChangeArrowheads="1"/>
          </p:cNvSpPr>
          <p:nvPr/>
        </p:nvSpPr>
        <p:spPr bwMode="auto">
          <a:xfrm>
            <a:off x="2640013" y="1438275"/>
            <a:ext cx="543115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en-US" altLang="zh-CN" sz="2400" b="1">
                <a:solidFill>
                  <a:srgbClr val="0033CC"/>
                </a:solidFill>
                <a:latin typeface="Arial" panose="020B0604020202020204" pitchFamily="34" charset="0"/>
                <a:ea typeface="宋体" panose="02010600030101010101" pitchFamily="2" charset="-122"/>
                <a:sym typeface="Arial" panose="020B0604020202020204" pitchFamily="34" charset="0"/>
              </a:rPr>
              <a:t>《</a:t>
            </a:r>
            <a:r>
              <a:rPr lang="zh-CN" altLang="en-US" sz="2400" b="1">
                <a:solidFill>
                  <a:srgbClr val="0033CC"/>
                </a:solidFill>
                <a:latin typeface="Arial" panose="020B0604020202020204" pitchFamily="34" charset="0"/>
                <a:ea typeface="宋体" panose="02010600030101010101" pitchFamily="2" charset="-122"/>
                <a:sym typeface="Arial" panose="020B0604020202020204" pitchFamily="34" charset="0"/>
              </a:rPr>
              <a:t>信息安全风险评估规范</a:t>
            </a:r>
            <a:r>
              <a:rPr lang="en-US" altLang="zh-CN" sz="2400" b="1">
                <a:solidFill>
                  <a:srgbClr val="0033CC"/>
                </a:solidFill>
                <a:latin typeface="Arial" panose="020B0604020202020204" pitchFamily="34" charset="0"/>
                <a:ea typeface="宋体" panose="02010600030101010101" pitchFamily="2" charset="-122"/>
                <a:sym typeface="Arial" panose="020B0604020202020204" pitchFamily="34" charset="0"/>
              </a:rPr>
              <a:t>》</a:t>
            </a:r>
            <a:r>
              <a:rPr lang="en-US" altLang="zh-CN" sz="2400" b="1">
                <a:solidFill>
                  <a:srgbClr val="0033CC"/>
                </a:solidFill>
                <a:latin typeface="Arial" panose="020B0604020202020204" pitchFamily="34" charset="0"/>
                <a:ea typeface="宋体" panose="02010600030101010101" pitchFamily="2" charset="-122"/>
                <a:sym typeface="黑体" panose="02010609060101010101" pitchFamily="49" charset="-122"/>
              </a:rPr>
              <a:t>GB/T20984</a:t>
            </a:r>
            <a:endParaRPr lang="zh-CN" altLang="en-US" sz="2400" b="1">
              <a:solidFill>
                <a:srgbClr val="0033CC"/>
              </a:solidFill>
              <a:latin typeface="Arial" panose="020B0604020202020204" pitchFamily="34" charset="0"/>
              <a:ea typeface="宋体" panose="02010600030101010101" pitchFamily="2" charset="-122"/>
              <a:sym typeface="黑体" panose="02010609060101010101" pitchFamily="49" charset="-122"/>
            </a:endParaRPr>
          </a:p>
        </p:txBody>
      </p:sp>
      <p:sp>
        <p:nvSpPr>
          <p:cNvPr id="10" name="Text Box 2"/>
          <p:cNvSpPr>
            <a:spLocks noChangeArrowheads="1"/>
          </p:cNvSpPr>
          <p:nvPr/>
        </p:nvSpPr>
        <p:spPr bwMode="auto">
          <a:xfrm>
            <a:off x="1919288" y="954088"/>
            <a:ext cx="6265862" cy="485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Verdana" panose="020B0604030504040204" pitchFamily="34" charset="0"/>
                <a:sym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b="1">
                <a:solidFill>
                  <a:schemeClr val="tx1"/>
                </a:solidFill>
                <a:latin typeface="Arial" panose="020B0604020202020204" pitchFamily="34" charset="0"/>
                <a:sym typeface="Verdana" panose="020B0604030504040204" pitchFamily="34" charset="0"/>
              </a:defRPr>
            </a:lvl2pPr>
            <a:lvl3pPr marL="1143000" indent="-228600">
              <a:spcBef>
                <a:spcPct val="20000"/>
              </a:spcBef>
              <a:buClr>
                <a:schemeClr val="tx1"/>
              </a:buClr>
              <a:buFont typeface="Wingdings" panose="05000000000000000000" pitchFamily="2" charset="2"/>
              <a:buChar char="•"/>
              <a:defRPr sz="28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a:spcBef>
                <a:spcPct val="20000"/>
              </a:spcBef>
              <a:buClr>
                <a:schemeClr val="tx1"/>
              </a:buClr>
              <a:buFont typeface="Wingdings" panose="05000000000000000000" pitchFamily="2" charset="2"/>
              <a:buChar char="–"/>
              <a:defRPr sz="24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a:spcBef>
                <a:spcPct val="20000"/>
              </a:spcBef>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5pPr>
            <a:lvl6pPr marL="25146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6pPr>
            <a:lvl7pPr marL="29718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7pPr>
            <a:lvl8pPr marL="34290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8pPr>
            <a:lvl9pPr marL="38862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9pPr>
          </a:lstStyle>
          <a:p>
            <a:pPr defTabSz="179705">
              <a:lnSpc>
                <a:spcPct val="80000"/>
              </a:lnSpc>
              <a:spcBef>
                <a:spcPct val="0"/>
              </a:spcBef>
              <a:buClrTx/>
              <a:buFont typeface="Wingdings" panose="05000000000000000000" pitchFamily="2" charset="2"/>
              <a:buNone/>
              <a:defRPr/>
            </a:pPr>
            <a:r>
              <a:rPr lang="zh-CN" altLang="en-US" b="1" dirty="0">
                <a:solidFill>
                  <a:srgbClr val="FF0000"/>
                </a:solidFill>
                <a:latin typeface="+mj-lt"/>
                <a:ea typeface="+mj-ea"/>
                <a:cs typeface="+mj-cs"/>
                <a:sym typeface="微软雅黑" panose="020B0503020204020204" charset="-122"/>
              </a:rPr>
              <a:t>资产评估</a:t>
            </a:r>
            <a:endParaRPr lang="zh-CN" altLang="en-US" b="1" dirty="0">
              <a:solidFill>
                <a:srgbClr val="FF0000"/>
              </a:solidFill>
              <a:latin typeface="+mj-lt"/>
              <a:ea typeface="+mj-ea"/>
              <a:cs typeface="+mj-cs"/>
              <a:sym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9126"/>
                                        </p:tgtEl>
                                        <p:attrNameLst>
                                          <p:attrName>style.visibility</p:attrName>
                                        </p:attrNameLst>
                                      </p:cBhvr>
                                      <p:to>
                                        <p:strVal val="visible"/>
                                      </p:to>
                                    </p:set>
                                    <p:anim calcmode="lin" valueType="num">
                                      <p:cBhvr>
                                        <p:cTn id="7" dur="500" fill="hold"/>
                                        <p:tgtEl>
                                          <p:spTgt spid="89126"/>
                                        </p:tgtEl>
                                        <p:attrNameLst>
                                          <p:attrName>ppt_w</p:attrName>
                                        </p:attrNameLst>
                                      </p:cBhvr>
                                      <p:tavLst>
                                        <p:tav tm="0">
                                          <p:val>
                                            <p:fltVal val="0"/>
                                          </p:val>
                                        </p:tav>
                                        <p:tav tm="100000">
                                          <p:val>
                                            <p:strVal val="#ppt_w"/>
                                          </p:val>
                                        </p:tav>
                                      </p:tavLst>
                                    </p:anim>
                                    <p:anim calcmode="lin" valueType="num">
                                      <p:cBhvr>
                                        <p:cTn id="8" dur="500" fill="hold"/>
                                        <p:tgtEl>
                                          <p:spTgt spid="89126"/>
                                        </p:tgtEl>
                                        <p:attrNameLst>
                                          <p:attrName>ppt_h</p:attrName>
                                        </p:attrNameLst>
                                      </p:cBhvr>
                                      <p:tavLst>
                                        <p:tav tm="0">
                                          <p:val>
                                            <p:fltVal val="0"/>
                                          </p:val>
                                        </p:tav>
                                        <p:tav tm="100000">
                                          <p:val>
                                            <p:strVal val="#ppt_h"/>
                                          </p:val>
                                        </p:tav>
                                      </p:tavLst>
                                    </p:anim>
                                    <p:animEffect transition="in" filter="fade">
                                      <p:cBhvr>
                                        <p:cTn id="9" dur="500"/>
                                        <p:tgtEl>
                                          <p:spTgt spid="89126"/>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9125"/>
                                        </p:tgtEl>
                                        <p:attrNameLst>
                                          <p:attrName>style.visibility</p:attrName>
                                        </p:attrNameLst>
                                      </p:cBhvr>
                                      <p:to>
                                        <p:strVal val="visible"/>
                                      </p:to>
                                    </p:set>
                                    <p:anim calcmode="lin" valueType="num">
                                      <p:cBhvr>
                                        <p:cTn id="13" dur="500" fill="hold"/>
                                        <p:tgtEl>
                                          <p:spTgt spid="89125"/>
                                        </p:tgtEl>
                                        <p:attrNameLst>
                                          <p:attrName>ppt_w</p:attrName>
                                        </p:attrNameLst>
                                      </p:cBhvr>
                                      <p:tavLst>
                                        <p:tav tm="0">
                                          <p:val>
                                            <p:fltVal val="0"/>
                                          </p:val>
                                        </p:tav>
                                        <p:tav tm="100000">
                                          <p:val>
                                            <p:strVal val="#ppt_w"/>
                                          </p:val>
                                        </p:tav>
                                      </p:tavLst>
                                    </p:anim>
                                    <p:anim calcmode="lin" valueType="num">
                                      <p:cBhvr>
                                        <p:cTn id="14" dur="500" fill="hold"/>
                                        <p:tgtEl>
                                          <p:spTgt spid="89125"/>
                                        </p:tgtEl>
                                        <p:attrNameLst>
                                          <p:attrName>ppt_h</p:attrName>
                                        </p:attrNameLst>
                                      </p:cBhvr>
                                      <p:tavLst>
                                        <p:tav tm="0">
                                          <p:val>
                                            <p:fltVal val="0"/>
                                          </p:val>
                                        </p:tav>
                                        <p:tav tm="100000">
                                          <p:val>
                                            <p:strVal val="#ppt_h"/>
                                          </p:val>
                                        </p:tav>
                                      </p:tavLst>
                                    </p:anim>
                                    <p:animEffect transition="in" filter="fade">
                                      <p:cBhvr>
                                        <p:cTn id="15" dur="500"/>
                                        <p:tgtEl>
                                          <p:spTgt spid="89125"/>
                                        </p:tgtEl>
                                      </p:cBhvr>
                                    </p:animEffect>
                                  </p:childTnLst>
                                </p:cTn>
                              </p:par>
                            </p:childTnLst>
                          </p:cTn>
                        </p:par>
                        <p:par>
                          <p:cTn id="16" fill="hold">
                            <p:stCondLst>
                              <p:cond delay="1000"/>
                            </p:stCondLst>
                            <p:childTnLst>
                              <p:par>
                                <p:cTn id="17" presetID="2" presetClass="entr" presetSubtype="4" fill="hold" nodeType="afterEffect">
                                  <p:stCondLst>
                                    <p:cond delay="0"/>
                                  </p:stCondLst>
                                  <p:childTnLst>
                                    <p:set>
                                      <p:cBhvr>
                                        <p:cTn id="18" dur="1" fill="hold">
                                          <p:stCondLst>
                                            <p:cond delay="0"/>
                                          </p:stCondLst>
                                        </p:cTn>
                                        <p:tgtEl>
                                          <p:spTgt spid="394371"/>
                                        </p:tgtEl>
                                        <p:attrNameLst>
                                          <p:attrName>style.visibility</p:attrName>
                                        </p:attrNameLst>
                                      </p:cBhvr>
                                      <p:to>
                                        <p:strVal val="visible"/>
                                      </p:to>
                                    </p:set>
                                    <p:anim calcmode="lin" valueType="num">
                                      <p:cBhvr additive="base">
                                        <p:cTn id="19" dur="500" fill="hold"/>
                                        <p:tgtEl>
                                          <p:spTgt spid="394371"/>
                                        </p:tgtEl>
                                        <p:attrNameLst>
                                          <p:attrName>ppt_x</p:attrName>
                                        </p:attrNameLst>
                                      </p:cBhvr>
                                      <p:tavLst>
                                        <p:tav tm="0">
                                          <p:val>
                                            <p:strVal val="#ppt_x"/>
                                          </p:val>
                                        </p:tav>
                                        <p:tav tm="100000">
                                          <p:val>
                                            <p:strVal val="#ppt_x"/>
                                          </p:val>
                                        </p:tav>
                                      </p:tavLst>
                                    </p:anim>
                                    <p:anim calcmode="lin" valueType="num">
                                      <p:cBhvr additive="base">
                                        <p:cTn id="20" dur="500" fill="hold"/>
                                        <p:tgtEl>
                                          <p:spTgt spid="3943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25" grpId="0" bldLvl="0" animBg="1"/>
      <p:bldP spid="89126" grpId="0" bldLvl="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3"/>
          <p:cNvSpPr>
            <a:spLocks noChangeArrowheads="1"/>
          </p:cNvSpPr>
          <p:nvPr/>
        </p:nvSpPr>
        <p:spPr bwMode="auto">
          <a:xfrm>
            <a:off x="1524000" y="173275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6195" name="Rectangle 4"/>
          <p:cNvSpPr>
            <a:spLocks noChangeArrowheads="1"/>
          </p:cNvSpPr>
          <p:nvPr/>
        </p:nvSpPr>
        <p:spPr bwMode="auto">
          <a:xfrm>
            <a:off x="1524000" y="248840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6196" name="Rectangle 5"/>
          <p:cNvSpPr>
            <a:spLocks noChangeArrowheads="1"/>
          </p:cNvSpPr>
          <p:nvPr/>
        </p:nvSpPr>
        <p:spPr bwMode="auto">
          <a:xfrm>
            <a:off x="1524000" y="91122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90119" name="Rectangle 37"/>
          <p:cNvSpPr>
            <a:spLocks noChangeArrowheads="1"/>
          </p:cNvSpPr>
          <p:nvPr/>
        </p:nvSpPr>
        <p:spPr bwMode="auto">
          <a:xfrm>
            <a:off x="4981575" y="1893888"/>
            <a:ext cx="222504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2000" b="1">
                <a:solidFill>
                  <a:schemeClr val="tx2"/>
                </a:solidFill>
                <a:latin typeface="Arial" panose="020B0604020202020204" pitchFamily="34" charset="0"/>
                <a:ea typeface="宋体" panose="02010600030101010101" pitchFamily="2" charset="-122"/>
                <a:sym typeface="黑体" panose="02010609060101010101" pitchFamily="49" charset="-122"/>
              </a:rPr>
              <a:t>资产完整性赋值表</a:t>
            </a:r>
            <a:endParaRPr lang="zh-CN" altLang="en-US" sz="2000" b="1">
              <a:solidFill>
                <a:schemeClr val="tx2"/>
              </a:solidFill>
              <a:latin typeface="Arial" panose="020B0604020202020204" pitchFamily="34" charset="0"/>
              <a:ea typeface="宋体" panose="02010600030101010101" pitchFamily="2" charset="-122"/>
              <a:sym typeface="黑体" panose="02010609060101010101" pitchFamily="49" charset="-122"/>
            </a:endParaRPr>
          </a:p>
        </p:txBody>
      </p:sp>
      <p:graphicFrame>
        <p:nvGraphicFramePr>
          <p:cNvPr id="396448" name="Group 160"/>
          <p:cNvGraphicFramePr>
            <a:graphicFrameLocks noGrp="1"/>
          </p:cNvGraphicFramePr>
          <p:nvPr/>
        </p:nvGraphicFramePr>
        <p:xfrm>
          <a:off x="2135560" y="2330126"/>
          <a:ext cx="8281670" cy="3840480"/>
        </p:xfrm>
        <a:graphic>
          <a:graphicData uri="http://schemas.openxmlformats.org/drawingml/2006/table">
            <a:tbl>
              <a:tblPr>
                <a:effectLst>
                  <a:outerShdw blurRad="50800" dist="38100" dir="13500000" algn="br" rotWithShape="0">
                    <a:prstClr val="black">
                      <a:alpha val="40000"/>
                    </a:prstClr>
                  </a:outerShdw>
                </a:effectLst>
              </a:tblPr>
              <a:tblGrid>
                <a:gridCol w="692150"/>
                <a:gridCol w="995045"/>
                <a:gridCol w="6594475"/>
              </a:tblGrid>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赋值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标识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定义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91440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很高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完整性价值非常关键，未经授权的修改或破坏会对组织造成重大的或无法接受的影响，对业务冲击重大，并可能造成严重的业务中断，难以弥补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高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完整性价值较高，未经授权的修改或破坏会对组织造成重大影响，对业务冲击严重，较难弥补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中等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完整性价值中等，未经授权的修改或破坏会对组织造成影响，对业务冲击明显，但可以弥补 </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低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完整性价值较低，未经授权的修改或破坏会对组织造成轻微影响，对业务冲击轻微，容易弥补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很低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完整性价值非常低，未经授权的修改或破坏对组织造成的影响可以忽略，对业务冲击可以忽略 </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bl>
          </a:graphicData>
        </a:graphic>
      </p:graphicFrame>
      <p:sp>
        <p:nvSpPr>
          <p:cNvPr id="90150" name="Rectangle 158"/>
          <p:cNvSpPr>
            <a:spLocks noChangeArrowheads="1"/>
          </p:cNvSpPr>
          <p:nvPr/>
        </p:nvSpPr>
        <p:spPr bwMode="auto">
          <a:xfrm>
            <a:off x="2333625" y="1398588"/>
            <a:ext cx="543115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zh-CN" altLang="en-US" sz="2400" b="1">
                <a:solidFill>
                  <a:srgbClr val="000000"/>
                </a:solidFill>
                <a:latin typeface="Arial" panose="020B0604020202020204" pitchFamily="34" charset="0"/>
                <a:ea typeface="宋体" panose="02010600030101010101" pitchFamily="2" charset="-122"/>
                <a:sym typeface="Arial" panose="020B0604020202020204" pitchFamily="34" charset="0"/>
              </a:rPr>
              <a:t>信息安全风险评估规范</a:t>
            </a: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en-US" altLang="zh-CN" sz="2400" b="1">
                <a:solidFill>
                  <a:srgbClr val="000000"/>
                </a:solidFill>
                <a:latin typeface="Arial" panose="020B0604020202020204" pitchFamily="34" charset="0"/>
                <a:ea typeface="宋体" panose="02010600030101010101" pitchFamily="2" charset="-122"/>
                <a:sym typeface="黑体" panose="02010609060101010101" pitchFamily="49" charset="-122"/>
              </a:rPr>
              <a:t>GB/T20984</a:t>
            </a:r>
            <a:endPar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0" name="Text Box 2"/>
          <p:cNvSpPr>
            <a:spLocks noChangeArrowheads="1"/>
          </p:cNvSpPr>
          <p:nvPr/>
        </p:nvSpPr>
        <p:spPr bwMode="auto">
          <a:xfrm>
            <a:off x="1919288" y="839788"/>
            <a:ext cx="6265862" cy="485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Verdana" panose="020B0604030504040204" pitchFamily="34" charset="0"/>
                <a:sym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b="1">
                <a:solidFill>
                  <a:schemeClr val="tx1"/>
                </a:solidFill>
                <a:latin typeface="Arial" panose="020B0604020202020204" pitchFamily="34" charset="0"/>
                <a:sym typeface="Verdana" panose="020B0604030504040204" pitchFamily="34" charset="0"/>
              </a:defRPr>
            </a:lvl2pPr>
            <a:lvl3pPr marL="1143000" indent="-228600">
              <a:spcBef>
                <a:spcPct val="20000"/>
              </a:spcBef>
              <a:buClr>
                <a:schemeClr val="tx1"/>
              </a:buClr>
              <a:buFont typeface="Wingdings" panose="05000000000000000000" pitchFamily="2" charset="2"/>
              <a:buChar char="•"/>
              <a:defRPr sz="28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a:spcBef>
                <a:spcPct val="20000"/>
              </a:spcBef>
              <a:buClr>
                <a:schemeClr val="tx1"/>
              </a:buClr>
              <a:buFont typeface="Wingdings" panose="05000000000000000000" pitchFamily="2" charset="2"/>
              <a:buChar char="–"/>
              <a:defRPr sz="24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a:spcBef>
                <a:spcPct val="20000"/>
              </a:spcBef>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5pPr>
            <a:lvl6pPr marL="25146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6pPr>
            <a:lvl7pPr marL="29718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7pPr>
            <a:lvl8pPr marL="34290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8pPr>
            <a:lvl9pPr marL="38862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9pPr>
          </a:lstStyle>
          <a:p>
            <a:pPr defTabSz="179705">
              <a:lnSpc>
                <a:spcPct val="80000"/>
              </a:lnSpc>
              <a:spcBef>
                <a:spcPct val="0"/>
              </a:spcBef>
              <a:buClrTx/>
              <a:buFont typeface="Wingdings" panose="05000000000000000000" pitchFamily="2" charset="2"/>
              <a:buNone/>
              <a:defRPr/>
            </a:pPr>
            <a:r>
              <a:rPr lang="zh-CN" altLang="en-US" b="1" dirty="0">
                <a:solidFill>
                  <a:srgbClr val="FF0000"/>
                </a:solidFill>
                <a:latin typeface="+mj-lt"/>
                <a:ea typeface="+mj-ea"/>
                <a:cs typeface="+mj-cs"/>
                <a:sym typeface="微软雅黑" panose="020B0503020204020204" charset="-122"/>
              </a:rPr>
              <a:t>资产评估</a:t>
            </a:r>
            <a:endParaRPr lang="zh-CN" altLang="en-US" b="1" dirty="0">
              <a:solidFill>
                <a:srgbClr val="FF0000"/>
              </a:solidFill>
              <a:latin typeface="+mj-lt"/>
              <a:ea typeface="+mj-ea"/>
              <a:cs typeface="+mj-cs"/>
              <a:sym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0150"/>
                                        </p:tgtEl>
                                        <p:attrNameLst>
                                          <p:attrName>style.visibility</p:attrName>
                                        </p:attrNameLst>
                                      </p:cBhvr>
                                      <p:to>
                                        <p:strVal val="visible"/>
                                      </p:to>
                                    </p:set>
                                    <p:anim calcmode="lin" valueType="num">
                                      <p:cBhvr additive="base">
                                        <p:cTn id="7" dur="500" fill="hold"/>
                                        <p:tgtEl>
                                          <p:spTgt spid="90150"/>
                                        </p:tgtEl>
                                        <p:attrNameLst>
                                          <p:attrName>ppt_x</p:attrName>
                                        </p:attrNameLst>
                                      </p:cBhvr>
                                      <p:tavLst>
                                        <p:tav tm="0">
                                          <p:val>
                                            <p:strVal val="#ppt_x"/>
                                          </p:val>
                                        </p:tav>
                                        <p:tav tm="100000">
                                          <p:val>
                                            <p:strVal val="#ppt_x"/>
                                          </p:val>
                                        </p:tav>
                                      </p:tavLst>
                                    </p:anim>
                                    <p:anim calcmode="lin" valueType="num">
                                      <p:cBhvr additive="base">
                                        <p:cTn id="8" dur="500" fill="hold"/>
                                        <p:tgtEl>
                                          <p:spTgt spid="9015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90119"/>
                                        </p:tgtEl>
                                        <p:attrNameLst>
                                          <p:attrName>style.visibility</p:attrName>
                                        </p:attrNameLst>
                                      </p:cBhvr>
                                      <p:to>
                                        <p:strVal val="visible"/>
                                      </p:to>
                                    </p:set>
                                    <p:anim calcmode="lin" valueType="num">
                                      <p:cBhvr>
                                        <p:cTn id="12" dur="500" fill="hold"/>
                                        <p:tgtEl>
                                          <p:spTgt spid="90119"/>
                                        </p:tgtEl>
                                        <p:attrNameLst>
                                          <p:attrName>ppt_w</p:attrName>
                                        </p:attrNameLst>
                                      </p:cBhvr>
                                      <p:tavLst>
                                        <p:tav tm="0">
                                          <p:val>
                                            <p:fltVal val="0"/>
                                          </p:val>
                                        </p:tav>
                                        <p:tav tm="100000">
                                          <p:val>
                                            <p:strVal val="#ppt_w"/>
                                          </p:val>
                                        </p:tav>
                                      </p:tavLst>
                                    </p:anim>
                                    <p:anim calcmode="lin" valueType="num">
                                      <p:cBhvr>
                                        <p:cTn id="13" dur="500" fill="hold"/>
                                        <p:tgtEl>
                                          <p:spTgt spid="90119"/>
                                        </p:tgtEl>
                                        <p:attrNameLst>
                                          <p:attrName>ppt_h</p:attrName>
                                        </p:attrNameLst>
                                      </p:cBhvr>
                                      <p:tavLst>
                                        <p:tav tm="0">
                                          <p:val>
                                            <p:fltVal val="0"/>
                                          </p:val>
                                        </p:tav>
                                        <p:tav tm="100000">
                                          <p:val>
                                            <p:strVal val="#ppt_h"/>
                                          </p:val>
                                        </p:tav>
                                      </p:tavLst>
                                    </p:anim>
                                    <p:animEffect transition="in" filter="fade">
                                      <p:cBhvr>
                                        <p:cTn id="14" dur="500"/>
                                        <p:tgtEl>
                                          <p:spTgt spid="90119"/>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396448"/>
                                        </p:tgtEl>
                                        <p:attrNameLst>
                                          <p:attrName>style.visibility</p:attrName>
                                        </p:attrNameLst>
                                      </p:cBhvr>
                                      <p:to>
                                        <p:strVal val="visible"/>
                                      </p:to>
                                    </p:set>
                                    <p:anim calcmode="lin" valueType="num">
                                      <p:cBhvr>
                                        <p:cTn id="18" dur="500" fill="hold"/>
                                        <p:tgtEl>
                                          <p:spTgt spid="396448"/>
                                        </p:tgtEl>
                                        <p:attrNameLst>
                                          <p:attrName>ppt_w</p:attrName>
                                        </p:attrNameLst>
                                      </p:cBhvr>
                                      <p:tavLst>
                                        <p:tav tm="0">
                                          <p:val>
                                            <p:fltVal val="0"/>
                                          </p:val>
                                        </p:tav>
                                        <p:tav tm="100000">
                                          <p:val>
                                            <p:strVal val="#ppt_w"/>
                                          </p:val>
                                        </p:tav>
                                      </p:tavLst>
                                    </p:anim>
                                    <p:anim calcmode="lin" valueType="num">
                                      <p:cBhvr>
                                        <p:cTn id="19" dur="500" fill="hold"/>
                                        <p:tgtEl>
                                          <p:spTgt spid="396448"/>
                                        </p:tgtEl>
                                        <p:attrNameLst>
                                          <p:attrName>ppt_h</p:attrName>
                                        </p:attrNameLst>
                                      </p:cBhvr>
                                      <p:tavLst>
                                        <p:tav tm="0">
                                          <p:val>
                                            <p:fltVal val="0"/>
                                          </p:val>
                                        </p:tav>
                                        <p:tav tm="100000">
                                          <p:val>
                                            <p:strVal val="#ppt_h"/>
                                          </p:val>
                                        </p:tav>
                                      </p:tavLst>
                                    </p:anim>
                                    <p:animEffect transition="in" filter="fade">
                                      <p:cBhvr>
                                        <p:cTn id="20" dur="500"/>
                                        <p:tgtEl>
                                          <p:spTgt spid="396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9" grpId="0" bldLvl="0" animBg="1"/>
      <p:bldP spid="90150" grpId="0" bldLvl="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3"/>
          <p:cNvSpPr>
            <a:spLocks noChangeArrowheads="1"/>
          </p:cNvSpPr>
          <p:nvPr/>
        </p:nvSpPr>
        <p:spPr bwMode="auto">
          <a:xfrm>
            <a:off x="1524000" y="173275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7219" name="Rectangle 4"/>
          <p:cNvSpPr>
            <a:spLocks noChangeArrowheads="1"/>
          </p:cNvSpPr>
          <p:nvPr/>
        </p:nvSpPr>
        <p:spPr bwMode="auto">
          <a:xfrm>
            <a:off x="1524000" y="2740819"/>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7220" name="Rectangle 5"/>
          <p:cNvSpPr>
            <a:spLocks noChangeArrowheads="1"/>
          </p:cNvSpPr>
          <p:nvPr/>
        </p:nvSpPr>
        <p:spPr bwMode="auto">
          <a:xfrm>
            <a:off x="1524000" y="91122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91143" name="Rectangle 7"/>
          <p:cNvSpPr>
            <a:spLocks noChangeArrowheads="1"/>
          </p:cNvSpPr>
          <p:nvPr/>
        </p:nvSpPr>
        <p:spPr bwMode="auto">
          <a:xfrm>
            <a:off x="4656138" y="1916113"/>
            <a:ext cx="222504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2000" b="1">
                <a:solidFill>
                  <a:schemeClr val="tx2"/>
                </a:solidFill>
                <a:latin typeface="Arial" panose="020B0604020202020204" pitchFamily="34" charset="0"/>
                <a:ea typeface="宋体" panose="02010600030101010101" pitchFamily="2" charset="-122"/>
                <a:sym typeface="黑体" panose="02010609060101010101" pitchFamily="49" charset="-122"/>
              </a:rPr>
              <a:t>资产可用性赋值表</a:t>
            </a:r>
            <a:endParaRPr lang="zh-CN" altLang="en-US" sz="2000" b="1">
              <a:solidFill>
                <a:schemeClr val="tx2"/>
              </a:solidFill>
              <a:latin typeface="Arial" panose="020B0604020202020204" pitchFamily="34" charset="0"/>
              <a:ea typeface="宋体" panose="02010600030101010101" pitchFamily="2" charset="-122"/>
              <a:sym typeface="黑体" panose="02010609060101010101" pitchFamily="49" charset="-122"/>
            </a:endParaRPr>
          </a:p>
        </p:txBody>
      </p:sp>
      <p:graphicFrame>
        <p:nvGraphicFramePr>
          <p:cNvPr id="397352" name="Group 40"/>
          <p:cNvGraphicFramePr>
            <a:graphicFrameLocks noGrp="1"/>
          </p:cNvGraphicFramePr>
          <p:nvPr/>
        </p:nvGraphicFramePr>
        <p:xfrm>
          <a:off x="1991519" y="2422891"/>
          <a:ext cx="8208645" cy="3566160"/>
        </p:xfrm>
        <a:graphic>
          <a:graphicData uri="http://schemas.openxmlformats.org/drawingml/2006/table">
            <a:tbl>
              <a:tblPr>
                <a:effectLst>
                  <a:outerShdw blurRad="50800" dist="38100" dir="13500000" algn="br" rotWithShape="0">
                    <a:prstClr val="black">
                      <a:alpha val="40000"/>
                    </a:prstClr>
                  </a:outerShdw>
                </a:effectLst>
              </a:tblPr>
              <a:tblGrid>
                <a:gridCol w="747395"/>
                <a:gridCol w="1060450"/>
                <a:gridCol w="6400800"/>
              </a:tblGrid>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赋值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标识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定义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5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很高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可用性价值非常高，合法使用者对信息及信息系统的可用度达到年度</a:t>
                      </a: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99.9%</a:t>
                      </a: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以上，或系统不允许中断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4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高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可用性价值较高，合法使用者对信息及信息系统的可用度达到每天</a:t>
                      </a: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90%</a:t>
                      </a: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以上，或系统允许中断时间小于</a:t>
                      </a: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10 min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3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中等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可用性价值中等，合法使用者对信息及信息系统的可用度在正常工作时间达到</a:t>
                      </a: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70%</a:t>
                      </a: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以上，或系统允许中断时间小于</a:t>
                      </a: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30 min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2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低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可用性价值较低，合法使用者对信息及信息系统的可用度在正常工作时间达到</a:t>
                      </a: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25%</a:t>
                      </a: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以上，或系统允许中断时间小于</a:t>
                      </a: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60 min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5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很高 </a:t>
                      </a:r>
                      <a:endParaRPr kumimoji="0" lang="zh-CN" altLang="en-US" sz="1800" b="0" i="0" u="none" strike="noStrike" cap="none" normalizeH="0" baseline="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可用性价值非常高，合法使用者对信息及信息系统的可用度达到年度</a:t>
                      </a:r>
                      <a:r>
                        <a:rPr kumimoji="0" lang="en-US"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99.9%</a:t>
                      </a:r>
                      <a:r>
                        <a:rPr kumimoji="0" lang="zh-CN" altLang="en-US"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rPr>
                        <a:t>以上，或系统不允许中断 </a:t>
                      </a:r>
                      <a:endParaRPr kumimoji="0" lang="zh-CN" altLang="en-US"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sym typeface="Calibri" panose="020F0502020204030204" pitchFamily="34"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bl>
          </a:graphicData>
        </a:graphic>
      </p:graphicFrame>
      <p:sp>
        <p:nvSpPr>
          <p:cNvPr id="91174" name="Rectangle 41"/>
          <p:cNvSpPr>
            <a:spLocks noChangeArrowheads="1"/>
          </p:cNvSpPr>
          <p:nvPr/>
        </p:nvSpPr>
        <p:spPr bwMode="auto">
          <a:xfrm>
            <a:off x="2566988" y="1385888"/>
            <a:ext cx="543115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zh-CN" altLang="en-US" sz="2400" b="1">
                <a:solidFill>
                  <a:srgbClr val="000000"/>
                </a:solidFill>
                <a:latin typeface="Arial" panose="020B0604020202020204" pitchFamily="34" charset="0"/>
                <a:ea typeface="宋体" panose="02010600030101010101" pitchFamily="2" charset="-122"/>
                <a:sym typeface="Arial" panose="020B0604020202020204" pitchFamily="34" charset="0"/>
              </a:rPr>
              <a:t>信息安全风险评估规范</a:t>
            </a: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en-US" altLang="zh-CN" sz="2400" b="1">
                <a:solidFill>
                  <a:srgbClr val="000000"/>
                </a:solidFill>
                <a:latin typeface="Arial" panose="020B0604020202020204" pitchFamily="34" charset="0"/>
                <a:ea typeface="宋体" panose="02010600030101010101" pitchFamily="2" charset="-122"/>
                <a:sym typeface="黑体" panose="02010609060101010101" pitchFamily="49" charset="-122"/>
              </a:rPr>
              <a:t>GB/T20984</a:t>
            </a:r>
            <a:endPar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0" name="Text Box 2"/>
          <p:cNvSpPr>
            <a:spLocks noChangeArrowheads="1"/>
          </p:cNvSpPr>
          <p:nvPr/>
        </p:nvSpPr>
        <p:spPr bwMode="auto">
          <a:xfrm>
            <a:off x="1919288" y="839788"/>
            <a:ext cx="6265862" cy="485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Verdana" panose="020B0604030504040204" pitchFamily="34" charset="0"/>
                <a:sym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b="1">
                <a:solidFill>
                  <a:schemeClr val="tx1"/>
                </a:solidFill>
                <a:latin typeface="Arial" panose="020B0604020202020204" pitchFamily="34" charset="0"/>
                <a:sym typeface="Verdana" panose="020B0604030504040204" pitchFamily="34" charset="0"/>
              </a:defRPr>
            </a:lvl2pPr>
            <a:lvl3pPr marL="1143000" indent="-228600">
              <a:spcBef>
                <a:spcPct val="20000"/>
              </a:spcBef>
              <a:buClr>
                <a:schemeClr val="tx1"/>
              </a:buClr>
              <a:buFont typeface="Wingdings" panose="05000000000000000000" pitchFamily="2" charset="2"/>
              <a:buChar char="•"/>
              <a:defRPr sz="28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a:spcBef>
                <a:spcPct val="20000"/>
              </a:spcBef>
              <a:buClr>
                <a:schemeClr val="tx1"/>
              </a:buClr>
              <a:buFont typeface="Wingdings" panose="05000000000000000000" pitchFamily="2" charset="2"/>
              <a:buChar char="–"/>
              <a:defRPr sz="24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a:spcBef>
                <a:spcPct val="20000"/>
              </a:spcBef>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5pPr>
            <a:lvl6pPr marL="25146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6pPr>
            <a:lvl7pPr marL="29718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7pPr>
            <a:lvl8pPr marL="34290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8pPr>
            <a:lvl9pPr marL="38862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9pPr>
          </a:lstStyle>
          <a:p>
            <a:pPr defTabSz="179705">
              <a:lnSpc>
                <a:spcPct val="80000"/>
              </a:lnSpc>
              <a:spcBef>
                <a:spcPct val="0"/>
              </a:spcBef>
              <a:buClrTx/>
              <a:buFont typeface="Wingdings" panose="05000000000000000000" pitchFamily="2" charset="2"/>
              <a:buNone/>
              <a:defRPr/>
            </a:pPr>
            <a:r>
              <a:rPr lang="zh-CN" altLang="en-US" b="1" dirty="0">
                <a:solidFill>
                  <a:srgbClr val="FF0000"/>
                </a:solidFill>
                <a:latin typeface="+mj-lt"/>
                <a:ea typeface="+mj-ea"/>
                <a:cs typeface="+mj-cs"/>
                <a:sym typeface="微软雅黑" panose="020B0503020204020204" charset="-122"/>
              </a:rPr>
              <a:t>资产评估</a:t>
            </a:r>
            <a:endParaRPr lang="zh-CN" altLang="en-US" b="1" dirty="0">
              <a:solidFill>
                <a:srgbClr val="FF0000"/>
              </a:solidFill>
              <a:latin typeface="+mj-lt"/>
              <a:ea typeface="+mj-ea"/>
              <a:cs typeface="+mj-cs"/>
              <a:sym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1174"/>
                                        </p:tgtEl>
                                        <p:attrNameLst>
                                          <p:attrName>style.visibility</p:attrName>
                                        </p:attrNameLst>
                                      </p:cBhvr>
                                      <p:to>
                                        <p:strVal val="visible"/>
                                      </p:to>
                                    </p:set>
                                    <p:anim calcmode="lin" valueType="num">
                                      <p:cBhvr additive="base">
                                        <p:cTn id="7" dur="500" fill="hold"/>
                                        <p:tgtEl>
                                          <p:spTgt spid="91174"/>
                                        </p:tgtEl>
                                        <p:attrNameLst>
                                          <p:attrName>ppt_x</p:attrName>
                                        </p:attrNameLst>
                                      </p:cBhvr>
                                      <p:tavLst>
                                        <p:tav tm="0">
                                          <p:val>
                                            <p:strVal val="#ppt_x"/>
                                          </p:val>
                                        </p:tav>
                                        <p:tav tm="100000">
                                          <p:val>
                                            <p:strVal val="#ppt_x"/>
                                          </p:val>
                                        </p:tav>
                                      </p:tavLst>
                                    </p:anim>
                                    <p:anim calcmode="lin" valueType="num">
                                      <p:cBhvr additive="base">
                                        <p:cTn id="8" dur="500" fill="hold"/>
                                        <p:tgtEl>
                                          <p:spTgt spid="9117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91143"/>
                                        </p:tgtEl>
                                        <p:attrNameLst>
                                          <p:attrName>style.visibility</p:attrName>
                                        </p:attrNameLst>
                                      </p:cBhvr>
                                      <p:to>
                                        <p:strVal val="visible"/>
                                      </p:to>
                                    </p:set>
                                    <p:anim calcmode="lin" valueType="num">
                                      <p:cBhvr>
                                        <p:cTn id="12" dur="500" fill="hold"/>
                                        <p:tgtEl>
                                          <p:spTgt spid="91143"/>
                                        </p:tgtEl>
                                        <p:attrNameLst>
                                          <p:attrName>ppt_w</p:attrName>
                                        </p:attrNameLst>
                                      </p:cBhvr>
                                      <p:tavLst>
                                        <p:tav tm="0">
                                          <p:val>
                                            <p:fltVal val="0"/>
                                          </p:val>
                                        </p:tav>
                                        <p:tav tm="100000">
                                          <p:val>
                                            <p:strVal val="#ppt_w"/>
                                          </p:val>
                                        </p:tav>
                                      </p:tavLst>
                                    </p:anim>
                                    <p:anim calcmode="lin" valueType="num">
                                      <p:cBhvr>
                                        <p:cTn id="13" dur="500" fill="hold"/>
                                        <p:tgtEl>
                                          <p:spTgt spid="91143"/>
                                        </p:tgtEl>
                                        <p:attrNameLst>
                                          <p:attrName>ppt_h</p:attrName>
                                        </p:attrNameLst>
                                      </p:cBhvr>
                                      <p:tavLst>
                                        <p:tav tm="0">
                                          <p:val>
                                            <p:fltVal val="0"/>
                                          </p:val>
                                        </p:tav>
                                        <p:tav tm="100000">
                                          <p:val>
                                            <p:strVal val="#ppt_h"/>
                                          </p:val>
                                        </p:tav>
                                      </p:tavLst>
                                    </p:anim>
                                    <p:animEffect transition="in" filter="fade">
                                      <p:cBhvr>
                                        <p:cTn id="14" dur="500"/>
                                        <p:tgtEl>
                                          <p:spTgt spid="91143"/>
                                        </p:tgtEl>
                                      </p:cBhvr>
                                    </p:animEffect>
                                  </p:childTnLst>
                                </p:cTn>
                              </p:par>
                            </p:childTnLst>
                          </p:cTn>
                        </p:par>
                        <p:par>
                          <p:cTn id="15" fill="hold">
                            <p:stCondLst>
                              <p:cond delay="1000"/>
                            </p:stCondLst>
                            <p:childTnLst>
                              <p:par>
                                <p:cTn id="16" presetID="2" presetClass="entr" presetSubtype="4" fill="hold" nodeType="afterEffect">
                                  <p:stCondLst>
                                    <p:cond delay="0"/>
                                  </p:stCondLst>
                                  <p:childTnLst>
                                    <p:set>
                                      <p:cBhvr>
                                        <p:cTn id="17" dur="1" fill="hold">
                                          <p:stCondLst>
                                            <p:cond delay="0"/>
                                          </p:stCondLst>
                                        </p:cTn>
                                        <p:tgtEl>
                                          <p:spTgt spid="397352"/>
                                        </p:tgtEl>
                                        <p:attrNameLst>
                                          <p:attrName>style.visibility</p:attrName>
                                        </p:attrNameLst>
                                      </p:cBhvr>
                                      <p:to>
                                        <p:strVal val="visible"/>
                                      </p:to>
                                    </p:set>
                                    <p:anim calcmode="lin" valueType="num">
                                      <p:cBhvr additive="base">
                                        <p:cTn id="18" dur="500" fill="hold"/>
                                        <p:tgtEl>
                                          <p:spTgt spid="397352"/>
                                        </p:tgtEl>
                                        <p:attrNameLst>
                                          <p:attrName>ppt_x</p:attrName>
                                        </p:attrNameLst>
                                      </p:cBhvr>
                                      <p:tavLst>
                                        <p:tav tm="0">
                                          <p:val>
                                            <p:strVal val="#ppt_x"/>
                                          </p:val>
                                        </p:tav>
                                        <p:tav tm="100000">
                                          <p:val>
                                            <p:strVal val="#ppt_x"/>
                                          </p:val>
                                        </p:tav>
                                      </p:tavLst>
                                    </p:anim>
                                    <p:anim calcmode="lin" valueType="num">
                                      <p:cBhvr additive="base">
                                        <p:cTn id="19" dur="500" fill="hold"/>
                                        <p:tgtEl>
                                          <p:spTgt spid="3973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bldLvl="0" animBg="1"/>
      <p:bldP spid="91174" grpId="0" bldLvl="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3"/>
          <p:cNvSpPr>
            <a:spLocks noChangeArrowheads="1"/>
          </p:cNvSpPr>
          <p:nvPr/>
        </p:nvSpPr>
        <p:spPr bwMode="auto">
          <a:xfrm>
            <a:off x="1524000" y="173275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8243" name="Rectangle 4"/>
          <p:cNvSpPr>
            <a:spLocks noChangeArrowheads="1"/>
          </p:cNvSpPr>
          <p:nvPr/>
        </p:nvSpPr>
        <p:spPr bwMode="auto">
          <a:xfrm>
            <a:off x="1524000" y="314880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38244" name="Rectangle 5"/>
          <p:cNvSpPr>
            <a:spLocks noChangeArrowheads="1"/>
          </p:cNvSpPr>
          <p:nvPr/>
        </p:nvSpPr>
        <p:spPr bwMode="auto">
          <a:xfrm>
            <a:off x="1524000" y="91122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92167" name="Rectangle 7"/>
          <p:cNvSpPr>
            <a:spLocks noChangeArrowheads="1"/>
          </p:cNvSpPr>
          <p:nvPr/>
        </p:nvSpPr>
        <p:spPr bwMode="auto">
          <a:xfrm>
            <a:off x="4738688" y="2068513"/>
            <a:ext cx="270891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2200" b="1">
                <a:latin typeface="Arial" panose="020B0604020202020204" pitchFamily="34" charset="0"/>
                <a:ea typeface="宋体" panose="02010600030101010101" pitchFamily="2" charset="-122"/>
                <a:sym typeface="黑体" panose="02010609060101010101" pitchFamily="49" charset="-122"/>
              </a:rPr>
              <a:t>资产等级及含义描述</a:t>
            </a:r>
            <a:endParaRPr lang="zh-CN" altLang="en-US" sz="2200" b="1">
              <a:solidFill>
                <a:schemeClr val="tx2"/>
              </a:solidFill>
              <a:latin typeface="Arial" panose="020B0604020202020204" pitchFamily="34" charset="0"/>
              <a:ea typeface="宋体" panose="02010600030101010101" pitchFamily="2" charset="-122"/>
              <a:sym typeface="黑体" panose="02010609060101010101" pitchFamily="49" charset="-122"/>
            </a:endParaRPr>
          </a:p>
        </p:txBody>
      </p:sp>
      <p:graphicFrame>
        <p:nvGraphicFramePr>
          <p:cNvPr id="398494" name="Group 158"/>
          <p:cNvGraphicFramePr>
            <a:graphicFrameLocks noGrp="1"/>
          </p:cNvGraphicFramePr>
          <p:nvPr/>
        </p:nvGraphicFramePr>
        <p:xfrm>
          <a:off x="1919536" y="2852936"/>
          <a:ext cx="8424545" cy="2468880"/>
        </p:xfrm>
        <a:graphic>
          <a:graphicData uri="http://schemas.openxmlformats.org/drawingml/2006/table">
            <a:tbl>
              <a:tblPr>
                <a:effectLst>
                  <a:outerShdw blurRad="50800" dist="38100" dir="13500000" algn="br" rotWithShape="0">
                    <a:prstClr val="black">
                      <a:alpha val="40000"/>
                    </a:prstClr>
                  </a:outerShdw>
                </a:effectLst>
              </a:tblPr>
              <a:tblGrid>
                <a:gridCol w="785495"/>
                <a:gridCol w="946150"/>
                <a:gridCol w="6692900"/>
              </a:tblGrid>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等级</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标识</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描述</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很高</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非常重要，其安全属性破坏后可能对组织造成非常严重的损失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高</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重要，其安全属性破坏后可能对组织造成比较严重的损失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中</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比较重要，其安全属性破坏后可能对组织造成中等程度的损失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低</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不太重要，其安全属性破坏后可能对组织造成较低的损失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08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很低</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不重要，其安全属性破坏后对组织造成导很小的损失，甚至忽略不计 </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bl>
          </a:graphicData>
        </a:graphic>
      </p:graphicFrame>
      <p:sp>
        <p:nvSpPr>
          <p:cNvPr id="92198" name="Rectangle 159"/>
          <p:cNvSpPr>
            <a:spLocks noChangeArrowheads="1"/>
          </p:cNvSpPr>
          <p:nvPr/>
        </p:nvSpPr>
        <p:spPr bwMode="auto">
          <a:xfrm>
            <a:off x="2760663" y="1443038"/>
            <a:ext cx="543115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zh-CN" altLang="en-US" sz="2400" b="1">
                <a:solidFill>
                  <a:srgbClr val="000000"/>
                </a:solidFill>
                <a:latin typeface="Arial" panose="020B0604020202020204" pitchFamily="34" charset="0"/>
                <a:ea typeface="宋体" panose="02010600030101010101" pitchFamily="2" charset="-122"/>
                <a:sym typeface="Arial" panose="020B0604020202020204" pitchFamily="34" charset="0"/>
              </a:rPr>
              <a:t>信息安全风险评估规范</a:t>
            </a: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en-US" altLang="zh-CN" sz="2400" b="1">
                <a:solidFill>
                  <a:srgbClr val="000000"/>
                </a:solidFill>
                <a:latin typeface="Arial" panose="020B0604020202020204" pitchFamily="34" charset="0"/>
                <a:ea typeface="宋体" panose="02010600030101010101" pitchFamily="2" charset="-122"/>
                <a:sym typeface="黑体" panose="02010609060101010101" pitchFamily="49" charset="-122"/>
              </a:rPr>
              <a:t>GB/T20984</a:t>
            </a:r>
            <a:endPar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0" name="Text Box 2"/>
          <p:cNvSpPr>
            <a:spLocks noChangeArrowheads="1"/>
          </p:cNvSpPr>
          <p:nvPr/>
        </p:nvSpPr>
        <p:spPr bwMode="auto">
          <a:xfrm>
            <a:off x="1919288" y="839788"/>
            <a:ext cx="6265862" cy="485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Verdana" panose="020B0604030504040204" pitchFamily="34" charset="0"/>
                <a:sym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b="1">
                <a:solidFill>
                  <a:schemeClr val="tx1"/>
                </a:solidFill>
                <a:latin typeface="Arial" panose="020B0604020202020204" pitchFamily="34" charset="0"/>
                <a:sym typeface="Verdana" panose="020B0604030504040204" pitchFamily="34" charset="0"/>
              </a:defRPr>
            </a:lvl2pPr>
            <a:lvl3pPr marL="1143000" indent="-228600">
              <a:spcBef>
                <a:spcPct val="20000"/>
              </a:spcBef>
              <a:buClr>
                <a:schemeClr val="tx1"/>
              </a:buClr>
              <a:buFont typeface="Wingdings" panose="05000000000000000000" pitchFamily="2" charset="2"/>
              <a:buChar char="•"/>
              <a:defRPr sz="28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a:spcBef>
                <a:spcPct val="20000"/>
              </a:spcBef>
              <a:buClr>
                <a:schemeClr val="tx1"/>
              </a:buClr>
              <a:buFont typeface="Wingdings" panose="05000000000000000000" pitchFamily="2" charset="2"/>
              <a:buChar char="–"/>
              <a:defRPr sz="24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a:spcBef>
                <a:spcPct val="20000"/>
              </a:spcBef>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5pPr>
            <a:lvl6pPr marL="25146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6pPr>
            <a:lvl7pPr marL="29718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7pPr>
            <a:lvl8pPr marL="34290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8pPr>
            <a:lvl9pPr marL="3886200" indent="-22860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楷体_GB2312"/>
                <a:ea typeface="楷体_GB2312"/>
                <a:cs typeface="楷体_GB2312"/>
                <a:sym typeface="Verdana" panose="020B0604030504040204" pitchFamily="34" charset="0"/>
              </a:defRPr>
            </a:lvl9pPr>
          </a:lstStyle>
          <a:p>
            <a:pPr defTabSz="179705">
              <a:lnSpc>
                <a:spcPct val="80000"/>
              </a:lnSpc>
              <a:spcBef>
                <a:spcPct val="0"/>
              </a:spcBef>
              <a:buClrTx/>
              <a:buFont typeface="Wingdings" panose="05000000000000000000" pitchFamily="2" charset="2"/>
              <a:buNone/>
              <a:defRPr/>
            </a:pPr>
            <a:r>
              <a:rPr lang="zh-CN" altLang="en-US" b="1" dirty="0">
                <a:solidFill>
                  <a:srgbClr val="FF0000"/>
                </a:solidFill>
                <a:latin typeface="+mj-lt"/>
                <a:ea typeface="+mj-ea"/>
                <a:cs typeface="+mj-cs"/>
                <a:sym typeface="微软雅黑" panose="020B0503020204020204" charset="-122"/>
              </a:rPr>
              <a:t>资产评估</a:t>
            </a:r>
            <a:endParaRPr lang="zh-CN" altLang="en-US" b="1" dirty="0">
              <a:solidFill>
                <a:srgbClr val="FF0000"/>
              </a:solidFill>
              <a:latin typeface="+mj-lt"/>
              <a:ea typeface="+mj-ea"/>
              <a:cs typeface="+mj-cs"/>
              <a:sym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2198"/>
                                        </p:tgtEl>
                                        <p:attrNameLst>
                                          <p:attrName>style.visibility</p:attrName>
                                        </p:attrNameLst>
                                      </p:cBhvr>
                                      <p:to>
                                        <p:strVal val="visible"/>
                                      </p:to>
                                    </p:set>
                                    <p:anim calcmode="lin" valueType="num">
                                      <p:cBhvr additive="base">
                                        <p:cTn id="7" dur="500" fill="hold"/>
                                        <p:tgtEl>
                                          <p:spTgt spid="92198"/>
                                        </p:tgtEl>
                                        <p:attrNameLst>
                                          <p:attrName>ppt_x</p:attrName>
                                        </p:attrNameLst>
                                      </p:cBhvr>
                                      <p:tavLst>
                                        <p:tav tm="0">
                                          <p:val>
                                            <p:strVal val="#ppt_x"/>
                                          </p:val>
                                        </p:tav>
                                        <p:tav tm="100000">
                                          <p:val>
                                            <p:strVal val="#ppt_x"/>
                                          </p:val>
                                        </p:tav>
                                      </p:tavLst>
                                    </p:anim>
                                    <p:anim calcmode="lin" valueType="num">
                                      <p:cBhvr additive="base">
                                        <p:cTn id="8" dur="500" fill="hold"/>
                                        <p:tgtEl>
                                          <p:spTgt spid="9219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92167"/>
                                        </p:tgtEl>
                                        <p:attrNameLst>
                                          <p:attrName>style.visibility</p:attrName>
                                        </p:attrNameLst>
                                      </p:cBhvr>
                                      <p:to>
                                        <p:strVal val="visible"/>
                                      </p:to>
                                    </p:set>
                                    <p:anim calcmode="lin" valueType="num">
                                      <p:cBhvr>
                                        <p:cTn id="12" dur="500" fill="hold"/>
                                        <p:tgtEl>
                                          <p:spTgt spid="92167"/>
                                        </p:tgtEl>
                                        <p:attrNameLst>
                                          <p:attrName>ppt_w</p:attrName>
                                        </p:attrNameLst>
                                      </p:cBhvr>
                                      <p:tavLst>
                                        <p:tav tm="0">
                                          <p:val>
                                            <p:fltVal val="0"/>
                                          </p:val>
                                        </p:tav>
                                        <p:tav tm="100000">
                                          <p:val>
                                            <p:strVal val="#ppt_w"/>
                                          </p:val>
                                        </p:tav>
                                      </p:tavLst>
                                    </p:anim>
                                    <p:anim calcmode="lin" valueType="num">
                                      <p:cBhvr>
                                        <p:cTn id="13" dur="500" fill="hold"/>
                                        <p:tgtEl>
                                          <p:spTgt spid="92167"/>
                                        </p:tgtEl>
                                        <p:attrNameLst>
                                          <p:attrName>ppt_h</p:attrName>
                                        </p:attrNameLst>
                                      </p:cBhvr>
                                      <p:tavLst>
                                        <p:tav tm="0">
                                          <p:val>
                                            <p:fltVal val="0"/>
                                          </p:val>
                                        </p:tav>
                                        <p:tav tm="100000">
                                          <p:val>
                                            <p:strVal val="#ppt_h"/>
                                          </p:val>
                                        </p:tav>
                                      </p:tavLst>
                                    </p:anim>
                                    <p:animEffect transition="in" filter="fade">
                                      <p:cBhvr>
                                        <p:cTn id="14" dur="500"/>
                                        <p:tgtEl>
                                          <p:spTgt spid="92167"/>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398494"/>
                                        </p:tgtEl>
                                        <p:attrNameLst>
                                          <p:attrName>style.visibility</p:attrName>
                                        </p:attrNameLst>
                                      </p:cBhvr>
                                      <p:to>
                                        <p:strVal val="visible"/>
                                      </p:to>
                                    </p:set>
                                    <p:anim calcmode="lin" valueType="num">
                                      <p:cBhvr>
                                        <p:cTn id="18" dur="500" fill="hold"/>
                                        <p:tgtEl>
                                          <p:spTgt spid="398494"/>
                                        </p:tgtEl>
                                        <p:attrNameLst>
                                          <p:attrName>ppt_w</p:attrName>
                                        </p:attrNameLst>
                                      </p:cBhvr>
                                      <p:tavLst>
                                        <p:tav tm="0">
                                          <p:val>
                                            <p:fltVal val="0"/>
                                          </p:val>
                                        </p:tav>
                                        <p:tav tm="100000">
                                          <p:val>
                                            <p:strVal val="#ppt_w"/>
                                          </p:val>
                                        </p:tav>
                                      </p:tavLst>
                                    </p:anim>
                                    <p:anim calcmode="lin" valueType="num">
                                      <p:cBhvr>
                                        <p:cTn id="19" dur="500" fill="hold"/>
                                        <p:tgtEl>
                                          <p:spTgt spid="398494"/>
                                        </p:tgtEl>
                                        <p:attrNameLst>
                                          <p:attrName>ppt_h</p:attrName>
                                        </p:attrNameLst>
                                      </p:cBhvr>
                                      <p:tavLst>
                                        <p:tav tm="0">
                                          <p:val>
                                            <p:fltVal val="0"/>
                                          </p:val>
                                        </p:tav>
                                        <p:tav tm="100000">
                                          <p:val>
                                            <p:strVal val="#ppt_h"/>
                                          </p:val>
                                        </p:tav>
                                      </p:tavLst>
                                    </p:anim>
                                    <p:animEffect transition="in" filter="fade">
                                      <p:cBhvr>
                                        <p:cTn id="20" dur="500"/>
                                        <p:tgtEl>
                                          <p:spTgt spid="398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7" grpId="0" bldLvl="0" animBg="1"/>
      <p:bldP spid="92198" grpId="0" bldLvl="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p:cNvSpPr>
            <a:spLocks noGrp="1" noChangeArrowheads="1"/>
          </p:cNvSpPr>
          <p:nvPr>
            <p:ph type="body" idx="4294967295"/>
          </p:nvPr>
        </p:nvSpPr>
        <p:spPr>
          <a:xfrm>
            <a:off x="1919288" y="1484313"/>
            <a:ext cx="8569325" cy="1800225"/>
          </a:xfrm>
        </p:spPr>
        <p:txBody>
          <a:bodyPr/>
          <a:lstStyle/>
          <a:p>
            <a:pPr marL="0" indent="0" defTabSz="179705">
              <a:lnSpc>
                <a:spcPct val="80000"/>
              </a:lnSpc>
              <a:buFont typeface="Wingdings" panose="05000000000000000000" pitchFamily="2" charset="2"/>
              <a:buNone/>
            </a:pPr>
            <a:r>
              <a:rPr lang="zh-CN" altLang="en-US" sz="2400" b="1" dirty="0">
                <a:solidFill>
                  <a:srgbClr val="0033CC"/>
                </a:solidFill>
                <a:ea typeface="宋体" panose="02010600030101010101" pitchFamily="2" charset="-122"/>
              </a:rPr>
              <a:t>威胁识别</a:t>
            </a:r>
            <a:endParaRPr lang="zh-CN" altLang="en-US" sz="2400" b="1" dirty="0">
              <a:solidFill>
                <a:srgbClr val="0033CC"/>
              </a:solidFill>
              <a:ea typeface="宋体" panose="02010600030101010101" pitchFamily="2" charset="-122"/>
            </a:endParaRPr>
          </a:p>
          <a:p>
            <a:pPr marL="0" indent="0" defTabSz="179705">
              <a:lnSpc>
                <a:spcPct val="80000"/>
              </a:lnSpc>
              <a:buFont typeface="Wingdings" panose="05000000000000000000" pitchFamily="2" charset="2"/>
              <a:buNone/>
            </a:pPr>
            <a:r>
              <a:rPr lang="zh-CN" altLang="en-US" sz="2400" b="1" dirty="0">
                <a:solidFill>
                  <a:srgbClr val="161616"/>
                </a:solidFill>
                <a:latin typeface="Arial" panose="020B0604020202020204" pitchFamily="34" charset="0"/>
                <a:ea typeface="宋体" panose="02010600030101010101" pitchFamily="2" charset="-122"/>
                <a:sym typeface="Arial" panose="020B0604020202020204" pitchFamily="34" charset="0"/>
              </a:rPr>
              <a:t>威胁识别的任务是对组织资产面临的威胁进行全面的标识</a:t>
            </a:r>
            <a:endParaRPr lang="en-US" altLang="zh-CN" sz="2400" b="1" dirty="0">
              <a:solidFill>
                <a:srgbClr val="161616"/>
              </a:solidFill>
              <a:latin typeface="Arial" panose="020B0604020202020204" pitchFamily="34" charset="0"/>
              <a:ea typeface="宋体" panose="02010600030101010101" pitchFamily="2" charset="-122"/>
              <a:sym typeface="Arial" panose="020B0604020202020204" pitchFamily="34" charset="0"/>
            </a:endParaRPr>
          </a:p>
          <a:p>
            <a:pPr marL="0" indent="0" defTabSz="179705">
              <a:lnSpc>
                <a:spcPct val="80000"/>
              </a:lnSpc>
              <a:buFont typeface="Wingdings" panose="05000000000000000000" pitchFamily="2" charset="2"/>
              <a:buNone/>
            </a:pPr>
            <a:endParaRPr lang="zh-CN" altLang="en-US" sz="2400" b="1" dirty="0">
              <a:solidFill>
                <a:srgbClr val="161616"/>
              </a:solidFill>
              <a:latin typeface="Arial" panose="020B0604020202020204" pitchFamily="34" charset="0"/>
              <a:ea typeface="宋体" panose="02010600030101010101" pitchFamily="2" charset="-122"/>
              <a:sym typeface="Arial" panose="020B0604020202020204" pitchFamily="34" charset="0"/>
            </a:endParaRPr>
          </a:p>
          <a:p>
            <a:pPr marL="0" indent="0" defTabSz="179705">
              <a:lnSpc>
                <a:spcPct val="80000"/>
              </a:lnSpc>
              <a:buFont typeface="Wingdings" panose="05000000000000000000" pitchFamily="2" charset="2"/>
              <a:buNone/>
            </a:pPr>
            <a:r>
              <a:rPr lang="zh-CN" altLang="en-US" sz="2400" b="1" dirty="0">
                <a:solidFill>
                  <a:srgbClr val="161616"/>
                </a:solidFill>
                <a:latin typeface="Arial" panose="020B0604020202020204" pitchFamily="34" charset="0"/>
                <a:ea typeface="宋体" panose="02010600030101010101" pitchFamily="2" charset="-122"/>
                <a:sym typeface="Arial" panose="020B0604020202020204" pitchFamily="34" charset="0"/>
              </a:rPr>
              <a:t>威胁识别可从威胁源进行分析，也可根据有关标准、组织所提供的威胁参考目录进行分析。</a:t>
            </a:r>
            <a:endParaRPr lang="zh-CN" altLang="en-US" sz="2400" b="1" dirty="0">
              <a:solidFill>
                <a:srgbClr val="161616"/>
              </a:solidFill>
              <a:latin typeface="Arial" panose="020B0604020202020204" pitchFamily="34" charset="0"/>
              <a:ea typeface="宋体" panose="02010600030101010101" pitchFamily="2" charset="-122"/>
              <a:sym typeface="Arial" panose="020B0604020202020204" pitchFamily="34" charset="0"/>
            </a:endParaRPr>
          </a:p>
          <a:p>
            <a:pPr marL="0" indent="0" defTabSz="179705">
              <a:lnSpc>
                <a:spcPct val="80000"/>
              </a:lnSpc>
              <a:buFont typeface="Wingdings" panose="05000000000000000000" pitchFamily="2" charset="2"/>
              <a:buNone/>
            </a:pPr>
            <a:r>
              <a:rPr lang="zh-CN" altLang="en-US" sz="2400" b="1" dirty="0">
                <a:solidFill>
                  <a:schemeClr val="tx2"/>
                </a:solidFill>
                <a:latin typeface="Arial" panose="020B0604020202020204" pitchFamily="34" charset="0"/>
                <a:ea typeface="宋体" panose="02010600030101010101" pitchFamily="2" charset="-122"/>
                <a:sym typeface="Arial" panose="020B0604020202020204" pitchFamily="34" charset="0"/>
              </a:rPr>
              <a:t>                    </a:t>
            </a:r>
            <a:r>
              <a:rPr lang="zh-CN" altLang="en-US" sz="2400" b="1" dirty="0">
                <a:solidFill>
                  <a:srgbClr val="FF0000"/>
                </a:solidFill>
                <a:latin typeface="Arial" panose="020B0604020202020204" pitchFamily="34" charset="0"/>
                <a:ea typeface="宋体" panose="02010600030101010101" pitchFamily="2" charset="-122"/>
                <a:sym typeface="Arial" panose="020B0604020202020204" pitchFamily="34" charset="0"/>
              </a:rPr>
              <a:t>如威胁树（</a:t>
            </a:r>
            <a:r>
              <a:rPr lang="en-US" altLang="zh-CN" sz="2400" b="1" dirty="0">
                <a:solidFill>
                  <a:srgbClr val="FF0000"/>
                </a:solidFill>
                <a:latin typeface="Arial" panose="020B0604020202020204" pitchFamily="34" charset="0"/>
                <a:ea typeface="宋体" panose="02010600030101010101" pitchFamily="2" charset="-122"/>
                <a:sym typeface="Arial" panose="020B0604020202020204" pitchFamily="34" charset="0"/>
              </a:rPr>
              <a:t>P30</a:t>
            </a:r>
            <a:r>
              <a:rPr lang="zh-CN" altLang="en-US" sz="2400" b="1" dirty="0">
                <a:solidFill>
                  <a:srgbClr val="FF0000"/>
                </a:solidFill>
                <a:latin typeface="Arial" panose="020B0604020202020204" pitchFamily="34" charset="0"/>
                <a:ea typeface="宋体" panose="02010600030101010101" pitchFamily="2" charset="-122"/>
                <a:sym typeface="Arial" panose="020B0604020202020204" pitchFamily="34" charset="0"/>
              </a:rPr>
              <a:t>）系统故障威胁树（</a:t>
            </a:r>
            <a:r>
              <a:rPr lang="en-US" altLang="zh-CN" sz="2400" b="1" dirty="0">
                <a:solidFill>
                  <a:srgbClr val="FF0000"/>
                </a:solidFill>
                <a:latin typeface="Arial" panose="020B0604020202020204" pitchFamily="34" charset="0"/>
                <a:ea typeface="宋体" panose="02010600030101010101" pitchFamily="2" charset="-122"/>
                <a:sym typeface="Arial" panose="020B0604020202020204" pitchFamily="34" charset="0"/>
              </a:rPr>
              <a:t>P31</a:t>
            </a:r>
            <a:r>
              <a:rPr lang="zh-CN" altLang="en-US" sz="2400" b="1" dirty="0">
                <a:solidFill>
                  <a:srgbClr val="FF0000"/>
                </a:solidFill>
                <a:latin typeface="Arial" panose="020B0604020202020204" pitchFamily="34" charset="0"/>
                <a:ea typeface="宋体" panose="02010600030101010101" pitchFamily="2" charset="-122"/>
                <a:sym typeface="Arial" panose="020B0604020202020204" pitchFamily="34" charset="0"/>
              </a:rPr>
              <a:t>）</a:t>
            </a:r>
            <a:endParaRPr lang="zh-CN" altLang="en-US" sz="2400" b="1" dirty="0">
              <a:solidFill>
                <a:srgbClr val="FF0000"/>
              </a:solidFill>
              <a:latin typeface="Arial" panose="020B0604020202020204" pitchFamily="34" charset="0"/>
              <a:ea typeface="宋体" panose="02010600030101010101" pitchFamily="2" charset="-122"/>
              <a:sym typeface="Arial" panose="020B0604020202020204" pitchFamily="34" charset="0"/>
            </a:endParaRPr>
          </a:p>
          <a:p>
            <a:pPr marL="0" indent="0" defTabSz="179705">
              <a:lnSpc>
                <a:spcPct val="80000"/>
              </a:lnSpc>
              <a:buFont typeface="Wingdings" panose="05000000000000000000" pitchFamily="2" charset="2"/>
              <a:buNone/>
            </a:pPr>
            <a:endParaRPr lang="zh-CN" altLang="en-US" sz="1000" b="1" dirty="0">
              <a:solidFill>
                <a:srgbClr val="161616"/>
              </a:solidFill>
              <a:latin typeface="Arial" panose="020B0604020202020204" pitchFamily="34" charset="0"/>
              <a:ea typeface="宋体" panose="02010600030101010101" pitchFamily="2" charset="-122"/>
              <a:sym typeface="Arial" panose="020B0604020202020204" pitchFamily="34" charset="0"/>
            </a:endParaRPr>
          </a:p>
        </p:txBody>
      </p:sp>
      <p:sp>
        <p:nvSpPr>
          <p:cNvPr id="139267" name="矩形 1"/>
          <p:cNvSpPr>
            <a:spLocks noChangeArrowheads="1"/>
          </p:cNvSpPr>
          <p:nvPr/>
        </p:nvSpPr>
        <p:spPr bwMode="auto">
          <a:xfrm>
            <a:off x="1919288" y="765175"/>
            <a:ext cx="2685415" cy="435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79705">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179705">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179705">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179705">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179705">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179705"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80000"/>
              </a:lnSpc>
              <a:spcBef>
                <a:spcPct val="0"/>
              </a:spcBef>
              <a:buClrTx/>
              <a:buFont typeface="Arial" panose="020B0604020202020204" pitchFamily="34" charset="0"/>
              <a:buNone/>
            </a:pPr>
            <a:r>
              <a:rPr lang="zh-CN" altLang="en-US" b="1">
                <a:solidFill>
                  <a:srgbClr val="FF0000"/>
                </a:solidFill>
              </a:rPr>
              <a:t>威胁识别与评估</a:t>
            </a:r>
            <a:endParaRPr lang="en-US" altLang="zh-CN" b="1">
              <a:solidFill>
                <a:srgbClr val="FF0000"/>
              </a:solidFill>
            </a:endParaRPr>
          </a:p>
        </p:txBody>
      </p:sp>
      <p:sp>
        <p:nvSpPr>
          <p:cNvPr id="3" name="矩形 2"/>
          <p:cNvSpPr/>
          <p:nvPr/>
        </p:nvSpPr>
        <p:spPr>
          <a:xfrm>
            <a:off x="2063750" y="3796952"/>
            <a:ext cx="8135938" cy="1786890"/>
          </a:xfrm>
          <a:prstGeom prst="rect">
            <a:avLst/>
          </a:prstGeom>
        </p:spPr>
        <p:txBody>
          <a:bodyPr>
            <a:spAutoFit/>
          </a:bodyPr>
          <a:lstStyle/>
          <a:p>
            <a:pPr defTabSz="179705">
              <a:lnSpc>
                <a:spcPct val="80000"/>
              </a:lnSpc>
              <a:spcBef>
                <a:spcPct val="20000"/>
              </a:spcBef>
              <a:buClr>
                <a:srgbClr val="3399FF"/>
              </a:buClr>
              <a:defRPr/>
            </a:pPr>
            <a:r>
              <a:rPr lang="zh-CN" altLang="en-US" sz="2400" b="1" dirty="0">
                <a:solidFill>
                  <a:srgbClr val="0033CC"/>
                </a:solidFill>
                <a:latin typeface="+mn-lt"/>
              </a:rPr>
              <a:t>威胁评估</a:t>
            </a:r>
            <a:endParaRPr lang="zh-CN" altLang="en-US" sz="2400" b="1" dirty="0">
              <a:solidFill>
                <a:srgbClr val="0033CC"/>
              </a:solidFill>
              <a:latin typeface="+mn-lt"/>
            </a:endParaRPr>
          </a:p>
          <a:p>
            <a:pPr defTabSz="179705" eaLnBrk="1" hangingPunct="1">
              <a:lnSpc>
                <a:spcPct val="80000"/>
              </a:lnSpc>
              <a:buFont typeface="Wingdings" panose="05000000000000000000" pitchFamily="2" charset="2"/>
              <a:buNone/>
              <a:defRPr/>
            </a:pPr>
            <a:r>
              <a:rPr lang="zh-CN" altLang="en-US" b="1" dirty="0">
                <a:solidFill>
                  <a:srgbClr val="161616"/>
                </a:solidFill>
                <a:sym typeface="Arial" panose="020B0604020202020204" pitchFamily="34" charset="0"/>
              </a:rPr>
              <a:t>安全风险的大小是由安全事件发生的可能性以及它造成的影响决定，安全事件发生的可能性与威胁出现的频率有关，而安全事件的影响则与威胁的强度或破坏能力有关</a:t>
            </a:r>
            <a:endParaRPr lang="zh-CN" altLang="en-US" b="1" dirty="0">
              <a:solidFill>
                <a:srgbClr val="161616"/>
              </a:solidFill>
              <a:sym typeface="Arial" panose="020B0604020202020204" pitchFamily="34" charset="0"/>
            </a:endParaRPr>
          </a:p>
          <a:p>
            <a:pPr defTabSz="179705" eaLnBrk="1" hangingPunct="1">
              <a:lnSpc>
                <a:spcPct val="80000"/>
              </a:lnSpc>
              <a:buFont typeface="Wingdings" panose="05000000000000000000" pitchFamily="2" charset="2"/>
              <a:buNone/>
              <a:defRPr/>
            </a:pPr>
            <a:r>
              <a:rPr lang="zh-CN" altLang="en-US" b="1" dirty="0">
                <a:solidFill>
                  <a:srgbClr val="161616"/>
                </a:solidFill>
                <a:sym typeface="Arial" panose="020B0604020202020204" pitchFamily="34" charset="0"/>
              </a:rPr>
              <a:t>威胁评估就是对威胁出现的频率及强度进行评估，这是风险评估的重要环节</a:t>
            </a:r>
            <a:endParaRPr lang="zh-CN" altLang="en-US" b="1" dirty="0">
              <a:solidFill>
                <a:srgbClr val="161616"/>
              </a:solidFill>
              <a:sym typeface="Arial" panose="020B0604020202020204" pitchFamily="34" charset="0"/>
            </a:endParaRPr>
          </a:p>
          <a:p>
            <a:pPr defTabSz="179705" eaLnBrk="1" hangingPunct="1">
              <a:lnSpc>
                <a:spcPct val="80000"/>
              </a:lnSpc>
              <a:buFont typeface="Wingdings" panose="05000000000000000000" pitchFamily="2" charset="2"/>
              <a:buNone/>
              <a:defRPr/>
            </a:pPr>
            <a:r>
              <a:rPr lang="zh-CN" altLang="en-US" b="1" dirty="0">
                <a:solidFill>
                  <a:srgbClr val="161616"/>
                </a:solidFill>
                <a:sym typeface="Arial" panose="020B0604020202020204" pitchFamily="34" charset="0"/>
              </a:rPr>
              <a:t>评估者应根据经验和（或）有关的统计数据来分析威胁出现的频率及其强度或破坏能力</a:t>
            </a:r>
            <a:endParaRPr lang="zh-CN" altLang="en-US" sz="2400" b="1" dirty="0">
              <a:solidFill>
                <a:srgbClr val="161616"/>
              </a:solidFill>
              <a:sym typeface="Arial" panose="020B060402020202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 calcmode="lin" valueType="num">
                                      <p:cBhvr>
                                        <p:cTn id="7" dur="500" fill="hold"/>
                                        <p:tgtEl>
                                          <p:spTgt spid="9318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318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3187">
                                            <p:txEl>
                                              <p:pRg st="0" end="0"/>
                                            </p:tx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93187">
                                            <p:txEl>
                                              <p:pRg st="1" end="1"/>
                                            </p:txEl>
                                          </p:spTgt>
                                        </p:tgtEl>
                                        <p:attrNameLst>
                                          <p:attrName>style.visibility</p:attrName>
                                        </p:attrNameLst>
                                      </p:cBhvr>
                                      <p:to>
                                        <p:strVal val="visible"/>
                                      </p:to>
                                    </p:set>
                                    <p:anim calcmode="lin" valueType="num">
                                      <p:cBhvr>
                                        <p:cTn id="13" dur="500" fill="hold"/>
                                        <p:tgtEl>
                                          <p:spTgt spid="93187">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93187">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93187">
                                            <p:txEl>
                                              <p:pRg st="1" end="1"/>
                                            </p:txEl>
                                          </p:spTgt>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93187">
                                            <p:txEl>
                                              <p:pRg st="3" end="3"/>
                                            </p:txEl>
                                          </p:spTgt>
                                        </p:tgtEl>
                                        <p:attrNameLst>
                                          <p:attrName>style.visibility</p:attrName>
                                        </p:attrNameLst>
                                      </p:cBhvr>
                                      <p:to>
                                        <p:strVal val="visible"/>
                                      </p:to>
                                    </p:set>
                                    <p:anim calcmode="lin" valueType="num">
                                      <p:cBhvr>
                                        <p:cTn id="19" dur="500" fill="hold"/>
                                        <p:tgtEl>
                                          <p:spTgt spid="93187">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93187">
                                            <p:txEl>
                                              <p:pRg st="3" end="3"/>
                                            </p:txEl>
                                          </p:spTgt>
                                        </p:tgtEl>
                                        <p:attrNameLst>
                                          <p:attrName>ppt_h</p:attrName>
                                        </p:attrNameLst>
                                      </p:cBhvr>
                                      <p:tavLst>
                                        <p:tav tm="0">
                                          <p:val>
                                            <p:fltVal val="0"/>
                                          </p:val>
                                        </p:tav>
                                        <p:tav tm="100000">
                                          <p:val>
                                            <p:strVal val="#ppt_h"/>
                                          </p:val>
                                        </p:tav>
                                      </p:tavLst>
                                    </p:anim>
                                    <p:animEffect transition="in" filter="fade">
                                      <p:cBhvr>
                                        <p:cTn id="21" dur="500"/>
                                        <p:tgtEl>
                                          <p:spTgt spid="93187">
                                            <p:txEl>
                                              <p:pRg st="3" end="3"/>
                                            </p:txEl>
                                          </p:spTgt>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93187">
                                            <p:txEl>
                                              <p:pRg st="4" end="4"/>
                                            </p:txEl>
                                          </p:spTgt>
                                        </p:tgtEl>
                                        <p:attrNameLst>
                                          <p:attrName>style.visibility</p:attrName>
                                        </p:attrNameLst>
                                      </p:cBhvr>
                                      <p:to>
                                        <p:strVal val="visible"/>
                                      </p:to>
                                    </p:set>
                                    <p:anim calcmode="lin" valueType="num">
                                      <p:cBhvr>
                                        <p:cTn id="25" dur="500" fill="hold"/>
                                        <p:tgtEl>
                                          <p:spTgt spid="93187">
                                            <p:txEl>
                                              <p:pRg st="4" end="4"/>
                                            </p:txEl>
                                          </p:spTgt>
                                        </p:tgtEl>
                                        <p:attrNameLst>
                                          <p:attrName>ppt_w</p:attrName>
                                        </p:attrNameLst>
                                      </p:cBhvr>
                                      <p:tavLst>
                                        <p:tav tm="0">
                                          <p:val>
                                            <p:fltVal val="0"/>
                                          </p:val>
                                        </p:tav>
                                        <p:tav tm="100000">
                                          <p:val>
                                            <p:strVal val="#ppt_w"/>
                                          </p:val>
                                        </p:tav>
                                      </p:tavLst>
                                    </p:anim>
                                    <p:anim calcmode="lin" valueType="num">
                                      <p:cBhvr>
                                        <p:cTn id="26" dur="500" fill="hold"/>
                                        <p:tgtEl>
                                          <p:spTgt spid="93187">
                                            <p:txEl>
                                              <p:pRg st="4" end="4"/>
                                            </p:txEl>
                                          </p:spTgt>
                                        </p:tgtEl>
                                        <p:attrNameLst>
                                          <p:attrName>ppt_h</p:attrName>
                                        </p:attrNameLst>
                                      </p:cBhvr>
                                      <p:tavLst>
                                        <p:tav tm="0">
                                          <p:val>
                                            <p:fltVal val="0"/>
                                          </p:val>
                                        </p:tav>
                                        <p:tav tm="100000">
                                          <p:val>
                                            <p:strVal val="#ppt_h"/>
                                          </p:val>
                                        </p:tav>
                                      </p:tavLst>
                                    </p:anim>
                                    <p:animEffect transition="in" filter="fade">
                                      <p:cBhvr>
                                        <p:cTn id="27" dur="500"/>
                                        <p:tgtEl>
                                          <p:spTgt spid="931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500" fill="hold"/>
                                        <p:tgtEl>
                                          <p:spTgt spid="3"/>
                                        </p:tgtEl>
                                        <p:attrNameLst>
                                          <p:attrName>ppt_w</p:attrName>
                                        </p:attrNameLst>
                                      </p:cBhvr>
                                      <p:tavLst>
                                        <p:tav tm="0">
                                          <p:val>
                                            <p:fltVal val="0"/>
                                          </p:val>
                                        </p:tav>
                                        <p:tav tm="100000">
                                          <p:val>
                                            <p:strVal val="#ppt_w"/>
                                          </p:val>
                                        </p:tav>
                                      </p:tavLst>
                                    </p:anim>
                                    <p:anim calcmode="lin" valueType="num">
                                      <p:cBhvr>
                                        <p:cTn id="33" dur="500" fill="hold"/>
                                        <p:tgtEl>
                                          <p:spTgt spid="3"/>
                                        </p:tgtEl>
                                        <p:attrNameLst>
                                          <p:attrName>ppt_h</p:attrName>
                                        </p:attrNameLst>
                                      </p:cBhvr>
                                      <p:tavLst>
                                        <p:tav tm="0">
                                          <p:val>
                                            <p:fltVal val="0"/>
                                          </p:val>
                                        </p:tav>
                                        <p:tav tm="100000">
                                          <p:val>
                                            <p:strVal val="#ppt_h"/>
                                          </p:val>
                                        </p:tav>
                                      </p:tavLst>
                                    </p:anim>
                                    <p:animEffect transition="in" filter="fade">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P spid="3"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Text Box 2"/>
          <p:cNvSpPr>
            <a:spLocks noChangeArrowheads="1"/>
          </p:cNvSpPr>
          <p:nvPr/>
        </p:nvSpPr>
        <p:spPr bwMode="auto">
          <a:xfrm>
            <a:off x="2292350" y="936625"/>
            <a:ext cx="52435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3200" b="1">
                <a:solidFill>
                  <a:srgbClr val="FF0000"/>
                </a:solidFill>
                <a:sym typeface="黑体" panose="02010609060101010101" pitchFamily="49" charset="-122"/>
              </a:rPr>
              <a:t>威胁识别    </a:t>
            </a:r>
            <a:endParaRPr lang="zh-CN" altLang="en-US" sz="1800">
              <a:solidFill>
                <a:srgbClr val="FF0000"/>
              </a:solidFill>
              <a:latin typeface="Arial" panose="020B0604020202020204" pitchFamily="34" charset="0"/>
              <a:ea typeface="宋体" panose="02010600030101010101" pitchFamily="2" charset="-122"/>
            </a:endParaRPr>
          </a:p>
        </p:txBody>
      </p:sp>
      <p:sp>
        <p:nvSpPr>
          <p:cNvPr id="84996" name="Text Box 3"/>
          <p:cNvSpPr>
            <a:spLocks noChangeArrowheads="1"/>
          </p:cNvSpPr>
          <p:nvPr/>
        </p:nvSpPr>
        <p:spPr bwMode="auto">
          <a:xfrm>
            <a:off x="2246313" y="1800225"/>
            <a:ext cx="50330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n"/>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 威胁识别与资产识别是何关系？   </a:t>
            </a:r>
            <a:endParaRPr lang="zh-CN" altLang="en-US" sz="1800">
              <a:latin typeface="Arial" panose="020B0604020202020204" pitchFamily="34" charset="0"/>
              <a:ea typeface="宋体" panose="02010600030101010101" pitchFamily="2" charset="-122"/>
            </a:endParaRPr>
          </a:p>
        </p:txBody>
      </p:sp>
      <p:sp>
        <p:nvSpPr>
          <p:cNvPr id="84997" name="Text Box 4"/>
          <p:cNvSpPr>
            <a:spLocks noChangeArrowheads="1"/>
          </p:cNvSpPr>
          <p:nvPr/>
        </p:nvSpPr>
        <p:spPr bwMode="auto">
          <a:xfrm>
            <a:off x="2800350" y="2239963"/>
            <a:ext cx="4483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None/>
            </a:pPr>
            <a:r>
              <a:rPr lang="zh-CN" altLang="en-US" sz="2400">
                <a:solidFill>
                  <a:srgbClr val="000000"/>
                </a:solidFill>
                <a:latin typeface="Arial" panose="020B0604020202020204" pitchFamily="34" charset="0"/>
                <a:ea typeface="宋体" panose="02010600030101010101" pitchFamily="2" charset="-122"/>
                <a:sym typeface="黑体" panose="02010609060101010101" pitchFamily="49" charset="-122"/>
              </a:rPr>
              <a:t>点和面：重点识别和全面识别    </a:t>
            </a:r>
            <a:endParaRPr lang="zh-CN" altLang="en-US" sz="1800">
              <a:latin typeface="Arial" panose="020B0604020202020204" pitchFamily="34" charset="0"/>
              <a:ea typeface="宋体" panose="02010600030101010101" pitchFamily="2" charset="-122"/>
            </a:endParaRPr>
          </a:p>
        </p:txBody>
      </p:sp>
      <p:sp>
        <p:nvSpPr>
          <p:cNvPr id="84998" name="Text Box 5"/>
          <p:cNvSpPr>
            <a:spLocks noChangeArrowheads="1"/>
          </p:cNvSpPr>
          <p:nvPr/>
        </p:nvSpPr>
        <p:spPr bwMode="auto">
          <a:xfrm>
            <a:off x="2243138" y="2725738"/>
            <a:ext cx="503174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n"/>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 威胁识别的重点和难点是什么</a:t>
            </a:r>
            <a:r>
              <a:rPr lang="zh-CN" altLang="en-US" sz="2400">
                <a:solidFill>
                  <a:srgbClr val="000000"/>
                </a:solidFill>
                <a:latin typeface="Arial" panose="020B0604020202020204" pitchFamily="34" charset="0"/>
                <a:ea typeface="宋体" panose="02010600030101010101" pitchFamily="2" charset="-122"/>
                <a:sym typeface="黑体" panose="02010609060101010101" pitchFamily="49" charset="-122"/>
              </a:rPr>
              <a:t>？   </a:t>
            </a:r>
            <a:endParaRPr lang="zh-CN" altLang="en-US" sz="1800">
              <a:latin typeface="Arial" panose="020B0604020202020204" pitchFamily="34" charset="0"/>
              <a:ea typeface="宋体" panose="02010600030101010101" pitchFamily="2" charset="-122"/>
            </a:endParaRPr>
          </a:p>
        </p:txBody>
      </p:sp>
      <p:sp>
        <p:nvSpPr>
          <p:cNvPr id="84999" name="Text Box 6"/>
          <p:cNvSpPr>
            <a:spLocks noChangeArrowheads="1"/>
          </p:cNvSpPr>
          <p:nvPr/>
        </p:nvSpPr>
        <p:spPr bwMode="auto">
          <a:xfrm>
            <a:off x="2711450" y="3236913"/>
            <a:ext cx="683704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None/>
            </a:pPr>
            <a:r>
              <a:rPr lang="zh-CN" altLang="en-US" sz="2400">
                <a:solidFill>
                  <a:srgbClr val="000000"/>
                </a:solidFill>
                <a:latin typeface="Arial" panose="020B0604020202020204" pitchFamily="34" charset="0"/>
                <a:ea typeface="宋体" panose="02010600030101010101" pitchFamily="2" charset="-122"/>
                <a:sym typeface="黑体" panose="02010609060101010101" pitchFamily="49" charset="-122"/>
              </a:rPr>
              <a:t>三问：“敌人”在哪儿？效果如何？如何取证？   </a:t>
            </a:r>
            <a:endParaRPr lang="zh-CN" altLang="en-US" sz="1800">
              <a:latin typeface="Arial" panose="020B0604020202020204" pitchFamily="34" charset="0"/>
              <a:ea typeface="宋体" panose="02010600030101010101" pitchFamily="2" charset="-122"/>
            </a:endParaRPr>
          </a:p>
        </p:txBody>
      </p:sp>
      <p:sp>
        <p:nvSpPr>
          <p:cNvPr id="85000" name="Text Box 7"/>
          <p:cNvSpPr>
            <a:spLocks noChangeArrowheads="1"/>
          </p:cNvSpPr>
          <p:nvPr/>
        </p:nvSpPr>
        <p:spPr bwMode="auto">
          <a:xfrm>
            <a:off x="2282825" y="3722688"/>
            <a:ext cx="4114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n"/>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 威胁识别的方法有哪些？   </a:t>
            </a:r>
            <a:endParaRPr lang="zh-CN" altLang="en-US" sz="1800">
              <a:latin typeface="Arial" panose="020B0604020202020204" pitchFamily="34" charset="0"/>
              <a:ea typeface="宋体" panose="02010600030101010101" pitchFamily="2" charset="-122"/>
            </a:endParaRPr>
          </a:p>
        </p:txBody>
      </p:sp>
      <p:sp>
        <p:nvSpPr>
          <p:cNvPr id="85001" name="Text Box 8"/>
          <p:cNvSpPr>
            <a:spLocks noChangeArrowheads="1"/>
          </p:cNvSpPr>
          <p:nvPr/>
        </p:nvSpPr>
        <p:spPr bwMode="auto">
          <a:xfrm>
            <a:off x="2665413" y="4162425"/>
            <a:ext cx="71755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None/>
            </a:pPr>
            <a:r>
              <a:rPr lang="zh-CN" altLang="en-US" sz="2400">
                <a:solidFill>
                  <a:srgbClr val="000000"/>
                </a:solidFill>
                <a:latin typeface="Arial" panose="020B0604020202020204" pitchFamily="34" charset="0"/>
                <a:ea typeface="宋体" panose="02010600030101010101" pitchFamily="2" charset="-122"/>
                <a:sym typeface="黑体" panose="02010609060101010101" pitchFamily="49" charset="-122"/>
              </a:rPr>
              <a:t>日志分析</a:t>
            </a:r>
            <a:endParaRPr lang="en-US" altLang="zh-CN" sz="2400">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0"/>
              </a:spcBef>
              <a:buClrTx/>
              <a:buFont typeface="Wingdings" panose="05000000000000000000" pitchFamily="2" charset="2"/>
              <a:buNone/>
            </a:pPr>
            <a:r>
              <a:rPr lang="zh-CN" altLang="en-US" sz="2400">
                <a:solidFill>
                  <a:srgbClr val="000000"/>
                </a:solidFill>
                <a:latin typeface="Arial" panose="020B0604020202020204" pitchFamily="34" charset="0"/>
                <a:ea typeface="宋体" panose="02010600030101010101" pitchFamily="2" charset="-122"/>
                <a:sym typeface="黑体" panose="02010609060101010101" pitchFamily="49" charset="-122"/>
              </a:rPr>
              <a:t>历史安全事件</a:t>
            </a:r>
            <a:endParaRPr lang="en-US" altLang="zh-CN" sz="2400">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0"/>
              </a:spcBef>
              <a:buClrTx/>
              <a:buFont typeface="Wingdings" panose="05000000000000000000" pitchFamily="2" charset="2"/>
              <a:buNone/>
            </a:pPr>
            <a:r>
              <a:rPr lang="zh-CN" altLang="en-US" sz="2400">
                <a:solidFill>
                  <a:srgbClr val="000000"/>
                </a:solidFill>
                <a:latin typeface="Arial" panose="020B0604020202020204" pitchFamily="34" charset="0"/>
                <a:ea typeface="宋体" panose="02010600030101010101" pitchFamily="2" charset="-122"/>
                <a:sym typeface="黑体" panose="02010609060101010101" pitchFamily="49" charset="-122"/>
              </a:rPr>
              <a:t>专家经验</a:t>
            </a:r>
            <a:endParaRPr lang="en-US" altLang="zh-CN" sz="2400">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0"/>
              </a:spcBef>
              <a:buClrTx/>
              <a:buFont typeface="Wingdings" panose="05000000000000000000" pitchFamily="2" charset="2"/>
              <a:buNone/>
            </a:pPr>
            <a:r>
              <a:rPr lang="zh-CN" altLang="en-US" sz="2400">
                <a:solidFill>
                  <a:srgbClr val="000000"/>
                </a:solidFill>
                <a:latin typeface="Arial" panose="020B0604020202020204" pitchFamily="34" charset="0"/>
                <a:ea typeface="宋体" panose="02010600030101010101" pitchFamily="2" charset="-122"/>
                <a:sym typeface="黑体" panose="02010609060101010101" pitchFamily="49" charset="-122"/>
              </a:rPr>
              <a:t>互联网信息检索</a:t>
            </a:r>
            <a:endParaRPr lang="zh-CN" altLang="en-US" sz="1800">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84996"/>
                                        </p:tgtEl>
                                        <p:attrNameLst>
                                          <p:attrName>style.visibility</p:attrName>
                                        </p:attrNameLst>
                                      </p:cBhvr>
                                      <p:to>
                                        <p:strVal val="visible"/>
                                      </p:to>
                                    </p:set>
                                    <p:anim calcmode="fmla" valueType="clr">
                                      <p:cBhvr override="childStyle">
                                        <p:cTn id="7" dur="80"/>
                                        <p:tgtEl>
                                          <p:spTgt spid="84996"/>
                                        </p:tgtEl>
                                        <p:attrNameLst>
                                          <p:attrName>style.color</p:attrName>
                                        </p:attrNameLst>
                                      </p:cBhvr>
                                    </p:anim>
                                    <p:anim calcmode="fmla" valueType="clr">
                                      <p:cBhvr>
                                        <p:cTn id="8" dur="80"/>
                                        <p:tgtEl>
                                          <p:spTgt spid="84996"/>
                                        </p:tgtEl>
                                        <p:attrNameLst>
                                          <p:attrName>fillcolor</p:attrName>
                                        </p:attrNameLst>
                                      </p:cBhvr>
                                    </p:anim>
                                    <p:set>
                                      <p:cBhvr>
                                        <p:cTn id="9" dur="80"/>
                                        <p:tgtEl>
                                          <p:spTgt spid="84996"/>
                                        </p:tgtEl>
                                        <p:attrNameLst>
                                          <p:attrName>fill.type</p:attrName>
                                        </p:attrNameLst>
                                      </p:cBhvr>
                                      <p:to>
                                        <p:strVal val="solid"/>
                                      </p:to>
                                    </p:set>
                                  </p:childTnLst>
                                </p:cTn>
                              </p:par>
                            </p:childTnLst>
                          </p:cTn>
                        </p:par>
                        <p:par>
                          <p:cTn id="10" fill="hold">
                            <p:stCondLst>
                              <p:cond delay="759"/>
                            </p:stCondLst>
                            <p:childTnLst>
                              <p:par>
                                <p:cTn id="11" presetID="27" presetClass="entr" presetSubtype="0" fill="hold" grpId="0" nodeType="afterEffect">
                                  <p:stCondLst>
                                    <p:cond delay="0"/>
                                  </p:stCondLst>
                                  <p:iterate type="lt">
                                    <p:tmPct val="50000"/>
                                  </p:iterate>
                                  <p:childTnLst>
                                    <p:set>
                                      <p:cBhvr>
                                        <p:cTn id="12" dur="1" fill="hold">
                                          <p:stCondLst>
                                            <p:cond delay="0"/>
                                          </p:stCondLst>
                                        </p:cTn>
                                        <p:tgtEl>
                                          <p:spTgt spid="84997"/>
                                        </p:tgtEl>
                                        <p:attrNameLst>
                                          <p:attrName>style.visibility</p:attrName>
                                        </p:attrNameLst>
                                      </p:cBhvr>
                                      <p:to>
                                        <p:strVal val="visible"/>
                                      </p:to>
                                    </p:set>
                                    <p:anim calcmode="fmla" valueType="clr">
                                      <p:cBhvr override="childStyle">
                                        <p:cTn id="13" dur="80"/>
                                        <p:tgtEl>
                                          <p:spTgt spid="84997"/>
                                        </p:tgtEl>
                                        <p:attrNameLst>
                                          <p:attrName>style.color</p:attrName>
                                        </p:attrNameLst>
                                      </p:cBhvr>
                                    </p:anim>
                                    <p:anim calcmode="fmla" valueType="clr">
                                      <p:cBhvr>
                                        <p:cTn id="14" dur="80"/>
                                        <p:tgtEl>
                                          <p:spTgt spid="84997"/>
                                        </p:tgtEl>
                                        <p:attrNameLst>
                                          <p:attrName>fillcolor</p:attrName>
                                        </p:attrNameLst>
                                      </p:cBhvr>
                                    </p:anim>
                                    <p:set>
                                      <p:cBhvr>
                                        <p:cTn id="15" dur="80"/>
                                        <p:tgtEl>
                                          <p:spTgt spid="84997"/>
                                        </p:tgtEl>
                                        <p:attrNameLst>
                                          <p:attrName>fill.type</p:attrName>
                                        </p:attrNameLst>
                                      </p:cBhvr>
                                      <p:to>
                                        <p:strVal val="solid"/>
                                      </p:to>
                                    </p:se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grpId="0" nodeType="clickEffect">
                                  <p:stCondLst>
                                    <p:cond delay="0"/>
                                  </p:stCondLst>
                                  <p:iterate type="lt">
                                    <p:tmPct val="50000"/>
                                  </p:iterate>
                                  <p:childTnLst>
                                    <p:set>
                                      <p:cBhvr>
                                        <p:cTn id="19" dur="1" fill="hold">
                                          <p:stCondLst>
                                            <p:cond delay="0"/>
                                          </p:stCondLst>
                                        </p:cTn>
                                        <p:tgtEl>
                                          <p:spTgt spid="84998"/>
                                        </p:tgtEl>
                                        <p:attrNameLst>
                                          <p:attrName>style.visibility</p:attrName>
                                        </p:attrNameLst>
                                      </p:cBhvr>
                                      <p:to>
                                        <p:strVal val="visible"/>
                                      </p:to>
                                    </p:set>
                                    <p:anim calcmode="fmla" valueType="clr">
                                      <p:cBhvr override="childStyle">
                                        <p:cTn id="20" dur="80"/>
                                        <p:tgtEl>
                                          <p:spTgt spid="84998"/>
                                        </p:tgtEl>
                                        <p:attrNameLst>
                                          <p:attrName>style.color</p:attrName>
                                        </p:attrNameLst>
                                      </p:cBhvr>
                                    </p:anim>
                                    <p:anim calcmode="fmla" valueType="clr">
                                      <p:cBhvr>
                                        <p:cTn id="21" dur="80"/>
                                        <p:tgtEl>
                                          <p:spTgt spid="84998"/>
                                        </p:tgtEl>
                                        <p:attrNameLst>
                                          <p:attrName>fillcolor</p:attrName>
                                        </p:attrNameLst>
                                      </p:cBhvr>
                                    </p:anim>
                                    <p:set>
                                      <p:cBhvr>
                                        <p:cTn id="22" dur="80"/>
                                        <p:tgtEl>
                                          <p:spTgt spid="84998"/>
                                        </p:tgtEl>
                                        <p:attrNameLst>
                                          <p:attrName>fill.type</p:attrName>
                                        </p:attrNameLst>
                                      </p:cBhvr>
                                      <p:to>
                                        <p:strVal val="solid"/>
                                      </p:to>
                                    </p:set>
                                  </p:childTnLst>
                                </p:cTn>
                              </p:par>
                            </p:childTnLst>
                          </p:cTn>
                        </p:par>
                        <p:par>
                          <p:cTn id="23" fill="hold">
                            <p:stCondLst>
                              <p:cond delay="759"/>
                            </p:stCondLst>
                            <p:childTnLst>
                              <p:par>
                                <p:cTn id="24" presetID="27" presetClass="entr" presetSubtype="0" fill="hold" grpId="0" nodeType="afterEffect">
                                  <p:stCondLst>
                                    <p:cond delay="0"/>
                                  </p:stCondLst>
                                  <p:iterate type="lt">
                                    <p:tmPct val="50000"/>
                                  </p:iterate>
                                  <p:childTnLst>
                                    <p:set>
                                      <p:cBhvr>
                                        <p:cTn id="25" dur="1" fill="hold">
                                          <p:stCondLst>
                                            <p:cond delay="0"/>
                                          </p:stCondLst>
                                        </p:cTn>
                                        <p:tgtEl>
                                          <p:spTgt spid="84999"/>
                                        </p:tgtEl>
                                        <p:attrNameLst>
                                          <p:attrName>style.visibility</p:attrName>
                                        </p:attrNameLst>
                                      </p:cBhvr>
                                      <p:to>
                                        <p:strVal val="visible"/>
                                      </p:to>
                                    </p:set>
                                    <p:anim calcmode="fmla" valueType="clr">
                                      <p:cBhvr override="childStyle">
                                        <p:cTn id="26" dur="80"/>
                                        <p:tgtEl>
                                          <p:spTgt spid="84999"/>
                                        </p:tgtEl>
                                        <p:attrNameLst>
                                          <p:attrName>style.color</p:attrName>
                                        </p:attrNameLst>
                                      </p:cBhvr>
                                    </p:anim>
                                    <p:anim calcmode="fmla" valueType="clr">
                                      <p:cBhvr>
                                        <p:cTn id="27" dur="80"/>
                                        <p:tgtEl>
                                          <p:spTgt spid="84999"/>
                                        </p:tgtEl>
                                        <p:attrNameLst>
                                          <p:attrName>fillcolor</p:attrName>
                                        </p:attrNameLst>
                                      </p:cBhvr>
                                    </p:anim>
                                    <p:set>
                                      <p:cBhvr>
                                        <p:cTn id="28" dur="80"/>
                                        <p:tgtEl>
                                          <p:spTgt spid="84999"/>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grpId="0" nodeType="clickEffect">
                                  <p:stCondLst>
                                    <p:cond delay="0"/>
                                  </p:stCondLst>
                                  <p:iterate type="lt">
                                    <p:tmPct val="50000"/>
                                  </p:iterate>
                                  <p:childTnLst>
                                    <p:set>
                                      <p:cBhvr>
                                        <p:cTn id="32" dur="1" fill="hold">
                                          <p:stCondLst>
                                            <p:cond delay="0"/>
                                          </p:stCondLst>
                                        </p:cTn>
                                        <p:tgtEl>
                                          <p:spTgt spid="85000"/>
                                        </p:tgtEl>
                                        <p:attrNameLst>
                                          <p:attrName>style.visibility</p:attrName>
                                        </p:attrNameLst>
                                      </p:cBhvr>
                                      <p:to>
                                        <p:strVal val="visible"/>
                                      </p:to>
                                    </p:set>
                                    <p:anim calcmode="fmla" valueType="clr">
                                      <p:cBhvr override="childStyle">
                                        <p:cTn id="33" dur="80"/>
                                        <p:tgtEl>
                                          <p:spTgt spid="85000"/>
                                        </p:tgtEl>
                                        <p:attrNameLst>
                                          <p:attrName>style.color</p:attrName>
                                        </p:attrNameLst>
                                      </p:cBhvr>
                                    </p:anim>
                                    <p:anim calcmode="fmla" valueType="clr">
                                      <p:cBhvr>
                                        <p:cTn id="34" dur="80"/>
                                        <p:tgtEl>
                                          <p:spTgt spid="85000"/>
                                        </p:tgtEl>
                                        <p:attrNameLst>
                                          <p:attrName>fillcolor</p:attrName>
                                        </p:attrNameLst>
                                      </p:cBhvr>
                                    </p:anim>
                                    <p:set>
                                      <p:cBhvr>
                                        <p:cTn id="35" dur="80"/>
                                        <p:tgtEl>
                                          <p:spTgt spid="85000"/>
                                        </p:tgtEl>
                                        <p:attrNameLst>
                                          <p:attrName>fill.type</p:attrName>
                                        </p:attrNameLst>
                                      </p:cBhvr>
                                      <p:to>
                                        <p:strVal val="solid"/>
                                      </p:to>
                                    </p:set>
                                  </p:childTnLst>
                                </p:cTn>
                              </p:par>
                            </p:childTnLst>
                          </p:cTn>
                        </p:par>
                        <p:par>
                          <p:cTn id="36" fill="hold">
                            <p:stCondLst>
                              <p:cond delay="639"/>
                            </p:stCondLst>
                            <p:childTnLst>
                              <p:par>
                                <p:cTn id="37" presetID="27" presetClass="entr" presetSubtype="0" fill="hold" grpId="0" nodeType="afterEffect">
                                  <p:stCondLst>
                                    <p:cond delay="0"/>
                                  </p:stCondLst>
                                  <p:iterate type="lt">
                                    <p:tmPct val="50000"/>
                                  </p:iterate>
                                  <p:childTnLst>
                                    <p:set>
                                      <p:cBhvr>
                                        <p:cTn id="38" dur="1" fill="hold">
                                          <p:stCondLst>
                                            <p:cond delay="0"/>
                                          </p:stCondLst>
                                        </p:cTn>
                                        <p:tgtEl>
                                          <p:spTgt spid="85001"/>
                                        </p:tgtEl>
                                        <p:attrNameLst>
                                          <p:attrName>style.visibility</p:attrName>
                                        </p:attrNameLst>
                                      </p:cBhvr>
                                      <p:to>
                                        <p:strVal val="visible"/>
                                      </p:to>
                                    </p:set>
                                    <p:anim calcmode="fmla" valueType="clr">
                                      <p:cBhvr override="childStyle">
                                        <p:cTn id="39" dur="80"/>
                                        <p:tgtEl>
                                          <p:spTgt spid="85001"/>
                                        </p:tgtEl>
                                        <p:attrNameLst>
                                          <p:attrName>style.color</p:attrName>
                                        </p:attrNameLst>
                                      </p:cBhvr>
                                    </p:anim>
                                    <p:anim calcmode="fmla" valueType="clr">
                                      <p:cBhvr>
                                        <p:cTn id="40" dur="80"/>
                                        <p:tgtEl>
                                          <p:spTgt spid="85001"/>
                                        </p:tgtEl>
                                        <p:attrNameLst>
                                          <p:attrName>fillcolor</p:attrName>
                                        </p:attrNameLst>
                                      </p:cBhvr>
                                    </p:anim>
                                    <p:set>
                                      <p:cBhvr>
                                        <p:cTn id="41" dur="80"/>
                                        <p:tgtEl>
                                          <p:spTgt spid="8500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bldLvl="0"/>
      <p:bldP spid="84997" grpId="0" bldLvl="0"/>
      <p:bldP spid="84998" grpId="0" bldLvl="0"/>
      <p:bldP spid="84999" grpId="0" bldLvl="0"/>
      <p:bldP spid="85000" grpId="0" bldLvl="0"/>
      <p:bldP spid="85001" grpId="0" bldLvl="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
          <p:cNvSpPr>
            <a:spLocks noGrp="1" noChangeArrowheads="1"/>
          </p:cNvSpPr>
          <p:nvPr>
            <p:ph type="ctrTitle"/>
          </p:nvPr>
        </p:nvSpPr>
        <p:spPr>
          <a:xfrm>
            <a:off x="2424113" y="908050"/>
            <a:ext cx="6513512" cy="487363"/>
          </a:xfrm>
        </p:spPr>
        <p:txBody>
          <a:bodyPr anchor="ctr"/>
          <a:lstStyle/>
          <a:p>
            <a:pPr algn="l"/>
            <a:r>
              <a:rPr lang="zh-CN" altLang="en-US" sz="3200">
                <a:solidFill>
                  <a:srgbClr val="FF0000"/>
                </a:solidFill>
              </a:rPr>
              <a:t>威胁分类</a:t>
            </a:r>
            <a:endParaRPr lang="zh-CN" altLang="en-US" sz="3200">
              <a:solidFill>
                <a:srgbClr val="FF0000"/>
              </a:solidFill>
            </a:endParaRPr>
          </a:p>
        </p:txBody>
      </p:sp>
      <p:sp>
        <p:nvSpPr>
          <p:cNvPr id="141315" name="内容占位符 2"/>
          <p:cNvSpPr>
            <a:spLocks noGrp="1" noChangeArrowheads="1"/>
          </p:cNvSpPr>
          <p:nvPr>
            <p:ph type="subTitle" idx="1"/>
          </p:nvPr>
        </p:nvSpPr>
        <p:spPr>
          <a:xfrm>
            <a:off x="2063750" y="1628775"/>
            <a:ext cx="8191500" cy="4438650"/>
          </a:xfrm>
        </p:spPr>
        <p:txBody>
          <a:bodyPr/>
          <a:lstStyle/>
          <a:p>
            <a:pPr marL="342900" indent="-342900" algn="l">
              <a:buFont typeface="Wingdings" panose="05000000000000000000" pitchFamily="2" charset="2"/>
              <a:buChar char="v"/>
            </a:pPr>
            <a:r>
              <a:rPr lang="zh-CN" altLang="en-US" sz="2800"/>
              <a:t>分为：</a:t>
            </a:r>
            <a:endParaRPr lang="en-US" altLang="zh-CN" sz="2800"/>
          </a:p>
          <a:p>
            <a:pPr marL="742950" lvl="1" indent="-285750" algn="l">
              <a:buFont typeface="Wingdings" panose="05000000000000000000" pitchFamily="2" charset="2"/>
              <a:buChar char="§"/>
            </a:pPr>
            <a:r>
              <a:rPr lang="zh-CN" altLang="en-US" sz="2600">
                <a:solidFill>
                  <a:srgbClr val="FF0000"/>
                </a:solidFill>
              </a:rPr>
              <a:t>人为故意威胁</a:t>
            </a:r>
            <a:endParaRPr lang="zh-CN" altLang="en-US" sz="2600">
              <a:solidFill>
                <a:srgbClr val="FF0000"/>
              </a:solidFill>
            </a:endParaRPr>
          </a:p>
          <a:p>
            <a:pPr marL="1143000" lvl="2" indent="-228600" algn="l">
              <a:buFont typeface="Wingdings" panose="05000000000000000000" pitchFamily="2" charset="2"/>
              <a:buChar char="•"/>
            </a:pPr>
            <a:r>
              <a:rPr lang="zh-CN" altLang="en-US" sz="2400"/>
              <a:t>威胁意图评估、威胁能力评估、操作限制评估、威胁源特点评估</a:t>
            </a:r>
            <a:endParaRPr lang="en-US" altLang="zh-CN" sz="2400"/>
          </a:p>
          <a:p>
            <a:pPr marL="742950" lvl="1" indent="-285750" algn="l">
              <a:buFont typeface="Wingdings" panose="05000000000000000000" pitchFamily="2" charset="2"/>
              <a:buChar char="§"/>
            </a:pPr>
            <a:r>
              <a:rPr lang="zh-CN" altLang="en-US" sz="2600">
                <a:solidFill>
                  <a:srgbClr val="FF0000"/>
                </a:solidFill>
              </a:rPr>
              <a:t>人为非故意威胁</a:t>
            </a:r>
            <a:endParaRPr lang="zh-CN" altLang="en-US" sz="2600">
              <a:solidFill>
                <a:srgbClr val="FF0000"/>
              </a:solidFill>
            </a:endParaRPr>
          </a:p>
          <a:p>
            <a:pPr marL="1143000" lvl="2" indent="-228600" algn="l">
              <a:buFont typeface="Wingdings" panose="05000000000000000000" pitchFamily="2" charset="2"/>
              <a:buChar char="•"/>
            </a:pPr>
            <a:r>
              <a:rPr lang="zh-CN" altLang="en-US" sz="2400"/>
              <a:t>判定威胁源、评估威胁源特点、评估威胁源环境、评估事故发生时间</a:t>
            </a:r>
            <a:endParaRPr lang="en-US" altLang="zh-CN" sz="2400"/>
          </a:p>
          <a:p>
            <a:pPr marL="742950" lvl="1" indent="-285750" algn="l">
              <a:buFont typeface="Wingdings" panose="05000000000000000000" pitchFamily="2" charset="2"/>
              <a:buChar char="§"/>
            </a:pPr>
            <a:r>
              <a:rPr lang="zh-CN" altLang="en-US" sz="2600">
                <a:solidFill>
                  <a:srgbClr val="FF0000"/>
                </a:solidFill>
              </a:rPr>
              <a:t>自然威胁</a:t>
            </a:r>
            <a:endParaRPr lang="zh-CN" altLang="en-US" sz="2600">
              <a:solidFill>
                <a:srgbClr val="FF0000"/>
              </a:solidFill>
            </a:endParaRPr>
          </a:p>
          <a:p>
            <a:pPr marL="1143000" lvl="2" indent="-228600" algn="l">
              <a:buFont typeface="Wingdings" panose="05000000000000000000" pitchFamily="2" charset="2"/>
              <a:buChar char="•"/>
            </a:pPr>
            <a:r>
              <a:rPr lang="zh-CN" altLang="en-US" sz="2400"/>
              <a:t>地震、海啸、洪水</a:t>
            </a:r>
            <a:endParaRPr lang="en-US" altLang="zh-CN" sz="2400"/>
          </a:p>
          <a:p>
            <a:pPr marL="1143000" lvl="2" indent="-228600" algn="l">
              <a:buFont typeface="Wingdings" panose="05000000000000000000" pitchFamily="2" charset="2"/>
              <a:buChar char="•"/>
            </a:pPr>
            <a:endParaRPr lang="zh-CN" altLang="en-US" sz="2400"/>
          </a:p>
        </p:txBody>
      </p:sp>
    </p:spTree>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2"/>
          <p:cNvSpPr>
            <a:spLocks noChangeArrowheads="1"/>
          </p:cNvSpPr>
          <p:nvPr/>
        </p:nvSpPr>
        <p:spPr bwMode="auto">
          <a:xfrm>
            <a:off x="1992313" y="869950"/>
            <a:ext cx="4103687"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Arial" panose="020B0604020202020204" pitchFamily="34" charset="0"/>
              <a:buNone/>
            </a:pPr>
            <a:r>
              <a:rPr lang="zh-CN" altLang="en-US" b="1">
                <a:solidFill>
                  <a:srgbClr val="C00000"/>
                </a:solidFill>
                <a:latin typeface="微软雅黑" panose="020B0503020204020204" charset="-122"/>
                <a:ea typeface="微软雅黑" panose="020B0503020204020204" charset="-122"/>
                <a:sym typeface="微软雅黑" panose="020B0503020204020204" charset="-122"/>
              </a:rPr>
              <a:t>威胁评估的通用方法</a:t>
            </a:r>
            <a:endParaRPr lang="zh-CN" altLang="en-US" b="1">
              <a:solidFill>
                <a:srgbClr val="C00000"/>
              </a:solidFill>
              <a:latin typeface="微软雅黑" panose="020B0503020204020204" charset="-122"/>
              <a:ea typeface="微软雅黑" panose="020B0503020204020204" charset="-122"/>
              <a:sym typeface="微软雅黑" panose="020B0503020204020204" charset="-122"/>
            </a:endParaRPr>
          </a:p>
        </p:txBody>
      </p:sp>
      <p:sp>
        <p:nvSpPr>
          <p:cNvPr id="94211" name="Text Box 6"/>
          <p:cNvSpPr>
            <a:spLocks noChangeArrowheads="1"/>
          </p:cNvSpPr>
          <p:nvPr/>
        </p:nvSpPr>
        <p:spPr bwMode="auto">
          <a:xfrm>
            <a:off x="1847850" y="1538288"/>
            <a:ext cx="8640763"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Wingdings" panose="05000000000000000000" pitchFamily="2" charset="2"/>
              <a:buChar char="q"/>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为威胁列表中的全部可赋值威胁类进行赋值 </a:t>
            </a:r>
            <a:endPar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50000"/>
              </a:spcBef>
              <a:buClrTx/>
              <a:buFont typeface="Wingdings" panose="05000000000000000000" pitchFamily="2" charset="2"/>
              <a:buNone/>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         </a:t>
            </a:r>
            <a:endParaRPr lang="zh-CN" altLang="en-US" sz="2200" b="1">
              <a:solidFill>
                <a:schemeClr val="tx2"/>
              </a:solidFill>
              <a:latin typeface="Times New Roman" panose="02020603050405020304" pitchFamily="18" charset="0"/>
              <a:ea typeface="宋体" panose="02010600030101010101" pitchFamily="2" charset="-122"/>
              <a:sym typeface="黑体" panose="02010609060101010101" pitchFamily="49" charset="-122"/>
            </a:endParaRPr>
          </a:p>
        </p:txBody>
      </p:sp>
      <p:graphicFrame>
        <p:nvGraphicFramePr>
          <p:cNvPr id="89217" name="Group 129"/>
          <p:cNvGraphicFramePr>
            <a:graphicFrameLocks noGrp="1"/>
          </p:cNvGraphicFramePr>
          <p:nvPr/>
        </p:nvGraphicFramePr>
        <p:xfrm>
          <a:off x="2007252" y="3157269"/>
          <a:ext cx="8424545" cy="3017520"/>
        </p:xfrm>
        <a:graphic>
          <a:graphicData uri="http://schemas.openxmlformats.org/drawingml/2006/table">
            <a:tbl>
              <a:tblPr>
                <a:effectLst>
                  <a:outerShdw blurRad="50800" dist="38100" dir="13500000" algn="br" rotWithShape="0">
                    <a:prstClr val="black">
                      <a:alpha val="40000"/>
                    </a:prstClr>
                  </a:outerShdw>
                </a:effectLst>
              </a:tblPr>
              <a:tblGrid>
                <a:gridCol w="720725"/>
                <a:gridCol w="863600"/>
                <a:gridCol w="6840220"/>
              </a:tblGrid>
              <a:tr h="365798">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等级</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标识</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定义</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147">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很高</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出现的频率很高（或≥</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 </a:t>
                      </a: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次</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周）；或在大多数情况下几乎不可避免；或可以证实经常发生过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147">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高</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出现的频率较高（或≥ </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 </a:t>
                      </a: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次</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月）；或在大多数情况下很有可能会发生；或可以证实多次发生过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640147">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中</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出现的频率中等（或</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&gt; 1 </a:t>
                      </a: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次</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半年）；或在某种情况下可能会发生；或被证实曾经发生过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5798">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低</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出现的频率较小；或一般不太可能发生；或没有被证实发生过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5798">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很低</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威胁几乎不可能发生，仅可能在非常罕见和例外的情况下发生 </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bl>
          </a:graphicData>
        </a:graphic>
      </p:graphicFrame>
      <p:sp>
        <p:nvSpPr>
          <p:cNvPr id="94243" name="Rectangle 130"/>
          <p:cNvSpPr>
            <a:spLocks noChangeArrowheads="1"/>
          </p:cNvSpPr>
          <p:nvPr/>
        </p:nvSpPr>
        <p:spPr bwMode="auto">
          <a:xfrm>
            <a:off x="5159375" y="2654300"/>
            <a:ext cx="171323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2400" b="1">
                <a:solidFill>
                  <a:schemeClr val="tx2"/>
                </a:solidFill>
                <a:latin typeface="Arial" panose="020B0604020202020204" pitchFamily="34" charset="0"/>
                <a:ea typeface="宋体" panose="02010600030101010101" pitchFamily="2" charset="-122"/>
                <a:sym typeface="黑体" panose="02010609060101010101" pitchFamily="49" charset="-122"/>
              </a:rPr>
              <a:t>威胁赋值表</a:t>
            </a:r>
            <a:endParaRPr lang="zh-CN" altLang="en-US" sz="2400" b="1">
              <a:solidFill>
                <a:schemeClr val="tx2"/>
              </a:solidFill>
              <a:latin typeface="Arial" panose="020B0604020202020204" pitchFamily="34" charset="0"/>
              <a:ea typeface="宋体" panose="02010600030101010101" pitchFamily="2" charset="-122"/>
              <a:sym typeface="黑体" panose="02010609060101010101" pitchFamily="49" charset="-122"/>
            </a:endParaRPr>
          </a:p>
        </p:txBody>
      </p:sp>
      <p:sp>
        <p:nvSpPr>
          <p:cNvPr id="94244" name="Rectangle 131"/>
          <p:cNvSpPr>
            <a:spLocks noChangeArrowheads="1"/>
          </p:cNvSpPr>
          <p:nvPr/>
        </p:nvSpPr>
        <p:spPr bwMode="auto">
          <a:xfrm>
            <a:off x="2279650" y="2112963"/>
            <a:ext cx="543115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zh-CN" altLang="en-US" sz="2400" b="1">
                <a:solidFill>
                  <a:srgbClr val="000000"/>
                </a:solidFill>
                <a:latin typeface="Arial" panose="020B0604020202020204" pitchFamily="34" charset="0"/>
                <a:ea typeface="宋体" panose="02010600030101010101" pitchFamily="2" charset="-122"/>
                <a:sym typeface="Arial" panose="020B0604020202020204" pitchFamily="34" charset="0"/>
              </a:rPr>
              <a:t>信息安全风险评估规范</a:t>
            </a: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en-US" altLang="zh-CN" sz="2400" b="1">
                <a:solidFill>
                  <a:srgbClr val="000000"/>
                </a:solidFill>
                <a:latin typeface="Arial" panose="020B0604020202020204" pitchFamily="34" charset="0"/>
                <a:ea typeface="宋体" panose="02010600030101010101" pitchFamily="2" charset="-122"/>
                <a:sym typeface="黑体" panose="02010609060101010101" pitchFamily="49" charset="-122"/>
              </a:rPr>
              <a:t>GB/T20984</a:t>
            </a:r>
            <a:endPar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4211"/>
                                        </p:tgtEl>
                                        <p:attrNameLst>
                                          <p:attrName>style.visibility</p:attrName>
                                        </p:attrNameLst>
                                      </p:cBhvr>
                                      <p:to>
                                        <p:strVal val="visible"/>
                                      </p:to>
                                    </p:set>
                                    <p:anim calcmode="lin" valueType="num">
                                      <p:cBhvr additive="base">
                                        <p:cTn id="7" dur="500" fill="hold"/>
                                        <p:tgtEl>
                                          <p:spTgt spid="94211"/>
                                        </p:tgtEl>
                                        <p:attrNameLst>
                                          <p:attrName>ppt_x</p:attrName>
                                        </p:attrNameLst>
                                      </p:cBhvr>
                                      <p:tavLst>
                                        <p:tav tm="0">
                                          <p:val>
                                            <p:strVal val="0-#ppt_w/2"/>
                                          </p:val>
                                        </p:tav>
                                        <p:tav tm="100000">
                                          <p:val>
                                            <p:strVal val="#ppt_x"/>
                                          </p:val>
                                        </p:tav>
                                      </p:tavLst>
                                    </p:anim>
                                    <p:anim calcmode="lin" valueType="num">
                                      <p:cBhvr additive="base">
                                        <p:cTn id="8" dur="500" fill="hold"/>
                                        <p:tgtEl>
                                          <p:spTgt spid="942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94244"/>
                                        </p:tgtEl>
                                        <p:attrNameLst>
                                          <p:attrName>style.visibility</p:attrName>
                                        </p:attrNameLst>
                                      </p:cBhvr>
                                      <p:to>
                                        <p:strVal val="visible"/>
                                      </p:to>
                                    </p:set>
                                    <p:anim calcmode="lin" valueType="num">
                                      <p:cBhvr>
                                        <p:cTn id="12" dur="500" fill="hold"/>
                                        <p:tgtEl>
                                          <p:spTgt spid="94244"/>
                                        </p:tgtEl>
                                        <p:attrNameLst>
                                          <p:attrName>ppt_w</p:attrName>
                                        </p:attrNameLst>
                                      </p:cBhvr>
                                      <p:tavLst>
                                        <p:tav tm="0">
                                          <p:val>
                                            <p:fltVal val="0"/>
                                          </p:val>
                                        </p:tav>
                                        <p:tav tm="100000">
                                          <p:val>
                                            <p:strVal val="#ppt_w"/>
                                          </p:val>
                                        </p:tav>
                                      </p:tavLst>
                                    </p:anim>
                                    <p:anim calcmode="lin" valueType="num">
                                      <p:cBhvr>
                                        <p:cTn id="13" dur="500" fill="hold"/>
                                        <p:tgtEl>
                                          <p:spTgt spid="94244"/>
                                        </p:tgtEl>
                                        <p:attrNameLst>
                                          <p:attrName>ppt_h</p:attrName>
                                        </p:attrNameLst>
                                      </p:cBhvr>
                                      <p:tavLst>
                                        <p:tav tm="0">
                                          <p:val>
                                            <p:fltVal val="0"/>
                                          </p:val>
                                        </p:tav>
                                        <p:tav tm="100000">
                                          <p:val>
                                            <p:strVal val="#ppt_h"/>
                                          </p:val>
                                        </p:tav>
                                      </p:tavLst>
                                    </p:anim>
                                    <p:animEffect transition="in" filter="fade">
                                      <p:cBhvr>
                                        <p:cTn id="14" dur="500"/>
                                        <p:tgtEl>
                                          <p:spTgt spid="94244"/>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94243"/>
                                        </p:tgtEl>
                                        <p:attrNameLst>
                                          <p:attrName>style.visibility</p:attrName>
                                        </p:attrNameLst>
                                      </p:cBhvr>
                                      <p:to>
                                        <p:strVal val="visible"/>
                                      </p:to>
                                    </p:set>
                                    <p:anim calcmode="lin" valueType="num">
                                      <p:cBhvr>
                                        <p:cTn id="18" dur="500" fill="hold"/>
                                        <p:tgtEl>
                                          <p:spTgt spid="94243"/>
                                        </p:tgtEl>
                                        <p:attrNameLst>
                                          <p:attrName>ppt_w</p:attrName>
                                        </p:attrNameLst>
                                      </p:cBhvr>
                                      <p:tavLst>
                                        <p:tav tm="0">
                                          <p:val>
                                            <p:fltVal val="0"/>
                                          </p:val>
                                        </p:tav>
                                        <p:tav tm="100000">
                                          <p:val>
                                            <p:strVal val="#ppt_w"/>
                                          </p:val>
                                        </p:tav>
                                      </p:tavLst>
                                    </p:anim>
                                    <p:anim calcmode="lin" valueType="num">
                                      <p:cBhvr>
                                        <p:cTn id="19" dur="500" fill="hold"/>
                                        <p:tgtEl>
                                          <p:spTgt spid="94243"/>
                                        </p:tgtEl>
                                        <p:attrNameLst>
                                          <p:attrName>ppt_h</p:attrName>
                                        </p:attrNameLst>
                                      </p:cBhvr>
                                      <p:tavLst>
                                        <p:tav tm="0">
                                          <p:val>
                                            <p:fltVal val="0"/>
                                          </p:val>
                                        </p:tav>
                                        <p:tav tm="100000">
                                          <p:val>
                                            <p:strVal val="#ppt_h"/>
                                          </p:val>
                                        </p:tav>
                                      </p:tavLst>
                                    </p:anim>
                                    <p:animEffect transition="in" filter="fade">
                                      <p:cBhvr>
                                        <p:cTn id="20" dur="500"/>
                                        <p:tgtEl>
                                          <p:spTgt spid="94243"/>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89217"/>
                                        </p:tgtEl>
                                        <p:attrNameLst>
                                          <p:attrName>style.visibility</p:attrName>
                                        </p:attrNameLst>
                                      </p:cBhvr>
                                      <p:to>
                                        <p:strVal val="visible"/>
                                      </p:to>
                                    </p:set>
                                    <p:anim calcmode="lin" valueType="num">
                                      <p:cBhvr>
                                        <p:cTn id="24" dur="500" fill="hold"/>
                                        <p:tgtEl>
                                          <p:spTgt spid="89217"/>
                                        </p:tgtEl>
                                        <p:attrNameLst>
                                          <p:attrName>ppt_w</p:attrName>
                                        </p:attrNameLst>
                                      </p:cBhvr>
                                      <p:tavLst>
                                        <p:tav tm="0">
                                          <p:val>
                                            <p:fltVal val="0"/>
                                          </p:val>
                                        </p:tav>
                                        <p:tav tm="100000">
                                          <p:val>
                                            <p:strVal val="#ppt_w"/>
                                          </p:val>
                                        </p:tav>
                                      </p:tavLst>
                                    </p:anim>
                                    <p:anim calcmode="lin" valueType="num">
                                      <p:cBhvr>
                                        <p:cTn id="25" dur="500" fill="hold"/>
                                        <p:tgtEl>
                                          <p:spTgt spid="89217"/>
                                        </p:tgtEl>
                                        <p:attrNameLst>
                                          <p:attrName>ppt_h</p:attrName>
                                        </p:attrNameLst>
                                      </p:cBhvr>
                                      <p:tavLst>
                                        <p:tav tm="0">
                                          <p:val>
                                            <p:fltVal val="0"/>
                                          </p:val>
                                        </p:tav>
                                        <p:tav tm="100000">
                                          <p:val>
                                            <p:strVal val="#ppt_h"/>
                                          </p:val>
                                        </p:tav>
                                      </p:tavLst>
                                    </p:anim>
                                    <p:animEffect transition="in" filter="fade">
                                      <p:cBhvr>
                                        <p:cTn id="26" dur="500"/>
                                        <p:tgtEl>
                                          <p:spTgt spid="89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p:bldP spid="94243" grpId="0" bldLvl="0" animBg="1"/>
      <p:bldP spid="94244" grpId="0" bldLvl="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a:spLocks noChangeArrowheads="1"/>
          </p:cNvSpPr>
          <p:nvPr/>
        </p:nvSpPr>
        <p:spPr bwMode="auto">
          <a:xfrm>
            <a:off x="2063750" y="1052513"/>
            <a:ext cx="410368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Arial" panose="020B0604020202020204" pitchFamily="34" charset="0"/>
              <a:buNone/>
            </a:pPr>
            <a:r>
              <a:rPr lang="zh-CN" altLang="en-US" b="1">
                <a:solidFill>
                  <a:srgbClr val="C00000"/>
                </a:solidFill>
                <a:latin typeface="微软雅黑" panose="020B0503020204020204" charset="-122"/>
                <a:ea typeface="微软雅黑" panose="020B0503020204020204" charset="-122"/>
                <a:sym typeface="微软雅黑" panose="020B0503020204020204" charset="-122"/>
              </a:rPr>
              <a:t>威胁评估的通用方法</a:t>
            </a:r>
            <a:endParaRPr lang="zh-CN" altLang="en-US" b="1">
              <a:solidFill>
                <a:srgbClr val="C00000"/>
              </a:solidFill>
              <a:latin typeface="微软雅黑" panose="020B0503020204020204" charset="-122"/>
              <a:ea typeface="微软雅黑" panose="020B0503020204020204" charset="-122"/>
              <a:sym typeface="微软雅黑" panose="020B0503020204020204" charset="-122"/>
            </a:endParaRPr>
          </a:p>
        </p:txBody>
      </p:sp>
      <p:sp>
        <p:nvSpPr>
          <p:cNvPr id="95235" name="Text Box 6"/>
          <p:cNvSpPr>
            <a:spLocks noChangeArrowheads="1"/>
          </p:cNvSpPr>
          <p:nvPr/>
        </p:nvSpPr>
        <p:spPr bwMode="auto">
          <a:xfrm>
            <a:off x="1847850" y="1700213"/>
            <a:ext cx="8640763"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Wingdings" panose="05000000000000000000" pitchFamily="2" charset="2"/>
              <a:buChar char="q"/>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判断威胁出现的频率是威胁赋值的重要内容，应根据经验和（或）有关的统计数据来进行判断。需要综合考虑以下三个方面，以形成在某种评估环境中各种威胁出现的频率：</a:t>
            </a:r>
            <a:endPar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2" eaLnBrk="1" hangingPunct="1">
              <a:spcBef>
                <a:spcPct val="0"/>
              </a:spcBef>
              <a:buClrTx/>
              <a:buFont typeface="Wingdings" panose="05000000000000000000" pitchFamily="2" charset="2"/>
              <a:buChar char="n"/>
            </a:pPr>
            <a:r>
              <a:rPr lang="zh-CN" altLang="en-US" sz="1800" b="1">
                <a:solidFill>
                  <a:schemeClr val="tx2"/>
                </a:solidFill>
                <a:latin typeface="宋体" panose="02010600030101010101" pitchFamily="2" charset="-122"/>
                <a:ea typeface="宋体" panose="02010600030101010101" pitchFamily="2" charset="-122"/>
                <a:sym typeface="Verdana" panose="020B0604030504040204" pitchFamily="34" charset="0"/>
              </a:rPr>
              <a:t>以往安全事件报告中出现过的威胁及其频率的统计；</a:t>
            </a:r>
            <a:endParaRPr lang="zh-CN" altLang="en-US" sz="1800" b="1">
              <a:solidFill>
                <a:schemeClr val="tx2"/>
              </a:solidFill>
              <a:latin typeface="宋体" panose="02010600030101010101" pitchFamily="2" charset="-122"/>
              <a:ea typeface="宋体" panose="02010600030101010101" pitchFamily="2" charset="-122"/>
              <a:sym typeface="Verdana" panose="020B0604030504040204" pitchFamily="34" charset="0"/>
            </a:endParaRPr>
          </a:p>
          <a:p>
            <a:pPr lvl="2" eaLnBrk="1" hangingPunct="1">
              <a:spcBef>
                <a:spcPct val="0"/>
              </a:spcBef>
              <a:buClrTx/>
              <a:buFont typeface="Wingdings" panose="05000000000000000000" pitchFamily="2" charset="2"/>
              <a:buChar char="n"/>
            </a:pPr>
            <a:r>
              <a:rPr lang="zh-CN" altLang="en-US" sz="1800" b="1">
                <a:solidFill>
                  <a:schemeClr val="tx2"/>
                </a:solidFill>
                <a:latin typeface="宋体" panose="02010600030101010101" pitchFamily="2" charset="-122"/>
                <a:ea typeface="宋体" panose="02010600030101010101" pitchFamily="2" charset="-122"/>
                <a:sym typeface="Verdana" panose="020B0604030504040204" pitchFamily="34" charset="0"/>
              </a:rPr>
              <a:t>实际环境中通过检测工具以及各种日志发现的威胁及其频率的统计；</a:t>
            </a:r>
            <a:endParaRPr lang="zh-CN" altLang="en-US" sz="1800" b="1">
              <a:solidFill>
                <a:schemeClr val="tx2"/>
              </a:solidFill>
              <a:latin typeface="宋体" panose="02010600030101010101" pitchFamily="2" charset="-122"/>
              <a:ea typeface="宋体" panose="02010600030101010101" pitchFamily="2" charset="-122"/>
              <a:sym typeface="Verdana" panose="020B0604030504040204" pitchFamily="34" charset="0"/>
            </a:endParaRPr>
          </a:p>
          <a:p>
            <a:pPr lvl="2" eaLnBrk="1" hangingPunct="1">
              <a:spcBef>
                <a:spcPct val="0"/>
              </a:spcBef>
              <a:buClrTx/>
              <a:buFont typeface="Wingdings" panose="05000000000000000000" pitchFamily="2" charset="2"/>
              <a:buChar char="n"/>
            </a:pPr>
            <a:r>
              <a:rPr lang="zh-CN" altLang="en-US" sz="1800" b="1">
                <a:solidFill>
                  <a:schemeClr val="tx2"/>
                </a:solidFill>
                <a:latin typeface="宋体" panose="02010600030101010101" pitchFamily="2" charset="-122"/>
                <a:ea typeface="宋体" panose="02010600030101010101" pitchFamily="2" charset="-122"/>
                <a:sym typeface="Verdana" panose="020B0604030504040204" pitchFamily="34" charset="0"/>
              </a:rPr>
              <a:t>近一两年来国际组织发布的对于整个社会或特定行业的威胁及其频率统计，以及发布的威胁预警。</a:t>
            </a:r>
            <a:endParaRPr lang="zh-CN" altLang="en-US" sz="1800" b="1">
              <a:solidFill>
                <a:schemeClr val="tx2"/>
              </a:solidFill>
              <a:latin typeface="宋体" panose="02010600030101010101" pitchFamily="2" charset="-122"/>
              <a:ea typeface="宋体" panose="02010600030101010101" pitchFamily="2" charset="-122"/>
              <a:sym typeface="Verdana" panose="020B0604030504040204" pitchFamily="34" charset="0"/>
            </a:endParaRPr>
          </a:p>
        </p:txBody>
      </p:sp>
      <p:sp>
        <p:nvSpPr>
          <p:cNvPr id="2" name="矩形 1"/>
          <p:cNvSpPr>
            <a:spLocks noChangeArrowheads="1"/>
          </p:cNvSpPr>
          <p:nvPr/>
        </p:nvSpPr>
        <p:spPr bwMode="auto">
          <a:xfrm>
            <a:off x="2030413" y="4365625"/>
            <a:ext cx="8313737"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just" eaLnBrk="1" hangingPunct="1">
              <a:spcBef>
                <a:spcPct val="50000"/>
              </a:spcBef>
              <a:buClrTx/>
              <a:buFont typeface="Wingdings" panose="05000000000000000000" pitchFamily="2" charset="2"/>
              <a:buChar char="q"/>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为简化后续的风险计算过程，避免不必要的计算工作，仅采用</a:t>
            </a:r>
            <a:r>
              <a:rPr lang="en-US" altLang="zh-CN" sz="2400" b="1">
                <a:solidFill>
                  <a:srgbClr val="000000"/>
                </a:solidFill>
                <a:latin typeface="Arial" panose="020B0604020202020204" pitchFamily="34" charset="0"/>
                <a:ea typeface="宋体" panose="02010600030101010101" pitchFamily="2" charset="-122"/>
                <a:sym typeface="黑体" panose="02010609060101010101" pitchFamily="49" charset="-122"/>
              </a:rPr>
              <a:t>TOP5</a:t>
            </a: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或者</a:t>
            </a:r>
            <a:r>
              <a:rPr lang="en-US" altLang="zh-CN" sz="2400" b="1">
                <a:solidFill>
                  <a:srgbClr val="000000"/>
                </a:solidFill>
                <a:latin typeface="Arial" panose="020B0604020202020204" pitchFamily="34" charset="0"/>
                <a:ea typeface="宋体" panose="02010600030101010101" pitchFamily="2" charset="-122"/>
                <a:sym typeface="黑体" panose="02010609060101010101" pitchFamily="49" charset="-122"/>
              </a:rPr>
              <a:t>TOP10</a:t>
            </a: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威胁参与风险计算</a:t>
            </a:r>
            <a:endParaRPr lang="zh-CN" altLang="en-US" sz="240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5235"/>
                                        </p:tgtEl>
                                        <p:attrNameLst>
                                          <p:attrName>style.visibility</p:attrName>
                                        </p:attrNameLst>
                                      </p:cBhvr>
                                      <p:to>
                                        <p:strVal val="visible"/>
                                      </p:to>
                                    </p:set>
                                    <p:anim calcmode="lin" valueType="num">
                                      <p:cBhvr>
                                        <p:cTn id="7" dur="500" fill="hold"/>
                                        <p:tgtEl>
                                          <p:spTgt spid="95235"/>
                                        </p:tgtEl>
                                        <p:attrNameLst>
                                          <p:attrName>ppt_w</p:attrName>
                                        </p:attrNameLst>
                                      </p:cBhvr>
                                      <p:tavLst>
                                        <p:tav tm="0">
                                          <p:val>
                                            <p:fltVal val="0"/>
                                          </p:val>
                                        </p:tav>
                                        <p:tav tm="100000">
                                          <p:val>
                                            <p:strVal val="#ppt_w"/>
                                          </p:val>
                                        </p:tav>
                                      </p:tavLst>
                                    </p:anim>
                                    <p:anim calcmode="lin" valueType="num">
                                      <p:cBhvr>
                                        <p:cTn id="8" dur="500" fill="hold"/>
                                        <p:tgtEl>
                                          <p:spTgt spid="95235"/>
                                        </p:tgtEl>
                                        <p:attrNameLst>
                                          <p:attrName>ppt_h</p:attrName>
                                        </p:attrNameLst>
                                      </p:cBhvr>
                                      <p:tavLst>
                                        <p:tav tm="0">
                                          <p:val>
                                            <p:fltVal val="0"/>
                                          </p:val>
                                        </p:tav>
                                        <p:tav tm="100000">
                                          <p:val>
                                            <p:strVal val="#ppt_h"/>
                                          </p:val>
                                        </p:tav>
                                      </p:tavLst>
                                    </p:anim>
                                    <p:animEffect transition="in" filter="fade">
                                      <p:cBhvr>
                                        <p:cTn id="9" dur="500"/>
                                        <p:tgtEl>
                                          <p:spTgt spid="9523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p:bldP spid="2"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p:cNvSpPr>
            <a:spLocks noChangeArrowheads="1"/>
          </p:cNvSpPr>
          <p:nvPr/>
        </p:nvSpPr>
        <p:spPr bwMode="auto">
          <a:xfrm>
            <a:off x="1992313" y="836613"/>
            <a:ext cx="4103687"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Arial" panose="020B0604020202020204" pitchFamily="34" charset="0"/>
              <a:buNone/>
            </a:pPr>
            <a:r>
              <a:rPr lang="zh-CN" altLang="en-US" b="1">
                <a:solidFill>
                  <a:srgbClr val="C00000"/>
                </a:solidFill>
                <a:latin typeface="微软雅黑" panose="020B0503020204020204" charset="-122"/>
                <a:ea typeface="微软雅黑" panose="020B0503020204020204" charset="-122"/>
                <a:sym typeface="微软雅黑" panose="020B0503020204020204" charset="-122"/>
              </a:rPr>
              <a:t>威胁举例 </a:t>
            </a:r>
            <a:endParaRPr lang="zh-CN" altLang="en-US" b="1">
              <a:solidFill>
                <a:srgbClr val="C00000"/>
              </a:solidFill>
              <a:latin typeface="微软雅黑" panose="020B0503020204020204" charset="-122"/>
              <a:ea typeface="微软雅黑" panose="020B0503020204020204" charset="-122"/>
              <a:sym typeface="微软雅黑" panose="020B0503020204020204" charset="-122"/>
            </a:endParaRPr>
          </a:p>
        </p:txBody>
      </p:sp>
      <p:sp>
        <p:nvSpPr>
          <p:cNvPr id="144387" name="Rectangle 3"/>
          <p:cNvSpPr>
            <a:spLocks noChangeArrowheads="1"/>
          </p:cNvSpPr>
          <p:nvPr/>
        </p:nvSpPr>
        <p:spPr bwMode="auto">
          <a:xfrm>
            <a:off x="1524000" y="15303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44388" name="Rectangle 4"/>
          <p:cNvSpPr>
            <a:spLocks noChangeArrowheads="1"/>
          </p:cNvSpPr>
          <p:nvPr/>
        </p:nvSpPr>
        <p:spPr bwMode="auto">
          <a:xfrm>
            <a:off x="1524000" y="248840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44389" name="Rectangle 5"/>
          <p:cNvSpPr>
            <a:spLocks noChangeArrowheads="1"/>
          </p:cNvSpPr>
          <p:nvPr/>
        </p:nvSpPr>
        <p:spPr bwMode="auto">
          <a:xfrm>
            <a:off x="1524000" y="91122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44390" name="Rectangle 27"/>
          <p:cNvSpPr>
            <a:spLocks noChangeArrowheads="1"/>
          </p:cNvSpPr>
          <p:nvPr/>
        </p:nvSpPr>
        <p:spPr bwMode="auto">
          <a:xfrm>
            <a:off x="3157538" y="27782"/>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pic>
        <p:nvPicPr>
          <p:cNvPr id="96263" name="Picture 453"/>
          <p:cNvPicPr>
            <a:picLocks noChangeAspect="1" noChangeArrowheads="1"/>
          </p:cNvPicPr>
          <p:nvPr/>
        </p:nvPicPr>
        <p:blipFill>
          <a:blip r:embed="rId1"/>
          <a:srcRect/>
          <a:stretch>
            <a:fillRect/>
          </a:stretch>
        </p:blipFill>
        <p:spPr bwMode="auto">
          <a:xfrm>
            <a:off x="3071813" y="1484313"/>
            <a:ext cx="6264275" cy="4492625"/>
          </a:xfrm>
          <a:prstGeom prst="rect">
            <a:avLst/>
          </a:prstGeom>
          <a:noFill/>
          <a:ln w="28575">
            <a:solidFill>
              <a:srgbClr val="000000"/>
            </a:solidFill>
            <a:miter lim="800000"/>
            <a:headEnd/>
            <a:tailEnd/>
          </a:ln>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410" name="标题 1"/>
          <p:cNvSpPr>
            <a:spLocks noGrp="1" noChangeArrowheads="1"/>
          </p:cNvSpPr>
          <p:nvPr>
            <p:ph type="title" idx="4294967295"/>
          </p:nvPr>
        </p:nvSpPr>
        <p:spPr>
          <a:xfrm>
            <a:off x="1847850" y="787400"/>
            <a:ext cx="6407150" cy="521970"/>
          </a:xfrm>
        </p:spPr>
        <p:txBody>
          <a:bodyPr anchor="t">
            <a:spAutoFit/>
          </a:bodyPr>
          <a:lstStyle/>
          <a:p>
            <a:pPr eaLnBrk="1" hangingPunct="1">
              <a:spcBef>
                <a:spcPct val="50000"/>
              </a:spcBef>
            </a:pPr>
            <a:r>
              <a:rPr lang="zh-CN" altLang="en-US" sz="2800">
                <a:solidFill>
                  <a:srgbClr val="C00000"/>
                </a:solidFill>
                <a:latin typeface="微软雅黑" panose="020B0503020204020204" charset="-122"/>
                <a:ea typeface="微软雅黑" panose="020B0503020204020204" charset="-122"/>
                <a:cs typeface="宋体" panose="02010600030101010101" pitchFamily="2" charset="-122"/>
                <a:sym typeface="微软雅黑" panose="020B0503020204020204" charset="-122"/>
              </a:rPr>
              <a:t>外部威胁发展</a:t>
            </a:r>
            <a:endParaRPr lang="zh-CN" altLang="en-US" sz="2800">
              <a:solidFill>
                <a:srgbClr val="C00000"/>
              </a:solidFill>
              <a:latin typeface="微软雅黑" panose="020B0503020204020204" charset="-122"/>
              <a:ea typeface="微软雅黑" panose="020B0503020204020204" charset="-122"/>
              <a:cs typeface="宋体" panose="02010600030101010101" pitchFamily="2" charset="-122"/>
              <a:sym typeface="黑体" panose="02010609060101010101" pitchFamily="49" charset="-122"/>
            </a:endParaRPr>
          </a:p>
        </p:txBody>
      </p:sp>
      <p:graphicFrame>
        <p:nvGraphicFramePr>
          <p:cNvPr id="180227" name="Object 2"/>
          <p:cNvGraphicFramePr>
            <a:graphicFrameLocks noChangeAspect="1"/>
          </p:cNvGraphicFramePr>
          <p:nvPr/>
        </p:nvGraphicFramePr>
        <p:xfrm>
          <a:off x="2403475" y="1622425"/>
          <a:ext cx="3692525" cy="2959100"/>
        </p:xfrm>
        <a:graphic>
          <a:graphicData uri="http://schemas.openxmlformats.org/presentationml/2006/ole">
            <mc:AlternateContent xmlns:mc="http://schemas.openxmlformats.org/markup-compatibility/2006">
              <mc:Choice xmlns:v="urn:schemas-microsoft-com:vml" Requires="v">
                <p:oleObj spid="_x0000_s12318" name="" r:id="rId1" imgW="3487420" imgH="2797175" progId="Visio.Drawing.11">
                  <p:embed/>
                </p:oleObj>
              </mc:Choice>
              <mc:Fallback>
                <p:oleObj name="" r:id="rId1" imgW="3487420" imgH="279717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3475" y="1622425"/>
                        <a:ext cx="3692525" cy="2959100"/>
                      </a:xfrm>
                      <a:prstGeom prst="rect">
                        <a:avLst/>
                      </a:prstGeom>
                      <a:solidFill>
                        <a:srgbClr val="FF9900"/>
                      </a:solidFill>
                      <a:ln w="9525">
                        <a:solidFill>
                          <a:srgbClr val="000000"/>
                        </a:solidFill>
                        <a:miter lim="800000"/>
                        <a:headEnd/>
                        <a:tailEnd/>
                      </a:ln>
                    </p:spPr>
                  </p:pic>
                </p:oleObj>
              </mc:Fallback>
            </mc:AlternateContent>
          </a:graphicData>
        </a:graphic>
      </p:graphicFrame>
      <p:graphicFrame>
        <p:nvGraphicFramePr>
          <p:cNvPr id="180228" name="Object 3"/>
          <p:cNvGraphicFramePr>
            <a:graphicFrameLocks noChangeAspect="1"/>
          </p:cNvGraphicFramePr>
          <p:nvPr/>
        </p:nvGraphicFramePr>
        <p:xfrm>
          <a:off x="2135188" y="1412875"/>
          <a:ext cx="4198937" cy="3524250"/>
        </p:xfrm>
        <a:graphic>
          <a:graphicData uri="http://schemas.openxmlformats.org/presentationml/2006/ole">
            <mc:AlternateContent xmlns:mc="http://schemas.openxmlformats.org/markup-compatibility/2006">
              <mc:Choice xmlns:v="urn:schemas-microsoft-com:vml" Requires="v">
                <p:oleObj spid="_x0000_s12319" name="" r:id="rId3" imgW="3962400" imgH="3326130" progId="Visio.Drawing.11">
                  <p:embed/>
                </p:oleObj>
              </mc:Choice>
              <mc:Fallback>
                <p:oleObj name="" r:id="rId3" imgW="3962400" imgH="3326130"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8" y="1412875"/>
                        <a:ext cx="4198937" cy="3524250"/>
                      </a:xfrm>
                      <a:prstGeom prst="rect">
                        <a:avLst/>
                      </a:prstGeom>
                      <a:solidFill>
                        <a:srgbClr val="FF9900"/>
                      </a:solidFill>
                      <a:ln w="9525">
                        <a:solidFill>
                          <a:srgbClr val="000000"/>
                        </a:solidFill>
                        <a:miter lim="800000"/>
                        <a:headEnd/>
                        <a:tailEnd/>
                      </a:ln>
                    </p:spPr>
                  </p:pic>
                </p:oleObj>
              </mc:Fallback>
            </mc:AlternateContent>
          </a:graphicData>
        </a:graphic>
      </p:graphicFrame>
      <p:graphicFrame>
        <p:nvGraphicFramePr>
          <p:cNvPr id="180229" name="Object 4"/>
          <p:cNvGraphicFramePr>
            <a:graphicFrameLocks noChangeAspect="1"/>
          </p:cNvGraphicFramePr>
          <p:nvPr/>
        </p:nvGraphicFramePr>
        <p:xfrm>
          <a:off x="2424113" y="1917700"/>
          <a:ext cx="3641725" cy="2619375"/>
        </p:xfrm>
        <a:graphic>
          <a:graphicData uri="http://schemas.openxmlformats.org/presentationml/2006/ole">
            <mc:AlternateContent xmlns:mc="http://schemas.openxmlformats.org/markup-compatibility/2006">
              <mc:Choice xmlns:v="urn:schemas-microsoft-com:vml" Requires="v">
                <p:oleObj spid="_x0000_s12320" name="" r:id="rId5" imgW="3433445" imgH="2473960" progId="Visio.Drawing.11">
                  <p:embed/>
                </p:oleObj>
              </mc:Choice>
              <mc:Fallback>
                <p:oleObj name="" r:id="rId5" imgW="3433445" imgH="2473960" progId="Visio.Drawing.11">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4113" y="1917700"/>
                        <a:ext cx="3641725" cy="2619375"/>
                      </a:xfrm>
                      <a:prstGeom prst="rect">
                        <a:avLst/>
                      </a:prstGeom>
                      <a:solidFill>
                        <a:srgbClr val="FF9900"/>
                      </a:solidFill>
                      <a:ln w="9525">
                        <a:solidFill>
                          <a:srgbClr val="000000"/>
                        </a:solidFill>
                        <a:miter lim="800000"/>
                        <a:headEnd/>
                        <a:tailEnd/>
                      </a:ln>
                    </p:spPr>
                  </p:pic>
                </p:oleObj>
              </mc:Fallback>
            </mc:AlternateContent>
          </a:graphicData>
        </a:graphic>
      </p:graphicFrame>
      <p:graphicFrame>
        <p:nvGraphicFramePr>
          <p:cNvPr id="180230" name="Object 5"/>
          <p:cNvGraphicFramePr>
            <a:graphicFrameLocks noChangeAspect="1"/>
          </p:cNvGraphicFramePr>
          <p:nvPr/>
        </p:nvGraphicFramePr>
        <p:xfrm>
          <a:off x="2425700" y="4005263"/>
          <a:ext cx="3670300" cy="517525"/>
        </p:xfrm>
        <a:graphic>
          <a:graphicData uri="http://schemas.openxmlformats.org/presentationml/2006/ole">
            <mc:AlternateContent xmlns:mc="http://schemas.openxmlformats.org/markup-compatibility/2006">
              <mc:Choice xmlns:v="urn:schemas-microsoft-com:vml" Requires="v">
                <p:oleObj spid="_x0000_s12321" name="" r:id="rId7" imgW="3460115" imgH="492760" progId="Visio.Drawing.11">
                  <p:embed/>
                </p:oleObj>
              </mc:Choice>
              <mc:Fallback>
                <p:oleObj name="" r:id="rId7" imgW="3460115" imgH="492760" progId="Visio.Drawing.11">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5700" y="4005263"/>
                        <a:ext cx="3670300" cy="517525"/>
                      </a:xfrm>
                      <a:prstGeom prst="rect">
                        <a:avLst/>
                      </a:prstGeom>
                      <a:solidFill>
                        <a:srgbClr val="FF9900"/>
                      </a:solidFill>
                      <a:ln w="9525">
                        <a:solidFill>
                          <a:srgbClr val="000000"/>
                        </a:solidFill>
                        <a:miter lim="800000"/>
                        <a:headEnd/>
                        <a:tailEnd/>
                      </a:ln>
                    </p:spPr>
                  </p:pic>
                </p:oleObj>
              </mc:Fallback>
            </mc:AlternateContent>
          </a:graphicData>
        </a:graphic>
      </p:graphicFrame>
      <p:sp>
        <p:nvSpPr>
          <p:cNvPr id="180231" name="Freeform 16"/>
          <p:cNvSpPr>
            <a:spLocks noEditPoints="1" noChangeArrowheads="1"/>
          </p:cNvSpPr>
          <p:nvPr/>
        </p:nvSpPr>
        <p:spPr bwMode="auto">
          <a:xfrm>
            <a:off x="3648075" y="2133600"/>
            <a:ext cx="4968875" cy="3384550"/>
          </a:xfrm>
          <a:custGeom>
            <a:avLst/>
            <a:gdLst>
              <a:gd name="T0" fmla="*/ 2147483646 w 2820"/>
              <a:gd name="T1" fmla="*/ 2147483646 h 2912"/>
              <a:gd name="T2" fmla="*/ 2147483646 w 2820"/>
              <a:gd name="T3" fmla="*/ 2147483646 h 2912"/>
              <a:gd name="T4" fmla="*/ 2147483646 w 2820"/>
              <a:gd name="T5" fmla="*/ 2147483646 h 2912"/>
              <a:gd name="T6" fmla="*/ 2147483646 w 2820"/>
              <a:gd name="T7" fmla="*/ 2147483646 h 2912"/>
              <a:gd name="T8" fmla="*/ 2147483646 w 2820"/>
              <a:gd name="T9" fmla="*/ 2147483646 h 2912"/>
              <a:gd name="T10" fmla="*/ 2147483646 w 2820"/>
              <a:gd name="T11" fmla="*/ 2147483646 h 2912"/>
              <a:gd name="T12" fmla="*/ 2147483646 w 2820"/>
              <a:gd name="T13" fmla="*/ 2147483646 h 2912"/>
              <a:gd name="T14" fmla="*/ 2147483646 w 2820"/>
              <a:gd name="T15" fmla="*/ 2147483646 h 2912"/>
              <a:gd name="T16" fmla="*/ 0 w 2820"/>
              <a:gd name="T17" fmla="*/ 2147483646 h 2912"/>
              <a:gd name="T18" fmla="*/ 2147483646 w 2820"/>
              <a:gd name="T19" fmla="*/ 2147483646 h 2912"/>
              <a:gd name="T20" fmla="*/ 2147483646 w 2820"/>
              <a:gd name="T21" fmla="*/ 2147483646 h 2912"/>
              <a:gd name="T22" fmla="*/ 2147483646 w 2820"/>
              <a:gd name="T23" fmla="*/ 2147483646 h 2912"/>
              <a:gd name="T24" fmla="*/ 2147483646 w 2820"/>
              <a:gd name="T25" fmla="*/ 2147483646 h 2912"/>
              <a:gd name="T26" fmla="*/ 2147483646 w 2820"/>
              <a:gd name="T27" fmla="*/ 2147483646 h 2912"/>
              <a:gd name="T28" fmla="*/ 2147483646 w 2820"/>
              <a:gd name="T29" fmla="*/ 2147483646 h 2912"/>
              <a:gd name="T30" fmla="*/ 2147483646 w 2820"/>
              <a:gd name="T31" fmla="*/ 2147483646 h 2912"/>
              <a:gd name="T32" fmla="*/ 2147483646 w 2820"/>
              <a:gd name="T33" fmla="*/ 2147483646 h 2912"/>
              <a:gd name="T34" fmla="*/ 2147483646 w 2820"/>
              <a:gd name="T35" fmla="*/ 2147483646 h 2912"/>
              <a:gd name="T36" fmla="*/ 2147483646 w 2820"/>
              <a:gd name="T37" fmla="*/ 2147483646 h 2912"/>
              <a:gd name="T38" fmla="*/ 2147483646 w 2820"/>
              <a:gd name="T39" fmla="*/ 2147483646 h 2912"/>
              <a:gd name="T40" fmla="*/ 2147483646 w 2820"/>
              <a:gd name="T41" fmla="*/ 2147483646 h 2912"/>
              <a:gd name="T42" fmla="*/ 2147483646 w 2820"/>
              <a:gd name="T43" fmla="*/ 2147483646 h 2912"/>
              <a:gd name="T44" fmla="*/ 2147483646 w 2820"/>
              <a:gd name="T45" fmla="*/ 2147483646 h 2912"/>
              <a:gd name="T46" fmla="*/ 2147483646 w 2820"/>
              <a:gd name="T47" fmla="*/ 2147483646 h 2912"/>
              <a:gd name="T48" fmla="*/ 2147483646 w 2820"/>
              <a:gd name="T49" fmla="*/ 2147483646 h 2912"/>
              <a:gd name="T50" fmla="*/ 2147483646 w 2820"/>
              <a:gd name="T51" fmla="*/ 2147483646 h 2912"/>
              <a:gd name="T52" fmla="*/ 2147483646 w 2820"/>
              <a:gd name="T53" fmla="*/ 2147483646 h 2912"/>
              <a:gd name="T54" fmla="*/ 2147483646 w 2820"/>
              <a:gd name="T55" fmla="*/ 2147483646 h 2912"/>
              <a:gd name="T56" fmla="*/ 2147483646 w 2820"/>
              <a:gd name="T57" fmla="*/ 2147483646 h 2912"/>
              <a:gd name="T58" fmla="*/ 2147483646 w 2820"/>
              <a:gd name="T59" fmla="*/ 2147483646 h 2912"/>
              <a:gd name="T60" fmla="*/ 2147483646 w 2820"/>
              <a:gd name="T61" fmla="*/ 2147483646 h 2912"/>
              <a:gd name="T62" fmla="*/ 2147483646 w 2820"/>
              <a:gd name="T63" fmla="*/ 2147483646 h 2912"/>
              <a:gd name="T64" fmla="*/ 2147483646 w 2820"/>
              <a:gd name="T65" fmla="*/ 2147483646 h 2912"/>
              <a:gd name="T66" fmla="*/ 2147483646 w 2820"/>
              <a:gd name="T67" fmla="*/ 2147483646 h 2912"/>
              <a:gd name="T68" fmla="*/ 2147483646 w 2820"/>
              <a:gd name="T69" fmla="*/ 2147483646 h 2912"/>
              <a:gd name="T70" fmla="*/ 2147483646 w 2820"/>
              <a:gd name="T71" fmla="*/ 2147483646 h 2912"/>
              <a:gd name="T72" fmla="*/ 2147483646 w 2820"/>
              <a:gd name="T73" fmla="*/ 2147483646 h 2912"/>
              <a:gd name="T74" fmla="*/ 2147483646 w 2820"/>
              <a:gd name="T75" fmla="*/ 2147483646 h 2912"/>
              <a:gd name="T76" fmla="*/ 2147483646 w 2820"/>
              <a:gd name="T77" fmla="*/ 2147483646 h 2912"/>
              <a:gd name="T78" fmla="*/ 2147483646 w 2820"/>
              <a:gd name="T79" fmla="*/ 2147483646 h 2912"/>
              <a:gd name="T80" fmla="*/ 2147483646 w 2820"/>
              <a:gd name="T81" fmla="*/ 2147483646 h 2912"/>
              <a:gd name="T82" fmla="*/ 2147483646 w 2820"/>
              <a:gd name="T83" fmla="*/ 2147483646 h 2912"/>
              <a:gd name="T84" fmla="*/ 2147483646 w 2820"/>
              <a:gd name="T85" fmla="*/ 2147483646 h 2912"/>
              <a:gd name="T86" fmla="*/ 2147483646 w 2820"/>
              <a:gd name="T87" fmla="*/ 2147483646 h 2912"/>
              <a:gd name="T88" fmla="*/ 2147483646 w 2820"/>
              <a:gd name="T89" fmla="*/ 2147483646 h 2912"/>
              <a:gd name="T90" fmla="*/ 2147483646 w 2820"/>
              <a:gd name="T91" fmla="*/ 0 h 2912"/>
              <a:gd name="T92" fmla="*/ 2147483646 w 2820"/>
              <a:gd name="T93" fmla="*/ 2147483646 h 2912"/>
              <a:gd name="T94" fmla="*/ 2147483646 w 2820"/>
              <a:gd name="T95" fmla="*/ 2147483646 h 29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820"/>
              <a:gd name="T145" fmla="*/ 0 h 2912"/>
              <a:gd name="T146" fmla="*/ 2820 w 2820"/>
              <a:gd name="T147" fmla="*/ 2912 h 291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close/>
                <a:moveTo>
                  <a:pt x="2820" y="1934"/>
                </a:moveTo>
                <a:lnTo>
                  <a:pt x="2820" y="1934"/>
                </a:lnTo>
                <a:close/>
              </a:path>
            </a:pathLst>
          </a:custGeom>
          <a:gradFill rotWithShape="1">
            <a:gsLst>
              <a:gs pos="0">
                <a:srgbClr val="55CAEB"/>
              </a:gs>
              <a:gs pos="100000">
                <a:srgbClr val="FF9900"/>
              </a:gs>
            </a:gsLst>
            <a:lin ang="5400000" scaled="1"/>
          </a:gradFill>
          <a:ln>
            <a:noFill/>
          </a:ln>
          <a:extLst>
            <a:ext uri="{91240B29-F687-4F45-9708-019B960494DF}">
              <a14:hiddenLine xmlns:a14="http://schemas.microsoft.com/office/drawing/2010/main" w="0">
                <a:solidFill>
                  <a:srgbClr val="000000"/>
                </a:solidFill>
                <a:bevel/>
              </a14:hiddenLine>
            </a:ext>
          </a:extLst>
        </p:spPr>
        <p:txBody>
          <a:bodyPr/>
          <a:lstStyle/>
          <a:p>
            <a:endParaRPr lang="zh-CN" altLang="en-US"/>
          </a:p>
        </p:txBody>
      </p:sp>
      <p:sp>
        <p:nvSpPr>
          <p:cNvPr id="180232" name="Text Box 18"/>
          <p:cNvSpPr>
            <a:spLocks noChangeArrowheads="1"/>
          </p:cNvSpPr>
          <p:nvPr/>
        </p:nvSpPr>
        <p:spPr bwMode="auto">
          <a:xfrm>
            <a:off x="7608888" y="2344738"/>
            <a:ext cx="2805112"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a:solidFill>
                  <a:srgbClr val="000000"/>
                </a:solidFill>
                <a:sym typeface="黑体" panose="02010609060101010101" pitchFamily="49" charset="-122"/>
              </a:rPr>
              <a:t>网络欺骗或讹诈</a:t>
            </a:r>
            <a:endParaRPr lang="zh-CN" altLang="en-US">
              <a:solidFill>
                <a:srgbClr val="000000"/>
              </a:solidFill>
              <a:sym typeface="黑体" panose="02010609060101010101" pitchFamily="49" charset="-122"/>
            </a:endParaRPr>
          </a:p>
          <a:p>
            <a:pPr eaLnBrk="1" hangingPunct="1">
              <a:spcBef>
                <a:spcPct val="0"/>
              </a:spcBef>
              <a:buClrTx/>
              <a:buFont typeface="Arial" panose="020B0604020202020204" pitchFamily="34" charset="0"/>
              <a:buNone/>
            </a:pPr>
            <a:r>
              <a:rPr lang="zh-CN" altLang="en-US">
                <a:solidFill>
                  <a:srgbClr val="000000"/>
                </a:solidFill>
                <a:sym typeface="黑体" panose="02010609060101010101" pitchFamily="49" charset="-122"/>
              </a:rPr>
              <a:t>感染恶意代码</a:t>
            </a:r>
            <a:endParaRPr lang="zh-CN" altLang="en-US">
              <a:solidFill>
                <a:srgbClr val="000000"/>
              </a:solidFill>
              <a:sym typeface="黑体" panose="02010609060101010101" pitchFamily="49" charset="-122"/>
            </a:endParaRPr>
          </a:p>
          <a:p>
            <a:pPr eaLnBrk="1" hangingPunct="1">
              <a:spcBef>
                <a:spcPct val="0"/>
              </a:spcBef>
              <a:buClrTx/>
              <a:buFont typeface="Arial" panose="020B0604020202020204" pitchFamily="34" charset="0"/>
              <a:buNone/>
            </a:pPr>
            <a:r>
              <a:rPr lang="zh-CN" altLang="en-US">
                <a:solidFill>
                  <a:srgbClr val="000000"/>
                </a:solidFill>
                <a:sym typeface="黑体" panose="02010609060101010101" pitchFamily="49" charset="-122"/>
              </a:rPr>
              <a:t>泄露重要信息</a:t>
            </a:r>
            <a:endParaRPr lang="en-US" altLang="zh-CN">
              <a:solidFill>
                <a:srgbClr val="000000"/>
              </a:solidFill>
              <a:sym typeface="黑体" panose="02010609060101010101" pitchFamily="49" charset="-122"/>
            </a:endParaRPr>
          </a:p>
        </p:txBody>
      </p:sp>
      <p:grpSp>
        <p:nvGrpSpPr>
          <p:cNvPr id="2" name="Group 38"/>
          <p:cNvGrpSpPr/>
          <p:nvPr/>
        </p:nvGrpSpPr>
        <p:grpSpPr bwMode="auto">
          <a:xfrm>
            <a:off x="5219700" y="1844675"/>
            <a:ext cx="804863" cy="762000"/>
            <a:chOff x="0" y="0"/>
            <a:chExt cx="507" cy="480"/>
          </a:xfrm>
        </p:grpSpPr>
        <p:sp>
          <p:nvSpPr>
            <p:cNvPr id="145460" name="Oval 20"/>
            <p:cNvSpPr>
              <a:spLocks noChangeArrowheads="1"/>
            </p:cNvSpPr>
            <p:nvPr/>
          </p:nvSpPr>
          <p:spPr bwMode="auto">
            <a:xfrm>
              <a:off x="0" y="336"/>
              <a:ext cx="432" cy="144"/>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61" name="Oval 21"/>
            <p:cNvSpPr>
              <a:spLocks noChangeArrowheads="1"/>
            </p:cNvSpPr>
            <p:nvPr/>
          </p:nvSpPr>
          <p:spPr bwMode="auto">
            <a:xfrm>
              <a:off x="77" y="0"/>
              <a:ext cx="430" cy="43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62" name="Oval 22"/>
            <p:cNvSpPr>
              <a:spLocks noChangeArrowheads="1"/>
            </p:cNvSpPr>
            <p:nvPr/>
          </p:nvSpPr>
          <p:spPr bwMode="auto">
            <a:xfrm>
              <a:off x="83" y="2"/>
              <a:ext cx="419" cy="420"/>
            </a:xfrm>
            <a:prstGeom prst="ellipse">
              <a:avLst/>
            </a:prstGeom>
            <a:gradFill rotWithShape="1">
              <a:gsLst>
                <a:gs pos="0">
                  <a:srgbClr val="D6E1E2"/>
                </a:gs>
                <a:gs pos="100000">
                  <a:srgbClr val="F1F5F5"/>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63" name="Oval 23"/>
            <p:cNvSpPr>
              <a:spLocks noChangeArrowheads="1"/>
            </p:cNvSpPr>
            <p:nvPr/>
          </p:nvSpPr>
          <p:spPr bwMode="auto">
            <a:xfrm>
              <a:off x="87" y="6"/>
              <a:ext cx="399" cy="392"/>
            </a:xfrm>
            <a:prstGeom prst="ellipse">
              <a:avLst/>
            </a:prstGeom>
            <a:gradFill rotWithShape="1">
              <a:gsLst>
                <a:gs pos="0">
                  <a:srgbClr val="AAB2B3"/>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64" name="Oval 24"/>
            <p:cNvSpPr>
              <a:spLocks noChangeArrowheads="1"/>
            </p:cNvSpPr>
            <p:nvPr/>
          </p:nvSpPr>
          <p:spPr bwMode="auto">
            <a:xfrm>
              <a:off x="110" y="18"/>
              <a:ext cx="355" cy="317"/>
            </a:xfrm>
            <a:prstGeom prst="ellipse">
              <a:avLst/>
            </a:prstGeom>
            <a:gradFill rotWithShape="1">
              <a:gsLst>
                <a:gs pos="0">
                  <a:srgbClr val="FFFFFF"/>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65" name="Text Box 25"/>
            <p:cNvSpPr>
              <a:spLocks noChangeArrowheads="1"/>
            </p:cNvSpPr>
            <p:nvPr/>
          </p:nvSpPr>
          <p:spPr bwMode="auto">
            <a:xfrm>
              <a:off x="100" y="54"/>
              <a:ext cx="30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1200">
                  <a:solidFill>
                    <a:srgbClr val="000000"/>
                  </a:solidFill>
                  <a:sym typeface="黑体" panose="02010609060101010101" pitchFamily="49" charset="-122"/>
                </a:rPr>
                <a:t>手机</a:t>
              </a:r>
              <a:endParaRPr lang="en-US" altLang="zh-CN" sz="1200">
                <a:solidFill>
                  <a:srgbClr val="000000"/>
                </a:solidFill>
                <a:sym typeface="黑体" panose="02010609060101010101" pitchFamily="49" charset="-122"/>
              </a:endParaRPr>
            </a:p>
            <a:p>
              <a:pPr eaLnBrk="1" hangingPunct="1">
                <a:spcBef>
                  <a:spcPct val="0"/>
                </a:spcBef>
                <a:buClrTx/>
                <a:buFont typeface="Arial" panose="020B0604020202020204" pitchFamily="34" charset="0"/>
                <a:buNone/>
              </a:pPr>
              <a:r>
                <a:rPr lang="zh-CN" altLang="en-US" sz="1200">
                  <a:solidFill>
                    <a:srgbClr val="000000"/>
                  </a:solidFill>
                  <a:sym typeface="黑体" panose="02010609060101010101" pitchFamily="49" charset="-122"/>
                </a:rPr>
                <a:t>攻击</a:t>
              </a:r>
              <a:endParaRPr lang="en-US" altLang="zh-CN" sz="1200">
                <a:solidFill>
                  <a:srgbClr val="000000"/>
                </a:solidFill>
                <a:sym typeface="黑体" panose="02010609060101010101" pitchFamily="49" charset="-122"/>
              </a:endParaRPr>
            </a:p>
          </p:txBody>
        </p:sp>
      </p:grpSp>
      <p:grpSp>
        <p:nvGrpSpPr>
          <p:cNvPr id="3" name="Group 39"/>
          <p:cNvGrpSpPr/>
          <p:nvPr/>
        </p:nvGrpSpPr>
        <p:grpSpPr bwMode="auto">
          <a:xfrm>
            <a:off x="4511675" y="1989138"/>
            <a:ext cx="804863" cy="762000"/>
            <a:chOff x="0" y="0"/>
            <a:chExt cx="507" cy="480"/>
          </a:xfrm>
        </p:grpSpPr>
        <p:sp>
          <p:nvSpPr>
            <p:cNvPr id="145454" name="Oval 32"/>
            <p:cNvSpPr>
              <a:spLocks noChangeArrowheads="1"/>
            </p:cNvSpPr>
            <p:nvPr/>
          </p:nvSpPr>
          <p:spPr bwMode="auto">
            <a:xfrm>
              <a:off x="0" y="336"/>
              <a:ext cx="432" cy="144"/>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55" name="Oval 33"/>
            <p:cNvSpPr>
              <a:spLocks noChangeArrowheads="1"/>
            </p:cNvSpPr>
            <p:nvPr/>
          </p:nvSpPr>
          <p:spPr bwMode="auto">
            <a:xfrm>
              <a:off x="77" y="0"/>
              <a:ext cx="430" cy="43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56" name="Oval 34"/>
            <p:cNvSpPr>
              <a:spLocks noChangeArrowheads="1"/>
            </p:cNvSpPr>
            <p:nvPr/>
          </p:nvSpPr>
          <p:spPr bwMode="auto">
            <a:xfrm>
              <a:off x="83" y="2"/>
              <a:ext cx="419" cy="420"/>
            </a:xfrm>
            <a:prstGeom prst="ellipse">
              <a:avLst/>
            </a:prstGeom>
            <a:gradFill rotWithShape="1">
              <a:gsLst>
                <a:gs pos="0">
                  <a:srgbClr val="D6E1E2"/>
                </a:gs>
                <a:gs pos="100000">
                  <a:srgbClr val="F1F5F5"/>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57" name="Oval 35"/>
            <p:cNvSpPr>
              <a:spLocks noChangeArrowheads="1"/>
            </p:cNvSpPr>
            <p:nvPr/>
          </p:nvSpPr>
          <p:spPr bwMode="auto">
            <a:xfrm>
              <a:off x="87" y="6"/>
              <a:ext cx="399" cy="392"/>
            </a:xfrm>
            <a:prstGeom prst="ellipse">
              <a:avLst/>
            </a:prstGeom>
            <a:gradFill rotWithShape="1">
              <a:gsLst>
                <a:gs pos="0">
                  <a:srgbClr val="AAB2B3"/>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58" name="Oval 36"/>
            <p:cNvSpPr>
              <a:spLocks noChangeArrowheads="1"/>
            </p:cNvSpPr>
            <p:nvPr/>
          </p:nvSpPr>
          <p:spPr bwMode="auto">
            <a:xfrm>
              <a:off x="110" y="18"/>
              <a:ext cx="355" cy="317"/>
            </a:xfrm>
            <a:prstGeom prst="ellipse">
              <a:avLst/>
            </a:prstGeom>
            <a:gradFill rotWithShape="1">
              <a:gsLst>
                <a:gs pos="0">
                  <a:srgbClr val="FFFFFF"/>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59" name="Text Box 37"/>
            <p:cNvSpPr>
              <a:spLocks noChangeArrowheads="1"/>
            </p:cNvSpPr>
            <p:nvPr/>
          </p:nvSpPr>
          <p:spPr bwMode="auto">
            <a:xfrm>
              <a:off x="125" y="63"/>
              <a:ext cx="30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1200">
                  <a:solidFill>
                    <a:srgbClr val="000000"/>
                  </a:solidFill>
                  <a:sym typeface="黑体" panose="02010609060101010101" pitchFamily="49" charset="-122"/>
                </a:rPr>
                <a:t>网络</a:t>
              </a:r>
              <a:endParaRPr lang="zh-CN" altLang="en-US" sz="1200">
                <a:solidFill>
                  <a:srgbClr val="000000"/>
                </a:solidFill>
                <a:sym typeface="黑体" panose="02010609060101010101" pitchFamily="49" charset="-122"/>
              </a:endParaRPr>
            </a:p>
            <a:p>
              <a:pPr eaLnBrk="1" hangingPunct="1">
                <a:spcBef>
                  <a:spcPct val="0"/>
                </a:spcBef>
                <a:buClrTx/>
                <a:buFont typeface="Arial" panose="020B0604020202020204" pitchFamily="34" charset="0"/>
                <a:buNone/>
              </a:pPr>
              <a:r>
                <a:rPr lang="zh-CN" altLang="en-US" sz="1200">
                  <a:solidFill>
                    <a:srgbClr val="000000"/>
                  </a:solidFill>
                  <a:sym typeface="黑体" panose="02010609060101010101" pitchFamily="49" charset="-122"/>
                </a:rPr>
                <a:t>仿冒</a:t>
              </a:r>
              <a:endParaRPr lang="en-US" altLang="zh-CN" sz="1200">
                <a:solidFill>
                  <a:srgbClr val="000000"/>
                </a:solidFill>
                <a:sym typeface="黑体" panose="02010609060101010101" pitchFamily="49" charset="-122"/>
              </a:endParaRPr>
            </a:p>
          </p:txBody>
        </p:sp>
      </p:grpSp>
      <p:grpSp>
        <p:nvGrpSpPr>
          <p:cNvPr id="4" name="Group 46"/>
          <p:cNvGrpSpPr/>
          <p:nvPr/>
        </p:nvGrpSpPr>
        <p:grpSpPr bwMode="auto">
          <a:xfrm>
            <a:off x="3575050" y="2362200"/>
            <a:ext cx="1100138" cy="1139825"/>
            <a:chOff x="0" y="0"/>
            <a:chExt cx="693" cy="718"/>
          </a:xfrm>
        </p:grpSpPr>
        <p:sp>
          <p:nvSpPr>
            <p:cNvPr id="145448" name="Oval 26"/>
            <p:cNvSpPr>
              <a:spLocks noChangeArrowheads="1"/>
            </p:cNvSpPr>
            <p:nvPr/>
          </p:nvSpPr>
          <p:spPr bwMode="auto">
            <a:xfrm>
              <a:off x="0" y="382"/>
              <a:ext cx="576" cy="336"/>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49" name="Oval 27"/>
            <p:cNvSpPr>
              <a:spLocks noChangeArrowheads="1"/>
            </p:cNvSpPr>
            <p:nvPr/>
          </p:nvSpPr>
          <p:spPr bwMode="auto">
            <a:xfrm>
              <a:off x="48" y="0"/>
              <a:ext cx="645" cy="645"/>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50" name="Oval 28"/>
            <p:cNvSpPr>
              <a:spLocks noChangeArrowheads="1"/>
            </p:cNvSpPr>
            <p:nvPr/>
          </p:nvSpPr>
          <p:spPr bwMode="auto">
            <a:xfrm>
              <a:off x="56" y="3"/>
              <a:ext cx="630" cy="630"/>
            </a:xfrm>
            <a:prstGeom prst="ellipse">
              <a:avLst/>
            </a:prstGeom>
            <a:gradFill rotWithShape="1">
              <a:gsLst>
                <a:gs pos="0">
                  <a:srgbClr val="D6E1E2"/>
                </a:gs>
                <a:gs pos="100000">
                  <a:srgbClr val="F1F5F5"/>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51" name="Oval 29"/>
            <p:cNvSpPr>
              <a:spLocks noChangeArrowheads="1"/>
            </p:cNvSpPr>
            <p:nvPr/>
          </p:nvSpPr>
          <p:spPr bwMode="auto">
            <a:xfrm>
              <a:off x="63" y="10"/>
              <a:ext cx="599" cy="588"/>
            </a:xfrm>
            <a:prstGeom prst="ellipse">
              <a:avLst/>
            </a:prstGeom>
            <a:gradFill rotWithShape="1">
              <a:gsLst>
                <a:gs pos="0">
                  <a:srgbClr val="AAB2B3"/>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52" name="Oval 30"/>
            <p:cNvSpPr>
              <a:spLocks noChangeArrowheads="1"/>
            </p:cNvSpPr>
            <p:nvPr/>
          </p:nvSpPr>
          <p:spPr bwMode="auto">
            <a:xfrm>
              <a:off x="97" y="26"/>
              <a:ext cx="534" cy="477"/>
            </a:xfrm>
            <a:prstGeom prst="ellipse">
              <a:avLst/>
            </a:prstGeom>
            <a:gradFill rotWithShape="1">
              <a:gsLst>
                <a:gs pos="0">
                  <a:srgbClr val="FFFFFF"/>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53" name="Text Box 31"/>
            <p:cNvSpPr>
              <a:spLocks noChangeArrowheads="1"/>
            </p:cNvSpPr>
            <p:nvPr/>
          </p:nvSpPr>
          <p:spPr bwMode="auto">
            <a:xfrm>
              <a:off x="137" y="136"/>
              <a:ext cx="403"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1800">
                  <a:solidFill>
                    <a:srgbClr val="000000"/>
                  </a:solidFill>
                  <a:sym typeface="黑体" panose="02010609060101010101" pitchFamily="49" charset="-122"/>
                </a:rPr>
                <a:t>网页</a:t>
              </a:r>
              <a:endParaRPr lang="zh-CN" altLang="en-US" sz="1800">
                <a:solidFill>
                  <a:srgbClr val="000000"/>
                </a:solidFill>
                <a:sym typeface="黑体" panose="02010609060101010101" pitchFamily="49" charset="-122"/>
              </a:endParaRPr>
            </a:p>
            <a:p>
              <a:pPr eaLnBrk="1" hangingPunct="1">
                <a:spcBef>
                  <a:spcPct val="0"/>
                </a:spcBef>
                <a:buClrTx/>
                <a:buFont typeface="Arial" panose="020B0604020202020204" pitchFamily="34" charset="0"/>
                <a:buNone/>
              </a:pPr>
              <a:r>
                <a:rPr lang="zh-CN" altLang="en-US" sz="1800">
                  <a:solidFill>
                    <a:srgbClr val="000000"/>
                  </a:solidFill>
                  <a:sym typeface="黑体" panose="02010609060101010101" pitchFamily="49" charset="-122"/>
                </a:rPr>
                <a:t>篡改</a:t>
              </a:r>
              <a:endParaRPr lang="en-US" altLang="zh-CN" sz="1800">
                <a:solidFill>
                  <a:srgbClr val="000000"/>
                </a:solidFill>
                <a:sym typeface="黑体" panose="02010609060101010101" pitchFamily="49" charset="-122"/>
              </a:endParaRPr>
            </a:p>
          </p:txBody>
        </p:sp>
      </p:grpSp>
      <p:grpSp>
        <p:nvGrpSpPr>
          <p:cNvPr id="5" name="Group 47"/>
          <p:cNvGrpSpPr/>
          <p:nvPr/>
        </p:nvGrpSpPr>
        <p:grpSpPr bwMode="auto">
          <a:xfrm>
            <a:off x="3267075" y="3441700"/>
            <a:ext cx="1100138" cy="1139825"/>
            <a:chOff x="0" y="0"/>
            <a:chExt cx="693" cy="718"/>
          </a:xfrm>
        </p:grpSpPr>
        <p:sp>
          <p:nvSpPr>
            <p:cNvPr id="145442" name="Oval 40"/>
            <p:cNvSpPr>
              <a:spLocks noChangeArrowheads="1"/>
            </p:cNvSpPr>
            <p:nvPr/>
          </p:nvSpPr>
          <p:spPr bwMode="auto">
            <a:xfrm>
              <a:off x="0" y="382"/>
              <a:ext cx="576" cy="336"/>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43" name="Oval 41"/>
            <p:cNvSpPr>
              <a:spLocks noChangeArrowheads="1"/>
            </p:cNvSpPr>
            <p:nvPr/>
          </p:nvSpPr>
          <p:spPr bwMode="auto">
            <a:xfrm>
              <a:off x="48" y="0"/>
              <a:ext cx="645" cy="645"/>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44" name="Oval 42"/>
            <p:cNvSpPr>
              <a:spLocks noChangeArrowheads="1"/>
            </p:cNvSpPr>
            <p:nvPr/>
          </p:nvSpPr>
          <p:spPr bwMode="auto">
            <a:xfrm>
              <a:off x="56" y="3"/>
              <a:ext cx="630" cy="630"/>
            </a:xfrm>
            <a:prstGeom prst="ellipse">
              <a:avLst/>
            </a:prstGeom>
            <a:gradFill rotWithShape="1">
              <a:gsLst>
                <a:gs pos="0">
                  <a:srgbClr val="D6E1E2"/>
                </a:gs>
                <a:gs pos="100000">
                  <a:srgbClr val="F1F5F5"/>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45" name="Oval 43"/>
            <p:cNvSpPr>
              <a:spLocks noChangeArrowheads="1"/>
            </p:cNvSpPr>
            <p:nvPr/>
          </p:nvSpPr>
          <p:spPr bwMode="auto">
            <a:xfrm>
              <a:off x="63" y="10"/>
              <a:ext cx="599" cy="588"/>
            </a:xfrm>
            <a:prstGeom prst="ellipse">
              <a:avLst/>
            </a:prstGeom>
            <a:gradFill rotWithShape="1">
              <a:gsLst>
                <a:gs pos="0">
                  <a:srgbClr val="AAB2B3"/>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46" name="Oval 44"/>
            <p:cNvSpPr>
              <a:spLocks noChangeArrowheads="1"/>
            </p:cNvSpPr>
            <p:nvPr/>
          </p:nvSpPr>
          <p:spPr bwMode="auto">
            <a:xfrm>
              <a:off x="97" y="26"/>
              <a:ext cx="534" cy="477"/>
            </a:xfrm>
            <a:prstGeom prst="ellipse">
              <a:avLst/>
            </a:prstGeom>
            <a:gradFill rotWithShape="1">
              <a:gsLst>
                <a:gs pos="0">
                  <a:srgbClr val="FFFFFF"/>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47" name="Text Box 45"/>
            <p:cNvSpPr>
              <a:spLocks noChangeArrowheads="1"/>
            </p:cNvSpPr>
            <p:nvPr/>
          </p:nvSpPr>
          <p:spPr bwMode="auto">
            <a:xfrm>
              <a:off x="66" y="136"/>
              <a:ext cx="547"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1800">
                  <a:solidFill>
                    <a:srgbClr val="000000"/>
                  </a:solidFill>
                  <a:sym typeface="黑体" panose="02010609060101010101" pitchFamily="49" charset="-122"/>
                </a:rPr>
                <a:t>网页恶</a:t>
              </a:r>
              <a:endParaRPr lang="zh-CN" altLang="en-US" sz="1800">
                <a:solidFill>
                  <a:srgbClr val="000000"/>
                </a:solidFill>
                <a:sym typeface="黑体" panose="02010609060101010101" pitchFamily="49" charset="-122"/>
              </a:endParaRPr>
            </a:p>
            <a:p>
              <a:pPr eaLnBrk="1" hangingPunct="1">
                <a:spcBef>
                  <a:spcPct val="0"/>
                </a:spcBef>
                <a:buClrTx/>
                <a:buFont typeface="Arial" panose="020B0604020202020204" pitchFamily="34" charset="0"/>
                <a:buNone/>
              </a:pPr>
              <a:r>
                <a:rPr lang="zh-CN" altLang="en-US" sz="1800">
                  <a:solidFill>
                    <a:srgbClr val="000000"/>
                  </a:solidFill>
                  <a:sym typeface="黑体" panose="02010609060101010101" pitchFamily="49" charset="-122"/>
                </a:rPr>
                <a:t>意代码</a:t>
              </a:r>
              <a:endParaRPr lang="en-US" altLang="zh-CN" sz="1800">
                <a:solidFill>
                  <a:srgbClr val="000000"/>
                </a:solidFill>
                <a:sym typeface="黑体" panose="02010609060101010101" pitchFamily="49" charset="-122"/>
              </a:endParaRPr>
            </a:p>
          </p:txBody>
        </p:sp>
      </p:grpSp>
      <p:grpSp>
        <p:nvGrpSpPr>
          <p:cNvPr id="6" name="Group 60"/>
          <p:cNvGrpSpPr/>
          <p:nvPr/>
        </p:nvGrpSpPr>
        <p:grpSpPr bwMode="auto">
          <a:xfrm>
            <a:off x="4078288" y="4149725"/>
            <a:ext cx="1370012" cy="1600200"/>
            <a:chOff x="0" y="0"/>
            <a:chExt cx="863" cy="1008"/>
          </a:xfrm>
        </p:grpSpPr>
        <p:sp>
          <p:nvSpPr>
            <p:cNvPr id="145436" name="Oval 48"/>
            <p:cNvSpPr>
              <a:spLocks noChangeArrowheads="1"/>
            </p:cNvSpPr>
            <p:nvPr/>
          </p:nvSpPr>
          <p:spPr bwMode="auto">
            <a:xfrm rot="-772996">
              <a:off x="48" y="624"/>
              <a:ext cx="714" cy="384"/>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37" name="Oval 50"/>
            <p:cNvSpPr>
              <a:spLocks noChangeArrowheads="1"/>
            </p:cNvSpPr>
            <p:nvPr/>
          </p:nvSpPr>
          <p:spPr bwMode="auto">
            <a:xfrm>
              <a:off x="0" y="0"/>
              <a:ext cx="863" cy="908"/>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38" name="Oval 51"/>
            <p:cNvSpPr>
              <a:spLocks noChangeArrowheads="1"/>
            </p:cNvSpPr>
            <p:nvPr/>
          </p:nvSpPr>
          <p:spPr bwMode="auto">
            <a:xfrm>
              <a:off x="11" y="5"/>
              <a:ext cx="842" cy="885"/>
            </a:xfrm>
            <a:prstGeom prst="ellipse">
              <a:avLst/>
            </a:prstGeom>
            <a:gradFill rotWithShape="1">
              <a:gsLst>
                <a:gs pos="0">
                  <a:srgbClr val="D6E1E2"/>
                </a:gs>
                <a:gs pos="100000">
                  <a:srgbClr val="F1F5F5"/>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39" name="Oval 52"/>
            <p:cNvSpPr>
              <a:spLocks noChangeArrowheads="1"/>
            </p:cNvSpPr>
            <p:nvPr/>
          </p:nvSpPr>
          <p:spPr bwMode="auto">
            <a:xfrm>
              <a:off x="19" y="14"/>
              <a:ext cx="801" cy="827"/>
            </a:xfrm>
            <a:prstGeom prst="ellipse">
              <a:avLst/>
            </a:prstGeom>
            <a:gradFill rotWithShape="1">
              <a:gsLst>
                <a:gs pos="0">
                  <a:srgbClr val="AAB2B3"/>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40" name="Oval 53"/>
            <p:cNvSpPr>
              <a:spLocks noChangeArrowheads="1"/>
            </p:cNvSpPr>
            <p:nvPr/>
          </p:nvSpPr>
          <p:spPr bwMode="auto">
            <a:xfrm>
              <a:off x="65" y="37"/>
              <a:ext cx="712" cy="671"/>
            </a:xfrm>
            <a:prstGeom prst="ellipse">
              <a:avLst/>
            </a:prstGeom>
            <a:gradFill rotWithShape="1">
              <a:gsLst>
                <a:gs pos="0">
                  <a:srgbClr val="FFFFFF"/>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41" name="Text Box 54"/>
            <p:cNvSpPr>
              <a:spLocks noChangeArrowheads="1"/>
            </p:cNvSpPr>
            <p:nvPr/>
          </p:nvSpPr>
          <p:spPr bwMode="auto">
            <a:xfrm>
              <a:off x="174" y="181"/>
              <a:ext cx="49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2400">
                  <a:solidFill>
                    <a:srgbClr val="000000"/>
                  </a:solidFill>
                  <a:sym typeface="黑体" panose="02010609060101010101" pitchFamily="49" charset="-122"/>
                </a:rPr>
                <a:t>垃圾</a:t>
              </a:r>
              <a:endParaRPr lang="zh-CN" altLang="en-US" sz="2400">
                <a:solidFill>
                  <a:srgbClr val="000000"/>
                </a:solidFill>
                <a:sym typeface="黑体" panose="02010609060101010101" pitchFamily="49" charset="-122"/>
              </a:endParaRPr>
            </a:p>
            <a:p>
              <a:pPr eaLnBrk="1" hangingPunct="1">
                <a:spcBef>
                  <a:spcPct val="0"/>
                </a:spcBef>
                <a:buClrTx/>
                <a:buFont typeface="Arial" panose="020B0604020202020204" pitchFamily="34" charset="0"/>
                <a:buNone/>
              </a:pPr>
              <a:r>
                <a:rPr lang="zh-CN" altLang="en-US" sz="2400">
                  <a:solidFill>
                    <a:srgbClr val="000000"/>
                  </a:solidFill>
                  <a:sym typeface="黑体" panose="02010609060101010101" pitchFamily="49" charset="-122"/>
                </a:rPr>
                <a:t>邮件</a:t>
              </a:r>
              <a:endParaRPr lang="en-US" altLang="zh-CN" sz="1800">
                <a:solidFill>
                  <a:srgbClr val="000000"/>
                </a:solidFill>
                <a:sym typeface="黑体" panose="02010609060101010101" pitchFamily="49" charset="-122"/>
              </a:endParaRPr>
            </a:p>
          </p:txBody>
        </p:sp>
      </p:grpSp>
      <p:grpSp>
        <p:nvGrpSpPr>
          <p:cNvPr id="7" name="Group 61"/>
          <p:cNvGrpSpPr/>
          <p:nvPr/>
        </p:nvGrpSpPr>
        <p:grpSpPr bwMode="auto">
          <a:xfrm>
            <a:off x="5448300" y="4581525"/>
            <a:ext cx="1370013" cy="1600200"/>
            <a:chOff x="0" y="0"/>
            <a:chExt cx="863" cy="1008"/>
          </a:xfrm>
        </p:grpSpPr>
        <p:sp>
          <p:nvSpPr>
            <p:cNvPr id="145430" name="Oval 62"/>
            <p:cNvSpPr>
              <a:spLocks noChangeArrowheads="1"/>
            </p:cNvSpPr>
            <p:nvPr/>
          </p:nvSpPr>
          <p:spPr bwMode="auto">
            <a:xfrm rot="-772996">
              <a:off x="48" y="624"/>
              <a:ext cx="714" cy="384"/>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31" name="Oval 63"/>
            <p:cNvSpPr>
              <a:spLocks noChangeArrowheads="1"/>
            </p:cNvSpPr>
            <p:nvPr/>
          </p:nvSpPr>
          <p:spPr bwMode="auto">
            <a:xfrm>
              <a:off x="0" y="0"/>
              <a:ext cx="863" cy="908"/>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32" name="Oval 64"/>
            <p:cNvSpPr>
              <a:spLocks noChangeArrowheads="1"/>
            </p:cNvSpPr>
            <p:nvPr/>
          </p:nvSpPr>
          <p:spPr bwMode="auto">
            <a:xfrm>
              <a:off x="11" y="5"/>
              <a:ext cx="842" cy="885"/>
            </a:xfrm>
            <a:prstGeom prst="ellipse">
              <a:avLst/>
            </a:prstGeom>
            <a:gradFill rotWithShape="1">
              <a:gsLst>
                <a:gs pos="0">
                  <a:srgbClr val="D6E1E2"/>
                </a:gs>
                <a:gs pos="100000">
                  <a:srgbClr val="F1F5F5"/>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33" name="Oval 65"/>
            <p:cNvSpPr>
              <a:spLocks noChangeArrowheads="1"/>
            </p:cNvSpPr>
            <p:nvPr/>
          </p:nvSpPr>
          <p:spPr bwMode="auto">
            <a:xfrm>
              <a:off x="19" y="14"/>
              <a:ext cx="801" cy="827"/>
            </a:xfrm>
            <a:prstGeom prst="ellipse">
              <a:avLst/>
            </a:prstGeom>
            <a:gradFill rotWithShape="1">
              <a:gsLst>
                <a:gs pos="0">
                  <a:srgbClr val="AAB2B3"/>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34" name="Oval 66"/>
            <p:cNvSpPr>
              <a:spLocks noChangeArrowheads="1"/>
            </p:cNvSpPr>
            <p:nvPr/>
          </p:nvSpPr>
          <p:spPr bwMode="auto">
            <a:xfrm>
              <a:off x="65" y="37"/>
              <a:ext cx="712" cy="671"/>
            </a:xfrm>
            <a:prstGeom prst="ellipse">
              <a:avLst/>
            </a:prstGeom>
            <a:gradFill rotWithShape="1">
              <a:gsLst>
                <a:gs pos="0">
                  <a:srgbClr val="FFFFFF"/>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35" name="Text Box 67"/>
            <p:cNvSpPr>
              <a:spLocks noChangeArrowheads="1"/>
            </p:cNvSpPr>
            <p:nvPr/>
          </p:nvSpPr>
          <p:spPr bwMode="auto">
            <a:xfrm>
              <a:off x="84" y="181"/>
              <a:ext cx="691"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2400">
                  <a:solidFill>
                    <a:srgbClr val="000000"/>
                  </a:solidFill>
                  <a:sym typeface="黑体" panose="02010609060101010101" pitchFamily="49" charset="-122"/>
                </a:rPr>
                <a:t>拒绝服</a:t>
              </a:r>
              <a:endParaRPr lang="zh-CN" altLang="en-US" sz="2400">
                <a:solidFill>
                  <a:srgbClr val="000000"/>
                </a:solidFill>
                <a:sym typeface="黑体" panose="02010609060101010101" pitchFamily="49" charset="-122"/>
              </a:endParaRPr>
            </a:p>
            <a:p>
              <a:pPr eaLnBrk="1" hangingPunct="1">
                <a:spcBef>
                  <a:spcPct val="0"/>
                </a:spcBef>
                <a:buClrTx/>
                <a:buFont typeface="Arial" panose="020B0604020202020204" pitchFamily="34" charset="0"/>
                <a:buNone/>
              </a:pPr>
              <a:r>
                <a:rPr lang="zh-CN" altLang="en-US" sz="2400">
                  <a:solidFill>
                    <a:srgbClr val="000000"/>
                  </a:solidFill>
                  <a:sym typeface="黑体" panose="02010609060101010101" pitchFamily="49" charset="-122"/>
                </a:rPr>
                <a:t>务攻击</a:t>
              </a:r>
              <a:endParaRPr lang="en-US" altLang="zh-CN" sz="1800">
                <a:solidFill>
                  <a:srgbClr val="000000"/>
                </a:solidFill>
                <a:sym typeface="黑体" panose="02010609060101010101" pitchFamily="49" charset="-122"/>
              </a:endParaRPr>
            </a:p>
          </p:txBody>
        </p:sp>
      </p:grpSp>
      <p:grpSp>
        <p:nvGrpSpPr>
          <p:cNvPr id="8" name="Group 75"/>
          <p:cNvGrpSpPr/>
          <p:nvPr/>
        </p:nvGrpSpPr>
        <p:grpSpPr bwMode="auto">
          <a:xfrm>
            <a:off x="7032625" y="4495800"/>
            <a:ext cx="1704975" cy="1885950"/>
            <a:chOff x="0" y="0"/>
            <a:chExt cx="1074" cy="1188"/>
          </a:xfrm>
        </p:grpSpPr>
        <p:sp>
          <p:nvSpPr>
            <p:cNvPr id="145424" name="Oval 68"/>
            <p:cNvSpPr>
              <a:spLocks noChangeArrowheads="1"/>
            </p:cNvSpPr>
            <p:nvPr/>
          </p:nvSpPr>
          <p:spPr bwMode="auto">
            <a:xfrm rot="-723406">
              <a:off x="43" y="768"/>
              <a:ext cx="906" cy="420"/>
            </a:xfrm>
            <a:prstGeom prst="ellipse">
              <a:avLst/>
            </a:prstGeom>
            <a:solidFill>
              <a:srgbClr val="0F2145">
                <a:alpha val="29803"/>
              </a:srgbClr>
            </a:soli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25" name="Oval 69"/>
            <p:cNvSpPr>
              <a:spLocks noChangeArrowheads="1"/>
            </p:cNvSpPr>
            <p:nvPr/>
          </p:nvSpPr>
          <p:spPr bwMode="auto">
            <a:xfrm>
              <a:off x="0" y="0"/>
              <a:ext cx="1074" cy="1075"/>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26" name="Oval 70"/>
            <p:cNvSpPr>
              <a:spLocks noChangeArrowheads="1"/>
            </p:cNvSpPr>
            <p:nvPr/>
          </p:nvSpPr>
          <p:spPr bwMode="auto">
            <a:xfrm>
              <a:off x="13" y="6"/>
              <a:ext cx="1049" cy="1048"/>
            </a:xfrm>
            <a:prstGeom prst="ellipse">
              <a:avLst/>
            </a:prstGeom>
            <a:gradFill rotWithShape="1">
              <a:gsLst>
                <a:gs pos="0">
                  <a:srgbClr val="D6E1E2"/>
                </a:gs>
                <a:gs pos="100000">
                  <a:srgbClr val="F1F5F5"/>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27" name="Oval 71"/>
            <p:cNvSpPr>
              <a:spLocks noChangeArrowheads="1"/>
            </p:cNvSpPr>
            <p:nvPr/>
          </p:nvSpPr>
          <p:spPr bwMode="auto">
            <a:xfrm>
              <a:off x="24" y="16"/>
              <a:ext cx="998" cy="980"/>
            </a:xfrm>
            <a:prstGeom prst="ellipse">
              <a:avLst/>
            </a:prstGeom>
            <a:gradFill rotWithShape="1">
              <a:gsLst>
                <a:gs pos="0">
                  <a:srgbClr val="AAB2B3"/>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28" name="Oval 72"/>
            <p:cNvSpPr>
              <a:spLocks noChangeArrowheads="1"/>
            </p:cNvSpPr>
            <p:nvPr/>
          </p:nvSpPr>
          <p:spPr bwMode="auto">
            <a:xfrm>
              <a:off x="82" y="44"/>
              <a:ext cx="888" cy="795"/>
            </a:xfrm>
            <a:prstGeom prst="ellipse">
              <a:avLst/>
            </a:prstGeom>
            <a:gradFill rotWithShape="1">
              <a:gsLst>
                <a:gs pos="0">
                  <a:srgbClr val="FFFFFF"/>
                </a:gs>
                <a:gs pos="100000">
                  <a:srgbClr val="D6E1E2"/>
                </a:gs>
              </a:gsLst>
              <a:lin ang="5400000" scaled="1"/>
            </a:gradFill>
            <a:ln>
              <a:noFill/>
            </a:ln>
            <a:extLst>
              <a:ext uri="{91240B29-F687-4F45-9708-019B960494DF}">
                <a14:hiddenLine xmlns:a14="http://schemas.microsoft.com/office/drawing/2010/main" w="9525">
                  <a:solidFill>
                    <a:srgbClr val="000000"/>
                  </a:solidFill>
                  <a:bevel/>
                </a14:hiddenLine>
              </a:ext>
            </a:extLst>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Franklin Gothic Book" panose="020B0503020102020204"/>
                <a:sym typeface="Franklin Gothic Book" panose="020B0503020102020204"/>
              </a:endParaRPr>
            </a:p>
          </p:txBody>
        </p:sp>
        <p:sp>
          <p:nvSpPr>
            <p:cNvPr id="145429" name="Text Box 73"/>
            <p:cNvSpPr>
              <a:spLocks noChangeArrowheads="1"/>
            </p:cNvSpPr>
            <p:nvPr/>
          </p:nvSpPr>
          <p:spPr bwMode="auto">
            <a:xfrm>
              <a:off x="256" y="96"/>
              <a:ext cx="563"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a:solidFill>
                    <a:srgbClr val="000000"/>
                  </a:solidFill>
                  <a:sym typeface="黑体" panose="02010609060101010101" pitchFamily="49" charset="-122"/>
                </a:rPr>
                <a:t>病毒</a:t>
              </a:r>
              <a:endParaRPr lang="zh-CN" altLang="en-US">
                <a:solidFill>
                  <a:srgbClr val="000000"/>
                </a:solidFill>
                <a:sym typeface="黑体" panose="02010609060101010101" pitchFamily="49" charset="-122"/>
              </a:endParaRPr>
            </a:p>
            <a:p>
              <a:pPr eaLnBrk="1" hangingPunct="1">
                <a:spcBef>
                  <a:spcPct val="0"/>
                </a:spcBef>
                <a:buClrTx/>
                <a:buFont typeface="Arial" panose="020B0604020202020204" pitchFamily="34" charset="0"/>
                <a:buNone/>
              </a:pPr>
              <a:r>
                <a:rPr lang="zh-CN" altLang="en-US">
                  <a:solidFill>
                    <a:srgbClr val="000000"/>
                  </a:solidFill>
                  <a:sym typeface="黑体" panose="02010609060101010101" pitchFamily="49" charset="-122"/>
                </a:rPr>
                <a:t>蠕虫</a:t>
              </a:r>
              <a:endParaRPr lang="zh-CN" altLang="en-US">
                <a:solidFill>
                  <a:srgbClr val="000000"/>
                </a:solidFill>
                <a:sym typeface="黑体" panose="02010609060101010101" pitchFamily="49" charset="-122"/>
              </a:endParaRPr>
            </a:p>
            <a:p>
              <a:pPr eaLnBrk="1" hangingPunct="1">
                <a:spcBef>
                  <a:spcPct val="0"/>
                </a:spcBef>
                <a:buClrTx/>
                <a:buFont typeface="Arial" panose="020B0604020202020204" pitchFamily="34" charset="0"/>
                <a:buNone/>
              </a:pPr>
              <a:r>
                <a:rPr lang="zh-CN" altLang="en-US">
                  <a:solidFill>
                    <a:srgbClr val="000000"/>
                  </a:solidFill>
                  <a:sym typeface="黑体" panose="02010609060101010101" pitchFamily="49" charset="-122"/>
                </a:rPr>
                <a:t>木马</a:t>
              </a:r>
              <a:endParaRPr lang="zh-CN" altLang="en-US" sz="1800">
                <a:solidFill>
                  <a:srgbClr val="000000"/>
                </a:solidFill>
                <a:sym typeface="黑体" panose="02010609060101010101"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80228"/>
                                        </p:tgtEl>
                                        <p:attrNameLst>
                                          <p:attrName>style.visibility</p:attrName>
                                        </p:attrNameLst>
                                      </p:cBhvr>
                                      <p:to>
                                        <p:strVal val="visible"/>
                                      </p:to>
                                    </p:set>
                                    <p:animEffect>
                                      <p:cBhvr>
                                        <p:cTn id="7" dur="500"/>
                                        <p:tgtEl>
                                          <p:spTgt spid="18022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0227"/>
                                        </p:tgtEl>
                                        <p:attrNameLst>
                                          <p:attrName>style.visibility</p:attrName>
                                        </p:attrNameLst>
                                      </p:cBhvr>
                                      <p:to>
                                        <p:strVal val="visible"/>
                                      </p:to>
                                    </p:set>
                                    <p:animEffect>
                                      <p:cBhvr>
                                        <p:cTn id="11" dur="500"/>
                                        <p:tgtEl>
                                          <p:spTgt spid="18022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80230"/>
                                        </p:tgtEl>
                                        <p:attrNameLst>
                                          <p:attrName>style.visibility</p:attrName>
                                        </p:attrNameLst>
                                      </p:cBhvr>
                                      <p:to>
                                        <p:strVal val="visible"/>
                                      </p:to>
                                    </p:set>
                                    <p:animEffect>
                                      <p:cBhvr>
                                        <p:cTn id="15" dur="500"/>
                                        <p:tgtEl>
                                          <p:spTgt spid="180230"/>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80229"/>
                                        </p:tgtEl>
                                        <p:attrNameLst>
                                          <p:attrName>style.visibility</p:attrName>
                                        </p:attrNameLst>
                                      </p:cBhvr>
                                      <p:to>
                                        <p:strVal val="visible"/>
                                      </p:to>
                                    </p:set>
                                    <p:animEffect>
                                      <p:cBhvr>
                                        <p:cTn id="19" dur="500"/>
                                        <p:tgtEl>
                                          <p:spTgt spid="18022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80231"/>
                                        </p:tgtEl>
                                        <p:attrNameLst>
                                          <p:attrName>style.visibility</p:attrName>
                                        </p:attrNameLst>
                                      </p:cBhvr>
                                      <p:to>
                                        <p:strVal val="visible"/>
                                      </p:to>
                                    </p:set>
                                    <p:animEffect>
                                      <p:cBhvr>
                                        <p:cTn id="24" dur="500"/>
                                        <p:tgtEl>
                                          <p:spTgt spid="180231"/>
                                        </p:tgtEl>
                                      </p:cBhvr>
                                    </p:animEffect>
                                  </p:childTnLst>
                                </p:cTn>
                              </p:par>
                            </p:childTnLst>
                          </p:cTn>
                        </p:par>
                        <p:par>
                          <p:cTn id="25" fill="hold">
                            <p:stCondLst>
                              <p:cond delay="500"/>
                            </p:stCondLst>
                            <p:childTnLst>
                              <p:par>
                                <p:cTn id="26" presetID="1" presetClass="entr" presetSubtype="0" fill="hold" nodeType="afterEffect">
                                  <p:stCondLst>
                                    <p:cond delay="0"/>
                                  </p:stCondLst>
                                  <p:childTnLst>
                                    <p:set>
                                      <p:cBhvr>
                                        <p:cTn id="27" dur="1" fill="hold">
                                          <p:stCondLst>
                                            <p:cond delay="499"/>
                                          </p:stCondLst>
                                        </p:cTn>
                                        <p:tgtEl>
                                          <p:spTgt spid="2"/>
                                        </p:tgtEl>
                                        <p:attrNameLst>
                                          <p:attrName>style.visibility</p:attrName>
                                        </p:attrNameLst>
                                      </p:cBhvr>
                                      <p:to>
                                        <p:strVal val="visible"/>
                                      </p:to>
                                    </p:set>
                                  </p:childTnLst>
                                </p:cTn>
                              </p:par>
                            </p:childTnLst>
                          </p:cTn>
                        </p:par>
                        <p:par>
                          <p:cTn id="28" fill="hold">
                            <p:stCondLst>
                              <p:cond delay="1000"/>
                            </p:stCondLst>
                            <p:childTnLst>
                              <p:par>
                                <p:cTn id="29" presetID="1" presetClass="entr" presetSubtype="0" fill="hold" nodeType="afterEffect">
                                  <p:stCondLst>
                                    <p:cond delay="0"/>
                                  </p:stCondLst>
                                  <p:childTnLst>
                                    <p:set>
                                      <p:cBhvr>
                                        <p:cTn id="30" dur="1" fill="hold">
                                          <p:stCondLst>
                                            <p:cond delay="499"/>
                                          </p:stCondLst>
                                        </p:cTn>
                                        <p:tgtEl>
                                          <p:spTgt spid="3"/>
                                        </p:tgtEl>
                                        <p:attrNameLst>
                                          <p:attrName>style.visibility</p:attrName>
                                        </p:attrNameLst>
                                      </p:cBhvr>
                                      <p:to>
                                        <p:strVal val="visible"/>
                                      </p:to>
                                    </p:set>
                                  </p:childTnLst>
                                </p:cTn>
                              </p:par>
                            </p:childTnLst>
                          </p:cTn>
                        </p:par>
                        <p:par>
                          <p:cTn id="31" fill="hold">
                            <p:stCondLst>
                              <p:cond delay="1500"/>
                            </p:stCondLst>
                            <p:childTnLst>
                              <p:par>
                                <p:cTn id="32" presetID="1" presetClass="entr" presetSubtype="0" fill="hold" nodeType="afterEffect">
                                  <p:stCondLst>
                                    <p:cond delay="0"/>
                                  </p:stCondLst>
                                  <p:childTnLst>
                                    <p:set>
                                      <p:cBhvr>
                                        <p:cTn id="33" dur="1" fill="hold">
                                          <p:stCondLst>
                                            <p:cond delay="499"/>
                                          </p:stCondLst>
                                        </p:cTn>
                                        <p:tgtEl>
                                          <p:spTgt spid="4"/>
                                        </p:tgtEl>
                                        <p:attrNameLst>
                                          <p:attrName>style.visibility</p:attrName>
                                        </p:attrNameLst>
                                      </p:cBhvr>
                                      <p:to>
                                        <p:strVal val="visible"/>
                                      </p:to>
                                    </p:set>
                                  </p:childTnLst>
                                </p:cTn>
                              </p:par>
                            </p:childTnLst>
                          </p:cTn>
                        </p:par>
                        <p:par>
                          <p:cTn id="34" fill="hold">
                            <p:stCondLst>
                              <p:cond delay="2000"/>
                            </p:stCondLst>
                            <p:childTnLst>
                              <p:par>
                                <p:cTn id="35" presetID="1" presetClass="entr" presetSubtype="0" fill="hold" nodeType="afterEffect">
                                  <p:stCondLst>
                                    <p:cond delay="0"/>
                                  </p:stCondLst>
                                  <p:childTnLst>
                                    <p:set>
                                      <p:cBhvr>
                                        <p:cTn id="36" dur="1" fill="hold">
                                          <p:stCondLst>
                                            <p:cond delay="499"/>
                                          </p:stCondLst>
                                        </p:cTn>
                                        <p:tgtEl>
                                          <p:spTgt spid="5"/>
                                        </p:tgtEl>
                                        <p:attrNameLst>
                                          <p:attrName>style.visibility</p:attrName>
                                        </p:attrNameLst>
                                      </p:cBhvr>
                                      <p:to>
                                        <p:strVal val="visible"/>
                                      </p:to>
                                    </p:set>
                                  </p:childTnLst>
                                </p:cTn>
                              </p:par>
                            </p:childTnLst>
                          </p:cTn>
                        </p:par>
                        <p:par>
                          <p:cTn id="37" fill="hold">
                            <p:stCondLst>
                              <p:cond delay="2500"/>
                            </p:stCondLst>
                            <p:childTnLst>
                              <p:par>
                                <p:cTn id="38" presetID="1" presetClass="entr" presetSubtype="0" fill="hold" nodeType="afterEffect">
                                  <p:stCondLst>
                                    <p:cond delay="0"/>
                                  </p:stCondLst>
                                  <p:childTnLst>
                                    <p:set>
                                      <p:cBhvr>
                                        <p:cTn id="39" dur="1" fill="hold">
                                          <p:stCondLst>
                                            <p:cond delay="499"/>
                                          </p:stCondLst>
                                        </p:cTn>
                                        <p:tgtEl>
                                          <p:spTgt spid="6"/>
                                        </p:tgtEl>
                                        <p:attrNameLst>
                                          <p:attrName>style.visibility</p:attrName>
                                        </p:attrNameLst>
                                      </p:cBhvr>
                                      <p:to>
                                        <p:strVal val="visible"/>
                                      </p:to>
                                    </p:set>
                                  </p:childTnLst>
                                </p:cTn>
                              </p:par>
                            </p:childTnLst>
                          </p:cTn>
                        </p:par>
                        <p:par>
                          <p:cTn id="40" fill="hold">
                            <p:stCondLst>
                              <p:cond delay="3000"/>
                            </p:stCondLst>
                            <p:childTnLst>
                              <p:par>
                                <p:cTn id="41" presetID="1" presetClass="entr" presetSubtype="0" fill="hold" nodeType="afterEffect">
                                  <p:stCondLst>
                                    <p:cond delay="0"/>
                                  </p:stCondLst>
                                  <p:childTnLst>
                                    <p:set>
                                      <p:cBhvr>
                                        <p:cTn id="42" dur="1" fill="hold">
                                          <p:stCondLst>
                                            <p:cond delay="499"/>
                                          </p:stCondLst>
                                        </p:cTn>
                                        <p:tgtEl>
                                          <p:spTgt spid="7"/>
                                        </p:tgtEl>
                                        <p:attrNameLst>
                                          <p:attrName>style.visibility</p:attrName>
                                        </p:attrNameLst>
                                      </p:cBhvr>
                                      <p:to>
                                        <p:strVal val="visible"/>
                                      </p:to>
                                    </p:set>
                                  </p:childTnLst>
                                </p:cTn>
                              </p:par>
                            </p:childTnLst>
                          </p:cTn>
                        </p:par>
                        <p:par>
                          <p:cTn id="43" fill="hold">
                            <p:stCondLst>
                              <p:cond delay="3500"/>
                            </p:stCondLst>
                            <p:childTnLst>
                              <p:par>
                                <p:cTn id="44" presetID="1" presetClass="entr" presetSubtype="0" fill="hold" nodeType="afterEffect">
                                  <p:stCondLst>
                                    <p:cond delay="0"/>
                                  </p:stCondLst>
                                  <p:childTnLst>
                                    <p:set>
                                      <p:cBhvr>
                                        <p:cTn id="45" dur="1" fill="hold">
                                          <p:stCondLst>
                                            <p:cond delay="499"/>
                                          </p:stCondLst>
                                        </p:cTn>
                                        <p:tgtEl>
                                          <p:spTgt spid="8"/>
                                        </p:tgtEl>
                                        <p:attrNameLst>
                                          <p:attrName>style.visibility</p:attrName>
                                        </p:attrNameLst>
                                      </p:cBhvr>
                                      <p:to>
                                        <p:strVal val="visible"/>
                                      </p:to>
                                    </p:set>
                                  </p:childTnLst>
                                </p:cTn>
                              </p:par>
                            </p:childTnLst>
                          </p:cTn>
                        </p:par>
                        <p:par>
                          <p:cTn id="46" fill="hold">
                            <p:stCondLst>
                              <p:cond delay="4000"/>
                            </p:stCondLst>
                            <p:childTnLst>
                              <p:par>
                                <p:cTn id="47" presetID="18" presetClass="entr" presetSubtype="6" fill="hold" grpId="0" nodeType="afterEffect">
                                  <p:stCondLst>
                                    <p:cond delay="0"/>
                                  </p:stCondLst>
                                  <p:childTnLst>
                                    <p:set>
                                      <p:cBhvr>
                                        <p:cTn id="48" dur="1" fill="hold">
                                          <p:stCondLst>
                                            <p:cond delay="0"/>
                                          </p:stCondLst>
                                        </p:cTn>
                                        <p:tgtEl>
                                          <p:spTgt spid="180232"/>
                                        </p:tgtEl>
                                        <p:attrNameLst>
                                          <p:attrName>style.visibility</p:attrName>
                                        </p:attrNameLst>
                                      </p:cBhvr>
                                      <p:to>
                                        <p:strVal val="visible"/>
                                      </p:to>
                                    </p:set>
                                    <p:animEffect>
                                      <p:cBhvr>
                                        <p:cTn id="49" dur="1000"/>
                                        <p:tgtEl>
                                          <p:spTgt spid="180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31" grpId="0" bldLvl="0" animBg="1"/>
      <p:bldP spid="180232" grpId="0" bldLvl="0"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Oval 2"/>
          <p:cNvSpPr>
            <a:spLocks noChangeArrowheads="1"/>
          </p:cNvSpPr>
          <p:nvPr/>
        </p:nvSpPr>
        <p:spPr bwMode="auto">
          <a:xfrm>
            <a:off x="1703388" y="1630363"/>
            <a:ext cx="1368425" cy="4103687"/>
          </a:xfrm>
          <a:prstGeom prst="ellipse">
            <a:avLst/>
          </a:prstGeom>
          <a:solidFill>
            <a:srgbClr val="00FF00"/>
          </a:solidFill>
          <a:ln w="9525">
            <a:solidFill>
              <a:schemeClr val="tx1"/>
            </a:solidFill>
            <a:round/>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146435" name="Oval 3"/>
          <p:cNvSpPr>
            <a:spLocks noChangeArrowheads="1"/>
          </p:cNvSpPr>
          <p:nvPr/>
        </p:nvSpPr>
        <p:spPr bwMode="auto">
          <a:xfrm>
            <a:off x="1919288" y="4799013"/>
            <a:ext cx="935037" cy="433387"/>
          </a:xfrm>
          <a:prstGeom prst="ellipse">
            <a:avLst/>
          </a:prstGeom>
          <a:solidFill>
            <a:srgbClr val="FFFF99"/>
          </a:solidFill>
          <a:ln w="9525">
            <a:solidFill>
              <a:schemeClr val="tx1"/>
            </a:solidFill>
            <a:round/>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176132" name="Rectangle 4"/>
          <p:cNvSpPr>
            <a:spLocks noChangeArrowheads="1"/>
          </p:cNvSpPr>
          <p:nvPr/>
        </p:nvSpPr>
        <p:spPr bwMode="auto">
          <a:xfrm>
            <a:off x="1524000" y="260350"/>
            <a:ext cx="8686800" cy="549275"/>
          </a:xfrm>
          <a:prstGeom prst="rect">
            <a:avLst/>
          </a:prstGeom>
          <a:noFill/>
          <a:ln w="9525">
            <a:noFill/>
            <a:miter lim="800000"/>
          </a:ln>
          <a:effectLst/>
        </p:spPr>
        <p:txBody>
          <a:bodyPr anchor="ctr"/>
          <a:lstStyle/>
          <a:p>
            <a:pPr eaLnBrk="1" hangingPunct="1">
              <a:defRPr/>
            </a:pPr>
            <a:endParaRPr kumimoji="1" lang="zh-CN" altLang="zh-CN" sz="2400" b="1">
              <a:solidFill>
                <a:schemeClr val="accent2"/>
              </a:solidFill>
              <a:effectLst>
                <a:outerShdw blurRad="38100" dist="38100" dir="2700000" algn="tl">
                  <a:srgbClr val="C0C0C0"/>
                </a:outerShdw>
              </a:effectLst>
              <a:latin typeface="华文中宋" panose="02010600040101010101" pitchFamily="2" charset="-122"/>
              <a:ea typeface="华文中宋" panose="02010600040101010101" pitchFamily="2" charset="-122"/>
            </a:endParaRPr>
          </a:p>
        </p:txBody>
      </p:sp>
      <p:sp>
        <p:nvSpPr>
          <p:cNvPr id="146437" name="Rectangle 5"/>
          <p:cNvSpPr>
            <a:spLocks noChangeArrowheads="1"/>
          </p:cNvSpPr>
          <p:nvPr/>
        </p:nvSpPr>
        <p:spPr bwMode="auto">
          <a:xfrm>
            <a:off x="3071813" y="2278063"/>
            <a:ext cx="4895850" cy="3168650"/>
          </a:xfrm>
          <a:prstGeom prst="rect">
            <a:avLst/>
          </a:prstGeom>
          <a:solidFill>
            <a:srgbClr val="5DAF35"/>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146438" name="Rectangle 6"/>
          <p:cNvSpPr>
            <a:spLocks noChangeArrowheads="1"/>
          </p:cNvSpPr>
          <p:nvPr/>
        </p:nvSpPr>
        <p:spPr bwMode="auto">
          <a:xfrm>
            <a:off x="3255963" y="2565400"/>
            <a:ext cx="865187"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Telnet</a:t>
            </a:r>
            <a:endParaRPr lang="en-US" altLang="zh-CN" sz="1800" b="1">
              <a:latin typeface="华文中宋" panose="02010600040101010101" pitchFamily="2" charset="-122"/>
              <a:ea typeface="华文中宋" panose="02010600040101010101" pitchFamily="2" charset="-122"/>
            </a:endParaRPr>
          </a:p>
        </p:txBody>
      </p:sp>
      <p:sp>
        <p:nvSpPr>
          <p:cNvPr id="146439" name="Rectangle 7"/>
          <p:cNvSpPr>
            <a:spLocks noChangeArrowheads="1"/>
          </p:cNvSpPr>
          <p:nvPr/>
        </p:nvSpPr>
        <p:spPr bwMode="auto">
          <a:xfrm>
            <a:off x="6783388" y="2565400"/>
            <a:ext cx="865187"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SMTP</a:t>
            </a:r>
            <a:endParaRPr lang="en-US" altLang="zh-CN" sz="1800" b="1">
              <a:latin typeface="华文中宋" panose="02010600040101010101" pitchFamily="2" charset="-122"/>
              <a:ea typeface="华文中宋" panose="02010600040101010101" pitchFamily="2" charset="-122"/>
            </a:endParaRPr>
          </a:p>
        </p:txBody>
      </p:sp>
      <p:sp>
        <p:nvSpPr>
          <p:cNvPr id="146440" name="Rectangle 8"/>
          <p:cNvSpPr>
            <a:spLocks noChangeArrowheads="1"/>
          </p:cNvSpPr>
          <p:nvPr/>
        </p:nvSpPr>
        <p:spPr bwMode="auto">
          <a:xfrm>
            <a:off x="5561013" y="2565400"/>
            <a:ext cx="865187"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DNS</a:t>
            </a:r>
            <a:endParaRPr lang="en-US" altLang="zh-CN" sz="1800" b="1">
              <a:latin typeface="华文中宋" panose="02010600040101010101" pitchFamily="2" charset="-122"/>
              <a:ea typeface="华文中宋" panose="02010600040101010101" pitchFamily="2" charset="-122"/>
            </a:endParaRPr>
          </a:p>
        </p:txBody>
      </p:sp>
      <p:sp>
        <p:nvSpPr>
          <p:cNvPr id="146441" name="Rectangle 9"/>
          <p:cNvSpPr>
            <a:spLocks noChangeArrowheads="1"/>
          </p:cNvSpPr>
          <p:nvPr/>
        </p:nvSpPr>
        <p:spPr bwMode="auto">
          <a:xfrm>
            <a:off x="4408488" y="2565400"/>
            <a:ext cx="865187"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FTP</a:t>
            </a:r>
            <a:endParaRPr lang="en-US" altLang="zh-CN" sz="1800" b="1">
              <a:latin typeface="华文中宋" panose="02010600040101010101" pitchFamily="2" charset="-122"/>
              <a:ea typeface="华文中宋" panose="02010600040101010101" pitchFamily="2" charset="-122"/>
            </a:endParaRPr>
          </a:p>
        </p:txBody>
      </p:sp>
      <p:sp>
        <p:nvSpPr>
          <p:cNvPr id="146442" name="Line 10"/>
          <p:cNvSpPr>
            <a:spLocks noChangeShapeType="1"/>
          </p:cNvSpPr>
          <p:nvPr/>
        </p:nvSpPr>
        <p:spPr bwMode="auto">
          <a:xfrm>
            <a:off x="3040063" y="3141663"/>
            <a:ext cx="48958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443" name="Line 11"/>
          <p:cNvSpPr>
            <a:spLocks noChangeShapeType="1"/>
          </p:cNvSpPr>
          <p:nvPr/>
        </p:nvSpPr>
        <p:spPr bwMode="auto">
          <a:xfrm>
            <a:off x="3071813" y="3862388"/>
            <a:ext cx="48958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444" name="Line 12"/>
          <p:cNvSpPr>
            <a:spLocks noChangeShapeType="1"/>
          </p:cNvSpPr>
          <p:nvPr/>
        </p:nvSpPr>
        <p:spPr bwMode="auto">
          <a:xfrm>
            <a:off x="3040063" y="4654550"/>
            <a:ext cx="48958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445" name="Rectangle 13"/>
          <p:cNvSpPr>
            <a:spLocks noChangeArrowheads="1"/>
          </p:cNvSpPr>
          <p:nvPr/>
        </p:nvSpPr>
        <p:spPr bwMode="auto">
          <a:xfrm>
            <a:off x="4624388" y="4078288"/>
            <a:ext cx="1008062" cy="360362"/>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UDP</a:t>
            </a:r>
            <a:endParaRPr lang="en-US" altLang="zh-CN" sz="1800" b="1">
              <a:latin typeface="华文中宋" panose="02010600040101010101" pitchFamily="2" charset="-122"/>
              <a:ea typeface="华文中宋" panose="02010600040101010101" pitchFamily="2" charset="-122"/>
            </a:endParaRPr>
          </a:p>
        </p:txBody>
      </p:sp>
      <p:sp>
        <p:nvSpPr>
          <p:cNvPr id="146446" name="Rectangle 14"/>
          <p:cNvSpPr>
            <a:spLocks noChangeArrowheads="1"/>
          </p:cNvSpPr>
          <p:nvPr/>
        </p:nvSpPr>
        <p:spPr bwMode="auto">
          <a:xfrm>
            <a:off x="3255963" y="4078288"/>
            <a:ext cx="1008062" cy="360362"/>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TCP</a:t>
            </a:r>
            <a:endParaRPr lang="en-US" altLang="zh-CN" sz="1800" b="1">
              <a:latin typeface="华文中宋" panose="02010600040101010101" pitchFamily="2" charset="-122"/>
              <a:ea typeface="华文中宋" panose="02010600040101010101" pitchFamily="2" charset="-122"/>
            </a:endParaRPr>
          </a:p>
        </p:txBody>
      </p:sp>
      <p:sp>
        <p:nvSpPr>
          <p:cNvPr id="146447" name="Rectangle 15"/>
          <p:cNvSpPr>
            <a:spLocks noChangeArrowheads="1"/>
          </p:cNvSpPr>
          <p:nvPr/>
        </p:nvSpPr>
        <p:spPr bwMode="auto">
          <a:xfrm>
            <a:off x="6064250" y="4078288"/>
            <a:ext cx="1368425" cy="360362"/>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IP</a:t>
            </a:r>
            <a:endParaRPr lang="en-US" altLang="zh-CN" sz="1800" b="1">
              <a:latin typeface="华文中宋" panose="02010600040101010101" pitchFamily="2" charset="-122"/>
              <a:ea typeface="华文中宋" panose="02010600040101010101" pitchFamily="2" charset="-122"/>
            </a:endParaRPr>
          </a:p>
        </p:txBody>
      </p:sp>
      <p:sp>
        <p:nvSpPr>
          <p:cNvPr id="146448" name="Rectangle 16"/>
          <p:cNvSpPr>
            <a:spLocks noChangeArrowheads="1"/>
          </p:cNvSpPr>
          <p:nvPr/>
        </p:nvSpPr>
        <p:spPr bwMode="auto">
          <a:xfrm>
            <a:off x="6854825" y="4870450"/>
            <a:ext cx="865188"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以太网</a:t>
            </a:r>
            <a:endParaRPr lang="zh-CN" altLang="en-US" sz="1800" b="1">
              <a:latin typeface="华文中宋" panose="02010600040101010101" pitchFamily="2" charset="-122"/>
              <a:ea typeface="华文中宋" panose="02010600040101010101" pitchFamily="2" charset="-122"/>
            </a:endParaRPr>
          </a:p>
        </p:txBody>
      </p:sp>
      <p:sp>
        <p:nvSpPr>
          <p:cNvPr id="146449" name="Rectangle 17"/>
          <p:cNvSpPr>
            <a:spLocks noChangeArrowheads="1"/>
          </p:cNvSpPr>
          <p:nvPr/>
        </p:nvSpPr>
        <p:spPr bwMode="auto">
          <a:xfrm>
            <a:off x="5630863" y="4870450"/>
            <a:ext cx="1009650"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无线网络</a:t>
            </a:r>
            <a:endParaRPr lang="zh-CN" altLang="en-US" sz="1800" b="1">
              <a:latin typeface="华文中宋" panose="02010600040101010101" pitchFamily="2" charset="-122"/>
              <a:ea typeface="华文中宋" panose="02010600040101010101" pitchFamily="2" charset="-122"/>
            </a:endParaRPr>
          </a:p>
        </p:txBody>
      </p:sp>
      <p:sp>
        <p:nvSpPr>
          <p:cNvPr id="146450" name="Rectangle 18"/>
          <p:cNvSpPr>
            <a:spLocks noChangeArrowheads="1"/>
          </p:cNvSpPr>
          <p:nvPr/>
        </p:nvSpPr>
        <p:spPr bwMode="auto">
          <a:xfrm>
            <a:off x="4479925" y="4870450"/>
            <a:ext cx="865188"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SATNET</a:t>
            </a:r>
            <a:endParaRPr lang="en-US" altLang="zh-CN" sz="1800" b="1">
              <a:latin typeface="华文中宋" panose="02010600040101010101" pitchFamily="2" charset="-122"/>
              <a:ea typeface="华文中宋" panose="02010600040101010101" pitchFamily="2" charset="-122"/>
            </a:endParaRPr>
          </a:p>
        </p:txBody>
      </p:sp>
      <p:sp>
        <p:nvSpPr>
          <p:cNvPr id="146451" name="Rectangle 19"/>
          <p:cNvSpPr>
            <a:spLocks noChangeArrowheads="1"/>
          </p:cNvSpPr>
          <p:nvPr/>
        </p:nvSpPr>
        <p:spPr bwMode="auto">
          <a:xfrm>
            <a:off x="3254375" y="4870450"/>
            <a:ext cx="938213"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ARPNET</a:t>
            </a:r>
            <a:endParaRPr lang="en-US" altLang="zh-CN" sz="1800" b="1">
              <a:latin typeface="华文中宋" panose="02010600040101010101" pitchFamily="2" charset="-122"/>
              <a:ea typeface="华文中宋" panose="02010600040101010101" pitchFamily="2" charset="-122"/>
            </a:endParaRPr>
          </a:p>
        </p:txBody>
      </p:sp>
      <p:sp>
        <p:nvSpPr>
          <p:cNvPr id="176148" name="AutoShape 20"/>
          <p:cNvSpPr>
            <a:spLocks noChangeArrowheads="1"/>
          </p:cNvSpPr>
          <p:nvPr/>
        </p:nvSpPr>
        <p:spPr bwMode="auto">
          <a:xfrm rot="10800000">
            <a:off x="7751763" y="2566988"/>
            <a:ext cx="1081087" cy="360362"/>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folHlink"/>
          </a:solidFill>
          <a:ln w="9525">
            <a:solidFill>
              <a:srgbClr val="FF0000"/>
            </a:solidFill>
            <a:miter lim="800000"/>
          </a:ln>
        </p:spPr>
        <p:txBody>
          <a:bodyPr wrap="none" anchor="ctr"/>
          <a:lstStyle/>
          <a:p>
            <a:endParaRPr lang="zh-CN" altLang="en-US"/>
          </a:p>
        </p:txBody>
      </p:sp>
      <p:sp>
        <p:nvSpPr>
          <p:cNvPr id="176149" name="AutoShape 21"/>
          <p:cNvSpPr>
            <a:spLocks noChangeArrowheads="1"/>
          </p:cNvSpPr>
          <p:nvPr/>
        </p:nvSpPr>
        <p:spPr bwMode="auto">
          <a:xfrm rot="10800000">
            <a:off x="7791450" y="4870450"/>
            <a:ext cx="1081088" cy="360363"/>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folHlink"/>
          </a:solidFill>
          <a:ln w="9525">
            <a:solidFill>
              <a:srgbClr val="FF0000"/>
            </a:solidFill>
            <a:miter lim="800000"/>
          </a:ln>
        </p:spPr>
        <p:txBody>
          <a:bodyPr wrap="none" anchor="ctr"/>
          <a:lstStyle/>
          <a:p>
            <a:endParaRPr lang="zh-CN" altLang="en-US"/>
          </a:p>
        </p:txBody>
      </p:sp>
      <p:sp>
        <p:nvSpPr>
          <p:cNvPr id="176150" name="AutoShape 22"/>
          <p:cNvSpPr>
            <a:spLocks noChangeArrowheads="1"/>
          </p:cNvSpPr>
          <p:nvPr/>
        </p:nvSpPr>
        <p:spPr bwMode="auto">
          <a:xfrm rot="10800000">
            <a:off x="7791450" y="3286125"/>
            <a:ext cx="1081088" cy="360363"/>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folHlink"/>
          </a:solidFill>
          <a:ln w="9525">
            <a:solidFill>
              <a:srgbClr val="FF0000"/>
            </a:solidFill>
            <a:miter lim="800000"/>
          </a:ln>
        </p:spPr>
        <p:txBody>
          <a:bodyPr wrap="none" anchor="ctr"/>
          <a:lstStyle/>
          <a:p>
            <a:endParaRPr lang="zh-CN" altLang="en-US"/>
          </a:p>
        </p:txBody>
      </p:sp>
      <p:sp>
        <p:nvSpPr>
          <p:cNvPr id="176151" name="AutoShape 23"/>
          <p:cNvSpPr>
            <a:spLocks noChangeArrowheads="1"/>
          </p:cNvSpPr>
          <p:nvPr/>
        </p:nvSpPr>
        <p:spPr bwMode="auto">
          <a:xfrm rot="10800000">
            <a:off x="7791450" y="4078288"/>
            <a:ext cx="1081088" cy="360362"/>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folHlink"/>
          </a:solidFill>
          <a:ln w="9525">
            <a:solidFill>
              <a:srgbClr val="FF0000"/>
            </a:solidFill>
            <a:miter lim="800000"/>
          </a:ln>
        </p:spPr>
        <p:txBody>
          <a:bodyPr wrap="none" anchor="ctr"/>
          <a:lstStyle/>
          <a:p>
            <a:endParaRPr lang="zh-CN" altLang="en-US"/>
          </a:p>
        </p:txBody>
      </p:sp>
      <p:sp>
        <p:nvSpPr>
          <p:cNvPr id="146456" name="Text Box 24"/>
          <p:cNvSpPr txBox="1">
            <a:spLocks noChangeArrowheads="1"/>
          </p:cNvSpPr>
          <p:nvPr/>
        </p:nvSpPr>
        <p:spPr bwMode="auto">
          <a:xfrm>
            <a:off x="8801100" y="2509838"/>
            <a:ext cx="155829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应用程序攻击</a:t>
            </a:r>
            <a:endParaRPr lang="zh-CN" altLang="en-US" sz="1800" b="1">
              <a:latin typeface="华文中宋" panose="02010600040101010101" pitchFamily="2" charset="-122"/>
              <a:ea typeface="华文中宋" panose="02010600040101010101" pitchFamily="2" charset="-122"/>
            </a:endParaRPr>
          </a:p>
        </p:txBody>
      </p:sp>
      <p:sp>
        <p:nvSpPr>
          <p:cNvPr id="146457" name="Text Box 25"/>
          <p:cNvSpPr txBox="1">
            <a:spLocks noChangeArrowheads="1"/>
          </p:cNvSpPr>
          <p:nvPr/>
        </p:nvSpPr>
        <p:spPr bwMode="auto">
          <a:xfrm>
            <a:off x="8872538" y="4021138"/>
            <a:ext cx="1787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监听，拒绝服务</a:t>
            </a:r>
            <a:endParaRPr lang="zh-CN" altLang="en-US" sz="1800" b="1">
              <a:latin typeface="华文中宋" panose="02010600040101010101" pitchFamily="2" charset="-122"/>
              <a:ea typeface="华文中宋" panose="02010600040101010101" pitchFamily="2" charset="-122"/>
            </a:endParaRPr>
          </a:p>
        </p:txBody>
      </p:sp>
      <p:sp>
        <p:nvSpPr>
          <p:cNvPr id="146458" name="Text Box 26"/>
          <p:cNvSpPr txBox="1">
            <a:spLocks noChangeArrowheads="1"/>
          </p:cNvSpPr>
          <p:nvPr/>
        </p:nvSpPr>
        <p:spPr bwMode="auto">
          <a:xfrm>
            <a:off x="8801100" y="3228975"/>
            <a:ext cx="155829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系统漏洞利用</a:t>
            </a:r>
            <a:endParaRPr lang="zh-CN" altLang="en-US" sz="1800" b="1">
              <a:latin typeface="华文中宋" panose="02010600040101010101" pitchFamily="2" charset="-122"/>
              <a:ea typeface="华文中宋" panose="02010600040101010101" pitchFamily="2" charset="-122"/>
            </a:endParaRPr>
          </a:p>
        </p:txBody>
      </p:sp>
      <p:sp>
        <p:nvSpPr>
          <p:cNvPr id="146459" name="Text Box 27"/>
          <p:cNvSpPr txBox="1">
            <a:spLocks noChangeArrowheads="1"/>
          </p:cNvSpPr>
          <p:nvPr/>
        </p:nvSpPr>
        <p:spPr bwMode="auto">
          <a:xfrm>
            <a:off x="8872538" y="4725988"/>
            <a:ext cx="172720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硬件设备破坏</a:t>
            </a:r>
            <a:endParaRPr lang="zh-CN" altLang="en-US" sz="1800" b="1">
              <a:latin typeface="华文中宋" panose="02010600040101010101" pitchFamily="2" charset="-122"/>
              <a:ea typeface="华文中宋" panose="02010600040101010101" pitchFamily="2" charset="-122"/>
            </a:endParaRPr>
          </a:p>
          <a:p>
            <a:pP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电磁监听</a:t>
            </a:r>
            <a:endParaRPr lang="zh-CN" altLang="en-US" sz="1800" b="1">
              <a:latin typeface="华文中宋" panose="02010600040101010101" pitchFamily="2" charset="-122"/>
              <a:ea typeface="华文中宋" panose="02010600040101010101" pitchFamily="2" charset="-122"/>
            </a:endParaRPr>
          </a:p>
          <a:p>
            <a:pP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物理窃取</a:t>
            </a:r>
            <a:endParaRPr lang="zh-CN" altLang="en-US" sz="1800" b="1">
              <a:latin typeface="华文中宋" panose="02010600040101010101" pitchFamily="2" charset="-122"/>
              <a:ea typeface="华文中宋" panose="02010600040101010101" pitchFamily="2" charset="-122"/>
            </a:endParaRPr>
          </a:p>
        </p:txBody>
      </p:sp>
      <p:sp>
        <p:nvSpPr>
          <p:cNvPr id="146460" name="Rectangle 28"/>
          <p:cNvSpPr>
            <a:spLocks noChangeArrowheads="1"/>
          </p:cNvSpPr>
          <p:nvPr/>
        </p:nvSpPr>
        <p:spPr bwMode="auto">
          <a:xfrm>
            <a:off x="3255963" y="3286125"/>
            <a:ext cx="1079500"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Windows</a:t>
            </a:r>
            <a:endParaRPr lang="en-US" altLang="zh-CN" sz="1800" b="1">
              <a:latin typeface="华文中宋" panose="02010600040101010101" pitchFamily="2" charset="-122"/>
              <a:ea typeface="华文中宋" panose="02010600040101010101" pitchFamily="2" charset="-122"/>
            </a:endParaRPr>
          </a:p>
        </p:txBody>
      </p:sp>
      <p:sp>
        <p:nvSpPr>
          <p:cNvPr id="146461" name="Rectangle 29"/>
          <p:cNvSpPr>
            <a:spLocks noChangeArrowheads="1"/>
          </p:cNvSpPr>
          <p:nvPr/>
        </p:nvSpPr>
        <p:spPr bwMode="auto">
          <a:xfrm>
            <a:off x="4624388" y="3286125"/>
            <a:ext cx="792162"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*nix</a:t>
            </a:r>
            <a:endParaRPr lang="en-US" altLang="zh-CN" sz="1800" b="1">
              <a:latin typeface="华文中宋" panose="02010600040101010101" pitchFamily="2" charset="-122"/>
              <a:ea typeface="华文中宋" panose="02010600040101010101" pitchFamily="2" charset="-122"/>
            </a:endParaRPr>
          </a:p>
        </p:txBody>
      </p:sp>
      <p:sp>
        <p:nvSpPr>
          <p:cNvPr id="146462" name="Rectangle 30"/>
          <p:cNvSpPr>
            <a:spLocks noChangeArrowheads="1"/>
          </p:cNvSpPr>
          <p:nvPr/>
        </p:nvSpPr>
        <p:spPr bwMode="auto">
          <a:xfrm>
            <a:off x="6711950" y="3286125"/>
            <a:ext cx="865188"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*BSD</a:t>
            </a:r>
            <a:endParaRPr lang="en-US" altLang="zh-CN" sz="1800" b="1">
              <a:latin typeface="华文中宋" panose="02010600040101010101" pitchFamily="2" charset="-122"/>
              <a:ea typeface="华文中宋" panose="02010600040101010101" pitchFamily="2" charset="-122"/>
            </a:endParaRPr>
          </a:p>
        </p:txBody>
      </p:sp>
      <p:sp>
        <p:nvSpPr>
          <p:cNvPr id="146463" name="Rectangle 31"/>
          <p:cNvSpPr>
            <a:spLocks noChangeArrowheads="1"/>
          </p:cNvSpPr>
          <p:nvPr/>
        </p:nvSpPr>
        <p:spPr bwMode="auto">
          <a:xfrm>
            <a:off x="5632450" y="3286125"/>
            <a:ext cx="792163" cy="360363"/>
          </a:xfrm>
          <a:prstGeom prst="rect">
            <a:avLst/>
          </a:prstGeom>
          <a:solidFill>
            <a:schemeClr val="accent1"/>
          </a:solidFill>
          <a:ln w="9525">
            <a:solidFill>
              <a:schemeClr val="tx1"/>
            </a:solidFill>
            <a:miter lim="800000"/>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ctr" eaLnBrk="1" hangingPunct="1">
              <a:spcBef>
                <a:spcPct val="0"/>
              </a:spcBef>
              <a:buClrTx/>
              <a:buFontTx/>
              <a:buNone/>
            </a:pPr>
            <a:r>
              <a:rPr lang="en-US" altLang="zh-CN" sz="1800" b="1">
                <a:latin typeface="华文中宋" panose="02010600040101010101" pitchFamily="2" charset="-122"/>
                <a:ea typeface="华文中宋" panose="02010600040101010101" pitchFamily="2" charset="-122"/>
              </a:rPr>
              <a:t>Linux</a:t>
            </a:r>
            <a:endParaRPr lang="en-US" altLang="zh-CN" sz="1800" b="1">
              <a:latin typeface="华文中宋" panose="02010600040101010101" pitchFamily="2" charset="-122"/>
              <a:ea typeface="华文中宋" panose="02010600040101010101" pitchFamily="2" charset="-122"/>
            </a:endParaRPr>
          </a:p>
        </p:txBody>
      </p:sp>
      <p:sp>
        <p:nvSpPr>
          <p:cNvPr id="146464" name="Oval 32"/>
          <p:cNvSpPr>
            <a:spLocks noChangeArrowheads="1"/>
          </p:cNvSpPr>
          <p:nvPr/>
        </p:nvSpPr>
        <p:spPr bwMode="auto">
          <a:xfrm>
            <a:off x="1992313" y="2493963"/>
            <a:ext cx="862012" cy="431800"/>
          </a:xfrm>
          <a:prstGeom prst="ellipse">
            <a:avLst/>
          </a:prstGeom>
          <a:solidFill>
            <a:srgbClr val="FFFF99"/>
          </a:solidFill>
          <a:ln w="9525">
            <a:solidFill>
              <a:schemeClr val="tx1"/>
            </a:solidFill>
            <a:round/>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146465" name="Text Box 33"/>
          <p:cNvSpPr txBox="1">
            <a:spLocks noChangeArrowheads="1"/>
          </p:cNvSpPr>
          <p:nvPr/>
        </p:nvSpPr>
        <p:spPr bwMode="auto">
          <a:xfrm>
            <a:off x="1992313" y="2509838"/>
            <a:ext cx="8705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应用层</a:t>
            </a:r>
            <a:endParaRPr lang="zh-CN" altLang="en-US" sz="1800" b="1">
              <a:latin typeface="华文中宋" panose="02010600040101010101" pitchFamily="2" charset="-122"/>
              <a:ea typeface="华文中宋" panose="02010600040101010101" pitchFamily="2" charset="-122"/>
            </a:endParaRPr>
          </a:p>
        </p:txBody>
      </p:sp>
      <p:sp>
        <p:nvSpPr>
          <p:cNvPr id="146466" name="Oval 34"/>
          <p:cNvSpPr>
            <a:spLocks noChangeArrowheads="1"/>
          </p:cNvSpPr>
          <p:nvPr/>
        </p:nvSpPr>
        <p:spPr bwMode="auto">
          <a:xfrm>
            <a:off x="1919288" y="3359150"/>
            <a:ext cx="935037" cy="433388"/>
          </a:xfrm>
          <a:prstGeom prst="ellipse">
            <a:avLst/>
          </a:prstGeom>
          <a:solidFill>
            <a:srgbClr val="FFFF99"/>
          </a:solidFill>
          <a:ln w="9525">
            <a:solidFill>
              <a:schemeClr val="tx1"/>
            </a:solidFill>
            <a:round/>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146467" name="Text Box 35"/>
          <p:cNvSpPr txBox="1">
            <a:spLocks noChangeArrowheads="1"/>
          </p:cNvSpPr>
          <p:nvPr/>
        </p:nvSpPr>
        <p:spPr bwMode="auto">
          <a:xfrm>
            <a:off x="1992313" y="3375025"/>
            <a:ext cx="8705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系统层</a:t>
            </a:r>
            <a:endParaRPr lang="zh-CN" altLang="en-US" sz="1800" b="1">
              <a:latin typeface="华文中宋" panose="02010600040101010101" pitchFamily="2" charset="-122"/>
              <a:ea typeface="华文中宋" panose="02010600040101010101" pitchFamily="2" charset="-122"/>
            </a:endParaRPr>
          </a:p>
        </p:txBody>
      </p:sp>
      <p:sp>
        <p:nvSpPr>
          <p:cNvPr id="146468" name="Oval 36"/>
          <p:cNvSpPr>
            <a:spLocks noChangeArrowheads="1"/>
          </p:cNvSpPr>
          <p:nvPr/>
        </p:nvSpPr>
        <p:spPr bwMode="auto">
          <a:xfrm>
            <a:off x="1919288" y="4078288"/>
            <a:ext cx="935037" cy="433387"/>
          </a:xfrm>
          <a:prstGeom prst="ellipse">
            <a:avLst/>
          </a:prstGeom>
          <a:solidFill>
            <a:srgbClr val="FFFF99"/>
          </a:solidFill>
          <a:ln w="9525">
            <a:solidFill>
              <a:schemeClr val="tx1"/>
            </a:solidFill>
            <a:round/>
          </a:ln>
        </p:spPr>
        <p:txBody>
          <a:bodyPr wrap="none" anchor="ct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146469" name="Text Box 37"/>
          <p:cNvSpPr txBox="1">
            <a:spLocks noChangeArrowheads="1"/>
          </p:cNvSpPr>
          <p:nvPr/>
        </p:nvSpPr>
        <p:spPr bwMode="auto">
          <a:xfrm>
            <a:off x="1992313" y="4094163"/>
            <a:ext cx="8705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网络层</a:t>
            </a:r>
            <a:endParaRPr lang="zh-CN" altLang="en-US" sz="1800" b="1">
              <a:latin typeface="华文中宋" panose="02010600040101010101" pitchFamily="2" charset="-122"/>
              <a:ea typeface="华文中宋" panose="02010600040101010101" pitchFamily="2" charset="-122"/>
            </a:endParaRPr>
          </a:p>
        </p:txBody>
      </p:sp>
      <p:sp>
        <p:nvSpPr>
          <p:cNvPr id="146470" name="Text Box 38"/>
          <p:cNvSpPr txBox="1">
            <a:spLocks noChangeArrowheads="1"/>
          </p:cNvSpPr>
          <p:nvPr/>
        </p:nvSpPr>
        <p:spPr bwMode="auto">
          <a:xfrm>
            <a:off x="1992313" y="4814888"/>
            <a:ext cx="8705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华文中宋" panose="02010600040101010101" pitchFamily="2" charset="-122"/>
                <a:ea typeface="华文中宋" panose="02010600040101010101" pitchFamily="2" charset="-122"/>
              </a:rPr>
              <a:t>物理层</a:t>
            </a:r>
            <a:endParaRPr lang="zh-CN" altLang="en-US" sz="1800" b="1">
              <a:latin typeface="华文中宋" panose="02010600040101010101" pitchFamily="2" charset="-122"/>
              <a:ea typeface="华文中宋" panose="02010600040101010101" pitchFamily="2" charset="-122"/>
            </a:endParaRPr>
          </a:p>
        </p:txBody>
      </p:sp>
      <p:sp>
        <p:nvSpPr>
          <p:cNvPr id="146471" name="Text Box 39"/>
          <p:cNvSpPr txBox="1">
            <a:spLocks noChangeArrowheads="1"/>
          </p:cNvSpPr>
          <p:nvPr/>
        </p:nvSpPr>
        <p:spPr bwMode="auto">
          <a:xfrm>
            <a:off x="1919288" y="1917700"/>
            <a:ext cx="935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Tx/>
              <a:buNone/>
            </a:pPr>
            <a:r>
              <a:rPr kumimoji="1" lang="zh-CN" altLang="en-US" sz="1800" b="1">
                <a:latin typeface="华文中宋" panose="02010600040101010101" pitchFamily="2" charset="-122"/>
                <a:ea typeface="华文中宋" panose="02010600040101010101" pitchFamily="2" charset="-122"/>
              </a:rPr>
              <a:t>管理层</a:t>
            </a:r>
            <a:endParaRPr kumimoji="1" lang="zh-CN" altLang="en-US" sz="1800" b="1">
              <a:latin typeface="华文中宋" panose="02010600040101010101" pitchFamily="2" charset="-122"/>
              <a:ea typeface="华文中宋" panose="02010600040101010101" pitchFamily="2" charset="-122"/>
            </a:endParaRPr>
          </a:p>
        </p:txBody>
      </p:sp>
      <p:sp>
        <p:nvSpPr>
          <p:cNvPr id="146472" name="Rectangle 40"/>
          <p:cNvSpPr>
            <a:spLocks noGrp="1" noChangeArrowheads="1"/>
          </p:cNvSpPr>
          <p:nvPr>
            <p:ph type="title"/>
          </p:nvPr>
        </p:nvSpPr>
        <p:spPr>
          <a:xfrm>
            <a:off x="1806575" y="749300"/>
            <a:ext cx="7772400" cy="765175"/>
          </a:xfrm>
        </p:spPr>
        <p:txBody>
          <a:bodyPr/>
          <a:lstStyle/>
          <a:p>
            <a:pPr eaLnBrk="1" hangingPunct="1"/>
            <a:r>
              <a:rPr lang="zh-CN" altLang="en-US">
                <a:solidFill>
                  <a:srgbClr val="FF0000"/>
                </a:solidFill>
              </a:rPr>
              <a:t>信息系统每个层次都存在威胁</a:t>
            </a:r>
            <a:endParaRPr lang="zh-CN" altLang="en-US">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176148"/>
                                        </p:tgtEl>
                                        <p:attrNameLst>
                                          <p:attrName>style.visibility</p:attrName>
                                        </p:attrNameLst>
                                      </p:cBhvr>
                                      <p:to>
                                        <p:strVal val="visible"/>
                                      </p:to>
                                    </p:set>
                                    <p:animEffect transition="in" filter="strips(downLeft)">
                                      <p:cBhvr>
                                        <p:cTn id="7" dur="500"/>
                                        <p:tgtEl>
                                          <p:spTgt spid="176148"/>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176150"/>
                                        </p:tgtEl>
                                        <p:attrNameLst>
                                          <p:attrName>style.visibility</p:attrName>
                                        </p:attrNameLst>
                                      </p:cBhvr>
                                      <p:to>
                                        <p:strVal val="visible"/>
                                      </p:to>
                                    </p:set>
                                    <p:animEffect transition="in" filter="strips(downLeft)">
                                      <p:cBhvr>
                                        <p:cTn id="11" dur="500"/>
                                        <p:tgtEl>
                                          <p:spTgt spid="176150"/>
                                        </p:tgtEl>
                                      </p:cBhvr>
                                    </p:animEffect>
                                  </p:childTnLst>
                                </p:cTn>
                              </p:par>
                            </p:childTnLst>
                          </p:cTn>
                        </p:par>
                        <p:par>
                          <p:cTn id="12" fill="hold">
                            <p:stCondLst>
                              <p:cond delay="1000"/>
                            </p:stCondLst>
                            <p:childTnLst>
                              <p:par>
                                <p:cTn id="13" presetID="18" presetClass="entr" presetSubtype="12" fill="hold" grpId="0" nodeType="afterEffect">
                                  <p:stCondLst>
                                    <p:cond delay="0"/>
                                  </p:stCondLst>
                                  <p:childTnLst>
                                    <p:set>
                                      <p:cBhvr>
                                        <p:cTn id="14" dur="1" fill="hold">
                                          <p:stCondLst>
                                            <p:cond delay="0"/>
                                          </p:stCondLst>
                                        </p:cTn>
                                        <p:tgtEl>
                                          <p:spTgt spid="176151"/>
                                        </p:tgtEl>
                                        <p:attrNameLst>
                                          <p:attrName>style.visibility</p:attrName>
                                        </p:attrNameLst>
                                      </p:cBhvr>
                                      <p:to>
                                        <p:strVal val="visible"/>
                                      </p:to>
                                    </p:set>
                                    <p:animEffect transition="in" filter="strips(downLeft)">
                                      <p:cBhvr>
                                        <p:cTn id="15" dur="500"/>
                                        <p:tgtEl>
                                          <p:spTgt spid="176151"/>
                                        </p:tgtEl>
                                      </p:cBhvr>
                                    </p:animEffect>
                                  </p:childTnLst>
                                </p:cTn>
                              </p:par>
                            </p:childTnLst>
                          </p:cTn>
                        </p:par>
                        <p:par>
                          <p:cTn id="16" fill="hold">
                            <p:stCondLst>
                              <p:cond delay="1500"/>
                            </p:stCondLst>
                            <p:childTnLst>
                              <p:par>
                                <p:cTn id="17" presetID="18" presetClass="entr" presetSubtype="12" fill="hold" grpId="0" nodeType="afterEffect">
                                  <p:stCondLst>
                                    <p:cond delay="0"/>
                                  </p:stCondLst>
                                  <p:childTnLst>
                                    <p:set>
                                      <p:cBhvr>
                                        <p:cTn id="18" dur="1" fill="hold">
                                          <p:stCondLst>
                                            <p:cond delay="0"/>
                                          </p:stCondLst>
                                        </p:cTn>
                                        <p:tgtEl>
                                          <p:spTgt spid="176149"/>
                                        </p:tgtEl>
                                        <p:attrNameLst>
                                          <p:attrName>style.visibility</p:attrName>
                                        </p:attrNameLst>
                                      </p:cBhvr>
                                      <p:to>
                                        <p:strVal val="visible"/>
                                      </p:to>
                                    </p:set>
                                    <p:animEffect transition="in" filter="strips(downLeft)">
                                      <p:cBhvr>
                                        <p:cTn id="19" dur="500"/>
                                        <p:tgtEl>
                                          <p:spTgt spid="17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48" grpId="0" bldLvl="0" animBg="1"/>
      <p:bldP spid="176149" grpId="0" bldLvl="0" animBg="1"/>
      <p:bldP spid="176150" grpId="0" bldLvl="0" animBg="1"/>
      <p:bldP spid="176151" grpId="0" bldLvl="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Text Box 2"/>
          <p:cNvSpPr>
            <a:spLocks noChangeArrowheads="1"/>
          </p:cNvSpPr>
          <p:nvPr/>
        </p:nvSpPr>
        <p:spPr bwMode="auto">
          <a:xfrm>
            <a:off x="2279650" y="836613"/>
            <a:ext cx="304482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3200" b="1">
                <a:solidFill>
                  <a:srgbClr val="FF0000"/>
                </a:solidFill>
                <a:sym typeface="黑体" panose="02010609060101010101" pitchFamily="49" charset="-122"/>
              </a:rPr>
              <a:t>脆弱性识别    </a:t>
            </a:r>
            <a:endParaRPr lang="zh-CN" altLang="en-US" sz="1800">
              <a:solidFill>
                <a:srgbClr val="FF0000"/>
              </a:solidFill>
              <a:latin typeface="Arial" panose="020B0604020202020204" pitchFamily="34" charset="0"/>
              <a:ea typeface="宋体" panose="02010600030101010101" pitchFamily="2" charset="-122"/>
            </a:endParaRPr>
          </a:p>
        </p:txBody>
      </p:sp>
      <p:sp>
        <p:nvSpPr>
          <p:cNvPr id="87044" name="Text Box 5"/>
          <p:cNvSpPr>
            <a:spLocks noChangeArrowheads="1"/>
          </p:cNvSpPr>
          <p:nvPr/>
        </p:nvSpPr>
        <p:spPr bwMode="auto">
          <a:xfrm>
            <a:off x="2092325" y="2584450"/>
            <a:ext cx="433641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n"/>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 脆弱性识别的难点是什么？  </a:t>
            </a:r>
            <a:endParaRPr lang="zh-CN" altLang="en-US" sz="1800">
              <a:latin typeface="Arial" panose="020B0604020202020204" pitchFamily="34" charset="0"/>
              <a:ea typeface="宋体" panose="02010600030101010101" pitchFamily="2" charset="-122"/>
            </a:endParaRPr>
          </a:p>
        </p:txBody>
      </p:sp>
      <p:sp>
        <p:nvSpPr>
          <p:cNvPr id="87045" name="Text Box 6"/>
          <p:cNvSpPr>
            <a:spLocks noChangeArrowheads="1"/>
          </p:cNvSpPr>
          <p:nvPr/>
        </p:nvSpPr>
        <p:spPr bwMode="auto">
          <a:xfrm>
            <a:off x="2517775" y="3095625"/>
            <a:ext cx="470344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None/>
            </a:pPr>
            <a:r>
              <a:rPr lang="zh-CN" altLang="en-US" sz="2400">
                <a:solidFill>
                  <a:srgbClr val="000000"/>
                </a:solidFill>
                <a:latin typeface="Arial" panose="020B0604020202020204" pitchFamily="34" charset="0"/>
                <a:ea typeface="宋体" panose="02010600030101010101" pitchFamily="2" charset="-122"/>
                <a:sym typeface="黑体" panose="02010609060101010101" pitchFamily="49" charset="-122"/>
              </a:rPr>
              <a:t>三性：隐蔽性、欺骗性、复杂性   </a:t>
            </a:r>
            <a:endParaRPr lang="zh-CN" altLang="en-US" sz="1800">
              <a:latin typeface="Arial" panose="020B0604020202020204" pitchFamily="34" charset="0"/>
              <a:ea typeface="宋体" panose="02010600030101010101" pitchFamily="2" charset="-122"/>
            </a:endParaRPr>
          </a:p>
        </p:txBody>
      </p:sp>
      <p:sp>
        <p:nvSpPr>
          <p:cNvPr id="87046" name="Text Box 7"/>
          <p:cNvSpPr>
            <a:spLocks noChangeArrowheads="1"/>
          </p:cNvSpPr>
          <p:nvPr/>
        </p:nvSpPr>
        <p:spPr bwMode="auto">
          <a:xfrm>
            <a:off x="2089150" y="3581400"/>
            <a:ext cx="433641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n"/>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 脆弱性识别的方法有哪些？  </a:t>
            </a:r>
            <a:endParaRPr lang="zh-CN" altLang="en-US" sz="1800">
              <a:latin typeface="Arial" panose="020B0604020202020204" pitchFamily="34" charset="0"/>
              <a:ea typeface="宋体" panose="02010600030101010101" pitchFamily="2" charset="-122"/>
            </a:endParaRPr>
          </a:p>
        </p:txBody>
      </p:sp>
      <p:sp>
        <p:nvSpPr>
          <p:cNvPr id="87047" name="Text Box 8"/>
          <p:cNvSpPr>
            <a:spLocks noChangeArrowheads="1"/>
          </p:cNvSpPr>
          <p:nvPr/>
        </p:nvSpPr>
        <p:spPr bwMode="auto">
          <a:xfrm>
            <a:off x="2471738" y="4021138"/>
            <a:ext cx="7175500" cy="199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800100" indent="-34290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None/>
            </a:pPr>
            <a:r>
              <a:rPr lang="zh-CN" altLang="en-US" sz="2400">
                <a:solidFill>
                  <a:srgbClr val="000000"/>
                </a:solidFill>
                <a:latin typeface="Arial" panose="020B0604020202020204" pitchFamily="34" charset="0"/>
                <a:ea typeface="宋体" panose="02010600030101010101" pitchFamily="2" charset="-122"/>
                <a:sym typeface="黑体" panose="02010609060101010101" pitchFamily="49" charset="-122"/>
              </a:rPr>
              <a:t>脆弱性分类</a:t>
            </a:r>
            <a:endParaRPr lang="en-US" altLang="zh-CN" sz="2400">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1" eaLnBrk="1" hangingPunct="1">
              <a:spcBef>
                <a:spcPct val="0"/>
              </a:spcBef>
              <a:buClrTx/>
              <a:buFont typeface="Arial" panose="020B0604020202020204" pitchFamily="34" charset="0"/>
              <a:buChar char="•"/>
            </a:pPr>
            <a:r>
              <a:rPr lang="zh-CN" altLang="en-US" sz="2000">
                <a:solidFill>
                  <a:srgbClr val="000000"/>
                </a:solidFill>
                <a:latin typeface="Arial" panose="020B0604020202020204" pitchFamily="34" charset="0"/>
                <a:ea typeface="宋体" panose="02010600030101010101" pitchFamily="2" charset="-122"/>
                <a:sym typeface="黑体" panose="02010609060101010101" pitchFamily="49" charset="-122"/>
              </a:rPr>
              <a:t>管理脆弱性（如缺少管理制度）</a:t>
            </a:r>
            <a:endParaRPr lang="en-US" altLang="zh-CN" sz="2000">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1" eaLnBrk="1" hangingPunct="1">
              <a:spcBef>
                <a:spcPct val="0"/>
              </a:spcBef>
              <a:buClrTx/>
              <a:buFont typeface="Arial" panose="020B0604020202020204" pitchFamily="34" charset="0"/>
              <a:buChar char="•"/>
            </a:pPr>
            <a:r>
              <a:rPr lang="zh-CN" altLang="en-US" sz="2000">
                <a:solidFill>
                  <a:srgbClr val="000000"/>
                </a:solidFill>
                <a:latin typeface="Arial" panose="020B0604020202020204" pitchFamily="34" charset="0"/>
                <a:ea typeface="宋体" panose="02010600030101010101" pitchFamily="2" charset="-122"/>
                <a:sym typeface="黑体" panose="02010609060101010101" pitchFamily="49" charset="-122"/>
              </a:rPr>
              <a:t>结构脆弱性（如安全域划分不当）</a:t>
            </a:r>
            <a:endParaRPr lang="en-US" altLang="zh-CN" sz="2000">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1" eaLnBrk="1" hangingPunct="1">
              <a:spcBef>
                <a:spcPct val="0"/>
              </a:spcBef>
              <a:buClrTx/>
              <a:buFont typeface="Arial" panose="020B0604020202020204" pitchFamily="34" charset="0"/>
              <a:buChar char="•"/>
            </a:pPr>
            <a:r>
              <a:rPr lang="zh-CN" altLang="en-US" sz="2000">
                <a:solidFill>
                  <a:srgbClr val="000000"/>
                </a:solidFill>
                <a:latin typeface="Arial" panose="020B0604020202020204" pitchFamily="34" charset="0"/>
                <a:ea typeface="宋体" panose="02010600030101010101" pitchFamily="2" charset="-122"/>
                <a:sym typeface="黑体" panose="02010609060101010101" pitchFamily="49" charset="-122"/>
              </a:rPr>
              <a:t>操作脆弱性（如安全审计员业务生疏）</a:t>
            </a:r>
            <a:endParaRPr lang="en-US" altLang="zh-CN" sz="2000">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1" eaLnBrk="1" hangingPunct="1">
              <a:spcBef>
                <a:spcPct val="0"/>
              </a:spcBef>
              <a:buClrTx/>
              <a:buFont typeface="Arial" panose="020B0604020202020204" pitchFamily="34" charset="0"/>
              <a:buChar char="•"/>
            </a:pPr>
            <a:r>
              <a:rPr lang="zh-CN" altLang="en-US" sz="2000">
                <a:solidFill>
                  <a:srgbClr val="000000"/>
                </a:solidFill>
                <a:latin typeface="Arial" panose="020B0604020202020204" pitchFamily="34" charset="0"/>
                <a:ea typeface="宋体" panose="02010600030101010101" pitchFamily="2" charset="-122"/>
                <a:sym typeface="黑体" panose="02010609060101010101" pitchFamily="49" charset="-122"/>
              </a:rPr>
              <a:t>技术脆弱性（如系统有</a:t>
            </a:r>
            <a:r>
              <a:rPr lang="en-US" altLang="zh-CN" sz="2000">
                <a:solidFill>
                  <a:srgbClr val="000000"/>
                </a:solidFill>
                <a:latin typeface="Arial" panose="020B0604020202020204" pitchFamily="34" charset="0"/>
                <a:ea typeface="宋体" panose="02010600030101010101" pitchFamily="2" charset="-122"/>
                <a:sym typeface="黑体" panose="02010609060101010101" pitchFamily="49" charset="-122"/>
              </a:rPr>
              <a:t>bug</a:t>
            </a:r>
            <a:r>
              <a:rPr lang="zh-CN" altLang="en-US" sz="2000">
                <a:solidFill>
                  <a:srgbClr val="000000"/>
                </a:solidFill>
                <a:latin typeface="Arial" panose="020B0604020202020204" pitchFamily="34" charset="0"/>
                <a:ea typeface="宋体" panose="02010600030101010101" pitchFamily="2" charset="-122"/>
                <a:sym typeface="黑体" panose="02010609060101010101" pitchFamily="49" charset="-122"/>
              </a:rPr>
              <a:t>）</a:t>
            </a:r>
            <a:endParaRPr lang="en-US" altLang="zh-CN" sz="2000">
              <a:solidFill>
                <a:srgbClr val="000000"/>
              </a:solidFill>
              <a:latin typeface="Arial" panose="020B0604020202020204" pitchFamily="34" charset="0"/>
              <a:ea typeface="宋体" panose="02010600030101010101" pitchFamily="2" charset="-122"/>
              <a:sym typeface="黑体" panose="02010609060101010101" pitchFamily="49" charset="-122"/>
            </a:endParaRPr>
          </a:p>
          <a:p>
            <a:pPr lvl="1" eaLnBrk="1" hangingPunct="1">
              <a:spcBef>
                <a:spcPct val="0"/>
              </a:spcBef>
              <a:buClrTx/>
              <a:buFont typeface="Arial" panose="020B0604020202020204" pitchFamily="34" charset="0"/>
              <a:buChar char="•"/>
            </a:pPr>
            <a:r>
              <a:rPr lang="zh-CN" altLang="en-US" sz="2000">
                <a:solidFill>
                  <a:srgbClr val="000000"/>
                </a:solidFill>
                <a:latin typeface="Arial" panose="020B0604020202020204" pitchFamily="34" charset="0"/>
                <a:ea typeface="宋体" panose="02010600030101010101" pitchFamily="2" charset="-122"/>
                <a:sym typeface="黑体" panose="02010609060101010101" pitchFamily="49" charset="-122"/>
              </a:rPr>
              <a:t>物理脆弱性（如一层的窗子没有防护栏）</a:t>
            </a:r>
            <a:endParaRPr lang="zh-CN" altLang="en-US" sz="20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87048" name="Text Box 12"/>
          <p:cNvSpPr>
            <a:spLocks noChangeArrowheads="1"/>
          </p:cNvSpPr>
          <p:nvPr/>
        </p:nvSpPr>
        <p:spPr bwMode="auto">
          <a:xfrm>
            <a:off x="2124075" y="1601788"/>
            <a:ext cx="5254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n"/>
            </a:pPr>
            <a:r>
              <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rPr>
              <a:t> 脆弱性识别与威胁识别是何关系？  </a:t>
            </a:r>
            <a:endParaRPr lang="zh-CN" altLang="en-US" sz="1800">
              <a:latin typeface="Arial" panose="020B0604020202020204" pitchFamily="34" charset="0"/>
              <a:ea typeface="宋体" panose="02010600030101010101" pitchFamily="2" charset="-122"/>
            </a:endParaRPr>
          </a:p>
        </p:txBody>
      </p:sp>
      <p:sp>
        <p:nvSpPr>
          <p:cNvPr id="87049" name="Text Box 13"/>
          <p:cNvSpPr>
            <a:spLocks noChangeArrowheads="1"/>
          </p:cNvSpPr>
          <p:nvPr/>
        </p:nvSpPr>
        <p:spPr bwMode="auto">
          <a:xfrm>
            <a:off x="2520950" y="2041525"/>
            <a:ext cx="63963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None/>
            </a:pPr>
            <a:r>
              <a:rPr lang="zh-CN" altLang="en-US" sz="2400">
                <a:solidFill>
                  <a:srgbClr val="000000"/>
                </a:solidFill>
                <a:latin typeface="Arial" panose="020B0604020202020204" pitchFamily="34" charset="0"/>
                <a:ea typeface="宋体" panose="02010600030101010101" pitchFamily="2" charset="-122"/>
                <a:sym typeface="黑体" panose="02010609060101010101" pitchFamily="49" charset="-122"/>
              </a:rPr>
              <a:t>验证：以资产为对象，对威胁识别进行验证     </a:t>
            </a:r>
            <a:endParaRPr lang="zh-CN" altLang="en-US" sz="1800">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87048"/>
                                        </p:tgtEl>
                                        <p:attrNameLst>
                                          <p:attrName>style.visibility</p:attrName>
                                        </p:attrNameLst>
                                      </p:cBhvr>
                                      <p:to>
                                        <p:strVal val="visible"/>
                                      </p:to>
                                    </p:set>
                                    <p:anim calcmode="fmla" valueType="clr">
                                      <p:cBhvr override="childStyle">
                                        <p:cTn id="7" dur="80"/>
                                        <p:tgtEl>
                                          <p:spTgt spid="87048"/>
                                        </p:tgtEl>
                                        <p:attrNameLst>
                                          <p:attrName>style.color</p:attrName>
                                        </p:attrNameLst>
                                      </p:cBhvr>
                                    </p:anim>
                                    <p:anim calcmode="fmla" valueType="clr">
                                      <p:cBhvr>
                                        <p:cTn id="8" dur="80"/>
                                        <p:tgtEl>
                                          <p:spTgt spid="87048"/>
                                        </p:tgtEl>
                                        <p:attrNameLst>
                                          <p:attrName>fillcolor</p:attrName>
                                        </p:attrNameLst>
                                      </p:cBhvr>
                                    </p:anim>
                                    <p:set>
                                      <p:cBhvr>
                                        <p:cTn id="9" dur="80"/>
                                        <p:tgtEl>
                                          <p:spTgt spid="87048"/>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87049"/>
                                        </p:tgtEl>
                                        <p:attrNameLst>
                                          <p:attrName>style.visibility</p:attrName>
                                        </p:attrNameLst>
                                      </p:cBhvr>
                                      <p:to>
                                        <p:strVal val="visible"/>
                                      </p:to>
                                    </p:set>
                                    <p:anim calcmode="fmla" valueType="clr">
                                      <p:cBhvr override="childStyle">
                                        <p:cTn id="14" dur="80"/>
                                        <p:tgtEl>
                                          <p:spTgt spid="87049"/>
                                        </p:tgtEl>
                                        <p:attrNameLst>
                                          <p:attrName>style.color</p:attrName>
                                        </p:attrNameLst>
                                      </p:cBhvr>
                                    </p:anim>
                                    <p:anim calcmode="fmla" valueType="clr">
                                      <p:cBhvr>
                                        <p:cTn id="15" dur="80"/>
                                        <p:tgtEl>
                                          <p:spTgt spid="87049"/>
                                        </p:tgtEl>
                                        <p:attrNameLst>
                                          <p:attrName>fillcolor</p:attrName>
                                        </p:attrNameLst>
                                      </p:cBhvr>
                                    </p:anim>
                                    <p:set>
                                      <p:cBhvr>
                                        <p:cTn id="16" dur="80"/>
                                        <p:tgtEl>
                                          <p:spTgt spid="87049"/>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87044"/>
                                        </p:tgtEl>
                                        <p:attrNameLst>
                                          <p:attrName>style.visibility</p:attrName>
                                        </p:attrNameLst>
                                      </p:cBhvr>
                                      <p:to>
                                        <p:strVal val="visible"/>
                                      </p:to>
                                    </p:set>
                                    <p:anim calcmode="fmla" valueType="clr">
                                      <p:cBhvr override="childStyle">
                                        <p:cTn id="21" dur="80"/>
                                        <p:tgtEl>
                                          <p:spTgt spid="87044"/>
                                        </p:tgtEl>
                                        <p:attrNameLst>
                                          <p:attrName>style.color</p:attrName>
                                        </p:attrNameLst>
                                      </p:cBhvr>
                                    </p:anim>
                                    <p:anim calcmode="fmla" valueType="clr">
                                      <p:cBhvr>
                                        <p:cTn id="22" dur="80"/>
                                        <p:tgtEl>
                                          <p:spTgt spid="87044"/>
                                        </p:tgtEl>
                                        <p:attrNameLst>
                                          <p:attrName>fillcolor</p:attrName>
                                        </p:attrNameLst>
                                      </p:cBhvr>
                                    </p:anim>
                                    <p:set>
                                      <p:cBhvr>
                                        <p:cTn id="23" dur="80"/>
                                        <p:tgtEl>
                                          <p:spTgt spid="87044"/>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87045"/>
                                        </p:tgtEl>
                                        <p:attrNameLst>
                                          <p:attrName>style.visibility</p:attrName>
                                        </p:attrNameLst>
                                      </p:cBhvr>
                                      <p:to>
                                        <p:strVal val="visible"/>
                                      </p:to>
                                    </p:set>
                                    <p:anim calcmode="fmla" valueType="clr">
                                      <p:cBhvr override="childStyle">
                                        <p:cTn id="28" dur="80"/>
                                        <p:tgtEl>
                                          <p:spTgt spid="87045"/>
                                        </p:tgtEl>
                                        <p:attrNameLst>
                                          <p:attrName>style.color</p:attrName>
                                        </p:attrNameLst>
                                      </p:cBhvr>
                                    </p:anim>
                                    <p:anim calcmode="fmla" valueType="clr">
                                      <p:cBhvr>
                                        <p:cTn id="29" dur="80"/>
                                        <p:tgtEl>
                                          <p:spTgt spid="87045"/>
                                        </p:tgtEl>
                                        <p:attrNameLst>
                                          <p:attrName>fillcolor</p:attrName>
                                        </p:attrNameLst>
                                      </p:cBhvr>
                                    </p:anim>
                                    <p:set>
                                      <p:cBhvr>
                                        <p:cTn id="30" dur="80"/>
                                        <p:tgtEl>
                                          <p:spTgt spid="87045"/>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87046"/>
                                        </p:tgtEl>
                                        <p:attrNameLst>
                                          <p:attrName>style.visibility</p:attrName>
                                        </p:attrNameLst>
                                      </p:cBhvr>
                                      <p:to>
                                        <p:strVal val="visible"/>
                                      </p:to>
                                    </p:set>
                                    <p:anim calcmode="fmla" valueType="clr">
                                      <p:cBhvr override="childStyle">
                                        <p:cTn id="35" dur="80"/>
                                        <p:tgtEl>
                                          <p:spTgt spid="87046"/>
                                        </p:tgtEl>
                                        <p:attrNameLst>
                                          <p:attrName>style.color</p:attrName>
                                        </p:attrNameLst>
                                      </p:cBhvr>
                                    </p:anim>
                                    <p:anim calcmode="fmla" valueType="clr">
                                      <p:cBhvr>
                                        <p:cTn id="36" dur="80"/>
                                        <p:tgtEl>
                                          <p:spTgt spid="87046"/>
                                        </p:tgtEl>
                                        <p:attrNameLst>
                                          <p:attrName>fillcolor</p:attrName>
                                        </p:attrNameLst>
                                      </p:cBhvr>
                                    </p:anim>
                                    <p:set>
                                      <p:cBhvr>
                                        <p:cTn id="37" dur="80"/>
                                        <p:tgtEl>
                                          <p:spTgt spid="87046"/>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grpId="0" nodeType="clickEffect">
                                  <p:stCondLst>
                                    <p:cond delay="0"/>
                                  </p:stCondLst>
                                  <p:iterate type="lt">
                                    <p:tmPct val="50000"/>
                                  </p:iterate>
                                  <p:childTnLst>
                                    <p:set>
                                      <p:cBhvr>
                                        <p:cTn id="41" dur="1" fill="hold">
                                          <p:stCondLst>
                                            <p:cond delay="0"/>
                                          </p:stCondLst>
                                        </p:cTn>
                                        <p:tgtEl>
                                          <p:spTgt spid="87047"/>
                                        </p:tgtEl>
                                        <p:attrNameLst>
                                          <p:attrName>style.visibility</p:attrName>
                                        </p:attrNameLst>
                                      </p:cBhvr>
                                      <p:to>
                                        <p:strVal val="visible"/>
                                      </p:to>
                                    </p:set>
                                    <p:anim calcmode="fmla" valueType="clr">
                                      <p:cBhvr override="childStyle">
                                        <p:cTn id="42" dur="80"/>
                                        <p:tgtEl>
                                          <p:spTgt spid="87047"/>
                                        </p:tgtEl>
                                        <p:attrNameLst>
                                          <p:attrName>style.color</p:attrName>
                                        </p:attrNameLst>
                                      </p:cBhvr>
                                    </p:anim>
                                    <p:anim calcmode="fmla" valueType="clr">
                                      <p:cBhvr>
                                        <p:cTn id="43" dur="80"/>
                                        <p:tgtEl>
                                          <p:spTgt spid="87047"/>
                                        </p:tgtEl>
                                        <p:attrNameLst>
                                          <p:attrName>fillcolor</p:attrName>
                                        </p:attrNameLst>
                                      </p:cBhvr>
                                    </p:anim>
                                    <p:set>
                                      <p:cBhvr>
                                        <p:cTn id="44" dur="80"/>
                                        <p:tgtEl>
                                          <p:spTgt spid="8704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4" grpId="0" bldLvl="0"/>
      <p:bldP spid="87045" grpId="0" bldLvl="0"/>
      <p:bldP spid="87046" grpId="0" bldLvl="0"/>
      <p:bldP spid="87047" grpId="0" bldLvl="0"/>
      <p:bldP spid="87048" grpId="0" bldLvl="0"/>
      <p:bldP spid="87049" grpId="0" bldLvl="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标题 1"/>
          <p:cNvSpPr>
            <a:spLocks noGrp="1" noChangeArrowheads="1"/>
          </p:cNvSpPr>
          <p:nvPr>
            <p:ph type="ctrTitle"/>
          </p:nvPr>
        </p:nvSpPr>
        <p:spPr>
          <a:xfrm>
            <a:off x="2311400" y="981075"/>
            <a:ext cx="6513513" cy="487363"/>
          </a:xfrm>
        </p:spPr>
        <p:txBody>
          <a:bodyPr anchor="ctr"/>
          <a:lstStyle/>
          <a:p>
            <a:pPr algn="l"/>
            <a:r>
              <a:rPr lang="zh-CN" altLang="en-US" sz="3200">
                <a:solidFill>
                  <a:srgbClr val="FF0000"/>
                </a:solidFill>
              </a:rPr>
              <a:t>脆弱性识别内容</a:t>
            </a:r>
            <a:endParaRPr lang="zh-CN" altLang="en-US" sz="3200">
              <a:solidFill>
                <a:srgbClr val="FF0000"/>
              </a:solidFill>
            </a:endParaRPr>
          </a:p>
        </p:txBody>
      </p:sp>
      <p:pic>
        <p:nvPicPr>
          <p:cNvPr id="149507" name="Picture 2" descr="图 4.2 纵深防御模型"/>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5050" y="1844675"/>
            <a:ext cx="5176838"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3"/>
          <p:cNvSpPr>
            <a:spLocks noChangeArrowheads="1"/>
          </p:cNvSpPr>
          <p:nvPr/>
        </p:nvSpPr>
        <p:spPr bwMode="auto">
          <a:xfrm>
            <a:off x="1524000" y="2243932"/>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50531" name="Rectangle 4"/>
          <p:cNvSpPr>
            <a:spLocks noChangeArrowheads="1"/>
          </p:cNvSpPr>
          <p:nvPr/>
        </p:nvSpPr>
        <p:spPr bwMode="auto">
          <a:xfrm>
            <a:off x="1524000" y="32011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50532" name="Rectangle 5"/>
          <p:cNvSpPr>
            <a:spLocks noChangeArrowheads="1"/>
          </p:cNvSpPr>
          <p:nvPr/>
        </p:nvSpPr>
        <p:spPr bwMode="auto">
          <a:xfrm>
            <a:off x="1524000" y="162480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graphicFrame>
        <p:nvGraphicFramePr>
          <p:cNvPr id="404486" name="Group 6"/>
          <p:cNvGraphicFramePr>
            <a:graphicFrameLocks noGrp="1"/>
          </p:cNvGraphicFramePr>
          <p:nvPr/>
        </p:nvGraphicFramePr>
        <p:xfrm>
          <a:off x="1991544" y="1484784"/>
          <a:ext cx="8351520" cy="4611370"/>
        </p:xfrm>
        <a:graphic>
          <a:graphicData uri="http://schemas.openxmlformats.org/drawingml/2006/table">
            <a:tbl>
              <a:tblPr>
                <a:effectLst>
                  <a:outerShdw blurRad="50800" dist="38100" dir="13500000" algn="br" rotWithShape="0">
                    <a:prstClr val="black">
                      <a:alpha val="40000"/>
                    </a:prstClr>
                  </a:outerShdw>
                </a:effectLst>
              </a:tblPr>
              <a:tblGrid>
                <a:gridCol w="1371600"/>
                <a:gridCol w="1666875"/>
                <a:gridCol w="5313045"/>
              </a:tblGrid>
              <a:tr h="536575">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类型</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anchor="ct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识别对象</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anchor="ct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识别内容</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anchor="ct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r>
              <a:tr h="815975">
                <a:tc rowSpan="4">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技术脆弱性</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网络结构</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从网络结构设计、边界保护、外部访问控制策略、内部访问控制策略、网络设备安全配置等方面进行识别</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r>
              <a:tr h="863600">
                <a:tc vMerge="1">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系统软件</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从补丁安装、物理保护、用户帐号、口令策略、资源共享、事件审计、访问控制、新系统配置、注册表加固、网络安全、系统管理等方面进行识别</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r>
              <a:tr h="570865">
                <a:tc vMerge="1">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应用中间件</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从协议安全、交易完整性、数据完整性等方面进行识别</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r>
              <a:tr h="608330">
                <a:tc vMerge="1">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应用系统</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从审计机制、审计存储、访问控制策略、数据完整性、通信、鉴别机制、密码保护等方面进行识别</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r>
              <a:tr h="607695">
                <a:tc rowSpan="2">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管理脆弱性</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技术管理</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从物理和环境安全、通信与操作管理、访问控制、系统开发与维护、业务连续性等方面进行识别</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r>
              <a:tr h="608330">
                <a:tc vMerge="1">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组织管理</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c>
                  <a:txBody>
                    <a:bodyPr/>
                    <a:lstStyle>
                      <a:lvl1pPr defTabSz="0">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marL="742950" indent="-285750" defTabSz="0">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marL="1143000" indent="-228600" defTabSz="0">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marL="1600200" indent="-228600" defTabSz="0">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marL="2057400" indent="-228600" defTabSz="0">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marL="25146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marL="29718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marL="34290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marL="3886200" indent="-228600" defTabSz="0"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宋体" panose="02010600030101010101" pitchFamily="2" charset="-122"/>
                          <a:ea typeface="宋体" panose="02010600030101010101" pitchFamily="2" charset="-122"/>
                          <a:sym typeface="Times New Roman" panose="02020603050405020304" pitchFamily="18" charset="0"/>
                        </a:rPr>
                        <a:t>从安全策略、组织安全、资产分类与控制、人员安全、符合性等方面进行识别</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solidFill>
                      <a:schemeClr val="tx2">
                        <a:lumMod val="20000"/>
                        <a:lumOff val="80000"/>
                      </a:schemeClr>
                    </a:solidFill>
                  </a:tcPr>
                </a:tc>
              </a:tr>
            </a:tbl>
          </a:graphicData>
        </a:graphic>
      </p:graphicFrame>
      <p:sp>
        <p:nvSpPr>
          <p:cNvPr id="100389" name="Rectangle 37"/>
          <p:cNvSpPr>
            <a:spLocks noChangeArrowheads="1"/>
          </p:cNvSpPr>
          <p:nvPr/>
        </p:nvSpPr>
        <p:spPr bwMode="auto">
          <a:xfrm>
            <a:off x="4511675" y="908050"/>
            <a:ext cx="263144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buFont typeface="Arial" panose="020B0604020202020204" pitchFamily="34" charset="0"/>
              <a:defRPr u="sng">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u="sng">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u="sng">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u="sng">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u="sng">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400" b="1" u="none" dirty="0">
                <a:solidFill>
                  <a:srgbClr val="0033CC"/>
                </a:solidFill>
                <a:latin typeface="+mn-ea"/>
                <a:ea typeface="+mn-ea"/>
              </a:rPr>
              <a:t>脆弱性识别内容表</a:t>
            </a:r>
            <a:endParaRPr lang="zh-CN" altLang="en-US" sz="2400" b="1" dirty="0">
              <a:solidFill>
                <a:srgbClr val="0033CC"/>
              </a:solidFill>
              <a:latin typeface="+mn-ea"/>
              <a:ea typeface="+mn-ea"/>
            </a:endParaRP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标题 1"/>
          <p:cNvSpPr>
            <a:spLocks noGrp="1" noChangeArrowheads="1"/>
          </p:cNvSpPr>
          <p:nvPr>
            <p:ph type="ctrTitle"/>
          </p:nvPr>
        </p:nvSpPr>
        <p:spPr>
          <a:xfrm>
            <a:off x="2135188" y="908050"/>
            <a:ext cx="6513512" cy="487363"/>
          </a:xfrm>
        </p:spPr>
        <p:txBody>
          <a:bodyPr anchor="ctr"/>
          <a:lstStyle/>
          <a:p>
            <a:pPr algn="l"/>
            <a:r>
              <a:rPr lang="zh-CN" altLang="en-US" sz="3200">
                <a:solidFill>
                  <a:srgbClr val="FF0000"/>
                </a:solidFill>
              </a:rPr>
              <a:t>常见脆弱性识别工作方式</a:t>
            </a:r>
            <a:endParaRPr lang="zh-CN" altLang="en-US" sz="3200">
              <a:solidFill>
                <a:srgbClr val="FF0000"/>
              </a:solidFill>
            </a:endParaRPr>
          </a:p>
        </p:txBody>
      </p:sp>
      <p:graphicFrame>
        <p:nvGraphicFramePr>
          <p:cNvPr id="89092" name="表格 89091"/>
          <p:cNvGraphicFramePr/>
          <p:nvPr/>
        </p:nvGraphicFramePr>
        <p:xfrm>
          <a:off x="2151178" y="1628800"/>
          <a:ext cx="8192770" cy="4067175"/>
        </p:xfrm>
        <a:graphic>
          <a:graphicData uri="http://schemas.openxmlformats.org/drawingml/2006/table">
            <a:tbl>
              <a:tblPr>
                <a:effectLst>
                  <a:outerShdw blurRad="50800" dist="38100" dir="13500000" algn="br" rotWithShape="0">
                    <a:prstClr val="black">
                      <a:alpha val="40000"/>
                    </a:prstClr>
                  </a:outerShdw>
                </a:effectLst>
              </a:tblPr>
              <a:tblGrid>
                <a:gridCol w="2643505"/>
                <a:gridCol w="5549265"/>
              </a:tblGrid>
              <a:tr h="485818">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hangingPunct="1">
                        <a:lnSpc>
                          <a:spcPct val="100000"/>
                        </a:lnSpc>
                        <a:spcBef>
                          <a:spcPct val="0"/>
                        </a:spcBef>
                        <a:buClr>
                          <a:srgbClr val="000000"/>
                        </a:buClr>
                        <a:buFont typeface="Arial" panose="020B0604020202020204" pitchFamily="34" charset="0"/>
                        <a:buNone/>
                      </a:pPr>
                      <a:r>
                        <a:rPr lang="zh-CN" altLang="en-US" sz="2400" b="1" dirty="0">
                          <a:solidFill>
                            <a:srgbClr val="FFFFFF"/>
                          </a:solidFill>
                          <a:latin typeface="黑体" panose="02010609060101010101" pitchFamily="49" charset="-122"/>
                          <a:ea typeface="黑体" panose="02010609060101010101" pitchFamily="49" charset="-122"/>
                          <a:sym typeface="黑体" panose="02010609060101010101" pitchFamily="49" charset="-122"/>
                        </a:rPr>
                        <a:t>脆弱性识别方式</a:t>
                      </a:r>
                      <a:endParaRPr lang="zh-CN" altLang="en-US" sz="2400" b="1" dirty="0">
                        <a:solidFill>
                          <a:srgbClr val="FFFFFF"/>
                        </a:solidFill>
                        <a:latin typeface="黑体" panose="02010609060101010101" pitchFamily="49" charset="-122"/>
                        <a:ea typeface="黑体" panose="02010609060101010101" pitchFamily="49"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A5A5A5">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ctr" eaLnBrk="1" hangingPunct="1">
                        <a:lnSpc>
                          <a:spcPct val="100000"/>
                        </a:lnSpc>
                        <a:spcBef>
                          <a:spcPct val="0"/>
                        </a:spcBef>
                        <a:buClr>
                          <a:srgbClr val="000000"/>
                        </a:buClr>
                        <a:buFont typeface="Arial" panose="020B0604020202020204" pitchFamily="34" charset="0"/>
                        <a:buNone/>
                      </a:pPr>
                      <a:r>
                        <a:rPr lang="zh-CN" altLang="en-US" sz="2400" b="1" dirty="0">
                          <a:solidFill>
                            <a:srgbClr val="FFFFFF"/>
                          </a:solidFill>
                          <a:latin typeface="黑体" panose="02010609060101010101" pitchFamily="49" charset="-122"/>
                          <a:ea typeface="黑体" panose="02010609060101010101" pitchFamily="49" charset="-122"/>
                          <a:sym typeface="黑体" panose="02010609060101010101" pitchFamily="49" charset="-122"/>
                        </a:rPr>
                        <a:t>工作对象</a:t>
                      </a:r>
                      <a:endParaRPr lang="zh-CN" altLang="en-US" sz="2400" b="1" dirty="0">
                        <a:solidFill>
                          <a:srgbClr val="FFFFFF"/>
                        </a:solidFill>
                        <a:latin typeface="黑体" panose="02010609060101010101" pitchFamily="49" charset="-122"/>
                        <a:ea typeface="黑体" panose="02010609060101010101" pitchFamily="49"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38100" cap="flat" cmpd="sng">
                      <a:solidFill>
                        <a:srgbClr val="FFFFFF"/>
                      </a:solidFill>
                      <a:prstDash val="solid"/>
                      <a:bevel/>
                      <a:headEnd type="none" w="med" len="med"/>
                      <a:tailEnd type="none" w="med" len="med"/>
                    </a:lnB>
                    <a:lnTlToBr>
                      <a:noFill/>
                    </a:lnTlToBr>
                    <a:lnBlToTr>
                      <a:noFill/>
                    </a:lnBlToTr>
                    <a:solidFill>
                      <a:srgbClr val="A5A5A5">
                        <a:alpha val="100000"/>
                      </a:srgbClr>
                    </a:solidFill>
                  </a:tcPr>
                </a:tc>
              </a:tr>
              <a:tr h="537105">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安全配置核查</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E0E0E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服务器、网络设备、终端、中间件、应用软件</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381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E0E0E0">
                        <a:alpha val="100000"/>
                      </a:srgbClr>
                    </a:solidFill>
                  </a:tcPr>
                </a:tc>
              </a:tr>
              <a:tr h="492941">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漏洞扫描</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0F0F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2000" b="1" dirty="0">
                          <a:solidFill>
                            <a:srgbClr val="000000"/>
                          </a:solidFill>
                          <a:latin typeface="Arial" panose="020B0604020202020204" pitchFamily="34" charset="0"/>
                          <a:ea typeface="宋体" panose="02010600030101010101" pitchFamily="2" charset="-122"/>
                          <a:sym typeface="黑体" panose="02010609060101010101" pitchFamily="49" charset="-122"/>
                        </a:rPr>
                        <a:t>主机、应用程序</a:t>
                      </a:r>
                      <a:endParaRPr lang="zh-CN" altLang="en-US" sz="2000" b="1" dirty="0">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0F0F0">
                        <a:alpha val="100000"/>
                      </a:srgbClr>
                    </a:solidFill>
                  </a:tcPr>
                </a:tc>
              </a:tr>
              <a:tr h="491516">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渗透测试</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E0E0E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系统各个层面</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E0E0E0">
                        <a:alpha val="100000"/>
                      </a:srgbClr>
                    </a:solidFill>
                  </a:tcPr>
                </a:tc>
              </a:tr>
              <a:tr h="492941">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安全架构分析</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0F0F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algn="l" eaLnBrk="1" fontAlgn="base" latinLnBrk="0" hangingPunct="1">
                        <a:lnSpc>
                          <a:spcPct val="100000"/>
                        </a:lnSpc>
                        <a:spcBef>
                          <a:spcPct val="0"/>
                        </a:spcBef>
                        <a:spcAft>
                          <a:spcPct val="0"/>
                        </a:spcAft>
                        <a:buClr>
                          <a:srgbClr val="000000"/>
                        </a:buClr>
                        <a:buFont typeface="Arial" panose="020B0604020202020204" pitchFamily="34" charset="0"/>
                        <a:buNone/>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系统各个层面</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0F0F0">
                        <a:alpha val="100000"/>
                      </a:srgbClr>
                    </a:solidFill>
                  </a:tcPr>
                </a:tc>
              </a:tr>
              <a:tr h="559900">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数据流分析</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E0E0E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网络中的数据流</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E0E0E0">
                        <a:alpha val="100000"/>
                      </a:srgbClr>
                    </a:solidFill>
                  </a:tcPr>
                </a:tc>
              </a:tr>
              <a:tr h="514311">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2000" b="1" dirty="0">
                          <a:solidFill>
                            <a:srgbClr val="000000"/>
                          </a:solidFill>
                          <a:latin typeface="Arial" panose="020B0604020202020204" pitchFamily="34" charset="0"/>
                          <a:ea typeface="宋体" panose="02010600030101010101" pitchFamily="2" charset="-122"/>
                          <a:sym typeface="黑体" panose="02010609060101010101" pitchFamily="49" charset="-122"/>
                        </a:rPr>
                        <a:t>访谈</a:t>
                      </a:r>
                      <a:endParaRPr lang="zh-CN" altLang="en-US" sz="2000" b="1" dirty="0">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0F0F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rPr>
                        <a:t>管理人员及系统开发、运维技术人员</a:t>
                      </a:r>
                      <a:endParaRPr lang="zh-CN" altLang="en-US" sz="2000" b="1">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F0F0F0">
                        <a:alpha val="100000"/>
                      </a:srgbClr>
                    </a:solidFill>
                  </a:tcPr>
                </a:tc>
              </a:tr>
              <a:tr h="492941">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r>
                        <a:rPr lang="en-US" altLang="x-none" sz="2000" b="1" dirty="0">
                          <a:solidFill>
                            <a:srgbClr val="000000"/>
                          </a:solidFill>
                          <a:latin typeface="Arial" panose="020B0604020202020204" pitchFamily="34" charset="0"/>
                          <a:ea typeface="宋体" panose="02010600030101010101" pitchFamily="2" charset="-122"/>
                          <a:sym typeface="黑体" panose="02010609060101010101" pitchFamily="49" charset="-122"/>
                        </a:rPr>
                        <a:t>... ...</a:t>
                      </a:r>
                      <a:endParaRPr lang="zh-CN" altLang="en-US" sz="2000" b="1" dirty="0">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E0E0E0">
                        <a:alpha val="100000"/>
                      </a:srgbClr>
                    </a:solidFill>
                  </a:tcPr>
                </a:tc>
                <a:tc>
                  <a:txBody>
                    <a:bodyPr/>
                    <a:lstStyle>
                      <a:lvl1pPr marL="342900" lvl="0" indent="-342900" algn="l" defTabSz="0" eaLnBrk="0" fontAlgn="base" latinLnBrk="0" hangingPunct="0">
                        <a:lnSpc>
                          <a:spcPct val="100000"/>
                        </a:lnSpc>
                        <a:spcBef>
                          <a:spcPct val="20000"/>
                        </a:spcBef>
                        <a:spcAft>
                          <a:spcPct val="0"/>
                        </a:spcAft>
                        <a:buClr>
                          <a:srgbClr val="3399FF"/>
                        </a:buClr>
                        <a:buFont typeface="Wingdings" panose="05000000000000000000" pitchFamily="2" charset="2"/>
                        <a:buChar char="v"/>
                        <a:defRPr sz="2800" kern="1200">
                          <a:solidFill>
                            <a:schemeClr val="tx1"/>
                          </a:solidFill>
                          <a:latin typeface="黑体" panose="02010609060101010101" pitchFamily="49" charset="-122"/>
                          <a:ea typeface="黑体" panose="02010609060101010101" pitchFamily="49" charset="-122"/>
                          <a:sym typeface="黑体" panose="02010609060101010101" pitchFamily="49" charset="-122"/>
                        </a:defRPr>
                      </a:lvl1pPr>
                      <a:lvl2pPr marL="742950" lvl="1" indent="-285750" algn="l" eaLnBrk="0" fontAlgn="base" hangingPunct="0">
                        <a:lnSpc>
                          <a:spcPct val="100000"/>
                        </a:lnSpc>
                        <a:spcBef>
                          <a:spcPct val="20000"/>
                        </a:spcBef>
                        <a:spcAft>
                          <a:spcPct val="0"/>
                        </a:spcAft>
                        <a:buClr>
                          <a:srgbClr val="FF9900"/>
                        </a:buClr>
                        <a:buFont typeface="Wingdings" panose="05000000000000000000" pitchFamily="2" charset="2"/>
                        <a:buChar char="§"/>
                        <a:defRPr sz="2600" kern="1200">
                          <a:solidFill>
                            <a:schemeClr val="tx1"/>
                          </a:solidFill>
                          <a:latin typeface="黑体" panose="02010609060101010101" pitchFamily="49" charset="-122"/>
                          <a:ea typeface="黑体" panose="02010609060101010101" pitchFamily="49" charset="-122"/>
                        </a:defRPr>
                      </a:lvl2pPr>
                      <a:lvl3pPr marL="1143000" lvl="2" indent="-228600" algn="l" eaLnBrk="0" fontAlgn="base" hangingPunct="0">
                        <a:lnSpc>
                          <a:spcPct val="100000"/>
                        </a:lnSpc>
                        <a:spcBef>
                          <a:spcPct val="20000"/>
                        </a:spcBef>
                        <a:spcAft>
                          <a:spcPct val="0"/>
                        </a:spcAft>
                        <a:buClr>
                          <a:schemeClr val="accent2"/>
                        </a:buClr>
                        <a:buChar char="•"/>
                        <a:defRPr sz="2400" kern="1200">
                          <a:solidFill>
                            <a:schemeClr val="tx1"/>
                          </a:solidFill>
                          <a:latin typeface="黑体" panose="02010609060101010101" pitchFamily="49" charset="-122"/>
                          <a:ea typeface="黑体" panose="02010609060101010101" pitchFamily="49" charset="-122"/>
                        </a:defRPr>
                      </a:lvl3pPr>
                      <a:lvl4pPr marL="1600200" lvl="3"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4pPr>
                      <a:lvl5pPr marL="2057400" lvl="4" indent="-228600" algn="l" eaLnBrk="0" fontAlgn="base" hangingPunct="0">
                        <a:lnSpc>
                          <a:spcPct val="100000"/>
                        </a:lnSpc>
                        <a:spcBef>
                          <a:spcPct val="20000"/>
                        </a:spcBef>
                        <a:spcAft>
                          <a:spcPct val="0"/>
                        </a:spcAft>
                        <a:buChar char="»"/>
                        <a:defRPr sz="2000" kern="1200">
                          <a:solidFill>
                            <a:schemeClr val="tx1"/>
                          </a:solidFill>
                          <a:latin typeface="Arial" panose="020B0604020202020204" pitchFamily="34" charset="0"/>
                          <a:ea typeface="黑体" panose="02010609060101010101" pitchFamily="49" charset="-122"/>
                        </a:defRPr>
                      </a:lvl5pPr>
                    </a:lstStyle>
                    <a:p>
                      <a:pPr marL="0" lvl="0" indent="0" eaLnBrk="1" hangingPunct="1">
                        <a:lnSpc>
                          <a:spcPct val="100000"/>
                        </a:lnSpc>
                        <a:spcBef>
                          <a:spcPct val="0"/>
                        </a:spcBef>
                        <a:buClr>
                          <a:srgbClr val="000000"/>
                        </a:buClr>
                        <a:buFont typeface="Arial" panose="020B0604020202020204" pitchFamily="34" charset="0"/>
                        <a:buNone/>
                      </a:pPr>
                      <a:endParaRPr lang="zh-CN" altLang="en-US" sz="2000" b="1" dirty="0">
                        <a:solidFill>
                          <a:srgbClr val="000000"/>
                        </a:solidFill>
                        <a:latin typeface="Arial" panose="020B0604020202020204" pitchFamily="34" charset="0"/>
                        <a:ea typeface="宋体" panose="02010600030101010101" pitchFamily="2" charset="-122"/>
                        <a:sym typeface="黑体" panose="02010609060101010101" pitchFamily="49" charset="-122"/>
                      </a:endParaRPr>
                    </a:p>
                  </a:txBody>
                  <a:tcPr anchor="ctr">
                    <a:lnL w="12700" cap="flat" cmpd="sng">
                      <a:solidFill>
                        <a:srgbClr val="FFFFFF"/>
                      </a:solidFill>
                      <a:prstDash val="solid"/>
                      <a:bevel/>
                      <a:headEnd type="none" w="med" len="med"/>
                      <a:tailEnd type="none" w="med" len="med"/>
                    </a:lnL>
                    <a:lnR w="12700" cap="flat" cmpd="sng">
                      <a:solidFill>
                        <a:srgbClr val="FFFFFF"/>
                      </a:solidFill>
                      <a:prstDash val="solid"/>
                      <a:bevel/>
                      <a:headEnd type="none" w="med" len="med"/>
                      <a:tailEnd type="none" w="med" len="med"/>
                    </a:lnR>
                    <a:lnT w="12700" cap="flat" cmpd="sng">
                      <a:solidFill>
                        <a:srgbClr val="FFFFFF"/>
                      </a:solidFill>
                      <a:prstDash val="solid"/>
                      <a:bevel/>
                      <a:headEnd type="none" w="med" len="med"/>
                      <a:tailEnd type="none" w="med" len="med"/>
                    </a:lnT>
                    <a:lnB w="12700" cap="flat" cmpd="sng">
                      <a:solidFill>
                        <a:srgbClr val="FFFFFF"/>
                      </a:solidFill>
                      <a:prstDash val="solid"/>
                      <a:bevel/>
                      <a:headEnd type="none" w="med" len="med"/>
                      <a:tailEnd type="none" w="med" len="med"/>
                    </a:lnB>
                    <a:lnTlToBr>
                      <a:noFill/>
                    </a:lnTlToBr>
                    <a:lnBlToTr>
                      <a:noFill/>
                    </a:lnBlToTr>
                    <a:solidFill>
                      <a:srgbClr val="E0E0E0">
                        <a:alpha val="100000"/>
                      </a:srgbClr>
                    </a:solidFill>
                  </a:tcPr>
                </a:tc>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89092"/>
                                        </p:tgtEl>
                                        <p:attrNameLst>
                                          <p:attrName>style.visibility</p:attrName>
                                        </p:attrNameLst>
                                      </p:cBhvr>
                                      <p:to>
                                        <p:strVal val="visible"/>
                                      </p:to>
                                    </p:set>
                                    <p:anim calcmode="lin" valueType="num">
                                      <p:cBhvr>
                                        <p:cTn id="7" dur="500" fill="hold"/>
                                        <p:tgtEl>
                                          <p:spTgt spid="89092"/>
                                        </p:tgtEl>
                                        <p:attrNameLst>
                                          <p:attrName>ppt_w</p:attrName>
                                        </p:attrNameLst>
                                      </p:cBhvr>
                                      <p:tavLst>
                                        <p:tav tm="0">
                                          <p:val>
                                            <p:fltVal val="0"/>
                                          </p:val>
                                        </p:tav>
                                        <p:tav tm="100000">
                                          <p:val>
                                            <p:strVal val="#ppt_w"/>
                                          </p:val>
                                        </p:tav>
                                      </p:tavLst>
                                    </p:anim>
                                    <p:anim calcmode="lin" valueType="num">
                                      <p:cBhvr>
                                        <p:cTn id="8" dur="500" fill="hold"/>
                                        <p:tgtEl>
                                          <p:spTgt spid="89092"/>
                                        </p:tgtEl>
                                        <p:attrNameLst>
                                          <p:attrName>ppt_h</p:attrName>
                                        </p:attrNameLst>
                                      </p:cBhvr>
                                      <p:tavLst>
                                        <p:tav tm="0">
                                          <p:val>
                                            <p:fltVal val="0"/>
                                          </p:val>
                                        </p:tav>
                                        <p:tav tm="100000">
                                          <p:val>
                                            <p:strVal val="#ppt_h"/>
                                          </p:val>
                                        </p:tav>
                                      </p:tavLst>
                                    </p:anim>
                                    <p:animEffect transition="in" filter="fade">
                                      <p:cBhvr>
                                        <p:cTn id="9" dur="500"/>
                                        <p:tgtEl>
                                          <p:spTgt spid="8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2"/>
          <p:cNvSpPr>
            <a:spLocks noChangeArrowheads="1"/>
          </p:cNvSpPr>
          <p:nvPr/>
        </p:nvSpPr>
        <p:spPr bwMode="auto">
          <a:xfrm>
            <a:off x="1992313" y="765175"/>
            <a:ext cx="4103687"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Arial" panose="020B0604020202020204" pitchFamily="34" charset="0"/>
              <a:buNone/>
            </a:pPr>
            <a:r>
              <a:rPr lang="zh-CN" altLang="en-US" b="1">
                <a:solidFill>
                  <a:srgbClr val="FF0000"/>
                </a:solidFill>
                <a:latin typeface="微软雅黑" panose="020B0503020204020204" charset="-122"/>
                <a:ea typeface="微软雅黑" panose="020B0503020204020204" charset="-122"/>
                <a:sym typeface="黑体" panose="02010609060101010101" pitchFamily="49" charset="-122"/>
              </a:rPr>
              <a:t>脆弱性评估</a:t>
            </a:r>
            <a:endParaRPr lang="zh-CN" altLang="en-US" b="1">
              <a:solidFill>
                <a:srgbClr val="FF0000"/>
              </a:solidFill>
              <a:latin typeface="微软雅黑" panose="020B0503020204020204" charset="-122"/>
              <a:ea typeface="微软雅黑" panose="020B0503020204020204" charset="-122"/>
              <a:sym typeface="黑体" panose="02010609060101010101" pitchFamily="49" charset="-122"/>
            </a:endParaRPr>
          </a:p>
        </p:txBody>
      </p:sp>
      <p:sp>
        <p:nvSpPr>
          <p:cNvPr id="152579" name="Rectangle 3"/>
          <p:cNvSpPr>
            <a:spLocks noChangeArrowheads="1"/>
          </p:cNvSpPr>
          <p:nvPr/>
        </p:nvSpPr>
        <p:spPr bwMode="auto">
          <a:xfrm>
            <a:off x="1524000" y="2243932"/>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52580" name="Rectangle 4"/>
          <p:cNvSpPr>
            <a:spLocks noChangeArrowheads="1"/>
          </p:cNvSpPr>
          <p:nvPr/>
        </p:nvSpPr>
        <p:spPr bwMode="auto">
          <a:xfrm>
            <a:off x="1524000" y="32011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52581" name="Rectangle 5"/>
          <p:cNvSpPr>
            <a:spLocks noChangeArrowheads="1"/>
          </p:cNvSpPr>
          <p:nvPr/>
        </p:nvSpPr>
        <p:spPr bwMode="auto">
          <a:xfrm>
            <a:off x="1524000" y="1624807"/>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graphicFrame>
        <p:nvGraphicFramePr>
          <p:cNvPr id="402587" name="Group 155"/>
          <p:cNvGraphicFramePr>
            <a:graphicFrameLocks noGrp="1"/>
          </p:cNvGraphicFramePr>
          <p:nvPr/>
        </p:nvGraphicFramePr>
        <p:xfrm>
          <a:off x="2855640" y="3747594"/>
          <a:ext cx="7056120" cy="2194560"/>
        </p:xfrm>
        <a:graphic>
          <a:graphicData uri="http://schemas.openxmlformats.org/drawingml/2006/table">
            <a:tbl>
              <a:tblPr>
                <a:effectLst>
                  <a:outerShdw blurRad="50800" dist="38100" dir="13500000" algn="br" rotWithShape="0">
                    <a:prstClr val="black">
                      <a:alpha val="40000"/>
                    </a:prstClr>
                  </a:outerShdw>
                </a:effectLst>
              </a:tblPr>
              <a:tblGrid>
                <a:gridCol w="649605"/>
                <a:gridCol w="733425"/>
                <a:gridCol w="5673090"/>
              </a:tblGrid>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等级</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标识</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定义</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5</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很高</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如果被威胁利用，将对资产造成完全损害。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4</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高</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如果被威胁利用，将对资产造成重大损害。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3</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中等</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如果被威胁利用，将对资产造成一般损害 。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低</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如果被威胁利用，将对资产造成较小损害。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365760">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很低</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Clr>
                          <a:schemeClr val="hlink"/>
                        </a:buClr>
                        <a:buFont typeface="Wingdings" panose="05000000000000000000" pitchFamily="2" charset="2"/>
                        <a:defRPr sz="2800">
                          <a:solidFill>
                            <a:schemeClr val="tx1"/>
                          </a:solidFill>
                          <a:latin typeface="Verdana" panose="020B0604030504040204" pitchFamily="34" charset="0"/>
                          <a:sym typeface="Verdana" panose="020B0604030504040204" pitchFamily="34" charset="0"/>
                        </a:defRPr>
                      </a:lvl1pPr>
                      <a:lvl2pPr>
                        <a:spcBef>
                          <a:spcPct val="20000"/>
                        </a:spcBef>
                        <a:buClr>
                          <a:schemeClr val="accent1"/>
                        </a:buClr>
                        <a:buFont typeface="Wingdings" panose="05000000000000000000" pitchFamily="2" charset="2"/>
                        <a:defRPr sz="2400" b="1">
                          <a:solidFill>
                            <a:schemeClr val="tx1"/>
                          </a:solidFill>
                          <a:latin typeface="Arial" panose="020B0604020202020204" pitchFamily="34" charset="0"/>
                          <a:sym typeface="Verdana" panose="020B0604030504040204" pitchFamily="34" charset="0"/>
                        </a:defRPr>
                      </a:lvl2pPr>
                      <a:lvl3pPr>
                        <a:spcBef>
                          <a:spcPct val="20000"/>
                        </a:spcBef>
                        <a:buClr>
                          <a:schemeClr val="tx1"/>
                        </a:buClr>
                        <a:buFont typeface="Wingdings" panose="05000000000000000000" pitchFamily="2" charset="2"/>
                        <a:defRPr sz="2400" b="1">
                          <a:solidFill>
                            <a:schemeClr val="tx1"/>
                          </a:solidFill>
                          <a:latin typeface="宋体" panose="02010600030101010101" pitchFamily="2" charset="-122"/>
                          <a:ea typeface="宋体" panose="02010600030101010101" pitchFamily="2" charset="-122"/>
                          <a:sym typeface="Verdana" panose="020B0604030504040204" pitchFamily="34" charset="0"/>
                        </a:defRPr>
                      </a:lvl3pPr>
                      <a:lvl4pPr>
                        <a:spcBef>
                          <a:spcPct val="20000"/>
                        </a:spcBef>
                        <a:buClr>
                          <a:schemeClr val="tx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sym typeface="Verdana" panose="020B0604030504040204" pitchFamily="34" charset="0"/>
                        </a:defRPr>
                      </a:lvl4pPr>
                      <a:lvl5pPr>
                        <a:spcBef>
                          <a:spcPct val="20000"/>
                        </a:spcBef>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5pPr>
                      <a:lvl6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6pPr>
                      <a:lvl7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7pPr>
                      <a:lvl8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8pPr>
                      <a:lvl9pPr eaLnBrk="0" fontAlgn="base" hangingPunct="0">
                        <a:spcBef>
                          <a:spcPct val="20000"/>
                        </a:spcBef>
                        <a:spcAft>
                          <a:spcPct val="0"/>
                        </a:spcAft>
                        <a:buClr>
                          <a:schemeClr val="tx1"/>
                        </a:buClr>
                        <a:buFont typeface="Wingdings" panose="05000000000000000000" pitchFamily="2" charset="2"/>
                        <a:defRPr sz="2000" b="1">
                          <a:solidFill>
                            <a:schemeClr val="tx1"/>
                          </a:solidFill>
                          <a:latin typeface="楷体_GB2312"/>
                          <a:ea typeface="楷体_GB2312"/>
                          <a:cs typeface="楷体_GB2312"/>
                          <a:sym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如果被威胁利用，将对资产造成的损害可以忽略。 </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bl>
          </a:graphicData>
        </a:graphic>
      </p:graphicFrame>
      <p:sp>
        <p:nvSpPr>
          <p:cNvPr id="102437" name="Rectangle 154"/>
          <p:cNvSpPr>
            <a:spLocks noChangeArrowheads="1"/>
          </p:cNvSpPr>
          <p:nvPr/>
        </p:nvSpPr>
        <p:spPr bwMode="auto">
          <a:xfrm>
            <a:off x="4559300" y="3086100"/>
            <a:ext cx="3067050" cy="42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2200" b="1">
                <a:latin typeface="Arial" panose="020B0604020202020204" pitchFamily="34" charset="0"/>
                <a:ea typeface="宋体" panose="02010600030101010101" pitchFamily="2" charset="-122"/>
              </a:rPr>
              <a:t>脆弱性严重程度赋值表</a:t>
            </a:r>
            <a:r>
              <a:rPr lang="zh-CN" altLang="en-US" sz="2200" b="1" u="sng">
                <a:latin typeface="Arial" panose="020B0604020202020204" pitchFamily="34" charset="0"/>
                <a:ea typeface="宋体" panose="02010600030101010101" pitchFamily="2" charset="-122"/>
              </a:rPr>
              <a:t> </a:t>
            </a:r>
            <a:endParaRPr lang="zh-CN" altLang="en-US" sz="2200" b="1" u="sng">
              <a:latin typeface="Arial" panose="020B0604020202020204" pitchFamily="34" charset="0"/>
              <a:ea typeface="宋体" panose="02010600030101010101" pitchFamily="2" charset="-122"/>
            </a:endParaRPr>
          </a:p>
        </p:txBody>
      </p:sp>
      <p:sp>
        <p:nvSpPr>
          <p:cNvPr id="102438" name="Rectangle 156"/>
          <p:cNvSpPr>
            <a:spLocks noChangeArrowheads="1"/>
          </p:cNvSpPr>
          <p:nvPr/>
        </p:nvSpPr>
        <p:spPr bwMode="auto">
          <a:xfrm>
            <a:off x="1992313" y="1423988"/>
            <a:ext cx="8207375"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2400" b="1">
                <a:solidFill>
                  <a:srgbClr val="000000"/>
                </a:solidFill>
                <a:latin typeface="Arial" panose="020B0604020202020204" pitchFamily="34" charset="0"/>
                <a:ea typeface="宋体" panose="02010600030101010101" pitchFamily="2" charset="-122"/>
              </a:rPr>
              <a:t>脆弱性严重程度可以进行等级化处理，不同的等级分别代表资产脆弱性严重程度的高低。等级数值越大，脆弱性严重程度越高</a:t>
            </a:r>
            <a:endParaRPr lang="zh-CN" altLang="en-US" sz="2400" b="1">
              <a:solidFill>
                <a:srgbClr val="000000"/>
              </a:solidFill>
              <a:latin typeface="Arial" panose="020B0604020202020204" pitchFamily="34" charset="0"/>
              <a:ea typeface="宋体" panose="02010600030101010101" pitchFamily="2" charset="-122"/>
            </a:endParaRPr>
          </a:p>
        </p:txBody>
      </p:sp>
      <p:sp>
        <p:nvSpPr>
          <p:cNvPr id="102439" name="Rectangle 157"/>
          <p:cNvSpPr>
            <a:spLocks noChangeArrowheads="1"/>
          </p:cNvSpPr>
          <p:nvPr/>
        </p:nvSpPr>
        <p:spPr bwMode="auto">
          <a:xfrm>
            <a:off x="3000375" y="2628900"/>
            <a:ext cx="543115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zh-CN" altLang="en-US" sz="2400" b="1">
                <a:solidFill>
                  <a:srgbClr val="000000"/>
                </a:solidFill>
                <a:latin typeface="Arial" panose="020B0604020202020204" pitchFamily="34" charset="0"/>
                <a:ea typeface="宋体" panose="02010600030101010101" pitchFamily="2" charset="-122"/>
                <a:sym typeface="Arial" panose="020B0604020202020204" pitchFamily="34" charset="0"/>
              </a:rPr>
              <a:t>信息安全风险评估规范</a:t>
            </a:r>
            <a:r>
              <a:rPr lang="en-US" altLang="zh-CN" sz="2400" b="1">
                <a:solidFill>
                  <a:srgbClr val="000000"/>
                </a:solidFill>
                <a:latin typeface="Arial" panose="020B0604020202020204" pitchFamily="34" charset="0"/>
                <a:ea typeface="宋体" panose="02010600030101010101" pitchFamily="2" charset="-122"/>
                <a:sym typeface="Arial" panose="020B0604020202020204" pitchFamily="34" charset="0"/>
              </a:rPr>
              <a:t>》</a:t>
            </a:r>
            <a:r>
              <a:rPr lang="en-US" altLang="zh-CN" sz="2400" b="1">
                <a:solidFill>
                  <a:srgbClr val="000000"/>
                </a:solidFill>
                <a:latin typeface="Arial" panose="020B0604020202020204" pitchFamily="34" charset="0"/>
                <a:ea typeface="宋体" panose="02010600030101010101" pitchFamily="2" charset="-122"/>
                <a:sym typeface="黑体" panose="02010609060101010101" pitchFamily="49" charset="-122"/>
              </a:rPr>
              <a:t>GB/T20984</a:t>
            </a:r>
            <a:endParaRPr lang="zh-CN" altLang="en-US" sz="2400" b="1">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2438"/>
                                        </p:tgtEl>
                                        <p:attrNameLst>
                                          <p:attrName>style.visibility</p:attrName>
                                        </p:attrNameLst>
                                      </p:cBhvr>
                                      <p:to>
                                        <p:strVal val="visible"/>
                                      </p:to>
                                    </p:set>
                                    <p:anim calcmode="lin" valueType="num">
                                      <p:cBhvr additive="base">
                                        <p:cTn id="7" dur="500" fill="hold"/>
                                        <p:tgtEl>
                                          <p:spTgt spid="102438"/>
                                        </p:tgtEl>
                                        <p:attrNameLst>
                                          <p:attrName>ppt_x</p:attrName>
                                        </p:attrNameLst>
                                      </p:cBhvr>
                                      <p:tavLst>
                                        <p:tav tm="0">
                                          <p:val>
                                            <p:strVal val="0-#ppt_w/2"/>
                                          </p:val>
                                        </p:tav>
                                        <p:tav tm="100000">
                                          <p:val>
                                            <p:strVal val="#ppt_x"/>
                                          </p:val>
                                        </p:tav>
                                      </p:tavLst>
                                    </p:anim>
                                    <p:anim calcmode="lin" valueType="num">
                                      <p:cBhvr additive="base">
                                        <p:cTn id="8" dur="500" fill="hold"/>
                                        <p:tgtEl>
                                          <p:spTgt spid="10243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102439"/>
                                        </p:tgtEl>
                                        <p:attrNameLst>
                                          <p:attrName>style.visibility</p:attrName>
                                        </p:attrNameLst>
                                      </p:cBhvr>
                                      <p:to>
                                        <p:strVal val="visible"/>
                                      </p:to>
                                    </p:set>
                                    <p:anim calcmode="lin" valueType="num">
                                      <p:cBhvr>
                                        <p:cTn id="12" dur="500" fill="hold"/>
                                        <p:tgtEl>
                                          <p:spTgt spid="102439"/>
                                        </p:tgtEl>
                                        <p:attrNameLst>
                                          <p:attrName>ppt_w</p:attrName>
                                        </p:attrNameLst>
                                      </p:cBhvr>
                                      <p:tavLst>
                                        <p:tav tm="0">
                                          <p:val>
                                            <p:fltVal val="0"/>
                                          </p:val>
                                        </p:tav>
                                        <p:tav tm="100000">
                                          <p:val>
                                            <p:strVal val="#ppt_w"/>
                                          </p:val>
                                        </p:tav>
                                      </p:tavLst>
                                    </p:anim>
                                    <p:anim calcmode="lin" valueType="num">
                                      <p:cBhvr>
                                        <p:cTn id="13" dur="500" fill="hold"/>
                                        <p:tgtEl>
                                          <p:spTgt spid="102439"/>
                                        </p:tgtEl>
                                        <p:attrNameLst>
                                          <p:attrName>ppt_h</p:attrName>
                                        </p:attrNameLst>
                                      </p:cBhvr>
                                      <p:tavLst>
                                        <p:tav tm="0">
                                          <p:val>
                                            <p:fltVal val="0"/>
                                          </p:val>
                                        </p:tav>
                                        <p:tav tm="100000">
                                          <p:val>
                                            <p:strVal val="#ppt_h"/>
                                          </p:val>
                                        </p:tav>
                                      </p:tavLst>
                                    </p:anim>
                                    <p:animEffect transition="in" filter="fade">
                                      <p:cBhvr>
                                        <p:cTn id="14" dur="500"/>
                                        <p:tgtEl>
                                          <p:spTgt spid="102439"/>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102437"/>
                                        </p:tgtEl>
                                        <p:attrNameLst>
                                          <p:attrName>style.visibility</p:attrName>
                                        </p:attrNameLst>
                                      </p:cBhvr>
                                      <p:to>
                                        <p:strVal val="visible"/>
                                      </p:to>
                                    </p:set>
                                    <p:anim calcmode="lin" valueType="num">
                                      <p:cBhvr>
                                        <p:cTn id="18" dur="500" fill="hold"/>
                                        <p:tgtEl>
                                          <p:spTgt spid="102437"/>
                                        </p:tgtEl>
                                        <p:attrNameLst>
                                          <p:attrName>ppt_w</p:attrName>
                                        </p:attrNameLst>
                                      </p:cBhvr>
                                      <p:tavLst>
                                        <p:tav tm="0">
                                          <p:val>
                                            <p:fltVal val="0"/>
                                          </p:val>
                                        </p:tav>
                                        <p:tav tm="100000">
                                          <p:val>
                                            <p:strVal val="#ppt_w"/>
                                          </p:val>
                                        </p:tav>
                                      </p:tavLst>
                                    </p:anim>
                                    <p:anim calcmode="lin" valueType="num">
                                      <p:cBhvr>
                                        <p:cTn id="19" dur="500" fill="hold"/>
                                        <p:tgtEl>
                                          <p:spTgt spid="102437"/>
                                        </p:tgtEl>
                                        <p:attrNameLst>
                                          <p:attrName>ppt_h</p:attrName>
                                        </p:attrNameLst>
                                      </p:cBhvr>
                                      <p:tavLst>
                                        <p:tav tm="0">
                                          <p:val>
                                            <p:fltVal val="0"/>
                                          </p:val>
                                        </p:tav>
                                        <p:tav tm="100000">
                                          <p:val>
                                            <p:strVal val="#ppt_h"/>
                                          </p:val>
                                        </p:tav>
                                      </p:tavLst>
                                    </p:anim>
                                    <p:animEffect transition="in" filter="fade">
                                      <p:cBhvr>
                                        <p:cTn id="20" dur="500"/>
                                        <p:tgtEl>
                                          <p:spTgt spid="102437"/>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402587"/>
                                        </p:tgtEl>
                                        <p:attrNameLst>
                                          <p:attrName>style.visibility</p:attrName>
                                        </p:attrNameLst>
                                      </p:cBhvr>
                                      <p:to>
                                        <p:strVal val="visible"/>
                                      </p:to>
                                    </p:set>
                                    <p:anim calcmode="lin" valueType="num">
                                      <p:cBhvr>
                                        <p:cTn id="24" dur="500" fill="hold"/>
                                        <p:tgtEl>
                                          <p:spTgt spid="402587"/>
                                        </p:tgtEl>
                                        <p:attrNameLst>
                                          <p:attrName>ppt_w</p:attrName>
                                        </p:attrNameLst>
                                      </p:cBhvr>
                                      <p:tavLst>
                                        <p:tav tm="0">
                                          <p:val>
                                            <p:fltVal val="0"/>
                                          </p:val>
                                        </p:tav>
                                        <p:tav tm="100000">
                                          <p:val>
                                            <p:strVal val="#ppt_w"/>
                                          </p:val>
                                        </p:tav>
                                      </p:tavLst>
                                    </p:anim>
                                    <p:anim calcmode="lin" valueType="num">
                                      <p:cBhvr>
                                        <p:cTn id="25" dur="500" fill="hold"/>
                                        <p:tgtEl>
                                          <p:spTgt spid="402587"/>
                                        </p:tgtEl>
                                        <p:attrNameLst>
                                          <p:attrName>ppt_h</p:attrName>
                                        </p:attrNameLst>
                                      </p:cBhvr>
                                      <p:tavLst>
                                        <p:tav tm="0">
                                          <p:val>
                                            <p:fltVal val="0"/>
                                          </p:val>
                                        </p:tav>
                                        <p:tav tm="100000">
                                          <p:val>
                                            <p:strVal val="#ppt_h"/>
                                          </p:val>
                                        </p:tav>
                                      </p:tavLst>
                                    </p:anim>
                                    <p:animEffect transition="in" filter="fade">
                                      <p:cBhvr>
                                        <p:cTn id="26" dur="500"/>
                                        <p:tgtEl>
                                          <p:spTgt spid="402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7" grpId="0" bldLvl="0" animBg="1"/>
      <p:bldP spid="102438" grpId="0" bldLvl="0" animBg="1"/>
      <p:bldP spid="102439" grpId="0" bldLvl="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body" idx="1"/>
          </p:nvPr>
        </p:nvSpPr>
        <p:spPr>
          <a:xfrm>
            <a:off x="2279650" y="1700213"/>
            <a:ext cx="4679950" cy="2808287"/>
          </a:xfrm>
        </p:spPr>
        <p:txBody>
          <a:bodyPr/>
          <a:lstStyle/>
          <a:p>
            <a:pPr algn="just" eaLnBrk="1" hangingPunct="1"/>
            <a:r>
              <a:rPr lang="zh-CN" altLang="en-US" sz="2400">
                <a:latin typeface="华文中宋" panose="02010600040101010101" pitchFamily="2" charset="-122"/>
              </a:rPr>
              <a:t>网络入侵检测系统</a:t>
            </a:r>
            <a:endParaRPr lang="zh-CN" altLang="en-US" sz="2400">
              <a:latin typeface="华文中宋" panose="02010600040101010101" pitchFamily="2" charset="-122"/>
            </a:endParaRPr>
          </a:p>
          <a:p>
            <a:pPr algn="just" eaLnBrk="1" hangingPunct="1"/>
            <a:r>
              <a:rPr lang="zh-CN" altLang="en-US" sz="2400">
                <a:latin typeface="华文中宋" panose="02010600040101010101" pitchFamily="2" charset="-122"/>
              </a:rPr>
              <a:t>远程评估系统</a:t>
            </a:r>
            <a:endParaRPr lang="zh-CN" altLang="en-US" sz="2400">
              <a:latin typeface="华文中宋" panose="02010600040101010101" pitchFamily="2" charset="-122"/>
            </a:endParaRPr>
          </a:p>
          <a:p>
            <a:pPr algn="just" eaLnBrk="1" hangingPunct="1"/>
            <a:r>
              <a:rPr lang="zh-CN" altLang="en-US" sz="2400">
                <a:latin typeface="华文中宋" panose="02010600040101010101" pitchFamily="2" charset="-122"/>
              </a:rPr>
              <a:t>安全检测包（</a:t>
            </a:r>
            <a:r>
              <a:rPr lang="en-US" altLang="zh-CN" sz="2400">
                <a:latin typeface="华文中宋" panose="02010600040101010101" pitchFamily="2" charset="-122"/>
              </a:rPr>
              <a:t>LSAS</a:t>
            </a:r>
            <a:r>
              <a:rPr lang="zh-CN" altLang="en-US" sz="2400">
                <a:latin typeface="华文中宋" panose="02010600040101010101" pitchFamily="2" charset="-122"/>
              </a:rPr>
              <a:t>） </a:t>
            </a:r>
            <a:endParaRPr lang="zh-CN" altLang="en-US" sz="2400">
              <a:latin typeface="华文中宋" panose="02010600040101010101" pitchFamily="2" charset="-122"/>
            </a:endParaRPr>
          </a:p>
          <a:p>
            <a:pPr algn="just" eaLnBrk="1" hangingPunct="1"/>
            <a:r>
              <a:rPr lang="en-US" altLang="zh-CN" sz="2400">
                <a:latin typeface="华文中宋" panose="02010600040101010101" pitchFamily="2" charset="-122"/>
              </a:rPr>
              <a:t>Microsoft</a:t>
            </a:r>
            <a:r>
              <a:rPr lang="zh-CN" altLang="en-US" sz="2400">
                <a:latin typeface="华文中宋" panose="02010600040101010101" pitchFamily="2" charset="-122"/>
              </a:rPr>
              <a:t>安全基准分析器</a:t>
            </a:r>
            <a:endParaRPr lang="zh-CN" altLang="en-US" sz="2400">
              <a:latin typeface="华文中宋" panose="02010600040101010101" pitchFamily="2" charset="-122"/>
            </a:endParaRPr>
          </a:p>
          <a:p>
            <a:pPr algn="just" eaLnBrk="1" hangingPunct="1"/>
            <a:r>
              <a:rPr lang="zh-CN" altLang="en-US" sz="2400">
                <a:latin typeface="华文中宋" panose="02010600040101010101" pitchFamily="2" charset="-122"/>
              </a:rPr>
              <a:t>风险评估分析工具</a:t>
            </a:r>
            <a:endParaRPr lang="zh-CN" altLang="en-US" sz="2400">
              <a:latin typeface="华文中宋" panose="02010600040101010101" pitchFamily="2" charset="-122"/>
            </a:endParaRPr>
          </a:p>
          <a:p>
            <a:pPr algn="just" eaLnBrk="1" hangingPunct="1"/>
            <a:r>
              <a:rPr lang="zh-CN" altLang="en-US" sz="2400">
                <a:latin typeface="华文中宋" panose="02010600040101010101" pitchFamily="2" charset="-122"/>
              </a:rPr>
              <a:t>风险信息库工具</a:t>
            </a:r>
            <a:endParaRPr lang="zh-CN" altLang="en-US" sz="2400">
              <a:latin typeface="华文中宋" panose="02010600040101010101" pitchFamily="2" charset="-122"/>
            </a:endParaRPr>
          </a:p>
        </p:txBody>
      </p:sp>
      <p:sp>
        <p:nvSpPr>
          <p:cNvPr id="153603" name="Text Box 2"/>
          <p:cNvSpPr>
            <a:spLocks noChangeArrowheads="1"/>
          </p:cNvSpPr>
          <p:nvPr/>
        </p:nvSpPr>
        <p:spPr bwMode="auto">
          <a:xfrm>
            <a:off x="1992313" y="836613"/>
            <a:ext cx="4103687"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ClrTx/>
              <a:buFont typeface="Arial" panose="020B0604020202020204" pitchFamily="34" charset="0"/>
              <a:buNone/>
            </a:pPr>
            <a:r>
              <a:rPr lang="zh-CN" altLang="en-US" b="1">
                <a:solidFill>
                  <a:srgbClr val="FF0000"/>
                </a:solidFill>
                <a:latin typeface="微软雅黑" panose="020B0503020204020204" charset="-122"/>
                <a:ea typeface="微软雅黑" panose="020B0503020204020204" charset="-122"/>
                <a:sym typeface="黑体" panose="02010609060101010101" pitchFamily="49" charset="-122"/>
              </a:rPr>
              <a:t>脆弱性评估工具</a:t>
            </a:r>
            <a:endParaRPr lang="zh-CN" altLang="en-US" b="1">
              <a:solidFill>
                <a:srgbClr val="FF0000"/>
              </a:solidFill>
              <a:latin typeface="微软雅黑" panose="020B0503020204020204" charset="-122"/>
              <a:ea typeface="微软雅黑" panose="020B0503020204020204" charset="-122"/>
              <a:sym typeface="黑体" panose="02010609060101010101" pitchFamily="49" charset="-122"/>
            </a:endParaRPr>
          </a:p>
        </p:txBody>
      </p:sp>
      <p:pic>
        <p:nvPicPr>
          <p:cNvPr id="15360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888163" y="1916113"/>
            <a:ext cx="3344862"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p:cTn id="7" dur="500" fill="hold"/>
                                        <p:tgtEl>
                                          <p:spTgt spid="3789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789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7891">
                                            <p:txEl>
                                              <p:pRg st="0" end="0"/>
                                            </p:tx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7891">
                                            <p:txEl>
                                              <p:pRg st="1" end="1"/>
                                            </p:txEl>
                                          </p:spTgt>
                                        </p:tgtEl>
                                        <p:attrNameLst>
                                          <p:attrName>style.visibility</p:attrName>
                                        </p:attrNameLst>
                                      </p:cBhvr>
                                      <p:to>
                                        <p:strVal val="visible"/>
                                      </p:to>
                                    </p:set>
                                    <p:anim calcmode="lin" valueType="num">
                                      <p:cBhvr>
                                        <p:cTn id="13" dur="500" fill="hold"/>
                                        <p:tgtEl>
                                          <p:spTgt spid="37891">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7891">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37891">
                                            <p:txEl>
                                              <p:pRg st="1" end="1"/>
                                            </p:txEl>
                                          </p:spTgt>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37891">
                                            <p:txEl>
                                              <p:pRg st="2" end="2"/>
                                            </p:txEl>
                                          </p:spTgt>
                                        </p:tgtEl>
                                        <p:attrNameLst>
                                          <p:attrName>style.visibility</p:attrName>
                                        </p:attrNameLst>
                                      </p:cBhvr>
                                      <p:to>
                                        <p:strVal val="visible"/>
                                      </p:to>
                                    </p:set>
                                    <p:anim calcmode="lin" valueType="num">
                                      <p:cBhvr>
                                        <p:cTn id="19" dur="500" fill="hold"/>
                                        <p:tgtEl>
                                          <p:spTgt spid="37891">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7891">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37891">
                                            <p:txEl>
                                              <p:pRg st="2" end="2"/>
                                            </p:txEl>
                                          </p:spTgt>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37891">
                                            <p:txEl>
                                              <p:pRg st="3" end="3"/>
                                            </p:txEl>
                                          </p:spTgt>
                                        </p:tgtEl>
                                        <p:attrNameLst>
                                          <p:attrName>style.visibility</p:attrName>
                                        </p:attrNameLst>
                                      </p:cBhvr>
                                      <p:to>
                                        <p:strVal val="visible"/>
                                      </p:to>
                                    </p:set>
                                    <p:anim calcmode="lin" valueType="num">
                                      <p:cBhvr>
                                        <p:cTn id="25" dur="500" fill="hold"/>
                                        <p:tgtEl>
                                          <p:spTgt spid="37891">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7891">
                                            <p:txEl>
                                              <p:pRg st="3" end="3"/>
                                            </p:txEl>
                                          </p:spTgt>
                                        </p:tgtEl>
                                        <p:attrNameLst>
                                          <p:attrName>ppt_h</p:attrName>
                                        </p:attrNameLst>
                                      </p:cBhvr>
                                      <p:tavLst>
                                        <p:tav tm="0">
                                          <p:val>
                                            <p:fltVal val="0"/>
                                          </p:val>
                                        </p:tav>
                                        <p:tav tm="100000">
                                          <p:val>
                                            <p:strVal val="#ppt_h"/>
                                          </p:val>
                                        </p:tav>
                                      </p:tavLst>
                                    </p:anim>
                                    <p:animEffect transition="in" filter="fade">
                                      <p:cBhvr>
                                        <p:cTn id="27" dur="500"/>
                                        <p:tgtEl>
                                          <p:spTgt spid="37891">
                                            <p:txEl>
                                              <p:pRg st="3" end="3"/>
                                            </p:txEl>
                                          </p:spTgt>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37891">
                                            <p:txEl>
                                              <p:pRg st="4" end="4"/>
                                            </p:txEl>
                                          </p:spTgt>
                                        </p:tgtEl>
                                        <p:attrNameLst>
                                          <p:attrName>style.visibility</p:attrName>
                                        </p:attrNameLst>
                                      </p:cBhvr>
                                      <p:to>
                                        <p:strVal val="visible"/>
                                      </p:to>
                                    </p:set>
                                    <p:anim calcmode="lin" valueType="num">
                                      <p:cBhvr>
                                        <p:cTn id="31" dur="500" fill="hold"/>
                                        <p:tgtEl>
                                          <p:spTgt spid="37891">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7891">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37891">
                                            <p:txEl>
                                              <p:pRg st="4" end="4"/>
                                            </p:txEl>
                                          </p:spTgt>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37891">
                                            <p:txEl>
                                              <p:pRg st="5" end="5"/>
                                            </p:txEl>
                                          </p:spTgt>
                                        </p:tgtEl>
                                        <p:attrNameLst>
                                          <p:attrName>style.visibility</p:attrName>
                                        </p:attrNameLst>
                                      </p:cBhvr>
                                      <p:to>
                                        <p:strVal val="visible"/>
                                      </p:to>
                                    </p:set>
                                    <p:anim calcmode="lin" valueType="num">
                                      <p:cBhvr>
                                        <p:cTn id="37" dur="500" fill="hold"/>
                                        <p:tgtEl>
                                          <p:spTgt spid="37891">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37891">
                                            <p:txEl>
                                              <p:pRg st="5" end="5"/>
                                            </p:txEl>
                                          </p:spTgt>
                                        </p:tgtEl>
                                        <p:attrNameLst>
                                          <p:attrName>ppt_h</p:attrName>
                                        </p:attrNameLst>
                                      </p:cBhvr>
                                      <p:tavLst>
                                        <p:tav tm="0">
                                          <p:val>
                                            <p:fltVal val="0"/>
                                          </p:val>
                                        </p:tav>
                                        <p:tav tm="100000">
                                          <p:val>
                                            <p:strVal val="#ppt_h"/>
                                          </p:val>
                                        </p:tav>
                                      </p:tavLst>
                                    </p:anim>
                                    <p:animEffect transition="in" filter="fade">
                                      <p:cBhvr>
                                        <p:cTn id="39" dur="500"/>
                                        <p:tgtEl>
                                          <p:spTgt spid="378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2046288" y="836613"/>
            <a:ext cx="8002587" cy="395287"/>
          </a:xfrm>
        </p:spPr>
        <p:txBody>
          <a:bodyPr/>
          <a:lstStyle/>
          <a:p>
            <a:pPr eaLnBrk="1" hangingPunct="1"/>
            <a:r>
              <a:rPr lang="zh-CN" altLang="en-US">
                <a:solidFill>
                  <a:srgbClr val="FF0000"/>
                </a:solidFill>
              </a:rPr>
              <a:t>工具扫描</a:t>
            </a:r>
            <a:endParaRPr lang="zh-CN" altLang="en-US">
              <a:solidFill>
                <a:srgbClr val="FF0000"/>
              </a:solidFill>
            </a:endParaRPr>
          </a:p>
        </p:txBody>
      </p:sp>
      <p:sp>
        <p:nvSpPr>
          <p:cNvPr id="39939" name="Text Box 3"/>
          <p:cNvSpPr txBox="1">
            <a:spLocks noChangeArrowheads="1"/>
          </p:cNvSpPr>
          <p:nvPr/>
        </p:nvSpPr>
        <p:spPr bwMode="auto">
          <a:xfrm>
            <a:off x="2519363" y="1452563"/>
            <a:ext cx="3529012" cy="459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just" eaLnBrk="1" hangingPunct="1">
              <a:spcBef>
                <a:spcPct val="0"/>
              </a:spcBef>
              <a:buClrTx/>
              <a:buFontTx/>
              <a:buChar char="•"/>
            </a:pPr>
            <a:r>
              <a:rPr kumimoji="1" lang="en-US" altLang="zh-CN">
                <a:latin typeface="华文中宋" panose="02010600040101010101" pitchFamily="2" charset="-122"/>
                <a:ea typeface="华文中宋" panose="02010600040101010101" pitchFamily="2" charset="-122"/>
              </a:rPr>
              <a:t> </a:t>
            </a:r>
            <a:r>
              <a:rPr kumimoji="1" lang="zh-CN" altLang="en-US">
                <a:latin typeface="华文中宋" panose="02010600040101010101" pitchFamily="2" charset="-122"/>
                <a:ea typeface="华文中宋" panose="02010600040101010101" pitchFamily="2" charset="-122"/>
              </a:rPr>
              <a:t>信息探测类       </a:t>
            </a:r>
            <a:endParaRPr kumimoji="1" lang="zh-CN" altLang="en-US">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zh-CN" altLang="en-US">
                <a:latin typeface="华文中宋" panose="02010600040101010101" pitchFamily="2" charset="-122"/>
                <a:ea typeface="华文中宋" panose="02010600040101010101" pitchFamily="2" charset="-122"/>
              </a:rPr>
              <a:t> 网络设备与防火墙 </a:t>
            </a:r>
            <a:endParaRPr kumimoji="1" lang="zh-CN" altLang="en-US">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zh-CN" altLang="en-US">
                <a:latin typeface="华文中宋" panose="02010600040101010101" pitchFamily="2" charset="-122"/>
                <a:ea typeface="华文中宋" panose="02010600040101010101" pitchFamily="2" charset="-122"/>
              </a:rPr>
              <a:t> </a:t>
            </a:r>
            <a:r>
              <a:rPr kumimoji="1" lang="en-US" altLang="zh-CN">
                <a:latin typeface="华文中宋" panose="02010600040101010101" pitchFamily="2" charset="-122"/>
                <a:ea typeface="华文中宋" panose="02010600040101010101" pitchFamily="2" charset="-122"/>
              </a:rPr>
              <a:t>RPC</a:t>
            </a:r>
            <a:r>
              <a:rPr kumimoji="1" lang="zh-CN" altLang="en-US">
                <a:latin typeface="华文中宋" panose="02010600040101010101" pitchFamily="2" charset="-122"/>
                <a:ea typeface="华文中宋" panose="02010600040101010101" pitchFamily="2" charset="-122"/>
              </a:rPr>
              <a:t>服务          </a:t>
            </a:r>
            <a:endParaRPr kumimoji="1" lang="zh-CN" altLang="en-US">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zh-CN" altLang="en-US">
                <a:latin typeface="华文中宋" panose="02010600040101010101" pitchFamily="2" charset="-122"/>
                <a:ea typeface="华文中宋" panose="02010600040101010101" pitchFamily="2" charset="-122"/>
              </a:rPr>
              <a:t> </a:t>
            </a:r>
            <a:r>
              <a:rPr kumimoji="1" lang="en-US" altLang="zh-CN">
                <a:latin typeface="华文中宋" panose="02010600040101010101" pitchFamily="2" charset="-122"/>
                <a:ea typeface="华文中宋" panose="02010600040101010101" pitchFamily="2" charset="-122"/>
              </a:rPr>
              <a:t>Web</a:t>
            </a:r>
            <a:r>
              <a:rPr kumimoji="1" lang="zh-CN" altLang="en-US">
                <a:latin typeface="华文中宋" panose="02010600040101010101" pitchFamily="2" charset="-122"/>
                <a:ea typeface="华文中宋" panose="02010600040101010101" pitchFamily="2" charset="-122"/>
              </a:rPr>
              <a:t>服务          </a:t>
            </a:r>
            <a:endParaRPr kumimoji="1" lang="zh-CN" altLang="en-US">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zh-CN" altLang="en-US">
                <a:latin typeface="华文中宋" panose="02010600040101010101" pitchFamily="2" charset="-122"/>
                <a:ea typeface="华文中宋" panose="02010600040101010101" pitchFamily="2" charset="-122"/>
              </a:rPr>
              <a:t> </a:t>
            </a:r>
            <a:r>
              <a:rPr kumimoji="1" lang="en-US" altLang="zh-CN">
                <a:latin typeface="华文中宋" panose="02010600040101010101" pitchFamily="2" charset="-122"/>
                <a:ea typeface="华文中宋" panose="02010600040101010101" pitchFamily="2" charset="-122"/>
              </a:rPr>
              <a:t>CGI</a:t>
            </a:r>
            <a:r>
              <a:rPr kumimoji="1" lang="zh-CN" altLang="en-US">
                <a:latin typeface="华文中宋" panose="02010600040101010101" pitchFamily="2" charset="-122"/>
                <a:ea typeface="华文中宋" panose="02010600040101010101" pitchFamily="2" charset="-122"/>
              </a:rPr>
              <a:t>问题          </a:t>
            </a:r>
            <a:endParaRPr kumimoji="1" lang="zh-CN" altLang="en-US">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zh-CN" altLang="en-US">
                <a:latin typeface="华文中宋" panose="02010600040101010101" pitchFamily="2" charset="-122"/>
                <a:ea typeface="华文中宋" panose="02010600040101010101" pitchFamily="2" charset="-122"/>
              </a:rPr>
              <a:t> 文件服务         </a:t>
            </a:r>
            <a:endParaRPr kumimoji="1" lang="zh-CN" altLang="en-US">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zh-CN" altLang="en-US">
                <a:latin typeface="华文中宋" panose="02010600040101010101" pitchFamily="2" charset="-122"/>
                <a:ea typeface="华文中宋" panose="02010600040101010101" pitchFamily="2" charset="-122"/>
              </a:rPr>
              <a:t> 域名服务</a:t>
            </a:r>
            <a:r>
              <a:rPr kumimoji="1" lang="zh-CN" altLang="en-US" sz="2400">
                <a:latin typeface="华文中宋" panose="02010600040101010101" pitchFamily="2" charset="-122"/>
                <a:ea typeface="华文中宋" panose="02010600040101010101" pitchFamily="2" charset="-122"/>
              </a:rPr>
              <a:t> </a:t>
            </a:r>
            <a:endParaRPr kumimoji="1" lang="zh-CN" altLang="en-US" sz="2400">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zh-CN" altLang="en-US">
                <a:latin typeface="华文中宋" panose="02010600040101010101" pitchFamily="2" charset="-122"/>
                <a:ea typeface="华文中宋" panose="02010600040101010101" pitchFamily="2" charset="-122"/>
              </a:rPr>
              <a:t> </a:t>
            </a:r>
            <a:r>
              <a:rPr kumimoji="1" lang="en-US" altLang="zh-CN">
                <a:latin typeface="华文中宋" panose="02010600040101010101" pitchFamily="2" charset="-122"/>
                <a:ea typeface="华文中宋" panose="02010600040101010101" pitchFamily="2" charset="-122"/>
              </a:rPr>
              <a:t>Mail</a:t>
            </a:r>
            <a:r>
              <a:rPr kumimoji="1" lang="zh-CN" altLang="en-US">
                <a:latin typeface="华文中宋" panose="02010600040101010101" pitchFamily="2" charset="-122"/>
                <a:ea typeface="华文中宋" panose="02010600040101010101" pitchFamily="2" charset="-122"/>
              </a:rPr>
              <a:t>服务</a:t>
            </a:r>
            <a:endParaRPr kumimoji="1" lang="zh-CN" altLang="en-US">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en-US" altLang="zh-CN">
                <a:latin typeface="华文中宋" panose="02010600040101010101" pitchFamily="2" charset="-122"/>
                <a:ea typeface="华文中宋" panose="02010600040101010101" pitchFamily="2" charset="-122"/>
              </a:rPr>
              <a:t>SQL</a:t>
            </a:r>
            <a:r>
              <a:rPr kumimoji="1" lang="zh-CN" altLang="en-US">
                <a:latin typeface="华文中宋" panose="02010600040101010101" pitchFamily="2" charset="-122"/>
                <a:ea typeface="华文中宋" panose="02010600040101010101" pitchFamily="2" charset="-122"/>
              </a:rPr>
              <a:t>注入检查</a:t>
            </a:r>
            <a:endParaRPr kumimoji="1" lang="zh-CN" altLang="en-US">
              <a:latin typeface="华文中宋" panose="02010600040101010101" pitchFamily="2" charset="-122"/>
              <a:ea typeface="华文中宋" panose="02010600040101010101" pitchFamily="2" charset="-122"/>
            </a:endParaRPr>
          </a:p>
          <a:p>
            <a:pPr algn="ctr" eaLnBrk="1" hangingPunct="1">
              <a:spcBef>
                <a:spcPct val="0"/>
              </a:spcBef>
              <a:buClrTx/>
              <a:buFontTx/>
              <a:buNone/>
            </a:pPr>
            <a:endParaRPr kumimoji="1" lang="en-US" altLang="zh-CN">
              <a:latin typeface="华文中宋" panose="02010600040101010101" pitchFamily="2" charset="-122"/>
              <a:ea typeface="华文中宋" panose="02010600040101010101" pitchFamily="2" charset="-122"/>
            </a:endParaRPr>
          </a:p>
        </p:txBody>
      </p:sp>
      <p:sp>
        <p:nvSpPr>
          <p:cNvPr id="39940" name="Text Box 4"/>
          <p:cNvSpPr txBox="1">
            <a:spLocks noChangeArrowheads="1"/>
          </p:cNvSpPr>
          <p:nvPr/>
        </p:nvSpPr>
        <p:spPr bwMode="auto">
          <a:xfrm>
            <a:off x="6167438" y="1452563"/>
            <a:ext cx="4146550" cy="269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lgn="just" eaLnBrk="1" hangingPunct="1">
              <a:spcBef>
                <a:spcPct val="0"/>
              </a:spcBef>
              <a:buClrTx/>
              <a:buFontTx/>
              <a:buChar char="•"/>
            </a:pPr>
            <a:r>
              <a:rPr kumimoji="1" lang="en-US" altLang="zh-CN">
                <a:latin typeface="华文中宋" panose="02010600040101010101" pitchFamily="2" charset="-122"/>
                <a:ea typeface="华文中宋" panose="02010600040101010101" pitchFamily="2" charset="-122"/>
              </a:rPr>
              <a:t> Windows</a:t>
            </a:r>
            <a:r>
              <a:rPr kumimoji="1" lang="zh-CN" altLang="en-US">
                <a:latin typeface="华文中宋" panose="02010600040101010101" pitchFamily="2" charset="-122"/>
                <a:ea typeface="华文中宋" panose="02010600040101010101" pitchFamily="2" charset="-122"/>
              </a:rPr>
              <a:t>远程访问     </a:t>
            </a:r>
            <a:endParaRPr kumimoji="1" lang="zh-CN" altLang="en-US">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zh-CN" altLang="en-US">
                <a:latin typeface="华文中宋" panose="02010600040101010101" pitchFamily="2" charset="-122"/>
                <a:ea typeface="华文中宋" panose="02010600040101010101" pitchFamily="2" charset="-122"/>
              </a:rPr>
              <a:t> 数据库问题          </a:t>
            </a:r>
            <a:endParaRPr kumimoji="1" lang="zh-CN" altLang="en-US">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zh-CN" altLang="en-US">
                <a:latin typeface="华文中宋" panose="02010600040101010101" pitchFamily="2" charset="-122"/>
                <a:ea typeface="华文中宋" panose="02010600040101010101" pitchFamily="2" charset="-122"/>
              </a:rPr>
              <a:t> 后门程序            </a:t>
            </a:r>
            <a:endParaRPr kumimoji="1" lang="zh-CN" altLang="en-US">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zh-CN" altLang="en-US">
                <a:latin typeface="华文中宋" panose="02010600040101010101" pitchFamily="2" charset="-122"/>
                <a:ea typeface="华文中宋" panose="02010600040101010101" pitchFamily="2" charset="-122"/>
              </a:rPr>
              <a:t> 其他服务            </a:t>
            </a:r>
            <a:endParaRPr kumimoji="1" lang="zh-CN" altLang="en-US">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zh-CN" altLang="en-US">
                <a:latin typeface="华文中宋" panose="02010600040101010101" pitchFamily="2" charset="-122"/>
                <a:ea typeface="华文中宋" panose="02010600040101010101" pitchFamily="2" charset="-122"/>
              </a:rPr>
              <a:t> 网络拒绝服务</a:t>
            </a:r>
            <a:r>
              <a:rPr kumimoji="1" lang="en-US" altLang="zh-CN">
                <a:latin typeface="华文中宋" panose="02010600040101010101" pitchFamily="2" charset="-122"/>
                <a:ea typeface="华文中宋" panose="02010600040101010101" pitchFamily="2" charset="-122"/>
              </a:rPr>
              <a:t>(DOS)    </a:t>
            </a:r>
            <a:endParaRPr kumimoji="1" lang="en-US" altLang="zh-CN">
              <a:latin typeface="华文中宋" panose="02010600040101010101" pitchFamily="2" charset="-122"/>
              <a:ea typeface="华文中宋" panose="02010600040101010101" pitchFamily="2" charset="-122"/>
            </a:endParaRPr>
          </a:p>
          <a:p>
            <a:pPr algn="just" eaLnBrk="1" hangingPunct="1">
              <a:spcBef>
                <a:spcPct val="0"/>
              </a:spcBef>
              <a:buClrTx/>
              <a:buFontTx/>
              <a:buChar char="•"/>
            </a:pPr>
            <a:r>
              <a:rPr kumimoji="1" lang="en-US" altLang="zh-CN">
                <a:latin typeface="华文中宋" panose="02010600040101010101" pitchFamily="2" charset="-122"/>
                <a:ea typeface="华文中宋" panose="02010600040101010101" pitchFamily="2" charset="-122"/>
              </a:rPr>
              <a:t> </a:t>
            </a:r>
            <a:r>
              <a:rPr kumimoji="1" lang="zh-CN" altLang="en-US">
                <a:latin typeface="华文中宋" panose="02010600040101010101" pitchFamily="2" charset="-122"/>
                <a:ea typeface="华文中宋" panose="02010600040101010101" pitchFamily="2" charset="-122"/>
              </a:rPr>
              <a:t>其他问题</a:t>
            </a:r>
            <a:r>
              <a:rPr kumimoji="1" lang="zh-CN" altLang="en-US" sz="1000">
                <a:latin typeface="华文中宋" panose="02010600040101010101" pitchFamily="2" charset="-122"/>
                <a:ea typeface="华文中宋" panose="02010600040101010101" pitchFamily="2" charset="-122"/>
              </a:rPr>
              <a:t>                  </a:t>
            </a:r>
            <a:endParaRPr kumimoji="1" lang="zh-CN" altLang="en-US" sz="1000">
              <a:latin typeface="华文中宋" panose="02010600040101010101" pitchFamily="2" charset="-122"/>
              <a:ea typeface="华文中宋" panose="02010600040101010101" pitchFamily="2" charset="-122"/>
            </a:endParaRPr>
          </a:p>
          <a:p>
            <a:pPr algn="ctr" eaLnBrk="1" hangingPunct="1">
              <a:spcBef>
                <a:spcPct val="0"/>
              </a:spcBef>
              <a:buClrTx/>
              <a:buFontTx/>
              <a:buNone/>
            </a:pPr>
            <a:endParaRPr kumimoji="1" lang="en-US" altLang="zh-CN" sz="2000">
              <a:latin typeface="华文中宋" panose="02010600040101010101" pitchFamily="2" charset="-122"/>
              <a:ea typeface="华文中宋" panose="02010600040101010101" pitchFamily="2" charset="-122"/>
            </a:endParaRPr>
          </a:p>
        </p:txBody>
      </p:sp>
      <p:pic>
        <p:nvPicPr>
          <p:cNvPr id="39941" name="Picture 5" descr="极光宣传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00725" y="4002088"/>
            <a:ext cx="4248150" cy="22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9939"/>
                                        </p:tgtEl>
                                        <p:attrNameLst>
                                          <p:attrName>style.visibility</p:attrName>
                                        </p:attrNameLst>
                                      </p:cBhvr>
                                      <p:to>
                                        <p:strVal val="visible"/>
                                      </p:to>
                                    </p:set>
                                    <p:anim calcmode="lin" valueType="num">
                                      <p:cBhvr>
                                        <p:cTn id="7" dur="500" fill="hold"/>
                                        <p:tgtEl>
                                          <p:spTgt spid="39939"/>
                                        </p:tgtEl>
                                        <p:attrNameLst>
                                          <p:attrName>ppt_w</p:attrName>
                                        </p:attrNameLst>
                                      </p:cBhvr>
                                      <p:tavLst>
                                        <p:tav tm="0">
                                          <p:val>
                                            <p:fltVal val="0"/>
                                          </p:val>
                                        </p:tav>
                                        <p:tav tm="100000">
                                          <p:val>
                                            <p:strVal val="#ppt_w"/>
                                          </p:val>
                                        </p:tav>
                                      </p:tavLst>
                                    </p:anim>
                                    <p:anim calcmode="lin" valueType="num">
                                      <p:cBhvr>
                                        <p:cTn id="8" dur="500" fill="hold"/>
                                        <p:tgtEl>
                                          <p:spTgt spid="39939"/>
                                        </p:tgtEl>
                                        <p:attrNameLst>
                                          <p:attrName>ppt_h</p:attrName>
                                        </p:attrNameLst>
                                      </p:cBhvr>
                                      <p:tavLst>
                                        <p:tav tm="0">
                                          <p:val>
                                            <p:fltVal val="0"/>
                                          </p:val>
                                        </p:tav>
                                        <p:tav tm="100000">
                                          <p:val>
                                            <p:strVal val="#ppt_h"/>
                                          </p:val>
                                        </p:tav>
                                      </p:tavLst>
                                    </p:anim>
                                    <p:animEffect transition="in" filter="fade">
                                      <p:cBhvr>
                                        <p:cTn id="9" dur="500"/>
                                        <p:tgtEl>
                                          <p:spTgt spid="39939"/>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9940"/>
                                        </p:tgtEl>
                                        <p:attrNameLst>
                                          <p:attrName>style.visibility</p:attrName>
                                        </p:attrNameLst>
                                      </p:cBhvr>
                                      <p:to>
                                        <p:strVal val="visible"/>
                                      </p:to>
                                    </p:set>
                                    <p:anim calcmode="lin" valueType="num">
                                      <p:cBhvr>
                                        <p:cTn id="13" dur="500" fill="hold"/>
                                        <p:tgtEl>
                                          <p:spTgt spid="39940"/>
                                        </p:tgtEl>
                                        <p:attrNameLst>
                                          <p:attrName>ppt_w</p:attrName>
                                        </p:attrNameLst>
                                      </p:cBhvr>
                                      <p:tavLst>
                                        <p:tav tm="0">
                                          <p:val>
                                            <p:fltVal val="0"/>
                                          </p:val>
                                        </p:tav>
                                        <p:tav tm="100000">
                                          <p:val>
                                            <p:strVal val="#ppt_w"/>
                                          </p:val>
                                        </p:tav>
                                      </p:tavLst>
                                    </p:anim>
                                    <p:anim calcmode="lin" valueType="num">
                                      <p:cBhvr>
                                        <p:cTn id="14" dur="500" fill="hold"/>
                                        <p:tgtEl>
                                          <p:spTgt spid="39940"/>
                                        </p:tgtEl>
                                        <p:attrNameLst>
                                          <p:attrName>ppt_h</p:attrName>
                                        </p:attrNameLst>
                                      </p:cBhvr>
                                      <p:tavLst>
                                        <p:tav tm="0">
                                          <p:val>
                                            <p:fltVal val="0"/>
                                          </p:val>
                                        </p:tav>
                                        <p:tav tm="100000">
                                          <p:val>
                                            <p:strVal val="#ppt_h"/>
                                          </p:val>
                                        </p:tav>
                                      </p:tavLst>
                                    </p:anim>
                                    <p:animEffect transition="in" filter="fade">
                                      <p:cBhvr>
                                        <p:cTn id="15" dur="500"/>
                                        <p:tgtEl>
                                          <p:spTgt spid="39940"/>
                                        </p:tgtEl>
                                      </p:cBhvr>
                                    </p:animEffect>
                                  </p:childTnLst>
                                </p:cTn>
                              </p:par>
                            </p:childTnLst>
                          </p:cTn>
                        </p:par>
                        <p:par>
                          <p:cTn id="16" fill="hold">
                            <p:stCondLst>
                              <p:cond delay="1000"/>
                            </p:stCondLst>
                            <p:childTnLst>
                              <p:par>
                                <p:cTn id="17" presetID="2" presetClass="entr" presetSubtype="4" fill="hold" nodeType="afterEffect">
                                  <p:stCondLst>
                                    <p:cond delay="0"/>
                                  </p:stCondLst>
                                  <p:childTnLst>
                                    <p:set>
                                      <p:cBhvr>
                                        <p:cTn id="18" dur="1" fill="hold">
                                          <p:stCondLst>
                                            <p:cond delay="0"/>
                                          </p:stCondLst>
                                        </p:cTn>
                                        <p:tgtEl>
                                          <p:spTgt spid="39941"/>
                                        </p:tgtEl>
                                        <p:attrNameLst>
                                          <p:attrName>style.visibility</p:attrName>
                                        </p:attrNameLst>
                                      </p:cBhvr>
                                      <p:to>
                                        <p:strVal val="visible"/>
                                      </p:to>
                                    </p:set>
                                    <p:anim calcmode="lin" valueType="num">
                                      <p:cBhvr additive="base">
                                        <p:cTn id="19" dur="500" fill="hold"/>
                                        <p:tgtEl>
                                          <p:spTgt spid="39941"/>
                                        </p:tgtEl>
                                        <p:attrNameLst>
                                          <p:attrName>ppt_x</p:attrName>
                                        </p:attrNameLst>
                                      </p:cBhvr>
                                      <p:tavLst>
                                        <p:tav tm="0">
                                          <p:val>
                                            <p:strVal val="#ppt_x"/>
                                          </p:val>
                                        </p:tav>
                                        <p:tav tm="100000">
                                          <p:val>
                                            <p:strVal val="#ppt_x"/>
                                          </p:val>
                                        </p:tav>
                                      </p:tavLst>
                                    </p:anim>
                                    <p:anim calcmode="lin" valueType="num">
                                      <p:cBhvr additive="base">
                                        <p:cTn id="20" dur="500" fill="hold"/>
                                        <p:tgtEl>
                                          <p:spTgt spid="399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p:bldP spid="39940"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1847850" y="703263"/>
            <a:ext cx="7486650" cy="465137"/>
          </a:xfrm>
        </p:spPr>
        <p:txBody>
          <a:bodyPr/>
          <a:lstStyle/>
          <a:p>
            <a:pPr eaLnBrk="1" hangingPunct="1"/>
            <a:r>
              <a:rPr lang="zh-CN" altLang="en-US">
                <a:solidFill>
                  <a:srgbClr val="FF0000"/>
                </a:solidFill>
              </a:rPr>
              <a:t>工具扫描</a:t>
            </a:r>
            <a:endParaRPr lang="zh-CN" altLang="en-US">
              <a:solidFill>
                <a:srgbClr val="FF0000"/>
              </a:solidFill>
            </a:endParaRPr>
          </a:p>
        </p:txBody>
      </p:sp>
      <p:pic>
        <p:nvPicPr>
          <p:cNvPr id="157699" name="Picture 3" descr="未命名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92313" y="1484313"/>
            <a:ext cx="550545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275" y="1196975"/>
            <a:ext cx="5553075" cy="510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538" y="1484313"/>
            <a:ext cx="5629275"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1675" y="1700213"/>
            <a:ext cx="5610225"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9028"/>
                                        </p:tgtEl>
                                        <p:attrNameLst>
                                          <p:attrName>style.visibility</p:attrName>
                                        </p:attrNameLst>
                                      </p:cBhvr>
                                      <p:to>
                                        <p:strVal val="visible"/>
                                      </p:to>
                                    </p:set>
                                    <p:animEffect transition="in" filter="randombar(horizontal)">
                                      <p:cBhvr>
                                        <p:cTn id="7" dur="500"/>
                                        <p:tgtEl>
                                          <p:spTgt spid="12902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9029"/>
                                        </p:tgtEl>
                                        <p:attrNameLst>
                                          <p:attrName>style.visibility</p:attrName>
                                        </p:attrNameLst>
                                      </p:cBhvr>
                                      <p:to>
                                        <p:strVal val="visible"/>
                                      </p:to>
                                    </p:set>
                                    <p:anim calcmode="lin" valueType="num">
                                      <p:cBhvr additive="base">
                                        <p:cTn id="12" dur="500" fill="hold"/>
                                        <p:tgtEl>
                                          <p:spTgt spid="129029"/>
                                        </p:tgtEl>
                                        <p:attrNameLst>
                                          <p:attrName>ppt_x</p:attrName>
                                        </p:attrNameLst>
                                      </p:cBhvr>
                                      <p:tavLst>
                                        <p:tav tm="0">
                                          <p:val>
                                            <p:strVal val="#ppt_x"/>
                                          </p:val>
                                        </p:tav>
                                        <p:tav tm="100000">
                                          <p:val>
                                            <p:strVal val="#ppt_x"/>
                                          </p:val>
                                        </p:tav>
                                      </p:tavLst>
                                    </p:anim>
                                    <p:anim calcmode="lin" valueType="num">
                                      <p:cBhvr additive="base">
                                        <p:cTn id="13" dur="500" fill="hold"/>
                                        <p:tgtEl>
                                          <p:spTgt spid="12902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129030"/>
                                        </p:tgtEl>
                                        <p:attrNameLst>
                                          <p:attrName>style.visibility</p:attrName>
                                        </p:attrNameLst>
                                      </p:cBhvr>
                                      <p:to>
                                        <p:strVal val="visible"/>
                                      </p:to>
                                    </p:set>
                                    <p:animEffect transition="in" filter="randombar(horizontal)">
                                      <p:cBhvr>
                                        <p:cTn id="18" dur="500"/>
                                        <p:tgtEl>
                                          <p:spTgt spid="129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1847850" y="765175"/>
            <a:ext cx="7631113" cy="431800"/>
          </a:xfrm>
        </p:spPr>
        <p:txBody>
          <a:bodyPr/>
          <a:lstStyle/>
          <a:p>
            <a:pPr eaLnBrk="1" hangingPunct="1"/>
            <a:r>
              <a:rPr lang="zh-CN" altLang="en-US">
                <a:solidFill>
                  <a:srgbClr val="FF0000"/>
                </a:solidFill>
              </a:rPr>
              <a:t>人工检查</a:t>
            </a:r>
            <a:endParaRPr lang="zh-CN" altLang="en-US">
              <a:solidFill>
                <a:srgbClr val="FF0000"/>
              </a:solidFill>
            </a:endParaRPr>
          </a:p>
        </p:txBody>
      </p:sp>
      <p:sp>
        <p:nvSpPr>
          <p:cNvPr id="44035" name="Rectangle 3"/>
          <p:cNvSpPr>
            <a:spLocks noGrp="1" noChangeArrowheads="1"/>
          </p:cNvSpPr>
          <p:nvPr>
            <p:ph type="body" idx="1"/>
          </p:nvPr>
        </p:nvSpPr>
        <p:spPr>
          <a:xfrm>
            <a:off x="2135188" y="1484313"/>
            <a:ext cx="8240712" cy="2892425"/>
          </a:xfrm>
        </p:spPr>
        <p:txBody>
          <a:bodyPr/>
          <a:lstStyle/>
          <a:p>
            <a:pPr eaLnBrk="1" hangingPunct="1">
              <a:spcBef>
                <a:spcPct val="0"/>
              </a:spcBef>
            </a:pPr>
            <a:r>
              <a:rPr lang="zh-CN" altLang="en-US" sz="2400">
                <a:latin typeface="华文中宋" panose="02010600040101010101" pitchFamily="2" charset="-122"/>
              </a:rPr>
              <a:t>路由器、交换机等网络设备的配置是否最优，是否配置了安全参数；</a:t>
            </a:r>
            <a:endParaRPr lang="zh-CN" altLang="en-US" sz="2400">
              <a:latin typeface="华文中宋" panose="02010600040101010101" pitchFamily="2" charset="-122"/>
            </a:endParaRPr>
          </a:p>
          <a:p>
            <a:pPr eaLnBrk="1" hangingPunct="1">
              <a:spcBef>
                <a:spcPct val="0"/>
              </a:spcBef>
            </a:pPr>
            <a:r>
              <a:rPr lang="zh-CN" altLang="en-US" sz="2400">
                <a:latin typeface="华文中宋" panose="02010600040101010101" pitchFamily="2" charset="-122"/>
              </a:rPr>
              <a:t>主机系统的安全配置策略是否最优，是否进行了安全增强；</a:t>
            </a:r>
            <a:endParaRPr lang="zh-CN" altLang="en-US" sz="2400">
              <a:latin typeface="华文中宋" panose="02010600040101010101" pitchFamily="2" charset="-122"/>
            </a:endParaRPr>
          </a:p>
          <a:p>
            <a:pPr eaLnBrk="1" hangingPunct="1">
              <a:spcBef>
                <a:spcPct val="0"/>
              </a:spcBef>
            </a:pPr>
            <a:r>
              <a:rPr lang="zh-CN" altLang="en-US" sz="2400">
                <a:latin typeface="华文中宋" panose="02010600040101010101" pitchFamily="2" charset="-122"/>
              </a:rPr>
              <a:t>终端设备的安全配置策略是否最优，是否进行了安全增强</a:t>
            </a:r>
            <a:r>
              <a:rPr lang="en-US" altLang="zh-CN" sz="2400">
                <a:latin typeface="华文中宋" panose="02010600040101010101" pitchFamily="2" charset="-122"/>
              </a:rPr>
              <a:t>;</a:t>
            </a:r>
            <a:endParaRPr lang="en-US" altLang="zh-CN" sz="2400">
              <a:latin typeface="华文中宋" panose="02010600040101010101" pitchFamily="2" charset="-122"/>
            </a:endParaRPr>
          </a:p>
          <a:p>
            <a:pPr eaLnBrk="1" hangingPunct="1">
              <a:spcBef>
                <a:spcPct val="0"/>
              </a:spcBef>
            </a:pPr>
            <a:r>
              <a:rPr lang="zh-CN" altLang="en-US" sz="2400">
                <a:latin typeface="华文中宋" panose="02010600040101010101" pitchFamily="2" charset="-122"/>
              </a:rPr>
              <a:t>对终端设备和主机系统抽查进行病毒扫描；</a:t>
            </a:r>
            <a:endParaRPr lang="zh-CN" altLang="en-US" sz="2400">
              <a:latin typeface="华文中宋" panose="02010600040101010101" pitchFamily="2" charset="-122"/>
            </a:endParaRPr>
          </a:p>
          <a:p>
            <a:pPr eaLnBrk="1" hangingPunct="1">
              <a:spcBef>
                <a:spcPct val="0"/>
              </a:spcBef>
            </a:pPr>
            <a:r>
              <a:rPr lang="zh-CN" altLang="en-US" sz="2400">
                <a:latin typeface="华文中宋" panose="02010600040101010101" pitchFamily="2" charset="-122"/>
              </a:rPr>
              <a:t>对防火墙、入侵检测、</a:t>
            </a:r>
            <a:r>
              <a:rPr lang="en-US" altLang="zh-CN" sz="2400">
                <a:latin typeface="华文中宋" panose="02010600040101010101" pitchFamily="2" charset="-122"/>
              </a:rPr>
              <a:t>SUS</a:t>
            </a:r>
            <a:r>
              <a:rPr lang="zh-CN" altLang="en-US" sz="2400">
                <a:latin typeface="华文中宋" panose="02010600040101010101" pitchFamily="2" charset="-122"/>
              </a:rPr>
              <a:t>、</a:t>
            </a:r>
            <a:r>
              <a:rPr lang="en-US" altLang="zh-CN" sz="2400">
                <a:latin typeface="华文中宋" panose="02010600040101010101" pitchFamily="2" charset="-122"/>
              </a:rPr>
              <a:t>SMS</a:t>
            </a:r>
            <a:r>
              <a:rPr lang="zh-CN" altLang="en-US" sz="2400">
                <a:latin typeface="华文中宋" panose="02010600040101010101" pitchFamily="2" charset="-122"/>
              </a:rPr>
              <a:t>等安全产品安全策略及其日志进行分析。</a:t>
            </a:r>
            <a:endParaRPr lang="zh-CN" altLang="en-US" sz="2400">
              <a:latin typeface="华文中宋" panose="02010600040101010101" pitchFamily="2" charset="-122"/>
            </a:endParaRPr>
          </a:p>
        </p:txBody>
      </p:sp>
      <p:pic>
        <p:nvPicPr>
          <p:cNvPr id="159748"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454650" y="3933825"/>
            <a:ext cx="4010025" cy="222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p:cTn id="7" dur="500" fill="hold"/>
                                        <p:tgtEl>
                                          <p:spTgt spid="4403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403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4035">
                                            <p:txEl>
                                              <p:pRg st="0" end="0"/>
                                            </p:tx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4035">
                                            <p:txEl>
                                              <p:pRg st="1" end="1"/>
                                            </p:txEl>
                                          </p:spTgt>
                                        </p:tgtEl>
                                        <p:attrNameLst>
                                          <p:attrName>style.visibility</p:attrName>
                                        </p:attrNameLst>
                                      </p:cBhvr>
                                      <p:to>
                                        <p:strVal val="visible"/>
                                      </p:to>
                                    </p:set>
                                    <p:anim calcmode="lin" valueType="num">
                                      <p:cBhvr>
                                        <p:cTn id="13" dur="500" fill="hold"/>
                                        <p:tgtEl>
                                          <p:spTgt spid="44035">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44035">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44035">
                                            <p:txEl>
                                              <p:pRg st="1" end="1"/>
                                            </p:txEl>
                                          </p:spTgt>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44035">
                                            <p:txEl>
                                              <p:pRg st="2" end="2"/>
                                            </p:txEl>
                                          </p:spTgt>
                                        </p:tgtEl>
                                        <p:attrNameLst>
                                          <p:attrName>style.visibility</p:attrName>
                                        </p:attrNameLst>
                                      </p:cBhvr>
                                      <p:to>
                                        <p:strVal val="visible"/>
                                      </p:to>
                                    </p:set>
                                    <p:anim calcmode="lin" valueType="num">
                                      <p:cBhvr>
                                        <p:cTn id="19" dur="500" fill="hold"/>
                                        <p:tgtEl>
                                          <p:spTgt spid="44035">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44035">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44035">
                                            <p:txEl>
                                              <p:pRg st="2" end="2"/>
                                            </p:txEl>
                                          </p:spTgt>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44035">
                                            <p:txEl>
                                              <p:pRg st="3" end="3"/>
                                            </p:txEl>
                                          </p:spTgt>
                                        </p:tgtEl>
                                        <p:attrNameLst>
                                          <p:attrName>style.visibility</p:attrName>
                                        </p:attrNameLst>
                                      </p:cBhvr>
                                      <p:to>
                                        <p:strVal val="visible"/>
                                      </p:to>
                                    </p:set>
                                    <p:anim calcmode="lin" valueType="num">
                                      <p:cBhvr>
                                        <p:cTn id="25" dur="500" fill="hold"/>
                                        <p:tgtEl>
                                          <p:spTgt spid="44035">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44035">
                                            <p:txEl>
                                              <p:pRg st="3" end="3"/>
                                            </p:txEl>
                                          </p:spTgt>
                                        </p:tgtEl>
                                        <p:attrNameLst>
                                          <p:attrName>ppt_h</p:attrName>
                                        </p:attrNameLst>
                                      </p:cBhvr>
                                      <p:tavLst>
                                        <p:tav tm="0">
                                          <p:val>
                                            <p:fltVal val="0"/>
                                          </p:val>
                                        </p:tav>
                                        <p:tav tm="100000">
                                          <p:val>
                                            <p:strVal val="#ppt_h"/>
                                          </p:val>
                                        </p:tav>
                                      </p:tavLst>
                                    </p:anim>
                                    <p:animEffect transition="in" filter="fade">
                                      <p:cBhvr>
                                        <p:cTn id="27" dur="500"/>
                                        <p:tgtEl>
                                          <p:spTgt spid="44035">
                                            <p:txEl>
                                              <p:pRg st="3" end="3"/>
                                            </p:txEl>
                                          </p:spTgt>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44035">
                                            <p:txEl>
                                              <p:pRg st="4" end="4"/>
                                            </p:txEl>
                                          </p:spTgt>
                                        </p:tgtEl>
                                        <p:attrNameLst>
                                          <p:attrName>style.visibility</p:attrName>
                                        </p:attrNameLst>
                                      </p:cBhvr>
                                      <p:to>
                                        <p:strVal val="visible"/>
                                      </p:to>
                                    </p:set>
                                    <p:anim calcmode="lin" valueType="num">
                                      <p:cBhvr>
                                        <p:cTn id="31" dur="500" fill="hold"/>
                                        <p:tgtEl>
                                          <p:spTgt spid="44035">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44035">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440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1774825" y="692150"/>
            <a:ext cx="7631113" cy="576263"/>
          </a:xfrm>
        </p:spPr>
        <p:txBody>
          <a:bodyPr/>
          <a:lstStyle/>
          <a:p>
            <a:pPr eaLnBrk="1" hangingPunct="1"/>
            <a:r>
              <a:rPr lang="en-US" altLang="zh-CN">
                <a:solidFill>
                  <a:srgbClr val="FF0000"/>
                </a:solidFill>
              </a:rPr>
              <a:t>IDS</a:t>
            </a:r>
            <a:r>
              <a:rPr lang="zh-CN" altLang="en-US">
                <a:solidFill>
                  <a:srgbClr val="FF0000"/>
                </a:solidFill>
              </a:rPr>
              <a:t>采样分析</a:t>
            </a:r>
            <a:endParaRPr lang="zh-CN" altLang="en-US">
              <a:solidFill>
                <a:srgbClr val="FF0000"/>
              </a:solidFill>
            </a:endParaRPr>
          </a:p>
        </p:txBody>
      </p:sp>
      <p:pic>
        <p:nvPicPr>
          <p:cNvPr id="135171" name="Picture 3" descr="未命名3"/>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47850" y="1412875"/>
            <a:ext cx="6942138"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72" name="Picture 4" descr="未命名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00375" y="1412875"/>
            <a:ext cx="6980238"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35171"/>
                                        </p:tgtEl>
                                        <p:attrNameLst>
                                          <p:attrName>ppt_x</p:attrName>
                                        </p:attrNameLst>
                                      </p:cBhvr>
                                      <p:tavLst>
                                        <p:tav tm="0">
                                          <p:val>
                                            <p:strVal val="ppt_x"/>
                                          </p:val>
                                        </p:tav>
                                        <p:tav tm="100000">
                                          <p:val>
                                            <p:strVal val="ppt_x"/>
                                          </p:val>
                                        </p:tav>
                                      </p:tavLst>
                                    </p:anim>
                                    <p:anim calcmode="lin" valueType="num">
                                      <p:cBhvr additive="base">
                                        <p:cTn id="7" dur="500"/>
                                        <p:tgtEl>
                                          <p:spTgt spid="135171"/>
                                        </p:tgtEl>
                                        <p:attrNameLst>
                                          <p:attrName>ppt_y</p:attrName>
                                        </p:attrNameLst>
                                      </p:cBhvr>
                                      <p:tavLst>
                                        <p:tav tm="0">
                                          <p:val>
                                            <p:strVal val="ppt_y"/>
                                          </p:val>
                                        </p:tav>
                                        <p:tav tm="100000">
                                          <p:val>
                                            <p:strVal val="1+ppt_h/2"/>
                                          </p:val>
                                        </p:tav>
                                      </p:tavLst>
                                    </p:anim>
                                    <p:set>
                                      <p:cBhvr>
                                        <p:cTn id="8" dur="1" fill="hold">
                                          <p:stCondLst>
                                            <p:cond delay="499"/>
                                          </p:stCondLst>
                                        </p:cTn>
                                        <p:tgtEl>
                                          <p:spTgt spid="135171"/>
                                        </p:tgtEl>
                                        <p:attrNameLst>
                                          <p:attrName>style.visibility</p:attrName>
                                        </p:attrNameLst>
                                      </p:cBhvr>
                                      <p:to>
                                        <p:strVal val="hidden"/>
                                      </p:to>
                                    </p:set>
                                  </p:childTnLst>
                                </p:cTn>
                              </p:par>
                              <p:par>
                                <p:cTn id="9" presetID="14" presetClass="entr" presetSubtype="10" fill="hold" nodeType="withEffect">
                                  <p:stCondLst>
                                    <p:cond delay="0"/>
                                  </p:stCondLst>
                                  <p:childTnLst>
                                    <p:set>
                                      <p:cBhvr>
                                        <p:cTn id="10" dur="1" fill="hold">
                                          <p:stCondLst>
                                            <p:cond delay="0"/>
                                          </p:stCondLst>
                                        </p:cTn>
                                        <p:tgtEl>
                                          <p:spTgt spid="135172"/>
                                        </p:tgtEl>
                                        <p:attrNameLst>
                                          <p:attrName>style.visibility</p:attrName>
                                        </p:attrNameLst>
                                      </p:cBhvr>
                                      <p:to>
                                        <p:strVal val="visible"/>
                                      </p:to>
                                    </p:set>
                                    <p:animEffect transition="in" filter="randombar(horizontal)">
                                      <p:cBhvr>
                                        <p:cTn id="11" dur="500"/>
                                        <p:tgtEl>
                                          <p:spTgt spid="135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1919288" y="908050"/>
            <a:ext cx="7342187" cy="433388"/>
          </a:xfrm>
        </p:spPr>
        <p:txBody>
          <a:bodyPr/>
          <a:lstStyle/>
          <a:p>
            <a:pPr eaLnBrk="1" hangingPunct="1"/>
            <a:r>
              <a:rPr lang="zh-CN" altLang="en-US">
                <a:solidFill>
                  <a:srgbClr val="FF0000"/>
                </a:solidFill>
              </a:rPr>
              <a:t>渗透测试</a:t>
            </a:r>
            <a:endParaRPr lang="zh-CN" altLang="en-US">
              <a:solidFill>
                <a:srgbClr val="FF0000"/>
              </a:solidFill>
            </a:endParaRPr>
          </a:p>
        </p:txBody>
      </p:sp>
      <p:sp>
        <p:nvSpPr>
          <p:cNvPr id="48131" name="Rectangle 3"/>
          <p:cNvSpPr>
            <a:spLocks noGrp="1" noChangeArrowheads="1"/>
          </p:cNvSpPr>
          <p:nvPr>
            <p:ph type="body" idx="1"/>
          </p:nvPr>
        </p:nvSpPr>
        <p:spPr>
          <a:xfrm>
            <a:off x="2135188" y="1628775"/>
            <a:ext cx="7848600" cy="3600450"/>
          </a:xfrm>
        </p:spPr>
        <p:txBody>
          <a:bodyPr/>
          <a:lstStyle/>
          <a:p>
            <a:pPr eaLnBrk="1" hangingPunct="1"/>
            <a:r>
              <a:rPr lang="zh-CN" altLang="en-US" sz="2400">
                <a:latin typeface="华文中宋" panose="02010600040101010101" pitchFamily="2" charset="-122"/>
              </a:rPr>
              <a:t>完全模拟黑客可能使用的攻击技术和漏洞发现技术，对重点目标系统的安全作深入的探测，发现系统最脆弱的环节。</a:t>
            </a:r>
            <a:endParaRPr lang="zh-CN" altLang="en-US" sz="2400">
              <a:latin typeface="华文中宋" panose="02010600040101010101" pitchFamily="2" charset="-122"/>
            </a:endParaRPr>
          </a:p>
          <a:p>
            <a:pPr eaLnBrk="1" hangingPunct="1"/>
            <a:r>
              <a:rPr lang="zh-CN" altLang="en-US"/>
              <a:t>渗透测试的目的不是发现系统所有的问题，而是从一个侧面反映系统现有的安全状况和安全强度，从而以一种直观的方式增强单位的信息安全认知度，提高单位对信息安全的重视程度。 </a:t>
            </a:r>
            <a:endParaRPr lang="zh-CN" altLang="en-US" sz="2400">
              <a:latin typeface="华文中宋" panose="02010600040101010101" pitchFamily="2" charset="-122"/>
            </a:endParaRPr>
          </a:p>
          <a:p>
            <a:pPr eaLnBrk="1" hangingPunct="1"/>
            <a:r>
              <a:rPr lang="zh-CN" altLang="en-US" sz="2400">
                <a:latin typeface="华文中宋" panose="02010600040101010101" pitchFamily="2" charset="-122"/>
              </a:rPr>
              <a:t>根据用户方需求决定是否采用。</a:t>
            </a:r>
            <a:endParaRPr lang="zh-CN" altLang="en-US" sz="2400">
              <a:latin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p:cTn id="7" dur="500" fill="hold"/>
                                        <p:tgtEl>
                                          <p:spTgt spid="4813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813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8131">
                                            <p:txEl>
                                              <p:pRg st="0" end="0"/>
                                            </p:tx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8131">
                                            <p:txEl>
                                              <p:pRg st="1" end="1"/>
                                            </p:txEl>
                                          </p:spTgt>
                                        </p:tgtEl>
                                        <p:attrNameLst>
                                          <p:attrName>style.visibility</p:attrName>
                                        </p:attrNameLst>
                                      </p:cBhvr>
                                      <p:to>
                                        <p:strVal val="visible"/>
                                      </p:to>
                                    </p:set>
                                    <p:anim calcmode="lin" valueType="num">
                                      <p:cBhvr>
                                        <p:cTn id="13" dur="500" fill="hold"/>
                                        <p:tgtEl>
                                          <p:spTgt spid="48131">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48131">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48131">
                                            <p:txEl>
                                              <p:pRg st="1" end="1"/>
                                            </p:txEl>
                                          </p:spTgt>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48131">
                                            <p:txEl>
                                              <p:pRg st="2" end="2"/>
                                            </p:txEl>
                                          </p:spTgt>
                                        </p:tgtEl>
                                        <p:attrNameLst>
                                          <p:attrName>style.visibility</p:attrName>
                                        </p:attrNameLst>
                                      </p:cBhvr>
                                      <p:to>
                                        <p:strVal val="visible"/>
                                      </p:to>
                                    </p:set>
                                    <p:anim calcmode="lin" valueType="num">
                                      <p:cBhvr>
                                        <p:cTn id="19" dur="500" fill="hold"/>
                                        <p:tgtEl>
                                          <p:spTgt spid="48131">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48131">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481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标题 1"/>
          <p:cNvSpPr>
            <a:spLocks noGrp="1" noChangeArrowheads="1"/>
          </p:cNvSpPr>
          <p:nvPr>
            <p:ph type="ctrTitle"/>
          </p:nvPr>
        </p:nvSpPr>
        <p:spPr>
          <a:xfrm>
            <a:off x="2135188" y="981075"/>
            <a:ext cx="6513512" cy="487363"/>
          </a:xfrm>
        </p:spPr>
        <p:txBody>
          <a:bodyPr anchor="ctr"/>
          <a:lstStyle/>
          <a:p>
            <a:pPr algn="l"/>
            <a:r>
              <a:rPr lang="zh-CN" altLang="en-US" sz="3200">
                <a:solidFill>
                  <a:srgbClr val="FF0000"/>
                </a:solidFill>
              </a:rPr>
              <a:t>确认已有的安全控制</a:t>
            </a:r>
            <a:endParaRPr lang="zh-CN" altLang="en-US" sz="3200">
              <a:solidFill>
                <a:srgbClr val="FF0000"/>
              </a:solidFill>
            </a:endParaRPr>
          </a:p>
        </p:txBody>
      </p:sp>
      <p:sp>
        <p:nvSpPr>
          <p:cNvPr id="165891" name="内容占位符 2"/>
          <p:cNvSpPr>
            <a:spLocks noGrp="1" noChangeArrowheads="1"/>
          </p:cNvSpPr>
          <p:nvPr>
            <p:ph type="subTitle" idx="1"/>
          </p:nvPr>
        </p:nvSpPr>
        <p:spPr>
          <a:xfrm>
            <a:off x="2782888" y="1700213"/>
            <a:ext cx="3889375" cy="2701925"/>
          </a:xfrm>
        </p:spPr>
        <p:txBody>
          <a:bodyPr/>
          <a:lstStyle/>
          <a:p>
            <a:pPr marL="342900" indent="-342900" algn="l">
              <a:buFont typeface="Wingdings" panose="05000000000000000000" pitchFamily="2" charset="2"/>
              <a:buChar char="v"/>
            </a:pPr>
            <a:r>
              <a:rPr lang="zh-CN" altLang="en-US" sz="2800"/>
              <a:t>考虑：</a:t>
            </a:r>
            <a:endParaRPr lang="en-US" altLang="zh-CN" sz="2800"/>
          </a:p>
          <a:p>
            <a:pPr marL="742950" lvl="1" indent="-285750" algn="l">
              <a:buFont typeface="Wingdings" panose="05000000000000000000" pitchFamily="2" charset="2"/>
              <a:buChar char="§"/>
            </a:pPr>
            <a:r>
              <a:rPr lang="zh-CN" altLang="en-US" sz="2600" b="1"/>
              <a:t>预防性措施</a:t>
            </a:r>
            <a:endParaRPr lang="zh-CN" altLang="en-US" sz="2600" b="1"/>
          </a:p>
          <a:p>
            <a:pPr marL="742950" lvl="1" indent="-285750" algn="l">
              <a:buFont typeface="Wingdings" panose="05000000000000000000" pitchFamily="2" charset="2"/>
              <a:buChar char="§"/>
            </a:pPr>
            <a:r>
              <a:rPr lang="zh-CN" altLang="en-US" sz="2600" b="1"/>
              <a:t>检测性措施</a:t>
            </a:r>
            <a:endParaRPr lang="zh-CN" altLang="en-US" sz="2600" b="1"/>
          </a:p>
          <a:p>
            <a:pPr marL="742950" lvl="1" indent="-285750" algn="l">
              <a:buFont typeface="Wingdings" panose="05000000000000000000" pitchFamily="2" charset="2"/>
              <a:buChar char="§"/>
            </a:pPr>
            <a:r>
              <a:rPr lang="zh-CN" altLang="en-US" sz="2600" b="1"/>
              <a:t>纠正性措施</a:t>
            </a:r>
            <a:endParaRPr lang="zh-CN" altLang="en-US" sz="2600" b="1"/>
          </a:p>
          <a:p>
            <a:pPr marL="742950" lvl="1" indent="-285750" algn="l">
              <a:buFont typeface="Wingdings" panose="05000000000000000000" pitchFamily="2" charset="2"/>
              <a:buChar char="§"/>
            </a:pPr>
            <a:r>
              <a:rPr lang="zh-CN" altLang="en-US" sz="2600" b="1"/>
              <a:t>威慑性措施</a:t>
            </a:r>
            <a:endParaRPr lang="zh-CN" altLang="en-US" sz="2600" b="1"/>
          </a:p>
          <a:p>
            <a:pPr marL="742950" lvl="1" indent="-285750" algn="l">
              <a:buFont typeface="Wingdings" panose="05000000000000000000" pitchFamily="2" charset="2"/>
              <a:buChar char="§"/>
            </a:pPr>
            <a:endParaRPr lang="zh-CN" altLang="en-US" sz="2600"/>
          </a:p>
          <a:p>
            <a:pPr marL="342900" indent="-342900" algn="l">
              <a:buFont typeface="Wingdings" panose="05000000000000000000" pitchFamily="2" charset="2"/>
              <a:buChar char="v"/>
            </a:pPr>
            <a:endParaRPr lang="zh-CN" altLang="en-US" sz="2800"/>
          </a:p>
        </p:txBody>
      </p:sp>
      <p:pic>
        <p:nvPicPr>
          <p:cNvPr id="165892"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167438" y="2997200"/>
            <a:ext cx="4170362" cy="320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标题 1"/>
          <p:cNvSpPr>
            <a:spLocks noGrp="1" noChangeArrowheads="1"/>
          </p:cNvSpPr>
          <p:nvPr>
            <p:ph type="ctrTitle"/>
          </p:nvPr>
        </p:nvSpPr>
        <p:spPr>
          <a:xfrm>
            <a:off x="2347913" y="908050"/>
            <a:ext cx="7596187" cy="487363"/>
          </a:xfrm>
        </p:spPr>
        <p:txBody>
          <a:bodyPr anchor="ctr"/>
          <a:lstStyle/>
          <a:p>
            <a:pPr algn="l"/>
            <a:r>
              <a:rPr lang="zh-CN" altLang="en-US" sz="3200">
                <a:solidFill>
                  <a:srgbClr val="FF0000"/>
                </a:solidFill>
              </a:rPr>
              <a:t>风险分析</a:t>
            </a:r>
            <a:endParaRPr lang="zh-CN" altLang="en-US" sz="3200">
              <a:solidFill>
                <a:srgbClr val="FF0000"/>
              </a:solidFill>
            </a:endParaRPr>
          </a:p>
        </p:txBody>
      </p:sp>
      <p:sp>
        <p:nvSpPr>
          <p:cNvPr id="166915" name="Rectangle 2"/>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pic>
        <p:nvPicPr>
          <p:cNvPr id="166916"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63988" y="1844675"/>
            <a:ext cx="4364037" cy="413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159125" y="2143125"/>
            <a:ext cx="6105525" cy="207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39" name="标题 1"/>
          <p:cNvSpPr>
            <a:spLocks noGrp="1" noChangeArrowheads="1"/>
          </p:cNvSpPr>
          <p:nvPr>
            <p:ph type="ctrTitle"/>
          </p:nvPr>
        </p:nvSpPr>
        <p:spPr>
          <a:xfrm>
            <a:off x="2208213" y="744538"/>
            <a:ext cx="6513512" cy="487362"/>
          </a:xfrm>
        </p:spPr>
        <p:txBody>
          <a:bodyPr anchor="ctr"/>
          <a:lstStyle/>
          <a:p>
            <a:pPr algn="l"/>
            <a:r>
              <a:rPr lang="zh-CN" altLang="en-US" sz="3200">
                <a:solidFill>
                  <a:srgbClr val="FF0000"/>
                </a:solidFill>
              </a:rPr>
              <a:t>风险分析</a:t>
            </a:r>
            <a:endParaRPr lang="zh-CN" altLang="en-US" sz="3200">
              <a:solidFill>
                <a:srgbClr val="FF0000"/>
              </a:solidFill>
            </a:endParaRPr>
          </a:p>
        </p:txBody>
      </p:sp>
      <p:sp>
        <p:nvSpPr>
          <p:cNvPr id="106499" name="内容占位符 2"/>
          <p:cNvSpPr>
            <a:spLocks noGrp="1" noChangeArrowheads="1"/>
          </p:cNvSpPr>
          <p:nvPr>
            <p:ph type="subTitle" idx="1"/>
          </p:nvPr>
        </p:nvSpPr>
        <p:spPr>
          <a:xfrm>
            <a:off x="2063750" y="1319213"/>
            <a:ext cx="8191500" cy="901700"/>
          </a:xfrm>
        </p:spPr>
        <p:txBody>
          <a:bodyPr/>
          <a:lstStyle/>
          <a:p>
            <a:pPr marL="342900" indent="-342900" algn="l">
              <a:buFont typeface="Wingdings" panose="05000000000000000000" pitchFamily="2" charset="2"/>
              <a:buChar char="v"/>
            </a:pPr>
            <a:r>
              <a:rPr lang="en-US" altLang="zh-CN" sz="2400" b="1"/>
              <a:t>GB/T 20984-2007《</a:t>
            </a:r>
            <a:r>
              <a:rPr lang="zh-CN" altLang="en-US" sz="2400" b="1"/>
              <a:t>信息安全风险评估规范</a:t>
            </a:r>
            <a:r>
              <a:rPr lang="en-US" altLang="zh-CN" sz="2400" b="1"/>
              <a:t>》</a:t>
            </a:r>
            <a:r>
              <a:rPr lang="zh-CN" altLang="en-US" sz="2400" b="1"/>
              <a:t>给出信息安全风险分析思路</a:t>
            </a:r>
            <a:endParaRPr lang="zh-CN" altLang="en-US" sz="2800"/>
          </a:p>
          <a:p>
            <a:pPr marL="342900" indent="-342900" algn="l">
              <a:buFont typeface="Wingdings" panose="05000000000000000000" pitchFamily="2" charset="2"/>
              <a:buChar char="v"/>
            </a:pPr>
            <a:endParaRPr lang="zh-CN" altLang="en-US" sz="2800"/>
          </a:p>
          <a:p>
            <a:pPr marL="342900" indent="-342900" algn="l">
              <a:buFont typeface="Wingdings" panose="05000000000000000000" pitchFamily="2" charset="2"/>
              <a:buChar char="v"/>
            </a:pPr>
            <a:endParaRPr lang="zh-CN" altLang="en-US" sz="2800"/>
          </a:p>
          <a:p>
            <a:pPr marL="342900" indent="-342900" algn="l"/>
            <a:r>
              <a:rPr lang="zh-CN" altLang="en-US" sz="2800"/>
              <a:t>               </a:t>
            </a:r>
            <a:endParaRPr lang="zh-CN" altLang="en-US" sz="2800"/>
          </a:p>
        </p:txBody>
      </p:sp>
      <p:sp>
        <p:nvSpPr>
          <p:cNvPr id="167942" name="Rectangle 7"/>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67943" name="Rectangle 4"/>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
        <p:nvSpPr>
          <p:cNvPr id="106504" name="矩形 9"/>
          <p:cNvSpPr>
            <a:spLocks noChangeArrowheads="1"/>
          </p:cNvSpPr>
          <p:nvPr/>
        </p:nvSpPr>
        <p:spPr bwMode="auto">
          <a:xfrm>
            <a:off x="2557463" y="4467225"/>
            <a:ext cx="757078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风险值  </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  R</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T</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V</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  R</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L</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T</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V</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F</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Ia</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t>
            </a: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Va </a:t>
            </a:r>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rPr>
              <a:t>））</a:t>
            </a:r>
            <a:endPar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黑体" panose="02010609060101010101" pitchFamily="49" charset="-122"/>
            </a:endParaRPr>
          </a:p>
        </p:txBody>
      </p:sp>
      <p:sp>
        <p:nvSpPr>
          <p:cNvPr id="106505" name="矩形 1"/>
          <p:cNvSpPr>
            <a:spLocks noChangeArrowheads="1"/>
          </p:cNvSpPr>
          <p:nvPr/>
        </p:nvSpPr>
        <p:spPr bwMode="auto">
          <a:xfrm>
            <a:off x="5516563" y="5024438"/>
            <a:ext cx="514826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Char char="•"/>
            </a:pPr>
            <a:r>
              <a:rPr lang="en-US" altLang="zh-CN" sz="1600" b="1">
                <a:solidFill>
                  <a:srgbClr val="000000"/>
                </a:solidFill>
                <a:latin typeface="Arial" panose="020B0604020202020204" pitchFamily="34" charset="0"/>
                <a:ea typeface="宋体" panose="02010600030101010101" pitchFamily="2" charset="-122"/>
                <a:sym typeface="黑体" panose="02010609060101010101" pitchFamily="49" charset="-122"/>
              </a:rPr>
              <a:t>Ia</a:t>
            </a:r>
            <a:r>
              <a:rPr lang="zh-CN" altLang="en-US" sz="1600" b="1">
                <a:solidFill>
                  <a:srgbClr val="000000"/>
                </a:solidFill>
                <a:latin typeface="Arial" panose="020B0604020202020204" pitchFamily="34" charset="0"/>
                <a:ea typeface="宋体" panose="02010600030101010101" pitchFamily="2" charset="-122"/>
                <a:sym typeface="黑体" panose="02010609060101010101" pitchFamily="49" charset="-122"/>
              </a:rPr>
              <a:t>表示安全事件所作用的资产价值</a:t>
            </a:r>
            <a:endParaRPr lang="en-US" altLang="zh-CN" sz="16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0"/>
              </a:spcBef>
              <a:buClrTx/>
              <a:buFont typeface="Arial" panose="020B0604020202020204" pitchFamily="34" charset="0"/>
              <a:buChar char="•"/>
            </a:pPr>
            <a:r>
              <a:rPr lang="en-US" altLang="zh-CN" sz="1600" b="1">
                <a:solidFill>
                  <a:srgbClr val="000000"/>
                </a:solidFill>
                <a:latin typeface="Arial" panose="020B0604020202020204" pitchFamily="34" charset="0"/>
                <a:ea typeface="宋体" panose="02010600030101010101" pitchFamily="2" charset="-122"/>
                <a:sym typeface="黑体" panose="02010609060101010101" pitchFamily="49" charset="-122"/>
              </a:rPr>
              <a:t>Va</a:t>
            </a:r>
            <a:r>
              <a:rPr lang="zh-CN" altLang="en-US" sz="1600" b="1">
                <a:solidFill>
                  <a:srgbClr val="000000"/>
                </a:solidFill>
                <a:latin typeface="Arial" panose="020B0604020202020204" pitchFamily="34" charset="0"/>
                <a:ea typeface="宋体" panose="02010600030101010101" pitchFamily="2" charset="-122"/>
                <a:sym typeface="黑体" panose="02010609060101010101" pitchFamily="49" charset="-122"/>
              </a:rPr>
              <a:t>表示脆弱性严重程度</a:t>
            </a:r>
            <a:endParaRPr lang="en-US" altLang="zh-CN" sz="16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0"/>
              </a:spcBef>
              <a:buClrTx/>
              <a:buFont typeface="Arial" panose="020B0604020202020204" pitchFamily="34" charset="0"/>
              <a:buChar char="•"/>
            </a:pPr>
            <a:r>
              <a:rPr lang="en-US" altLang="zh-CN" sz="1600" b="1">
                <a:solidFill>
                  <a:srgbClr val="000000"/>
                </a:solidFill>
                <a:latin typeface="Arial" panose="020B0604020202020204" pitchFamily="34" charset="0"/>
                <a:ea typeface="宋体" panose="02010600030101010101" pitchFamily="2" charset="-122"/>
                <a:sym typeface="黑体" panose="02010609060101010101" pitchFamily="49" charset="-122"/>
              </a:rPr>
              <a:t>L</a:t>
            </a:r>
            <a:r>
              <a:rPr lang="zh-CN" altLang="en-US" sz="1600" b="1">
                <a:solidFill>
                  <a:srgbClr val="000000"/>
                </a:solidFill>
                <a:latin typeface="Arial" panose="020B0604020202020204" pitchFamily="34" charset="0"/>
                <a:ea typeface="宋体" panose="02010600030101010101" pitchFamily="2" charset="-122"/>
                <a:sym typeface="黑体" panose="02010609060101010101" pitchFamily="49" charset="-122"/>
              </a:rPr>
              <a:t>表示威胁利用资产的脆弱性导致安全事件的可能性</a:t>
            </a:r>
            <a:endParaRPr lang="en-US" altLang="zh-CN" sz="16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0"/>
              </a:spcBef>
              <a:buClrTx/>
              <a:buFont typeface="Arial" panose="020B0604020202020204" pitchFamily="34" charset="0"/>
              <a:buChar char="•"/>
            </a:pPr>
            <a:r>
              <a:rPr lang="en-US" altLang="zh-CN" sz="1600" b="1">
                <a:solidFill>
                  <a:srgbClr val="000000"/>
                </a:solidFill>
                <a:latin typeface="Arial" panose="020B0604020202020204" pitchFamily="34" charset="0"/>
                <a:ea typeface="宋体" panose="02010600030101010101" pitchFamily="2" charset="-122"/>
                <a:sym typeface="黑体" panose="02010609060101010101" pitchFamily="49" charset="-122"/>
              </a:rPr>
              <a:t>F</a:t>
            </a:r>
            <a:r>
              <a:rPr lang="zh-CN" altLang="en-US" sz="1600" b="1">
                <a:solidFill>
                  <a:srgbClr val="000000"/>
                </a:solidFill>
                <a:latin typeface="Arial" panose="020B0604020202020204" pitchFamily="34" charset="0"/>
                <a:ea typeface="宋体" panose="02010600030101010101" pitchFamily="2" charset="-122"/>
                <a:sym typeface="黑体" panose="02010609060101010101" pitchFamily="49" charset="-122"/>
              </a:rPr>
              <a:t>表示安全事件发生后造成的损失</a:t>
            </a:r>
            <a:endParaRPr lang="zh-CN" altLang="en-US" sz="1800" b="1">
              <a:latin typeface="Arial" panose="020B0604020202020204" pitchFamily="34" charset="0"/>
              <a:ea typeface="宋体" panose="02010600030101010101" pitchFamily="2" charset="-122"/>
            </a:endParaRPr>
          </a:p>
        </p:txBody>
      </p:sp>
      <p:sp>
        <p:nvSpPr>
          <p:cNvPr id="2" name="矩形 1"/>
          <p:cNvSpPr>
            <a:spLocks noChangeArrowheads="1"/>
          </p:cNvSpPr>
          <p:nvPr/>
        </p:nvSpPr>
        <p:spPr bwMode="auto">
          <a:xfrm>
            <a:off x="2557463" y="4962525"/>
            <a:ext cx="2890837"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Char char="•"/>
            </a:pPr>
            <a:r>
              <a:rPr lang="en-US" altLang="zh-CN" sz="1800" b="1">
                <a:solidFill>
                  <a:srgbClr val="000000"/>
                </a:solidFill>
                <a:latin typeface="Arial" panose="020B0604020202020204" pitchFamily="34" charset="0"/>
                <a:ea typeface="宋体" panose="02010600030101010101" pitchFamily="2" charset="-122"/>
                <a:sym typeface="黑体" panose="02010609060101010101" pitchFamily="49" charset="-122"/>
              </a:rPr>
              <a:t>R</a:t>
            </a:r>
            <a:r>
              <a:rPr lang="zh-CN" altLang="en-US" sz="1800" b="1">
                <a:solidFill>
                  <a:srgbClr val="000000"/>
                </a:solidFill>
                <a:latin typeface="Arial" panose="020B0604020202020204" pitchFamily="34" charset="0"/>
                <a:ea typeface="宋体" panose="02010600030101010101" pitchFamily="2" charset="-122"/>
                <a:sym typeface="黑体" panose="02010609060101010101" pitchFamily="49" charset="-122"/>
              </a:rPr>
              <a:t>表示安全风险计算函数</a:t>
            </a:r>
            <a:endParaRPr lang="en-US" altLang="zh-CN" sz="18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0"/>
              </a:spcBef>
              <a:buClrTx/>
              <a:buFont typeface="Arial" panose="020B0604020202020204" pitchFamily="34" charset="0"/>
              <a:buChar char="•"/>
            </a:pPr>
            <a:r>
              <a:rPr lang="en-US" altLang="zh-CN" sz="1800" b="1">
                <a:solidFill>
                  <a:srgbClr val="000000"/>
                </a:solidFill>
                <a:latin typeface="Arial" panose="020B0604020202020204" pitchFamily="34" charset="0"/>
                <a:ea typeface="宋体" panose="02010600030101010101" pitchFamily="2" charset="-122"/>
                <a:sym typeface="黑体" panose="02010609060101010101" pitchFamily="49" charset="-122"/>
              </a:rPr>
              <a:t>A</a:t>
            </a:r>
            <a:r>
              <a:rPr lang="zh-CN" altLang="en-US" sz="1800" b="1">
                <a:solidFill>
                  <a:srgbClr val="000000"/>
                </a:solidFill>
                <a:latin typeface="Arial" panose="020B0604020202020204" pitchFamily="34" charset="0"/>
                <a:ea typeface="宋体" panose="02010600030101010101" pitchFamily="2" charset="-122"/>
                <a:sym typeface="黑体" panose="02010609060101010101" pitchFamily="49" charset="-122"/>
              </a:rPr>
              <a:t>表示资产</a:t>
            </a:r>
            <a:endParaRPr lang="en-US" altLang="zh-CN" sz="18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0"/>
              </a:spcBef>
              <a:buClrTx/>
              <a:buFont typeface="Arial" panose="020B0604020202020204" pitchFamily="34" charset="0"/>
              <a:buChar char="•"/>
            </a:pPr>
            <a:r>
              <a:rPr lang="en-US" altLang="zh-CN" sz="1800" b="1">
                <a:solidFill>
                  <a:srgbClr val="000000"/>
                </a:solidFill>
                <a:latin typeface="Arial" panose="020B0604020202020204" pitchFamily="34" charset="0"/>
                <a:ea typeface="宋体" panose="02010600030101010101" pitchFamily="2" charset="-122"/>
                <a:sym typeface="黑体" panose="02010609060101010101" pitchFamily="49" charset="-122"/>
              </a:rPr>
              <a:t>T</a:t>
            </a:r>
            <a:r>
              <a:rPr lang="zh-CN" altLang="en-US" sz="1800" b="1">
                <a:solidFill>
                  <a:srgbClr val="000000"/>
                </a:solidFill>
                <a:latin typeface="Arial" panose="020B0604020202020204" pitchFamily="34" charset="0"/>
                <a:ea typeface="宋体" panose="02010600030101010101" pitchFamily="2" charset="-122"/>
                <a:sym typeface="黑体" panose="02010609060101010101" pitchFamily="49" charset="-122"/>
              </a:rPr>
              <a:t>表示威胁</a:t>
            </a:r>
            <a:endParaRPr lang="en-US" altLang="zh-CN" sz="1800" b="1">
              <a:solidFill>
                <a:srgbClr val="000000"/>
              </a:solidFill>
              <a:latin typeface="Arial" panose="020B0604020202020204" pitchFamily="34" charset="0"/>
              <a:ea typeface="宋体" panose="02010600030101010101" pitchFamily="2" charset="-122"/>
              <a:sym typeface="黑体" panose="02010609060101010101" pitchFamily="49" charset="-122"/>
            </a:endParaRPr>
          </a:p>
          <a:p>
            <a:pPr eaLnBrk="1" hangingPunct="1">
              <a:spcBef>
                <a:spcPct val="0"/>
              </a:spcBef>
              <a:buClrTx/>
              <a:buFont typeface="Arial" panose="020B0604020202020204" pitchFamily="34" charset="0"/>
              <a:buChar char="•"/>
            </a:pPr>
            <a:r>
              <a:rPr lang="en-US" altLang="zh-CN" sz="1800" b="1">
                <a:solidFill>
                  <a:srgbClr val="000000"/>
                </a:solidFill>
                <a:latin typeface="Arial" panose="020B0604020202020204" pitchFamily="34" charset="0"/>
                <a:ea typeface="宋体" panose="02010600030101010101" pitchFamily="2" charset="-122"/>
                <a:sym typeface="黑体" panose="02010609060101010101" pitchFamily="49" charset="-122"/>
              </a:rPr>
              <a:t>V</a:t>
            </a:r>
            <a:r>
              <a:rPr lang="zh-CN" altLang="en-US" sz="1800" b="1">
                <a:solidFill>
                  <a:srgbClr val="000000"/>
                </a:solidFill>
                <a:latin typeface="Arial" panose="020B0604020202020204" pitchFamily="34" charset="0"/>
                <a:ea typeface="宋体" panose="02010600030101010101" pitchFamily="2" charset="-122"/>
                <a:sym typeface="黑体" panose="02010609060101010101" pitchFamily="49" charset="-122"/>
              </a:rPr>
              <a:t>表示脆弱性</a:t>
            </a:r>
            <a:endParaRPr lang="zh-CN" altLang="en-US" sz="1800" b="1">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 calcmode="lin" valueType="num">
                                      <p:cBhvr additive="base">
                                        <p:cTn id="7" dur="500" fill="hold"/>
                                        <p:tgtEl>
                                          <p:spTgt spid="1064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6499">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6499">
                                            <p:txEl>
                                              <p:pRg st="3" end="3"/>
                                            </p:txEl>
                                          </p:spTgt>
                                        </p:tgtEl>
                                        <p:attrNameLst>
                                          <p:attrName>style.visibility</p:attrName>
                                        </p:attrNameLst>
                                      </p:cBhvr>
                                      <p:to>
                                        <p:strVal val="visible"/>
                                      </p:to>
                                    </p:set>
                                    <p:anim calcmode="lin" valueType="num">
                                      <p:cBhvr additive="base">
                                        <p:cTn id="12" dur="500" fill="hold"/>
                                        <p:tgtEl>
                                          <p:spTgt spid="106499">
                                            <p:txEl>
                                              <p:pRg st="3" end="3"/>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6499">
                                            <p:txEl>
                                              <p:pRg st="3" end="3"/>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childTnLst>
                          </p:cTn>
                        </p:par>
                        <p:par>
                          <p:cTn id="20" fill="hold">
                            <p:stCondLst>
                              <p:cond delay="1500"/>
                            </p:stCondLst>
                            <p:childTnLst>
                              <p:par>
                                <p:cTn id="21" presetID="2" presetClass="entr" presetSubtype="2" fill="hold" grpId="0" nodeType="afterEffect">
                                  <p:stCondLst>
                                    <p:cond delay="0"/>
                                  </p:stCondLst>
                                  <p:childTnLst>
                                    <p:set>
                                      <p:cBhvr>
                                        <p:cTn id="22" dur="1" fill="hold">
                                          <p:stCondLst>
                                            <p:cond delay="0"/>
                                          </p:stCondLst>
                                        </p:cTn>
                                        <p:tgtEl>
                                          <p:spTgt spid="106504"/>
                                        </p:tgtEl>
                                        <p:attrNameLst>
                                          <p:attrName>style.visibility</p:attrName>
                                        </p:attrNameLst>
                                      </p:cBhvr>
                                      <p:to>
                                        <p:strVal val="visible"/>
                                      </p:to>
                                    </p:set>
                                    <p:anim calcmode="lin" valueType="num">
                                      <p:cBhvr additive="base">
                                        <p:cTn id="23" dur="500" fill="hold"/>
                                        <p:tgtEl>
                                          <p:spTgt spid="106504"/>
                                        </p:tgtEl>
                                        <p:attrNameLst>
                                          <p:attrName>ppt_x</p:attrName>
                                        </p:attrNameLst>
                                      </p:cBhvr>
                                      <p:tavLst>
                                        <p:tav tm="0">
                                          <p:val>
                                            <p:strVal val="1+#ppt_w/2"/>
                                          </p:val>
                                        </p:tav>
                                        <p:tav tm="100000">
                                          <p:val>
                                            <p:strVal val="#ppt_x"/>
                                          </p:val>
                                        </p:tav>
                                      </p:tavLst>
                                    </p:anim>
                                    <p:anim calcmode="lin" valueType="num">
                                      <p:cBhvr additive="base">
                                        <p:cTn id="24" dur="500" fill="hold"/>
                                        <p:tgtEl>
                                          <p:spTgt spid="106504"/>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53" presetClass="entr" presetSubtype="16" fill="hold" grpId="0"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par>
                          <p:cTn id="31" fill="hold">
                            <p:stCondLst>
                              <p:cond delay="2500"/>
                            </p:stCondLst>
                            <p:childTnLst>
                              <p:par>
                                <p:cTn id="32" presetID="53" presetClass="entr" presetSubtype="16" fill="hold" grpId="0" nodeType="afterEffect">
                                  <p:stCondLst>
                                    <p:cond delay="0"/>
                                  </p:stCondLst>
                                  <p:childTnLst>
                                    <p:set>
                                      <p:cBhvr>
                                        <p:cTn id="33" dur="1" fill="hold">
                                          <p:stCondLst>
                                            <p:cond delay="0"/>
                                          </p:stCondLst>
                                        </p:cTn>
                                        <p:tgtEl>
                                          <p:spTgt spid="106505"/>
                                        </p:tgtEl>
                                        <p:attrNameLst>
                                          <p:attrName>style.visibility</p:attrName>
                                        </p:attrNameLst>
                                      </p:cBhvr>
                                      <p:to>
                                        <p:strVal val="visible"/>
                                      </p:to>
                                    </p:set>
                                    <p:anim calcmode="lin" valueType="num">
                                      <p:cBhvr>
                                        <p:cTn id="34" dur="500" fill="hold"/>
                                        <p:tgtEl>
                                          <p:spTgt spid="106505"/>
                                        </p:tgtEl>
                                        <p:attrNameLst>
                                          <p:attrName>ppt_w</p:attrName>
                                        </p:attrNameLst>
                                      </p:cBhvr>
                                      <p:tavLst>
                                        <p:tav tm="0">
                                          <p:val>
                                            <p:fltVal val="0"/>
                                          </p:val>
                                        </p:tav>
                                        <p:tav tm="100000">
                                          <p:val>
                                            <p:strVal val="#ppt_w"/>
                                          </p:val>
                                        </p:tav>
                                      </p:tavLst>
                                    </p:anim>
                                    <p:anim calcmode="lin" valueType="num">
                                      <p:cBhvr>
                                        <p:cTn id="35" dur="500" fill="hold"/>
                                        <p:tgtEl>
                                          <p:spTgt spid="106505"/>
                                        </p:tgtEl>
                                        <p:attrNameLst>
                                          <p:attrName>ppt_h</p:attrName>
                                        </p:attrNameLst>
                                      </p:cBhvr>
                                      <p:tavLst>
                                        <p:tav tm="0">
                                          <p:val>
                                            <p:fltVal val="0"/>
                                          </p:val>
                                        </p:tav>
                                        <p:tav tm="100000">
                                          <p:val>
                                            <p:strVal val="#ppt_h"/>
                                          </p:val>
                                        </p:tav>
                                      </p:tavLst>
                                    </p:anim>
                                    <p:animEffect transition="in" filter="fade">
                                      <p:cBhvr>
                                        <p:cTn id="36" dur="500"/>
                                        <p:tgtEl>
                                          <p:spTgt spid="1065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P spid="106504" grpId="0"/>
      <p:bldP spid="106505" grpId="0"/>
      <p:bldP spid="2"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标题 1"/>
          <p:cNvSpPr>
            <a:spLocks noGrp="1" noChangeArrowheads="1"/>
          </p:cNvSpPr>
          <p:nvPr>
            <p:ph type="ctrTitle"/>
          </p:nvPr>
        </p:nvSpPr>
        <p:spPr>
          <a:xfrm>
            <a:off x="2424113" y="908050"/>
            <a:ext cx="7596187" cy="487363"/>
          </a:xfrm>
        </p:spPr>
        <p:txBody>
          <a:bodyPr anchor="ctr"/>
          <a:lstStyle/>
          <a:p>
            <a:pPr algn="l"/>
            <a:r>
              <a:rPr lang="zh-CN" altLang="en-US" sz="3200">
                <a:solidFill>
                  <a:srgbClr val="FF0000"/>
                </a:solidFill>
              </a:rPr>
              <a:t>风险结果判定</a:t>
            </a:r>
            <a:endParaRPr lang="zh-CN" altLang="en-US" sz="3200">
              <a:solidFill>
                <a:srgbClr val="FF0000"/>
              </a:solidFill>
            </a:endParaRPr>
          </a:p>
        </p:txBody>
      </p:sp>
      <p:sp>
        <p:nvSpPr>
          <p:cNvPr id="168964" name="Rectangle 2"/>
          <p:cNvSpPr>
            <a:spLocks noChangeArrowheads="1"/>
          </p:cNvSpPr>
          <p:nvPr/>
        </p:nvSpPr>
        <p:spPr bwMode="auto">
          <a:xfrm>
            <a:off x="1524000" y="-184150"/>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800">
              <a:solidFill>
                <a:srgbClr val="000000"/>
              </a:solidFill>
              <a:latin typeface="Arial" panose="020B0604020202020204" pitchFamily="34" charset="0"/>
              <a:ea typeface="宋体" panose="02010600030101010101" pitchFamily="2" charset="-122"/>
              <a:sym typeface="黑体" panose="02010609060101010101" pitchFamily="49" charset="-122"/>
            </a:endParaRPr>
          </a:p>
        </p:txBody>
      </p:sp>
      <p:pic>
        <p:nvPicPr>
          <p:cNvPr id="16896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22700" y="1982788"/>
            <a:ext cx="4649788" cy="346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标题 1"/>
          <p:cNvSpPr>
            <a:spLocks noGrp="1" noChangeArrowheads="1"/>
          </p:cNvSpPr>
          <p:nvPr>
            <p:ph type="ctrTitle"/>
          </p:nvPr>
        </p:nvSpPr>
        <p:spPr>
          <a:xfrm>
            <a:off x="2279650" y="836613"/>
            <a:ext cx="7164388" cy="487362"/>
          </a:xfrm>
        </p:spPr>
        <p:txBody>
          <a:bodyPr anchor="ctr"/>
          <a:lstStyle/>
          <a:p>
            <a:pPr algn="l"/>
            <a:r>
              <a:rPr lang="zh-CN" altLang="en-US" sz="3200">
                <a:solidFill>
                  <a:srgbClr val="FF0000"/>
                </a:solidFill>
              </a:rPr>
              <a:t>知识域：网络空间安全风险评估</a:t>
            </a:r>
            <a:endParaRPr lang="zh-CN" altLang="en-US" sz="3200">
              <a:solidFill>
                <a:srgbClr val="FF0000"/>
              </a:solidFill>
            </a:endParaRPr>
          </a:p>
        </p:txBody>
      </p:sp>
      <p:sp>
        <p:nvSpPr>
          <p:cNvPr id="169987" name="内容占位符 2"/>
          <p:cNvSpPr>
            <a:spLocks noGrp="1" noChangeArrowheads="1"/>
          </p:cNvSpPr>
          <p:nvPr>
            <p:ph type="subTitle" idx="1"/>
          </p:nvPr>
        </p:nvSpPr>
        <p:spPr>
          <a:xfrm>
            <a:off x="2711450" y="1844675"/>
            <a:ext cx="6408738" cy="2413000"/>
          </a:xfrm>
        </p:spPr>
        <p:txBody>
          <a:bodyPr/>
          <a:lstStyle/>
          <a:p>
            <a:pPr marL="342900" indent="-342900" algn="l"/>
            <a:r>
              <a:rPr lang="zh-CN" altLang="en-US" sz="2800" b="1"/>
              <a:t>知识子域： 风险评估工具</a:t>
            </a:r>
            <a:endParaRPr lang="zh-CN" altLang="en-US" sz="2800" b="1"/>
          </a:p>
          <a:p>
            <a:pPr marL="342900" indent="-342900" algn="l">
              <a:buFont typeface="Wingdings" panose="05000000000000000000" pitchFamily="2" charset="2"/>
              <a:buChar char="v"/>
            </a:pPr>
            <a:r>
              <a:rPr lang="zh-CN" altLang="en-US" sz="2400"/>
              <a:t>了解风险评估工具的分类</a:t>
            </a:r>
            <a:endParaRPr lang="zh-CN" altLang="en-US" sz="2400"/>
          </a:p>
          <a:p>
            <a:pPr marL="342900" indent="-342900" algn="l">
              <a:buFont typeface="Wingdings" panose="05000000000000000000" pitchFamily="2" charset="2"/>
              <a:buChar char="v"/>
            </a:pPr>
            <a:r>
              <a:rPr lang="zh-CN" altLang="en-US" sz="2400"/>
              <a:t>了解常用风险评估工具</a:t>
            </a:r>
            <a:endParaRPr lang="zh-CN" altLang="en-US" sz="2400"/>
          </a:p>
          <a:p>
            <a:pPr marL="342900" indent="-342900" algn="l">
              <a:buFont typeface="Wingdings" panose="05000000000000000000" pitchFamily="2" charset="2"/>
              <a:buChar char="v"/>
            </a:pPr>
            <a:endParaRPr lang="zh-CN" altLang="en-US" sz="2400" b="1">
              <a:solidFill>
                <a:srgbClr val="009900"/>
              </a:solidFill>
            </a:endParaRPr>
          </a:p>
        </p:txBody>
      </p:sp>
      <p:sp>
        <p:nvSpPr>
          <p:cNvPr id="169988" name="日期占位符 3"/>
          <p:cNvSpPr>
            <a:spLocks noGrp="1" noChangeArrowheads="1"/>
          </p:cNvSpPr>
          <p:nvPr/>
        </p:nvSpPr>
        <p:spPr bwMode="auto">
          <a:xfrm>
            <a:off x="1905000" y="6505575"/>
            <a:ext cx="1905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Arial" panose="020B0604020202020204" pitchFamily="34" charset="0"/>
              <a:buNone/>
            </a:pPr>
            <a:endParaRPr lang="zh-CN" altLang="en-US" sz="1000">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标题 1"/>
          <p:cNvSpPr>
            <a:spLocks noGrp="1" noChangeArrowheads="1"/>
          </p:cNvSpPr>
          <p:nvPr>
            <p:ph type="ctrTitle"/>
          </p:nvPr>
        </p:nvSpPr>
        <p:spPr>
          <a:xfrm>
            <a:off x="2287588" y="709613"/>
            <a:ext cx="7597775" cy="487362"/>
          </a:xfrm>
        </p:spPr>
        <p:txBody>
          <a:bodyPr anchor="ctr"/>
          <a:lstStyle/>
          <a:p>
            <a:pPr algn="l"/>
            <a:r>
              <a:rPr lang="zh-CN" altLang="en-US" sz="3200">
                <a:solidFill>
                  <a:srgbClr val="FF0000"/>
                </a:solidFill>
              </a:rPr>
              <a:t>风险评估工具</a:t>
            </a:r>
            <a:endParaRPr lang="zh-CN" altLang="en-US" sz="3200">
              <a:solidFill>
                <a:srgbClr val="FF0000"/>
              </a:solidFill>
            </a:endParaRPr>
          </a:p>
        </p:txBody>
      </p:sp>
      <p:sp>
        <p:nvSpPr>
          <p:cNvPr id="109572" name="内容占位符 2"/>
          <p:cNvSpPr>
            <a:spLocks noGrp="1" noChangeArrowheads="1"/>
          </p:cNvSpPr>
          <p:nvPr>
            <p:ph type="subTitle" idx="1"/>
          </p:nvPr>
        </p:nvSpPr>
        <p:spPr>
          <a:xfrm>
            <a:off x="1990725" y="1352550"/>
            <a:ext cx="8191500" cy="4740275"/>
          </a:xfrm>
        </p:spPr>
        <p:txBody>
          <a:bodyPr/>
          <a:lstStyle/>
          <a:p>
            <a:pPr marL="342900" indent="-342900" algn="l">
              <a:buFont typeface="Wingdings" panose="05000000000000000000" pitchFamily="2" charset="2"/>
              <a:buChar char="v"/>
            </a:pPr>
            <a:r>
              <a:rPr lang="zh-CN" altLang="en-US" sz="2400">
                <a:solidFill>
                  <a:srgbClr val="0033CC"/>
                </a:solidFill>
              </a:rPr>
              <a:t>风险评估与管理工具</a:t>
            </a:r>
            <a:endParaRPr lang="en-US" altLang="zh-CN" sz="2400">
              <a:solidFill>
                <a:srgbClr val="0033CC"/>
              </a:solidFill>
            </a:endParaRPr>
          </a:p>
          <a:p>
            <a:pPr marL="742950" lvl="1" indent="-285750" algn="l">
              <a:buFont typeface="Wingdings" panose="05000000000000000000" pitchFamily="2" charset="2"/>
              <a:buChar char="§"/>
            </a:pPr>
            <a:r>
              <a:rPr lang="zh-CN" altLang="en-US" sz="1800" b="1"/>
              <a:t>基于标准的工具</a:t>
            </a:r>
            <a:r>
              <a:rPr lang="zh-CN" altLang="en-US" sz="1800"/>
              <a:t>，如基于</a:t>
            </a:r>
            <a:r>
              <a:rPr lang="en-US" altLang="zh-CN" sz="1800"/>
              <a:t>NIST SP 800-30</a:t>
            </a:r>
            <a:r>
              <a:rPr lang="zh-CN" altLang="en-US" sz="1800"/>
              <a:t>或</a:t>
            </a:r>
            <a:r>
              <a:rPr lang="en-US" altLang="zh-CN" sz="1800"/>
              <a:t>ISO 27005</a:t>
            </a:r>
            <a:r>
              <a:rPr lang="zh-CN" altLang="en-US" sz="1800"/>
              <a:t>开发的工具</a:t>
            </a:r>
            <a:endParaRPr lang="en-US" altLang="zh-CN" sz="1800"/>
          </a:p>
          <a:p>
            <a:pPr marL="742950" lvl="1" indent="-285750" algn="l">
              <a:buFont typeface="Wingdings" panose="05000000000000000000" pitchFamily="2" charset="2"/>
              <a:buChar char="§"/>
            </a:pPr>
            <a:r>
              <a:rPr lang="zh-CN" altLang="en-US" sz="1800" b="1"/>
              <a:t>基于知识的工具</a:t>
            </a:r>
            <a:r>
              <a:rPr lang="zh-CN" altLang="en-US" sz="1800"/>
              <a:t>，综合各种风险分析方法，形成知识库，以此为基础完成综合评估</a:t>
            </a:r>
            <a:endParaRPr lang="en-US" altLang="zh-CN" sz="1800"/>
          </a:p>
          <a:p>
            <a:pPr marL="742950" lvl="1" indent="-285750" algn="l">
              <a:buFont typeface="Wingdings" panose="05000000000000000000" pitchFamily="2" charset="2"/>
              <a:buChar char="§"/>
            </a:pPr>
            <a:r>
              <a:rPr lang="zh-CN" altLang="en-US" sz="1800" b="1"/>
              <a:t>基于模型的工具</a:t>
            </a:r>
            <a:r>
              <a:rPr lang="zh-CN" altLang="en-US" sz="1800"/>
              <a:t>，对典型系统的资产、威胁、脆弱性建立量化或半量化的模型</a:t>
            </a:r>
            <a:endParaRPr lang="en-US" altLang="zh-CN" sz="1800"/>
          </a:p>
          <a:p>
            <a:pPr marL="342900" indent="-342900" algn="l">
              <a:buFont typeface="Wingdings" panose="05000000000000000000" pitchFamily="2" charset="2"/>
              <a:buChar char="v"/>
            </a:pPr>
            <a:r>
              <a:rPr lang="zh-CN" altLang="en-US" sz="2400">
                <a:solidFill>
                  <a:srgbClr val="0033CC"/>
                </a:solidFill>
              </a:rPr>
              <a:t>系统基础平台风险评估工具</a:t>
            </a:r>
            <a:endParaRPr lang="en-US" altLang="zh-CN" sz="2400">
              <a:solidFill>
                <a:srgbClr val="0033CC"/>
              </a:solidFill>
            </a:endParaRPr>
          </a:p>
          <a:p>
            <a:pPr marL="742950" lvl="1" indent="-285750" algn="l">
              <a:buFont typeface="Wingdings" panose="05000000000000000000" pitchFamily="2" charset="2"/>
              <a:buChar char="§"/>
            </a:pPr>
            <a:r>
              <a:rPr lang="zh-CN" altLang="en-US" sz="1800" b="1"/>
              <a:t>脆弱性扫描工具</a:t>
            </a:r>
            <a:r>
              <a:rPr lang="zh-CN" altLang="en-US" sz="1800"/>
              <a:t>：基于网络的扫描器、基于主机的扫描器、分布式网络扫描器、数据库脆弱性扫描器</a:t>
            </a:r>
            <a:endParaRPr lang="en-US" altLang="zh-CN" sz="1800"/>
          </a:p>
          <a:p>
            <a:pPr marL="742950" lvl="1" indent="-285750" algn="l">
              <a:buFont typeface="Wingdings" panose="05000000000000000000" pitchFamily="2" charset="2"/>
              <a:buChar char="§"/>
            </a:pPr>
            <a:r>
              <a:rPr lang="zh-CN" altLang="en-US" sz="1800" b="1"/>
              <a:t>渗透性测试工具</a:t>
            </a:r>
            <a:r>
              <a:rPr lang="zh-CN" altLang="en-US" sz="1800"/>
              <a:t>：黑客工具、脚本文件</a:t>
            </a:r>
            <a:endParaRPr lang="en-US" altLang="zh-CN" sz="1800"/>
          </a:p>
          <a:p>
            <a:pPr marL="342900" indent="-342900" algn="l">
              <a:buFont typeface="Wingdings" panose="05000000000000000000" pitchFamily="2" charset="2"/>
              <a:buChar char="v"/>
            </a:pPr>
            <a:r>
              <a:rPr lang="zh-CN" altLang="en-US" sz="2400">
                <a:solidFill>
                  <a:srgbClr val="0033CC"/>
                </a:solidFill>
              </a:rPr>
              <a:t>风险评估辅助工具</a:t>
            </a:r>
            <a:endParaRPr lang="en-US" altLang="zh-CN" sz="2400">
              <a:solidFill>
                <a:srgbClr val="0033CC"/>
              </a:solidFill>
            </a:endParaRPr>
          </a:p>
          <a:p>
            <a:pPr marL="742950" lvl="1" indent="-285750" algn="l">
              <a:buFont typeface="Wingdings" panose="05000000000000000000" pitchFamily="2" charset="2"/>
              <a:buChar char="§"/>
            </a:pPr>
            <a:r>
              <a:rPr lang="zh-CN" altLang="en-US" sz="1800"/>
              <a:t>检查列表、入侵检测系统、安全审计工具、拓扑发现工具和资产信息收集系统，用于评估过程参考的评估指标库、知识库、漏洞库、算法库和模型库</a:t>
            </a:r>
            <a:endParaRPr lang="zh-CN" altLang="en-US" sz="180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9572">
                                            <p:txEl>
                                              <p:pRg st="0" end="0"/>
                                            </p:txEl>
                                          </p:spTgt>
                                        </p:tgtEl>
                                        <p:attrNameLst>
                                          <p:attrName>style.visibility</p:attrName>
                                        </p:attrNameLst>
                                      </p:cBhvr>
                                      <p:to>
                                        <p:strVal val="visible"/>
                                      </p:to>
                                    </p:set>
                                    <p:anim calcmode="lin" valueType="num">
                                      <p:cBhvr>
                                        <p:cTn id="7" dur="500" fill="hold"/>
                                        <p:tgtEl>
                                          <p:spTgt spid="10957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0957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09572">
                                            <p:txEl>
                                              <p:pRg st="0" end="0"/>
                                            </p:tx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09572">
                                            <p:txEl>
                                              <p:pRg st="1" end="1"/>
                                            </p:txEl>
                                          </p:spTgt>
                                        </p:tgtEl>
                                        <p:attrNameLst>
                                          <p:attrName>style.visibility</p:attrName>
                                        </p:attrNameLst>
                                      </p:cBhvr>
                                      <p:to>
                                        <p:strVal val="visible"/>
                                      </p:to>
                                    </p:set>
                                    <p:anim calcmode="lin" valueType="num">
                                      <p:cBhvr>
                                        <p:cTn id="13" dur="500" fill="hold"/>
                                        <p:tgtEl>
                                          <p:spTgt spid="109572">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109572">
                                            <p:txEl>
                                              <p:pRg st="1" end="1"/>
                                            </p:txEl>
                                          </p:spTgt>
                                        </p:tgtEl>
                                        <p:attrNameLst>
                                          <p:attrName>ppt_h</p:attrName>
                                        </p:attrNameLst>
                                      </p:cBhvr>
                                      <p:tavLst>
                                        <p:tav tm="0">
                                          <p:val>
                                            <p:fltVal val="0"/>
                                          </p:val>
                                        </p:tav>
                                        <p:tav tm="100000">
                                          <p:val>
                                            <p:strVal val="#ppt_h"/>
                                          </p:val>
                                        </p:tav>
                                      </p:tavLst>
                                    </p:anim>
                                    <p:animEffect transition="in" filter="fade">
                                      <p:cBhvr>
                                        <p:cTn id="15" dur="500"/>
                                        <p:tgtEl>
                                          <p:spTgt spid="109572">
                                            <p:txEl>
                                              <p:pRg st="1" end="1"/>
                                            </p:txEl>
                                          </p:spTgt>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09572">
                                            <p:txEl>
                                              <p:pRg st="2" end="2"/>
                                            </p:txEl>
                                          </p:spTgt>
                                        </p:tgtEl>
                                        <p:attrNameLst>
                                          <p:attrName>style.visibility</p:attrName>
                                        </p:attrNameLst>
                                      </p:cBhvr>
                                      <p:to>
                                        <p:strVal val="visible"/>
                                      </p:to>
                                    </p:set>
                                    <p:anim calcmode="lin" valueType="num">
                                      <p:cBhvr>
                                        <p:cTn id="19" dur="500" fill="hold"/>
                                        <p:tgtEl>
                                          <p:spTgt spid="109572">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109572">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109572">
                                            <p:txEl>
                                              <p:pRg st="2" end="2"/>
                                            </p:txEl>
                                          </p:spTgt>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09572">
                                            <p:txEl>
                                              <p:pRg st="3" end="3"/>
                                            </p:txEl>
                                          </p:spTgt>
                                        </p:tgtEl>
                                        <p:attrNameLst>
                                          <p:attrName>style.visibility</p:attrName>
                                        </p:attrNameLst>
                                      </p:cBhvr>
                                      <p:to>
                                        <p:strVal val="visible"/>
                                      </p:to>
                                    </p:set>
                                    <p:anim calcmode="lin" valueType="num">
                                      <p:cBhvr>
                                        <p:cTn id="25" dur="500" fill="hold"/>
                                        <p:tgtEl>
                                          <p:spTgt spid="109572">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09572">
                                            <p:txEl>
                                              <p:pRg st="3" end="3"/>
                                            </p:txEl>
                                          </p:spTgt>
                                        </p:tgtEl>
                                        <p:attrNameLst>
                                          <p:attrName>ppt_h</p:attrName>
                                        </p:attrNameLst>
                                      </p:cBhvr>
                                      <p:tavLst>
                                        <p:tav tm="0">
                                          <p:val>
                                            <p:fltVal val="0"/>
                                          </p:val>
                                        </p:tav>
                                        <p:tav tm="100000">
                                          <p:val>
                                            <p:strVal val="#ppt_h"/>
                                          </p:val>
                                        </p:tav>
                                      </p:tavLst>
                                    </p:anim>
                                    <p:animEffect transition="in" filter="fade">
                                      <p:cBhvr>
                                        <p:cTn id="27" dur="500"/>
                                        <p:tgtEl>
                                          <p:spTgt spid="109572">
                                            <p:txEl>
                                              <p:pRg st="3" end="3"/>
                                            </p:txEl>
                                          </p:spTgt>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109572">
                                            <p:txEl>
                                              <p:pRg st="4" end="4"/>
                                            </p:txEl>
                                          </p:spTgt>
                                        </p:tgtEl>
                                        <p:attrNameLst>
                                          <p:attrName>style.visibility</p:attrName>
                                        </p:attrNameLst>
                                      </p:cBhvr>
                                      <p:to>
                                        <p:strVal val="visible"/>
                                      </p:to>
                                    </p:set>
                                    <p:anim calcmode="lin" valueType="num">
                                      <p:cBhvr>
                                        <p:cTn id="31" dur="500" fill="hold"/>
                                        <p:tgtEl>
                                          <p:spTgt spid="109572">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109572">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109572">
                                            <p:txEl>
                                              <p:pRg st="4" end="4"/>
                                            </p:txEl>
                                          </p:spTgt>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109572">
                                            <p:txEl>
                                              <p:pRg st="5" end="5"/>
                                            </p:txEl>
                                          </p:spTgt>
                                        </p:tgtEl>
                                        <p:attrNameLst>
                                          <p:attrName>style.visibility</p:attrName>
                                        </p:attrNameLst>
                                      </p:cBhvr>
                                      <p:to>
                                        <p:strVal val="visible"/>
                                      </p:to>
                                    </p:set>
                                    <p:anim calcmode="lin" valueType="num">
                                      <p:cBhvr>
                                        <p:cTn id="37" dur="500" fill="hold"/>
                                        <p:tgtEl>
                                          <p:spTgt spid="109572">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109572">
                                            <p:txEl>
                                              <p:pRg st="5" end="5"/>
                                            </p:txEl>
                                          </p:spTgt>
                                        </p:tgtEl>
                                        <p:attrNameLst>
                                          <p:attrName>ppt_h</p:attrName>
                                        </p:attrNameLst>
                                      </p:cBhvr>
                                      <p:tavLst>
                                        <p:tav tm="0">
                                          <p:val>
                                            <p:fltVal val="0"/>
                                          </p:val>
                                        </p:tav>
                                        <p:tav tm="100000">
                                          <p:val>
                                            <p:strVal val="#ppt_h"/>
                                          </p:val>
                                        </p:tav>
                                      </p:tavLst>
                                    </p:anim>
                                    <p:animEffect transition="in" filter="fade">
                                      <p:cBhvr>
                                        <p:cTn id="39" dur="500"/>
                                        <p:tgtEl>
                                          <p:spTgt spid="109572">
                                            <p:txEl>
                                              <p:pRg st="5" end="5"/>
                                            </p:txEl>
                                          </p:spTgt>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109572">
                                            <p:txEl>
                                              <p:pRg st="6" end="6"/>
                                            </p:txEl>
                                          </p:spTgt>
                                        </p:tgtEl>
                                        <p:attrNameLst>
                                          <p:attrName>style.visibility</p:attrName>
                                        </p:attrNameLst>
                                      </p:cBhvr>
                                      <p:to>
                                        <p:strVal val="visible"/>
                                      </p:to>
                                    </p:set>
                                    <p:anim calcmode="lin" valueType="num">
                                      <p:cBhvr>
                                        <p:cTn id="43" dur="500" fill="hold"/>
                                        <p:tgtEl>
                                          <p:spTgt spid="109572">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109572">
                                            <p:txEl>
                                              <p:pRg st="6" end="6"/>
                                            </p:txEl>
                                          </p:spTgt>
                                        </p:tgtEl>
                                        <p:attrNameLst>
                                          <p:attrName>ppt_h</p:attrName>
                                        </p:attrNameLst>
                                      </p:cBhvr>
                                      <p:tavLst>
                                        <p:tav tm="0">
                                          <p:val>
                                            <p:fltVal val="0"/>
                                          </p:val>
                                        </p:tav>
                                        <p:tav tm="100000">
                                          <p:val>
                                            <p:strVal val="#ppt_h"/>
                                          </p:val>
                                        </p:tav>
                                      </p:tavLst>
                                    </p:anim>
                                    <p:animEffect transition="in" filter="fade">
                                      <p:cBhvr>
                                        <p:cTn id="45" dur="500"/>
                                        <p:tgtEl>
                                          <p:spTgt spid="109572">
                                            <p:txEl>
                                              <p:pRg st="6" end="6"/>
                                            </p:txEl>
                                          </p:spTgt>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109572">
                                            <p:txEl>
                                              <p:pRg st="7" end="7"/>
                                            </p:txEl>
                                          </p:spTgt>
                                        </p:tgtEl>
                                        <p:attrNameLst>
                                          <p:attrName>style.visibility</p:attrName>
                                        </p:attrNameLst>
                                      </p:cBhvr>
                                      <p:to>
                                        <p:strVal val="visible"/>
                                      </p:to>
                                    </p:set>
                                    <p:anim calcmode="lin" valueType="num">
                                      <p:cBhvr>
                                        <p:cTn id="49" dur="500" fill="hold"/>
                                        <p:tgtEl>
                                          <p:spTgt spid="109572">
                                            <p:txEl>
                                              <p:pRg st="7" end="7"/>
                                            </p:txEl>
                                          </p:spTgt>
                                        </p:tgtEl>
                                        <p:attrNameLst>
                                          <p:attrName>ppt_w</p:attrName>
                                        </p:attrNameLst>
                                      </p:cBhvr>
                                      <p:tavLst>
                                        <p:tav tm="0">
                                          <p:val>
                                            <p:fltVal val="0"/>
                                          </p:val>
                                        </p:tav>
                                        <p:tav tm="100000">
                                          <p:val>
                                            <p:strVal val="#ppt_w"/>
                                          </p:val>
                                        </p:tav>
                                      </p:tavLst>
                                    </p:anim>
                                    <p:anim calcmode="lin" valueType="num">
                                      <p:cBhvr>
                                        <p:cTn id="50" dur="500" fill="hold"/>
                                        <p:tgtEl>
                                          <p:spTgt spid="109572">
                                            <p:txEl>
                                              <p:pRg st="7" end="7"/>
                                            </p:txEl>
                                          </p:spTgt>
                                        </p:tgtEl>
                                        <p:attrNameLst>
                                          <p:attrName>ppt_h</p:attrName>
                                        </p:attrNameLst>
                                      </p:cBhvr>
                                      <p:tavLst>
                                        <p:tav tm="0">
                                          <p:val>
                                            <p:fltVal val="0"/>
                                          </p:val>
                                        </p:tav>
                                        <p:tav tm="100000">
                                          <p:val>
                                            <p:strVal val="#ppt_h"/>
                                          </p:val>
                                        </p:tav>
                                      </p:tavLst>
                                    </p:anim>
                                    <p:animEffect transition="in" filter="fade">
                                      <p:cBhvr>
                                        <p:cTn id="51" dur="500"/>
                                        <p:tgtEl>
                                          <p:spTgt spid="109572">
                                            <p:txEl>
                                              <p:pRg st="7" end="7"/>
                                            </p:txEl>
                                          </p:spTgt>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109572">
                                            <p:txEl>
                                              <p:pRg st="8" end="8"/>
                                            </p:txEl>
                                          </p:spTgt>
                                        </p:tgtEl>
                                        <p:attrNameLst>
                                          <p:attrName>style.visibility</p:attrName>
                                        </p:attrNameLst>
                                      </p:cBhvr>
                                      <p:to>
                                        <p:strVal val="visible"/>
                                      </p:to>
                                    </p:set>
                                    <p:anim calcmode="lin" valueType="num">
                                      <p:cBhvr>
                                        <p:cTn id="55" dur="500" fill="hold"/>
                                        <p:tgtEl>
                                          <p:spTgt spid="109572">
                                            <p:txEl>
                                              <p:pRg st="8" end="8"/>
                                            </p:txEl>
                                          </p:spTgt>
                                        </p:tgtEl>
                                        <p:attrNameLst>
                                          <p:attrName>ppt_w</p:attrName>
                                        </p:attrNameLst>
                                      </p:cBhvr>
                                      <p:tavLst>
                                        <p:tav tm="0">
                                          <p:val>
                                            <p:fltVal val="0"/>
                                          </p:val>
                                        </p:tav>
                                        <p:tav tm="100000">
                                          <p:val>
                                            <p:strVal val="#ppt_w"/>
                                          </p:val>
                                        </p:tav>
                                      </p:tavLst>
                                    </p:anim>
                                    <p:anim calcmode="lin" valueType="num">
                                      <p:cBhvr>
                                        <p:cTn id="56" dur="500" fill="hold"/>
                                        <p:tgtEl>
                                          <p:spTgt spid="109572">
                                            <p:txEl>
                                              <p:pRg st="8" end="8"/>
                                            </p:txEl>
                                          </p:spTgt>
                                        </p:tgtEl>
                                        <p:attrNameLst>
                                          <p:attrName>ppt_h</p:attrName>
                                        </p:attrNameLst>
                                      </p:cBhvr>
                                      <p:tavLst>
                                        <p:tav tm="0">
                                          <p:val>
                                            <p:fltVal val="0"/>
                                          </p:val>
                                        </p:tav>
                                        <p:tav tm="100000">
                                          <p:val>
                                            <p:strVal val="#ppt_h"/>
                                          </p:val>
                                        </p:tav>
                                      </p:tavLst>
                                    </p:anim>
                                    <p:animEffect transition="in" filter="fade">
                                      <p:cBhvr>
                                        <p:cTn id="57" dur="500"/>
                                        <p:tgtEl>
                                          <p:spTgt spid="10957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bwMode="gray">
          <a:xfrm>
            <a:off x="1939925" y="1004888"/>
            <a:ext cx="2736850" cy="666750"/>
          </a:xfrm>
          <a:prstGeom prst="rect">
            <a:avLst/>
          </a:prstGeom>
          <a:noFill/>
          <a:ln w="9525">
            <a:noFill/>
            <a:miter lim="800000"/>
          </a:ln>
        </p:spPr>
        <p:txBody>
          <a:bodyPr anchor="b"/>
          <a:lstStyle>
            <a:lvl1pPr algn="ctr" rtl="0" eaLnBrk="0" fontAlgn="base" hangingPunct="0">
              <a:spcBef>
                <a:spcPct val="0"/>
              </a:spcBef>
              <a:spcAft>
                <a:spcPct val="0"/>
              </a:spcAft>
              <a:defRPr sz="45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rgbClr val="FFFFFF"/>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3200" b="1">
                <a:solidFill>
                  <a:srgbClr val="FFFFFF"/>
                </a:solidFill>
                <a:latin typeface="黑体" panose="02010609060101010101" pitchFamily="49" charset="-122"/>
                <a:ea typeface="黑体" panose="02010609060101010101" pitchFamily="49" charset="-122"/>
              </a:defRPr>
            </a:lvl9pPr>
          </a:lstStyle>
          <a:p>
            <a:pPr>
              <a:defRPr/>
            </a:pPr>
            <a:r>
              <a:rPr lang="zh-CN" altLang="en-US" sz="3200" b="0" kern="0" dirty="0">
                <a:solidFill>
                  <a:srgbClr val="0033CC"/>
                </a:solidFill>
                <a:latin typeface="方正大标宋简体" panose="02010601030101010101" pitchFamily="2" charset="-122"/>
                <a:ea typeface="方正大标宋简体" panose="02010601030101010101" pitchFamily="2" charset="-122"/>
              </a:rPr>
              <a:t>国产化替代</a:t>
            </a:r>
            <a:endParaRPr lang="zh-CN" altLang="en-US" sz="3200" b="0" kern="0" dirty="0">
              <a:solidFill>
                <a:srgbClr val="0033CC"/>
              </a:solidFill>
              <a:latin typeface="方正大标宋简体" panose="02010601030101010101" pitchFamily="2" charset="-122"/>
              <a:ea typeface="方正大标宋简体" panose="02010601030101010101" pitchFamily="2" charset="-122"/>
            </a:endParaRPr>
          </a:p>
        </p:txBody>
      </p:sp>
      <p:sp>
        <p:nvSpPr>
          <p:cNvPr id="7" name="矩形 6"/>
          <p:cNvSpPr/>
          <p:nvPr/>
        </p:nvSpPr>
        <p:spPr>
          <a:xfrm>
            <a:off x="2963863" y="1773238"/>
            <a:ext cx="4572635" cy="2676525"/>
          </a:xfrm>
          <a:prstGeom prst="rect">
            <a:avLst/>
          </a:prstGeom>
        </p:spPr>
        <p:txBody>
          <a:bodyPr wrap="none">
            <a:spAutoFit/>
          </a:bodyPr>
          <a:lstStyle/>
          <a:p>
            <a:pPr marL="457200" indent="-457200" eaLnBrk="1" hangingPunct="1">
              <a:lnSpc>
                <a:spcPct val="150000"/>
              </a:lnSpc>
              <a:buFont typeface="Wingdings" panose="05000000000000000000" pitchFamily="2" charset="2"/>
              <a:buChar char="p"/>
              <a:defRPr/>
            </a:pPr>
            <a:r>
              <a:rPr lang="zh-CN" altLang="en-US" sz="2800" b="1" dirty="0">
                <a:latin typeface="+mn-ea"/>
                <a:ea typeface="+mn-ea"/>
              </a:rPr>
              <a:t>什么是国产化替代</a:t>
            </a:r>
            <a:endParaRPr lang="en-US" altLang="zh-CN" sz="2800" b="1" dirty="0">
              <a:latin typeface="+mn-ea"/>
              <a:ea typeface="+mn-ea"/>
            </a:endParaRPr>
          </a:p>
          <a:p>
            <a:pPr marL="457200" indent="-457200" eaLnBrk="1" hangingPunct="1">
              <a:lnSpc>
                <a:spcPct val="150000"/>
              </a:lnSpc>
              <a:buFont typeface="Wingdings" panose="05000000000000000000" pitchFamily="2" charset="2"/>
              <a:buChar char="p"/>
              <a:defRPr/>
            </a:pPr>
            <a:r>
              <a:rPr lang="zh-CN" altLang="en-US" sz="2800" b="1" dirty="0">
                <a:latin typeface="+mn-ea"/>
                <a:ea typeface="+mn-ea"/>
                <a:sym typeface="+mn-ea"/>
              </a:rPr>
              <a:t>为什么要进行国产化替代</a:t>
            </a:r>
            <a:endParaRPr lang="en-US" altLang="zh-CN" sz="2800" b="1" dirty="0">
              <a:latin typeface="+mn-ea"/>
              <a:ea typeface="+mn-ea"/>
              <a:sym typeface="+mn-ea"/>
            </a:endParaRPr>
          </a:p>
          <a:p>
            <a:pPr marL="457200" indent="-457200" eaLnBrk="1" hangingPunct="1">
              <a:lnSpc>
                <a:spcPct val="150000"/>
              </a:lnSpc>
              <a:buFont typeface="Wingdings" panose="05000000000000000000" pitchFamily="2" charset="2"/>
              <a:buChar char="p"/>
              <a:defRPr/>
            </a:pPr>
            <a:r>
              <a:rPr lang="zh-CN" altLang="en-US" sz="2800" b="1" dirty="0">
                <a:latin typeface="+mn-ea"/>
                <a:ea typeface="+mn-ea"/>
                <a:sym typeface="+mn-ea"/>
              </a:rPr>
              <a:t>国产化替代究竟替什么</a:t>
            </a:r>
            <a:endParaRPr lang="zh-CN" altLang="en-US" sz="2800" b="1" dirty="0">
              <a:latin typeface="+mn-ea"/>
              <a:ea typeface="+mn-ea"/>
            </a:endParaRPr>
          </a:p>
          <a:p>
            <a:pPr eaLnBrk="1" hangingPunct="1">
              <a:lnSpc>
                <a:spcPct val="150000"/>
              </a:lnSpc>
              <a:defRPr/>
            </a:pPr>
            <a:endParaRPr lang="zh-CN" altLang="en-US" sz="2800" b="1" dirty="0">
              <a:latin typeface="+mn-ea"/>
              <a:ea typeface="+mn-ea"/>
            </a:endParaRPr>
          </a:p>
        </p:txBody>
      </p:sp>
      <p:pic>
        <p:nvPicPr>
          <p:cNvPr id="172038" name="图片 1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672263" y="3933825"/>
            <a:ext cx="3589337" cy="214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60"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47850" y="765175"/>
            <a:ext cx="5059363" cy="313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061"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3573463"/>
            <a:ext cx="38100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062" name="图片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32000" y="4035425"/>
            <a:ext cx="2984500"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063" name="图片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29438" y="1144588"/>
            <a:ext cx="3078162" cy="204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064" name="图片 10"/>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135188" y="711200"/>
            <a:ext cx="2670175"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702300" y="2154238"/>
            <a:ext cx="4572000" cy="3784600"/>
          </a:xfrm>
          <a:prstGeom prst="rect">
            <a:avLst/>
          </a:prstGeom>
        </p:spPr>
        <p:txBody>
          <a:bodyPr>
            <a:spAutoFit/>
          </a:bodyPr>
          <a:lstStyle/>
          <a:p>
            <a:pPr eaLnBrk="1" hangingPunct="1">
              <a:lnSpc>
                <a:spcPct val="150000"/>
              </a:lnSpc>
              <a:defRPr/>
            </a:pPr>
            <a:r>
              <a:rPr lang="zh-CN" altLang="en-US" sz="2000" dirty="0">
                <a:latin typeface="+mn-ea"/>
                <a:ea typeface="+mn-ea"/>
              </a:rPr>
              <a:t>以手机操作系统为例，我们可以看到，虽然目前市面上手机产品不计其数，但操作系统只有两类。一类是国产手机的</a:t>
            </a:r>
            <a:r>
              <a:rPr lang="zh-CN" altLang="en-US" sz="2000" b="1" dirty="0">
                <a:solidFill>
                  <a:srgbClr val="0033CC"/>
                </a:solidFill>
                <a:latin typeface="+mn-ea"/>
                <a:ea typeface="+mn-ea"/>
              </a:rPr>
              <a:t>安卓系统</a:t>
            </a:r>
            <a:r>
              <a:rPr lang="zh-CN" altLang="en-US" sz="2000" dirty="0">
                <a:latin typeface="+mn-ea"/>
                <a:ea typeface="+mn-ea"/>
              </a:rPr>
              <a:t>，由美国谷歌公司开发；另一类是</a:t>
            </a:r>
            <a:r>
              <a:rPr lang="zh-CN" altLang="en-US" sz="2000" b="1" dirty="0">
                <a:solidFill>
                  <a:srgbClr val="0033CC"/>
                </a:solidFill>
                <a:latin typeface="+mn-ea"/>
                <a:ea typeface="+mn-ea"/>
              </a:rPr>
              <a:t>苹果手机</a:t>
            </a:r>
            <a:r>
              <a:rPr lang="zh-CN" altLang="en-US" sz="2000" dirty="0">
                <a:latin typeface="+mn-ea"/>
                <a:ea typeface="+mn-ea"/>
              </a:rPr>
              <a:t>的苹果系统，全世界几十亿部手机几乎无一例外。</a:t>
            </a:r>
            <a:endParaRPr lang="en-US" altLang="zh-CN" sz="2000" dirty="0">
              <a:latin typeface="+mn-ea"/>
              <a:ea typeface="+mn-ea"/>
            </a:endParaRPr>
          </a:p>
          <a:p>
            <a:pPr eaLnBrk="1" hangingPunct="1">
              <a:lnSpc>
                <a:spcPct val="150000"/>
              </a:lnSpc>
              <a:defRPr/>
            </a:pPr>
            <a:r>
              <a:rPr lang="zh-CN" altLang="en-US" sz="2000" dirty="0">
                <a:latin typeface="+mn-ea"/>
                <a:ea typeface="+mn-ea"/>
              </a:rPr>
              <a:t>在网信领域，国产产品要想进入市场，就必须打破垄断。如何打破垄断呢？</a:t>
            </a:r>
            <a:endParaRPr lang="zh-CN" altLang="en-US" sz="2000" dirty="0">
              <a:latin typeface="+mn-ea"/>
              <a:ea typeface="+mn-ea"/>
            </a:endParaRPr>
          </a:p>
        </p:txBody>
      </p:sp>
      <p:sp>
        <p:nvSpPr>
          <p:cNvPr id="174085" name="矩形 6"/>
          <p:cNvSpPr>
            <a:spLocks noChangeArrowheads="1"/>
          </p:cNvSpPr>
          <p:nvPr/>
        </p:nvSpPr>
        <p:spPr bwMode="auto">
          <a:xfrm>
            <a:off x="3168650" y="957263"/>
            <a:ext cx="58724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a:solidFill>
                  <a:srgbClr val="FF0000"/>
                </a:solidFill>
                <a:latin typeface="方正大黑简体" panose="03000509000000000000" pitchFamily="65" charset="-122"/>
                <a:ea typeface="方正大黑简体" panose="03000509000000000000" pitchFamily="65" charset="-122"/>
              </a:rPr>
              <a:t>习总书记提出要做国产自主可控替代</a:t>
            </a:r>
            <a:endParaRPr lang="zh-CN" altLang="en-US">
              <a:solidFill>
                <a:srgbClr val="FF0000"/>
              </a:solidFill>
              <a:latin typeface="方正大黑简体" panose="03000509000000000000" pitchFamily="65" charset="-122"/>
              <a:ea typeface="方正大黑简体" panose="03000509000000000000" pitchFamily="65" charset="-122"/>
            </a:endParaRPr>
          </a:p>
        </p:txBody>
      </p:sp>
      <p:pic>
        <p:nvPicPr>
          <p:cNvPr id="174086" name="图片 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55763" y="1747838"/>
            <a:ext cx="2405062" cy="230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087" name="图片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95675" y="2967038"/>
            <a:ext cx="132397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31950" y="1557338"/>
            <a:ext cx="8351838" cy="4076700"/>
          </a:xfrm>
        </p:spPr>
        <p:txBody>
          <a:bodyPr/>
          <a:lstStyle/>
          <a:p>
            <a:pPr lvl="1">
              <a:lnSpc>
                <a:spcPct val="130000"/>
              </a:lnSpc>
              <a:buClrTx/>
              <a:buFont typeface="Wingdings" panose="05000000000000000000" pitchFamily="2" charset="2"/>
              <a:buChar char="n"/>
              <a:defRPr/>
            </a:pPr>
            <a:r>
              <a:rPr lang="zh-CN" altLang="en-US" sz="2000" dirty="0">
                <a:latin typeface="方正大标宋简体" panose="02010601030101010101" pitchFamily="2" charset="-122"/>
                <a:ea typeface="方正大标宋简体" panose="02010601030101010101" pitchFamily="2" charset="-122"/>
              </a:rPr>
              <a:t>2016年10月9日，</a:t>
            </a:r>
            <a:r>
              <a:rPr lang="zh-CN" altLang="en-US" sz="2000" dirty="0">
                <a:solidFill>
                  <a:srgbClr val="FF0000"/>
                </a:solidFill>
                <a:latin typeface="方正大标宋简体" panose="02010601030101010101" pitchFamily="2" charset="-122"/>
                <a:ea typeface="方正大标宋简体" panose="02010601030101010101" pitchFamily="2" charset="-122"/>
              </a:rPr>
              <a:t>习总书记</a:t>
            </a:r>
            <a:r>
              <a:rPr lang="zh-CN" altLang="en-US" sz="2000" dirty="0">
                <a:latin typeface="方正大标宋简体" panose="02010601030101010101" pitchFamily="2" charset="-122"/>
                <a:ea typeface="方正大标宋简体" panose="02010601030101010101" pitchFamily="2" charset="-122"/>
              </a:rPr>
              <a:t>在中共中央政治局第</a:t>
            </a:r>
            <a:r>
              <a:rPr lang="en-US" altLang="zh-CN" sz="2000" dirty="0">
                <a:latin typeface="方正大标宋简体" panose="02010601030101010101" pitchFamily="2" charset="-122"/>
                <a:ea typeface="方正大标宋简体" panose="02010601030101010101" pitchFamily="2" charset="-122"/>
              </a:rPr>
              <a:t>36</a:t>
            </a:r>
            <a:r>
              <a:rPr lang="zh-CN" altLang="en-US" sz="2000" dirty="0">
                <a:latin typeface="方正大标宋简体" panose="02010601030101010101" pitchFamily="2" charset="-122"/>
                <a:ea typeface="方正大标宋简体" panose="02010601030101010101" pitchFamily="2" charset="-122"/>
              </a:rPr>
              <a:t>次集体学习时强调，“要紧紧牵住</a:t>
            </a:r>
            <a:r>
              <a:rPr lang="zh-CN" altLang="en-US" sz="2000" dirty="0">
                <a:solidFill>
                  <a:srgbClr val="FF0000"/>
                </a:solidFill>
                <a:latin typeface="方正大标宋简体" panose="02010601030101010101" pitchFamily="2" charset="-122"/>
                <a:ea typeface="方正大标宋简体" panose="02010601030101010101" pitchFamily="2" charset="-122"/>
              </a:rPr>
              <a:t>核心技术自主创新</a:t>
            </a:r>
            <a:r>
              <a:rPr lang="zh-CN" altLang="en-US" sz="2000" dirty="0">
                <a:latin typeface="方正大标宋简体" panose="02010601030101010101" pitchFamily="2" charset="-122"/>
                <a:ea typeface="方正大标宋简体" panose="02010601030101010101" pitchFamily="2" charset="-122"/>
              </a:rPr>
              <a:t>这个‘牛鼻子’，抓紧突破网络发展的前沿技术和具有国际竞争力的关键核心技术，加快</a:t>
            </a:r>
            <a:r>
              <a:rPr lang="zh-CN" altLang="en-US" sz="2000" dirty="0">
                <a:solidFill>
                  <a:srgbClr val="FF0000"/>
                </a:solidFill>
                <a:latin typeface="方正大标宋简体" panose="02010601030101010101" pitchFamily="2" charset="-122"/>
                <a:ea typeface="方正大标宋简体" panose="02010601030101010101" pitchFamily="2" charset="-122"/>
              </a:rPr>
              <a:t>推进国产自主可控替代计划</a:t>
            </a:r>
            <a:r>
              <a:rPr lang="zh-CN" altLang="en-US" sz="2000" dirty="0">
                <a:latin typeface="方正大标宋简体" panose="02010601030101010101" pitchFamily="2" charset="-122"/>
                <a:ea typeface="方正大标宋简体" panose="02010601030101010101" pitchFamily="2" charset="-122"/>
              </a:rPr>
              <a:t>，构建</a:t>
            </a:r>
            <a:r>
              <a:rPr lang="zh-CN" altLang="en-US" sz="2000" dirty="0">
                <a:solidFill>
                  <a:srgbClr val="FF0000"/>
                </a:solidFill>
                <a:latin typeface="方正大标宋简体" panose="02010601030101010101" pitchFamily="2" charset="-122"/>
                <a:ea typeface="方正大标宋简体" panose="02010601030101010101" pitchFamily="2" charset="-122"/>
              </a:rPr>
              <a:t>安全可控</a:t>
            </a:r>
            <a:r>
              <a:rPr lang="zh-CN" altLang="en-US" sz="2000" dirty="0">
                <a:latin typeface="方正大标宋简体" panose="02010601030101010101" pitchFamily="2" charset="-122"/>
                <a:ea typeface="方正大标宋简体" panose="02010601030101010101" pitchFamily="2" charset="-122"/>
              </a:rPr>
              <a:t>的信息技术体系。”</a:t>
            </a:r>
            <a:endParaRPr lang="zh-CN" altLang="en-US" sz="2000" dirty="0">
              <a:latin typeface="方正大标宋简体" panose="02010601030101010101" pitchFamily="2" charset="-122"/>
              <a:ea typeface="方正大标宋简体" panose="02010601030101010101" pitchFamily="2" charset="-122"/>
            </a:endParaRPr>
          </a:p>
          <a:p>
            <a:pPr lvl="1">
              <a:lnSpc>
                <a:spcPct val="130000"/>
              </a:lnSpc>
              <a:buClrTx/>
              <a:buFont typeface="Wingdings" panose="05000000000000000000" pitchFamily="2" charset="2"/>
              <a:buChar char="n"/>
              <a:defRPr/>
            </a:pPr>
            <a:r>
              <a:rPr lang="zh-CN" altLang="en-US" sz="2000" dirty="0">
                <a:latin typeface="方正大标宋简体" panose="02010601030101010101" pitchFamily="2" charset="-122"/>
                <a:ea typeface="方正大标宋简体" panose="02010601030101010101" pitchFamily="2" charset="-122"/>
                <a:cs typeface="+mn-cs"/>
                <a:sym typeface="+mn-ea"/>
              </a:rPr>
              <a:t>如果说国产化替代是一场战争，那么CPU、操作系统、数据库等基础软硬件，就是“自主可控”的“正面战场”，是国家网络安全的基础和保障。</a:t>
            </a:r>
            <a:endParaRPr lang="zh-CN" altLang="en-US" sz="2000" dirty="0">
              <a:latin typeface="方正大标宋简体" panose="02010601030101010101" pitchFamily="2" charset="-122"/>
              <a:ea typeface="方正大标宋简体" panose="02010601030101010101" pitchFamily="2" charset="-122"/>
            </a:endParaRPr>
          </a:p>
        </p:txBody>
      </p:sp>
      <p:sp>
        <p:nvSpPr>
          <p:cNvPr id="175107" name="矩形 4"/>
          <p:cNvSpPr>
            <a:spLocks noChangeArrowheads="1"/>
          </p:cNvSpPr>
          <p:nvPr/>
        </p:nvSpPr>
        <p:spPr bwMode="auto">
          <a:xfrm>
            <a:off x="2057400" y="900113"/>
            <a:ext cx="3383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a:solidFill>
                  <a:srgbClr val="0033CC"/>
                </a:solidFill>
                <a:latin typeface="方正大黑简体" panose="03000509000000000000" pitchFamily="65" charset="-122"/>
                <a:ea typeface="方正大黑简体" panose="03000509000000000000" pitchFamily="65" charset="-122"/>
              </a:rPr>
              <a:t>什么是国产化替代？</a:t>
            </a:r>
            <a:endParaRPr lang="zh-CN" altLang="en-US">
              <a:solidFill>
                <a:srgbClr val="0033CC"/>
              </a:solidFill>
              <a:latin typeface="方正大黑简体" panose="03000509000000000000" pitchFamily="65" charset="-122"/>
              <a:ea typeface="方正大黑简体" panose="03000509000000000000" pitchFamily="65" charset="-122"/>
            </a:endParaRPr>
          </a:p>
        </p:txBody>
      </p:sp>
      <p:pic>
        <p:nvPicPr>
          <p:cNvPr id="175108"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324725" y="4292600"/>
            <a:ext cx="2668588"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1774825" y="837566"/>
            <a:ext cx="4472940"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为什么要进行国产化替代？</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endParaRPr>
          </a:p>
        </p:txBody>
      </p:sp>
      <p:sp>
        <p:nvSpPr>
          <p:cNvPr id="176133" name="矩形 6"/>
          <p:cNvSpPr>
            <a:spLocks noChangeArrowheads="1"/>
          </p:cNvSpPr>
          <p:nvPr/>
        </p:nvSpPr>
        <p:spPr bwMode="auto">
          <a:xfrm>
            <a:off x="2351088" y="1682750"/>
            <a:ext cx="66217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p"/>
            </a:pPr>
            <a:r>
              <a:rPr lang="zh-CN" altLang="en-US" sz="2400">
                <a:solidFill>
                  <a:srgbClr val="0033CC"/>
                </a:solidFill>
                <a:latin typeface="方正大标宋简体" panose="02010601030101010101" pitchFamily="2" charset="-122"/>
                <a:ea typeface="方正大标宋简体" panose="02010601030101010101" pitchFamily="2" charset="-122"/>
              </a:rPr>
              <a:t>华为、中兴事件倒逼我国科技自立势在必行</a:t>
            </a:r>
            <a:r>
              <a:rPr lang="zh-CN" altLang="en-US" sz="2400">
                <a:latin typeface="方正大标宋简体" panose="02010601030101010101" pitchFamily="2" charset="-122"/>
                <a:ea typeface="方正大标宋简体" panose="02010601030101010101" pitchFamily="2" charset="-122"/>
              </a:rPr>
              <a:t>。</a:t>
            </a:r>
            <a:endParaRPr lang="zh-CN" altLang="en-US" sz="2400">
              <a:latin typeface="方正大标宋简体" panose="02010601030101010101" pitchFamily="2" charset="-122"/>
              <a:ea typeface="方正大标宋简体" panose="02010601030101010101" pitchFamily="2" charset="-122"/>
            </a:endParaRPr>
          </a:p>
        </p:txBody>
      </p:sp>
      <p:sp>
        <p:nvSpPr>
          <p:cNvPr id="8" name="矩形 7"/>
          <p:cNvSpPr/>
          <p:nvPr/>
        </p:nvSpPr>
        <p:spPr>
          <a:xfrm>
            <a:off x="2357438" y="2204864"/>
            <a:ext cx="4602162" cy="3046095"/>
          </a:xfrm>
          <a:prstGeom prst="rect">
            <a:avLst/>
          </a:prstGeom>
        </p:spPr>
        <p:txBody>
          <a:bodyPr>
            <a:spAutoFit/>
          </a:bodyPr>
          <a:lstStyle/>
          <a:p>
            <a:pPr eaLnBrk="1" hangingPunct="1">
              <a:lnSpc>
                <a:spcPct val="120000"/>
              </a:lnSpc>
              <a:defRPr/>
            </a:pPr>
            <a:r>
              <a:rPr lang="zh-CN" altLang="en-US" sz="2000" b="1" dirty="0">
                <a:latin typeface="+mn-ea"/>
                <a:ea typeface="+mn-ea"/>
              </a:rPr>
              <a:t>受“华为、中兴事件”影响，我国科技尤其是上游核心技术受制于人的现状对我国经济发展、社会稳定等都提出了严峻考验。大力发展科技产业，鼓励科技创新，成为当下时不我待的命题。中美贸易战以来，美国对华实施技术封锁，断供我国高新技术企业，企图遏制我国科技产业的发展。</a:t>
            </a:r>
            <a:endParaRPr lang="en-US" altLang="zh-CN" sz="2000" b="1" dirty="0">
              <a:latin typeface="+mn-ea"/>
              <a:ea typeface="+mn-ea"/>
            </a:endParaRPr>
          </a:p>
        </p:txBody>
      </p:sp>
      <p:sp>
        <p:nvSpPr>
          <p:cNvPr id="176135" name="矩形 8"/>
          <p:cNvSpPr>
            <a:spLocks noChangeArrowheads="1"/>
          </p:cNvSpPr>
          <p:nvPr/>
        </p:nvSpPr>
        <p:spPr bwMode="auto">
          <a:xfrm>
            <a:off x="1979613" y="5484813"/>
            <a:ext cx="8616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2400">
                <a:solidFill>
                  <a:srgbClr val="FF0000"/>
                </a:solidFill>
                <a:latin typeface="方正大标宋简体" panose="02010601030101010101" pitchFamily="2" charset="-122"/>
                <a:ea typeface="方正大标宋简体" panose="02010601030101010101" pitchFamily="2" charset="-122"/>
              </a:rPr>
              <a:t>自主可控关乎国家战略，在国际竞争中发挥着举足轻重的作用</a:t>
            </a:r>
            <a:endParaRPr lang="zh-CN" altLang="en-US" sz="2400">
              <a:solidFill>
                <a:srgbClr val="FF0000"/>
              </a:solidFill>
              <a:latin typeface="方正大标宋简体" panose="02010601030101010101" pitchFamily="2" charset="-122"/>
              <a:ea typeface="方正大标宋简体" panose="02010601030101010101" pitchFamily="2" charset="-122"/>
            </a:endParaRPr>
          </a:p>
        </p:txBody>
      </p:sp>
      <p:pic>
        <p:nvPicPr>
          <p:cNvPr id="176136" name="图片 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536160" y="2204864"/>
            <a:ext cx="2735907" cy="182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6959600" y="4155937"/>
            <a:ext cx="3456384" cy="1198880"/>
          </a:xfrm>
          <a:prstGeom prst="rect">
            <a:avLst/>
          </a:prstGeom>
          <a:noFill/>
        </p:spPr>
        <p:txBody>
          <a:bodyPr wrap="square" rtlCol="0">
            <a:spAutoFit/>
          </a:bodyPr>
          <a:lstStyle/>
          <a:p>
            <a:r>
              <a:rPr kumimoji="1" lang="en-GB" altLang="zh-CN" dirty="0"/>
              <a:t>https://</a:t>
            </a:r>
            <a:r>
              <a:rPr kumimoji="1" lang="en-GB" altLang="zh-CN" dirty="0" err="1"/>
              <a:t>www.bilibili.com</a:t>
            </a:r>
            <a:r>
              <a:rPr kumimoji="1" lang="en-GB" altLang="zh-CN" dirty="0"/>
              <a:t>/video/BV14u411w7uh/?</a:t>
            </a:r>
            <a:r>
              <a:rPr kumimoji="1" lang="en-GB" altLang="zh-CN" dirty="0" err="1"/>
              <a:t>spm_id_from</a:t>
            </a:r>
            <a:r>
              <a:rPr kumimoji="1" lang="en-GB" altLang="zh-CN" dirty="0"/>
              <a:t>=333.999.0.0&amp;vd_source=0991c0bfd7ce6d8c34ea5d7729eaded5</a:t>
            </a:r>
            <a:endParaRPr kumimoji="1" lang="zh-CN" altLang="en-US" dirty="0"/>
          </a:p>
        </p:txBody>
      </p:sp>
    </p:spTree>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6" name="矩形 5"/>
          <p:cNvSpPr>
            <a:spLocks noChangeArrowheads="1"/>
          </p:cNvSpPr>
          <p:nvPr/>
        </p:nvSpPr>
        <p:spPr bwMode="auto">
          <a:xfrm>
            <a:off x="1993900" y="908050"/>
            <a:ext cx="69265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p"/>
            </a:pPr>
            <a:r>
              <a:rPr lang="zh-CN" altLang="en-US" sz="2400">
                <a:solidFill>
                  <a:srgbClr val="0033CC"/>
                </a:solidFill>
                <a:latin typeface="方正大标宋简体" panose="02010601030101010101" pitchFamily="2" charset="-122"/>
                <a:ea typeface="方正大标宋简体" panose="02010601030101010101" pitchFamily="2" charset="-122"/>
              </a:rPr>
              <a:t>芯片、基础软件和中间件基本被美国企业所垄断</a:t>
            </a:r>
            <a:endParaRPr lang="zh-CN" altLang="en-US" sz="2400">
              <a:solidFill>
                <a:srgbClr val="0033CC"/>
              </a:solidFill>
              <a:latin typeface="方正大标宋简体" panose="02010601030101010101" pitchFamily="2" charset="-122"/>
              <a:ea typeface="方正大标宋简体" panose="02010601030101010101" pitchFamily="2" charset="-122"/>
            </a:endParaRPr>
          </a:p>
        </p:txBody>
      </p:sp>
      <p:sp>
        <p:nvSpPr>
          <p:cNvPr id="177157" name="矩形 6"/>
          <p:cNvSpPr>
            <a:spLocks noChangeArrowheads="1"/>
          </p:cNvSpPr>
          <p:nvPr/>
        </p:nvSpPr>
        <p:spPr bwMode="auto">
          <a:xfrm>
            <a:off x="1993900" y="1443038"/>
            <a:ext cx="8196263" cy="341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lvl="1" eaLnBrk="1" hangingPunct="1">
              <a:lnSpc>
                <a:spcPct val="120000"/>
              </a:lnSpc>
              <a:spcBef>
                <a:spcPct val="0"/>
              </a:spcBef>
              <a:buClrTx/>
              <a:buFont typeface="Wingdings" panose="05000000000000000000" pitchFamily="2" charset="2"/>
              <a:buChar char="u"/>
            </a:pPr>
            <a:r>
              <a:rPr lang="zh-CN" altLang="en-US" sz="2000">
                <a:latin typeface="方正大标宋简体" panose="02010601030101010101" pitchFamily="2" charset="-122"/>
                <a:ea typeface="方正大标宋简体" panose="02010601030101010101" pitchFamily="2" charset="-122"/>
              </a:rPr>
              <a:t>芯片领域我国起步较晚，与发达国家相比存在较大差距；</a:t>
            </a:r>
            <a:endParaRPr lang="zh-CN" altLang="en-US" sz="2000">
              <a:latin typeface="方正大标宋简体" panose="02010601030101010101" pitchFamily="2" charset="-122"/>
              <a:ea typeface="方正大标宋简体" panose="02010601030101010101" pitchFamily="2" charset="-122"/>
            </a:endParaRPr>
          </a:p>
          <a:p>
            <a:pPr lvl="1" eaLnBrk="1" hangingPunct="1">
              <a:lnSpc>
                <a:spcPct val="120000"/>
              </a:lnSpc>
              <a:spcBef>
                <a:spcPct val="0"/>
              </a:spcBef>
              <a:buClrTx/>
              <a:buFont typeface="Wingdings" panose="05000000000000000000" pitchFamily="2" charset="2"/>
              <a:buChar char="u"/>
            </a:pPr>
            <a:r>
              <a:rPr lang="zh-CN" altLang="en-US" sz="2000">
                <a:latin typeface="方正大标宋简体" panose="02010601030101010101" pitchFamily="2" charset="-122"/>
                <a:ea typeface="方正大标宋简体" panose="02010601030101010101" pitchFamily="2" charset="-122"/>
              </a:rPr>
              <a:t>系统软件主要包括操作系统和数据库，操作系统方面，PC 端主要被微软的 Windows 垄断，移动端主要被谷歌的安卓系统和苹果的 IOS 系统垄断；</a:t>
            </a:r>
            <a:endParaRPr lang="zh-CN" altLang="en-US" sz="2000">
              <a:latin typeface="方正大标宋简体" panose="02010601030101010101" pitchFamily="2" charset="-122"/>
              <a:ea typeface="方正大标宋简体" panose="02010601030101010101" pitchFamily="2" charset="-122"/>
            </a:endParaRPr>
          </a:p>
          <a:p>
            <a:pPr lvl="1" eaLnBrk="1" hangingPunct="1">
              <a:lnSpc>
                <a:spcPct val="120000"/>
              </a:lnSpc>
              <a:spcBef>
                <a:spcPct val="0"/>
              </a:spcBef>
              <a:buClrTx/>
              <a:buFont typeface="Wingdings" panose="05000000000000000000" pitchFamily="2" charset="2"/>
              <a:buChar char="u"/>
            </a:pPr>
            <a:r>
              <a:rPr lang="zh-CN" altLang="en-US" sz="2000">
                <a:latin typeface="方正大标宋简体" panose="02010601030101010101" pitchFamily="2" charset="-122"/>
                <a:ea typeface="方正大标宋简体" panose="02010601030101010101" pitchFamily="2" charset="-122"/>
              </a:rPr>
              <a:t>数据库则主要被甲骨文的 Oracle 和 MySQL、微软的 SQL Server 以及 IBM 的 DB2 垄断。IBM、Oracle 长期占据着全球中间件市场份额的前两位。</a:t>
            </a:r>
            <a:endParaRPr lang="zh-CN" altLang="en-US" sz="2000">
              <a:latin typeface="方正大标宋简体" panose="02010601030101010101" pitchFamily="2" charset="-122"/>
              <a:ea typeface="方正大标宋简体" panose="02010601030101010101" pitchFamily="2" charset="-122"/>
            </a:endParaRPr>
          </a:p>
          <a:p>
            <a:pPr lvl="1" eaLnBrk="1" hangingPunct="1">
              <a:lnSpc>
                <a:spcPct val="120000"/>
              </a:lnSpc>
              <a:spcBef>
                <a:spcPct val="0"/>
              </a:spcBef>
              <a:buClrTx/>
              <a:buFont typeface="Wingdings" panose="05000000000000000000" pitchFamily="2" charset="2"/>
              <a:buChar char="u"/>
            </a:pPr>
            <a:r>
              <a:rPr lang="zh-CN" altLang="en-US" sz="2000">
                <a:latin typeface="方正大标宋简体" panose="02010601030101010101" pitchFamily="2" charset="-122"/>
                <a:ea typeface="方正大标宋简体" panose="02010601030101010101" pitchFamily="2" charset="-122"/>
              </a:rPr>
              <a:t>应用软件国产化相对较高，在下游应用细分领域具有一点的市场份额，如办公软件、行业专业应用软件等。</a:t>
            </a:r>
            <a:endParaRPr lang="zh-CN" altLang="en-US" sz="2000">
              <a:latin typeface="方正大标宋简体" panose="02010601030101010101" pitchFamily="2" charset="-122"/>
              <a:ea typeface="方正大标宋简体" panose="02010601030101010101" pitchFamily="2" charset="-122"/>
            </a:endParaRPr>
          </a:p>
        </p:txBody>
      </p:sp>
      <p:pic>
        <p:nvPicPr>
          <p:cNvPr id="177158" name="图片 7"/>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30438" y="4957763"/>
            <a:ext cx="1284287" cy="128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7159" name="图片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63950" y="5108575"/>
            <a:ext cx="17526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7160" name="图片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21338" y="5099050"/>
            <a:ext cx="1433512"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7161" name="图片 11"/>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32625" y="4986338"/>
            <a:ext cx="165417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7162" name="图片 1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62938" y="5232400"/>
            <a:ext cx="1871662"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80" name="矩形 6"/>
          <p:cNvSpPr>
            <a:spLocks noChangeArrowheads="1"/>
          </p:cNvSpPr>
          <p:nvPr/>
        </p:nvSpPr>
        <p:spPr bwMode="auto">
          <a:xfrm>
            <a:off x="1816100" y="1268413"/>
            <a:ext cx="809625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lnSpc>
                <a:spcPct val="150000"/>
              </a:lnSpc>
              <a:spcBef>
                <a:spcPct val="0"/>
              </a:spcBef>
              <a:buClrTx/>
              <a:buFont typeface="Wingdings" panose="05000000000000000000" pitchFamily="2" charset="2"/>
              <a:buChar char="p"/>
            </a:pPr>
            <a:r>
              <a:rPr lang="zh-CN" altLang="en-US" sz="2400">
                <a:latin typeface="方正大标宋简体" panose="02010601030101010101" pitchFamily="2" charset="-122"/>
                <a:ea typeface="方正大标宋简体" panose="02010601030101010101" pitchFamily="2" charset="-122"/>
              </a:rPr>
              <a:t>毋庸置疑，占据中国市场</a:t>
            </a:r>
            <a:r>
              <a:rPr lang="zh-CN" altLang="en-US" sz="2000">
                <a:solidFill>
                  <a:srgbClr val="0033CC"/>
                </a:solidFill>
                <a:latin typeface="方正大标宋简体" panose="02010601030101010101" pitchFamily="2" charset="-122"/>
                <a:ea typeface="方正大标宋简体" panose="02010601030101010101" pitchFamily="2" charset="-122"/>
              </a:rPr>
              <a:t>长达几十年的国外产品在性能和速度上是优越的，那国产化替代的进程必定是漫长且疼痛的。</a:t>
            </a:r>
            <a:endParaRPr lang="zh-CN" altLang="en-US" sz="2000">
              <a:solidFill>
                <a:srgbClr val="0033CC"/>
              </a:solidFill>
              <a:latin typeface="方正大标宋简体" panose="02010601030101010101" pitchFamily="2" charset="-122"/>
              <a:ea typeface="方正大标宋简体" panose="02010601030101010101" pitchFamily="2" charset="-122"/>
            </a:endParaRPr>
          </a:p>
          <a:p>
            <a:pPr eaLnBrk="1" hangingPunct="1">
              <a:lnSpc>
                <a:spcPct val="150000"/>
              </a:lnSpc>
              <a:spcBef>
                <a:spcPct val="0"/>
              </a:spcBef>
              <a:buClrTx/>
              <a:buFont typeface="Wingdings" panose="05000000000000000000" pitchFamily="2" charset="2"/>
              <a:buChar char="p"/>
            </a:pPr>
            <a:r>
              <a:rPr lang="zh-CN" altLang="en-US" sz="2400">
                <a:latin typeface="方正大标宋简体" panose="02010601030101010101" pitchFamily="2" charset="-122"/>
                <a:ea typeface="方正大标宋简体" panose="02010601030101010101" pitchFamily="2" charset="-122"/>
              </a:rPr>
              <a:t>中国工程院院士倪光南认为</a:t>
            </a:r>
            <a:r>
              <a:rPr lang="zh-CN" altLang="en-US" sz="2000">
                <a:solidFill>
                  <a:srgbClr val="0033CC"/>
                </a:solidFill>
                <a:latin typeface="方正大标宋简体" panose="02010601030101010101" pitchFamily="2" charset="-122"/>
                <a:ea typeface="方正大标宋简体" panose="02010601030101010101" pitchFamily="2" charset="-122"/>
              </a:rPr>
              <a:t>“我们必须坚持这么做，因为中兴、华为事件说明，如果不是自主可控的产品，我们的产业可能在一天之内瘫痪。”</a:t>
            </a:r>
            <a:r>
              <a:rPr lang="zh-CN" altLang="en-US" sz="2400">
                <a:solidFill>
                  <a:srgbClr val="0033CC"/>
                </a:solidFill>
                <a:latin typeface="方正大标宋简体" panose="02010601030101010101" pitchFamily="2" charset="-122"/>
                <a:ea typeface="方正大标宋简体" panose="02010601030101010101" pitchFamily="2" charset="-122"/>
              </a:rPr>
              <a:t>。</a:t>
            </a:r>
            <a:endParaRPr lang="zh-CN" altLang="en-US" sz="2400">
              <a:solidFill>
                <a:srgbClr val="0033CC"/>
              </a:solidFill>
              <a:latin typeface="方正大标宋简体" panose="02010601030101010101" pitchFamily="2" charset="-122"/>
              <a:ea typeface="方正大标宋简体" panose="02010601030101010101" pitchFamily="2" charset="-122"/>
            </a:endParaRPr>
          </a:p>
        </p:txBody>
      </p:sp>
      <p:pic>
        <p:nvPicPr>
          <p:cNvPr id="178181" name="图片 8"/>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864225" y="3716338"/>
            <a:ext cx="3246438"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2246313" y="837566"/>
            <a:ext cx="4115435"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国产化替代究竟替什么？</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endParaRPr>
          </a:p>
        </p:txBody>
      </p:sp>
      <p:sp>
        <p:nvSpPr>
          <p:cNvPr id="9" name="内容占位符 2"/>
          <p:cNvSpPr>
            <a:spLocks noGrp="1"/>
          </p:cNvSpPr>
          <p:nvPr>
            <p:ph idx="1"/>
          </p:nvPr>
        </p:nvSpPr>
        <p:spPr>
          <a:xfrm>
            <a:off x="2246313" y="1412875"/>
            <a:ext cx="8191500" cy="3415030"/>
          </a:xfrm>
        </p:spPr>
        <p:txBody>
          <a:bodyPr>
            <a:spAutoFit/>
          </a:bodyPr>
          <a:lstStyle/>
          <a:p>
            <a:pPr>
              <a:lnSpc>
                <a:spcPct val="150000"/>
              </a:lnSpc>
              <a:spcBef>
                <a:spcPct val="0"/>
              </a:spcBef>
              <a:defRPr/>
            </a:pPr>
            <a:r>
              <a:rPr lang="zh-CN" altLang="en-US" sz="2400" b="1" kern="1200" dirty="0">
                <a:latin typeface="方正大标宋简体" panose="02010601030101010101" pitchFamily="2" charset="-122"/>
                <a:ea typeface="方正大标宋简体" panose="02010601030101010101" pitchFamily="2" charset="-122"/>
              </a:rPr>
              <a:t>答案是替代</a:t>
            </a:r>
            <a:r>
              <a:rPr lang="zh-CN" altLang="en-US" sz="2400" b="1" kern="1200" dirty="0">
                <a:solidFill>
                  <a:srgbClr val="FF0000"/>
                </a:solidFill>
                <a:latin typeface="方正大标宋简体" panose="02010601030101010101" pitchFamily="2" charset="-122"/>
                <a:ea typeface="方正大标宋简体" panose="02010601030101010101" pitchFamily="2" charset="-122"/>
              </a:rPr>
              <a:t>被垄断的</a:t>
            </a:r>
            <a:r>
              <a:rPr lang="zh-CN" altLang="en-US" sz="2400" b="1" kern="1200" dirty="0">
                <a:solidFill>
                  <a:srgbClr val="FF0000"/>
                </a:solidFill>
                <a:latin typeface="方正大标宋简体" panose="02010601030101010101" pitchFamily="2" charset="-122"/>
                <a:ea typeface="方正大标宋简体" panose="02010601030101010101" pitchFamily="2" charset="-122"/>
                <a:sym typeface="+mn-ea"/>
              </a:rPr>
              <a:t>国</a:t>
            </a:r>
            <a:r>
              <a:rPr lang="zh-CN" altLang="en-US" sz="2400" b="1" kern="1200" dirty="0">
                <a:solidFill>
                  <a:srgbClr val="FF0000"/>
                </a:solidFill>
                <a:latin typeface="方正大标宋简体" panose="02010601030101010101" pitchFamily="2" charset="-122"/>
                <a:ea typeface="方正大标宋简体" panose="02010601030101010101" pitchFamily="2" charset="-122"/>
              </a:rPr>
              <a:t>外产品</a:t>
            </a:r>
            <a:r>
              <a:rPr lang="zh-CN" altLang="en-US" sz="2400" b="1" kern="1200" dirty="0">
                <a:latin typeface="方正大标宋简体" panose="02010601030101010101" pitchFamily="2" charset="-122"/>
                <a:ea typeface="方正大标宋简体" panose="02010601030101010101" pitchFamily="2" charset="-122"/>
              </a:rPr>
              <a:t>。</a:t>
            </a:r>
            <a:endParaRPr lang="zh-CN" altLang="en-US" sz="2400" b="1" kern="1200" dirty="0">
              <a:latin typeface="方正大标宋简体" panose="02010601030101010101" pitchFamily="2" charset="-122"/>
              <a:ea typeface="方正大标宋简体" panose="02010601030101010101" pitchFamily="2" charset="-122"/>
            </a:endParaRPr>
          </a:p>
          <a:p>
            <a:pPr>
              <a:lnSpc>
                <a:spcPct val="150000"/>
              </a:lnSpc>
              <a:spcBef>
                <a:spcPct val="0"/>
              </a:spcBef>
              <a:defRPr/>
            </a:pPr>
            <a:r>
              <a:rPr lang="zh-CN" altLang="en-US" sz="2400" b="1" kern="1200" dirty="0">
                <a:latin typeface="方正大标宋简体" panose="02010601030101010101" pitchFamily="2" charset="-122"/>
                <a:ea typeface="方正大标宋简体" panose="02010601030101010101" pitchFamily="2" charset="-122"/>
              </a:rPr>
              <a:t>在第十四届中国(南京)国际软件产品和信息服务交易博览会上，倪光南院士讲到，目前，信息技术国产化替代在不同领域正在加速推进。包括：</a:t>
            </a:r>
            <a:endParaRPr lang="zh-CN" altLang="en-US" sz="2400" b="1" kern="1200" dirty="0">
              <a:latin typeface="方正大标宋简体" panose="02010601030101010101" pitchFamily="2" charset="-122"/>
              <a:ea typeface="方正大标宋简体" panose="02010601030101010101" pitchFamily="2" charset="-122"/>
            </a:endParaRPr>
          </a:p>
          <a:p>
            <a:pPr lvl="1">
              <a:lnSpc>
                <a:spcPct val="150000"/>
              </a:lnSpc>
              <a:spcBef>
                <a:spcPct val="0"/>
              </a:spcBef>
              <a:buClr>
                <a:srgbClr val="0033CC"/>
              </a:buClr>
              <a:buFont typeface="Wingdings" panose="05000000000000000000" pitchFamily="2" charset="2"/>
              <a:buChar char="u"/>
              <a:defRPr/>
            </a:pPr>
            <a:r>
              <a:rPr lang="zh-CN" altLang="en-US" sz="2400" b="1" kern="1200" dirty="0">
                <a:solidFill>
                  <a:srgbClr val="FF0000"/>
                </a:solidFill>
                <a:latin typeface="方正大标宋简体" panose="02010601030101010101" pitchFamily="2" charset="-122"/>
                <a:ea typeface="方正大标宋简体" panose="02010601030101010101" pitchFamily="2" charset="-122"/>
                <a:cs typeface="+mn-cs"/>
              </a:rPr>
              <a:t>国产桌面计算机技术体系对Wintel体系的替代；</a:t>
            </a:r>
            <a:endParaRPr lang="zh-CN" altLang="en-US" sz="2400" b="1" kern="1200" dirty="0">
              <a:solidFill>
                <a:srgbClr val="FF0000"/>
              </a:solidFill>
              <a:latin typeface="方正大标宋简体" panose="02010601030101010101" pitchFamily="2" charset="-122"/>
              <a:ea typeface="方正大标宋简体" panose="02010601030101010101" pitchFamily="2" charset="-122"/>
              <a:cs typeface="+mn-cs"/>
            </a:endParaRPr>
          </a:p>
          <a:p>
            <a:pPr lvl="1">
              <a:lnSpc>
                <a:spcPct val="150000"/>
              </a:lnSpc>
              <a:spcBef>
                <a:spcPct val="0"/>
              </a:spcBef>
              <a:buClr>
                <a:srgbClr val="0033CC"/>
              </a:buClr>
              <a:buFont typeface="Wingdings" panose="05000000000000000000" pitchFamily="2" charset="2"/>
              <a:buChar char="u"/>
              <a:defRPr/>
            </a:pPr>
            <a:r>
              <a:rPr lang="zh-CN" altLang="en-US" sz="2400" b="1" kern="1200" dirty="0">
                <a:solidFill>
                  <a:srgbClr val="FF0000"/>
                </a:solidFill>
                <a:latin typeface="方正大标宋简体" panose="02010601030101010101" pitchFamily="2" charset="-122"/>
                <a:ea typeface="方正大标宋简体" panose="02010601030101010101" pitchFamily="2" charset="-122"/>
                <a:cs typeface="+mn-cs"/>
              </a:rPr>
              <a:t>高端服务器和数据库对“IOE”的替代</a:t>
            </a:r>
            <a:r>
              <a:rPr lang="zh-CN" altLang="en-US" sz="2400" b="1" kern="1200" dirty="0">
                <a:latin typeface="方正大标宋简体" panose="02010601030101010101" pitchFamily="2" charset="-122"/>
                <a:ea typeface="方正大标宋简体" panose="02010601030101010101" pitchFamily="2" charset="-122"/>
                <a:cs typeface="+mn-cs"/>
              </a:rPr>
              <a:t>。</a:t>
            </a:r>
            <a:endParaRPr lang="zh-CN" altLang="en-US" b="1" kern="1200" dirty="0">
              <a:latin typeface="方正大标宋简体" panose="02010601030101010101" pitchFamily="2" charset="-122"/>
              <a:ea typeface="方正大标宋简体" panose="02010601030101010101" pitchFamily="2" charset="-122"/>
            </a:endParaRPr>
          </a:p>
        </p:txBody>
      </p:sp>
      <p:pic>
        <p:nvPicPr>
          <p:cNvPr id="179206" name="图片 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63800" y="4919663"/>
            <a:ext cx="1284288"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07" name="图片 1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08388" y="4919663"/>
            <a:ext cx="1716087" cy="128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08" name="图片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87938" y="5070475"/>
            <a:ext cx="1871662"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09" name="图片 1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53213" y="5054600"/>
            <a:ext cx="1751012"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10" name="图片 1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67725" y="5143500"/>
            <a:ext cx="163830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7400" y="864553"/>
            <a:ext cx="6268085"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替代Intel架构核心中央处理器（CPU）</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endParaRPr>
          </a:p>
        </p:txBody>
      </p:sp>
      <p:sp>
        <p:nvSpPr>
          <p:cNvPr id="3" name="内容占位符 2"/>
          <p:cNvSpPr>
            <a:spLocks noGrp="1"/>
          </p:cNvSpPr>
          <p:nvPr>
            <p:ph idx="1"/>
          </p:nvPr>
        </p:nvSpPr>
        <p:spPr>
          <a:xfrm>
            <a:off x="1774825" y="1484313"/>
            <a:ext cx="8431213" cy="3322955"/>
          </a:xfrm>
        </p:spPr>
        <p:txBody>
          <a:bodyPr>
            <a:spAutoFit/>
          </a:bodyPr>
          <a:lstStyle/>
          <a:p>
            <a:pPr lvl="1">
              <a:lnSpc>
                <a:spcPct val="150000"/>
              </a:lnSpc>
              <a:spcBef>
                <a:spcPct val="0"/>
              </a:spcBef>
              <a:buClr>
                <a:srgbClr val="0033CC"/>
              </a:buClr>
              <a:buFont typeface="Wingdings" panose="05000000000000000000" pitchFamily="2" charset="2"/>
              <a:buChar char="u"/>
              <a:defRPr/>
            </a:pPr>
            <a:r>
              <a:rPr lang="zh-CN" altLang="en-US" sz="2000" b="1" kern="1200" dirty="0">
                <a:latin typeface="方正大标宋简体" panose="02010601030101010101" pitchFamily="2" charset="-122"/>
                <a:ea typeface="方正大标宋简体" panose="02010601030101010101" pitchFamily="2" charset="-122"/>
                <a:cs typeface="+mn-cs"/>
              </a:rPr>
              <a:t>CPU作为整个电脑系统的心脏，其重要性不言而喻。</a:t>
            </a:r>
            <a:endParaRPr lang="zh-CN" altLang="en-US" sz="2000" b="1" kern="1200" dirty="0">
              <a:latin typeface="方正大标宋简体" panose="02010601030101010101" pitchFamily="2" charset="-122"/>
              <a:ea typeface="方正大标宋简体" panose="02010601030101010101" pitchFamily="2" charset="-122"/>
              <a:cs typeface="+mn-cs"/>
            </a:endParaRPr>
          </a:p>
          <a:p>
            <a:pPr lvl="1">
              <a:lnSpc>
                <a:spcPct val="150000"/>
              </a:lnSpc>
              <a:spcBef>
                <a:spcPct val="0"/>
              </a:spcBef>
              <a:buClr>
                <a:srgbClr val="0033CC"/>
              </a:buClr>
              <a:buFont typeface="Wingdings" panose="05000000000000000000" pitchFamily="2" charset="2"/>
              <a:buChar char="u"/>
              <a:defRPr/>
            </a:pPr>
            <a:r>
              <a:rPr lang="zh-CN" altLang="en-US" sz="2000" b="1" kern="1200" dirty="0">
                <a:latin typeface="方正大标宋简体" panose="02010601030101010101" pitchFamily="2" charset="-122"/>
                <a:ea typeface="方正大标宋简体" panose="02010601030101010101" pitchFamily="2" charset="-122"/>
                <a:cs typeface="+mn-cs"/>
              </a:rPr>
              <a:t>纵观CPU的整个发展史，可以发现从上世纪70年代初诞生到现在，世界上只有少数几家厂商具备研发和设计CPU的能力，比如Intel公司、AMD公司、IBM公司等，足见其技术的复杂性。</a:t>
            </a:r>
            <a:endParaRPr lang="zh-CN" altLang="en-US" sz="2000" b="1" kern="1200" dirty="0">
              <a:latin typeface="方正大标宋简体" panose="02010601030101010101" pitchFamily="2" charset="-122"/>
              <a:ea typeface="方正大标宋简体" panose="02010601030101010101" pitchFamily="2" charset="-122"/>
              <a:cs typeface="+mn-cs"/>
            </a:endParaRPr>
          </a:p>
          <a:p>
            <a:pPr lvl="1">
              <a:lnSpc>
                <a:spcPct val="150000"/>
              </a:lnSpc>
              <a:spcBef>
                <a:spcPct val="0"/>
              </a:spcBef>
              <a:buClr>
                <a:srgbClr val="0033CC"/>
              </a:buClr>
              <a:buFont typeface="Wingdings" panose="05000000000000000000" pitchFamily="2" charset="2"/>
              <a:buChar char="u"/>
              <a:defRPr/>
            </a:pPr>
            <a:r>
              <a:rPr lang="zh-CN" altLang="en-US" sz="2000" b="1" kern="1200" dirty="0">
                <a:solidFill>
                  <a:srgbClr val="FF0000"/>
                </a:solidFill>
                <a:latin typeface="方正大标宋简体" panose="02010601030101010101" pitchFamily="2" charset="-122"/>
                <a:ea typeface="方正大标宋简体" panose="02010601030101010101" pitchFamily="2" charset="-122"/>
                <a:cs typeface="+mn-cs"/>
              </a:rPr>
              <a:t>核心技术受制于人，面临的只能是被动和挨打</a:t>
            </a:r>
            <a:r>
              <a:rPr lang="zh-CN" altLang="en-US" sz="2000" b="1" kern="1200" dirty="0">
                <a:latin typeface="方正大标宋简体" panose="02010601030101010101" pitchFamily="2" charset="-122"/>
                <a:ea typeface="方正大标宋简体" panose="02010601030101010101" pitchFamily="2" charset="-122"/>
                <a:cs typeface="+mn-cs"/>
              </a:rPr>
              <a:t>。从波及全球的</a:t>
            </a:r>
            <a:r>
              <a:rPr lang="en-US" altLang="zh-CN" sz="2000" b="1" kern="1200" dirty="0">
                <a:latin typeface="方正大标宋简体" panose="02010601030101010101" pitchFamily="2" charset="-122"/>
                <a:ea typeface="方正大标宋简体" panose="02010601030101010101" pitchFamily="2" charset="-122"/>
                <a:cs typeface="+mn-cs"/>
              </a:rPr>
              <a:t>W</a:t>
            </a:r>
            <a:r>
              <a:rPr lang="zh-CN" altLang="en-US" sz="2000" b="1" kern="1200" dirty="0">
                <a:latin typeface="方正大标宋简体" panose="02010601030101010101" pitchFamily="2" charset="-122"/>
                <a:ea typeface="方正大标宋简体" panose="02010601030101010101" pitchFamily="2" charset="-122"/>
                <a:cs typeface="+mn-cs"/>
              </a:rPr>
              <a:t>annacry事件和影响中国的华为事件、中兴事件便可见掌握核心技术的重要性。</a:t>
            </a:r>
            <a:endParaRPr lang="zh-CN" altLang="en-US" sz="2400" b="1" kern="1200" dirty="0">
              <a:latin typeface="方正大标宋简体" panose="02010601030101010101" pitchFamily="2" charset="-122"/>
              <a:ea typeface="方正大标宋简体" panose="02010601030101010101" pitchFamily="2" charset="-122"/>
              <a:cs typeface="+mn-cs"/>
            </a:endParaRPr>
          </a:p>
        </p:txBody>
      </p:sp>
      <p:pic>
        <p:nvPicPr>
          <p:cNvPr id="180228"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834188" y="4365625"/>
            <a:ext cx="3573462" cy="189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29"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16500" y="4365625"/>
            <a:ext cx="2738438" cy="189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7400" y="772478"/>
            <a:ext cx="6268085"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替代Intel架构核心中央处理器（CPU）</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endParaRPr>
          </a:p>
        </p:txBody>
      </p:sp>
      <p:sp>
        <p:nvSpPr>
          <p:cNvPr id="3" name="内容占位符 2"/>
          <p:cNvSpPr>
            <a:spLocks noGrp="1"/>
          </p:cNvSpPr>
          <p:nvPr>
            <p:ph idx="1"/>
          </p:nvPr>
        </p:nvSpPr>
        <p:spPr>
          <a:xfrm>
            <a:off x="2057400" y="1295400"/>
            <a:ext cx="8286750" cy="2278063"/>
          </a:xfrm>
        </p:spPr>
        <p:txBody>
          <a:bodyPr/>
          <a:lstStyle/>
          <a:p>
            <a:pPr>
              <a:defRPr/>
            </a:pPr>
            <a:r>
              <a:rPr lang="zh-CN" altLang="en-US" sz="2000" dirty="0">
                <a:latin typeface="方正大标宋简体" panose="02010601030101010101" pitchFamily="2" charset="-122"/>
                <a:ea typeface="方正大标宋简体" panose="02010601030101010101" pitchFamily="2" charset="-122"/>
              </a:rPr>
              <a:t>因此，我们迫切需要使用国产CPU来代替以Intel架构为代表的CPU。经过近些年的积累，我国也涌现了诸如</a:t>
            </a:r>
            <a:r>
              <a:rPr lang="zh-CN" altLang="en-US" sz="2000" dirty="0">
                <a:solidFill>
                  <a:srgbClr val="FF0000"/>
                </a:solidFill>
                <a:latin typeface="方正大标宋简体" panose="02010601030101010101" pitchFamily="2" charset="-122"/>
                <a:ea typeface="方正大标宋简体" panose="02010601030101010101" pitchFamily="2" charset="-122"/>
              </a:rPr>
              <a:t>申威、飞腾、龙芯</a:t>
            </a:r>
            <a:r>
              <a:rPr lang="zh-CN" altLang="en-US" sz="2000" dirty="0">
                <a:latin typeface="方正大标宋简体" panose="02010601030101010101" pitchFamily="2" charset="-122"/>
                <a:ea typeface="方正大标宋简体" panose="02010601030101010101" pitchFamily="2" charset="-122"/>
              </a:rPr>
              <a:t>等国产化CPU厂商。</a:t>
            </a:r>
            <a:endParaRPr lang="zh-CN" altLang="en-US" sz="2000" dirty="0">
              <a:latin typeface="方正大标宋简体" panose="02010601030101010101" pitchFamily="2" charset="-122"/>
              <a:ea typeface="方正大标宋简体" panose="02010601030101010101" pitchFamily="2" charset="-122"/>
            </a:endParaRPr>
          </a:p>
          <a:p>
            <a:pPr>
              <a:defRPr/>
            </a:pPr>
            <a:r>
              <a:rPr lang="zh-CN" altLang="en-US" sz="2000" dirty="0">
                <a:latin typeface="方正大标宋简体" panose="02010601030101010101" pitchFamily="2" charset="-122"/>
                <a:ea typeface="方正大标宋简体" panose="02010601030101010101" pitchFamily="2" charset="-122"/>
              </a:rPr>
              <a:t>2018年5月，在《2018-2019 年中央国家机关信息类产品 ( 硬件 ) 和空调产品协议供货采购项目征求意见公告》中，已然增设了“</a:t>
            </a:r>
            <a:r>
              <a:rPr lang="zh-CN" altLang="en-US" sz="2000" dirty="0">
                <a:solidFill>
                  <a:srgbClr val="FF0000"/>
                </a:solidFill>
                <a:latin typeface="方正大标宋简体" panose="02010601030101010101" pitchFamily="2" charset="-122"/>
                <a:ea typeface="方正大标宋简体" panose="02010601030101010101" pitchFamily="2" charset="-122"/>
              </a:rPr>
              <a:t>国产芯片服务器</a:t>
            </a:r>
            <a:r>
              <a:rPr lang="zh-CN" altLang="en-US" sz="2000" dirty="0">
                <a:latin typeface="方正大标宋简体" panose="02010601030101010101" pitchFamily="2" charset="-122"/>
                <a:ea typeface="方正大标宋简体" panose="02010601030101010101" pitchFamily="2" charset="-122"/>
              </a:rPr>
              <a:t>”这一新的类别，其中包括龙芯CPU 服务器、飞腾 CPU 服务器以及申威 CPU 服务器。国内CPU企业分类：</a:t>
            </a:r>
            <a:endParaRPr lang="zh-CN" altLang="en-US" sz="1845" dirty="0">
              <a:latin typeface="楷体" panose="02010609060101010101" charset="-122"/>
              <a:ea typeface="楷体" panose="02010609060101010101" charset="-122"/>
            </a:endParaRPr>
          </a:p>
          <a:p>
            <a:pPr>
              <a:defRPr/>
            </a:pPr>
            <a:endParaRPr lang="zh-CN" altLang="en-US" sz="1845" dirty="0">
              <a:latin typeface="楷体" panose="02010609060101010101" charset="-122"/>
              <a:ea typeface="楷体" panose="02010609060101010101" charset="-122"/>
            </a:endParaRPr>
          </a:p>
        </p:txBody>
      </p:sp>
      <p:pic>
        <p:nvPicPr>
          <p:cNvPr id="181252" name="图片 4"/>
          <p:cNvPicPr>
            <a:picLocks noChangeAspect="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2424113" y="3716338"/>
            <a:ext cx="77406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7400" y="864553"/>
            <a:ext cx="4658360" cy="521970"/>
          </a:xfrm>
        </p:spPr>
        <p:txBody>
          <a:bodyPr wrap="none">
            <a:spAutoFit/>
          </a:bodyPr>
          <a:lstStyle/>
          <a:p>
            <a:pPr>
              <a:defRPr/>
            </a:pPr>
            <a:r>
              <a:rPr lang="zh-CN" altLang="en-US" sz="2800" kern="1200">
                <a:solidFill>
                  <a:srgbClr val="0033CC"/>
                </a:solidFill>
                <a:latin typeface="方正大黑简体" panose="03000509000000000000" pitchFamily="65" charset="-122"/>
                <a:ea typeface="方正大黑简体" panose="03000509000000000000" pitchFamily="65" charset="-122"/>
                <a:cs typeface="+mn-cs"/>
                <a:sym typeface="+mn-ea"/>
              </a:rPr>
              <a:t>替代微软的Windows操作系统</a:t>
            </a:r>
            <a:endParaRPr lang="zh-CN" altLang="en-US" sz="2800" kern="1200">
              <a:solidFill>
                <a:srgbClr val="0033CC"/>
              </a:solidFill>
              <a:latin typeface="方正大黑简体" panose="03000509000000000000" pitchFamily="65" charset="-122"/>
              <a:ea typeface="方正大黑简体" panose="03000509000000000000" pitchFamily="65" charset="-122"/>
              <a:cs typeface="+mn-cs"/>
              <a:sym typeface="+mn-ea"/>
            </a:endParaRPr>
          </a:p>
        </p:txBody>
      </p:sp>
      <p:sp>
        <p:nvSpPr>
          <p:cNvPr id="3" name="内容占位符 2"/>
          <p:cNvSpPr>
            <a:spLocks noGrp="1"/>
          </p:cNvSpPr>
          <p:nvPr>
            <p:ph idx="1"/>
          </p:nvPr>
        </p:nvSpPr>
        <p:spPr>
          <a:xfrm>
            <a:off x="2033588" y="1484313"/>
            <a:ext cx="8358187" cy="4654550"/>
          </a:xfrm>
        </p:spPr>
        <p:txBody>
          <a:bodyPr/>
          <a:lstStyle/>
          <a:p>
            <a:pPr marL="342900" lvl="1" indent="-342900">
              <a:lnSpc>
                <a:spcPct val="110000"/>
              </a:lnSpc>
              <a:buClr>
                <a:srgbClr val="3399FF"/>
              </a:buClr>
              <a:buFont typeface="Wingdings" panose="05000000000000000000" pitchFamily="2" charset="2"/>
              <a:buChar char="v"/>
              <a:defRPr/>
            </a:pPr>
            <a:r>
              <a:rPr lang="zh-CN" altLang="en-US" sz="2000" dirty="0">
                <a:latin typeface="方正大标宋简体" panose="02010601030101010101" pitchFamily="2" charset="-122"/>
                <a:ea typeface="方正大标宋简体" panose="02010601030101010101" pitchFamily="2" charset="-122"/>
                <a:cs typeface="+mn-cs"/>
              </a:rPr>
              <a:t>如果说</a:t>
            </a:r>
            <a:r>
              <a:rPr lang="zh-CN" altLang="en-US" sz="2000" dirty="0">
                <a:solidFill>
                  <a:srgbClr val="FF0000"/>
                </a:solidFill>
                <a:latin typeface="方正大标宋简体" panose="02010601030101010101" pitchFamily="2" charset="-122"/>
                <a:ea typeface="方正大标宋简体" panose="02010601030101010101" pitchFamily="2" charset="-122"/>
                <a:cs typeface="+mn-cs"/>
              </a:rPr>
              <a:t>CPU是计算机硬件的核心</a:t>
            </a:r>
            <a:r>
              <a:rPr lang="zh-CN" altLang="en-US" sz="2000" dirty="0">
                <a:latin typeface="方正大标宋简体" panose="02010601030101010101" pitchFamily="2" charset="-122"/>
                <a:ea typeface="方正大标宋简体" panose="02010601030101010101" pitchFamily="2" charset="-122"/>
                <a:cs typeface="+mn-cs"/>
              </a:rPr>
              <a:t>，是计算机系统的心脏，那么</a:t>
            </a:r>
            <a:r>
              <a:rPr lang="zh-CN" altLang="en-US" sz="2000" dirty="0">
                <a:solidFill>
                  <a:srgbClr val="FF0000"/>
                </a:solidFill>
                <a:latin typeface="方正大标宋简体" panose="02010601030101010101" pitchFamily="2" charset="-122"/>
                <a:ea typeface="方正大标宋简体" panose="02010601030101010101" pitchFamily="2" charset="-122"/>
                <a:cs typeface="+mn-cs"/>
              </a:rPr>
              <a:t>操作系统就是计算机软件的核心</a:t>
            </a:r>
            <a:r>
              <a:rPr lang="zh-CN" altLang="en-US" sz="2000" dirty="0">
                <a:latin typeface="方正大标宋简体" panose="02010601030101010101" pitchFamily="2" charset="-122"/>
                <a:ea typeface="方正大标宋简体" panose="02010601030101010101" pitchFamily="2" charset="-122"/>
                <a:cs typeface="+mn-cs"/>
              </a:rPr>
              <a:t>，是计算机系统的大脑。</a:t>
            </a:r>
            <a:endParaRPr lang="zh-CN" altLang="en-US" sz="2000" dirty="0">
              <a:latin typeface="方正大标宋简体" panose="02010601030101010101" pitchFamily="2" charset="-122"/>
              <a:ea typeface="方正大标宋简体" panose="02010601030101010101" pitchFamily="2" charset="-122"/>
              <a:cs typeface="+mn-cs"/>
            </a:endParaRPr>
          </a:p>
          <a:p>
            <a:pPr marL="342900" lvl="1" indent="-342900">
              <a:lnSpc>
                <a:spcPct val="110000"/>
              </a:lnSpc>
              <a:buClr>
                <a:srgbClr val="3399FF"/>
              </a:buClr>
              <a:buFont typeface="Wingdings" panose="05000000000000000000" pitchFamily="2" charset="2"/>
              <a:buChar char="v"/>
              <a:defRPr/>
            </a:pPr>
            <a:r>
              <a:rPr lang="zh-CN" altLang="en-US" sz="2000" dirty="0">
                <a:latin typeface="方正大标宋简体" panose="02010601030101010101" pitchFamily="2" charset="-122"/>
                <a:ea typeface="方正大标宋简体" panose="02010601030101010101" pitchFamily="2" charset="-122"/>
                <a:cs typeface="+mn-cs"/>
              </a:rPr>
              <a:t>NetMarketShare发布的全球操作系统市场6月数据显示， </a:t>
            </a:r>
            <a:r>
              <a:rPr lang="zh-CN" altLang="en-US" sz="2000" dirty="0">
                <a:solidFill>
                  <a:srgbClr val="FF0000"/>
                </a:solidFill>
                <a:latin typeface="方正大标宋简体" panose="02010601030101010101" pitchFamily="2" charset="-122"/>
                <a:ea typeface="方正大标宋简体" panose="02010601030101010101" pitchFamily="2" charset="-122"/>
                <a:cs typeface="+mn-cs"/>
              </a:rPr>
              <a:t>Windows 操作系统占全世界电脑份额的88.18%，在中国大概占有95%以上</a:t>
            </a:r>
            <a:r>
              <a:rPr lang="zh-CN" altLang="en-US" sz="2000" dirty="0">
                <a:latin typeface="方正大标宋简体" panose="02010601030101010101" pitchFamily="2" charset="-122"/>
                <a:ea typeface="方正大标宋简体" panose="02010601030101010101" pitchFamily="2" charset="-122"/>
                <a:cs typeface="+mn-cs"/>
              </a:rPr>
              <a:t>，几乎垄断了整个市场。</a:t>
            </a:r>
            <a:endParaRPr lang="zh-CN" altLang="en-US" sz="2000" dirty="0">
              <a:latin typeface="方正大标宋简体" panose="02010601030101010101" pitchFamily="2" charset="-122"/>
              <a:ea typeface="方正大标宋简体" panose="02010601030101010101" pitchFamily="2" charset="-122"/>
              <a:cs typeface="+mn-cs"/>
            </a:endParaRPr>
          </a:p>
          <a:p>
            <a:pPr marL="342900" lvl="1" indent="-342900">
              <a:lnSpc>
                <a:spcPct val="110000"/>
              </a:lnSpc>
              <a:buClr>
                <a:srgbClr val="3399FF"/>
              </a:buClr>
              <a:buFont typeface="Wingdings" panose="05000000000000000000" pitchFamily="2" charset="2"/>
              <a:buChar char="v"/>
              <a:defRPr/>
            </a:pPr>
            <a:r>
              <a:rPr lang="zh-CN" altLang="en-US" sz="2000" dirty="0">
                <a:latin typeface="方正大标宋简体" panose="02010601030101010101" pitchFamily="2" charset="-122"/>
                <a:ea typeface="方正大标宋简体" panose="02010601030101010101" pitchFamily="2" charset="-122"/>
                <a:cs typeface="+mn-cs"/>
              </a:rPr>
              <a:t>可以想见，</a:t>
            </a:r>
            <a:r>
              <a:rPr lang="zh-CN" altLang="en-US" sz="2000" dirty="0">
                <a:solidFill>
                  <a:srgbClr val="FF0000"/>
                </a:solidFill>
                <a:latin typeface="方正大标宋简体" panose="02010601030101010101" pitchFamily="2" charset="-122"/>
                <a:ea typeface="方正大标宋简体" panose="02010601030101010101" pitchFamily="2" charset="-122"/>
                <a:cs typeface="+mn-cs"/>
              </a:rPr>
              <a:t>一个人的身体上长着别人的“大脑”，行动受别人掌控，是何种境况。</a:t>
            </a:r>
            <a:endParaRPr lang="zh-CN" altLang="en-US" sz="2000" dirty="0">
              <a:solidFill>
                <a:srgbClr val="FF0000"/>
              </a:solidFill>
              <a:latin typeface="方正大标宋简体" panose="02010601030101010101" pitchFamily="2" charset="-122"/>
              <a:ea typeface="方正大标宋简体" panose="02010601030101010101" pitchFamily="2" charset="-122"/>
              <a:cs typeface="+mn-cs"/>
            </a:endParaRPr>
          </a:p>
          <a:p>
            <a:pPr marL="342900" lvl="1" indent="-342900">
              <a:lnSpc>
                <a:spcPct val="110000"/>
              </a:lnSpc>
              <a:buClr>
                <a:srgbClr val="3399FF"/>
              </a:buClr>
              <a:buFont typeface="Wingdings" panose="05000000000000000000" pitchFamily="2" charset="2"/>
              <a:buChar char="v"/>
              <a:defRPr/>
            </a:pPr>
            <a:r>
              <a:rPr lang="zh-CN" altLang="en-US" sz="2000" dirty="0">
                <a:latin typeface="方正大标宋简体" panose="02010601030101010101" pitchFamily="2" charset="-122"/>
                <a:ea typeface="方正大标宋简体" panose="02010601030101010101" pitchFamily="2" charset="-122"/>
                <a:cs typeface="+mn-cs"/>
              </a:rPr>
              <a:t>不可否认，Windows系统的高普及率，带动了我国信息化技术发展，且惠及大众。但是，在“更加便利”的同时，也给我们埋下了</a:t>
            </a:r>
            <a:r>
              <a:rPr lang="zh-CN" altLang="en-US" sz="2000" dirty="0">
                <a:solidFill>
                  <a:srgbClr val="FF0000"/>
                </a:solidFill>
                <a:latin typeface="方正大标宋简体" panose="02010601030101010101" pitchFamily="2" charset="-122"/>
                <a:ea typeface="方正大标宋简体" panose="02010601030101010101" pitchFamily="2" charset="-122"/>
                <a:cs typeface="+mn-cs"/>
              </a:rPr>
              <a:t>“危险”的引线</a:t>
            </a:r>
            <a:r>
              <a:rPr lang="zh-CN" altLang="en-US" sz="2000" dirty="0">
                <a:latin typeface="方正大标宋简体" panose="02010601030101010101" pitchFamily="2" charset="-122"/>
                <a:ea typeface="方正大标宋简体" panose="02010601030101010101" pitchFamily="2" charset="-122"/>
                <a:cs typeface="+mn-cs"/>
              </a:rPr>
              <a:t>。试想，系统被入侵后工厂设备突然瘫痪无法生产；供电设施停机大面积停电，影响地面所有通信设施；医院挂号排队、缴费终端瘫痪导致病人无法得到及时的救治等等。所以，在信息系统领域我们急需摆脱单一系统的垄断性。</a:t>
            </a:r>
            <a:endParaRPr lang="zh-CN" altLang="en-US" sz="2000" dirty="0">
              <a:latin typeface="楷体" panose="02010609060101010101" charset="-122"/>
              <a:ea typeface="楷体" panose="02010609060101010101" charset="-122"/>
            </a:endParaRPr>
          </a:p>
        </p:txBody>
      </p:sp>
    </p:spTree>
  </p:cSld>
  <p:clrMapOvr>
    <a:masterClrMapping/>
  </p:clrMapOvr>
  <p:transition>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7400" y="864553"/>
            <a:ext cx="4658360"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替代微软的Windows操作系统</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endParaRPr>
          </a:p>
        </p:txBody>
      </p:sp>
      <p:sp>
        <p:nvSpPr>
          <p:cNvPr id="183299" name="内容占位符 2"/>
          <p:cNvSpPr>
            <a:spLocks noGrp="1"/>
          </p:cNvSpPr>
          <p:nvPr>
            <p:ph idx="1"/>
          </p:nvPr>
        </p:nvSpPr>
        <p:spPr>
          <a:xfrm>
            <a:off x="2057400" y="1557338"/>
            <a:ext cx="8191500" cy="3933825"/>
          </a:xfrm>
        </p:spPr>
        <p:txBody>
          <a:bodyPr/>
          <a:lstStyle/>
          <a:p>
            <a:pPr>
              <a:lnSpc>
                <a:spcPct val="120000"/>
              </a:lnSpc>
            </a:pPr>
            <a:r>
              <a:rPr lang="zh-CN" altLang="en-US" sz="2000">
                <a:latin typeface="方正大标宋简体" panose="02010601030101010101" pitchFamily="2" charset="-122"/>
                <a:ea typeface="方正大标宋简体" panose="02010601030101010101" pitchFamily="2" charset="-122"/>
              </a:rPr>
              <a:t>那么，我们用什么来替代Windows操作系统？呼声最高的是国产</a:t>
            </a:r>
            <a:r>
              <a:rPr lang="zh-CN" altLang="en-US" sz="2000">
                <a:solidFill>
                  <a:srgbClr val="FF0000"/>
                </a:solidFill>
                <a:latin typeface="方正大标宋简体" panose="02010601030101010101" pitchFamily="2" charset="-122"/>
                <a:ea typeface="方正大标宋简体" panose="02010601030101010101" pitchFamily="2" charset="-122"/>
              </a:rPr>
              <a:t>Linux操作系统</a:t>
            </a:r>
            <a:r>
              <a:rPr lang="zh-CN" altLang="en-US" sz="2000">
                <a:latin typeface="方正大标宋简体" panose="02010601030101010101" pitchFamily="2" charset="-122"/>
                <a:ea typeface="方正大标宋简体" panose="02010601030101010101" pitchFamily="2" charset="-122"/>
              </a:rPr>
              <a:t>。</a:t>
            </a:r>
            <a:endParaRPr lang="zh-CN" altLang="en-US" sz="2000">
              <a:latin typeface="方正大标宋简体" panose="02010601030101010101" pitchFamily="2" charset="-122"/>
              <a:ea typeface="方正大标宋简体" panose="02010601030101010101" pitchFamily="2" charset="-122"/>
            </a:endParaRPr>
          </a:p>
          <a:p>
            <a:pPr>
              <a:lnSpc>
                <a:spcPct val="120000"/>
              </a:lnSpc>
            </a:pPr>
            <a:r>
              <a:rPr lang="zh-CN" altLang="en-US" sz="2000">
                <a:latin typeface="方正大标宋简体" panose="02010601030101010101" pitchFamily="2" charset="-122"/>
                <a:ea typeface="方正大标宋简体" panose="02010601030101010101" pitchFamily="2" charset="-122"/>
              </a:rPr>
              <a:t>与Windows相比，</a:t>
            </a:r>
            <a:r>
              <a:rPr lang="zh-CN" altLang="en-US" sz="2000">
                <a:solidFill>
                  <a:srgbClr val="FF0000"/>
                </a:solidFill>
                <a:latin typeface="方正大标宋简体" panose="02010601030101010101" pitchFamily="2" charset="-122"/>
                <a:ea typeface="方正大标宋简体" panose="02010601030101010101" pitchFamily="2" charset="-122"/>
              </a:rPr>
              <a:t>Linux</a:t>
            </a:r>
            <a:r>
              <a:rPr lang="zh-CN" altLang="en-US" sz="2000">
                <a:latin typeface="方正大标宋简体" panose="02010601030101010101" pitchFamily="2" charset="-122"/>
                <a:ea typeface="方正大标宋简体" panose="02010601030101010101" pitchFamily="2" charset="-122"/>
              </a:rPr>
              <a:t>最大的不同是其源代码在互联网上可以公开获得，当使用者发现漏洞后，就可以直接从源代码层面进行漏洞修补。并且，将Linux拿来重新编译进行国产化开发，还可以节省研发费用。虽然当前Linux操作系统的市场占比仅有1.55%，但这丝毫不影响它的重要性。</a:t>
            </a:r>
            <a:endParaRPr lang="zh-CN" altLang="en-US" sz="2000">
              <a:latin typeface="方正大标宋简体" panose="02010601030101010101" pitchFamily="2" charset="-122"/>
              <a:ea typeface="方正大标宋简体" panose="02010601030101010101" pitchFamily="2" charset="-122"/>
            </a:endParaRPr>
          </a:p>
          <a:p>
            <a:pPr>
              <a:lnSpc>
                <a:spcPct val="120000"/>
              </a:lnSpc>
            </a:pPr>
            <a:r>
              <a:rPr lang="zh-CN" altLang="en-US" sz="2000">
                <a:latin typeface="方正大标宋简体" panose="02010601030101010101" pitchFamily="2" charset="-122"/>
                <a:ea typeface="方正大标宋简体" panose="02010601030101010101" pitchFamily="2" charset="-122"/>
              </a:rPr>
              <a:t>目前，国内基于Linux二次开发的操作系统目前有十几家，包括“</a:t>
            </a:r>
            <a:r>
              <a:rPr lang="zh-CN" altLang="en-US" sz="2000">
                <a:solidFill>
                  <a:srgbClr val="FF0000"/>
                </a:solidFill>
                <a:latin typeface="方正大标宋简体" panose="02010601030101010101" pitchFamily="2" charset="-122"/>
                <a:ea typeface="方正大标宋简体" panose="02010601030101010101" pitchFamily="2" charset="-122"/>
              </a:rPr>
              <a:t>普华、深度、中科方德，银河麒麟、中标麒麟、优麒麟、威科乐恩、起点、中兴新支点、共创、思普、一铭</a:t>
            </a:r>
            <a:r>
              <a:rPr lang="zh-CN" altLang="en-US" sz="2000">
                <a:latin typeface="方正大标宋简体" panose="02010601030101010101" pitchFamily="2" charset="-122"/>
                <a:ea typeface="方正大标宋简体" panose="02010601030101010101" pitchFamily="2" charset="-122"/>
              </a:rPr>
              <a:t>”等操作系统。</a:t>
            </a:r>
            <a:endParaRPr lang="zh-CN" altLang="en-US" sz="2000">
              <a:latin typeface="方正大标宋简体" panose="02010601030101010101" pitchFamily="2" charset="-122"/>
              <a:ea typeface="方正大标宋简体" panose="02010601030101010101" pitchFamily="2" charset="-122"/>
            </a:endParaRPr>
          </a:p>
        </p:txBody>
      </p:sp>
    </p:spTree>
  </p:cSld>
  <p:clrMapOvr>
    <a:masterClrMapping/>
  </p:clrMapOvr>
  <p:transition>
    <p:fade/>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标题 1"/>
          <p:cNvSpPr>
            <a:spLocks noGrp="1"/>
          </p:cNvSpPr>
          <p:nvPr>
            <p:ph type="title"/>
          </p:nvPr>
        </p:nvSpPr>
        <p:spPr>
          <a:xfrm>
            <a:off x="2057400" y="864553"/>
            <a:ext cx="5727065"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高端数据库服务器对“IOE”的替代</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endParaRPr>
          </a:p>
        </p:txBody>
      </p:sp>
      <p:sp>
        <p:nvSpPr>
          <p:cNvPr id="184323" name="内容占位符 2"/>
          <p:cNvSpPr>
            <a:spLocks noGrp="1"/>
          </p:cNvSpPr>
          <p:nvPr>
            <p:ph idx="1"/>
          </p:nvPr>
        </p:nvSpPr>
        <p:spPr>
          <a:xfrm>
            <a:off x="2043113" y="1557338"/>
            <a:ext cx="8191500" cy="4221162"/>
          </a:xfrm>
        </p:spPr>
        <p:txBody>
          <a:bodyPr/>
          <a:lstStyle/>
          <a:p>
            <a:pPr lvl="1">
              <a:lnSpc>
                <a:spcPct val="120000"/>
              </a:lnSpc>
              <a:buClrTx/>
              <a:buFont typeface="Wingdings" panose="05000000000000000000" pitchFamily="2" charset="2"/>
              <a:buChar char="n"/>
            </a:pPr>
            <a:r>
              <a:rPr lang="zh-CN" altLang="en-US" sz="2000">
                <a:latin typeface="方正大标宋简体" panose="02010601030101010101" pitchFamily="2" charset="-122"/>
                <a:ea typeface="方正大标宋简体" panose="02010601030101010101" pitchFamily="2" charset="-122"/>
              </a:rPr>
              <a:t>在大数据、云计算时代，计算能力主要依靠数据中心。然而，从20世纪70年代，美国有数据库产品的科技公司陆续进入中国市场开始到现在，</a:t>
            </a:r>
            <a:r>
              <a:rPr lang="zh-CN" altLang="en-US" sz="2000">
                <a:solidFill>
                  <a:srgbClr val="FF0000"/>
                </a:solidFill>
                <a:latin typeface="方正大标宋简体" panose="02010601030101010101" pitchFamily="2" charset="-122"/>
                <a:ea typeface="方正大标宋简体" panose="02010601030101010101" pitchFamily="2" charset="-122"/>
              </a:rPr>
              <a:t>数据中心都由这三家外国公司提供</a:t>
            </a:r>
            <a:r>
              <a:rPr lang="zh-CN" altLang="en-US" sz="2000">
                <a:latin typeface="方正大标宋简体" panose="02010601030101010101" pitchFamily="2" charset="-122"/>
                <a:ea typeface="方正大标宋简体" panose="02010601030101010101" pitchFamily="2" charset="-122"/>
              </a:rPr>
              <a:t>：IBM（国际商业机器公司）、Oracle（甲骨文）、EMC（易安信）。尤其是银行、电信、电力、航空等实时交易重要的领域。</a:t>
            </a:r>
            <a:endParaRPr lang="zh-CN" altLang="en-US" sz="2400">
              <a:latin typeface="方正大标宋简体" panose="02010601030101010101" pitchFamily="2" charset="-122"/>
              <a:ea typeface="方正大标宋简体" panose="02010601030101010101" pitchFamily="2" charset="-122"/>
            </a:endParaRPr>
          </a:p>
          <a:p>
            <a:pPr lvl="1">
              <a:lnSpc>
                <a:spcPct val="120000"/>
              </a:lnSpc>
              <a:buClrTx/>
              <a:buFont typeface="Wingdings" panose="05000000000000000000" pitchFamily="2" charset="2"/>
              <a:buChar char="n"/>
            </a:pPr>
            <a:r>
              <a:rPr lang="zh-CN" altLang="en-US" sz="2000">
                <a:latin typeface="方正大标宋简体" panose="02010601030101010101" pitchFamily="2" charset="-122"/>
                <a:ea typeface="方正大标宋简体" panose="02010601030101010101" pitchFamily="2" charset="-122"/>
              </a:rPr>
              <a:t>IBM服务器、Oracle数据库、EMC存储设备(简称“</a:t>
            </a:r>
            <a:r>
              <a:rPr lang="zh-CN" altLang="en-US" sz="2000" b="1">
                <a:solidFill>
                  <a:srgbClr val="FF0000"/>
                </a:solidFill>
                <a:latin typeface="方正大标宋简体" panose="02010601030101010101" pitchFamily="2" charset="-122"/>
                <a:ea typeface="方正大标宋简体" panose="02010601030101010101" pitchFamily="2" charset="-122"/>
              </a:rPr>
              <a:t>IOE</a:t>
            </a:r>
            <a:r>
              <a:rPr lang="zh-CN" altLang="en-US" sz="2000">
                <a:latin typeface="方正大标宋简体" panose="02010601030101010101" pitchFamily="2" charset="-122"/>
                <a:ea typeface="方正大标宋简体" panose="02010601030101010101" pitchFamily="2" charset="-122"/>
              </a:rPr>
              <a:t>”)，从服务器、存储到应用软件，“IOE”几乎渗透到了国内金融业、连锁业、运输业的每个角落。为何要使用他们呢？以银行为例，对于银行而言，任何一笔交易都不能发生错误，对数据库要求极高。事实上，不仅是中国，</a:t>
            </a:r>
            <a:r>
              <a:rPr lang="zh-CN" altLang="en-US" sz="2000">
                <a:solidFill>
                  <a:srgbClr val="FF0000"/>
                </a:solidFill>
                <a:latin typeface="方正大标宋简体" panose="02010601030101010101" pitchFamily="2" charset="-122"/>
                <a:ea typeface="方正大标宋简体" panose="02010601030101010101" pitchFamily="2" charset="-122"/>
              </a:rPr>
              <a:t>全世界的重要系统几乎都在使用这三家公司的产品</a:t>
            </a:r>
            <a:r>
              <a:rPr lang="zh-CN" altLang="en-US" sz="2000">
                <a:latin typeface="方正大标宋简体" panose="02010601030101010101" pitchFamily="2" charset="-122"/>
                <a:ea typeface="方正大标宋简体" panose="02010601030101010101" pitchFamily="2" charset="-122"/>
              </a:rPr>
              <a:t>。</a:t>
            </a:r>
            <a:endParaRPr lang="zh-CN" altLang="en-US" sz="2000">
              <a:latin typeface="楷体" panose="02010609060101010101" charset="-122"/>
              <a:ea typeface="楷体" panose="02010609060101010101" charset="-122"/>
            </a:endParaRPr>
          </a:p>
        </p:txBody>
      </p:sp>
    </p:spTree>
  </p:cSld>
  <p:clrMapOvr>
    <a:masterClrMapping/>
  </p:clrMapOvr>
  <p:transition>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标题 1"/>
          <p:cNvSpPr>
            <a:spLocks noGrp="1"/>
          </p:cNvSpPr>
          <p:nvPr>
            <p:ph type="title"/>
          </p:nvPr>
        </p:nvSpPr>
        <p:spPr>
          <a:xfrm>
            <a:off x="2057400" y="864553"/>
            <a:ext cx="5727065"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高端数据库服务器对“IOE”的替代</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endParaRPr>
          </a:p>
        </p:txBody>
      </p:sp>
      <p:sp>
        <p:nvSpPr>
          <p:cNvPr id="185347" name="内容占位符 2"/>
          <p:cNvSpPr>
            <a:spLocks noGrp="1"/>
          </p:cNvSpPr>
          <p:nvPr>
            <p:ph idx="1"/>
          </p:nvPr>
        </p:nvSpPr>
        <p:spPr>
          <a:xfrm>
            <a:off x="2032000" y="1557338"/>
            <a:ext cx="8191500" cy="3933825"/>
          </a:xfrm>
        </p:spPr>
        <p:txBody>
          <a:bodyPr/>
          <a:lstStyle/>
          <a:p>
            <a:pPr>
              <a:lnSpc>
                <a:spcPct val="150000"/>
              </a:lnSpc>
            </a:pPr>
            <a:r>
              <a:rPr lang="zh-CN" altLang="en-US" sz="2000">
                <a:latin typeface="方正大标宋简体" panose="02010601030101010101" pitchFamily="2" charset="-122"/>
                <a:ea typeface="方正大标宋简体" panose="02010601030101010101" pitchFamily="2" charset="-122"/>
              </a:rPr>
              <a:t>但是，关键领域的</a:t>
            </a:r>
            <a:r>
              <a:rPr lang="zh-CN" altLang="en-US" sz="2000">
                <a:solidFill>
                  <a:srgbClr val="FF0000"/>
                </a:solidFill>
                <a:latin typeface="方正大标宋简体" panose="02010601030101010101" pitchFamily="2" charset="-122"/>
                <a:ea typeface="方正大标宋简体" panose="02010601030101010101" pitchFamily="2" charset="-122"/>
              </a:rPr>
              <a:t>“命脉”</a:t>
            </a:r>
            <a:r>
              <a:rPr lang="zh-CN" altLang="en-US" sz="2000">
                <a:latin typeface="方正大标宋简体" panose="02010601030101010101" pitchFamily="2" charset="-122"/>
                <a:ea typeface="方正大标宋简体" panose="02010601030101010101" pitchFamily="2" charset="-122"/>
              </a:rPr>
              <a:t>握在别人手中，始终是不安全的。“斯诺登事件”的发生，证明了我国的机密数据放在国外数据库中，若是不采用国产自主可控的数据库安全技术进行加固，数据库中的涉密信息将有很大的泄漏风险。如果源代码数据库都是自己的，我们就可以针对自己的需求进行有效修改，类似事件便可有效避免。</a:t>
            </a:r>
            <a:endParaRPr lang="zh-CN" altLang="en-US" sz="2000">
              <a:latin typeface="方正大标宋简体" panose="02010601030101010101" pitchFamily="2" charset="-122"/>
              <a:ea typeface="方正大标宋简体" panose="02010601030101010101" pitchFamily="2" charset="-122"/>
            </a:endParaRPr>
          </a:p>
          <a:p>
            <a:pPr>
              <a:lnSpc>
                <a:spcPct val="150000"/>
              </a:lnSpc>
            </a:pPr>
            <a:r>
              <a:rPr lang="zh-CN" altLang="en-US" sz="2000">
                <a:latin typeface="方正大标宋简体" panose="02010601030101010101" pitchFamily="2" charset="-122"/>
                <a:ea typeface="方正大标宋简体" panose="02010601030101010101" pitchFamily="2" charset="-122"/>
              </a:rPr>
              <a:t>因此，</a:t>
            </a:r>
            <a:r>
              <a:rPr lang="zh-CN" altLang="en-US" sz="2000">
                <a:solidFill>
                  <a:srgbClr val="FF0000"/>
                </a:solidFill>
                <a:latin typeface="方正大标宋简体" panose="02010601030101010101" pitchFamily="2" charset="-122"/>
                <a:ea typeface="方正大标宋简体" panose="02010601030101010101" pitchFamily="2" charset="-122"/>
              </a:rPr>
              <a:t>高端数据库服务器对“IOE”的替代迫在眉睫</a:t>
            </a:r>
            <a:r>
              <a:rPr lang="zh-CN" altLang="en-US" sz="2000">
                <a:latin typeface="方正大标宋简体" panose="02010601030101010101" pitchFamily="2" charset="-122"/>
                <a:ea typeface="方正大标宋简体" panose="02010601030101010101" pitchFamily="2" charset="-122"/>
              </a:rPr>
              <a:t>。尽管做这个替代难度很高，但我们也做出了一些成绩。目前，国产数据库主要有四家：达梦、金仓、南大通用、神通等。</a:t>
            </a:r>
            <a:endParaRPr lang="zh-CN" altLang="en-US">
              <a:latin typeface="方正大标宋简体" panose="02010601030101010101" pitchFamily="2" charset="-122"/>
              <a:ea typeface="方正大标宋简体" panose="02010601030101010101" pitchFamily="2" charset="-122"/>
            </a:endParaRPr>
          </a:p>
        </p:txBody>
      </p:sp>
    </p:spTree>
  </p:cSld>
  <p:clrMapOvr>
    <a:masterClrMapping/>
  </p:clrMapOvr>
  <p:transition>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372"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640013" y="1916113"/>
            <a:ext cx="7091362" cy="3387725"/>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3" name="矩形 6"/>
          <p:cNvSpPr>
            <a:spLocks noChangeArrowheads="1"/>
          </p:cNvSpPr>
          <p:nvPr/>
        </p:nvSpPr>
        <p:spPr bwMode="auto">
          <a:xfrm>
            <a:off x="2135188" y="908050"/>
            <a:ext cx="46278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a:spcBef>
                <a:spcPct val="0"/>
              </a:spcBef>
              <a:buClrTx/>
              <a:buFontTx/>
              <a:buNone/>
            </a:pPr>
            <a:r>
              <a:rPr lang="zh-CN" altLang="en-US">
                <a:solidFill>
                  <a:srgbClr val="0033CC"/>
                </a:solidFill>
                <a:latin typeface="方正大黑简体" panose="03000509000000000000" pitchFamily="65" charset="-122"/>
                <a:ea typeface="方正大黑简体" panose="03000509000000000000" pitchFamily="65" charset="-122"/>
                <a:sym typeface="+mn-ea"/>
              </a:rPr>
              <a:t>可替代“IOE”的设备及厂商</a:t>
            </a:r>
            <a:endParaRPr lang="zh-CN" altLang="en-US">
              <a:latin typeface="Arial" panose="020B0604020202020204" pitchFamily="34" charset="0"/>
              <a:ea typeface="宋体" panose="02010600030101010101" pitchFamily="2" charset="-122"/>
            </a:endParaRPr>
          </a:p>
        </p:txBody>
      </p:sp>
    </p:spTree>
  </p:cSld>
  <p:clrMapOvr>
    <a:masterClrMapping/>
  </p:clrMapOvr>
  <p:transition>
    <p:fade/>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标题 1"/>
          <p:cNvSpPr>
            <a:spLocks noGrp="1"/>
          </p:cNvSpPr>
          <p:nvPr>
            <p:ph type="title"/>
          </p:nvPr>
        </p:nvSpPr>
        <p:spPr>
          <a:xfrm>
            <a:off x="2057400" y="864553"/>
            <a:ext cx="4472940"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应用软件替代国外软件产品</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endParaRPr>
          </a:p>
        </p:txBody>
      </p:sp>
      <p:sp>
        <p:nvSpPr>
          <p:cNvPr id="187395" name="内容占位符 2"/>
          <p:cNvSpPr>
            <a:spLocks noGrp="1"/>
          </p:cNvSpPr>
          <p:nvPr>
            <p:ph idx="1"/>
          </p:nvPr>
        </p:nvSpPr>
        <p:spPr>
          <a:xfrm>
            <a:off x="2095500" y="1557338"/>
            <a:ext cx="8070850" cy="4005262"/>
          </a:xfrm>
        </p:spPr>
        <p:txBody>
          <a:bodyPr/>
          <a:lstStyle/>
          <a:p>
            <a:pPr>
              <a:lnSpc>
                <a:spcPct val="140000"/>
              </a:lnSpc>
            </a:pPr>
            <a:r>
              <a:rPr lang="zh-CN" altLang="en-US" sz="2000">
                <a:latin typeface="方正大标宋简体" panose="02010601030101010101" pitchFamily="2" charset="-122"/>
                <a:ea typeface="方正大标宋简体" panose="02010601030101010101" pitchFamily="2" charset="-122"/>
              </a:rPr>
              <a:t>我国软件企业在应用软件，例如金蝶等厂商的ERP、CRM、OA、MES等行业解决方案方面已经具备完全替代国外软件产品的能力，</a:t>
            </a:r>
            <a:r>
              <a:rPr lang="zh-CN" altLang="en-US" sz="2000">
                <a:solidFill>
                  <a:srgbClr val="FF0000"/>
                </a:solidFill>
                <a:latin typeface="方正大标宋简体" panose="02010601030101010101" pitchFamily="2" charset="-122"/>
                <a:ea typeface="方正大标宋简体" panose="02010601030101010101" pitchFamily="2" charset="-122"/>
              </a:rPr>
              <a:t>部分信息化平台已经达到基本能够替代国外产品的水平</a:t>
            </a:r>
            <a:r>
              <a:rPr lang="zh-CN" altLang="en-US" sz="2000">
                <a:latin typeface="方正大标宋简体" panose="02010601030101010101" pitchFamily="2" charset="-122"/>
                <a:ea typeface="方正大标宋简体" panose="02010601030101010101" pitchFamily="2" charset="-122"/>
              </a:rPr>
              <a:t>。</a:t>
            </a:r>
            <a:endParaRPr lang="zh-CN" altLang="en-US" sz="2000">
              <a:latin typeface="方正大标宋简体" panose="02010601030101010101" pitchFamily="2" charset="-122"/>
              <a:ea typeface="方正大标宋简体" panose="02010601030101010101" pitchFamily="2" charset="-122"/>
            </a:endParaRPr>
          </a:p>
          <a:p>
            <a:pPr>
              <a:lnSpc>
                <a:spcPct val="140000"/>
              </a:lnSpc>
            </a:pPr>
            <a:r>
              <a:rPr lang="zh-CN" altLang="en-US" sz="2000">
                <a:latin typeface="方正大标宋简体" panose="02010601030101010101" pitchFamily="2" charset="-122"/>
                <a:ea typeface="方正大标宋简体" panose="02010601030101010101" pitchFamily="2" charset="-122"/>
              </a:rPr>
              <a:t>由于我国信息技术基础薄弱，国外技术、产品价格优势明显，我们长期使用国外产品产生依赖，人们已经习惯出现漏洞、打补丁的操作系统使用方式，习惯了防火墙、防病毒、入侵检测的防御系统。因此，自主可控道阻且艰。此后，在形势一片大好的网络空间里，</a:t>
            </a:r>
            <a:r>
              <a:rPr lang="zh-CN" altLang="en-US" sz="2000">
                <a:solidFill>
                  <a:srgbClr val="FF0000"/>
                </a:solidFill>
                <a:latin typeface="方正大标宋简体" panose="02010601030101010101" pitchFamily="2" charset="-122"/>
                <a:ea typeface="方正大标宋简体" panose="02010601030101010101" pitchFamily="2" charset="-122"/>
              </a:rPr>
              <a:t>国内厂商应提高自主研发能力，加强核心技术创新，推进国产化产品平稳替代。</a:t>
            </a:r>
            <a:endParaRPr lang="zh-CN" altLang="en-US" sz="2000">
              <a:latin typeface="方正大标宋简体" panose="02010601030101010101" pitchFamily="2" charset="-122"/>
              <a:ea typeface="方正大标宋简体" panose="02010601030101010101" pitchFamily="2" charset="-122"/>
            </a:endParaRPr>
          </a:p>
        </p:txBody>
      </p:sp>
    </p:spTree>
  </p:cSld>
  <p:clrMapOvr>
    <a:masterClrMapping/>
  </p:clrMapOvr>
  <p:transition>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标题 1"/>
          <p:cNvSpPr>
            <a:spLocks noGrp="1"/>
          </p:cNvSpPr>
          <p:nvPr>
            <p:ph type="title"/>
          </p:nvPr>
        </p:nvSpPr>
        <p:spPr>
          <a:xfrm>
            <a:off x="3071813" y="909003"/>
            <a:ext cx="7332980"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信息技术应用创新行业（</a:t>
            </a:r>
            <a:r>
              <a:rPr lang="zh-CN" altLang="en-US" sz="2800" kern="1200" dirty="0">
                <a:solidFill>
                  <a:srgbClr val="FF0000"/>
                </a:solidFill>
                <a:latin typeface="方正大黑简体" panose="03000509000000000000" pitchFamily="65" charset="-122"/>
                <a:ea typeface="方正大黑简体" panose="03000509000000000000" pitchFamily="65" charset="-122"/>
                <a:cs typeface="+mn-cs"/>
                <a:sym typeface="+mn-ea"/>
              </a:rPr>
              <a:t>信创行业</a:t>
            </a: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）乘势而起</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endParaRPr>
          </a:p>
        </p:txBody>
      </p:sp>
      <p:sp>
        <p:nvSpPr>
          <p:cNvPr id="188419" name="内容占位符 2"/>
          <p:cNvSpPr>
            <a:spLocks noGrp="1"/>
          </p:cNvSpPr>
          <p:nvPr>
            <p:ph idx="1"/>
          </p:nvPr>
        </p:nvSpPr>
        <p:spPr>
          <a:xfrm>
            <a:off x="1992313" y="1628775"/>
            <a:ext cx="8191500" cy="4032250"/>
          </a:xfrm>
        </p:spPr>
        <p:txBody>
          <a:bodyPr/>
          <a:lstStyle/>
          <a:p>
            <a:pPr>
              <a:lnSpc>
                <a:spcPct val="150000"/>
              </a:lnSpc>
            </a:pPr>
            <a:r>
              <a:rPr lang="zh-CN" altLang="en-US" sz="2000">
                <a:latin typeface="方正大标宋简体" panose="02010601030101010101" pitchFamily="2" charset="-122"/>
                <a:ea typeface="方正大标宋简体" panose="02010601030101010101" pitchFamily="2" charset="-122"/>
              </a:rPr>
              <a:t>外部环境渐趋复杂，信创行业乘势而起。</a:t>
            </a:r>
            <a:endParaRPr lang="zh-CN" altLang="en-US" sz="2000">
              <a:latin typeface="方正大标宋简体" panose="02010601030101010101" pitchFamily="2" charset="-122"/>
              <a:ea typeface="方正大标宋简体" panose="02010601030101010101" pitchFamily="2" charset="-122"/>
            </a:endParaRPr>
          </a:p>
          <a:p>
            <a:pPr>
              <a:lnSpc>
                <a:spcPct val="150000"/>
              </a:lnSpc>
            </a:pPr>
            <a:r>
              <a:rPr lang="zh-CN" altLang="en-US" sz="2000">
                <a:latin typeface="方正大标宋简体" panose="02010601030101010101" pitchFamily="2" charset="-122"/>
                <a:ea typeface="方正大标宋简体" panose="02010601030101010101" pitchFamily="2" charset="-122"/>
              </a:rPr>
              <a:t>由于过去美国在科技领域的领先地位，我国的IT 产业生态基本是建立在美国科技企业的硬软件之上，包括</a:t>
            </a:r>
            <a:r>
              <a:rPr lang="zh-CN" altLang="en-US" sz="2000">
                <a:solidFill>
                  <a:srgbClr val="FF0000"/>
                </a:solidFill>
                <a:latin typeface="方正大标宋简体" panose="02010601030101010101" pitchFamily="2" charset="-122"/>
                <a:ea typeface="方正大标宋简体" panose="02010601030101010101" pitchFamily="2" charset="-122"/>
              </a:rPr>
              <a:t>CPU</a:t>
            </a:r>
            <a:r>
              <a:rPr lang="zh-CN" altLang="en-US" sz="2000">
                <a:latin typeface="方正大标宋简体" panose="02010601030101010101" pitchFamily="2" charset="-122"/>
                <a:ea typeface="方正大标宋简体" panose="02010601030101010101" pitchFamily="2" charset="-122"/>
              </a:rPr>
              <a:t>（</a:t>
            </a:r>
            <a:r>
              <a:rPr lang="en-US" altLang="zh-CN" sz="2000">
                <a:solidFill>
                  <a:srgbClr val="0033CC"/>
                </a:solidFill>
                <a:latin typeface="方正大标宋简体" panose="02010601030101010101" pitchFamily="2" charset="-122"/>
                <a:ea typeface="方正大标宋简体" panose="02010601030101010101" pitchFamily="2" charset="-122"/>
              </a:rPr>
              <a:t>Intel</a:t>
            </a:r>
            <a:r>
              <a:rPr lang="zh-CN" altLang="en-US" sz="2000">
                <a:solidFill>
                  <a:srgbClr val="0033CC"/>
                </a:solidFill>
                <a:latin typeface="方正大标宋简体" panose="02010601030101010101" pitchFamily="2" charset="-122"/>
                <a:ea typeface="方正大标宋简体" panose="02010601030101010101" pitchFamily="2" charset="-122"/>
              </a:rPr>
              <a:t>、AMD</a:t>
            </a:r>
            <a:r>
              <a:rPr lang="zh-CN" altLang="en-US" sz="2000">
                <a:latin typeface="方正大标宋简体" panose="02010601030101010101" pitchFamily="2" charset="-122"/>
                <a:ea typeface="方正大标宋简体" panose="02010601030101010101" pitchFamily="2" charset="-122"/>
              </a:rPr>
              <a:t>等）、</a:t>
            </a:r>
            <a:r>
              <a:rPr lang="zh-CN" altLang="en-US" sz="2000">
                <a:solidFill>
                  <a:srgbClr val="FF0000"/>
                </a:solidFill>
                <a:latin typeface="方正大标宋简体" panose="02010601030101010101" pitchFamily="2" charset="-122"/>
                <a:ea typeface="方正大标宋简体" panose="02010601030101010101" pitchFamily="2" charset="-122"/>
              </a:rPr>
              <a:t>操作系统</a:t>
            </a:r>
            <a:r>
              <a:rPr lang="zh-CN" altLang="en-US" sz="2000">
                <a:latin typeface="方正大标宋简体" panose="02010601030101010101" pitchFamily="2" charset="-122"/>
                <a:ea typeface="方正大标宋简体" panose="02010601030101010101" pitchFamily="2" charset="-122"/>
              </a:rPr>
              <a:t>（</a:t>
            </a:r>
            <a:r>
              <a:rPr lang="zh-CN" altLang="en-US" sz="2000">
                <a:solidFill>
                  <a:srgbClr val="0033CC"/>
                </a:solidFill>
                <a:latin typeface="方正大标宋简体" panose="02010601030101010101" pitchFamily="2" charset="-122"/>
                <a:ea typeface="方正大标宋简体" panose="02010601030101010101" pitchFamily="2" charset="-122"/>
              </a:rPr>
              <a:t>微软、苹果</a:t>
            </a:r>
            <a:r>
              <a:rPr lang="zh-CN" altLang="en-US" sz="2000">
                <a:latin typeface="方正大标宋简体" panose="02010601030101010101" pitchFamily="2" charset="-122"/>
                <a:ea typeface="方正大标宋简体" panose="02010601030101010101" pitchFamily="2" charset="-122"/>
              </a:rPr>
              <a:t>等）、</a:t>
            </a:r>
            <a:r>
              <a:rPr lang="zh-CN" altLang="en-US" sz="2000">
                <a:solidFill>
                  <a:srgbClr val="FF0000"/>
                </a:solidFill>
                <a:latin typeface="方正大标宋简体" panose="02010601030101010101" pitchFamily="2" charset="-122"/>
                <a:ea typeface="方正大标宋简体" panose="02010601030101010101" pitchFamily="2" charset="-122"/>
              </a:rPr>
              <a:t>数据库</a:t>
            </a:r>
            <a:r>
              <a:rPr lang="zh-CN" altLang="en-US" sz="2000">
                <a:latin typeface="方正大标宋简体" panose="02010601030101010101" pitchFamily="2" charset="-122"/>
                <a:ea typeface="方正大标宋简体" panose="02010601030101010101" pitchFamily="2" charset="-122"/>
              </a:rPr>
              <a:t>（</a:t>
            </a:r>
            <a:r>
              <a:rPr lang="zh-CN" altLang="en-US" sz="2000">
                <a:solidFill>
                  <a:srgbClr val="0033CC"/>
                </a:solidFill>
                <a:latin typeface="方正大标宋简体" panose="02010601030101010101" pitchFamily="2" charset="-122"/>
                <a:ea typeface="方正大标宋简体" panose="02010601030101010101" pitchFamily="2" charset="-122"/>
              </a:rPr>
              <a:t>Oracle、微软</a:t>
            </a:r>
            <a:r>
              <a:rPr lang="zh-CN" altLang="en-US" sz="2000">
                <a:latin typeface="方正大标宋简体" panose="02010601030101010101" pitchFamily="2" charset="-122"/>
                <a:ea typeface="方正大标宋简体" panose="02010601030101010101" pitchFamily="2" charset="-122"/>
              </a:rPr>
              <a:t>等）、</a:t>
            </a:r>
            <a:r>
              <a:rPr lang="zh-CN" altLang="en-US" sz="2000">
                <a:solidFill>
                  <a:srgbClr val="FF0000"/>
                </a:solidFill>
                <a:latin typeface="方正大标宋简体" panose="02010601030101010101" pitchFamily="2" charset="-122"/>
                <a:ea typeface="方正大标宋简体" panose="02010601030101010101" pitchFamily="2" charset="-122"/>
              </a:rPr>
              <a:t>中间件</a:t>
            </a:r>
            <a:r>
              <a:rPr lang="zh-CN" altLang="en-US" sz="2000">
                <a:latin typeface="方正大标宋简体" panose="02010601030101010101" pitchFamily="2" charset="-122"/>
                <a:ea typeface="方正大标宋简体" panose="02010601030101010101" pitchFamily="2" charset="-122"/>
              </a:rPr>
              <a:t>（</a:t>
            </a:r>
            <a:r>
              <a:rPr lang="zh-CN" altLang="en-US" sz="2000">
                <a:solidFill>
                  <a:srgbClr val="0033CC"/>
                </a:solidFill>
                <a:latin typeface="方正大标宋简体" panose="02010601030101010101" pitchFamily="2" charset="-122"/>
                <a:ea typeface="方正大标宋简体" panose="02010601030101010101" pitchFamily="2" charset="-122"/>
              </a:rPr>
              <a:t>IBM、Oracle </a:t>
            </a:r>
            <a:r>
              <a:rPr lang="zh-CN" altLang="en-US" sz="2000">
                <a:latin typeface="方正大标宋简体" panose="02010601030101010101" pitchFamily="2" charset="-122"/>
                <a:ea typeface="方正大标宋简体" panose="02010601030101010101" pitchFamily="2" charset="-122"/>
              </a:rPr>
              <a:t>等）、</a:t>
            </a:r>
            <a:r>
              <a:rPr lang="zh-CN" altLang="en-US" sz="2000">
                <a:solidFill>
                  <a:srgbClr val="FF0000"/>
                </a:solidFill>
                <a:latin typeface="方正大标宋简体" panose="02010601030101010101" pitchFamily="2" charset="-122"/>
                <a:ea typeface="方正大标宋简体" panose="02010601030101010101" pitchFamily="2" charset="-122"/>
              </a:rPr>
              <a:t>应用软件</a:t>
            </a:r>
            <a:r>
              <a:rPr lang="zh-CN" altLang="en-US" sz="2000">
                <a:latin typeface="方正大标宋简体" panose="02010601030101010101" pitchFamily="2" charset="-122"/>
                <a:ea typeface="方正大标宋简体" panose="02010601030101010101" pitchFamily="2" charset="-122"/>
              </a:rPr>
              <a:t>（</a:t>
            </a:r>
            <a:r>
              <a:rPr lang="zh-CN" altLang="en-US" sz="2000">
                <a:solidFill>
                  <a:srgbClr val="0033CC"/>
                </a:solidFill>
                <a:latin typeface="方正大标宋简体" panose="02010601030101010101" pitchFamily="2" charset="-122"/>
                <a:ea typeface="方正大标宋简体" panose="02010601030101010101" pitchFamily="2" charset="-122"/>
              </a:rPr>
              <a:t>Office 365、Adobe</a:t>
            </a:r>
            <a:r>
              <a:rPr lang="zh-CN" altLang="en-US" sz="2000">
                <a:latin typeface="方正大标宋简体" panose="02010601030101010101" pitchFamily="2" charset="-122"/>
                <a:ea typeface="方正大标宋简体" panose="02010601030101010101" pitchFamily="2" charset="-122"/>
              </a:rPr>
              <a:t>等）、</a:t>
            </a:r>
            <a:r>
              <a:rPr lang="zh-CN" altLang="en-US" sz="2000">
                <a:solidFill>
                  <a:srgbClr val="FF0000"/>
                </a:solidFill>
                <a:latin typeface="方正大标宋简体" panose="02010601030101010101" pitchFamily="2" charset="-122"/>
                <a:ea typeface="方正大标宋简体" panose="02010601030101010101" pitchFamily="2" charset="-122"/>
              </a:rPr>
              <a:t>安全软件</a:t>
            </a:r>
            <a:r>
              <a:rPr lang="zh-CN" altLang="en-US" sz="2000">
                <a:latin typeface="方正大标宋简体" panose="02010601030101010101" pitchFamily="2" charset="-122"/>
                <a:ea typeface="方正大标宋简体" panose="02010601030101010101" pitchFamily="2" charset="-122"/>
              </a:rPr>
              <a:t>（kaspersky、ESET、MAC）等。</a:t>
            </a:r>
            <a:endParaRPr lang="zh-CN" altLang="en-US" sz="2000">
              <a:latin typeface="方正大标宋简体" panose="02010601030101010101" pitchFamily="2" charset="-122"/>
              <a:ea typeface="方正大标宋简体" panose="02010601030101010101" pitchFamily="2" charset="-122"/>
            </a:endParaRPr>
          </a:p>
          <a:p>
            <a:pPr>
              <a:lnSpc>
                <a:spcPct val="150000"/>
              </a:lnSpc>
            </a:pPr>
            <a:r>
              <a:rPr lang="zh-CN" altLang="en-US" sz="2000">
                <a:latin typeface="方正大标宋简体" panose="02010601030101010101" pitchFamily="2" charset="-122"/>
                <a:ea typeface="方正大标宋简体" panose="02010601030101010101" pitchFamily="2" charset="-122"/>
              </a:rPr>
              <a:t>虽然后续部分国产硬软件开始进入自主研发的过程，但在性能、生态建设等方面与海外同类型产品相比，仍有较大的差距。</a:t>
            </a:r>
            <a:endParaRPr lang="zh-CN" altLang="en-US" sz="2000">
              <a:latin typeface="方正大标宋简体" panose="02010601030101010101" pitchFamily="2" charset="-122"/>
              <a:ea typeface="方正大标宋简体" panose="02010601030101010101" pitchFamily="2" charset="-122"/>
            </a:endParaRPr>
          </a:p>
        </p:txBody>
      </p:sp>
      <p:sp>
        <p:nvSpPr>
          <p:cNvPr id="188420" name="矩形 1"/>
          <p:cNvSpPr>
            <a:spLocks noChangeArrowheads="1"/>
          </p:cNvSpPr>
          <p:nvPr/>
        </p:nvSpPr>
        <p:spPr bwMode="auto">
          <a:xfrm>
            <a:off x="1919288" y="909003"/>
            <a:ext cx="107759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rgbClr val="FF0000"/>
                </a:solidFill>
                <a:latin typeface="方正大黑简体" panose="03000509000000000000" pitchFamily="65" charset="-122"/>
                <a:ea typeface="方正大黑简体" panose="03000509000000000000" pitchFamily="65" charset="-122"/>
              </a:rPr>
              <a:t>延申</a:t>
            </a:r>
            <a:r>
              <a:rPr lang="en-US" altLang="zh-CN" sz="2800" b="1">
                <a:solidFill>
                  <a:srgbClr val="FF0000"/>
                </a:solidFill>
                <a:latin typeface="方正大黑简体" panose="03000509000000000000" pitchFamily="65" charset="-122"/>
                <a:ea typeface="方正大黑简体" panose="03000509000000000000" pitchFamily="65" charset="-122"/>
              </a:rPr>
              <a:t>:</a:t>
            </a:r>
            <a:endParaRPr lang="zh-CN" altLang="en-US" sz="2800" b="1">
              <a:solidFill>
                <a:srgbClr val="FF0000"/>
              </a:solidFill>
              <a:latin typeface="方正大黑简体" panose="03000509000000000000" pitchFamily="65" charset="-122"/>
              <a:ea typeface="方正大黑简体" panose="03000509000000000000" pitchFamily="65" charset="-122"/>
            </a:endParaRPr>
          </a:p>
        </p:txBody>
      </p:sp>
    </p:spTree>
  </p:cSld>
  <p:clrMapOvr>
    <a:masterClrMapping/>
  </p:clrMapOvr>
  <p:transition>
    <p:fade/>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标题 1"/>
          <p:cNvSpPr>
            <a:spLocks noGrp="1"/>
          </p:cNvSpPr>
          <p:nvPr>
            <p:ph type="title"/>
          </p:nvPr>
        </p:nvSpPr>
        <p:spPr>
          <a:xfrm>
            <a:off x="2057400" y="864552"/>
            <a:ext cx="2327910"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云计算国产化</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endParaRPr>
          </a:p>
        </p:txBody>
      </p:sp>
      <p:sp>
        <p:nvSpPr>
          <p:cNvPr id="187395" name="内容占位符 2"/>
          <p:cNvSpPr>
            <a:spLocks noGrp="1"/>
          </p:cNvSpPr>
          <p:nvPr>
            <p:ph idx="1"/>
          </p:nvPr>
        </p:nvSpPr>
        <p:spPr>
          <a:xfrm>
            <a:off x="2095500" y="4464000"/>
            <a:ext cx="8070850" cy="1485280"/>
          </a:xfrm>
        </p:spPr>
        <p:txBody>
          <a:bodyPr/>
          <a:lstStyle/>
          <a:p>
            <a:pPr>
              <a:lnSpc>
                <a:spcPct val="140000"/>
              </a:lnSpc>
            </a:pPr>
            <a:r>
              <a:rPr lang="en-GB" altLang="zh-CN" sz="2000" dirty="0">
                <a:latin typeface="方正大标宋简体" panose="02010601030101010101" pitchFamily="2" charset="-122"/>
                <a:ea typeface="方正大标宋简体" panose="02010601030101010101" pitchFamily="2" charset="-122"/>
              </a:rPr>
              <a:t>https://</a:t>
            </a:r>
            <a:r>
              <a:rPr lang="en-GB" altLang="zh-CN" sz="2000" dirty="0" err="1">
                <a:latin typeface="方正大标宋简体" panose="02010601030101010101" pitchFamily="2" charset="-122"/>
                <a:ea typeface="方正大标宋简体" panose="02010601030101010101" pitchFamily="2" charset="-122"/>
              </a:rPr>
              <a:t>www.bilibili.com</a:t>
            </a:r>
            <a:r>
              <a:rPr lang="en-GB" altLang="zh-CN" sz="2000" dirty="0">
                <a:latin typeface="方正大标宋简体" panose="02010601030101010101" pitchFamily="2" charset="-122"/>
                <a:ea typeface="方正大标宋简体" panose="02010601030101010101" pitchFamily="2" charset="-122"/>
              </a:rPr>
              <a:t>/video/BV1bQ4y1Y7f8?spm_id_from=333.788.top_right_bar_window_custom_collection.content.click&amp;vd_source=0991c0bfd7ce6d8c34ea5d7729eaded5</a:t>
            </a:r>
            <a:endParaRPr lang="zh-CN" altLang="en-US" sz="2000" dirty="0">
              <a:latin typeface="方正大标宋简体" panose="02010601030101010101" pitchFamily="2" charset="-122"/>
              <a:ea typeface="方正大标宋简体" panose="02010601030101010101" pitchFamily="2" charset="-122"/>
            </a:endParaRPr>
          </a:p>
        </p:txBody>
      </p:sp>
      <p:pic>
        <p:nvPicPr>
          <p:cNvPr id="5" name="图片 4"/>
          <p:cNvPicPr>
            <a:picLocks noChangeAspect="1"/>
          </p:cNvPicPr>
          <p:nvPr/>
        </p:nvPicPr>
        <p:blipFill rotWithShape="1">
          <a:blip r:embed="rId1"/>
          <a:srcRect t="11662" b="25786"/>
          <a:stretch>
            <a:fillRect/>
          </a:stretch>
        </p:blipFill>
        <p:spPr>
          <a:xfrm>
            <a:off x="2927350" y="1916832"/>
            <a:ext cx="6337300" cy="2232248"/>
          </a:xfrm>
          <a:prstGeom prst="rect">
            <a:avLst/>
          </a:prstGeom>
        </p:spPr>
      </p:pic>
    </p:spTree>
  </p:cSld>
  <p:clrMapOvr>
    <a:masterClrMapping/>
  </p:clrMapOvr>
  <p:transition>
    <p:fade/>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4" name="矩形 5"/>
          <p:cNvSpPr>
            <a:spLocks noChangeArrowheads="1"/>
          </p:cNvSpPr>
          <p:nvPr/>
        </p:nvSpPr>
        <p:spPr bwMode="auto">
          <a:xfrm>
            <a:off x="1998663" y="1484313"/>
            <a:ext cx="82708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Clr>
                <a:srgbClr val="3399FF"/>
              </a:buClr>
              <a:buFont typeface="Wingdings" panose="05000000000000000000" pitchFamily="2" charset="2"/>
              <a:buChar char="v"/>
            </a:pPr>
            <a:r>
              <a:rPr lang="zh-CN" altLang="en-US" sz="2000">
                <a:latin typeface="方正大标宋简体" panose="02010601030101010101" pitchFamily="2" charset="-122"/>
                <a:ea typeface="方正大标宋简体" panose="02010601030101010101" pitchFamily="2" charset="-122"/>
              </a:rPr>
              <a:t>近年发生的</a:t>
            </a:r>
            <a:r>
              <a:rPr lang="zh-CN" altLang="en-US" sz="2000">
                <a:solidFill>
                  <a:srgbClr val="0033CC"/>
                </a:solidFill>
                <a:latin typeface="方正大标宋简体" panose="02010601030101010101" pitchFamily="2" charset="-122"/>
                <a:ea typeface="方正大标宋简体" panose="02010601030101010101" pitchFamily="2" charset="-122"/>
              </a:rPr>
              <a:t>“微软黑屏门”、“微软操作系统停更”、“棱镜门”、“中兴华为”</a:t>
            </a:r>
            <a:r>
              <a:rPr lang="zh-CN" altLang="en-US" sz="2000">
                <a:latin typeface="方正大标宋简体" panose="02010601030101010101" pitchFamily="2" charset="-122"/>
                <a:ea typeface="方正大标宋简体" panose="02010601030101010101" pitchFamily="2" charset="-122"/>
              </a:rPr>
              <a:t>等安全事件，敲响了我国 IT 产业的警钟，建立由我国主导的 IT 产业生态尤为迫切。对此，我国信息技术应用创新行业乘势而起，旨在通过对IT 硬件、IT 软件各个环节的重构，建立我国自主可控的IT 产业标准和生态，逐步实现各环节的“去美化”。</a:t>
            </a:r>
            <a:endParaRPr lang="zh-CN" altLang="en-US" sz="2000">
              <a:latin typeface="方正大标宋简体" panose="02010601030101010101" pitchFamily="2" charset="-122"/>
              <a:ea typeface="方正大标宋简体" panose="02010601030101010101" pitchFamily="2" charset="-122"/>
            </a:endParaRPr>
          </a:p>
          <a:p>
            <a:pPr>
              <a:lnSpc>
                <a:spcPct val="150000"/>
              </a:lnSpc>
              <a:spcBef>
                <a:spcPct val="20000"/>
              </a:spcBef>
              <a:buClr>
                <a:srgbClr val="3399FF"/>
              </a:buClr>
              <a:buFont typeface="Wingdings" panose="05000000000000000000" pitchFamily="2" charset="2"/>
              <a:buChar char="v"/>
            </a:pPr>
            <a:r>
              <a:rPr lang="zh-CN" altLang="en-US" sz="2000">
                <a:solidFill>
                  <a:srgbClr val="FF0000"/>
                </a:solidFill>
                <a:latin typeface="方正大标宋简体" panose="02010601030101010101" pitchFamily="2" charset="-122"/>
                <a:ea typeface="方正大标宋简体" panose="02010601030101010101" pitchFamily="2" charset="-122"/>
              </a:rPr>
              <a:t>信创产业</a:t>
            </a:r>
            <a:r>
              <a:rPr lang="zh-CN" altLang="en-US" sz="2000">
                <a:latin typeface="方正大标宋简体" panose="02010601030101010101" pitchFamily="2" charset="-122"/>
                <a:ea typeface="方正大标宋简体" panose="02010601030101010101" pitchFamily="2" charset="-122"/>
              </a:rPr>
              <a:t>主要是从云计算、软件、硬件、安全等方面推进和提倡行业的创新发展，提升信息技术软硬件的信息安全管理的技术防护能力。信创发展是一项</a:t>
            </a:r>
            <a:r>
              <a:rPr lang="zh-CN" altLang="en-US" sz="2000">
                <a:solidFill>
                  <a:srgbClr val="FF0000"/>
                </a:solidFill>
                <a:latin typeface="方正大标宋简体" panose="02010601030101010101" pitchFamily="2" charset="-122"/>
                <a:ea typeface="方正大标宋简体" panose="02010601030101010101" pitchFamily="2" charset="-122"/>
              </a:rPr>
              <a:t>国家战略</a:t>
            </a:r>
            <a:r>
              <a:rPr lang="zh-CN" altLang="en-US" sz="2000">
                <a:latin typeface="方正大标宋简体" panose="02010601030101010101" pitchFamily="2" charset="-122"/>
                <a:ea typeface="方正大标宋简体" panose="02010601030101010101" pitchFamily="2" charset="-122"/>
              </a:rPr>
              <a:t>，也是当今形势下国家经济发展的新功能。信创产业发展已经成为经济数字化转型、提升产业链发展的关键。</a:t>
            </a:r>
            <a:endParaRPr lang="zh-CN" altLang="en-US" sz="2000">
              <a:latin typeface="方正大标宋简体" panose="02010601030101010101" pitchFamily="2" charset="-122"/>
              <a:ea typeface="方正大标宋简体" panose="02010601030101010101" pitchFamily="2" charset="-122"/>
            </a:endParaRPr>
          </a:p>
        </p:txBody>
      </p:sp>
      <p:sp>
        <p:nvSpPr>
          <p:cNvPr id="7" name="标题 1"/>
          <p:cNvSpPr>
            <a:spLocks noGrp="1"/>
          </p:cNvSpPr>
          <p:nvPr>
            <p:ph type="title"/>
          </p:nvPr>
        </p:nvSpPr>
        <p:spPr>
          <a:xfrm>
            <a:off x="3000375" y="837566"/>
            <a:ext cx="7332980"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信息技术应用创新行业（</a:t>
            </a:r>
            <a:r>
              <a:rPr lang="zh-CN" altLang="en-US" sz="2800" kern="1200" dirty="0">
                <a:solidFill>
                  <a:srgbClr val="FF0000"/>
                </a:solidFill>
                <a:latin typeface="方正大黑简体" panose="03000509000000000000" pitchFamily="65" charset="-122"/>
                <a:ea typeface="方正大黑简体" panose="03000509000000000000" pitchFamily="65" charset="-122"/>
                <a:cs typeface="+mn-cs"/>
                <a:sym typeface="+mn-ea"/>
              </a:rPr>
              <a:t>信创行业</a:t>
            </a: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）乘势而起</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endParaRPr>
          </a:p>
        </p:txBody>
      </p:sp>
      <p:sp>
        <p:nvSpPr>
          <p:cNvPr id="189446" name="矩形 7"/>
          <p:cNvSpPr>
            <a:spLocks noChangeArrowheads="1"/>
          </p:cNvSpPr>
          <p:nvPr/>
        </p:nvSpPr>
        <p:spPr bwMode="auto">
          <a:xfrm>
            <a:off x="1905000" y="848678"/>
            <a:ext cx="107759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rgbClr val="FF0000"/>
                </a:solidFill>
                <a:latin typeface="方正大黑简体" panose="03000509000000000000" pitchFamily="65" charset="-122"/>
                <a:ea typeface="方正大黑简体" panose="03000509000000000000" pitchFamily="65" charset="-122"/>
              </a:rPr>
              <a:t>延申</a:t>
            </a:r>
            <a:r>
              <a:rPr lang="en-US" altLang="zh-CN" sz="2800" b="1">
                <a:solidFill>
                  <a:srgbClr val="FF0000"/>
                </a:solidFill>
                <a:latin typeface="方正大黑简体" panose="03000509000000000000" pitchFamily="65" charset="-122"/>
                <a:ea typeface="方正大黑简体" panose="03000509000000000000" pitchFamily="65" charset="-122"/>
              </a:rPr>
              <a:t>:</a:t>
            </a:r>
            <a:endParaRPr lang="zh-CN" altLang="en-US" sz="2800" b="1">
              <a:solidFill>
                <a:srgbClr val="FF0000"/>
              </a:solidFill>
              <a:latin typeface="方正大黑简体" panose="03000509000000000000" pitchFamily="65" charset="-122"/>
              <a:ea typeface="方正大黑简体" panose="03000509000000000000" pitchFamily="65" charset="-122"/>
            </a:endParaRPr>
          </a:p>
        </p:txBody>
      </p:sp>
    </p:spTree>
  </p:cSld>
  <p:clrMapOvr>
    <a:masterClrMapping/>
  </p:clrMapOvr>
  <p:transition>
    <p:fade/>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标题 1"/>
          <p:cNvSpPr>
            <a:spLocks noGrp="1"/>
          </p:cNvSpPr>
          <p:nvPr>
            <p:ph type="title"/>
          </p:nvPr>
        </p:nvSpPr>
        <p:spPr>
          <a:xfrm>
            <a:off x="2057400" y="864552"/>
            <a:ext cx="6442075"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从自主到可控：沈昌祥院士 </a:t>
            </a:r>
            <a:r>
              <a:rPr lang="en-US" altLang="zh-CN" sz="2800" kern="1200" dirty="0">
                <a:solidFill>
                  <a:srgbClr val="0033CC"/>
                </a:solidFill>
                <a:latin typeface="方正大黑简体" panose="03000509000000000000" pitchFamily="65" charset="-122"/>
                <a:ea typeface="方正大黑简体" panose="03000509000000000000" pitchFamily="65" charset="-122"/>
                <a:cs typeface="+mn-cs"/>
                <a:sym typeface="+mn-ea"/>
              </a:rPr>
              <a:t>-</a:t>
            </a: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rPr>
              <a:t> 可信计算</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sym typeface="+mn-ea"/>
            </a:endParaRPr>
          </a:p>
        </p:txBody>
      </p:sp>
      <p:sp>
        <p:nvSpPr>
          <p:cNvPr id="187395" name="内容占位符 2"/>
          <p:cNvSpPr>
            <a:spLocks noGrp="1"/>
          </p:cNvSpPr>
          <p:nvPr>
            <p:ph idx="1"/>
          </p:nvPr>
        </p:nvSpPr>
        <p:spPr>
          <a:xfrm>
            <a:off x="2095500" y="4824040"/>
            <a:ext cx="8070850" cy="1485280"/>
          </a:xfrm>
        </p:spPr>
        <p:txBody>
          <a:bodyPr/>
          <a:lstStyle/>
          <a:p>
            <a:pPr>
              <a:lnSpc>
                <a:spcPct val="140000"/>
              </a:lnSpc>
            </a:pPr>
            <a:r>
              <a:rPr lang="en-GB" altLang="zh-CN" sz="2000" dirty="0">
                <a:latin typeface="方正大标宋简体" panose="02010601030101010101" pitchFamily="2" charset="-122"/>
                <a:ea typeface="方正大标宋简体" panose="02010601030101010101" pitchFamily="2" charset="-122"/>
              </a:rPr>
              <a:t>https://</a:t>
            </a:r>
            <a:r>
              <a:rPr lang="en-GB" altLang="zh-CN" sz="2000" dirty="0" err="1">
                <a:latin typeface="方正大标宋简体" panose="02010601030101010101" pitchFamily="2" charset="-122"/>
                <a:ea typeface="方正大标宋简体" panose="02010601030101010101" pitchFamily="2" charset="-122"/>
              </a:rPr>
              <a:t>www.bilibili.com</a:t>
            </a:r>
            <a:r>
              <a:rPr lang="en-GB" altLang="zh-CN" sz="2000" dirty="0">
                <a:latin typeface="方正大标宋简体" panose="02010601030101010101" pitchFamily="2" charset="-122"/>
                <a:ea typeface="方正大标宋简体" panose="02010601030101010101" pitchFamily="2" charset="-122"/>
              </a:rPr>
              <a:t>/video/BV1zN4y177ho/?</a:t>
            </a:r>
            <a:r>
              <a:rPr lang="en-GB" altLang="zh-CN" sz="2000" dirty="0" err="1">
                <a:latin typeface="方正大标宋简体" panose="02010601030101010101" pitchFamily="2" charset="-122"/>
                <a:ea typeface="方正大标宋简体" panose="02010601030101010101" pitchFamily="2" charset="-122"/>
              </a:rPr>
              <a:t>spm_id_from</a:t>
            </a:r>
            <a:r>
              <a:rPr lang="en-GB" altLang="zh-CN" sz="2000" dirty="0">
                <a:latin typeface="方正大标宋简体" panose="02010601030101010101" pitchFamily="2" charset="-122"/>
                <a:ea typeface="方正大标宋简体" panose="02010601030101010101" pitchFamily="2" charset="-122"/>
              </a:rPr>
              <a:t>=333.999.top_right_bar_window_custom_collection.content.click&amp;vd_source=0991c0bfd7ce6d8c34ea5d7729eaded5</a:t>
            </a:r>
            <a:endParaRPr lang="zh-CN" altLang="en-US" sz="2000" dirty="0">
              <a:latin typeface="方正大标宋简体" panose="02010601030101010101" pitchFamily="2" charset="-122"/>
              <a:ea typeface="方正大标宋简体" panose="02010601030101010101" pitchFamily="2" charset="-122"/>
            </a:endParaRPr>
          </a:p>
        </p:txBody>
      </p:sp>
      <p:pic>
        <p:nvPicPr>
          <p:cNvPr id="14950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772917" y="1631838"/>
            <a:ext cx="4716016" cy="29475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标题 1"/>
          <p:cNvSpPr>
            <a:spLocks noGrp="1"/>
          </p:cNvSpPr>
          <p:nvPr>
            <p:ph type="title"/>
          </p:nvPr>
        </p:nvSpPr>
        <p:spPr>
          <a:xfrm>
            <a:off x="2855913" y="765334"/>
            <a:ext cx="3042920"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rPr>
              <a:t>信创产业链生态图</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endParaRPr>
          </a:p>
        </p:txBody>
      </p:sp>
      <p:pic>
        <p:nvPicPr>
          <p:cNvPr id="3" name="图片 2"/>
          <p:cNvPicPr>
            <a:picLocks noChangeAspect="1"/>
          </p:cNvPicPr>
          <p:nvPr/>
        </p:nvPicPr>
        <p:blipFill>
          <a:blip r:embed="rId1"/>
          <a:stretch>
            <a:fillRect/>
          </a:stretch>
        </p:blipFill>
        <p:spPr>
          <a:xfrm>
            <a:off x="2423592" y="1340768"/>
            <a:ext cx="7581900" cy="4772025"/>
          </a:xfrm>
          <a:prstGeom prst="rect">
            <a:avLst/>
          </a:prstGeom>
          <a:solidFill>
            <a:schemeClr val="tx1">
              <a:lumMod val="95000"/>
              <a:lumOff val="5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pic>
      <p:sp>
        <p:nvSpPr>
          <p:cNvPr id="190468" name="矩形 5"/>
          <p:cNvSpPr>
            <a:spLocks noChangeArrowheads="1"/>
          </p:cNvSpPr>
          <p:nvPr/>
        </p:nvSpPr>
        <p:spPr bwMode="auto">
          <a:xfrm>
            <a:off x="1860550" y="765334"/>
            <a:ext cx="107759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rgbClr val="FF0000"/>
                </a:solidFill>
                <a:latin typeface="方正大黑简体" panose="03000509000000000000" pitchFamily="65" charset="-122"/>
                <a:ea typeface="方正大黑简体" panose="03000509000000000000" pitchFamily="65" charset="-122"/>
              </a:rPr>
              <a:t>延申</a:t>
            </a:r>
            <a:r>
              <a:rPr lang="en-US" altLang="zh-CN" sz="2800" b="1">
                <a:solidFill>
                  <a:srgbClr val="FF0000"/>
                </a:solidFill>
                <a:latin typeface="方正大黑简体" panose="03000509000000000000" pitchFamily="65" charset="-122"/>
                <a:ea typeface="方正大黑简体" panose="03000509000000000000" pitchFamily="65" charset="-122"/>
              </a:rPr>
              <a:t>:</a:t>
            </a:r>
            <a:endParaRPr lang="zh-CN" altLang="en-US" sz="2800" b="1">
              <a:solidFill>
                <a:srgbClr val="FF0000"/>
              </a:solidFill>
              <a:latin typeface="方正大黑简体" panose="03000509000000000000" pitchFamily="65" charset="-122"/>
              <a:ea typeface="方正大黑简体" panose="03000509000000000000" pitchFamily="65" charset="-122"/>
            </a:endParaRPr>
          </a:p>
        </p:txBody>
      </p:sp>
    </p:spTree>
  </p:cSld>
  <p:clrMapOvr>
    <a:masterClrMapping/>
  </p:clrMapOvr>
  <p:transition>
    <p:fade/>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7" name="标题 2"/>
          <p:cNvSpPr>
            <a:spLocks noGrp="1"/>
          </p:cNvSpPr>
          <p:nvPr>
            <p:ph type="title"/>
          </p:nvPr>
        </p:nvSpPr>
        <p:spPr>
          <a:xfrm>
            <a:off x="2911475" y="848678"/>
            <a:ext cx="1970405" cy="521970"/>
          </a:xfrm>
        </p:spPr>
        <p:txBody>
          <a:bodyPr wrap="none">
            <a:spAutoFit/>
          </a:bodyPr>
          <a:lstStyle/>
          <a:p>
            <a:pPr>
              <a:defRPr/>
            </a:pPr>
            <a:r>
              <a:rPr lang="zh-CN" altLang="en-US" sz="2800" kern="1200" dirty="0">
                <a:solidFill>
                  <a:srgbClr val="0033CC"/>
                </a:solidFill>
                <a:latin typeface="方正大黑简体" panose="03000509000000000000" pitchFamily="65" charset="-122"/>
                <a:ea typeface="方正大黑简体" panose="03000509000000000000" pitchFamily="65" charset="-122"/>
                <a:cs typeface="+mn-cs"/>
              </a:rPr>
              <a:t>信创产业链</a:t>
            </a:r>
            <a:endParaRPr lang="zh-CN" altLang="en-US" sz="2800" kern="1200" dirty="0">
              <a:solidFill>
                <a:srgbClr val="0033CC"/>
              </a:solidFill>
              <a:latin typeface="方正大黑简体" panose="03000509000000000000" pitchFamily="65" charset="-122"/>
              <a:ea typeface="方正大黑简体" panose="03000509000000000000" pitchFamily="65" charset="-122"/>
              <a:cs typeface="+mn-cs"/>
            </a:endParaRPr>
          </a:p>
        </p:txBody>
      </p:sp>
      <p:pic>
        <p:nvPicPr>
          <p:cNvPr id="3" name="图片 2"/>
          <p:cNvPicPr>
            <a:picLocks noChangeAspect="1"/>
          </p:cNvPicPr>
          <p:nvPr/>
        </p:nvPicPr>
        <p:blipFill>
          <a:blip r:embed="rId1"/>
          <a:stretch>
            <a:fillRect/>
          </a:stretch>
        </p:blipFill>
        <p:spPr>
          <a:xfrm>
            <a:off x="2119312" y="1700808"/>
            <a:ext cx="7953375" cy="3457575"/>
          </a:xfrm>
          <a:prstGeom prst="rect">
            <a:avLst/>
          </a:prstGeom>
          <a:solidFill>
            <a:schemeClr val="tx1">
              <a:lumMod val="95000"/>
              <a:lumOff val="5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pic>
      <p:sp>
        <p:nvSpPr>
          <p:cNvPr id="191492" name="矩形 5"/>
          <p:cNvSpPr>
            <a:spLocks noChangeArrowheads="1"/>
          </p:cNvSpPr>
          <p:nvPr/>
        </p:nvSpPr>
        <p:spPr bwMode="auto">
          <a:xfrm>
            <a:off x="1905000" y="848678"/>
            <a:ext cx="107759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rgbClr val="FF0000"/>
                </a:solidFill>
                <a:latin typeface="方正大黑简体" panose="03000509000000000000" pitchFamily="65" charset="-122"/>
                <a:ea typeface="方正大黑简体" panose="03000509000000000000" pitchFamily="65" charset="-122"/>
              </a:rPr>
              <a:t>延申</a:t>
            </a:r>
            <a:r>
              <a:rPr lang="en-US" altLang="zh-CN" sz="2800" b="1">
                <a:solidFill>
                  <a:srgbClr val="FF0000"/>
                </a:solidFill>
                <a:latin typeface="方正大黑简体" panose="03000509000000000000" pitchFamily="65" charset="-122"/>
                <a:ea typeface="方正大黑简体" panose="03000509000000000000" pitchFamily="65" charset="-122"/>
              </a:rPr>
              <a:t>:</a:t>
            </a:r>
            <a:endParaRPr lang="zh-CN" altLang="en-US" sz="2800" b="1">
              <a:solidFill>
                <a:srgbClr val="FF0000"/>
              </a:solidFill>
              <a:latin typeface="方正大黑简体" panose="03000509000000000000" pitchFamily="65" charset="-122"/>
              <a:ea typeface="方正大黑简体" panose="03000509000000000000" pitchFamily="65" charset="-122"/>
            </a:endParaRPr>
          </a:p>
        </p:txBody>
      </p:sp>
    </p:spTree>
  </p:cSld>
  <p:clrMapOvr>
    <a:masterClrMapping/>
  </p:clrMapOvr>
  <p:transition>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标题 2"/>
          <p:cNvSpPr>
            <a:spLocks noGrp="1"/>
          </p:cNvSpPr>
          <p:nvPr/>
        </p:nvSpPr>
        <p:spPr bwMode="auto">
          <a:xfrm>
            <a:off x="2876550" y="848678"/>
            <a:ext cx="34004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rgbClr val="0033CC"/>
                </a:solidFill>
                <a:latin typeface="方正大黑简体" panose="03000509000000000000" pitchFamily="65" charset="-122"/>
                <a:ea typeface="方正大黑简体" panose="03000509000000000000" pitchFamily="65" charset="-122"/>
              </a:rPr>
              <a:t>信创产业链发展情况</a:t>
            </a:r>
            <a:endParaRPr lang="zh-CN" altLang="en-US" sz="2800" b="1">
              <a:solidFill>
                <a:srgbClr val="0033CC"/>
              </a:solidFill>
              <a:latin typeface="方正大黑简体" panose="03000509000000000000" pitchFamily="65" charset="-122"/>
              <a:ea typeface="方正大黑简体" panose="03000509000000000000" pitchFamily="65" charset="-122"/>
            </a:endParaRPr>
          </a:p>
        </p:txBody>
      </p:sp>
      <p:pic>
        <p:nvPicPr>
          <p:cNvPr id="3" name="图片 2"/>
          <p:cNvPicPr>
            <a:picLocks noChangeAspect="1"/>
          </p:cNvPicPr>
          <p:nvPr/>
        </p:nvPicPr>
        <p:blipFill>
          <a:blip r:embed="rId1"/>
          <a:stretch>
            <a:fillRect/>
          </a:stretch>
        </p:blipFill>
        <p:spPr>
          <a:xfrm>
            <a:off x="1775520" y="1844824"/>
            <a:ext cx="8677275" cy="3514725"/>
          </a:xfrm>
          <a:prstGeom prst="rect">
            <a:avLst/>
          </a:prstGeom>
          <a:solidFill>
            <a:schemeClr val="tx1">
              <a:lumMod val="95000"/>
              <a:lumOff val="5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pic>
      <p:sp>
        <p:nvSpPr>
          <p:cNvPr id="192516" name="矩形 8"/>
          <p:cNvSpPr>
            <a:spLocks noChangeArrowheads="1"/>
          </p:cNvSpPr>
          <p:nvPr/>
        </p:nvSpPr>
        <p:spPr bwMode="auto">
          <a:xfrm>
            <a:off x="1905000" y="848678"/>
            <a:ext cx="107759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rgbClr val="FF0000"/>
                </a:solidFill>
                <a:latin typeface="方正大黑简体" panose="03000509000000000000" pitchFamily="65" charset="-122"/>
                <a:ea typeface="方正大黑简体" panose="03000509000000000000" pitchFamily="65" charset="-122"/>
              </a:rPr>
              <a:t>延申</a:t>
            </a:r>
            <a:r>
              <a:rPr lang="en-US" altLang="zh-CN" sz="2800" b="1">
                <a:solidFill>
                  <a:srgbClr val="FF0000"/>
                </a:solidFill>
                <a:latin typeface="方正大黑简体" panose="03000509000000000000" pitchFamily="65" charset="-122"/>
                <a:ea typeface="方正大黑简体" panose="03000509000000000000" pitchFamily="65" charset="-122"/>
              </a:rPr>
              <a:t>:</a:t>
            </a:r>
            <a:endParaRPr lang="zh-CN" altLang="en-US" sz="2800" b="1">
              <a:solidFill>
                <a:srgbClr val="FF0000"/>
              </a:solidFill>
              <a:latin typeface="方正大黑简体" panose="03000509000000000000" pitchFamily="65" charset="-122"/>
              <a:ea typeface="方正大黑简体" panose="03000509000000000000" pitchFamily="65" charset="-122"/>
            </a:endParaRPr>
          </a:p>
        </p:txBody>
      </p:sp>
    </p:spTree>
  </p:cSld>
  <p:clrMapOvr>
    <a:masterClrMapping/>
  </p:clrMapOvr>
  <p:transition>
    <p:fade/>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标题 2"/>
          <p:cNvSpPr>
            <a:spLocks noGrp="1"/>
          </p:cNvSpPr>
          <p:nvPr/>
        </p:nvSpPr>
        <p:spPr bwMode="auto">
          <a:xfrm>
            <a:off x="2882900" y="848678"/>
            <a:ext cx="44729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rgbClr val="0033CC"/>
                </a:solidFill>
                <a:latin typeface="方正大黑简体" panose="03000509000000000000" pitchFamily="65" charset="-122"/>
                <a:ea typeface="方正大黑简体" panose="03000509000000000000" pitchFamily="65" charset="-122"/>
              </a:rPr>
              <a:t>国内信创产业主要参与厂商</a:t>
            </a:r>
            <a:endParaRPr lang="zh-CN" altLang="en-US" sz="2800" b="1">
              <a:solidFill>
                <a:srgbClr val="0033CC"/>
              </a:solidFill>
              <a:latin typeface="方正大黑简体" panose="03000509000000000000" pitchFamily="65" charset="-122"/>
              <a:ea typeface="方正大黑简体" panose="03000509000000000000" pitchFamily="65" charset="-122"/>
            </a:endParaRPr>
          </a:p>
        </p:txBody>
      </p:sp>
      <p:pic>
        <p:nvPicPr>
          <p:cNvPr id="3" name="图片 2"/>
          <p:cNvPicPr>
            <a:picLocks noChangeAspect="1"/>
          </p:cNvPicPr>
          <p:nvPr/>
        </p:nvPicPr>
        <p:blipFill>
          <a:blip r:embed="rId1"/>
          <a:stretch>
            <a:fillRect/>
          </a:stretch>
        </p:blipFill>
        <p:spPr>
          <a:xfrm>
            <a:off x="2135560" y="1628800"/>
            <a:ext cx="7962900" cy="3771900"/>
          </a:xfrm>
          <a:prstGeom prst="rect">
            <a:avLst/>
          </a:prstGeom>
          <a:solidFill>
            <a:schemeClr val="tx1">
              <a:lumMod val="95000"/>
              <a:lumOff val="5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pic>
      <p:sp>
        <p:nvSpPr>
          <p:cNvPr id="193540" name="矩形 5"/>
          <p:cNvSpPr>
            <a:spLocks noChangeArrowheads="1"/>
          </p:cNvSpPr>
          <p:nvPr/>
        </p:nvSpPr>
        <p:spPr bwMode="auto">
          <a:xfrm>
            <a:off x="1905000" y="848678"/>
            <a:ext cx="107759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rgbClr val="FF0000"/>
                </a:solidFill>
                <a:latin typeface="方正大黑简体" panose="03000509000000000000" pitchFamily="65" charset="-122"/>
                <a:ea typeface="方正大黑简体" panose="03000509000000000000" pitchFamily="65" charset="-122"/>
              </a:rPr>
              <a:t>延申</a:t>
            </a:r>
            <a:r>
              <a:rPr lang="en-US" altLang="zh-CN" sz="2800" b="1">
                <a:solidFill>
                  <a:srgbClr val="FF0000"/>
                </a:solidFill>
                <a:latin typeface="方正大黑简体" panose="03000509000000000000" pitchFamily="65" charset="-122"/>
                <a:ea typeface="方正大黑简体" panose="03000509000000000000" pitchFamily="65" charset="-122"/>
              </a:rPr>
              <a:t>:</a:t>
            </a:r>
            <a:endParaRPr lang="zh-CN" altLang="en-US" sz="2800" b="1">
              <a:solidFill>
                <a:srgbClr val="FF0000"/>
              </a:solidFill>
              <a:latin typeface="方正大黑简体" panose="03000509000000000000" pitchFamily="65" charset="-122"/>
              <a:ea typeface="方正大黑简体" panose="03000509000000000000" pitchFamily="65" charset="-122"/>
            </a:endParaRPr>
          </a:p>
        </p:txBody>
      </p:sp>
    </p:spTree>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标题 2"/>
          <p:cNvSpPr>
            <a:spLocks noGrp="1"/>
          </p:cNvSpPr>
          <p:nvPr/>
        </p:nvSpPr>
        <p:spPr bwMode="auto">
          <a:xfrm>
            <a:off x="2892425" y="848678"/>
            <a:ext cx="375793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rgbClr val="0033CC"/>
                </a:solidFill>
                <a:latin typeface="方正大黑简体" panose="03000509000000000000" pitchFamily="65" charset="-122"/>
                <a:ea typeface="方正大黑简体" panose="03000509000000000000" pitchFamily="65" charset="-122"/>
              </a:rPr>
              <a:t>信创产业市场演进态势</a:t>
            </a:r>
            <a:endParaRPr lang="zh-CN" altLang="en-US" sz="2800" b="1">
              <a:solidFill>
                <a:srgbClr val="0033CC"/>
              </a:solidFill>
              <a:latin typeface="方正大黑简体" panose="03000509000000000000" pitchFamily="65" charset="-122"/>
              <a:ea typeface="方正大黑简体" panose="03000509000000000000" pitchFamily="65" charset="-122"/>
            </a:endParaRPr>
          </a:p>
        </p:txBody>
      </p:sp>
      <p:pic>
        <p:nvPicPr>
          <p:cNvPr id="3" name="图片 2"/>
          <p:cNvPicPr>
            <a:picLocks noChangeAspect="1"/>
          </p:cNvPicPr>
          <p:nvPr/>
        </p:nvPicPr>
        <p:blipFill>
          <a:blip r:embed="rId1"/>
          <a:stretch>
            <a:fillRect/>
          </a:stretch>
        </p:blipFill>
        <p:spPr>
          <a:xfrm>
            <a:off x="2207568" y="1700808"/>
            <a:ext cx="7743825" cy="4105275"/>
          </a:xfrm>
          <a:prstGeom prst="rect">
            <a:avLst/>
          </a:prstGeom>
          <a:solidFill>
            <a:schemeClr val="tx1">
              <a:lumMod val="95000"/>
              <a:lumOff val="5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pic>
      <p:sp>
        <p:nvSpPr>
          <p:cNvPr id="194564" name="矩形 5"/>
          <p:cNvSpPr>
            <a:spLocks noChangeArrowheads="1"/>
          </p:cNvSpPr>
          <p:nvPr/>
        </p:nvSpPr>
        <p:spPr bwMode="auto">
          <a:xfrm>
            <a:off x="1905000" y="848678"/>
            <a:ext cx="107759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solidFill>
                  <a:srgbClr val="FF0000"/>
                </a:solidFill>
                <a:latin typeface="方正大黑简体" panose="03000509000000000000" pitchFamily="65" charset="-122"/>
                <a:ea typeface="方正大黑简体" panose="03000509000000000000" pitchFamily="65" charset="-122"/>
              </a:rPr>
              <a:t>延申</a:t>
            </a:r>
            <a:r>
              <a:rPr lang="en-US" altLang="zh-CN" sz="2800" b="1">
                <a:solidFill>
                  <a:srgbClr val="FF0000"/>
                </a:solidFill>
                <a:latin typeface="方正大黑简体" panose="03000509000000000000" pitchFamily="65" charset="-122"/>
                <a:ea typeface="方正大黑简体" panose="03000509000000000000" pitchFamily="65" charset="-122"/>
              </a:rPr>
              <a:t>:</a:t>
            </a:r>
            <a:endParaRPr lang="zh-CN" altLang="en-US" sz="2800" b="1">
              <a:solidFill>
                <a:srgbClr val="FF0000"/>
              </a:solidFill>
              <a:latin typeface="方正大黑简体" panose="03000509000000000000" pitchFamily="65" charset="-122"/>
              <a:ea typeface="方正大黑简体" panose="03000509000000000000" pitchFamily="65" charset="-122"/>
            </a:endParaRPr>
          </a:p>
        </p:txBody>
      </p:sp>
    </p:spTree>
  </p:cSld>
  <p:clrMapOvr>
    <a:masterClrMapping/>
  </p:clrMapOvr>
  <p:transition>
    <p:fade/>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532720" y="3429000"/>
            <a:ext cx="7126560" cy="1071170"/>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4400" kern="1200">
                <a:solidFill>
                  <a:schemeClr val="accent1">
                    <a:lumMod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kumimoji="1" lang="en-US" altLang="zh-CN" sz="6000" b="1" dirty="0">
                <a:solidFill>
                  <a:srgbClr val="FFE4E5">
                    <a:lumMod val="25000"/>
                  </a:srgbClr>
                </a:solidFill>
                <a:latin typeface="微软雅黑" panose="020B0503020204020204" charset="-122"/>
                <a:ea typeface="微软雅黑" panose="020B0503020204020204" charset="-122"/>
                <a:cs typeface="Arial" panose="020B0604020202020204"/>
              </a:rPr>
              <a:t>Thanks</a:t>
            </a:r>
            <a:r>
              <a:rPr kumimoji="1" lang="zh-CN" altLang="en-US" sz="6000" b="1" dirty="0">
                <a:solidFill>
                  <a:srgbClr val="FFE4E5">
                    <a:lumMod val="25000"/>
                  </a:srgbClr>
                </a:solidFill>
                <a:latin typeface="微软雅黑" panose="020B0503020204020204" charset="-122"/>
                <a:ea typeface="微软雅黑" panose="020B0503020204020204" charset="-122"/>
                <a:cs typeface="Arial" panose="020B0604020202020204"/>
              </a:rPr>
              <a:t>！</a:t>
            </a:r>
            <a:endParaRPr lang="zh-CN" altLang="en-US" sz="6000" b="1" dirty="0">
              <a:solidFill>
                <a:srgbClr val="C00000"/>
              </a:solidFill>
              <a:latin typeface="微软雅黑" panose="020B0503020204020204" charset="-122"/>
              <a:ea typeface="微软雅黑" panose="020B0503020204020204" charset="-122"/>
              <a:cs typeface="Arial" panose="020B0604020202020204"/>
            </a:endParaRPr>
          </a:p>
        </p:txBody>
      </p:sp>
      <p:sp>
        <p:nvSpPr>
          <p:cNvPr id="6" name="Rectangle 2"/>
          <p:cNvSpPr txBox="1">
            <a:spLocks noRot="1" noChangeArrowheads="1"/>
          </p:cNvSpPr>
          <p:nvPr/>
        </p:nvSpPr>
        <p:spPr>
          <a:xfrm>
            <a:off x="2784748" y="990600"/>
            <a:ext cx="6622504"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kern="1200">
                <a:solidFill>
                  <a:srgbClr val="C00000"/>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fontAlgn="auto">
              <a:spcAft>
                <a:spcPts val="0"/>
              </a:spcAft>
            </a:pPr>
            <a:r>
              <a:rPr kumimoji="1" lang="en-US" altLang="zh-CN" dirty="0">
                <a:solidFill>
                  <a:srgbClr val="FFE4E5">
                    <a:lumMod val="25000"/>
                  </a:srgbClr>
                </a:solidFill>
                <a:latin typeface="微软雅黑" panose="020B0503020204020204" charset="-122"/>
                <a:ea typeface="微软雅黑" panose="020B0503020204020204" charset="-122"/>
                <a:cs typeface="Arial" panose="020B0604020202020204"/>
              </a:rPr>
              <a:t>Questions</a:t>
            </a:r>
            <a:r>
              <a:rPr kumimoji="1" lang="zh-CN" altLang="en-US" dirty="0">
                <a:solidFill>
                  <a:srgbClr val="FFE4E5">
                    <a:lumMod val="25000"/>
                  </a:srgbClr>
                </a:solidFill>
                <a:latin typeface="微软雅黑" panose="020B0503020204020204" charset="-122"/>
                <a:ea typeface="微软雅黑" panose="020B0503020204020204" charset="-122"/>
                <a:cs typeface="Arial" panose="020B0604020202020204"/>
              </a:rPr>
              <a:t> </a:t>
            </a:r>
            <a:r>
              <a:rPr kumimoji="1" lang="en-US" altLang="zh-CN" dirty="0">
                <a:solidFill>
                  <a:srgbClr val="FFE4E5">
                    <a:lumMod val="25000"/>
                  </a:srgbClr>
                </a:solidFill>
                <a:latin typeface="微软雅黑" panose="020B0503020204020204" charset="-122"/>
                <a:ea typeface="微软雅黑" panose="020B0503020204020204" charset="-122"/>
                <a:cs typeface="Arial" panose="020B0604020202020204"/>
              </a:rPr>
              <a:t>&amp;</a:t>
            </a:r>
            <a:r>
              <a:rPr kumimoji="1" lang="zh-CN" altLang="en-US" dirty="0">
                <a:solidFill>
                  <a:srgbClr val="FFE4E5">
                    <a:lumMod val="25000"/>
                  </a:srgbClr>
                </a:solidFill>
                <a:latin typeface="微软雅黑" panose="020B0503020204020204" charset="-122"/>
                <a:ea typeface="微软雅黑" panose="020B0503020204020204" charset="-122"/>
                <a:cs typeface="Arial" panose="020B0604020202020204"/>
              </a:rPr>
              <a:t> </a:t>
            </a:r>
            <a:r>
              <a:rPr kumimoji="1" lang="en-US" altLang="zh-CN" dirty="0">
                <a:solidFill>
                  <a:srgbClr val="FFE4E5">
                    <a:lumMod val="25000"/>
                  </a:srgbClr>
                </a:solidFill>
                <a:latin typeface="微软雅黑" panose="020B0503020204020204" charset="-122"/>
                <a:ea typeface="微软雅黑" panose="020B0503020204020204" charset="-122"/>
                <a:cs typeface="Arial" panose="020B0604020202020204"/>
              </a:rPr>
              <a:t>Answers</a:t>
            </a:r>
            <a:endParaRPr kumimoji="1" lang="en-US" altLang="zh-CN" dirty="0">
              <a:solidFill>
                <a:srgbClr val="FFE4E5">
                  <a:lumMod val="25000"/>
                </a:srgbClr>
              </a:solidFill>
              <a:latin typeface="微软雅黑" panose="020B0503020204020204" charset="-122"/>
              <a:ea typeface="微软雅黑" panose="020B0503020204020204" charset="-122"/>
              <a:cs typeface="Arial" panose="020B0604020202020204"/>
            </a:endParaRPr>
          </a:p>
        </p:txBody>
      </p:sp>
    </p:spTree>
  </p:cSld>
  <p:clrMapOvr>
    <a:masterClrMapping/>
  </p:clrMapOvr>
  <p:transition>
    <p:fade/>
  </p:transition>
</p:sld>
</file>

<file path=ppt/tags/tag1.xml><?xml version="1.0" encoding="utf-8"?>
<p:tagLst xmlns:p="http://schemas.openxmlformats.org/presentationml/2006/main">
  <p:tag name="KSO_WM_UNIT_PLACING_PICTURE_USER_VIEWPORT" val="{&quot;height&quot;:3930,&quot;width&quot;:10350}"/>
</p:tagLst>
</file>

<file path=ppt/theme/theme1.xml><?xml version="1.0" encoding="utf-8"?>
<a:theme xmlns:a="http://schemas.openxmlformats.org/drawingml/2006/main" name="sx272TGp_report_light">
  <a:themeElements>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fontScheme name="sx272TGp_report_light">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x272TGp_report_light 1">
        <a:dk1>
          <a:srgbClr val="000000"/>
        </a:dk1>
        <a:lt1>
          <a:srgbClr val="FFFFFF"/>
        </a:lt1>
        <a:dk2>
          <a:srgbClr val="003366"/>
        </a:dk2>
        <a:lt2>
          <a:srgbClr val="C0C0C0"/>
        </a:lt2>
        <a:accent1>
          <a:srgbClr val="4EA7EA"/>
        </a:accent1>
        <a:accent2>
          <a:srgbClr val="93C052"/>
        </a:accent2>
        <a:accent3>
          <a:srgbClr val="FFFFFF"/>
        </a:accent3>
        <a:accent4>
          <a:srgbClr val="000000"/>
        </a:accent4>
        <a:accent5>
          <a:srgbClr val="B2D0F3"/>
        </a:accent5>
        <a:accent6>
          <a:srgbClr val="85AE49"/>
        </a:accent6>
        <a:hlink>
          <a:srgbClr val="9999FF"/>
        </a:hlink>
        <a:folHlink>
          <a:srgbClr val="855ADA"/>
        </a:folHlink>
      </a:clrScheme>
      <a:clrMap bg1="lt1" tx1="dk1" bg2="lt2" tx2="dk2" accent1="accent1" accent2="accent2" accent3="accent3" accent4="accent4" accent5="accent5" accent6="accent6" hlink="hlink" folHlink="folHlink"/>
    </a:extraClrScheme>
    <a:extraClrScheme>
      <a:clrScheme name="sx272TGp_report_light 2">
        <a:dk1>
          <a:srgbClr val="000000"/>
        </a:dk1>
        <a:lt1>
          <a:srgbClr val="FFFFFF"/>
        </a:lt1>
        <a:dk2>
          <a:srgbClr val="003366"/>
        </a:dk2>
        <a:lt2>
          <a:srgbClr val="C0C0C0"/>
        </a:lt2>
        <a:accent1>
          <a:srgbClr val="DF6521"/>
        </a:accent1>
        <a:accent2>
          <a:srgbClr val="D7D03B"/>
        </a:accent2>
        <a:accent3>
          <a:srgbClr val="FFFFFF"/>
        </a:accent3>
        <a:accent4>
          <a:srgbClr val="000000"/>
        </a:accent4>
        <a:accent5>
          <a:srgbClr val="ECB8AB"/>
        </a:accent5>
        <a:accent6>
          <a:srgbClr val="C3BC35"/>
        </a:accent6>
        <a:hlink>
          <a:srgbClr val="188FB4"/>
        </a:hlink>
        <a:folHlink>
          <a:srgbClr val="A98FD9"/>
        </a:folHlink>
      </a:clrScheme>
      <a:clrMap bg1="lt1" tx1="dk1" bg2="lt2" tx2="dk2" accent1="accent1" accent2="accent2" accent3="accent3" accent4="accent4" accent5="accent5" accent6="accent6" hlink="hlink" folHlink="folHlink"/>
    </a:extraClrScheme>
    <a:extraClrScheme>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20252</Words>
  <Application>WPS 演示</Application>
  <PresentationFormat>全屏显示(4:3)</PresentationFormat>
  <Paragraphs>2325</Paragraphs>
  <Slides>169</Slides>
  <Notes>30</Notes>
  <HiddenSlides>20</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14</vt:i4>
      </vt:variant>
      <vt:variant>
        <vt:lpstr>幻灯片标题</vt:lpstr>
      </vt:variant>
      <vt:variant>
        <vt:i4>169</vt:i4>
      </vt:variant>
    </vt:vector>
  </HeadingPairs>
  <TitlesOfParts>
    <vt:vector size="209" baseType="lpstr">
      <vt:lpstr>Arial</vt:lpstr>
      <vt:lpstr>宋体</vt:lpstr>
      <vt:lpstr>Wingdings</vt:lpstr>
      <vt:lpstr>黑体</vt:lpstr>
      <vt:lpstr>方正大标宋简体</vt:lpstr>
      <vt:lpstr>微软雅黑</vt:lpstr>
      <vt:lpstr>方正大黑简体</vt:lpstr>
      <vt:lpstr>Times New Roman</vt:lpstr>
      <vt:lpstr>Arial Unicode MS</vt:lpstr>
      <vt:lpstr>Verdana</vt:lpstr>
      <vt:lpstr>仿宋_GB2312</vt:lpstr>
      <vt:lpstr>仿宋</vt:lpstr>
      <vt:lpstr>Times New Roman</vt:lpstr>
      <vt:lpstr>Arial</vt:lpstr>
      <vt:lpstr>Bitstream Vera Sans</vt:lpstr>
      <vt:lpstr>AMGDT</vt:lpstr>
      <vt:lpstr>华文隶书</vt:lpstr>
      <vt:lpstr>楷体_GB2312</vt:lpstr>
      <vt:lpstr>新宋体</vt:lpstr>
      <vt:lpstr>Cambria Math</vt:lpstr>
      <vt:lpstr>Verdana</vt:lpstr>
      <vt:lpstr>Calibri</vt:lpstr>
      <vt:lpstr>Franklin Gothic Book</vt:lpstr>
      <vt:lpstr>华文中宋</vt:lpstr>
      <vt:lpstr>楷体</vt:lpstr>
      <vt:lpstr>sx272TGp_report_light</vt:lpstr>
      <vt:lpstr>Visio.Drawing.11</vt:lpstr>
      <vt:lpstr>Word.Document.8</vt:lpstr>
      <vt:lpstr>Equation.3</vt:lpstr>
      <vt:lpstr>Equation.3</vt:lpstr>
      <vt:lpstr>Equation.3</vt:lpstr>
      <vt:lpstr>Word.Document.8</vt:lpstr>
      <vt:lpstr>Equation.3</vt:lpstr>
      <vt:lpstr>Equation.3</vt:lpstr>
      <vt:lpstr>Equation.3</vt:lpstr>
      <vt:lpstr>Word.Document.8</vt:lpstr>
      <vt:lpstr>Visio.Drawing.11</vt:lpstr>
      <vt:lpstr>Visio.Drawing.11</vt:lpstr>
      <vt:lpstr>Visio.Drawing.11</vt:lpstr>
      <vt:lpstr>Visio.Drawing.11</vt:lpstr>
      <vt:lpstr>信息安全风险管理</vt:lpstr>
      <vt:lpstr>课程内容</vt:lpstr>
      <vt:lpstr>课程内容</vt:lpstr>
      <vt:lpstr>知识域：风险管理工作内容</vt:lpstr>
      <vt:lpstr>风险管理是各行业采取的普遍工作方法</vt:lpstr>
      <vt:lpstr>通用风险管理定义</vt:lpstr>
      <vt:lpstr>网络空间安全工作中的风险管理</vt:lpstr>
      <vt:lpstr>风险管理是网络空间安全保障工作有效工作方式</vt:lpstr>
      <vt:lpstr>知识扩展：PDCA	</vt:lpstr>
      <vt:lpstr>知识扩展：PDCA	</vt:lpstr>
      <vt:lpstr>什么是网络空间安全风险管理</vt:lpstr>
      <vt:lpstr>正确的风险管理方法</vt:lpstr>
      <vt:lpstr>网络空间安全风险管理的目标</vt:lpstr>
      <vt:lpstr>网络空间安全风险术语</vt:lpstr>
      <vt:lpstr>网络空间安全风险术语-资产</vt:lpstr>
      <vt:lpstr>网络空间安全风险术语-威胁</vt:lpstr>
      <vt:lpstr>网络空间安全风险术语-脆弱性</vt:lpstr>
      <vt:lpstr>网络空间安全风险术语-控制措施</vt:lpstr>
      <vt:lpstr>网络空间安全风险术语-可能性</vt:lpstr>
      <vt:lpstr>网络空间安全风险术语-影响</vt:lpstr>
      <vt:lpstr>网络空间安全风险术语-风险</vt:lpstr>
      <vt:lpstr>网络空间安全风险术语-风险</vt:lpstr>
      <vt:lpstr>对风险的理解</vt:lpstr>
      <vt:lpstr>网络空间安全风险术语之间的关系</vt:lpstr>
      <vt:lpstr>网络空间安全风险术语-残余风险</vt:lpstr>
      <vt:lpstr>网络空间安全风险术语-风险评估</vt:lpstr>
      <vt:lpstr>PowerPoint 演示文稿</vt:lpstr>
      <vt:lpstr>PowerPoint 演示文稿</vt:lpstr>
      <vt:lpstr>PowerPoint 演示文稿</vt:lpstr>
      <vt:lpstr>PowerPoint 演示文稿</vt:lpstr>
      <vt:lpstr>课堂思考：</vt:lpstr>
      <vt:lpstr>风险评估的理解</vt:lpstr>
      <vt:lpstr>网络空间安全风险术语-风险评估vs风险管理</vt:lpstr>
      <vt:lpstr>网络空间安全风险管理工作内容</vt:lpstr>
      <vt:lpstr>建立背景</vt:lpstr>
      <vt:lpstr>背景建立过程</vt:lpstr>
      <vt:lpstr>风险管理工作内容</vt:lpstr>
      <vt:lpstr>风险评估</vt:lpstr>
      <vt:lpstr>风险评估过程</vt:lpstr>
      <vt:lpstr>风险管理工作内容</vt:lpstr>
      <vt:lpstr>风险处理</vt:lpstr>
      <vt:lpstr>风险处理过程 </vt:lpstr>
      <vt:lpstr>课堂思考：</vt:lpstr>
      <vt:lpstr>常用的四类风险处置方法 </vt:lpstr>
      <vt:lpstr>减低风险</vt:lpstr>
      <vt:lpstr>减低风险的具体办法</vt:lpstr>
      <vt:lpstr>课堂思考：</vt:lpstr>
      <vt:lpstr>转移风险</vt:lpstr>
      <vt:lpstr>转移风险的具体做法</vt:lpstr>
      <vt:lpstr>转移风险的案例</vt:lpstr>
      <vt:lpstr>规避风险</vt:lpstr>
      <vt:lpstr>接受风险</vt:lpstr>
      <vt:lpstr>风险管理工作内容</vt:lpstr>
      <vt:lpstr>批准监督</vt:lpstr>
      <vt:lpstr>批准监督过程 </vt:lpstr>
      <vt:lpstr>风险管理工作内容</vt:lpstr>
      <vt:lpstr>监控审查的意义</vt:lpstr>
      <vt:lpstr>监控审查过程 </vt:lpstr>
      <vt:lpstr>风险管理工作内容</vt:lpstr>
      <vt:lpstr>沟通咨询</vt:lpstr>
      <vt:lpstr>沟通咨询过程</vt:lpstr>
      <vt:lpstr>课程内容</vt:lpstr>
      <vt:lpstr>知识域：风险管理工作内容</vt:lpstr>
      <vt:lpstr>何时实施风险管理</vt:lpstr>
      <vt:lpstr>系统规划阶段的网络空间安全风险管理目标</vt:lpstr>
      <vt:lpstr>系统规划阶段的网络空间安全风险管理</vt:lpstr>
      <vt:lpstr>风险管理的目标</vt:lpstr>
      <vt:lpstr>信息系统设计阶段的网络空间安全风险管理 </vt:lpstr>
      <vt:lpstr>风险管理的目标</vt:lpstr>
      <vt:lpstr>信息系统实施阶段的风险管理 </vt:lpstr>
      <vt:lpstr>风险管理的目标</vt:lpstr>
      <vt:lpstr>信息系统运行维护阶段的风险管理 </vt:lpstr>
      <vt:lpstr>风险管理的目标</vt:lpstr>
      <vt:lpstr>信息系统废弃阶段的风险管理</vt:lpstr>
      <vt:lpstr>课程内容</vt:lpstr>
      <vt:lpstr>知识域：网络空间安全风险评估实践</vt:lpstr>
      <vt:lpstr>国家对开展风险评估工作的政策要求</vt:lpstr>
      <vt:lpstr>国家对开展风险评估工作的政策要求</vt:lpstr>
      <vt:lpstr>国家对开展风险评估工作的政策要求</vt:lpstr>
      <vt:lpstr>风险评估工作承担单位</vt:lpstr>
      <vt:lpstr>风险评估、检查评估和等级保护测评之间的关系</vt:lpstr>
      <vt:lpstr>风险评估实施流程</vt:lpstr>
      <vt:lpstr>风险评估是“健康体检+专项检查”</vt:lpstr>
      <vt:lpstr>PowerPoint 演示文稿</vt:lpstr>
      <vt:lpstr>知识域：网络空间安全风险评估</vt:lpstr>
      <vt:lpstr>PowerPoint 演示文稿</vt:lpstr>
      <vt:lpstr>定性的风险评估方法</vt:lpstr>
      <vt:lpstr>定性风险分析</vt:lpstr>
      <vt:lpstr>PowerPoint 演示文稿</vt:lpstr>
      <vt:lpstr>PowerPoint 演示文稿</vt:lpstr>
      <vt:lpstr>定量的风险评估方法</vt:lpstr>
      <vt:lpstr>定量风险分析</vt:lpstr>
      <vt:lpstr>定量风险分析</vt:lpstr>
      <vt:lpstr>定量风险分析(经典方法)：期望年度损失法</vt:lpstr>
      <vt:lpstr>定量风险分析——期望年度损失法（续）</vt:lpstr>
      <vt:lpstr>定性分析与定量分析</vt:lpstr>
      <vt:lpstr>半定量风险分析</vt:lpstr>
      <vt:lpstr>半定量风险分析——相乘法</vt:lpstr>
      <vt:lpstr>PowerPoint 演示文稿</vt:lpstr>
      <vt:lpstr>PowerPoint 演示文稿</vt:lpstr>
      <vt:lpstr>综合评估方法</vt:lpstr>
      <vt:lpstr>改进的风险综合评估方法</vt:lpstr>
      <vt:lpstr>PowerPoint 演示文稿</vt:lpstr>
      <vt:lpstr>知识域：网络空间安全风险评估</vt:lpstr>
      <vt:lpstr>风险评估实施流程</vt:lpstr>
      <vt:lpstr>风险评估准备</vt:lpstr>
      <vt:lpstr>风险要素识别</vt:lpstr>
      <vt:lpstr>PowerPoint 演示文稿</vt:lpstr>
      <vt:lpstr>PowerPoint 演示文稿</vt:lpstr>
      <vt:lpstr>资产识别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威胁分类</vt:lpstr>
      <vt:lpstr>PowerPoint 演示文稿</vt:lpstr>
      <vt:lpstr>PowerPoint 演示文稿</vt:lpstr>
      <vt:lpstr>PowerPoint 演示文稿</vt:lpstr>
      <vt:lpstr>外部威胁发展</vt:lpstr>
      <vt:lpstr>信息系统每个层次都存在威胁</vt:lpstr>
      <vt:lpstr>PowerPoint 演示文稿</vt:lpstr>
      <vt:lpstr>脆弱性识别内容</vt:lpstr>
      <vt:lpstr>PowerPoint 演示文稿</vt:lpstr>
      <vt:lpstr>常见脆弱性识别工作方式</vt:lpstr>
      <vt:lpstr>PowerPoint 演示文稿</vt:lpstr>
      <vt:lpstr>PowerPoint 演示文稿</vt:lpstr>
      <vt:lpstr>工具扫描</vt:lpstr>
      <vt:lpstr>工具扫描</vt:lpstr>
      <vt:lpstr>人工检查</vt:lpstr>
      <vt:lpstr>IDS采样分析</vt:lpstr>
      <vt:lpstr>渗透测试</vt:lpstr>
      <vt:lpstr>确认已有的安全控制</vt:lpstr>
      <vt:lpstr>风险分析</vt:lpstr>
      <vt:lpstr>风险分析</vt:lpstr>
      <vt:lpstr>风险结果判定</vt:lpstr>
      <vt:lpstr>知识域：网络空间安全风险评估</vt:lpstr>
      <vt:lpstr>风险评估工具</vt:lpstr>
      <vt:lpstr>PowerPoint 演示文稿</vt:lpstr>
      <vt:lpstr>PowerPoint 演示文稿</vt:lpstr>
      <vt:lpstr>PowerPoint 演示文稿</vt:lpstr>
      <vt:lpstr>PowerPoint 演示文稿</vt:lpstr>
      <vt:lpstr>为什么要进行国产化替代？</vt:lpstr>
      <vt:lpstr>PowerPoint 演示文稿</vt:lpstr>
      <vt:lpstr>PowerPoint 演示文稿</vt:lpstr>
      <vt:lpstr>国产化替代究竟替什么？</vt:lpstr>
      <vt:lpstr>替代Intel架构核心中央处理器（CPU）</vt:lpstr>
      <vt:lpstr>替代Intel架构核心中央处理器（CPU）</vt:lpstr>
      <vt:lpstr>替代微软的Windows操作系统</vt:lpstr>
      <vt:lpstr>替代微软的Windows操作系统</vt:lpstr>
      <vt:lpstr>高端数据库服务器对“IOE”的替代</vt:lpstr>
      <vt:lpstr>高端数据库服务器对“IOE”的替代</vt:lpstr>
      <vt:lpstr>PowerPoint 演示文稿</vt:lpstr>
      <vt:lpstr>应用软件替代国外软件产品</vt:lpstr>
      <vt:lpstr>信息技术应用创新行业（信创行业）乘势而起</vt:lpstr>
      <vt:lpstr>云计算国产化</vt:lpstr>
      <vt:lpstr>信息技术应用创新行业（信创行业）乘势而起</vt:lpstr>
      <vt:lpstr>从自主到可控：沈昌祥院士 - 可信计算</vt:lpstr>
      <vt:lpstr>信创产业链生态图</vt:lpstr>
      <vt:lpstr>信创产业链</vt:lpstr>
      <vt:lpstr>PowerPoint 演示文稿</vt:lpstr>
      <vt:lpstr>PowerPoint 演示文稿</vt:lpstr>
      <vt:lpstr>PowerPoint 演示文稿</vt:lpstr>
      <vt:lpstr>PowerPoint 演示文稿</vt:lpstr>
    </vt:vector>
  </TitlesOfParts>
  <Company>中国信息安全测评中心:cisp运营中心</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沈传宁</dc:creator>
  <cp:lastModifiedBy>Administrator</cp:lastModifiedBy>
  <cp:revision>756</cp:revision>
  <dcterms:created xsi:type="dcterms:W3CDTF">2009-02-11T06:13:00Z</dcterms:created>
  <dcterms:modified xsi:type="dcterms:W3CDTF">2026-03-09T03:26:55Z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0169E8B44C2F4182BA02367FD5515985</vt:lpwstr>
  </property>
</Properties>
</file>